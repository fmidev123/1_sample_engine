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charts/chart215.xml" ContentType="application/vnd.openxmlformats-officedocument.drawingml.chart+xml"/>
  <Override PartName="/ppt/charts/chart216.xml" ContentType="application/vnd.openxmlformats-officedocument.drawingml.chart+xml"/>
  <Override PartName="/ppt/charts/chart217.xml" ContentType="application/vnd.openxmlformats-officedocument.drawingml.chart+xml"/>
  <Override PartName="/ppt/charts/chart218.xml" ContentType="application/vnd.openxmlformats-officedocument.drawingml.chart+xml"/>
  <Override PartName="/ppt/charts/chart219.xml" ContentType="application/vnd.openxmlformats-officedocument.drawingml.chart+xml"/>
  <Override PartName="/ppt/charts/chart22.xml" ContentType="application/vnd.openxmlformats-officedocument.drawingml.chart+xml"/>
  <Override PartName="/ppt/charts/chart220.xml" ContentType="application/vnd.openxmlformats-officedocument.drawingml.chart+xml"/>
  <Override PartName="/ppt/charts/chart221.xml" ContentType="application/vnd.openxmlformats-officedocument.drawingml.chart+xml"/>
  <Override PartName="/ppt/charts/chart222.xml" ContentType="application/vnd.openxmlformats-officedocument.drawingml.chart+xml"/>
  <Override PartName="/ppt/charts/chart223.xml" ContentType="application/vnd.openxmlformats-officedocument.drawingml.chart+xml"/>
  <Override PartName="/ppt/charts/chart224.xml" ContentType="application/vnd.openxmlformats-officedocument.drawingml.chart+xml"/>
  <Override PartName="/ppt/charts/chart225.xml" ContentType="application/vnd.openxmlformats-officedocument.drawingml.chart+xml"/>
  <Override PartName="/ppt/charts/chart226.xml" ContentType="application/vnd.openxmlformats-officedocument.drawingml.chart+xml"/>
  <Override PartName="/ppt/charts/chart227.xml" ContentType="application/vnd.openxmlformats-officedocument.drawingml.chart+xml"/>
  <Override PartName="/ppt/charts/chart228.xml" ContentType="application/vnd.openxmlformats-officedocument.drawingml.chart+xml"/>
  <Override PartName="/ppt/charts/chart229.xml" ContentType="application/vnd.openxmlformats-officedocument.drawingml.chart+xml"/>
  <Override PartName="/ppt/charts/chart23.xml" ContentType="application/vnd.openxmlformats-officedocument.drawingml.chart+xml"/>
  <Override PartName="/ppt/charts/chart230.xml" ContentType="application/vnd.openxmlformats-officedocument.drawingml.chart+xml"/>
  <Override PartName="/ppt/charts/chart231.xml" ContentType="application/vnd.openxmlformats-officedocument.drawingml.chart+xml"/>
  <Override PartName="/ppt/charts/chart232.xml" ContentType="application/vnd.openxmlformats-officedocument.drawingml.chart+xml"/>
  <Override PartName="/ppt/charts/chart233.xml" ContentType="application/vnd.openxmlformats-officedocument.drawingml.chart+xml"/>
  <Override PartName="/ppt/charts/chart234.xml" ContentType="application/vnd.openxmlformats-officedocument.drawingml.chart+xml"/>
  <Override PartName="/ppt/charts/chart235.xml" ContentType="application/vnd.openxmlformats-officedocument.drawingml.chart+xml"/>
  <Override PartName="/ppt/charts/chart236.xml" ContentType="application/vnd.openxmlformats-officedocument.drawingml.chart+xml"/>
  <Override PartName="/ppt/charts/chart237.xml" ContentType="application/vnd.openxmlformats-officedocument.drawingml.chart+xml"/>
  <Override PartName="/ppt/charts/chart238.xml" ContentType="application/vnd.openxmlformats-officedocument.drawingml.chart+xml"/>
  <Override PartName="/ppt/charts/chart239.xml" ContentType="application/vnd.openxmlformats-officedocument.drawingml.chart+xml"/>
  <Override PartName="/ppt/charts/chart24.xml" ContentType="application/vnd.openxmlformats-officedocument.drawingml.chart+xml"/>
  <Override PartName="/ppt/charts/chart240.xml" ContentType="application/vnd.openxmlformats-officedocument.drawingml.chart+xml"/>
  <Override PartName="/ppt/charts/chart241.xml" ContentType="application/vnd.openxmlformats-officedocument.drawingml.chart+xml"/>
  <Override PartName="/ppt/charts/chart242.xml" ContentType="application/vnd.openxmlformats-officedocument.drawingml.chart+xml"/>
  <Override PartName="/ppt/charts/chart243.xml" ContentType="application/vnd.openxmlformats-officedocument.drawingml.chart+xml"/>
  <Override PartName="/ppt/charts/chart244.xml" ContentType="application/vnd.openxmlformats-officedocument.drawingml.chart+xml"/>
  <Override PartName="/ppt/charts/chart245.xml" ContentType="application/vnd.openxmlformats-officedocument.drawingml.chart+xml"/>
  <Override PartName="/ppt/charts/chart246.xml" ContentType="application/vnd.openxmlformats-officedocument.drawingml.chart+xml"/>
  <Override PartName="/ppt/charts/chart247.xml" ContentType="application/vnd.openxmlformats-officedocument.drawingml.chart+xml"/>
  <Override PartName="/ppt/charts/chart248.xml" ContentType="application/vnd.openxmlformats-officedocument.drawingml.chart+xml"/>
  <Override PartName="/ppt/charts/chart249.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629" r:id="rId381"/>
    <p:sldId id="623" r:id="rId375"/>
    <p:sldId id="624" r:id="rId376"/>
    <p:sldId id="625" r:id="rId377"/>
    <p:sldId id="626" r:id="rId378"/>
    <p:sldId id="627" r:id="rId379"/>
    <p:sldId id="628" r:id="rId380"/>
    <p:sldId id="639" r:id="rId391"/>
    <p:sldId id="630" r:id="rId382"/>
    <p:sldId id="631" r:id="rId383"/>
    <p:sldId id="632" r:id="rId384"/>
    <p:sldId id="633" r:id="rId385"/>
    <p:sldId id="634" r:id="rId386"/>
    <p:sldId id="635" r:id="rId387"/>
    <p:sldId id="636" r:id="rId388"/>
    <p:sldId id="637" r:id="rId389"/>
    <p:sldId id="638" r:id="rId390"/>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 id="544" r:id="rId296"/>
    <p:sldId id="545" r:id="rId297"/>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5" r:id="rId327"/>
    <p:sldId id="576" r:id="rId328"/>
    <p:sldId id="577" r:id="rId329"/>
    <p:sldId id="578" r:id="rId330"/>
    <p:sldId id="579" r:id="rId331"/>
    <p:sldId id="580" r:id="rId332"/>
    <p:sldId id="581" r:id="rId333"/>
    <p:sldId id="582" r:id="rId334"/>
    <p:sldId id="583" r:id="rId335"/>
    <p:sldId id="584" r:id="rId336"/>
    <p:sldId id="585" r:id="rId337"/>
    <p:sldId id="586" r:id="rId338"/>
    <p:sldId id="587" r:id="rId339"/>
    <p:sldId id="588" r:id="rId340"/>
    <p:sldId id="589" r:id="rId341"/>
    <p:sldId id="590" r:id="rId342"/>
    <p:sldId id="591" r:id="rId343"/>
    <p:sldId id="592" r:id="rId344"/>
    <p:sldId id="593" r:id="rId345"/>
    <p:sldId id="594" r:id="rId346"/>
    <p:sldId id="595" r:id="rId347"/>
    <p:sldId id="596" r:id="rId348"/>
    <p:sldId id="597" r:id="rId349"/>
    <p:sldId id="598" r:id="rId350"/>
    <p:sldId id="599" r:id="rId351"/>
    <p:sldId id="600" r:id="rId352"/>
    <p:sldId id="601" r:id="rId353"/>
    <p:sldId id="602" r:id="rId354"/>
    <p:sldId id="603" r:id="rId355"/>
    <p:sldId id="604" r:id="rId356"/>
    <p:sldId id="605" r:id="rId357"/>
    <p:sldId id="606" r:id="rId358"/>
    <p:sldId id="607" r:id="rId359"/>
    <p:sldId id="608" r:id="rId360"/>
    <p:sldId id="609" r:id="rId361"/>
    <p:sldId id="610" r:id="rId362"/>
    <p:sldId id="611" r:id="rId363"/>
    <p:sldId id="612" r:id="rId364"/>
    <p:sldId id="613" r:id="rId365"/>
    <p:sldId id="614" r:id="rId366"/>
    <p:sldId id="615" r:id="rId367"/>
    <p:sldId id="616" r:id="rId368"/>
    <p:sldId id="617" r:id="rId369"/>
    <p:sldId id="618" r:id="rId370"/>
    <p:sldId id="619" r:id="rId371"/>
    <p:sldId id="620" r:id="rId372"/>
    <p:sldId id="621" r:id="rId373"/>
    <p:sldId id="622" r:id="rId374"/>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 Id="rId226" Type="http://schemas.openxmlformats.org/officeDocument/2006/relationships/slide" Target="slides/slide219.xml"/><Relationship Id="rId227" Type="http://schemas.openxmlformats.org/officeDocument/2006/relationships/slide" Target="slides/slide220.xml"/><Relationship Id="rId228" Type="http://schemas.openxmlformats.org/officeDocument/2006/relationships/slide" Target="slides/slide221.xml"/><Relationship Id="rId229" Type="http://schemas.openxmlformats.org/officeDocument/2006/relationships/slide" Target="slides/slide222.xml"/><Relationship Id="rId230" Type="http://schemas.openxmlformats.org/officeDocument/2006/relationships/slide" Target="slides/slide223.xml"/><Relationship Id="rId231" Type="http://schemas.openxmlformats.org/officeDocument/2006/relationships/slide" Target="slides/slide224.xml"/><Relationship Id="rId232" Type="http://schemas.openxmlformats.org/officeDocument/2006/relationships/slide" Target="slides/slide225.xml"/><Relationship Id="rId233" Type="http://schemas.openxmlformats.org/officeDocument/2006/relationships/slide" Target="slides/slide226.xml"/><Relationship Id="rId234" Type="http://schemas.openxmlformats.org/officeDocument/2006/relationships/slide" Target="slides/slide227.xml"/><Relationship Id="rId235" Type="http://schemas.openxmlformats.org/officeDocument/2006/relationships/slide" Target="slides/slide228.xml"/><Relationship Id="rId236" Type="http://schemas.openxmlformats.org/officeDocument/2006/relationships/slide" Target="slides/slide229.xml"/><Relationship Id="rId237" Type="http://schemas.openxmlformats.org/officeDocument/2006/relationships/slide" Target="slides/slide230.xml"/><Relationship Id="rId238" Type="http://schemas.openxmlformats.org/officeDocument/2006/relationships/slide" Target="slides/slide231.xml"/><Relationship Id="rId239" Type="http://schemas.openxmlformats.org/officeDocument/2006/relationships/slide" Target="slides/slide232.xml"/><Relationship Id="rId240" Type="http://schemas.openxmlformats.org/officeDocument/2006/relationships/slide" Target="slides/slide233.xml"/><Relationship Id="rId241" Type="http://schemas.openxmlformats.org/officeDocument/2006/relationships/slide" Target="slides/slide234.xml"/><Relationship Id="rId242" Type="http://schemas.openxmlformats.org/officeDocument/2006/relationships/slide" Target="slides/slide235.xml"/><Relationship Id="rId243" Type="http://schemas.openxmlformats.org/officeDocument/2006/relationships/slide" Target="slides/slide236.xml"/><Relationship Id="rId244" Type="http://schemas.openxmlformats.org/officeDocument/2006/relationships/slide" Target="slides/slide237.xml"/><Relationship Id="rId245" Type="http://schemas.openxmlformats.org/officeDocument/2006/relationships/slide" Target="slides/slide238.xml"/><Relationship Id="rId246" Type="http://schemas.openxmlformats.org/officeDocument/2006/relationships/slide" Target="slides/slide239.xml"/><Relationship Id="rId247" Type="http://schemas.openxmlformats.org/officeDocument/2006/relationships/slide" Target="slides/slide240.xml"/><Relationship Id="rId248" Type="http://schemas.openxmlformats.org/officeDocument/2006/relationships/slide" Target="slides/slide241.xml"/><Relationship Id="rId249" Type="http://schemas.openxmlformats.org/officeDocument/2006/relationships/slide" Target="slides/slide242.xml"/><Relationship Id="rId250" Type="http://schemas.openxmlformats.org/officeDocument/2006/relationships/slide" Target="slides/slide243.xml"/><Relationship Id="rId251" Type="http://schemas.openxmlformats.org/officeDocument/2006/relationships/slide" Target="slides/slide244.xml"/><Relationship Id="rId252" Type="http://schemas.openxmlformats.org/officeDocument/2006/relationships/slide" Target="slides/slide245.xml"/><Relationship Id="rId253" Type="http://schemas.openxmlformats.org/officeDocument/2006/relationships/slide" Target="slides/slide246.xml"/><Relationship Id="rId254" Type="http://schemas.openxmlformats.org/officeDocument/2006/relationships/slide" Target="slides/slide247.xml"/><Relationship Id="rId255" Type="http://schemas.openxmlformats.org/officeDocument/2006/relationships/slide" Target="slides/slide248.xml"/><Relationship Id="rId256" Type="http://schemas.openxmlformats.org/officeDocument/2006/relationships/slide" Target="slides/slide249.xml"/><Relationship Id="rId257" Type="http://schemas.openxmlformats.org/officeDocument/2006/relationships/slide" Target="slides/slide250.xml"/><Relationship Id="rId258" Type="http://schemas.openxmlformats.org/officeDocument/2006/relationships/slide" Target="slides/slide251.xml"/><Relationship Id="rId259" Type="http://schemas.openxmlformats.org/officeDocument/2006/relationships/slide" Target="slides/slide252.xml"/><Relationship Id="rId260" Type="http://schemas.openxmlformats.org/officeDocument/2006/relationships/slide" Target="slides/slide253.xml"/><Relationship Id="rId261" Type="http://schemas.openxmlformats.org/officeDocument/2006/relationships/slide" Target="slides/slide254.xml"/><Relationship Id="rId262" Type="http://schemas.openxmlformats.org/officeDocument/2006/relationships/slide" Target="slides/slide255.xml"/><Relationship Id="rId263" Type="http://schemas.openxmlformats.org/officeDocument/2006/relationships/slide" Target="slides/slide256.xml"/><Relationship Id="rId264" Type="http://schemas.openxmlformats.org/officeDocument/2006/relationships/slide" Target="slides/slide257.xml"/><Relationship Id="rId265" Type="http://schemas.openxmlformats.org/officeDocument/2006/relationships/slide" Target="slides/slide258.xml"/><Relationship Id="rId266" Type="http://schemas.openxmlformats.org/officeDocument/2006/relationships/slide" Target="slides/slide259.xml"/><Relationship Id="rId267" Type="http://schemas.openxmlformats.org/officeDocument/2006/relationships/slide" Target="slides/slide260.xml"/><Relationship Id="rId268" Type="http://schemas.openxmlformats.org/officeDocument/2006/relationships/slide" Target="slides/slide261.xml"/><Relationship Id="rId269" Type="http://schemas.openxmlformats.org/officeDocument/2006/relationships/slide" Target="slides/slide262.xml"/><Relationship Id="rId270" Type="http://schemas.openxmlformats.org/officeDocument/2006/relationships/slide" Target="slides/slide263.xml"/><Relationship Id="rId271" Type="http://schemas.openxmlformats.org/officeDocument/2006/relationships/slide" Target="slides/slide264.xml"/><Relationship Id="rId272" Type="http://schemas.openxmlformats.org/officeDocument/2006/relationships/slide" Target="slides/slide265.xml"/><Relationship Id="rId273" Type="http://schemas.openxmlformats.org/officeDocument/2006/relationships/slide" Target="slides/slide266.xml"/><Relationship Id="rId274" Type="http://schemas.openxmlformats.org/officeDocument/2006/relationships/slide" Target="slides/slide267.xml"/><Relationship Id="rId275" Type="http://schemas.openxmlformats.org/officeDocument/2006/relationships/slide" Target="slides/slide268.xml"/><Relationship Id="rId276" Type="http://schemas.openxmlformats.org/officeDocument/2006/relationships/slide" Target="slides/slide269.xml"/><Relationship Id="rId277" Type="http://schemas.openxmlformats.org/officeDocument/2006/relationships/slide" Target="slides/slide270.xml"/><Relationship Id="rId278" Type="http://schemas.openxmlformats.org/officeDocument/2006/relationships/slide" Target="slides/slide271.xml"/><Relationship Id="rId279" Type="http://schemas.openxmlformats.org/officeDocument/2006/relationships/slide" Target="slides/slide272.xml"/><Relationship Id="rId280" Type="http://schemas.openxmlformats.org/officeDocument/2006/relationships/slide" Target="slides/slide273.xml"/><Relationship Id="rId281" Type="http://schemas.openxmlformats.org/officeDocument/2006/relationships/slide" Target="slides/slide274.xml"/><Relationship Id="rId282" Type="http://schemas.openxmlformats.org/officeDocument/2006/relationships/slide" Target="slides/slide275.xml"/><Relationship Id="rId283" Type="http://schemas.openxmlformats.org/officeDocument/2006/relationships/slide" Target="slides/slide276.xml"/><Relationship Id="rId284" Type="http://schemas.openxmlformats.org/officeDocument/2006/relationships/slide" Target="slides/slide277.xml"/><Relationship Id="rId285" Type="http://schemas.openxmlformats.org/officeDocument/2006/relationships/slide" Target="slides/slide278.xml"/><Relationship Id="rId286" Type="http://schemas.openxmlformats.org/officeDocument/2006/relationships/slide" Target="slides/slide279.xml"/><Relationship Id="rId287" Type="http://schemas.openxmlformats.org/officeDocument/2006/relationships/slide" Target="slides/slide280.xml"/><Relationship Id="rId288" Type="http://schemas.openxmlformats.org/officeDocument/2006/relationships/slide" Target="slides/slide281.xml"/><Relationship Id="rId289" Type="http://schemas.openxmlformats.org/officeDocument/2006/relationships/slide" Target="slides/slide282.xml"/><Relationship Id="rId290" Type="http://schemas.openxmlformats.org/officeDocument/2006/relationships/slide" Target="slides/slide283.xml"/><Relationship Id="rId291" Type="http://schemas.openxmlformats.org/officeDocument/2006/relationships/slide" Target="slides/slide284.xml"/><Relationship Id="rId292" Type="http://schemas.openxmlformats.org/officeDocument/2006/relationships/slide" Target="slides/slide285.xml"/><Relationship Id="rId293" Type="http://schemas.openxmlformats.org/officeDocument/2006/relationships/slide" Target="slides/slide286.xml"/><Relationship Id="rId294" Type="http://schemas.openxmlformats.org/officeDocument/2006/relationships/slide" Target="slides/slide287.xml"/><Relationship Id="rId295" Type="http://schemas.openxmlformats.org/officeDocument/2006/relationships/slide" Target="slides/slide288.xml"/><Relationship Id="rId296" Type="http://schemas.openxmlformats.org/officeDocument/2006/relationships/slide" Target="slides/slide289.xml"/><Relationship Id="rId297" Type="http://schemas.openxmlformats.org/officeDocument/2006/relationships/slide" Target="slides/slide290.xml"/><Relationship Id="rId298" Type="http://schemas.openxmlformats.org/officeDocument/2006/relationships/slide" Target="slides/slide291.xml"/><Relationship Id="rId299" Type="http://schemas.openxmlformats.org/officeDocument/2006/relationships/slide" Target="slides/slide292.xml"/><Relationship Id="rId300" Type="http://schemas.openxmlformats.org/officeDocument/2006/relationships/slide" Target="slides/slide293.xml"/><Relationship Id="rId301" Type="http://schemas.openxmlformats.org/officeDocument/2006/relationships/slide" Target="slides/slide294.xml"/><Relationship Id="rId302" Type="http://schemas.openxmlformats.org/officeDocument/2006/relationships/slide" Target="slides/slide295.xml"/><Relationship Id="rId303" Type="http://schemas.openxmlformats.org/officeDocument/2006/relationships/slide" Target="slides/slide296.xml"/><Relationship Id="rId304" Type="http://schemas.openxmlformats.org/officeDocument/2006/relationships/slide" Target="slides/slide297.xml"/><Relationship Id="rId305" Type="http://schemas.openxmlformats.org/officeDocument/2006/relationships/slide" Target="slides/slide298.xml"/><Relationship Id="rId306" Type="http://schemas.openxmlformats.org/officeDocument/2006/relationships/slide" Target="slides/slide299.xml"/><Relationship Id="rId307" Type="http://schemas.openxmlformats.org/officeDocument/2006/relationships/slide" Target="slides/slide300.xml"/><Relationship Id="rId308" Type="http://schemas.openxmlformats.org/officeDocument/2006/relationships/slide" Target="slides/slide301.xml"/><Relationship Id="rId309" Type="http://schemas.openxmlformats.org/officeDocument/2006/relationships/slide" Target="slides/slide302.xml"/><Relationship Id="rId310" Type="http://schemas.openxmlformats.org/officeDocument/2006/relationships/slide" Target="slides/slide303.xml"/><Relationship Id="rId311" Type="http://schemas.openxmlformats.org/officeDocument/2006/relationships/slide" Target="slides/slide304.xml"/><Relationship Id="rId312" Type="http://schemas.openxmlformats.org/officeDocument/2006/relationships/slide" Target="slides/slide305.xml"/><Relationship Id="rId313" Type="http://schemas.openxmlformats.org/officeDocument/2006/relationships/slide" Target="slides/slide306.xml"/><Relationship Id="rId314" Type="http://schemas.openxmlformats.org/officeDocument/2006/relationships/slide" Target="slides/slide307.xml"/><Relationship Id="rId315" Type="http://schemas.openxmlformats.org/officeDocument/2006/relationships/slide" Target="slides/slide308.xml"/><Relationship Id="rId316" Type="http://schemas.openxmlformats.org/officeDocument/2006/relationships/slide" Target="slides/slide309.xml"/><Relationship Id="rId317" Type="http://schemas.openxmlformats.org/officeDocument/2006/relationships/slide" Target="slides/slide310.xml"/><Relationship Id="rId318" Type="http://schemas.openxmlformats.org/officeDocument/2006/relationships/slide" Target="slides/slide311.xml"/><Relationship Id="rId319" Type="http://schemas.openxmlformats.org/officeDocument/2006/relationships/slide" Target="slides/slide312.xml"/><Relationship Id="rId320" Type="http://schemas.openxmlformats.org/officeDocument/2006/relationships/slide" Target="slides/slide313.xml"/><Relationship Id="rId321" Type="http://schemas.openxmlformats.org/officeDocument/2006/relationships/slide" Target="slides/slide314.xml"/><Relationship Id="rId322" Type="http://schemas.openxmlformats.org/officeDocument/2006/relationships/slide" Target="slides/slide315.xml"/><Relationship Id="rId323" Type="http://schemas.openxmlformats.org/officeDocument/2006/relationships/slide" Target="slides/slide316.xml"/><Relationship Id="rId324" Type="http://schemas.openxmlformats.org/officeDocument/2006/relationships/slide" Target="slides/slide317.xml"/><Relationship Id="rId325" Type="http://schemas.openxmlformats.org/officeDocument/2006/relationships/slide" Target="slides/slide318.xml"/><Relationship Id="rId326" Type="http://schemas.openxmlformats.org/officeDocument/2006/relationships/slide" Target="slides/slide319.xml"/><Relationship Id="rId327" Type="http://schemas.openxmlformats.org/officeDocument/2006/relationships/slide" Target="slides/slide320.xml"/><Relationship Id="rId328" Type="http://schemas.openxmlformats.org/officeDocument/2006/relationships/slide" Target="slides/slide321.xml"/><Relationship Id="rId329" Type="http://schemas.openxmlformats.org/officeDocument/2006/relationships/slide" Target="slides/slide322.xml"/><Relationship Id="rId330" Type="http://schemas.openxmlformats.org/officeDocument/2006/relationships/slide" Target="slides/slide323.xml"/><Relationship Id="rId331" Type="http://schemas.openxmlformats.org/officeDocument/2006/relationships/slide" Target="slides/slide324.xml"/><Relationship Id="rId332" Type="http://schemas.openxmlformats.org/officeDocument/2006/relationships/slide" Target="slides/slide325.xml"/><Relationship Id="rId333" Type="http://schemas.openxmlformats.org/officeDocument/2006/relationships/slide" Target="slides/slide326.xml"/><Relationship Id="rId334" Type="http://schemas.openxmlformats.org/officeDocument/2006/relationships/slide" Target="slides/slide327.xml"/><Relationship Id="rId335" Type="http://schemas.openxmlformats.org/officeDocument/2006/relationships/slide" Target="slides/slide328.xml"/><Relationship Id="rId336" Type="http://schemas.openxmlformats.org/officeDocument/2006/relationships/slide" Target="slides/slide329.xml"/><Relationship Id="rId337" Type="http://schemas.openxmlformats.org/officeDocument/2006/relationships/slide" Target="slides/slide330.xml"/><Relationship Id="rId338" Type="http://schemas.openxmlformats.org/officeDocument/2006/relationships/slide" Target="slides/slide331.xml"/><Relationship Id="rId339" Type="http://schemas.openxmlformats.org/officeDocument/2006/relationships/slide" Target="slides/slide332.xml"/><Relationship Id="rId340" Type="http://schemas.openxmlformats.org/officeDocument/2006/relationships/slide" Target="slides/slide333.xml"/><Relationship Id="rId341" Type="http://schemas.openxmlformats.org/officeDocument/2006/relationships/slide" Target="slides/slide334.xml"/><Relationship Id="rId342" Type="http://schemas.openxmlformats.org/officeDocument/2006/relationships/slide" Target="slides/slide335.xml"/><Relationship Id="rId343" Type="http://schemas.openxmlformats.org/officeDocument/2006/relationships/slide" Target="slides/slide336.xml"/><Relationship Id="rId344" Type="http://schemas.openxmlformats.org/officeDocument/2006/relationships/slide" Target="slides/slide337.xml"/><Relationship Id="rId345" Type="http://schemas.openxmlformats.org/officeDocument/2006/relationships/slide" Target="slides/slide338.xml"/><Relationship Id="rId346" Type="http://schemas.openxmlformats.org/officeDocument/2006/relationships/slide" Target="slides/slide339.xml"/><Relationship Id="rId347" Type="http://schemas.openxmlformats.org/officeDocument/2006/relationships/slide" Target="slides/slide340.xml"/><Relationship Id="rId348" Type="http://schemas.openxmlformats.org/officeDocument/2006/relationships/slide" Target="slides/slide341.xml"/><Relationship Id="rId349" Type="http://schemas.openxmlformats.org/officeDocument/2006/relationships/slide" Target="slides/slide342.xml"/><Relationship Id="rId350" Type="http://schemas.openxmlformats.org/officeDocument/2006/relationships/slide" Target="slides/slide343.xml"/><Relationship Id="rId351" Type="http://schemas.openxmlformats.org/officeDocument/2006/relationships/slide" Target="slides/slide344.xml"/><Relationship Id="rId352" Type="http://schemas.openxmlformats.org/officeDocument/2006/relationships/slide" Target="slides/slide345.xml"/><Relationship Id="rId353" Type="http://schemas.openxmlformats.org/officeDocument/2006/relationships/slide" Target="slides/slide346.xml"/><Relationship Id="rId354" Type="http://schemas.openxmlformats.org/officeDocument/2006/relationships/slide" Target="slides/slide347.xml"/><Relationship Id="rId355" Type="http://schemas.openxmlformats.org/officeDocument/2006/relationships/slide" Target="slides/slide348.xml"/><Relationship Id="rId356" Type="http://schemas.openxmlformats.org/officeDocument/2006/relationships/slide" Target="slides/slide349.xml"/><Relationship Id="rId357" Type="http://schemas.openxmlformats.org/officeDocument/2006/relationships/slide" Target="slides/slide350.xml"/><Relationship Id="rId358" Type="http://schemas.openxmlformats.org/officeDocument/2006/relationships/slide" Target="slides/slide351.xml"/><Relationship Id="rId359" Type="http://schemas.openxmlformats.org/officeDocument/2006/relationships/slide" Target="slides/slide352.xml"/><Relationship Id="rId360" Type="http://schemas.openxmlformats.org/officeDocument/2006/relationships/slide" Target="slides/slide353.xml"/><Relationship Id="rId361" Type="http://schemas.openxmlformats.org/officeDocument/2006/relationships/slide" Target="slides/slide354.xml"/><Relationship Id="rId362" Type="http://schemas.openxmlformats.org/officeDocument/2006/relationships/slide" Target="slides/slide355.xml"/><Relationship Id="rId363" Type="http://schemas.openxmlformats.org/officeDocument/2006/relationships/slide" Target="slides/slide356.xml"/><Relationship Id="rId364" Type="http://schemas.openxmlformats.org/officeDocument/2006/relationships/slide" Target="slides/slide357.xml"/><Relationship Id="rId365" Type="http://schemas.openxmlformats.org/officeDocument/2006/relationships/slide" Target="slides/slide358.xml"/><Relationship Id="rId366" Type="http://schemas.openxmlformats.org/officeDocument/2006/relationships/slide" Target="slides/slide359.xml"/><Relationship Id="rId367" Type="http://schemas.openxmlformats.org/officeDocument/2006/relationships/slide" Target="slides/slide360.xml"/><Relationship Id="rId368" Type="http://schemas.openxmlformats.org/officeDocument/2006/relationships/slide" Target="slides/slide361.xml"/><Relationship Id="rId369" Type="http://schemas.openxmlformats.org/officeDocument/2006/relationships/slide" Target="slides/slide362.xml"/><Relationship Id="rId370" Type="http://schemas.openxmlformats.org/officeDocument/2006/relationships/slide" Target="slides/slide363.xml"/><Relationship Id="rId371" Type="http://schemas.openxmlformats.org/officeDocument/2006/relationships/slide" Target="slides/slide364.xml"/><Relationship Id="rId372" Type="http://schemas.openxmlformats.org/officeDocument/2006/relationships/slide" Target="slides/slide365.xml"/><Relationship Id="rId373" Type="http://schemas.openxmlformats.org/officeDocument/2006/relationships/slide" Target="slides/slide366.xml"/><Relationship Id="rId374" Type="http://schemas.openxmlformats.org/officeDocument/2006/relationships/slide" Target="slides/slide367.xml"/><Relationship Id="rId375" Type="http://schemas.openxmlformats.org/officeDocument/2006/relationships/slide" Target="slides/slide368.xml"/><Relationship Id="rId376" Type="http://schemas.openxmlformats.org/officeDocument/2006/relationships/slide" Target="slides/slide369.xml"/><Relationship Id="rId377" Type="http://schemas.openxmlformats.org/officeDocument/2006/relationships/slide" Target="slides/slide370.xml"/><Relationship Id="rId378" Type="http://schemas.openxmlformats.org/officeDocument/2006/relationships/slide" Target="slides/slide371.xml"/><Relationship Id="rId379" Type="http://schemas.openxmlformats.org/officeDocument/2006/relationships/slide" Target="slides/slide372.xml"/><Relationship Id="rId380" Type="http://schemas.openxmlformats.org/officeDocument/2006/relationships/slide" Target="slides/slide373.xml"/><Relationship Id="rId381" Type="http://schemas.openxmlformats.org/officeDocument/2006/relationships/slide" Target="slides/slide374.xml"/><Relationship Id="rId382" Type="http://schemas.openxmlformats.org/officeDocument/2006/relationships/slide" Target="slides/slide375.xml"/><Relationship Id="rId383" Type="http://schemas.openxmlformats.org/officeDocument/2006/relationships/slide" Target="slides/slide376.xml"/><Relationship Id="rId384" Type="http://schemas.openxmlformats.org/officeDocument/2006/relationships/slide" Target="slides/slide377.xml"/><Relationship Id="rId385" Type="http://schemas.openxmlformats.org/officeDocument/2006/relationships/slide" Target="slides/slide378.xml"/><Relationship Id="rId386" Type="http://schemas.openxmlformats.org/officeDocument/2006/relationships/slide" Target="slides/slide379.xml"/><Relationship Id="rId387" Type="http://schemas.openxmlformats.org/officeDocument/2006/relationships/slide" Target="slides/slide380.xml"/><Relationship Id="rId388" Type="http://schemas.openxmlformats.org/officeDocument/2006/relationships/slide" Target="slides/slide381.xml"/><Relationship Id="rId389" Type="http://schemas.openxmlformats.org/officeDocument/2006/relationships/slide" Target="slides/slide382.xml"/><Relationship Id="rId390" Type="http://schemas.openxmlformats.org/officeDocument/2006/relationships/slide" Target="slides/slide383.xml"/><Relationship Id="rId391" Type="http://schemas.openxmlformats.org/officeDocument/2006/relationships/slide" Target="slides/slide38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Sheet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Sheet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Sheet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Sheet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Sheet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Sheet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Sheet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Sheet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Sheet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Sheet48.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Sheet49.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Sheet50.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Sheet51.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Sheet52.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Sheet53.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Sheet54.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Sheet55.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Sheet56.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Sheet57.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Sheet58.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Sheet59.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Sheet60.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Sheet61.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Sheet62.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Sheet63.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Sheet64.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Sheet65.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Sheet66.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Sheet67.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Sheet68.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Sheet69.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Sheet70.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Sheet71.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Sheet72.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Sheet73.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Sheet74.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Sheet75.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Sheet76.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Sheet77.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Sheet78.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Sheet79.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Sheet80.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Sheet81.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Sheet82.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Sheet83.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Sheet84.xlsx"/></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Sheet85.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Sheet86.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Sheet87.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Sheet88.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Sheet89.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Sheet90.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Sheet91.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Sheet92.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Sheet93.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Sheet94.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Sheet95.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Sheet99.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Sheet103.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Sheet104.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Sheet105.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Sheet106.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Sheet107.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Sheet108.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Sheet109.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Sheet110.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Sheet111.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Sheet112.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Sheet113.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Sheet114.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Sheet115.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Sheet116.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Sheet117.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Sheet118.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Sheet119.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Sheet120.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Sheet121.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Sheet122.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Sheet123.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Sheet124.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Sheet125.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Sheet126.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Sheet127.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Sheet128.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Sheet129.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Sheet130.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Sheet131.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Sheet132.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Sheet133.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Sheet134.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Sheet135.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Sheet136.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Sheet137.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Sheet138.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Sheet139.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Sheet140.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Sheet141.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Sheet142.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Sheet143.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Sheet144.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Sheet145.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Sheet146.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Sheet147.xlsx"/></Relationships>
</file>

<file path=ppt/charts/_rels/chart148.xml.rels><?xml version='1.0' encoding='UTF-8' standalone='yes'?>
<Relationships xmlns="http://schemas.openxmlformats.org/package/2006/relationships"><Relationship Id="rId1" Type="http://schemas.openxmlformats.org/officeDocument/2006/relationships/package" Target="../embeddings/Microsoft_Excel_Sheet148.xlsx"/></Relationships>
</file>

<file path=ppt/charts/_rels/chart149.xml.rels><?xml version='1.0' encoding='UTF-8' standalone='yes'?>
<Relationships xmlns="http://schemas.openxmlformats.org/package/2006/relationships"><Relationship Id="rId1" Type="http://schemas.openxmlformats.org/officeDocument/2006/relationships/package" Target="../embeddings/Microsoft_Excel_Sheet149.xlsx"/></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Sheet150.xlsx"/></Relationships>
</file>

<file path=ppt/charts/_rels/chart151.xml.rels><?xml version='1.0' encoding='UTF-8' standalone='yes'?>
<Relationships xmlns="http://schemas.openxmlformats.org/package/2006/relationships"><Relationship Id="rId1" Type="http://schemas.openxmlformats.org/officeDocument/2006/relationships/package" Target="../embeddings/Microsoft_Excel_Sheet151.xlsx"/></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Excel_Sheet152.xlsx"/></Relationships>
</file>

<file path=ppt/charts/_rels/chart153.xml.rels><?xml version='1.0' encoding='UTF-8' standalone='yes'?>
<Relationships xmlns="http://schemas.openxmlformats.org/package/2006/relationships"><Relationship Id="rId1" Type="http://schemas.openxmlformats.org/officeDocument/2006/relationships/package" Target="../embeddings/Microsoft_Excel_Sheet153.xlsx"/></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Excel_Sheet154.xlsx"/></Relationships>
</file>

<file path=ppt/charts/_rels/chart155.xml.rels><?xml version='1.0' encoding='UTF-8' standalone='yes'?>
<Relationships xmlns="http://schemas.openxmlformats.org/package/2006/relationships"><Relationship Id="rId1" Type="http://schemas.openxmlformats.org/officeDocument/2006/relationships/package" Target="../embeddings/Microsoft_Excel_Sheet155.xlsx"/></Relationships>
</file>

<file path=ppt/charts/_rels/chart156.xml.rels><?xml version='1.0' encoding='UTF-8' standalone='yes'?>
<Relationships xmlns="http://schemas.openxmlformats.org/package/2006/relationships"><Relationship Id="rId1" Type="http://schemas.openxmlformats.org/officeDocument/2006/relationships/package" Target="../embeddings/Microsoft_Excel_Sheet156.xlsx"/></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Sheet157.xlsx"/></Relationships>
</file>

<file path=ppt/charts/_rels/chart158.xml.rels><?xml version='1.0' encoding='UTF-8' standalone='yes'?>
<Relationships xmlns="http://schemas.openxmlformats.org/package/2006/relationships"><Relationship Id="rId1" Type="http://schemas.openxmlformats.org/officeDocument/2006/relationships/package" Target="../embeddings/Microsoft_Excel_Sheet158.xlsx"/></Relationships>
</file>

<file path=ppt/charts/_rels/chart159.xml.rels><?xml version='1.0' encoding='UTF-8' standalone='yes'?>
<Relationships xmlns="http://schemas.openxmlformats.org/package/2006/relationships"><Relationship Id="rId1" Type="http://schemas.openxmlformats.org/officeDocument/2006/relationships/package" Target="../embeddings/Microsoft_Excel_Sheet159.xlsx"/></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Excel_Sheet160.xlsx"/></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Excel_Sheet161.xlsx"/></Relationships>
</file>

<file path=ppt/charts/_rels/chart162.xml.rels><?xml version='1.0' encoding='UTF-8' standalone='yes'?>
<Relationships xmlns="http://schemas.openxmlformats.org/package/2006/relationships"><Relationship Id="rId1" Type="http://schemas.openxmlformats.org/officeDocument/2006/relationships/package" Target="../embeddings/Microsoft_Excel_Sheet162.xlsx"/></Relationships>
</file>

<file path=ppt/charts/_rels/chart163.xml.rels><?xml version='1.0' encoding='UTF-8' standalone='yes'?>
<Relationships xmlns="http://schemas.openxmlformats.org/package/2006/relationships"><Relationship Id="rId1" Type="http://schemas.openxmlformats.org/officeDocument/2006/relationships/package" Target="../embeddings/Microsoft_Excel_Sheet163.xlsx"/></Relationships>
</file>

<file path=ppt/charts/_rels/chart164.xml.rels><?xml version='1.0' encoding='UTF-8' standalone='yes'?>
<Relationships xmlns="http://schemas.openxmlformats.org/package/2006/relationships"><Relationship Id="rId1" Type="http://schemas.openxmlformats.org/officeDocument/2006/relationships/package" Target="../embeddings/Microsoft_Excel_Sheet164.xlsx"/></Relationships>
</file>

<file path=ppt/charts/_rels/chart165.xml.rels><?xml version='1.0' encoding='UTF-8' standalone='yes'?>
<Relationships xmlns="http://schemas.openxmlformats.org/package/2006/relationships"><Relationship Id="rId1" Type="http://schemas.openxmlformats.org/officeDocument/2006/relationships/package" Target="../embeddings/Microsoft_Excel_Sheet165.xlsx"/></Relationships>
</file>

<file path=ppt/charts/_rels/chart166.xml.rels><?xml version='1.0' encoding='UTF-8' standalone='yes'?>
<Relationships xmlns="http://schemas.openxmlformats.org/package/2006/relationships"><Relationship Id="rId1" Type="http://schemas.openxmlformats.org/officeDocument/2006/relationships/package" Target="../embeddings/Microsoft_Excel_Sheet166.xlsx"/></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Excel_Sheet167.xlsx"/></Relationships>
</file>

<file path=ppt/charts/_rels/chart168.xml.rels><?xml version='1.0' encoding='UTF-8' standalone='yes'?>
<Relationships xmlns="http://schemas.openxmlformats.org/package/2006/relationships"><Relationship Id="rId1" Type="http://schemas.openxmlformats.org/officeDocument/2006/relationships/package" Target="../embeddings/Microsoft_Excel_Sheet168.xlsx"/></Relationships>
</file>

<file path=ppt/charts/_rels/chart169.xml.rels><?xml version='1.0' encoding='UTF-8' standalone='yes'?>
<Relationships xmlns="http://schemas.openxmlformats.org/package/2006/relationships"><Relationship Id="rId1" Type="http://schemas.openxmlformats.org/officeDocument/2006/relationships/package" Target="../embeddings/Microsoft_Excel_Sheet169.xlsx"/></Relationships>
</file>

<file path=ppt/charts/_rels/chart170.xml.rels><?xml version='1.0' encoding='UTF-8' standalone='yes'?>
<Relationships xmlns="http://schemas.openxmlformats.org/package/2006/relationships"><Relationship Id="rId1" Type="http://schemas.openxmlformats.org/officeDocument/2006/relationships/package" Target="../embeddings/Microsoft_Excel_Sheet170.xlsx"/></Relationships>
</file>

<file path=ppt/charts/_rels/chart171.xml.rels><?xml version='1.0' encoding='UTF-8' standalone='yes'?>
<Relationships xmlns="http://schemas.openxmlformats.org/package/2006/relationships"><Relationship Id="rId1" Type="http://schemas.openxmlformats.org/officeDocument/2006/relationships/package" Target="../embeddings/Microsoft_Excel_Sheet171.xlsx"/></Relationships>
</file>

<file path=ppt/charts/_rels/chart172.xml.rels><?xml version='1.0' encoding='UTF-8' standalone='yes'?>
<Relationships xmlns="http://schemas.openxmlformats.org/package/2006/relationships"><Relationship Id="rId1" Type="http://schemas.openxmlformats.org/officeDocument/2006/relationships/package" Target="../embeddings/Microsoft_Excel_Sheet172.xlsx"/></Relationships>
</file>

<file path=ppt/charts/_rels/chart173.xml.rels><?xml version='1.0' encoding='UTF-8' standalone='yes'?>
<Relationships xmlns="http://schemas.openxmlformats.org/package/2006/relationships"><Relationship Id="rId1" Type="http://schemas.openxmlformats.org/officeDocument/2006/relationships/package" Target="../embeddings/Microsoft_Excel_Sheet173.xlsx"/></Relationships>
</file>

<file path=ppt/charts/_rels/chart174.xml.rels><?xml version='1.0' encoding='UTF-8' standalone='yes'?>
<Relationships xmlns="http://schemas.openxmlformats.org/package/2006/relationships"><Relationship Id="rId1" Type="http://schemas.openxmlformats.org/officeDocument/2006/relationships/package" Target="../embeddings/Microsoft_Excel_Sheet174.xlsx"/></Relationships>
</file>

<file path=ppt/charts/_rels/chart175.xml.rels><?xml version='1.0' encoding='UTF-8' standalone='yes'?>
<Relationships xmlns="http://schemas.openxmlformats.org/package/2006/relationships"><Relationship Id="rId1" Type="http://schemas.openxmlformats.org/officeDocument/2006/relationships/package" Target="../embeddings/Microsoft_Excel_Sheet175.xlsx"/></Relationships>
</file>

<file path=ppt/charts/_rels/chart176.xml.rels><?xml version='1.0' encoding='UTF-8' standalone='yes'?>
<Relationships xmlns="http://schemas.openxmlformats.org/package/2006/relationships"><Relationship Id="rId1" Type="http://schemas.openxmlformats.org/officeDocument/2006/relationships/package" Target="../embeddings/Microsoft_Excel_Sheet176.xlsx"/></Relationships>
</file>

<file path=ppt/charts/_rels/chart177.xml.rels><?xml version='1.0' encoding='UTF-8' standalone='yes'?>
<Relationships xmlns="http://schemas.openxmlformats.org/package/2006/relationships"><Relationship Id="rId1" Type="http://schemas.openxmlformats.org/officeDocument/2006/relationships/package" Target="../embeddings/Microsoft_Excel_Sheet177.xlsx"/></Relationships>
</file>

<file path=ppt/charts/_rels/chart178.xml.rels><?xml version='1.0' encoding='UTF-8' standalone='yes'?>
<Relationships xmlns="http://schemas.openxmlformats.org/package/2006/relationships"><Relationship Id="rId1" Type="http://schemas.openxmlformats.org/officeDocument/2006/relationships/package" Target="../embeddings/Microsoft_Excel_Sheet178.xlsx"/></Relationships>
</file>

<file path=ppt/charts/_rels/chart179.xml.rels><?xml version='1.0' encoding='UTF-8' standalone='yes'?>
<Relationships xmlns="http://schemas.openxmlformats.org/package/2006/relationships"><Relationship Id="rId1" Type="http://schemas.openxmlformats.org/officeDocument/2006/relationships/package" Target="../embeddings/Microsoft_Excel_Sheet179.xlsx"/></Relationships>
</file>

<file path=ppt/charts/_rels/chart180.xml.rels><?xml version='1.0' encoding='UTF-8' standalone='yes'?>
<Relationships xmlns="http://schemas.openxmlformats.org/package/2006/relationships"><Relationship Id="rId1" Type="http://schemas.openxmlformats.org/officeDocument/2006/relationships/package" Target="../embeddings/Microsoft_Excel_Sheet180.xlsx"/></Relationships>
</file>

<file path=ppt/charts/_rels/chart181.xml.rels><?xml version='1.0' encoding='UTF-8' standalone='yes'?>
<Relationships xmlns="http://schemas.openxmlformats.org/package/2006/relationships"><Relationship Id="rId1" Type="http://schemas.openxmlformats.org/officeDocument/2006/relationships/package" Target="../embeddings/Microsoft_Excel_Sheet181.xlsx"/></Relationships>
</file>

<file path=ppt/charts/_rels/chart182.xml.rels><?xml version='1.0' encoding='UTF-8' standalone='yes'?>
<Relationships xmlns="http://schemas.openxmlformats.org/package/2006/relationships"><Relationship Id="rId1" Type="http://schemas.openxmlformats.org/officeDocument/2006/relationships/package" Target="../embeddings/Microsoft_Excel_Sheet182.xlsx"/></Relationships>
</file>

<file path=ppt/charts/_rels/chart183.xml.rels><?xml version='1.0' encoding='UTF-8' standalone='yes'?>
<Relationships xmlns="http://schemas.openxmlformats.org/package/2006/relationships"><Relationship Id="rId1" Type="http://schemas.openxmlformats.org/officeDocument/2006/relationships/package" Target="../embeddings/Microsoft_Excel_Sheet183.xlsx"/></Relationships>
</file>

<file path=ppt/charts/_rels/chart184.xml.rels><?xml version='1.0' encoding='UTF-8' standalone='yes'?>
<Relationships xmlns="http://schemas.openxmlformats.org/package/2006/relationships"><Relationship Id="rId1" Type="http://schemas.openxmlformats.org/officeDocument/2006/relationships/package" Target="../embeddings/Microsoft_Excel_Sheet184.xlsx"/></Relationships>
</file>

<file path=ppt/charts/_rels/chart185.xml.rels><?xml version='1.0' encoding='UTF-8' standalone='yes'?>
<Relationships xmlns="http://schemas.openxmlformats.org/package/2006/relationships"><Relationship Id="rId1" Type="http://schemas.openxmlformats.org/officeDocument/2006/relationships/package" Target="../embeddings/Microsoft_Excel_Sheet185.xlsx"/></Relationships>
</file>

<file path=ppt/charts/_rels/chart186.xml.rels><?xml version='1.0' encoding='UTF-8' standalone='yes'?>
<Relationships xmlns="http://schemas.openxmlformats.org/package/2006/relationships"><Relationship Id="rId1" Type="http://schemas.openxmlformats.org/officeDocument/2006/relationships/package" Target="../embeddings/Microsoft_Excel_Sheet186.xlsx"/></Relationships>
</file>

<file path=ppt/charts/_rels/chart187.xml.rels><?xml version='1.0' encoding='UTF-8' standalone='yes'?>
<Relationships xmlns="http://schemas.openxmlformats.org/package/2006/relationships"><Relationship Id="rId1" Type="http://schemas.openxmlformats.org/officeDocument/2006/relationships/package" Target="../embeddings/Microsoft_Excel_Sheet187.xlsx"/></Relationships>
</file>

<file path=ppt/charts/_rels/chart188.xml.rels><?xml version='1.0' encoding='UTF-8' standalone='yes'?>
<Relationships xmlns="http://schemas.openxmlformats.org/package/2006/relationships"><Relationship Id="rId1" Type="http://schemas.openxmlformats.org/officeDocument/2006/relationships/package" Target="../embeddings/Microsoft_Excel_Sheet188.xlsx"/></Relationships>
</file>

<file path=ppt/charts/_rels/chart189.xml.rels><?xml version='1.0' encoding='UTF-8' standalone='yes'?>
<Relationships xmlns="http://schemas.openxmlformats.org/package/2006/relationships"><Relationship Id="rId1" Type="http://schemas.openxmlformats.org/officeDocument/2006/relationships/package" Target="../embeddings/Microsoft_Excel_Sheet189.xlsx"/></Relationships>
</file>

<file path=ppt/charts/_rels/chart190.xml.rels><?xml version='1.0' encoding='UTF-8' standalone='yes'?>
<Relationships xmlns="http://schemas.openxmlformats.org/package/2006/relationships"><Relationship Id="rId1" Type="http://schemas.openxmlformats.org/officeDocument/2006/relationships/package" Target="../embeddings/Microsoft_Excel_Sheet190.xlsx"/></Relationships>
</file>

<file path=ppt/charts/_rels/chart191.xml.rels><?xml version='1.0' encoding='UTF-8' standalone='yes'?>
<Relationships xmlns="http://schemas.openxmlformats.org/package/2006/relationships"><Relationship Id="rId1" Type="http://schemas.openxmlformats.org/officeDocument/2006/relationships/package" Target="../embeddings/Microsoft_Excel_Sheet191.xlsx"/></Relationships>
</file>

<file path=ppt/charts/_rels/chart192.xml.rels><?xml version='1.0' encoding='UTF-8' standalone='yes'?>
<Relationships xmlns="http://schemas.openxmlformats.org/package/2006/relationships"><Relationship Id="rId1" Type="http://schemas.openxmlformats.org/officeDocument/2006/relationships/package" Target="../embeddings/Microsoft_Excel_Sheet192.xlsx"/></Relationships>
</file>

<file path=ppt/charts/_rels/chart193.xml.rels><?xml version='1.0' encoding='UTF-8' standalone='yes'?>
<Relationships xmlns="http://schemas.openxmlformats.org/package/2006/relationships"><Relationship Id="rId1" Type="http://schemas.openxmlformats.org/officeDocument/2006/relationships/package" Target="../embeddings/Microsoft_Excel_Sheet193.xlsx"/></Relationships>
</file>

<file path=ppt/charts/_rels/chart194.xml.rels><?xml version='1.0' encoding='UTF-8' standalone='yes'?>
<Relationships xmlns="http://schemas.openxmlformats.org/package/2006/relationships"><Relationship Id="rId1" Type="http://schemas.openxmlformats.org/officeDocument/2006/relationships/package" Target="../embeddings/Microsoft_Excel_Sheet194.xlsx"/></Relationships>
</file>

<file path=ppt/charts/_rels/chart195.xml.rels><?xml version='1.0' encoding='UTF-8' standalone='yes'?>
<Relationships xmlns="http://schemas.openxmlformats.org/package/2006/relationships"><Relationship Id="rId1" Type="http://schemas.openxmlformats.org/officeDocument/2006/relationships/package" Target="../embeddings/Microsoft_Excel_Sheet195.xlsx"/></Relationships>
</file>

<file path=ppt/charts/_rels/chart196.xml.rels><?xml version='1.0' encoding='UTF-8' standalone='yes'?>
<Relationships xmlns="http://schemas.openxmlformats.org/package/2006/relationships"><Relationship Id="rId1" Type="http://schemas.openxmlformats.org/officeDocument/2006/relationships/package" Target="../embeddings/Microsoft_Excel_Sheet196.xlsx"/></Relationships>
</file>

<file path=ppt/charts/_rels/chart197.xml.rels><?xml version='1.0' encoding='UTF-8' standalone='yes'?>
<Relationships xmlns="http://schemas.openxmlformats.org/package/2006/relationships"><Relationship Id="rId1" Type="http://schemas.openxmlformats.org/officeDocument/2006/relationships/package" Target="../embeddings/Microsoft_Excel_Sheet197.xlsx"/></Relationships>
</file>

<file path=ppt/charts/_rels/chart198.xml.rels><?xml version='1.0' encoding='UTF-8' standalone='yes'?>
<Relationships xmlns="http://schemas.openxmlformats.org/package/2006/relationships"><Relationship Id="rId1" Type="http://schemas.openxmlformats.org/officeDocument/2006/relationships/package" Target="../embeddings/Microsoft_Excel_Sheet198.xlsx"/></Relationships>
</file>

<file path=ppt/charts/_rels/chart199.xml.rels><?xml version='1.0' encoding='UTF-8' standalone='yes'?>
<Relationships xmlns="http://schemas.openxmlformats.org/package/2006/relationships"><Relationship Id="rId1" Type="http://schemas.openxmlformats.org/officeDocument/2006/relationships/package" Target="../embeddings/Microsoft_Excel_Sheet199.xlsx"/></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Sheet200.xlsx"/></Relationships>
</file>

<file path=ppt/charts/_rels/chart201.xml.rels><?xml version='1.0' encoding='UTF-8' standalone='yes'?>
<Relationships xmlns="http://schemas.openxmlformats.org/package/2006/relationships"><Relationship Id="rId1" Type="http://schemas.openxmlformats.org/officeDocument/2006/relationships/package" Target="../embeddings/Microsoft_Excel_Sheet201.xlsx"/></Relationships>
</file>

<file path=ppt/charts/_rels/chart202.xml.rels><?xml version='1.0' encoding='UTF-8' standalone='yes'?>
<Relationships xmlns="http://schemas.openxmlformats.org/package/2006/relationships"><Relationship Id="rId1" Type="http://schemas.openxmlformats.org/officeDocument/2006/relationships/package" Target="../embeddings/Microsoft_Excel_Sheet202.xlsx"/></Relationships>
</file>

<file path=ppt/charts/_rels/chart203.xml.rels><?xml version='1.0' encoding='UTF-8' standalone='yes'?>
<Relationships xmlns="http://schemas.openxmlformats.org/package/2006/relationships"><Relationship Id="rId1" Type="http://schemas.openxmlformats.org/officeDocument/2006/relationships/package" Target="../embeddings/Microsoft_Excel_Sheet203.xlsx"/></Relationships>
</file>

<file path=ppt/charts/_rels/chart204.xml.rels><?xml version='1.0' encoding='UTF-8' standalone='yes'?>
<Relationships xmlns="http://schemas.openxmlformats.org/package/2006/relationships"><Relationship Id="rId1" Type="http://schemas.openxmlformats.org/officeDocument/2006/relationships/package" Target="../embeddings/Microsoft_Excel_Sheet204.xlsx"/></Relationships>
</file>

<file path=ppt/charts/_rels/chart205.xml.rels><?xml version='1.0' encoding='UTF-8' standalone='yes'?>
<Relationships xmlns="http://schemas.openxmlformats.org/package/2006/relationships"><Relationship Id="rId1" Type="http://schemas.openxmlformats.org/officeDocument/2006/relationships/package" Target="../embeddings/Microsoft_Excel_Sheet205.xlsx"/></Relationships>
</file>

<file path=ppt/charts/_rels/chart206.xml.rels><?xml version='1.0' encoding='UTF-8' standalone='yes'?>
<Relationships xmlns="http://schemas.openxmlformats.org/package/2006/relationships"><Relationship Id="rId1" Type="http://schemas.openxmlformats.org/officeDocument/2006/relationships/package" Target="../embeddings/Microsoft_Excel_Sheet206.xlsx"/></Relationships>
</file>

<file path=ppt/charts/_rels/chart207.xml.rels><?xml version='1.0' encoding='UTF-8' standalone='yes'?>
<Relationships xmlns="http://schemas.openxmlformats.org/package/2006/relationships"><Relationship Id="rId1" Type="http://schemas.openxmlformats.org/officeDocument/2006/relationships/package" Target="../embeddings/Microsoft_Excel_Sheet207.xlsx"/></Relationships>
</file>

<file path=ppt/charts/_rels/chart208.xml.rels><?xml version='1.0' encoding='UTF-8' standalone='yes'?>
<Relationships xmlns="http://schemas.openxmlformats.org/package/2006/relationships"><Relationship Id="rId1" Type="http://schemas.openxmlformats.org/officeDocument/2006/relationships/package" Target="../embeddings/Microsoft_Excel_Sheet208.xlsx"/></Relationships>
</file>

<file path=ppt/charts/_rels/chart209.xml.rels><?xml version='1.0' encoding='UTF-8' standalone='yes'?>
<Relationships xmlns="http://schemas.openxmlformats.org/package/2006/relationships"><Relationship Id="rId1" Type="http://schemas.openxmlformats.org/officeDocument/2006/relationships/package" Target="../embeddings/Microsoft_Excel_Sheet209.xlsx"/></Relationships>
</file>

<file path=ppt/charts/_rels/chart210.xml.rels><?xml version='1.0' encoding='UTF-8' standalone='yes'?>
<Relationships xmlns="http://schemas.openxmlformats.org/package/2006/relationships"><Relationship Id="rId1" Type="http://schemas.openxmlformats.org/officeDocument/2006/relationships/package" Target="../embeddings/Microsoft_Excel_Sheet210.xlsx"/></Relationships>
</file>

<file path=ppt/charts/_rels/chart211.xml.rels><?xml version='1.0' encoding='UTF-8' standalone='yes'?>
<Relationships xmlns="http://schemas.openxmlformats.org/package/2006/relationships"><Relationship Id="rId1" Type="http://schemas.openxmlformats.org/officeDocument/2006/relationships/package" Target="../embeddings/Microsoft_Excel_Sheet211.xlsx"/></Relationships>
</file>

<file path=ppt/charts/_rels/chart212.xml.rels><?xml version='1.0' encoding='UTF-8' standalone='yes'?>
<Relationships xmlns="http://schemas.openxmlformats.org/package/2006/relationships"><Relationship Id="rId1" Type="http://schemas.openxmlformats.org/officeDocument/2006/relationships/package" Target="../embeddings/Microsoft_Excel_Sheet212.xlsx"/></Relationships>
</file>

<file path=ppt/charts/_rels/chart213.xml.rels><?xml version='1.0' encoding='UTF-8' standalone='yes'?>
<Relationships xmlns="http://schemas.openxmlformats.org/package/2006/relationships"><Relationship Id="rId1" Type="http://schemas.openxmlformats.org/officeDocument/2006/relationships/package" Target="../embeddings/Microsoft_Excel_Sheet213.xlsx"/></Relationships>
</file>

<file path=ppt/charts/_rels/chart214.xml.rels><?xml version='1.0' encoding='UTF-8' standalone='yes'?>
<Relationships xmlns="http://schemas.openxmlformats.org/package/2006/relationships"><Relationship Id="rId1" Type="http://schemas.openxmlformats.org/officeDocument/2006/relationships/package" Target="../embeddings/Microsoft_Excel_Sheet214.xlsx"/></Relationships>
</file>

<file path=ppt/charts/_rels/chart215.xml.rels><?xml version='1.0' encoding='UTF-8' standalone='yes'?>
<Relationships xmlns="http://schemas.openxmlformats.org/package/2006/relationships"><Relationship Id="rId1" Type="http://schemas.openxmlformats.org/officeDocument/2006/relationships/package" Target="../embeddings/Microsoft_Excel_Sheet215.xlsx"/></Relationships>
</file>

<file path=ppt/charts/_rels/chart216.xml.rels><?xml version='1.0' encoding='UTF-8' standalone='yes'?>
<Relationships xmlns="http://schemas.openxmlformats.org/package/2006/relationships"><Relationship Id="rId1" Type="http://schemas.openxmlformats.org/officeDocument/2006/relationships/package" Target="../embeddings/Microsoft_Excel_Sheet216.xlsx"/></Relationships>
</file>

<file path=ppt/charts/_rels/chart217.xml.rels><?xml version='1.0' encoding='UTF-8' standalone='yes'?>
<Relationships xmlns="http://schemas.openxmlformats.org/package/2006/relationships"><Relationship Id="rId1" Type="http://schemas.openxmlformats.org/officeDocument/2006/relationships/package" Target="../embeddings/Microsoft_Excel_Sheet217.xlsx"/></Relationships>
</file>

<file path=ppt/charts/_rels/chart218.xml.rels><?xml version='1.0' encoding='UTF-8' standalone='yes'?>
<Relationships xmlns="http://schemas.openxmlformats.org/package/2006/relationships"><Relationship Id="rId1" Type="http://schemas.openxmlformats.org/officeDocument/2006/relationships/package" Target="../embeddings/Microsoft_Excel_Sheet218.xlsx"/></Relationships>
</file>

<file path=ppt/charts/_rels/chart219.xml.rels><?xml version='1.0' encoding='UTF-8' standalone='yes'?>
<Relationships xmlns="http://schemas.openxmlformats.org/package/2006/relationships"><Relationship Id="rId1" Type="http://schemas.openxmlformats.org/officeDocument/2006/relationships/package" Target="../embeddings/Microsoft_Excel_Sheet219.xlsx"/></Relationships>
</file>

<file path=ppt/charts/_rels/chart220.xml.rels><?xml version='1.0' encoding='UTF-8' standalone='yes'?>
<Relationships xmlns="http://schemas.openxmlformats.org/package/2006/relationships"><Relationship Id="rId1" Type="http://schemas.openxmlformats.org/officeDocument/2006/relationships/package" Target="../embeddings/Microsoft_Excel_Sheet220.xlsx"/></Relationships>
</file>

<file path=ppt/charts/_rels/chart221.xml.rels><?xml version='1.0' encoding='UTF-8' standalone='yes'?>
<Relationships xmlns="http://schemas.openxmlformats.org/package/2006/relationships"><Relationship Id="rId1" Type="http://schemas.openxmlformats.org/officeDocument/2006/relationships/package" Target="../embeddings/Microsoft_Excel_Sheet221.xlsx"/></Relationships>
</file>

<file path=ppt/charts/_rels/chart222.xml.rels><?xml version='1.0' encoding='UTF-8' standalone='yes'?>
<Relationships xmlns="http://schemas.openxmlformats.org/package/2006/relationships"><Relationship Id="rId1" Type="http://schemas.openxmlformats.org/officeDocument/2006/relationships/package" Target="../embeddings/Microsoft_Excel_Sheet222.xlsx"/></Relationships>
</file>

<file path=ppt/charts/_rels/chart223.xml.rels><?xml version='1.0' encoding='UTF-8' standalone='yes'?>
<Relationships xmlns="http://schemas.openxmlformats.org/package/2006/relationships"><Relationship Id="rId1" Type="http://schemas.openxmlformats.org/officeDocument/2006/relationships/package" Target="../embeddings/Microsoft_Excel_Sheet223.xlsx"/></Relationships>
</file>

<file path=ppt/charts/_rels/chart224.xml.rels><?xml version='1.0' encoding='UTF-8' standalone='yes'?>
<Relationships xmlns="http://schemas.openxmlformats.org/package/2006/relationships"><Relationship Id="rId1" Type="http://schemas.openxmlformats.org/officeDocument/2006/relationships/package" Target="../embeddings/Microsoft_Excel_Sheet224.xlsx"/></Relationships>
</file>

<file path=ppt/charts/_rels/chart225.xml.rels><?xml version='1.0' encoding='UTF-8' standalone='yes'?>
<Relationships xmlns="http://schemas.openxmlformats.org/package/2006/relationships"><Relationship Id="rId1" Type="http://schemas.openxmlformats.org/officeDocument/2006/relationships/package" Target="../embeddings/Microsoft_Excel_Sheet225.xlsx"/></Relationships>
</file>

<file path=ppt/charts/_rels/chart226.xml.rels><?xml version='1.0' encoding='UTF-8' standalone='yes'?>
<Relationships xmlns="http://schemas.openxmlformats.org/package/2006/relationships"><Relationship Id="rId1" Type="http://schemas.openxmlformats.org/officeDocument/2006/relationships/package" Target="../embeddings/Microsoft_Excel_Sheet226.xlsx"/></Relationships>
</file>

<file path=ppt/charts/_rels/chart227.xml.rels><?xml version='1.0' encoding='UTF-8' standalone='yes'?>
<Relationships xmlns="http://schemas.openxmlformats.org/package/2006/relationships"><Relationship Id="rId1" Type="http://schemas.openxmlformats.org/officeDocument/2006/relationships/package" Target="../embeddings/Microsoft_Excel_Sheet227.xlsx"/></Relationships>
</file>

<file path=ppt/charts/_rels/chart228.xml.rels><?xml version='1.0' encoding='UTF-8' standalone='yes'?>
<Relationships xmlns="http://schemas.openxmlformats.org/package/2006/relationships"><Relationship Id="rId1" Type="http://schemas.openxmlformats.org/officeDocument/2006/relationships/package" Target="../embeddings/Microsoft_Excel_Sheet228.xlsx"/></Relationships>
</file>

<file path=ppt/charts/_rels/chart229.xml.rels><?xml version='1.0' encoding='UTF-8' standalone='yes'?>
<Relationships xmlns="http://schemas.openxmlformats.org/package/2006/relationships"><Relationship Id="rId1" Type="http://schemas.openxmlformats.org/officeDocument/2006/relationships/package" Target="../embeddings/Microsoft_Excel_Sheet229.xlsx"/></Relationships>
</file>

<file path=ppt/charts/_rels/chart230.xml.rels><?xml version='1.0' encoding='UTF-8' standalone='yes'?>
<Relationships xmlns="http://schemas.openxmlformats.org/package/2006/relationships"><Relationship Id="rId1" Type="http://schemas.openxmlformats.org/officeDocument/2006/relationships/package" Target="../embeddings/Microsoft_Excel_Sheet230.xlsx"/></Relationships>
</file>

<file path=ppt/charts/_rels/chart231.xml.rels><?xml version='1.0' encoding='UTF-8' standalone='yes'?>
<Relationships xmlns="http://schemas.openxmlformats.org/package/2006/relationships"><Relationship Id="rId1" Type="http://schemas.openxmlformats.org/officeDocument/2006/relationships/package" Target="../embeddings/Microsoft_Excel_Sheet231.xlsx"/></Relationships>
</file>

<file path=ppt/charts/_rels/chart232.xml.rels><?xml version='1.0' encoding='UTF-8' standalone='yes'?>
<Relationships xmlns="http://schemas.openxmlformats.org/package/2006/relationships"><Relationship Id="rId1" Type="http://schemas.openxmlformats.org/officeDocument/2006/relationships/package" Target="../embeddings/Microsoft_Excel_Sheet232.xlsx"/></Relationships>
</file>

<file path=ppt/charts/_rels/chart233.xml.rels><?xml version='1.0' encoding='UTF-8' standalone='yes'?>
<Relationships xmlns="http://schemas.openxmlformats.org/package/2006/relationships"><Relationship Id="rId1" Type="http://schemas.openxmlformats.org/officeDocument/2006/relationships/package" Target="../embeddings/Microsoft_Excel_Sheet233.xlsx"/></Relationships>
</file>

<file path=ppt/charts/_rels/chart234.xml.rels><?xml version='1.0' encoding='UTF-8' standalone='yes'?>
<Relationships xmlns="http://schemas.openxmlformats.org/package/2006/relationships"><Relationship Id="rId1" Type="http://schemas.openxmlformats.org/officeDocument/2006/relationships/package" Target="../embeddings/Microsoft_Excel_Sheet234.xlsx"/></Relationships>
</file>

<file path=ppt/charts/_rels/chart235.xml.rels><?xml version='1.0' encoding='UTF-8' standalone='yes'?>
<Relationships xmlns="http://schemas.openxmlformats.org/package/2006/relationships"><Relationship Id="rId1" Type="http://schemas.openxmlformats.org/officeDocument/2006/relationships/package" Target="../embeddings/Microsoft_Excel_Sheet235.xlsx"/></Relationships>
</file>

<file path=ppt/charts/_rels/chart236.xml.rels><?xml version='1.0' encoding='UTF-8' standalone='yes'?>
<Relationships xmlns="http://schemas.openxmlformats.org/package/2006/relationships"><Relationship Id="rId1" Type="http://schemas.openxmlformats.org/officeDocument/2006/relationships/package" Target="../embeddings/Microsoft_Excel_Sheet236.xlsx"/></Relationships>
</file>

<file path=ppt/charts/_rels/chart237.xml.rels><?xml version='1.0' encoding='UTF-8' standalone='yes'?>
<Relationships xmlns="http://schemas.openxmlformats.org/package/2006/relationships"><Relationship Id="rId1" Type="http://schemas.openxmlformats.org/officeDocument/2006/relationships/package" Target="../embeddings/Microsoft_Excel_Sheet237.xlsx"/></Relationships>
</file>

<file path=ppt/charts/_rels/chart238.xml.rels><?xml version='1.0' encoding='UTF-8' standalone='yes'?>
<Relationships xmlns="http://schemas.openxmlformats.org/package/2006/relationships"><Relationship Id="rId1" Type="http://schemas.openxmlformats.org/officeDocument/2006/relationships/package" Target="../embeddings/Microsoft_Excel_Sheet238.xlsx"/></Relationships>
</file>

<file path=ppt/charts/_rels/chart239.xml.rels><?xml version='1.0' encoding='UTF-8' standalone='yes'?>
<Relationships xmlns="http://schemas.openxmlformats.org/package/2006/relationships"><Relationship Id="rId1" Type="http://schemas.openxmlformats.org/officeDocument/2006/relationships/package" Target="../embeddings/Microsoft_Excel_Sheet239.xlsx"/></Relationships>
</file>

<file path=ppt/charts/_rels/chart240.xml.rels><?xml version='1.0' encoding='UTF-8' standalone='yes'?>
<Relationships xmlns="http://schemas.openxmlformats.org/package/2006/relationships"><Relationship Id="rId1" Type="http://schemas.openxmlformats.org/officeDocument/2006/relationships/package" Target="../embeddings/Microsoft_Excel_Sheet240.xlsx"/></Relationships>
</file>

<file path=ppt/charts/_rels/chart241.xml.rels><?xml version='1.0' encoding='UTF-8' standalone='yes'?>
<Relationships xmlns="http://schemas.openxmlformats.org/package/2006/relationships"><Relationship Id="rId1" Type="http://schemas.openxmlformats.org/officeDocument/2006/relationships/package" Target="../embeddings/Microsoft_Excel_Sheet241.xlsx"/></Relationships>
</file>

<file path=ppt/charts/_rels/chart242.xml.rels><?xml version='1.0' encoding='UTF-8' standalone='yes'?>
<Relationships xmlns="http://schemas.openxmlformats.org/package/2006/relationships"><Relationship Id="rId1" Type="http://schemas.openxmlformats.org/officeDocument/2006/relationships/package" Target="../embeddings/Microsoft_Excel_Sheet242.xlsx"/></Relationships>
</file>

<file path=ppt/charts/_rels/chart243.xml.rels><?xml version='1.0' encoding='UTF-8' standalone='yes'?>
<Relationships xmlns="http://schemas.openxmlformats.org/package/2006/relationships"><Relationship Id="rId1" Type="http://schemas.openxmlformats.org/officeDocument/2006/relationships/package" Target="../embeddings/Microsoft_Excel_Sheet243.xlsx"/></Relationships>
</file>

<file path=ppt/charts/_rels/chart244.xml.rels><?xml version='1.0' encoding='UTF-8' standalone='yes'?>
<Relationships xmlns="http://schemas.openxmlformats.org/package/2006/relationships"><Relationship Id="rId1" Type="http://schemas.openxmlformats.org/officeDocument/2006/relationships/package" Target="../embeddings/Microsoft_Excel_Sheet244.xlsx"/></Relationships>
</file>

<file path=ppt/charts/_rels/chart245.xml.rels><?xml version='1.0' encoding='UTF-8' standalone='yes'?>
<Relationships xmlns="http://schemas.openxmlformats.org/package/2006/relationships"><Relationship Id="rId1" Type="http://schemas.openxmlformats.org/officeDocument/2006/relationships/package" Target="../embeddings/Microsoft_Excel_Sheet245.xlsx"/></Relationships>
</file>

<file path=ppt/charts/_rels/chart246.xml.rels><?xml version='1.0' encoding='UTF-8' standalone='yes'?>
<Relationships xmlns="http://schemas.openxmlformats.org/package/2006/relationships"><Relationship Id="rId1" Type="http://schemas.openxmlformats.org/officeDocument/2006/relationships/package" Target="../embeddings/Microsoft_Excel_Sheet246.xlsx"/></Relationships>
</file>

<file path=ppt/charts/_rels/chart247.xml.rels><?xml version='1.0' encoding='UTF-8' standalone='yes'?>
<Relationships xmlns="http://schemas.openxmlformats.org/package/2006/relationships"><Relationship Id="rId1" Type="http://schemas.openxmlformats.org/officeDocument/2006/relationships/package" Target="../embeddings/Microsoft_Excel_Sheet247.xlsx"/></Relationships>
</file>

<file path=ppt/charts/_rels/chart248.xml.rels><?xml version='1.0' encoding='UTF-8' standalone='yes'?>
<Relationships xmlns="http://schemas.openxmlformats.org/package/2006/relationships"><Relationship Id="rId1" Type="http://schemas.openxmlformats.org/officeDocument/2006/relationships/package" Target="../embeddings/Microsoft_Excel_Sheet248.xlsx"/></Relationships>
</file>

<file path=ppt/charts/_rels/chart249.xml.rels><?xml version='1.0' encoding='UTF-8' standalone='yes'?>
<Relationships xmlns="http://schemas.openxmlformats.org/package/2006/relationships"><Relationship Id="rId1" Type="http://schemas.openxmlformats.org/officeDocument/2006/relationships/package" Target="../embeddings/Microsoft_Excel_Sheet249.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5.675871309298897</c:v>
                </c:pt>
                <c:pt idx="1">
                  <c:v>6.897414087313414</c:v>
                </c:pt>
                <c:pt idx="2">
                  <c:v>6.488672254088446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9.104586595253707"/>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1803.7209999999998</c:v>
                </c:pt>
                <c:pt idx="2">
                  <c:v>0.0</c:v>
                </c:pt>
                <c:pt idx="3">
                  <c:v>2377.1059999999998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1803.7209999999998</c:v>
                </c:pt>
                <c:pt idx="1">
                  <c:v>573.385</c:v>
                </c:pt>
                <c:pt idx="2">
                  <c:v>2377.1059999999998</c:v>
                </c:pt>
                <c:pt idx="3">
                  <c:v>2254.3820000000005</c:v>
                </c:pt>
                <c:pt idx="4">
                  <c:v>4631.488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6.155615379124479</c:v>
                </c:pt>
                <c:pt idx="1">
                  <c:v>8.259067318211844</c:v>
                </c:pt>
                <c:pt idx="2">
                  <c:v>7.5533259377936535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901968860039634"/>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5272.909000000001</c:v>
                </c:pt>
                <c:pt idx="2">
                  <c:v>0.0</c:v>
                </c:pt>
                <c:pt idx="3">
                  <c:v>7108.289999999999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5272.909000000001</c:v>
                </c:pt>
                <c:pt idx="1">
                  <c:v>1835.3809999999985</c:v>
                </c:pt>
                <c:pt idx="2">
                  <c:v>7108.289999999999</c:v>
                </c:pt>
                <c:pt idx="3">
                  <c:v>8610.096000000001</c:v>
                </c:pt>
                <c:pt idx="4">
                  <c:v>15718.386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5272.909000000001</c:v>
                </c:pt>
                <c:pt idx="1">
                  <c:v>5576.106</c:v>
                </c:pt>
                <c:pt idx="2">
                  <c:v>5903.2570000000005</c:v>
                </c:pt>
                <c:pt idx="3">
                  <c:v>6260.283</c:v>
                </c:pt>
                <c:pt idx="4">
                  <c:v>6649.512000000001</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1803.7209999999998</c:v>
                </c:pt>
                <c:pt idx="1">
                  <c:v>1902.0000000000002</c:v>
                </c:pt>
                <c:pt idx="2">
                  <c:v>2007.1599999999999</c:v>
                </c:pt>
                <c:pt idx="3">
                  <c:v>2120.076</c:v>
                </c:pt>
                <c:pt idx="4">
                  <c:v>2242.15</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7846"/>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3050"/>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7108.289999999999</c:v>
                </c:pt>
                <c:pt idx="1">
                  <c:v>7623.3009999999995</c:v>
                </c:pt>
                <c:pt idx="2">
                  <c:v>8203.537999999999</c:v>
                </c:pt>
                <c:pt idx="3">
                  <c:v>8856.418000000001</c:v>
                </c:pt>
                <c:pt idx="4">
                  <c:v>9590.787</c:v>
                </c:pt>
                <c:pt idx="5">
                  <c:v>10407.938</c:v>
                </c:pt>
                <c:pt idx="6">
                  <c:v>11309.251</c:v>
                </c:pt>
                <c:pt idx="7">
                  <c:v>12292.235</c:v>
                </c:pt>
                <c:pt idx="8">
                  <c:v>13356.213999999998</c:v>
                </c:pt>
                <c:pt idx="9">
                  <c:v>14497.785</c:v>
                </c:pt>
                <c:pt idx="10">
                  <c:v>15718.386</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2377.1059999999998</c:v>
                </c:pt>
                <c:pt idx="1">
                  <c:v>2526.2230000000004</c:v>
                </c:pt>
                <c:pt idx="2">
                  <c:v>2691.6139999999996</c:v>
                </c:pt>
                <c:pt idx="3">
                  <c:v>2874.969</c:v>
                </c:pt>
                <c:pt idx="4">
                  <c:v>3077.744</c:v>
                </c:pt>
                <c:pt idx="5">
                  <c:v>3299.324</c:v>
                </c:pt>
                <c:pt idx="6">
                  <c:v>3538.6400000000003</c:v>
                </c:pt>
                <c:pt idx="7">
                  <c:v>3793.438</c:v>
                </c:pt>
                <c:pt idx="8">
                  <c:v>4062.1899999999996</c:v>
                </c:pt>
                <c:pt idx="9">
                  <c:v>4341.749</c:v>
                </c:pt>
                <c:pt idx="10">
                  <c:v>4631.488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8548"/>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048"/>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Sheet1!$A$2:$A$6</c:f>
              <c:strCache>
                <c:ptCount val="5"/>
                <c:pt idx="0">
                  <c:v>Israel</c:v>
                </c:pt>
                <c:pt idx="1">
                  <c:v>UAE</c:v>
                </c:pt>
                <c:pt idx="2">
                  <c:v>South Africa</c:v>
                </c:pt>
                <c:pt idx="3">
                  <c:v>Turkey</c:v>
                </c:pt>
                <c:pt idx="4">
                  <c:v>Saudi Arabia</c:v>
                </c:pt>
              </c:strCache>
            </c:strRef>
          </c:cat>
          <c:val>
            <c:numRef>
              <c:f>Sheet1!$B$2:$B$6</c:f>
              <c:numCache>
                <c:formatCode>General</c:formatCode>
                <c:ptCount val="5"/>
                <c:pt idx="0">
                  <c:v>76.69983731763973</c:v>
                </c:pt>
                <c:pt idx="1">
                  <c:v>90.69526818616168</c:v>
                </c:pt>
                <c:pt idx="2">
                  <c:v>97.45571472500984</c:v>
                </c:pt>
                <c:pt idx="3">
                  <c:v>98.37265254733437</c:v>
                </c:pt>
                <c:pt idx="4">
                  <c:v>109.80039598221182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Sheet1!$A$2:$A$6</c:f>
              <c:strCache>
                <c:ptCount val="5"/>
                <c:pt idx="0">
                  <c:v>Israel</c:v>
                </c:pt>
                <c:pt idx="1">
                  <c:v>UAE</c:v>
                </c:pt>
                <c:pt idx="2">
                  <c:v>South Africa</c:v>
                </c:pt>
                <c:pt idx="3">
                  <c:v>Saudi Arabia</c:v>
                </c:pt>
                <c:pt idx="4">
                  <c:v>Turkey</c:v>
                </c:pt>
              </c:strCache>
            </c:strRef>
          </c:cat>
          <c:val>
            <c:numRef>
              <c:f>Sheet1!$B$2:$B$6</c:f>
              <c:numCache>
                <c:formatCode>General</c:formatCode>
                <c:ptCount val="5"/>
                <c:pt idx="0">
                  <c:v>5.533701366395915</c:v>
                </c:pt>
                <c:pt idx="1">
                  <c:v>11.303497661350116</c:v>
                </c:pt>
                <c:pt idx="2">
                  <c:v>11.555144100600039</c:v>
                </c:pt>
                <c:pt idx="3">
                  <c:v>21.279100720828197</c:v>
                </c:pt>
                <c:pt idx="4">
                  <c:v>23.968257729065968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53.9%</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10.9%</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28.2%</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7.0%</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Rollstock Films</c:v>
                </c:pt>
                <c:pt idx="1">
                  <c:v>Barrier Casings</c:v>
                </c:pt>
                <c:pt idx="2">
                  <c:v>Premade Pouches &amp; Bags</c:v>
                </c:pt>
                <c:pt idx="3">
                  <c:v>Sachets &amp; Stick Packs</c:v>
                </c:pt>
              </c:strCache>
            </c:strRef>
          </c:cat>
          <c:val>
            <c:numRef>
              <c:f>Sheet1!$B$2:$B$5</c:f>
              <c:numCache>
                <c:formatCode>General</c:formatCode>
                <c:ptCount val="4"/>
                <c:pt idx="0">
                  <c:v>8469.039</c:v>
                </c:pt>
                <c:pt idx="1">
                  <c:v>1711.0720000000001</c:v>
                </c:pt>
                <c:pt idx="2">
                  <c:v>4435.675</c:v>
                </c:pt>
                <c:pt idx="3">
                  <c:v>1102.6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0.11098877925112084</c:v>
                </c:pt>
                <c:pt idx="1">
                  <c:v>0.11005335074390993</c:v>
                </c:pt>
                <c:pt idx="2">
                  <c:v>0.10797462072788569</c:v>
                </c:pt>
                <c:pt idx="3">
                  <c:v>0.10584392246146085</c:v>
                </c:pt>
                <c:pt idx="4">
                  <c:v>0.10381716069583723</c:v>
                </c:pt>
                <c:pt idx="5">
                  <c:v>0.10146299895268979</c:v>
                </c:pt>
                <c:pt idx="6">
                  <c:v>0.09967009431386888</c:v>
                </c:pt>
                <c:pt idx="7">
                  <c:v>0.09709766591903889</c:v>
                </c:pt>
                <c:pt idx="8">
                  <c:v>0.09520602160445683</c:v>
                </c:pt>
                <c:pt idx="9">
                  <c:v>0.09383405979388085</c:v>
                </c:pt>
                <c:pt idx="10">
                  <c:v>0.09272193923530787</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0.07206883615518554</c:v>
                </c:pt>
                <c:pt idx="1">
                  <c:v>0.07394986970746073</c:v>
                </c:pt>
                <c:pt idx="2">
                  <c:v>0.0761412737958613</c:v>
                </c:pt>
                <c:pt idx="3">
                  <c:v>0.07834208305202325</c:v>
                </c:pt>
                <c:pt idx="4">
                  <c:v>0.0821041501565736</c:v>
                </c:pt>
                <c:pt idx="5">
                  <c:v>0.08617658779724935</c:v>
                </c:pt>
                <c:pt idx="6">
                  <c:v>0.08805762134952452</c:v>
                </c:pt>
                <c:pt idx="7">
                  <c:v>0.08711710457338694</c:v>
                </c:pt>
                <c:pt idx="8">
                  <c:v>0.0856122777315668</c:v>
                </c:pt>
                <c:pt idx="9">
                  <c:v>0.08376886485033712</c:v>
                </c:pt>
                <c:pt idx="10">
                  <c:v>0.08162448660074344</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0.05173635390821473</c:v>
                </c:pt>
                <c:pt idx="1">
                  <c:v>0.05295777576828594</c:v>
                </c:pt>
                <c:pt idx="2">
                  <c:v>0.05572851797435352</c:v>
                </c:pt>
                <c:pt idx="3">
                  <c:v>0.058622222112643035</c:v>
                </c:pt>
                <c:pt idx="4">
                  <c:v>0.06059781049034211</c:v>
                </c:pt>
                <c:pt idx="5">
                  <c:v>0.06165528310745074</c:v>
                </c:pt>
                <c:pt idx="6">
                  <c:v>0.06278653288389253</c:v>
                </c:pt>
                <c:pt idx="7">
                  <c:v>0.06452439485929587</c:v>
                </c:pt>
                <c:pt idx="8">
                  <c:v>0.06636062638047675</c:v>
                </c:pt>
                <c:pt idx="9">
                  <c:v>0.06763123301343674</c:v>
                </c:pt>
                <c:pt idx="10">
                  <c:v>0.06870510055484162</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Turkey</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26.67562994666624</c:v>
                </c:pt>
                <c:pt idx="1">
                  <c:v>26.318604301684466</c:v>
                </c:pt>
              </c:numCache>
            </c:numRef>
          </c:val>
        </c:ser>
        <c:ser>
          <c:idx val="1"/>
          <c:order val="1"/>
          <c:tx>
            <c:strRef>
              <c:f>Sheet1!$C$1</c:f>
              <c:strCache>
                <c:ptCount val="1"/>
                <c:pt idx="0">
                  <c:v>Saudi Arabia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19.196619755282267</c:v>
                </c:pt>
                <c:pt idx="1">
                  <c:v>20.640321209943757</c:v>
                </c:pt>
              </c:numCache>
            </c:numRef>
          </c:val>
        </c:ser>
        <c:ser>
          <c:idx val="2"/>
          <c:order val="2"/>
          <c:tx>
            <c:strRef>
              <c:f>Sheet1!$D$1</c:f>
              <c:strCache>
                <c:ptCount val="1"/>
                <c:pt idx="0">
                  <c:v>MEA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13.141315532416309</c:v>
                </c:pt>
                <c:pt idx="1">
                  <c:v>13.9405737421753</c:v>
                </c:pt>
              </c:numCache>
            </c:numRef>
          </c:val>
        </c:ser>
        <c:ser>
          <c:idx val="3"/>
          <c:order val="3"/>
          <c:tx>
            <c:strRef>
              <c:f>Sheet1!$E$1</c:f>
              <c:strCache>
                <c:ptCount val="1"/>
                <c:pt idx="0">
                  <c:v>UAE</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12.551901345585769</c:v>
                </c:pt>
                <c:pt idx="1">
                  <c:v>11.712045891082951</c:v>
                </c:pt>
              </c:numCache>
            </c:numRef>
          </c:val>
        </c:ser>
        <c:ser>
          <c:idx val="4"/>
          <c:order val="4"/>
          <c:tx>
            <c:strRef>
              <c:f>Sheet1!$F$1</c:f>
              <c:strCache>
                <c:ptCount val="1"/>
                <c:pt idx="0">
                  <c:v>South Africa</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11.426373077178722</c:v>
                </c:pt>
                <c:pt idx="1">
                  <c:v>11.08155737421753</c:v>
                </c:pt>
              </c:numCache>
            </c:numRef>
          </c:val>
        </c:ser>
        <c:ser>
          <c:idx val="5"/>
          <c:order val="5"/>
          <c:tx>
            <c:strRef>
              <c:f>Sheet1!$G$1</c:f>
              <c:strCache>
                <c:ptCount val="1"/>
                <c:pt idx="0">
                  <c:v>GCC</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10.056387893514215</c:v>
                </c:pt>
                <c:pt idx="1">
                  <c:v>10.428246818301158</c:v>
                </c:pt>
              </c:numCache>
            </c:numRef>
          </c:val>
        </c:ser>
        <c:ser>
          <c:idx val="6"/>
          <c:order val="6"/>
          <c:tx>
            <c:strRef>
              <c:f>Sheet1!$H$1</c:f>
              <c:strCache>
                <c:ptCount val="1"/>
                <c:pt idx="0">
                  <c:v>Israel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6.951772449356487</c:v>
                </c:pt>
                <c:pt idx="1">
                  <c:v>5.878650662594829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Turkey</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24.520901285047962</c:v>
                </c:pt>
                <c:pt idx="1">
                  <c:v>24.21819745244852</c:v>
                </c:pt>
              </c:numCache>
            </c:numRef>
          </c:val>
        </c:ser>
        <c:ser>
          <c:idx val="1"/>
          <c:order val="1"/>
          <c:tx>
            <c:strRef>
              <c:f>Sheet1!$C$1</c:f>
              <c:strCache>
                <c:ptCount val="1"/>
                <c:pt idx="0">
                  <c:v>Saudi Arabia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18.646623416726516</c:v>
                </c:pt>
                <c:pt idx="1">
                  <c:v>20.08860705618204</c:v>
                </c:pt>
              </c:numCache>
            </c:numRef>
          </c:val>
        </c:ser>
        <c:ser>
          <c:idx val="2"/>
          <c:order val="2"/>
          <c:tx>
            <c:strRef>
              <c:f>Sheet1!$D$1</c:f>
              <c:strCache>
                <c:ptCount val="1"/>
                <c:pt idx="0">
                  <c:v>MEA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14.00497587677495</c:v>
                </c:pt>
                <c:pt idx="1">
                  <c:v>14.785410233251032</c:v>
                </c:pt>
              </c:numCache>
            </c:numRef>
          </c:val>
        </c:ser>
        <c:ser>
          <c:idx val="3"/>
          <c:order val="3"/>
          <c:tx>
            <c:strRef>
              <c:f>Sheet1!$E$1</c:f>
              <c:strCache>
                <c:ptCount val="1"/>
                <c:pt idx="0">
                  <c:v>UAE</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12.926053294074036</c:v>
                </c:pt>
                <c:pt idx="1">
                  <c:v>12.037259293844846</c:v>
                </c:pt>
              </c:numCache>
            </c:numRef>
          </c:val>
        </c:ser>
        <c:ser>
          <c:idx val="4"/>
          <c:order val="4"/>
          <c:tx>
            <c:strRef>
              <c:f>Sheet1!$F$1</c:f>
              <c:strCache>
                <c:ptCount val="1"/>
                <c:pt idx="0">
                  <c:v>South Africa</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11.975825426491163</c:v>
                </c:pt>
                <c:pt idx="1">
                  <c:v>11.745397285357587</c:v>
                </c:pt>
              </c:numCache>
            </c:numRef>
          </c:val>
        </c:ser>
        <c:ser>
          <c:idx val="5"/>
          <c:order val="5"/>
          <c:tx>
            <c:strRef>
              <c:f>Sheet1!$G$1</c:f>
              <c:strCache>
                <c:ptCount val="1"/>
                <c:pt idx="0">
                  <c:v>GCC</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10.023275623760691</c:v>
                </c:pt>
                <c:pt idx="1">
                  <c:v>10.520265215508436</c:v>
                </c:pt>
              </c:numCache>
            </c:numRef>
          </c:val>
        </c:ser>
        <c:ser>
          <c:idx val="6"/>
          <c:order val="6"/>
          <c:tx>
            <c:strRef>
              <c:f>Sheet1!$H$1</c:f>
              <c:strCache>
                <c:ptCount val="1"/>
                <c:pt idx="0">
                  <c:v>Israel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7.902345077124682</c:v>
                </c:pt>
                <c:pt idx="1">
                  <c:v>6.604863463407537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Turkey</c:v>
                </c:pt>
              </c:strCache>
            </c:strRef>
          </c:tx>
          <c:spPr>
            <a:solidFill>
              <a:srgbClr val="3D85C6"/>
            </a:solidFill>
            <a:ln>
              <a:noFill/>
            </a:ln>
          </c:spPr>
          <c:dLbls>
            <c:dLbl>
              <c:idx val="0"/>
              <c:tx>
                <c:rich>
                  <a:bodyPr/>
                  <a:lstStyle/>
                  <a:p>
                    <a:r>
                      <a:rPr sz="1100">
                        <a:solidFill>
                          <a:srgbClr val="FFFFFF"/>
                        </a:solidFill>
                        <a:latin typeface="Calibri"/>
                      </a:rPr>
                      <a:t>480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506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534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565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598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634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674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718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767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820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878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940</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1,006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1,074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1,146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1,219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480.179</c:v>
                </c:pt>
                <c:pt idx="1">
                  <c:v>506.172</c:v>
                </c:pt>
                <c:pt idx="2">
                  <c:v>534.179</c:v>
                </c:pt>
                <c:pt idx="3">
                  <c:v>564.555</c:v>
                </c:pt>
                <c:pt idx="4">
                  <c:v>597.626</c:v>
                </c:pt>
                <c:pt idx="5">
                  <c:v>634.108</c:v>
                </c:pt>
                <c:pt idx="6">
                  <c:v>674.221</c:v>
                </c:pt>
                <c:pt idx="7">
                  <c:v>718.362</c:v>
                </c:pt>
                <c:pt idx="8">
                  <c:v>766.916</c:v>
                </c:pt>
                <c:pt idx="9">
                  <c:v>820.256</c:v>
                </c:pt>
                <c:pt idx="10">
                  <c:v>878.217</c:v>
                </c:pt>
                <c:pt idx="11">
                  <c:v>940.299</c:v>
                </c:pt>
                <c:pt idx="12">
                  <c:v>1005.767</c:v>
                </c:pt>
                <c:pt idx="13">
                  <c:v>1074.445</c:v>
                </c:pt>
                <c:pt idx="14">
                  <c:v>1145.603</c:v>
                </c:pt>
                <c:pt idx="15">
                  <c:v>1218.943</c:v>
                </c:pt>
              </c:numCache>
            </c:numRef>
          </c:val>
        </c:ser>
        <c:ser>
          <c:idx val="1"/>
          <c:order val="1"/>
          <c:tx>
            <c:strRef>
              <c:f>Sheet1!$C$1</c:f>
              <c:strCache>
                <c:ptCount val="1"/>
                <c:pt idx="0">
                  <c:v>Saudi Arabia</c:v>
                </c:pt>
              </c:strCache>
            </c:strRef>
          </c:tx>
          <c:spPr>
            <a:solidFill>
              <a:srgbClr val="9E7E0A"/>
            </a:solidFill>
            <a:ln>
              <a:noFill/>
            </a:ln>
          </c:spPr>
          <c:dLbls>
            <c:dLbl>
              <c:idx val="0"/>
              <c:tx>
                <c:rich>
                  <a:bodyPr/>
                  <a:lstStyle/>
                  <a:p>
                    <a:r>
                      <a:rPr sz="1100">
                        <a:solidFill>
                          <a:srgbClr val="FFFFFF"/>
                        </a:solidFill>
                        <a:latin typeface="Calibri"/>
                      </a:rPr>
                      <a:t>335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377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401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427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456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489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524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564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608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657</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709</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766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826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890</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956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334.63</c:v>
                </c:pt>
                <c:pt idx="1">
                  <c:v>355.226</c:v>
                </c:pt>
                <c:pt idx="2">
                  <c:v>377.311</c:v>
                </c:pt>
                <c:pt idx="3">
                  <c:v>401.211</c:v>
                </c:pt>
                <c:pt idx="4">
                  <c:v>427.309</c:v>
                </c:pt>
                <c:pt idx="5">
                  <c:v>456.324</c:v>
                </c:pt>
                <c:pt idx="6">
                  <c:v>488.547</c:v>
                </c:pt>
                <c:pt idx="7">
                  <c:v>524.357</c:v>
                </c:pt>
                <c:pt idx="8">
                  <c:v>564.165</c:v>
                </c:pt>
                <c:pt idx="9">
                  <c:v>608.273</c:v>
                </c:pt>
                <c:pt idx="10">
                  <c:v>656.652</c:v>
                </c:pt>
                <c:pt idx="11">
                  <c:v>709.323</c:v>
                </c:pt>
                <c:pt idx="12">
                  <c:v>766.045</c:v>
                </c:pt>
                <c:pt idx="13">
                  <c:v>826.452</c:v>
                </c:pt>
                <c:pt idx="14">
                  <c:v>889.766</c:v>
                </c:pt>
                <c:pt idx="15">
                  <c:v>955.954</c:v>
                </c:pt>
              </c:numCache>
            </c:numRef>
          </c:val>
        </c:ser>
        <c:ser>
          <c:idx val="2"/>
          <c:order val="2"/>
          <c:tx>
            <c:strRef>
              <c:f>Sheet1!$D$1</c:f>
              <c:strCache>
                <c:ptCount val="1"/>
                <c:pt idx="0">
                  <c:v>Rest of MEA</c:v>
                </c:pt>
              </c:strCache>
            </c:strRef>
          </c:tx>
          <c:spPr>
            <a:solidFill>
              <a:srgbClr val="008189"/>
            </a:solidFill>
            <a:ln>
              <a:noFill/>
            </a:ln>
          </c:spPr>
          <c:dLbls>
            <c:dLbl>
              <c:idx val="3"/>
              <c:tx>
                <c:rich>
                  <a:bodyPr/>
                  <a:lstStyle/>
                  <a:p>
                    <a:r>
                      <a:rPr sz="1100">
                        <a:solidFill>
                          <a:srgbClr val="FFFFFF"/>
                        </a:solidFill>
                        <a:latin typeface="Calibri"/>
                      </a:rPr>
                      <a:t>279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295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312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332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355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380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409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442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478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517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558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601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646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237.406</c:v>
                </c:pt>
                <c:pt idx="1">
                  <c:v>250.334</c:v>
                </c:pt>
                <c:pt idx="2">
                  <c:v>264.123</c:v>
                </c:pt>
                <c:pt idx="3">
                  <c:v>278.813</c:v>
                </c:pt>
                <c:pt idx="4">
                  <c:v>294.624</c:v>
                </c:pt>
                <c:pt idx="5">
                  <c:v>312.383</c:v>
                </c:pt>
                <c:pt idx="6">
                  <c:v>332.341</c:v>
                </c:pt>
                <c:pt idx="7">
                  <c:v>354.929</c:v>
                </c:pt>
                <c:pt idx="8">
                  <c:v>380.47</c:v>
                </c:pt>
                <c:pt idx="9">
                  <c:v>409.486</c:v>
                </c:pt>
                <c:pt idx="10">
                  <c:v>442.005</c:v>
                </c:pt>
                <c:pt idx="11">
                  <c:v>477.878</c:v>
                </c:pt>
                <c:pt idx="12">
                  <c:v>516.509</c:v>
                </c:pt>
                <c:pt idx="13">
                  <c:v>557.618</c:v>
                </c:pt>
                <c:pt idx="14">
                  <c:v>600.689</c:v>
                </c:pt>
                <c:pt idx="15">
                  <c:v>645.656</c:v>
                </c:pt>
              </c:numCache>
            </c:numRef>
          </c:val>
        </c:ser>
        <c:ser>
          <c:idx val="3"/>
          <c:order val="3"/>
          <c:tx>
            <c:strRef>
              <c:f>Sheet1!$E$1</c:f>
              <c:strCache>
                <c:ptCount val="1"/>
                <c:pt idx="0">
                  <c:v>UAE</c:v>
                </c:pt>
              </c:strCache>
            </c:strRef>
          </c:tx>
          <c:spPr>
            <a:solidFill>
              <a:srgbClr val="40315E"/>
            </a:solidFill>
            <a:ln>
              <a:noFill/>
            </a:ln>
          </c:spPr>
          <c:dLbls>
            <c:dLbl>
              <c:idx val="4"/>
              <c:tx>
                <c:rich>
                  <a:bodyPr/>
                  <a:lstStyle/>
                  <a:p>
                    <a:r>
                      <a:rPr sz="1100">
                        <a:solidFill>
                          <a:srgbClr val="FFFFFF"/>
                        </a:solidFill>
                        <a:latin typeface="Calibri"/>
                      </a:rPr>
                      <a:t>283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298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334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354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377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401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427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454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483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512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542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231.962</c:v>
                </c:pt>
                <c:pt idx="1">
                  <c:v>243.569</c:v>
                </c:pt>
                <c:pt idx="2">
                  <c:v>255.894</c:v>
                </c:pt>
                <c:pt idx="3">
                  <c:v>268.99</c:v>
                </c:pt>
                <c:pt idx="4">
                  <c:v>282.994</c:v>
                </c:pt>
                <c:pt idx="5">
                  <c:v>298.372</c:v>
                </c:pt>
                <c:pt idx="6">
                  <c:v>315.238</c:v>
                </c:pt>
                <c:pt idx="7">
                  <c:v>333.859</c:v>
                </c:pt>
                <c:pt idx="8">
                  <c:v>354.311</c:v>
                </c:pt>
                <c:pt idx="9">
                  <c:v>376.694</c:v>
                </c:pt>
                <c:pt idx="10">
                  <c:v>400.937</c:v>
                </c:pt>
                <c:pt idx="11">
                  <c:v>426.856</c:v>
                </c:pt>
                <c:pt idx="12">
                  <c:v>454.167</c:v>
                </c:pt>
                <c:pt idx="13">
                  <c:v>482.71</c:v>
                </c:pt>
                <c:pt idx="14">
                  <c:v>512.165</c:v>
                </c:pt>
                <c:pt idx="15">
                  <c:v>542.442</c:v>
                </c:pt>
              </c:numCache>
            </c:numRef>
          </c:val>
        </c:ser>
        <c:ser>
          <c:idx val="4"/>
          <c:order val="4"/>
          <c:tx>
            <c:strRef>
              <c:f>Sheet1!$F$1</c:f>
              <c:strCache>
                <c:ptCount val="1"/>
                <c:pt idx="0">
                  <c:v>South Africa</c:v>
                </c:pt>
              </c:strCache>
            </c:strRef>
          </c:tx>
          <c:spPr>
            <a:solidFill>
              <a:srgbClr val="A35313"/>
            </a:solidFill>
            <a:ln>
              <a:noFill/>
            </a:ln>
          </c:spPr>
          <c:dLbls>
            <c:dLbl>
              <c:idx val="6"/>
              <c:tx>
                <c:rich>
                  <a:bodyPr/>
                  <a:lstStyle/>
                  <a:p>
                    <a:r>
                      <a:rPr sz="1100">
                        <a:solidFill>
                          <a:srgbClr val="FFFFFF"/>
                        </a:solidFill>
                        <a:latin typeface="Calibri"/>
                      </a:rPr>
                      <a:t>288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306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347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371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397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424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453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482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208.802</c:v>
                </c:pt>
                <c:pt idx="1">
                  <c:v>219.622</c:v>
                </c:pt>
                <c:pt idx="2">
                  <c:v>231.211</c:v>
                </c:pt>
                <c:pt idx="3">
                  <c:v>243.601</c:v>
                </c:pt>
                <c:pt idx="4">
                  <c:v>256.939</c:v>
                </c:pt>
                <c:pt idx="5">
                  <c:v>271.617</c:v>
                </c:pt>
                <c:pt idx="6">
                  <c:v>287.803</c:v>
                </c:pt>
                <c:pt idx="7">
                  <c:v>305.742</c:v>
                </c:pt>
                <c:pt idx="8">
                  <c:v>325.596</c:v>
                </c:pt>
                <c:pt idx="9">
                  <c:v>347.418</c:v>
                </c:pt>
                <c:pt idx="10">
                  <c:v>371.116</c:v>
                </c:pt>
                <c:pt idx="11">
                  <c:v>396.649</c:v>
                </c:pt>
                <c:pt idx="12">
                  <c:v>423.941</c:v>
                </c:pt>
                <c:pt idx="13">
                  <c:v>452.685</c:v>
                </c:pt>
                <c:pt idx="14">
                  <c:v>482.469</c:v>
                </c:pt>
                <c:pt idx="15">
                  <c:v>513.241</c:v>
                </c:pt>
              </c:numCache>
            </c:numRef>
          </c:val>
        </c:ser>
        <c:ser>
          <c:idx val="5"/>
          <c:order val="5"/>
          <c:tx>
            <c:strRef>
              <c:f>Sheet1!$G$1</c:f>
              <c:strCache>
                <c:ptCount val="1"/>
                <c:pt idx="0">
                  <c:v>Rest of GCC</c:v>
                </c:pt>
              </c:strCache>
            </c:strRef>
          </c:tx>
          <c:spPr>
            <a:solidFill>
              <a:srgbClr val="808080"/>
            </a:solidFill>
            <a:ln>
              <a:noFill/>
            </a:ln>
          </c:spPr>
          <c:dLbls>
            <c:dLbl>
              <c:idx val="8"/>
              <c:tx>
                <c:rich>
                  <a:bodyPr/>
                  <a:lstStyle/>
                  <a:p>
                    <a:r>
                      <a:rPr sz="1100">
                        <a:solidFill>
                          <a:srgbClr val="FFFFFF"/>
                        </a:solidFill>
                        <a:latin typeface="Calibri"/>
                      </a:rPr>
                      <a:t>292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338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364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392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421</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451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483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178.483</c:v>
                </c:pt>
                <c:pt idx="1">
                  <c:v>189.054</c:v>
                </c:pt>
                <c:pt idx="2">
                  <c:v>200.288</c:v>
                </c:pt>
                <c:pt idx="3">
                  <c:v>212.205</c:v>
                </c:pt>
                <c:pt idx="4">
                  <c:v>224.953</c:v>
                </c:pt>
                <c:pt idx="5">
                  <c:v>239.051</c:v>
                </c:pt>
                <c:pt idx="6">
                  <c:v>254.721</c:v>
                </c:pt>
                <c:pt idx="7">
                  <c:v>272.3</c:v>
                </c:pt>
                <c:pt idx="8">
                  <c:v>292.047</c:v>
                </c:pt>
                <c:pt idx="9">
                  <c:v>314.027</c:v>
                </c:pt>
                <c:pt idx="10">
                  <c:v>338.04</c:v>
                </c:pt>
                <c:pt idx="11">
                  <c:v>363.96</c:v>
                </c:pt>
                <c:pt idx="12">
                  <c:v>391.62</c:v>
                </c:pt>
                <c:pt idx="13">
                  <c:v>420.825</c:v>
                </c:pt>
                <c:pt idx="14">
                  <c:v>451.298</c:v>
                </c:pt>
                <c:pt idx="15">
                  <c:v>482.983</c:v>
                </c:pt>
              </c:numCache>
            </c:numRef>
          </c:val>
        </c:ser>
        <c:ser>
          <c:idx val="6"/>
          <c:order val="6"/>
          <c:tx>
            <c:strRef>
              <c:f>Sheet1!$H$1</c:f>
              <c:strCache>
                <c:ptCount val="1"/>
                <c:pt idx="0">
                  <c:v>Israel</c:v>
                </c:pt>
              </c:strCache>
            </c:strRef>
          </c:tx>
          <c:spPr>
            <a:solidFill>
              <a:srgbClr val="0E72AE"/>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132.259</c:v>
                </c:pt>
                <c:pt idx="1">
                  <c:v>138.023</c:v>
                </c:pt>
                <c:pt idx="2">
                  <c:v>144.154</c:v>
                </c:pt>
                <c:pt idx="3">
                  <c:v>150.701</c:v>
                </c:pt>
                <c:pt idx="4">
                  <c:v>157.705</c:v>
                </c:pt>
                <c:pt idx="5">
                  <c:v>165.251</c:v>
                </c:pt>
                <c:pt idx="6">
                  <c:v>173.352</c:v>
                </c:pt>
                <c:pt idx="7">
                  <c:v>182.065</c:v>
                </c:pt>
                <c:pt idx="8">
                  <c:v>191.464</c:v>
                </c:pt>
                <c:pt idx="9">
                  <c:v>201.59</c:v>
                </c:pt>
                <c:pt idx="10">
                  <c:v>212.357</c:v>
                </c:pt>
                <c:pt idx="11">
                  <c:v>223.675</c:v>
                </c:pt>
                <c:pt idx="12">
                  <c:v>235.389</c:v>
                </c:pt>
                <c:pt idx="13">
                  <c:v>247.455</c:v>
                </c:pt>
                <c:pt idx="14">
                  <c:v>259.759</c:v>
                </c:pt>
                <c:pt idx="15">
                  <c:v>272.269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Turkey</c:v>
                </c:pt>
              </c:strCache>
            </c:strRef>
          </c:tx>
          <c:spPr>
            <a:solidFill>
              <a:srgbClr val="3D85C6"/>
            </a:solidFill>
            <a:ln>
              <a:noFill/>
            </a:ln>
          </c:spPr>
          <c:dLbls>
            <c:dLbl>
              <c:idx val="0"/>
              <c:tx>
                <c:rich>
                  <a:bodyPr/>
                  <a:lstStyle/>
                  <a:p>
                    <a:r>
                      <a:rPr sz="1100">
                        <a:solidFill>
                          <a:srgbClr val="FFFFFF"/>
                        </a:solidFill>
                        <a:latin typeface="Calibri"/>
                      </a:rPr>
                      <a:t>1,291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1,364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1,444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1,532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1,629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1,743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1,871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2,173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2,351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2,548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2,764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2,998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3,250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3,520</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3,807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1290.903</c:v>
                </c:pt>
                <c:pt idx="1">
                  <c:v>1364.471</c:v>
                </c:pt>
                <c:pt idx="2">
                  <c:v>1444.365</c:v>
                </c:pt>
                <c:pt idx="3">
                  <c:v>1532.406</c:v>
                </c:pt>
                <c:pt idx="4">
                  <c:v>1629.128</c:v>
                </c:pt>
                <c:pt idx="5">
                  <c:v>1743.018</c:v>
                </c:pt>
                <c:pt idx="6">
                  <c:v>1870.593</c:v>
                </c:pt>
                <c:pt idx="7">
                  <c:v>2013.453</c:v>
                </c:pt>
                <c:pt idx="8">
                  <c:v>2173.027</c:v>
                </c:pt>
                <c:pt idx="9">
                  <c:v>2351.245</c:v>
                </c:pt>
                <c:pt idx="10">
                  <c:v>2548.48</c:v>
                </c:pt>
                <c:pt idx="11">
                  <c:v>2764.485</c:v>
                </c:pt>
                <c:pt idx="12">
                  <c:v>2998.237</c:v>
                </c:pt>
                <c:pt idx="13">
                  <c:v>3250.144</c:v>
                </c:pt>
                <c:pt idx="14">
                  <c:v>3519.662</c:v>
                </c:pt>
                <c:pt idx="15">
                  <c:v>3806.71</c:v>
                </c:pt>
              </c:numCache>
            </c:numRef>
          </c:val>
        </c:ser>
        <c:ser>
          <c:idx val="1"/>
          <c:order val="1"/>
          <c:tx>
            <c:strRef>
              <c:f>Sheet1!$C$1</c:f>
              <c:strCache>
                <c:ptCount val="1"/>
                <c:pt idx="0">
                  <c:v>Saudi Arabia</c:v>
                </c:pt>
              </c:strCache>
            </c:strRef>
          </c:tx>
          <c:spPr>
            <a:solidFill>
              <a:srgbClr val="9E7E0A"/>
            </a:solidFill>
            <a:ln>
              <a:noFill/>
            </a:ln>
          </c:spPr>
          <c:dLbls>
            <c:dLbl>
              <c:idx val="0"/>
              <c:tx>
                <c:rich>
                  <a:bodyPr/>
                  <a:lstStyle/>
                  <a:p>
                    <a:r>
                      <a:rPr sz="1100">
                        <a:solidFill>
                          <a:srgbClr val="FFFFFF"/>
                        </a:solidFill>
                        <a:latin typeface="Calibri"/>
                      </a:rPr>
                      <a:t>948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1,076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1,149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1,230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1,325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1,433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1,554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1,690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1,843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2,015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2,206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2,415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2,644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2,892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3,158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948.233</c:v>
                </c:pt>
                <c:pt idx="1">
                  <c:v>1009.56</c:v>
                </c:pt>
                <c:pt idx="2">
                  <c:v>1076.058</c:v>
                </c:pt>
                <c:pt idx="3">
                  <c:v>1149.332</c:v>
                </c:pt>
                <c:pt idx="4">
                  <c:v>1230.159</c:v>
                </c:pt>
                <c:pt idx="5">
                  <c:v>1325.457</c:v>
                </c:pt>
                <c:pt idx="6">
                  <c:v>1432.748</c:v>
                </c:pt>
                <c:pt idx="7">
                  <c:v>1553.623</c:v>
                </c:pt>
                <c:pt idx="8">
                  <c:v>1689.805</c:v>
                </c:pt>
                <c:pt idx="9">
                  <c:v>1843.366</c:v>
                </c:pt>
                <c:pt idx="10">
                  <c:v>2015.07</c:v>
                </c:pt>
                <c:pt idx="11">
                  <c:v>2205.696</c:v>
                </c:pt>
                <c:pt idx="12">
                  <c:v>2415.491</c:v>
                </c:pt>
                <c:pt idx="13">
                  <c:v>2644.451</c:v>
                </c:pt>
                <c:pt idx="14">
                  <c:v>2891.504</c:v>
                </c:pt>
                <c:pt idx="15">
                  <c:v>3157.605</c:v>
                </c:pt>
              </c:numCache>
            </c:numRef>
          </c:val>
        </c:ser>
        <c:ser>
          <c:idx val="2"/>
          <c:order val="2"/>
          <c:tx>
            <c:strRef>
              <c:f>Sheet1!$D$1</c:f>
              <c:strCache>
                <c:ptCount val="1"/>
                <c:pt idx="0">
                  <c:v>Rest of MEA</c:v>
                </c:pt>
              </c:strCache>
            </c:strRef>
          </c:tx>
          <c:spPr>
            <a:solidFill>
              <a:srgbClr val="008189"/>
            </a:solidFill>
            <a:ln>
              <a:noFill/>
            </a:ln>
          </c:spPr>
          <c:dLbls>
            <c:dLbl>
              <c:idx val="5"/>
              <c:tx>
                <c:rich>
                  <a:bodyPr/>
                  <a:lstStyle/>
                  <a:p>
                    <a:r>
                      <a:rPr sz="1100">
                        <a:solidFill>
                          <a:srgbClr val="FFFFFF"/>
                        </a:solidFill>
                        <a:latin typeface="Calibri"/>
                      </a:rPr>
                      <a:t>996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1,069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1,153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1,249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1,360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1,485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1,626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1,780</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1,948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2,129</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2,324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737.554</c:v>
                </c:pt>
                <c:pt idx="1">
                  <c:v>780.511</c:v>
                </c:pt>
                <c:pt idx="2">
                  <c:v>826.698</c:v>
                </c:pt>
                <c:pt idx="3">
                  <c:v>876.681</c:v>
                </c:pt>
                <c:pt idx="4">
                  <c:v>930.932</c:v>
                </c:pt>
                <c:pt idx="5">
                  <c:v>995.515</c:v>
                </c:pt>
                <c:pt idx="6">
                  <c:v>1068.946</c:v>
                </c:pt>
                <c:pt idx="7">
                  <c:v>1153.044</c:v>
                </c:pt>
                <c:pt idx="8">
                  <c:v>1249.252</c:v>
                </c:pt>
                <c:pt idx="9">
                  <c:v>1359.786</c:v>
                </c:pt>
                <c:pt idx="10">
                  <c:v>1485.126</c:v>
                </c:pt>
                <c:pt idx="11">
                  <c:v>1625.574</c:v>
                </c:pt>
                <c:pt idx="12">
                  <c:v>1780.012</c:v>
                </c:pt>
                <c:pt idx="13">
                  <c:v>1948.162</c:v>
                </c:pt>
                <c:pt idx="14">
                  <c:v>2129.416</c:v>
                </c:pt>
                <c:pt idx="15">
                  <c:v>2324.028</c:v>
                </c:pt>
              </c:numCache>
            </c:numRef>
          </c:val>
        </c:ser>
        <c:ser>
          <c:idx val="3"/>
          <c:order val="3"/>
          <c:tx>
            <c:strRef>
              <c:f>Sheet1!$E$1</c:f>
              <c:strCache>
                <c:ptCount val="1"/>
                <c:pt idx="0">
                  <c:v>UAE</c:v>
                </c:pt>
              </c:strCache>
            </c:strRef>
          </c:tx>
          <c:spPr>
            <a:solidFill>
              <a:srgbClr val="40315E"/>
            </a:solidFill>
            <a:ln>
              <a:noFill/>
            </a:ln>
          </c:spPr>
          <c:dLbls>
            <c:dLbl>
              <c:idx val="6"/>
              <c:tx>
                <c:rich>
                  <a:bodyPr/>
                  <a:lstStyle/>
                  <a:p>
                    <a:r>
                      <a:rPr sz="1100">
                        <a:solidFill>
                          <a:srgbClr val="FFFFFF"/>
                        </a:solidFill>
                        <a:latin typeface="Calibri"/>
                      </a:rPr>
                      <a:t>979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1,048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1,208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1,302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1,404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1,514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1,633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1,759</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1,892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698.767</c:v>
                </c:pt>
                <c:pt idx="1">
                  <c:v>735.761</c:v>
                </c:pt>
                <c:pt idx="2">
                  <c:v>775.367</c:v>
                </c:pt>
                <c:pt idx="3">
                  <c:v>818.195</c:v>
                </c:pt>
                <c:pt idx="4">
                  <c:v>864.434</c:v>
                </c:pt>
                <c:pt idx="5">
                  <c:v>918.822</c:v>
                </c:pt>
                <c:pt idx="6">
                  <c:v>979.47</c:v>
                </c:pt>
                <c:pt idx="7">
                  <c:v>1047.543</c:v>
                </c:pt>
                <c:pt idx="8">
                  <c:v>1123.598</c:v>
                </c:pt>
                <c:pt idx="9">
                  <c:v>1208.416</c:v>
                </c:pt>
                <c:pt idx="10">
                  <c:v>1301.973</c:v>
                </c:pt>
                <c:pt idx="11">
                  <c:v>1404.117</c:v>
                </c:pt>
                <c:pt idx="12">
                  <c:v>1514.354</c:v>
                </c:pt>
                <c:pt idx="13">
                  <c:v>1632.608</c:v>
                </c:pt>
                <c:pt idx="14">
                  <c:v>1758.522</c:v>
                </c:pt>
                <c:pt idx="15">
                  <c:v>1892.063</c:v>
                </c:pt>
              </c:numCache>
            </c:numRef>
          </c:val>
        </c:ser>
        <c:ser>
          <c:idx val="4"/>
          <c:order val="4"/>
          <c:tx>
            <c:strRef>
              <c:f>Sheet1!$F$1</c:f>
              <c:strCache>
                <c:ptCount val="1"/>
                <c:pt idx="0">
                  <c:v>South Africa</c:v>
                </c:pt>
              </c:strCache>
            </c:strRef>
          </c:tx>
          <c:spPr>
            <a:solidFill>
              <a:srgbClr val="A35313"/>
            </a:solidFill>
            <a:ln>
              <a:noFill/>
            </a:ln>
          </c:spPr>
          <c:dLbls>
            <c:dLbl>
              <c:idx val="7"/>
              <c:tx>
                <c:rich>
                  <a:bodyPr/>
                  <a:lstStyle/>
                  <a:p>
                    <a:r>
                      <a:rPr sz="1100">
                        <a:solidFill>
                          <a:srgbClr val="FFFFFF"/>
                        </a:solidFill>
                        <a:latin typeface="Calibri"/>
                      </a:rPr>
                      <a:t>978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1,054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1,139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1,233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1,337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1,450</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1,573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1,705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1,846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637.681</c:v>
                </c:pt>
                <c:pt idx="1">
                  <c:v>673.067</c:v>
                </c:pt>
                <c:pt idx="2">
                  <c:v>711.255</c:v>
                </c:pt>
                <c:pt idx="3">
                  <c:v>752.811</c:v>
                </c:pt>
                <c:pt idx="4">
                  <c:v>797.944</c:v>
                </c:pt>
                <c:pt idx="5">
                  <c:v>851.277</c:v>
                </c:pt>
                <c:pt idx="6">
                  <c:v>911.055</c:v>
                </c:pt>
                <c:pt idx="7">
                  <c:v>978.453</c:v>
                </c:pt>
                <c:pt idx="8">
                  <c:v>1054.246</c:v>
                </c:pt>
                <c:pt idx="9">
                  <c:v>1139.171</c:v>
                </c:pt>
                <c:pt idx="10">
                  <c:v>1233.235</c:v>
                </c:pt>
                <c:pt idx="11">
                  <c:v>1336.877</c:v>
                </c:pt>
                <c:pt idx="12">
                  <c:v>1450.467</c:v>
                </c:pt>
                <c:pt idx="13">
                  <c:v>1573.431</c:v>
                </c:pt>
                <c:pt idx="14">
                  <c:v>1705.316</c:v>
                </c:pt>
                <c:pt idx="15">
                  <c:v>1846.187</c:v>
                </c:pt>
              </c:numCache>
            </c:numRef>
          </c:val>
        </c:ser>
        <c:ser>
          <c:idx val="5"/>
          <c:order val="5"/>
          <c:tx>
            <c:strRef>
              <c:f>Sheet1!$G$1</c:f>
              <c:strCache>
                <c:ptCount val="1"/>
                <c:pt idx="0">
                  <c:v>Rest of GCC</c:v>
                </c:pt>
              </c:strCache>
            </c:strRef>
          </c:tx>
          <c:spPr>
            <a:solidFill>
              <a:srgbClr val="808080"/>
            </a:solidFill>
            <a:ln>
              <a:noFill/>
            </a:ln>
          </c:spPr>
          <c:dLbls>
            <c:dLbl>
              <c:idx val="9"/>
              <c:tx>
                <c:rich>
                  <a:bodyPr/>
                  <a:lstStyle/>
                  <a:p>
                    <a:r>
                      <a:rPr sz="1100">
                        <a:solidFill>
                          <a:srgbClr val="FFFFFF"/>
                        </a:solidFill>
                        <a:latin typeface="Calibri"/>
                      </a:rPr>
                      <a:t>978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1,067</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1,165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1,273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1,391</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1,517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1,654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520.265</c:v>
                </c:pt>
                <c:pt idx="1">
                  <c:v>552.701</c:v>
                </c:pt>
                <c:pt idx="2">
                  <c:v>587.402</c:v>
                </c:pt>
                <c:pt idx="3">
                  <c:v>624.756</c:v>
                </c:pt>
                <c:pt idx="4">
                  <c:v>664.95</c:v>
                </c:pt>
                <c:pt idx="5">
                  <c:v>712.484</c:v>
                </c:pt>
                <c:pt idx="6">
                  <c:v>766.315</c:v>
                </c:pt>
                <c:pt idx="7">
                  <c:v>827.793</c:v>
                </c:pt>
                <c:pt idx="8">
                  <c:v>898.051</c:v>
                </c:pt>
                <c:pt idx="9">
                  <c:v>977.765</c:v>
                </c:pt>
                <c:pt idx="10">
                  <c:v>1066.719</c:v>
                </c:pt>
                <c:pt idx="11">
                  <c:v>1165.256</c:v>
                </c:pt>
                <c:pt idx="12">
                  <c:v>1273.335</c:v>
                </c:pt>
                <c:pt idx="13">
                  <c:v>1390.812</c:v>
                </c:pt>
                <c:pt idx="14">
                  <c:v>1517.466</c:v>
                </c:pt>
                <c:pt idx="15">
                  <c:v>1653.616</c:v>
                </c:pt>
              </c:numCache>
            </c:numRef>
          </c:val>
        </c:ser>
        <c:ser>
          <c:idx val="6"/>
          <c:order val="6"/>
          <c:tx>
            <c:strRef>
              <c:f>Sheet1!$H$1</c:f>
              <c:strCache>
                <c:ptCount val="1"/>
                <c:pt idx="0">
                  <c:v>Israel</c:v>
                </c:pt>
              </c:strCache>
            </c:strRef>
          </c:tx>
          <c:spPr>
            <a:solidFill>
              <a:srgbClr val="0E72AE"/>
            </a:solidFill>
            <a:ln>
              <a:noFill/>
            </a:ln>
          </c:spPr>
          <c:dLbls>
            <c:dLbl>
              <c:idx val="14"/>
              <c:tx>
                <c:rich>
                  <a:bodyPr/>
                  <a:lstStyle/>
                  <a:p>
                    <a:r>
                      <a:rPr sz="1100">
                        <a:solidFill>
                          <a:srgbClr val="FFFFFF"/>
                        </a:solidFill>
                        <a:latin typeface="Calibri"/>
                      </a:rPr>
                      <a:t>976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1,038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439.509</c:v>
                </c:pt>
                <c:pt idx="1">
                  <c:v>460.038</c:v>
                </c:pt>
                <c:pt idx="2">
                  <c:v>482.11</c:v>
                </c:pt>
                <c:pt idx="3">
                  <c:v>506.1</c:v>
                </c:pt>
                <c:pt idx="4">
                  <c:v>531.963</c:v>
                </c:pt>
                <c:pt idx="5">
                  <c:v>561.722</c:v>
                </c:pt>
                <c:pt idx="6">
                  <c:v>594.173</c:v>
                </c:pt>
                <c:pt idx="7">
                  <c:v>629.629</c:v>
                </c:pt>
                <c:pt idx="8">
                  <c:v>668.44</c:v>
                </c:pt>
                <c:pt idx="9">
                  <c:v>711.036</c:v>
                </c:pt>
                <c:pt idx="10">
                  <c:v>757.334</c:v>
                </c:pt>
                <c:pt idx="11">
                  <c:v>807.248</c:v>
                </c:pt>
                <c:pt idx="12">
                  <c:v>860.341</c:v>
                </c:pt>
                <c:pt idx="13">
                  <c:v>916.605</c:v>
                </c:pt>
                <c:pt idx="14">
                  <c:v>975.9</c:v>
                </c:pt>
                <c:pt idx="15">
                  <c:v>1038.178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Rollstock Films</c:v>
                </c:pt>
              </c:strCache>
            </c:strRef>
          </c:tx>
          <c:spPr>
            <a:solidFill>
              <a:srgbClr val="3D85C6"/>
            </a:solidFill>
            <a:ln>
              <a:noFill/>
            </a:ln>
          </c:spPr>
          <c:dLbls>
            <c:dLbl>
              <c:idx val="0"/>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53%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54%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52%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54%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57%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52%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Sheet1!$B$2:$B$8</c:f>
              <c:numCache>
                <c:formatCode>General</c:formatCode>
                <c:ptCount val="7"/>
                <c:pt idx="0">
                  <c:v>54.79029688436131</c:v>
                </c:pt>
                <c:pt idx="1">
                  <c:v>53.46637518406643</c:v>
                </c:pt>
                <c:pt idx="2">
                  <c:v>54.265038444142924</c:v>
                </c:pt>
                <c:pt idx="3">
                  <c:v>52.3316587960773</c:v>
                </c:pt>
                <c:pt idx="4">
                  <c:v>53.940416457439675</c:v>
                </c:pt>
                <c:pt idx="5">
                  <c:v>56.656308608483776</c:v>
                </c:pt>
                <c:pt idx="6">
                  <c:v>52.053769293573346</c:v>
                </c:pt>
              </c:numCache>
            </c:numRef>
          </c:val>
        </c:ser>
        <c:ser>
          <c:idx val="1"/>
          <c:order val="1"/>
          <c:tx>
            <c:strRef>
              <c:f>Sheet1!$C$1</c:f>
              <c:strCache>
                <c:ptCount val="1"/>
                <c:pt idx="0">
                  <c:v>Barrier Casings</c:v>
                </c:pt>
              </c:strCache>
            </c:strRef>
          </c:tx>
          <c:spPr>
            <a:solidFill>
              <a:srgbClr val="9E7E0A"/>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Sheet1!$C$2:$C$8</c:f>
              <c:numCache>
                <c:formatCode>General</c:formatCode>
                <c:ptCount val="7"/>
                <c:pt idx="0">
                  <c:v>10.438439502900263</c:v>
                </c:pt>
                <c:pt idx="1">
                  <c:v>11.816172446427977</c:v>
                </c:pt>
                <c:pt idx="2">
                  <c:v>11.02045569647679</c:v>
                </c:pt>
                <c:pt idx="3">
                  <c:v>11.724280085515034</c:v>
                </c:pt>
                <c:pt idx="4">
                  <c:v>9.79487795128378</c:v>
                </c:pt>
                <c:pt idx="5">
                  <c:v>10.916624810061801</c:v>
                </c:pt>
                <c:pt idx="6">
                  <c:v>10.762054772785303</c:v>
                </c:pt>
              </c:numCache>
            </c:numRef>
          </c:val>
        </c:ser>
        <c:ser>
          <c:idx val="2"/>
          <c:order val="2"/>
          <c:tx>
            <c:strRef>
              <c:f>Sheet1!$D$1</c:f>
              <c:strCache>
                <c:ptCount val="1"/>
                <c:pt idx="0">
                  <c:v>Premade Pouches &amp; Bags</c:v>
                </c:pt>
              </c:strCache>
            </c:strRef>
          </c:tx>
          <c:spPr>
            <a:solidFill>
              <a:srgbClr val="008189"/>
            </a:solidFill>
            <a:ln>
              <a:noFill/>
            </a:ln>
          </c:spPr>
          <c:dLbls>
            <c:dLbl>
              <c:idx val="0"/>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Sheet1!$D$2:$D$8</c:f>
              <c:numCache>
                <c:formatCode>General</c:formatCode>
                <c:ptCount val="7"/>
                <c:pt idx="0">
                  <c:v>27.6824294776831</c:v>
                </c:pt>
                <c:pt idx="1">
                  <c:v>28.065541253556603</c:v>
                </c:pt>
                <c:pt idx="2">
                  <c:v>28.112133941073076</c:v>
                </c:pt>
                <c:pt idx="3">
                  <c:v>29.150425593201074</c:v>
                </c:pt>
                <c:pt idx="4">
                  <c:v>29.04909616093761</c:v>
                </c:pt>
                <c:pt idx="5">
                  <c:v>25.23538402194574</c:v>
                </c:pt>
                <c:pt idx="6">
                  <c:v>29.991635817614586</c:v>
                </c:pt>
              </c:numCache>
            </c:numRef>
          </c:val>
        </c:ser>
        <c:ser>
          <c:idx val="3"/>
          <c:order val="3"/>
          <c:tx>
            <c:strRef>
              <c:f>Sheet1!$E$1</c:f>
              <c:strCache>
                <c:ptCount val="1"/>
                <c:pt idx="0">
                  <c:v>Sachets &amp; Stick Packs</c:v>
                </c:pt>
              </c:strCache>
            </c:strRef>
          </c:tx>
          <c:spPr>
            <a:solidFill>
              <a:srgbClr val="40315E"/>
            </a:solidFill>
            <a:ln>
              <a:noFill/>
            </a:ln>
          </c:spPr>
          <c:dLbls>
            <c:dLbl>
              <c:idx val="0"/>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Sheet1!$E$2:$E$8</c:f>
              <c:numCache>
                <c:formatCode>General</c:formatCode>
                <c:ptCount val="7"/>
                <c:pt idx="0">
                  <c:v>7.0888341350553175</c:v>
                </c:pt>
                <c:pt idx="1">
                  <c:v>6.651911115948997</c:v>
                </c:pt>
                <c:pt idx="2">
                  <c:v>6.602371918307212</c:v>
                </c:pt>
                <c:pt idx="3">
                  <c:v>6.793635525206586</c:v>
                </c:pt>
                <c:pt idx="4">
                  <c:v>7.215609430338923</c:v>
                </c:pt>
                <c:pt idx="5">
                  <c:v>7.191682559508691</c:v>
                </c:pt>
                <c:pt idx="6">
                  <c:v>7.192540116026761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Rollstock Films</c:v>
                </c:pt>
              </c:strCache>
            </c:strRef>
          </c:tx>
          <c:spPr>
            <a:solidFill>
              <a:srgbClr val="3D85C6"/>
            </a:solidFill>
          </c:spPr>
          <c:invertIfNegative val="0"/>
          <c:xVal>
            <c:numRef>
              <c:f>Sheet1!$A$2:$A$2</c:f>
              <c:numCache>
                <c:formatCode>General</c:formatCode>
                <c:ptCount val="1"/>
                <c:pt idx="0">
                  <c:v>100.1631340112871</c:v>
                </c:pt>
              </c:numCache>
            </c:numRef>
          </c:xVal>
          <c:yVal>
            <c:numRef>
              <c:f>Sheet1!$B$2:$B$2</c:f>
              <c:numCache>
                <c:formatCode>General</c:formatCode>
                <c:ptCount val="1"/>
                <c:pt idx="0">
                  <c:v>215.25126296197823</c:v>
                </c:pt>
              </c:numCache>
            </c:numRef>
          </c:yVal>
          <c:bubbleSize>
            <c:numRef>
              <c:f>Sheet1!$C$2:$C$2</c:f>
              <c:numCache>
                <c:formatCode>General</c:formatCode>
                <c:ptCount val="1"/>
                <c:pt idx="0">
                  <c:v>8469.039</c:v>
                </c:pt>
              </c:numCache>
            </c:numRef>
          </c:bubbleSize>
          <c:bubble3D val="0"/>
        </c:ser>
        <c:ser>
          <c:idx val="1"/>
          <c:order val="1"/>
          <c:tx>
            <c:strRef>
              <c:f>Sheet1!$B$4</c:f>
              <c:strCache>
                <c:ptCount val="1"/>
                <c:pt idx="0">
                  <c:v>Barrier Casings</c:v>
                </c:pt>
              </c:strCache>
            </c:strRef>
          </c:tx>
          <c:spPr>
            <a:solidFill>
              <a:srgbClr val="9E7E0A"/>
            </a:solidFill>
          </c:spPr>
          <c:invertIfNegative val="0"/>
          <c:xVal>
            <c:numRef>
              <c:f>Sheet1!$A$5:$A$5</c:f>
              <c:numCache>
                <c:formatCode>General</c:formatCode>
                <c:ptCount val="1"/>
                <c:pt idx="0">
                  <c:v>97.54850641132656</c:v>
                </c:pt>
              </c:numCache>
            </c:numRef>
          </c:xVal>
          <c:yVal>
            <c:numRef>
              <c:f>Sheet1!$B$5:$B$5</c:f>
              <c:numCache>
                <c:formatCode>General</c:formatCode>
                <c:ptCount val="1"/>
                <c:pt idx="0">
                  <c:v>44.36600082438956</c:v>
                </c:pt>
              </c:numCache>
            </c:numRef>
          </c:yVal>
          <c:bubbleSize>
            <c:numRef>
              <c:f>Sheet1!$C$5:$C$5</c:f>
              <c:numCache>
                <c:formatCode>General</c:formatCode>
                <c:ptCount val="1"/>
                <c:pt idx="0">
                  <c:v>1711.0720000000001</c:v>
                </c:pt>
              </c:numCache>
            </c:numRef>
          </c:bubbleSize>
          <c:bubble3D val="0"/>
        </c:ser>
        <c:ser>
          <c:idx val="2"/>
          <c:order val="2"/>
          <c:tx>
            <c:strRef>
              <c:f>Sheet1!$B$7</c:f>
              <c:strCache>
                <c:ptCount val="1"/>
                <c:pt idx="0">
                  <c:v>Premade Pouches &amp; Bags</c:v>
                </c:pt>
              </c:strCache>
            </c:strRef>
          </c:tx>
          <c:spPr>
            <a:solidFill>
              <a:srgbClr val="008189"/>
            </a:solidFill>
          </c:spPr>
          <c:invertIfNegative val="0"/>
          <c:xVal>
            <c:numRef>
              <c:f>Sheet1!$A$8:$A$8</c:f>
              <c:numCache>
                <c:formatCode>General</c:formatCode>
                <c:ptCount val="1"/>
                <c:pt idx="0">
                  <c:v>100.58097899790954</c:v>
                </c:pt>
              </c:numCache>
            </c:numRef>
          </c:xVal>
          <c:yVal>
            <c:numRef>
              <c:f>Sheet1!$B$8:$B$8</c:f>
              <c:numCache>
                <c:formatCode>General</c:formatCode>
                <c:ptCount val="1"/>
                <c:pt idx="0">
                  <c:v>112.37954557284525</c:v>
                </c:pt>
              </c:numCache>
            </c:numRef>
          </c:yVal>
          <c:bubbleSize>
            <c:numRef>
              <c:f>Sheet1!$C$8:$C$8</c:f>
              <c:numCache>
                <c:formatCode>General</c:formatCode>
                <c:ptCount val="1"/>
                <c:pt idx="0">
                  <c:v>4435.675</c:v>
                </c:pt>
              </c:numCache>
            </c:numRef>
          </c:bubbleSize>
          <c:bubble3D val="0"/>
        </c:ser>
        <c:ser>
          <c:idx val="3"/>
          <c:order val="3"/>
          <c:tx>
            <c:strRef>
              <c:f>Sheet1!$B$10</c:f>
              <c:strCache>
                <c:ptCount val="1"/>
                <c:pt idx="0">
                  <c:v>Sachets &amp; Stick Packs</c:v>
                </c:pt>
              </c:strCache>
            </c:strRef>
          </c:tx>
          <c:spPr>
            <a:solidFill>
              <a:srgbClr val="40315E"/>
            </a:solidFill>
          </c:spPr>
          <c:invertIfNegative val="0"/>
          <c:xVal>
            <c:numRef>
              <c:f>Sheet1!$A$11:$A$11</c:f>
              <c:numCache>
                <c:formatCode>General</c:formatCode>
                <c:ptCount val="1"/>
                <c:pt idx="0">
                  <c:v>100.26035004100457</c:v>
                </c:pt>
              </c:numCache>
            </c:numRef>
          </c:xVal>
          <c:yVal>
            <c:numRef>
              <c:f>Sheet1!$B$11:$B$11</c:f>
              <c:numCache>
                <c:formatCode>General</c:formatCode>
                <c:ptCount val="1"/>
                <c:pt idx="0">
                  <c:v>28.00319064078703</c:v>
                </c:pt>
              </c:numCache>
            </c:numRef>
          </c:yVal>
          <c:bubbleSize>
            <c:numRef>
              <c:f>Sheet1!$C$11:$C$11</c:f>
              <c:numCache>
                <c:formatCode>General</c:formatCode>
                <c:ptCount val="1"/>
                <c:pt idx="0">
                  <c:v>1102.6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3825.171</c:v>
                </c:pt>
                <c:pt idx="2">
                  <c:v>4422.07</c:v>
                </c:pt>
                <c:pt idx="3">
                  <c:v>5172.326</c:v>
                </c:pt>
                <c:pt idx="4">
                  <c:v>6096.692</c:v>
                </c:pt>
                <c:pt idx="5">
                  <c:v>7198.049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3825.171</c:v>
                </c:pt>
                <c:pt idx="1">
                  <c:v>596.8989999999999</c:v>
                </c:pt>
                <c:pt idx="2">
                  <c:v>750.2560000000003</c:v>
                </c:pt>
                <c:pt idx="3">
                  <c:v>924.366</c:v>
                </c:pt>
                <c:pt idx="4">
                  <c:v>1101.357</c:v>
                </c:pt>
                <c:pt idx="5">
                  <c:v>1270.9900000000007</c:v>
                </c:pt>
                <c:pt idx="6">
                  <c:v>8469.039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788.416</c:v>
                </c:pt>
                <c:pt idx="2">
                  <c:v>906.405</c:v>
                </c:pt>
                <c:pt idx="3">
                  <c:v>1057.12</c:v>
                </c:pt>
                <c:pt idx="4">
                  <c:v>1242.907</c:v>
                </c:pt>
                <c:pt idx="5">
                  <c:v>1461.339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788.416</c:v>
                </c:pt>
                <c:pt idx="1">
                  <c:v>117.98899999999992</c:v>
                </c:pt>
                <c:pt idx="2">
                  <c:v>150.71499999999992</c:v>
                </c:pt>
                <c:pt idx="3">
                  <c:v>185.78700000000003</c:v>
                </c:pt>
                <c:pt idx="4">
                  <c:v>218.43200000000002</c:v>
                </c:pt>
                <c:pt idx="5">
                  <c:v>249.73300000000017</c:v>
                </c:pt>
                <c:pt idx="6">
                  <c:v>1711.0720000000001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1997.066</c:v>
                </c:pt>
                <c:pt idx="2">
                  <c:v>2305.512</c:v>
                </c:pt>
                <c:pt idx="3">
                  <c:v>2697.476</c:v>
                </c:pt>
                <c:pt idx="4">
                  <c:v>3184.739</c:v>
                </c:pt>
                <c:pt idx="5">
                  <c:v>3765.477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1997.066</c:v>
                </c:pt>
                <c:pt idx="1">
                  <c:v>308.44600000000014</c:v>
                </c:pt>
                <c:pt idx="2">
                  <c:v>391.96399999999994</c:v>
                </c:pt>
                <c:pt idx="3">
                  <c:v>487.2629999999999</c:v>
                </c:pt>
                <c:pt idx="4">
                  <c:v>580.7379999999998</c:v>
                </c:pt>
                <c:pt idx="5">
                  <c:v>670.1980000000003</c:v>
                </c:pt>
                <c:pt idx="6">
                  <c:v>4435.675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497.637</c:v>
                </c:pt>
                <c:pt idx="2">
                  <c:v>569.5509999999999</c:v>
                </c:pt>
                <c:pt idx="3">
                  <c:v>663.865</c:v>
                </c:pt>
                <c:pt idx="4">
                  <c:v>784.913</c:v>
                </c:pt>
                <c:pt idx="5">
                  <c:v>931.3489999999999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497.637</c:v>
                </c:pt>
                <c:pt idx="1">
                  <c:v>71.91399999999993</c:v>
                </c:pt>
                <c:pt idx="2">
                  <c:v>94.31400000000008</c:v>
                </c:pt>
                <c:pt idx="3">
                  <c:v>121.048</c:v>
                </c:pt>
                <c:pt idx="4">
                  <c:v>146.43599999999992</c:v>
                </c:pt>
                <c:pt idx="5">
                  <c:v>171.25099999999998</c:v>
                </c:pt>
                <c:pt idx="6">
                  <c:v>1102.6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Rollstock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53.488615107903435</c:v>
                </c:pt>
                <c:pt idx="1">
                  <c:v>53.81281574049454</c:v>
                </c:pt>
                <c:pt idx="2">
                  <c:v>53.87982582944585</c:v>
                </c:pt>
              </c:numCache>
            </c:numRef>
          </c:val>
        </c:ser>
        <c:ser>
          <c:idx val="1"/>
          <c:order val="1"/>
          <c:tx>
            <c:strRef>
              <c:f>Sheet1!$C$1</c:f>
              <c:strCache>
                <c:ptCount val="1"/>
                <c:pt idx="0">
                  <c:v>Premade Pouches &amp; Bags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28.04176973279835</c:v>
                </c:pt>
                <c:pt idx="1">
                  <c:v>28.094886393211304</c:v>
                </c:pt>
                <c:pt idx="2">
                  <c:v>28.219659448495538</c:v>
                </c:pt>
              </c:numCache>
            </c:numRef>
          </c:val>
        </c:ser>
        <c:ser>
          <c:idx val="2"/>
          <c:order val="2"/>
          <c:tx>
            <c:strRef>
              <c:f>Sheet1!$D$1</c:f>
              <c:strCache>
                <c:ptCount val="1"/>
                <c:pt idx="0">
                  <c:v>Barrier Casings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11.250317424404633</c:v>
                </c:pt>
                <c:pt idx="1">
                  <c:v>11.09150020609739</c:v>
                </c:pt>
                <c:pt idx="2">
                  <c:v>10.885799597999439</c:v>
                </c:pt>
              </c:numCache>
            </c:numRef>
          </c:val>
        </c:ser>
        <c:ser>
          <c:idx val="3"/>
          <c:order val="3"/>
          <c:tx>
            <c:strRef>
              <c:f>Sheet1!$E$1</c:f>
              <c:strCache>
                <c:ptCount val="1"/>
                <c:pt idx="0">
                  <c:v>Sachets &amp; Stick Packs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7.219297734893586</c:v>
                </c:pt>
                <c:pt idx="1">
                  <c:v>7.000797660196756</c:v>
                </c:pt>
                <c:pt idx="2">
                  <c:v>7.014715124059174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PE-Based</c:v>
                </c:pt>
              </c:strCache>
            </c:strRef>
          </c:tx>
          <c:spPr>
            <a:solidFill>
              <a:srgbClr val="3D85C6"/>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Sheet1!$B$2:$B$8</c:f>
              <c:numCache>
                <c:formatCode>General</c:formatCode>
                <c:ptCount val="7"/>
                <c:pt idx="0">
                  <c:v>31.002420589167357</c:v>
                </c:pt>
                <c:pt idx="1">
                  <c:v>30.974198951993053</c:v>
                </c:pt>
                <c:pt idx="2">
                  <c:v>33.0427703384166</c:v>
                </c:pt>
                <c:pt idx="3">
                  <c:v>32.43775052006698</c:v>
                </c:pt>
                <c:pt idx="4">
                  <c:v>32.52739100932045</c:v>
                </c:pt>
                <c:pt idx="5">
                  <c:v>30.595077409911177</c:v>
                </c:pt>
                <c:pt idx="6">
                  <c:v>31.3748880266687</c:v>
                </c:pt>
              </c:numCache>
            </c:numRef>
          </c:val>
        </c:ser>
        <c:ser>
          <c:idx val="1"/>
          <c:order val="1"/>
          <c:tx>
            <c:strRef>
              <c:f>Sheet1!$C$1</c:f>
              <c:strCache>
                <c:ptCount val="1"/>
                <c:pt idx="0">
                  <c:v>PP-Based</c:v>
                </c:pt>
              </c:strCache>
            </c:strRef>
          </c:tx>
          <c:spPr>
            <a:solidFill>
              <a:srgbClr val="9E7E0A"/>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Sheet1!$C$2:$C$8</c:f>
              <c:numCache>
                <c:formatCode>General</c:formatCode>
                <c:ptCount val="7"/>
                <c:pt idx="0">
                  <c:v>19.41942462605124</c:v>
                </c:pt>
                <c:pt idx="1">
                  <c:v>19.88044375504576</c:v>
                </c:pt>
                <c:pt idx="2">
                  <c:v>18.82508046318193</c:v>
                </c:pt>
                <c:pt idx="3">
                  <c:v>19.042590525479053</c:v>
                </c:pt>
                <c:pt idx="4">
                  <c:v>19.715588746956257</c:v>
                </c:pt>
                <c:pt idx="5">
                  <c:v>20.005029126496463</c:v>
                </c:pt>
                <c:pt idx="6">
                  <c:v>19.581712292241857</c:v>
                </c:pt>
              </c:numCache>
            </c:numRef>
          </c:val>
        </c:ser>
        <c:ser>
          <c:idx val="2"/>
          <c:order val="2"/>
          <c:tx>
            <c:strRef>
              <c:f>Sheet1!$D$1</c:f>
              <c:strCache>
                <c:ptCount val="1"/>
                <c:pt idx="0">
                  <c:v>PET-Based</c:v>
                </c:pt>
              </c:strCache>
            </c:strRef>
          </c:tx>
          <c:spPr>
            <a:solidFill>
              <a:srgbClr val="008189"/>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Sheet1!$D$2:$D$8</c:f>
              <c:numCache>
                <c:formatCode>General</c:formatCode>
                <c:ptCount val="7"/>
                <c:pt idx="0">
                  <c:v>10.36326175594335</c:v>
                </c:pt>
                <c:pt idx="1">
                  <c:v>10.539696362212487</c:v>
                </c:pt>
                <c:pt idx="2">
                  <c:v>9.905881639228117</c:v>
                </c:pt>
                <c:pt idx="3">
                  <c:v>10.031848816953337</c:v>
                </c:pt>
                <c:pt idx="4">
                  <c:v>10.448277538705412</c:v>
                </c:pt>
                <c:pt idx="5">
                  <c:v>10.605218003766142</c:v>
                </c:pt>
                <c:pt idx="6">
                  <c:v>10.433129920587595</c:v>
                </c:pt>
              </c:numCache>
            </c:numRef>
          </c:val>
        </c:ser>
        <c:ser>
          <c:idx val="3"/>
          <c:order val="3"/>
          <c:tx>
            <c:strRef>
              <c:f>Sheet1!$E$1</c:f>
              <c:strCache>
                <c:ptCount val="1"/>
                <c:pt idx="0">
                  <c:v>PA-Based</c:v>
                </c:pt>
              </c:strCache>
            </c:strRef>
          </c:tx>
          <c:spPr>
            <a:solidFill>
              <a:srgbClr val="40315E"/>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Sheet1!$E$2:$E$8</c:f>
              <c:numCache>
                <c:formatCode>General</c:formatCode>
                <c:ptCount val="7"/>
                <c:pt idx="0">
                  <c:v>7.942190975142002</c:v>
                </c:pt>
                <c:pt idx="1">
                  <c:v>7.926572993109036</c:v>
                </c:pt>
                <c:pt idx="2">
                  <c:v>7.500977691305209</c:v>
                </c:pt>
                <c:pt idx="3">
                  <c:v>7.78721015779593</c:v>
                </c:pt>
                <c:pt idx="4">
                  <c:v>8.055235111093708</c:v>
                </c:pt>
                <c:pt idx="5">
                  <c:v>7.976010939933607</c:v>
                </c:pt>
                <c:pt idx="6">
                  <c:v>7.801671259433999</c:v>
                </c:pt>
              </c:numCache>
            </c:numRef>
          </c:val>
        </c:ser>
        <c:ser>
          <c:idx val="4"/>
          <c:order val="4"/>
          <c:tx>
            <c:strRef>
              <c:f>Sheet1!$F$1</c:f>
              <c:strCache>
                <c:ptCount val="1"/>
                <c:pt idx="0">
                  <c:v>EVOH-Based</c:v>
                </c:pt>
              </c:strCache>
            </c:strRef>
          </c:tx>
          <c:spPr>
            <a:solidFill>
              <a:srgbClr val="A35313"/>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Sheet1!$F$2:$F$8</c:f>
              <c:numCache>
                <c:formatCode>General</c:formatCode>
                <c:ptCount val="7"/>
                <c:pt idx="0">
                  <c:v>8.467342274005299</c:v>
                </c:pt>
                <c:pt idx="1">
                  <c:v>8.412720010401454</c:v>
                </c:pt>
                <c:pt idx="2">
                  <c:v>7.901533214963173</c:v>
                </c:pt>
                <c:pt idx="3">
                  <c:v>8.197027161871901</c:v>
                </c:pt>
                <c:pt idx="4">
                  <c:v>7.277232771191754</c:v>
                </c:pt>
                <c:pt idx="5">
                  <c:v>8.46495731259695</c:v>
                </c:pt>
                <c:pt idx="6">
                  <c:v>8.322619795046116</c:v>
                </c:pt>
              </c:numCache>
            </c:numRef>
          </c:val>
        </c:ser>
        <c:ser>
          <c:idx val="5"/>
          <c:order val="5"/>
          <c:tx>
            <c:strRef>
              <c:f>Sheet1!$G$1</c:f>
              <c:strCache>
                <c:ptCount val="1"/>
                <c:pt idx="0">
                  <c:v>PVDC-Based</c:v>
                </c:pt>
              </c:strCache>
            </c:strRef>
          </c:tx>
          <c:spPr>
            <a:solidFill>
              <a:srgbClr val="808080"/>
            </a:solidFill>
            <a:ln>
              <a:noFill/>
            </a:ln>
          </c:spPr>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Sheet1!$G$2:$G$8</c:f>
              <c:numCache>
                <c:formatCode>General</c:formatCode>
                <c:ptCount val="7"/>
                <c:pt idx="0">
                  <c:v>4.815074886074339</c:v>
                </c:pt>
                <c:pt idx="1">
                  <c:v>4.689604291204422</c:v>
                </c:pt>
                <c:pt idx="2">
                  <c:v>5.20922593931489</c:v>
                </c:pt>
                <c:pt idx="3">
                  <c:v>4.722726081147361</c:v>
                </c:pt>
                <c:pt idx="4">
                  <c:v>4.884018228688197</c:v>
                </c:pt>
                <c:pt idx="5">
                  <c:v>4.956824885688714</c:v>
                </c:pt>
                <c:pt idx="6">
                  <c:v>4.857002503474128</c:v>
                </c:pt>
              </c:numCache>
            </c:numRef>
          </c:val>
        </c:ser>
        <c:ser>
          <c:idx val="6"/>
          <c:order val="6"/>
          <c:tx>
            <c:strRef>
              <c:f>Sheet1!$H$1</c:f>
              <c:strCache>
                <c:ptCount val="1"/>
                <c:pt idx="0">
                  <c:v>PVOH-Based</c:v>
                </c:pt>
              </c:strCache>
            </c:strRef>
          </c:tx>
          <c:spPr>
            <a:solidFill>
              <a:srgbClr val="0E72AE"/>
            </a:solidFill>
            <a:ln>
              <a:noFill/>
            </a:ln>
          </c:spPr>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Sheet1!$H$2:$H$8</c:f>
              <c:numCache>
                <c:formatCode>General</c:formatCode>
                <c:ptCount val="7"/>
                <c:pt idx="0">
                  <c:v>2.1614811347198017</c:v>
                </c:pt>
                <c:pt idx="1">
                  <c:v>2.0981909331978725</c:v>
                </c:pt>
                <c:pt idx="2">
                  <c:v>1.9694656984724181</c:v>
                </c:pt>
                <c:pt idx="3">
                  <c:v>2.0927410489285774</c:v>
                </c:pt>
                <c:pt idx="4">
                  <c:v>1.8598304926487577</c:v>
                </c:pt>
                <c:pt idx="5">
                  <c:v>1.8863974796095522</c:v>
                </c:pt>
                <c:pt idx="6">
                  <c:v>2.1754218209424936</c:v>
                </c:pt>
              </c:numCache>
            </c:numRef>
          </c:val>
        </c:ser>
        <c:ser>
          <c:idx val="7"/>
          <c:order val="7"/>
          <c:tx>
            <c:strRef>
              <c:f>Sheet1!$I$1</c:f>
              <c:strCache>
                <c:ptCount val="1"/>
                <c:pt idx="0">
                  <c:v>Metallized Barrier</c:v>
                </c:pt>
              </c:strCache>
            </c:strRef>
          </c:tx>
          <c:spPr>
            <a:solidFill>
              <a:srgbClr val="A86F00"/>
            </a:solidFill>
            <a:ln>
              <a:noFill/>
            </a:ln>
          </c:spPr>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Sheet1!$I$2:$I$8</c:f>
              <c:numCache>
                <c:formatCode>General</c:formatCode>
                <c:ptCount val="7"/>
                <c:pt idx="0">
                  <c:v>6.223986853879444</c:v>
                </c:pt>
                <c:pt idx="1">
                  <c:v>5.9037321262809055</c:v>
                </c:pt>
                <c:pt idx="2">
                  <c:v>6.56883975937419</c:v>
                </c:pt>
                <c:pt idx="3">
                  <c:v>6.101273529859455</c:v>
                </c:pt>
                <c:pt idx="4">
                  <c:v>6.300265616306852</c:v>
                </c:pt>
                <c:pt idx="5">
                  <c:v>6.242672455018137</c:v>
                </c:pt>
                <c:pt idx="6">
                  <c:v>6.115385726782444</c:v>
                </c:pt>
              </c:numCache>
            </c:numRef>
          </c:val>
        </c:ser>
        <c:ser>
          <c:idx val="8"/>
          <c:order val="8"/>
          <c:tx>
            <c:strRef>
              <c:f>Sheet1!$J$1</c:f>
              <c:strCache>
                <c:ptCount val="1"/>
                <c:pt idx="0">
                  <c:v>AlOx / SiOx-Coated</c:v>
                </c:pt>
              </c:strCache>
            </c:strRef>
          </c:tx>
          <c:spPr>
            <a:solidFill>
              <a:srgbClr val="0B2E4A"/>
            </a:solidFill>
            <a:ln>
              <a:noFill/>
            </a:ln>
          </c:spPr>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Sheet1!$J$2:$J$8</c:f>
              <c:numCache>
                <c:formatCode>General</c:formatCode>
                <c:ptCount val="7"/>
                <c:pt idx="0">
                  <c:v>3.3107071337546485</c:v>
                </c:pt>
                <c:pt idx="1">
                  <c:v>3.1394248358898533</c:v>
                </c:pt>
                <c:pt idx="2">
                  <c:v>2.9446112146880106</c:v>
                </c:pt>
                <c:pt idx="3">
                  <c:v>3.205124139563989</c:v>
                </c:pt>
                <c:pt idx="4">
                  <c:v>2.851212269726411</c:v>
                </c:pt>
                <c:pt idx="5">
                  <c:v>2.8185593769456982</c:v>
                </c:pt>
                <c:pt idx="6">
                  <c:v>3.2546214447646395</c:v>
                </c:pt>
              </c:numCache>
            </c:numRef>
          </c:val>
        </c:ser>
        <c:ser>
          <c:idx val="9"/>
          <c:order val="9"/>
          <c:tx>
            <c:strRef>
              <c:f>Sheet1!$K$1</c:f>
              <c:strCache>
                <c:ptCount val="1"/>
                <c:pt idx="0">
                  <c:v>Aluminum Foil-Based</c:v>
                </c:pt>
              </c:strCache>
            </c:strRef>
          </c:tx>
          <c:spPr>
            <a:solidFill>
              <a:srgbClr val="6C7A89"/>
            </a:solidFill>
            <a:ln>
              <a:noFill/>
            </a:ln>
          </c:spPr>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Sheet1!$K$2:$K$8</c:f>
              <c:numCache>
                <c:formatCode>General</c:formatCode>
                <c:ptCount val="7"/>
                <c:pt idx="0">
                  <c:v>3.017597192000978</c:v>
                </c:pt>
                <c:pt idx="1">
                  <c:v>3.0810678422728386</c:v>
                </c:pt>
                <c:pt idx="2">
                  <c:v>3.1113874766681144</c:v>
                </c:pt>
                <c:pt idx="3">
                  <c:v>3.151479019737176</c:v>
                </c:pt>
                <c:pt idx="4">
                  <c:v>2.771135816291449</c:v>
                </c:pt>
                <c:pt idx="5">
                  <c:v>3.101083542405227</c:v>
                </c:pt>
                <c:pt idx="6">
                  <c:v>3.0428900546666284</c:v>
                </c:pt>
              </c:numCache>
            </c:numRef>
          </c:val>
        </c:ser>
        <c:ser>
          <c:idx val="10"/>
          <c:order val="10"/>
          <c:tx>
            <c:strRef>
              <c:f>Sheet1!$L$1</c:f>
              <c:strCache>
                <c:ptCount val="1"/>
                <c:pt idx="0">
                  <c:v>Other Specialty Barrier Technologies</c:v>
                </c:pt>
              </c:strCache>
            </c:strRef>
          </c:tx>
          <c:spPr>
            <a:solidFill>
              <a:srgbClr val="B2B2B2"/>
            </a:solidFill>
            <a:ln>
              <a:noFill/>
            </a:ln>
          </c:spPr>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Sheet1!$L$2:$L$8</c:f>
              <c:numCache>
                <c:formatCode>General</c:formatCode>
                <c:ptCount val="7"/>
                <c:pt idx="0">
                  <c:v>3.276512579261532</c:v>
                </c:pt>
                <c:pt idx="1">
                  <c:v>3.3543478983923105</c:v>
                </c:pt>
                <c:pt idx="2">
                  <c:v>3.0202265643873365</c:v>
                </c:pt>
                <c:pt idx="3">
                  <c:v>3.230228998596242</c:v>
                </c:pt>
                <c:pt idx="4">
                  <c:v>3.3098123990707524</c:v>
                </c:pt>
                <c:pt idx="5">
                  <c:v>3.348169467628323</c:v>
                </c:pt>
                <c:pt idx="6">
                  <c:v>3.040657155391401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PE-Based</c:v>
                </c:pt>
              </c:strCache>
            </c:strRef>
          </c:tx>
          <c:spPr>
            <a:solidFill>
              <a:srgbClr val="3D85C6"/>
            </a:solidFill>
          </c:spPr>
          <c:invertIfNegative val="0"/>
          <c:xVal>
            <c:numRef>
              <c:f>Sheet1!$A$2:$A$2</c:f>
              <c:numCache>
                <c:formatCode>General</c:formatCode>
                <c:ptCount val="1"/>
                <c:pt idx="0">
                  <c:v>101.54963200794344</c:v>
                </c:pt>
              </c:numCache>
            </c:numRef>
          </c:xVal>
          <c:yVal>
            <c:numRef>
              <c:f>Sheet1!$B$2:$B$2</c:f>
              <c:numCache>
                <c:formatCode>General</c:formatCode>
                <c:ptCount val="1"/>
                <c:pt idx="0">
                  <c:v>344.0142819058578</c:v>
                </c:pt>
              </c:numCache>
            </c:numRef>
          </c:yVal>
          <c:bubbleSize>
            <c:numRef>
              <c:f>Sheet1!$C$2:$C$2</c:f>
              <c:numCache>
                <c:formatCode>General</c:formatCode>
                <c:ptCount val="1"/>
                <c:pt idx="0">
                  <c:v>4974.197</c:v>
                </c:pt>
              </c:numCache>
            </c:numRef>
          </c:bubbleSize>
          <c:bubble3D val="0"/>
        </c:ser>
        <c:ser>
          <c:idx val="1"/>
          <c:order val="1"/>
          <c:tx>
            <c:strRef>
              <c:f>Sheet1!$B$4</c:f>
              <c:strCache>
                <c:ptCount val="1"/>
                <c:pt idx="0">
                  <c:v>PP-Based</c:v>
                </c:pt>
              </c:strCache>
            </c:strRef>
          </c:tx>
          <c:spPr>
            <a:solidFill>
              <a:srgbClr val="9E7E0A"/>
            </a:solidFill>
          </c:spPr>
          <c:invertIfNegative val="0"/>
          <c:xVal>
            <c:numRef>
              <c:f>Sheet1!$A$5:$A$5</c:f>
              <c:numCache>
                <c:formatCode>General</c:formatCode>
                <c:ptCount val="1"/>
                <c:pt idx="0">
                  <c:v>97.9333534968687</c:v>
                </c:pt>
              </c:numCache>
            </c:numRef>
          </c:xVal>
          <c:yVal>
            <c:numRef>
              <c:f>Sheet1!$B$5:$B$5</c:f>
              <c:numCache>
                <c:formatCode>General</c:formatCode>
                <c:ptCount val="1"/>
                <c:pt idx="0">
                  <c:v>218.50915022519467</c:v>
                </c:pt>
              </c:numCache>
            </c:numRef>
          </c:yVal>
          <c:bubbleSize>
            <c:numRef>
              <c:f>Sheet1!$C$5:$C$5</c:f>
              <c:numCache>
                <c:formatCode>General</c:formatCode>
                <c:ptCount val="1"/>
                <c:pt idx="0">
                  <c:v>3073.493</c:v>
                </c:pt>
              </c:numCache>
            </c:numRef>
          </c:bubbleSize>
          <c:bubble3D val="0"/>
        </c:ser>
        <c:ser>
          <c:idx val="2"/>
          <c:order val="2"/>
          <c:tx>
            <c:strRef>
              <c:f>Sheet1!$B$7</c:f>
              <c:strCache>
                <c:ptCount val="1"/>
                <c:pt idx="0">
                  <c:v>PET-Based</c:v>
                </c:pt>
              </c:strCache>
            </c:strRef>
          </c:tx>
          <c:spPr>
            <a:solidFill>
              <a:srgbClr val="008189"/>
            </a:solidFill>
          </c:spPr>
          <c:invertIfNegative val="0"/>
          <c:xVal>
            <c:numRef>
              <c:f>Sheet1!$A$8:$A$8</c:f>
              <c:numCache>
                <c:formatCode>General</c:formatCode>
                <c:ptCount val="1"/>
                <c:pt idx="0">
                  <c:v>100.81609840092473</c:v>
                </c:pt>
              </c:numCache>
            </c:numRef>
          </c:xVal>
          <c:yVal>
            <c:numRef>
              <c:f>Sheet1!$B$8:$B$8</c:f>
              <c:numCache>
                <c:formatCode>General</c:formatCode>
                <c:ptCount val="1"/>
                <c:pt idx="0">
                  <c:v>113.32191474889548</c:v>
                </c:pt>
              </c:numCache>
            </c:numRef>
          </c:yVal>
          <c:bubbleSize>
            <c:numRef>
              <c:f>Sheet1!$C$8:$C$8</c:f>
              <c:numCache>
                <c:formatCode>General</c:formatCode>
                <c:ptCount val="1"/>
                <c:pt idx="0">
                  <c:v>1629.417</c:v>
                </c:pt>
              </c:numCache>
            </c:numRef>
          </c:bubbleSize>
          <c:bubble3D val="0"/>
        </c:ser>
        <c:ser>
          <c:idx val="3"/>
          <c:order val="3"/>
          <c:tx>
            <c:strRef>
              <c:f>Sheet1!$B$10</c:f>
              <c:strCache>
                <c:ptCount val="1"/>
                <c:pt idx="0">
                  <c:v>PA-Based</c:v>
                </c:pt>
              </c:strCache>
            </c:strRef>
          </c:tx>
          <c:spPr>
            <a:solidFill>
              <a:srgbClr val="40315E"/>
            </a:solidFill>
          </c:spPr>
          <c:invertIfNegative val="0"/>
          <c:xVal>
            <c:numRef>
              <c:f>Sheet1!$A$11:$A$11</c:f>
              <c:numCache>
                <c:formatCode>General</c:formatCode>
                <c:ptCount val="1"/>
                <c:pt idx="0">
                  <c:v>98.31179119651418</c:v>
                </c:pt>
              </c:numCache>
            </c:numRef>
          </c:xVal>
          <c:yVal>
            <c:numRef>
              <c:f>Sheet1!$B$11:$B$11</c:f>
              <c:numCache>
                <c:formatCode>General</c:formatCode>
                <c:ptCount val="1"/>
                <c:pt idx="0">
                  <c:v>87.57635973183442</c:v>
                </c:pt>
              </c:numCache>
            </c:numRef>
          </c:yVal>
          <c:bubbleSize>
            <c:numRef>
              <c:f>Sheet1!$C$11:$C$11</c:f>
              <c:numCache>
                <c:formatCode>General</c:formatCode>
                <c:ptCount val="1"/>
                <c:pt idx="0">
                  <c:v>1235.393</c:v>
                </c:pt>
              </c:numCache>
            </c:numRef>
          </c:bubbleSize>
          <c:bubble3D val="0"/>
        </c:ser>
        <c:ser>
          <c:idx val="4"/>
          <c:order val="4"/>
          <c:tx>
            <c:strRef>
              <c:f>Sheet1!$B$13</c:f>
              <c:strCache>
                <c:ptCount val="1"/>
                <c:pt idx="0">
                  <c:v>EVOH-Based</c:v>
                </c:pt>
              </c:strCache>
            </c:strRef>
          </c:tx>
          <c:spPr>
            <a:solidFill>
              <a:srgbClr val="A35313"/>
            </a:solidFill>
          </c:spPr>
          <c:invertIfNegative val="0"/>
          <c:xVal>
            <c:numRef>
              <c:f>Sheet1!$A$14:$A$14</c:f>
              <c:numCache>
                <c:formatCode>General</c:formatCode>
                <c:ptCount val="1"/>
                <c:pt idx="0">
                  <c:v>102.68550403723715</c:v>
                </c:pt>
              </c:numCache>
            </c:numRef>
          </c:xVal>
          <c:yVal>
            <c:numRef>
              <c:f>Sheet1!$B$14:$B$14</c:f>
              <c:numCache>
                <c:formatCode>General</c:formatCode>
                <c:ptCount val="1"/>
                <c:pt idx="0">
                  <c:v>87.84577736292599</c:v>
                </c:pt>
              </c:numCache>
            </c:numRef>
          </c:yVal>
          <c:bubbleSize>
            <c:numRef>
              <c:f>Sheet1!$C$14:$C$14</c:f>
              <c:numCache>
                <c:formatCode>General</c:formatCode>
                <c:ptCount val="1"/>
                <c:pt idx="0">
                  <c:v>1281.223</c:v>
                </c:pt>
              </c:numCache>
            </c:numRef>
          </c:bubbleSize>
          <c:bubble3D val="0"/>
        </c:ser>
        <c:ser>
          <c:idx val="5"/>
          <c:order val="5"/>
          <c:tx>
            <c:strRef>
              <c:f>Sheet1!$B$16</c:f>
              <c:strCache>
                <c:ptCount val="1"/>
                <c:pt idx="0">
                  <c:v>PVDC-Based</c:v>
                </c:pt>
              </c:strCache>
            </c:strRef>
          </c:tx>
          <c:spPr>
            <a:solidFill>
              <a:srgbClr val="808080"/>
            </a:solidFill>
          </c:spPr>
          <c:invertIfNegative val="0"/>
          <c:xVal>
            <c:numRef>
              <c:f>Sheet1!$A$17:$A$17</c:f>
              <c:numCache>
                <c:formatCode>General</c:formatCode>
                <c:ptCount val="1"/>
                <c:pt idx="0">
                  <c:v>92.79666901804036</c:v>
                </c:pt>
              </c:numCache>
            </c:numRef>
          </c:xVal>
          <c:yVal>
            <c:numRef>
              <c:f>Sheet1!$B$17:$B$17</c:f>
              <c:numCache>
                <c:formatCode>General</c:formatCode>
                <c:ptCount val="1"/>
                <c:pt idx="0">
                  <c:v>56.7893988642846</c:v>
                </c:pt>
              </c:numCache>
            </c:numRef>
          </c:yVal>
          <c:bubbleSize>
            <c:numRef>
              <c:f>Sheet1!$C$17:$C$17</c:f>
              <c:numCache>
                <c:formatCode>General</c:formatCode>
                <c:ptCount val="1"/>
                <c:pt idx="0">
                  <c:v>767.981</c:v>
                </c:pt>
              </c:numCache>
            </c:numRef>
          </c:bubbleSize>
          <c:bubble3D val="0"/>
        </c:ser>
        <c:ser>
          <c:idx val="6"/>
          <c:order val="6"/>
          <c:tx>
            <c:strRef>
              <c:f>Sheet1!$B$19</c:f>
              <c:strCache>
                <c:ptCount val="1"/>
                <c:pt idx="0">
                  <c:v>PVOH-Based</c:v>
                </c:pt>
              </c:strCache>
            </c:strRef>
          </c:tx>
          <c:spPr>
            <a:solidFill>
              <a:srgbClr val="0E72AE"/>
            </a:solidFill>
          </c:spPr>
          <c:invertIfNegative val="0"/>
          <c:xVal>
            <c:numRef>
              <c:f>Sheet1!$A$20:$A$20</c:f>
              <c:numCache>
                <c:formatCode>General</c:formatCode>
                <c:ptCount val="1"/>
                <c:pt idx="0">
                  <c:v>102.26050927414867</c:v>
                </c:pt>
              </c:numCache>
            </c:numRef>
          </c:xVal>
          <c:yVal>
            <c:numRef>
              <c:f>Sheet1!$B$20:$B$20</c:f>
              <c:numCache>
                <c:formatCode>General</c:formatCode>
                <c:ptCount val="1"/>
                <c:pt idx="0">
                  <c:v>21.921557841929744</c:v>
                </c:pt>
              </c:numCache>
            </c:numRef>
          </c:yVal>
          <c:bubbleSize>
            <c:numRef>
              <c:f>Sheet1!$C$20:$C$20</c:f>
              <c:numCache>
                <c:formatCode>General</c:formatCode>
                <c:ptCount val="1"/>
                <c:pt idx="0">
                  <c:v>318.691</c:v>
                </c:pt>
              </c:numCache>
            </c:numRef>
          </c:bubbleSize>
          <c:bubble3D val="0"/>
        </c:ser>
        <c:ser>
          <c:idx val="7"/>
          <c:order val="7"/>
          <c:tx>
            <c:strRef>
              <c:f>Sheet1!$B$22</c:f>
              <c:strCache>
                <c:ptCount val="1"/>
                <c:pt idx="0">
                  <c:v>Metallized Barrier</c:v>
                </c:pt>
              </c:strCache>
            </c:strRef>
          </c:tx>
          <c:spPr>
            <a:solidFill>
              <a:srgbClr val="A86F00"/>
            </a:solidFill>
          </c:spPr>
          <c:invertIfNegative val="0"/>
          <c:xVal>
            <c:numRef>
              <c:f>Sheet1!$A$23:$A$23</c:f>
              <c:numCache>
                <c:formatCode>General</c:formatCode>
                <c:ptCount val="1"/>
                <c:pt idx="0">
                  <c:v>99.97432124889964</c:v>
                </c:pt>
              </c:numCache>
            </c:numRef>
          </c:xVal>
          <c:yVal>
            <c:numRef>
              <c:f>Sheet1!$B$23:$B$23</c:f>
              <c:numCache>
                <c:formatCode>General</c:formatCode>
                <c:ptCount val="1"/>
                <c:pt idx="0">
                  <c:v>68.26572335560074</c:v>
                </c:pt>
              </c:numCache>
            </c:numRef>
          </c:yVal>
          <c:bubbleSize>
            <c:numRef>
              <c:f>Sheet1!$C$23:$C$23</c:f>
              <c:numCache>
                <c:formatCode>General</c:formatCode>
                <c:ptCount val="1"/>
                <c:pt idx="0">
                  <c:v>975.288</c:v>
                </c:pt>
              </c:numCache>
            </c:numRef>
          </c:bubbleSize>
          <c:bubble3D val="0"/>
        </c:ser>
        <c:ser>
          <c:idx val="8"/>
          <c:order val="8"/>
          <c:tx>
            <c:strRef>
              <c:f>Sheet1!$B$25</c:f>
              <c:strCache>
                <c:ptCount val="1"/>
                <c:pt idx="0">
                  <c:v>AlOx / SiOx-Coated</c:v>
                </c:pt>
              </c:strCache>
            </c:strRef>
          </c:tx>
          <c:spPr>
            <a:solidFill>
              <a:srgbClr val="0B2E4A"/>
            </a:solidFill>
          </c:spPr>
          <c:invertIfNegative val="0"/>
          <c:xVal>
            <c:numRef>
              <c:f>Sheet1!$A$26:$A$26</c:f>
              <c:numCache>
                <c:formatCode>General</c:formatCode>
                <c:ptCount val="1"/>
                <c:pt idx="0">
                  <c:v>102.49189703219577</c:v>
                </c:pt>
              </c:numCache>
            </c:numRef>
          </c:xVal>
          <c:yVal>
            <c:numRef>
              <c:f>Sheet1!$B$26:$B$26</c:f>
              <c:numCache>
                <c:formatCode>General</c:formatCode>
                <c:ptCount val="1"/>
                <c:pt idx="0">
                  <c:v>32.989964541426595</c:v>
                </c:pt>
              </c:numCache>
            </c:numRef>
          </c:yVal>
          <c:bubbleSize>
            <c:numRef>
              <c:f>Sheet1!$C$26:$C$26</c:f>
              <c:numCache>
                <c:formatCode>General</c:formatCode>
                <c:ptCount val="1"/>
                <c:pt idx="0">
                  <c:v>480.447</c:v>
                </c:pt>
              </c:numCache>
            </c:numRef>
          </c:bubbleSize>
          <c:bubble3D val="0"/>
        </c:ser>
        <c:ser>
          <c:idx val="9"/>
          <c:order val="9"/>
          <c:tx>
            <c:strRef>
              <c:f>Sheet1!$B$28</c:f>
              <c:strCache>
                <c:ptCount val="1"/>
                <c:pt idx="0">
                  <c:v>Aluminum Foil-Based</c:v>
                </c:pt>
              </c:strCache>
            </c:strRef>
          </c:tx>
          <c:spPr>
            <a:solidFill>
              <a:srgbClr val="6C7A89"/>
            </a:solidFill>
          </c:spPr>
          <c:invertIfNegative val="0"/>
          <c:xVal>
            <c:numRef>
              <c:f>Sheet1!$A$29:$A$29</c:f>
              <c:numCache>
                <c:formatCode>General</c:formatCode>
                <c:ptCount val="1"/>
                <c:pt idx="0">
                  <c:v>93.34854910882423</c:v>
                </c:pt>
              </c:numCache>
            </c:numRef>
          </c:xVal>
          <c:yVal>
            <c:numRef>
              <c:f>Sheet1!$B$29:$B$29</c:f>
              <c:numCache>
                <c:formatCode>General</c:formatCode>
                <c:ptCount val="1"/>
                <c:pt idx="0">
                  <c:v>35.16047097088683</c:v>
                </c:pt>
              </c:numCache>
            </c:numRef>
          </c:yVal>
          <c:bubbleSize>
            <c:numRef>
              <c:f>Sheet1!$C$29:$C$29</c:f>
              <c:numCache>
                <c:formatCode>General</c:formatCode>
                <c:ptCount val="1"/>
                <c:pt idx="0">
                  <c:v>477.503</c:v>
                </c:pt>
              </c:numCache>
            </c:numRef>
          </c:bubbleSize>
          <c:bubble3D val="0"/>
        </c:ser>
        <c:ser>
          <c:idx val="10"/>
          <c:order val="10"/>
          <c:tx>
            <c:strRef>
              <c:f>Sheet1!$B$31</c:f>
              <c:strCache>
                <c:ptCount val="1"/>
                <c:pt idx="0">
                  <c:v>Other Specialty Barrier Technologies</c:v>
                </c:pt>
              </c:strCache>
            </c:strRef>
          </c:tx>
          <c:spPr>
            <a:solidFill>
              <a:srgbClr val="B2B2B2"/>
            </a:solidFill>
          </c:spPr>
          <c:invertIfNegative val="0"/>
          <c:xVal>
            <c:numRef>
              <c:f>Sheet1!$A$32:$A$32</c:f>
              <c:numCache>
                <c:formatCode>General</c:formatCode>
                <c:ptCount val="1"/>
                <c:pt idx="0">
                  <c:v>106.55212335350987</c:v>
                </c:pt>
              </c:numCache>
            </c:numRef>
          </c:xVal>
          <c:yVal>
            <c:numRef>
              <c:f>Sheet1!$B$32:$B$32</c:f>
              <c:numCache>
                <c:formatCode>General</c:formatCode>
                <c:ptCount val="1"/>
                <c:pt idx="0">
                  <c:v>33.605400451163035</c:v>
                </c:pt>
              </c:numCache>
            </c:numRef>
          </c:yVal>
          <c:bubbleSize>
            <c:numRef>
              <c:f>Sheet1!$C$32:$C$32</c:f>
              <c:numCache>
                <c:formatCode>General</c:formatCode>
                <c:ptCount val="1"/>
                <c:pt idx="0">
                  <c:v>504.753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4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2223.05</c:v>
                </c:pt>
                <c:pt idx="2">
                  <c:v>2568.662</c:v>
                </c:pt>
                <c:pt idx="3">
                  <c:v>3008.484</c:v>
                </c:pt>
                <c:pt idx="4">
                  <c:v>3557.091</c:v>
                </c:pt>
                <c:pt idx="5">
                  <c:v>4213.776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2223.05</c:v>
                </c:pt>
                <c:pt idx="1">
                  <c:v>345.6119999999996</c:v>
                </c:pt>
                <c:pt idx="2">
                  <c:v>439.8220000000001</c:v>
                </c:pt>
                <c:pt idx="3">
                  <c:v>548.607</c:v>
                </c:pt>
                <c:pt idx="4">
                  <c:v>656.685</c:v>
                </c:pt>
                <c:pt idx="5">
                  <c:v>760.4210000000003</c:v>
                </c:pt>
                <c:pt idx="6">
                  <c:v>4974.197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1412.025</c:v>
                </c:pt>
                <c:pt idx="2">
                  <c:v>1623.465</c:v>
                </c:pt>
                <c:pt idx="3">
                  <c:v>1887.886</c:v>
                </c:pt>
                <c:pt idx="4">
                  <c:v>2221.681</c:v>
                </c:pt>
                <c:pt idx="5">
                  <c:v>2617.608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1412.025</c:v>
                </c:pt>
                <c:pt idx="1">
                  <c:v>211.43999999999983</c:v>
                </c:pt>
                <c:pt idx="2">
                  <c:v>264.42100000000005</c:v>
                </c:pt>
                <c:pt idx="3">
                  <c:v>333.7950000000001</c:v>
                </c:pt>
                <c:pt idx="4">
                  <c:v>395.92700000000013</c:v>
                </c:pt>
                <c:pt idx="5">
                  <c:v>455.88499999999976</c:v>
                </c:pt>
                <c:pt idx="6">
                  <c:v>3073.493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732.296</c:v>
                </c:pt>
                <c:pt idx="2">
                  <c:v>857.665</c:v>
                </c:pt>
                <c:pt idx="3">
                  <c:v>1008.891</c:v>
                </c:pt>
                <c:pt idx="4">
                  <c:v>1186.847</c:v>
                </c:pt>
                <c:pt idx="5">
                  <c:v>1393.56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732.296</c:v>
                </c:pt>
                <c:pt idx="1">
                  <c:v>125.36899999999991</c:v>
                </c:pt>
                <c:pt idx="2">
                  <c:v>151.226</c:v>
                </c:pt>
                <c:pt idx="3">
                  <c:v>177.95600000000002</c:v>
                </c:pt>
                <c:pt idx="4">
                  <c:v>206.71299999999997</c:v>
                </c:pt>
                <c:pt idx="5">
                  <c:v>235.85699999999997</c:v>
                </c:pt>
                <c:pt idx="6">
                  <c:v>1629.417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565.926</c:v>
                </c:pt>
                <c:pt idx="2">
                  <c:v>653.571</c:v>
                </c:pt>
                <c:pt idx="3">
                  <c:v>765.542</c:v>
                </c:pt>
                <c:pt idx="4">
                  <c:v>900.026</c:v>
                </c:pt>
                <c:pt idx="5">
                  <c:v>1056.496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565.926</c:v>
                </c:pt>
                <c:pt idx="1">
                  <c:v>87.64499999999998</c:v>
                </c:pt>
                <c:pt idx="2">
                  <c:v>111.971</c:v>
                </c:pt>
                <c:pt idx="3">
                  <c:v>134.48399999999992</c:v>
                </c:pt>
                <c:pt idx="4">
                  <c:v>156.47000000000014</c:v>
                </c:pt>
                <c:pt idx="5">
                  <c:v>178.89699999999993</c:v>
                </c:pt>
                <c:pt idx="6">
                  <c:v>1235.393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567.667</c:v>
                </c:pt>
                <c:pt idx="2">
                  <c:v>652.959</c:v>
                </c:pt>
                <c:pt idx="3">
                  <c:v>763.743</c:v>
                </c:pt>
                <c:pt idx="4">
                  <c:v>903.36</c:v>
                </c:pt>
                <c:pt idx="5">
                  <c:v>1077.596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567.667</c:v>
                </c:pt>
                <c:pt idx="1">
                  <c:v>85.29199999999992</c:v>
                </c:pt>
                <c:pt idx="2">
                  <c:v>110.7840000000001</c:v>
                </c:pt>
                <c:pt idx="3">
                  <c:v>139.61699999999996</c:v>
                </c:pt>
                <c:pt idx="4">
                  <c:v>174.236</c:v>
                </c:pt>
                <c:pt idx="5">
                  <c:v>203.62699999999995</c:v>
                </c:pt>
                <c:pt idx="6">
                  <c:v>1281.223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366.978</c:v>
                </c:pt>
                <c:pt idx="2">
                  <c:v>418.206</c:v>
                </c:pt>
                <c:pt idx="3">
                  <c:v>483.514</c:v>
                </c:pt>
                <c:pt idx="4">
                  <c:v>563.456</c:v>
                </c:pt>
                <c:pt idx="5">
                  <c:v>658.702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366.978</c:v>
                </c:pt>
                <c:pt idx="1">
                  <c:v>51.22800000000001</c:v>
                </c:pt>
                <c:pt idx="2">
                  <c:v>65.30799999999999</c:v>
                </c:pt>
                <c:pt idx="3">
                  <c:v>79.94200000000001</c:v>
                </c:pt>
                <c:pt idx="4">
                  <c:v>95.24599999999998</c:v>
                </c:pt>
                <c:pt idx="5">
                  <c:v>109.279</c:v>
                </c:pt>
                <c:pt idx="6">
                  <c:v>767.981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141.659</c:v>
                </c:pt>
                <c:pt idx="2">
                  <c:v>163.887</c:v>
                </c:pt>
                <c:pt idx="3">
                  <c:v>192.549</c:v>
                </c:pt>
                <c:pt idx="4">
                  <c:v>227.801</c:v>
                </c:pt>
                <c:pt idx="5">
                  <c:v>269.888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141.659</c:v>
                </c:pt>
                <c:pt idx="1">
                  <c:v>22.22800000000001</c:v>
                </c:pt>
                <c:pt idx="2">
                  <c:v>28.662000000000006</c:v>
                </c:pt>
                <c:pt idx="3">
                  <c:v>35.25199999999998</c:v>
                </c:pt>
                <c:pt idx="4">
                  <c:v>42.08699999999999</c:v>
                </c:pt>
                <c:pt idx="5">
                  <c:v>48.803</c:v>
                </c:pt>
                <c:pt idx="6">
                  <c:v>318.691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441.139</c:v>
                </c:pt>
                <c:pt idx="2">
                  <c:v>504.761</c:v>
                </c:pt>
                <c:pt idx="3">
                  <c:v>589.9</c:v>
                </c:pt>
                <c:pt idx="4">
                  <c:v>697.772</c:v>
                </c:pt>
                <c:pt idx="5">
                  <c:v>826.405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441.139</c:v>
                </c:pt>
                <c:pt idx="1">
                  <c:v>63.622000000000014</c:v>
                </c:pt>
                <c:pt idx="2">
                  <c:v>85.13899999999995</c:v>
                </c:pt>
                <c:pt idx="3">
                  <c:v>107.87200000000007</c:v>
                </c:pt>
                <c:pt idx="4">
                  <c:v>128.63299999999992</c:v>
                </c:pt>
                <c:pt idx="5">
                  <c:v>148.88300000000004</c:v>
                </c:pt>
                <c:pt idx="6">
                  <c:v>975.288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213.184</c:v>
                </c:pt>
                <c:pt idx="2">
                  <c:v>247.395</c:v>
                </c:pt>
                <c:pt idx="3">
                  <c:v>291.327</c:v>
                </c:pt>
                <c:pt idx="4">
                  <c:v>345.003</c:v>
                </c:pt>
                <c:pt idx="5">
                  <c:v>407.933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213.184</c:v>
                </c:pt>
                <c:pt idx="1">
                  <c:v>34.21100000000001</c:v>
                </c:pt>
                <c:pt idx="2">
                  <c:v>43.93199999999999</c:v>
                </c:pt>
                <c:pt idx="3">
                  <c:v>53.67599999999999</c:v>
                </c:pt>
                <c:pt idx="4">
                  <c:v>62.93000000000001</c:v>
                </c:pt>
                <c:pt idx="5">
                  <c:v>72.51400000000001</c:v>
                </c:pt>
                <c:pt idx="6">
                  <c:v>480.447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227.21</c:v>
                </c:pt>
                <c:pt idx="2">
                  <c:v>258.933</c:v>
                </c:pt>
                <c:pt idx="3">
                  <c:v>299.045</c:v>
                </c:pt>
                <c:pt idx="4">
                  <c:v>349.237</c:v>
                </c:pt>
                <c:pt idx="5">
                  <c:v>409.014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227.21</c:v>
                </c:pt>
                <c:pt idx="1">
                  <c:v>31.722999999999985</c:v>
                </c:pt>
                <c:pt idx="2">
                  <c:v>40.11200000000002</c:v>
                </c:pt>
                <c:pt idx="3">
                  <c:v>50.19200000000001</c:v>
                </c:pt>
                <c:pt idx="4">
                  <c:v>59.77699999999999</c:v>
                </c:pt>
                <c:pt idx="5">
                  <c:v>68.48899999999998</c:v>
                </c:pt>
                <c:pt idx="6">
                  <c:v>477.503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217.161</c:v>
                </c:pt>
                <c:pt idx="2">
                  <c:v>254.035</c:v>
                </c:pt>
                <c:pt idx="3">
                  <c:v>299.907</c:v>
                </c:pt>
                <c:pt idx="4">
                  <c:v>356.979</c:v>
                </c:pt>
                <c:pt idx="5">
                  <c:v>425.236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217.161</c:v>
                </c:pt>
                <c:pt idx="1">
                  <c:v>36.873999999999995</c:v>
                </c:pt>
                <c:pt idx="2">
                  <c:v>45.871999999999986</c:v>
                </c:pt>
                <c:pt idx="3">
                  <c:v>57.072</c:v>
                </c:pt>
                <c:pt idx="4">
                  <c:v>68.257</c:v>
                </c:pt>
                <c:pt idx="5">
                  <c:v>79.517</c:v>
                </c:pt>
                <c:pt idx="6">
                  <c:v>504.753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PE-Based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31.389587269726345</c:v>
                </c:pt>
                <c:pt idx="1">
                  <c:v>31.274025627805262</c:v>
                </c:pt>
                <c:pt idx="2">
                  <c:v>31.64572367671846</c:v>
                </c:pt>
              </c:numCache>
            </c:numRef>
          </c:val>
        </c:ser>
        <c:ser>
          <c:idx val="1"/>
          <c:order val="1"/>
          <c:tx>
            <c:strRef>
              <c:f>Sheet1!$C$1</c:f>
              <c:strCache>
                <c:ptCount val="1"/>
                <c:pt idx="0">
                  <c:v>PP-Based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19.956111529286193</c:v>
                </c:pt>
                <c:pt idx="1">
                  <c:v>19.864468202290425</c:v>
                </c:pt>
                <c:pt idx="2">
                  <c:v>19.553489779421373</c:v>
                </c:pt>
              </c:numCache>
            </c:numRef>
          </c:val>
        </c:ser>
        <c:ser>
          <c:idx val="2"/>
          <c:order val="2"/>
          <c:tx>
            <c:strRef>
              <c:f>Sheet1!$D$1</c:f>
              <c:strCache>
                <c:ptCount val="1"/>
                <c:pt idx="0">
                  <c:v>PET-Based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9.74774654834872</c:v>
                </c:pt>
                <c:pt idx="1">
                  <c:v>10.30199224989959</c:v>
                </c:pt>
                <c:pt idx="2">
                  <c:v>10.366312419099517</c:v>
                </c:pt>
              </c:numCache>
            </c:numRef>
          </c:val>
        </c:ser>
        <c:ser>
          <c:idx val="3"/>
          <c:order val="3"/>
          <c:tx>
            <c:strRef>
              <c:f>Sheet1!$E$1</c:f>
              <c:strCache>
                <c:ptCount val="1"/>
                <c:pt idx="0">
                  <c:v>EVOH-Based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7.9709670806125885</c:v>
                </c:pt>
                <c:pt idx="1">
                  <c:v>7.985979760265999</c:v>
                </c:pt>
                <c:pt idx="2">
                  <c:v>8.151110425714192</c:v>
                </c:pt>
              </c:numCache>
            </c:numRef>
          </c:val>
        </c:ser>
        <c:ser>
          <c:idx val="4"/>
          <c:order val="4"/>
          <c:tx>
            <c:strRef>
              <c:f>Sheet1!$F$1</c:f>
              <c:strCache>
                <c:ptCount val="1"/>
                <c:pt idx="0">
                  <c:v>PA-Based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8.047850608515866</c:v>
                </c:pt>
                <c:pt idx="1">
                  <c:v>7.961487248348585</c:v>
                </c:pt>
                <c:pt idx="2">
                  <c:v>7.859541049570866</c:v>
                </c:pt>
              </c:numCache>
            </c:numRef>
          </c:val>
        </c:ser>
        <c:ser>
          <c:idx val="5"/>
          <c:order val="5"/>
          <c:tx>
            <c:strRef>
              <c:f>Sheet1!$G$1</c:f>
              <c:strCache>
                <c:ptCount val="1"/>
                <c:pt idx="0">
                  <c:v>Metallized Barrier</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6.506026746895595</c:v>
                </c:pt>
                <c:pt idx="1">
                  <c:v>6.2059748505091585</c:v>
                </c:pt>
                <c:pt idx="2">
                  <c:v>6.204759190924564</c:v>
                </c:pt>
              </c:numCache>
            </c:numRef>
          </c:val>
        </c:ser>
        <c:ser>
          <c:idx val="6"/>
          <c:order val="6"/>
          <c:tx>
            <c:strRef>
              <c:f>Sheet1!$H$1</c:f>
              <c:strCache>
                <c:ptCount val="1"/>
                <c:pt idx="0">
                  <c:v>PVDC-Based</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5.321083553278256</c:v>
                </c:pt>
                <c:pt idx="1">
                  <c:v>5.162672624025874</c:v>
                </c:pt>
                <c:pt idx="2">
                  <c:v>4.88587695963186</c:v>
                </c:pt>
              </c:numCache>
            </c:numRef>
          </c:val>
        </c:ser>
        <c:ser>
          <c:idx val="7"/>
          <c:order val="7"/>
          <c:tx>
            <c:strRef>
              <c:f>Sheet1!$I$1</c:f>
              <c:strCache>
                <c:ptCount val="1"/>
                <c:pt idx="0">
                  <c:v>Other Specialty Barrier Technologies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2.8760394400739937</c:v>
                </c:pt>
                <c:pt idx="1">
                  <c:v>3.0550364046511858</c:v>
                </c:pt>
                <c:pt idx="2">
                  <c:v>3.2112266488429535</c:v>
                </c:pt>
              </c:numCache>
            </c:numRef>
          </c:val>
        </c:ser>
        <c:ser>
          <c:idx val="8"/>
          <c:order val="8"/>
          <c:tx>
            <c:strRef>
              <c:f>Sheet1!$J$1</c:f>
              <c:strCache>
                <c:ptCount val="1"/>
                <c:pt idx="0">
                  <c:v>AlOx / SiOx-Coated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Sheet1!$J$2:$J$4</c:f>
              <c:numCache>
                <c:formatCode>General</c:formatCode>
                <c:ptCount val="3"/>
                <c:pt idx="0">
                  <c:v>2.9488265589917977</c:v>
                </c:pt>
                <c:pt idx="1">
                  <c:v>2.9990876855842363</c:v>
                </c:pt>
                <c:pt idx="2">
                  <c:v>3.056592451667748</c:v>
                </c:pt>
              </c:numCache>
            </c:numRef>
          </c:val>
        </c:ser>
        <c:ser>
          <c:idx val="9"/>
          <c:order val="9"/>
          <c:tx>
            <c:strRef>
              <c:f>Sheet1!$K$1</c:f>
              <c:strCache>
                <c:ptCount val="1"/>
                <c:pt idx="0">
                  <c:v>Aluminum Foil-Based</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Sheet1!$K$2:$K$4</c:f>
              <c:numCache>
                <c:formatCode>General</c:formatCode>
                <c:ptCount val="3"/>
                <c:pt idx="0">
                  <c:v>3.2823614887488146</c:v>
                </c:pt>
                <c:pt idx="1">
                  <c:v>3.1964064518988025</c:v>
                </c:pt>
                <c:pt idx="2">
                  <c:v>3.037862793291881</c:v>
                </c:pt>
              </c:numCache>
            </c:numRef>
          </c:val>
        </c:ser>
        <c:ser>
          <c:idx val="10"/>
          <c:order val="10"/>
          <c:tx>
            <c:strRef>
              <c:f>Sheet1!$L$1</c:f>
              <c:strCache>
                <c:ptCount val="1"/>
                <c:pt idx="0">
                  <c:v>PVOH-Based</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Sheet1!$L$2:$L$4</c:f>
              <c:numCache>
                <c:formatCode>General</c:formatCode>
                <c:ptCount val="3"/>
                <c:pt idx="0">
                  <c:v>1.9533991755218323</c:v>
                </c:pt>
                <c:pt idx="1">
                  <c:v>1.9928688947208857</c:v>
                </c:pt>
                <c:pt idx="2">
                  <c:v>2.0275046051165813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Monolayer Films</c:v>
                </c:pt>
              </c:strCache>
            </c:strRef>
          </c:tx>
          <c:spPr>
            <a:solidFill>
              <a:srgbClr val="3D85C6"/>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Sheet1!$B$2:$B$8</c:f>
              <c:numCache>
                <c:formatCode>General</c:formatCode>
                <c:ptCount val="7"/>
                <c:pt idx="0">
                  <c:v>14.72222034928466</c:v>
                </c:pt>
                <c:pt idx="1">
                  <c:v>16.68192615456067</c:v>
                </c:pt>
                <c:pt idx="2">
                  <c:v>16.944076568707906</c:v>
                </c:pt>
                <c:pt idx="3">
                  <c:v>17.21252558053005</c:v>
                </c:pt>
                <c:pt idx="4">
                  <c:v>15.76737953878313</c:v>
                </c:pt>
                <c:pt idx="5">
                  <c:v>16.801220165669918</c:v>
                </c:pt>
                <c:pt idx="6">
                  <c:v>16.737782300784062</c:v>
                </c:pt>
              </c:numCache>
            </c:numRef>
          </c:val>
        </c:ser>
        <c:ser>
          <c:idx val="1"/>
          <c:order val="1"/>
          <c:tx>
            <c:strRef>
              <c:f>Sheet1!$C$1</c:f>
              <c:strCache>
                <c:ptCount val="1"/>
                <c:pt idx="0">
                  <c:v>Coextruded Multilayer Films</c:v>
                </c:pt>
              </c:strCache>
            </c:strRef>
          </c:tx>
          <c:spPr>
            <a:solidFill>
              <a:srgbClr val="9E7E0A"/>
            </a:solidFill>
            <a:ln>
              <a:noFill/>
            </a:ln>
          </c:spPr>
          <c:dLbls>
            <c:dLbl>
              <c:idx val="0"/>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Sheet1!$C$2:$C$8</c:f>
              <c:numCache>
                <c:formatCode>General</c:formatCode>
                <c:ptCount val="7"/>
                <c:pt idx="0">
                  <c:v>28.795804962342714</c:v>
                </c:pt>
                <c:pt idx="1">
                  <c:v>28.398733442346952</c:v>
                </c:pt>
                <c:pt idx="2">
                  <c:v>28.47103621793049</c:v>
                </c:pt>
                <c:pt idx="3">
                  <c:v>28.24502765234157</c:v>
                </c:pt>
                <c:pt idx="4">
                  <c:v>30.688469061877967</c:v>
                </c:pt>
                <c:pt idx="5">
                  <c:v>28.626800574106188</c:v>
                </c:pt>
                <c:pt idx="6">
                  <c:v>28.44678779135059</c:v>
                </c:pt>
              </c:numCache>
            </c:numRef>
          </c:val>
        </c:ser>
        <c:ser>
          <c:idx val="2"/>
          <c:order val="2"/>
          <c:tx>
            <c:strRef>
              <c:f>Sheet1!$D$1</c:f>
              <c:strCache>
                <c:ptCount val="1"/>
                <c:pt idx="0">
                  <c:v>Laminated Films</c:v>
                </c:pt>
              </c:strCache>
            </c:strRef>
          </c:tx>
          <c:spPr>
            <a:solidFill>
              <a:srgbClr val="008189"/>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Sheet1!$D$2:$D$8</c:f>
              <c:numCache>
                <c:formatCode>General</c:formatCode>
                <c:ptCount val="7"/>
                <c:pt idx="0">
                  <c:v>25.623904933542285</c:v>
                </c:pt>
                <c:pt idx="1">
                  <c:v>25.32298913411578</c:v>
                </c:pt>
                <c:pt idx="2">
                  <c:v>25.393933977364135</c:v>
                </c:pt>
                <c:pt idx="3">
                  <c:v>25.17562830855616</c:v>
                </c:pt>
                <c:pt idx="4">
                  <c:v>23.302191972034734</c:v>
                </c:pt>
                <c:pt idx="5">
                  <c:v>24.26130699099697</c:v>
                </c:pt>
                <c:pt idx="6">
                  <c:v>24.130148046436936</c:v>
                </c:pt>
              </c:numCache>
            </c:numRef>
          </c:val>
        </c:ser>
        <c:ser>
          <c:idx val="3"/>
          <c:order val="3"/>
          <c:tx>
            <c:strRef>
              <c:f>Sheet1!$E$1</c:f>
              <c:strCache>
                <c:ptCount val="1"/>
                <c:pt idx="0">
                  <c:v>Coated Films</c:v>
                </c:pt>
              </c:strCache>
            </c:strRef>
          </c:tx>
          <c:spPr>
            <a:solidFill>
              <a:srgbClr val="40315E"/>
            </a:solidFill>
            <a:ln>
              <a:noFill/>
            </a:ln>
          </c:spPr>
          <c:dLbls>
            <c:dLbl>
              <c:idx val="0"/>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Sheet1!$E$2:$E$8</c:f>
              <c:numCache>
                <c:formatCode>General</c:formatCode>
                <c:ptCount val="7"/>
                <c:pt idx="0">
                  <c:v>7.124204978139607</c:v>
                </c:pt>
                <c:pt idx="1">
                  <c:v>6.724052016913237</c:v>
                </c:pt>
                <c:pt idx="2">
                  <c:v>6.2709316780279325</c:v>
                </c:pt>
                <c:pt idx="3">
                  <c:v>6.337470614101849</c:v>
                </c:pt>
                <c:pt idx="4">
                  <c:v>6.085431058000212</c:v>
                </c:pt>
                <c:pt idx="5">
                  <c:v>6.932978296201803</c:v>
                </c:pt>
                <c:pt idx="6">
                  <c:v>6.724256188610063</c:v>
                </c:pt>
              </c:numCache>
            </c:numRef>
          </c:val>
        </c:ser>
        <c:ser>
          <c:idx val="4"/>
          <c:order val="4"/>
          <c:tx>
            <c:strRef>
              <c:f>Sheet1!$F$1</c:f>
              <c:strCache>
                <c:ptCount val="1"/>
                <c:pt idx="0">
                  <c:v>Metallized Films</c:v>
                </c:pt>
              </c:strCache>
            </c:strRef>
          </c:tx>
          <c:spPr>
            <a:solidFill>
              <a:srgbClr val="A35313"/>
            </a:solidFill>
            <a:ln>
              <a:noFill/>
            </a:ln>
          </c:spPr>
          <c:dLbls>
            <c:dLbl>
              <c:idx val="2"/>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Sheet1!$F$2:$F$8</c:f>
              <c:numCache>
                <c:formatCode>General</c:formatCode>
                <c:ptCount val="7"/>
                <c:pt idx="0">
                  <c:v>6.859799706986945</c:v>
                </c:pt>
                <c:pt idx="1">
                  <c:v>6.4464180317558615</c:v>
                </c:pt>
                <c:pt idx="2">
                  <c:v>7.00666509585984</c:v>
                </c:pt>
                <c:pt idx="3">
                  <c:v>7.075024946302028</c:v>
                </c:pt>
                <c:pt idx="4">
                  <c:v>6.88000048192232</c:v>
                </c:pt>
                <c:pt idx="5">
                  <c:v>6.6586880432125115</c:v>
                </c:pt>
                <c:pt idx="6">
                  <c:v>7.5697629791176695</c:v>
                </c:pt>
              </c:numCache>
            </c:numRef>
          </c:val>
        </c:ser>
        <c:ser>
          <c:idx val="5"/>
          <c:order val="5"/>
          <c:tx>
            <c:strRef>
              <c:f>Sheet1!$G$1</c:f>
              <c:strCache>
                <c:ptCount val="1"/>
                <c:pt idx="0">
                  <c:v>Foil-Laminated Structures</c:v>
                </c:pt>
              </c:strCache>
            </c:strRef>
          </c:tx>
          <c:spPr>
            <a:solidFill>
              <a:srgbClr val="808080"/>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Sheet1!$G$2:$G$8</c:f>
              <c:numCache>
                <c:formatCode>General</c:formatCode>
                <c:ptCount val="7"/>
                <c:pt idx="0">
                  <c:v>8.124321528368421</c:v>
                </c:pt>
                <c:pt idx="1">
                  <c:v>7.847710713974706</c:v>
                </c:pt>
                <c:pt idx="2">
                  <c:v>7.327163854109962</c:v>
                </c:pt>
                <c:pt idx="3">
                  <c:v>7.214237996177718</c:v>
                </c:pt>
                <c:pt idx="4">
                  <c:v>8.136526871902467</c:v>
                </c:pt>
                <c:pt idx="5">
                  <c:v>8.089298088043972</c:v>
                </c:pt>
                <c:pt idx="6">
                  <c:v>7.851318369059275</c:v>
                </c:pt>
              </c:numCache>
            </c:numRef>
          </c:val>
        </c:ser>
        <c:ser>
          <c:idx val="6"/>
          <c:order val="6"/>
          <c:tx>
            <c:strRef>
              <c:f>Sheet1!$H$1</c:f>
              <c:strCache>
                <c:ptCount val="1"/>
                <c:pt idx="0">
                  <c:v>Mono-Material Recyclable Structures</c:v>
                </c:pt>
              </c:strCache>
            </c:strRef>
          </c:tx>
          <c:spPr>
            <a:solidFill>
              <a:srgbClr val="0E72AE"/>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Sheet1!$H$2:$H$8</c:f>
              <c:numCache>
                <c:formatCode>General</c:formatCode>
                <c:ptCount val="7"/>
                <c:pt idx="0">
                  <c:v>8.749743541335356</c:v>
                </c:pt>
                <c:pt idx="1">
                  <c:v>8.578170506332789</c:v>
                </c:pt>
                <c:pt idx="2">
                  <c:v>8.58619260799974</c:v>
                </c:pt>
                <c:pt idx="3">
                  <c:v>8.740084901990631</c:v>
                </c:pt>
                <c:pt idx="4">
                  <c:v>9.140001015479173</c:v>
                </c:pt>
                <c:pt idx="5">
                  <c:v>8.629707841768631</c:v>
                </c:pt>
                <c:pt idx="6">
                  <c:v>8.539944324641404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Monolayer Films</c:v>
                </c:pt>
              </c:strCache>
            </c:strRef>
          </c:tx>
          <c:spPr>
            <a:solidFill>
              <a:srgbClr val="3D85C6"/>
            </a:solidFill>
          </c:spPr>
          <c:invertIfNegative val="0"/>
          <c:xVal>
            <c:numRef>
              <c:f>Sheet1!$A$2:$A$2</c:f>
              <c:numCache>
                <c:formatCode>General</c:formatCode>
                <c:ptCount val="1"/>
                <c:pt idx="0">
                  <c:v>101.95012180624438</c:v>
                </c:pt>
              </c:numCache>
            </c:numRef>
          </c:xVal>
          <c:yVal>
            <c:numRef>
              <c:f>Sheet1!$B$2:$B$2</c:f>
              <c:numCache>
                <c:formatCode>General</c:formatCode>
                <c:ptCount val="1"/>
                <c:pt idx="0">
                  <c:v>114.13651035353622</c:v>
                </c:pt>
              </c:numCache>
            </c:numRef>
          </c:yVal>
          <c:bubbleSize>
            <c:numRef>
              <c:f>Sheet1!$C$2:$C$2</c:f>
              <c:numCache>
                <c:formatCode>General</c:formatCode>
                <c:ptCount val="1"/>
                <c:pt idx="0">
                  <c:v>2601.303</c:v>
                </c:pt>
              </c:numCache>
            </c:numRef>
          </c:bubbleSize>
          <c:bubble3D val="0"/>
        </c:ser>
        <c:ser>
          <c:idx val="1"/>
          <c:order val="1"/>
          <c:tx>
            <c:strRef>
              <c:f>Sheet1!$B$4</c:f>
              <c:strCache>
                <c:ptCount val="1"/>
                <c:pt idx="0">
                  <c:v>Coextruded Multilayer Films</c:v>
                </c:pt>
              </c:strCache>
            </c:strRef>
          </c:tx>
          <c:spPr>
            <a:solidFill>
              <a:srgbClr val="9E7E0A"/>
            </a:solidFill>
          </c:spPr>
          <c:invertIfNegative val="0"/>
          <c:xVal>
            <c:numRef>
              <c:f>Sheet1!$A$5:$A$5</c:f>
              <c:numCache>
                <c:formatCode>General</c:formatCode>
                <c:ptCount val="1"/>
                <c:pt idx="0">
                  <c:v>98.55333531227191</c:v>
                </c:pt>
              </c:numCache>
            </c:numRef>
          </c:xVal>
          <c:yVal>
            <c:numRef>
              <c:f>Sheet1!$B$5:$B$5</c:f>
              <c:numCache>
                <c:formatCode>General</c:formatCode>
                <c:ptCount val="1"/>
                <c:pt idx="0">
                  <c:v>203.91604401392405</c:v>
                </c:pt>
              </c:numCache>
            </c:numRef>
          </c:yVal>
          <c:bubbleSize>
            <c:numRef>
              <c:f>Sheet1!$C$5:$C$5</c:f>
              <c:numCache>
                <c:formatCode>General</c:formatCode>
                <c:ptCount val="1"/>
                <c:pt idx="0">
                  <c:v>4528.617</c:v>
                </c:pt>
              </c:numCache>
            </c:numRef>
          </c:bubbleSize>
          <c:bubble3D val="0"/>
        </c:ser>
        <c:ser>
          <c:idx val="2"/>
          <c:order val="2"/>
          <c:tx>
            <c:strRef>
              <c:f>Sheet1!$B$7</c:f>
              <c:strCache>
                <c:ptCount val="1"/>
                <c:pt idx="0">
                  <c:v>Laminated Films</c:v>
                </c:pt>
              </c:strCache>
            </c:strRef>
          </c:tx>
          <c:spPr>
            <a:solidFill>
              <a:srgbClr val="008189"/>
            </a:solidFill>
          </c:spPr>
          <c:invertIfNegative val="0"/>
          <c:xVal>
            <c:numRef>
              <c:f>Sheet1!$A$8:$A$8</c:f>
              <c:numCache>
                <c:formatCode>General</c:formatCode>
                <c:ptCount val="1"/>
                <c:pt idx="0">
                  <c:v>98.98546771658567</c:v>
                </c:pt>
              </c:numCache>
            </c:numRef>
          </c:xVal>
          <c:yVal>
            <c:numRef>
              <c:f>Sheet1!$B$8:$B$8</c:f>
              <c:numCache>
                <c:formatCode>General</c:formatCode>
                <c:ptCount val="1"/>
                <c:pt idx="0">
                  <c:v>173.0624751698579</c:v>
                </c:pt>
              </c:numCache>
            </c:numRef>
          </c:yVal>
          <c:bubbleSize>
            <c:numRef>
              <c:f>Sheet1!$C$8:$C$8</c:f>
              <c:numCache>
                <c:formatCode>General</c:formatCode>
                <c:ptCount val="1"/>
                <c:pt idx="0">
                  <c:v>3856.117</c:v>
                </c:pt>
              </c:numCache>
            </c:numRef>
          </c:bubbleSize>
          <c:bubble3D val="0"/>
        </c:ser>
        <c:ser>
          <c:idx val="3"/>
          <c:order val="3"/>
          <c:tx>
            <c:strRef>
              <c:f>Sheet1!$B$10</c:f>
              <c:strCache>
                <c:ptCount val="1"/>
                <c:pt idx="0">
                  <c:v>Coated Films</c:v>
                </c:pt>
              </c:strCache>
            </c:strRef>
          </c:tx>
          <c:spPr>
            <a:solidFill>
              <a:srgbClr val="40315E"/>
            </a:solidFill>
          </c:spPr>
          <c:invertIfNegative val="0"/>
          <c:xVal>
            <c:numRef>
              <c:f>Sheet1!$A$11:$A$11</c:f>
              <c:numCache>
                <c:formatCode>General</c:formatCode>
                <c:ptCount val="1"/>
                <c:pt idx="0">
                  <c:v>100.32303619553471</c:v>
                </c:pt>
              </c:numCache>
            </c:numRef>
          </c:xVal>
          <c:yVal>
            <c:numRef>
              <c:f>Sheet1!$B$11:$B$11</c:f>
              <c:numCache>
                <c:formatCode>General</c:formatCode>
                <c:ptCount val="1"/>
                <c:pt idx="0">
                  <c:v>46.07458665199087</c:v>
                </c:pt>
              </c:numCache>
            </c:numRef>
          </c:yVal>
          <c:bubbleSize>
            <c:numRef>
              <c:f>Sheet1!$C$11:$C$11</c:f>
              <c:numCache>
                <c:formatCode>General</c:formatCode>
                <c:ptCount val="1"/>
                <c:pt idx="0">
                  <c:v>1037.15</c:v>
                </c:pt>
              </c:numCache>
            </c:numRef>
          </c:bubbleSize>
          <c:bubble3D val="0"/>
        </c:ser>
        <c:ser>
          <c:idx val="4"/>
          <c:order val="4"/>
          <c:tx>
            <c:strRef>
              <c:f>Sheet1!$B$13</c:f>
              <c:strCache>
                <c:ptCount val="1"/>
                <c:pt idx="0">
                  <c:v>Metallized Films</c:v>
                </c:pt>
              </c:strCache>
            </c:strRef>
          </c:tx>
          <c:spPr>
            <a:solidFill>
              <a:srgbClr val="A35313"/>
            </a:solidFill>
          </c:spPr>
          <c:invertIfNegative val="0"/>
          <c:xVal>
            <c:numRef>
              <c:f>Sheet1!$A$14:$A$14</c:f>
              <c:numCache>
                <c:formatCode>General</c:formatCode>
                <c:ptCount val="1"/>
                <c:pt idx="0">
                  <c:v>95.03391902008096</c:v>
                </c:pt>
              </c:numCache>
            </c:numRef>
          </c:xVal>
          <c:yVal>
            <c:numRef>
              <c:f>Sheet1!$B$14:$B$14</c:f>
              <c:numCache>
                <c:formatCode>General</c:formatCode>
                <c:ptCount val="1"/>
                <c:pt idx="0">
                  <c:v>50.85197633863305</c:v>
                </c:pt>
              </c:numCache>
            </c:numRef>
          </c:yVal>
          <c:bubbleSize>
            <c:numRef>
              <c:f>Sheet1!$C$14:$C$14</c:f>
              <c:numCache>
                <c:formatCode>General</c:formatCode>
                <c:ptCount val="1"/>
                <c:pt idx="0">
                  <c:v>1099.342</c:v>
                </c:pt>
              </c:numCache>
            </c:numRef>
          </c:bubbleSize>
          <c:bubble3D val="0"/>
        </c:ser>
        <c:ser>
          <c:idx val="5"/>
          <c:order val="5"/>
          <c:tx>
            <c:strRef>
              <c:f>Sheet1!$B$16</c:f>
              <c:strCache>
                <c:ptCount val="1"/>
                <c:pt idx="0">
                  <c:v>Foil-Laminated Structures</c:v>
                </c:pt>
              </c:strCache>
            </c:strRef>
          </c:tx>
          <c:spPr>
            <a:solidFill>
              <a:srgbClr val="808080"/>
            </a:solidFill>
          </c:spPr>
          <c:invertIfNegative val="0"/>
          <c:xVal>
            <c:numRef>
              <c:f>Sheet1!$A$17:$A$17</c:f>
              <c:numCache>
                <c:formatCode>General</c:formatCode>
                <c:ptCount val="1"/>
                <c:pt idx="0">
                  <c:v>100.39693034155412</c:v>
                </c:pt>
              </c:numCache>
            </c:numRef>
          </c:xVal>
          <c:yVal>
            <c:numRef>
              <c:f>Sheet1!$B$17:$B$17</c:f>
              <c:numCache>
                <c:formatCode>General</c:formatCode>
                <c:ptCount val="1"/>
                <c:pt idx="0">
                  <c:v>54.57931127234994</c:v>
                </c:pt>
              </c:numCache>
            </c:numRef>
          </c:yVal>
          <c:bubbleSize>
            <c:numRef>
              <c:f>Sheet1!$C$17:$C$17</c:f>
              <c:numCache>
                <c:formatCode>General</c:formatCode>
                <c:ptCount val="1"/>
                <c:pt idx="0">
                  <c:v>1229.286</c:v>
                </c:pt>
              </c:numCache>
            </c:numRef>
          </c:bubbleSize>
          <c:bubble3D val="0"/>
        </c:ser>
        <c:ser>
          <c:idx val="6"/>
          <c:order val="6"/>
          <c:tx>
            <c:strRef>
              <c:f>Sheet1!$B$19</c:f>
              <c:strCache>
                <c:ptCount val="1"/>
                <c:pt idx="0">
                  <c:v>Mono-Material Recyclable Structures</c:v>
                </c:pt>
              </c:strCache>
            </c:strRef>
          </c:tx>
          <c:spPr>
            <a:solidFill>
              <a:srgbClr val="0E72AE"/>
            </a:solidFill>
          </c:spPr>
          <c:invertIfNegative val="0"/>
          <c:xVal>
            <c:numRef>
              <c:f>Sheet1!$A$20:$A$20</c:f>
              <c:numCache>
                <c:formatCode>General</c:formatCode>
                <c:ptCount val="1"/>
                <c:pt idx="0">
                  <c:v>107.74007234532455</c:v>
                </c:pt>
              </c:numCache>
            </c:numRef>
          </c:xVal>
          <c:yVal>
            <c:numRef>
              <c:f>Sheet1!$B$20:$B$20</c:f>
              <c:numCache>
                <c:formatCode>General</c:formatCode>
                <c:ptCount val="1"/>
                <c:pt idx="0">
                  <c:v>57.379096199708066</c:v>
                </c:pt>
              </c:numCache>
            </c:numRef>
          </c:yVal>
          <c:bubbleSize>
            <c:numRef>
              <c:f>Sheet1!$C$20:$C$20</c:f>
              <c:numCache>
                <c:formatCode>General</c:formatCode>
                <c:ptCount val="1"/>
                <c:pt idx="0">
                  <c:v>1366.5729999999999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1159.023</c:v>
                </c:pt>
                <c:pt idx="2">
                  <c:v>1340.573</c:v>
                </c:pt>
                <c:pt idx="3">
                  <c:v>1568.899</c:v>
                </c:pt>
                <c:pt idx="4">
                  <c:v>1858.466</c:v>
                </c:pt>
                <c:pt idx="5">
                  <c:v>2202.791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1159.023</c:v>
                </c:pt>
                <c:pt idx="1">
                  <c:v>181.55000000000018</c:v>
                </c:pt>
                <c:pt idx="2">
                  <c:v>228.3259999999998</c:v>
                </c:pt>
                <c:pt idx="3">
                  <c:v>289.567</c:v>
                </c:pt>
                <c:pt idx="4">
                  <c:v>344.3250000000003</c:v>
                </c:pt>
                <c:pt idx="5">
                  <c:v>398.5119999999997</c:v>
                </c:pt>
                <c:pt idx="6">
                  <c:v>2601.303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2070.708</c:v>
                </c:pt>
                <c:pt idx="2">
                  <c:v>2381.682</c:v>
                </c:pt>
                <c:pt idx="3">
                  <c:v>2777.806</c:v>
                </c:pt>
                <c:pt idx="4">
                  <c:v>3267.6319999999996</c:v>
                </c:pt>
                <c:pt idx="5">
                  <c:v>3853.4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2070.708</c:v>
                </c:pt>
                <c:pt idx="1">
                  <c:v>310.9739999999997</c:v>
                </c:pt>
                <c:pt idx="2">
                  <c:v>396.12400000000025</c:v>
                </c:pt>
                <c:pt idx="3">
                  <c:v>489.82599999999957</c:v>
                </c:pt>
                <c:pt idx="4">
                  <c:v>585.7680000000005</c:v>
                </c:pt>
                <c:pt idx="5">
                  <c:v>675.2170000000001</c:v>
                </c:pt>
                <c:pt idx="6">
                  <c:v>4528.617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1757.3990000000001</c:v>
                </c:pt>
                <c:pt idx="2">
                  <c:v>2023.535</c:v>
                </c:pt>
                <c:pt idx="3">
                  <c:v>2360.018</c:v>
                </c:pt>
                <c:pt idx="4">
                  <c:v>2779.88</c:v>
                </c:pt>
                <c:pt idx="5">
                  <c:v>3279.64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1757.3990000000001</c:v>
                </c:pt>
                <c:pt idx="1">
                  <c:v>266.13599999999997</c:v>
                </c:pt>
                <c:pt idx="2">
                  <c:v>336.48299999999995</c:v>
                </c:pt>
                <c:pt idx="3">
                  <c:v>419.8620000000001</c:v>
                </c:pt>
                <c:pt idx="4">
                  <c:v>499.75999999999976</c:v>
                </c:pt>
                <c:pt idx="5">
                  <c:v>576.4770000000003</c:v>
                </c:pt>
                <c:pt idx="6">
                  <c:v>3856.117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467.874</c:v>
                </c:pt>
                <c:pt idx="2">
                  <c:v>536.573</c:v>
                </c:pt>
                <c:pt idx="3">
                  <c:v>625.55</c:v>
                </c:pt>
                <c:pt idx="4">
                  <c:v>737.276</c:v>
                </c:pt>
                <c:pt idx="5">
                  <c:v>875.833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467.874</c:v>
                </c:pt>
                <c:pt idx="1">
                  <c:v>68.69899999999996</c:v>
                </c:pt>
                <c:pt idx="2">
                  <c:v>88.97699999999998</c:v>
                </c:pt>
                <c:pt idx="3">
                  <c:v>111.726</c:v>
                </c:pt>
                <c:pt idx="4">
                  <c:v>138.55700000000002</c:v>
                </c:pt>
                <c:pt idx="5">
                  <c:v>161.31700000000012</c:v>
                </c:pt>
                <c:pt idx="6">
                  <c:v>1037.15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516.387</c:v>
                </c:pt>
                <c:pt idx="2">
                  <c:v>599.499</c:v>
                </c:pt>
                <c:pt idx="3">
                  <c:v>698.989</c:v>
                </c:pt>
                <c:pt idx="4">
                  <c:v>815.089</c:v>
                </c:pt>
                <c:pt idx="5">
                  <c:v>948.378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516.387</c:v>
                </c:pt>
                <c:pt idx="1">
                  <c:v>83.11200000000008</c:v>
                </c:pt>
                <c:pt idx="2">
                  <c:v>99.49000000000001</c:v>
                </c:pt>
                <c:pt idx="3">
                  <c:v>116.10000000000002</c:v>
                </c:pt>
                <c:pt idx="4">
                  <c:v>133.289</c:v>
                </c:pt>
                <c:pt idx="5">
                  <c:v>150.96400000000006</c:v>
                </c:pt>
                <c:pt idx="6">
                  <c:v>1099.342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554.237</c:v>
                </c:pt>
                <c:pt idx="2">
                  <c:v>639.665</c:v>
                </c:pt>
                <c:pt idx="3">
                  <c:v>749.746</c:v>
                </c:pt>
                <c:pt idx="4">
                  <c:v>884.705</c:v>
                </c:pt>
                <c:pt idx="5">
                  <c:v>1044.555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554.237</c:v>
                </c:pt>
                <c:pt idx="1">
                  <c:v>85.428</c:v>
                </c:pt>
                <c:pt idx="2">
                  <c:v>110.08100000000002</c:v>
                </c:pt>
                <c:pt idx="3">
                  <c:v>134.95900000000006</c:v>
                </c:pt>
                <c:pt idx="4">
                  <c:v>159.85000000000002</c:v>
                </c:pt>
                <c:pt idx="5">
                  <c:v>184.731</c:v>
                </c:pt>
                <c:pt idx="6">
                  <c:v>1229.286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582.668</c:v>
                </c:pt>
                <c:pt idx="2">
                  <c:v>682.013</c:v>
                </c:pt>
                <c:pt idx="3">
                  <c:v>809.778</c:v>
                </c:pt>
                <c:pt idx="4">
                  <c:v>966.2049999999999</c:v>
                </c:pt>
                <c:pt idx="5">
                  <c:v>1151.618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582.668</c:v>
                </c:pt>
                <c:pt idx="1">
                  <c:v>99.34500000000003</c:v>
                </c:pt>
                <c:pt idx="2">
                  <c:v>127.76499999999999</c:v>
                </c:pt>
                <c:pt idx="3">
                  <c:v>156.4269999999999</c:v>
                </c:pt>
                <c:pt idx="4">
                  <c:v>185.413</c:v>
                </c:pt>
                <c:pt idx="5">
                  <c:v>214.95499999999993</c:v>
                </c:pt>
                <c:pt idx="6">
                  <c:v>1366.5729999999999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Coextruded Multilayer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29.31791768950439</c:v>
                </c:pt>
                <c:pt idx="1">
                  <c:v>29.130863430560574</c:v>
                </c:pt>
                <c:pt idx="2">
                  <c:v>28.810950588571803</c:v>
                </c:pt>
              </c:numCache>
            </c:numRef>
          </c:val>
        </c:ser>
        <c:ser>
          <c:idx val="1"/>
          <c:order val="1"/>
          <c:tx>
            <c:strRef>
              <c:f>Sheet1!$C$1</c:f>
              <c:strCache>
                <c:ptCount val="1"/>
                <c:pt idx="0">
                  <c:v>Laminated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24.943579562867725</c:v>
                </c:pt>
                <c:pt idx="1">
                  <c:v>24.723210738551124</c:v>
                </c:pt>
                <c:pt idx="2">
                  <c:v>24.532522037247077</c:v>
                </c:pt>
              </c:numCache>
            </c:numRef>
          </c:val>
        </c:ser>
        <c:ser>
          <c:idx val="2"/>
          <c:order val="2"/>
          <c:tx>
            <c:strRef>
              <c:f>Sheet1!$D$1</c:f>
              <c:strCache>
                <c:ptCount val="1"/>
                <c:pt idx="0">
                  <c:v>Monolayer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16.249749663942808</c:v>
                </c:pt>
                <c:pt idx="1">
                  <c:v>16.305215764790884</c:v>
                </c:pt>
                <c:pt idx="2">
                  <c:v>16.549426060738543</c:v>
                </c:pt>
              </c:numCache>
            </c:numRef>
          </c:val>
        </c:ser>
        <c:ser>
          <c:idx val="3"/>
          <c:order val="3"/>
          <c:tx>
            <c:strRef>
              <c:f>Sheet1!$E$1</c:f>
              <c:strCache>
                <c:ptCount val="1"/>
                <c:pt idx="0">
                  <c:v>Mono-Material Recyclable Structures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8.034099563960103</c:v>
                </c:pt>
                <c:pt idx="1">
                  <c:v>8.197013742815438</c:v>
                </c:pt>
                <c:pt idx="2">
                  <c:v>8.69410400099552</c:v>
                </c:pt>
              </c:numCache>
            </c:numRef>
          </c:val>
        </c:ser>
        <c:ser>
          <c:idx val="4"/>
          <c:order val="4"/>
          <c:tx>
            <c:strRef>
              <c:f>Sheet1!$F$1</c:f>
              <c:strCache>
                <c:ptCount val="1"/>
                <c:pt idx="0">
                  <c:v>Foil-Laminated Structures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7.736484128693974</c:v>
                </c:pt>
                <c:pt idx="1">
                  <c:v>7.797044467478561</c:v>
                </c:pt>
                <c:pt idx="2">
                  <c:v>7.820687464897801</c:v>
                </c:pt>
              </c:numCache>
            </c:numRef>
          </c:val>
        </c:ser>
        <c:ser>
          <c:idx val="5"/>
          <c:order val="5"/>
          <c:tx>
            <c:strRef>
              <c:f>Sheet1!$G$1</c:f>
              <c:strCache>
                <c:ptCount val="1"/>
                <c:pt idx="0">
                  <c:v>Metallized Films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7.064843866159723</c:v>
                </c:pt>
                <c:pt idx="1">
                  <c:v>7.264568048376149</c:v>
                </c:pt>
                <c:pt idx="2">
                  <c:v>6.993986915197666</c:v>
                </c:pt>
              </c:numCache>
            </c:numRef>
          </c:val>
        </c:ser>
        <c:ser>
          <c:idx val="6"/>
          <c:order val="6"/>
          <c:tx>
            <c:strRef>
              <c:f>Sheet1!$H$1</c:f>
              <c:strCache>
                <c:ptCount val="1"/>
                <c:pt idx="0">
                  <c:v>Coated Films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6.653325524871266</c:v>
                </c:pt>
                <c:pt idx="1">
                  <c:v>6.582083807427265</c:v>
                </c:pt>
                <c:pt idx="2">
                  <c:v>6.5983229323515875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Sheet1!$B$2:$B$8</c:f>
              <c:numCache>
                <c:formatCode>General</c:formatCode>
                <c:ptCount val="7"/>
                <c:pt idx="0">
                  <c:v>21.840859659904176</c:v>
                </c:pt>
                <c:pt idx="1">
                  <c:v>20.482082901955472</c:v>
                </c:pt>
                <c:pt idx="2">
                  <c:v>20.581349874823015</c:v>
                </c:pt>
                <c:pt idx="3">
                  <c:v>22.242535136232178</c:v>
                </c:pt>
                <c:pt idx="4">
                  <c:v>20.572720908387975</c:v>
                </c:pt>
                <c:pt idx="5">
                  <c:v>21.78002688114152</c:v>
                </c:pt>
                <c:pt idx="6">
                  <c:v>21.60936304332007</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Sheet1!$C$2:$C$8</c:f>
              <c:numCache>
                <c:formatCode>General</c:formatCode>
                <c:ptCount val="7"/>
                <c:pt idx="0">
                  <c:v>30.196652211855767</c:v>
                </c:pt>
                <c:pt idx="1">
                  <c:v>33.308821395051815</c:v>
                </c:pt>
                <c:pt idx="2">
                  <c:v>33.795619726289765</c:v>
                </c:pt>
                <c:pt idx="3">
                  <c:v>31.170351531449253</c:v>
                </c:pt>
                <c:pt idx="4">
                  <c:v>33.483446204845116</c:v>
                </c:pt>
                <c:pt idx="5">
                  <c:v>30.260665998649607</c:v>
                </c:pt>
                <c:pt idx="6">
                  <c:v>29.873347359439684</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Sheet1!$D$2:$D$8</c:f>
              <c:numCache>
                <c:formatCode>General</c:formatCode>
                <c:ptCount val="7"/>
                <c:pt idx="0">
                  <c:v>34.24884750013967</c:v>
                </c:pt>
                <c:pt idx="1">
                  <c:v>32.94259368559569</c:v>
                </c:pt>
                <c:pt idx="2">
                  <c:v>32.74193391131771</c:v>
                </c:pt>
                <c:pt idx="3">
                  <c:v>33.2192251424899</c:v>
                </c:pt>
                <c:pt idx="4">
                  <c:v>31.559072627751206</c:v>
                </c:pt>
                <c:pt idx="5">
                  <c:v>34.12109308196975</c:v>
                </c:pt>
                <c:pt idx="6">
                  <c:v>35.3416899785668</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Sheet1!$E$2:$E$8</c:f>
              <c:numCache>
                <c:formatCode>General</c:formatCode>
                <c:ptCount val="7"/>
                <c:pt idx="0">
                  <c:v>13.713640628100384</c:v>
                </c:pt>
                <c:pt idx="1">
                  <c:v>13.266502017397027</c:v>
                </c:pt>
                <c:pt idx="2">
                  <c:v>12.881096487569508</c:v>
                </c:pt>
                <c:pt idx="3">
                  <c:v>13.367888189828673</c:v>
                </c:pt>
                <c:pt idx="4">
                  <c:v>14.3847602590157</c:v>
                </c:pt>
                <c:pt idx="5">
                  <c:v>13.83821403823912</c:v>
                </c:pt>
                <c:pt idx="6">
                  <c:v>13.175599618673441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98.10949208168198</c:v>
                </c:pt>
              </c:numCache>
            </c:numRef>
          </c:xVal>
          <c:yVal>
            <c:numRef>
              <c:f>Sheet1!$B$2:$B$2</c:f>
              <c:numCache>
                <c:formatCode>General</c:formatCode>
                <c:ptCount val="1"/>
                <c:pt idx="0">
                  <c:v>86.61131818530322</c:v>
                </c:pt>
              </c:numCache>
            </c:numRef>
          </c:yVal>
          <c:bubbleSize>
            <c:numRef>
              <c:f>Sheet1!$C$2:$C$2</c:f>
              <c:numCache>
                <c:formatCode>General</c:formatCode>
                <c:ptCount val="1"/>
                <c:pt idx="0">
                  <c:v>3354.706</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95.2664091403722</c:v>
                </c:pt>
              </c:numCache>
            </c:numRef>
          </c:xVal>
          <c:yVal>
            <c:numRef>
              <c:f>Sheet1!$B$5:$B$5</c:f>
              <c:numCache>
                <c:formatCode>General</c:formatCode>
                <c:ptCount val="1"/>
                <c:pt idx="0">
                  <c:v>130.57758576423743</c:v>
                </c:pt>
              </c:numCache>
            </c:numRef>
          </c:yVal>
          <c:bubbleSize>
            <c:numRef>
              <c:f>Sheet1!$C$5:$C$5</c:f>
              <c:numCache>
                <c:formatCode>General</c:formatCode>
                <c:ptCount val="1"/>
                <c:pt idx="0">
                  <c:v>4948.856</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105.40657527179549</c:v>
                </c:pt>
              </c:numCache>
            </c:numRef>
          </c:xVal>
          <c:yVal>
            <c:numRef>
              <c:f>Sheet1!$B$8:$B$8</c:f>
              <c:numCache>
                <c:formatCode>General</c:formatCode>
                <c:ptCount val="1"/>
                <c:pt idx="0">
                  <c:v>129.1789944002043</c:v>
                </c:pt>
              </c:numCache>
            </c:numRef>
          </c:yVal>
          <c:bubbleSize>
            <c:numRef>
              <c:f>Sheet1!$C$8:$C$8</c:f>
              <c:numCache>
                <c:formatCode>General</c:formatCode>
                <c:ptCount val="1"/>
                <c:pt idx="0">
                  <c:v>5289.52</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101.1016981110203</c:v>
                </c:pt>
              </c:numCache>
            </c:numRef>
          </c:xVal>
          <c:yVal>
            <c:numRef>
              <c:f>Sheet1!$B$11:$B$11</c:f>
              <c:numCache>
                <c:formatCode>General</c:formatCode>
                <c:ptCount val="1"/>
                <c:pt idx="0">
                  <c:v>53.632101650255095</c:v>
                </c:pt>
              </c:numCache>
            </c:numRef>
          </c:yVal>
          <c:bubbleSize>
            <c:numRef>
              <c:f>Sheet1!$C$11:$C$11</c:f>
              <c:numCache>
                <c:formatCode>General</c:formatCode>
                <c:ptCount val="1"/>
                <c:pt idx="0">
                  <c:v>2125.306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1539.147</c:v>
                </c:pt>
                <c:pt idx="2">
                  <c:v>1778.58</c:v>
                </c:pt>
                <c:pt idx="3">
                  <c:v>2075.335</c:v>
                </c:pt>
                <c:pt idx="4">
                  <c:v>2434.847</c:v>
                </c:pt>
                <c:pt idx="5">
                  <c:v>2862.185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1539.147</c:v>
                </c:pt>
                <c:pt idx="1">
                  <c:v>239.433</c:v>
                </c:pt>
                <c:pt idx="2">
                  <c:v>296.7550000000001</c:v>
                </c:pt>
                <c:pt idx="3">
                  <c:v>359.51200000000017</c:v>
                </c:pt>
                <c:pt idx="4">
                  <c:v>427.33799999999974</c:v>
                </c:pt>
                <c:pt idx="5">
                  <c:v>492.5210000000002</c:v>
                </c:pt>
                <c:pt idx="6">
                  <c:v>3354.706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2320.46</c:v>
                </c:pt>
                <c:pt idx="2">
                  <c:v>2653.786</c:v>
                </c:pt>
                <c:pt idx="3">
                  <c:v>3081.575</c:v>
                </c:pt>
                <c:pt idx="4">
                  <c:v>3610.834</c:v>
                </c:pt>
                <c:pt idx="5">
                  <c:v>4235.776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2320.46</c:v>
                </c:pt>
                <c:pt idx="1">
                  <c:v>333.326</c:v>
                </c:pt>
                <c:pt idx="2">
                  <c:v>427.78899999999976</c:v>
                </c:pt>
                <c:pt idx="3">
                  <c:v>529.259</c:v>
                </c:pt>
                <c:pt idx="4">
                  <c:v>624.942</c:v>
                </c:pt>
                <c:pt idx="5">
                  <c:v>713.0799999999999</c:v>
                </c:pt>
                <c:pt idx="6">
                  <c:v>4948.856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2295.606</c:v>
                </c:pt>
                <c:pt idx="2">
                  <c:v>2663.048</c:v>
                </c:pt>
                <c:pt idx="3">
                  <c:v>3134.505</c:v>
                </c:pt>
                <c:pt idx="4">
                  <c:v>3731.022</c:v>
                </c:pt>
                <c:pt idx="5">
                  <c:v>4450.968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2295.606</c:v>
                </c:pt>
                <c:pt idx="1">
                  <c:v>367.44199999999955</c:v>
                </c:pt>
                <c:pt idx="2">
                  <c:v>471.45700000000033</c:v>
                </c:pt>
                <c:pt idx="3">
                  <c:v>596.5169999999998</c:v>
                </c:pt>
                <c:pt idx="4">
                  <c:v>719.9459999999999</c:v>
                </c:pt>
                <c:pt idx="5">
                  <c:v>838.5520000000006</c:v>
                </c:pt>
                <c:pt idx="6">
                  <c:v>5289.52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953.082</c:v>
                </c:pt>
                <c:pt idx="2">
                  <c:v>1108.124</c:v>
                </c:pt>
                <c:pt idx="3">
                  <c:v>1299.371</c:v>
                </c:pt>
                <c:pt idx="4">
                  <c:v>1532.55</c:v>
                </c:pt>
                <c:pt idx="5">
                  <c:v>1807.285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953.082</c:v>
                </c:pt>
                <c:pt idx="1">
                  <c:v>155.04200000000003</c:v>
                </c:pt>
                <c:pt idx="2">
                  <c:v>191.24700000000007</c:v>
                </c:pt>
                <c:pt idx="3">
                  <c:v>233.17899999999986</c:v>
                </c:pt>
                <c:pt idx="4">
                  <c:v>274.7350000000001</c:v>
                </c:pt>
                <c:pt idx="5">
                  <c:v>318.02099999999996</c:v>
                </c:pt>
                <c:pt idx="6">
                  <c:v>2125.306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32.25105975597544</c:v>
                </c:pt>
                <c:pt idx="1">
                  <c:v>32.29474860005107</c:v>
                </c:pt>
                <c:pt idx="2">
                  <c:v>33.651796863647846</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33.47842710062295</c:v>
                </c:pt>
                <c:pt idx="1">
                  <c:v>32.64439644105936</c:v>
                </c:pt>
                <c:pt idx="2">
                  <c:v>31.484500827947492</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21.299027937503983</c:v>
                </c:pt>
                <c:pt idx="1">
                  <c:v>21.652829546325805</c:v>
                </c:pt>
                <c:pt idx="2">
                  <c:v>21.342557519257063</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12.971485205897615</c:v>
                </c:pt>
                <c:pt idx="1">
                  <c:v>13.408025412563774</c:v>
                </c:pt>
                <c:pt idx="2">
                  <c:v>13.521144789147588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Food Packaging</c:v>
                </c:pt>
              </c:strCache>
            </c:strRef>
          </c:tx>
          <c:spPr>
            <a:solidFill>
              <a:srgbClr val="3D85C6"/>
            </a:solidFill>
            <a:ln>
              <a:noFill/>
            </a:ln>
          </c:spPr>
          <c:dLbls>
            <c:dLbl>
              <c:idx val="0"/>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Sheet1!$B$2:$B$8</c:f>
              <c:numCache>
                <c:formatCode>General</c:formatCode>
                <c:ptCount val="7"/>
                <c:pt idx="0">
                  <c:v>83.25688515242116</c:v>
                </c:pt>
                <c:pt idx="1">
                  <c:v>84.49012074742822</c:v>
                </c:pt>
                <c:pt idx="2">
                  <c:v>83.26107633675444</c:v>
                </c:pt>
                <c:pt idx="3">
                  <c:v>83.38480272591346</c:v>
                </c:pt>
                <c:pt idx="4">
                  <c:v>84.65126726043437</c:v>
                </c:pt>
                <c:pt idx="5">
                  <c:v>83.28001760828224</c:v>
                </c:pt>
                <c:pt idx="6">
                  <c:v>83.86059979893393</c:v>
                </c:pt>
              </c:numCache>
            </c:numRef>
          </c:val>
        </c:ser>
        <c:ser>
          <c:idx val="1"/>
          <c:order val="1"/>
          <c:tx>
            <c:strRef>
              <c:f>Sheet1!$C$1</c:f>
              <c:strCache>
                <c:ptCount val="1"/>
                <c:pt idx="0">
                  <c:v>Non-Food Packaging</c:v>
                </c:pt>
              </c:strCache>
            </c:strRef>
          </c:tx>
          <c:spPr>
            <a:solidFill>
              <a:srgbClr val="9E7E0A"/>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Sheet1!$C$2:$C$8</c:f>
              <c:numCache>
                <c:formatCode>General</c:formatCode>
                <c:ptCount val="7"/>
                <c:pt idx="0">
                  <c:v>16.743114847578834</c:v>
                </c:pt>
                <c:pt idx="1">
                  <c:v>15.509879252571787</c:v>
                </c:pt>
                <c:pt idx="2">
                  <c:v>16.738923663245565</c:v>
                </c:pt>
                <c:pt idx="3">
                  <c:v>16.615197274086537</c:v>
                </c:pt>
                <c:pt idx="4">
                  <c:v>15.348732739565643</c:v>
                </c:pt>
                <c:pt idx="5">
                  <c:v>16.719982391717775</c:v>
                </c:pt>
                <c:pt idx="6">
                  <c:v>16.139400201066064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Food Packaging</c:v>
                </c:pt>
              </c:strCache>
            </c:strRef>
          </c:tx>
          <c:spPr>
            <a:solidFill>
              <a:srgbClr val="3D85C6"/>
            </a:solidFill>
          </c:spPr>
          <c:invertIfNegative val="0"/>
          <c:xVal>
            <c:numRef>
              <c:f>Sheet1!$A$2:$A$2</c:f>
              <c:numCache>
                <c:formatCode>General</c:formatCode>
                <c:ptCount val="1"/>
                <c:pt idx="0">
                  <c:v>100.18522085283949</c:v>
                </c:pt>
              </c:numCache>
            </c:numRef>
          </c:xVal>
          <c:yVal>
            <c:numRef>
              <c:f>Sheet1!$B$2:$B$2</c:f>
              <c:numCache>
                <c:formatCode>General</c:formatCode>
                <c:ptCount val="1"/>
                <c:pt idx="0">
                  <c:v>167.28258566682808</c:v>
                </c:pt>
              </c:numCache>
            </c:numRef>
          </c:yVal>
          <c:bubbleSize>
            <c:numRef>
              <c:f>Sheet1!$C$2:$C$2</c:f>
              <c:numCache>
                <c:formatCode>General</c:formatCode>
                <c:ptCount val="1"/>
                <c:pt idx="0">
                  <c:v>13165.653</c:v>
                </c:pt>
              </c:numCache>
            </c:numRef>
          </c:bubbleSize>
          <c:bubble3D val="0"/>
        </c:ser>
        <c:ser>
          <c:idx val="1"/>
          <c:order val="1"/>
          <c:tx>
            <c:strRef>
              <c:f>Sheet1!$B$4</c:f>
              <c:strCache>
                <c:ptCount val="1"/>
                <c:pt idx="0">
                  <c:v>Non-Food Packaging</c:v>
                </c:pt>
              </c:strCache>
            </c:strRef>
          </c:tx>
          <c:spPr>
            <a:solidFill>
              <a:srgbClr val="9E7E0A"/>
            </a:solidFill>
          </c:spPr>
          <c:invertIfNegative val="0"/>
          <c:xVal>
            <c:numRef>
              <c:f>Sheet1!$A$5:$A$5</c:f>
              <c:numCache>
                <c:formatCode>General</c:formatCode>
                <c:ptCount val="1"/>
                <c:pt idx="0">
                  <c:v>99.04927510727511</c:v>
                </c:pt>
              </c:numCache>
            </c:numRef>
          </c:xVal>
          <c:yVal>
            <c:numRef>
              <c:f>Sheet1!$B$5:$B$5</c:f>
              <c:numCache>
                <c:formatCode>General</c:formatCode>
                <c:ptCount val="1"/>
                <c:pt idx="0">
                  <c:v>32.71741433317193</c:v>
                </c:pt>
              </c:numCache>
            </c:numRef>
          </c:yVal>
          <c:bubbleSize>
            <c:numRef>
              <c:f>Sheet1!$C$5:$C$5</c:f>
              <c:numCache>
                <c:formatCode>General</c:formatCode>
                <c:ptCount val="1"/>
                <c:pt idx="0">
                  <c:v>2552.736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5945.469</c:v>
                </c:pt>
                <c:pt idx="2">
                  <c:v>6861.818</c:v>
                </c:pt>
                <c:pt idx="3">
                  <c:v>8023.942</c:v>
                </c:pt>
                <c:pt idx="4">
                  <c:v>9464.639</c:v>
                </c:pt>
                <c:pt idx="5">
                  <c:v>11182.454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5945.469</c:v>
                </c:pt>
                <c:pt idx="1">
                  <c:v>916.3490000000002</c:v>
                </c:pt>
                <c:pt idx="2">
                  <c:v>1162.1239999999998</c:v>
                </c:pt>
                <c:pt idx="3">
                  <c:v>1440.6969999999992</c:v>
                </c:pt>
                <c:pt idx="4">
                  <c:v>1717.8150000000005</c:v>
                </c:pt>
                <c:pt idx="5">
                  <c:v>1983.1990000000005</c:v>
                </c:pt>
                <c:pt idx="6">
                  <c:v>13165.653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1162.825</c:v>
                </c:pt>
                <c:pt idx="2">
                  <c:v>1341.72</c:v>
                </c:pt>
                <c:pt idx="3">
                  <c:v>1566.841</c:v>
                </c:pt>
                <c:pt idx="4">
                  <c:v>1844.615</c:v>
                </c:pt>
                <c:pt idx="5">
                  <c:v>2173.76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1162.825</c:v>
                </c:pt>
                <c:pt idx="1">
                  <c:v>178.89499999999998</c:v>
                </c:pt>
                <c:pt idx="2">
                  <c:v>225.12099999999987</c:v>
                </c:pt>
                <c:pt idx="3">
                  <c:v>277.7740000000001</c:v>
                </c:pt>
                <c:pt idx="4">
                  <c:v>329.1450000000002</c:v>
                </c:pt>
                <c:pt idx="5">
                  <c:v>378.97599999999966</c:v>
                </c:pt>
                <c:pt idx="6">
                  <c:v>2552.736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Food Packaging</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83.63177069208463</c:v>
                </c:pt>
                <c:pt idx="1">
                  <c:v>83.64129283341404</c:v>
                </c:pt>
                <c:pt idx="2">
                  <c:v>83.75955703857439</c:v>
                </c:pt>
              </c:numCache>
            </c:numRef>
          </c:val>
        </c:ser>
        <c:ser>
          <c:idx val="1"/>
          <c:order val="1"/>
          <c:tx>
            <c:strRef>
              <c:f>Sheet1!$C$1</c:f>
              <c:strCache>
                <c:ptCount val="1"/>
                <c:pt idx="0">
                  <c:v>Non-Food Packaging</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16.36822930791536</c:v>
                </c:pt>
                <c:pt idx="1">
                  <c:v>16.358707166585965</c:v>
                </c:pt>
                <c:pt idx="2">
                  <c:v>16.24044296142563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Sheet1!$B$2:$B$8</c:f>
              <c:numCache>
                <c:formatCode>General</c:formatCode>
                <c:ptCount val="7"/>
                <c:pt idx="0">
                  <c:v>21.840817584619238</c:v>
                </c:pt>
                <c:pt idx="1">
                  <c:v>20.481975798404704</c:v>
                </c:pt>
                <c:pt idx="2">
                  <c:v>20.581404040546296</c:v>
                </c:pt>
                <c:pt idx="3">
                  <c:v>22.24258798856698</c:v>
                </c:pt>
                <c:pt idx="4">
                  <c:v>20.572798113621598</c:v>
                </c:pt>
                <c:pt idx="5">
                  <c:v>21.78000900683493</c:v>
                </c:pt>
                <c:pt idx="6">
                  <c:v>21.609406342698204</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Sheet1!$C$2:$C$8</c:f>
              <c:numCache>
                <c:formatCode>General</c:formatCode>
                <c:ptCount val="7"/>
                <c:pt idx="0">
                  <c:v>30.19659403956925</c:v>
                </c:pt>
                <c:pt idx="1">
                  <c:v>33.308881779863455</c:v>
                </c:pt>
                <c:pt idx="2">
                  <c:v>33.79556556056649</c:v>
                </c:pt>
                <c:pt idx="3">
                  <c:v>31.170298679114445</c:v>
                </c:pt>
                <c:pt idx="4">
                  <c:v>33.48338876864757</c:v>
                </c:pt>
                <c:pt idx="5">
                  <c:v>30.260653495912397</c:v>
                </c:pt>
                <c:pt idx="6">
                  <c:v>29.873318363268208</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Sheet1!$D$2:$D$8</c:f>
              <c:numCache>
                <c:formatCode>General</c:formatCode>
                <c:ptCount val="7"/>
                <c:pt idx="0">
                  <c:v>34.24887784391916</c:v>
                </c:pt>
                <c:pt idx="1">
                  <c:v>32.94265274157752</c:v>
                </c:pt>
                <c:pt idx="2">
                  <c:v>32.74193391131771</c:v>
                </c:pt>
                <c:pt idx="3">
                  <c:v>33.2192251424899</c:v>
                </c:pt>
                <c:pt idx="4">
                  <c:v>31.55905904829112</c:v>
                </c:pt>
                <c:pt idx="5">
                  <c:v>34.12108302439636</c:v>
                </c:pt>
                <c:pt idx="6">
                  <c:v>35.341691561317546</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Israel  ·  1,038</c:v>
                </c:pt>
                <c:pt idx="1">
                  <c:v>Rest of GCC  ·  1,654</c:v>
                </c:pt>
                <c:pt idx="2">
                  <c:v>South Africa  ·  1,846</c:v>
                </c:pt>
                <c:pt idx="3">
                  <c:v>UAE  ·  1,892</c:v>
                </c:pt>
                <c:pt idx="4">
                  <c:v>Rest of MEA  ·  2,324</c:v>
                </c:pt>
                <c:pt idx="5">
                  <c:v>Saudi Arabia  ·  3,158</c:v>
                </c:pt>
                <c:pt idx="6">
                  <c:v>Turkey  ·  3,807</c:v>
                </c:pt>
              </c:strCache>
            </c:strRef>
          </c:cat>
          <c:val>
            <c:numRef>
              <c:f>Sheet1!$E$2:$E$8</c:f>
              <c:numCache>
                <c:formatCode>General</c:formatCode>
                <c:ptCount val="7"/>
                <c:pt idx="0">
                  <c:v>13.713710531892348</c:v>
                </c:pt>
                <c:pt idx="1">
                  <c:v>13.266489680154331</c:v>
                </c:pt>
                <c:pt idx="2">
                  <c:v>12.881096487569508</c:v>
                </c:pt>
                <c:pt idx="3">
                  <c:v>13.367888189828673</c:v>
                </c:pt>
                <c:pt idx="4">
                  <c:v>14.384754069439722</c:v>
                </c:pt>
                <c:pt idx="5">
                  <c:v>13.838254472856299</c:v>
                </c:pt>
                <c:pt idx="6">
                  <c:v>13.175583732716037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98.10956894080421</c:v>
                </c:pt>
              </c:numCache>
            </c:numRef>
          </c:xVal>
          <c:yVal>
            <c:numRef>
              <c:f>Sheet1!$B$2:$B$2</c:f>
              <c:numCache>
                <c:formatCode>General</c:formatCode>
                <c:ptCount val="1"/>
                <c:pt idx="0">
                  <c:v>86.61126191301852</c:v>
                </c:pt>
              </c:numCache>
            </c:numRef>
          </c:yVal>
          <c:bubbleSize>
            <c:numRef>
              <c:f>Sheet1!$C$2:$C$2</c:f>
              <c:numCache>
                <c:formatCode>General</c:formatCode>
                <c:ptCount val="1"/>
                <c:pt idx="0">
                  <c:v>3354.706</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95.26634491147836</c:v>
                </c:pt>
              </c:numCache>
            </c:numRef>
          </c:xVal>
          <c:yVal>
            <c:numRef>
              <c:f>Sheet1!$B$5:$B$5</c:f>
              <c:numCache>
                <c:formatCode>General</c:formatCode>
                <c:ptCount val="1"/>
                <c:pt idx="0">
                  <c:v>130.57764203652212</c:v>
                </c:pt>
              </c:numCache>
            </c:numRef>
          </c:yVal>
          <c:bubbleSize>
            <c:numRef>
              <c:f>Sheet1!$C$5:$C$5</c:f>
              <c:numCache>
                <c:formatCode>General</c:formatCode>
                <c:ptCount val="1"/>
                <c:pt idx="0">
                  <c:v>4948.856</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105.40647669382392</c:v>
                </c:pt>
              </c:numCache>
            </c:numRef>
          </c:xVal>
          <c:yVal>
            <c:numRef>
              <c:f>Sheet1!$B$8:$B$8</c:f>
              <c:numCache>
                <c:formatCode>General</c:formatCode>
                <c:ptCount val="1"/>
                <c:pt idx="0">
                  <c:v>129.17910694477368</c:v>
                </c:pt>
              </c:numCache>
            </c:numRef>
          </c:yVal>
          <c:bubbleSize>
            <c:numRef>
              <c:f>Sheet1!$C$8:$C$8</c:f>
              <c:numCache>
                <c:formatCode>General</c:formatCode>
                <c:ptCount val="1"/>
                <c:pt idx="0">
                  <c:v>5289.521</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101.10196497512274</c:v>
                </c:pt>
              </c:numCache>
            </c:numRef>
          </c:xVal>
          <c:yVal>
            <c:numRef>
              <c:f>Sheet1!$B$11:$B$11</c:f>
              <c:numCache>
                <c:formatCode>General</c:formatCode>
                <c:ptCount val="1"/>
                <c:pt idx="0">
                  <c:v>53.631989105685676</c:v>
                </c:pt>
              </c:numCache>
            </c:numRef>
          </c:yVal>
          <c:bubbleSize>
            <c:numRef>
              <c:f>Sheet1!$C$11:$C$11</c:f>
              <c:numCache>
                <c:formatCode>General</c:formatCode>
                <c:ptCount val="1"/>
                <c:pt idx="0">
                  <c:v>2125.306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1539.146</c:v>
                </c:pt>
                <c:pt idx="2">
                  <c:v>1778.582</c:v>
                </c:pt>
                <c:pt idx="3">
                  <c:v>2075.337</c:v>
                </c:pt>
                <c:pt idx="4">
                  <c:v>2434.848</c:v>
                </c:pt>
                <c:pt idx="5">
                  <c:v>2862.185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1539.146</c:v>
                </c:pt>
                <c:pt idx="1">
                  <c:v>239.43600000000015</c:v>
                </c:pt>
                <c:pt idx="2">
                  <c:v>296.7549999999999</c:v>
                </c:pt>
                <c:pt idx="3">
                  <c:v>359.51099999999997</c:v>
                </c:pt>
                <c:pt idx="4">
                  <c:v>427.337</c:v>
                </c:pt>
                <c:pt idx="5">
                  <c:v>492.5210000000002</c:v>
                </c:pt>
                <c:pt idx="6">
                  <c:v>3354.706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2320.4610000000002</c:v>
                </c:pt>
                <c:pt idx="2">
                  <c:v>2653.785</c:v>
                </c:pt>
                <c:pt idx="3">
                  <c:v>3081.574</c:v>
                </c:pt>
                <c:pt idx="4">
                  <c:v>3610.833</c:v>
                </c:pt>
                <c:pt idx="5">
                  <c:v>4235.777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2320.4610000000002</c:v>
                </c:pt>
                <c:pt idx="1">
                  <c:v>333.3239999999996</c:v>
                </c:pt>
                <c:pt idx="2">
                  <c:v>427.7890000000002</c:v>
                </c:pt>
                <c:pt idx="3">
                  <c:v>529.259</c:v>
                </c:pt>
                <c:pt idx="4">
                  <c:v>624.944</c:v>
                </c:pt>
                <c:pt idx="5">
                  <c:v>713.0789999999997</c:v>
                </c:pt>
                <c:pt idx="6">
                  <c:v>4948.856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2295.608</c:v>
                </c:pt>
                <c:pt idx="2">
                  <c:v>2663.048</c:v>
                </c:pt>
                <c:pt idx="3">
                  <c:v>3134.506</c:v>
                </c:pt>
                <c:pt idx="4">
                  <c:v>3731.022</c:v>
                </c:pt>
                <c:pt idx="5">
                  <c:v>4450.968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2295.608</c:v>
                </c:pt>
                <c:pt idx="1">
                  <c:v>367.4399999999996</c:v>
                </c:pt>
                <c:pt idx="2">
                  <c:v>471.4580000000001</c:v>
                </c:pt>
                <c:pt idx="3">
                  <c:v>596.5160000000001</c:v>
                </c:pt>
                <c:pt idx="4">
                  <c:v>719.9459999999999</c:v>
                </c:pt>
                <c:pt idx="5">
                  <c:v>838.5529999999999</c:v>
                </c:pt>
                <c:pt idx="6">
                  <c:v>5289.521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953.0799999999999</c:v>
                </c:pt>
                <c:pt idx="2">
                  <c:v>1108.124</c:v>
                </c:pt>
                <c:pt idx="3">
                  <c:v>1299.371</c:v>
                </c:pt>
                <c:pt idx="4">
                  <c:v>1532.549</c:v>
                </c:pt>
                <c:pt idx="5">
                  <c:v>1807.283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953.0799999999999</c:v>
                </c:pt>
                <c:pt idx="1">
                  <c:v>155.0440000000001</c:v>
                </c:pt>
                <c:pt idx="2">
                  <c:v>191.24700000000007</c:v>
                </c:pt>
                <c:pt idx="3">
                  <c:v>233.17799999999988</c:v>
                </c:pt>
                <c:pt idx="4">
                  <c:v>274.7339999999999</c:v>
                </c:pt>
                <c:pt idx="5">
                  <c:v>318.02300000000014</c:v>
                </c:pt>
                <c:pt idx="6">
                  <c:v>2125.306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32.25108483719904</c:v>
                </c:pt>
                <c:pt idx="1">
                  <c:v>32.29477673619342</c:v>
                </c:pt>
                <c:pt idx="2">
                  <c:v>33.65180108470403</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33.478414484902174</c:v>
                </c:pt>
                <c:pt idx="1">
                  <c:v>32.64441050913053</c:v>
                </c:pt>
                <c:pt idx="2">
                  <c:v>31.484498824911384</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21.29901301197763</c:v>
                </c:pt>
                <c:pt idx="1">
                  <c:v>21.65281547825463</c:v>
                </c:pt>
                <c:pt idx="2">
                  <c:v>21.342556161448865</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12.971487665921158</c:v>
                </c:pt>
                <c:pt idx="1">
                  <c:v>13.407997276421419</c:v>
                </c:pt>
                <c:pt idx="2">
                  <c:v>13.52114392893572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231.962</c:v>
                </c:pt>
                <c:pt idx="1">
                  <c:v>243.569</c:v>
                </c:pt>
                <c:pt idx="2">
                  <c:v>255.894</c:v>
                </c:pt>
                <c:pt idx="3">
                  <c:v>268.99</c:v>
                </c:pt>
                <c:pt idx="4">
                  <c:v>282.994</c:v>
                </c:pt>
                <c:pt idx="5">
                  <c:v>298.372</c:v>
                </c:pt>
                <c:pt idx="6">
                  <c:v>315.23799999999994</c:v>
                </c:pt>
                <c:pt idx="7">
                  <c:v>333.85900000000004</c:v>
                </c:pt>
                <c:pt idx="8">
                  <c:v>354.311</c:v>
                </c:pt>
                <c:pt idx="9">
                  <c:v>376.69399999999996</c:v>
                </c:pt>
                <c:pt idx="10">
                  <c:v>400.937</c:v>
                </c:pt>
                <c:pt idx="11">
                  <c:v>426.85600000000005</c:v>
                </c:pt>
                <c:pt idx="12">
                  <c:v>454.16700000000003</c:v>
                </c:pt>
                <c:pt idx="13">
                  <c:v>482.71</c:v>
                </c:pt>
                <c:pt idx="14">
                  <c:v>512.1650000000001</c:v>
                </c:pt>
                <c:pt idx="15">
                  <c:v>542.442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UAE</c:v>
                </c:pt>
              </c:strCache>
            </c:strRef>
          </c:cat>
          <c:val>
            <c:numRef>
              <c:f>Sheet1!$B$2:$B$3</c:f>
              <c:numCache>
                <c:formatCode>General</c:formatCode>
                <c:ptCount val="2"/>
                <c:pt idx="0">
                  <c:v>0.06897414087313414</c:v>
                </c:pt>
                <c:pt idx="1">
                  <c:v>0.06159661315651932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115090178731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298.372</c:v>
                </c:pt>
                <c:pt idx="2">
                  <c:v>315.23799999999994</c:v>
                </c:pt>
                <c:pt idx="3">
                  <c:v>333.85900000000004</c:v>
                </c:pt>
                <c:pt idx="4">
                  <c:v>354.311</c:v>
                </c:pt>
                <c:pt idx="5">
                  <c:v>376.69399999999996</c:v>
                </c:pt>
                <c:pt idx="6">
                  <c:v>400.937</c:v>
                </c:pt>
                <c:pt idx="7">
                  <c:v>426.85600000000005</c:v>
                </c:pt>
                <c:pt idx="8">
                  <c:v>454.16700000000003</c:v>
                </c:pt>
                <c:pt idx="9">
                  <c:v>482.71</c:v>
                </c:pt>
                <c:pt idx="10">
                  <c:v>512.1650000000001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298.372</c:v>
                </c:pt>
                <c:pt idx="1">
                  <c:v>16.86599999999993</c:v>
                </c:pt>
                <c:pt idx="2">
                  <c:v>18.621000000000095</c:v>
                </c:pt>
                <c:pt idx="3">
                  <c:v>20.45199999999994</c:v>
                </c:pt>
                <c:pt idx="4">
                  <c:v>22.38299999999998</c:v>
                </c:pt>
                <c:pt idx="5">
                  <c:v>24.243000000000052</c:v>
                </c:pt>
                <c:pt idx="6">
                  <c:v>25.91900000000004</c:v>
                </c:pt>
                <c:pt idx="7">
                  <c:v>27.31099999999998</c:v>
                </c:pt>
                <c:pt idx="8">
                  <c:v>28.54299999999995</c:v>
                </c:pt>
                <c:pt idx="9">
                  <c:v>29.455000000000098</c:v>
                </c:pt>
                <c:pt idx="10">
                  <c:v>30.27699999999993</c:v>
                </c:pt>
                <c:pt idx="11">
                  <c:v>542.442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UAE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12.551901345585769</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87.44809865441422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698.766</c:v>
                </c:pt>
                <c:pt idx="1">
                  <c:v>735.763</c:v>
                </c:pt>
                <c:pt idx="2">
                  <c:v>775.3670000000001</c:v>
                </c:pt>
                <c:pt idx="3">
                  <c:v>818.195</c:v>
                </c:pt>
                <c:pt idx="4">
                  <c:v>864.429</c:v>
                </c:pt>
                <c:pt idx="5">
                  <c:v>918.823</c:v>
                </c:pt>
                <c:pt idx="6">
                  <c:v>979.4739999999999</c:v>
                </c:pt>
                <c:pt idx="7">
                  <c:v>1047.542</c:v>
                </c:pt>
                <c:pt idx="8">
                  <c:v>1123.594</c:v>
                </c:pt>
                <c:pt idx="9">
                  <c:v>1208.416</c:v>
                </c:pt>
                <c:pt idx="10">
                  <c:v>1301.972</c:v>
                </c:pt>
                <c:pt idx="11">
                  <c:v>1404.118</c:v>
                </c:pt>
                <c:pt idx="12">
                  <c:v>1514.352</c:v>
                </c:pt>
                <c:pt idx="13">
                  <c:v>1632.604</c:v>
                </c:pt>
                <c:pt idx="14">
                  <c:v>1758.5220000000002</c:v>
                </c:pt>
                <c:pt idx="15">
                  <c:v>1892.065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UAE</c:v>
                </c:pt>
              </c:strCache>
            </c:strRef>
          </c:cat>
          <c:val>
            <c:numRef>
              <c:f>Sheet1!$B$2:$B$3</c:f>
              <c:numCache>
                <c:formatCode>General</c:formatCode>
                <c:ptCount val="2"/>
                <c:pt idx="0">
                  <c:v>0.08259067318211845</c:v>
                </c:pt>
                <c:pt idx="1">
                  <c:v>0.07490583253927863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14974087958599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918.823</c:v>
                </c:pt>
                <c:pt idx="2">
                  <c:v>979.4739999999999</c:v>
                </c:pt>
                <c:pt idx="3">
                  <c:v>1047.542</c:v>
                </c:pt>
                <c:pt idx="4">
                  <c:v>1123.594</c:v>
                </c:pt>
                <c:pt idx="5">
                  <c:v>1208.416</c:v>
                </c:pt>
                <c:pt idx="6">
                  <c:v>1301.972</c:v>
                </c:pt>
                <c:pt idx="7">
                  <c:v>1404.118</c:v>
                </c:pt>
                <c:pt idx="8">
                  <c:v>1514.352</c:v>
                </c:pt>
                <c:pt idx="9">
                  <c:v>1632.604</c:v>
                </c:pt>
                <c:pt idx="10">
                  <c:v>1758.5220000000002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918.823</c:v>
                </c:pt>
                <c:pt idx="1">
                  <c:v>60.650999999999954</c:v>
                </c:pt>
                <c:pt idx="2">
                  <c:v>68.06799999999998</c:v>
                </c:pt>
                <c:pt idx="3">
                  <c:v>76.05200000000013</c:v>
                </c:pt>
                <c:pt idx="4">
                  <c:v>84.82199999999989</c:v>
                </c:pt>
                <c:pt idx="5">
                  <c:v>93.55600000000004</c:v>
                </c:pt>
                <c:pt idx="6">
                  <c:v>102.14599999999996</c:v>
                </c:pt>
                <c:pt idx="7">
                  <c:v>110.23400000000015</c:v>
                </c:pt>
                <c:pt idx="8">
                  <c:v>118.25199999999995</c:v>
                </c:pt>
                <c:pt idx="9">
                  <c:v>125.91800000000012</c:v>
                </c:pt>
                <c:pt idx="10">
                  <c:v>133.5429999999999</c:v>
                </c:pt>
                <c:pt idx="11">
                  <c:v>1892.065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UAE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12.926067362145211</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87.0739326378548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64.178</c:v>
                </c:pt>
                <c:pt idx="8">
                  <c:v>110.03899999999999</c:v>
                </c:pt>
                <c:pt idx="9">
                  <c:v>265.37</c:v>
                </c:pt>
                <c:pt idx="10">
                  <c:v>479.236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42.1762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18.936</c:v>
                </c:pt>
                <c:pt idx="1">
                  <c:v>28.312</c:v>
                </c:pt>
                <c:pt idx="2">
                  <c:v>29.187</c:v>
                </c:pt>
                <c:pt idx="3">
                  <c:v>31.041</c:v>
                </c:pt>
                <c:pt idx="4">
                  <c:v>46.109</c:v>
                </c:pt>
                <c:pt idx="5">
                  <c:v>56.465</c:v>
                </c:pt>
                <c:pt idx="6">
                  <c:v>72.561</c:v>
                </c:pt>
                <c:pt idx="7">
                  <c:v>73.069</c:v>
                </c:pt>
                <c:pt idx="8">
                  <c:v>91.417</c:v>
                </c:pt>
                <c:pt idx="9">
                  <c:v>178.473</c:v>
                </c:pt>
                <c:pt idx="10">
                  <c:v>293.253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92.959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Foil-Laminated Struct…</c:v>
                </c:pt>
                <c:pt idx="6">
                  <c:v>Metallized Films</c:v>
                </c:pt>
                <c:pt idx="7">
                  <c:v>Mono-Material Recycla…</c:v>
                </c:pt>
                <c:pt idx="8">
                  <c:v>Monolayer Films</c:v>
                </c:pt>
                <c:pt idx="9">
                  <c:v>Laminated Films</c:v>
                </c:pt>
                <c:pt idx="10">
                  <c:v>Coextruded Multilayer…</c:v>
                </c:pt>
              </c:strCache>
            </c:strRef>
          </c:cat>
          <c:val>
            <c:numRef>
              <c:f>Sheet1!$B$2:$B$12</c:f>
              <c:numCache>
                <c:formatCode>General</c:formatCode>
                <c:ptCount val="11"/>
                <c:pt idx="4">
                  <c:v>57.416</c:v>
                </c:pt>
                <c:pt idx="5">
                  <c:v>66.304</c:v>
                </c:pt>
                <c:pt idx="6">
                  <c:v>67.11</c:v>
                </c:pt>
                <c:pt idx="7">
                  <c:v>75.56899999999999</c:v>
                </c:pt>
                <c:pt idx="8">
                  <c:v>156.036</c:v>
                </c:pt>
                <c:pt idx="9">
                  <c:v>233.752</c:v>
                </c:pt>
                <c:pt idx="10">
                  <c:v>262.634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51.92956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121.096</c:v>
                </c:pt>
                <c:pt idx="8">
                  <c:v>204.275</c:v>
                </c:pt>
                <c:pt idx="9">
                  <c:v>296.607</c:v>
                </c:pt>
                <c:pt idx="10">
                  <c:v>296.844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97.770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153.761</c:v>
                </c:pt>
                <c:pt idx="10">
                  <c:v>765.063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025.1844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121.094</c:v>
                </c:pt>
                <c:pt idx="8">
                  <c:v>204.273</c:v>
                </c:pt>
                <c:pt idx="9">
                  <c:v>296.608</c:v>
                </c:pt>
                <c:pt idx="10">
                  <c:v>296.846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97.7736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918.823</c:v>
                </c:pt>
                <c:pt idx="2">
                  <c:v>1429.7359999999999</c:v>
                </c:pt>
                <c:pt idx="3">
                  <c:v>1541.5279999999998</c:v>
                </c:pt>
                <c:pt idx="4">
                  <c:v>1827.7029999999997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918.823</c:v>
                </c:pt>
                <c:pt idx="1">
                  <c:v>510.913</c:v>
                </c:pt>
                <c:pt idx="2">
                  <c:v>111.79200000000003</c:v>
                </c:pt>
                <c:pt idx="3">
                  <c:v>286.17499999999995</c:v>
                </c:pt>
                <c:pt idx="4">
                  <c:v>64.362</c:v>
                </c:pt>
                <c:pt idx="5">
                  <c:v>1892.065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510.913</c:v>
                </c:pt>
                <c:pt idx="2">
                  <c:v>622.705</c:v>
                </c:pt>
                <c:pt idx="3">
                  <c:v>908.88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510.913</c:v>
                </c:pt>
                <c:pt idx="1">
                  <c:v>111.79200000000003</c:v>
                </c:pt>
                <c:pt idx="2">
                  <c:v>286.17499999999995</c:v>
                </c:pt>
                <c:pt idx="3">
                  <c:v>64.362</c:v>
                </c:pt>
                <c:pt idx="4">
                  <c:v>973.242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918.823</c:v>
                </c:pt>
                <c:pt idx="2">
                  <c:v>1239.313</c:v>
                </c:pt>
                <c:pt idx="3">
                  <c:v>1421.1380000000001</c:v>
                </c:pt>
                <c:pt idx="4">
                  <c:v>1519.5300000000002</c:v>
                </c:pt>
                <c:pt idx="5">
                  <c:v>1594.3080000000002</c:v>
                </c:pt>
                <c:pt idx="6">
                  <c:v>1676.332</c:v>
                </c:pt>
                <c:pt idx="7">
                  <c:v>1719.5800000000002</c:v>
                </c:pt>
                <c:pt idx="8">
                  <c:v>1740.2400000000002</c:v>
                </c:pt>
                <c:pt idx="9">
                  <c:v>1799.2150000000001</c:v>
                </c:pt>
                <c:pt idx="10">
                  <c:v>1830.671</c:v>
                </c:pt>
                <c:pt idx="11">
                  <c:v>1859.258</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918.823</c:v>
                </c:pt>
                <c:pt idx="1">
                  <c:v>320.49000000000007</c:v>
                </c:pt>
                <c:pt idx="2">
                  <c:v>181.825</c:v>
                </c:pt>
                <c:pt idx="3">
                  <c:v>98.392</c:v>
                </c:pt>
                <c:pt idx="4">
                  <c:v>74.77799999999999</c:v>
                </c:pt>
                <c:pt idx="5">
                  <c:v>82.02399999999999</c:v>
                </c:pt>
                <c:pt idx="6">
                  <c:v>43.248</c:v>
                </c:pt>
                <c:pt idx="7">
                  <c:v>20.659999999999997</c:v>
                </c:pt>
                <c:pt idx="8">
                  <c:v>58.974999999999994</c:v>
                </c:pt>
                <c:pt idx="9">
                  <c:v>31.456</c:v>
                </c:pt>
                <c:pt idx="10">
                  <c:v>28.587</c:v>
                </c:pt>
                <c:pt idx="11">
                  <c:v>32.806</c:v>
                </c:pt>
                <c:pt idx="12">
                  <c:v>1892.064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320.49000000000007</c:v>
                </c:pt>
                <c:pt idx="2">
                  <c:v>502.31500000000005</c:v>
                </c:pt>
                <c:pt idx="3">
                  <c:v>600.7070000000001</c:v>
                </c:pt>
                <c:pt idx="4">
                  <c:v>675.4850000000001</c:v>
                </c:pt>
                <c:pt idx="5">
                  <c:v>757.5090000000001</c:v>
                </c:pt>
                <c:pt idx="6">
                  <c:v>800.7570000000002</c:v>
                </c:pt>
                <c:pt idx="7">
                  <c:v>821.4170000000001</c:v>
                </c:pt>
                <c:pt idx="8">
                  <c:v>880.3920000000002</c:v>
                </c:pt>
                <c:pt idx="9">
                  <c:v>911.8480000000002</c:v>
                </c:pt>
                <c:pt idx="10">
                  <c:v>940.4350000000002</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320.49000000000007</c:v>
                </c:pt>
                <c:pt idx="1">
                  <c:v>181.825</c:v>
                </c:pt>
                <c:pt idx="2">
                  <c:v>98.392</c:v>
                </c:pt>
                <c:pt idx="3">
                  <c:v>74.77799999999999</c:v>
                </c:pt>
                <c:pt idx="4">
                  <c:v>82.02399999999999</c:v>
                </c:pt>
                <c:pt idx="5">
                  <c:v>43.248</c:v>
                </c:pt>
                <c:pt idx="6">
                  <c:v>20.659999999999997</c:v>
                </c:pt>
                <c:pt idx="7">
                  <c:v>58.974999999999994</c:v>
                </c:pt>
                <c:pt idx="8">
                  <c:v>31.456</c:v>
                </c:pt>
                <c:pt idx="9">
                  <c:v>28.587</c:v>
                </c:pt>
                <c:pt idx="10">
                  <c:v>32.806</c:v>
                </c:pt>
                <c:pt idx="11">
                  <c:v>973.2410000000001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918.8209999999999</c:v>
                </c:pt>
                <c:pt idx="2">
                  <c:v>1088.4569999999999</c:v>
                </c:pt>
                <c:pt idx="3">
                  <c:v>1360.2369999999999</c:v>
                </c:pt>
                <c:pt idx="4">
                  <c:v>1602.8239999999998</c:v>
                </c:pt>
                <c:pt idx="5">
                  <c:v>1665.3169999999998</c:v>
                </c:pt>
                <c:pt idx="6">
                  <c:v>1732.0709999999997</c:v>
                </c:pt>
                <c:pt idx="7">
                  <c:v>1802.2649999999996</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918.8209999999999</c:v>
                </c:pt>
                <c:pt idx="1">
                  <c:v>169.63600000000002</c:v>
                </c:pt>
                <c:pt idx="2">
                  <c:v>271.78</c:v>
                </c:pt>
                <c:pt idx="3">
                  <c:v>242.587</c:v>
                </c:pt>
                <c:pt idx="4">
                  <c:v>62.49300000000001</c:v>
                </c:pt>
                <c:pt idx="5">
                  <c:v>66.754</c:v>
                </c:pt>
                <c:pt idx="6">
                  <c:v>70.19399999999999</c:v>
                </c:pt>
                <c:pt idx="7">
                  <c:v>89.799</c:v>
                </c:pt>
                <c:pt idx="8">
                  <c:v>1892.064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169.63600000000002</c:v>
                </c:pt>
                <c:pt idx="2">
                  <c:v>441.416</c:v>
                </c:pt>
                <c:pt idx="3">
                  <c:v>684.0029999999999</c:v>
                </c:pt>
                <c:pt idx="4">
                  <c:v>746.496</c:v>
                </c:pt>
                <c:pt idx="5">
                  <c:v>813.25</c:v>
                </c:pt>
                <c:pt idx="6">
                  <c:v>883.444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169.63600000000002</c:v>
                </c:pt>
                <c:pt idx="1">
                  <c:v>271.78</c:v>
                </c:pt>
                <c:pt idx="2">
                  <c:v>242.587</c:v>
                </c:pt>
                <c:pt idx="3">
                  <c:v>62.49300000000001</c:v>
                </c:pt>
                <c:pt idx="4">
                  <c:v>66.754</c:v>
                </c:pt>
                <c:pt idx="5">
                  <c:v>70.19399999999999</c:v>
                </c:pt>
                <c:pt idx="6">
                  <c:v>89.799</c:v>
                </c:pt>
                <c:pt idx="7">
                  <c:v>973.2429999999999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918.8220000000001</c:v>
                </c:pt>
                <c:pt idx="2">
                  <c:v>1135.39</c:v>
                </c:pt>
                <c:pt idx="3">
                  <c:v>1428.3090000000002</c:v>
                </c:pt>
                <c:pt idx="4">
                  <c:v>1760.2310000000002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918.8220000000001</c:v>
                </c:pt>
                <c:pt idx="1">
                  <c:v>216.568</c:v>
                </c:pt>
                <c:pt idx="2">
                  <c:v>292.91900000000004</c:v>
                </c:pt>
                <c:pt idx="3">
                  <c:v>331.92199999999997</c:v>
                </c:pt>
                <c:pt idx="4">
                  <c:v>131.833</c:v>
                </c:pt>
                <c:pt idx="5">
                  <c:v>1892.064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216.568</c:v>
                </c:pt>
                <c:pt idx="2">
                  <c:v>509.4870000000001</c:v>
                </c:pt>
                <c:pt idx="3">
                  <c:v>841.4090000000001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216.568</c:v>
                </c:pt>
                <c:pt idx="1">
                  <c:v>292.91900000000004</c:v>
                </c:pt>
                <c:pt idx="2">
                  <c:v>331.92199999999997</c:v>
                </c:pt>
                <c:pt idx="3">
                  <c:v>131.833</c:v>
                </c:pt>
                <c:pt idx="4">
                  <c:v>973.2420000000001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918.824</c:v>
                </c:pt>
                <c:pt idx="2">
                  <c:v>1731.454</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918.824</c:v>
                </c:pt>
                <c:pt idx="1">
                  <c:v>812.63</c:v>
                </c:pt>
                <c:pt idx="2">
                  <c:v>160.609</c:v>
                </c:pt>
                <c:pt idx="3">
                  <c:v>1892.063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812.63</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812.63</c:v>
                </c:pt>
                <c:pt idx="1">
                  <c:v>160.609</c:v>
                </c:pt>
                <c:pt idx="2">
                  <c:v>973.239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918.8210000000001</c:v>
                </c:pt>
                <c:pt idx="2">
                  <c:v>1135.392</c:v>
                </c:pt>
                <c:pt idx="3">
                  <c:v>1428.308</c:v>
                </c:pt>
                <c:pt idx="4">
                  <c:v>1760.229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918.8210000000001</c:v>
                </c:pt>
                <c:pt idx="1">
                  <c:v>216.571</c:v>
                </c:pt>
                <c:pt idx="2">
                  <c:v>292.91599999999994</c:v>
                </c:pt>
                <c:pt idx="3">
                  <c:v>331.921</c:v>
                </c:pt>
                <c:pt idx="4">
                  <c:v>131.835</c:v>
                </c:pt>
                <c:pt idx="5">
                  <c:v>1892.064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216.571</c:v>
                </c:pt>
                <c:pt idx="2">
                  <c:v>509.48699999999997</c:v>
                </c:pt>
                <c:pt idx="3">
                  <c:v>841.4079999999999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216.571</c:v>
                </c:pt>
                <c:pt idx="1">
                  <c:v>292.91599999999994</c:v>
                </c:pt>
                <c:pt idx="2">
                  <c:v>331.921</c:v>
                </c:pt>
                <c:pt idx="3">
                  <c:v>131.835</c:v>
                </c:pt>
                <c:pt idx="4">
                  <c:v>973.2429999999999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334.63</c:v>
                </c:pt>
                <c:pt idx="1">
                  <c:v>355.226</c:v>
                </c:pt>
                <c:pt idx="2">
                  <c:v>377.31100000000004</c:v>
                </c:pt>
                <c:pt idx="3">
                  <c:v>401.211</c:v>
                </c:pt>
                <c:pt idx="4">
                  <c:v>427.309</c:v>
                </c:pt>
                <c:pt idx="5">
                  <c:v>456.32400000000007</c:v>
                </c:pt>
                <c:pt idx="6">
                  <c:v>488.547</c:v>
                </c:pt>
                <c:pt idx="7">
                  <c:v>524.357</c:v>
                </c:pt>
                <c:pt idx="8">
                  <c:v>564.165</c:v>
                </c:pt>
                <c:pt idx="9">
                  <c:v>608.273</c:v>
                </c:pt>
                <c:pt idx="10">
                  <c:v>656.652</c:v>
                </c:pt>
                <c:pt idx="11">
                  <c:v>709.3230000000001</c:v>
                </c:pt>
                <c:pt idx="12">
                  <c:v>766.0449999999998</c:v>
                </c:pt>
                <c:pt idx="13">
                  <c:v>826.452</c:v>
                </c:pt>
                <c:pt idx="14">
                  <c:v>889.7660000000001</c:v>
                </c:pt>
                <c:pt idx="15">
                  <c:v>955.9540000000001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Saudi Arabia</c:v>
                </c:pt>
              </c:strCache>
            </c:strRef>
          </c:cat>
          <c:val>
            <c:numRef>
              <c:f>Sheet1!$B$2:$B$3</c:f>
              <c:numCache>
                <c:formatCode>General</c:formatCode>
                <c:ptCount val="2"/>
                <c:pt idx="0">
                  <c:v>0.06897414087313414</c:v>
                </c:pt>
                <c:pt idx="1">
                  <c:v>0.07675368913403124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36174803309421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456.32400000000007</c:v>
                </c:pt>
                <c:pt idx="2">
                  <c:v>488.547</c:v>
                </c:pt>
                <c:pt idx="3">
                  <c:v>524.357</c:v>
                </c:pt>
                <c:pt idx="4">
                  <c:v>564.165</c:v>
                </c:pt>
                <c:pt idx="5">
                  <c:v>608.273</c:v>
                </c:pt>
                <c:pt idx="6">
                  <c:v>656.652</c:v>
                </c:pt>
                <c:pt idx="7">
                  <c:v>709.3230000000001</c:v>
                </c:pt>
                <c:pt idx="8">
                  <c:v>766.0449999999998</c:v>
                </c:pt>
                <c:pt idx="9">
                  <c:v>826.452</c:v>
                </c:pt>
                <c:pt idx="10">
                  <c:v>889.7660000000001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456.32400000000007</c:v>
                </c:pt>
                <c:pt idx="1">
                  <c:v>32.222999999999956</c:v>
                </c:pt>
                <c:pt idx="2">
                  <c:v>35.809999999999945</c:v>
                </c:pt>
                <c:pt idx="3">
                  <c:v>39.80799999999999</c:v>
                </c:pt>
                <c:pt idx="4">
                  <c:v>44.10800000000006</c:v>
                </c:pt>
                <c:pt idx="5">
                  <c:v>48.37900000000002</c:v>
                </c:pt>
                <c:pt idx="6">
                  <c:v>52.67100000000005</c:v>
                </c:pt>
                <c:pt idx="7">
                  <c:v>56.72199999999975</c:v>
                </c:pt>
                <c:pt idx="8">
                  <c:v>60.40700000000015</c:v>
                </c:pt>
                <c:pt idx="9">
                  <c:v>63.31400000000008</c:v>
                </c:pt>
                <c:pt idx="10">
                  <c:v>66.18799999999999</c:v>
                </c:pt>
                <c:pt idx="11">
                  <c:v>955.9540000000001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Saudi Arabia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19.196619755282267</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80.80338024471773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948.2360000000001</c:v>
                </c:pt>
                <c:pt idx="1">
                  <c:v>1009.56</c:v>
                </c:pt>
                <c:pt idx="2">
                  <c:v>1076.058</c:v>
                </c:pt>
                <c:pt idx="3">
                  <c:v>1149.333</c:v>
                </c:pt>
                <c:pt idx="4">
                  <c:v>1230.1580000000001</c:v>
                </c:pt>
                <c:pt idx="5">
                  <c:v>1325.455</c:v>
                </c:pt>
                <c:pt idx="6">
                  <c:v>1432.7469999999998</c:v>
                </c:pt>
                <c:pt idx="7">
                  <c:v>1553.622</c:v>
                </c:pt>
                <c:pt idx="8">
                  <c:v>1689.804</c:v>
                </c:pt>
                <c:pt idx="9">
                  <c:v>1843.3630000000003</c:v>
                </c:pt>
                <c:pt idx="10">
                  <c:v>2015.069</c:v>
                </c:pt>
                <c:pt idx="11">
                  <c:v>2205.699</c:v>
                </c:pt>
                <c:pt idx="12">
                  <c:v>2415.491</c:v>
                </c:pt>
                <c:pt idx="13">
                  <c:v>2644.4489999999996</c:v>
                </c:pt>
                <c:pt idx="14">
                  <c:v>2891.506</c:v>
                </c:pt>
                <c:pt idx="15">
                  <c:v>3157.6059999999998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Saudi Arabia</c:v>
                </c:pt>
              </c:strCache>
            </c:strRef>
          </c:cat>
          <c:val>
            <c:numRef>
              <c:f>Sheet1!$B$2:$B$3</c:f>
              <c:numCache>
                <c:formatCode>General</c:formatCode>
                <c:ptCount val="2"/>
                <c:pt idx="0">
                  <c:v>0.08259067318211845</c:v>
                </c:pt>
                <c:pt idx="1">
                  <c:v>0.09068488619834048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224245963677596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1325.455</c:v>
                </c:pt>
                <c:pt idx="2">
                  <c:v>1432.7469999999998</c:v>
                </c:pt>
                <c:pt idx="3">
                  <c:v>1553.622</c:v>
                </c:pt>
                <c:pt idx="4">
                  <c:v>1689.804</c:v>
                </c:pt>
                <c:pt idx="5">
                  <c:v>1843.3630000000003</c:v>
                </c:pt>
                <c:pt idx="6">
                  <c:v>2015.069</c:v>
                </c:pt>
                <c:pt idx="7">
                  <c:v>2205.699</c:v>
                </c:pt>
                <c:pt idx="8">
                  <c:v>2415.491</c:v>
                </c:pt>
                <c:pt idx="9">
                  <c:v>2644.4489999999996</c:v>
                </c:pt>
                <c:pt idx="10">
                  <c:v>2891.506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1325.455</c:v>
                </c:pt>
                <c:pt idx="1">
                  <c:v>107.29199999999992</c:v>
                </c:pt>
                <c:pt idx="2">
                  <c:v>120.87500000000023</c:v>
                </c:pt>
                <c:pt idx="3">
                  <c:v>136.18200000000002</c:v>
                </c:pt>
                <c:pt idx="4">
                  <c:v>153.5590000000002</c:v>
                </c:pt>
                <c:pt idx="5">
                  <c:v>171.70599999999968</c:v>
                </c:pt>
                <c:pt idx="6">
                  <c:v>190.6300000000001</c:v>
                </c:pt>
                <c:pt idx="7">
                  <c:v>209.79199999999992</c:v>
                </c:pt>
                <c:pt idx="8">
                  <c:v>228.95799999999963</c:v>
                </c:pt>
                <c:pt idx="9">
                  <c:v>247.05700000000024</c:v>
                </c:pt>
                <c:pt idx="10">
                  <c:v>266.0999999999999</c:v>
                </c:pt>
                <c:pt idx="11">
                  <c:v>3157.6059999999998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Saudi Arabia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18.646595280584158</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81.35340471941583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92.137</c:v>
                </c:pt>
                <c:pt idx="8">
                  <c:v>149.682</c:v>
                </c:pt>
                <c:pt idx="9">
                  <c:v>337.015</c:v>
                </c:pt>
                <c:pt idx="10">
                  <c:v>746.621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000.47214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Other Specialty Barri…</c:v>
                </c:pt>
                <c:pt idx="3">
                  <c:v>Aluminum Foil-Based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24.416</c:v>
                </c:pt>
                <c:pt idx="1">
                  <c:v>36.517</c:v>
                </c:pt>
                <c:pt idx="2">
                  <c:v>42.126</c:v>
                </c:pt>
                <c:pt idx="3">
                  <c:v>43.45</c:v>
                </c:pt>
                <c:pt idx="4">
                  <c:v>69.119</c:v>
                </c:pt>
                <c:pt idx="5">
                  <c:v>82.582</c:v>
                </c:pt>
                <c:pt idx="6">
                  <c:v>107.292</c:v>
                </c:pt>
                <c:pt idx="7">
                  <c:v>107.446</c:v>
                </c:pt>
                <c:pt idx="8">
                  <c:v>141.334</c:v>
                </c:pt>
                <c:pt idx="9">
                  <c:v>268.697</c:v>
                </c:pt>
                <c:pt idx="10">
                  <c:v>402.478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39.320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89.768</c:v>
                </c:pt>
                <c:pt idx="5">
                  <c:v>92.588</c:v>
                </c:pt>
                <c:pt idx="6">
                  <c:v>106.754</c:v>
                </c:pt>
                <c:pt idx="7">
                  <c:v>108.19800000000001</c:v>
                </c:pt>
                <c:pt idx="8">
                  <c:v>219.17</c:v>
                </c:pt>
                <c:pt idx="9">
                  <c:v>325.407</c:v>
                </c:pt>
                <c:pt idx="10">
                  <c:v>383.573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13.987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180.988</c:v>
                </c:pt>
                <c:pt idx="8">
                  <c:v>292.355</c:v>
                </c:pt>
                <c:pt idx="9">
                  <c:v>416.241</c:v>
                </c:pt>
                <c:pt idx="10">
                  <c:v>435.873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84.069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223.538</c:v>
                </c:pt>
                <c:pt idx="10">
                  <c:v>1101.922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76.57548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180.989</c:v>
                </c:pt>
                <c:pt idx="8">
                  <c:v>292.354</c:v>
                </c:pt>
                <c:pt idx="9">
                  <c:v>416.24</c:v>
                </c:pt>
                <c:pt idx="10">
                  <c:v>435.873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84.069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1325.455</c:v>
                </c:pt>
                <c:pt idx="2">
                  <c:v>2367.817</c:v>
                </c:pt>
                <c:pt idx="3">
                  <c:v>2562.839</c:v>
                </c:pt>
                <c:pt idx="4">
                  <c:v>3022.658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1325.455</c:v>
                </c:pt>
                <c:pt idx="1">
                  <c:v>1042.362</c:v>
                </c:pt>
                <c:pt idx="2">
                  <c:v>195.02200000000002</c:v>
                </c:pt>
                <c:pt idx="3">
                  <c:v>459.81899999999996</c:v>
                </c:pt>
                <c:pt idx="4">
                  <c:v>134.948</c:v>
                </c:pt>
                <c:pt idx="5">
                  <c:v>3157.6059999999998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1042.362</c:v>
                </c:pt>
                <c:pt idx="2">
                  <c:v>1237.384</c:v>
                </c:pt>
                <c:pt idx="3">
                  <c:v>1697.203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1042.362</c:v>
                </c:pt>
                <c:pt idx="1">
                  <c:v>195.02200000000002</c:v>
                </c:pt>
                <c:pt idx="2">
                  <c:v>459.81899999999996</c:v>
                </c:pt>
                <c:pt idx="3">
                  <c:v>134.948</c:v>
                </c:pt>
                <c:pt idx="4">
                  <c:v>1832.151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1325.457</c:v>
                </c:pt>
                <c:pt idx="2">
                  <c:v>1889.0510000000002</c:v>
                </c:pt>
                <c:pt idx="3">
                  <c:v>2252.034</c:v>
                </c:pt>
                <c:pt idx="4">
                  <c:v>2445.571</c:v>
                </c:pt>
                <c:pt idx="5">
                  <c:v>2590.13</c:v>
                </c:pt>
                <c:pt idx="6">
                  <c:v>2749.974</c:v>
                </c:pt>
                <c:pt idx="7">
                  <c:v>2837.3720000000003</c:v>
                </c:pt>
                <c:pt idx="8">
                  <c:v>2872.521</c:v>
                </c:pt>
                <c:pt idx="9">
                  <c:v>2987.058</c:v>
                </c:pt>
                <c:pt idx="10">
                  <c:v>3039.54</c:v>
                </c:pt>
                <c:pt idx="11">
                  <c:v>3094.0099999999998</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1325.457</c:v>
                </c:pt>
                <c:pt idx="1">
                  <c:v>563.594</c:v>
                </c:pt>
                <c:pt idx="2">
                  <c:v>362.98299999999995</c:v>
                </c:pt>
                <c:pt idx="3">
                  <c:v>193.53699999999998</c:v>
                </c:pt>
                <c:pt idx="4">
                  <c:v>144.559</c:v>
                </c:pt>
                <c:pt idx="5">
                  <c:v>159.84400000000002</c:v>
                </c:pt>
                <c:pt idx="6">
                  <c:v>87.398</c:v>
                </c:pt>
                <c:pt idx="7">
                  <c:v>35.149</c:v>
                </c:pt>
                <c:pt idx="8">
                  <c:v>114.537</c:v>
                </c:pt>
                <c:pt idx="9">
                  <c:v>52.48199999999999</c:v>
                </c:pt>
                <c:pt idx="10">
                  <c:v>54.47</c:v>
                </c:pt>
                <c:pt idx="11">
                  <c:v>63.596</c:v>
                </c:pt>
                <c:pt idx="12">
                  <c:v>3157.606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563.594</c:v>
                </c:pt>
                <c:pt idx="2">
                  <c:v>926.577</c:v>
                </c:pt>
                <c:pt idx="3">
                  <c:v>1120.114</c:v>
                </c:pt>
                <c:pt idx="4">
                  <c:v>1264.673</c:v>
                </c:pt>
                <c:pt idx="5">
                  <c:v>1424.517</c:v>
                </c:pt>
                <c:pt idx="6">
                  <c:v>1511.915</c:v>
                </c:pt>
                <c:pt idx="7">
                  <c:v>1547.0639999999999</c:v>
                </c:pt>
                <c:pt idx="8">
                  <c:v>1661.6009999999999</c:v>
                </c:pt>
                <c:pt idx="9">
                  <c:v>1714.0829999999999</c:v>
                </c:pt>
                <c:pt idx="10">
                  <c:v>1768.5529999999999</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563.594</c:v>
                </c:pt>
                <c:pt idx="1">
                  <c:v>362.98299999999995</c:v>
                </c:pt>
                <c:pt idx="2">
                  <c:v>193.53699999999998</c:v>
                </c:pt>
                <c:pt idx="3">
                  <c:v>144.559</c:v>
                </c:pt>
                <c:pt idx="4">
                  <c:v>159.84400000000002</c:v>
                </c:pt>
                <c:pt idx="5">
                  <c:v>87.398</c:v>
                </c:pt>
                <c:pt idx="6">
                  <c:v>35.149</c:v>
                </c:pt>
                <c:pt idx="7">
                  <c:v>114.537</c:v>
                </c:pt>
                <c:pt idx="8">
                  <c:v>52.48199999999999</c:v>
                </c:pt>
                <c:pt idx="9">
                  <c:v>54.47</c:v>
                </c:pt>
                <c:pt idx="10">
                  <c:v>63.596</c:v>
                </c:pt>
                <c:pt idx="11">
                  <c:v>1832.1490000000001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1325.4579999999999</c:v>
                </c:pt>
                <c:pt idx="2">
                  <c:v>1636.8039999999999</c:v>
                </c:pt>
                <c:pt idx="3">
                  <c:v>2157.152</c:v>
                </c:pt>
                <c:pt idx="4">
                  <c:v>2597.821</c:v>
                </c:pt>
                <c:pt idx="5">
                  <c:v>2726.969</c:v>
                </c:pt>
                <c:pt idx="6">
                  <c:v>2844.636</c:v>
                </c:pt>
                <c:pt idx="7">
                  <c:v>2993.31</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1325.4579999999999</c:v>
                </c:pt>
                <c:pt idx="1">
                  <c:v>311.346</c:v>
                </c:pt>
                <c:pt idx="2">
                  <c:v>520.3480000000001</c:v>
                </c:pt>
                <c:pt idx="3">
                  <c:v>440.66900000000004</c:v>
                </c:pt>
                <c:pt idx="4">
                  <c:v>129.148</c:v>
                </c:pt>
                <c:pt idx="5">
                  <c:v>117.667</c:v>
                </c:pt>
                <c:pt idx="6">
                  <c:v>148.67399999999998</c:v>
                </c:pt>
                <c:pt idx="7">
                  <c:v>164.294</c:v>
                </c:pt>
                <c:pt idx="8">
                  <c:v>3157.6040000000003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311.346</c:v>
                </c:pt>
                <c:pt idx="2">
                  <c:v>831.6940000000001</c:v>
                </c:pt>
                <c:pt idx="3">
                  <c:v>1272.363</c:v>
                </c:pt>
                <c:pt idx="4">
                  <c:v>1401.511</c:v>
                </c:pt>
                <c:pt idx="5">
                  <c:v>1519.1779999999999</c:v>
                </c:pt>
                <c:pt idx="6">
                  <c:v>1667.8519999999999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311.346</c:v>
                </c:pt>
                <c:pt idx="1">
                  <c:v>520.3480000000001</c:v>
                </c:pt>
                <c:pt idx="2">
                  <c:v>440.66900000000004</c:v>
                </c:pt>
                <c:pt idx="3">
                  <c:v>129.148</c:v>
                </c:pt>
                <c:pt idx="4">
                  <c:v>117.667</c:v>
                </c:pt>
                <c:pt idx="5">
                  <c:v>148.67399999999998</c:v>
                </c:pt>
                <c:pt idx="6">
                  <c:v>164.294</c:v>
                </c:pt>
                <c:pt idx="7">
                  <c:v>1832.146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1325.457</c:v>
                </c:pt>
                <c:pt idx="2">
                  <c:v>1720.8290000000002</c:v>
                </c:pt>
                <c:pt idx="3">
                  <c:v>2260.1000000000004</c:v>
                </c:pt>
                <c:pt idx="4">
                  <c:v>2901.6360000000004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1325.457</c:v>
                </c:pt>
                <c:pt idx="1">
                  <c:v>395.37199999999996</c:v>
                </c:pt>
                <c:pt idx="2">
                  <c:v>539.271</c:v>
                </c:pt>
                <c:pt idx="3">
                  <c:v>641.5360000000001</c:v>
                </c:pt>
                <c:pt idx="4">
                  <c:v>255.96800000000002</c:v>
                </c:pt>
                <c:pt idx="5">
                  <c:v>3157.6040000000003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395.37199999999996</c:v>
                </c:pt>
                <c:pt idx="2">
                  <c:v>934.6429999999999</c:v>
                </c:pt>
                <c:pt idx="3">
                  <c:v>1576.179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395.37199999999996</c:v>
                </c:pt>
                <c:pt idx="1">
                  <c:v>539.271</c:v>
                </c:pt>
                <c:pt idx="2">
                  <c:v>641.5360000000001</c:v>
                </c:pt>
                <c:pt idx="3">
                  <c:v>255.96800000000002</c:v>
                </c:pt>
                <c:pt idx="4">
                  <c:v>1832.1470000000002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1325.46</c:v>
                </c:pt>
                <c:pt idx="2">
                  <c:v>2853.192</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1325.46</c:v>
                </c:pt>
                <c:pt idx="1">
                  <c:v>1527.732</c:v>
                </c:pt>
                <c:pt idx="2">
                  <c:v>304.413</c:v>
                </c:pt>
                <c:pt idx="3">
                  <c:v>3157.605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1527.732</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1527.732</c:v>
                </c:pt>
                <c:pt idx="1">
                  <c:v>304.413</c:v>
                </c:pt>
                <c:pt idx="2">
                  <c:v>1832.145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1325.4560000000001</c:v>
                </c:pt>
                <c:pt idx="2">
                  <c:v>1720.8280000000002</c:v>
                </c:pt>
                <c:pt idx="3">
                  <c:v>2260.099</c:v>
                </c:pt>
                <c:pt idx="4">
                  <c:v>2901.634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1325.4560000000001</c:v>
                </c:pt>
                <c:pt idx="1">
                  <c:v>395.372</c:v>
                </c:pt>
                <c:pt idx="2">
                  <c:v>539.271</c:v>
                </c:pt>
                <c:pt idx="3">
                  <c:v>641.5350000000001</c:v>
                </c:pt>
                <c:pt idx="4">
                  <c:v>255.968</c:v>
                </c:pt>
                <c:pt idx="5">
                  <c:v>3157.6020000000003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395.372</c:v>
                </c:pt>
                <c:pt idx="2">
                  <c:v>934.643</c:v>
                </c:pt>
                <c:pt idx="3">
                  <c:v>1576.178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395.372</c:v>
                </c:pt>
                <c:pt idx="1">
                  <c:v>539.271</c:v>
                </c:pt>
                <c:pt idx="2">
                  <c:v>641.5350000000001</c:v>
                </c:pt>
                <c:pt idx="3">
                  <c:v>255.968</c:v>
                </c:pt>
                <c:pt idx="4">
                  <c:v>1832.1460000000002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480.17900000000003</c:v>
                </c:pt>
                <c:pt idx="1">
                  <c:v>506.17199999999997</c:v>
                </c:pt>
                <c:pt idx="2">
                  <c:v>534.179</c:v>
                </c:pt>
                <c:pt idx="3">
                  <c:v>564.555</c:v>
                </c:pt>
                <c:pt idx="4">
                  <c:v>597.6260000000001</c:v>
                </c:pt>
                <c:pt idx="5">
                  <c:v>634.108</c:v>
                </c:pt>
                <c:pt idx="6">
                  <c:v>674.221</c:v>
                </c:pt>
                <c:pt idx="7">
                  <c:v>718.362</c:v>
                </c:pt>
                <c:pt idx="8">
                  <c:v>766.9159999999999</c:v>
                </c:pt>
                <c:pt idx="9">
                  <c:v>820.256</c:v>
                </c:pt>
                <c:pt idx="10">
                  <c:v>878.2170000000001</c:v>
                </c:pt>
                <c:pt idx="11">
                  <c:v>940.299</c:v>
                </c:pt>
                <c:pt idx="12">
                  <c:v>1005.767</c:v>
                </c:pt>
                <c:pt idx="13">
                  <c:v>1074.445</c:v>
                </c:pt>
                <c:pt idx="14">
                  <c:v>1145.6029999999998</c:v>
                </c:pt>
                <c:pt idx="15">
                  <c:v>1218.943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Turkey</c:v>
                </c:pt>
              </c:strCache>
            </c:strRef>
          </c:cat>
          <c:val>
            <c:numRef>
              <c:f>Sheet1!$B$2:$B$3</c:f>
              <c:numCache>
                <c:formatCode>General</c:formatCode>
                <c:ptCount val="2"/>
                <c:pt idx="0">
                  <c:v>0.06897414087313414</c:v>
                </c:pt>
                <c:pt idx="1">
                  <c:v>0.06753473921530961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115090178731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634.108</c:v>
                </c:pt>
                <c:pt idx="2">
                  <c:v>674.221</c:v>
                </c:pt>
                <c:pt idx="3">
                  <c:v>718.362</c:v>
                </c:pt>
                <c:pt idx="4">
                  <c:v>766.9159999999999</c:v>
                </c:pt>
                <c:pt idx="5">
                  <c:v>820.256</c:v>
                </c:pt>
                <c:pt idx="6">
                  <c:v>878.2170000000001</c:v>
                </c:pt>
                <c:pt idx="7">
                  <c:v>940.299</c:v>
                </c:pt>
                <c:pt idx="8">
                  <c:v>1005.767</c:v>
                </c:pt>
                <c:pt idx="9">
                  <c:v>1074.445</c:v>
                </c:pt>
                <c:pt idx="10">
                  <c:v>1145.6029999999998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634.108</c:v>
                </c:pt>
                <c:pt idx="1">
                  <c:v>40.113000000000056</c:v>
                </c:pt>
                <c:pt idx="2">
                  <c:v>44.14099999999996</c:v>
                </c:pt>
                <c:pt idx="3">
                  <c:v>48.553999999999974</c:v>
                </c:pt>
                <c:pt idx="4">
                  <c:v>53.34000000000003</c:v>
                </c:pt>
                <c:pt idx="5">
                  <c:v>57.961000000000126</c:v>
                </c:pt>
                <c:pt idx="6">
                  <c:v>62.08199999999988</c:v>
                </c:pt>
                <c:pt idx="7">
                  <c:v>65.46800000000007</c:v>
                </c:pt>
                <c:pt idx="8">
                  <c:v>68.67799999999988</c:v>
                </c:pt>
                <c:pt idx="9">
                  <c:v>71.1579999999999</c:v>
                </c:pt>
                <c:pt idx="10">
                  <c:v>73.34000000000015</c:v>
                </c:pt>
                <c:pt idx="11">
                  <c:v>1218.943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Turkey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26.67562994666624</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73.32437005333375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1290.9039999999998</c:v>
                </c:pt>
                <c:pt idx="1">
                  <c:v>1364.47</c:v>
                </c:pt>
                <c:pt idx="2">
                  <c:v>1444.364</c:v>
                </c:pt>
                <c:pt idx="3">
                  <c:v>1532.407</c:v>
                </c:pt>
                <c:pt idx="4">
                  <c:v>1629.129</c:v>
                </c:pt>
                <c:pt idx="5">
                  <c:v>1743.018</c:v>
                </c:pt>
                <c:pt idx="6">
                  <c:v>1870.5910000000001</c:v>
                </c:pt>
                <c:pt idx="7">
                  <c:v>2013.4509999999998</c:v>
                </c:pt>
                <c:pt idx="8">
                  <c:v>2173.026</c:v>
                </c:pt>
                <c:pt idx="9">
                  <c:v>2351.243</c:v>
                </c:pt>
                <c:pt idx="10">
                  <c:v>2548.4829999999997</c:v>
                </c:pt>
                <c:pt idx="11">
                  <c:v>2764.4880000000003</c:v>
                </c:pt>
                <c:pt idx="12">
                  <c:v>2998.238</c:v>
                </c:pt>
                <c:pt idx="13">
                  <c:v>3250.1440000000002</c:v>
                </c:pt>
                <c:pt idx="14">
                  <c:v>3519.6619999999994</c:v>
                </c:pt>
                <c:pt idx="15">
                  <c:v>3806.708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Turkey</c:v>
                </c:pt>
              </c:strCache>
            </c:strRef>
          </c:cat>
          <c:val>
            <c:numRef>
              <c:f>Sheet1!$B$2:$B$3</c:f>
              <c:numCache>
                <c:formatCode>General</c:formatCode>
                <c:ptCount val="2"/>
                <c:pt idx="0">
                  <c:v>0.08259067318211845</c:v>
                </c:pt>
                <c:pt idx="1">
                  <c:v>0.08124663596594983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14974087958599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1743.018</c:v>
                </c:pt>
                <c:pt idx="2">
                  <c:v>1870.5910000000001</c:v>
                </c:pt>
                <c:pt idx="3">
                  <c:v>2013.4509999999998</c:v>
                </c:pt>
                <c:pt idx="4">
                  <c:v>2173.026</c:v>
                </c:pt>
                <c:pt idx="5">
                  <c:v>2351.243</c:v>
                </c:pt>
                <c:pt idx="6">
                  <c:v>2548.4829999999997</c:v>
                </c:pt>
                <c:pt idx="7">
                  <c:v>2764.4880000000003</c:v>
                </c:pt>
                <c:pt idx="8">
                  <c:v>2998.238</c:v>
                </c:pt>
                <c:pt idx="9">
                  <c:v>3250.1440000000002</c:v>
                </c:pt>
                <c:pt idx="10">
                  <c:v>3519.6619999999994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1743.018</c:v>
                </c:pt>
                <c:pt idx="1">
                  <c:v>127.57300000000009</c:v>
                </c:pt>
                <c:pt idx="2">
                  <c:v>142.85999999999967</c:v>
                </c:pt>
                <c:pt idx="3">
                  <c:v>159.57500000000005</c:v>
                </c:pt>
                <c:pt idx="4">
                  <c:v>178.2170000000001</c:v>
                </c:pt>
                <c:pt idx="5">
                  <c:v>197.23999999999978</c:v>
                </c:pt>
                <c:pt idx="6">
                  <c:v>216.00500000000056</c:v>
                </c:pt>
                <c:pt idx="7">
                  <c:v>233.74999999999955</c:v>
                </c:pt>
                <c:pt idx="8">
                  <c:v>251.9060000000004</c:v>
                </c:pt>
                <c:pt idx="9">
                  <c:v>269.5179999999991</c:v>
                </c:pt>
                <c:pt idx="10">
                  <c:v>287.04600000000073</c:v>
                </c:pt>
                <c:pt idx="11">
                  <c:v>3806.708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Turkey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24.52090128504796</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75.47909871495204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124.239</c:v>
                </c:pt>
                <c:pt idx="8">
                  <c:v>195.788</c:v>
                </c:pt>
                <c:pt idx="9">
                  <c:v>517.281</c:v>
                </c:pt>
                <c:pt idx="10">
                  <c:v>905.71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13.6514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Aluminum Foil-Based</c:v>
                </c:pt>
                <c:pt idx="3">
                  <c:v>AlOx / SiOx-Coated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37.282</c:v>
                </c:pt>
                <c:pt idx="1">
                  <c:v>51.254</c:v>
                </c:pt>
                <c:pt idx="2">
                  <c:v>54.8</c:v>
                </c:pt>
                <c:pt idx="3">
                  <c:v>55.36</c:v>
                </c:pt>
                <c:pt idx="4">
                  <c:v>90.118</c:v>
                </c:pt>
                <c:pt idx="5">
                  <c:v>105.775</c:v>
                </c:pt>
                <c:pt idx="6">
                  <c:v>138.552</c:v>
                </c:pt>
                <c:pt idx="7">
                  <c:v>143.134</c:v>
                </c:pt>
                <c:pt idx="8">
                  <c:v>181.743</c:v>
                </c:pt>
                <c:pt idx="9">
                  <c:v>346.667</c:v>
                </c:pt>
                <c:pt idx="10">
                  <c:v>538.333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21.366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Foil-Laminated Struct…</c:v>
                </c:pt>
                <c:pt idx="6">
                  <c:v>Metallized Films</c:v>
                </c:pt>
                <c:pt idx="7">
                  <c:v>Mono-Material Recycla…</c:v>
                </c:pt>
                <c:pt idx="8">
                  <c:v>Monolayer Films</c:v>
                </c:pt>
                <c:pt idx="9">
                  <c:v>Laminated Films</c:v>
                </c:pt>
                <c:pt idx="10">
                  <c:v>Coextruded Multilayer…</c:v>
                </c:pt>
              </c:strCache>
            </c:strRef>
          </c:cat>
          <c:val>
            <c:numRef>
              <c:f>Sheet1!$B$2:$B$12</c:f>
              <c:numCache>
                <c:formatCode>General</c:formatCode>
                <c:ptCount val="11"/>
                <c:pt idx="4">
                  <c:v>117.612</c:v>
                </c:pt>
                <c:pt idx="5">
                  <c:v>136.842</c:v>
                </c:pt>
                <c:pt idx="6">
                  <c:v>137.329</c:v>
                </c:pt>
                <c:pt idx="7">
                  <c:v>141.125</c:v>
                </c:pt>
                <c:pt idx="8">
                  <c:v>286.986</c:v>
                </c:pt>
                <c:pt idx="9">
                  <c:v>419.638</c:v>
                </c:pt>
                <c:pt idx="10">
                  <c:v>503.488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74.67392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232.257</c:v>
                </c:pt>
                <c:pt idx="8">
                  <c:v>382.942</c:v>
                </c:pt>
                <c:pt idx="9">
                  <c:v>546.241</c:v>
                </c:pt>
                <c:pt idx="10">
                  <c:v>581.577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79.3131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283.098</c:v>
                </c:pt>
                <c:pt idx="10">
                  <c:v>1459.9180000000001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956.290120000000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232.258</c:v>
                </c:pt>
                <c:pt idx="8">
                  <c:v>382.943</c:v>
                </c:pt>
                <c:pt idx="9">
                  <c:v>546.241</c:v>
                </c:pt>
                <c:pt idx="10">
                  <c:v>581.577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79.3131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1743.018</c:v>
                </c:pt>
                <c:pt idx="2">
                  <c:v>2818.843</c:v>
                </c:pt>
                <c:pt idx="3">
                  <c:v>3032.7349999999997</c:v>
                </c:pt>
                <c:pt idx="4">
                  <c:v>3657.1479999999997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1743.018</c:v>
                </c:pt>
                <c:pt idx="1">
                  <c:v>1075.825</c:v>
                </c:pt>
                <c:pt idx="2">
                  <c:v>213.892</c:v>
                </c:pt>
                <c:pt idx="3">
                  <c:v>624.413</c:v>
                </c:pt>
                <c:pt idx="4">
                  <c:v>149.55999999999997</c:v>
                </c:pt>
                <c:pt idx="5">
                  <c:v>3806.708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1075.825</c:v>
                </c:pt>
                <c:pt idx="2">
                  <c:v>1289.717</c:v>
                </c:pt>
                <c:pt idx="3">
                  <c:v>1914.13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1075.825</c:v>
                </c:pt>
                <c:pt idx="1">
                  <c:v>213.892</c:v>
                </c:pt>
                <c:pt idx="2">
                  <c:v>624.413</c:v>
                </c:pt>
                <c:pt idx="3">
                  <c:v>149.55999999999997</c:v>
                </c:pt>
                <c:pt idx="4">
                  <c:v>2063.69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1743.0179999999998</c:v>
                </c:pt>
                <c:pt idx="2">
                  <c:v>2399.036</c:v>
                </c:pt>
                <c:pt idx="3">
                  <c:v>2797.788</c:v>
                </c:pt>
                <c:pt idx="4">
                  <c:v>3013.204</c:v>
                </c:pt>
                <c:pt idx="5">
                  <c:v>3171.639</c:v>
                </c:pt>
                <c:pt idx="6">
                  <c:v>3345.3230000000003</c:v>
                </c:pt>
                <c:pt idx="7">
                  <c:v>3440.097</c:v>
                </c:pt>
                <c:pt idx="8">
                  <c:v>3485.6270000000004</c:v>
                </c:pt>
                <c:pt idx="9">
                  <c:v>3612.6470000000004</c:v>
                </c:pt>
                <c:pt idx="10">
                  <c:v>3681.1810000000005</c:v>
                </c:pt>
                <c:pt idx="11">
                  <c:v>3742.2150000000006</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1743.0179999999998</c:v>
                </c:pt>
                <c:pt idx="1">
                  <c:v>656.0180000000001</c:v>
                </c:pt>
                <c:pt idx="2">
                  <c:v>398.752</c:v>
                </c:pt>
                <c:pt idx="3">
                  <c:v>215.416</c:v>
                </c:pt>
                <c:pt idx="4">
                  <c:v>158.43500000000003</c:v>
                </c:pt>
                <c:pt idx="5">
                  <c:v>173.684</c:v>
                </c:pt>
                <c:pt idx="6">
                  <c:v>94.774</c:v>
                </c:pt>
                <c:pt idx="7">
                  <c:v>45.53</c:v>
                </c:pt>
                <c:pt idx="8">
                  <c:v>127.01999999999998</c:v>
                </c:pt>
                <c:pt idx="9">
                  <c:v>68.534</c:v>
                </c:pt>
                <c:pt idx="10">
                  <c:v>61.034000000000006</c:v>
                </c:pt>
                <c:pt idx="11">
                  <c:v>64.495</c:v>
                </c:pt>
                <c:pt idx="12">
                  <c:v>3806.71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656.0180000000001</c:v>
                </c:pt>
                <c:pt idx="2">
                  <c:v>1054.7700000000002</c:v>
                </c:pt>
                <c:pt idx="3">
                  <c:v>1270.1860000000001</c:v>
                </c:pt>
                <c:pt idx="4">
                  <c:v>1428.621</c:v>
                </c:pt>
                <c:pt idx="5">
                  <c:v>1602.305</c:v>
                </c:pt>
                <c:pt idx="6">
                  <c:v>1697.0790000000002</c:v>
                </c:pt>
                <c:pt idx="7">
                  <c:v>1742.6090000000002</c:v>
                </c:pt>
                <c:pt idx="8">
                  <c:v>1869.6290000000001</c:v>
                </c:pt>
                <c:pt idx="9">
                  <c:v>1938.1630000000002</c:v>
                </c:pt>
                <c:pt idx="10">
                  <c:v>1999.1970000000003</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656.0180000000001</c:v>
                </c:pt>
                <c:pt idx="1">
                  <c:v>398.752</c:v>
                </c:pt>
                <c:pt idx="2">
                  <c:v>215.416</c:v>
                </c:pt>
                <c:pt idx="3">
                  <c:v>158.43500000000003</c:v>
                </c:pt>
                <c:pt idx="4">
                  <c:v>173.684</c:v>
                </c:pt>
                <c:pt idx="5">
                  <c:v>94.774</c:v>
                </c:pt>
                <c:pt idx="6">
                  <c:v>45.53</c:v>
                </c:pt>
                <c:pt idx="7">
                  <c:v>127.01999999999998</c:v>
                </c:pt>
                <c:pt idx="8">
                  <c:v>68.534</c:v>
                </c:pt>
                <c:pt idx="9">
                  <c:v>61.034000000000006</c:v>
                </c:pt>
                <c:pt idx="10">
                  <c:v>64.495</c:v>
                </c:pt>
                <c:pt idx="11">
                  <c:v>2063.692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1743.02</c:v>
                </c:pt>
                <c:pt idx="2">
                  <c:v>2093.193</c:v>
                </c:pt>
                <c:pt idx="3">
                  <c:v>2672.592</c:v>
                </c:pt>
                <c:pt idx="4">
                  <c:v>3171.5190000000002</c:v>
                </c:pt>
                <c:pt idx="5">
                  <c:v>3309.88</c:v>
                </c:pt>
                <c:pt idx="6">
                  <c:v>3460.71</c:v>
                </c:pt>
                <c:pt idx="7">
                  <c:v>3622.745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1743.02</c:v>
                </c:pt>
                <c:pt idx="1">
                  <c:v>350.173</c:v>
                </c:pt>
                <c:pt idx="2">
                  <c:v>579.3989999999999</c:v>
                </c:pt>
                <c:pt idx="3">
                  <c:v>498.92699999999996</c:v>
                </c:pt>
                <c:pt idx="4">
                  <c:v>138.36100000000002</c:v>
                </c:pt>
                <c:pt idx="5">
                  <c:v>150.82999999999998</c:v>
                </c:pt>
                <c:pt idx="6">
                  <c:v>162.035</c:v>
                </c:pt>
                <c:pt idx="7">
                  <c:v>183.966</c:v>
                </c:pt>
                <c:pt idx="8">
                  <c:v>3806.711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350.173</c:v>
                </c:pt>
                <c:pt idx="2">
                  <c:v>929.5719999999999</c:v>
                </c:pt>
                <c:pt idx="3">
                  <c:v>1428.4989999999998</c:v>
                </c:pt>
                <c:pt idx="4">
                  <c:v>1566.86</c:v>
                </c:pt>
                <c:pt idx="5">
                  <c:v>1717.6899999999998</c:v>
                </c:pt>
                <c:pt idx="6">
                  <c:v>1879.725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350.173</c:v>
                </c:pt>
                <c:pt idx="1">
                  <c:v>579.3989999999999</c:v>
                </c:pt>
                <c:pt idx="2">
                  <c:v>498.92699999999996</c:v>
                </c:pt>
                <c:pt idx="3">
                  <c:v>138.36100000000002</c:v>
                </c:pt>
                <c:pt idx="4">
                  <c:v>150.82999999999998</c:v>
                </c:pt>
                <c:pt idx="5">
                  <c:v>162.035</c:v>
                </c:pt>
                <c:pt idx="6">
                  <c:v>183.966</c:v>
                </c:pt>
                <c:pt idx="7">
                  <c:v>2063.691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1743.017</c:v>
                </c:pt>
                <c:pt idx="2">
                  <c:v>2182.681</c:v>
                </c:pt>
                <c:pt idx="3">
                  <c:v>2773.632</c:v>
                </c:pt>
                <c:pt idx="4">
                  <c:v>3537.411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1743.017</c:v>
                </c:pt>
                <c:pt idx="1">
                  <c:v>439.664</c:v>
                </c:pt>
                <c:pt idx="2">
                  <c:v>590.951</c:v>
                </c:pt>
                <c:pt idx="3">
                  <c:v>763.779</c:v>
                </c:pt>
                <c:pt idx="4">
                  <c:v>269.3</c:v>
                </c:pt>
                <c:pt idx="5">
                  <c:v>3806.7110000000002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439.664</c:v>
                </c:pt>
                <c:pt idx="2">
                  <c:v>1030.615</c:v>
                </c:pt>
                <c:pt idx="3">
                  <c:v>1794.394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439.664</c:v>
                </c:pt>
                <c:pt idx="1">
                  <c:v>590.951</c:v>
                </c:pt>
                <c:pt idx="2">
                  <c:v>763.779</c:v>
                </c:pt>
                <c:pt idx="3">
                  <c:v>269.3</c:v>
                </c:pt>
                <c:pt idx="4">
                  <c:v>2063.694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1743.016</c:v>
                </c:pt>
                <c:pt idx="2">
                  <c:v>3475.4269999999997</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1743.016</c:v>
                </c:pt>
                <c:pt idx="1">
                  <c:v>1732.4109999999996</c:v>
                </c:pt>
                <c:pt idx="2">
                  <c:v>331.282</c:v>
                </c:pt>
                <c:pt idx="3">
                  <c:v>3806.709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1732.4109999999996</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1732.4109999999996</c:v>
                </c:pt>
                <c:pt idx="1">
                  <c:v>331.282</c:v>
                </c:pt>
                <c:pt idx="2">
                  <c:v>2063.6929999999998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1743.019</c:v>
                </c:pt>
                <c:pt idx="2">
                  <c:v>2182.683</c:v>
                </c:pt>
                <c:pt idx="3">
                  <c:v>2773.632</c:v>
                </c:pt>
                <c:pt idx="4">
                  <c:v>3537.41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1743.019</c:v>
                </c:pt>
                <c:pt idx="1">
                  <c:v>439.664</c:v>
                </c:pt>
                <c:pt idx="2">
                  <c:v>590.9490000000001</c:v>
                </c:pt>
                <c:pt idx="3">
                  <c:v>763.778</c:v>
                </c:pt>
                <c:pt idx="4">
                  <c:v>269.298</c:v>
                </c:pt>
                <c:pt idx="5">
                  <c:v>3806.708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439.664</c:v>
                </c:pt>
                <c:pt idx="2">
                  <c:v>1030.613</c:v>
                </c:pt>
                <c:pt idx="3">
                  <c:v>1794.391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439.664</c:v>
                </c:pt>
                <c:pt idx="1">
                  <c:v>590.9490000000001</c:v>
                </c:pt>
                <c:pt idx="2">
                  <c:v>763.778</c:v>
                </c:pt>
                <c:pt idx="3">
                  <c:v>269.298</c:v>
                </c:pt>
                <c:pt idx="4">
                  <c:v>2063.6890000000003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132.259</c:v>
                </c:pt>
                <c:pt idx="1">
                  <c:v>138.02300000000002</c:v>
                </c:pt>
                <c:pt idx="2">
                  <c:v>144.15400000000002</c:v>
                </c:pt>
                <c:pt idx="3">
                  <c:v>150.701</c:v>
                </c:pt>
                <c:pt idx="4">
                  <c:v>157.70499999999998</c:v>
                </c:pt>
                <c:pt idx="5">
                  <c:v>165.25099999999998</c:v>
                </c:pt>
                <c:pt idx="6">
                  <c:v>173.352</c:v>
                </c:pt>
                <c:pt idx="7">
                  <c:v>182.065</c:v>
                </c:pt>
                <c:pt idx="8">
                  <c:v>191.46400000000003</c:v>
                </c:pt>
                <c:pt idx="9">
                  <c:v>201.59</c:v>
                </c:pt>
                <c:pt idx="10">
                  <c:v>212.35699999999997</c:v>
                </c:pt>
                <c:pt idx="11">
                  <c:v>223.675</c:v>
                </c:pt>
                <c:pt idx="12">
                  <c:v>235.38899999999998</c:v>
                </c:pt>
                <c:pt idx="13">
                  <c:v>247.455</c:v>
                </c:pt>
                <c:pt idx="14">
                  <c:v>259.759</c:v>
                </c:pt>
                <c:pt idx="15">
                  <c:v>272.269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Israel</c:v>
                </c:pt>
              </c:strCache>
            </c:strRef>
          </c:cat>
          <c:val>
            <c:numRef>
              <c:f>Sheet1!$B$2:$B$3</c:f>
              <c:numCache>
                <c:formatCode>General</c:formatCode>
                <c:ptCount val="2"/>
                <c:pt idx="0">
                  <c:v>0.06897414087313414</c:v>
                </c:pt>
                <c:pt idx="1">
                  <c:v>0.051200139866606875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115090178731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165.25099999999998</c:v>
                </c:pt>
                <c:pt idx="2">
                  <c:v>173.352</c:v>
                </c:pt>
                <c:pt idx="3">
                  <c:v>182.065</c:v>
                </c:pt>
                <c:pt idx="4">
                  <c:v>191.46400000000003</c:v>
                </c:pt>
                <c:pt idx="5">
                  <c:v>201.59</c:v>
                </c:pt>
                <c:pt idx="6">
                  <c:v>212.35699999999997</c:v>
                </c:pt>
                <c:pt idx="7">
                  <c:v>223.675</c:v>
                </c:pt>
                <c:pt idx="8">
                  <c:v>235.38899999999998</c:v>
                </c:pt>
                <c:pt idx="9">
                  <c:v>247.455</c:v>
                </c:pt>
                <c:pt idx="10">
                  <c:v>259.759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165.25099999999998</c:v>
                </c:pt>
                <c:pt idx="1">
                  <c:v>8.101000000000028</c:v>
                </c:pt>
                <c:pt idx="2">
                  <c:v>8.712999999999994</c:v>
                </c:pt>
                <c:pt idx="3">
                  <c:v>9.39900000000003</c:v>
                </c:pt>
                <c:pt idx="4">
                  <c:v>10.125999999999976</c:v>
                </c:pt>
                <c:pt idx="5">
                  <c:v>10.766999999999967</c:v>
                </c:pt>
                <c:pt idx="6">
                  <c:v>11.31800000000004</c:v>
                </c:pt>
                <c:pt idx="7">
                  <c:v>11.71399999999997</c:v>
                </c:pt>
                <c:pt idx="8">
                  <c:v>12.066000000000031</c:v>
                </c:pt>
                <c:pt idx="9">
                  <c:v>12.304000000000002</c:v>
                </c:pt>
                <c:pt idx="10">
                  <c:v>12.509999999999991</c:v>
                </c:pt>
                <c:pt idx="11">
                  <c:v>272.269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Israel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6.951772449356486</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93.04822755064352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439.508</c:v>
                </c:pt>
                <c:pt idx="1">
                  <c:v>460.037</c:v>
                </c:pt>
                <c:pt idx="2">
                  <c:v>482.11299999999994</c:v>
                </c:pt>
                <c:pt idx="3">
                  <c:v>506.099</c:v>
                </c:pt>
                <c:pt idx="4">
                  <c:v>531.96</c:v>
                </c:pt>
                <c:pt idx="5">
                  <c:v>561.7249999999999</c:v>
                </c:pt>
                <c:pt idx="6">
                  <c:v>594.173</c:v>
                </c:pt>
                <c:pt idx="7">
                  <c:v>629.63</c:v>
                </c:pt>
                <c:pt idx="8">
                  <c:v>668.441</c:v>
                </c:pt>
                <c:pt idx="9">
                  <c:v>711.0350000000001</c:v>
                </c:pt>
                <c:pt idx="10">
                  <c:v>757.335</c:v>
                </c:pt>
                <c:pt idx="11">
                  <c:v>807.2479999999999</c:v>
                </c:pt>
                <c:pt idx="12">
                  <c:v>860.3419999999999</c:v>
                </c:pt>
                <c:pt idx="13">
                  <c:v>916.606</c:v>
                </c:pt>
                <c:pt idx="14">
                  <c:v>975.9</c:v>
                </c:pt>
                <c:pt idx="15">
                  <c:v>1038.182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Israel</c:v>
                </c:pt>
              </c:strCache>
            </c:strRef>
          </c:cat>
          <c:val>
            <c:numRef>
              <c:f>Sheet1!$B$2:$B$3</c:f>
              <c:numCache>
                <c:formatCode>General</c:formatCode>
                <c:ptCount val="2"/>
                <c:pt idx="0">
                  <c:v>0.08259067318211845</c:v>
                </c:pt>
                <c:pt idx="1">
                  <c:v>0.06334691197022835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14974087958599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561.7249999999999</c:v>
                </c:pt>
                <c:pt idx="2">
                  <c:v>594.173</c:v>
                </c:pt>
                <c:pt idx="3">
                  <c:v>629.63</c:v>
                </c:pt>
                <c:pt idx="4">
                  <c:v>668.441</c:v>
                </c:pt>
                <c:pt idx="5">
                  <c:v>711.0350000000001</c:v>
                </c:pt>
                <c:pt idx="6">
                  <c:v>757.335</c:v>
                </c:pt>
                <c:pt idx="7">
                  <c:v>807.2479999999999</c:v>
                </c:pt>
                <c:pt idx="8">
                  <c:v>860.3419999999999</c:v>
                </c:pt>
                <c:pt idx="9">
                  <c:v>916.606</c:v>
                </c:pt>
                <c:pt idx="10">
                  <c:v>975.9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561.7249999999999</c:v>
                </c:pt>
                <c:pt idx="1">
                  <c:v>32.44800000000009</c:v>
                </c:pt>
                <c:pt idx="2">
                  <c:v>35.456999999999994</c:v>
                </c:pt>
                <c:pt idx="3">
                  <c:v>38.811000000000035</c:v>
                </c:pt>
                <c:pt idx="4">
                  <c:v>42.59400000000005</c:v>
                </c:pt>
                <c:pt idx="5">
                  <c:v>46.299999999999955</c:v>
                </c:pt>
                <c:pt idx="6">
                  <c:v>49.9129999999999</c:v>
                </c:pt>
                <c:pt idx="7">
                  <c:v>53.09399999999994</c:v>
                </c:pt>
                <c:pt idx="8">
                  <c:v>56.264000000000124</c:v>
                </c:pt>
                <c:pt idx="9">
                  <c:v>59.29399999999998</c:v>
                </c:pt>
                <c:pt idx="10">
                  <c:v>62.28200000000004</c:v>
                </c:pt>
                <c:pt idx="11">
                  <c:v>1038.182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Israel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7.90238728133821</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92.0976127186618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39.016999999999996</c:v>
                </c:pt>
                <c:pt idx="8">
                  <c:v>57.545</c:v>
                </c:pt>
                <c:pt idx="9">
                  <c:v>152.004</c:v>
                </c:pt>
                <c:pt idx="10">
                  <c:v>313.159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19.633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Aluminum Foil-Based</c:v>
                </c:pt>
                <c:pt idx="3">
                  <c:v>AlOx / SiOx-Coated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11.975</c:v>
                </c:pt>
                <c:pt idx="1">
                  <c:v>17.571</c:v>
                </c:pt>
                <c:pt idx="2">
                  <c:v>17.931</c:v>
                </c:pt>
                <c:pt idx="3">
                  <c:v>18.012</c:v>
                </c:pt>
                <c:pt idx="4">
                  <c:v>29.155</c:v>
                </c:pt>
                <c:pt idx="5">
                  <c:v>35.505</c:v>
                </c:pt>
                <c:pt idx="6">
                  <c:v>45.148</c:v>
                </c:pt>
                <c:pt idx="7">
                  <c:v>47.014</c:v>
                </c:pt>
                <c:pt idx="8">
                  <c:v>57.739</c:v>
                </c:pt>
                <c:pt idx="9">
                  <c:v>109.512</c:v>
                </c:pt>
                <c:pt idx="10">
                  <c:v>172.16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30.694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Metallized Films</c:v>
                </c:pt>
                <c:pt idx="5">
                  <c:v>Coated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39.74</c:v>
                </c:pt>
                <c:pt idx="5">
                  <c:v>40.128</c:v>
                </c:pt>
                <c:pt idx="6">
                  <c:v>45.651</c:v>
                </c:pt>
                <c:pt idx="7">
                  <c:v>46.284</c:v>
                </c:pt>
                <c:pt idx="8">
                  <c:v>80.065</c:v>
                </c:pt>
                <c:pt idx="9">
                  <c:v>144.785</c:v>
                </c:pt>
                <c:pt idx="10">
                  <c:v>165.069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21.1924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76.343</c:v>
                </c:pt>
                <c:pt idx="8">
                  <c:v>124.047</c:v>
                </c:pt>
                <c:pt idx="9">
                  <c:v>176.766</c:v>
                </c:pt>
                <c:pt idx="10">
                  <c:v>184.567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47.31978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94.362</c:v>
                </c:pt>
                <c:pt idx="10">
                  <c:v>467.359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26.261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76.343</c:v>
                </c:pt>
                <c:pt idx="8">
                  <c:v>124.047</c:v>
                </c:pt>
                <c:pt idx="9">
                  <c:v>176.767</c:v>
                </c:pt>
                <c:pt idx="10">
                  <c:v>184.567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47.31978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561.7249999999999</c:v>
                </c:pt>
                <c:pt idx="2">
                  <c:v>817.3889999999999</c:v>
                </c:pt>
                <c:pt idx="3">
                  <c:v>868.2139999999999</c:v>
                </c:pt>
                <c:pt idx="4">
                  <c:v>1003.6039999999999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561.7249999999999</c:v>
                </c:pt>
                <c:pt idx="1">
                  <c:v>255.664</c:v>
                </c:pt>
                <c:pt idx="2">
                  <c:v>50.825</c:v>
                </c:pt>
                <c:pt idx="3">
                  <c:v>135.39000000000001</c:v>
                </c:pt>
                <c:pt idx="4">
                  <c:v>34.578</c:v>
                </c:pt>
                <c:pt idx="5">
                  <c:v>1038.182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255.664</c:v>
                </c:pt>
                <c:pt idx="2">
                  <c:v>306.489</c:v>
                </c:pt>
                <c:pt idx="3">
                  <c:v>441.879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255.664</c:v>
                </c:pt>
                <c:pt idx="1">
                  <c:v>50.825</c:v>
                </c:pt>
                <c:pt idx="2">
                  <c:v>135.39000000000001</c:v>
                </c:pt>
                <c:pt idx="3">
                  <c:v>34.578</c:v>
                </c:pt>
                <c:pt idx="4">
                  <c:v>476.457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561.7220000000001</c:v>
                </c:pt>
                <c:pt idx="2">
                  <c:v>711.4220000000001</c:v>
                </c:pt>
                <c:pt idx="3">
                  <c:v>803.5180000000001</c:v>
                </c:pt>
                <c:pt idx="4">
                  <c:v>853.3680000000002</c:v>
                </c:pt>
                <c:pt idx="5">
                  <c:v>890.6740000000002</c:v>
                </c:pt>
                <c:pt idx="6">
                  <c:v>931.5660000000003</c:v>
                </c:pt>
                <c:pt idx="7">
                  <c:v>952.4000000000002</c:v>
                </c:pt>
                <c:pt idx="8">
                  <c:v>962.8650000000002</c:v>
                </c:pt>
                <c:pt idx="9">
                  <c:v>991.9760000000002</c:v>
                </c:pt>
                <c:pt idx="10">
                  <c:v>1008.3350000000003</c:v>
                </c:pt>
                <c:pt idx="11">
                  <c:v>1021.7320000000003</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561.7220000000001</c:v>
                </c:pt>
                <c:pt idx="1">
                  <c:v>149.70000000000002</c:v>
                </c:pt>
                <c:pt idx="2">
                  <c:v>92.096</c:v>
                </c:pt>
                <c:pt idx="3">
                  <c:v>49.85</c:v>
                </c:pt>
                <c:pt idx="4">
                  <c:v>37.30599999999999</c:v>
                </c:pt>
                <c:pt idx="5">
                  <c:v>40.892</c:v>
                </c:pt>
                <c:pt idx="6">
                  <c:v>20.833999999999996</c:v>
                </c:pt>
                <c:pt idx="7">
                  <c:v>10.465000000000002</c:v>
                </c:pt>
                <c:pt idx="8">
                  <c:v>29.110999999999997</c:v>
                </c:pt>
                <c:pt idx="9">
                  <c:v>16.359</c:v>
                </c:pt>
                <c:pt idx="10">
                  <c:v>13.396999999999998</c:v>
                </c:pt>
                <c:pt idx="11">
                  <c:v>16.444999999999997</c:v>
                </c:pt>
                <c:pt idx="12">
                  <c:v>1038.1770000000001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149.70000000000002</c:v>
                </c:pt>
                <c:pt idx="2">
                  <c:v>241.79600000000002</c:v>
                </c:pt>
                <c:pt idx="3">
                  <c:v>291.646</c:v>
                </c:pt>
                <c:pt idx="4">
                  <c:v>328.952</c:v>
                </c:pt>
                <c:pt idx="5">
                  <c:v>369.844</c:v>
                </c:pt>
                <c:pt idx="6">
                  <c:v>390.678</c:v>
                </c:pt>
                <c:pt idx="7">
                  <c:v>401.143</c:v>
                </c:pt>
                <c:pt idx="8">
                  <c:v>430.25399999999996</c:v>
                </c:pt>
                <c:pt idx="9">
                  <c:v>446.61299999999994</c:v>
                </c:pt>
                <c:pt idx="10">
                  <c:v>460.00999999999993</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149.70000000000002</c:v>
                </c:pt>
                <c:pt idx="1">
                  <c:v>92.096</c:v>
                </c:pt>
                <c:pt idx="2">
                  <c:v>49.85</c:v>
                </c:pt>
                <c:pt idx="3">
                  <c:v>37.30599999999999</c:v>
                </c:pt>
                <c:pt idx="4">
                  <c:v>40.892</c:v>
                </c:pt>
                <c:pt idx="5">
                  <c:v>20.833999999999996</c:v>
                </c:pt>
                <c:pt idx="6">
                  <c:v>10.465000000000002</c:v>
                </c:pt>
                <c:pt idx="7">
                  <c:v>29.110999999999997</c:v>
                </c:pt>
                <c:pt idx="8">
                  <c:v>16.359</c:v>
                </c:pt>
                <c:pt idx="9">
                  <c:v>13.396999999999998</c:v>
                </c:pt>
                <c:pt idx="10">
                  <c:v>16.444999999999997</c:v>
                </c:pt>
                <c:pt idx="11">
                  <c:v>476.455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561.722</c:v>
                </c:pt>
                <c:pt idx="2">
                  <c:v>634.5</c:v>
                </c:pt>
                <c:pt idx="3">
                  <c:v>768.383</c:v>
                </c:pt>
                <c:pt idx="4">
                  <c:v>889.62</c:v>
                </c:pt>
                <c:pt idx="5">
                  <c:v>923.454</c:v>
                </c:pt>
                <c:pt idx="6">
                  <c:v>954.9309999999999</c:v>
                </c:pt>
                <c:pt idx="7">
                  <c:v>993.6249999999999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561.722</c:v>
                </c:pt>
                <c:pt idx="1">
                  <c:v>72.77799999999999</c:v>
                </c:pt>
                <c:pt idx="2">
                  <c:v>133.883</c:v>
                </c:pt>
                <c:pt idx="3">
                  <c:v>121.237</c:v>
                </c:pt>
                <c:pt idx="4">
                  <c:v>33.834</c:v>
                </c:pt>
                <c:pt idx="5">
                  <c:v>31.476999999999997</c:v>
                </c:pt>
                <c:pt idx="6">
                  <c:v>38.693999999999996</c:v>
                </c:pt>
                <c:pt idx="7">
                  <c:v>44.553999999999995</c:v>
                </c:pt>
                <c:pt idx="8">
                  <c:v>1038.179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72.77799999999999</c:v>
                </c:pt>
                <c:pt idx="2">
                  <c:v>206.661</c:v>
                </c:pt>
                <c:pt idx="3">
                  <c:v>327.898</c:v>
                </c:pt>
                <c:pt idx="4">
                  <c:v>361.732</c:v>
                </c:pt>
                <c:pt idx="5">
                  <c:v>393.209</c:v>
                </c:pt>
                <c:pt idx="6">
                  <c:v>431.903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72.77799999999999</c:v>
                </c:pt>
                <c:pt idx="1">
                  <c:v>133.883</c:v>
                </c:pt>
                <c:pt idx="2">
                  <c:v>121.237</c:v>
                </c:pt>
                <c:pt idx="3">
                  <c:v>33.834</c:v>
                </c:pt>
                <c:pt idx="4">
                  <c:v>31.476999999999997</c:v>
                </c:pt>
                <c:pt idx="5">
                  <c:v>38.693999999999996</c:v>
                </c:pt>
                <c:pt idx="6">
                  <c:v>44.553999999999995</c:v>
                </c:pt>
                <c:pt idx="7">
                  <c:v>476.457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561.723</c:v>
                </c:pt>
                <c:pt idx="2">
                  <c:v>664.423</c:v>
                </c:pt>
                <c:pt idx="3">
                  <c:v>801.152</c:v>
                </c:pt>
                <c:pt idx="4">
                  <c:v>972.1490000000001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561.723</c:v>
                </c:pt>
                <c:pt idx="1">
                  <c:v>102.70000000000002</c:v>
                </c:pt>
                <c:pt idx="2">
                  <c:v>136.729</c:v>
                </c:pt>
                <c:pt idx="3">
                  <c:v>170.997</c:v>
                </c:pt>
                <c:pt idx="4">
                  <c:v>66.02900000000001</c:v>
                </c:pt>
                <c:pt idx="5">
                  <c:v>1038.178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102.70000000000002</c:v>
                </c:pt>
                <c:pt idx="2">
                  <c:v>239.42900000000003</c:v>
                </c:pt>
                <c:pt idx="3">
                  <c:v>410.42600000000004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102.70000000000002</c:v>
                </c:pt>
                <c:pt idx="1">
                  <c:v>136.729</c:v>
                </c:pt>
                <c:pt idx="2">
                  <c:v>170.997</c:v>
                </c:pt>
                <c:pt idx="3">
                  <c:v>66.02900000000001</c:v>
                </c:pt>
                <c:pt idx="4">
                  <c:v>476.45500000000004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561.721</c:v>
                </c:pt>
                <c:pt idx="2">
                  <c:v>958.7149999999999</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561.721</c:v>
                </c:pt>
                <c:pt idx="1">
                  <c:v>396.99399999999997</c:v>
                </c:pt>
                <c:pt idx="2">
                  <c:v>79.46100000000001</c:v>
                </c:pt>
                <c:pt idx="3">
                  <c:v>1038.176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396.99399999999997</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396.99399999999997</c:v>
                </c:pt>
                <c:pt idx="1">
                  <c:v>79.46100000000001</c:v>
                </c:pt>
                <c:pt idx="2">
                  <c:v>476.455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561.7239999999999</c:v>
                </c:pt>
                <c:pt idx="2">
                  <c:v>664.424</c:v>
                </c:pt>
                <c:pt idx="3">
                  <c:v>801.152</c:v>
                </c:pt>
                <c:pt idx="4">
                  <c:v>972.1500000000001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561.7239999999999</c:v>
                </c:pt>
                <c:pt idx="1">
                  <c:v>102.70000000000002</c:v>
                </c:pt>
                <c:pt idx="2">
                  <c:v>136.728</c:v>
                </c:pt>
                <c:pt idx="3">
                  <c:v>170.998</c:v>
                </c:pt>
                <c:pt idx="4">
                  <c:v>66.02999999999999</c:v>
                </c:pt>
                <c:pt idx="5">
                  <c:v>1038.18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102.70000000000002</c:v>
                </c:pt>
                <c:pt idx="2">
                  <c:v>239.42800000000003</c:v>
                </c:pt>
                <c:pt idx="3">
                  <c:v>410.42600000000004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102.70000000000002</c:v>
                </c:pt>
                <c:pt idx="1">
                  <c:v>136.728</c:v>
                </c:pt>
                <c:pt idx="2">
                  <c:v>170.998</c:v>
                </c:pt>
                <c:pt idx="3">
                  <c:v>66.02999999999999</c:v>
                </c:pt>
                <c:pt idx="4">
                  <c:v>476.456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178.483</c:v>
                </c:pt>
                <c:pt idx="1">
                  <c:v>189.054</c:v>
                </c:pt>
                <c:pt idx="2">
                  <c:v>200.28799999999998</c:v>
                </c:pt>
                <c:pt idx="3">
                  <c:v>212.20499999999998</c:v>
                </c:pt>
                <c:pt idx="4">
                  <c:v>224.95300000000003</c:v>
                </c:pt>
                <c:pt idx="5">
                  <c:v>239.05100000000002</c:v>
                </c:pt>
                <c:pt idx="6">
                  <c:v>254.72099999999995</c:v>
                </c:pt>
                <c:pt idx="7">
                  <c:v>272.3</c:v>
                </c:pt>
                <c:pt idx="8">
                  <c:v>292.047</c:v>
                </c:pt>
                <c:pt idx="9">
                  <c:v>314.027</c:v>
                </c:pt>
                <c:pt idx="10">
                  <c:v>338.04</c:v>
                </c:pt>
                <c:pt idx="11">
                  <c:v>363.96000000000004</c:v>
                </c:pt>
                <c:pt idx="12">
                  <c:v>391.62</c:v>
                </c:pt>
                <c:pt idx="13">
                  <c:v>420.82500000000005</c:v>
                </c:pt>
                <c:pt idx="14">
                  <c:v>451.29799999999994</c:v>
                </c:pt>
                <c:pt idx="15">
                  <c:v>482.983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Rest of GCC</c:v>
                </c:pt>
              </c:strCache>
            </c:strRef>
          </c:cat>
          <c:val>
            <c:numRef>
              <c:f>Sheet1!$B$2:$B$3</c:f>
              <c:numCache>
                <c:formatCode>General</c:formatCode>
                <c:ptCount val="2"/>
                <c:pt idx="0">
                  <c:v>0.06897414087313414</c:v>
                </c:pt>
                <c:pt idx="1">
                  <c:v>0.07286265422961913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836458320998583"/>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239.05100000000002</c:v>
                </c:pt>
                <c:pt idx="2">
                  <c:v>254.72099999999995</c:v>
                </c:pt>
                <c:pt idx="3">
                  <c:v>272.3</c:v>
                </c:pt>
                <c:pt idx="4">
                  <c:v>292.047</c:v>
                </c:pt>
                <c:pt idx="5">
                  <c:v>314.027</c:v>
                </c:pt>
                <c:pt idx="6">
                  <c:v>338.04</c:v>
                </c:pt>
                <c:pt idx="7">
                  <c:v>363.96000000000004</c:v>
                </c:pt>
                <c:pt idx="8">
                  <c:v>391.62</c:v>
                </c:pt>
                <c:pt idx="9">
                  <c:v>420.82500000000005</c:v>
                </c:pt>
                <c:pt idx="10">
                  <c:v>451.29799999999994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239.05100000000002</c:v>
                </c:pt>
                <c:pt idx="1">
                  <c:v>15.66999999999993</c:v>
                </c:pt>
                <c:pt idx="2">
                  <c:v>17.579000000000065</c:v>
                </c:pt>
                <c:pt idx="3">
                  <c:v>19.747000000000014</c:v>
                </c:pt>
                <c:pt idx="4">
                  <c:v>21.97999999999996</c:v>
                </c:pt>
                <c:pt idx="5">
                  <c:v>24.013000000000034</c:v>
                </c:pt>
                <c:pt idx="6">
                  <c:v>25.920000000000016</c:v>
                </c:pt>
                <c:pt idx="7">
                  <c:v>27.659999999999968</c:v>
                </c:pt>
                <c:pt idx="8">
                  <c:v>29.20500000000004</c:v>
                </c:pt>
                <c:pt idx="9">
                  <c:v>30.4729999999999</c:v>
                </c:pt>
                <c:pt idx="10">
                  <c:v>31.68500000000006</c:v>
                </c:pt>
                <c:pt idx="11">
                  <c:v>482.983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GCC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10.056387893514215</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89.94361210648579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520.261</c:v>
                </c:pt>
                <c:pt idx="1">
                  <c:v>552.703</c:v>
                </c:pt>
                <c:pt idx="2">
                  <c:v>587.4019999999999</c:v>
                </c:pt>
                <c:pt idx="3">
                  <c:v>624.755</c:v>
                </c:pt>
                <c:pt idx="4">
                  <c:v>664.9499999999999</c:v>
                </c:pt>
                <c:pt idx="5">
                  <c:v>712.485</c:v>
                </c:pt>
                <c:pt idx="6">
                  <c:v>766.3140000000001</c:v>
                </c:pt>
                <c:pt idx="7">
                  <c:v>827.792</c:v>
                </c:pt>
                <c:pt idx="8">
                  <c:v>898.05</c:v>
                </c:pt>
                <c:pt idx="9">
                  <c:v>977.7669999999999</c:v>
                </c:pt>
                <c:pt idx="10">
                  <c:v>1066.722</c:v>
                </c:pt>
                <c:pt idx="11">
                  <c:v>1165.255</c:v>
                </c:pt>
                <c:pt idx="12">
                  <c:v>1273.3379999999997</c:v>
                </c:pt>
                <c:pt idx="13">
                  <c:v>1390.812</c:v>
                </c:pt>
                <c:pt idx="14">
                  <c:v>1517.466</c:v>
                </c:pt>
                <c:pt idx="15">
                  <c:v>1653.615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Rest of GCC</c:v>
                </c:pt>
              </c:strCache>
            </c:strRef>
          </c:cat>
          <c:val>
            <c:numRef>
              <c:f>Sheet1!$B$2:$B$3</c:f>
              <c:numCache>
                <c:formatCode>General</c:formatCode>
                <c:ptCount val="2"/>
                <c:pt idx="0">
                  <c:v>0.08259067318211845</c:v>
                </c:pt>
                <c:pt idx="1">
                  <c:v>0.08784211391387163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85868537837267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712.485</c:v>
                </c:pt>
                <c:pt idx="2">
                  <c:v>766.3140000000001</c:v>
                </c:pt>
                <c:pt idx="3">
                  <c:v>827.792</c:v>
                </c:pt>
                <c:pt idx="4">
                  <c:v>898.05</c:v>
                </c:pt>
                <c:pt idx="5">
                  <c:v>977.7669999999999</c:v>
                </c:pt>
                <c:pt idx="6">
                  <c:v>1066.722</c:v>
                </c:pt>
                <c:pt idx="7">
                  <c:v>1165.255</c:v>
                </c:pt>
                <c:pt idx="8">
                  <c:v>1273.3379999999997</c:v>
                </c:pt>
                <c:pt idx="9">
                  <c:v>1390.812</c:v>
                </c:pt>
                <c:pt idx="10">
                  <c:v>1517.466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712.485</c:v>
                </c:pt>
                <c:pt idx="1">
                  <c:v>53.829000000000065</c:v>
                </c:pt>
                <c:pt idx="2">
                  <c:v>61.47799999999995</c:v>
                </c:pt>
                <c:pt idx="3">
                  <c:v>70.25799999999992</c:v>
                </c:pt>
                <c:pt idx="4">
                  <c:v>79.71699999999998</c:v>
                </c:pt>
                <c:pt idx="5">
                  <c:v>88.95500000000004</c:v>
                </c:pt>
                <c:pt idx="6">
                  <c:v>98.53300000000013</c:v>
                </c:pt>
                <c:pt idx="7">
                  <c:v>108.08299999999963</c:v>
                </c:pt>
                <c:pt idx="8">
                  <c:v>117.47400000000016</c:v>
                </c:pt>
                <c:pt idx="9">
                  <c:v>126.654</c:v>
                </c:pt>
                <c:pt idx="10">
                  <c:v>136.14900000000011</c:v>
                </c:pt>
                <c:pt idx="11">
                  <c:v>1653.615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GCC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10.023289691831867</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89.97671030816814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49.814</c:v>
                </c:pt>
                <c:pt idx="8">
                  <c:v>78.81700000000001</c:v>
                </c:pt>
                <c:pt idx="9">
                  <c:v>198.781</c:v>
                </c:pt>
                <c:pt idx="10">
                  <c:v>385.073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15.997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Other Specialty Barri…</c:v>
                </c:pt>
                <c:pt idx="3">
                  <c:v>Aluminum Foil-Based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14.667</c:v>
                </c:pt>
                <c:pt idx="1">
                  <c:v>21.832</c:v>
                </c:pt>
                <c:pt idx="2">
                  <c:v>22.514</c:v>
                </c:pt>
                <c:pt idx="3">
                  <c:v>23.111</c:v>
                </c:pt>
                <c:pt idx="4">
                  <c:v>35.14</c:v>
                </c:pt>
                <c:pt idx="5">
                  <c:v>41.211</c:v>
                </c:pt>
                <c:pt idx="6">
                  <c:v>57.115</c:v>
                </c:pt>
                <c:pt idx="7">
                  <c:v>59.469</c:v>
                </c:pt>
                <c:pt idx="8">
                  <c:v>73.761</c:v>
                </c:pt>
                <c:pt idx="9">
                  <c:v>142.159</c:v>
                </c:pt>
                <c:pt idx="10">
                  <c:v>221.505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96.816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Metallized Films</c:v>
                </c:pt>
                <c:pt idx="5">
                  <c:v>Coated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47.157</c:v>
                </c:pt>
                <c:pt idx="5">
                  <c:v>48.474</c:v>
                </c:pt>
                <c:pt idx="6">
                  <c:v>55.958</c:v>
                </c:pt>
                <c:pt idx="7">
                  <c:v>57.521</c:v>
                </c:pt>
                <c:pt idx="8">
                  <c:v>115.881</c:v>
                </c:pt>
                <c:pt idx="9">
                  <c:v>183.07500000000002</c:v>
                </c:pt>
                <c:pt idx="10">
                  <c:v>204.418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73.9201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92.85</c:v>
                </c:pt>
                <c:pt idx="8">
                  <c:v>147.172</c:v>
                </c:pt>
                <c:pt idx="9">
                  <c:v>225.791</c:v>
                </c:pt>
                <c:pt idx="10">
                  <c:v>246.669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30.53646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111.28999999999999</c:v>
                </c:pt>
                <c:pt idx="10">
                  <c:v>601.191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05.595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92.851</c:v>
                </c:pt>
                <c:pt idx="8">
                  <c:v>147.173</c:v>
                </c:pt>
                <c:pt idx="9">
                  <c:v>225.792</c:v>
                </c:pt>
                <c:pt idx="10">
                  <c:v>246.668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30.5351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712.485</c:v>
                </c:pt>
                <c:pt idx="2">
                  <c:v>1211.54</c:v>
                </c:pt>
                <c:pt idx="3">
                  <c:v>1328.117</c:v>
                </c:pt>
                <c:pt idx="4">
                  <c:v>1593.432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712.485</c:v>
                </c:pt>
                <c:pt idx="1">
                  <c:v>499.05500000000006</c:v>
                </c:pt>
                <c:pt idx="2">
                  <c:v>116.577</c:v>
                </c:pt>
                <c:pt idx="3">
                  <c:v>265.315</c:v>
                </c:pt>
                <c:pt idx="4">
                  <c:v>60.183</c:v>
                </c:pt>
                <c:pt idx="5">
                  <c:v>1653.615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499.05500000000006</c:v>
                </c:pt>
                <c:pt idx="2">
                  <c:v>615.6320000000001</c:v>
                </c:pt>
                <c:pt idx="3">
                  <c:v>880.9470000000001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499.05500000000006</c:v>
                </c:pt>
                <c:pt idx="1">
                  <c:v>116.577</c:v>
                </c:pt>
                <c:pt idx="2">
                  <c:v>265.315</c:v>
                </c:pt>
                <c:pt idx="3">
                  <c:v>60.183</c:v>
                </c:pt>
                <c:pt idx="4">
                  <c:v>941.1300000000001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712.484</c:v>
                </c:pt>
                <c:pt idx="2">
                  <c:v>1003.173</c:v>
                </c:pt>
                <c:pt idx="3">
                  <c:v>1189.76</c:v>
                </c:pt>
                <c:pt idx="4">
                  <c:v>1290.285</c:v>
                </c:pt>
                <c:pt idx="5">
                  <c:v>1364.2450000000001</c:v>
                </c:pt>
                <c:pt idx="6">
                  <c:v>1443.89</c:v>
                </c:pt>
                <c:pt idx="7">
                  <c:v>1486.298</c:v>
                </c:pt>
                <c:pt idx="8">
                  <c:v>1506.327</c:v>
                </c:pt>
                <c:pt idx="9">
                  <c:v>1562.741</c:v>
                </c:pt>
                <c:pt idx="10">
                  <c:v>1592.823</c:v>
                </c:pt>
                <c:pt idx="11">
                  <c:v>1620.661</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712.484</c:v>
                </c:pt>
                <c:pt idx="1">
                  <c:v>290.68899999999996</c:v>
                </c:pt>
                <c:pt idx="2">
                  <c:v>186.587</c:v>
                </c:pt>
                <c:pt idx="3">
                  <c:v>100.525</c:v>
                </c:pt>
                <c:pt idx="4">
                  <c:v>73.95999999999998</c:v>
                </c:pt>
                <c:pt idx="5">
                  <c:v>79.64500000000001</c:v>
                </c:pt>
                <c:pt idx="6">
                  <c:v>42.408</c:v>
                </c:pt>
                <c:pt idx="7">
                  <c:v>20.028999999999996</c:v>
                </c:pt>
                <c:pt idx="8">
                  <c:v>56.414</c:v>
                </c:pt>
                <c:pt idx="9">
                  <c:v>30.082</c:v>
                </c:pt>
                <c:pt idx="10">
                  <c:v>27.837999999999997</c:v>
                </c:pt>
                <c:pt idx="11">
                  <c:v>32.95400000000001</c:v>
                </c:pt>
                <c:pt idx="12">
                  <c:v>1653.615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290.68899999999996</c:v>
                </c:pt>
                <c:pt idx="2">
                  <c:v>477.27599999999995</c:v>
                </c:pt>
                <c:pt idx="3">
                  <c:v>577.8009999999999</c:v>
                </c:pt>
                <c:pt idx="4">
                  <c:v>651.761</c:v>
                </c:pt>
                <c:pt idx="5">
                  <c:v>731.406</c:v>
                </c:pt>
                <c:pt idx="6">
                  <c:v>773.814</c:v>
                </c:pt>
                <c:pt idx="7">
                  <c:v>793.843</c:v>
                </c:pt>
                <c:pt idx="8">
                  <c:v>850.257</c:v>
                </c:pt>
                <c:pt idx="9">
                  <c:v>880.3389999999999</c:v>
                </c:pt>
                <c:pt idx="10">
                  <c:v>908.1769999999999</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290.68899999999996</c:v>
                </c:pt>
                <c:pt idx="1">
                  <c:v>186.587</c:v>
                </c:pt>
                <c:pt idx="2">
                  <c:v>100.525</c:v>
                </c:pt>
                <c:pt idx="3">
                  <c:v>73.95999999999998</c:v>
                </c:pt>
                <c:pt idx="4">
                  <c:v>79.64500000000001</c:v>
                </c:pt>
                <c:pt idx="5">
                  <c:v>42.408</c:v>
                </c:pt>
                <c:pt idx="6">
                  <c:v>20.028999999999996</c:v>
                </c:pt>
                <c:pt idx="7">
                  <c:v>56.414</c:v>
                </c:pt>
                <c:pt idx="8">
                  <c:v>30.082</c:v>
                </c:pt>
                <c:pt idx="9">
                  <c:v>27.837999999999997</c:v>
                </c:pt>
                <c:pt idx="10">
                  <c:v>32.95400000000001</c:v>
                </c:pt>
                <c:pt idx="11">
                  <c:v>941.1309999999999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712.484</c:v>
                </c:pt>
                <c:pt idx="2">
                  <c:v>872.4580000000001</c:v>
                </c:pt>
                <c:pt idx="3">
                  <c:v>1137.6460000000002</c:v>
                </c:pt>
                <c:pt idx="4">
                  <c:v>1373.3160000000003</c:v>
                </c:pt>
                <c:pt idx="5">
                  <c:v>1436.0320000000002</c:v>
                </c:pt>
                <c:pt idx="6">
                  <c:v>1495.4740000000002</c:v>
                </c:pt>
                <c:pt idx="7">
                  <c:v>1569.2870000000003</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712.484</c:v>
                </c:pt>
                <c:pt idx="1">
                  <c:v>159.97400000000002</c:v>
                </c:pt>
                <c:pt idx="2">
                  <c:v>265.188</c:v>
                </c:pt>
                <c:pt idx="3">
                  <c:v>235.67</c:v>
                </c:pt>
                <c:pt idx="4">
                  <c:v>62.716</c:v>
                </c:pt>
                <c:pt idx="5">
                  <c:v>59.44200000000001</c:v>
                </c:pt>
                <c:pt idx="6">
                  <c:v>73.81299999999999</c:v>
                </c:pt>
                <c:pt idx="7">
                  <c:v>84.329</c:v>
                </c:pt>
                <c:pt idx="8">
                  <c:v>1653.616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159.97400000000002</c:v>
                </c:pt>
                <c:pt idx="2">
                  <c:v>425.16200000000003</c:v>
                </c:pt>
                <c:pt idx="3">
                  <c:v>660.832</c:v>
                </c:pt>
                <c:pt idx="4">
                  <c:v>723.548</c:v>
                </c:pt>
                <c:pt idx="5">
                  <c:v>782.99</c:v>
                </c:pt>
                <c:pt idx="6">
                  <c:v>856.803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159.97400000000002</c:v>
                </c:pt>
                <c:pt idx="1">
                  <c:v>265.188</c:v>
                </c:pt>
                <c:pt idx="2">
                  <c:v>235.67</c:v>
                </c:pt>
                <c:pt idx="3">
                  <c:v>62.716</c:v>
                </c:pt>
                <c:pt idx="4">
                  <c:v>59.44200000000001</c:v>
                </c:pt>
                <c:pt idx="5">
                  <c:v>73.81299999999999</c:v>
                </c:pt>
                <c:pt idx="6">
                  <c:v>84.329</c:v>
                </c:pt>
                <c:pt idx="7">
                  <c:v>941.132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712.4820000000001</c:v>
                </c:pt>
                <c:pt idx="2">
                  <c:v>904.0050000000001</c:v>
                </c:pt>
                <c:pt idx="3">
                  <c:v>1208.136</c:v>
                </c:pt>
                <c:pt idx="4">
                  <c:v>1527.089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712.4820000000001</c:v>
                </c:pt>
                <c:pt idx="1">
                  <c:v>191.523</c:v>
                </c:pt>
                <c:pt idx="2">
                  <c:v>304.131</c:v>
                </c:pt>
                <c:pt idx="3">
                  <c:v>318.95300000000003</c:v>
                </c:pt>
                <c:pt idx="4">
                  <c:v>126.52700000000002</c:v>
                </c:pt>
                <c:pt idx="5">
                  <c:v>1653.616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191.523</c:v>
                </c:pt>
                <c:pt idx="2">
                  <c:v>495.654</c:v>
                </c:pt>
                <c:pt idx="3">
                  <c:v>814.607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191.523</c:v>
                </c:pt>
                <c:pt idx="1">
                  <c:v>304.131</c:v>
                </c:pt>
                <c:pt idx="2">
                  <c:v>318.95300000000003</c:v>
                </c:pt>
                <c:pt idx="3">
                  <c:v>126.52700000000002</c:v>
                </c:pt>
                <c:pt idx="4">
                  <c:v>941.134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712.481</c:v>
                </c:pt>
                <c:pt idx="2">
                  <c:v>1508.433</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712.481</c:v>
                </c:pt>
                <c:pt idx="1">
                  <c:v>795.952</c:v>
                </c:pt>
                <c:pt idx="2">
                  <c:v>145.184</c:v>
                </c:pt>
                <c:pt idx="3">
                  <c:v>1653.617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795.952</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795.952</c:v>
                </c:pt>
                <c:pt idx="1">
                  <c:v>145.184</c:v>
                </c:pt>
                <c:pt idx="2">
                  <c:v>941.136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712.484</c:v>
                </c:pt>
                <c:pt idx="2">
                  <c:v>904.003</c:v>
                </c:pt>
                <c:pt idx="3">
                  <c:v>1208.134</c:v>
                </c:pt>
                <c:pt idx="4">
                  <c:v>1527.085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712.484</c:v>
                </c:pt>
                <c:pt idx="1">
                  <c:v>191.519</c:v>
                </c:pt>
                <c:pt idx="2">
                  <c:v>304.131</c:v>
                </c:pt>
                <c:pt idx="3">
                  <c:v>318.9509999999999</c:v>
                </c:pt>
                <c:pt idx="4">
                  <c:v>126.525</c:v>
                </c:pt>
                <c:pt idx="5">
                  <c:v>1653.61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191.519</c:v>
                </c:pt>
                <c:pt idx="2">
                  <c:v>495.65</c:v>
                </c:pt>
                <c:pt idx="3">
                  <c:v>814.6009999999999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191.519</c:v>
                </c:pt>
                <c:pt idx="1">
                  <c:v>304.131</c:v>
                </c:pt>
                <c:pt idx="2">
                  <c:v>318.9509999999999</c:v>
                </c:pt>
                <c:pt idx="3">
                  <c:v>126.525</c:v>
                </c:pt>
                <c:pt idx="4">
                  <c:v>941.1259999999999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208.802</c:v>
                </c:pt>
                <c:pt idx="1">
                  <c:v>219.622</c:v>
                </c:pt>
                <c:pt idx="2">
                  <c:v>231.211</c:v>
                </c:pt>
                <c:pt idx="3">
                  <c:v>243.601</c:v>
                </c:pt>
                <c:pt idx="4">
                  <c:v>256.939</c:v>
                </c:pt>
                <c:pt idx="5">
                  <c:v>271.617</c:v>
                </c:pt>
                <c:pt idx="6">
                  <c:v>287.803</c:v>
                </c:pt>
                <c:pt idx="7">
                  <c:v>305.742</c:v>
                </c:pt>
                <c:pt idx="8">
                  <c:v>325.596</c:v>
                </c:pt>
                <c:pt idx="9">
                  <c:v>347.418</c:v>
                </c:pt>
                <c:pt idx="10">
                  <c:v>371.116</c:v>
                </c:pt>
                <c:pt idx="11">
                  <c:v>396.649</c:v>
                </c:pt>
                <c:pt idx="12">
                  <c:v>423.941</c:v>
                </c:pt>
                <c:pt idx="13">
                  <c:v>452.685</c:v>
                </c:pt>
                <c:pt idx="14">
                  <c:v>482.469</c:v>
                </c:pt>
                <c:pt idx="15">
                  <c:v>513.241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South Africa</c:v>
                </c:pt>
              </c:strCache>
            </c:strRef>
          </c:cat>
          <c:val>
            <c:numRef>
              <c:f>Sheet1!$B$2:$B$3</c:f>
              <c:numCache>
                <c:formatCode>General</c:formatCode>
                <c:ptCount val="2"/>
                <c:pt idx="0">
                  <c:v>0.06897414087313414</c:v>
                </c:pt>
                <c:pt idx="1">
                  <c:v>0.06570361616181031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115090178731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271.617</c:v>
                </c:pt>
                <c:pt idx="2">
                  <c:v>287.803</c:v>
                </c:pt>
                <c:pt idx="3">
                  <c:v>305.742</c:v>
                </c:pt>
                <c:pt idx="4">
                  <c:v>325.596</c:v>
                </c:pt>
                <c:pt idx="5">
                  <c:v>347.418</c:v>
                </c:pt>
                <c:pt idx="6">
                  <c:v>371.116</c:v>
                </c:pt>
                <c:pt idx="7">
                  <c:v>396.649</c:v>
                </c:pt>
                <c:pt idx="8">
                  <c:v>423.941</c:v>
                </c:pt>
                <c:pt idx="9">
                  <c:v>452.685</c:v>
                </c:pt>
                <c:pt idx="10">
                  <c:v>482.469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271.617</c:v>
                </c:pt>
                <c:pt idx="1">
                  <c:v>16.18599999999998</c:v>
                </c:pt>
                <c:pt idx="2">
                  <c:v>17.93900000000002</c:v>
                </c:pt>
                <c:pt idx="3">
                  <c:v>19.853999999999985</c:v>
                </c:pt>
                <c:pt idx="4">
                  <c:v>21.822000000000003</c:v>
                </c:pt>
                <c:pt idx="5">
                  <c:v>23.69799999999998</c:v>
                </c:pt>
                <c:pt idx="6">
                  <c:v>25.533000000000015</c:v>
                </c:pt>
                <c:pt idx="7">
                  <c:v>27.291999999999973</c:v>
                </c:pt>
                <c:pt idx="8">
                  <c:v>28.744000000000028</c:v>
                </c:pt>
                <c:pt idx="9">
                  <c:v>29.783999999999992</c:v>
                </c:pt>
                <c:pt idx="10">
                  <c:v>30.77199999999999</c:v>
                </c:pt>
                <c:pt idx="11">
                  <c:v>513.241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Africa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11.426373077178722</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88.57362692282128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637.681</c:v>
                </c:pt>
                <c:pt idx="1">
                  <c:v>673.0699999999999</c:v>
                </c:pt>
                <c:pt idx="2">
                  <c:v>711.255</c:v>
                </c:pt>
                <c:pt idx="3">
                  <c:v>752.8140000000001</c:v>
                </c:pt>
                <c:pt idx="4">
                  <c:v>797.9459999999999</c:v>
                </c:pt>
                <c:pt idx="5">
                  <c:v>851.2759999999998</c:v>
                </c:pt>
                <c:pt idx="6">
                  <c:v>911.056</c:v>
                </c:pt>
                <c:pt idx="7">
                  <c:v>978.451</c:v>
                </c:pt>
                <c:pt idx="8">
                  <c:v>1054.248</c:v>
                </c:pt>
                <c:pt idx="9">
                  <c:v>1139.1689999999999</c:v>
                </c:pt>
                <c:pt idx="10">
                  <c:v>1233.2359999999999</c:v>
                </c:pt>
                <c:pt idx="11">
                  <c:v>1336.882</c:v>
                </c:pt>
                <c:pt idx="12">
                  <c:v>1450.462</c:v>
                </c:pt>
                <c:pt idx="13">
                  <c:v>1573.431</c:v>
                </c:pt>
                <c:pt idx="14">
                  <c:v>1705.316</c:v>
                </c:pt>
                <c:pt idx="15">
                  <c:v>1846.185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South Africa</c:v>
                </c:pt>
              </c:strCache>
            </c:strRef>
          </c:cat>
          <c:val>
            <c:numRef>
              <c:f>Sheet1!$B$2:$B$3</c:f>
              <c:numCache>
                <c:formatCode>General</c:formatCode>
                <c:ptCount val="2"/>
                <c:pt idx="0">
                  <c:v>0.08259067318211845</c:v>
                </c:pt>
                <c:pt idx="1">
                  <c:v>0.08048933084583056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14974087958599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851.2759999999998</c:v>
                </c:pt>
                <c:pt idx="2">
                  <c:v>911.056</c:v>
                </c:pt>
                <c:pt idx="3">
                  <c:v>978.451</c:v>
                </c:pt>
                <c:pt idx="4">
                  <c:v>1054.248</c:v>
                </c:pt>
                <c:pt idx="5">
                  <c:v>1139.1689999999999</c:v>
                </c:pt>
                <c:pt idx="6">
                  <c:v>1233.2359999999999</c:v>
                </c:pt>
                <c:pt idx="7">
                  <c:v>1336.882</c:v>
                </c:pt>
                <c:pt idx="8">
                  <c:v>1450.462</c:v>
                </c:pt>
                <c:pt idx="9">
                  <c:v>1573.431</c:v>
                </c:pt>
                <c:pt idx="10">
                  <c:v>1705.316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851.2759999999998</c:v>
                </c:pt>
                <c:pt idx="1">
                  <c:v>59.7800000000002</c:v>
                </c:pt>
                <c:pt idx="2">
                  <c:v>67.39499999999998</c:v>
                </c:pt>
                <c:pt idx="3">
                  <c:v>75.79700000000003</c:v>
                </c:pt>
                <c:pt idx="4">
                  <c:v>84.92099999999982</c:v>
                </c:pt>
                <c:pt idx="5">
                  <c:v>94.06700000000001</c:v>
                </c:pt>
                <c:pt idx="6">
                  <c:v>103.64600000000019</c:v>
                </c:pt>
                <c:pt idx="7">
                  <c:v>113.57999999999993</c:v>
                </c:pt>
                <c:pt idx="8">
                  <c:v>122.96900000000005</c:v>
                </c:pt>
                <c:pt idx="9">
                  <c:v>131.885</c:v>
                </c:pt>
                <c:pt idx="10">
                  <c:v>140.86899999999991</c:v>
                </c:pt>
                <c:pt idx="11">
                  <c:v>1846.185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Africa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11.975811358419982</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88.02418864158003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57.791</c:v>
                </c:pt>
                <c:pt idx="8">
                  <c:v>95.672</c:v>
                </c:pt>
                <c:pt idx="9">
                  <c:v>241.762</c:v>
                </c:pt>
                <c:pt idx="10">
                  <c:v>456.051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11.108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16.094</c:v>
                </c:pt>
                <c:pt idx="1">
                  <c:v>24.057</c:v>
                </c:pt>
                <c:pt idx="2">
                  <c:v>24.506</c:v>
                </c:pt>
                <c:pt idx="3">
                  <c:v>27.706</c:v>
                </c:pt>
                <c:pt idx="4">
                  <c:v>46.871</c:v>
                </c:pt>
                <c:pt idx="5">
                  <c:v>56.104</c:v>
                </c:pt>
                <c:pt idx="6">
                  <c:v>64.067</c:v>
                </c:pt>
                <c:pt idx="7">
                  <c:v>65.938</c:v>
                </c:pt>
                <c:pt idx="8">
                  <c:v>82.954</c:v>
                </c:pt>
                <c:pt idx="9">
                  <c:v>162.789</c:v>
                </c:pt>
                <c:pt idx="10">
                  <c:v>280.192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75.457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Foil-Laminated Struct…</c:v>
                </c:pt>
                <c:pt idx="6">
                  <c:v>Metallized Films</c:v>
                </c:pt>
                <c:pt idx="7">
                  <c:v>Mono-Material Recycla…</c:v>
                </c:pt>
                <c:pt idx="8">
                  <c:v>Monolayer Films</c:v>
                </c:pt>
                <c:pt idx="9">
                  <c:v>Laminated Films</c:v>
                </c:pt>
                <c:pt idx="10">
                  <c:v>Coextruded Multilayer…</c:v>
                </c:pt>
              </c:strCache>
            </c:strRef>
          </c:cat>
          <c:val>
            <c:numRef>
              <c:f>Sheet1!$B$2:$B$12</c:f>
              <c:numCache>
                <c:formatCode>General</c:formatCode>
                <c:ptCount val="11"/>
                <c:pt idx="4">
                  <c:v>53.524</c:v>
                </c:pt>
                <c:pt idx="5">
                  <c:v>61.269</c:v>
                </c:pt>
                <c:pt idx="6">
                  <c:v>61.491</c:v>
                </c:pt>
                <c:pt idx="7">
                  <c:v>68.735</c:v>
                </c:pt>
                <c:pt idx="8">
                  <c:v>142.737</c:v>
                </c:pt>
                <c:pt idx="9">
                  <c:v>218.416</c:v>
                </c:pt>
                <c:pt idx="10">
                  <c:v>245.106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28.442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108.271</c:v>
                </c:pt>
                <c:pt idx="8">
                  <c:v>179.023</c:v>
                </c:pt>
                <c:pt idx="9">
                  <c:v>269.057</c:v>
                </c:pt>
                <c:pt idx="10">
                  <c:v>294.926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95.2008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143.318</c:v>
                </c:pt>
                <c:pt idx="10">
                  <c:v>707.962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948.669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108.271</c:v>
                </c:pt>
                <c:pt idx="8">
                  <c:v>179.025</c:v>
                </c:pt>
                <c:pt idx="9">
                  <c:v>269.057</c:v>
                </c:pt>
                <c:pt idx="10">
                  <c:v>294.928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95.203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851.2759999999998</c:v>
                </c:pt>
                <c:pt idx="2">
                  <c:v>1397.0579999999998</c:v>
                </c:pt>
                <c:pt idx="3">
                  <c:v>1504.8439999999998</c:v>
                </c:pt>
                <c:pt idx="4">
                  <c:v>1782.0839999999998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851.2759999999998</c:v>
                </c:pt>
                <c:pt idx="1">
                  <c:v>545.7819999999999</c:v>
                </c:pt>
                <c:pt idx="2">
                  <c:v>107.786</c:v>
                </c:pt>
                <c:pt idx="3">
                  <c:v>277.23999999999995</c:v>
                </c:pt>
                <c:pt idx="4">
                  <c:v>64.101</c:v>
                </c:pt>
                <c:pt idx="5">
                  <c:v>1846.185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545.7819999999999</c:v>
                </c:pt>
                <c:pt idx="2">
                  <c:v>653.568</c:v>
                </c:pt>
                <c:pt idx="3">
                  <c:v>930.808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545.7819999999999</c:v>
                </c:pt>
                <c:pt idx="1">
                  <c:v>107.786</c:v>
                </c:pt>
                <c:pt idx="2">
                  <c:v>277.23999999999995</c:v>
                </c:pt>
                <c:pt idx="3">
                  <c:v>64.101</c:v>
                </c:pt>
                <c:pt idx="4">
                  <c:v>994.909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851.278</c:v>
                </c:pt>
                <c:pt idx="2">
                  <c:v>1181.117</c:v>
                </c:pt>
                <c:pt idx="3">
                  <c:v>1365.874</c:v>
                </c:pt>
                <c:pt idx="4">
                  <c:v>1465.801</c:v>
                </c:pt>
                <c:pt idx="5">
                  <c:v>1540.216</c:v>
                </c:pt>
                <c:pt idx="6">
                  <c:v>1620.155</c:v>
                </c:pt>
                <c:pt idx="7">
                  <c:v>1669.456</c:v>
                </c:pt>
                <c:pt idx="8">
                  <c:v>1689.722</c:v>
                </c:pt>
                <c:pt idx="9">
                  <c:v>1754.891</c:v>
                </c:pt>
                <c:pt idx="10">
                  <c:v>1784.748</c:v>
                </c:pt>
                <c:pt idx="11">
                  <c:v>1814.4840000000002</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851.278</c:v>
                </c:pt>
                <c:pt idx="1">
                  <c:v>329.83899999999994</c:v>
                </c:pt>
                <c:pt idx="2">
                  <c:v>184.757</c:v>
                </c:pt>
                <c:pt idx="3">
                  <c:v>99.927</c:v>
                </c:pt>
                <c:pt idx="4">
                  <c:v>74.415</c:v>
                </c:pt>
                <c:pt idx="5">
                  <c:v>79.93900000000001</c:v>
                </c:pt>
                <c:pt idx="6">
                  <c:v>49.300999999999995</c:v>
                </c:pt>
                <c:pt idx="7">
                  <c:v>20.266</c:v>
                </c:pt>
                <c:pt idx="8">
                  <c:v>65.169</c:v>
                </c:pt>
                <c:pt idx="9">
                  <c:v>29.857</c:v>
                </c:pt>
                <c:pt idx="10">
                  <c:v>29.736</c:v>
                </c:pt>
                <c:pt idx="11">
                  <c:v>31.702</c:v>
                </c:pt>
                <c:pt idx="12">
                  <c:v>1846.1860000000001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329.83899999999994</c:v>
                </c:pt>
                <c:pt idx="2">
                  <c:v>514.596</c:v>
                </c:pt>
                <c:pt idx="3">
                  <c:v>614.523</c:v>
                </c:pt>
                <c:pt idx="4">
                  <c:v>688.938</c:v>
                </c:pt>
                <c:pt idx="5">
                  <c:v>768.877</c:v>
                </c:pt>
                <c:pt idx="6">
                  <c:v>818.178</c:v>
                </c:pt>
                <c:pt idx="7">
                  <c:v>838.444</c:v>
                </c:pt>
                <c:pt idx="8">
                  <c:v>903.6129999999999</c:v>
                </c:pt>
                <c:pt idx="9">
                  <c:v>933.4699999999999</c:v>
                </c:pt>
                <c:pt idx="10">
                  <c:v>963.2059999999999</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329.83899999999994</c:v>
                </c:pt>
                <c:pt idx="1">
                  <c:v>184.757</c:v>
                </c:pt>
                <c:pt idx="2">
                  <c:v>99.927</c:v>
                </c:pt>
                <c:pt idx="3">
                  <c:v>74.415</c:v>
                </c:pt>
                <c:pt idx="4">
                  <c:v>79.93900000000001</c:v>
                </c:pt>
                <c:pt idx="5">
                  <c:v>49.300999999999995</c:v>
                </c:pt>
                <c:pt idx="6">
                  <c:v>20.266</c:v>
                </c:pt>
                <c:pt idx="7">
                  <c:v>65.169</c:v>
                </c:pt>
                <c:pt idx="8">
                  <c:v>29.857</c:v>
                </c:pt>
                <c:pt idx="9">
                  <c:v>29.736</c:v>
                </c:pt>
                <c:pt idx="10">
                  <c:v>31.702</c:v>
                </c:pt>
                <c:pt idx="11">
                  <c:v>994.908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851.278</c:v>
                </c:pt>
                <c:pt idx="2">
                  <c:v>1021.36</c:v>
                </c:pt>
                <c:pt idx="3">
                  <c:v>1301.882</c:v>
                </c:pt>
                <c:pt idx="4">
                  <c:v>1552.285</c:v>
                </c:pt>
                <c:pt idx="5">
                  <c:v>1614.534</c:v>
                </c:pt>
                <c:pt idx="6">
                  <c:v>1682.3990000000001</c:v>
                </c:pt>
                <c:pt idx="7">
                  <c:v>1756.403</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851.278</c:v>
                </c:pt>
                <c:pt idx="1">
                  <c:v>170.08200000000002</c:v>
                </c:pt>
                <c:pt idx="2">
                  <c:v>280.52200000000005</c:v>
                </c:pt>
                <c:pt idx="3">
                  <c:v>250.40300000000002</c:v>
                </c:pt>
                <c:pt idx="4">
                  <c:v>62.248999999999995</c:v>
                </c:pt>
                <c:pt idx="5">
                  <c:v>67.865</c:v>
                </c:pt>
                <c:pt idx="6">
                  <c:v>74.00399999999999</c:v>
                </c:pt>
                <c:pt idx="7">
                  <c:v>89.782</c:v>
                </c:pt>
                <c:pt idx="8">
                  <c:v>1846.185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170.08200000000002</c:v>
                </c:pt>
                <c:pt idx="2">
                  <c:v>450.60400000000004</c:v>
                </c:pt>
                <c:pt idx="3">
                  <c:v>701.0070000000001</c:v>
                </c:pt>
                <c:pt idx="4">
                  <c:v>763.2560000000001</c:v>
                </c:pt>
                <c:pt idx="5">
                  <c:v>831.1210000000001</c:v>
                </c:pt>
                <c:pt idx="6">
                  <c:v>905.1250000000001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170.08200000000002</c:v>
                </c:pt>
                <c:pt idx="1">
                  <c:v>280.52200000000005</c:v>
                </c:pt>
                <c:pt idx="2">
                  <c:v>250.40300000000002</c:v>
                </c:pt>
                <c:pt idx="3">
                  <c:v>62.248999999999995</c:v>
                </c:pt>
                <c:pt idx="4">
                  <c:v>67.865</c:v>
                </c:pt>
                <c:pt idx="5">
                  <c:v>74.00399999999999</c:v>
                </c:pt>
                <c:pt idx="6">
                  <c:v>89.782</c:v>
                </c:pt>
                <c:pt idx="7">
                  <c:v>994.9070000000002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851.2769999999999</c:v>
                </c:pt>
                <c:pt idx="2">
                  <c:v>1052.224</c:v>
                </c:pt>
                <c:pt idx="3">
                  <c:v>1381.2279999999998</c:v>
                </c:pt>
                <c:pt idx="4">
                  <c:v>1716.6479999999997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851.2769999999999</c:v>
                </c:pt>
                <c:pt idx="1">
                  <c:v>200.94700000000003</c:v>
                </c:pt>
                <c:pt idx="2">
                  <c:v>329.00399999999996</c:v>
                </c:pt>
                <c:pt idx="3">
                  <c:v>335.41999999999996</c:v>
                </c:pt>
                <c:pt idx="4">
                  <c:v>129.538</c:v>
                </c:pt>
                <c:pt idx="5">
                  <c:v>1846.186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200.94700000000003</c:v>
                </c:pt>
                <c:pt idx="2">
                  <c:v>529.951</c:v>
                </c:pt>
                <c:pt idx="3">
                  <c:v>865.371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200.94700000000003</c:v>
                </c:pt>
                <c:pt idx="1">
                  <c:v>329.00399999999996</c:v>
                </c:pt>
                <c:pt idx="2">
                  <c:v>335.41999999999996</c:v>
                </c:pt>
                <c:pt idx="3">
                  <c:v>129.538</c:v>
                </c:pt>
                <c:pt idx="4">
                  <c:v>994.909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851.28</c:v>
                </c:pt>
                <c:pt idx="2">
                  <c:v>1680.474</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851.28</c:v>
                </c:pt>
                <c:pt idx="1">
                  <c:v>829.194</c:v>
                </c:pt>
                <c:pt idx="2">
                  <c:v>165.71399999999997</c:v>
                </c:pt>
                <c:pt idx="3">
                  <c:v>1846.1879999999999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829.194</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829.194</c:v>
                </c:pt>
                <c:pt idx="1">
                  <c:v>165.71399999999997</c:v>
                </c:pt>
                <c:pt idx="2">
                  <c:v>994.9079999999999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851.281</c:v>
                </c:pt>
                <c:pt idx="2">
                  <c:v>1052.2269999999999</c:v>
                </c:pt>
                <c:pt idx="3">
                  <c:v>1381.2279999999998</c:v>
                </c:pt>
                <c:pt idx="4">
                  <c:v>1716.6479999999997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851.281</c:v>
                </c:pt>
                <c:pt idx="1">
                  <c:v>200.946</c:v>
                </c:pt>
                <c:pt idx="2">
                  <c:v>329.001</c:v>
                </c:pt>
                <c:pt idx="3">
                  <c:v>335.41999999999996</c:v>
                </c:pt>
                <c:pt idx="4">
                  <c:v>129.538</c:v>
                </c:pt>
                <c:pt idx="5">
                  <c:v>1846.186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200.946</c:v>
                </c:pt>
                <c:pt idx="2">
                  <c:v>529.947</c:v>
                </c:pt>
                <c:pt idx="3">
                  <c:v>865.367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200.946</c:v>
                </c:pt>
                <c:pt idx="1">
                  <c:v>329.001</c:v>
                </c:pt>
                <c:pt idx="2">
                  <c:v>335.41999999999996</c:v>
                </c:pt>
                <c:pt idx="3">
                  <c:v>129.538</c:v>
                </c:pt>
                <c:pt idx="4">
                  <c:v>994.905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237.40600000000003</c:v>
                </c:pt>
                <c:pt idx="1">
                  <c:v>250.334</c:v>
                </c:pt>
                <c:pt idx="2">
                  <c:v>264.123</c:v>
                </c:pt>
                <c:pt idx="3">
                  <c:v>278.813</c:v>
                </c:pt>
                <c:pt idx="4">
                  <c:v>294.624</c:v>
                </c:pt>
                <c:pt idx="5">
                  <c:v>312.383</c:v>
                </c:pt>
                <c:pt idx="6">
                  <c:v>332.341</c:v>
                </c:pt>
                <c:pt idx="7">
                  <c:v>354.92900000000003</c:v>
                </c:pt>
                <c:pt idx="8">
                  <c:v>380.47</c:v>
                </c:pt>
                <c:pt idx="9">
                  <c:v>409.486</c:v>
                </c:pt>
                <c:pt idx="10">
                  <c:v>442.00500000000005</c:v>
                </c:pt>
                <c:pt idx="11">
                  <c:v>477.87799999999993</c:v>
                </c:pt>
                <c:pt idx="12">
                  <c:v>516.509</c:v>
                </c:pt>
                <c:pt idx="13">
                  <c:v>557.6179999999999</c:v>
                </c:pt>
                <c:pt idx="14">
                  <c:v>600.6890000000001</c:v>
                </c:pt>
                <c:pt idx="15">
                  <c:v>645.6560000000001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Rest of MEA</c:v>
                </c:pt>
              </c:strCache>
            </c:strRef>
          </c:cat>
          <c:val>
            <c:numRef>
              <c:f>Sheet1!$B$2:$B$3</c:f>
              <c:numCache>
                <c:formatCode>General</c:formatCode>
                <c:ptCount val="2"/>
                <c:pt idx="0">
                  <c:v>0.06897414087313414</c:v>
                </c:pt>
                <c:pt idx="1">
                  <c:v>0.0753042937885029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6607966144789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312.383</c:v>
                </c:pt>
                <c:pt idx="2">
                  <c:v>332.341</c:v>
                </c:pt>
                <c:pt idx="3">
                  <c:v>354.92900000000003</c:v>
                </c:pt>
                <c:pt idx="4">
                  <c:v>380.47</c:v>
                </c:pt>
                <c:pt idx="5">
                  <c:v>409.486</c:v>
                </c:pt>
                <c:pt idx="6">
                  <c:v>442.00500000000005</c:v>
                </c:pt>
                <c:pt idx="7">
                  <c:v>477.87799999999993</c:v>
                </c:pt>
                <c:pt idx="8">
                  <c:v>516.509</c:v>
                </c:pt>
                <c:pt idx="9">
                  <c:v>557.6179999999999</c:v>
                </c:pt>
                <c:pt idx="10">
                  <c:v>600.6890000000001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312.383</c:v>
                </c:pt>
                <c:pt idx="1">
                  <c:v>19.958000000000027</c:v>
                </c:pt>
                <c:pt idx="2">
                  <c:v>22.588000000000022</c:v>
                </c:pt>
                <c:pt idx="3">
                  <c:v>25.540999999999997</c:v>
                </c:pt>
                <c:pt idx="4">
                  <c:v>29.015999999999963</c:v>
                </c:pt>
                <c:pt idx="5">
                  <c:v>32.51900000000006</c:v>
                </c:pt>
                <c:pt idx="6">
                  <c:v>35.87299999999988</c:v>
                </c:pt>
                <c:pt idx="7">
                  <c:v>38.631000000000085</c:v>
                </c:pt>
                <c:pt idx="8">
                  <c:v>41.108999999999924</c:v>
                </c:pt>
                <c:pt idx="9">
                  <c:v>43.07100000000014</c:v>
                </c:pt>
                <c:pt idx="10">
                  <c:v>44.966999999999985</c:v>
                </c:pt>
                <c:pt idx="11">
                  <c:v>645.6560000000001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MEA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13.141315532416309</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86.85868446758369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737.553</c:v>
                </c:pt>
                <c:pt idx="1">
                  <c:v>780.512</c:v>
                </c:pt>
                <c:pt idx="2">
                  <c:v>826.701</c:v>
                </c:pt>
                <c:pt idx="3">
                  <c:v>876.681</c:v>
                </c:pt>
                <c:pt idx="4">
                  <c:v>930.9340000000001</c:v>
                </c:pt>
                <c:pt idx="5">
                  <c:v>995.518</c:v>
                </c:pt>
                <c:pt idx="6">
                  <c:v>1068.943</c:v>
                </c:pt>
                <c:pt idx="7">
                  <c:v>1153.046</c:v>
                </c:pt>
                <c:pt idx="8">
                  <c:v>1249.253</c:v>
                </c:pt>
                <c:pt idx="9">
                  <c:v>1359.788</c:v>
                </c:pt>
                <c:pt idx="10">
                  <c:v>1485.126</c:v>
                </c:pt>
                <c:pt idx="11">
                  <c:v>1625.577</c:v>
                </c:pt>
                <c:pt idx="12">
                  <c:v>1780.019</c:v>
                </c:pt>
                <c:pt idx="13">
                  <c:v>1948.1619999999998</c:v>
                </c:pt>
                <c:pt idx="14">
                  <c:v>2129.4179999999997</c:v>
                </c:pt>
                <c:pt idx="15">
                  <c:v>2324.0310000000004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Middle East &amp; Africa</c:v>
                </c:pt>
                <c:pt idx="1">
                  <c:v>Rest of MEA</c:v>
                </c:pt>
              </c:strCache>
            </c:strRef>
          </c:cat>
          <c:val>
            <c:numRef>
              <c:f>Sheet1!$B$2:$B$3</c:f>
              <c:numCache>
                <c:formatCode>General</c:formatCode>
                <c:ptCount val="2"/>
                <c:pt idx="0">
                  <c:v>0.08259067318211845</c:v>
                </c:pt>
                <c:pt idx="1">
                  <c:v>0.08847705850654396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94440289838343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995.518</c:v>
                </c:pt>
                <c:pt idx="2">
                  <c:v>1068.943</c:v>
                </c:pt>
                <c:pt idx="3">
                  <c:v>1153.046</c:v>
                </c:pt>
                <c:pt idx="4">
                  <c:v>1249.253</c:v>
                </c:pt>
                <c:pt idx="5">
                  <c:v>1359.788</c:v>
                </c:pt>
                <c:pt idx="6">
                  <c:v>1485.126</c:v>
                </c:pt>
                <c:pt idx="7">
                  <c:v>1625.577</c:v>
                </c:pt>
                <c:pt idx="8">
                  <c:v>1780.019</c:v>
                </c:pt>
                <c:pt idx="9">
                  <c:v>1948.1619999999998</c:v>
                </c:pt>
                <c:pt idx="10">
                  <c:v>2129.4179999999997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995.518</c:v>
                </c:pt>
                <c:pt idx="1">
                  <c:v>73.42499999999995</c:v>
                </c:pt>
                <c:pt idx="2">
                  <c:v>84.10300000000007</c:v>
                </c:pt>
                <c:pt idx="3">
                  <c:v>96.20699999999988</c:v>
                </c:pt>
                <c:pt idx="4">
                  <c:v>110.53500000000008</c:v>
                </c:pt>
                <c:pt idx="5">
                  <c:v>125.33799999999997</c:v>
                </c:pt>
                <c:pt idx="6">
                  <c:v>140.45100000000002</c:v>
                </c:pt>
                <c:pt idx="7">
                  <c:v>154.442</c:v>
                </c:pt>
                <c:pt idx="8">
                  <c:v>168.1429999999998</c:v>
                </c:pt>
                <c:pt idx="9">
                  <c:v>181.25599999999986</c:v>
                </c:pt>
                <c:pt idx="10">
                  <c:v>194.61300000000074</c:v>
                </c:pt>
                <c:pt idx="11">
                  <c:v>2324.0310000000004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MEA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Sheet1!$B$2:$B$2</c:f>
              <c:numCache>
                <c:formatCode>General</c:formatCode>
                <c:ptCount val="1"/>
                <c:pt idx="0">
                  <c:v>14.005018080988476</c:v>
                </c:pt>
              </c:numCache>
            </c:numRef>
          </c:val>
        </c:ser>
        <c:ser>
          <c:idx val="1"/>
          <c:order val="1"/>
          <c:tx>
            <c:strRef>
              <c:f>Sheet1!$C$1</c:f>
              <c:strCache>
                <c:ptCount val="1"/>
                <c:pt idx="0">
                  <c:v>Rest of Middle East &amp; Africa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Middle East &amp; Africa</c:v>
                </c:pt>
              </c:strCache>
            </c:strRef>
          </c:cat>
          <c:val>
            <c:numRef>
              <c:f>Sheet1!$C$2:$C$2</c:f>
              <c:numCache>
                <c:formatCode>General</c:formatCode>
                <c:ptCount val="1"/>
                <c:pt idx="0">
                  <c:v>85.99498191901152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70.459</c:v>
                </c:pt>
                <c:pt idx="8">
                  <c:v>100.875</c:v>
                </c:pt>
                <c:pt idx="9">
                  <c:v>284.858</c:v>
                </c:pt>
                <c:pt idx="10">
                  <c:v>539.326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22.69684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Aluminum Foil-Based</c:v>
                </c:pt>
                <c:pt idx="3">
                  <c:v>Other Specialty Barri…</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18.289</c:v>
                </c:pt>
                <c:pt idx="1">
                  <c:v>27.77</c:v>
                </c:pt>
                <c:pt idx="2">
                  <c:v>29.172</c:v>
                </c:pt>
                <c:pt idx="3">
                  <c:v>31.327</c:v>
                </c:pt>
                <c:pt idx="4">
                  <c:v>50.467</c:v>
                </c:pt>
                <c:pt idx="5">
                  <c:v>63.498</c:v>
                </c:pt>
                <c:pt idx="6">
                  <c:v>71.596</c:v>
                </c:pt>
                <c:pt idx="7">
                  <c:v>81.191</c:v>
                </c:pt>
                <c:pt idx="8">
                  <c:v>103.349</c:v>
                </c:pt>
                <c:pt idx="9">
                  <c:v>203.728</c:v>
                </c:pt>
                <c:pt idx="10">
                  <c:v>315.128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22.271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60.952</c:v>
                </c:pt>
                <c:pt idx="5">
                  <c:v>70.971</c:v>
                </c:pt>
                <c:pt idx="6">
                  <c:v>81.459</c:v>
                </c:pt>
                <c:pt idx="7">
                  <c:v>85.239</c:v>
                </c:pt>
                <c:pt idx="8">
                  <c:v>158.15</c:v>
                </c:pt>
                <c:pt idx="9">
                  <c:v>232.324</c:v>
                </c:pt>
                <c:pt idx="10">
                  <c:v>306.421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10.60414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141.276</c:v>
                </c:pt>
                <c:pt idx="8">
                  <c:v>209.331</c:v>
                </c:pt>
                <c:pt idx="9">
                  <c:v>302.135</c:v>
                </c:pt>
                <c:pt idx="10">
                  <c:v>342.774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59.317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153.463</c:v>
                </c:pt>
                <c:pt idx="10">
                  <c:v>842.052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128.3496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141.277</c:v>
                </c:pt>
                <c:pt idx="8">
                  <c:v>209.33</c:v>
                </c:pt>
                <c:pt idx="9">
                  <c:v>302.135</c:v>
                </c:pt>
                <c:pt idx="10">
                  <c:v>342.774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59.317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995.518</c:v>
                </c:pt>
                <c:pt idx="2">
                  <c:v>1709.784</c:v>
                </c:pt>
                <c:pt idx="3">
                  <c:v>1836.545</c:v>
                </c:pt>
                <c:pt idx="4">
                  <c:v>2226.797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995.518</c:v>
                </c:pt>
                <c:pt idx="1">
                  <c:v>714.2660000000001</c:v>
                </c:pt>
                <c:pt idx="2">
                  <c:v>126.761</c:v>
                </c:pt>
                <c:pt idx="3">
                  <c:v>390.252</c:v>
                </c:pt>
                <c:pt idx="4">
                  <c:v>97.23400000000001</c:v>
                </c:pt>
                <c:pt idx="5">
                  <c:v>2324.0310000000004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714.2660000000001</c:v>
                </c:pt>
                <c:pt idx="2">
                  <c:v>841.027</c:v>
                </c:pt>
                <c:pt idx="3">
                  <c:v>1231.279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714.2660000000001</c:v>
                </c:pt>
                <c:pt idx="1">
                  <c:v>126.761</c:v>
                </c:pt>
                <c:pt idx="2">
                  <c:v>390.252</c:v>
                </c:pt>
                <c:pt idx="3">
                  <c:v>97.23400000000001</c:v>
                </c:pt>
                <c:pt idx="4">
                  <c:v>1328.513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995.515</c:v>
                </c:pt>
                <c:pt idx="2">
                  <c:v>1436.333</c:v>
                </c:pt>
                <c:pt idx="3">
                  <c:v>1690.8010000000002</c:v>
                </c:pt>
                <c:pt idx="4">
                  <c:v>1830.2730000000001</c:v>
                </c:pt>
                <c:pt idx="5">
                  <c:v>1936.288</c:v>
                </c:pt>
                <c:pt idx="6">
                  <c:v>2033.817</c:v>
                </c:pt>
                <c:pt idx="7">
                  <c:v>2096.856</c:v>
                </c:pt>
                <c:pt idx="8">
                  <c:v>2121.7900000000004</c:v>
                </c:pt>
                <c:pt idx="9">
                  <c:v>2204.7120000000004</c:v>
                </c:pt>
                <c:pt idx="10">
                  <c:v>2243.2050000000004</c:v>
                </c:pt>
                <c:pt idx="11">
                  <c:v>2278.4350000000004</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995.515</c:v>
                </c:pt>
                <c:pt idx="1">
                  <c:v>440.81800000000004</c:v>
                </c:pt>
                <c:pt idx="2">
                  <c:v>254.46800000000002</c:v>
                </c:pt>
                <c:pt idx="3">
                  <c:v>139.47199999999998</c:v>
                </c:pt>
                <c:pt idx="4">
                  <c:v>106.01499999999999</c:v>
                </c:pt>
                <c:pt idx="5">
                  <c:v>97.529</c:v>
                </c:pt>
                <c:pt idx="6">
                  <c:v>63.039</c:v>
                </c:pt>
                <c:pt idx="7">
                  <c:v>24.933999999999997</c:v>
                </c:pt>
                <c:pt idx="8">
                  <c:v>82.922</c:v>
                </c:pt>
                <c:pt idx="9">
                  <c:v>38.49300000000001</c:v>
                </c:pt>
                <c:pt idx="10">
                  <c:v>35.230000000000004</c:v>
                </c:pt>
                <c:pt idx="11">
                  <c:v>45.59400000000001</c:v>
                </c:pt>
                <c:pt idx="12">
                  <c:v>2324.029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440.81800000000004</c:v>
                </c:pt>
                <c:pt idx="2">
                  <c:v>695.2860000000001</c:v>
                </c:pt>
                <c:pt idx="3">
                  <c:v>834.758</c:v>
                </c:pt>
                <c:pt idx="4">
                  <c:v>940.773</c:v>
                </c:pt>
                <c:pt idx="5">
                  <c:v>1038.3020000000001</c:v>
                </c:pt>
                <c:pt idx="6">
                  <c:v>1101.3410000000001</c:v>
                </c:pt>
                <c:pt idx="7">
                  <c:v>1126.275</c:v>
                </c:pt>
                <c:pt idx="8">
                  <c:v>1209.1970000000001</c:v>
                </c:pt>
                <c:pt idx="9">
                  <c:v>1247.69</c:v>
                </c:pt>
                <c:pt idx="10">
                  <c:v>1282.92</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440.81800000000004</c:v>
                </c:pt>
                <c:pt idx="1">
                  <c:v>254.46800000000002</c:v>
                </c:pt>
                <c:pt idx="2">
                  <c:v>139.47199999999998</c:v>
                </c:pt>
                <c:pt idx="3">
                  <c:v>106.01499999999999</c:v>
                </c:pt>
                <c:pt idx="4">
                  <c:v>97.529</c:v>
                </c:pt>
                <c:pt idx="5">
                  <c:v>63.039</c:v>
                </c:pt>
                <c:pt idx="6">
                  <c:v>24.933999999999997</c:v>
                </c:pt>
                <c:pt idx="7">
                  <c:v>82.922</c:v>
                </c:pt>
                <c:pt idx="8">
                  <c:v>38.49300000000001</c:v>
                </c:pt>
                <c:pt idx="9">
                  <c:v>35.230000000000004</c:v>
                </c:pt>
                <c:pt idx="10">
                  <c:v>45.59400000000001</c:v>
                </c:pt>
                <c:pt idx="11">
                  <c:v>1328.5140000000001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995.5160000000001</c:v>
                </c:pt>
                <c:pt idx="2">
                  <c:v>1203.804</c:v>
                </c:pt>
                <c:pt idx="3">
                  <c:v>1610.5910000000001</c:v>
                </c:pt>
                <c:pt idx="4">
                  <c:v>1919.816</c:v>
                </c:pt>
                <c:pt idx="5">
                  <c:v>2000.291</c:v>
                </c:pt>
                <c:pt idx="6">
                  <c:v>2089.2129999999997</c:v>
                </c:pt>
                <c:pt idx="7">
                  <c:v>2196.8489999999997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995.5160000000001</c:v>
                </c:pt>
                <c:pt idx="1">
                  <c:v>208.28799999999998</c:v>
                </c:pt>
                <c:pt idx="2">
                  <c:v>406.787</c:v>
                </c:pt>
                <c:pt idx="3">
                  <c:v>309.22499999999997</c:v>
                </c:pt>
                <c:pt idx="4">
                  <c:v>80.475</c:v>
                </c:pt>
                <c:pt idx="5">
                  <c:v>88.922</c:v>
                </c:pt>
                <c:pt idx="6">
                  <c:v>107.636</c:v>
                </c:pt>
                <c:pt idx="7">
                  <c:v>127.17699999999999</c:v>
                </c:pt>
                <c:pt idx="8">
                  <c:v>2324.026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208.28799999999998</c:v>
                </c:pt>
                <c:pt idx="2">
                  <c:v>615.0749999999999</c:v>
                </c:pt>
                <c:pt idx="3">
                  <c:v>924.3</c:v>
                </c:pt>
                <c:pt idx="4">
                  <c:v>1004.775</c:v>
                </c:pt>
                <c:pt idx="5">
                  <c:v>1093.697</c:v>
                </c:pt>
                <c:pt idx="6">
                  <c:v>1201.3329999999999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208.28799999999998</c:v>
                </c:pt>
                <c:pt idx="1">
                  <c:v>406.787</c:v>
                </c:pt>
                <c:pt idx="2">
                  <c:v>309.22499999999997</c:v>
                </c:pt>
                <c:pt idx="3">
                  <c:v>80.475</c:v>
                </c:pt>
                <c:pt idx="4">
                  <c:v>88.922</c:v>
                </c:pt>
                <c:pt idx="5">
                  <c:v>107.636</c:v>
                </c:pt>
                <c:pt idx="6">
                  <c:v>127.17699999999999</c:v>
                </c:pt>
                <c:pt idx="7">
                  <c:v>1328.5099999999998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995.5160000000001</c:v>
                </c:pt>
                <c:pt idx="2">
                  <c:v>1264.301</c:v>
                </c:pt>
                <c:pt idx="3">
                  <c:v>1699.692</c:v>
                </c:pt>
                <c:pt idx="4">
                  <c:v>2130.999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995.5160000000001</c:v>
                </c:pt>
                <c:pt idx="1">
                  <c:v>268.78499999999997</c:v>
                </c:pt>
                <c:pt idx="2">
                  <c:v>435.39099999999996</c:v>
                </c:pt>
                <c:pt idx="3">
                  <c:v>431.307</c:v>
                </c:pt>
                <c:pt idx="4">
                  <c:v>193.02999999999997</c:v>
                </c:pt>
                <c:pt idx="5">
                  <c:v>2324.029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268.78499999999997</c:v>
                </c:pt>
                <c:pt idx="2">
                  <c:v>704.1759999999999</c:v>
                </c:pt>
                <c:pt idx="3">
                  <c:v>1135.483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268.78499999999997</c:v>
                </c:pt>
                <c:pt idx="1">
                  <c:v>435.39099999999996</c:v>
                </c:pt>
                <c:pt idx="2">
                  <c:v>431.307</c:v>
                </c:pt>
                <c:pt idx="3">
                  <c:v>193.02999999999997</c:v>
                </c:pt>
                <c:pt idx="4">
                  <c:v>1328.513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995.515</c:v>
                </c:pt>
                <c:pt idx="2">
                  <c:v>2120.783</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995.515</c:v>
                </c:pt>
                <c:pt idx="1">
                  <c:v>1125.268</c:v>
                </c:pt>
                <c:pt idx="2">
                  <c:v>203.246</c:v>
                </c:pt>
                <c:pt idx="3">
                  <c:v>2324.029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1125.268</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1125.268</c:v>
                </c:pt>
                <c:pt idx="1">
                  <c:v>203.246</c:v>
                </c:pt>
                <c:pt idx="2">
                  <c:v>1328.5140000000001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995.5160000000001</c:v>
                </c:pt>
                <c:pt idx="2">
                  <c:v>1264.304</c:v>
                </c:pt>
                <c:pt idx="3">
                  <c:v>1699.694</c:v>
                </c:pt>
                <c:pt idx="4">
                  <c:v>2131.001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995.5160000000001</c:v>
                </c:pt>
                <c:pt idx="1">
                  <c:v>268.788</c:v>
                </c:pt>
                <c:pt idx="2">
                  <c:v>435.39</c:v>
                </c:pt>
                <c:pt idx="3">
                  <c:v>431.307</c:v>
                </c:pt>
                <c:pt idx="4">
                  <c:v>193.029</c:v>
                </c:pt>
                <c:pt idx="5">
                  <c:v>2324.0299999999997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268.788</c:v>
                </c:pt>
                <c:pt idx="2">
                  <c:v>704.178</c:v>
                </c:pt>
                <c:pt idx="3">
                  <c:v>1135.4850000000001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268.788</c:v>
                </c:pt>
                <c:pt idx="1">
                  <c:v>435.39</c:v>
                </c:pt>
                <c:pt idx="2">
                  <c:v>431.307</c:v>
                </c:pt>
                <c:pt idx="3">
                  <c:v>193.029</c:v>
                </c:pt>
                <c:pt idx="4">
                  <c:v>1328.5140000000001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7.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Barrier Casings</c:v>
                </c:pt>
              </c:strCache>
            </c:strRef>
          </c:tx>
          <c:spPr>
            <a:ln w="25400">
              <a:solidFill>
                <a:srgbClr val="C55A1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4182.0</c:v>
                </c:pt>
                <c:pt idx="1">
                  <c:v>4192.0</c:v>
                </c:pt>
                <c:pt idx="2">
                  <c:v>4207.0</c:v>
                </c:pt>
                <c:pt idx="3">
                  <c:v>4234.0</c:v>
                </c:pt>
                <c:pt idx="4">
                  <c:v>4262.0</c:v>
                </c:pt>
                <c:pt idx="5">
                  <c:v>4297.0</c:v>
                </c:pt>
                <c:pt idx="6">
                  <c:v>4295.0</c:v>
                </c:pt>
                <c:pt idx="7">
                  <c:v>4303.0</c:v>
                </c:pt>
                <c:pt idx="8">
                  <c:v>4326.0</c:v>
                </c:pt>
                <c:pt idx="9">
                  <c:v>4358.0</c:v>
                </c:pt>
                <c:pt idx="10">
                  <c:v>4402.0</c:v>
                </c:pt>
                <c:pt idx="11">
                  <c:v>4455.0</c:v>
                </c:pt>
                <c:pt idx="12">
                  <c:v>4520.0</c:v>
                </c:pt>
                <c:pt idx="13">
                  <c:v>4596.0</c:v>
                </c:pt>
                <c:pt idx="14">
                  <c:v>4685.0</c:v>
                </c:pt>
                <c:pt idx="15">
                  <c:v>4787.0</c:v>
                </c:pt>
              </c:numCache>
            </c:numRef>
          </c:val>
          <c:smooth val="0"/>
        </c:ser>
        <c:ser>
          <c:idx val="1"/>
          <c:order val="1"/>
          <c:tx>
            <c:strRef>
              <c:f>Sheet1!$C$1</c:f>
              <c:strCache>
                <c:ptCount val="1"/>
                <c:pt idx="0">
                  <c:v>Rollstock Films</c:v>
                </c:pt>
              </c:strCache>
            </c:strRef>
          </c:tx>
          <c:spPr>
            <a:ln w="25400">
              <a:solidFill>
                <a:srgbClr val="0B2E4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2934.0</c:v>
                </c:pt>
                <c:pt idx="1">
                  <c:v>2946.0</c:v>
                </c:pt>
                <c:pt idx="2">
                  <c:v>2958.0</c:v>
                </c:pt>
                <c:pt idx="3">
                  <c:v>2972.0</c:v>
                </c:pt>
                <c:pt idx="4">
                  <c:v>2987.0</c:v>
                </c:pt>
                <c:pt idx="5">
                  <c:v>3003.0</c:v>
                </c:pt>
                <c:pt idx="6">
                  <c:v>3042.0</c:v>
                </c:pt>
                <c:pt idx="7">
                  <c:v>3084.0</c:v>
                </c:pt>
                <c:pt idx="8">
                  <c:v>3128.0</c:v>
                </c:pt>
                <c:pt idx="9">
                  <c:v>3172.0</c:v>
                </c:pt>
                <c:pt idx="10">
                  <c:v>3217.0</c:v>
                </c:pt>
                <c:pt idx="11">
                  <c:v>3260.0</c:v>
                </c:pt>
                <c:pt idx="12">
                  <c:v>3303.0</c:v>
                </c:pt>
                <c:pt idx="13">
                  <c:v>3343.0</c:v>
                </c:pt>
                <c:pt idx="14">
                  <c:v>3382.0</c:v>
                </c:pt>
                <c:pt idx="15">
                  <c:v>3417.0</c:v>
                </c:pt>
              </c:numCache>
            </c:numRef>
          </c:val>
          <c:smooth val="0"/>
        </c:ser>
        <c:ser>
          <c:idx val="2"/>
          <c:order val="2"/>
          <c:tx>
            <c:strRef>
              <c:f>Sheet1!$D$1</c:f>
              <c:strCache>
                <c:ptCount val="1"/>
                <c:pt idx="0">
                  <c:v>Premade Pouches &amp; Bags</c:v>
                </c:pt>
              </c:strCache>
            </c:strRef>
          </c:tx>
          <c:spPr>
            <a:ln w="25400">
              <a:solidFill>
                <a:srgbClr val="7030A0"/>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2694.0</c:v>
                </c:pt>
                <c:pt idx="1">
                  <c:v>2707.0</c:v>
                </c:pt>
                <c:pt idx="2">
                  <c:v>2718.0</c:v>
                </c:pt>
                <c:pt idx="3">
                  <c:v>2729.0</c:v>
                </c:pt>
                <c:pt idx="4">
                  <c:v>2738.0</c:v>
                </c:pt>
                <c:pt idx="5">
                  <c:v>2749.0</c:v>
                </c:pt>
                <c:pt idx="6">
                  <c:v>2773.0</c:v>
                </c:pt>
                <c:pt idx="7">
                  <c:v>2803.0</c:v>
                </c:pt>
                <c:pt idx="8">
                  <c:v>2841.0</c:v>
                </c:pt>
                <c:pt idx="9">
                  <c:v>2886.0</c:v>
                </c:pt>
                <c:pt idx="10">
                  <c:v>2932.0</c:v>
                </c:pt>
                <c:pt idx="11">
                  <c:v>2975.0</c:v>
                </c:pt>
                <c:pt idx="12">
                  <c:v>3015.0</c:v>
                </c:pt>
                <c:pt idx="13">
                  <c:v>3051.0</c:v>
                </c:pt>
                <c:pt idx="14">
                  <c:v>3085.0</c:v>
                </c:pt>
                <c:pt idx="15">
                  <c:v>3117.0</c:v>
                </c:pt>
              </c:numCache>
            </c:numRef>
          </c:val>
          <c:smooth val="0"/>
        </c:ser>
        <c:ser>
          <c:idx val="3"/>
          <c:order val="3"/>
          <c:tx>
            <c:strRef>
              <c:f>Sheet1!$E$1</c:f>
              <c:strCache>
                <c:ptCount val="1"/>
                <c:pt idx="0">
                  <c:v>Sachets &amp; Stick Packs</c:v>
                </c:pt>
              </c:strCache>
            </c:strRef>
          </c:tx>
          <c:spPr>
            <a:ln w="25400">
              <a:solidFill>
                <a:srgbClr val="008189"/>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2509.0</c:v>
                </c:pt>
                <c:pt idx="1">
                  <c:v>2522.0</c:v>
                </c:pt>
                <c:pt idx="2">
                  <c:v>2533.0</c:v>
                </c:pt>
                <c:pt idx="3">
                  <c:v>2544.0</c:v>
                </c:pt>
                <c:pt idx="4">
                  <c:v>2558.0</c:v>
                </c:pt>
                <c:pt idx="5">
                  <c:v>2573.0</c:v>
                </c:pt>
                <c:pt idx="6">
                  <c:v>2610.0</c:v>
                </c:pt>
                <c:pt idx="7">
                  <c:v>2649.0</c:v>
                </c:pt>
                <c:pt idx="8">
                  <c:v>2685.0</c:v>
                </c:pt>
                <c:pt idx="9">
                  <c:v>2720.0</c:v>
                </c:pt>
                <c:pt idx="10">
                  <c:v>2758.0</c:v>
                </c:pt>
                <c:pt idx="11">
                  <c:v>2801.0</c:v>
                </c:pt>
                <c:pt idx="12">
                  <c:v>2844.0</c:v>
                </c:pt>
                <c:pt idx="13">
                  <c:v>2886.0</c:v>
                </c:pt>
                <c:pt idx="14">
                  <c:v>2925.0</c:v>
                </c:pt>
                <c:pt idx="15">
                  <c:v>2961.0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0"/>
          <c:min val="250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externalData r:id="rId1">
    <c:autoUpdate val="0"/>
  </c:externalData>
</c:chartSpace>
</file>

<file path=ppt/charts/chart2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dPt>
            <c:idx val="3"/>
            <c:spPr>
              <a:solidFill>
                <a:srgbClr val="C55A11"/>
              </a:solidFill>
            </c:spPr>
          </c:dPt>
          <c:cat>
            <c:strRef>
              <c:f>Sheet1!$A$2:$A$5</c:f>
              <c:strCache>
                <c:ptCount val="4"/>
                <c:pt idx="0">
                  <c:v>Sachets &amp; Stick Packs</c:v>
                </c:pt>
                <c:pt idx="1">
                  <c:v>Premade Pouches &amp; Bags</c:v>
                </c:pt>
                <c:pt idx="2">
                  <c:v>Rollstock Films</c:v>
                </c:pt>
                <c:pt idx="3">
                  <c:v>Barrier Casings</c:v>
                </c:pt>
              </c:strCache>
            </c:strRef>
          </c:cat>
          <c:val>
            <c:numRef>
              <c:f>Sheet1!$B$2:$B$5</c:f>
              <c:numCache>
                <c:formatCode>General</c:formatCode>
                <c:ptCount val="4"/>
                <c:pt idx="0">
                  <c:v>86.1</c:v>
                </c:pt>
                <c:pt idx="1">
                  <c:v>91.9</c:v>
                </c:pt>
                <c:pt idx="2">
                  <c:v>100.4</c:v>
                </c:pt>
                <c:pt idx="3">
                  <c:v>143.7</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46.0"/>
          <c:min val="83.0"/>
        </c:scaling>
        <c:delete/>
        <c:axPos val="b"/>
        <c:majorTickMark val="out"/>
        <c:minorTickMark val="none"/>
        <c:tickLblPos val="nextTo"/>
        <c:crossAx val="-2068027336"/>
        <c:crosses val="autoZero"/>
      </c:valAx>
    </c:plotArea>
    <c:dispBlanksAs val="gap"/>
  </c:chart>
  <c:txPr>
    <a:bodyPr/>
    <a:lstStyle/>
    <a:p>
      <a:pPr>
        <a:defRPr sz="1800"/>
      </a:pPr>
      <a:endParaRPr lang="en-US"/>
    </a:p>
  </c:txPr>
  <c:externalData r:id="rId1">
    <c:autoUpdate val="0"/>
  </c:externalData>
</c:chartSpace>
</file>

<file path=ppt/charts/chart249.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f>Sheet1!$B$1</c:f>
              <c:strCache>
                <c:ptCount val="1"/>
                <c:pt idx="0">
                  <c:v>Base</c:v>
                </c:pt>
              </c:strCache>
            </c:strRef>
          </c:tx>
          <c:spPr>
            <a:noFill/>
          </c:spPr>
          <c:cat>
            <c:strRef>
              <c:f>Sheet1!$A$2:$A$6</c:f>
              <c:strCache>
                <c:ptCount val="5"/>
                <c:pt idx="0">
                  <c:v>Israel</c:v>
                </c:pt>
                <c:pt idx="1">
                  <c:v>South Africa</c:v>
                </c:pt>
                <c:pt idx="2">
                  <c:v>UAE</c:v>
                </c:pt>
                <c:pt idx="3">
                  <c:v>Saudi Arabia</c:v>
                </c:pt>
                <c:pt idx="4">
                  <c:v>Turkey</c:v>
                </c:pt>
              </c:strCache>
            </c:strRef>
          </c:cat>
          <c:val>
            <c:numRef>
              <c:f>Sheet1!$B$2:$B$6</c:f>
              <c:numCache>
                <c:formatCode>General</c:formatCode>
                <c:ptCount val="5"/>
                <c:pt idx="0">
                  <c:v>98.3</c:v>
                </c:pt>
                <c:pt idx="1">
                  <c:v>89.9</c:v>
                </c:pt>
                <c:pt idx="2">
                  <c:v>88.6</c:v>
                </c:pt>
                <c:pt idx="3">
                  <c:v>83.6</c:v>
                </c:pt>
                <c:pt idx="4">
                  <c:v>79.2</c:v>
                </c:pt>
              </c:numCache>
            </c:numRef>
          </c:val>
        </c:ser>
        <c:ser>
          <c:idx val="1"/>
          <c:order val="1"/>
          <c:tx>
            <c:strRef>
              <c:f>Sheet1!$C$1</c:f>
              <c:strCache>
                <c:ptCount val="1"/>
                <c:pt idx="0">
                  <c:v>Range</c:v>
                </c:pt>
              </c:strCache>
            </c:strRef>
          </c:tx>
          <c:spPr>
            <a:solidFill>
              <a:srgbClr val="008189"/>
            </a:solidFill>
          </c:spPr>
          <c:dPt>
            <c:idx val="3"/>
            <c:spPr>
              <a:solidFill>
                <a:srgbClr val="5B7DB1"/>
              </a:solidFill>
            </c:spPr>
          </c:dPt>
          <c:dPt>
            <c:idx val="4"/>
            <c:spPr>
              <a:solidFill>
                <a:srgbClr val="5B7DB1"/>
              </a:solidFill>
            </c:spPr>
          </c:dPt>
          <c:cat>
            <c:strRef>
              <c:f>Sheet1!$A$2:$A$6</c:f>
              <c:strCache>
                <c:ptCount val="5"/>
                <c:pt idx="0">
                  <c:v>Israel</c:v>
                </c:pt>
                <c:pt idx="1">
                  <c:v>South Africa</c:v>
                </c:pt>
                <c:pt idx="2">
                  <c:v>UAE</c:v>
                </c:pt>
                <c:pt idx="3">
                  <c:v>Saudi Arabia</c:v>
                </c:pt>
                <c:pt idx="4">
                  <c:v>Turkey</c:v>
                </c:pt>
              </c:strCache>
            </c:strRef>
          </c:cat>
          <c:val>
            <c:numRef>
              <c:f>Sheet1!$C$2:$C$6</c:f>
              <c:numCache>
                <c:formatCode>General</c:formatCode>
                <c:ptCount val="5"/>
                <c:pt idx="0">
                  <c:v>65.4</c:v>
                </c:pt>
                <c:pt idx="1">
                  <c:v>60.1</c:v>
                </c:pt>
                <c:pt idx="2">
                  <c:v>58.9</c:v>
                </c:pt>
                <c:pt idx="3">
                  <c:v>56.7</c:v>
                </c:pt>
                <c:pt idx="4">
                  <c:v>52.9</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65.0"/>
          <c:min val="75.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Middle East &amp; Africa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Middle East &amp; Africa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Middle East &amp; Africa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Middle East &amp; Africa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Middle East &amp; Africa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Middle East &amp; Africa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Middle East &amp; Africa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Middle East &amp; Africa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Middle East &amp; Africa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Middle East &amp; Africa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Middle East &amp; Africa Flexible Plastic Packaging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(1/3)</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(2/3)</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(3/3)</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By Barrier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By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By Barrier Level Vs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2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2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2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2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2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2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2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2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2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2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3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3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3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3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3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Middle East &amp; Africa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3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Middle East &amp; Africa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3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3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3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3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3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Middle East &amp; Africa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3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3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3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3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3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3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3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3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3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3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3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3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3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3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3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3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3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3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3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3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3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3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(1/5)</a:t>
            </a:r>
          </a:p>
        </p:txBody>
      </p:sp>
      <p:sp>
        <p:nvSpPr>
          <p:cNvPr id="4" name="Slide Number Placeholder 3"/>
          <p:cNvSpPr>
            <a:spLocks noGrp="1"/>
          </p:cNvSpPr>
          <p:nvPr>
            <p:ph type="sldNum" idx="5" sz="quarter"/>
          </p:nvPr>
        </p:nvSpPr>
        <p:spPr/>
      </p:sp>
    </p:spTree>
  </p:cSld>
  <p:clrMapOvr>
    <a:masterClrMapping/>
  </p:clrMapOvr>
</p:notes>
</file>

<file path=ppt/notesSlides/notesSlide3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(2/5)</a:t>
            </a:r>
          </a:p>
        </p:txBody>
      </p:sp>
      <p:sp>
        <p:nvSpPr>
          <p:cNvPr id="4" name="Slide Number Placeholder 3"/>
          <p:cNvSpPr>
            <a:spLocks noGrp="1"/>
          </p:cNvSpPr>
          <p:nvPr>
            <p:ph type="sldNum" idx="5" sz="quarter"/>
          </p:nvPr>
        </p:nvSpPr>
        <p:spPr/>
      </p:sp>
    </p:spTree>
  </p:cSld>
  <p:clrMapOvr>
    <a:masterClrMapping/>
  </p:clrMapOvr>
</p:notes>
</file>

<file path=ppt/notesSlides/notesSlide3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(3/5)</a:t>
            </a:r>
          </a:p>
        </p:txBody>
      </p:sp>
      <p:sp>
        <p:nvSpPr>
          <p:cNvPr id="4" name="Slide Number Placeholder 3"/>
          <p:cNvSpPr>
            <a:spLocks noGrp="1"/>
          </p:cNvSpPr>
          <p:nvPr>
            <p:ph type="sldNum" idx="5" sz="quarter"/>
          </p:nvPr>
        </p:nvSpPr>
        <p:spPr/>
      </p:sp>
    </p:spTree>
  </p:cSld>
  <p:clrMapOvr>
    <a:masterClrMapping/>
  </p:clrMapOvr>
</p:notes>
</file>

<file path=ppt/notesSlides/notesSlide3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(4/5)</a:t>
            </a:r>
          </a:p>
        </p:txBody>
      </p:sp>
      <p:sp>
        <p:nvSpPr>
          <p:cNvPr id="4" name="Slide Number Placeholder 3"/>
          <p:cNvSpPr>
            <a:spLocks noGrp="1"/>
          </p:cNvSpPr>
          <p:nvPr>
            <p:ph type="sldNum" idx="5" sz="quarter"/>
          </p:nvPr>
        </p:nvSpPr>
        <p:spPr/>
      </p:sp>
    </p:spTree>
  </p:cSld>
  <p:clrMapOvr>
    <a:masterClrMapping/>
  </p:clrMapOvr>
</p:notes>
</file>

<file path=ppt/notesSlides/notesSlide3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(5/5)</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374.xml"/><Relationship Id="rId7" Type="http://schemas.openxmlformats.org/officeDocument/2006/relationships/slide" Target="slide384.xml"/><Relationship Id="rId8" Type="http://schemas.openxmlformats.org/officeDocument/2006/relationships/slide" Target="slide10.xml"/><Relationship Id="rId9" Type="http://schemas.openxmlformats.org/officeDocument/2006/relationships/slide" Target="slide11.xml"/><Relationship Id="rId10" Type="http://schemas.openxmlformats.org/officeDocument/2006/relationships/slide" Target="slide21.xml"/><Relationship Id="rId11" Type="http://schemas.openxmlformats.org/officeDocument/2006/relationships/slide" Target="slide29.xml"/><Relationship Id="rId12" Type="http://schemas.openxmlformats.org/officeDocument/2006/relationships/slide" Target="slide103.xml"/><Relationship Id="rId13" Type="http://schemas.openxmlformats.org/officeDocument/2006/relationships/slide" Target="slide105.xml"/><Relationship Id="rId14" Type="http://schemas.openxmlformats.org/officeDocument/2006/relationships/slide" Target="slide109.xml"/><Relationship Id="rId15" Type="http://schemas.openxmlformats.org/officeDocument/2006/relationships/slide" Target="slide343.xml"/><Relationship Id="rId16" Type="http://schemas.openxmlformats.org/officeDocument/2006/relationships/slide" Target="slide344.xml"/><Relationship Id="rId17" Type="http://schemas.openxmlformats.org/officeDocument/2006/relationships/slide" Target="slide355.xml"/><Relationship Id="rId18" Type="http://schemas.openxmlformats.org/officeDocument/2006/relationships/slide" Target="slide359.xml"/><Relationship Id="rId19" Type="http://schemas.openxmlformats.org/officeDocument/2006/relationships/slide" Target="slide36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notesSlide" Target="../notesSlides/notesSlide3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notesSlide" Target="../notesSlides/notesSlide3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chart" Target="../charts/chart29.xml"/><Relationship Id="rId5" Type="http://schemas.openxmlformats.org/officeDocument/2006/relationships/chart" Target="../charts/chart30.xml"/><Relationship Id="rId6" Type="http://schemas.openxmlformats.org/officeDocument/2006/relationships/chart" Target="../charts/chart31.xml"/><Relationship Id="rId7" Type="http://schemas.openxmlformats.org/officeDocument/2006/relationships/notesSlide" Target="../notesSlides/notesSlide3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xml"/><Relationship Id="rId4" Type="http://schemas.openxmlformats.org/officeDocument/2006/relationships/chart" Target="../charts/chart33.xml"/><Relationship Id="rId5" Type="http://schemas.openxmlformats.org/officeDocument/2006/relationships/chart" Target="../charts/chart34.xml"/><Relationship Id="rId6" Type="http://schemas.openxmlformats.org/officeDocument/2006/relationships/notesSlide" Target="../notesSlides/notesSlide4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xml"/><Relationship Id="rId4" Type="http://schemas.openxmlformats.org/officeDocument/2006/relationships/notesSlide" Target="../notesSlides/notesSlide4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notesSlide" Target="../notesSlides/notesSlide4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chart" Target="../charts/chart39.xml"/><Relationship Id="rId5" Type="http://schemas.openxmlformats.org/officeDocument/2006/relationships/chart" Target="../charts/chart40.xml"/><Relationship Id="rId6" Type="http://schemas.openxmlformats.org/officeDocument/2006/relationships/chart" Target="../charts/chart41.xml"/><Relationship Id="rId7" Type="http://schemas.openxmlformats.org/officeDocument/2006/relationships/notesSlide" Target="../notesSlides/notesSlide4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chart" Target="../charts/chart43.xml"/><Relationship Id="rId5" Type="http://schemas.openxmlformats.org/officeDocument/2006/relationships/chart" Target="../charts/chart44.xml"/><Relationship Id="rId6" Type="http://schemas.openxmlformats.org/officeDocument/2006/relationships/notesSlide" Target="../notesSlides/notesSlide5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notesSlide" Target="../notesSlides/notesSlide5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chart" Target="../charts/chart47.xml"/><Relationship Id="rId5" Type="http://schemas.openxmlformats.org/officeDocument/2006/relationships/notesSlide" Target="../notesSlides/notesSlide6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xml"/><Relationship Id="rId4" Type="http://schemas.openxmlformats.org/officeDocument/2006/relationships/chart" Target="../charts/chart49.xml"/><Relationship Id="rId5" Type="http://schemas.openxmlformats.org/officeDocument/2006/relationships/chart" Target="../charts/chart50.xml"/><Relationship Id="rId6" Type="http://schemas.openxmlformats.org/officeDocument/2006/relationships/chart" Target="../charts/chart51.xml"/><Relationship Id="rId7" Type="http://schemas.openxmlformats.org/officeDocument/2006/relationships/notesSlide" Target="../notesSlides/notesSlide6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6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chart" Target="../charts/chart54.xml"/><Relationship Id="rId5" Type="http://schemas.openxmlformats.org/officeDocument/2006/relationships/notesSlide" Target="../notesSlides/notesSlide6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notesSlide" Target="../notesSlides/notesSlide70.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xml"/><Relationship Id="rId4" Type="http://schemas.openxmlformats.org/officeDocument/2006/relationships/notesSlide" Target="../notesSlides/notesSlide7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8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chart" Target="../charts/chart62.xml"/><Relationship Id="rId6" Type="http://schemas.openxmlformats.org/officeDocument/2006/relationships/chart" Target="../charts/chart63.xml"/><Relationship Id="rId7" Type="http://schemas.openxmlformats.org/officeDocument/2006/relationships/notesSlide" Target="../notesSlides/notesSlide8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8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chart" Target="../charts/chart66.xml"/><Relationship Id="rId5" Type="http://schemas.openxmlformats.org/officeDocument/2006/relationships/chart" Target="../charts/chart67.xml"/><Relationship Id="rId6" Type="http://schemas.openxmlformats.org/officeDocument/2006/relationships/chart" Target="../charts/chart68.xml"/><Relationship Id="rId7" Type="http://schemas.openxmlformats.org/officeDocument/2006/relationships/notesSlide" Target="../notesSlides/notesSlide9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xml"/><Relationship Id="rId4" Type="http://schemas.openxmlformats.org/officeDocument/2006/relationships/chart" Target="../charts/chart70.xml"/><Relationship Id="rId5" Type="http://schemas.openxmlformats.org/officeDocument/2006/relationships/chart" Target="../charts/chart71.xml"/><Relationship Id="rId6" Type="http://schemas.openxmlformats.org/officeDocument/2006/relationships/chart" Target="../charts/chart72.xml"/><Relationship Id="rId7" Type="http://schemas.openxmlformats.org/officeDocument/2006/relationships/notesSlide" Target="../notesSlides/notesSlide9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chart" Target="../charts/chart74.xml"/><Relationship Id="rId5" Type="http://schemas.openxmlformats.org/officeDocument/2006/relationships/chart" Target="../charts/chart75.xml"/><Relationship Id="rId6" Type="http://schemas.openxmlformats.org/officeDocument/2006/relationships/chart" Target="../charts/chart76.xml"/><Relationship Id="rId7" Type="http://schemas.openxmlformats.org/officeDocument/2006/relationships/chart" Target="../charts/chart77.xml"/><Relationship Id="rId8" Type="http://schemas.openxmlformats.org/officeDocument/2006/relationships/chart" Target="../charts/chart78.xml"/><Relationship Id="rId9" Type="http://schemas.openxmlformats.org/officeDocument/2006/relationships/notesSlide" Target="../notesSlides/notesSlide9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xml"/><Relationship Id="rId4" Type="http://schemas.openxmlformats.org/officeDocument/2006/relationships/chart" Target="../charts/chart80.xml"/><Relationship Id="rId5" Type="http://schemas.openxmlformats.org/officeDocument/2006/relationships/notesSlide" Target="../notesSlides/notesSlide9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99.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notesSlide" Target="../notesSlides/notesSlide10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xml"/><Relationship Id="rId4" Type="http://schemas.openxmlformats.org/officeDocument/2006/relationships/chart" Target="../charts/chart84.xml"/><Relationship Id="rId5" Type="http://schemas.openxmlformats.org/officeDocument/2006/relationships/notesSlide" Target="../notesSlides/notesSlide105.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chart" Target="../charts/chart86.xml"/><Relationship Id="rId5" Type="http://schemas.openxmlformats.org/officeDocument/2006/relationships/notesSlide" Target="../notesSlides/notesSlide11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1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notesSlide" Target="../notesSlides/notesSlide11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xml"/><Relationship Id="rId4" Type="http://schemas.openxmlformats.org/officeDocument/2006/relationships/chart" Target="../charts/chart92.xml"/><Relationship Id="rId5" Type="http://schemas.openxmlformats.org/officeDocument/2006/relationships/chart" Target="../charts/chart93.xml"/><Relationship Id="rId6" Type="http://schemas.openxmlformats.org/officeDocument/2006/relationships/chart" Target="../charts/chart94.xml"/><Relationship Id="rId7" Type="http://schemas.openxmlformats.org/officeDocument/2006/relationships/notesSlide" Target="../notesSlides/notesSlide12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chart" Target="../charts/chart96.xml"/><Relationship Id="rId5" Type="http://schemas.openxmlformats.org/officeDocument/2006/relationships/chart" Target="../charts/chart97.xml"/><Relationship Id="rId6" Type="http://schemas.openxmlformats.org/officeDocument/2006/relationships/chart" Target="../charts/chart98.xml"/><Relationship Id="rId7" Type="http://schemas.openxmlformats.org/officeDocument/2006/relationships/notesSlide" Target="../notesSlides/notesSlide12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chart" Target="../charts/chart100.xml"/><Relationship Id="rId5" Type="http://schemas.openxmlformats.org/officeDocument/2006/relationships/chart" Target="../charts/chart101.xml"/><Relationship Id="rId6" Type="http://schemas.openxmlformats.org/officeDocument/2006/relationships/chart" Target="../charts/chart102.xml"/><Relationship Id="rId7" Type="http://schemas.openxmlformats.org/officeDocument/2006/relationships/chart" Target="../charts/chart103.xml"/><Relationship Id="rId8" Type="http://schemas.openxmlformats.org/officeDocument/2006/relationships/chart" Target="../charts/chart104.xml"/><Relationship Id="rId9" Type="http://schemas.openxmlformats.org/officeDocument/2006/relationships/notesSlide" Target="../notesSlides/notesSlide125.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chart" Target="../charts/chart106.xml"/><Relationship Id="rId5" Type="http://schemas.openxmlformats.org/officeDocument/2006/relationships/notesSlide" Target="../notesSlides/notesSlide12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notesSlide" Target="../notesSlides/notesSlide131.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notesSlide" Target="../notesSlides/notesSlide13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xml"/><Relationship Id="rId4" Type="http://schemas.openxmlformats.org/officeDocument/2006/relationships/chart" Target="../charts/chart110.xml"/><Relationship Id="rId5" Type="http://schemas.openxmlformats.org/officeDocument/2006/relationships/notesSlide" Target="../notesSlides/notesSlide13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notesSlide" Target="../notesSlides/notesSlide14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notesSlide" Target="../notesSlides/notesSlide145.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notesSlide" Target="../notesSlides/notesSlide150.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chart" Target="../charts/chart118.xml"/><Relationship Id="rId5" Type="http://schemas.openxmlformats.org/officeDocument/2006/relationships/chart" Target="../charts/chart119.xml"/><Relationship Id="rId6" Type="http://schemas.openxmlformats.org/officeDocument/2006/relationships/chart" Target="../charts/chart120.xml"/><Relationship Id="rId7" Type="http://schemas.openxmlformats.org/officeDocument/2006/relationships/notesSlide" Target="../notesSlides/notesSlide155.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chart" Target="../charts/chart122.xml"/><Relationship Id="rId5" Type="http://schemas.openxmlformats.org/officeDocument/2006/relationships/chart" Target="../charts/chart123.xml"/><Relationship Id="rId6" Type="http://schemas.openxmlformats.org/officeDocument/2006/relationships/chart" Target="../charts/chart124.xml"/><Relationship Id="rId7" Type="http://schemas.openxmlformats.org/officeDocument/2006/relationships/notesSlide" Target="../notesSlides/notesSlide15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xml"/><Relationship Id="rId4" Type="http://schemas.openxmlformats.org/officeDocument/2006/relationships/chart" Target="../charts/chart126.xml"/><Relationship Id="rId5" Type="http://schemas.openxmlformats.org/officeDocument/2006/relationships/chart" Target="../charts/chart127.xml"/><Relationship Id="rId6" Type="http://schemas.openxmlformats.org/officeDocument/2006/relationships/chart" Target="../charts/chart128.xml"/><Relationship Id="rId7" Type="http://schemas.openxmlformats.org/officeDocument/2006/relationships/chart" Target="../charts/chart129.xml"/><Relationship Id="rId8" Type="http://schemas.openxmlformats.org/officeDocument/2006/relationships/chart" Target="../charts/chart130.xml"/><Relationship Id="rId9" Type="http://schemas.openxmlformats.org/officeDocument/2006/relationships/notesSlide" Target="../notesSlides/notesSlide15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158.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6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notesSlide" Target="../notesSlides/notesSlide164.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169.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chart" Target="../charts/chart138.xml"/><Relationship Id="rId5" Type="http://schemas.openxmlformats.org/officeDocument/2006/relationships/notesSlide" Target="../notesSlides/notesSlide174.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chart" Target="../charts/chart140.xml"/><Relationship Id="rId5" Type="http://schemas.openxmlformats.org/officeDocument/2006/relationships/notesSlide" Target="../notesSlides/notesSlide17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xml"/><Relationship Id="rId4" Type="http://schemas.openxmlformats.org/officeDocument/2006/relationships/chart" Target="../charts/chart142.xml"/><Relationship Id="rId5" Type="http://schemas.openxmlformats.org/officeDocument/2006/relationships/notesSlide" Target="../notesSlides/notesSlide18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4.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chart" Target="../charts/chart144.xml"/><Relationship Id="rId5" Type="http://schemas.openxmlformats.org/officeDocument/2006/relationships/chart" Target="../charts/chart145.xml"/><Relationship Id="rId6" Type="http://schemas.openxmlformats.org/officeDocument/2006/relationships/chart" Target="../charts/chart146.xml"/><Relationship Id="rId7" Type="http://schemas.openxmlformats.org/officeDocument/2006/relationships/notesSlide" Target="../notesSlides/notesSlide18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xml"/><Relationship Id="rId4" Type="http://schemas.openxmlformats.org/officeDocument/2006/relationships/chart" Target="../charts/chart148.xml"/><Relationship Id="rId5" Type="http://schemas.openxmlformats.org/officeDocument/2006/relationships/chart" Target="../charts/chart149.xml"/><Relationship Id="rId6" Type="http://schemas.openxmlformats.org/officeDocument/2006/relationships/chart" Target="../charts/chart150.xml"/><Relationship Id="rId7" Type="http://schemas.openxmlformats.org/officeDocument/2006/relationships/notesSlide" Target="../notesSlides/notes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xml"/><Relationship Id="rId4" Type="http://schemas.openxmlformats.org/officeDocument/2006/relationships/chart" Target="../charts/chart152.xml"/><Relationship Id="rId5" Type="http://schemas.openxmlformats.org/officeDocument/2006/relationships/chart" Target="../charts/chart153.xml"/><Relationship Id="rId6" Type="http://schemas.openxmlformats.org/officeDocument/2006/relationships/chart" Target="../charts/chart154.xml"/><Relationship Id="rId7" Type="http://schemas.openxmlformats.org/officeDocument/2006/relationships/chart" Target="../charts/chart155.xml"/><Relationship Id="rId8" Type="http://schemas.openxmlformats.org/officeDocument/2006/relationships/chart" Target="../charts/chart156.xml"/><Relationship Id="rId9" Type="http://schemas.openxmlformats.org/officeDocument/2006/relationships/notesSlide" Target="../notesSlides/notesSlide189.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chart" Target="../charts/chart158.xml"/><Relationship Id="rId5" Type="http://schemas.openxmlformats.org/officeDocument/2006/relationships/notesSlide" Target="../notesSlides/notesSlide190.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xml"/><Relationship Id="rId4" Type="http://schemas.openxmlformats.org/officeDocument/2006/relationships/notesSlide" Target="../notesSlides/notesSlide195.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xml"/><Relationship Id="rId4" Type="http://schemas.openxmlformats.org/officeDocument/2006/relationships/notesSlide" Target="../notesSlides/notesSlide196.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1.xml"/><Relationship Id="rId4" Type="http://schemas.openxmlformats.org/officeDocument/2006/relationships/chart" Target="../charts/chart162.xml"/><Relationship Id="rId5" Type="http://schemas.openxmlformats.org/officeDocument/2006/relationships/notesSlide" Target="../notesSlides/notesSlide201.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3.xml"/><Relationship Id="rId4" Type="http://schemas.openxmlformats.org/officeDocument/2006/relationships/chart" Target="../charts/chart164.xml"/><Relationship Id="rId5" Type="http://schemas.openxmlformats.org/officeDocument/2006/relationships/notesSlide" Target="../notesSlides/notesSlide206.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5.xml"/><Relationship Id="rId4" Type="http://schemas.openxmlformats.org/officeDocument/2006/relationships/chart" Target="../charts/chart166.xml"/><Relationship Id="rId5" Type="http://schemas.openxmlformats.org/officeDocument/2006/relationships/notesSlide" Target="../notesSlides/notesSlide20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7.xml"/><Relationship Id="rId4" Type="http://schemas.openxmlformats.org/officeDocument/2006/relationships/chart" Target="../charts/chart168.xml"/><Relationship Id="rId5" Type="http://schemas.openxmlformats.org/officeDocument/2006/relationships/notesSlide" Target="../notesSlides/notesSlide214.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9.xml"/><Relationship Id="rId4" Type="http://schemas.openxmlformats.org/officeDocument/2006/relationships/chart" Target="../charts/chart170.xml"/><Relationship Id="rId5" Type="http://schemas.openxmlformats.org/officeDocument/2006/relationships/chart" Target="../charts/chart171.xml"/><Relationship Id="rId6" Type="http://schemas.openxmlformats.org/officeDocument/2006/relationships/chart" Target="../charts/chart172.xml"/><Relationship Id="rId7" Type="http://schemas.openxmlformats.org/officeDocument/2006/relationships/notesSlide" Target="../notesSlides/notesSlide219.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3.xml"/><Relationship Id="rId4" Type="http://schemas.openxmlformats.org/officeDocument/2006/relationships/chart" Target="../charts/chart174.xml"/><Relationship Id="rId5" Type="http://schemas.openxmlformats.org/officeDocument/2006/relationships/chart" Target="../charts/chart175.xml"/><Relationship Id="rId6" Type="http://schemas.openxmlformats.org/officeDocument/2006/relationships/chart" Target="../charts/chart176.xml"/><Relationship Id="rId7" Type="http://schemas.openxmlformats.org/officeDocument/2006/relationships/notesSlide" Target="../notesSlides/notesSlide220.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7.xml"/><Relationship Id="rId4" Type="http://schemas.openxmlformats.org/officeDocument/2006/relationships/chart" Target="../charts/chart178.xml"/><Relationship Id="rId5" Type="http://schemas.openxmlformats.org/officeDocument/2006/relationships/chart" Target="../charts/chart179.xml"/><Relationship Id="rId6" Type="http://schemas.openxmlformats.org/officeDocument/2006/relationships/chart" Target="../charts/chart180.xml"/><Relationship Id="rId7" Type="http://schemas.openxmlformats.org/officeDocument/2006/relationships/chart" Target="../charts/chart181.xml"/><Relationship Id="rId8" Type="http://schemas.openxmlformats.org/officeDocument/2006/relationships/chart" Target="../charts/chart182.xml"/><Relationship Id="rId9" Type="http://schemas.openxmlformats.org/officeDocument/2006/relationships/notesSlide" Target="../notesSlides/notesSlide221.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3.xml"/><Relationship Id="rId4" Type="http://schemas.openxmlformats.org/officeDocument/2006/relationships/chart" Target="../charts/chart184.xml"/><Relationship Id="rId5" Type="http://schemas.openxmlformats.org/officeDocument/2006/relationships/notesSlide" Target="../notesSlides/notesSlide22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5.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6.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5.xml"/><Relationship Id="rId4" Type="http://schemas.openxmlformats.org/officeDocument/2006/relationships/notesSlide" Target="../notesSlides/notesSlide22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6.xml"/><Relationship Id="rId4" Type="http://schemas.openxmlformats.org/officeDocument/2006/relationships/notesSlide" Target="../notesSlides/notesSlide228.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9.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7.xml"/><Relationship Id="rId4" Type="http://schemas.openxmlformats.org/officeDocument/2006/relationships/chart" Target="../charts/chart188.xml"/><Relationship Id="rId5" Type="http://schemas.openxmlformats.org/officeDocument/2006/relationships/notesSlide" Target="../notesSlides/notesSlide233.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4.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5.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9.xml"/><Relationship Id="rId4" Type="http://schemas.openxmlformats.org/officeDocument/2006/relationships/chart" Target="../charts/chart190.xml"/><Relationship Id="rId5" Type="http://schemas.openxmlformats.org/officeDocument/2006/relationships/notesSlide" Target="../notesSlides/notesSlide238.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1.xml"/><Relationship Id="rId4" Type="http://schemas.openxmlformats.org/officeDocument/2006/relationships/chart" Target="../charts/chart192.xml"/><Relationship Id="rId5" Type="http://schemas.openxmlformats.org/officeDocument/2006/relationships/notesSlide" Target="../notesSlides/notesSlide241.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2.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3.xml"/><Relationship Id="rId4" Type="http://schemas.openxmlformats.org/officeDocument/2006/relationships/chart" Target="../charts/chart194.xml"/><Relationship Id="rId5" Type="http://schemas.openxmlformats.org/officeDocument/2006/relationships/notesSlide" Target="../notesSlides/notesSlide246.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5.xml"/><Relationship Id="rId4" Type="http://schemas.openxmlformats.org/officeDocument/2006/relationships/chart" Target="../charts/chart196.xml"/><Relationship Id="rId5" Type="http://schemas.openxmlformats.org/officeDocument/2006/relationships/chart" Target="../charts/chart197.xml"/><Relationship Id="rId6" Type="http://schemas.openxmlformats.org/officeDocument/2006/relationships/chart" Target="../charts/chart198.xml"/><Relationship Id="rId7" Type="http://schemas.openxmlformats.org/officeDocument/2006/relationships/notesSlide" Target="../notesSlides/notesSlide251.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9.xml"/><Relationship Id="rId4" Type="http://schemas.openxmlformats.org/officeDocument/2006/relationships/chart" Target="../charts/chart200.xml"/><Relationship Id="rId5" Type="http://schemas.openxmlformats.org/officeDocument/2006/relationships/chart" Target="../charts/chart201.xml"/><Relationship Id="rId6" Type="http://schemas.openxmlformats.org/officeDocument/2006/relationships/chart" Target="../charts/chart202.xml"/><Relationship Id="rId7" Type="http://schemas.openxmlformats.org/officeDocument/2006/relationships/notesSlide" Target="../notesSlides/notesSlide25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3.xml"/><Relationship Id="rId4" Type="http://schemas.openxmlformats.org/officeDocument/2006/relationships/chart" Target="../charts/chart204.xml"/><Relationship Id="rId5" Type="http://schemas.openxmlformats.org/officeDocument/2006/relationships/chart" Target="../charts/chart205.xml"/><Relationship Id="rId6" Type="http://schemas.openxmlformats.org/officeDocument/2006/relationships/chart" Target="../charts/chart206.xml"/><Relationship Id="rId7" Type="http://schemas.openxmlformats.org/officeDocument/2006/relationships/chart" Target="../charts/chart207.xml"/><Relationship Id="rId8" Type="http://schemas.openxmlformats.org/officeDocument/2006/relationships/chart" Target="../charts/chart208.xml"/><Relationship Id="rId9" Type="http://schemas.openxmlformats.org/officeDocument/2006/relationships/notesSlide" Target="../notesSlides/notesSlide253.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9.xml"/><Relationship Id="rId4" Type="http://schemas.openxmlformats.org/officeDocument/2006/relationships/chart" Target="../charts/chart210.xml"/><Relationship Id="rId5" Type="http://schemas.openxmlformats.org/officeDocument/2006/relationships/notesSlide" Target="../notesSlides/notesSlide254.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5.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8.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1.xml"/><Relationship Id="rId4" Type="http://schemas.openxmlformats.org/officeDocument/2006/relationships/notesSlide" Target="../notesSlides/notesSlide259.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2.xml"/><Relationship Id="rId4" Type="http://schemas.openxmlformats.org/officeDocument/2006/relationships/notesSlide" Target="../notesSlides/notesSlide26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1.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4.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3.xml"/><Relationship Id="rId4" Type="http://schemas.openxmlformats.org/officeDocument/2006/relationships/chart" Target="../charts/chart214.xml"/><Relationship Id="rId5" Type="http://schemas.openxmlformats.org/officeDocument/2006/relationships/notesSlide" Target="../notesSlides/notesSlide265.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6.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9.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5.xml"/><Relationship Id="rId4" Type="http://schemas.openxmlformats.org/officeDocument/2006/relationships/chart" Target="../charts/chart216.xml"/><Relationship Id="rId5" Type="http://schemas.openxmlformats.org/officeDocument/2006/relationships/notesSlide" Target="../notesSlides/notesSlide270.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1.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7.xml"/><Relationship Id="rId4" Type="http://schemas.openxmlformats.org/officeDocument/2006/relationships/chart" Target="../charts/chart218.xml"/><Relationship Id="rId5" Type="http://schemas.openxmlformats.org/officeDocument/2006/relationships/notesSlide" Target="../notesSlides/notesSlide273.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4.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5.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6.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9.xml"/><Relationship Id="rId4" Type="http://schemas.openxmlformats.org/officeDocument/2006/relationships/chart" Target="../charts/chart220.xml"/><Relationship Id="rId5" Type="http://schemas.openxmlformats.org/officeDocument/2006/relationships/notesSlide" Target="../notesSlides/notesSlide278.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0.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1.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2.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1.xml"/><Relationship Id="rId4" Type="http://schemas.openxmlformats.org/officeDocument/2006/relationships/chart" Target="../charts/chart222.xml"/><Relationship Id="rId5" Type="http://schemas.openxmlformats.org/officeDocument/2006/relationships/chart" Target="../charts/chart223.xml"/><Relationship Id="rId6" Type="http://schemas.openxmlformats.org/officeDocument/2006/relationships/chart" Target="../charts/chart224.xml"/><Relationship Id="rId7" Type="http://schemas.openxmlformats.org/officeDocument/2006/relationships/notesSlide" Target="../notesSlides/notesSlide283.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5.xml"/><Relationship Id="rId4" Type="http://schemas.openxmlformats.org/officeDocument/2006/relationships/chart" Target="../charts/chart226.xml"/><Relationship Id="rId5" Type="http://schemas.openxmlformats.org/officeDocument/2006/relationships/chart" Target="../charts/chart227.xml"/><Relationship Id="rId6" Type="http://schemas.openxmlformats.org/officeDocument/2006/relationships/chart" Target="../charts/chart228.xml"/><Relationship Id="rId7" Type="http://schemas.openxmlformats.org/officeDocument/2006/relationships/notesSlide" Target="../notesSlides/notesSlide284.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9.xml"/><Relationship Id="rId4" Type="http://schemas.openxmlformats.org/officeDocument/2006/relationships/chart" Target="../charts/chart230.xml"/><Relationship Id="rId5" Type="http://schemas.openxmlformats.org/officeDocument/2006/relationships/chart" Target="../charts/chart231.xml"/><Relationship Id="rId6" Type="http://schemas.openxmlformats.org/officeDocument/2006/relationships/chart" Target="../charts/chart232.xml"/><Relationship Id="rId7" Type="http://schemas.openxmlformats.org/officeDocument/2006/relationships/chart" Target="../charts/chart233.xml"/><Relationship Id="rId8" Type="http://schemas.openxmlformats.org/officeDocument/2006/relationships/chart" Target="../charts/chart234.xml"/><Relationship Id="rId9" Type="http://schemas.openxmlformats.org/officeDocument/2006/relationships/notesSlide" Target="../notesSlides/notesSlide285.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5.xml"/><Relationship Id="rId4" Type="http://schemas.openxmlformats.org/officeDocument/2006/relationships/chart" Target="../charts/chart236.xml"/><Relationship Id="rId5" Type="http://schemas.openxmlformats.org/officeDocument/2006/relationships/notesSlide" Target="../notesSlides/notesSlide286.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8.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9.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0.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7.xml"/><Relationship Id="rId4" Type="http://schemas.openxmlformats.org/officeDocument/2006/relationships/notesSlide" Target="../notesSlides/notesSlide291.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8.xml"/><Relationship Id="rId4" Type="http://schemas.openxmlformats.org/officeDocument/2006/relationships/notesSlide" Target="../notesSlides/notesSlide29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3.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4.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5.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6.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9.xml"/><Relationship Id="rId4" Type="http://schemas.openxmlformats.org/officeDocument/2006/relationships/chart" Target="../charts/chart240.xml"/><Relationship Id="rId5" Type="http://schemas.openxmlformats.org/officeDocument/2006/relationships/notesSlide" Target="../notesSlides/notesSlide297.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8.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9.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1.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1.xml"/><Relationship Id="rId4" Type="http://schemas.openxmlformats.org/officeDocument/2006/relationships/chart" Target="../charts/chart242.xml"/><Relationship Id="rId5" Type="http://schemas.openxmlformats.org/officeDocument/2006/relationships/notesSlide" Target="../notesSlides/notesSlide302.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3.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4.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3.xml"/><Relationship Id="rId4" Type="http://schemas.openxmlformats.org/officeDocument/2006/relationships/chart" Target="../charts/chart244.xml"/><Relationship Id="rId5" Type="http://schemas.openxmlformats.org/officeDocument/2006/relationships/notesSlide" Target="../notesSlides/notesSlide305.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6.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8.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9.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5.xml"/><Relationship Id="rId4" Type="http://schemas.openxmlformats.org/officeDocument/2006/relationships/chart" Target="../charts/chart246.xml"/><Relationship Id="rId5" Type="http://schemas.openxmlformats.org/officeDocument/2006/relationships/notesSlide" Target="../notesSlides/notesSlide310.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1.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2.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3.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4.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5.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6.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7.xml"/><Relationship Id="rId4" Type="http://schemas.openxmlformats.org/officeDocument/2006/relationships/chart" Target="../charts/chart248.xml"/><Relationship Id="rId5" Type="http://schemas.openxmlformats.org/officeDocument/2006/relationships/notesSlide" Target="../notesSlides/notesSlide31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9.xml"/><Relationship Id="rId4" Type="http://schemas.openxmlformats.org/officeDocument/2006/relationships/notesSlide" Target="../notesSlides/notesSlide318.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9.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0.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1.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2.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3.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4.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5.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6.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7.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8.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9.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0.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1.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2.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3.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4.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5.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6.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8.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9.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0.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1.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2.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4.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5.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6.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8.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9.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0.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1.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Middle East &amp; Africa Flexible Plastic Packaging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(Thousand MT) Analysis and Forecast, 2021–2036</a:t>
            </a:r>
          </a:p>
          <a:p>
            <a:pPr algn="l"/>
            <a:r>
              <a:rPr sz="1100" b="0">
                <a:solidFill>
                  <a:srgbClr val="8FCBE6"/>
                </a:solidFill>
                <a:latin typeface="Calibri"/>
              </a:rPr>
              <a:t>Region focus: Middle East &amp; Africa   ·   Country focus: UAE   ·   Generated 08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71915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86913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345325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403737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Middle East &amp; Africa Market Outlook</a:t>
            </a:r>
          </a:p>
        </p:txBody>
      </p:sp>
      <p:sp>
        <p:nvSpPr>
          <p:cNvPr id="16" name="Rounded Rectangle 15">
            <a:hlinkClick action="ppaction://hlinksldjump" r:id="rId9"/>
          </p:cNvPr>
          <p:cNvSpPr/>
          <p:nvPr/>
        </p:nvSpPr>
        <p:spPr>
          <a:xfrm>
            <a:off x="314325" y="460324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Middle East &amp; Africa Overview</a:t>
            </a:r>
          </a:p>
        </p:txBody>
      </p:sp>
      <p:sp>
        <p:nvSpPr>
          <p:cNvPr id="17" name="Rounded Rectangle 16">
            <a:hlinkClick action="ppaction://hlinksldjump" r:id="rId10"/>
          </p:cNvPr>
          <p:cNvSpPr/>
          <p:nvPr/>
        </p:nvSpPr>
        <p:spPr>
          <a:xfrm>
            <a:off x="314325" y="518735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Middle East &amp; Africa Market Analysis By Country</a:t>
            </a:r>
          </a:p>
        </p:txBody>
      </p:sp>
      <p:sp>
        <p:nvSpPr>
          <p:cNvPr id="18" name="Rounded Rectangle 17">
            <a:hlinkClick action="ppaction://hlinksldjump" r:id="rId11"/>
          </p:cNvPr>
          <p:cNvSpPr/>
          <p:nvPr/>
        </p:nvSpPr>
        <p:spPr>
          <a:xfrm>
            <a:off x="314325" y="5771476"/>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Middle East &amp; Africa Market Analysis By Segments</a:t>
            </a:r>
          </a:p>
        </p:txBody>
      </p:sp>
      <p:sp>
        <p:nvSpPr>
          <p:cNvPr id="19" name="Rounded Rectangle 18">
            <a:hlinkClick action="ppaction://hlinksldjump" r:id="rId12"/>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0" name="Rounded Rectangle 19">
            <a:hlinkClick action="ppaction://hlinksldjump" r:id="rId13"/>
          </p:cNvPr>
          <p:cNvSpPr/>
          <p:nvPr/>
        </p:nvSpPr>
        <p:spPr>
          <a:xfrm>
            <a:off x="6391275" y="1700902"/>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Flexible Plastic Packaging Market Overview (Volume &amp; Value)</a:t>
            </a:r>
          </a:p>
        </p:txBody>
      </p:sp>
      <p:sp>
        <p:nvSpPr>
          <p:cNvPr id="21" name="Rounded Rectangle 20">
            <a:hlinkClick action="ppaction://hlinksldjump" r:id="rId14"/>
          </p:cNvPr>
          <p:cNvSpPr/>
          <p:nvPr/>
        </p:nvSpPr>
        <p:spPr>
          <a:xfrm>
            <a:off x="639127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Segment Overview (Volume &amp; Value)</a:t>
            </a:r>
          </a:p>
        </p:txBody>
      </p:sp>
      <p:sp>
        <p:nvSpPr>
          <p:cNvPr id="22" name="Rounded Rectangle 21">
            <a:hlinkClick action="ppaction://hlinksldjump" r:id="rId15"/>
          </p:cNvPr>
          <p:cNvSpPr/>
          <p:nvPr/>
        </p:nvSpPr>
        <p:spPr>
          <a:xfrm>
            <a:off x="6219825" y="2869138"/>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23" name="Rounded Rectangle 22">
            <a:hlinkClick action="ppaction://hlinksldjump" r:id="rId16"/>
          </p:cNvPr>
          <p:cNvSpPr/>
          <p:nvPr/>
        </p:nvSpPr>
        <p:spPr>
          <a:xfrm>
            <a:off x="6391275" y="343500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Flexible Plastic Packaging Market Pricing Analysis</a:t>
            </a:r>
          </a:p>
        </p:txBody>
      </p:sp>
      <p:sp>
        <p:nvSpPr>
          <p:cNvPr id="24" name="Rounded Rectangle 23">
            <a:hlinkClick action="ppaction://hlinksldjump" r:id="rId17"/>
          </p:cNvPr>
          <p:cNvSpPr/>
          <p:nvPr/>
        </p:nvSpPr>
        <p:spPr>
          <a:xfrm>
            <a:off x="6391275" y="4019121"/>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Supply Chain Analysis</a:t>
            </a:r>
          </a:p>
        </p:txBody>
      </p:sp>
      <p:sp>
        <p:nvSpPr>
          <p:cNvPr id="25" name="Rounded Rectangle 24">
            <a:hlinkClick action="ppaction://hlinksldjump" r:id="rId18"/>
          </p:cNvPr>
          <p:cNvSpPr/>
          <p:nvPr/>
        </p:nvSpPr>
        <p:spPr>
          <a:xfrm>
            <a:off x="6219825" y="4603240"/>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26" name="Rounded Rectangle 25">
            <a:hlinkClick action="ppaction://hlinksldjump" r:id="rId19"/>
          </p:cNvPr>
          <p:cNvSpPr/>
          <p:nvPr/>
        </p:nvSpPr>
        <p:spPr>
          <a:xfrm>
            <a:off x="6391275" y="5169104"/>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Market Dynamics &amp; Forces</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Flexible Plastic Packaging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Flexible Plastic Packaging demand, the evidence behind each and what it implies for the Middle East &amp;…</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Flexible Plastic Packaging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Middle East &amp; Africa demand expands at a 6.6% forecast CAGR (2026–2036), accelerating from 4.5% across 2021–2025.</a:t>
                      </a:r>
                    </a:p>
                  </a:txBody>
                  <a:tcPr marL="70000" marR="70000" marT="45000" marB="45000" anchor="ctr">
                    <a:solidFill>
                      <a:srgbClr val="FFFFFF"/>
                    </a:solidFill>
                  </a:tcPr>
                </a:tc>
                <a:tc>
                  <a:txBody>
                    <a:bodyPr wrap="square"/>
                    <a:lstStyle/>
                    <a:p>
                      <a:pPr algn="l"/>
                      <a:r>
                        <a:rPr sz="1100" b="0">
                          <a:solidFill>
                            <a:srgbClr val="2E2E2E"/>
                          </a:solidFill>
                          <a:latin typeface="Calibri"/>
                        </a:rPr>
                        <a:t>127,346 → 240,208 US$ Mn  ·  CAGR 6.6%</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Rollstock Films leads Product Type, at 53.6% of 2036 value, within a mix of 4 tracked categories.</a:t>
                      </a:r>
                    </a:p>
                  </a:txBody>
                  <a:tcPr marL="70000" marR="70000" marT="45000" marB="45000" anchor="ctr">
                    <a:solidFill>
                      <a:srgbClr val="F6F9FC"/>
                    </a:solidFill>
                  </a:tcPr>
                </a:tc>
                <a:tc>
                  <a:txBody>
                    <a:bodyPr wrap="square"/>
                    <a:lstStyle/>
                    <a:p>
                      <a:pPr algn="l"/>
                      <a:r>
                        <a:rPr sz="1100" b="0">
                          <a:solidFill>
                            <a:srgbClr val="2E2E2E"/>
                          </a:solidFill>
                          <a:latin typeface="Calibri"/>
                        </a:rPr>
                        <a:t>Lead: Rollstock Films  ·  53.6% share (2036)</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Food Packaging is the fastest-growing part of Application, at a 6.6% forecast CAGR outpacing the wider market.</a:t>
                      </a:r>
                    </a:p>
                  </a:txBody>
                  <a:tcPr marL="70000" marR="70000" marT="45000" marB="45000" anchor="ctr">
                    <a:solidFill>
                      <a:srgbClr val="FFFFFF"/>
                    </a:solidFill>
                  </a:tcPr>
                </a:tc>
                <a:tc>
                  <a:txBody>
                    <a:bodyPr wrap="square"/>
                    <a:lstStyle/>
                    <a:p>
                      <a:pPr algn="l"/>
                      <a:r>
                        <a:rPr sz="1100" b="0">
                          <a:solidFill>
                            <a:srgbClr val="2E2E2E"/>
                          </a:solidFill>
                          <a:latin typeface="Calibri"/>
                        </a:rPr>
                        <a:t>Fastest: Food Packaging  ·  6.6% F-CAGR</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Flexible Plastic Packaging demand?</a:t>
                      </a:r>
                    </a:p>
                  </a:txBody>
                  <a:tcPr marL="70000" marR="70000" marT="45000" marB="45000" anchor="ctr">
                    <a:solidFill>
                      <a:srgbClr val="F6F9FC"/>
                    </a:solidFill>
                  </a:tcPr>
                </a:tc>
                <a:tc>
                  <a:txBody>
                    <a:bodyPr wrap="square"/>
                    <a:lstStyle/>
                    <a:p>
                      <a:pPr algn="l"/>
                      <a:r>
                        <a:rPr sz="1100" b="0">
                          <a:solidFill>
                            <a:srgbClr val="2E2E2E"/>
                          </a:solidFill>
                          <a:latin typeface="Calibri"/>
                        </a:rPr>
                        <a:t>East Asia is the largest regional market (26.5% of 2036 value), while Middle East &amp; Africa grows fastest at 8.3%.</a:t>
                      </a:r>
                    </a:p>
                  </a:txBody>
                  <a:tcPr marL="70000" marR="70000" marT="45000" marB="45000" anchor="ctr">
                    <a:solidFill>
                      <a:srgbClr val="F6F9FC"/>
                    </a:solidFill>
                  </a:tcPr>
                </a:tc>
                <a:tc>
                  <a:txBody>
                    <a:bodyPr wrap="square"/>
                    <a:lstStyle/>
                    <a:p>
                      <a:pPr algn="l"/>
                      <a:r>
                        <a:rPr sz="1100" b="0">
                          <a:solidFill>
                            <a:srgbClr val="2E2E2E"/>
                          </a:solidFill>
                          <a:latin typeface="Calibri"/>
                        </a:rPr>
                        <a:t>Largest: East Asia (26.5%)  ·  Fastest: Middle East &amp; Africa (8.3%)</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An incremental 112,862 US$ Mn of demand is added between 2026 and 2036, front-loaded in the leading categories and regions above.</a:t>
                      </a:r>
                    </a:p>
                  </a:txBody>
                  <a:tcPr marL="70000" marR="70000" marT="45000" marB="45000" anchor="ctr">
                    <a:solidFill>
                      <a:srgbClr val="FFFFFF"/>
                    </a:solidFill>
                  </a:tcPr>
                </a:tc>
                <a:tc>
                  <a:txBody>
                    <a:bodyPr wrap="square"/>
                    <a:lstStyle/>
                    <a:p>
                      <a:pPr algn="l"/>
                      <a:r>
                        <a:rPr sz="1100" b="0">
                          <a:solidFill>
                            <a:srgbClr val="2E2E2E"/>
                          </a:solidFill>
                          <a:latin typeface="Calibri"/>
                        </a:rPr>
                        <a:t>$ opportunity 112,862 US$ Mn (2026–2036)  ·  44,547 by 2031</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Middle East &amp; Africa market broken into 7 countries and the countries assessed under each</a:t>
            </a:r>
          </a:p>
        </p:txBody>
      </p:sp>
      <p:cxnSp>
        <p:nvCxnSpPr>
          <p:cNvPr id="10" name="Connector 9"/>
          <p:cNvCxnSpPr/>
          <p:nvPr/>
        </p:nvCxnSpPr>
        <p:spPr>
          <a:xfrm>
            <a:off x="6096000" y="1682648"/>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846931"/>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5" name="Rounded Rectangle 54"/>
          <p:cNvSpPr/>
          <p:nvPr/>
        </p:nvSpPr>
        <p:spPr>
          <a:xfrm>
            <a:off x="4667250" y="1080276"/>
            <a:ext cx="2857500" cy="602372"/>
          </a:xfrm>
          <a:prstGeom prst="roundRect">
            <a:avLst>
              <a:gd name="adj" fmla="val 10606"/>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Flexible Plastic Packaging Market</a:t>
            </a:r>
          </a:p>
        </p:txBody>
      </p:sp>
      <p:sp>
        <p:nvSpPr>
          <p:cNvPr id="56" name="Rounded Rectangle 55"/>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7" name="Rounded Rectangle 56"/>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8" name="Rounded Rectangle 57"/>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9" name="Rounded Rectangle 58"/>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0" name="Rounded Rectangle 59"/>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1" name="Rounded Rectangle 60"/>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2" name="Rounded Rectangle 61"/>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3" name="Rounded Rectangle 62"/>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4" name="Rounded Rectangle 63"/>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5" name="Rounded Rectangle 64"/>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6" name="Rounded Rectangle 65"/>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7" name="Rounded Rectangle 66"/>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8" name="Rounded Rectangle 67"/>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9" name="Rounded Rectangle 68"/>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0" name="Rounded Rectangle 69"/>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1" name="Rounded Rectangle 70"/>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2" name="Rounded Rectangle 71"/>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3" name="Rounded Rectangle 72"/>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5" name="Rounded Rectangle 74"/>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6" name="Rounded Rectangle 75"/>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7" name="Rounded Rectangle 76"/>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8" name="Rounded Rectangle 77"/>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9" name="Rounded Rectangle 78"/>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0" name="Rounded Rectangle 79"/>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1" name="Rounded Rectangle 80"/>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2" name="Rounded Rectangle 81"/>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3" name="Rounded Rectangle 82"/>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4" name="Rounded Rectangle 83"/>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5" name="Rounded Rectangle 84"/>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6" name="Rounded Rectangle 85"/>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7" name="Rounded Rectangle 86"/>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8" name="Rounded Rectangle 87"/>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9" name="Rounded Rectangle 88"/>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0" name="Rounded Rectangle 89"/>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a:t>
            </a:r>
          </a:p>
        </p:txBody>
      </p:sp>
      <p:sp>
        <p:nvSpPr>
          <p:cNvPr id="91" name="Rounded Rectangle 90"/>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2" name="Rounded Rectangle 91"/>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3" name="Rounded Rectangle 92"/>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4" name="Rounded Rectangle 93"/>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5" name="Rounded Rectangle 94"/>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6" name="Rounded Rectangle 95"/>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7" name="Rounded Rectangle 96"/>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8" name="Rounded Rectangle 97"/>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9" name="TextBox 9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6 axes and the sub-segments sized under each</a:t>
            </a:r>
          </a:p>
        </p:txBody>
      </p:sp>
      <p:sp>
        <p:nvSpPr>
          <p:cNvPr id="10" name="Rectangle 9"/>
          <p:cNvSpPr/>
          <p:nvPr/>
        </p:nvSpPr>
        <p:spPr>
          <a:xfrm>
            <a:off x="142875" y="1028700"/>
            <a:ext cx="2876550" cy="377190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Rollstock Films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Lidding &amp; Tray-Sealing Films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Thermoforming Films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Skin Packaging Films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HFFS / Flow-Pack Films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VFFS Rollstock Films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&amp; Overwrap Films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Barrier Casings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Non-Shrink Casings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Casings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Casings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2000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3905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Premade Pouches &amp; Bags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714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5619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Pouches</a:t>
            </a:r>
          </a:p>
        </p:txBody>
      </p:sp>
      <p:cxnSp>
        <p:nvCxnSpPr>
          <p:cNvPr id="51" name="Connector 50"/>
          <p:cNvCxnSpPr/>
          <p:nvPr/>
        </p:nvCxnSpPr>
        <p:spPr>
          <a:xfrm>
            <a:off x="1524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714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5619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Bags</a:t>
            </a:r>
          </a:p>
        </p:txBody>
      </p:sp>
      <p:cxnSp>
        <p:nvCxnSpPr>
          <p:cNvPr id="54" name="Connector 53"/>
          <p:cNvCxnSpPr/>
          <p:nvPr/>
        </p:nvCxnSpPr>
        <p:spPr>
          <a:xfrm>
            <a:off x="1524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3714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5619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Stand-Up Pouches</a:t>
            </a:r>
          </a:p>
        </p:txBody>
      </p:sp>
      <p:cxnSp>
        <p:nvCxnSpPr>
          <p:cNvPr id="57" name="Connector 56"/>
          <p:cNvCxnSpPr/>
          <p:nvPr/>
        </p:nvCxnSpPr>
        <p:spPr>
          <a:xfrm>
            <a:off x="1524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714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9" name="TextBox 58"/>
          <p:cNvSpPr txBox="1"/>
          <p:nvPr/>
        </p:nvSpPr>
        <p:spPr>
          <a:xfrm>
            <a:off x="5619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Flat Pouches</a:t>
            </a:r>
          </a:p>
        </p:txBody>
      </p:sp>
      <p:cxnSp>
        <p:nvCxnSpPr>
          <p:cNvPr id="60" name="Connector 59"/>
          <p:cNvCxnSpPr/>
          <p:nvPr/>
        </p:nvCxnSpPr>
        <p:spPr>
          <a:xfrm>
            <a:off x="1524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714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2" name="TextBox 61"/>
          <p:cNvSpPr txBox="1"/>
          <p:nvPr/>
        </p:nvSpPr>
        <p:spPr>
          <a:xfrm>
            <a:off x="5619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Retort Pouches</a:t>
            </a:r>
          </a:p>
        </p:txBody>
      </p:sp>
      <p:cxnSp>
        <p:nvCxnSpPr>
          <p:cNvPr id="63" name="Connector 62"/>
          <p:cNvCxnSpPr/>
          <p:nvPr/>
        </p:nvCxnSpPr>
        <p:spPr>
          <a:xfrm>
            <a:off x="1524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20002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5" name="TextBox 64"/>
          <p:cNvSpPr txBox="1"/>
          <p:nvPr/>
        </p:nvSpPr>
        <p:spPr>
          <a:xfrm>
            <a:off x="390525" y="426910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Sachets &amp; Stick Packs</a:t>
            </a:r>
          </a:p>
        </p:txBody>
      </p:sp>
      <p:cxnSp>
        <p:nvCxnSpPr>
          <p:cNvPr id="66" name="Connector 65"/>
          <p:cNvCxnSpPr/>
          <p:nvPr/>
        </p:nvCxnSpPr>
        <p:spPr>
          <a:xfrm>
            <a:off x="1524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714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619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Sachets</a:t>
            </a:r>
          </a:p>
        </p:txBody>
      </p:sp>
      <p:cxnSp>
        <p:nvCxnSpPr>
          <p:cNvPr id="69" name="Connector 68"/>
          <p:cNvCxnSpPr/>
          <p:nvPr/>
        </p:nvCxnSpPr>
        <p:spPr>
          <a:xfrm>
            <a:off x="1524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714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619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Stick Packs</a:t>
            </a:r>
          </a:p>
        </p:txBody>
      </p:sp>
      <p:sp>
        <p:nvSpPr>
          <p:cNvPr id="72" name="Rectangle 71"/>
          <p:cNvSpPr/>
          <p:nvPr/>
        </p:nvSpPr>
        <p:spPr>
          <a:xfrm>
            <a:off x="3152775" y="1028700"/>
            <a:ext cx="2876550" cy="23602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3152775" y="1028700"/>
            <a:ext cx="2876550" cy="41148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228975" y="1028700"/>
            <a:ext cx="2724150" cy="411480"/>
          </a:xfrm>
          <a:prstGeom prst="rect">
            <a:avLst/>
          </a:prstGeom>
          <a:noFill/>
        </p:spPr>
        <p:txBody>
          <a:bodyPr wrap="square" lIns="28575" rIns="28575" tIns="9525" bIns="9525" anchor="t">
            <a:spAutoFit/>
          </a:bodyPr>
          <a:lstStyle/>
          <a:p>
            <a:pPr algn="l">
              <a:lnSpc>
                <a:spcPct val="100000"/>
              </a:lnSpc>
            </a:pPr>
            <a:r>
              <a:rPr sz="1100" b="1">
                <a:solidFill>
                  <a:srgbClr val="FFFFFF"/>
                </a:solidFill>
                <a:latin typeface="Calibri"/>
              </a:rPr>
              <a:t>By Principal Material / Barrier Technology</a:t>
            </a:r>
          </a:p>
        </p:txBody>
      </p:sp>
      <p:sp>
        <p:nvSpPr>
          <p:cNvPr id="75" name="TextBox 74"/>
          <p:cNvSpPr txBox="1"/>
          <p:nvPr/>
        </p:nvSpPr>
        <p:spPr>
          <a:xfrm>
            <a:off x="3209925" y="1440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6" name="TextBox 75"/>
          <p:cNvSpPr txBox="1"/>
          <p:nvPr/>
        </p:nvSpPr>
        <p:spPr>
          <a:xfrm>
            <a:off x="3400425" y="144018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77" name="Connector 76"/>
          <p:cNvCxnSpPr/>
          <p:nvPr/>
        </p:nvCxnSpPr>
        <p:spPr>
          <a:xfrm>
            <a:off x="3162300" y="1617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3209925" y="1617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3400425" y="16173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80" name="Connector 79"/>
          <p:cNvCxnSpPr/>
          <p:nvPr/>
        </p:nvCxnSpPr>
        <p:spPr>
          <a:xfrm>
            <a:off x="3162300" y="1794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3209925" y="1794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2" name="TextBox 81"/>
          <p:cNvSpPr txBox="1"/>
          <p:nvPr/>
        </p:nvSpPr>
        <p:spPr>
          <a:xfrm>
            <a:off x="3400425" y="17945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cxnSp>
        <p:nvCxnSpPr>
          <p:cNvPr id="83" name="Connector 82"/>
          <p:cNvCxnSpPr/>
          <p:nvPr/>
        </p:nvCxnSpPr>
        <p:spPr>
          <a:xfrm>
            <a:off x="3162300" y="1971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3209925" y="1971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5" name="TextBox 84"/>
          <p:cNvSpPr txBox="1"/>
          <p:nvPr/>
        </p:nvSpPr>
        <p:spPr>
          <a:xfrm>
            <a:off x="3400425" y="19716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cxnSp>
        <p:nvCxnSpPr>
          <p:cNvPr id="86" name="Connector 85"/>
          <p:cNvCxnSpPr/>
          <p:nvPr/>
        </p:nvCxnSpPr>
        <p:spPr>
          <a:xfrm>
            <a:off x="3162300" y="2148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3209925" y="2148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8" name="TextBox 87"/>
          <p:cNvSpPr txBox="1"/>
          <p:nvPr/>
        </p:nvSpPr>
        <p:spPr>
          <a:xfrm>
            <a:off x="3400425" y="21488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cxnSp>
        <p:nvCxnSpPr>
          <p:cNvPr id="89" name="Connector 88"/>
          <p:cNvCxnSpPr/>
          <p:nvPr/>
        </p:nvCxnSpPr>
        <p:spPr>
          <a:xfrm>
            <a:off x="3162300" y="2326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209925" y="2326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1" name="TextBox 90"/>
          <p:cNvSpPr txBox="1"/>
          <p:nvPr/>
        </p:nvSpPr>
        <p:spPr>
          <a:xfrm>
            <a:off x="3400425" y="23260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cxnSp>
        <p:nvCxnSpPr>
          <p:cNvPr id="92" name="Connector 91"/>
          <p:cNvCxnSpPr/>
          <p:nvPr/>
        </p:nvCxnSpPr>
        <p:spPr>
          <a:xfrm>
            <a:off x="3162300" y="2503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3209925" y="2503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4" name="TextBox 93"/>
          <p:cNvSpPr txBox="1"/>
          <p:nvPr/>
        </p:nvSpPr>
        <p:spPr>
          <a:xfrm>
            <a:off x="3400425" y="25031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cxnSp>
        <p:nvCxnSpPr>
          <p:cNvPr id="95" name="Connector 94"/>
          <p:cNvCxnSpPr/>
          <p:nvPr/>
        </p:nvCxnSpPr>
        <p:spPr>
          <a:xfrm>
            <a:off x="3162300" y="2680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3209925" y="2680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7" name="TextBox 96"/>
          <p:cNvSpPr txBox="1"/>
          <p:nvPr/>
        </p:nvSpPr>
        <p:spPr>
          <a:xfrm>
            <a:off x="3400425" y="26803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cxnSp>
        <p:nvCxnSpPr>
          <p:cNvPr id="98" name="Connector 97"/>
          <p:cNvCxnSpPr/>
          <p:nvPr/>
        </p:nvCxnSpPr>
        <p:spPr>
          <a:xfrm>
            <a:off x="3162300" y="2857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3209925" y="2857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3400425" y="28575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cxnSp>
        <p:nvCxnSpPr>
          <p:cNvPr id="101" name="Connector 100"/>
          <p:cNvCxnSpPr/>
          <p:nvPr/>
        </p:nvCxnSpPr>
        <p:spPr>
          <a:xfrm>
            <a:off x="3162300" y="3034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209925" y="3034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3400425" y="30346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cxnSp>
        <p:nvCxnSpPr>
          <p:cNvPr id="104" name="Connector 103"/>
          <p:cNvCxnSpPr/>
          <p:nvPr/>
        </p:nvCxnSpPr>
        <p:spPr>
          <a:xfrm>
            <a:off x="3162300" y="32118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3209925" y="32118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3400425" y="32118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07" name="Rectangle 106"/>
          <p:cNvSpPr/>
          <p:nvPr/>
        </p:nvSpPr>
        <p:spPr>
          <a:xfrm>
            <a:off x="3152775" y="3503295"/>
            <a:ext cx="2876550" cy="235458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3152775" y="35032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3228975" y="35032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 Vs Application</a:t>
            </a:r>
          </a:p>
        </p:txBody>
      </p:sp>
      <p:sp>
        <p:nvSpPr>
          <p:cNvPr id="110" name="TextBox 109"/>
          <p:cNvSpPr txBox="1"/>
          <p:nvPr/>
        </p:nvSpPr>
        <p:spPr>
          <a:xfrm>
            <a:off x="3209925" y="37318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1" name="TextBox 110"/>
          <p:cNvSpPr txBox="1"/>
          <p:nvPr/>
        </p:nvSpPr>
        <p:spPr>
          <a:xfrm>
            <a:off x="3400425" y="37318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Low-Barrier Films</a:t>
            </a:r>
          </a:p>
        </p:txBody>
      </p:sp>
      <p:cxnSp>
        <p:nvCxnSpPr>
          <p:cNvPr id="112" name="Connector 111"/>
          <p:cNvCxnSpPr/>
          <p:nvPr/>
        </p:nvCxnSpPr>
        <p:spPr>
          <a:xfrm>
            <a:off x="3162300" y="39090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3" name="TextBox 112"/>
          <p:cNvSpPr txBox="1"/>
          <p:nvPr/>
        </p:nvSpPr>
        <p:spPr>
          <a:xfrm>
            <a:off x="3381375" y="39090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4" name="TextBox 113"/>
          <p:cNvSpPr txBox="1"/>
          <p:nvPr/>
        </p:nvSpPr>
        <p:spPr>
          <a:xfrm>
            <a:off x="3571875" y="39090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15" name="Connector 114"/>
          <p:cNvCxnSpPr/>
          <p:nvPr/>
        </p:nvCxnSpPr>
        <p:spPr>
          <a:xfrm>
            <a:off x="3162300" y="40862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3381375" y="40862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3571875" y="40862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18" name="Connector 117"/>
          <p:cNvCxnSpPr/>
          <p:nvPr/>
        </p:nvCxnSpPr>
        <p:spPr>
          <a:xfrm>
            <a:off x="3162300" y="42633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3209925" y="42633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3400425" y="42633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Medium-Barrier Films</a:t>
            </a:r>
          </a:p>
        </p:txBody>
      </p:sp>
      <p:cxnSp>
        <p:nvCxnSpPr>
          <p:cNvPr id="121" name="Connector 120"/>
          <p:cNvCxnSpPr/>
          <p:nvPr/>
        </p:nvCxnSpPr>
        <p:spPr>
          <a:xfrm>
            <a:off x="3162300" y="44405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3381375" y="44405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3571875" y="44405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24" name="Connector 123"/>
          <p:cNvCxnSpPr/>
          <p:nvPr/>
        </p:nvCxnSpPr>
        <p:spPr>
          <a:xfrm>
            <a:off x="3162300" y="46177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3381375" y="46177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3571875" y="46177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27" name="Connector 126"/>
          <p:cNvCxnSpPr/>
          <p:nvPr/>
        </p:nvCxnSpPr>
        <p:spPr>
          <a:xfrm>
            <a:off x="3162300" y="47948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3209925" y="47948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3400425" y="47948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High-Barrier Films</a:t>
            </a:r>
          </a:p>
        </p:txBody>
      </p:sp>
      <p:cxnSp>
        <p:nvCxnSpPr>
          <p:cNvPr id="130" name="Connector 129"/>
          <p:cNvCxnSpPr/>
          <p:nvPr/>
        </p:nvCxnSpPr>
        <p:spPr>
          <a:xfrm>
            <a:off x="3162300" y="49720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3381375" y="49720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3571875" y="49720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33" name="Connector 132"/>
          <p:cNvCxnSpPr/>
          <p:nvPr/>
        </p:nvCxnSpPr>
        <p:spPr>
          <a:xfrm>
            <a:off x="3162300" y="51492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3381375" y="51492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3571875" y="51492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36" name="Connector 135"/>
          <p:cNvCxnSpPr/>
          <p:nvPr/>
        </p:nvCxnSpPr>
        <p:spPr>
          <a:xfrm>
            <a:off x="3162300" y="53263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3209925" y="53263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3400425" y="53263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Ultra-High-Barrier Films</a:t>
            </a:r>
          </a:p>
        </p:txBody>
      </p:sp>
      <p:cxnSp>
        <p:nvCxnSpPr>
          <p:cNvPr id="139" name="Connector 138"/>
          <p:cNvCxnSpPr/>
          <p:nvPr/>
        </p:nvCxnSpPr>
        <p:spPr>
          <a:xfrm>
            <a:off x="3162300" y="55035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3381375" y="55035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3571875" y="55035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42" name="Connector 141"/>
          <p:cNvCxnSpPr/>
          <p:nvPr/>
        </p:nvCxnSpPr>
        <p:spPr>
          <a:xfrm>
            <a:off x="3162300" y="56807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3381375" y="56807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3571875" y="56807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45" name="Rectangle 144"/>
          <p:cNvSpPr/>
          <p:nvPr/>
        </p:nvSpPr>
        <p:spPr>
          <a:xfrm>
            <a:off x="6162675" y="1028700"/>
            <a:ext cx="2876550" cy="306324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Structure</a:t>
            </a:r>
          </a:p>
        </p:txBody>
      </p:sp>
      <p:sp>
        <p:nvSpPr>
          <p:cNvPr id="148" name="TextBox 147"/>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9" name="TextBox 148"/>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Monolayer Films</a:t>
            </a:r>
          </a:p>
        </p:txBody>
      </p:sp>
      <p:cxnSp>
        <p:nvCxnSpPr>
          <p:cNvPr id="150" name="Connector 149"/>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1" name="TextBox 150"/>
          <p:cNvSpPr txBox="1"/>
          <p:nvPr/>
        </p:nvSpPr>
        <p:spPr>
          <a:xfrm>
            <a:off x="62198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2" name="TextBox 151"/>
          <p:cNvSpPr txBox="1"/>
          <p:nvPr/>
        </p:nvSpPr>
        <p:spPr>
          <a:xfrm>
            <a:off x="64103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Coextruded Multilayer Films</a:t>
            </a:r>
          </a:p>
        </p:txBody>
      </p:sp>
      <p:cxnSp>
        <p:nvCxnSpPr>
          <p:cNvPr id="153" name="Connector 152"/>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4" name="TextBox 153"/>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5" name="TextBox 154"/>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3–5 Layer</a:t>
            </a:r>
          </a:p>
        </p:txBody>
      </p:sp>
      <p:cxnSp>
        <p:nvCxnSpPr>
          <p:cNvPr id="156" name="Connector 155"/>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7" name="TextBox 156"/>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8" name="TextBox 157"/>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7 Layer</a:t>
            </a:r>
          </a:p>
        </p:txBody>
      </p:sp>
      <p:cxnSp>
        <p:nvCxnSpPr>
          <p:cNvPr id="159" name="Connector 158"/>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63912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1" name="TextBox 160"/>
          <p:cNvSpPr txBox="1"/>
          <p:nvPr/>
        </p:nvSpPr>
        <p:spPr>
          <a:xfrm>
            <a:off x="65817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9 Layer and Above</a:t>
            </a:r>
          </a:p>
        </p:txBody>
      </p:sp>
      <p:cxnSp>
        <p:nvCxnSpPr>
          <p:cNvPr id="162" name="Connector 161"/>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3" name="TextBox 162"/>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4" name="TextBox 163"/>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Laminated Films</a:t>
            </a:r>
          </a:p>
        </p:txBody>
      </p:sp>
      <p:cxnSp>
        <p:nvCxnSpPr>
          <p:cNvPr id="165" name="Connector 164"/>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6" name="TextBox 165"/>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7" name="TextBox 166"/>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Duplex</a:t>
            </a:r>
          </a:p>
        </p:txBody>
      </p:sp>
      <p:cxnSp>
        <p:nvCxnSpPr>
          <p:cNvPr id="168" name="Connector 167"/>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9" name="TextBox 168"/>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0" name="TextBox 169"/>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Triplex</a:t>
            </a:r>
          </a:p>
        </p:txBody>
      </p:sp>
      <p:cxnSp>
        <p:nvCxnSpPr>
          <p:cNvPr id="171" name="Connector 170"/>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2" name="TextBox 171"/>
          <p:cNvSpPr txBox="1"/>
          <p:nvPr/>
        </p:nvSpPr>
        <p:spPr>
          <a:xfrm>
            <a:off x="63912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3" name="TextBox 172"/>
          <p:cNvSpPr txBox="1"/>
          <p:nvPr/>
        </p:nvSpPr>
        <p:spPr>
          <a:xfrm>
            <a:off x="65817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Multi-Ply</a:t>
            </a:r>
          </a:p>
        </p:txBody>
      </p:sp>
      <p:cxnSp>
        <p:nvCxnSpPr>
          <p:cNvPr id="174" name="Connector 173"/>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5" name="TextBox 174"/>
          <p:cNvSpPr txBox="1"/>
          <p:nvPr/>
        </p:nvSpPr>
        <p:spPr>
          <a:xfrm>
            <a:off x="62198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64103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Coated Films</a:t>
            </a:r>
          </a:p>
        </p:txBody>
      </p:sp>
      <p:cxnSp>
        <p:nvCxnSpPr>
          <p:cNvPr id="177" name="Connector 176"/>
          <p:cNvCxnSpPr/>
          <p:nvPr/>
        </p:nvCxnSpPr>
        <p:spPr>
          <a:xfrm>
            <a:off x="61722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62198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64103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Metallized Films</a:t>
            </a:r>
          </a:p>
        </p:txBody>
      </p:sp>
      <p:cxnSp>
        <p:nvCxnSpPr>
          <p:cNvPr id="180" name="Connector 179"/>
          <p:cNvCxnSpPr/>
          <p:nvPr/>
        </p:nvCxnSpPr>
        <p:spPr>
          <a:xfrm>
            <a:off x="61722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62198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64103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Foil-Laminated Structures</a:t>
            </a:r>
          </a:p>
        </p:txBody>
      </p:sp>
      <p:cxnSp>
        <p:nvCxnSpPr>
          <p:cNvPr id="183" name="Connector 182"/>
          <p:cNvCxnSpPr/>
          <p:nvPr/>
        </p:nvCxnSpPr>
        <p:spPr>
          <a:xfrm>
            <a:off x="61722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621982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6410325" y="33832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Mono-Material Recyclable Structures</a:t>
            </a:r>
          </a:p>
        </p:txBody>
      </p:sp>
      <p:cxnSp>
        <p:nvCxnSpPr>
          <p:cNvPr id="186" name="Connector 185"/>
          <p:cNvCxnSpPr/>
          <p:nvPr/>
        </p:nvCxnSpPr>
        <p:spPr>
          <a:xfrm>
            <a:off x="61722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63912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65817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189" name="Connector 188"/>
          <p:cNvCxnSpPr/>
          <p:nvPr/>
        </p:nvCxnSpPr>
        <p:spPr>
          <a:xfrm>
            <a:off x="61722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0" name="TextBox 189"/>
          <p:cNvSpPr txBox="1"/>
          <p:nvPr/>
        </p:nvSpPr>
        <p:spPr>
          <a:xfrm>
            <a:off x="63912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1" name="TextBox 190"/>
          <p:cNvSpPr txBox="1"/>
          <p:nvPr/>
        </p:nvSpPr>
        <p:spPr>
          <a:xfrm>
            <a:off x="65817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192" name="Connector 191"/>
          <p:cNvCxnSpPr/>
          <p:nvPr/>
        </p:nvCxnSpPr>
        <p:spPr>
          <a:xfrm>
            <a:off x="61722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63912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4" name="TextBox 193"/>
          <p:cNvSpPr txBox="1"/>
          <p:nvPr/>
        </p:nvSpPr>
        <p:spPr>
          <a:xfrm>
            <a:off x="65817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195" name="Rectangle 194"/>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TextBox 196"/>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a:t>
            </a:r>
          </a:p>
        </p:txBody>
      </p:sp>
      <p:sp>
        <p:nvSpPr>
          <p:cNvPr id="198" name="TextBox 197"/>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9" name="TextBox 198"/>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cxnSp>
        <p:nvCxnSpPr>
          <p:cNvPr id="200" name="Connector 199"/>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1" name="TextBox 200"/>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2" name="TextBox 201"/>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cxnSp>
        <p:nvCxnSpPr>
          <p:cNvPr id="203" name="Connector 202"/>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4" name="TextBox 203"/>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5" name="TextBox 204"/>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cxnSp>
        <p:nvCxnSpPr>
          <p:cNvPr id="206" name="Connector 205"/>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7" name="TextBox 206"/>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8" name="TextBox 207"/>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209" name="Rectangle 208"/>
          <p:cNvSpPr/>
          <p:nvPr/>
        </p:nvSpPr>
        <p:spPr>
          <a:xfrm>
            <a:off x="9172575" y="2080260"/>
            <a:ext cx="2876550" cy="341757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Application</a:t>
            </a:r>
          </a:p>
        </p:txBody>
      </p:sp>
      <p:sp>
        <p:nvSpPr>
          <p:cNvPr id="212" name="TextBox 211"/>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3" name="TextBox 212"/>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 Packaging</a:t>
            </a:r>
          </a:p>
        </p:txBody>
      </p:sp>
      <p:cxnSp>
        <p:nvCxnSpPr>
          <p:cNvPr id="214" name="Connector 213"/>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5" name="TextBox 214"/>
          <p:cNvSpPr txBox="1"/>
          <p:nvPr/>
        </p:nvSpPr>
        <p:spPr>
          <a:xfrm>
            <a:off x="94011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6" name="TextBox 215"/>
          <p:cNvSpPr txBox="1"/>
          <p:nvPr/>
        </p:nvSpPr>
        <p:spPr>
          <a:xfrm>
            <a:off x="95916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 and Processed Meat</a:t>
            </a:r>
          </a:p>
        </p:txBody>
      </p:sp>
      <p:cxnSp>
        <p:nvCxnSpPr>
          <p:cNvPr id="217" name="Connector 216"/>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940117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9" name="TextBox 218"/>
          <p:cNvSpPr txBox="1"/>
          <p:nvPr/>
        </p:nvSpPr>
        <p:spPr>
          <a:xfrm>
            <a:off x="9591675" y="26631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Poultry</a:t>
            </a:r>
          </a:p>
        </p:txBody>
      </p:sp>
      <p:cxnSp>
        <p:nvCxnSpPr>
          <p:cNvPr id="220" name="Connector 219"/>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1" name="TextBox 220"/>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2" name="TextBox 221"/>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Fish and Seafood</a:t>
            </a:r>
          </a:p>
        </p:txBody>
      </p:sp>
      <p:cxnSp>
        <p:nvCxnSpPr>
          <p:cNvPr id="223" name="Connector 222"/>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4" name="TextBox 223"/>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5" name="TextBox 224"/>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Dairy and Cheese</a:t>
            </a:r>
          </a:p>
        </p:txBody>
      </p:sp>
      <p:cxnSp>
        <p:nvCxnSpPr>
          <p:cNvPr id="226" name="Connector 225"/>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7" name="TextBox 226"/>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8" name="TextBox 227"/>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Ready Meals and Prepared Foods</a:t>
            </a:r>
          </a:p>
        </p:txBody>
      </p:sp>
      <p:cxnSp>
        <p:nvCxnSpPr>
          <p:cNvPr id="229" name="Connector 228"/>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0" name="TextBox 229"/>
          <p:cNvSpPr txBox="1"/>
          <p:nvPr/>
        </p:nvSpPr>
        <p:spPr>
          <a:xfrm>
            <a:off x="94011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1" name="TextBox 230"/>
          <p:cNvSpPr txBox="1"/>
          <p:nvPr/>
        </p:nvSpPr>
        <p:spPr>
          <a:xfrm>
            <a:off x="95916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Bakery, Confectionery and Snacks</a:t>
            </a:r>
          </a:p>
        </p:txBody>
      </p:sp>
      <p:cxnSp>
        <p:nvCxnSpPr>
          <p:cNvPr id="232" name="Connector 231"/>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3" name="TextBox 232"/>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4" name="TextBox 233"/>
          <p:cNvSpPr txBox="1"/>
          <p:nvPr/>
        </p:nvSpPr>
        <p:spPr>
          <a:xfrm>
            <a:off x="9591675" y="35490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Dry Foods and Powders</a:t>
            </a:r>
          </a:p>
        </p:txBody>
      </p:sp>
      <p:cxnSp>
        <p:nvCxnSpPr>
          <p:cNvPr id="235" name="Connector 234"/>
          <p:cNvCxnSpPr/>
          <p:nvPr/>
        </p:nvCxnSpPr>
        <p:spPr>
          <a:xfrm>
            <a:off x="91821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6" name="TextBox 235"/>
          <p:cNvSpPr txBox="1"/>
          <p:nvPr/>
        </p:nvSpPr>
        <p:spPr>
          <a:xfrm>
            <a:off x="94011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7" name="TextBox 236"/>
          <p:cNvSpPr txBox="1"/>
          <p:nvPr/>
        </p:nvSpPr>
        <p:spPr>
          <a:xfrm>
            <a:off x="95916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 Food</a:t>
            </a:r>
          </a:p>
        </p:txBody>
      </p:sp>
      <p:cxnSp>
        <p:nvCxnSpPr>
          <p:cNvPr id="238" name="Connector 237"/>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9" name="TextBox 238"/>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0" name="TextBox 239"/>
          <p:cNvSpPr txBox="1"/>
          <p:nvPr/>
        </p:nvSpPr>
        <p:spPr>
          <a:xfrm>
            <a:off x="9591675" y="3903345"/>
            <a:ext cx="2419350" cy="531495"/>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Food Products (Fresh Produce, Plant-Based Foods, Condiments and Dressings, Foodservice Products)</a:t>
            </a:r>
          </a:p>
        </p:txBody>
      </p:sp>
      <p:cxnSp>
        <p:nvCxnSpPr>
          <p:cNvPr id="241" name="Connector 240"/>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2" name="TextBox 241"/>
          <p:cNvSpPr txBox="1"/>
          <p:nvPr/>
        </p:nvSpPr>
        <p:spPr>
          <a:xfrm>
            <a:off x="922972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3" name="TextBox 242"/>
          <p:cNvSpPr txBox="1"/>
          <p:nvPr/>
        </p:nvSpPr>
        <p:spPr>
          <a:xfrm>
            <a:off x="9420225" y="443484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Non-Food Packaging</a:t>
            </a:r>
          </a:p>
        </p:txBody>
      </p:sp>
      <p:cxnSp>
        <p:nvCxnSpPr>
          <p:cNvPr id="244" name="Connector 243"/>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6" name="TextBox 245"/>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Pharmaceutical and Healthcare</a:t>
            </a:r>
          </a:p>
        </p:txBody>
      </p:sp>
      <p:cxnSp>
        <p:nvCxnSpPr>
          <p:cNvPr id="247" name="Connector 246"/>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8" name="TextBox 247"/>
          <p:cNvSpPr txBox="1"/>
          <p:nvPr/>
        </p:nvSpPr>
        <p:spPr>
          <a:xfrm>
            <a:off x="94011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9" name="TextBox 248"/>
          <p:cNvSpPr txBox="1"/>
          <p:nvPr/>
        </p:nvSpPr>
        <p:spPr>
          <a:xfrm>
            <a:off x="95916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Personal Care and Cosmetics</a:t>
            </a:r>
          </a:p>
        </p:txBody>
      </p:sp>
      <p:cxnSp>
        <p:nvCxnSpPr>
          <p:cNvPr id="250" name="Connector 249"/>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1" name="TextBox 250"/>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2" name="TextBox 251"/>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Household Care</a:t>
            </a:r>
          </a:p>
        </p:txBody>
      </p:sp>
      <p:cxnSp>
        <p:nvCxnSpPr>
          <p:cNvPr id="253" name="Connector 252"/>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4" name="TextBox 253"/>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5" name="TextBox 254"/>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Chemicals and Agrochemicals</a:t>
            </a:r>
          </a:p>
        </p:txBody>
      </p:sp>
      <p:cxnSp>
        <p:nvCxnSpPr>
          <p:cNvPr id="256" name="Connector 255"/>
          <p:cNvCxnSpPr/>
          <p:nvPr/>
        </p:nvCxnSpPr>
        <p:spPr>
          <a:xfrm>
            <a:off x="9182100" y="5320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7" name="TextBox 256"/>
          <p:cNvSpPr txBox="1"/>
          <p:nvPr/>
        </p:nvSpPr>
        <p:spPr>
          <a:xfrm>
            <a:off x="9401175" y="5320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8" name="TextBox 257"/>
          <p:cNvSpPr txBox="1"/>
          <p:nvPr/>
        </p:nvSpPr>
        <p:spPr>
          <a:xfrm>
            <a:off x="9591675" y="53206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Electronics and Technical Products</a:t>
            </a:r>
          </a:p>
        </p:txBody>
      </p:sp>
      <p:sp>
        <p:nvSpPr>
          <p:cNvPr id="259" name="TextBox 2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Flexible Plastic Packaging Market profiled and benchmarked in the Competition Assessment section.</a:t>
            </a:r>
          </a:p>
        </p:txBody>
      </p:sp>
      <p:sp>
        <p:nvSpPr>
          <p:cNvPr id="11" name="Rectangle 10"/>
          <p:cNvSpPr/>
          <p:nvPr/>
        </p:nvSpPr>
        <p:spPr>
          <a:xfrm>
            <a:off x="142875"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A</a:t>
            </a:r>
          </a:p>
        </p:txBody>
      </p:sp>
      <p:sp>
        <p:nvSpPr>
          <p:cNvPr id="16" name="Rectangle 15"/>
          <p:cNvSpPr/>
          <p:nvPr/>
        </p:nvSpPr>
        <p:spPr>
          <a:xfrm>
            <a:off x="152400"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B</a:t>
            </a:r>
          </a:p>
        </p:txBody>
      </p:sp>
      <p:cxnSp>
        <p:nvCxnSpPr>
          <p:cNvPr id="20" name="Connector 19"/>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C</a:t>
            </a:r>
          </a:p>
        </p:txBody>
      </p:sp>
      <p:sp>
        <p:nvSpPr>
          <p:cNvPr id="23" name="Rectangle 22"/>
          <p:cNvSpPr/>
          <p:nvPr/>
        </p:nvSpPr>
        <p:spPr>
          <a:xfrm>
            <a:off x="152400"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D</a:t>
            </a:r>
          </a:p>
        </p:txBody>
      </p:sp>
      <p:sp>
        <p:nvSpPr>
          <p:cNvPr id="27" name="Rectangle 26"/>
          <p:cNvSpPr/>
          <p:nvPr/>
        </p:nvSpPr>
        <p:spPr>
          <a:xfrm>
            <a:off x="6191250"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191250"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191250"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0" name="TextBox 29"/>
          <p:cNvSpPr txBox="1"/>
          <p:nvPr/>
        </p:nvSpPr>
        <p:spPr>
          <a:xfrm>
            <a:off x="6381750"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1" name="TextBox 30"/>
          <p:cNvSpPr txBox="1"/>
          <p:nvPr/>
        </p:nvSpPr>
        <p:spPr>
          <a:xfrm>
            <a:off x="6629400"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E</a:t>
            </a:r>
          </a:p>
        </p:txBody>
      </p:sp>
      <p:sp>
        <p:nvSpPr>
          <p:cNvPr id="32" name="Rectangle 31"/>
          <p:cNvSpPr/>
          <p:nvPr/>
        </p:nvSpPr>
        <p:spPr>
          <a:xfrm>
            <a:off x="6200775"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3" name="Connector 32"/>
          <p:cNvCxnSpPr/>
          <p:nvPr/>
        </p:nvCxnSpPr>
        <p:spPr>
          <a:xfrm>
            <a:off x="6200775"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6381750"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5" name="TextBox 34"/>
          <p:cNvSpPr txBox="1"/>
          <p:nvPr/>
        </p:nvSpPr>
        <p:spPr>
          <a:xfrm>
            <a:off x="6629400"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F</a:t>
            </a:r>
          </a:p>
        </p:txBody>
      </p:sp>
      <p:cxnSp>
        <p:nvCxnSpPr>
          <p:cNvPr id="36" name="Connector 35"/>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G</a:t>
            </a:r>
          </a:p>
        </p:txBody>
      </p:sp>
      <p:sp>
        <p:nvSpPr>
          <p:cNvPr id="39" name="Rectangle 38"/>
          <p:cNvSpPr/>
          <p:nvPr/>
        </p:nvSpPr>
        <p:spPr>
          <a:xfrm>
            <a:off x="6200775"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0" name="Connector 39"/>
          <p:cNvCxnSpPr/>
          <p:nvPr/>
        </p:nvCxnSpPr>
        <p:spPr>
          <a:xfrm>
            <a:off x="6200775"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6381750"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2" name="TextBox 41"/>
          <p:cNvSpPr txBox="1"/>
          <p:nvPr/>
        </p:nvSpPr>
        <p:spPr>
          <a:xfrm>
            <a:off x="6629400"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H</a:t>
            </a:r>
          </a:p>
        </p:txBody>
      </p:sp>
      <p:sp>
        <p:nvSpPr>
          <p:cNvPr id="43" name="TextBox 42"/>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94500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249805"/>
            <a:ext cx="7239000" cy="971550"/>
          </a:xfrm>
          <a:prstGeom prst="rect">
            <a:avLst/>
          </a:prstGeom>
          <a:noFill/>
        </p:spPr>
        <p:txBody>
          <a:bodyPr wrap="square" lIns="0" rIns="0" tIns="0">
            <a:spAutoFit/>
          </a:bodyPr>
          <a:lstStyle/>
          <a:p>
            <a:r>
              <a:rPr sz="3000" b="1" cap="all" spc="400">
                <a:solidFill>
                  <a:srgbClr val="FFFFFF"/>
                </a:solidFill>
                <a:latin typeface="Calibri"/>
              </a:rPr>
              <a:t>Middle East &amp; Africa Market Outlook</a:t>
            </a:r>
          </a:p>
        </p:txBody>
      </p:sp>
      <p:sp>
        <p:nvSpPr>
          <p:cNvPr id="7" name="TextBox 6"/>
          <p:cNvSpPr txBox="1"/>
          <p:nvPr/>
        </p:nvSpPr>
        <p:spPr>
          <a:xfrm>
            <a:off x="914400" y="3411855"/>
            <a:ext cx="7124700" cy="29298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Middle East &amp; Africa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Middle East &amp; Africa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Middle East &amp; Africa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Middle East &amp; Africa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Summary, By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Middle East &amp; Africa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(THOUSAND MT)</a:t>
            </a:r>
          </a:p>
          <a:p>
            <a:pPr algn="ctr">
              <a:lnSpc>
                <a:spcPct val="95000"/>
              </a:lnSpc>
            </a:pPr>
            <a:r>
              <a:rPr sz="1500" b="1">
                <a:solidFill>
                  <a:srgbClr val="0E72AE"/>
                </a:solidFill>
                <a:latin typeface="Calibri"/>
              </a:rPr>
              <a:t>2,377</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4,631</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5.6%</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6.9%</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(Thousand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Middle East &amp; Africa flexible plastic packaging market is projected to register 2.1X increase in volume by the end of forecast period, 2036. Middle East &amp; Africa flexible plastic packaging market volume stood at 2,242 Thousand MT in 2025 and is expected to reach 4,631 Thousand MT by 2036 end, at a CAGR of 6.9%.</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'Saudi Arabia' leads regional growth at 7.7%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2,168</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3,648</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5,129</a:t>
            </a:r>
          </a:p>
        </p:txBody>
      </p:sp>
      <p:cxnSp>
        <p:nvCxnSpPr>
          <p:cNvPr id="27" name="Connector 26"/>
          <p:cNvCxnSpPr/>
          <p:nvPr/>
        </p:nvCxnSpPr>
        <p:spPr>
          <a:xfrm flipV="1">
            <a:off x="1533525" y="2542136"/>
            <a:ext cx="0" cy="30728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84941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54213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663393"/>
            <a:ext cx="438150" cy="16056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75654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3897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3,080</a:t>
            </a:r>
          </a:p>
        </p:txBody>
      </p:sp>
      <p:cxnSp>
        <p:nvCxnSpPr>
          <p:cNvPr id="33" name="Connector 32"/>
          <p:cNvCxnSpPr/>
          <p:nvPr/>
        </p:nvCxnSpPr>
        <p:spPr>
          <a:xfrm flipV="1">
            <a:off x="3286125" y="1670329"/>
            <a:ext cx="0" cy="38536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05569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1811669"/>
            <a:ext cx="438150" cy="19689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192141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4,393</a:t>
            </a:r>
          </a:p>
        </p:txBody>
      </p:sp>
      <p:cxnSp>
        <p:nvCxnSpPr>
          <p:cNvPr id="39" name="Connector 38"/>
          <p:cNvCxnSpPr/>
          <p:nvPr/>
        </p:nvCxnSpPr>
        <p:spPr>
          <a:xfrm flipV="1">
            <a:off x="5038725" y="2733121"/>
            <a:ext cx="0" cy="26907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300219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273312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2843266"/>
            <a:ext cx="438150" cy="13883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292642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2580721"/>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2,813</a:t>
            </a:r>
          </a:p>
        </p:txBody>
      </p:sp>
      <p:cxnSp>
        <p:nvCxnSpPr>
          <p:cNvPr id="45" name="Connector 44"/>
          <p:cNvCxnSpPr/>
          <p:nvPr/>
        </p:nvCxnSpPr>
        <p:spPr>
          <a:xfrm flipV="1">
            <a:off x="6791325" y="2832365"/>
            <a:ext cx="0" cy="28718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3236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48356"/>
            <a:ext cx="438150" cy="14665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3479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679965"/>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2,643</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Middle East &amp; Africa  ·  2026–2036</a:t>
            </a:r>
          </a:p>
        </p:txBody>
      </p:sp>
      <p:cxnSp>
        <p:nvCxnSpPr>
          <p:cNvPr id="57" name="Connector 56"/>
          <p:cNvCxnSpPr/>
          <p:nvPr/>
        </p:nvCxnSpPr>
        <p:spPr>
          <a:xfrm>
            <a:off x="619125" y="432562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5937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62685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606060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25629"/>
            <a:ext cx="0" cy="1734974"/>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2562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5937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62685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606060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219075" y="4258954"/>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sp>
        <p:nvSpPr>
          <p:cNvPr id="69" name="FMI Scale tick"/>
          <p:cNvSpPr txBox="1"/>
          <p:nvPr/>
        </p:nvSpPr>
        <p:spPr>
          <a:xfrm>
            <a:off x="219075" y="4692697"/>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70"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Middle East &amp; Africa</a:t>
            </a:r>
          </a:p>
        </p:txBody>
      </p:sp>
      <p:sp>
        <p:nvSpPr>
          <p:cNvPr id="71" name="FMI Scale tick"/>
          <p:cNvSpPr txBox="1"/>
          <p:nvPr/>
        </p:nvSpPr>
        <p:spPr>
          <a:xfrm>
            <a:off x="219075" y="5560184"/>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72" name="FMI Scale tick"/>
          <p:cNvSpPr txBox="1"/>
          <p:nvPr/>
        </p:nvSpPr>
        <p:spPr>
          <a:xfrm>
            <a:off x="219075" y="5993928"/>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cxnSp>
        <p:nvCxnSpPr>
          <p:cNvPr id="73" name="Connector 72"/>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893989" y="5026390"/>
            <a:ext cx="457200" cy="16672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4883515"/>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+2.8%</a:t>
            </a:r>
          </a:p>
        </p:txBody>
      </p:sp>
      <p:sp>
        <p:nvSpPr>
          <p:cNvPr id="76" name="Rectangle 75"/>
          <p:cNvSpPr/>
          <p:nvPr/>
        </p:nvSpPr>
        <p:spPr>
          <a:xfrm>
            <a:off x="1900918" y="5193116"/>
            <a:ext cx="457200" cy="156635"/>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1626054" y="5359276"/>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-2.6%</a:t>
            </a:r>
          </a:p>
        </p:txBody>
      </p:sp>
      <p:sp>
        <p:nvSpPr>
          <p:cNvPr id="78" name="Rectangle 77"/>
          <p:cNvSpPr/>
          <p:nvPr/>
        </p:nvSpPr>
        <p:spPr>
          <a:xfrm>
            <a:off x="2907846" y="5193116"/>
            <a:ext cx="457200" cy="47710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MI Data Label"/>
          <p:cNvSpPr txBox="1"/>
          <p:nvPr/>
        </p:nvSpPr>
        <p:spPr>
          <a:xfrm>
            <a:off x="2632982" y="5679744"/>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-8.0%</a:t>
            </a:r>
          </a:p>
        </p:txBody>
      </p:sp>
      <p:sp>
        <p:nvSpPr>
          <p:cNvPr id="80" name="Rectangle 79"/>
          <p:cNvSpPr/>
          <p:nvPr/>
        </p:nvSpPr>
        <p:spPr>
          <a:xfrm>
            <a:off x="3914775"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MI Data Label"/>
          <p:cNvSpPr txBox="1"/>
          <p:nvPr/>
        </p:nvSpPr>
        <p:spPr>
          <a:xfrm>
            <a:off x="3639911" y="4294412"/>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+12.7%</a:t>
            </a:r>
          </a:p>
        </p:txBody>
      </p:sp>
      <p:sp>
        <p:nvSpPr>
          <p:cNvPr id="82" name="Rectangle 81"/>
          <p:cNvSpPr/>
          <p:nvPr/>
        </p:nvSpPr>
        <p:spPr>
          <a:xfrm>
            <a:off x="4921704" y="5175910"/>
            <a:ext cx="457200" cy="1720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MI Data Label"/>
          <p:cNvSpPr txBox="1"/>
          <p:nvPr/>
        </p:nvSpPr>
        <p:spPr>
          <a:xfrm>
            <a:off x="4646839" y="5033035"/>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+0.3%</a:t>
            </a:r>
          </a:p>
        </p:txBody>
      </p:sp>
      <p:sp>
        <p:nvSpPr>
          <p:cNvPr id="84" name="Rectangle 83"/>
          <p:cNvSpPr/>
          <p:nvPr/>
        </p:nvSpPr>
        <p:spPr>
          <a:xfrm>
            <a:off x="5928632" y="4871515"/>
            <a:ext cx="457200" cy="32160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MI Data Label"/>
          <p:cNvSpPr txBox="1"/>
          <p:nvPr/>
        </p:nvSpPr>
        <p:spPr>
          <a:xfrm>
            <a:off x="5653768" y="4728640"/>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+5.4%</a:t>
            </a:r>
          </a:p>
        </p:txBody>
      </p:sp>
      <p:sp>
        <p:nvSpPr>
          <p:cNvPr id="86" name="Rectangle 85"/>
          <p:cNvSpPr/>
          <p:nvPr/>
        </p:nvSpPr>
        <p:spPr>
          <a:xfrm>
            <a:off x="6935561" y="4808999"/>
            <a:ext cx="457200" cy="38411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FMI Data Label"/>
          <p:cNvSpPr txBox="1"/>
          <p:nvPr/>
        </p:nvSpPr>
        <p:spPr>
          <a:xfrm>
            <a:off x="6660696" y="4666124"/>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+6.5%</a:t>
            </a:r>
          </a:p>
        </p:txBody>
      </p:sp>
      <p:sp>
        <p:nvSpPr>
          <p:cNvPr id="88" name="TextBox 87"/>
          <p:cNvSpPr txBox="1"/>
          <p:nvPr/>
        </p:nvSpPr>
        <p:spPr>
          <a:xfrm>
            <a:off x="619125"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UAE</a:t>
            </a:r>
          </a:p>
        </p:txBody>
      </p:sp>
      <p:sp>
        <p:nvSpPr>
          <p:cNvPr id="89" name="TextBox 88"/>
          <p:cNvSpPr txBox="1"/>
          <p:nvPr/>
        </p:nvSpPr>
        <p:spPr>
          <a:xfrm>
            <a:off x="1626054"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Saudi Arabia</a:t>
            </a:r>
          </a:p>
        </p:txBody>
      </p:sp>
      <p:sp>
        <p:nvSpPr>
          <p:cNvPr id="90" name="TextBox 89"/>
          <p:cNvSpPr txBox="1"/>
          <p:nvPr/>
        </p:nvSpPr>
        <p:spPr>
          <a:xfrm>
            <a:off x="2632982"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Turkey</a:t>
            </a:r>
          </a:p>
        </p:txBody>
      </p:sp>
      <p:sp>
        <p:nvSpPr>
          <p:cNvPr id="91" name="TextBox 90"/>
          <p:cNvSpPr txBox="1"/>
          <p:nvPr/>
        </p:nvSpPr>
        <p:spPr>
          <a:xfrm>
            <a:off x="3639911"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Israel</a:t>
            </a:r>
          </a:p>
        </p:txBody>
      </p:sp>
      <p:sp>
        <p:nvSpPr>
          <p:cNvPr id="92" name="TextBox 91"/>
          <p:cNvSpPr txBox="1"/>
          <p:nvPr/>
        </p:nvSpPr>
        <p:spPr>
          <a:xfrm>
            <a:off x="4646839"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Rest of GCC</a:t>
            </a:r>
          </a:p>
        </p:txBody>
      </p:sp>
      <p:sp>
        <p:nvSpPr>
          <p:cNvPr id="93" name="TextBox 92"/>
          <p:cNvSpPr txBox="1"/>
          <p:nvPr/>
        </p:nvSpPr>
        <p:spPr>
          <a:xfrm>
            <a:off x="5653768"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South Africa</a:t>
            </a:r>
          </a:p>
        </p:txBody>
      </p:sp>
      <p:sp>
        <p:nvSpPr>
          <p:cNvPr id="94" name="TextBox 93"/>
          <p:cNvSpPr txBox="1"/>
          <p:nvPr/>
        </p:nvSpPr>
        <p:spPr>
          <a:xfrm>
            <a:off x="6660696"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Rest of MEA</a:t>
            </a:r>
          </a:p>
        </p:txBody>
      </p:sp>
      <p:sp>
        <p:nvSpPr>
          <p:cNvPr id="95" name="Rounded Rectangle 94"/>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97" name="Rectangle 96"/>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Barrier casings segment is expected to command the highest average price of US$ 4,787 per MT in 2036. Average selling price of flexible plastic packaging is estimated at US$ 2,966 per MT in 2025 and is projected to increase to US$ 3,394 per MT by 2036. Israel is the highest-priced country, while Turkey is the most price-competitive market.</a:t>
            </a:r>
          </a:p>
          <a:p>
            <a:pPr algn="l">
              <a:lnSpc>
                <a:spcPct val="110000"/>
              </a:lnSpc>
              <a:spcBef>
                <a:spcPts val="0"/>
              </a:spcBef>
              <a:spcAft>
                <a:spcPts val="500"/>
              </a:spcAft>
            </a:pPr>
            <a:r>
              <a:rPr sz="1150" b="0">
                <a:solidFill>
                  <a:srgbClr val="2E2E2E"/>
                </a:solidFill>
                <a:latin typeface="Calibri"/>
              </a:rPr>
              <a:t>Against the Middle East &amp; Africa price of 3,197 US$/MT, 5 of 7 countries price above and 2 below. 'Israel' is the dearest at +12.7% versus Middle East &amp; Africa, 'Turkey' the cheapest at -8.0% pointing to premiumisation headroom in the lower-priced countries.</a:t>
            </a:r>
          </a:p>
          <a:p>
            <a:pPr algn="l">
              <a:lnSpc>
                <a:spcPct val="110000"/>
              </a:lnSpc>
              <a:spcBef>
                <a:spcPts val="0"/>
              </a:spcBef>
              <a:spcAft>
                <a:spcPts val="500"/>
              </a:spcAft>
            </a:pPr>
            <a:r>
              <a:rPr sz="1150" b="0">
                <a:solidFill>
                  <a:srgbClr val="2E2E2E"/>
                </a:solidFill>
                <a:latin typeface="Calibri"/>
              </a:rPr>
              <a:t>Value grows at 8.3% against 6.9% for volume, so average price rises from US$ 2,990 per MT in 2026 to US$ 3,394 per MT in 2036. Rapid growth in packaged food and retail drives volume, while a shift toward high-barrier pouches, mono-material structures and imported specialty resins lifts value per tonne. Saudi Arabia at 9.1% and Turkey at 8.1% lead on the investment in higher-value converting.</a:t>
            </a:r>
          </a:p>
        </p:txBody>
      </p:sp>
      <p:sp>
        <p:nvSpPr>
          <p:cNvPr id="99" name="TextBox 9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Middle East &amp; Africa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7,108</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15,718</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6.0%</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8.3%</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141719"/>
          </a:xfrm>
          <a:prstGeom prst="roundRect">
            <a:avLst>
              <a:gd name="adj" fmla="val 24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655944"/>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Flexible plastic packaging market value in Middle East &amp; Africa is expected to increase 2.4X between 2025 and 2036. In 2025, the flexible plastic packaging market in Middle East &amp; Africa was valued at US$ 6,650 Mn and is estimated to account for US$ 7,108 Mn by the end of 2026, reflecting a Y-o-Y growth rate of 6.9%.</a:t>
            </a:r>
          </a:p>
          <a:p>
            <a:pPr algn="l">
              <a:lnSpc>
                <a:spcPct val="100000"/>
              </a:lnSpc>
              <a:spcBef>
                <a:spcPts val="0"/>
              </a:spcBef>
              <a:spcAft>
                <a:spcPts val="300"/>
              </a:spcAft>
            </a:pPr>
            <a:r>
              <a:rPr sz="1100" b="0">
                <a:solidFill>
                  <a:srgbClr val="2E2E2E"/>
                </a:solidFill>
                <a:latin typeface="Calibri"/>
              </a:rPr>
              <a:t>The market in Middle East &amp; Africa is expected to account for US$ 15,718 Mn by 2036 at a CAGR of 8.3% over the forecast period. Middle East &amp; Africa is expected to create an incremental opportunity of US$ 9,069 Mn for the overall flexible plastic packaging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US$ 458.8 Mn.</a:t>
            </a:r>
          </a:p>
        </p:txBody>
      </p:sp>
      <p:sp>
        <p:nvSpPr>
          <p:cNvPr id="25" name="Rounded Rectangle 24"/>
          <p:cNvSpPr/>
          <p:nvPr/>
        </p:nvSpPr>
        <p:spPr>
          <a:xfrm>
            <a:off x="7915275" y="4824367"/>
            <a:ext cx="4133850" cy="1732019"/>
          </a:xfrm>
          <a:prstGeom prst="roundRect">
            <a:avLst>
              <a:gd name="adj" fmla="val 43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910092"/>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14821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233942"/>
            <a:ext cx="3867150" cy="124624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'Saudi Arabia' leads regional growth at 9.1%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Middle East &amp; Africa market and the incremental $ opportunity it creates…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4695825" cy="2314575"/>
          </a:xfrm>
          <a:prstGeom prst="roundRect">
            <a:avLst>
              <a:gd name="adj" fmla="val 3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2021–2025 (Historical)</a:t>
            </a:r>
          </a:p>
        </p:txBody>
      </p:sp>
      <p:graphicFrame>
        <p:nvGraphicFramePr>
          <p:cNvPr id="13" name="Chart 12"/>
          <p:cNvGraphicFramePr>
            <a:graphicFrameLocks noGrp="1"/>
          </p:cNvGraphicFramePr>
          <p:nvPr/>
        </p:nvGraphicFramePr>
        <p:xfrm>
          <a:off x="238125" y="1266825"/>
          <a:ext cx="4505325" cy="197167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314575"/>
          </a:xfrm>
          <a:prstGeom prst="roundRect">
            <a:avLst>
              <a:gd name="adj" fmla="val 3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2026–2036 (Forecast)</a:t>
            </a:r>
          </a:p>
        </p:txBody>
      </p:sp>
      <p:graphicFrame>
        <p:nvGraphicFramePr>
          <p:cNvPr id="16" name="Chart 15"/>
          <p:cNvGraphicFramePr>
            <a:graphicFrameLocks noGrp="1"/>
          </p:cNvGraphicFramePr>
          <p:nvPr/>
        </p:nvGraphicFramePr>
        <p:xfrm>
          <a:off x="5086350" y="1266825"/>
          <a:ext cx="6858000" cy="19716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429000"/>
            <a:ext cx="25146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6.0%</a:t>
            </a:r>
          </a:p>
        </p:txBody>
      </p:sp>
      <p:sp>
        <p:nvSpPr>
          <p:cNvPr id="18" name="Rounded Rectangle 17"/>
          <p:cNvSpPr/>
          <p:nvPr/>
        </p:nvSpPr>
        <p:spPr>
          <a:xfrm>
            <a:off x="2809875" y="3429000"/>
            <a:ext cx="25146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8.3%</a:t>
            </a:r>
          </a:p>
        </p:txBody>
      </p:sp>
      <p:sp>
        <p:nvSpPr>
          <p:cNvPr id="19" name="Rounded Rectangle 18"/>
          <p:cNvSpPr/>
          <p:nvPr/>
        </p:nvSpPr>
        <p:spPr>
          <a:xfrm>
            <a:off x="5476875" y="3429000"/>
            <a:ext cx="32004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3,300 US$ Mn</a:t>
            </a:r>
          </a:p>
        </p:txBody>
      </p:sp>
      <p:sp>
        <p:nvSpPr>
          <p:cNvPr id="20" name="Rounded Rectangle 19"/>
          <p:cNvSpPr/>
          <p:nvPr/>
        </p:nvSpPr>
        <p:spPr>
          <a:xfrm>
            <a:off x="8829675" y="3429000"/>
            <a:ext cx="32004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8,610 US$ Mn</a:t>
            </a:r>
          </a:p>
        </p:txBody>
      </p:sp>
      <p:sp>
        <p:nvSpPr>
          <p:cNvPr id="21" name="Rounded Rectangle 20"/>
          <p:cNvSpPr/>
          <p:nvPr/>
        </p:nvSpPr>
        <p:spPr>
          <a:xfrm>
            <a:off x="142875" y="4105275"/>
            <a:ext cx="11906250" cy="2514600"/>
          </a:xfrm>
          <a:prstGeom prst="roundRect">
            <a:avLst>
              <a:gd name="adj" fmla="val 3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19100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&amp; Value Analysis</a:t>
            </a:r>
          </a:p>
        </p:txBody>
      </p:sp>
      <p:sp>
        <p:nvSpPr>
          <p:cNvPr id="23" name="Rectangle 22"/>
          <p:cNvSpPr/>
          <p:nvPr/>
        </p:nvSpPr>
        <p:spPr>
          <a:xfrm>
            <a:off x="276225" y="4429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514850"/>
            <a:ext cx="11639550" cy="20288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Flexible plastic packaging market value in Middle East &amp; Africa is expected to increase 2.4X between 2025 and 2036. In 2025, the flexible plastic packaging market in Middle East &amp; Africa was valued at US$ 6,650 Mn and is estimated to account for US$ 7,108 Mn by the end of 2026, reflecting a Y-o-Y growth rate of 6.9%. The market in Middle East &amp; Africa is expected to account for US$ 15,718 Mn by 2036 at a CAGR of 8.3% over the forecast period. Middle East &amp; Africa is expected to create an incremental opportunity of US$ 9,069 Mn for the overall flexible plastic packaging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US$ 458.8 Mn. Middle East &amp; Africa flexible plastic packaging market is projected to register 2.1X increase in volume by the end of forecast period, 2036. Middle East &amp; Africa flexible plastic packaging market volume stood at 2,242 Thousand MT in 2025 and is expected to reach 4,631 Thousand MT by 2036 end, at a CAGR of 6.9%. Value is projected to grow faster than volume over the forecast period, owing to an increase in average selling price.</a:t>
            </a:r>
          </a:p>
          <a:p>
            <a:pPr algn="l">
              <a:lnSpc>
                <a:spcPct val="100000"/>
              </a:lnSpc>
              <a:spcBef>
                <a:spcPts val="0"/>
              </a:spcBef>
              <a:spcAft>
                <a:spcPts val="300"/>
              </a:spcAft>
            </a:pPr>
            <a:r>
              <a:rPr sz="1100" b="0">
                <a:solidFill>
                  <a:srgbClr val="2E2E2E"/>
                </a:solidFill>
                <a:latin typeface="Calibri"/>
              </a:rPr>
              <a:t>Middle East &amp; Africa is the fastest region at 8.3% in value and 6.9% in volume, as population growth, imported-food shelf-life needs, modern retail expansion and local food-processing and converting investment lift demand, led by Saudi Arabia at 9.1% and Turkey at 8.1%. The value-volume gap reflects price and mix, with average price rising from US$2,990 to US$3,394 per MT as high-barrier packs gain share.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0"/>
        </p:xfrm>
        <a:graphic>
          <a:graphicData uri="http://schemas.openxmlformats.org/drawingml/2006/table">
            <a:tbl>
              <a:tblPr>
                <a:tableStyleId>{5C22544A-7EE6-4342-B048-85BDC9FD1C3A}</a:tableStyleId>
              </a:tblPr>
              <a:tblGrid>
                <a:gridCol w="1026891"/>
                <a:gridCol w="965533"/>
                <a:gridCol w="658971"/>
                <a:gridCol w="126338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3361">
                <a:tc>
                  <a:txBody>
                    <a:bodyPr wrap="none"/>
                    <a:lstStyle/>
                    <a:p>
                      <a:pPr algn="l"/>
                      <a:r>
                        <a:rPr sz="1100" b="1">
                          <a:solidFill>
                            <a:srgbClr val="2E2E2E"/>
                          </a:solidFill>
                          <a:latin typeface="Calibri"/>
                        </a:rPr>
                        <a:t>Saudi Arabia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Turkey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South Africa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994.9</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UAE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973.2</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Israel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476.5</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046109" cy="2720061"/>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3,807</a:t>
            </a:r>
          </a:p>
        </p:txBody>
      </p:sp>
      <p:sp>
        <p:nvSpPr>
          <p:cNvPr id="19" name="Rectangle 18"/>
          <p:cNvSpPr/>
          <p:nvPr/>
        </p:nvSpPr>
        <p:spPr>
          <a:xfrm>
            <a:off x="6256159" y="1293011"/>
            <a:ext cx="1697216" cy="2720061"/>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Saudi Arabia</a:t>
            </a:r>
          </a:p>
          <a:p>
            <a:pPr algn="ctr"/>
            <a:r>
              <a:rPr sz="1100" b="0">
                <a:solidFill>
                  <a:srgbClr val="FFFFFF"/>
                </a:solidFill>
                <a:latin typeface="Calibri"/>
              </a:rPr>
              <a:t>3,158</a:t>
            </a:r>
          </a:p>
        </p:txBody>
      </p:sp>
      <p:sp>
        <p:nvSpPr>
          <p:cNvPr id="20" name="Rectangle 19"/>
          <p:cNvSpPr/>
          <p:nvPr/>
        </p:nvSpPr>
        <p:spPr>
          <a:xfrm>
            <a:off x="4210050" y="4013072"/>
            <a:ext cx="1482825" cy="1865537"/>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1,892</a:t>
            </a:r>
          </a:p>
        </p:txBody>
      </p:sp>
      <p:sp>
        <p:nvSpPr>
          <p:cNvPr id="21" name="Rectangle 20"/>
          <p:cNvSpPr/>
          <p:nvPr/>
        </p:nvSpPr>
        <p:spPr>
          <a:xfrm>
            <a:off x="5692875" y="4013072"/>
            <a:ext cx="1446869" cy="1865537"/>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Africa</a:t>
            </a:r>
          </a:p>
          <a:p>
            <a:pPr algn="ctr"/>
            <a:r>
              <a:rPr sz="1100" b="0">
                <a:solidFill>
                  <a:srgbClr val="FFFFFF"/>
                </a:solidFill>
                <a:latin typeface="Calibri"/>
              </a:rPr>
              <a:t>1,846</a:t>
            </a:r>
          </a:p>
        </p:txBody>
      </p:sp>
      <p:sp>
        <p:nvSpPr>
          <p:cNvPr id="22" name="Rectangle 21"/>
          <p:cNvSpPr/>
          <p:nvPr/>
        </p:nvSpPr>
        <p:spPr>
          <a:xfrm>
            <a:off x="7139744" y="4013072"/>
            <a:ext cx="813631" cy="1865537"/>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Israel</a:t>
            </a:r>
          </a:p>
          <a:p>
            <a:pPr algn="ctr"/>
            <a:r>
              <a:rPr sz="1100" b="0">
                <a:solidFill>
                  <a:srgbClr val="FFFFFF"/>
                </a:solidFill>
                <a:latin typeface="Calibri"/>
              </a:rPr>
              <a:t>1,038</a:t>
            </a:r>
          </a:p>
        </p:txBody>
      </p:sp>
      <p:sp>
        <p:nvSpPr>
          <p:cNvPr id="23" name="Rounded Rectangle 22"/>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5" name="Chart 24"/>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6" name="Rounded Rectangle 25"/>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7" name="Table 26"/>
          <p:cNvGraphicFramePr>
            <a:graphicFrameLocks noGrp="1"/>
          </p:cNvGraphicFramePr>
          <p:nvPr/>
        </p:nvGraphicFramePr>
        <p:xfrm>
          <a:off x="8096250" y="3547710"/>
          <a:ext cx="3914775" cy="2159450"/>
        </p:xfrm>
        <a:graphic>
          <a:graphicData uri="http://schemas.openxmlformats.org/drawingml/2006/table">
            <a:tbl>
              <a:tblPr>
                <a:tableStyleId>{5C22544A-7EE6-4342-B048-85BDC9FD1C3A}</a:tableStyleId>
              </a:tblPr>
              <a:tblGrid>
                <a:gridCol w="967699"/>
                <a:gridCol w="1135531"/>
                <a:gridCol w="620987"/>
                <a:gridCol w="1190558"/>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8837">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South Africa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994.9</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UAE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973.2</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Israel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476.5</a:t>
                      </a:r>
                      <a:endParaRPr sz="1100"/>
                    </a:p>
                  </a:txBody>
                  <a:tcPr marL="47625" marR="38100" marT="19050" marB="19050" anchor="ctr">
                    <a:solidFill>
                      <a:srgbClr val="FFFFFF"/>
                    </a:solidFill>
                  </a:tcPr>
                </a:tc>
              </a:tr>
            </a:tbl>
          </a:graphicData>
        </a:graphic>
      </p:graphicFrame>
      <p:sp>
        <p:nvSpPr>
          <p:cNvPr id="28" name="TextBox 27"/>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9" name="Rounded Rectangle 28"/>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Turkey flexible plastic packaging market is projected to register 1.2X higher value than Saudi Arabia in 2036. Saudi Arabia posts the highest CAGR Index (110), growing at 9.1% against the Middle East &amp; Africa benchmark, while Turkey offers the largest absolute opportunity 2,064 US$ Mn of incremental market between 2026 and 2036 (24% of the Middle East &amp; Africa increment).</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flexible plastic packaging market is expected to witness 2.4X increase in revenue by 2036 end. Global flexible plastic packaging market accounted for US$ 6,650 Mn in 2025, which is expected to increase to US$ 15,718 Mn in 2036 at a CAGR of 8.3%.</a:t>
            </a:r>
          </a:p>
          <a:p>
            <a:pPr algn="l">
              <a:lnSpc>
                <a:spcPct val="110000"/>
              </a:lnSpc>
              <a:spcBef>
                <a:spcPts val="0"/>
              </a:spcBef>
              <a:spcAft>
                <a:spcPts val="500"/>
              </a:spcAft>
            </a:pPr>
            <a:r>
              <a:rPr sz="1150" b="0">
                <a:solidFill>
                  <a:srgbClr val="2E2E2E"/>
                </a:solidFill>
                <a:latin typeface="Calibri"/>
              </a:rPr>
              <a:t>The global flexible plastic packaging market has been analysed on the basis of product type, principal material / barrier technology, material structure and barrier level across the globe. Turkey is expected to remain the largest market for flexible plastic packaging, while demand in Saudi Arabia is projected to increase at the highest CAGR of 9.1%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consolidated: the leading product type category 'Rollstock Films' holds 53.9%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7 countries and 6 segmentation lenses (4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Turkey is the largest country market at 24.2%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'Premade Pouches &amp; Bags' (8.3%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Saudi Arabia (9.1%).</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Food Packaging within application (8.3%).</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'Barrier Casings' (8.1%).</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8.3%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'Rollstock Films'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'Premade Pouches &amp; Bags'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Saudi Arabia outpacing the Middle East &amp; Africa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'Premade Pouches &amp; Bags' and Saudi Arabia.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Turkey and Saudi Arabia.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2026 size 7,108 US$ Mn; 2036 15,718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Forecast CAGR 8.3% (2026–2036).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category 'Rollstock Films' 53.9% of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country Turkey 24.2%.</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Incremental opportunity 8,610 US$ Mn.</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Investment is flowing toward the fastest-growing tier 'Premade Pouches &amp; Bags' (8.3%).</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Saudi Arabia (9.1%) is a priority country for new capacity.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Scale players anchor around 'Rollstock Films' (53.9% share).</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aligns with the migration to 'Premade Pouches &amp; Bags' and adjacent premium tiers.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targets product type categories gaining share to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8.3% forecast CAGR.</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'Rollstock Films' with targeted growth in 'Premade Pouches &amp; Bags', pursuing the 8.3% CAGR trajectory to 2036.</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'Premade Pouches &amp; Bags' tier and Food Packaging within application.</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'Premade Pouches &amp; Bags' (8.3%); 'Rollstock Films' anchors 53.9% of value.</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Turkey (24.2%); capture upside in Saudi Arabia (9.1%).</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Flexible Plastic Packaging adds 8,610 US$ Mn of demand to 2036 a 2.2× expansion.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'Rollstock Films' as the value anchor of the portfolio.</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19,293 US$ Mn</a:t>
            </a:r>
          </a:p>
          <a:p>
            <a:pPr algn="ctr">
              <a:lnSpc>
                <a:spcPct val="95000"/>
              </a:lnSpc>
            </a:pPr>
            <a:r>
              <a:rPr sz="1100" b="0">
                <a:solidFill>
                  <a:srgbClr val="6C7A89"/>
                </a:solidFill>
                <a:latin typeface="Calibri"/>
              </a:rPr>
              <a:t>CAGR 10.1%</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15,718 US$ Mn</a:t>
            </a:r>
          </a:p>
          <a:p>
            <a:pPr algn="ctr">
              <a:lnSpc>
                <a:spcPct val="95000"/>
              </a:lnSpc>
            </a:pPr>
            <a:r>
              <a:rPr sz="1100" b="0">
                <a:solidFill>
                  <a:srgbClr val="6C7A89"/>
                </a:solidFill>
                <a:latin typeface="Calibri"/>
              </a:rPr>
              <a:t>CAGR 8.3%</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12,756 US$ Mn</a:t>
            </a:r>
          </a:p>
          <a:p>
            <a:pPr algn="ctr">
              <a:lnSpc>
                <a:spcPct val="95000"/>
              </a:lnSpc>
            </a:pPr>
            <a:r>
              <a:rPr sz="1100" b="0">
                <a:solidFill>
                  <a:srgbClr val="6C7A89"/>
                </a:solidFill>
                <a:latin typeface="Calibri"/>
              </a:rPr>
              <a:t>CAGR 6.2%</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Flexible Plastic Packaging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719304"/>
            <a:ext cx="635826" cy="585996"/>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181149"/>
            <a:ext cx="635826" cy="1124151"/>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20100"/>
            <a:ext cx="635826" cy="1385200"/>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5088"/>
            <a:ext cx="635826" cy="1700212"/>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3047799"/>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943024"/>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6.2%</a:t>
            </a:r>
          </a:p>
        </p:txBody>
      </p:sp>
      <p:cxnSp>
        <p:nvCxnSpPr>
          <p:cNvPr id="22" name="Connector 21"/>
          <p:cNvCxnSpPr/>
          <p:nvPr/>
        </p:nvCxnSpPr>
        <p:spPr>
          <a:xfrm>
            <a:off x="1456468" y="2786750"/>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681975"/>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8.3%</a:t>
            </a:r>
          </a:p>
        </p:txBody>
      </p:sp>
      <p:cxnSp>
        <p:nvCxnSpPr>
          <p:cNvPr id="24" name="Connector 23"/>
          <p:cNvCxnSpPr/>
          <p:nvPr/>
        </p:nvCxnSpPr>
        <p:spPr>
          <a:xfrm>
            <a:off x="1456468" y="2471738"/>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66962"/>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10.1%</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Flexible Plastic Packaging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19,293 US$ Mn by 2036 at 10.1%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15,718 US$ Mn at 8.3%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12,756 US$ Mn at 6.2%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±25% across the 2026–2036 horizon.</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Middle East &amp; Africa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Middle East &amp; Africa Flexible Plastic Packaging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7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Middle East &amp; Africa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Turkey</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1,743</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3,807</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Saudi Arabia</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1,325</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3,158</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9.1%</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MEA</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995.5</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2,324</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8.8%</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UAE</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918.8</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1,892</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7.5%</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Africa</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851.3</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1,846</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8.0%</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GCC</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712.5</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1,654</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8.8%</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Israel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561.7</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1,038</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6.3%</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Turkey flexible plastic packaging market is projected to register 1.2X higher value than Saudi Arabia in 2036. Among flexible plastic packaging by country, Saudi Arabia is expected to witness the highest CAGR of 9.1% over the forecast period.</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In terms of value share by country, Turkey is expected to dominate the market, gaining 15 BPS and accounting for 32.4% share by 2036. Israel is expected to lose 156 BPS over the forecast period to account for 8.8% share by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Turkey: </a:t>
            </a:r>
            <a:r>
              <a:rPr sz="1100" b="0">
                <a:solidFill>
                  <a:srgbClr val="2E2E2E"/>
                </a:solidFill>
                <a:latin typeface="Calibri"/>
              </a:rPr>
              <a:t>25% of 2026 value · 8.1%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Saudi Arabia: </a:t>
            </a:r>
            <a:r>
              <a:rPr sz="1100" b="0">
                <a:solidFill>
                  <a:srgbClr val="2E2E2E"/>
                </a:solidFill>
                <a:latin typeface="Calibri"/>
              </a:rPr>
              <a:t>19% of 2026 value · 9.1%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Rest of MEA: </a:t>
            </a:r>
            <a:r>
              <a:rPr sz="1100" b="0">
                <a:solidFill>
                  <a:srgbClr val="2E2E2E"/>
                </a:solidFill>
                <a:latin typeface="Calibri"/>
              </a:rPr>
              <a:t>14% of 2026 value · 8.8% CAGR a smaller market.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UAE: </a:t>
            </a:r>
            <a:r>
              <a:rPr sz="1100" b="0">
                <a:solidFill>
                  <a:srgbClr val="2E2E2E"/>
                </a:solidFill>
                <a:latin typeface="Calibri"/>
              </a:rPr>
              <a:t>13% of 2026 value · 7.5% CAGR a smaller market.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South Africa: </a:t>
            </a:r>
            <a:r>
              <a:rPr sz="1100" b="0">
                <a:solidFill>
                  <a:srgbClr val="2E2E2E"/>
                </a:solidFill>
                <a:latin typeface="Calibri"/>
              </a:rPr>
              <a:t>12% of 2026 value · 8.0% CAGR a smaller market.</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Rest of GCC: </a:t>
            </a:r>
            <a:r>
              <a:rPr sz="1100" b="0">
                <a:solidFill>
                  <a:srgbClr val="2E2E2E"/>
                </a:solidFill>
                <a:latin typeface="Calibri"/>
              </a:rPr>
              <a:t>10% of 2026 value · 8.8% CAGR a smaller market.</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Israel: </a:t>
            </a:r>
            <a:r>
              <a:rPr sz="1100" b="0">
                <a:solidFill>
                  <a:srgbClr val="2E2E2E"/>
                </a:solidFill>
                <a:latin typeface="Calibri"/>
              </a:rPr>
              <a:t>8% of 2026 value · 6.3% CAGR a smaller market.</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Middle East &amp; Africa market is projected to grow at a CAGR of 8.3%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69876"/>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651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8891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Israel</a:t>
            </a:r>
          </a:p>
        </p:txBody>
      </p:sp>
      <p:sp>
        <p:nvSpPr>
          <p:cNvPr id="19" name="BPS Value 1"/>
          <p:cNvSpPr txBox="1"/>
          <p:nvPr/>
        </p:nvSpPr>
        <p:spPr>
          <a:xfrm>
            <a:off x="6305550" y="1550826"/>
            <a:ext cx="514350" cy="123825"/>
          </a:xfrm>
          <a:prstGeom prst="rect">
            <a:avLst/>
          </a:prstGeom>
          <a:noFill/>
        </p:spPr>
        <p:txBody>
          <a:bodyPr wrap="none" lIns="0" rIns="0" tIns="0" bIns="0" anchor="ctr">
            <a:spAutoFit/>
          </a:bodyPr>
          <a:lstStyle/>
          <a:p>
            <a:pPr algn="r"/>
            <a:r>
              <a:rPr sz="900" b="1">
                <a:solidFill>
                  <a:srgbClr val="E44D3A"/>
                </a:solidFill>
                <a:latin typeface="Calibri"/>
              </a:rPr>
              <a:t>-107</a:t>
            </a:r>
          </a:p>
        </p:txBody>
      </p:sp>
      <p:sp>
        <p:nvSpPr>
          <p:cNvPr id="20" name="FMI Legend Chip"/>
          <p:cNvSpPr/>
          <p:nvPr/>
        </p:nvSpPr>
        <p:spPr>
          <a:xfrm>
            <a:off x="4551045" y="186887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6411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8791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GCC</a:t>
            </a:r>
          </a:p>
        </p:txBody>
      </p:sp>
      <p:sp>
        <p:nvSpPr>
          <p:cNvPr id="23" name="BPS Value 2"/>
          <p:cNvSpPr txBox="1"/>
          <p:nvPr/>
        </p:nvSpPr>
        <p:spPr>
          <a:xfrm>
            <a:off x="6305550" y="1849823"/>
            <a:ext cx="514350" cy="123825"/>
          </a:xfrm>
          <a:prstGeom prst="rect">
            <a:avLst/>
          </a:prstGeom>
          <a:noFill/>
        </p:spPr>
        <p:txBody>
          <a:bodyPr wrap="none" lIns="0" rIns="0" tIns="0" bIns="0" anchor="ctr">
            <a:spAutoFit/>
          </a:bodyPr>
          <a:lstStyle/>
          <a:p>
            <a:pPr algn="r"/>
            <a:r>
              <a:rPr sz="900" b="1">
                <a:solidFill>
                  <a:srgbClr val="2E7D32"/>
                </a:solidFill>
                <a:latin typeface="Calibri"/>
              </a:rPr>
              <a:t>+37</a:t>
            </a:r>
          </a:p>
        </p:txBody>
      </p:sp>
      <p:sp>
        <p:nvSpPr>
          <p:cNvPr id="24" name="FMI Legend Chip"/>
          <p:cNvSpPr/>
          <p:nvPr/>
        </p:nvSpPr>
        <p:spPr>
          <a:xfrm>
            <a:off x="4551045" y="226326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2585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8230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Africa</a:t>
            </a:r>
          </a:p>
        </p:txBody>
      </p:sp>
      <p:sp>
        <p:nvSpPr>
          <p:cNvPr id="27" name="BPS Value 3"/>
          <p:cNvSpPr txBox="1"/>
          <p:nvPr/>
        </p:nvSpPr>
        <p:spPr>
          <a:xfrm>
            <a:off x="6305550" y="2244219"/>
            <a:ext cx="514350" cy="123825"/>
          </a:xfrm>
          <a:prstGeom prst="rect">
            <a:avLst/>
          </a:prstGeom>
          <a:noFill/>
        </p:spPr>
        <p:txBody>
          <a:bodyPr wrap="none" lIns="0" rIns="0" tIns="0" bIns="0" anchor="ctr">
            <a:spAutoFit/>
          </a:bodyPr>
          <a:lstStyle/>
          <a:p>
            <a:pPr algn="r"/>
            <a:r>
              <a:rPr sz="900" b="1">
                <a:solidFill>
                  <a:srgbClr val="E44D3A"/>
                </a:solidFill>
                <a:latin typeface="Calibri"/>
              </a:rPr>
              <a:t>-34</a:t>
            </a:r>
          </a:p>
        </p:txBody>
      </p:sp>
      <p:sp>
        <p:nvSpPr>
          <p:cNvPr id="28" name="FMI Legend Chip"/>
          <p:cNvSpPr/>
          <p:nvPr/>
        </p:nvSpPr>
        <p:spPr>
          <a:xfrm>
            <a:off x="4551045" y="268120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67644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0024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UAE</a:t>
            </a:r>
          </a:p>
        </p:txBody>
      </p:sp>
      <p:sp>
        <p:nvSpPr>
          <p:cNvPr id="31" name="BPS Value 4"/>
          <p:cNvSpPr txBox="1"/>
          <p:nvPr/>
        </p:nvSpPr>
        <p:spPr>
          <a:xfrm>
            <a:off x="6305550" y="2662154"/>
            <a:ext cx="514350" cy="123825"/>
          </a:xfrm>
          <a:prstGeom prst="rect">
            <a:avLst/>
          </a:prstGeom>
          <a:noFill/>
        </p:spPr>
        <p:txBody>
          <a:bodyPr wrap="none" lIns="0" rIns="0" tIns="0" bIns="0" anchor="ctr">
            <a:spAutoFit/>
          </a:bodyPr>
          <a:lstStyle/>
          <a:p>
            <a:pPr algn="r"/>
            <a:r>
              <a:rPr sz="900" b="1">
                <a:solidFill>
                  <a:srgbClr val="E44D3A"/>
                </a:solidFill>
                <a:latin typeface="Calibri"/>
              </a:rPr>
              <a:t>-84</a:t>
            </a:r>
          </a:p>
        </p:txBody>
      </p:sp>
      <p:sp>
        <p:nvSpPr>
          <p:cNvPr id="32" name="FMI Legend Chip"/>
          <p:cNvSpPr/>
          <p:nvPr/>
        </p:nvSpPr>
        <p:spPr>
          <a:xfrm>
            <a:off x="4551045" y="315156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14679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07059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MEA</a:t>
            </a:r>
          </a:p>
        </p:txBody>
      </p:sp>
      <p:sp>
        <p:nvSpPr>
          <p:cNvPr id="35" name="BPS Value 5"/>
          <p:cNvSpPr txBox="1"/>
          <p:nvPr/>
        </p:nvSpPr>
        <p:spPr>
          <a:xfrm>
            <a:off x="6305550" y="3132511"/>
            <a:ext cx="514350" cy="123825"/>
          </a:xfrm>
          <a:prstGeom prst="rect">
            <a:avLst/>
          </a:prstGeom>
          <a:noFill/>
        </p:spPr>
        <p:txBody>
          <a:bodyPr wrap="none" lIns="0" rIns="0" tIns="0" bIns="0" anchor="ctr">
            <a:spAutoFit/>
          </a:bodyPr>
          <a:lstStyle/>
          <a:p>
            <a:pPr algn="r"/>
            <a:r>
              <a:rPr sz="900" b="1">
                <a:solidFill>
                  <a:srgbClr val="2E7D32"/>
                </a:solidFill>
                <a:latin typeface="Calibri"/>
              </a:rPr>
              <a:t>+80</a:t>
            </a:r>
          </a:p>
        </p:txBody>
      </p:sp>
      <p:sp>
        <p:nvSpPr>
          <p:cNvPr id="36" name="FMI Legend Chip"/>
          <p:cNvSpPr/>
          <p:nvPr/>
        </p:nvSpPr>
        <p:spPr>
          <a:xfrm>
            <a:off x="4551045" y="378562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378086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370466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Saudi Arabia</a:t>
            </a:r>
          </a:p>
        </p:txBody>
      </p:sp>
      <p:sp>
        <p:nvSpPr>
          <p:cNvPr id="39" name="BPS Value 6"/>
          <p:cNvSpPr txBox="1"/>
          <p:nvPr/>
        </p:nvSpPr>
        <p:spPr>
          <a:xfrm>
            <a:off x="6305550" y="3766573"/>
            <a:ext cx="514350" cy="123825"/>
          </a:xfrm>
          <a:prstGeom prst="rect">
            <a:avLst/>
          </a:prstGeom>
          <a:noFill/>
        </p:spPr>
        <p:txBody>
          <a:bodyPr wrap="none" lIns="0" rIns="0" tIns="0" bIns="0" anchor="ctr">
            <a:spAutoFit/>
          </a:bodyPr>
          <a:lstStyle/>
          <a:p>
            <a:pPr algn="r"/>
            <a:r>
              <a:rPr sz="900" b="1">
                <a:solidFill>
                  <a:srgbClr val="2E7D32"/>
                </a:solidFill>
                <a:latin typeface="Calibri"/>
              </a:rPr>
              <a:t>+144</a:t>
            </a:r>
          </a:p>
        </p:txBody>
      </p:sp>
      <p:sp>
        <p:nvSpPr>
          <p:cNvPr id="40" name="FMI Legend Chip"/>
          <p:cNvSpPr/>
          <p:nvPr/>
        </p:nvSpPr>
        <p:spPr>
          <a:xfrm>
            <a:off x="4551045" y="464664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4712970" y="46418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456568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Turkey</a:t>
            </a:r>
          </a:p>
        </p:txBody>
      </p:sp>
      <p:sp>
        <p:nvSpPr>
          <p:cNvPr id="43" name="BPS Value 7"/>
          <p:cNvSpPr txBox="1"/>
          <p:nvPr/>
        </p:nvSpPr>
        <p:spPr>
          <a:xfrm>
            <a:off x="6305550" y="4627594"/>
            <a:ext cx="514350" cy="123825"/>
          </a:xfrm>
          <a:prstGeom prst="rect">
            <a:avLst/>
          </a:prstGeom>
          <a:noFill/>
        </p:spPr>
        <p:txBody>
          <a:bodyPr wrap="none" lIns="0" rIns="0" tIns="0" bIns="0" anchor="ctr">
            <a:spAutoFit/>
          </a:bodyPr>
          <a:lstStyle/>
          <a:p>
            <a:pPr algn="r"/>
            <a:r>
              <a:rPr sz="900" b="1">
                <a:solidFill>
                  <a:srgbClr val="E44D3A"/>
                </a:solidFill>
                <a:latin typeface="Calibri"/>
              </a:rPr>
              <a:t>-36</a:t>
            </a:r>
          </a:p>
        </p:txBody>
      </p:sp>
      <p:sp>
        <p:nvSpPr>
          <p:cNvPr id="44" name="Rounded Rectangle 4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6" name="Rectangle 4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Turkey flexible plastic packaging market is projected to register 1.3X higher volume than Saudi Arabia in 2036. Among flexible plastic packaging by country, Saudi Arabia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volume share by country, Turkey is expected to dominate the market, maintaining its share and accounting for 34.8% share by 2036. Israel is expected to lose 128 BPS over the forecast period to account for 7.8% share by 2036.</a:t>
            </a:r>
          </a:p>
          <a:p>
            <a:pPr algn="l">
              <a:lnSpc>
                <a:spcPct val="110000"/>
              </a:lnSpc>
              <a:spcBef>
                <a:spcPts val="0"/>
              </a:spcBef>
              <a:spcAft>
                <a:spcPts val="500"/>
              </a:spcAft>
            </a:pPr>
            <a:r>
              <a:rPr sz="1150" b="0">
                <a:solidFill>
                  <a:srgbClr val="2E2E2E"/>
                </a:solidFill>
                <a:latin typeface="Calibri"/>
              </a:rPr>
              <a:t>Saudi Arabia grows fastest at 7.7% and gains 144 BPS because Vision 2030 diversification, food security investment, local food processing and rapid growth in retail and food delivery are lifting packaged food demand. Israel, at 5.1%, is a mature, advanced market and loses 107 BPS. Turkey stays largest on a strong food manufacturing and export base.</a:t>
            </a:r>
          </a:p>
        </p:txBody>
      </p:sp>
      <p:sp>
        <p:nvSpPr>
          <p:cNvPr id="48" name="Rounded Rectangle 4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(THOUSAND MT)</a:t>
            </a:r>
          </a:p>
          <a:p>
            <a:pPr algn="ctr">
              <a:lnSpc>
                <a:spcPct val="95000"/>
              </a:lnSpc>
            </a:pPr>
            <a:r>
              <a:rPr sz="2000" b="1">
                <a:solidFill>
                  <a:srgbClr val="0E72AE"/>
                </a:solidFill>
                <a:latin typeface="Calibri"/>
              </a:rPr>
              <a:t>2,377</a:t>
            </a:r>
          </a:p>
        </p:txBody>
      </p:sp>
      <p:sp>
        <p:nvSpPr>
          <p:cNvPr id="49" name="Rounded Rectangle 4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(THOUSAND MT)</a:t>
            </a:r>
          </a:p>
          <a:p>
            <a:pPr algn="ctr">
              <a:lnSpc>
                <a:spcPct val="95000"/>
              </a:lnSpc>
            </a:pPr>
            <a:r>
              <a:rPr sz="2000" b="1">
                <a:solidFill>
                  <a:srgbClr val="0E72AE"/>
                </a:solidFill>
                <a:latin typeface="Calibri"/>
              </a:rPr>
              <a:t>4,631</a:t>
            </a:r>
          </a:p>
        </p:txBody>
      </p:sp>
      <p:sp>
        <p:nvSpPr>
          <p:cNvPr id="50" name="Rounded Rectangle 4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6.9%</a:t>
            </a:r>
          </a:p>
        </p:txBody>
      </p:sp>
      <p:sp>
        <p:nvSpPr>
          <p:cNvPr id="51" name="TextBox 5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319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784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222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Israel</a:t>
            </a:r>
          </a:p>
        </p:txBody>
      </p:sp>
      <p:sp>
        <p:nvSpPr>
          <p:cNvPr id="19" name="BPS Value 1"/>
          <p:cNvSpPr txBox="1"/>
          <p:nvPr/>
        </p:nvSpPr>
        <p:spPr>
          <a:xfrm>
            <a:off x="6305550" y="1564142"/>
            <a:ext cx="514350" cy="123825"/>
          </a:xfrm>
          <a:prstGeom prst="rect">
            <a:avLst/>
          </a:prstGeom>
          <a:noFill/>
        </p:spPr>
        <p:txBody>
          <a:bodyPr wrap="none" lIns="0" rIns="0" tIns="0" bIns="0" anchor="ctr">
            <a:spAutoFit/>
          </a:bodyPr>
          <a:lstStyle/>
          <a:p>
            <a:pPr algn="r"/>
            <a:r>
              <a:rPr sz="900" b="1">
                <a:solidFill>
                  <a:srgbClr val="E44D3A"/>
                </a:solidFill>
                <a:latin typeface="Calibri"/>
              </a:rPr>
              <a:t>-130</a:t>
            </a:r>
          </a:p>
        </p:txBody>
      </p:sp>
      <p:sp>
        <p:nvSpPr>
          <p:cNvPr id="20" name="FMI Legend Chip"/>
          <p:cNvSpPr/>
          <p:nvPr/>
        </p:nvSpPr>
        <p:spPr>
          <a:xfrm>
            <a:off x="4551045" y="189719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9242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81622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GCC</a:t>
            </a:r>
          </a:p>
        </p:txBody>
      </p:sp>
      <p:sp>
        <p:nvSpPr>
          <p:cNvPr id="23" name="BPS Value 2"/>
          <p:cNvSpPr txBox="1"/>
          <p:nvPr/>
        </p:nvSpPr>
        <p:spPr>
          <a:xfrm>
            <a:off x="6305550" y="1878142"/>
            <a:ext cx="514350" cy="123825"/>
          </a:xfrm>
          <a:prstGeom prst="rect">
            <a:avLst/>
          </a:prstGeom>
          <a:noFill/>
        </p:spPr>
        <p:txBody>
          <a:bodyPr wrap="none" lIns="0" rIns="0" tIns="0" bIns="0" anchor="ctr">
            <a:spAutoFit/>
          </a:bodyPr>
          <a:lstStyle/>
          <a:p>
            <a:pPr algn="r"/>
            <a:r>
              <a:rPr sz="900" b="1">
                <a:solidFill>
                  <a:srgbClr val="2E7D32"/>
                </a:solidFill>
                <a:latin typeface="Calibri"/>
              </a:rPr>
              <a:t>+50</a:t>
            </a:r>
          </a:p>
        </p:txBody>
      </p:sp>
      <p:sp>
        <p:nvSpPr>
          <p:cNvPr id="24" name="FMI Legend Chip"/>
          <p:cNvSpPr/>
          <p:nvPr/>
        </p:nvSpPr>
        <p:spPr>
          <a:xfrm>
            <a:off x="4551045" y="230544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3006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22448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Africa</a:t>
            </a:r>
          </a:p>
        </p:txBody>
      </p:sp>
      <p:sp>
        <p:nvSpPr>
          <p:cNvPr id="27" name="BPS Value 3"/>
          <p:cNvSpPr txBox="1"/>
          <p:nvPr/>
        </p:nvSpPr>
        <p:spPr>
          <a:xfrm>
            <a:off x="6305550" y="2286397"/>
            <a:ext cx="514350" cy="123825"/>
          </a:xfrm>
          <a:prstGeom prst="rect">
            <a:avLst/>
          </a:prstGeom>
          <a:noFill/>
        </p:spPr>
        <p:txBody>
          <a:bodyPr wrap="none" lIns="0" rIns="0" tIns="0" bIns="0" anchor="ctr">
            <a:spAutoFit/>
          </a:bodyPr>
          <a:lstStyle/>
          <a:p>
            <a:pPr algn="r"/>
            <a:r>
              <a:rPr sz="900" b="1">
                <a:solidFill>
                  <a:srgbClr val="E44D3A"/>
                </a:solidFill>
                <a:latin typeface="Calibri"/>
              </a:rPr>
              <a:t>-23</a:t>
            </a:r>
          </a:p>
        </p:txBody>
      </p:sp>
      <p:sp>
        <p:nvSpPr>
          <p:cNvPr id="28" name="FMI Legend Chip"/>
          <p:cNvSpPr/>
          <p:nvPr/>
        </p:nvSpPr>
        <p:spPr>
          <a:xfrm>
            <a:off x="4551045" y="274151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73675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6055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UAE</a:t>
            </a:r>
          </a:p>
        </p:txBody>
      </p:sp>
      <p:sp>
        <p:nvSpPr>
          <p:cNvPr id="31" name="BPS Value 4"/>
          <p:cNvSpPr txBox="1"/>
          <p:nvPr/>
        </p:nvSpPr>
        <p:spPr>
          <a:xfrm>
            <a:off x="6305550" y="2722466"/>
            <a:ext cx="514350" cy="123825"/>
          </a:xfrm>
          <a:prstGeom prst="rect">
            <a:avLst/>
          </a:prstGeom>
          <a:noFill/>
        </p:spPr>
        <p:txBody>
          <a:bodyPr wrap="none" lIns="0" rIns="0" tIns="0" bIns="0" anchor="ctr">
            <a:spAutoFit/>
          </a:bodyPr>
          <a:lstStyle/>
          <a:p>
            <a:pPr algn="r"/>
            <a:r>
              <a:rPr sz="900" b="1">
                <a:solidFill>
                  <a:srgbClr val="E44D3A"/>
                </a:solidFill>
                <a:latin typeface="Calibri"/>
              </a:rPr>
              <a:t>-89</a:t>
            </a:r>
          </a:p>
        </p:txBody>
      </p:sp>
      <p:sp>
        <p:nvSpPr>
          <p:cNvPr id="32" name="FMI Legend Chip"/>
          <p:cNvSpPr/>
          <p:nvPr/>
        </p:nvSpPr>
        <p:spPr>
          <a:xfrm>
            <a:off x="4551045" y="323332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22856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15236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MEA</a:t>
            </a:r>
          </a:p>
        </p:txBody>
      </p:sp>
      <p:sp>
        <p:nvSpPr>
          <p:cNvPr id="35" name="BPS Value 5"/>
          <p:cNvSpPr txBox="1"/>
          <p:nvPr/>
        </p:nvSpPr>
        <p:spPr>
          <a:xfrm>
            <a:off x="6305550" y="3214277"/>
            <a:ext cx="514350" cy="123825"/>
          </a:xfrm>
          <a:prstGeom prst="rect">
            <a:avLst/>
          </a:prstGeom>
          <a:noFill/>
        </p:spPr>
        <p:txBody>
          <a:bodyPr wrap="none" lIns="0" rIns="0" tIns="0" bIns="0" anchor="ctr">
            <a:spAutoFit/>
          </a:bodyPr>
          <a:lstStyle/>
          <a:p>
            <a:pPr algn="r"/>
            <a:r>
              <a:rPr sz="900" b="1">
                <a:solidFill>
                  <a:srgbClr val="2E7D32"/>
                </a:solidFill>
                <a:latin typeface="Calibri"/>
              </a:rPr>
              <a:t>+78</a:t>
            </a:r>
          </a:p>
        </p:txBody>
      </p:sp>
      <p:sp>
        <p:nvSpPr>
          <p:cNvPr id="36" name="FMI Legend Chip"/>
          <p:cNvSpPr/>
          <p:nvPr/>
        </p:nvSpPr>
        <p:spPr>
          <a:xfrm>
            <a:off x="4551045" y="387276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38680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37918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Saudi Arabia</a:t>
            </a:r>
          </a:p>
        </p:txBody>
      </p:sp>
      <p:sp>
        <p:nvSpPr>
          <p:cNvPr id="39" name="BPS Value 6"/>
          <p:cNvSpPr txBox="1"/>
          <p:nvPr/>
        </p:nvSpPr>
        <p:spPr>
          <a:xfrm>
            <a:off x="6305550" y="3853714"/>
            <a:ext cx="514350" cy="123825"/>
          </a:xfrm>
          <a:prstGeom prst="rect">
            <a:avLst/>
          </a:prstGeom>
          <a:noFill/>
        </p:spPr>
        <p:txBody>
          <a:bodyPr wrap="none" lIns="0" rIns="0" tIns="0" bIns="0" anchor="ctr">
            <a:spAutoFit/>
          </a:bodyPr>
          <a:lstStyle/>
          <a:p>
            <a:pPr algn="r"/>
            <a:r>
              <a:rPr sz="900" b="1">
                <a:solidFill>
                  <a:srgbClr val="2E7D32"/>
                </a:solidFill>
                <a:latin typeface="Calibri"/>
              </a:rPr>
              <a:t>+144</a:t>
            </a:r>
          </a:p>
        </p:txBody>
      </p:sp>
      <p:sp>
        <p:nvSpPr>
          <p:cNvPr id="40" name="FMI Legend Chip"/>
          <p:cNvSpPr/>
          <p:nvPr/>
        </p:nvSpPr>
        <p:spPr>
          <a:xfrm>
            <a:off x="4551045" y="468515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4712970" y="46803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460419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Turkey</a:t>
            </a:r>
          </a:p>
        </p:txBody>
      </p:sp>
      <p:sp>
        <p:nvSpPr>
          <p:cNvPr id="43" name="BPS Value 7"/>
          <p:cNvSpPr txBox="1"/>
          <p:nvPr/>
        </p:nvSpPr>
        <p:spPr>
          <a:xfrm>
            <a:off x="6305550" y="4666107"/>
            <a:ext cx="514350" cy="123825"/>
          </a:xfrm>
          <a:prstGeom prst="rect">
            <a:avLst/>
          </a:prstGeom>
          <a:noFill/>
        </p:spPr>
        <p:txBody>
          <a:bodyPr wrap="none" lIns="0" rIns="0" tIns="0" bIns="0" anchor="ctr">
            <a:spAutoFit/>
          </a:bodyPr>
          <a:lstStyle/>
          <a:p>
            <a:pPr algn="r"/>
            <a:r>
              <a:rPr sz="900" b="1">
                <a:solidFill>
                  <a:srgbClr val="E44D3A"/>
                </a:solidFill>
                <a:latin typeface="Calibri"/>
              </a:rPr>
              <a:t>-30</a:t>
            </a:r>
          </a:p>
        </p:txBody>
      </p:sp>
      <p:sp>
        <p:nvSpPr>
          <p:cNvPr id="44" name="Rounded Rectangle 4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6" name="Rectangle 4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Turkey flexible plastic packaging market is projected to register 1.2X higher value than Saudi Arabia in 2036. Among flexible plastic packaging by country, Saudi Arabia is expected to witness the highest CAGR of 9.1% over the forecast period.</a:t>
            </a:r>
          </a:p>
          <a:p>
            <a:pPr algn="l">
              <a:lnSpc>
                <a:spcPct val="110000"/>
              </a:lnSpc>
              <a:spcBef>
                <a:spcPts val="0"/>
              </a:spcBef>
              <a:spcAft>
                <a:spcPts val="500"/>
              </a:spcAft>
            </a:pPr>
            <a:r>
              <a:rPr sz="1150" b="0">
                <a:solidFill>
                  <a:srgbClr val="2E2E2E"/>
                </a:solidFill>
                <a:latin typeface="Calibri"/>
              </a:rPr>
              <a:t>In terms of value share by country, Turkey is expected to dominate the market, gaining 15 BPS and accounting for 32.4% share by 2036. Israel is expected to lose 156 BPS over the forecast period to account for 8.8% share by 2036.</a:t>
            </a:r>
          </a:p>
          <a:p>
            <a:pPr algn="l">
              <a:lnSpc>
                <a:spcPct val="110000"/>
              </a:lnSpc>
              <a:spcBef>
                <a:spcPts val="0"/>
              </a:spcBef>
              <a:spcAft>
                <a:spcPts val="500"/>
              </a:spcAft>
            </a:pPr>
            <a:r>
              <a:rPr sz="1150" b="0">
                <a:solidFill>
                  <a:srgbClr val="2E2E2E"/>
                </a:solidFill>
                <a:latin typeface="Calibri"/>
              </a:rPr>
              <a:t>Saudi Arabia grows fastest at 9.1%, against 8.3% for the region, as Vision 2030 diversification, local food manufacturing, retail expansion and a young, growing population pull more packaged food and flexible packs into the market. It gains 144 BPS of share, while Israel, at 6.3%, loses 130 BPS as a smaller, more mature market.</a:t>
            </a:r>
          </a:p>
        </p:txBody>
      </p:sp>
      <p:sp>
        <p:nvSpPr>
          <p:cNvPr id="48" name="Rounded Rectangle 4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7,108</a:t>
            </a:r>
          </a:p>
        </p:txBody>
      </p:sp>
      <p:sp>
        <p:nvSpPr>
          <p:cNvPr id="49" name="Rounded Rectangle 4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15,718</a:t>
            </a:r>
          </a:p>
        </p:txBody>
      </p:sp>
      <p:sp>
        <p:nvSpPr>
          <p:cNvPr id="50" name="Rounded Rectangle 4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8.3%</a:t>
            </a:r>
          </a:p>
        </p:txBody>
      </p:sp>
      <p:sp>
        <p:nvSpPr>
          <p:cNvPr id="51" name="TextBox 5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Share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Size, By Country (Thousand MT)</a:t>
            </a:r>
          </a:p>
        </p:txBody>
      </p:sp>
      <p:graphicFrame>
        <p:nvGraphicFramePr>
          <p:cNvPr id="13" name="Table 12"/>
          <p:cNvGraphicFramePr>
            <a:graphicFrameLocks noGrp="1"/>
          </p:cNvGraphicFramePr>
          <p:nvPr/>
        </p:nvGraphicFramePr>
        <p:xfrm>
          <a:off x="152400" y="1238250"/>
          <a:ext cx="11887201" cy="1943097"/>
        </p:xfrm>
        <a:graphic>
          <a:graphicData uri="http://schemas.openxmlformats.org/drawingml/2006/table">
            <a:tbl>
              <a:tblPr>
                <a:tableStyleId>{5C22544A-7EE6-4342-B048-85BDC9FD1C3A}</a:tableStyleId>
              </a:tblPr>
              <a:tblGrid>
                <a:gridCol w="998157"/>
                <a:gridCol w="640532"/>
                <a:gridCol w="640532"/>
                <a:gridCol w="640532"/>
                <a:gridCol w="640532"/>
                <a:gridCol w="640532"/>
                <a:gridCol w="640532"/>
                <a:gridCol w="640532"/>
                <a:gridCol w="640532"/>
                <a:gridCol w="640532"/>
                <a:gridCol w="640532"/>
                <a:gridCol w="640532"/>
                <a:gridCol w="640532"/>
                <a:gridCol w="640532"/>
                <a:gridCol w="640532"/>
                <a:gridCol w="640532"/>
                <a:gridCol w="640532"/>
                <a:gridCol w="64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GCC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Share Read-out, By Country</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Turkey flexible plastic packaging market is projected to register 1.3X higher volume than Saudi Arabia in 2036. Among flexible plastic packaging by country, Saudi Arabia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volume share by country, Turkey is expected to dominate the market, maintaining its share and accounting for 34.8% share by 2036. Israel is expected to lose 128 BPS over the forecast period to account for 7.8% share by 2036.</a:t>
            </a:r>
          </a:p>
          <a:p>
            <a:pPr algn="l">
              <a:lnSpc>
                <a:spcPct val="110000"/>
              </a:lnSpc>
              <a:spcBef>
                <a:spcPts val="0"/>
              </a:spcBef>
              <a:spcAft>
                <a:spcPts val="500"/>
              </a:spcAft>
            </a:pPr>
            <a:r>
              <a:rPr sz="1150" b="0">
                <a:solidFill>
                  <a:srgbClr val="2E2E2E"/>
                </a:solidFill>
                <a:latin typeface="Calibri"/>
              </a:rPr>
              <a:t>Saudi Arabia gains 144 BPS and grows at 7.7% because Vision 2030 diversification, food-security investment, local food processing and rising retail and e-commerce are building packaging demand. Rest of MEA also gains, at 7.5%, on urbanisation. Israel loses 107 BPS at 5.1% and the UAE loses 84 BPS at 6.2% as more mature markets, while Turkey holds its lead as the largest base.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Size, By Country (US$ Mn)</a:t>
            </a:r>
          </a:p>
        </p:txBody>
      </p:sp>
      <p:graphicFrame>
        <p:nvGraphicFramePr>
          <p:cNvPr id="13" name="Table 12"/>
          <p:cNvGraphicFramePr>
            <a:graphicFrameLocks noGrp="1"/>
          </p:cNvGraphicFramePr>
          <p:nvPr/>
        </p:nvGraphicFramePr>
        <p:xfrm>
          <a:off x="152400" y="1238250"/>
          <a:ext cx="11887201" cy="1943097"/>
        </p:xfrm>
        <a:graphic>
          <a:graphicData uri="http://schemas.openxmlformats.org/drawingml/2006/table">
            <a:tbl>
              <a:tblPr>
                <a:tableStyleId>{5C22544A-7EE6-4342-B048-85BDC9FD1C3A}</a:tableStyleId>
              </a:tblPr>
              <a:tblGrid>
                <a:gridCol w="998157"/>
                <a:gridCol w="640532"/>
                <a:gridCol w="640532"/>
                <a:gridCol w="640532"/>
                <a:gridCol w="640532"/>
                <a:gridCol w="640532"/>
                <a:gridCol w="640532"/>
                <a:gridCol w="640532"/>
                <a:gridCol w="640532"/>
                <a:gridCol w="640532"/>
                <a:gridCol w="640532"/>
                <a:gridCol w="640532"/>
                <a:gridCol w="640532"/>
                <a:gridCol w="640532"/>
                <a:gridCol w="640532"/>
                <a:gridCol w="640532"/>
                <a:gridCol w="640532"/>
                <a:gridCol w="64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GCC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Share Read-out, By Country</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Turkey flexible plastic packaging market is projected to register 1.2X higher value than Saudi Arabia in 2036. Among flexible plastic packaging by country, Saudi Arabia is expected to witness the highest CAGR of 9.1% over the forecast period.</a:t>
            </a:r>
          </a:p>
          <a:p>
            <a:pPr algn="l">
              <a:lnSpc>
                <a:spcPct val="110000"/>
              </a:lnSpc>
              <a:spcBef>
                <a:spcPts val="0"/>
              </a:spcBef>
              <a:spcAft>
                <a:spcPts val="500"/>
              </a:spcAft>
            </a:pPr>
            <a:r>
              <a:rPr sz="1150" b="0">
                <a:solidFill>
                  <a:srgbClr val="2E2E2E"/>
                </a:solidFill>
                <a:latin typeface="Calibri"/>
              </a:rPr>
              <a:t>In terms of value share by country, Turkey is expected to dominate the market, gaining 15 BPS and accounting for 32.4% share by 2036. Israel is expected to lose 156 BPS over the forecast period to account for 8.8% share by 2036.</a:t>
            </a:r>
          </a:p>
          <a:p>
            <a:pPr algn="l">
              <a:lnSpc>
                <a:spcPct val="110000"/>
              </a:lnSpc>
              <a:spcBef>
                <a:spcPts val="0"/>
              </a:spcBef>
              <a:spcAft>
                <a:spcPts val="500"/>
              </a:spcAft>
            </a:pPr>
            <a:r>
              <a:rPr sz="1150" b="0">
                <a:solidFill>
                  <a:srgbClr val="2E2E2E"/>
                </a:solidFill>
                <a:latin typeface="Calibri"/>
              </a:rPr>
              <a:t>Saudi Arabia gains 144 BPS of value share at 9.1% growth as food-security spending, localised food processing, population growth and modern retail expansion drive demand, making it the fastest country. Israel loses 130 BPS at 6.3% because its smaller, more mature market grows slower than the 8.3% regional rate, while Turkey stays largest on its processing base.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Country (Thousand MT)</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Turkey</a:t>
            </a:r>
          </a:p>
          <a:p>
            <a:pPr>
              <a:spcBef>
                <a:spcPts val="500"/>
              </a:spcBef>
            </a:pPr>
            <a:r>
              <a:rPr sz="900">
                <a:solidFill>
                  <a:srgbClr val="9E7E0A"/>
                </a:solidFill>
                <a:latin typeface="Calibri"/>
              </a:rPr>
              <a:t>■  </a:t>
            </a:r>
            <a:r>
              <a:rPr sz="750">
                <a:solidFill>
                  <a:srgbClr val="2E2E2E"/>
                </a:solidFill>
                <a:latin typeface="Calibri"/>
              </a:rPr>
              <a:t>   Saudi Arabia</a:t>
            </a:r>
          </a:p>
          <a:p>
            <a:pPr>
              <a:spcBef>
                <a:spcPts val="500"/>
              </a:spcBef>
            </a:pPr>
            <a:r>
              <a:rPr sz="900">
                <a:solidFill>
                  <a:srgbClr val="008189"/>
                </a:solidFill>
                <a:latin typeface="Calibri"/>
              </a:rPr>
              <a:t>■  </a:t>
            </a:r>
            <a:r>
              <a:rPr sz="750">
                <a:solidFill>
                  <a:srgbClr val="2E2E2E"/>
                </a:solidFill>
                <a:latin typeface="Calibri"/>
              </a:rPr>
              <a:t>   Rest of MEA</a:t>
            </a:r>
          </a:p>
          <a:p>
            <a:pPr>
              <a:spcBef>
                <a:spcPts val="500"/>
              </a:spcBef>
            </a:pPr>
            <a:r>
              <a:rPr sz="900">
                <a:solidFill>
                  <a:srgbClr val="40315E"/>
                </a:solidFill>
                <a:latin typeface="Calibri"/>
              </a:rPr>
              <a:t>■  </a:t>
            </a:r>
            <a:r>
              <a:rPr sz="750">
                <a:solidFill>
                  <a:srgbClr val="2E2E2E"/>
                </a:solidFill>
                <a:latin typeface="Calibri"/>
              </a:rPr>
              <a:t>   UAE</a:t>
            </a:r>
          </a:p>
          <a:p>
            <a:pPr>
              <a:spcBef>
                <a:spcPts val="500"/>
              </a:spcBef>
            </a:pPr>
            <a:r>
              <a:rPr sz="900">
                <a:solidFill>
                  <a:srgbClr val="A35313"/>
                </a:solidFill>
                <a:latin typeface="Calibri"/>
              </a:rPr>
              <a:t>■  </a:t>
            </a:r>
            <a:r>
              <a:rPr sz="750">
                <a:solidFill>
                  <a:srgbClr val="2E2E2E"/>
                </a:solidFill>
                <a:latin typeface="Calibri"/>
              </a:rPr>
              <a:t>   South Africa</a:t>
            </a:r>
          </a:p>
          <a:p>
            <a:pPr>
              <a:spcBef>
                <a:spcPts val="500"/>
              </a:spcBef>
            </a:pPr>
            <a:r>
              <a:rPr sz="900">
                <a:solidFill>
                  <a:srgbClr val="808080"/>
                </a:solidFill>
                <a:latin typeface="Calibri"/>
              </a:rPr>
              <a:t>■  </a:t>
            </a:r>
            <a:r>
              <a:rPr sz="750">
                <a:solidFill>
                  <a:srgbClr val="2E2E2E"/>
                </a:solidFill>
                <a:latin typeface="Calibri"/>
              </a:rPr>
              <a:t>   Rest of GCC</a:t>
            </a:r>
          </a:p>
          <a:p>
            <a:pPr>
              <a:spcBef>
                <a:spcPts val="500"/>
              </a:spcBef>
            </a:pPr>
            <a:r>
              <a:rPr sz="900">
                <a:solidFill>
                  <a:srgbClr val="0E72AE"/>
                </a:solidFill>
                <a:latin typeface="Calibri"/>
              </a:rPr>
              <a:t>■  </a:t>
            </a:r>
            <a:r>
              <a:rPr sz="750">
                <a:solidFill>
                  <a:srgbClr val="2E2E2E"/>
                </a:solidFill>
                <a:latin typeface="Calibri"/>
              </a:rPr>
              <a:t>   Israel</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Turkey</a:t>
            </a:r>
          </a:p>
          <a:p>
            <a:pPr>
              <a:spcBef>
                <a:spcPts val="500"/>
              </a:spcBef>
            </a:pPr>
            <a:r>
              <a:rPr sz="900">
                <a:solidFill>
                  <a:srgbClr val="9E7E0A"/>
                </a:solidFill>
                <a:latin typeface="Calibri"/>
              </a:rPr>
              <a:t>■  </a:t>
            </a:r>
            <a:r>
              <a:rPr sz="750">
                <a:solidFill>
                  <a:srgbClr val="2E2E2E"/>
                </a:solidFill>
                <a:latin typeface="Calibri"/>
              </a:rPr>
              <a:t>   Saudi Arabia</a:t>
            </a:r>
          </a:p>
          <a:p>
            <a:pPr>
              <a:spcBef>
                <a:spcPts val="500"/>
              </a:spcBef>
            </a:pPr>
            <a:r>
              <a:rPr sz="900">
                <a:solidFill>
                  <a:srgbClr val="008189"/>
                </a:solidFill>
                <a:latin typeface="Calibri"/>
              </a:rPr>
              <a:t>■  </a:t>
            </a:r>
            <a:r>
              <a:rPr sz="750">
                <a:solidFill>
                  <a:srgbClr val="2E2E2E"/>
                </a:solidFill>
                <a:latin typeface="Calibri"/>
              </a:rPr>
              <a:t>   Rest of MEA</a:t>
            </a:r>
          </a:p>
          <a:p>
            <a:pPr>
              <a:spcBef>
                <a:spcPts val="500"/>
              </a:spcBef>
            </a:pPr>
            <a:r>
              <a:rPr sz="900">
                <a:solidFill>
                  <a:srgbClr val="40315E"/>
                </a:solidFill>
                <a:latin typeface="Calibri"/>
              </a:rPr>
              <a:t>■  </a:t>
            </a:r>
            <a:r>
              <a:rPr sz="750">
                <a:solidFill>
                  <a:srgbClr val="2E2E2E"/>
                </a:solidFill>
                <a:latin typeface="Calibri"/>
              </a:rPr>
              <a:t>   UAE</a:t>
            </a:r>
          </a:p>
          <a:p>
            <a:pPr>
              <a:spcBef>
                <a:spcPts val="500"/>
              </a:spcBef>
            </a:pPr>
            <a:r>
              <a:rPr sz="900">
                <a:solidFill>
                  <a:srgbClr val="A35313"/>
                </a:solidFill>
                <a:latin typeface="Calibri"/>
              </a:rPr>
              <a:t>■  </a:t>
            </a:r>
            <a:r>
              <a:rPr sz="750">
                <a:solidFill>
                  <a:srgbClr val="2E2E2E"/>
                </a:solidFill>
                <a:latin typeface="Calibri"/>
              </a:rPr>
              <a:t>   South Africa</a:t>
            </a:r>
          </a:p>
          <a:p>
            <a:pPr>
              <a:spcBef>
                <a:spcPts val="500"/>
              </a:spcBef>
            </a:pPr>
            <a:r>
              <a:rPr sz="900">
                <a:solidFill>
                  <a:srgbClr val="808080"/>
                </a:solidFill>
                <a:latin typeface="Calibri"/>
              </a:rPr>
              <a:t>■  </a:t>
            </a:r>
            <a:r>
              <a:rPr sz="750">
                <a:solidFill>
                  <a:srgbClr val="2E2E2E"/>
                </a:solidFill>
                <a:latin typeface="Calibri"/>
              </a:rPr>
              <a:t>   Rest of GCC</a:t>
            </a:r>
          </a:p>
          <a:p>
            <a:pPr>
              <a:spcBef>
                <a:spcPts val="500"/>
              </a:spcBef>
            </a:pPr>
            <a:r>
              <a:rPr sz="900">
                <a:solidFill>
                  <a:srgbClr val="0E72AE"/>
                </a:solidFill>
                <a:latin typeface="Calibri"/>
              </a:rPr>
              <a:t>■  </a:t>
            </a:r>
            <a:r>
              <a:rPr sz="750">
                <a:solidFill>
                  <a:srgbClr val="2E2E2E"/>
                </a:solidFill>
                <a:latin typeface="Calibri"/>
              </a:rPr>
              <a:t>   Israel</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Top 5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Middle East &amp; Africa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by country  ·  2036 (US$ Mn)  ·  tile size = market value</a:t>
            </a:r>
          </a:p>
        </p:txBody>
      </p:sp>
      <p:sp>
        <p:nvSpPr>
          <p:cNvPr id="13" name="Rectangle 12"/>
          <p:cNvSpPr/>
          <p:nvPr/>
        </p:nvSpPr>
        <p:spPr>
          <a:xfrm>
            <a:off x="238125" y="1266825"/>
            <a:ext cx="3798607"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3,807</a:t>
            </a:r>
          </a:p>
        </p:txBody>
      </p:sp>
      <p:sp>
        <p:nvSpPr>
          <p:cNvPr id="14" name="Rectangle 13"/>
          <p:cNvSpPr/>
          <p:nvPr/>
        </p:nvSpPr>
        <p:spPr>
          <a:xfrm>
            <a:off x="4036732" y="1266825"/>
            <a:ext cx="3150883"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Saudi Arabia</a:t>
            </a:r>
          </a:p>
          <a:p>
            <a:pPr algn="ctr"/>
            <a:r>
              <a:rPr sz="1100" b="0">
                <a:solidFill>
                  <a:srgbClr val="FFFFFF"/>
                </a:solidFill>
                <a:latin typeface="Calibri"/>
              </a:rPr>
              <a:t>3,158</a:t>
            </a:r>
          </a:p>
        </p:txBody>
      </p:sp>
      <p:sp>
        <p:nvSpPr>
          <p:cNvPr id="15" name="Rectangle 14"/>
          <p:cNvSpPr/>
          <p:nvPr/>
        </p:nvSpPr>
        <p:spPr>
          <a:xfrm>
            <a:off x="7187615" y="1266825"/>
            <a:ext cx="2412376" cy="4152267"/>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1,892</a:t>
            </a:r>
          </a:p>
        </p:txBody>
      </p:sp>
      <p:sp>
        <p:nvSpPr>
          <p:cNvPr id="16" name="Rectangle 15"/>
          <p:cNvSpPr/>
          <p:nvPr/>
        </p:nvSpPr>
        <p:spPr>
          <a:xfrm>
            <a:off x="9599991" y="1266825"/>
            <a:ext cx="2353884" cy="4152267"/>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Africa</a:t>
            </a:r>
          </a:p>
          <a:p>
            <a:pPr algn="ctr"/>
            <a:r>
              <a:rPr sz="1100" b="0">
                <a:solidFill>
                  <a:srgbClr val="FFFFFF"/>
                </a:solidFill>
                <a:latin typeface="Calibri"/>
              </a:rPr>
              <a:t>1,846</a:t>
            </a:r>
          </a:p>
        </p:txBody>
      </p:sp>
      <p:sp>
        <p:nvSpPr>
          <p:cNvPr id="17" name="Rectangle 16"/>
          <p:cNvSpPr/>
          <p:nvPr/>
        </p:nvSpPr>
        <p:spPr>
          <a:xfrm>
            <a:off x="7187615" y="5419092"/>
            <a:ext cx="4766260" cy="1153158"/>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Israel</a:t>
            </a:r>
          </a:p>
          <a:p>
            <a:pPr algn="ctr"/>
            <a:r>
              <a:rPr sz="1100" b="0">
                <a:solidFill>
                  <a:srgbClr val="FFFFFF"/>
                </a:solidFill>
                <a:latin typeface="Calibri"/>
              </a:rPr>
              <a:t>1,038</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Middle East &amp; Africa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Rollstock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3,825</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8,469</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8.3%</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Premade Pouches &amp; Bags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1,997</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4,436</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8.3%</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Barrier Casings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788.4</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1,711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8.1%</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Sachets &amp; Stick Packs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497.6</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1,103</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8.3%</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product type, premade pouches &amp; bags segment is expected to witness the highest CAGR of 8.3% over the forecast period. In terms of value share by product type, the rollstock films segment is expected to dominate the market, maintaining its share and accounting for 53.9%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Rollstock films segment is projected to register 1.9X higher value than premade pouches &amp; bags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Rollstock Films: </a:t>
            </a:r>
            <a:r>
              <a:rPr sz="1100" b="0">
                <a:solidFill>
                  <a:srgbClr val="2E2E2E"/>
                </a:solidFill>
                <a:latin typeface="Calibri"/>
              </a:rPr>
              <a:t>54% of 2026 value · 8.3%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Premade Pouches &amp; Bags: </a:t>
            </a:r>
            <a:r>
              <a:rPr sz="1100" b="0">
                <a:solidFill>
                  <a:srgbClr val="2E2E2E"/>
                </a:solidFill>
                <a:latin typeface="Calibri"/>
              </a:rPr>
              <a:t>28% of 2026 value · 8.3%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Barrier Casings: </a:t>
            </a:r>
            <a:r>
              <a:rPr sz="1100" b="0">
                <a:solidFill>
                  <a:srgbClr val="2E2E2E"/>
                </a:solidFill>
                <a:latin typeface="Calibri"/>
              </a:rPr>
              <a:t>11% of 2026 value · 8.1%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Sachets &amp; Stick Packs: </a:t>
            </a:r>
            <a:r>
              <a:rPr sz="1100" b="0">
                <a:solidFill>
                  <a:srgbClr val="2E2E2E"/>
                </a:solidFill>
                <a:latin typeface="Calibri"/>
              </a:rPr>
              <a:t>7% of 2026 value · 8.3%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8.3%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Rollstock films followed by premade pouches &amp; bags are expected to be the two most attractive product type segments in the Middle East &amp; Africa flexible plastic packaging market in terms of value over the forecast period. Rollstock films and premade pouches &amp; bags exhibit a CAGR index of 100 and 101 and a market share index of 215 and 112 respectively, against the segment average of 100. The sachets &amp; stick packs segment is expected to be less attractive as compared to other segments over the forecast period, owing to its lower CAGR and incremental opportunity. Premade Pouches &amp; Bags rank most attractive because they combine a 28.1% base with the fastest growth at 8.3% and a 12 BPS gain, supported by modern retail, food delivery and convenient packaged food. Rollstock Films hold the larger 53.8% base at the same pace, so remain the core of value. Barrier Casings lag at 8.1%, losing 21 BPS.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Rollstock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Barrier Casings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Premade Pouches &amp; Bags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Sachets &amp; Stick Packs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Volume Analysis, By Product Type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Product Type (Thousand MT)</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Volume Analysis, By Product Type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Product Type (Thousand MT)</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1.7X higher volume than premade pouches &amp; bags segment in 2036. Among flexible plastic packaging by product type, premade pouches &amp; bags segment is expected to witness the highest CAGR of 7.0% over the forecast period.</a:t>
            </a:r>
          </a:p>
          <a:p>
            <a:pPr algn="l">
              <a:lnSpc>
                <a:spcPct val="110000"/>
              </a:lnSpc>
              <a:spcBef>
                <a:spcPts val="0"/>
              </a:spcBef>
              <a:spcAft>
                <a:spcPts val="500"/>
              </a:spcAft>
            </a:pPr>
            <a:r>
              <a:rPr sz="1150" b="0">
                <a:solidFill>
                  <a:srgbClr val="2E2E2E"/>
                </a:solidFill>
                <a:latin typeface="Calibri"/>
              </a:rPr>
              <a:t>In terms of volume share by product type, the rollstock films segment is expected to dominate the market, maintaining its share and accounting for 53.5% share by 2036.</a:t>
            </a:r>
          </a:p>
          <a:p>
            <a:pPr algn="l">
              <a:lnSpc>
                <a:spcPct val="110000"/>
              </a:lnSpc>
              <a:spcBef>
                <a:spcPts val="0"/>
              </a:spcBef>
              <a:spcAft>
                <a:spcPts val="500"/>
              </a:spcAft>
            </a:pPr>
            <a:r>
              <a:rPr sz="1150" b="0">
                <a:solidFill>
                  <a:srgbClr val="2E2E2E"/>
                </a:solidFill>
                <a:latin typeface="Calibri"/>
              </a:rPr>
              <a:t>Premade Pouches &amp; Bags gain 17 BPS and grow at 7.0% because rising incomes, urbanisation, modern retail and e-commerce favour stand-up and zipper formats for food, pet food and household goods. Sachets &amp; Stick Packs lose 9 BPS at 6.8% as consumers move toward larger packs. Rollstock Films hold 53.6% on form-fill-seal food lines, while Barrier Casings are unchanged.</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Product Type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Product Type (US$ Mn)</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Product Type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Product Type (US$ Mn)</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1.9X higher value than premade pouches &amp; bags segment in 2036. Among flexible plastic packaging by product type, premade pouches &amp; bags segment is expected to witness the highest CAGR of 8.3% over the forecast period.</a:t>
            </a:r>
          </a:p>
          <a:p>
            <a:pPr algn="l">
              <a:lnSpc>
                <a:spcPct val="110000"/>
              </a:lnSpc>
              <a:spcBef>
                <a:spcPts val="0"/>
              </a:spcBef>
              <a:spcAft>
                <a:spcPts val="500"/>
              </a:spcAft>
            </a:pPr>
            <a:r>
              <a:rPr sz="1150" b="0">
                <a:solidFill>
                  <a:srgbClr val="2E2E2E"/>
                </a:solidFill>
                <a:latin typeface="Calibri"/>
              </a:rPr>
              <a:t>In terms of value share by product type, the rollstock films segment is expected to dominate the market, maintaining its share and accounting for 53.9% share by 2036. The barrier casings segment is expected to lose 21 BPS over the forecast period to account for 10.9% share by 2036.</a:t>
            </a:r>
          </a:p>
          <a:p>
            <a:pPr algn="l">
              <a:lnSpc>
                <a:spcPct val="110000"/>
              </a:lnSpc>
              <a:spcBef>
                <a:spcPts val="0"/>
              </a:spcBef>
              <a:spcAft>
                <a:spcPts val="500"/>
              </a:spcAft>
            </a:pPr>
            <a:r>
              <a:rPr sz="1150" b="0">
                <a:solidFill>
                  <a:srgbClr val="2E2E2E"/>
                </a:solidFill>
                <a:latin typeface="Calibri"/>
              </a:rPr>
              <a:t>Premade Pouches &amp; Bags gain 12 BPS of value share because stand-up and resealable formats suit e-commerce, convenience retail and portion-controlled food, backed by population growth, imported-food shelf-life needs and expanding modern retail and food processing. Barrier Casings give up 21 BPS at 8.1% growth because they are tied to processed meat and cheese, a narrower base than general retail pouches.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162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2686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506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Sachets &amp; Stick Packs</a:t>
            </a:r>
          </a:p>
        </p:txBody>
      </p:sp>
      <p:sp>
        <p:nvSpPr>
          <p:cNvPr id="19" name="BPS Value 1"/>
          <p:cNvSpPr txBox="1"/>
          <p:nvPr/>
        </p:nvSpPr>
        <p:spPr>
          <a:xfrm>
            <a:off x="6896100" y="1812576"/>
            <a:ext cx="514350" cy="123825"/>
          </a:xfrm>
          <a:prstGeom prst="rect">
            <a:avLst/>
          </a:prstGeom>
          <a:noFill/>
        </p:spPr>
        <p:txBody>
          <a:bodyPr wrap="none" lIns="0" rIns="0" tIns="0" bIns="0" anchor="ctr">
            <a:spAutoFit/>
          </a:bodyPr>
          <a:lstStyle/>
          <a:p>
            <a:pPr algn="r"/>
            <a:r>
              <a:rPr sz="900" b="1">
                <a:solidFill>
                  <a:srgbClr val="2E7D32"/>
                </a:solidFill>
                <a:latin typeface="Calibri"/>
              </a:rPr>
              <a:t>+1</a:t>
            </a:r>
          </a:p>
        </p:txBody>
      </p:sp>
      <p:sp>
        <p:nvSpPr>
          <p:cNvPr id="20" name="FMI Legend Chip"/>
          <p:cNvSpPr/>
          <p:nvPr/>
        </p:nvSpPr>
        <p:spPr>
          <a:xfrm>
            <a:off x="4928997" y="224086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2361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599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Barrier Casings</a:t>
            </a:r>
          </a:p>
        </p:txBody>
      </p:sp>
      <p:sp>
        <p:nvSpPr>
          <p:cNvPr id="23" name="BPS Value 2"/>
          <p:cNvSpPr txBox="1"/>
          <p:nvPr/>
        </p:nvSpPr>
        <p:spPr>
          <a:xfrm>
            <a:off x="6896100" y="2221816"/>
            <a:ext cx="514350" cy="123825"/>
          </a:xfrm>
          <a:prstGeom prst="rect">
            <a:avLst/>
          </a:prstGeom>
          <a:noFill/>
        </p:spPr>
        <p:txBody>
          <a:bodyPr wrap="none" lIns="0" rIns="0" tIns="0" bIns="0" anchor="ctr">
            <a:spAutoFit/>
          </a:bodyPr>
          <a:lstStyle/>
          <a:p>
            <a:pPr algn="r"/>
            <a:r>
              <a:rPr sz="900" b="1">
                <a:solidFill>
                  <a:srgbClr val="E44D3A"/>
                </a:solidFill>
                <a:latin typeface="Calibri"/>
              </a:rPr>
              <a:t>-21</a:t>
            </a:r>
          </a:p>
        </p:txBody>
      </p:sp>
      <p:sp>
        <p:nvSpPr>
          <p:cNvPr id="24" name="FMI Legend Chip"/>
          <p:cNvSpPr/>
          <p:nvPr/>
        </p:nvSpPr>
        <p:spPr>
          <a:xfrm>
            <a:off x="4928997" y="313489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13012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0539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Premade Pouches &amp; Bags</a:t>
            </a:r>
          </a:p>
        </p:txBody>
      </p:sp>
      <p:sp>
        <p:nvSpPr>
          <p:cNvPr id="27" name="BPS Value 3"/>
          <p:cNvSpPr txBox="1"/>
          <p:nvPr/>
        </p:nvSpPr>
        <p:spPr>
          <a:xfrm>
            <a:off x="6896100" y="3115841"/>
            <a:ext cx="514350" cy="123825"/>
          </a:xfrm>
          <a:prstGeom prst="rect">
            <a:avLst/>
          </a:prstGeom>
          <a:noFill/>
        </p:spPr>
        <p:txBody>
          <a:bodyPr wrap="none" lIns="0" rIns="0" tIns="0" bIns="0" anchor="ctr">
            <a:spAutoFit/>
          </a:bodyPr>
          <a:lstStyle/>
          <a:p>
            <a:pPr algn="r"/>
            <a:r>
              <a:rPr sz="900" b="1">
                <a:solidFill>
                  <a:srgbClr val="2E7D32"/>
                </a:solidFill>
                <a:latin typeface="Calibri"/>
              </a:rPr>
              <a:t>+12</a:t>
            </a:r>
          </a:p>
        </p:txBody>
      </p:sp>
      <p:sp>
        <p:nvSpPr>
          <p:cNvPr id="28" name="FMI Legend Chip"/>
          <p:cNvSpPr/>
          <p:nvPr/>
        </p:nvSpPr>
        <p:spPr>
          <a:xfrm>
            <a:off x="4928997" y="501184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0070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9308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Rollstock Films</a:t>
            </a:r>
          </a:p>
        </p:txBody>
      </p:sp>
      <p:sp>
        <p:nvSpPr>
          <p:cNvPr id="31" name="BPS Value 4"/>
          <p:cNvSpPr txBox="1"/>
          <p:nvPr/>
        </p:nvSpPr>
        <p:spPr>
          <a:xfrm>
            <a:off x="6896100" y="4992792"/>
            <a:ext cx="514350" cy="123825"/>
          </a:xfrm>
          <a:prstGeom prst="rect">
            <a:avLst/>
          </a:prstGeom>
          <a:noFill/>
        </p:spPr>
        <p:txBody>
          <a:bodyPr wrap="none" lIns="0" rIns="0" tIns="0" bIns="0" anchor="ctr">
            <a:spAutoFit/>
          </a:bodyPr>
          <a:lstStyle/>
          <a:p>
            <a:pPr algn="r"/>
            <a:r>
              <a:rPr sz="900" b="1">
                <a:solidFill>
                  <a:srgbClr val="2E7D32"/>
                </a:solidFill>
                <a:latin typeface="Calibri"/>
              </a:rPr>
              <a:t>+7</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product type, premade pouches &amp; bags segment is expected to witness the highest CAGR of 8.3% over the forecast period. In terms of value share by product type, the rollstock films segment is expected to dominate the market, maintaining its share and accounting for 53.9% share by 2036.</a:t>
            </a:r>
          </a:p>
          <a:p>
            <a:pPr algn="l">
              <a:lnSpc>
                <a:spcPct val="110000"/>
              </a:lnSpc>
              <a:spcBef>
                <a:spcPts val="0"/>
              </a:spcBef>
              <a:spcAft>
                <a:spcPts val="500"/>
              </a:spcAft>
            </a:pPr>
            <a:r>
              <a:rPr sz="1150" b="0">
                <a:solidFill>
                  <a:srgbClr val="2E2E2E"/>
                </a:solidFill>
                <a:latin typeface="Calibri"/>
              </a:rPr>
              <a:t>The barrier casings segment is expected to lose 21 BPS over the forecast period to account for 10.9% share by 2036.</a:t>
            </a:r>
          </a:p>
          <a:p>
            <a:pPr algn="l">
              <a:lnSpc>
                <a:spcPct val="110000"/>
              </a:lnSpc>
              <a:spcBef>
                <a:spcPts val="0"/>
              </a:spcBef>
              <a:spcAft>
                <a:spcPts val="500"/>
              </a:spcAft>
            </a:pPr>
            <a:r>
              <a:rPr sz="1150" b="0">
                <a:solidFill>
                  <a:srgbClr val="2E2E2E"/>
                </a:solidFill>
                <a:latin typeface="Calibri"/>
              </a:rPr>
              <a:t>Premade Pouches &amp; Bags grow fastest at 8.3%, level with Rollstock Films and Sachets &amp; Stick Packs, because expanding modern retail, food delivery and packaged food consumption favour convenient stand-up and resealable formats, and sachets suit low-income, single-serve buying. Pouches gain share as fillers can adopt them without in-house form-fill-seal lines. Barrier Casings, at 8.1%, trail as processed meat grows less quickly.</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Volume,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Volume,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0D67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37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0D67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93BE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2982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2982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PE-Based</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2,223</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4,974</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8.4%</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PP-Based</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1,412</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3,073</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8.1%</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PET-Based</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732.3</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1,629</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8.3%</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EVOH-Based</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567.7</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1,281</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8.5%</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PA-Based</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565.9</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1,235</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8.1%</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Barrier</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441.1</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975.3</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8.3%</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Among flexible plastic packaging by principal material / barrier technology, other specialty barrier technologies segment is expected to witness the highest CAGR of 8.8% over the forecast period. In terms of value share by principal material / barrier technology, the pe-based segment is expected to dominate the market, gaining 37 BPS and accounting for 31.6% share by 2036.</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Pe-based segment is projected to register 1.6X higher value than pp-based segment in 2036.</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PE-Based: </a:t>
            </a:r>
            <a:r>
              <a:rPr sz="1100" b="0">
                <a:solidFill>
                  <a:srgbClr val="2E2E2E"/>
                </a:solidFill>
                <a:latin typeface="Calibri"/>
              </a:rPr>
              <a:t>31% of 2026 value · 8.4%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PP-Based: </a:t>
            </a:r>
            <a:r>
              <a:rPr sz="1100" b="0">
                <a:solidFill>
                  <a:srgbClr val="2E2E2E"/>
                </a:solidFill>
                <a:latin typeface="Calibri"/>
              </a:rPr>
              <a:t>20% of 2026 value · 8.1%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PET-Based: </a:t>
            </a:r>
            <a:r>
              <a:rPr sz="1100" b="0">
                <a:solidFill>
                  <a:srgbClr val="2E2E2E"/>
                </a:solidFill>
                <a:latin typeface="Calibri"/>
              </a:rPr>
              <a:t>10% of 2026 value · 8.3%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EVOH-Based: </a:t>
            </a:r>
            <a:r>
              <a:rPr sz="1100" b="0">
                <a:solidFill>
                  <a:srgbClr val="2E2E2E"/>
                </a:solidFill>
                <a:latin typeface="Calibri"/>
              </a:rPr>
              <a:t>8% of 2026 value · 8.5%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PA-Based: </a:t>
            </a:r>
            <a:r>
              <a:rPr sz="1100" b="0">
                <a:solidFill>
                  <a:srgbClr val="2E2E2E"/>
                </a:solidFill>
                <a:latin typeface="Calibri"/>
              </a:rPr>
              <a:t>8% of 2026 value · 8.1%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Barrier: </a:t>
            </a:r>
            <a:r>
              <a:rPr sz="1100" b="0">
                <a:solidFill>
                  <a:srgbClr val="2E2E2E"/>
                </a:solidFill>
                <a:latin typeface="Calibri"/>
              </a:rPr>
              <a:t>6% of 2026 value · 8.3% CAGR serves a niche.</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Principal Material / Barrier Technology split shows how demand is distributed across principal material / barrier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Principal Material / Barrier Technology segment is projected to grow at a CAGR of 8.3%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90881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90881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PVDC-Based</a:t>
            </a:r>
          </a:p>
        </p:txBody>
      </p:sp>
      <p:sp>
        <p:nvSpPr>
          <p:cNvPr id="22" name="Rectangle 21"/>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367.0</a:t>
            </a:r>
          </a:p>
        </p:txBody>
      </p:sp>
      <p:sp>
        <p:nvSpPr>
          <p:cNvPr id="23" name="Rectangle 22"/>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768.0</a:t>
            </a:r>
          </a:p>
        </p:txBody>
      </p:sp>
      <p:sp>
        <p:nvSpPr>
          <p:cNvPr id="24" name="Rectangle 23"/>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7.7%</a:t>
            </a:r>
          </a:p>
        </p:txBody>
      </p:sp>
      <p:sp>
        <p:nvSpPr>
          <p:cNvPr id="25" name="Oval 24"/>
          <p:cNvSpPr/>
          <p:nvPr/>
        </p:nvSpPr>
        <p:spPr>
          <a:xfrm>
            <a:off x="265938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26" name="Rounded Rectangle 25"/>
          <p:cNvSpPr/>
          <p:nvPr/>
        </p:nvSpPr>
        <p:spPr>
          <a:xfrm>
            <a:off x="389001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89001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Aluminum Foil-Based</a:t>
            </a:r>
          </a:p>
        </p:txBody>
      </p:sp>
      <p:sp>
        <p:nvSpPr>
          <p:cNvPr id="29" name="Rectangle 28"/>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227.2</a:t>
            </a:r>
          </a:p>
        </p:txBody>
      </p:sp>
      <p:sp>
        <p:nvSpPr>
          <p:cNvPr id="30" name="Rectangle 29"/>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477.5</a:t>
            </a:r>
          </a:p>
        </p:txBody>
      </p:sp>
      <p:sp>
        <p:nvSpPr>
          <p:cNvPr id="31" name="Rectangle 30"/>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7.7%</a:t>
            </a:r>
          </a:p>
        </p:txBody>
      </p:sp>
      <p:sp>
        <p:nvSpPr>
          <p:cNvPr id="32" name="Oval 31"/>
          <p:cNvSpPr/>
          <p:nvPr/>
        </p:nvSpPr>
        <p:spPr>
          <a:xfrm>
            <a:off x="468249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33" name="Rounded Rectangle 32"/>
          <p:cNvSpPr/>
          <p:nvPr/>
        </p:nvSpPr>
        <p:spPr>
          <a:xfrm>
            <a:off x="591312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12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Specialty Barrier Technolog…</a:t>
            </a:r>
          </a:p>
        </p:txBody>
      </p:sp>
      <p:sp>
        <p:nvSpPr>
          <p:cNvPr id="36" name="Rectangle 35"/>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217.2</a:t>
            </a:r>
          </a:p>
        </p:txBody>
      </p:sp>
      <p:sp>
        <p:nvSpPr>
          <p:cNvPr id="37" name="Rectangle 36"/>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504.8</a:t>
            </a:r>
          </a:p>
        </p:txBody>
      </p:sp>
      <p:sp>
        <p:nvSpPr>
          <p:cNvPr id="38" name="Rectangle 37"/>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8.8%</a:t>
            </a:r>
          </a:p>
        </p:txBody>
      </p:sp>
      <p:sp>
        <p:nvSpPr>
          <p:cNvPr id="39" name="Oval 38"/>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40" name="Rounded Rectangle 39"/>
          <p:cNvSpPr/>
          <p:nvPr/>
        </p:nvSpPr>
        <p:spPr>
          <a:xfrm>
            <a:off x="793623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93623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AlOx / SiOx-Coated</a:t>
            </a:r>
          </a:p>
        </p:txBody>
      </p:sp>
      <p:sp>
        <p:nvSpPr>
          <p:cNvPr id="43" name="Rectangle 42"/>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213.2</a:t>
            </a:r>
          </a:p>
        </p:txBody>
      </p:sp>
      <p:sp>
        <p:nvSpPr>
          <p:cNvPr id="44" name="Rectangle 43"/>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480.4</a:t>
            </a:r>
          </a:p>
        </p:txBody>
      </p:sp>
      <p:sp>
        <p:nvSpPr>
          <p:cNvPr id="45" name="Rectangle 44"/>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8.5%</a:t>
            </a:r>
          </a:p>
        </p:txBody>
      </p:sp>
      <p:sp>
        <p:nvSpPr>
          <p:cNvPr id="46" name="Oval 45"/>
          <p:cNvSpPr/>
          <p:nvPr/>
        </p:nvSpPr>
        <p:spPr>
          <a:xfrm>
            <a:off x="872871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10</a:t>
            </a:r>
          </a:p>
        </p:txBody>
      </p:sp>
      <p:sp>
        <p:nvSpPr>
          <p:cNvPr id="47" name="Rounded Rectangle 46"/>
          <p:cNvSpPr/>
          <p:nvPr/>
        </p:nvSpPr>
        <p:spPr>
          <a:xfrm>
            <a:off x="995934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995934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PVOH-Based</a:t>
            </a:r>
          </a:p>
        </p:txBody>
      </p:sp>
      <p:sp>
        <p:nvSpPr>
          <p:cNvPr id="50" name="Rectangle 49"/>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141.7</a:t>
            </a:r>
          </a:p>
        </p:txBody>
      </p:sp>
      <p:sp>
        <p:nvSpPr>
          <p:cNvPr id="51" name="Rectangle 50"/>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318.7</a:t>
            </a:r>
          </a:p>
        </p:txBody>
      </p:sp>
      <p:sp>
        <p:nvSpPr>
          <p:cNvPr id="52" name="Rectangle 51"/>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a:t>
            </a:r>
          </a:p>
        </p:txBody>
      </p:sp>
      <p:sp>
        <p:nvSpPr>
          <p:cNvPr id="53" name="Oval 52"/>
          <p:cNvSpPr/>
          <p:nvPr/>
        </p:nvSpPr>
        <p:spPr>
          <a:xfrm>
            <a:off x="1075182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11</a:t>
            </a:r>
          </a:p>
        </p:txBody>
      </p:sp>
      <p:sp>
        <p:nvSpPr>
          <p:cNvPr id="54" name="Rounded Rectangle 53"/>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6" name="Rectangle 55"/>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PVDC-Based: </a:t>
            </a:r>
            <a:r>
              <a:rPr sz="1100" b="0">
                <a:solidFill>
                  <a:srgbClr val="2E2E2E"/>
                </a:solidFill>
                <a:latin typeface="Calibri"/>
              </a:rPr>
              <a:t>5% of 2026 value · 7.7%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Aluminum Foil-Based: </a:t>
            </a:r>
            <a:r>
              <a:rPr sz="1100" b="0">
                <a:solidFill>
                  <a:srgbClr val="2E2E2E"/>
                </a:solidFill>
                <a:latin typeface="Calibri"/>
              </a:rPr>
              <a:t>3% of 2026 value · 7.7% CAGR serves a niche.</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Other Specialty Barrier Technologies: </a:t>
            </a:r>
            <a:r>
              <a:rPr sz="1100" b="0">
                <a:solidFill>
                  <a:srgbClr val="2E2E2E"/>
                </a:solidFill>
                <a:latin typeface="Calibri"/>
              </a:rPr>
              <a:t>3% of 2026 value · 8.8%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AlOx / SiOx-Coated: </a:t>
            </a:r>
            <a:r>
              <a:rPr sz="1100" b="0">
                <a:solidFill>
                  <a:srgbClr val="2E2E2E"/>
                </a:solidFill>
                <a:latin typeface="Calibri"/>
              </a:rPr>
              <a:t>3% of 2026 value · 8.5%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PVOH-Based: </a:t>
            </a:r>
            <a:r>
              <a:rPr sz="1100" b="0">
                <a:solidFill>
                  <a:srgbClr val="2E2E2E"/>
                </a:solidFill>
                <a:latin typeface="Calibri"/>
              </a:rPr>
              <a:t>2% of 2026 value · 8.4% CAGR serves a niche.</a:t>
            </a:r>
          </a:p>
        </p:txBody>
      </p:sp>
      <p:sp>
        <p:nvSpPr>
          <p:cNvPr id="58" name="TextBox 5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Principal Material / Barrier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Principal Material / Barrier Technology mix within each country and the attractiveness of each sub-segment on growth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Principal Material / Barrier Technology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Pe-based followed by pp-based are expected to be the two most attractive principal material / barrier technology segments in the Middle East &amp; Africa flexible plastic packaging market in terms of value over the forecast period. PE-Based and PP-Based exhibit a CAGR index of 102 and 98 and a market share index of 344 and 219 respectively, against the segment average of 100. The pvoh-based segment is expected to be less attractive as compared to other segments over the forecast period, owing to its lower CAGR and incremental opportunity. PE-Based and PP-Based rank as the most attractive because they pair scale with growth. PE is the workhorse resin for pouches, liners and lidding, with the broadest use across food and the recycling-friendliest profile, with 31.3% of 2026 value growing at 8.4%. For PP-Based, PP offers heat resistance and clarity for snack, bakery and retort-style packs, at 19.9% share and 8.1% CAGR.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Principal Material / Barrier Technology (1/3)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PE-Based</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PP-Based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PET-Based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PA-Based</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Principal Material / Barrier Technology (2/3)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EVOH-Based</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PVDC-Based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PVOH-Based</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Metallized Barrier</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Principal Material / Barrier Technology (3/3)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AlOx / SiOx-Coated</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Aluminum Foil-Based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Other Specialty Barrier Technologies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Principal Material / Barrier Technology</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pe-based segment is anticipated to witness an increase of 2.2X in terms of value as compared to 2026. The PE-Based segment is expected to create an incremental opportunity of US$ 2,751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PP-Based segment is expected to create an incremental opportunity of US$ 1,661 Mn for the overall flexible plastic packaging market from 2026 to 2036. The PET-Based segment is expected to create an incremental opportunity of US$ 897.1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PE-Based structures add the most absolute value because they hold 31.3% share and grow at 8.4%, above the 8.3% regional rate. Polyethylene suits the staples, dairy, frozen food and fresh produce packaging that is expanding with the region's petrochemical resin supply and growing local converting capacity. PP-Based follows at 19.9%, while EVOH-Based grows at 8.5% on demand for protein and dairy barrier.</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Volume Analysis, By Principal Material / Barrier Technology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1.6X higher volume than pp-based segment in 2036. Among flexible plastic packaging by principal material / barrier technology, other specialty barrier technologies segment is expected to witness the highest CAGR of 7.4% over the forecast period.</a:t>
            </a:r>
          </a:p>
          <a:p>
            <a:pPr algn="l">
              <a:lnSpc>
                <a:spcPct val="110000"/>
              </a:lnSpc>
              <a:spcBef>
                <a:spcPts val="0"/>
              </a:spcBef>
              <a:spcAft>
                <a:spcPts val="500"/>
              </a:spcAft>
            </a:pPr>
            <a:r>
              <a:rPr sz="1150" b="0">
                <a:solidFill>
                  <a:srgbClr val="2E2E2E"/>
                </a:solidFill>
                <a:latin typeface="Calibri"/>
              </a:rPr>
              <a:t>In terms of volume share by principal material / barrier technology, the pe-based segment is expected to dominate the market, gaining 37 BPS and accounting for 31.6% share by 2036. The pp-based segment is expected to lose 31 BPS over the forecast period to account for 19.6% share by 2036.</a:t>
            </a:r>
          </a:p>
          <a:p>
            <a:pPr algn="l">
              <a:lnSpc>
                <a:spcPct val="110000"/>
              </a:lnSpc>
              <a:spcBef>
                <a:spcPts val="0"/>
              </a:spcBef>
              <a:spcAft>
                <a:spcPts val="500"/>
              </a:spcAft>
            </a:pPr>
            <a:r>
              <a:rPr sz="1150" b="0">
                <a:solidFill>
                  <a:srgbClr val="2E2E2E"/>
                </a:solidFill>
                <a:latin typeface="Calibri"/>
              </a:rPr>
              <a:t>PE-Based structures add 37 BPS of volume share at 7.0% growth because mono-PE laminates meet recyclability targets, seal reliably and carry a cost edge in food, protein and e-commerce packs, supported by population growth, imported-food shelf-life needs and expanding modern retail and food processing. PP-Based cedes 31 BPS at 6.7% as brand owners standardise recyclable pouches on PE, leaving the other barrier chemistries close to the 6.9% market rate.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Principal Material / Barrier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Principal Material / Barrier Technology (US$ Mn)</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1.6X higher value than pp-based segment in 2036. Among flexible plastic packaging by principal material / barrier technology, other specialty barrier technologies segment is expected to witness the highest CAGR of 8.8% over the forecast period.</a:t>
            </a:r>
          </a:p>
          <a:p>
            <a:pPr algn="l">
              <a:lnSpc>
                <a:spcPct val="110000"/>
              </a:lnSpc>
              <a:spcBef>
                <a:spcPts val="0"/>
              </a:spcBef>
              <a:spcAft>
                <a:spcPts val="500"/>
              </a:spcAft>
            </a:pPr>
            <a:r>
              <a:rPr sz="1150" b="0">
                <a:solidFill>
                  <a:srgbClr val="2E2E2E"/>
                </a:solidFill>
                <a:latin typeface="Calibri"/>
              </a:rPr>
              <a:t>In terms of value share by principal material / barrier technology, the pe-based segment is expected to dominate the market, gaining 37 BPS and accounting for 31.6% share by 2036. The pp-based segment is expected to lose 31 BPS over the forecast period to account for 19.6% share by 2036.</a:t>
            </a:r>
          </a:p>
          <a:p>
            <a:pPr algn="l">
              <a:lnSpc>
                <a:spcPct val="110000"/>
              </a:lnSpc>
              <a:spcBef>
                <a:spcPts val="0"/>
              </a:spcBef>
              <a:spcAft>
                <a:spcPts val="500"/>
              </a:spcAft>
            </a:pPr>
            <a:r>
              <a:rPr sz="1150" b="0">
                <a:solidFill>
                  <a:srgbClr val="2E2E2E"/>
                </a:solidFill>
                <a:latin typeface="Calibri"/>
              </a:rPr>
              <a:t>PE-Based gains 37 BPS because low cost, strong sealing and mono-material recyclability make polyethylene the default for pouches and films across fast-growing Middle East &amp; Africa food markets. PP-Based loses 31 BPS and PVDC-Based loses 28 BPS as processors move away from older builds. Other Specialty Barrier Technologies grow fastest at 8.8% as hot climates and long distribution chains need stronger barriers.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Principal Material / Barrier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Principal Material / Barrier Technology in 2021, 2026 and 2036, highlighting share shifts in basis…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Principal Material / Barrier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318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5684" y="18331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903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PE-Based</a:t>
            </a:r>
          </a:p>
        </p:txBody>
      </p:sp>
      <p:sp>
        <p:nvSpPr>
          <p:cNvPr id="19" name="BPS Value 1"/>
          <p:cNvSpPr txBox="1"/>
          <p:nvPr/>
        </p:nvSpPr>
        <p:spPr>
          <a:xfrm>
            <a:off x="6896100" y="1790319"/>
            <a:ext cx="514350" cy="171450"/>
          </a:xfrm>
          <a:prstGeom prst="rect">
            <a:avLst/>
          </a:prstGeom>
          <a:noFill/>
        </p:spPr>
        <p:txBody>
          <a:bodyPr wrap="none" lIns="0" rIns="0" tIns="0" bIns="0" anchor="ctr">
            <a:spAutoFit/>
          </a:bodyPr>
          <a:lstStyle/>
          <a:p>
            <a:pPr algn="r"/>
            <a:r>
              <a:rPr sz="900" b="1">
                <a:solidFill>
                  <a:srgbClr val="2E7D32"/>
                </a:solidFill>
                <a:latin typeface="Calibri"/>
              </a:rPr>
              <a:t>+37</a:t>
            </a:r>
          </a:p>
        </p:txBody>
      </p:sp>
      <p:sp>
        <p:nvSpPr>
          <p:cNvPr id="20" name="FMI Legend Chip"/>
          <p:cNvSpPr/>
          <p:nvPr/>
        </p:nvSpPr>
        <p:spPr>
          <a:xfrm>
            <a:off x="4928997" y="200463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5684" y="20046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617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EVOH-Based</a:t>
            </a:r>
          </a:p>
        </p:txBody>
      </p:sp>
      <p:sp>
        <p:nvSpPr>
          <p:cNvPr id="23" name="BPS Value 2"/>
          <p:cNvSpPr txBox="1"/>
          <p:nvPr/>
        </p:nvSpPr>
        <p:spPr>
          <a:xfrm>
            <a:off x="6896100" y="1961769"/>
            <a:ext cx="514350" cy="171450"/>
          </a:xfrm>
          <a:prstGeom prst="rect">
            <a:avLst/>
          </a:prstGeom>
          <a:noFill/>
        </p:spPr>
        <p:txBody>
          <a:bodyPr wrap="none" lIns="0" rIns="0" tIns="0" bIns="0" anchor="ctr">
            <a:spAutoFit/>
          </a:bodyPr>
          <a:lstStyle/>
          <a:p>
            <a:pPr algn="r"/>
            <a:r>
              <a:rPr sz="900" b="1">
                <a:solidFill>
                  <a:srgbClr val="2E7D32"/>
                </a:solidFill>
                <a:latin typeface="Calibri"/>
              </a:rPr>
              <a:t>+17</a:t>
            </a:r>
          </a:p>
        </p:txBody>
      </p:sp>
      <p:sp>
        <p:nvSpPr>
          <p:cNvPr id="24" name="FMI Legend Chip"/>
          <p:cNvSpPr/>
          <p:nvPr/>
        </p:nvSpPr>
        <p:spPr>
          <a:xfrm>
            <a:off x="4928997" y="217608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5684" y="21760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133219"/>
            <a:ext cx="2178844" cy="171450"/>
          </a:xfrm>
          <a:prstGeom prst="rect">
            <a:avLst/>
          </a:prstGeom>
          <a:noFill/>
        </p:spPr>
        <p:txBody>
          <a:bodyPr wrap="none" lIns="19050" rIns="19050" tIns="0" bIns="0" anchor="ctr">
            <a:spAutoFit/>
          </a:bodyPr>
          <a:lstStyle/>
          <a:p>
            <a:pPr algn="l"/>
            <a:r>
              <a:rPr sz="900" b="0">
                <a:solidFill>
                  <a:srgbClr val="2E2E2E"/>
                </a:solidFill>
                <a:latin typeface="Calibri"/>
              </a:rPr>
              <a:t>Other Specialty Barrier Technologies</a:t>
            </a:r>
          </a:p>
        </p:txBody>
      </p:sp>
      <p:sp>
        <p:nvSpPr>
          <p:cNvPr id="27" name="BPS Value 3"/>
          <p:cNvSpPr txBox="1"/>
          <p:nvPr/>
        </p:nvSpPr>
        <p:spPr>
          <a:xfrm>
            <a:off x="6896100" y="2133219"/>
            <a:ext cx="514350" cy="171450"/>
          </a:xfrm>
          <a:prstGeom prst="rect">
            <a:avLst/>
          </a:prstGeom>
          <a:noFill/>
        </p:spPr>
        <p:txBody>
          <a:bodyPr wrap="none" lIns="0" rIns="0" tIns="0" bIns="0" anchor="ctr">
            <a:spAutoFit/>
          </a:bodyPr>
          <a:lstStyle/>
          <a:p>
            <a:pPr algn="r"/>
            <a:r>
              <a:rPr sz="900" b="1">
                <a:solidFill>
                  <a:srgbClr val="2E7D32"/>
                </a:solidFill>
                <a:latin typeface="Calibri"/>
              </a:rPr>
              <a:t>+16</a:t>
            </a:r>
          </a:p>
        </p:txBody>
      </p:sp>
      <p:sp>
        <p:nvSpPr>
          <p:cNvPr id="28" name="FMI Legend Chip"/>
          <p:cNvSpPr/>
          <p:nvPr/>
        </p:nvSpPr>
        <p:spPr>
          <a:xfrm>
            <a:off x="4928997" y="234753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5684" y="23475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3046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PET-Based</a:t>
            </a:r>
          </a:p>
        </p:txBody>
      </p:sp>
      <p:sp>
        <p:nvSpPr>
          <p:cNvPr id="31" name="BPS Value 4"/>
          <p:cNvSpPr txBox="1"/>
          <p:nvPr/>
        </p:nvSpPr>
        <p:spPr>
          <a:xfrm>
            <a:off x="6896100" y="2304669"/>
            <a:ext cx="514350" cy="171450"/>
          </a:xfrm>
          <a:prstGeom prst="rect">
            <a:avLst/>
          </a:prstGeom>
          <a:noFill/>
        </p:spPr>
        <p:txBody>
          <a:bodyPr wrap="none" lIns="0" rIns="0" tIns="0" bIns="0" anchor="ctr">
            <a:spAutoFit/>
          </a:bodyPr>
          <a:lstStyle/>
          <a:p>
            <a:pPr algn="r"/>
            <a:r>
              <a:rPr sz="900" b="1">
                <a:solidFill>
                  <a:srgbClr val="2E7D32"/>
                </a:solidFill>
                <a:latin typeface="Calibri"/>
              </a:rPr>
              <a:t>+6</a:t>
            </a:r>
          </a:p>
        </p:txBody>
      </p:sp>
      <p:sp>
        <p:nvSpPr>
          <p:cNvPr id="32" name="FMI Legend Chip"/>
          <p:cNvSpPr/>
          <p:nvPr/>
        </p:nvSpPr>
        <p:spPr>
          <a:xfrm>
            <a:off x="4928997" y="251898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5684" y="25189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24761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AlOx / SiOx-Coated</a:t>
            </a:r>
          </a:p>
        </p:txBody>
      </p:sp>
      <p:sp>
        <p:nvSpPr>
          <p:cNvPr id="35" name="BPS Value 5"/>
          <p:cNvSpPr txBox="1"/>
          <p:nvPr/>
        </p:nvSpPr>
        <p:spPr>
          <a:xfrm>
            <a:off x="6896100" y="2476119"/>
            <a:ext cx="514350" cy="171450"/>
          </a:xfrm>
          <a:prstGeom prst="rect">
            <a:avLst/>
          </a:prstGeom>
          <a:noFill/>
        </p:spPr>
        <p:txBody>
          <a:bodyPr wrap="none" lIns="0" rIns="0" tIns="0" bIns="0" anchor="ctr">
            <a:spAutoFit/>
          </a:bodyPr>
          <a:lstStyle/>
          <a:p>
            <a:pPr algn="r"/>
            <a:r>
              <a:rPr sz="900" b="1">
                <a:solidFill>
                  <a:srgbClr val="2E7D32"/>
                </a:solidFill>
                <a:latin typeface="Calibri"/>
              </a:rPr>
              <a:t>+6</a:t>
            </a:r>
          </a:p>
        </p:txBody>
      </p:sp>
      <p:sp>
        <p:nvSpPr>
          <p:cNvPr id="36" name="FMI Legend Chip"/>
          <p:cNvSpPr/>
          <p:nvPr/>
        </p:nvSpPr>
        <p:spPr>
          <a:xfrm>
            <a:off x="4928997" y="269043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5684" y="26904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26475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PVOH-Based</a:t>
            </a:r>
          </a:p>
        </p:txBody>
      </p:sp>
      <p:sp>
        <p:nvSpPr>
          <p:cNvPr id="39" name="BPS Value 6"/>
          <p:cNvSpPr txBox="1"/>
          <p:nvPr/>
        </p:nvSpPr>
        <p:spPr>
          <a:xfrm>
            <a:off x="6896100" y="2647569"/>
            <a:ext cx="514350" cy="171450"/>
          </a:xfrm>
          <a:prstGeom prst="rect">
            <a:avLst/>
          </a:prstGeom>
          <a:noFill/>
        </p:spPr>
        <p:txBody>
          <a:bodyPr wrap="none" lIns="0" rIns="0" tIns="0" bIns="0" anchor="ctr">
            <a:spAutoFit/>
          </a:bodyPr>
          <a:lstStyle/>
          <a:p>
            <a:pPr algn="r"/>
            <a:r>
              <a:rPr sz="900" b="1">
                <a:solidFill>
                  <a:srgbClr val="2E7D32"/>
                </a:solidFill>
                <a:latin typeface="Calibri"/>
              </a:rPr>
              <a:t>+3</a:t>
            </a:r>
          </a:p>
        </p:txBody>
      </p:sp>
      <p:sp>
        <p:nvSpPr>
          <p:cNvPr id="40" name="FMI Legend Chip"/>
          <p:cNvSpPr/>
          <p:nvPr/>
        </p:nvSpPr>
        <p:spPr>
          <a:xfrm>
            <a:off x="4928997" y="286188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5684" y="28618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28190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Metallized Barrier</a:t>
            </a:r>
          </a:p>
        </p:txBody>
      </p:sp>
      <p:sp>
        <p:nvSpPr>
          <p:cNvPr id="43" name="BPS Value 7"/>
          <p:cNvSpPr txBox="1"/>
          <p:nvPr/>
        </p:nvSpPr>
        <p:spPr>
          <a:xfrm>
            <a:off x="6896100" y="2819019"/>
            <a:ext cx="514350" cy="171450"/>
          </a:xfrm>
          <a:prstGeom prst="rect">
            <a:avLst/>
          </a:prstGeom>
          <a:noFill/>
        </p:spPr>
        <p:txBody>
          <a:bodyPr wrap="none" lIns="0" rIns="0" tIns="0" bIns="0" anchor="ctr">
            <a:spAutoFit/>
          </a:bodyPr>
          <a:lstStyle/>
          <a:p>
            <a:pPr algn="r"/>
            <a:r>
              <a:rPr sz="900" b="1">
                <a:solidFill>
                  <a:srgbClr val="E44D3A"/>
                </a:solidFill>
                <a:latin typeface="Calibri"/>
              </a:rPr>
              <a:t>-0</a:t>
            </a:r>
          </a:p>
        </p:txBody>
      </p:sp>
      <p:sp>
        <p:nvSpPr>
          <p:cNvPr id="44" name="FMI Legend Chip"/>
          <p:cNvSpPr/>
          <p:nvPr/>
        </p:nvSpPr>
        <p:spPr>
          <a:xfrm>
            <a:off x="4928997" y="303333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5095684" y="30333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29904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PA-Based</a:t>
            </a:r>
          </a:p>
        </p:txBody>
      </p:sp>
      <p:sp>
        <p:nvSpPr>
          <p:cNvPr id="47" name="BPS Value 8"/>
          <p:cNvSpPr txBox="1"/>
          <p:nvPr/>
        </p:nvSpPr>
        <p:spPr>
          <a:xfrm>
            <a:off x="6896100" y="2990469"/>
            <a:ext cx="514350" cy="171450"/>
          </a:xfrm>
          <a:prstGeom prst="rect">
            <a:avLst/>
          </a:prstGeom>
          <a:noFill/>
        </p:spPr>
        <p:txBody>
          <a:bodyPr wrap="none" lIns="0" rIns="0" tIns="0" bIns="0" anchor="ctr">
            <a:spAutoFit/>
          </a:bodyPr>
          <a:lstStyle/>
          <a:p>
            <a:pPr algn="r"/>
            <a:r>
              <a:rPr sz="900" b="1">
                <a:solidFill>
                  <a:srgbClr val="E44D3A"/>
                </a:solidFill>
                <a:latin typeface="Calibri"/>
              </a:rPr>
              <a:t>-10</a:t>
            </a:r>
          </a:p>
        </p:txBody>
      </p:sp>
      <p:sp>
        <p:nvSpPr>
          <p:cNvPr id="48" name="FMI Legend Chip"/>
          <p:cNvSpPr/>
          <p:nvPr/>
        </p:nvSpPr>
        <p:spPr>
          <a:xfrm>
            <a:off x="4928997" y="320478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rot="10800000">
            <a:off x="5095684" y="32047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5233797" y="31619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Aluminum Foil-Based</a:t>
            </a:r>
          </a:p>
        </p:txBody>
      </p:sp>
      <p:sp>
        <p:nvSpPr>
          <p:cNvPr id="51" name="BPS Value 9"/>
          <p:cNvSpPr txBox="1"/>
          <p:nvPr/>
        </p:nvSpPr>
        <p:spPr>
          <a:xfrm>
            <a:off x="6896100" y="3161919"/>
            <a:ext cx="514350" cy="171450"/>
          </a:xfrm>
          <a:prstGeom prst="rect">
            <a:avLst/>
          </a:prstGeom>
          <a:noFill/>
        </p:spPr>
        <p:txBody>
          <a:bodyPr wrap="none" lIns="0" rIns="0" tIns="0" bIns="0" anchor="ctr">
            <a:spAutoFit/>
          </a:bodyPr>
          <a:lstStyle/>
          <a:p>
            <a:pPr algn="r"/>
            <a:r>
              <a:rPr sz="900" b="1">
                <a:solidFill>
                  <a:srgbClr val="E44D3A"/>
                </a:solidFill>
                <a:latin typeface="Calibri"/>
              </a:rPr>
              <a:t>-16</a:t>
            </a:r>
          </a:p>
        </p:txBody>
      </p:sp>
      <p:sp>
        <p:nvSpPr>
          <p:cNvPr id="52" name="FMI Legend Chip"/>
          <p:cNvSpPr/>
          <p:nvPr/>
        </p:nvSpPr>
        <p:spPr>
          <a:xfrm>
            <a:off x="4928997" y="337623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5095684" y="33762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5233797" y="33333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PVDC-Based</a:t>
            </a:r>
          </a:p>
        </p:txBody>
      </p:sp>
      <p:sp>
        <p:nvSpPr>
          <p:cNvPr id="55" name="BPS Value 10"/>
          <p:cNvSpPr txBox="1"/>
          <p:nvPr/>
        </p:nvSpPr>
        <p:spPr>
          <a:xfrm>
            <a:off x="6896100" y="3333369"/>
            <a:ext cx="514350" cy="171450"/>
          </a:xfrm>
          <a:prstGeom prst="rect">
            <a:avLst/>
          </a:prstGeom>
          <a:noFill/>
        </p:spPr>
        <p:txBody>
          <a:bodyPr wrap="none" lIns="0" rIns="0" tIns="0" bIns="0" anchor="ctr">
            <a:spAutoFit/>
          </a:bodyPr>
          <a:lstStyle/>
          <a:p>
            <a:pPr algn="r"/>
            <a:r>
              <a:rPr sz="900" b="1">
                <a:solidFill>
                  <a:srgbClr val="E44D3A"/>
                </a:solidFill>
                <a:latin typeface="Calibri"/>
              </a:rPr>
              <a:t>-28</a:t>
            </a:r>
          </a:p>
        </p:txBody>
      </p:sp>
      <p:sp>
        <p:nvSpPr>
          <p:cNvPr id="56" name="FMI Legend Chip"/>
          <p:cNvSpPr/>
          <p:nvPr/>
        </p:nvSpPr>
        <p:spPr>
          <a:xfrm>
            <a:off x="4928997" y="354768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5095684" y="35476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5233797" y="35048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PP-Based</a:t>
            </a:r>
          </a:p>
        </p:txBody>
      </p:sp>
      <p:sp>
        <p:nvSpPr>
          <p:cNvPr id="59" name="BPS Value 11"/>
          <p:cNvSpPr txBox="1"/>
          <p:nvPr/>
        </p:nvSpPr>
        <p:spPr>
          <a:xfrm>
            <a:off x="6896100" y="3504819"/>
            <a:ext cx="514350" cy="171450"/>
          </a:xfrm>
          <a:prstGeom prst="rect">
            <a:avLst/>
          </a:prstGeom>
          <a:noFill/>
        </p:spPr>
        <p:txBody>
          <a:bodyPr wrap="none" lIns="0" rIns="0" tIns="0" bIns="0" anchor="ctr">
            <a:spAutoFit/>
          </a:bodyPr>
          <a:lstStyle/>
          <a:p>
            <a:pPr algn="r"/>
            <a:r>
              <a:rPr sz="900" b="1">
                <a:solidFill>
                  <a:srgbClr val="E44D3A"/>
                </a:solidFill>
                <a:latin typeface="Calibri"/>
              </a:rPr>
              <a:t>-31</a:t>
            </a:r>
          </a:p>
        </p:txBody>
      </p:sp>
      <p:sp>
        <p:nvSpPr>
          <p:cNvPr id="60" name="Rounded Rectangle 5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Principal Material / Barrier Technology</a:t>
            </a:r>
          </a:p>
        </p:txBody>
      </p:sp>
      <p:sp>
        <p:nvSpPr>
          <p:cNvPr id="62" name="Rectangle 6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principal material / barrier technology, other specialty barrier technologies segment is expected to witness the highest CAGR of 8.8% over the forecast period. In terms of value share by principal material / barrier technology, the pe-based segment is expected to dominate the market, gaining 37 BPS and accounting for 31.6% share by 2036.</a:t>
            </a:r>
          </a:p>
          <a:p>
            <a:pPr algn="l">
              <a:lnSpc>
                <a:spcPct val="110000"/>
              </a:lnSpc>
              <a:spcBef>
                <a:spcPts val="0"/>
              </a:spcBef>
              <a:spcAft>
                <a:spcPts val="500"/>
              </a:spcAft>
            </a:pPr>
            <a:r>
              <a:rPr sz="1150" b="0">
                <a:solidFill>
                  <a:srgbClr val="2E2E2E"/>
                </a:solidFill>
                <a:latin typeface="Calibri"/>
              </a:rPr>
              <a:t>The pp-based segment is expected to lose 31 BPS over the forecast period to account for 19.6% share by 2036.</a:t>
            </a:r>
          </a:p>
          <a:p>
            <a:pPr algn="l">
              <a:lnSpc>
                <a:spcPct val="110000"/>
              </a:lnSpc>
              <a:spcBef>
                <a:spcPts val="0"/>
              </a:spcBef>
              <a:spcAft>
                <a:spcPts val="500"/>
              </a:spcAft>
            </a:pPr>
            <a:r>
              <a:rPr sz="1150" b="0">
                <a:solidFill>
                  <a:srgbClr val="2E2E2E"/>
                </a:solidFill>
                <a:latin typeface="Calibri"/>
              </a:rPr>
              <a:t>Other Specialty Barrier Technologies grows fastest at a 8.8% CAGR against 8.3% for the market because emerging recycle-compatible barrier coatings and niche high-performance solutions are scaling from a small base. The slowest part, PVDC-Based, grows at 7.7% as chlorinated barrier coatings are being phased out under recyclability pressure in favour of EVOH and coated alternatives. In Middle East &amp; Africa, import-dependent food chains, hot-climate shelf-life needs and new retail formats drive the mix.</a:t>
            </a:r>
          </a:p>
        </p:txBody>
      </p:sp>
      <p:sp>
        <p:nvSpPr>
          <p:cNvPr id="64" name="TextBox 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Volume,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37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2B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7E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0C4C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0D65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0D5F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Coextruded Multilayer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2,071</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4,529</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Laminated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1,757</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3,856</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Monolayer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1,159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2,601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8.4%</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Mono-Material Recyclable Structur…</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582.7</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1,367</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8.9%</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material structure, mono-material recyclable structures segment is expected to witness the highest CAGR of 8.9% over the forecast period. In terms of value share by material structure, the coextruded multilayer films segment is expected to dominate the market, losing 32 BPS and accounting for 28.8%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Coextruded multilayer films segment is projected to register 1.2X higher value than laminated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Coextruded Multilayer Films: </a:t>
            </a:r>
            <a:r>
              <a:rPr sz="1100" b="0">
                <a:solidFill>
                  <a:srgbClr val="2E2E2E"/>
                </a:solidFill>
                <a:latin typeface="Calibri"/>
              </a:rPr>
              <a:t>29% of 2026 value · 8.1%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Laminated Films: </a:t>
            </a:r>
            <a:r>
              <a:rPr sz="1100" b="0">
                <a:solidFill>
                  <a:srgbClr val="2E2E2E"/>
                </a:solidFill>
                <a:latin typeface="Calibri"/>
              </a:rPr>
              <a:t>25% of 2026 value · 8.2%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Monolayer Films: </a:t>
            </a:r>
            <a:r>
              <a:rPr sz="1100" b="0">
                <a:solidFill>
                  <a:srgbClr val="2E2E2E"/>
                </a:solidFill>
                <a:latin typeface="Calibri"/>
              </a:rPr>
              <a:t>16% of 2026 value · 8.4%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Mono-Material Recyclable Structures: </a:t>
            </a:r>
            <a:r>
              <a:rPr sz="1100" b="0">
                <a:solidFill>
                  <a:srgbClr val="2E2E2E"/>
                </a:solidFill>
                <a:latin typeface="Calibri"/>
              </a:rPr>
              <a:t>8% of 2026 value · 8.9%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Structure split shows how demand is distributed across material structure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Structure segment is projected to grow at a CAGR of 8.3%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Foil-Laminated Structures</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554.2</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1,229</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8.3%</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Films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516.4</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1,099</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7.8%</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Coated Films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467.9</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1,037</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8.3%</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Foil-Laminated Structures: </a:t>
            </a:r>
            <a:r>
              <a:rPr sz="1100" b="0">
                <a:solidFill>
                  <a:srgbClr val="2E2E2E"/>
                </a:solidFill>
                <a:latin typeface="Calibri"/>
              </a:rPr>
              <a:t>8% of 2026 value · 8.3%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Films: </a:t>
            </a:r>
            <a:r>
              <a:rPr sz="1100" b="0">
                <a:solidFill>
                  <a:srgbClr val="2E2E2E"/>
                </a:solidFill>
                <a:latin typeface="Calibri"/>
              </a:rPr>
              <a:t>7% of 2026 value · 7.8%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Coated Films: </a:t>
            </a:r>
            <a:r>
              <a:rPr sz="1100" b="0">
                <a:solidFill>
                  <a:srgbClr val="2E2E2E"/>
                </a:solidFill>
                <a:latin typeface="Calibri"/>
              </a:rPr>
              <a:t>7% of 2026 value · 8.3%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Material Structure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Structure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Structure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Coextruded multilayer films followed by laminated films are expected to be the two most attractive material structure segments in the Middle East &amp; Africa flexible plastic packaging market in terms of value over the forecast period. Coextruded multilayer films and laminated films exhibit a CAGR index of 99 and 99 and a market share index of 204 and 173 respectively, against the segment average of 100. The metallized films segment is expected to be less attractive as compared to other segments over the forecast period, owing to its lower CAGR and incremental opportunity. Mono-Material Recyclable Structures rank most attractive because they grow fastest at 8.9% and gain 50 BPS of share to 8.7%. Multinational brands and new recycling and plastics regulations in the Gulf and parts of Africa are steering packs toward single-polymer designs. Coextruded Multilayer Films remain the biggest pool at 29.1% but lose 32 BPS with 8.1% growth.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Monolayer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Coextruded Multilayer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Laminated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Coated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Metallized Films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Foil-Laminated Structures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Mono-Material Recyclable Structures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Material Structure</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coextruded multilayer films segment is anticipated to witness an increase of 2.2X in terms of value as compared to 2026. The coextruded multilayer films segment is expected to create an incremental opportunity of US$ 2,458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laminated films segment is expected to create an incremental opportunity of US$ 2,099 Mn for the overall flexible plastic packaging market from 2026 to 2036. The monolayer films segment is expected to create an incremental opportunity of US$ 1,442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Coextruded Multilayer Films and Laminated Films add the most value because they carry the largest bases, 29.1% and 24.7%, and grow at 8.1% and 8.2%. Multi-layer barrier structures remain the workhorse for protein, snack and dairy packs, while population growth, imported-food shelf-life needs and expanding modern retail and food processing lift Mono-Material Recyclable Structures at the fastest rate from a smaller base.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Volume Analysis, By Material Structure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Material Structure (Thousand MT)</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Volume Analysis, By Material Structure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Material Structure (Thousand MT)</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1.2X higher volume than laminated films segment in 2036. Among flexible plastic packaging by material structure, mono-material recyclable structures segment is expected to witness the highest CAGR of 7.5% over the forecast period.</a:t>
            </a:r>
          </a:p>
          <a:p>
            <a:pPr algn="l">
              <a:lnSpc>
                <a:spcPct val="110000"/>
              </a:lnSpc>
              <a:spcBef>
                <a:spcPts val="0"/>
              </a:spcBef>
              <a:spcAft>
                <a:spcPts val="500"/>
              </a:spcAft>
            </a:pPr>
            <a:r>
              <a:rPr sz="1150" b="0">
                <a:solidFill>
                  <a:srgbClr val="2E2E2E"/>
                </a:solidFill>
                <a:latin typeface="Calibri"/>
              </a:rPr>
              <a:t>In terms of volume share by material structure, the coextruded multilayer films segment is expected to dominate the market, losing 32 BPS and accounting for 28.8% share by 2036.</a:t>
            </a:r>
          </a:p>
          <a:p>
            <a:pPr algn="l">
              <a:lnSpc>
                <a:spcPct val="110000"/>
              </a:lnSpc>
              <a:spcBef>
                <a:spcPts val="0"/>
              </a:spcBef>
              <a:spcAft>
                <a:spcPts val="500"/>
              </a:spcAft>
            </a:pPr>
            <a:r>
              <a:rPr sz="1150" b="0">
                <a:solidFill>
                  <a:srgbClr val="2E2E2E"/>
                </a:solidFill>
                <a:latin typeface="Calibri"/>
              </a:rPr>
              <a:t>Mono-Material Recyclable Structures gain 50 BPS and grow fastest at 7.5% as Gulf recycling and plastic waste regulation, along with global brand owner commitments, push demand for recyclable films. Monolayer Films also gain 24 BPS on cost-sensitive uses. Coextruded Multilayer Films lose 32 BPS and Metallized Films 27 BPS as conventional builds face substitution.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Material Structure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Material Structure (US$ Mn)</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Material Structure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Material Structure (US$ Mn)</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1.2X higher value than laminated films segment in 2036. Among flexible plastic packaging by material structure, mono-material recyclable structures segment is expected to witness the highest CAGR of 8.9%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32 BPS and accounting for 28.8% share by 2036.</a:t>
            </a:r>
          </a:p>
          <a:p>
            <a:pPr algn="l">
              <a:lnSpc>
                <a:spcPct val="110000"/>
              </a:lnSpc>
              <a:spcBef>
                <a:spcPts val="0"/>
              </a:spcBef>
              <a:spcAft>
                <a:spcPts val="500"/>
              </a:spcAft>
            </a:pPr>
            <a:r>
              <a:rPr sz="1150" b="0">
                <a:solidFill>
                  <a:srgbClr val="2E2E2E"/>
                </a:solidFill>
                <a:latin typeface="Calibri"/>
              </a:rPr>
              <a:t>Mono-Material Recyclable Structures gains 50 BPS of value share because brand owners are redesigning multilayer laminates into recyclable mono-PE and mono-PP formats to meet EPR and recycled-content requirements. Its 8.9% CAGR compares with a 8.3% market rate, while Coextruded Multilayer Films loses 32 BPS at 8.1% as complex multilayer constructions are hard to recycle and are being redesigned toward simpler structures.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Structure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Material Structure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2210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1734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4114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Coated Films</a:t>
            </a:r>
          </a:p>
        </p:txBody>
      </p:sp>
      <p:sp>
        <p:nvSpPr>
          <p:cNvPr id="19" name="BPS Value 1"/>
          <p:cNvSpPr txBox="1"/>
          <p:nvPr/>
        </p:nvSpPr>
        <p:spPr>
          <a:xfrm>
            <a:off x="6896100" y="1803057"/>
            <a:ext cx="514350" cy="123825"/>
          </a:xfrm>
          <a:prstGeom prst="rect">
            <a:avLst/>
          </a:prstGeom>
          <a:noFill/>
        </p:spPr>
        <p:txBody>
          <a:bodyPr wrap="none" lIns="0" rIns="0" tIns="0" bIns="0" anchor="ctr">
            <a:spAutoFit/>
          </a:bodyPr>
          <a:lstStyle/>
          <a:p>
            <a:pPr algn="r"/>
            <a:r>
              <a:rPr sz="900" b="1">
                <a:solidFill>
                  <a:srgbClr val="2E7D32"/>
                </a:solidFill>
                <a:latin typeface="Calibri"/>
              </a:rPr>
              <a:t>+2</a:t>
            </a:r>
          </a:p>
        </p:txBody>
      </p:sp>
      <p:sp>
        <p:nvSpPr>
          <p:cNvPr id="20" name="FMI Legend Chip"/>
          <p:cNvSpPr/>
          <p:nvPr/>
        </p:nvSpPr>
        <p:spPr>
          <a:xfrm>
            <a:off x="4928997" y="213285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280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518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Metallized Films</a:t>
            </a:r>
          </a:p>
        </p:txBody>
      </p:sp>
      <p:sp>
        <p:nvSpPr>
          <p:cNvPr id="23" name="BPS Value 2"/>
          <p:cNvSpPr txBox="1"/>
          <p:nvPr/>
        </p:nvSpPr>
        <p:spPr>
          <a:xfrm>
            <a:off x="6896100" y="2113803"/>
            <a:ext cx="514350" cy="123825"/>
          </a:xfrm>
          <a:prstGeom prst="rect">
            <a:avLst/>
          </a:prstGeom>
          <a:noFill/>
        </p:spPr>
        <p:txBody>
          <a:bodyPr wrap="none" lIns="0" rIns="0" tIns="0" bIns="0" anchor="ctr">
            <a:spAutoFit/>
          </a:bodyPr>
          <a:lstStyle/>
          <a:p>
            <a:pPr algn="r"/>
            <a:r>
              <a:rPr sz="900" b="1">
                <a:solidFill>
                  <a:srgbClr val="E44D3A"/>
                </a:solidFill>
                <a:latin typeface="Calibri"/>
              </a:rPr>
              <a:t>-27</a:t>
            </a:r>
          </a:p>
        </p:txBody>
      </p:sp>
      <p:sp>
        <p:nvSpPr>
          <p:cNvPr id="24" name="FMI Legend Chip"/>
          <p:cNvSpPr/>
          <p:nvPr/>
        </p:nvSpPr>
        <p:spPr>
          <a:xfrm>
            <a:off x="4928997" y="247154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46678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905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Foil-Laminated Structures</a:t>
            </a:r>
          </a:p>
        </p:txBody>
      </p:sp>
      <p:sp>
        <p:nvSpPr>
          <p:cNvPr id="27" name="BPS Value 3"/>
          <p:cNvSpPr txBox="1"/>
          <p:nvPr/>
        </p:nvSpPr>
        <p:spPr>
          <a:xfrm>
            <a:off x="6896100" y="2452495"/>
            <a:ext cx="514350" cy="123825"/>
          </a:xfrm>
          <a:prstGeom prst="rect">
            <a:avLst/>
          </a:prstGeom>
          <a:noFill/>
        </p:spPr>
        <p:txBody>
          <a:bodyPr wrap="none" lIns="0" rIns="0" tIns="0" bIns="0" anchor="ctr">
            <a:spAutoFit/>
          </a:bodyPr>
          <a:lstStyle/>
          <a:p>
            <a:pPr algn="r"/>
            <a:r>
              <a:rPr sz="900" b="1">
                <a:solidFill>
                  <a:srgbClr val="2E7D32"/>
                </a:solidFill>
                <a:latin typeface="Calibri"/>
              </a:rPr>
              <a:t>+2</a:t>
            </a:r>
          </a:p>
        </p:txBody>
      </p:sp>
      <p:sp>
        <p:nvSpPr>
          <p:cNvPr id="28" name="FMI Legend Chip"/>
          <p:cNvSpPr/>
          <p:nvPr/>
        </p:nvSpPr>
        <p:spPr>
          <a:xfrm>
            <a:off x="4928997" y="284910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8443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7681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Mono-Material Recyclable Structures</a:t>
            </a:r>
          </a:p>
        </p:txBody>
      </p:sp>
      <p:sp>
        <p:nvSpPr>
          <p:cNvPr id="31" name="BPS Value 4"/>
          <p:cNvSpPr txBox="1"/>
          <p:nvPr/>
        </p:nvSpPr>
        <p:spPr>
          <a:xfrm>
            <a:off x="6896100" y="2830054"/>
            <a:ext cx="514350" cy="123825"/>
          </a:xfrm>
          <a:prstGeom prst="rect">
            <a:avLst/>
          </a:prstGeom>
          <a:noFill/>
        </p:spPr>
        <p:txBody>
          <a:bodyPr wrap="none" lIns="0" rIns="0" tIns="0" bIns="0" anchor="ctr">
            <a:spAutoFit/>
          </a:bodyPr>
          <a:lstStyle/>
          <a:p>
            <a:pPr algn="r"/>
            <a:r>
              <a:rPr sz="900" b="1">
                <a:solidFill>
                  <a:srgbClr val="2E7D32"/>
                </a:solidFill>
                <a:latin typeface="Calibri"/>
              </a:rPr>
              <a:t>+50</a:t>
            </a:r>
          </a:p>
        </p:txBody>
      </p:sp>
      <p:sp>
        <p:nvSpPr>
          <p:cNvPr id="32" name="FMI Legend Chip"/>
          <p:cNvSpPr/>
          <p:nvPr/>
        </p:nvSpPr>
        <p:spPr>
          <a:xfrm>
            <a:off x="4928997" y="342621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42145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3452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Monolayer Films</a:t>
            </a:r>
          </a:p>
        </p:txBody>
      </p:sp>
      <p:sp>
        <p:nvSpPr>
          <p:cNvPr id="35" name="BPS Value 5"/>
          <p:cNvSpPr txBox="1"/>
          <p:nvPr/>
        </p:nvSpPr>
        <p:spPr>
          <a:xfrm>
            <a:off x="6896100" y="3407169"/>
            <a:ext cx="514350" cy="123825"/>
          </a:xfrm>
          <a:prstGeom prst="rect">
            <a:avLst/>
          </a:prstGeom>
          <a:noFill/>
        </p:spPr>
        <p:txBody>
          <a:bodyPr wrap="none" lIns="0" rIns="0" tIns="0" bIns="0" anchor="ctr">
            <a:spAutoFit/>
          </a:bodyPr>
          <a:lstStyle/>
          <a:p>
            <a:pPr algn="r"/>
            <a:r>
              <a:rPr sz="900" b="1">
                <a:solidFill>
                  <a:srgbClr val="2E7D32"/>
                </a:solidFill>
                <a:latin typeface="Calibri"/>
              </a:rPr>
              <a:t>+24</a:t>
            </a:r>
          </a:p>
        </p:txBody>
      </p:sp>
      <p:sp>
        <p:nvSpPr>
          <p:cNvPr id="36" name="FMI Legend Chip"/>
          <p:cNvSpPr/>
          <p:nvPr/>
        </p:nvSpPr>
        <p:spPr>
          <a:xfrm>
            <a:off x="4928997" y="436543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43606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2844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Laminated Films</a:t>
            </a:r>
          </a:p>
        </p:txBody>
      </p:sp>
      <p:sp>
        <p:nvSpPr>
          <p:cNvPr id="39" name="BPS Value 6"/>
          <p:cNvSpPr txBox="1"/>
          <p:nvPr/>
        </p:nvSpPr>
        <p:spPr>
          <a:xfrm>
            <a:off x="6896100" y="4346381"/>
            <a:ext cx="514350" cy="123825"/>
          </a:xfrm>
          <a:prstGeom prst="rect">
            <a:avLst/>
          </a:prstGeom>
          <a:noFill/>
        </p:spPr>
        <p:txBody>
          <a:bodyPr wrap="none" lIns="0" rIns="0" tIns="0" bIns="0" anchor="ctr">
            <a:spAutoFit/>
          </a:bodyPr>
          <a:lstStyle/>
          <a:p>
            <a:pPr algn="r"/>
            <a:r>
              <a:rPr sz="900" b="1">
                <a:solidFill>
                  <a:srgbClr val="E44D3A"/>
                </a:solidFill>
                <a:latin typeface="Calibri"/>
              </a:rPr>
              <a:t>-19</a:t>
            </a:r>
          </a:p>
        </p:txBody>
      </p:sp>
      <p:sp>
        <p:nvSpPr>
          <p:cNvPr id="40" name="FMI Legend Chip"/>
          <p:cNvSpPr/>
          <p:nvPr/>
        </p:nvSpPr>
        <p:spPr>
          <a:xfrm>
            <a:off x="4928997" y="558496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558020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5040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Coextruded Multilayer Films</a:t>
            </a:r>
          </a:p>
        </p:txBody>
      </p:sp>
      <p:sp>
        <p:nvSpPr>
          <p:cNvPr id="43" name="BPS Value 7"/>
          <p:cNvSpPr txBox="1"/>
          <p:nvPr/>
        </p:nvSpPr>
        <p:spPr>
          <a:xfrm>
            <a:off x="6896100" y="5565914"/>
            <a:ext cx="514350" cy="123825"/>
          </a:xfrm>
          <a:prstGeom prst="rect">
            <a:avLst/>
          </a:prstGeom>
          <a:noFill/>
        </p:spPr>
        <p:txBody>
          <a:bodyPr wrap="none" lIns="0" rIns="0" tIns="0" bIns="0" anchor="ctr">
            <a:spAutoFit/>
          </a:bodyPr>
          <a:lstStyle/>
          <a:p>
            <a:pPr algn="r"/>
            <a:r>
              <a:rPr sz="900" b="1">
                <a:solidFill>
                  <a:srgbClr val="E44D3A"/>
                </a:solidFill>
                <a:latin typeface="Calibri"/>
              </a:rPr>
              <a:t>-32</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Material Structure</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material structure, mono-material recyclable structures segment is expected to witness the highest CAGR of 8.9%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32 BPS and accounting for 28.8% share by 2036.</a:t>
            </a:r>
          </a:p>
          <a:p>
            <a:pPr algn="l">
              <a:lnSpc>
                <a:spcPct val="110000"/>
              </a:lnSpc>
              <a:spcBef>
                <a:spcPts val="0"/>
              </a:spcBef>
              <a:spcAft>
                <a:spcPts val="500"/>
              </a:spcAft>
            </a:pPr>
            <a:r>
              <a:rPr sz="1150" b="0">
                <a:solidFill>
                  <a:srgbClr val="2E2E2E"/>
                </a:solidFill>
                <a:latin typeface="Calibri"/>
              </a:rPr>
              <a:t>Mono-Material Recyclable Structures grow fastest at 8.9% against 8.3% for the region because regional plastics regulation, retailer commitments and the sustainability goals of multinational brands steer packs toward single-polymer designs. New local converting capacity lets these films be made close to petrochemical resin supply. Metallized Films grow slowest at 7.8% as clear recyclable barriers replace them.</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Volume,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Volume,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C0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C7DA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2B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0D63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C3D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0D61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segment categorizes the market by barrier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2,320</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4,949</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7.9%</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2,296</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5,290</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8.7%</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1,539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3,355</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8.1%</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953.1</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2,125</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high-barrier films segment is expected to witness the highest CAGR of 8.7% over the forecast period. In terms of value share by barrier level, the high-barrier films segment is expected to dominate the market, gaining 136 BPS and accounting for 33.7%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1.1X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33% of 2026 value · 7.9%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8.7%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22% of 2026 value · 8.1%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13% of 2026 value · 8.4%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split shows how demand is distributed across barrier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segment is projected to grow at a CAGR of 8.3%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Barrier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segments in the Middle East &amp; Africa flexible plastic packaging market in terms of value over the forecast period. High-Barrier films and Medium-Barrier films exhibit a CAGR index of 105 and 95 and a market share index of 129 and 131 respectively, against the segment average of 100. The ultra-high-barrier films segment is expected to be less attractive as compared to other segments over the forecast period, owing to its lower CAGR and incremental opportunity. High-Barrier Films rank most attractive because they combine a 32.3% share with the fastest growth at 8.7%, ahead of the 8.3% market. Longer shelf life for protein, cheese, snacks and ready meals drives upgrades, helped by population growth, imported-food shelf-life needs and expanding modern retail and food processing, while Medium-Barrier Films at 7.9% grow slowest despite their size.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Low-Barrier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High-Barrier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Volume Analysis, By Barrier Level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1.1X higher volume than medium-barrier films segment in 2036. Among flexible plastic packaging by barrier level, high-barrier films segment is expected to witness the highest CAGR of 7.3% over the forecast period.</a:t>
            </a:r>
          </a:p>
          <a:p>
            <a:pPr algn="l">
              <a:lnSpc>
                <a:spcPct val="110000"/>
              </a:lnSpc>
              <a:spcBef>
                <a:spcPts val="0"/>
              </a:spcBef>
              <a:spcAft>
                <a:spcPts val="500"/>
              </a:spcAft>
            </a:pPr>
            <a:r>
              <a:rPr sz="1150" b="0">
                <a:solidFill>
                  <a:srgbClr val="2E2E2E"/>
                </a:solidFill>
                <a:latin typeface="Calibri"/>
              </a:rPr>
              <a:t>In terms of volume share by barrier level, the high-barrier films segment is expected to dominate the market, gaining 138 BPS and accounting for 33.7% share by 2036. The medium-barrier films segment is expected to lose 118 BPS over the forecast period to account for 31.4% share by 2036.</a:t>
            </a:r>
          </a:p>
          <a:p>
            <a:pPr algn="l">
              <a:lnSpc>
                <a:spcPct val="110000"/>
              </a:lnSpc>
              <a:spcBef>
                <a:spcPts val="0"/>
              </a:spcBef>
              <a:spcAft>
                <a:spcPts val="500"/>
              </a:spcAft>
            </a:pPr>
            <a:r>
              <a:rPr sz="1150" b="0">
                <a:solidFill>
                  <a:srgbClr val="2E2E2E"/>
                </a:solidFill>
                <a:latin typeface="Calibri"/>
              </a:rPr>
              <a:t>High-Barrier Films gains 138 BPS of volume share because protein, ready meals and e-commerce-delivered food need longer shelf life and lower spoilage, which pulls demand up from medium-barrier grades. Its 7.3% CAGR compares with a 6.9% market rate, while Medium-Barrier Films loses 118 BPS at 6.5% as demand polarises between cost-led low-barrier grades and performance-led high-barrier grades. In Middle East &amp; Africa, import-dependent food chains, hot-climate shelf-life needs and new retail formats drive the mix.</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Barrier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Barrier Level (US$ Mn)</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1.1X higher value than medium-barrier films segment in 2036. Among flexible plastic packaging by barrier level, high-barrier films segment is expected to witness the highest CAGR of 8.7% over the forecast period.</a:t>
            </a:r>
          </a:p>
          <a:p>
            <a:pPr algn="l">
              <a:lnSpc>
                <a:spcPct val="110000"/>
              </a:lnSpc>
              <a:spcBef>
                <a:spcPts val="0"/>
              </a:spcBef>
              <a:spcAft>
                <a:spcPts val="500"/>
              </a:spcAft>
            </a:pPr>
            <a:r>
              <a:rPr sz="1150" b="0">
                <a:solidFill>
                  <a:srgbClr val="2E2E2E"/>
                </a:solidFill>
                <a:latin typeface="Calibri"/>
              </a:rPr>
              <a:t>In terms of value share by barrier level, the high-barrier films segment is expected to dominate the market, gaining 136 BPS and accounting for 33.7% share by 2036. The medium-barrier films segment is expected to lose 116 BPS over the forecast period to account for 31.5% share by 2036.</a:t>
            </a:r>
          </a:p>
          <a:p>
            <a:pPr algn="l">
              <a:lnSpc>
                <a:spcPct val="110000"/>
              </a:lnSpc>
              <a:spcBef>
                <a:spcPts val="0"/>
              </a:spcBef>
              <a:spcAft>
                <a:spcPts val="500"/>
              </a:spcAft>
            </a:pPr>
            <a:r>
              <a:rPr sz="1150" b="0">
                <a:solidFill>
                  <a:srgbClr val="2E2E2E"/>
                </a:solidFill>
                <a:latin typeface="Calibri"/>
              </a:rPr>
              <a:t>High-Barrier Films gain 136 BPS and grow at 8.7% because hot climates, long import and distribution routes and growing demand for packaged meat, dairy and ready meals need stronger oxygen and moisture protection. Medium-Barrier Films lose 116 BPS at 7.9% as buyers upgrade. Low-Barrier Films slip 31 BPS at 8.1%, while Ultra-High-Barrier Films edge up 11 BPS.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Barrier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037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56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94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1326"/>
            <a:ext cx="514350" cy="123825"/>
          </a:xfrm>
          <a:prstGeom prst="rect">
            <a:avLst/>
          </a:prstGeom>
          <a:noFill/>
        </p:spPr>
        <p:txBody>
          <a:bodyPr wrap="none" lIns="0" rIns="0" tIns="0" bIns="0" anchor="ctr">
            <a:spAutoFit/>
          </a:bodyPr>
          <a:lstStyle/>
          <a:p>
            <a:pPr algn="r"/>
            <a:r>
              <a:rPr sz="900" b="1">
                <a:solidFill>
                  <a:srgbClr val="2E7D32"/>
                </a:solidFill>
                <a:latin typeface="Calibri"/>
              </a:rPr>
              <a:t>+11</a:t>
            </a:r>
          </a:p>
        </p:txBody>
      </p:sp>
      <p:sp>
        <p:nvSpPr>
          <p:cNvPr id="20" name="FMI Legend Chip"/>
          <p:cNvSpPr/>
          <p:nvPr/>
        </p:nvSpPr>
        <p:spPr>
          <a:xfrm>
            <a:off x="4928997" y="277742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726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964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58376"/>
            <a:ext cx="514350" cy="123825"/>
          </a:xfrm>
          <a:prstGeom prst="rect">
            <a:avLst/>
          </a:prstGeom>
          <a:noFill/>
        </p:spPr>
        <p:txBody>
          <a:bodyPr wrap="none" lIns="0" rIns="0" tIns="0" bIns="0" anchor="ctr">
            <a:spAutoFit/>
          </a:bodyPr>
          <a:lstStyle/>
          <a:p>
            <a:pPr algn="r"/>
            <a:r>
              <a:rPr sz="900" b="1">
                <a:solidFill>
                  <a:srgbClr val="E44D3A"/>
                </a:solidFill>
                <a:latin typeface="Calibri"/>
              </a:rPr>
              <a:t>-31</a:t>
            </a:r>
          </a:p>
        </p:txBody>
      </p:sp>
      <p:sp>
        <p:nvSpPr>
          <p:cNvPr id="24" name="FMI Legend Chip"/>
          <p:cNvSpPr/>
          <p:nvPr/>
        </p:nvSpPr>
        <p:spPr>
          <a:xfrm>
            <a:off x="4928997" y="398515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8039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9041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66103"/>
            <a:ext cx="514350" cy="123825"/>
          </a:xfrm>
          <a:prstGeom prst="rect">
            <a:avLst/>
          </a:prstGeom>
          <a:noFill/>
        </p:spPr>
        <p:txBody>
          <a:bodyPr wrap="none" lIns="0" rIns="0" tIns="0" bIns="0" anchor="ctr">
            <a:spAutoFit/>
          </a:bodyPr>
          <a:lstStyle/>
          <a:p>
            <a:pPr algn="r"/>
            <a:r>
              <a:rPr sz="900" b="1">
                <a:solidFill>
                  <a:srgbClr val="E44D3A"/>
                </a:solidFill>
                <a:latin typeface="Calibri"/>
              </a:rPr>
              <a:t>-116</a:t>
            </a:r>
          </a:p>
        </p:txBody>
      </p:sp>
      <p:sp>
        <p:nvSpPr>
          <p:cNvPr id="28" name="FMI Legend Chip"/>
          <p:cNvSpPr/>
          <p:nvPr/>
        </p:nvSpPr>
        <p:spPr>
          <a:xfrm>
            <a:off x="4928997" y="547429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695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3933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55243"/>
            <a:ext cx="514350" cy="123825"/>
          </a:xfrm>
          <a:prstGeom prst="rect">
            <a:avLst/>
          </a:prstGeom>
          <a:noFill/>
        </p:spPr>
        <p:txBody>
          <a:bodyPr wrap="none" lIns="0" rIns="0" tIns="0" bIns="0" anchor="ctr">
            <a:spAutoFit/>
          </a:bodyPr>
          <a:lstStyle/>
          <a:p>
            <a:pPr algn="r"/>
            <a:r>
              <a:rPr sz="900" b="1">
                <a:solidFill>
                  <a:srgbClr val="2E7D32"/>
                </a:solidFill>
                <a:latin typeface="Calibri"/>
              </a:rPr>
              <a:t>+136</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Barrier Level</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high-barrier films segment is expected to witness the highest CAGR of 8.7% over the forecast period. In terms of value share by barrier level, the high-barrier films segment is expected to dominate the market, gaining 136 BPS and accounting for 33.7% share by 2036.</a:t>
            </a:r>
          </a:p>
          <a:p>
            <a:pPr algn="l">
              <a:lnSpc>
                <a:spcPct val="110000"/>
              </a:lnSpc>
              <a:spcBef>
                <a:spcPts val="0"/>
              </a:spcBef>
              <a:spcAft>
                <a:spcPts val="500"/>
              </a:spcAft>
            </a:pPr>
            <a:r>
              <a:rPr sz="1150" b="0">
                <a:solidFill>
                  <a:srgbClr val="2E2E2E"/>
                </a:solidFill>
                <a:latin typeface="Calibri"/>
              </a:rPr>
              <a:t>The medium-barrier films segment is expected to lose 116 BPS over the forecast period to account for 31.5% share by 2036.</a:t>
            </a:r>
          </a:p>
          <a:p>
            <a:pPr algn="l">
              <a:lnSpc>
                <a:spcPct val="110000"/>
              </a:lnSpc>
              <a:spcBef>
                <a:spcPts val="0"/>
              </a:spcBef>
              <a:spcAft>
                <a:spcPts val="500"/>
              </a:spcAft>
            </a:pPr>
            <a:r>
              <a:rPr sz="1150" b="0">
                <a:solidFill>
                  <a:srgbClr val="2E2E2E"/>
                </a:solidFill>
                <a:latin typeface="Calibri"/>
              </a:rPr>
              <a:t>High-Barrier Films grow fastest at 8.7% against the 8.3% market because fresh protein, cheese, snacks and ready meals need longer shelf life and less food waste, and brand owners keep upgrading packs. Demand is reinforced by population growth, imported-food shelf-life needs and expanding modern retail and food processing, while Medium-Barrier Films at 7.9% lose share to the trade-up.</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Volume,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Application segment categorizes the market by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Packaging</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5,945</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13,166</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8.3%</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Non-Food Packaging</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1,163</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2,553</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8.2%</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application, food packaging segment is expected to witness the highest CAGR of 8.3% over the forecast period. In terms of value share by application, the food packaging segment is expected to dominate the market, gaining 12 BPS and accounting for 83.8%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Food packaging segment is projected to register 5.2X higher value than non-food packaging segment in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Food Packaging: </a:t>
            </a:r>
            <a:r>
              <a:rPr sz="1100" b="0">
                <a:solidFill>
                  <a:srgbClr val="2E2E2E"/>
                </a:solidFill>
                <a:latin typeface="Calibri"/>
              </a:rPr>
              <a:t>84% of 2026 value · 8.3%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Non-Food Packaging: </a:t>
            </a:r>
            <a:r>
              <a:rPr sz="1100" b="0">
                <a:solidFill>
                  <a:srgbClr val="2E2E2E"/>
                </a:solidFill>
                <a:latin typeface="Calibri"/>
              </a:rPr>
              <a:t>16% of 2026 value · 8.2% CAGR serves a niche.</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Application split shows how demand is distributed across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Application segment is projected to grow at a CAGR of 8.3%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762375"/>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Application · Bubble size represents 2036 value</a:t>
            </a:r>
          </a:p>
        </p:txBody>
      </p:sp>
      <p:graphicFrame>
        <p:nvGraphicFramePr>
          <p:cNvPr id="16" name="Chart 15"/>
          <p:cNvGraphicFramePr>
            <a:graphicFrameLocks noGrp="1"/>
          </p:cNvGraphicFramePr>
          <p:nvPr/>
        </p:nvGraphicFramePr>
        <p:xfrm>
          <a:off x="6734175" y="1266825"/>
          <a:ext cx="5210175" cy="3933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91150"/>
            <a:ext cx="11906250" cy="1228725"/>
          </a:xfrm>
          <a:prstGeom prst="roundRect">
            <a:avLst>
              <a:gd name="adj" fmla="val 62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Food packaging followed by non-food packaging are expected to be the two most attractive application segments in the Middle East &amp; Africa flexible plastic packaging market in terms of value over the forecast period. Food packaging and Non-Food packaging exhibit a CAGR index of 100 and 99 and a market share index of 167 and 33 respectively, against the segment average of 100. Food Packaging is the more attractive application because it holds 83.6% of value and grows at 8.3%, slightly ahead of Non-Food Packaging at 8.2%. Rising populations, urbanisation, expanding modern retail, food delivery and local food processing drive packaged food demand, and flexible barrier film is essential in hot climates with long supply chains. The non-food segment tracks this at a marginally slower pace.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Food Packaging</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Non-Food Packaging</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Volume Analysis, By Application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Application (Thousand MT)</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Volume Analysis, By Application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Application (Thousand MT)</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5.2X higher volume than non-food packaging segment in 2036. Among flexible plastic packaging by application, food packaging segment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volume share by application, the food packaging segment is expected to dominate the market, gaining 12 BPS and accounting for 83.8% share by 2036. The non-food packaging segment is expected to lose 12 BPS over the forecast period to account for 16.2% share by 2036.</a:t>
            </a:r>
          </a:p>
          <a:p>
            <a:pPr algn="l">
              <a:lnSpc>
                <a:spcPct val="110000"/>
              </a:lnSpc>
              <a:spcBef>
                <a:spcPts val="0"/>
              </a:spcBef>
              <a:spcAft>
                <a:spcPts val="500"/>
              </a:spcAft>
            </a:pPr>
            <a:r>
              <a:rPr sz="1150" b="0">
                <a:solidFill>
                  <a:srgbClr val="2E2E2E"/>
                </a:solidFill>
                <a:latin typeface="Calibri"/>
              </a:rPr>
              <a:t>Food Packaging gains 12 BPS and grows at 6.9% because urbanisation, rising incomes, expanding modern retail and food delivery, and a drive to improve food security and reduce spoilage in hot climates raise packaged food use. Non-Food Packaging grows at 6.8%, only slightly slower. The mix changes little, with food retaining 83.6% of volume.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Application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Application (US$ Mn)</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Application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Application (US$ Mn)</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5.2X higher value than non-food packaging segment in 2036. Among flexible plastic packaging by application, food packaging segment is expected to witness the highest CAGR of 8.3% over the forecast period.</a:t>
            </a:r>
          </a:p>
          <a:p>
            <a:pPr algn="l">
              <a:lnSpc>
                <a:spcPct val="110000"/>
              </a:lnSpc>
              <a:spcBef>
                <a:spcPts val="0"/>
              </a:spcBef>
              <a:spcAft>
                <a:spcPts val="500"/>
              </a:spcAft>
            </a:pPr>
            <a:r>
              <a:rPr sz="1150" b="0">
                <a:solidFill>
                  <a:srgbClr val="2E2E2E"/>
                </a:solidFill>
                <a:latin typeface="Calibri"/>
              </a:rPr>
              <a:t>In terms of value share by application, the food packaging segment is expected to dominate the market, gaining 12 BPS and accounting for 83.8% share by 2036. The non-food packaging segment is expected to lose 12 BPS over the forecast period to account for 16.2% share by 2036.</a:t>
            </a:r>
          </a:p>
          <a:p>
            <a:pPr algn="l">
              <a:lnSpc>
                <a:spcPct val="110000"/>
              </a:lnSpc>
              <a:spcBef>
                <a:spcPts val="0"/>
              </a:spcBef>
              <a:spcAft>
                <a:spcPts val="500"/>
              </a:spcAft>
            </a:pPr>
            <a:r>
              <a:rPr sz="1150" b="0">
                <a:solidFill>
                  <a:srgbClr val="2E2E2E"/>
                </a:solidFill>
                <a:latin typeface="Calibri"/>
              </a:rPr>
              <a:t>Food Packaging gains 12 BPS of value share because shelf-life extension, protein and ready-meal growth and food delivery all depend on flexible barrier formats, reinforced by population growth, imported-food shelf-life needs and expanding modern retail and food processing. Non-Food Packaging, covering personal care, household and healthcare, still grows at 8.2% but trails the 8.3% of food, so it concedes 12 BPS in a narrow shift.</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254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778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15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Non-Food Packaging</a:t>
            </a:r>
          </a:p>
        </p:txBody>
      </p:sp>
      <p:sp>
        <p:nvSpPr>
          <p:cNvPr id="19" name="BPS Value 1"/>
          <p:cNvSpPr txBox="1"/>
          <p:nvPr/>
        </p:nvSpPr>
        <p:spPr>
          <a:xfrm>
            <a:off x="6896100" y="2023494"/>
            <a:ext cx="514350" cy="123825"/>
          </a:xfrm>
          <a:prstGeom prst="rect">
            <a:avLst/>
          </a:prstGeom>
          <a:noFill/>
        </p:spPr>
        <p:txBody>
          <a:bodyPr wrap="none" lIns="0" rIns="0" tIns="0" bIns="0" anchor="ctr">
            <a:spAutoFit/>
          </a:bodyPr>
          <a:lstStyle/>
          <a:p>
            <a:pPr algn="r"/>
            <a:r>
              <a:rPr sz="900" b="1">
                <a:solidFill>
                  <a:srgbClr val="E44D3A"/>
                </a:solidFill>
                <a:latin typeface="Calibri"/>
              </a:rPr>
              <a:t>-12</a:t>
            </a:r>
          </a:p>
        </p:txBody>
      </p:sp>
      <p:sp>
        <p:nvSpPr>
          <p:cNvPr id="20" name="FMI Legend Chip"/>
          <p:cNvSpPr/>
          <p:nvPr/>
        </p:nvSpPr>
        <p:spPr>
          <a:xfrm>
            <a:off x="4928997" y="432873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32397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24777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Packaging</a:t>
            </a:r>
          </a:p>
        </p:txBody>
      </p:sp>
      <p:sp>
        <p:nvSpPr>
          <p:cNvPr id="23" name="BPS Value 2"/>
          <p:cNvSpPr txBox="1"/>
          <p:nvPr/>
        </p:nvSpPr>
        <p:spPr>
          <a:xfrm>
            <a:off x="6896100" y="4309684"/>
            <a:ext cx="514350" cy="123825"/>
          </a:xfrm>
          <a:prstGeom prst="rect">
            <a:avLst/>
          </a:prstGeom>
          <a:noFill/>
        </p:spPr>
        <p:txBody>
          <a:bodyPr wrap="none" lIns="0" rIns="0" tIns="0" bIns="0" anchor="ctr">
            <a:spAutoFit/>
          </a:bodyPr>
          <a:lstStyle/>
          <a:p>
            <a:pPr algn="r"/>
            <a:r>
              <a:rPr sz="900" b="1">
                <a:solidFill>
                  <a:srgbClr val="2E7D32"/>
                </a:solidFill>
                <a:latin typeface="Calibri"/>
              </a:rPr>
              <a:t>+12</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Application</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application, food packaging segment is expected to witness the highest CAGR of 8.3% over the forecast period. In terms of value share by application, the food packaging segment is expected to dominate the market, gaining 12 BPS and accounting for 83.8% share by 2036.</a:t>
            </a:r>
          </a:p>
          <a:p>
            <a:pPr algn="l">
              <a:lnSpc>
                <a:spcPct val="110000"/>
              </a:lnSpc>
              <a:spcBef>
                <a:spcPts val="0"/>
              </a:spcBef>
              <a:spcAft>
                <a:spcPts val="500"/>
              </a:spcAft>
            </a:pPr>
            <a:r>
              <a:rPr sz="1150" b="0">
                <a:solidFill>
                  <a:srgbClr val="2E2E2E"/>
                </a:solidFill>
                <a:latin typeface="Calibri"/>
              </a:rPr>
              <a:t>The non-food packaging segment is expected to lose 12 BPS over the forecast period to account for 16.2% share by 2036.</a:t>
            </a:r>
          </a:p>
          <a:p>
            <a:pPr algn="l">
              <a:lnSpc>
                <a:spcPct val="110000"/>
              </a:lnSpc>
              <a:spcBef>
                <a:spcPts val="0"/>
              </a:spcBef>
              <a:spcAft>
                <a:spcPts val="500"/>
              </a:spcAft>
            </a:pPr>
            <a:r>
              <a:rPr sz="1150" b="0">
                <a:solidFill>
                  <a:srgbClr val="2E2E2E"/>
                </a:solidFill>
                <a:latin typeface="Calibri"/>
              </a:rPr>
              <a:t>Food Packaging grows fastest at 8.3% because young, urbanising populations, expanding supermarkets, food delivery and investment in local food processing are lifting packaged food consumption across the Middle East &amp; Africa, where hot climates make barrier films essential for shelf life. Non-Food Packaging, at 8.2%, grows nearly as quickly with personal care and household demand, so the margin is slim.</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Volume,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Volume,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4F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0D5B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C0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D65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1A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0D61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0D61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Vs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Vs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Vs Application segment categorizes the market by barrier level vs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2,320</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4,949</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7.9%</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2,296</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5,290</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8.7%</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1,539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3,355</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8.1%</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953.1</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2,125</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vs application, high-barrier films segment is expected to witness the highest CAGR of 8.7% over the forecast period. In terms of value share by barrier level vs application, the high-barrier films segment is expected to dominate the market, gaining 136 BPS and accounting for 33.7%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1.1X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33% of 2026 value · 7.9%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8.7%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22% of 2026 value · 8.1%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13% of 2026 value · 8.4%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Vs Application split shows how demand is distributed across barrier level vs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Vs Application segment is projected to grow at a CAGR of 8.3%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Barrier Level Vs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Vs 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Vs Application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vs application segments in the Middle East &amp; Africa flexible plastic packaging market in terms of value over the forecast period. High-Barrier films and Medium-Barrier films exhibit a CAGR index of 105 and 95 and a market share index of 129 and 131 respectively, against the segment average of 100. The ultra-high-barrier films segment is expected to be less attractive as compared to other segments over the forecast period, owing to its lower CAGR and incremental opportunity. High-Barrier Films and Medium-Barrier Films rank as the most attractive because they pair scale with growth. High-barrier grades combine a large base with shelf-life-driven demand from protein, ready meals and delivered food, with 32.3% of 2026 value growing at 8.7%. For Medium-Barrier Films, medium-barrier films retain a large installed base in fresh produce, bakery and dairy, at 32.6% share and 7.9% CAGR.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Vs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Low-Barrier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High-Barrier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Volume Analysis, By Barrier Level Vs Application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1.1X higher volume than medium-barrier films segment in 2036. Among flexible plastic packaging by barrier level vs application, high-barrier films segment is expected to witness the highest CAGR of 7.3% over the forecast period.</a:t>
            </a:r>
          </a:p>
          <a:p>
            <a:pPr algn="l">
              <a:lnSpc>
                <a:spcPct val="110000"/>
              </a:lnSpc>
              <a:spcBef>
                <a:spcPts val="0"/>
              </a:spcBef>
              <a:spcAft>
                <a:spcPts val="500"/>
              </a:spcAft>
            </a:pPr>
            <a:r>
              <a:rPr sz="1100" b="0">
                <a:solidFill>
                  <a:srgbClr val="2E2E2E"/>
                </a:solidFill>
                <a:latin typeface="Calibri"/>
              </a:rPr>
              <a:t>In terms of volume share by barrier level vs application, the high-barrier films segment is expected to dominate the market, gaining 138 BPS and accounting for 33.7% share by 2036. The medium-barrier films segment is expected to lose 118 BPS over the forecast period to account for 31.4% share by 2036.</a:t>
            </a:r>
          </a:p>
          <a:p>
            <a:pPr algn="l">
              <a:lnSpc>
                <a:spcPct val="110000"/>
              </a:lnSpc>
              <a:spcBef>
                <a:spcPts val="0"/>
              </a:spcBef>
              <a:spcAft>
                <a:spcPts val="500"/>
              </a:spcAft>
            </a:pPr>
            <a:r>
              <a:rPr sz="1100" b="0">
                <a:solidFill>
                  <a:srgbClr val="2E2E2E"/>
                </a:solidFill>
                <a:latin typeface="Calibri"/>
              </a:rPr>
              <a:t>High-Barrier Films add 138 BPS of volume share at 7.3% growth because fresh protein, cheese, snacks and ready meals need longer shelf life and lower food waste, and brands keep upgrading packs, supported by population growth, imported-food shelf-life needs and expanding modern retail and food processing. Medium-Barrier Films lose 118 BPS at 6.5%, as those applications trade up to higher barrier and ultra-high-barrier films take the premium niches.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Barrier Level Vs Application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Barrier Level Vs Application (US$ Mn)</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1.1X higher value than medium-barrier films segment in 2036. Among flexible plastic packaging by barrier level vs application, high-barrier films segment is expected to witness the highest CAGR of 8.7% over the forecast period.</a:t>
            </a:r>
          </a:p>
          <a:p>
            <a:pPr algn="l">
              <a:lnSpc>
                <a:spcPct val="110000"/>
              </a:lnSpc>
              <a:spcBef>
                <a:spcPts val="0"/>
              </a:spcBef>
              <a:spcAft>
                <a:spcPts val="500"/>
              </a:spcAft>
            </a:pPr>
            <a:r>
              <a:rPr sz="1100" b="0">
                <a:solidFill>
                  <a:srgbClr val="2E2E2E"/>
                </a:solidFill>
                <a:latin typeface="Calibri"/>
              </a:rPr>
              <a:t>In terms of value share by barrier level vs application, the high-barrier films segment is expected to dominate the market, gaining 136 BPS and accounting for 33.7% share by 2036. The medium-barrier films segment is expected to lose 116 BPS over the forecast period to account for 31.5% share by 2036.</a:t>
            </a:r>
          </a:p>
          <a:p>
            <a:pPr algn="l">
              <a:lnSpc>
                <a:spcPct val="110000"/>
              </a:lnSpc>
              <a:spcBef>
                <a:spcPts val="0"/>
              </a:spcBef>
              <a:spcAft>
                <a:spcPts val="500"/>
              </a:spcAft>
            </a:pPr>
            <a:r>
              <a:rPr sz="1100" b="0">
                <a:solidFill>
                  <a:srgbClr val="2E2E2E"/>
                </a:solidFill>
                <a:latin typeface="Calibri"/>
              </a:rPr>
              <a:t>High-Barrier Films gain 136 BPS because hot climates, import-dependent supply chains and expanding modern retail require longer shelf life for meat, dairy, ready meals and snacks, and pharma uses add demand. Medium-Barrier Films lose 116 BPS and grow only 7.9% as buyers upgrade specification to cut spoilage. High-Barrier Films lead growth at 8.7%.</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Vs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Barrier Level Vs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037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56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94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1326"/>
            <a:ext cx="514350" cy="123825"/>
          </a:xfrm>
          <a:prstGeom prst="rect">
            <a:avLst/>
          </a:prstGeom>
          <a:noFill/>
        </p:spPr>
        <p:txBody>
          <a:bodyPr wrap="none" lIns="0" rIns="0" tIns="0" bIns="0" anchor="ctr">
            <a:spAutoFit/>
          </a:bodyPr>
          <a:lstStyle/>
          <a:p>
            <a:pPr algn="r"/>
            <a:r>
              <a:rPr sz="900" b="1">
                <a:solidFill>
                  <a:srgbClr val="2E7D32"/>
                </a:solidFill>
                <a:latin typeface="Calibri"/>
              </a:rPr>
              <a:t>+11</a:t>
            </a:r>
          </a:p>
        </p:txBody>
      </p:sp>
      <p:sp>
        <p:nvSpPr>
          <p:cNvPr id="20" name="FMI Legend Chip"/>
          <p:cNvSpPr/>
          <p:nvPr/>
        </p:nvSpPr>
        <p:spPr>
          <a:xfrm>
            <a:off x="4928997" y="277742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726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964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58376"/>
            <a:ext cx="514350" cy="123825"/>
          </a:xfrm>
          <a:prstGeom prst="rect">
            <a:avLst/>
          </a:prstGeom>
          <a:noFill/>
        </p:spPr>
        <p:txBody>
          <a:bodyPr wrap="none" lIns="0" rIns="0" tIns="0" bIns="0" anchor="ctr">
            <a:spAutoFit/>
          </a:bodyPr>
          <a:lstStyle/>
          <a:p>
            <a:pPr algn="r"/>
            <a:r>
              <a:rPr sz="900" b="1">
                <a:solidFill>
                  <a:srgbClr val="E44D3A"/>
                </a:solidFill>
                <a:latin typeface="Calibri"/>
              </a:rPr>
              <a:t>-31</a:t>
            </a:r>
          </a:p>
        </p:txBody>
      </p:sp>
      <p:sp>
        <p:nvSpPr>
          <p:cNvPr id="24" name="FMI Legend Chip"/>
          <p:cNvSpPr/>
          <p:nvPr/>
        </p:nvSpPr>
        <p:spPr>
          <a:xfrm>
            <a:off x="4928997" y="398515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8039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9041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66103"/>
            <a:ext cx="514350" cy="123825"/>
          </a:xfrm>
          <a:prstGeom prst="rect">
            <a:avLst/>
          </a:prstGeom>
          <a:noFill/>
        </p:spPr>
        <p:txBody>
          <a:bodyPr wrap="none" lIns="0" rIns="0" tIns="0" bIns="0" anchor="ctr">
            <a:spAutoFit/>
          </a:bodyPr>
          <a:lstStyle/>
          <a:p>
            <a:pPr algn="r"/>
            <a:r>
              <a:rPr sz="900" b="1">
                <a:solidFill>
                  <a:srgbClr val="E44D3A"/>
                </a:solidFill>
                <a:latin typeface="Calibri"/>
              </a:rPr>
              <a:t>-116</a:t>
            </a:r>
          </a:p>
        </p:txBody>
      </p:sp>
      <p:sp>
        <p:nvSpPr>
          <p:cNvPr id="28" name="FMI Legend Chip"/>
          <p:cNvSpPr/>
          <p:nvPr/>
        </p:nvSpPr>
        <p:spPr>
          <a:xfrm>
            <a:off x="4928997" y="547429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695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3933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55243"/>
            <a:ext cx="514350" cy="123825"/>
          </a:xfrm>
          <a:prstGeom prst="rect">
            <a:avLst/>
          </a:prstGeom>
          <a:noFill/>
        </p:spPr>
        <p:txBody>
          <a:bodyPr wrap="none" lIns="0" rIns="0" tIns="0" bIns="0" anchor="ctr">
            <a:spAutoFit/>
          </a:bodyPr>
          <a:lstStyle/>
          <a:p>
            <a:pPr algn="r"/>
            <a:r>
              <a:rPr sz="900" b="1">
                <a:solidFill>
                  <a:srgbClr val="2E7D32"/>
                </a:solidFill>
                <a:latin typeface="Calibri"/>
              </a:rPr>
              <a:t>+136</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Barrier Level Vs Application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vs application, high-barrier films segment is expected to witness the highest CAGR of 8.7% over the forecast period. In terms of value share by barrier level vs application, the high-barrier films segment is expected to dominate the market, gaining 136 BPS and accounting for 33.7% share by 2036.</a:t>
            </a:r>
          </a:p>
          <a:p>
            <a:pPr algn="l">
              <a:lnSpc>
                <a:spcPct val="110000"/>
              </a:lnSpc>
              <a:spcBef>
                <a:spcPts val="0"/>
              </a:spcBef>
              <a:spcAft>
                <a:spcPts val="500"/>
              </a:spcAft>
            </a:pPr>
            <a:r>
              <a:rPr sz="1150" b="0">
                <a:solidFill>
                  <a:srgbClr val="2E2E2E"/>
                </a:solidFill>
                <a:latin typeface="Calibri"/>
              </a:rPr>
              <a:t>The medium-barrier films segment is expected to lose 116 BPS over the forecast period to account for 31.5% share by 2036.</a:t>
            </a:r>
          </a:p>
          <a:p>
            <a:pPr algn="l">
              <a:lnSpc>
                <a:spcPct val="110000"/>
              </a:lnSpc>
              <a:spcBef>
                <a:spcPts val="0"/>
              </a:spcBef>
              <a:spcAft>
                <a:spcPts val="500"/>
              </a:spcAft>
            </a:pPr>
            <a:r>
              <a:rPr sz="1150" b="0">
                <a:solidFill>
                  <a:srgbClr val="2E2E2E"/>
                </a:solidFill>
                <a:latin typeface="Calibri"/>
              </a:rPr>
              <a:t>High-Barrier Films grows fastest at a 8.7% CAGR against 8.3% for the market because protein, ready meals and e-commerce-delivered food need longer shelf life and lower spoilage. The slowest part, Medium-Barrier Films, grows at 7.9% as demand polarises between cost-led low-barrier grades and performance-led high-barrier grades. In Middle East &amp; Africa, import-dependent food chains, hot-climate shelf-life needs and new retail formats drive the mix.</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Volume,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Volume,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39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13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1A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UAE</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UAE market in volume: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283.0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542.4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-74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UAE's flexible plastic packaging market expands at 6.2% CAGR through 2036, trailing the Middle East &amp; Africa benchmark of 6.9% by 74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UAE holds 12.6% of the Middle East &amp; Africa flexible plastic packaging market in 2026; by 2036 that share moves to 11.7%.</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244.1 Thousand MT between 2026 and 2036 the UAE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UAE market in value: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864.4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1,892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5.5%</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7.5%</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-77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UAE's flexible plastic packaging market expands at 7.5% CAGR through 2036, trailing the Middle East &amp; Africa benchmark of 8.3% by 77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UAE holds 12.9% of the Middle East &amp; Africa flexible plastic packaging market in 2026; by 2036 that share moves to 12.0%.</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UAE is expected to account for US$ 1,892 Mn by 2036 at a CAGR of 7.5% over the forecast period. The UAE is expected to create an incremental opportunity of US$ 1,028 Mn for the overall flexible plastic packaging market from 2025 to 2036. The UAE's value grows at 7.5% and volume at 6.2%, slightly below the 8.3% pace of Middle East &amp; Africa, as a small, already well-developed import-led market. Tourism, hospitality, food delivery, e-commerce and a large expatriate population support demand for premium packaged food. Average price rises from US$ 3,079 to US$ 3,488 per MT as high-barrier and recyclable formats gain share.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UAE's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918.8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479.2 US$ Mn (52% share), ahead of 'Premade Pouches &amp; Bags' (265.4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293.3 US$ Mn (32% share), ahead of 'PP-Based' (178.5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262.6 US$ Mn (29% share), ahead of 'Laminated Films' (233.8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296.8 US$ Mn (32% share), ahead of 'High-Barrier Films' (296.6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765.1 US$ Mn (83% share), ahead of 'Non-Food Packaging' (153.8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296.8 US$ Mn (32% share), ahead of 'High-Barrier Films' (296.6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Principal Material / Barrier Technology,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Principal Material / Barrier Technology,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UAE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Saudi Arabia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Saudi Arabia market in volume: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427.3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956.0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+78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Saudi Arabia's flexible plastic packaging market expands at 7.7% CAGR through 2036, outpacing the Middle East &amp; Africa benchmark of 6.9% by 78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Saudi Arabia holds 19.2% of the Middle East &amp; Africa flexible plastic packaging market in 2026; by 2036 that share moves to 20.6%.</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499.6 Thousand MT between 2026 and 2036 the Saudi Arabia market grows to 2.1×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Saudi Arabia market in value: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1,230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3,158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6.7%</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9.1%</a:t>
            </a:r>
          </a:p>
        </p:txBody>
      </p:sp>
      <p:sp>
        <p:nvSpPr>
          <p:cNvPr id="15" name="Rounded Rectangle 14"/>
          <p:cNvSpPr/>
          <p:nvPr/>
        </p:nvSpPr>
        <p:spPr>
          <a:xfrm>
            <a:off x="142875" y="16573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(US$ Mn), 2021–2036</a:t>
            </a:r>
          </a:p>
        </p:txBody>
      </p:sp>
      <p:graphicFrame>
        <p:nvGraphicFramePr>
          <p:cNvPr id="17" name="Chart 16"/>
          <p:cNvGraphicFramePr>
            <a:graphicFrameLocks noGrp="1"/>
          </p:cNvGraphicFramePr>
          <p:nvPr/>
        </p:nvGraphicFramePr>
        <p:xfrm>
          <a:off x="238125" y="1943100"/>
          <a:ext cx="4505325" cy="1162050"/>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162050"/>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+81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361950"/>
          </a:xfrm>
          <a:prstGeom prst="rect">
            <a:avLst/>
          </a:prstGeom>
          <a:noFill/>
        </p:spPr>
        <p:txBody>
          <a:bodyPr wrap="square" lIns="28575" rIns="28575" tIns="9525" bIns="9525" anchor="t">
            <a:spAutoFit/>
          </a:bodyPr>
          <a:lstStyle/>
          <a:p>
            <a:pPr algn="l"/>
            <a:r>
              <a:rPr sz="1100" b="0">
                <a:solidFill>
                  <a:srgbClr val="2E2E2E"/>
                </a:solidFill>
                <a:latin typeface="Calibri"/>
              </a:rPr>
              <a:t>Saudi Arabia's flexible plastic packaging market expands at 9.1% CAGR through 2036, outpacing the Middle East &amp; Africa benchmark of 8.3% by 81 BPS.</a:t>
            </a:r>
          </a:p>
        </p:txBody>
      </p:sp>
      <p:sp>
        <p:nvSpPr>
          <p:cNvPr id="23" name="Rounded Rectangle 22"/>
          <p:cNvSpPr/>
          <p:nvPr/>
        </p:nvSpPr>
        <p:spPr>
          <a:xfrm>
            <a:off x="142875" y="32956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3528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581400"/>
          <a:ext cx="4505325" cy="1162050"/>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2956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3528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Market Share, 2026</a:t>
            </a:r>
          </a:p>
        </p:txBody>
      </p:sp>
      <p:graphicFrame>
        <p:nvGraphicFramePr>
          <p:cNvPr id="28" name="Chart 27"/>
          <p:cNvGraphicFramePr>
            <a:graphicFrameLocks noGrp="1"/>
          </p:cNvGraphicFramePr>
          <p:nvPr/>
        </p:nvGraphicFramePr>
        <p:xfrm>
          <a:off x="5086350" y="3581400"/>
          <a:ext cx="6858000" cy="1162050"/>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Saudi Arabia holds 18.6% of the Middle East &amp; Africa flexible plastic packaging market in 2026; by 2036 that share moves to 20.1%.</a:t>
            </a:r>
          </a:p>
        </p:txBody>
      </p:sp>
      <p:sp>
        <p:nvSpPr>
          <p:cNvPr id="30" name="Rounded Rectangle 29"/>
          <p:cNvSpPr/>
          <p:nvPr/>
        </p:nvSpPr>
        <p:spPr>
          <a:xfrm>
            <a:off x="6172200"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Saudi Arabia is expected to account for US$ 3,158 Mn by 2036 at a CAGR of 9.1% over the forecast period. Saudi Arabia is expected to create an incremental opportunity of US$ 1,927 Mn for the overall flexible plastic packaging market from 2025 to 2036. Saudi Arabia is the fastest country at 9.1% in value and 7.7% in volume, as population growth, food-security spending, localised food processing, modern retail and food delivery expand demand, supported by domestic polyolefin resin supply. The value-volume gap reflects price and mix, with the average price rising from US$2,905 to US$3,303 per MT as barrier structures gain share.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Saudi Arabia's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1,325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746.6 US$ Mn (56% share), ahead of 'Premade Pouches &amp; Bags' (337.0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402.5 US$ Mn (30% share), ahead of 'PP-Based' (268.7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383.6 US$ Mn (29% share), ahead of 'Laminated Films' (325.4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'High-Barrier Films' leads at 435.9 US$ Mn (33% share), ahead of 'Medium-Barrier Films' (416.2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1,102 US$ Mn (83% share), ahead of 'Non-Food Packaging' (223.5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'High-Barrier Films' leads at 435.9 US$ Mn (33% share), ahead of 'Medium-Barrier Films' (416.2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4524385"/>
        </p:xfrm>
        <a:graphic>
          <a:graphicData uri="http://schemas.openxmlformats.org/drawingml/2006/table">
            <a:tbl>
              <a:tblPr>
                <a:tableStyleId>{5C22544A-7EE6-4342-B048-85BDC9FD1C3A}</a:tableStyleId>
              </a:tblPr>
              <a:tblGrid>
                <a:gridCol w="2015655"/>
                <a:gridCol w="658103"/>
                <a:gridCol w="658103"/>
                <a:gridCol w="658103"/>
                <a:gridCol w="658103"/>
                <a:gridCol w="658103"/>
                <a:gridCol w="658103"/>
                <a:gridCol w="658103"/>
                <a:gridCol w="658103"/>
                <a:gridCol w="658103"/>
                <a:gridCol w="658103"/>
                <a:gridCol w="658103"/>
                <a:gridCol w="658103"/>
                <a:gridCol w="658103"/>
                <a:gridCol w="658103"/>
                <a:gridCol w="65810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Principal Material / Barrier Technology, highlighting acceleration…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5" cy="2590803"/>
        </p:xfrm>
        <a:graphic>
          <a:graphicData uri="http://schemas.openxmlformats.org/drawingml/2006/table">
            <a:tbl>
              <a:tblPr>
                <a:tableStyleId>{5C22544A-7EE6-4342-B048-85BDC9FD1C3A}</a:tableStyleId>
              </a:tblPr>
              <a:tblGrid>
                <a:gridCol w="2614787"/>
                <a:gridCol w="607614"/>
                <a:gridCol w="607614"/>
                <a:gridCol w="607614"/>
                <a:gridCol w="607614"/>
                <a:gridCol w="607614"/>
                <a:gridCol w="607614"/>
                <a:gridCol w="607614"/>
                <a:gridCol w="607614"/>
                <a:gridCol w="607614"/>
                <a:gridCol w="607614"/>
                <a:gridCol w="607614"/>
                <a:gridCol w="686713"/>
                <a:gridCol w="686713"/>
                <a:gridCol w="607614"/>
                <a:gridCol w="607614"/>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198" cy="1514475"/>
        </p:xfrm>
        <a:graphic>
          <a:graphicData uri="http://schemas.openxmlformats.org/drawingml/2006/table">
            <a:tbl>
              <a:tblPr>
                <a:tableStyleId>{5C22544A-7EE6-4342-B048-85BDC9FD1C3A}</a:tableStyleId>
              </a:tblPr>
              <a:tblGrid>
                <a:gridCol w="2546995"/>
                <a:gridCol w="591861"/>
                <a:gridCol w="591861"/>
                <a:gridCol w="591861"/>
                <a:gridCol w="591861"/>
                <a:gridCol w="668909"/>
                <a:gridCol w="591861"/>
                <a:gridCol w="591861"/>
                <a:gridCol w="591861"/>
                <a:gridCol w="591861"/>
                <a:gridCol w="591861"/>
                <a:gridCol w="668909"/>
                <a:gridCol w="668909"/>
                <a:gridCol w="668909"/>
                <a:gridCol w="668909"/>
                <a:gridCol w="668909"/>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Principal Material / Barrier Technology, highlighting acceleration…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8" cy="1295400"/>
        </p:xfrm>
        <a:graphic>
          <a:graphicData uri="http://schemas.openxmlformats.org/drawingml/2006/table">
            <a:tbl>
              <a:tblPr>
                <a:tableStyleId>{5C22544A-7EE6-4342-B048-85BDC9FD1C3A}</a:tableStyleId>
              </a:tblPr>
              <a:tblGrid>
                <a:gridCol w="2546995"/>
                <a:gridCol w="591861"/>
                <a:gridCol w="591861"/>
                <a:gridCol w="591861"/>
                <a:gridCol w="591861"/>
                <a:gridCol w="591861"/>
                <a:gridCol w="591861"/>
                <a:gridCol w="591861"/>
                <a:gridCol w="591861"/>
                <a:gridCol w="591861"/>
                <a:gridCol w="668909"/>
                <a:gridCol w="668909"/>
                <a:gridCol w="668909"/>
                <a:gridCol w="668909"/>
                <a:gridCol w="668909"/>
                <a:gridCol w="668909"/>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352894"/>
                <a:gridCol w="566759"/>
                <a:gridCol w="640539"/>
                <a:gridCol w="640539"/>
                <a:gridCol w="640539"/>
                <a:gridCol w="640539"/>
                <a:gridCol w="640539"/>
                <a:gridCol w="640539"/>
                <a:gridCol w="640539"/>
                <a:gridCol w="640539"/>
                <a:gridCol w="640539"/>
                <a:gridCol w="640539"/>
                <a:gridCol w="640539"/>
                <a:gridCol w="640539"/>
                <a:gridCol w="640539"/>
                <a:gridCol w="640539"/>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197" cy="1076325"/>
        </p:xfrm>
        <a:graphic>
          <a:graphicData uri="http://schemas.openxmlformats.org/drawingml/2006/table">
            <a:tbl>
              <a:tblPr>
                <a:tableStyleId>{5C22544A-7EE6-4342-B048-85BDC9FD1C3A}</a:tableStyleId>
              </a:tblPr>
              <a:tblGrid>
                <a:gridCol w="1631997"/>
                <a:gridCol w="683680"/>
                <a:gridCol w="683680"/>
                <a:gridCol w="683680"/>
                <a:gridCol w="683680"/>
                <a:gridCol w="683680"/>
                <a:gridCol w="683680"/>
                <a:gridCol w="683680"/>
                <a:gridCol w="683680"/>
                <a:gridCol w="683680"/>
                <a:gridCol w="683680"/>
                <a:gridCol w="683680"/>
                <a:gridCol w="683680"/>
                <a:gridCol w="683680"/>
                <a:gridCol w="683680"/>
                <a:gridCol w="683680"/>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285074"/>
                <a:gridCol w="640142"/>
                <a:gridCol w="640142"/>
                <a:gridCol w="640142"/>
                <a:gridCol w="640142"/>
                <a:gridCol w="640142"/>
                <a:gridCol w="640142"/>
                <a:gridCol w="640142"/>
                <a:gridCol w="640142"/>
                <a:gridCol w="640142"/>
                <a:gridCol w="640142"/>
                <a:gridCol w="640142"/>
                <a:gridCol w="640142"/>
                <a:gridCol w="640142"/>
                <a:gridCol w="640142"/>
                <a:gridCol w="64014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Saudi Arabia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1295400"/>
        </p:xfrm>
        <a:graphic>
          <a:graphicData uri="http://schemas.openxmlformats.org/drawingml/2006/table">
            <a:tbl>
              <a:tblPr>
                <a:tableStyleId>{5C22544A-7EE6-4342-B048-85BDC9FD1C3A}</a:tableStyleId>
              </a:tblPr>
              <a:tblGrid>
                <a:gridCol w="1842713"/>
                <a:gridCol w="669632"/>
                <a:gridCol w="669632"/>
                <a:gridCol w="669632"/>
                <a:gridCol w="669632"/>
                <a:gridCol w="669632"/>
                <a:gridCol w="669632"/>
                <a:gridCol w="669632"/>
                <a:gridCol w="669632"/>
                <a:gridCol w="669632"/>
                <a:gridCol w="669632"/>
                <a:gridCol w="669632"/>
                <a:gridCol w="669632"/>
                <a:gridCol w="669632"/>
                <a:gridCol w="669632"/>
                <a:gridCol w="669632"/>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Turkey</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Turkey market in volume: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597.6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1,219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-14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Turkey's flexible plastic packaging market expands at 6.8% CAGR through 2036, trailing the Middle East &amp; Africa benchmark of 6.9% by 14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Turkey holds 26.7% of the Middle East &amp; Africa flexible plastic packaging market in 2026; by 2036 that share moves to 26.3%.</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584.8 Thousand MT between 2026 and 2036 the Turkey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Turkey market in value: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1,629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3,807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6.0%</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8.1%</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-13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Turkey's flexible plastic packaging market expands at 8.1% CAGR through 2036, trailing the Middle East &amp; Africa benchmark of 8.3% by 13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Turkey holds 24.5% of the Middle East &amp; Africa flexible plastic packaging market in 2026; by 2036 that share moves to 24.2%.</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Turkey is expected to account for US$ 3,807 Mn by 2036 at a CAGR of 8.1% over the forecast period. Turkey is expected to create an incremental opportunity of US$ 2,178 Mn for the overall flexible plastic packaging market from 2025 to 2036. Turkey grows at 8.1% in value and 6.8% in volume because its large food processing and export industry, strong domestic converting capacity and a young, urbanising population drive packaged food demand. Average price rises from US$2,749 to US$3,123 per MT, reflecting inflationary input costs and a mix shift toward barrier and pouch formats, which pushes value ahead of volume.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Turkey's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1,743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905.7 US$ Mn (52% share), ahead of 'Premade Pouches &amp; Bags' (517.3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538.3 US$ Mn (31% share), ahead of 'PP-Based' (346.7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503.5 US$ Mn (29% share), ahead of 'Laminated Films' (419.6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'High-Barrier Films' leads at 581.6 US$ Mn (33% share), ahead of 'Medium-Barrier Films' (546.2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1,460 US$ Mn (84% share), ahead of 'Non-Food Packaging' (283.1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'High-Barrier Films' leads at 581.6 US$ Mn (33% share), ahead of 'Medium-Barrier Films' (546.2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42241"/>
                <a:gridCol w="612368"/>
                <a:gridCol w="612368"/>
                <a:gridCol w="612368"/>
                <a:gridCol w="612368"/>
                <a:gridCol w="612368"/>
                <a:gridCol w="612368"/>
                <a:gridCol w="612368"/>
                <a:gridCol w="612368"/>
                <a:gridCol w="612368"/>
                <a:gridCol w="612368"/>
                <a:gridCol w="612368"/>
                <a:gridCol w="692086"/>
                <a:gridCol w="692086"/>
                <a:gridCol w="612368"/>
                <a:gridCol w="612368"/>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197" cy="1076325"/>
        </p:xfrm>
        <a:graphic>
          <a:graphicData uri="http://schemas.openxmlformats.org/drawingml/2006/table">
            <a:tbl>
              <a:tblPr>
                <a:tableStyleId>{5C22544A-7EE6-4342-B048-85BDC9FD1C3A}</a:tableStyleId>
              </a:tblPr>
              <a:tblGrid>
                <a:gridCol w="1631997"/>
                <a:gridCol w="683680"/>
                <a:gridCol w="683680"/>
                <a:gridCol w="683680"/>
                <a:gridCol w="683680"/>
                <a:gridCol w="683680"/>
                <a:gridCol w="683680"/>
                <a:gridCol w="683680"/>
                <a:gridCol w="683680"/>
                <a:gridCol w="683680"/>
                <a:gridCol w="683680"/>
                <a:gridCol w="683680"/>
                <a:gridCol w="683680"/>
                <a:gridCol w="683680"/>
                <a:gridCol w="683680"/>
                <a:gridCol w="683680"/>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Turkey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193" cy="1724024"/>
        </p:xfrm>
        <a:graphic>
          <a:graphicData uri="http://schemas.openxmlformats.org/drawingml/2006/table">
            <a:tbl>
              <a:tblPr>
                <a:tableStyleId>{5C22544A-7EE6-4342-B048-85BDC9FD1C3A}</a:tableStyleId>
              </a:tblPr>
              <a:tblGrid>
                <a:gridCol w="1842713"/>
                <a:gridCol w="669632"/>
                <a:gridCol w="669632"/>
                <a:gridCol w="669632"/>
                <a:gridCol w="669632"/>
                <a:gridCol w="669632"/>
                <a:gridCol w="669632"/>
                <a:gridCol w="669632"/>
                <a:gridCol w="669632"/>
                <a:gridCol w="669632"/>
                <a:gridCol w="669632"/>
                <a:gridCol w="669632"/>
                <a:gridCol w="669632"/>
                <a:gridCol w="669632"/>
                <a:gridCol w="669632"/>
                <a:gridCol w="669632"/>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1295400"/>
        </p:xfrm>
        <a:graphic>
          <a:graphicData uri="http://schemas.openxmlformats.org/drawingml/2006/table">
            <a:tbl>
              <a:tblPr>
                <a:tableStyleId>{5C22544A-7EE6-4342-B048-85BDC9FD1C3A}</a:tableStyleId>
              </a:tblPr>
              <a:tblGrid>
                <a:gridCol w="1842713"/>
                <a:gridCol w="669632"/>
                <a:gridCol w="669632"/>
                <a:gridCol w="669632"/>
                <a:gridCol w="669632"/>
                <a:gridCol w="669632"/>
                <a:gridCol w="669632"/>
                <a:gridCol w="669632"/>
                <a:gridCol w="669632"/>
                <a:gridCol w="669632"/>
                <a:gridCol w="669632"/>
                <a:gridCol w="669632"/>
                <a:gridCol w="669632"/>
                <a:gridCol w="669632"/>
                <a:gridCol w="669632"/>
                <a:gridCol w="669632"/>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Israel</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Israel market in volume: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157.7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272.3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-178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Israel's flexible plastic packaging market expands at 5.1% CAGR through 2036, trailing the Middle East &amp; Africa benchmark of 6.9% by 178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Israel holds 7.0% of the Middle East &amp; Africa flexible plastic packaging market in 2026; by 2036 that share moves to 5.9%.</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107.0 Thousand MT between 2026 and 2036 the Israel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Israel market in value: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532.0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1,038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4.9%</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-192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Israel's flexible plastic packaging market expands at 6.3% CAGR through 2036, trailing the Middle East &amp; Africa benchmark of 8.3% by 192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Israel holds 7.9% of the Middle East &amp; Africa flexible plastic packaging market in 2026; by 2036 that share moves to 6.6%.</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Israel is expected to account for US$ 1,038 Mn by 2036 at a CAGR of 6.3% over the forecast period. Israel is expected to create an incremental opportunity of US$ 506.2 Mn for the overall flexible plastic packaging market from 2025 to 2036. Israel grows 6.3% in value and 5.1% in volume because a small, affluent, import-reliant food market needs long shelf life, while a strong food-technology and pharma sector supports specialised barrier and medical packaging. Limited domestic scale restrains tonnage, but average price rises from US$3,399 to US$3,813 per MT as demand tilts to premium, high-barrier formats.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Israel's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561.7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313.2 US$ Mn (56% share), ahead of 'Premade Pouches &amp; Bags' (152.0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172.2 US$ Mn (31% share), ahead of 'PP-Based' (109.5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165.1 US$ Mn (29% share), ahead of 'Laminated Films' (144.8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'High-Barrier Films' leads at 184.6 US$ Mn (33% share), ahead of 'Medium-Barrier Films' (176.8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467.4 US$ Mn (83% share), ahead of 'Non-Food Packaging' (94.4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'High-Barrier Films' leads at 184.6 US$ Mn (33% share), ahead of 'Medium-Barrier Films' (176.8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Israel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GCC</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GCC market in volume: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225.0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483.0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+39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GCC's flexible plastic packaging market expands at 7.3% CAGR through 2036, outpacing the Middle East &amp; Africa benchmark of 6.9% by 39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GCC holds 10.1% of the Middle East &amp; Africa flexible plastic packaging market in 2026; by 2036 that share moves to 10.4%.</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243.9 Thousand MT between 2026 and 2036 the Rest of GCC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GCC market in value: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664.9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1,654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6.3%</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8.8%</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+53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Rest of GCC's flexible plastic packaging market expands at 8.8% CAGR through 2036, outpacing the Middle East &amp; Africa benchmark of 8.3% by 53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GCC holds 10.0% of the Middle East &amp; Africa flexible plastic packaging market in 2026; by 2036 that share moves to 10.5%.</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GCC is expected to account for US$ 1,654 Mn by 2036 at a CAGR of 8.8% over the forecast period. Rest of GCC is expected to create an incremental opportunity of US$ 988.7 Mn for the overall flexible plastic packaging market from 2025 to 2036. Rest of GCC grows fastest at 8.8% in value and 7.3% in volume, above the 8.3% regional average, because Kuwait, Qatar, Oman and Bahrain are investing in food security, local food processing and retail expansion. Population growth and import substitution add demand for flexible packs, while rising adoption of high-barrier formats lifts average price from US$ 2,980 to US$ 3,424 per MT.</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GCC's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712.5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385.1 US$ Mn (54% share), ahead of 'Premade Pouches &amp; Bags' (198.8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221.5 US$ Mn (31% share), ahead of 'PP-Based' (142.2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204.4 US$ Mn (29% share), ahead of 'Laminated Films' (183.1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246.7 US$ Mn (35% share), ahead of 'High-Barrier Films' (225.8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601.2 US$ Mn (84% share), ahead of 'Non-Food Packaging' (111.3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246.7 US$ Mn (35% share), ahead of 'High-Barrier Films' (225.8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4524385"/>
        </p:xfrm>
        <a:graphic>
          <a:graphicData uri="http://schemas.openxmlformats.org/drawingml/2006/table">
            <a:tbl>
              <a:tblPr>
                <a:tableStyleId>{5C22544A-7EE6-4342-B048-85BDC9FD1C3A}</a:tableStyleId>
              </a:tblPr>
              <a:tblGrid>
                <a:gridCol w="2015655"/>
                <a:gridCol w="658103"/>
                <a:gridCol w="658103"/>
                <a:gridCol w="658103"/>
                <a:gridCol w="658103"/>
                <a:gridCol w="658103"/>
                <a:gridCol w="658103"/>
                <a:gridCol w="658103"/>
                <a:gridCol w="658103"/>
                <a:gridCol w="658103"/>
                <a:gridCol w="658103"/>
                <a:gridCol w="658103"/>
                <a:gridCol w="658103"/>
                <a:gridCol w="658103"/>
                <a:gridCol w="658103"/>
                <a:gridCol w="65810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1295400"/>
        </p:xfrm>
        <a:graphic>
          <a:graphicData uri="http://schemas.openxmlformats.org/drawingml/2006/table">
            <a:tbl>
              <a:tblPr>
                <a:tableStyleId>{5C22544A-7EE6-4342-B048-85BDC9FD1C3A}</a:tableStyleId>
              </a:tblPr>
              <a:tblGrid>
                <a:gridCol w="2563612"/>
                <a:gridCol w="595722"/>
                <a:gridCol w="595722"/>
                <a:gridCol w="595722"/>
                <a:gridCol w="595722"/>
                <a:gridCol w="595722"/>
                <a:gridCol w="595722"/>
                <a:gridCol w="595722"/>
                <a:gridCol w="595722"/>
                <a:gridCol w="595722"/>
                <a:gridCol w="595722"/>
                <a:gridCol w="673273"/>
                <a:gridCol w="673273"/>
                <a:gridCol w="673273"/>
                <a:gridCol w="673273"/>
                <a:gridCol w="673273"/>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492104"/>
                <a:gridCol w="600291"/>
                <a:gridCol w="600291"/>
                <a:gridCol w="600291"/>
                <a:gridCol w="600291"/>
                <a:gridCol w="600291"/>
                <a:gridCol w="600291"/>
                <a:gridCol w="600291"/>
                <a:gridCol w="600291"/>
                <a:gridCol w="600291"/>
                <a:gridCol w="678437"/>
                <a:gridCol w="678437"/>
                <a:gridCol w="678437"/>
                <a:gridCol w="678437"/>
                <a:gridCol w="678437"/>
                <a:gridCol w="600291"/>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GCC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South Africa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Africa market in volume: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256.9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513.2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-33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South Africa's flexible plastic packaging market expands at 6.6% CAGR through 2036, trailing the Middle East &amp; Africa benchmark of 6.9% by 33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Africa holds 11.4% of the Middle East &amp; Africa flexible plastic packaging market in 2026; by 2036 that share moves to 11.1%.</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241.6 Thousand MT between 2026 and 2036 the South Africa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Africa market in value: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797.9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1,846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5.8%</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8.0%</a:t>
            </a:r>
          </a:p>
        </p:txBody>
      </p:sp>
      <p:sp>
        <p:nvSpPr>
          <p:cNvPr id="15" name="Rounded Rectangle 14"/>
          <p:cNvSpPr/>
          <p:nvPr/>
        </p:nvSpPr>
        <p:spPr>
          <a:xfrm>
            <a:off x="142875" y="16573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(US$ Mn), 2021–2036</a:t>
            </a:r>
          </a:p>
        </p:txBody>
      </p:sp>
      <p:graphicFrame>
        <p:nvGraphicFramePr>
          <p:cNvPr id="17" name="Chart 16"/>
          <p:cNvGraphicFramePr>
            <a:graphicFrameLocks noGrp="1"/>
          </p:cNvGraphicFramePr>
          <p:nvPr/>
        </p:nvGraphicFramePr>
        <p:xfrm>
          <a:off x="238125" y="1943100"/>
          <a:ext cx="4505325" cy="1162050"/>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162050"/>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-21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361950"/>
          </a:xfrm>
          <a:prstGeom prst="rect">
            <a:avLst/>
          </a:prstGeom>
          <a:noFill/>
        </p:spPr>
        <p:txBody>
          <a:bodyPr wrap="square" lIns="28575" rIns="28575" tIns="9525" bIns="9525" anchor="t">
            <a:spAutoFit/>
          </a:bodyPr>
          <a:lstStyle/>
          <a:p>
            <a:pPr algn="l"/>
            <a:r>
              <a:rPr sz="1100" b="0">
                <a:solidFill>
                  <a:srgbClr val="2E2E2E"/>
                </a:solidFill>
                <a:latin typeface="Calibri"/>
              </a:rPr>
              <a:t>South Africa's flexible plastic packaging market expands at 8.0% CAGR through 2036, trailing the Middle East &amp; Africa benchmark of 8.3% by 21 BPS.</a:t>
            </a:r>
          </a:p>
        </p:txBody>
      </p:sp>
      <p:sp>
        <p:nvSpPr>
          <p:cNvPr id="23" name="Rounded Rectangle 22"/>
          <p:cNvSpPr/>
          <p:nvPr/>
        </p:nvSpPr>
        <p:spPr>
          <a:xfrm>
            <a:off x="142875" y="32956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3528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581400"/>
          <a:ext cx="4505325" cy="1162050"/>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2956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3528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Market Share, 2026</a:t>
            </a:r>
          </a:p>
        </p:txBody>
      </p:sp>
      <p:graphicFrame>
        <p:nvGraphicFramePr>
          <p:cNvPr id="28" name="Chart 27"/>
          <p:cNvGraphicFramePr>
            <a:graphicFrameLocks noGrp="1"/>
          </p:cNvGraphicFramePr>
          <p:nvPr/>
        </p:nvGraphicFramePr>
        <p:xfrm>
          <a:off x="5086350" y="3581400"/>
          <a:ext cx="6858000" cy="1162050"/>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Africa holds 12.0% of the Middle East &amp; Africa flexible plastic packaging market in 2026; by 2036 that share moves to 11.7%.</a:t>
            </a:r>
          </a:p>
        </p:txBody>
      </p:sp>
      <p:sp>
        <p:nvSpPr>
          <p:cNvPr id="30" name="Rounded Rectangle 29"/>
          <p:cNvSpPr/>
          <p:nvPr/>
        </p:nvSpPr>
        <p:spPr>
          <a:xfrm>
            <a:off x="6172200"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South Africa is expected to account for US$ 1,846 Mn by 2036 at a CAGR of 8.0% over the forecast period. South Africa is expected to create an incremental opportunity of US$ 1,048 Mn for the overall flexible plastic packaging market from 2025 to 2036. South Africa grows at 8.0% in value and 6.6% in volume as urban retail expansion, rising packaged-food and protein consumption and export fruit and processed food keep demand for flexible packaging firm, up from 5.8% value growth in 2021-25. The value-volume gap reflects price and mix, with the average price rising from US$3,134 to US$3,597 per MT on barrier mix and resin cost pass-through.</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South Africa's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851.3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456.1 US$ Mn (54% share), ahead of 'Premade Pouches &amp; Bags' (241.8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280.2 US$ Mn (33% share), ahead of 'PP-Based' (162.8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245.1 US$ Mn (29% share), ahead of 'Laminated Films' (218.4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294.9 US$ Mn (35% share), ahead of 'High-Barrier Films' (269.1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708.0 US$ Mn (83% share), ahead of 'Non-Food Packaging' (143.3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294.9 US$ Mn (35% share), ahead of 'High-Barrier Films' (269.1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Principal Material / Barrier Technology, highlighting acceleration…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Principal Material / Barrier Technology, highlighting acceleration…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Africa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MEA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MEA market in volume: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294.6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645.7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+63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MEA's flexible plastic packaging market expands at 7.5% CAGR through 2036, outpacing the Middle East &amp; Africa benchmark of 6.9% by 63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MEA holds 13.1% of the Middle East &amp; Africa flexible plastic packaging market in 2026; by 2036 that share moves to 13.9%.</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333.3 Thousand MT between 2026 and 2036 the Rest of MEA market grows to 2.1×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MEA market in value: size, growth, YoY momentum and gap to the Middle East &amp; Africa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930.9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2,324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6.0%</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8.8%</a:t>
            </a:r>
          </a:p>
        </p:txBody>
      </p:sp>
      <p:sp>
        <p:nvSpPr>
          <p:cNvPr id="15" name="Rounded Rectangle 14"/>
          <p:cNvSpPr/>
          <p:nvPr/>
        </p:nvSpPr>
        <p:spPr>
          <a:xfrm>
            <a:off x="142875" y="16573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(US$ Mn), 2021–2036</a:t>
            </a:r>
          </a:p>
        </p:txBody>
      </p:sp>
      <p:graphicFrame>
        <p:nvGraphicFramePr>
          <p:cNvPr id="17" name="Chart 16"/>
          <p:cNvGraphicFramePr>
            <a:graphicFrameLocks noGrp="1"/>
          </p:cNvGraphicFramePr>
          <p:nvPr/>
        </p:nvGraphicFramePr>
        <p:xfrm>
          <a:off x="238125" y="1943100"/>
          <a:ext cx="4505325" cy="1162050"/>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162050"/>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+59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361950"/>
          </a:xfrm>
          <a:prstGeom prst="rect">
            <a:avLst/>
          </a:prstGeom>
          <a:noFill/>
        </p:spPr>
        <p:txBody>
          <a:bodyPr wrap="square" lIns="28575" rIns="28575" tIns="9525" bIns="9525" anchor="t">
            <a:spAutoFit/>
          </a:bodyPr>
          <a:lstStyle/>
          <a:p>
            <a:pPr algn="l"/>
            <a:r>
              <a:rPr sz="1100" b="0">
                <a:solidFill>
                  <a:srgbClr val="2E2E2E"/>
                </a:solidFill>
                <a:latin typeface="Calibri"/>
              </a:rPr>
              <a:t>Rest of MEA's flexible plastic packaging market expands at 8.8% CAGR through 2036, outpacing the Middle East &amp; Africa benchmark of 8.3% by 59 BPS.</a:t>
            </a:r>
          </a:p>
        </p:txBody>
      </p:sp>
      <p:sp>
        <p:nvSpPr>
          <p:cNvPr id="23" name="Rounded Rectangle 22"/>
          <p:cNvSpPr/>
          <p:nvPr/>
        </p:nvSpPr>
        <p:spPr>
          <a:xfrm>
            <a:off x="142875" y="32956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3528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581400"/>
          <a:ext cx="4505325" cy="1162050"/>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2956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3528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Market Share, 2026</a:t>
            </a:r>
          </a:p>
        </p:txBody>
      </p:sp>
      <p:graphicFrame>
        <p:nvGraphicFramePr>
          <p:cNvPr id="28" name="Chart 27"/>
          <p:cNvGraphicFramePr>
            <a:graphicFrameLocks noGrp="1"/>
          </p:cNvGraphicFramePr>
          <p:nvPr/>
        </p:nvGraphicFramePr>
        <p:xfrm>
          <a:off x="5086350" y="3581400"/>
          <a:ext cx="6858000" cy="1162050"/>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MEA holds 14.0% of the Middle East &amp; Africa flexible plastic packaging market in 2026; by 2036 that share moves to 14.8%.</a:t>
            </a:r>
          </a:p>
        </p:txBody>
      </p:sp>
      <p:sp>
        <p:nvSpPr>
          <p:cNvPr id="30" name="Rounded Rectangle 29"/>
          <p:cNvSpPr/>
          <p:nvPr/>
        </p:nvSpPr>
        <p:spPr>
          <a:xfrm>
            <a:off x="6172200"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MEA is expected to account for US$ 2,324 Mn by 2036 at a CAGR of 8.8% over the forecast period. Rest of MEA is expected to create an incremental opportunity of US$ 1,393 Mn for the overall flexible plastic packaging market from 2025 to 2036. Rest of MEA grows at 8.8% in value and 7.5% in volume because rapid population growth, urbanisation, rising incomes and the spread of modern retail raise packaged food consumption from a low base. Sachets and pouches suit affordable single-serve buying. Average price rises from US$3,187 to US$3,599 per MT, as imported resin costs and a mix toward barrier films push value ahead of volume.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MEA's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995.5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539.3 US$ Mn (54% share), ahead of 'Premade Pouches &amp; Bags' (284.9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315.1 US$ Mn (32% share), ahead of 'PP-Based' (203.7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306.4 US$ Mn (31% share), ahead of 'Laminated Films' (232.3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342.8 US$ Mn (34% share), ahead of 'High-Barrier Films' (302.1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842.1 US$ Mn (85% share), ahead of 'Non-Food Packaging' (153.5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342.8 US$ Mn (34% share), ahead of 'High-Barrier Films' (302.1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4524385"/>
        </p:xfrm>
        <a:graphic>
          <a:graphicData uri="http://schemas.openxmlformats.org/drawingml/2006/table">
            <a:tbl>
              <a:tblPr>
                <a:tableStyleId>{5C22544A-7EE6-4342-B048-85BDC9FD1C3A}</a:tableStyleId>
              </a:tblPr>
              <a:tblGrid>
                <a:gridCol w="2015655"/>
                <a:gridCol w="658103"/>
                <a:gridCol w="658103"/>
                <a:gridCol w="658103"/>
                <a:gridCol w="658103"/>
                <a:gridCol w="658103"/>
                <a:gridCol w="658103"/>
                <a:gridCol w="658103"/>
                <a:gridCol w="658103"/>
                <a:gridCol w="658103"/>
                <a:gridCol w="658103"/>
                <a:gridCol w="658103"/>
                <a:gridCol w="658103"/>
                <a:gridCol w="658103"/>
                <a:gridCol w="658103"/>
                <a:gridCol w="65810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197" cy="1514475"/>
        </p:xfrm>
        <a:graphic>
          <a:graphicData uri="http://schemas.openxmlformats.org/drawingml/2006/table">
            <a:tbl>
              <a:tblPr>
                <a:tableStyleId>{5C22544A-7EE6-4342-B048-85BDC9FD1C3A}</a:tableStyleId>
              </a:tblPr>
              <a:tblGrid>
                <a:gridCol w="2563612"/>
                <a:gridCol w="595722"/>
                <a:gridCol w="595722"/>
                <a:gridCol w="595722"/>
                <a:gridCol w="595722"/>
                <a:gridCol w="595722"/>
                <a:gridCol w="595722"/>
                <a:gridCol w="595722"/>
                <a:gridCol w="595722"/>
                <a:gridCol w="595722"/>
                <a:gridCol w="595722"/>
                <a:gridCol w="673273"/>
                <a:gridCol w="673273"/>
                <a:gridCol w="673273"/>
                <a:gridCol w="673273"/>
                <a:gridCol w="673273"/>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42241"/>
                <a:gridCol w="612368"/>
                <a:gridCol w="612368"/>
                <a:gridCol w="612368"/>
                <a:gridCol w="612368"/>
                <a:gridCol w="612368"/>
                <a:gridCol w="612368"/>
                <a:gridCol w="612368"/>
                <a:gridCol w="612368"/>
                <a:gridCol w="612368"/>
                <a:gridCol w="612368"/>
                <a:gridCol w="612368"/>
                <a:gridCol w="692086"/>
                <a:gridCol w="692086"/>
                <a:gridCol w="612368"/>
                <a:gridCol w="612368"/>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5" cy="3667121"/>
        </p:xfrm>
        <a:graphic>
          <a:graphicData uri="http://schemas.openxmlformats.org/drawingml/2006/table">
            <a:tbl>
              <a:tblPr>
                <a:tableStyleId>{5C22544A-7EE6-4342-B048-85BDC9FD1C3A}</a:tableStyleId>
              </a:tblPr>
              <a:tblGrid>
                <a:gridCol w="2459763"/>
                <a:gridCol w="592501"/>
                <a:gridCol w="592501"/>
                <a:gridCol w="592501"/>
                <a:gridCol w="592501"/>
                <a:gridCol w="592501"/>
                <a:gridCol w="592501"/>
                <a:gridCol w="592501"/>
                <a:gridCol w="592501"/>
                <a:gridCol w="669632"/>
                <a:gridCol w="669632"/>
                <a:gridCol w="669632"/>
                <a:gridCol w="669632"/>
                <a:gridCol w="669632"/>
                <a:gridCol w="669632"/>
                <a:gridCol w="66963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197" cy="1076325"/>
        </p:xfrm>
        <a:graphic>
          <a:graphicData uri="http://schemas.openxmlformats.org/drawingml/2006/table">
            <a:tbl>
              <a:tblPr>
                <a:tableStyleId>{5C22544A-7EE6-4342-B048-85BDC9FD1C3A}</a:tableStyleId>
              </a:tblPr>
              <a:tblGrid>
                <a:gridCol w="1631997"/>
                <a:gridCol w="683680"/>
                <a:gridCol w="683680"/>
                <a:gridCol w="683680"/>
                <a:gridCol w="683680"/>
                <a:gridCol w="683680"/>
                <a:gridCol w="683680"/>
                <a:gridCol w="683680"/>
                <a:gridCol w="683680"/>
                <a:gridCol w="683680"/>
                <a:gridCol w="683680"/>
                <a:gridCol w="683680"/>
                <a:gridCol w="683680"/>
                <a:gridCol w="683680"/>
                <a:gridCol w="683680"/>
                <a:gridCol w="683680"/>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285074"/>
                <a:gridCol w="640142"/>
                <a:gridCol w="640142"/>
                <a:gridCol w="640142"/>
                <a:gridCol w="640142"/>
                <a:gridCol w="640142"/>
                <a:gridCol w="640142"/>
                <a:gridCol w="640142"/>
                <a:gridCol w="640142"/>
                <a:gridCol w="640142"/>
                <a:gridCol w="640142"/>
                <a:gridCol w="640142"/>
                <a:gridCol w="640142"/>
                <a:gridCol w="640142"/>
                <a:gridCol w="640142"/>
                <a:gridCol w="64014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MEA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193" cy="1724024"/>
        </p:xfrm>
        <a:graphic>
          <a:graphicData uri="http://schemas.openxmlformats.org/drawingml/2006/table">
            <a:tbl>
              <a:tblPr>
                <a:tableStyleId>{5C22544A-7EE6-4342-B048-85BDC9FD1C3A}</a:tableStyleId>
              </a:tblPr>
              <a:tblGrid>
                <a:gridCol w="1842713"/>
                <a:gridCol w="669632"/>
                <a:gridCol w="669632"/>
                <a:gridCol w="669632"/>
                <a:gridCol w="669632"/>
                <a:gridCol w="669632"/>
                <a:gridCol w="669632"/>
                <a:gridCol w="669632"/>
                <a:gridCol w="669632"/>
                <a:gridCol w="669632"/>
                <a:gridCol w="669632"/>
                <a:gridCol w="669632"/>
                <a:gridCol w="669632"/>
                <a:gridCol w="669632"/>
                <a:gridCol w="669632"/>
                <a:gridCol w="669632"/>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1295400"/>
        </p:xfrm>
        <a:graphic>
          <a:graphicData uri="http://schemas.openxmlformats.org/drawingml/2006/table">
            <a:tbl>
              <a:tblPr>
                <a:tableStyleId>{5C22544A-7EE6-4342-B048-85BDC9FD1C3A}</a:tableStyleId>
              </a:tblPr>
              <a:tblGrid>
                <a:gridCol w="1842713"/>
                <a:gridCol w="669632"/>
                <a:gridCol w="669632"/>
                <a:gridCol w="669632"/>
                <a:gridCol w="669632"/>
                <a:gridCol w="669632"/>
                <a:gridCol w="669632"/>
                <a:gridCol w="669632"/>
                <a:gridCol w="669632"/>
                <a:gridCol w="669632"/>
                <a:gridCol w="669632"/>
                <a:gridCol w="669632"/>
                <a:gridCol w="669632"/>
                <a:gridCol w="669632"/>
                <a:gridCol w="669632"/>
                <a:gridCol w="669632"/>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Middle East &amp; Africa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Product Pricing &amp;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111919" y="3471051"/>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2167.8</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3648.3</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5128.9</a:t>
            </a:r>
          </a:p>
        </p:txBody>
      </p:sp>
      <p:cxnSp>
        <p:nvCxnSpPr>
          <p:cNvPr id="16" name="Connector 15"/>
          <p:cNvCxnSpPr/>
          <p:nvPr/>
        </p:nvCxnSpPr>
        <p:spPr>
          <a:xfrm>
            <a:off x="1533525" y="2769879"/>
            <a:ext cx="0" cy="29686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314450" y="2769879"/>
            <a:ext cx="438150" cy="29686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61747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3417.0</a:t>
            </a:r>
          </a:p>
        </p:txBody>
      </p:sp>
      <p:sp>
        <p:nvSpPr>
          <p:cNvPr id="19" name="TextBox 18"/>
          <p:cNvSpPr txBox="1"/>
          <p:nvPr/>
        </p:nvSpPr>
        <p:spPr>
          <a:xfrm>
            <a:off x="6572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cxnSp>
        <p:nvCxnSpPr>
          <p:cNvPr id="20" name="Connector 19"/>
          <p:cNvCxnSpPr/>
          <p:nvPr/>
        </p:nvCxnSpPr>
        <p:spPr>
          <a:xfrm>
            <a:off x="3286125" y="1927636"/>
            <a:ext cx="0" cy="37229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067050" y="1927636"/>
            <a:ext cx="438150" cy="372299"/>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409825" y="17752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4787.2</a:t>
            </a:r>
          </a:p>
        </p:txBody>
      </p:sp>
      <p:sp>
        <p:nvSpPr>
          <p:cNvPr id="23" name="TextBox 22"/>
          <p:cNvSpPr txBox="1"/>
          <p:nvPr/>
        </p:nvSpPr>
        <p:spPr>
          <a:xfrm>
            <a:off x="24098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cxnSp>
        <p:nvCxnSpPr>
          <p:cNvPr id="24" name="Connector 23"/>
          <p:cNvCxnSpPr/>
          <p:nvPr/>
        </p:nvCxnSpPr>
        <p:spPr>
          <a:xfrm>
            <a:off x="5038725" y="2954387"/>
            <a:ext cx="0" cy="259947"/>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4819650" y="2954387"/>
            <a:ext cx="438150" cy="259946"/>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4162425" y="2801987"/>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3116.8</a:t>
            </a:r>
          </a:p>
        </p:txBody>
      </p:sp>
      <p:sp>
        <p:nvSpPr>
          <p:cNvPr id="27" name="TextBox 26"/>
          <p:cNvSpPr txBox="1"/>
          <p:nvPr/>
        </p:nvSpPr>
        <p:spPr>
          <a:xfrm>
            <a:off x="41624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cxnSp>
        <p:nvCxnSpPr>
          <p:cNvPr id="28" name="Connector 27"/>
          <p:cNvCxnSpPr/>
          <p:nvPr/>
        </p:nvCxnSpPr>
        <p:spPr>
          <a:xfrm>
            <a:off x="6791325" y="3050266"/>
            <a:ext cx="0" cy="27744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6572250" y="3050266"/>
            <a:ext cx="438150" cy="277448"/>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5915025" y="289786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2960.8</a:t>
            </a:r>
          </a:p>
        </p:txBody>
      </p:sp>
      <p:sp>
        <p:nvSpPr>
          <p:cNvPr id="31" name="TextBox 30"/>
          <p:cNvSpPr txBox="1"/>
          <p:nvPr/>
        </p:nvSpPr>
        <p:spPr>
          <a:xfrm>
            <a:off x="59150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32" name="Rounded Rectangle 31"/>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a:t>
            </a:r>
          </a:p>
        </p:txBody>
      </p:sp>
      <p:cxnSp>
        <p:nvCxnSpPr>
          <p:cNvPr id="34" name="Connector 33"/>
          <p:cNvCxnSpPr/>
          <p:nvPr/>
        </p:nvCxnSpPr>
        <p:spPr>
          <a:xfrm>
            <a:off x="619125" y="452691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914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619125" y="530263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619125" y="569050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619125" y="607836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619125" y="4526914"/>
            <a:ext cx="0" cy="1551447"/>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452691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590550" y="4914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590550" y="53026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590550" y="569050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590550" y="607836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5" name="FMI Scale tick"/>
          <p:cNvSpPr txBox="1"/>
          <p:nvPr/>
        </p:nvSpPr>
        <p:spPr>
          <a:xfrm>
            <a:off x="219075" y="4460239"/>
            <a:ext cx="361950" cy="133350"/>
          </a:xfrm>
          <a:prstGeom prst="rect">
            <a:avLst/>
          </a:prstGeom>
          <a:noFill/>
        </p:spPr>
        <p:txBody>
          <a:bodyPr wrap="none" lIns="0" rIns="0" tIns="0" bIns="0" anchor="ctr">
            <a:spAutoFit/>
          </a:bodyPr>
          <a:lstStyle/>
          <a:p>
            <a:pPr algn="r"/>
            <a:r>
              <a:rPr sz="1100" b="0">
                <a:solidFill>
                  <a:srgbClr val="6C7A89"/>
                </a:solidFill>
                <a:latin typeface="Calibri"/>
              </a:rPr>
              <a:t>+17%</a:t>
            </a:r>
          </a:p>
        </p:txBody>
      </p:sp>
      <p:sp>
        <p:nvSpPr>
          <p:cNvPr id="46" name="FMI Scale tick"/>
          <p:cNvSpPr txBox="1"/>
          <p:nvPr/>
        </p:nvSpPr>
        <p:spPr>
          <a:xfrm>
            <a:off x="219075" y="4848101"/>
            <a:ext cx="361950" cy="133350"/>
          </a:xfrm>
          <a:prstGeom prst="rect">
            <a:avLst/>
          </a:prstGeom>
          <a:noFill/>
        </p:spPr>
        <p:txBody>
          <a:bodyPr wrap="none" lIns="0" rIns="0" tIns="0" bIns="0" anchor="ctr">
            <a:spAutoFit/>
          </a:bodyPr>
          <a:lstStyle/>
          <a:p>
            <a:pPr algn="r"/>
            <a:r>
              <a:rPr sz="1100" b="0">
                <a:solidFill>
                  <a:srgbClr val="6C7A89"/>
                </a:solidFill>
                <a:latin typeface="Calibri"/>
              </a:rPr>
              <a:t>+9%</a:t>
            </a:r>
          </a:p>
        </p:txBody>
      </p:sp>
      <p:sp>
        <p:nvSpPr>
          <p:cNvPr id="47" name="FMI Scale tick"/>
          <p:cNvSpPr txBox="1"/>
          <p:nvPr/>
        </p:nvSpPr>
        <p:spPr>
          <a:xfrm>
            <a:off x="219075" y="523596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tick"/>
          <p:cNvSpPr txBox="1"/>
          <p:nvPr/>
        </p:nvSpPr>
        <p:spPr>
          <a:xfrm>
            <a:off x="219075" y="5623825"/>
            <a:ext cx="361950" cy="133350"/>
          </a:xfrm>
          <a:prstGeom prst="rect">
            <a:avLst/>
          </a:prstGeom>
          <a:noFill/>
        </p:spPr>
        <p:txBody>
          <a:bodyPr wrap="none" lIns="0" rIns="0" tIns="0" bIns="0" anchor="ctr">
            <a:spAutoFit/>
          </a:bodyPr>
          <a:lstStyle/>
          <a:p>
            <a:pPr algn="r"/>
            <a:r>
              <a:rPr sz="1100" b="0">
                <a:solidFill>
                  <a:srgbClr val="6C7A89"/>
                </a:solidFill>
                <a:latin typeface="Calibri"/>
              </a:rPr>
              <a:t>-9%</a:t>
            </a:r>
          </a:p>
        </p:txBody>
      </p:sp>
      <p:sp>
        <p:nvSpPr>
          <p:cNvPr id="49" name="FMI Scale tick"/>
          <p:cNvSpPr txBox="1"/>
          <p:nvPr/>
        </p:nvSpPr>
        <p:spPr>
          <a:xfrm>
            <a:off x="219075" y="6011686"/>
            <a:ext cx="361950" cy="133350"/>
          </a:xfrm>
          <a:prstGeom prst="rect">
            <a:avLst/>
          </a:prstGeom>
          <a:noFill/>
        </p:spPr>
        <p:txBody>
          <a:bodyPr wrap="none" lIns="0" rIns="0" tIns="0" bIns="0" anchor="ctr">
            <a:spAutoFit/>
          </a:bodyPr>
          <a:lstStyle/>
          <a:p>
            <a:pPr algn="r"/>
            <a:r>
              <a:rPr sz="1100" b="0">
                <a:solidFill>
                  <a:srgbClr val="6C7A89"/>
                </a:solidFill>
                <a:latin typeface="Calibri"/>
              </a:rPr>
              <a:t>-17%</a:t>
            </a:r>
          </a:p>
        </p:txBody>
      </p:sp>
      <p:cxnSp>
        <p:nvCxnSpPr>
          <p:cNvPr id="50" name="Connector 49"/>
          <p:cNvCxnSpPr/>
          <p:nvPr/>
        </p:nvCxnSpPr>
        <p:spPr>
          <a:xfrm>
            <a:off x="619125" y="530263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93989" y="4700729"/>
            <a:ext cx="457200" cy="60190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619125" y="4557854"/>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+13.3%</a:t>
            </a:r>
          </a:p>
        </p:txBody>
      </p:sp>
      <p:sp>
        <p:nvSpPr>
          <p:cNvPr id="53" name="Rectangle 52"/>
          <p:cNvSpPr/>
          <p:nvPr/>
        </p:nvSpPr>
        <p:spPr>
          <a:xfrm>
            <a:off x="1900918" y="4680344"/>
            <a:ext cx="457200" cy="62229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1626054" y="4537469"/>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+13.7%</a:t>
            </a:r>
          </a:p>
        </p:txBody>
      </p:sp>
      <p:sp>
        <p:nvSpPr>
          <p:cNvPr id="55" name="Rectangle 54"/>
          <p:cNvSpPr/>
          <p:nvPr/>
        </p:nvSpPr>
        <p:spPr>
          <a:xfrm>
            <a:off x="2907846" y="4685102"/>
            <a:ext cx="457200" cy="61753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2632982" y="4542227"/>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+13.6%</a:t>
            </a:r>
          </a:p>
        </p:txBody>
      </p:sp>
      <p:sp>
        <p:nvSpPr>
          <p:cNvPr id="57" name="Rectangle 56"/>
          <p:cNvSpPr/>
          <p:nvPr/>
        </p:nvSpPr>
        <p:spPr>
          <a:xfrm>
            <a:off x="3914775" y="4750329"/>
            <a:ext cx="457200" cy="55230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MI Data Label"/>
          <p:cNvSpPr txBox="1"/>
          <p:nvPr/>
        </p:nvSpPr>
        <p:spPr>
          <a:xfrm>
            <a:off x="3639911" y="4607454"/>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+12.2%</a:t>
            </a:r>
          </a:p>
        </p:txBody>
      </p:sp>
      <p:sp>
        <p:nvSpPr>
          <p:cNvPr id="59" name="Rectangle 58"/>
          <p:cNvSpPr/>
          <p:nvPr/>
        </p:nvSpPr>
        <p:spPr>
          <a:xfrm>
            <a:off x="4921704" y="4627936"/>
            <a:ext cx="457200" cy="67470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MI Data Label"/>
          <p:cNvSpPr txBox="1"/>
          <p:nvPr/>
        </p:nvSpPr>
        <p:spPr>
          <a:xfrm>
            <a:off x="4646839" y="4485061"/>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+14.9%</a:t>
            </a:r>
          </a:p>
        </p:txBody>
      </p:sp>
      <p:sp>
        <p:nvSpPr>
          <p:cNvPr id="61" name="Rectangle 60"/>
          <p:cNvSpPr/>
          <p:nvPr/>
        </p:nvSpPr>
        <p:spPr>
          <a:xfrm>
            <a:off x="5928632" y="4632468"/>
            <a:ext cx="457200" cy="67017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MI Data Label"/>
          <p:cNvSpPr txBox="1"/>
          <p:nvPr/>
        </p:nvSpPr>
        <p:spPr>
          <a:xfrm>
            <a:off x="5653768" y="4489593"/>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+14.8%</a:t>
            </a:r>
          </a:p>
        </p:txBody>
      </p:sp>
      <p:sp>
        <p:nvSpPr>
          <p:cNvPr id="63" name="Rectangle 62"/>
          <p:cNvSpPr/>
          <p:nvPr/>
        </p:nvSpPr>
        <p:spPr>
          <a:xfrm>
            <a:off x="6935561" y="4715251"/>
            <a:ext cx="457200" cy="58738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MI Data Label"/>
          <p:cNvSpPr txBox="1"/>
          <p:nvPr/>
        </p:nvSpPr>
        <p:spPr>
          <a:xfrm>
            <a:off x="6660696" y="4572376"/>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+12.9%</a:t>
            </a:r>
          </a:p>
        </p:txBody>
      </p:sp>
      <p:sp>
        <p:nvSpPr>
          <p:cNvPr id="65" name="TextBox 64"/>
          <p:cNvSpPr txBox="1"/>
          <p:nvPr/>
        </p:nvSpPr>
        <p:spPr>
          <a:xfrm>
            <a:off x="619125"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UAE</a:t>
            </a:r>
          </a:p>
        </p:txBody>
      </p:sp>
      <p:sp>
        <p:nvSpPr>
          <p:cNvPr id="66" name="TextBox 65"/>
          <p:cNvSpPr txBox="1"/>
          <p:nvPr/>
        </p:nvSpPr>
        <p:spPr>
          <a:xfrm>
            <a:off x="1626054"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Saudi Arabia</a:t>
            </a:r>
          </a:p>
        </p:txBody>
      </p:sp>
      <p:sp>
        <p:nvSpPr>
          <p:cNvPr id="67" name="TextBox 66"/>
          <p:cNvSpPr txBox="1"/>
          <p:nvPr/>
        </p:nvSpPr>
        <p:spPr>
          <a:xfrm>
            <a:off x="2632982"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Turkey</a:t>
            </a:r>
          </a:p>
        </p:txBody>
      </p:sp>
      <p:sp>
        <p:nvSpPr>
          <p:cNvPr id="68" name="TextBox 67"/>
          <p:cNvSpPr txBox="1"/>
          <p:nvPr/>
        </p:nvSpPr>
        <p:spPr>
          <a:xfrm>
            <a:off x="3639911"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Israel</a:t>
            </a:r>
          </a:p>
        </p:txBody>
      </p:sp>
      <p:sp>
        <p:nvSpPr>
          <p:cNvPr id="69" name="TextBox 68"/>
          <p:cNvSpPr txBox="1"/>
          <p:nvPr/>
        </p:nvSpPr>
        <p:spPr>
          <a:xfrm>
            <a:off x="4646839"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Rest of GCC</a:t>
            </a:r>
          </a:p>
        </p:txBody>
      </p:sp>
      <p:sp>
        <p:nvSpPr>
          <p:cNvPr id="70" name="TextBox 69"/>
          <p:cNvSpPr txBox="1"/>
          <p:nvPr/>
        </p:nvSpPr>
        <p:spPr>
          <a:xfrm>
            <a:off x="5653768"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South Africa</a:t>
            </a:r>
          </a:p>
        </p:txBody>
      </p:sp>
      <p:sp>
        <p:nvSpPr>
          <p:cNvPr id="71" name="TextBox 70"/>
          <p:cNvSpPr txBox="1"/>
          <p:nvPr/>
        </p:nvSpPr>
        <p:spPr>
          <a:xfrm>
            <a:off x="6660696"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Rest of MEA</a:t>
            </a:r>
          </a:p>
        </p:txBody>
      </p:sp>
      <p:sp>
        <p:nvSpPr>
          <p:cNvPr id="72" name="Rounded Rectangle 71"/>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74" name="Rectangle 73"/>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chart shows Middle East &amp; Africa average pricing of key product type types in USD, harmonised across regions. Each candlestick spans the minimum-to-maximum observed price within the base year, giving a clear read of price range and market dispersion.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Wider bodies mark a larger gap between opening and closing price levels 'Sachets &amp; Stick Packs' shows the most movement (+18.0%) and 'Barrier Casings' the least (+14.5%) variability stakeholders should monitor when planning procurement or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lower chart indexes country-level price movement to the base year, applied consistently across the horizon to strip out year-on-year inflationary volatility and reveal structural price shifts.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Country price indices diverge by up to 14.9% between 2026 and 2036: higher-priced countries start higher and grow steadily, while lower-priced countries start lower and converge, reflecting catch-up growth.</a:t>
            </a:r>
          </a:p>
        </p:txBody>
      </p:sp>
      <p:sp>
        <p:nvSpPr>
          <p:cNvPr id="76" name="TextBox 7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Barrier Casings command the highest 2026 price point at US$ 4,297/MT, a 67.0% premium over Sachets &amp; Stick Packs.</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Middle East &amp; Africa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07848">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07848">
                <a:tc>
                  <a:txBody>
                    <a:bodyPr wrap="square"/>
                    <a:lstStyle/>
                    <a:p>
                      <a:pPr algn="l"/>
                      <a:r>
                        <a:rPr sz="850" b="1">
                          <a:solidFill>
                            <a:srgbClr val="1F1F1F"/>
                          </a:solidFill>
                          <a:latin typeface="Calibri"/>
                        </a:rPr>
                        <a:t>Barrier Casings</a:t>
                      </a:r>
                    </a:p>
                  </a:txBody>
                  <a:tcPr marL="36576" marR="36576" marT="9144" marB="9144" anchor="ctr">
                    <a:solidFill>
                      <a:srgbClr val="FFFFFF"/>
                    </a:solidFill>
                  </a:tcPr>
                </a:tc>
                <a:tc>
                  <a:txBody>
                    <a:bodyPr wrap="square"/>
                    <a:lstStyle/>
                    <a:p>
                      <a:pPr algn="ctr"/>
                      <a:r>
                        <a:rPr sz="850" b="0">
                          <a:solidFill>
                            <a:srgbClr val="1F1F1F"/>
                          </a:solidFill>
                          <a:latin typeface="Calibri"/>
                        </a:rPr>
                        <a:t>4,182</a:t>
                      </a:r>
                    </a:p>
                  </a:txBody>
                  <a:tcPr marL="36576" marR="36576" marT="9144" marB="9144" anchor="ctr">
                    <a:solidFill>
                      <a:srgbClr val="FFFFFF"/>
                    </a:solidFill>
                  </a:tcPr>
                </a:tc>
                <a:tc>
                  <a:txBody>
                    <a:bodyPr wrap="square"/>
                    <a:lstStyle/>
                    <a:p>
                      <a:pPr algn="ctr"/>
                      <a:r>
                        <a:rPr sz="850" b="0">
                          <a:solidFill>
                            <a:srgbClr val="1F1F1F"/>
                          </a:solidFill>
                          <a:latin typeface="Calibri"/>
                        </a:rPr>
                        <a:t>4,297</a:t>
                      </a:r>
                    </a:p>
                  </a:txBody>
                  <a:tcPr marL="36576" marR="36576" marT="9144" marB="9144" anchor="ctr">
                    <a:solidFill>
                      <a:srgbClr val="FFFFFF"/>
                    </a:solidFill>
                  </a:tcPr>
                </a:tc>
                <a:tc>
                  <a:txBody>
                    <a:bodyPr wrap="square"/>
                    <a:lstStyle/>
                    <a:p>
                      <a:pPr algn="ctr"/>
                      <a:r>
                        <a:rPr sz="850" b="0">
                          <a:solidFill>
                            <a:srgbClr val="1F1F1F"/>
                          </a:solidFill>
                          <a:latin typeface="Calibri"/>
                        </a:rPr>
                        <a:t>4,787</a:t>
                      </a:r>
                    </a:p>
                  </a:txBody>
                  <a:tcPr marL="36576" marR="36576" marT="9144" marB="9144" anchor="ctr">
                    <a:solidFill>
                      <a:srgbClr val="FFFFFF"/>
                    </a:solidFill>
                  </a:tcPr>
                </a:tc>
                <a:tc>
                  <a:txBody>
                    <a:bodyPr wrap="square"/>
                    <a:lstStyle/>
                    <a:p>
                      <a:pPr algn="ctr"/>
                      <a:r>
                        <a:rPr sz="850" b="0">
                          <a:solidFill>
                            <a:srgbClr val="1F1F1F"/>
                          </a:solidFill>
                          <a:latin typeface="Calibri"/>
                        </a:rPr>
                        <a:t>1.09%</a:t>
                      </a:r>
                    </a:p>
                  </a:txBody>
                  <a:tcPr marL="36576" marR="36576" marT="9144" marB="9144" anchor="ctr">
                    <a:solidFill>
                      <a:srgbClr val="FFFFFF"/>
                    </a:solidFill>
                  </a:tcPr>
                </a:tc>
                <a:tc>
                  <a:txBody>
                    <a:bodyPr wrap="square"/>
                    <a:lstStyle/>
                    <a:p>
                      <a:pPr algn="ctr"/>
                      <a:r>
                        <a:rPr sz="850" b="0">
                          <a:solidFill>
                            <a:srgbClr val="1F1F1F"/>
                          </a:solidFill>
                          <a:latin typeface="Calibri"/>
                        </a:rPr>
                        <a:t>143.7</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Rollstock Films</a:t>
                      </a:r>
                    </a:p>
                  </a:txBody>
                  <a:tcPr marL="36576" marR="36576" marT="9144" marB="9144" anchor="ctr">
                    <a:solidFill>
                      <a:srgbClr val="F3F6F9"/>
                    </a:solidFill>
                  </a:tcPr>
                </a:tc>
                <a:tc>
                  <a:txBody>
                    <a:bodyPr wrap="square"/>
                    <a:lstStyle/>
                    <a:p>
                      <a:pPr algn="ctr"/>
                      <a:r>
                        <a:rPr sz="850" b="0">
                          <a:solidFill>
                            <a:srgbClr val="1F1F1F"/>
                          </a:solidFill>
                          <a:latin typeface="Calibri"/>
                        </a:rPr>
                        <a:t>2,934</a:t>
                      </a:r>
                    </a:p>
                  </a:txBody>
                  <a:tcPr marL="36576" marR="36576" marT="9144" marB="9144" anchor="ctr">
                    <a:solidFill>
                      <a:srgbClr val="F3F6F9"/>
                    </a:solidFill>
                  </a:tcPr>
                </a:tc>
                <a:tc>
                  <a:txBody>
                    <a:bodyPr wrap="square"/>
                    <a:lstStyle/>
                    <a:p>
                      <a:pPr algn="ctr"/>
                      <a:r>
                        <a:rPr sz="850" b="0">
                          <a:solidFill>
                            <a:srgbClr val="1F1F1F"/>
                          </a:solidFill>
                          <a:latin typeface="Calibri"/>
                        </a:rPr>
                        <a:t>3,003</a:t>
                      </a:r>
                    </a:p>
                  </a:txBody>
                  <a:tcPr marL="36576" marR="36576" marT="9144" marB="9144" anchor="ctr">
                    <a:solidFill>
                      <a:srgbClr val="F3F6F9"/>
                    </a:solidFill>
                  </a:tcPr>
                </a:tc>
                <a:tc>
                  <a:txBody>
                    <a:bodyPr wrap="square"/>
                    <a:lstStyle/>
                    <a:p>
                      <a:pPr algn="ctr"/>
                      <a:r>
                        <a:rPr sz="850" b="0">
                          <a:solidFill>
                            <a:srgbClr val="1F1F1F"/>
                          </a:solidFill>
                          <a:latin typeface="Calibri"/>
                        </a:rPr>
                        <a:t>3,417</a:t>
                      </a:r>
                    </a:p>
                  </a:txBody>
                  <a:tcPr marL="36576" marR="36576" marT="9144" marB="9144" anchor="ctr">
                    <a:solidFill>
                      <a:srgbClr val="F3F6F9"/>
                    </a:solidFill>
                  </a:tcPr>
                </a:tc>
                <a:tc>
                  <a:txBody>
                    <a:bodyPr wrap="square"/>
                    <a:lstStyle/>
                    <a:p>
                      <a:pPr algn="ctr"/>
                      <a:r>
                        <a:rPr sz="850" b="0">
                          <a:solidFill>
                            <a:srgbClr val="1F1F1F"/>
                          </a:solidFill>
                          <a:latin typeface="Calibri"/>
                        </a:rPr>
                        <a:t>1.30%</a:t>
                      </a:r>
                    </a:p>
                  </a:txBody>
                  <a:tcPr marL="36576" marR="36576" marT="9144" marB="9144" anchor="ctr">
                    <a:solidFill>
                      <a:srgbClr val="F3F6F9"/>
                    </a:solidFill>
                  </a:tcPr>
                </a:tc>
                <a:tc>
                  <a:txBody>
                    <a:bodyPr wrap="square"/>
                    <a:lstStyle/>
                    <a:p>
                      <a:pPr algn="ctr"/>
                      <a:r>
                        <a:rPr sz="850" b="0">
                          <a:solidFill>
                            <a:srgbClr val="1F1F1F"/>
                          </a:solidFill>
                          <a:latin typeface="Calibri"/>
                        </a:rPr>
                        <a:t>100.4</a:t>
                      </a:r>
                    </a:p>
                  </a:txBody>
                  <a:tcPr marL="36576" marR="36576" marT="9144" marB="9144" anchor="ctr">
                    <a:solidFill>
                      <a:srgbClr val="F7F7F7"/>
                    </a:solidFill>
                  </a:tcPr>
                </a:tc>
              </a:tr>
              <a:tr h="307848">
                <a:tc>
                  <a:txBody>
                    <a:bodyPr wrap="square"/>
                    <a:lstStyle/>
                    <a:p>
                      <a:pPr algn="l"/>
                      <a:r>
                        <a:rPr sz="850" b="1">
                          <a:solidFill>
                            <a:srgbClr val="1F1F1F"/>
                          </a:solidFill>
                          <a:latin typeface="Calibri"/>
                        </a:rPr>
                        <a:t>Premade Pouches &amp; Bags</a:t>
                      </a:r>
                    </a:p>
                  </a:txBody>
                  <a:tcPr marL="36576" marR="36576" marT="9144" marB="9144" anchor="ctr">
                    <a:solidFill>
                      <a:srgbClr val="FFFFFF"/>
                    </a:solidFill>
                  </a:tcPr>
                </a:tc>
                <a:tc>
                  <a:txBody>
                    <a:bodyPr wrap="square"/>
                    <a:lstStyle/>
                    <a:p>
                      <a:pPr algn="ctr"/>
                      <a:r>
                        <a:rPr sz="850" b="0">
                          <a:solidFill>
                            <a:srgbClr val="1F1F1F"/>
                          </a:solidFill>
                          <a:latin typeface="Calibri"/>
                        </a:rPr>
                        <a:t>2,694</a:t>
                      </a:r>
                    </a:p>
                  </a:txBody>
                  <a:tcPr marL="36576" marR="36576" marT="9144" marB="9144" anchor="ctr">
                    <a:solidFill>
                      <a:srgbClr val="FFFFFF"/>
                    </a:solidFill>
                  </a:tcPr>
                </a:tc>
                <a:tc>
                  <a:txBody>
                    <a:bodyPr wrap="square"/>
                    <a:lstStyle/>
                    <a:p>
                      <a:pPr algn="ctr"/>
                      <a:r>
                        <a:rPr sz="850" b="0">
                          <a:solidFill>
                            <a:srgbClr val="1F1F1F"/>
                          </a:solidFill>
                          <a:latin typeface="Calibri"/>
                        </a:rPr>
                        <a:t>2,749</a:t>
                      </a:r>
                    </a:p>
                  </a:txBody>
                  <a:tcPr marL="36576" marR="36576" marT="9144" marB="9144" anchor="ctr">
                    <a:solidFill>
                      <a:srgbClr val="FFFFFF"/>
                    </a:solidFill>
                  </a:tcPr>
                </a:tc>
                <a:tc>
                  <a:txBody>
                    <a:bodyPr wrap="square"/>
                    <a:lstStyle/>
                    <a:p>
                      <a:pPr algn="ctr"/>
                      <a:r>
                        <a:rPr sz="850" b="0">
                          <a:solidFill>
                            <a:srgbClr val="1F1F1F"/>
                          </a:solidFill>
                          <a:latin typeface="Calibri"/>
                        </a:rPr>
                        <a:t>3,117</a:t>
                      </a:r>
                    </a:p>
                  </a:txBody>
                  <a:tcPr marL="36576" marR="36576" marT="9144" marB="9144" anchor="ctr">
                    <a:solidFill>
                      <a:srgbClr val="FFFFFF"/>
                    </a:solidFill>
                  </a:tcPr>
                </a:tc>
                <a:tc>
                  <a:txBody>
                    <a:bodyPr wrap="square"/>
                    <a:lstStyle/>
                    <a:p>
                      <a:pPr algn="ctr"/>
                      <a:r>
                        <a:rPr sz="850" b="0">
                          <a:solidFill>
                            <a:srgbClr val="1F1F1F"/>
                          </a:solidFill>
                          <a:latin typeface="Calibri"/>
                        </a:rPr>
                        <a:t>1.26%</a:t>
                      </a:r>
                    </a:p>
                  </a:txBody>
                  <a:tcPr marL="36576" marR="36576" marT="9144" marB="9144" anchor="ctr">
                    <a:solidFill>
                      <a:srgbClr val="FFFFFF"/>
                    </a:solidFill>
                  </a:tcPr>
                </a:tc>
                <a:tc>
                  <a:txBody>
                    <a:bodyPr wrap="square"/>
                    <a:lstStyle/>
                    <a:p>
                      <a:pPr algn="ctr"/>
                      <a:r>
                        <a:rPr sz="850" b="0">
                          <a:solidFill>
                            <a:srgbClr val="1F1F1F"/>
                          </a:solidFill>
                          <a:latin typeface="Calibri"/>
                        </a:rPr>
                        <a:t>91.9</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Sachets &amp; Stick Packs</a:t>
                      </a:r>
                    </a:p>
                  </a:txBody>
                  <a:tcPr marL="36576" marR="36576" marT="9144" marB="9144" anchor="ctr">
                    <a:solidFill>
                      <a:srgbClr val="F3F6F9"/>
                    </a:solidFill>
                  </a:tcPr>
                </a:tc>
                <a:tc>
                  <a:txBody>
                    <a:bodyPr wrap="square"/>
                    <a:lstStyle/>
                    <a:p>
                      <a:pPr algn="ctr"/>
                      <a:r>
                        <a:rPr sz="850" b="0">
                          <a:solidFill>
                            <a:srgbClr val="1F1F1F"/>
                          </a:solidFill>
                          <a:latin typeface="Calibri"/>
                        </a:rPr>
                        <a:t>2,509</a:t>
                      </a:r>
                    </a:p>
                  </a:txBody>
                  <a:tcPr marL="36576" marR="36576" marT="9144" marB="9144" anchor="ctr">
                    <a:solidFill>
                      <a:srgbClr val="F3F6F9"/>
                    </a:solidFill>
                  </a:tcPr>
                </a:tc>
                <a:tc>
                  <a:txBody>
                    <a:bodyPr wrap="square"/>
                    <a:lstStyle/>
                    <a:p>
                      <a:pPr algn="ctr"/>
                      <a:r>
                        <a:rPr sz="850" b="0">
                          <a:solidFill>
                            <a:srgbClr val="1F1F1F"/>
                          </a:solidFill>
                          <a:latin typeface="Calibri"/>
                        </a:rPr>
                        <a:t>2,573</a:t>
                      </a:r>
                    </a:p>
                  </a:txBody>
                  <a:tcPr marL="36576" marR="36576" marT="9144" marB="9144" anchor="ctr">
                    <a:solidFill>
                      <a:srgbClr val="F3F6F9"/>
                    </a:solidFill>
                  </a:tcPr>
                </a:tc>
                <a:tc>
                  <a:txBody>
                    <a:bodyPr wrap="square"/>
                    <a:lstStyle/>
                    <a:p>
                      <a:pPr algn="ctr"/>
                      <a:r>
                        <a:rPr sz="850" b="0">
                          <a:solidFill>
                            <a:srgbClr val="1F1F1F"/>
                          </a:solidFill>
                          <a:latin typeface="Calibri"/>
                        </a:rPr>
                        <a:t>2,961</a:t>
                      </a:r>
                    </a:p>
                  </a:txBody>
                  <a:tcPr marL="36576" marR="36576" marT="9144" marB="9144" anchor="ctr">
                    <a:solidFill>
                      <a:srgbClr val="F3F6F9"/>
                    </a:solidFill>
                  </a:tcPr>
                </a:tc>
                <a:tc>
                  <a:txBody>
                    <a:bodyPr wrap="square"/>
                    <a:lstStyle/>
                    <a:p>
                      <a:pPr algn="ctr"/>
                      <a:r>
                        <a:rPr sz="850" b="0">
                          <a:solidFill>
                            <a:srgbClr val="1F1F1F"/>
                          </a:solidFill>
                          <a:latin typeface="Calibri"/>
                        </a:rPr>
                        <a:t>1.41%</a:t>
                      </a:r>
                    </a:p>
                  </a:txBody>
                  <a:tcPr marL="36576" marR="36576" marT="9144" marB="9144" anchor="ctr">
                    <a:solidFill>
                      <a:srgbClr val="F3F6F9"/>
                    </a:solidFill>
                  </a:tcPr>
                </a:tc>
                <a:tc>
                  <a:txBody>
                    <a:bodyPr wrap="square"/>
                    <a:lstStyle/>
                    <a:p>
                      <a:pPr algn="ctr"/>
                      <a:r>
                        <a:rPr sz="850" b="0">
                          <a:solidFill>
                            <a:srgbClr val="1F1F1F"/>
                          </a:solidFill>
                          <a:latin typeface="Calibri"/>
                        </a:rPr>
                        <a:t>86.1</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Middle East &amp; Africa Average</a:t>
                      </a:r>
                    </a:p>
                  </a:txBody>
                  <a:tcPr marL="36576" marR="36576" marT="9144" marB="9144" anchor="ctr">
                    <a:solidFill>
                      <a:srgbClr val="F3F6F9"/>
                    </a:solidFill>
                  </a:tcPr>
                </a:tc>
                <a:tc>
                  <a:txBody>
                    <a:bodyPr wrap="square"/>
                    <a:lstStyle/>
                    <a:p>
                      <a:pPr algn="ctr"/>
                      <a:r>
                        <a:rPr sz="850" b="0">
                          <a:solidFill>
                            <a:srgbClr val="1F1F1F"/>
                          </a:solidFill>
                          <a:latin typeface="Calibri"/>
                        </a:rPr>
                        <a:t>2,923</a:t>
                      </a:r>
                    </a:p>
                  </a:txBody>
                  <a:tcPr marL="36576" marR="36576" marT="9144" marB="9144" anchor="ctr">
                    <a:solidFill>
                      <a:srgbClr val="F3F6F9"/>
                    </a:solidFill>
                  </a:tcPr>
                </a:tc>
                <a:tc>
                  <a:txBody>
                    <a:bodyPr wrap="square"/>
                    <a:lstStyle/>
                    <a:p>
                      <a:pPr algn="ctr"/>
                      <a:r>
                        <a:rPr sz="850" b="0">
                          <a:solidFill>
                            <a:srgbClr val="1F1F1F"/>
                          </a:solidFill>
                          <a:latin typeface="Calibri"/>
                        </a:rPr>
                        <a:t>2,990</a:t>
                      </a:r>
                    </a:p>
                  </a:txBody>
                  <a:tcPr marL="36576" marR="36576" marT="9144" marB="9144" anchor="ctr">
                    <a:solidFill>
                      <a:srgbClr val="F3F6F9"/>
                    </a:solidFill>
                  </a:tcPr>
                </a:tc>
                <a:tc>
                  <a:txBody>
                    <a:bodyPr wrap="square"/>
                    <a:lstStyle/>
                    <a:p>
                      <a:pPr algn="ctr"/>
                      <a:r>
                        <a:rPr sz="850" b="0">
                          <a:solidFill>
                            <a:srgbClr val="1F1F1F"/>
                          </a:solidFill>
                          <a:latin typeface="Calibri"/>
                        </a:rPr>
                        <a:t>3,394</a:t>
                      </a:r>
                    </a:p>
                  </a:txBody>
                  <a:tcPr marL="36576" marR="36576" marT="9144" marB="9144" anchor="ctr">
                    <a:solidFill>
                      <a:srgbClr val="F3F6F9"/>
                    </a:solidFill>
                  </a:tcPr>
                </a:tc>
                <a:tc>
                  <a:txBody>
                    <a:bodyPr wrap="square"/>
                    <a:lstStyle/>
                    <a:p>
                      <a:pPr algn="ctr"/>
                      <a:r>
                        <a:rPr sz="850" b="0">
                          <a:solidFill>
                            <a:srgbClr val="1F1F1F"/>
                          </a:solidFill>
                          <a:latin typeface="Calibri"/>
                        </a:rPr>
                        <a:t>1.27%</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Barrier Casings sit at the top of the 2026 price ladder at an index of 143.7, while Sachets &amp; Stick Packs trade at 86.1, which keeps the full product type spread within 67.0%.</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Sachets &amp; Stick Packs post the fastest price growth at a 1.41% CAGR between 2026 and 2036, compared with 1.09% for Barrier Casings.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The Middle East &amp; Africa average price rises from US$ 2,990/MT in 2026 to US$ 3,394/MT in 2036, and the gap between the highest and lowest priced product type moves from 66.6% in 2021 to 61.7% in 2036.</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Pricing Assessment: Country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average price and price range across product types, 2026 (US$/MT)</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Israel is the most premium Middle East &amp; Africa market at US$ 3,399/MT in 2026, +13.7% above the regional average, while Turkey is the lowest priced.</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Country (US$/MT),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the lowest to highest product type price in each country, read on the price index axis (Middle East &amp; Africa average = 100). Teal = above Middle East &amp; Africa average, blue = below.</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0"/>
        </p:xfrm>
        <a:graphic>
          <a:graphicData uri="http://schemas.openxmlformats.org/drawingml/2006/table">
            <a:tbl>
              <a:tblPr firstRow="1" bandRow="1">
                <a:tableStyleId>{5C22544A-7EE6-4342-B048-85BDC9FD1C3A}</a:tableStyleId>
              </a:tblPr>
              <a:tblGrid>
                <a:gridCol w="1417320"/>
                <a:gridCol w="786384"/>
                <a:gridCol w="658368"/>
                <a:gridCol w="914400"/>
              </a:tblGrid>
              <a:tr h="618134">
                <a:tc>
                  <a:txBody>
                    <a:bodyPr wrap="square"/>
                    <a:lstStyle/>
                    <a:p>
                      <a:pPr algn="l"/>
                      <a:r>
                        <a:rPr sz="900" b="1">
                          <a:solidFill>
                            <a:srgbClr val="FFFFFF"/>
                          </a:solidFill>
                          <a:latin typeface="Calibri"/>
                        </a:rPr>
                        <a:t>Country</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618134">
                <a:tc>
                  <a:txBody>
                    <a:bodyPr wrap="square"/>
                    <a:lstStyle/>
                    <a:p>
                      <a:pPr algn="l"/>
                      <a:r>
                        <a:rPr sz="900" b="1">
                          <a:solidFill>
                            <a:srgbClr val="1F1F1F"/>
                          </a:solidFill>
                          <a:latin typeface="Calibri"/>
                        </a:rPr>
                        <a:t>Israel</a:t>
                      </a:r>
                    </a:p>
                  </a:txBody>
                  <a:tcPr marL="36576" marR="36576" marT="9144" marB="9144" anchor="ctr">
                    <a:solidFill>
                      <a:srgbClr val="FFFFFF"/>
                    </a:solidFill>
                  </a:tcPr>
                </a:tc>
                <a:tc>
                  <a:txBody>
                    <a:bodyPr wrap="square"/>
                    <a:lstStyle/>
                    <a:p>
                      <a:pPr algn="ctr"/>
                      <a:r>
                        <a:rPr sz="900" b="0">
                          <a:solidFill>
                            <a:srgbClr val="1F1F1F"/>
                          </a:solidFill>
                          <a:latin typeface="Calibri"/>
                        </a:rPr>
                        <a:t>3,399</a:t>
                      </a:r>
                    </a:p>
                  </a:txBody>
                  <a:tcPr marL="36576" marR="36576" marT="9144" marB="9144" anchor="ctr">
                    <a:solidFill>
                      <a:srgbClr val="FFFFFF"/>
                    </a:solidFill>
                  </a:tcPr>
                </a:tc>
                <a:tc>
                  <a:txBody>
                    <a:bodyPr wrap="square"/>
                    <a:lstStyle/>
                    <a:p>
                      <a:pPr algn="ctr"/>
                      <a:r>
                        <a:rPr sz="900" b="0">
                          <a:solidFill>
                            <a:srgbClr val="1F1F1F"/>
                          </a:solidFill>
                          <a:latin typeface="Calibri"/>
                        </a:rPr>
                        <a:t>113.7</a:t>
                      </a:r>
                    </a:p>
                  </a:txBody>
                  <a:tcPr marL="36576" marR="36576" marT="9144" marB="9144" anchor="ctr">
                    <a:solidFill>
                      <a:srgbClr val="F4B183"/>
                    </a:solidFill>
                  </a:tcPr>
                </a:tc>
                <a:tc>
                  <a:txBody>
                    <a:bodyPr wrap="square"/>
                    <a:lstStyle/>
                    <a:p>
                      <a:pPr algn="ctr"/>
                      <a:r>
                        <a:rPr sz="900" b="0">
                          <a:solidFill>
                            <a:srgbClr val="1F1F1F"/>
                          </a:solidFill>
                          <a:latin typeface="Calibri"/>
                        </a:rPr>
                        <a:t>1.16%</a:t>
                      </a:r>
                    </a:p>
                  </a:txBody>
                  <a:tcPr marL="36576" marR="36576" marT="9144" marB="9144" anchor="ctr">
                    <a:solidFill>
                      <a:srgbClr val="FFFFFF"/>
                    </a:solidFill>
                  </a:tcPr>
                </a:tc>
              </a:tr>
              <a:tr h="618134">
                <a:tc>
                  <a:txBody>
                    <a:bodyPr wrap="square"/>
                    <a:lstStyle/>
                    <a:p>
                      <a:pPr algn="l"/>
                      <a:r>
                        <a:rPr sz="900" b="1">
                          <a:solidFill>
                            <a:srgbClr val="1F1F1F"/>
                          </a:solidFill>
                          <a:latin typeface="Calibri"/>
                        </a:rPr>
                        <a:t>South Africa</a:t>
                      </a:r>
                    </a:p>
                  </a:txBody>
                  <a:tcPr marL="36576" marR="36576" marT="9144" marB="9144" anchor="ctr">
                    <a:solidFill>
                      <a:srgbClr val="F3F6F9"/>
                    </a:solidFill>
                  </a:tcPr>
                </a:tc>
                <a:tc>
                  <a:txBody>
                    <a:bodyPr wrap="square"/>
                    <a:lstStyle/>
                    <a:p>
                      <a:pPr algn="ctr"/>
                      <a:r>
                        <a:rPr sz="900" b="0">
                          <a:solidFill>
                            <a:srgbClr val="1F1F1F"/>
                          </a:solidFill>
                          <a:latin typeface="Calibri"/>
                        </a:rPr>
                        <a:t>3,134</a:t>
                      </a:r>
                    </a:p>
                  </a:txBody>
                  <a:tcPr marL="36576" marR="36576" marT="9144" marB="9144" anchor="ctr">
                    <a:solidFill>
                      <a:srgbClr val="F3F6F9"/>
                    </a:solidFill>
                  </a:tcPr>
                </a:tc>
                <a:tc>
                  <a:txBody>
                    <a:bodyPr wrap="square"/>
                    <a:lstStyle/>
                    <a:p>
                      <a:pPr algn="ctr"/>
                      <a:r>
                        <a:rPr sz="900" b="0">
                          <a:solidFill>
                            <a:srgbClr val="1F1F1F"/>
                          </a:solidFill>
                          <a:latin typeface="Calibri"/>
                        </a:rPr>
                        <a:t>104.8</a:t>
                      </a:r>
                    </a:p>
                  </a:txBody>
                  <a:tcPr marL="36576" marR="36576" marT="9144" marB="9144" anchor="ctr">
                    <a:solidFill>
                      <a:srgbClr val="F4B183"/>
                    </a:solidFill>
                  </a:tcPr>
                </a:tc>
                <a:tc>
                  <a:txBody>
                    <a:bodyPr wrap="square"/>
                    <a:lstStyle/>
                    <a:p>
                      <a:pPr algn="ctr"/>
                      <a:r>
                        <a:rPr sz="900" b="0">
                          <a:solidFill>
                            <a:srgbClr val="1F1F1F"/>
                          </a:solidFill>
                          <a:latin typeface="Calibri"/>
                        </a:rPr>
                        <a:t>1.39%</a:t>
                      </a:r>
                    </a:p>
                  </a:txBody>
                  <a:tcPr marL="36576" marR="36576" marT="9144" marB="9144" anchor="ctr">
                    <a:solidFill>
                      <a:srgbClr val="F3F6F9"/>
                    </a:solidFill>
                  </a:tcPr>
                </a:tc>
              </a:tr>
              <a:tr h="618134">
                <a:tc>
                  <a:txBody>
                    <a:bodyPr wrap="square"/>
                    <a:lstStyle/>
                    <a:p>
                      <a:pPr algn="l"/>
                      <a:r>
                        <a:rPr sz="900" b="1">
                          <a:solidFill>
                            <a:srgbClr val="1F1F1F"/>
                          </a:solidFill>
                          <a:latin typeface="Calibri"/>
                        </a:rPr>
                        <a:t>Saudi Arabia</a:t>
                      </a:r>
                    </a:p>
                  </a:txBody>
                  <a:tcPr marL="36576" marR="36576" marT="9144" marB="9144" anchor="ctr">
                    <a:solidFill>
                      <a:srgbClr val="FFFFFF"/>
                    </a:solidFill>
                  </a:tcPr>
                </a:tc>
                <a:tc>
                  <a:txBody>
                    <a:bodyPr wrap="square"/>
                    <a:lstStyle/>
                    <a:p>
                      <a:pPr algn="ctr"/>
                      <a:r>
                        <a:rPr sz="900" b="0">
                          <a:solidFill>
                            <a:srgbClr val="1F1F1F"/>
                          </a:solidFill>
                          <a:latin typeface="Calibri"/>
                        </a:rPr>
                        <a:t>2,905</a:t>
                      </a:r>
                    </a:p>
                  </a:txBody>
                  <a:tcPr marL="36576" marR="36576" marT="9144" marB="9144" anchor="ctr">
                    <a:solidFill>
                      <a:srgbClr val="FFFFFF"/>
                    </a:solidFill>
                  </a:tcPr>
                </a:tc>
                <a:tc>
                  <a:txBody>
                    <a:bodyPr wrap="square"/>
                    <a:lstStyle/>
                    <a:p>
                      <a:pPr algn="ctr"/>
                      <a:r>
                        <a:rPr sz="900" b="0">
                          <a:solidFill>
                            <a:srgbClr val="1F1F1F"/>
                          </a:solidFill>
                          <a:latin typeface="Calibri"/>
                        </a:rPr>
                        <a:t>97.1</a:t>
                      </a:r>
                    </a:p>
                  </a:txBody>
                  <a:tcPr marL="36576" marR="36576" marT="9144" marB="9144" anchor="ctr">
                    <a:solidFill>
                      <a:srgbClr val="9DC0E0"/>
                    </a:solidFill>
                  </a:tcPr>
                </a:tc>
                <a:tc>
                  <a:txBody>
                    <a:bodyPr wrap="square"/>
                    <a:lstStyle/>
                    <a:p>
                      <a:pPr algn="ctr"/>
                      <a:r>
                        <a:rPr sz="900" b="0">
                          <a:solidFill>
                            <a:srgbClr val="1F1F1F"/>
                          </a:solidFill>
                          <a:latin typeface="Calibri"/>
                        </a:rPr>
                        <a:t>1.29%</a:t>
                      </a:r>
                    </a:p>
                  </a:txBody>
                  <a:tcPr marL="36576" marR="36576" marT="9144" marB="9144" anchor="ctr">
                    <a:solidFill>
                      <a:srgbClr val="FFFFFF"/>
                    </a:solidFill>
                  </a:tcPr>
                </a:tc>
              </a:tr>
              <a:tr h="618134">
                <a:tc>
                  <a:txBody>
                    <a:bodyPr wrap="square"/>
                    <a:lstStyle/>
                    <a:p>
                      <a:pPr algn="l"/>
                      <a:r>
                        <a:rPr sz="900" b="1">
                          <a:solidFill>
                            <a:srgbClr val="1F1F1F"/>
                          </a:solidFill>
                          <a:latin typeface="Calibri"/>
                        </a:rPr>
                        <a:t>Turkey</a:t>
                      </a:r>
                    </a:p>
                  </a:txBody>
                  <a:tcPr marL="36576" marR="36576" marT="9144" marB="9144" anchor="ctr">
                    <a:solidFill>
                      <a:srgbClr val="F3F6F9"/>
                    </a:solidFill>
                  </a:tcPr>
                </a:tc>
                <a:tc>
                  <a:txBody>
                    <a:bodyPr wrap="square"/>
                    <a:lstStyle/>
                    <a:p>
                      <a:pPr algn="ctr"/>
                      <a:r>
                        <a:rPr sz="900" b="0">
                          <a:solidFill>
                            <a:srgbClr val="1F1F1F"/>
                          </a:solidFill>
                          <a:latin typeface="Calibri"/>
                        </a:rPr>
                        <a:t>2,749</a:t>
                      </a:r>
                    </a:p>
                  </a:txBody>
                  <a:tcPr marL="36576" marR="36576" marT="9144" marB="9144" anchor="ctr">
                    <a:solidFill>
                      <a:srgbClr val="F3F6F9"/>
                    </a:solidFill>
                  </a:tcPr>
                </a:tc>
                <a:tc>
                  <a:txBody>
                    <a:bodyPr wrap="square"/>
                    <a:lstStyle/>
                    <a:p>
                      <a:pPr algn="ctr"/>
                      <a:r>
                        <a:rPr sz="900" b="0">
                          <a:solidFill>
                            <a:srgbClr val="1F1F1F"/>
                          </a:solidFill>
                          <a:latin typeface="Calibri"/>
                        </a:rPr>
                        <a:t>91.9</a:t>
                      </a:r>
                    </a:p>
                  </a:txBody>
                  <a:tcPr marL="36576" marR="36576" marT="9144" marB="9144" anchor="ctr">
                    <a:solidFill>
                      <a:srgbClr val="9DC0E0"/>
                    </a:solidFill>
                  </a:tcPr>
                </a:tc>
                <a:tc>
                  <a:txBody>
                    <a:bodyPr wrap="square"/>
                    <a:lstStyle/>
                    <a:p>
                      <a:pPr algn="ctr"/>
                      <a:r>
                        <a:rPr sz="900" b="0">
                          <a:solidFill>
                            <a:srgbClr val="1F1F1F"/>
                          </a:solidFill>
                          <a:latin typeface="Calibri"/>
                        </a:rPr>
                        <a:t>1.28%</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Country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Average prices across the ranked countries differ by 23.7% in 2026, from US$ 2,749/MT in Turkey to US$ 3,399/MT in Israel.</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South Africa records the fastest average price growth at a 1.39% CAGR between 2026 and 2036, against 1.27% for Middle East &amp; Africa as a whole.</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Saudi Arabia shows the widest gap between its cheapest and most expensive product type at 67.8%, so product mix shifts move its average price the most.</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country;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country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2,013</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2,660</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3,307</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3,954</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4,601</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5,248</a:t>
            </a:r>
          </a:p>
        </p:txBody>
      </p:sp>
      <p:sp>
        <p:nvSpPr>
          <p:cNvPr id="25" name="TextBox 24"/>
          <p:cNvSpPr txBox="1"/>
          <p:nvPr/>
        </p:nvSpPr>
        <p:spPr>
          <a:xfrm>
            <a:off x="238125" y="2151696"/>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UAE</a:t>
            </a:r>
          </a:p>
        </p:txBody>
      </p:sp>
      <p:sp>
        <p:nvSpPr>
          <p:cNvPr id="26" name="Rectangle 25"/>
          <p:cNvSpPr/>
          <p:nvPr/>
        </p:nvSpPr>
        <p:spPr>
          <a:xfrm>
            <a:off x="2591973" y="2076093"/>
            <a:ext cx="3405109" cy="32265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3677618" y="2175509"/>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772191"/>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Saudi Arabia</a:t>
            </a:r>
          </a:p>
        </p:txBody>
      </p:sp>
      <p:sp>
        <p:nvSpPr>
          <p:cNvPr id="29" name="Rectangle 28"/>
          <p:cNvSpPr/>
          <p:nvPr/>
        </p:nvSpPr>
        <p:spPr>
          <a:xfrm>
            <a:off x="2301205" y="2696587"/>
            <a:ext cx="3275175" cy="32265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329535" y="2796003"/>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39268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Turkey</a:t>
            </a:r>
          </a:p>
        </p:txBody>
      </p:sp>
      <p:sp>
        <p:nvSpPr>
          <p:cNvPr id="32" name="Rectangle 31"/>
          <p:cNvSpPr/>
          <p:nvPr/>
        </p:nvSpPr>
        <p:spPr>
          <a:xfrm>
            <a:off x="2045494" y="3317082"/>
            <a:ext cx="3055931" cy="32265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3017830" y="341649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013180"/>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Israel</a:t>
            </a:r>
          </a:p>
        </p:txBody>
      </p:sp>
      <p:sp>
        <p:nvSpPr>
          <p:cNvPr id="35" name="Rectangle 34"/>
          <p:cNvSpPr/>
          <p:nvPr/>
        </p:nvSpPr>
        <p:spPr>
          <a:xfrm>
            <a:off x="3151956" y="3937576"/>
            <a:ext cx="3775100" cy="32265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4357760" y="4036992"/>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463367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Rest of GCC</a:t>
            </a:r>
          </a:p>
        </p:txBody>
      </p:sp>
      <p:sp>
        <p:nvSpPr>
          <p:cNvPr id="38" name="Rectangle 37"/>
          <p:cNvSpPr/>
          <p:nvPr/>
        </p:nvSpPr>
        <p:spPr>
          <a:xfrm>
            <a:off x="2426352" y="4558070"/>
            <a:ext cx="3378767" cy="32265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501264" y="465748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254169"/>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Africa</a:t>
            </a:r>
          </a:p>
        </p:txBody>
      </p:sp>
      <p:sp>
        <p:nvSpPr>
          <p:cNvPr id="41" name="Rectangle 40"/>
          <p:cNvSpPr/>
          <p:nvPr/>
        </p:nvSpPr>
        <p:spPr>
          <a:xfrm>
            <a:off x="2668616" y="5178565"/>
            <a:ext cx="3470419" cy="32265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3788878" y="5277981"/>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5874663"/>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Rest of MEA</a:t>
            </a:r>
          </a:p>
        </p:txBody>
      </p:sp>
      <p:sp>
        <p:nvSpPr>
          <p:cNvPr id="44" name="Rectangle 43"/>
          <p:cNvSpPr/>
          <p:nvPr/>
        </p:nvSpPr>
        <p:spPr>
          <a:xfrm>
            <a:off x="2786667" y="5799059"/>
            <a:ext cx="3569157" cy="32265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3933323" y="5898475"/>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8" name="Rectangle 47"/>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50" name="Rounded Rectangle 49"/>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52" name="Rectangle 51"/>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8048625" y="1727149"/>
            <a:ext cx="3867150" cy="343877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Barrier casings segment is expected to command the highest average price of US$ 4,787 per MT in 2036. Average selling price of flexible plastic packaging is estimated at US$ 2,966 per MT in 2025 and is projected to increase to US$ 3,394 per MT by 2036. Israel is the highest-priced country, while Turkey is the most price-competitive market.</a:t>
            </a:r>
          </a:p>
          <a:p>
            <a:pPr algn="l">
              <a:lnSpc>
                <a:spcPct val="100000"/>
              </a:lnSpc>
              <a:spcBef>
                <a:spcPts val="0"/>
              </a:spcBef>
              <a:spcAft>
                <a:spcPts val="300"/>
              </a:spcAft>
            </a:pPr>
            <a:r>
              <a:rPr sz="1100" b="0">
                <a:solidFill>
                  <a:srgbClr val="2E2E2E"/>
                </a:solidFill>
                <a:latin typeface="Calibri"/>
              </a:rPr>
              <a:t>The orange dot is each region's average selling price; the blue band is its full low-to-high price range, all derived as Value ÷ Volume. Narrow bands point to commoditised, price-led competition; wider bands flag premiumisation headroom to trade buyers up the mix.</a:t>
            </a:r>
          </a:p>
          <a:p>
            <a:pPr algn="l">
              <a:lnSpc>
                <a:spcPct val="100000"/>
              </a:lnSpc>
              <a:spcBef>
                <a:spcPts val="0"/>
              </a:spcBef>
              <a:spcAft>
                <a:spcPts val="300"/>
              </a:spcAft>
            </a:pPr>
            <a:r>
              <a:rPr sz="1100" b="0">
                <a:solidFill>
                  <a:srgbClr val="2E2E2E"/>
                </a:solidFill>
                <a:latin typeface="Calibri"/>
              </a:rPr>
              <a:t>Middle East &amp; Africa sits mid-range, at US$2,990 per MT in 2026 rising to US$3,394 in 2036, because supply relies partly on imported film and resin, while hot climates and long import chains call for higher-barrier structures. Value grows 8.3% against 6.9% in volume as retail modernisation and rising incomes raise packaging specification.</a:t>
            </a:r>
          </a:p>
        </p:txBody>
      </p:sp>
      <p:sp>
        <p:nvSpPr>
          <p:cNvPr id="54" name="Rounded Rectangle 53"/>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5" name="TextBox 5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838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86175"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Input Cost  13.0%</a:t>
            </a:r>
          </a:p>
        </p:txBody>
      </p:sp>
      <p:sp>
        <p:nvSpPr>
          <p:cNvPr id="46" name="TextBox 45"/>
          <p:cNvSpPr txBox="1"/>
          <p:nvPr/>
        </p:nvSpPr>
        <p:spPr>
          <a:xfrm>
            <a:off x="4232331"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Labor &amp; Production Costs  10.1%</a:t>
            </a:r>
          </a:p>
        </p:txBody>
      </p:sp>
      <p:sp>
        <p:nvSpPr>
          <p:cNvPr id="47" name="TextBox 46"/>
          <p:cNvSpPr txBox="1"/>
          <p:nvPr/>
        </p:nvSpPr>
        <p:spPr>
          <a:xfrm>
            <a:off x="4993722"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Technology &amp; Innovation  9.4%</a:t>
            </a:r>
          </a:p>
        </p:txBody>
      </p:sp>
      <p:sp>
        <p:nvSpPr>
          <p:cNvPr id="48" name="TextBox 47"/>
          <p:cNvSpPr txBox="1"/>
          <p:nvPr/>
        </p:nvSpPr>
        <p:spPr>
          <a:xfrm>
            <a:off x="4993722"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Supply Chain &amp; Logistics  10.9%</a:t>
            </a:r>
          </a:p>
        </p:txBody>
      </p:sp>
      <p:sp>
        <p:nvSpPr>
          <p:cNvPr id="49" name="TextBox 48"/>
          <p:cNvSpPr txBox="1"/>
          <p:nvPr/>
        </p:nvSpPr>
        <p:spPr>
          <a:xfrm>
            <a:off x="4232331"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Demand &amp; Market Conditions  12.3%</a:t>
            </a:r>
          </a:p>
        </p:txBody>
      </p:sp>
      <p:sp>
        <p:nvSpPr>
          <p:cNvPr id="50" name="TextBox 49"/>
          <p:cNvSpPr txBox="1"/>
          <p:nvPr/>
        </p:nvSpPr>
        <p:spPr>
          <a:xfrm>
            <a:off x="3000375"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Competitive Landscape  11.6%</a:t>
            </a:r>
          </a:p>
        </p:txBody>
      </p:sp>
      <p:sp>
        <p:nvSpPr>
          <p:cNvPr id="51" name="TextBox 50"/>
          <p:cNvSpPr txBox="1"/>
          <p:nvPr/>
        </p:nvSpPr>
        <p:spPr>
          <a:xfrm>
            <a:off x="1768419"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Regulatory &amp; Compliance Costs  8.7%</a:t>
            </a:r>
          </a:p>
        </p:txBody>
      </p:sp>
      <p:sp>
        <p:nvSpPr>
          <p:cNvPr id="52" name="TextBox 51"/>
          <p:cNvSpPr txBox="1"/>
          <p:nvPr/>
        </p:nvSpPr>
        <p:spPr>
          <a:xfrm>
            <a:off x="1007028"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Currency &amp; Trade Dynamics  8.0%</a:t>
            </a:r>
          </a:p>
        </p:txBody>
      </p:sp>
      <p:sp>
        <p:nvSpPr>
          <p:cNvPr id="53" name="TextBox 52"/>
          <p:cNvSpPr txBox="1"/>
          <p:nvPr/>
        </p:nvSpPr>
        <p:spPr>
          <a:xfrm>
            <a:off x="1007028"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Brand &amp; Value Perception  9.4%</a:t>
            </a:r>
          </a:p>
        </p:txBody>
      </p:sp>
      <p:sp>
        <p:nvSpPr>
          <p:cNvPr id="54" name="TextBox 53"/>
          <p:cNvSpPr txBox="1"/>
          <p:nvPr/>
        </p:nvSpPr>
        <p:spPr>
          <a:xfrm>
            <a:off x="1768419"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Aftermarket &amp; Service Costs  6.5%</a:t>
            </a: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381875" y="1439806"/>
            <a:ext cx="453390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381875" y="1763656"/>
            <a:ext cx="453390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Flexible Plastic Packaging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Flexible Plastic Packaging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381875" y="5028771"/>
            <a:ext cx="453390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381875" y="5352621"/>
            <a:ext cx="453390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Input Cost 9.0 / 10  ·  dominant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&amp; Market Conditions 8.5 / 10  ·  major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Landscape 8.0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Supply Chain &amp; Logistics 7.5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Labor &amp; Production Costs 7.0 / 10  ·  supporting factor</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114675"/>
          </a:xfrm>
          <a:prstGeom prst="roundRect">
            <a:avLst>
              <a:gd name="adj" fmla="val 24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809875"/>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15265">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59461">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581525"/>
            <a:ext cx="11906250" cy="1962150"/>
          </a:xfrm>
          <a:prstGeom prst="roundRect">
            <a:avLst>
              <a:gd name="adj" fmla="val 388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66725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4905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991100"/>
            <a:ext cx="11639550" cy="1476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Input Cost and Demand &amp; Market Conditions carry the heaviest weight on selling prices (9.0 and 8.5 / 10).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8 of 10 factors exert upward pressure on price; the rest pull prices down chiefly Technology &amp; Innovation and the Competitive Landscape.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Cost-side factors set the price floor; demand, brand and competitive forces determine how much of that cost can be passed through.</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Aftermarket &amp; Service Costs exerts the least pressure a second-order effect to monitor rather than actively manage.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0" cy="2271333"/>
        </p:xfrm>
        <a:graphic>
          <a:graphicData uri="http://schemas.openxmlformats.org/drawingml/2006/table">
            <a:tbl>
              <a:tblPr>
                <a:tableStyleId>{5C22544A-7EE6-4342-B048-85BDC9FD1C3A}</a:tableStyleId>
              </a:tblPr>
              <a:tblGrid>
                <a:gridCol w="966294"/>
                <a:gridCol w="1230039"/>
                <a:gridCol w="1230039"/>
                <a:gridCol w="1230039"/>
                <a:gridCol w="1230039"/>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Total Margin (%)</a:t>
                      </a:r>
                      <a:endParaRPr sz="1100"/>
                    </a:p>
                  </a:txBody>
                  <a:tcPr marL="47625" marR="38100" marT="19050" marB="19050" anchor="ctr">
                    <a:solidFill>
                      <a:srgbClr val="E0E8EF"/>
                    </a:solidFill>
                  </a:tcPr>
                </a:tc>
              </a:tr>
              <a:tr h="293724">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93724">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93724">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93724">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93724">
                <a:tc>
                  <a:txBody>
                    <a:bodyPr wrap="none"/>
                    <a:lstStyle/>
                    <a:p>
                      <a:pPr algn="l"/>
                      <a:r>
                        <a:rPr sz="1100" b="1">
                          <a:solidFill>
                            <a:srgbClr val="2E2E2E"/>
                          </a:solidFill>
                          <a:latin typeface="Calibri"/>
                        </a:rPr>
                        <a:t>Rest of GCC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93724">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93724">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301" cy="2271333"/>
        </p:xfrm>
        <a:graphic>
          <a:graphicData uri="http://schemas.openxmlformats.org/drawingml/2006/table">
            <a:tbl>
              <a:tblPr>
                <a:tableStyleId>{5C22544A-7EE6-4342-B048-85BDC9FD1C3A}</a:tableStyleId>
              </a:tblPr>
              <a:tblGrid>
                <a:gridCol w="1504685"/>
                <a:gridCol w="1081154"/>
                <a:gridCol w="1081154"/>
                <a:gridCol w="1081154"/>
                <a:gridCol w="1081154"/>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93724">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3,488.05</a:t>
                      </a:r>
                      <a:endParaRPr sz="1100"/>
                    </a:p>
                  </a:txBody>
                  <a:tcPr marL="47625" marR="38100" marT="19050" marB="19050" anchor="ctr">
                    <a:solidFill>
                      <a:srgbClr val="FFFFFF"/>
                    </a:solidFill>
                  </a:tcPr>
                </a:tc>
              </a:tr>
              <a:tr h="293724">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3,303.09</a:t>
                      </a:r>
                      <a:endParaRPr sz="1100"/>
                    </a:p>
                  </a:txBody>
                  <a:tcPr marL="47625" marR="38100" marT="19050" marB="19050" anchor="ctr">
                    <a:solidFill>
                      <a:srgbClr val="F5F8FA"/>
                    </a:solidFill>
                  </a:tcPr>
                </a:tc>
              </a:tr>
              <a:tr h="293724">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3,122.96</a:t>
                      </a:r>
                      <a:endParaRPr sz="1100"/>
                    </a:p>
                  </a:txBody>
                  <a:tcPr marL="47625" marR="38100" marT="19050" marB="19050" anchor="ctr">
                    <a:solidFill>
                      <a:srgbClr val="FFFFFF"/>
                    </a:solidFill>
                  </a:tcPr>
                </a:tc>
              </a:tr>
              <a:tr h="293724">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3,813.06</a:t>
                      </a:r>
                      <a:endParaRPr sz="1100"/>
                    </a:p>
                  </a:txBody>
                  <a:tcPr marL="47625" marR="38100" marT="19050" marB="19050" anchor="ctr">
                    <a:solidFill>
                      <a:srgbClr val="F5F8FA"/>
                    </a:solidFill>
                  </a:tcPr>
                </a:tc>
              </a:tr>
              <a:tr h="293724">
                <a:tc>
                  <a:txBody>
                    <a:bodyPr wrap="none"/>
                    <a:lstStyle/>
                    <a:p>
                      <a:pPr algn="l"/>
                      <a:r>
                        <a:rPr sz="1100" b="1">
                          <a:solidFill>
                            <a:srgbClr val="2E2E2E"/>
                          </a:solidFill>
                          <a:latin typeface="Calibri"/>
                        </a:rPr>
                        <a:t>Rest of GCC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3,423.76</a:t>
                      </a:r>
                      <a:endParaRPr sz="1100"/>
                    </a:p>
                  </a:txBody>
                  <a:tcPr marL="47625" marR="38100" marT="19050" marB="19050" anchor="ctr">
                    <a:solidFill>
                      <a:srgbClr val="FFFFFF"/>
                    </a:solidFill>
                  </a:tcPr>
                </a:tc>
              </a:tr>
              <a:tr h="293724">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3,597.12</a:t>
                      </a:r>
                      <a:endParaRPr sz="1100"/>
                    </a:p>
                  </a:txBody>
                  <a:tcPr marL="47625" marR="38100" marT="19050" marB="19050" anchor="ctr">
                    <a:solidFill>
                      <a:srgbClr val="F5F8FA"/>
                    </a:solidFill>
                  </a:tcPr>
                </a:tc>
              </a:tr>
              <a:tr h="293724">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3,599.48</a:t>
                      </a:r>
                      <a:endParaRPr sz="1100"/>
                    </a:p>
                  </a:txBody>
                  <a:tcPr marL="47625" marR="38100" marT="19050" marB="19050" anchor="ctr">
                    <a:solidFill>
                      <a:srgbClr val="FFFFFF"/>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Middle East &amp; Africa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country and sub-segment against the weighted average price of each country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(US$/MT).</a:t>
            </a:r>
          </a:p>
        </p:txBody>
      </p:sp>
      <p:sp>
        <p:nvSpPr>
          <p:cNvPr id="11" name="Rounded Rectangle 10"/>
          <p:cNvSpPr/>
          <p:nvPr/>
        </p:nvSpPr>
        <p:spPr>
          <a:xfrm>
            <a:off x="142875" y="1314450"/>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(US$/MT)</a:t>
            </a:r>
          </a:p>
        </p:txBody>
      </p:sp>
      <p:graphicFrame>
        <p:nvGraphicFramePr>
          <p:cNvPr id="13" name="Table 12"/>
          <p:cNvGraphicFramePr>
            <a:graphicFrameLocks noGrp="1"/>
          </p:cNvGraphicFramePr>
          <p:nvPr/>
        </p:nvGraphicFramePr>
        <p:xfrm>
          <a:off x="152400" y="1571625"/>
          <a:ext cx="11887202" cy="2409828"/>
        </p:xfrm>
        <a:graphic>
          <a:graphicData uri="http://schemas.openxmlformats.org/drawingml/2006/table">
            <a:tbl>
              <a:tblPr>
                <a:tableStyleId>{5C22544A-7EE6-4342-B048-85BDC9FD1C3A}</a:tableStyleId>
              </a:tblPr>
              <a:tblGrid>
                <a:gridCol w="1137577"/>
                <a:gridCol w="2149925"/>
                <a:gridCol w="2149925"/>
                <a:gridCol w="2149925"/>
                <a:gridCol w="2149925"/>
                <a:gridCol w="2149925"/>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Rollstock Films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Barrier Casings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Premade Pouches &amp; Bags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Sachets &amp; Stick Packs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Weighted Avg</a:t>
                      </a:r>
                      <a:endParaRPr sz="1100"/>
                    </a:p>
                  </a:txBody>
                  <a:tcPr marL="47625" marR="38100" marT="19050" marB="19050" anchor="ctr">
                    <a:solidFill>
                      <a:srgbClr val="E0E8EF"/>
                    </a:solidFill>
                  </a:tcPr>
                </a:tc>
              </a:tr>
              <a:tr h="313509">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3,051.50–3,113.14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4,368.55–4,456.81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2,802.70–2,859.32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2,623.40–2,676.40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3,079.45</a:t>
                      </a:r>
                      <a:endParaRPr sz="1100"/>
                    </a:p>
                  </a:txBody>
                  <a:tcPr marL="47625" marR="38100" marT="19050" marB="19050" anchor="ctr">
                    <a:solidFill>
                      <a:srgbClr val="FFFFFF"/>
                    </a:solidFill>
                  </a:tcPr>
                </a:tc>
              </a:tr>
              <a:tr h="313509">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2,879.11–2,937.28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4,152.94–4,236.84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2,626.13–2,679.19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2,474.38–2,524.37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2,904.64</a:t>
                      </a:r>
                      <a:endParaRPr sz="1100"/>
                    </a:p>
                  </a:txBody>
                  <a:tcPr marL="47625" marR="38100" marT="19050" marB="19050" anchor="ctr">
                    <a:solidFill>
                      <a:srgbClr val="F5F8FA"/>
                    </a:solidFill>
                  </a:tcPr>
                </a:tc>
              </a:tr>
              <a:tr h="313509">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2,739.72–2,795.07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3,909.52–3,988.50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2,500.99–2,551.52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2,343.33–2,390.67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2,748.77</a:t>
                      </a:r>
                      <a:endParaRPr sz="1100"/>
                    </a:p>
                  </a:txBody>
                  <a:tcPr marL="47625" marR="38100" marT="19050" marB="19050" anchor="ctr">
                    <a:solidFill>
                      <a:srgbClr val="FFFFFF"/>
                    </a:solidFill>
                  </a:tcPr>
                </a:tc>
              </a:tr>
              <a:tr h="313509">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3,377.39–3,445.62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4,845.17–4,943.06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3,107.50–3,170.28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2,910.40–2,969.20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3,399.20</a:t>
                      </a:r>
                      <a:endParaRPr sz="1100"/>
                    </a:p>
                  </a:txBody>
                  <a:tcPr marL="47625" marR="38100" marT="19050" marB="19050" anchor="ctr">
                    <a:solidFill>
                      <a:srgbClr val="F5F8FA"/>
                    </a:solidFill>
                  </a:tcPr>
                </a:tc>
              </a:tr>
              <a:tr h="313509">
                <a:tc>
                  <a:txBody>
                    <a:bodyPr wrap="none"/>
                    <a:lstStyle/>
                    <a:p>
                      <a:pPr algn="l"/>
                      <a:r>
                        <a:rPr sz="1100" b="1">
                          <a:solidFill>
                            <a:srgbClr val="2E2E2E"/>
                          </a:solidFill>
                          <a:latin typeface="Calibri"/>
                        </a:rPr>
                        <a:t>Rest of GCC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2,954.07–3,013.74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4,270.17–4,356.44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2,721.86–2,776.85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2,538.52–2,589.80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2,980.47</a:t>
                      </a:r>
                      <a:endParaRPr sz="1100"/>
                    </a:p>
                  </a:txBody>
                  <a:tcPr marL="47625" marR="38100" marT="19050" marB="19050" anchor="ctr">
                    <a:solidFill>
                      <a:srgbClr val="FFFFFF"/>
                    </a:solidFill>
                  </a:tcPr>
                </a:tc>
              </a:tr>
              <a:tr h="313509">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3,112.85–3,175.73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4,441.31–4,531.03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2,857.40–2,915.13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2,662.68–2,716.48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3,134.11</a:t>
                      </a:r>
                      <a:endParaRPr sz="1100"/>
                    </a:p>
                  </a:txBody>
                  <a:tcPr marL="47625" marR="38100" marT="19050" marB="19050" anchor="ctr">
                    <a:solidFill>
                      <a:srgbClr val="F5F8FA"/>
                    </a:solidFill>
                  </a:tcPr>
                </a:tc>
              </a:tr>
              <a:tr h="313509">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3,171.17–3,235.23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4,552.41–4,644.38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2,923.59–2,982.65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2,723.19–2,778.20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3,186.84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33875"/>
            <a:ext cx="11906250" cy="2209800"/>
          </a:xfrm>
          <a:prstGeom prst="roundRect">
            <a:avLst>
              <a:gd name="adj" fmla="val 34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196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657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43450"/>
            <a:ext cx="11639550" cy="17240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On a weighted-average basis 'Israel' is the highest-priced region (~3,399.20 US$/MT) and 'Turkey' the most competitive (~2,748.77 US$/MT).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Price ranges are benchmarked per product type type at 2026, derived as Value ÷ Volume with a ±1% observed trading band.</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Cross-region price dispersion of ~1.24× reflects differences in mix, logistics and channel structure.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Benchmarks support price-corridor setting and margin-defence decisions across geographies.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(US$/MT)</a:t>
            </a:r>
          </a:p>
        </p:txBody>
      </p:sp>
      <p:graphicFrame>
        <p:nvGraphicFramePr>
          <p:cNvPr id="13" name="Table 12"/>
          <p:cNvGraphicFramePr>
            <a:graphicFrameLocks noGrp="1"/>
          </p:cNvGraphicFramePr>
          <p:nvPr/>
        </p:nvGraphicFramePr>
        <p:xfrm>
          <a:off x="152400" y="1574749"/>
          <a:ext cx="11887200" cy="1504673"/>
        </p:xfrm>
        <a:graphic>
          <a:graphicData uri="http://schemas.openxmlformats.org/drawingml/2006/table">
            <a:tbl>
              <a:tblPr>
                <a:tableStyleId>{5C22544A-7EE6-4342-B048-85BDC9FD1C3A}</a:tableStyleId>
              </a:tblPr>
              <a:tblGrid>
                <a:gridCol w="3622896"/>
                <a:gridCol w="1377384"/>
                <a:gridCol w="1377384"/>
                <a:gridCol w="1377384"/>
                <a:gridCol w="1377384"/>
                <a:gridCol w="1377384"/>
                <a:gridCol w="1377384"/>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322352">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3,495.65</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5,078.83</a:t>
                      </a:r>
                      <a:endParaRPr sz="1100"/>
                    </a:p>
                  </a:txBody>
                  <a:tcPr marL="47625" marR="38100" marT="19050" marB="19050" anchor="ctr">
                    <a:solidFill>
                      <a:srgbClr val="F5F8FA"/>
                    </a:solidFill>
                  </a:tcPr>
                </a:tc>
              </a:tr>
              <a:tr h="322352">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3,248.16</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3,014.94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691165"/>
        </p:xfrm>
        <a:graphic>
          <a:graphicData uri="http://schemas.openxmlformats.org/drawingml/2006/table">
            <a:tbl>
              <a:tblPr>
                <a:tableStyleId>{5C22544A-7EE6-4342-B048-85BDC9FD1C3A}</a:tableStyleId>
              </a:tblPr>
              <a:tblGrid>
                <a:gridCol w="2867491"/>
                <a:gridCol w="1509479"/>
                <a:gridCol w="1509479"/>
              </a:tblGrid>
              <a:tr h="215265">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759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5636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Average product type price is projected to rise from ~3,280.75 to ~3,709.40 US$/MT by 2036 a +1.2%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'Premade Pouches &amp; Bags' shows the strongest forecast price appreciation (+13.8%) over the horizon.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Upward pressure is led by input cost and demand &amp; market conditions; efficiency and competitive intensity work the other way.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 outlook: modest, structural price appreciation mix and geography will determine realised pricing.</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5–10%</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20–40%</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5–25%</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10–35%</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10–20%</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Flexible Plastic Packaging Market value chain runs from raw-material suppliers through manufacturers, distributors and retailers to end users.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'Manufacturers / Processors' captures the largest value addition (20–40%), reflecting processing and scale advantages.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Forward and backward integration is common some suppliers process, and some large end users produce their own input.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Percentages show each stage's indicative share of value added along the chain.</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Operating Margin by Region &amp; Node</a:t>
            </a:r>
          </a:p>
        </p:txBody>
      </p:sp>
      <p:graphicFrame>
        <p:nvGraphicFramePr>
          <p:cNvPr id="12" name="Table 11"/>
          <p:cNvGraphicFramePr>
            <a:graphicFrameLocks noGrp="1"/>
          </p:cNvGraphicFramePr>
          <p:nvPr/>
        </p:nvGraphicFramePr>
        <p:xfrm>
          <a:off x="152400" y="1238250"/>
          <a:ext cx="11887202" cy="2800353"/>
        </p:xfrm>
        <a:graphic>
          <a:graphicData uri="http://schemas.openxmlformats.org/drawingml/2006/table">
            <a:tbl>
              <a:tblPr>
                <a:tableStyleId>{5C22544A-7EE6-4342-B048-85BDC9FD1C3A}</a:tableStyleId>
              </a:tblPr>
              <a:tblGrid>
                <a:gridCol w="1208402"/>
                <a:gridCol w="2669700"/>
                <a:gridCol w="2669700"/>
                <a:gridCol w="2669700"/>
                <a:gridCol w="266970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Buyers / End-User Assessment</a:t>
            </a:r>
          </a:p>
        </p:txBody>
      </p:sp>
      <p:graphicFrame>
        <p:nvGraphicFramePr>
          <p:cNvPr id="12" name="Table 11"/>
          <p:cNvGraphicFramePr>
            <a:graphicFrameLocks noGrp="1"/>
          </p:cNvGraphicFramePr>
          <p:nvPr/>
        </p:nvGraphicFramePr>
        <p:xfrm>
          <a:off x="152400" y="1238250"/>
          <a:ext cx="11887200" cy="2371725"/>
        </p:xfrm>
        <a:graphic>
          <a:graphicData uri="http://schemas.openxmlformats.org/drawingml/2006/table">
            <a:tbl>
              <a:tblPr>
                <a:tableStyleId>{5C22544A-7EE6-4342-B048-85BDC9FD1C3A}</a:tableStyleId>
              </a:tblPr>
              <a:tblGrid>
                <a:gridCol w="938673"/>
                <a:gridCol w="1486675"/>
                <a:gridCol w="1065550"/>
                <a:gridCol w="1130339"/>
                <a:gridCol w="1605454"/>
                <a:gridCol w="1397591"/>
                <a:gridCol w="1405647"/>
                <a:gridCol w="1351699"/>
                <a:gridCol w="1505572"/>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6,520,131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6,090,395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4,504,817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3,877,502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6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Dynamics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country of the Middle East &amp; Africa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Country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Turkey</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(24.2% share), Installed demand (8.1% CAGR), Rollstock Films demand, Accelerating vs history.</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13 BPS, Rising realisation (1.3%).</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(8.2%), 2,064 US$ Mn headroom.</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Saudi Arabia</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(20.1% share), Above-market pace (9.1%), Rollstock Films demand, Accelerating vs history.</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(1.3%).</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Sachets &amp; Stick Packs (9.4%), Mix shift to Rollstock Films, 1,832 US$ Mn headroom.</a:t>
            </a:r>
          </a:p>
        </p:txBody>
      </p:sp>
      <p:sp>
        <p:nvSpPr>
          <p:cNvPr id="27" name="Rectangle 26"/>
          <p:cNvSpPr/>
          <p:nvPr/>
        </p:nvSpPr>
        <p:spPr>
          <a:xfrm>
            <a:off x="142875" y="2540572"/>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54057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Rest of MEA</a:t>
            </a:r>
          </a:p>
        </p:txBody>
      </p:sp>
      <p:sp>
        <p:nvSpPr>
          <p:cNvPr id="29" name="TextBox 28"/>
          <p:cNvSpPr txBox="1"/>
          <p:nvPr/>
        </p:nvSpPr>
        <p:spPr>
          <a:xfrm>
            <a:off x="1724025" y="2567952"/>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(14.8% share), Above-market pace (8.8%), Rollstock Films demand, Accelerating vs history.</a:t>
            </a:r>
          </a:p>
        </p:txBody>
      </p:sp>
      <p:sp>
        <p:nvSpPr>
          <p:cNvPr id="30" name="TextBox 29"/>
          <p:cNvSpPr txBox="1"/>
          <p:nvPr/>
        </p:nvSpPr>
        <p:spPr>
          <a:xfrm>
            <a:off x="5534025" y="2567952"/>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(1.2%).</a:t>
            </a:r>
          </a:p>
        </p:txBody>
      </p:sp>
      <p:sp>
        <p:nvSpPr>
          <p:cNvPr id="31" name="TextBox 30"/>
          <p:cNvSpPr txBox="1"/>
          <p:nvPr/>
        </p:nvSpPr>
        <p:spPr>
          <a:xfrm>
            <a:off x="8391525" y="2567952"/>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Sachets &amp; Stick Packs (9.1%), Mix shift to Premade Pouches &amp; Bags, 1,329 US$ Mn headroom.</a:t>
            </a:r>
          </a:p>
        </p:txBody>
      </p:sp>
      <p:sp>
        <p:nvSpPr>
          <p:cNvPr id="32" name="Rectangle 31"/>
          <p:cNvSpPr/>
          <p:nvPr/>
        </p:nvSpPr>
        <p:spPr>
          <a:xfrm>
            <a:off x="142875" y="3051675"/>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305167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UAE</a:t>
            </a:r>
          </a:p>
        </p:txBody>
      </p:sp>
      <p:sp>
        <p:nvSpPr>
          <p:cNvPr id="34" name="TextBox 33"/>
          <p:cNvSpPr txBox="1"/>
          <p:nvPr/>
        </p:nvSpPr>
        <p:spPr>
          <a:xfrm>
            <a:off x="1724025" y="307905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(7.5% CAGR), Rollstock Films demand, Accelerating vs history.</a:t>
            </a:r>
          </a:p>
        </p:txBody>
      </p:sp>
      <p:sp>
        <p:nvSpPr>
          <p:cNvPr id="35" name="TextBox 34"/>
          <p:cNvSpPr txBox="1"/>
          <p:nvPr/>
        </p:nvSpPr>
        <p:spPr>
          <a:xfrm>
            <a:off x="5534025" y="307905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77 BPS, Rising realisation (1.3%).</a:t>
            </a:r>
          </a:p>
        </p:txBody>
      </p:sp>
      <p:sp>
        <p:nvSpPr>
          <p:cNvPr id="36" name="TextBox 35"/>
          <p:cNvSpPr txBox="1"/>
          <p:nvPr/>
        </p:nvSpPr>
        <p:spPr>
          <a:xfrm>
            <a:off x="8391525" y="307905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(7.6%), 973.2 US$ Mn headroom.</a:t>
            </a:r>
          </a:p>
        </p:txBody>
      </p:sp>
      <p:sp>
        <p:nvSpPr>
          <p:cNvPr id="37" name="Rectangle 36"/>
          <p:cNvSpPr/>
          <p:nvPr/>
        </p:nvSpPr>
        <p:spPr>
          <a:xfrm>
            <a:off x="142875" y="3562779"/>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3562779"/>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South Africa</a:t>
            </a:r>
          </a:p>
        </p:txBody>
      </p:sp>
      <p:sp>
        <p:nvSpPr>
          <p:cNvPr id="39" name="TextBox 38"/>
          <p:cNvSpPr txBox="1"/>
          <p:nvPr/>
        </p:nvSpPr>
        <p:spPr>
          <a:xfrm>
            <a:off x="1724025" y="359015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(8.0% CAGR), Rollstock Films demand, Accelerating vs history.</a:t>
            </a:r>
          </a:p>
        </p:txBody>
      </p:sp>
      <p:sp>
        <p:nvSpPr>
          <p:cNvPr id="40" name="TextBox 39"/>
          <p:cNvSpPr txBox="1"/>
          <p:nvPr/>
        </p:nvSpPr>
        <p:spPr>
          <a:xfrm>
            <a:off x="5534025" y="359015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21 BPS, Rising realisation (1.4%).</a:t>
            </a:r>
          </a:p>
        </p:txBody>
      </p:sp>
      <p:sp>
        <p:nvSpPr>
          <p:cNvPr id="41" name="TextBox 40"/>
          <p:cNvSpPr txBox="1"/>
          <p:nvPr/>
        </p:nvSpPr>
        <p:spPr>
          <a:xfrm>
            <a:off x="8391525" y="359015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Rollstock Films (8.2%), 994.9 US$ Mn headroom.</a:t>
            </a:r>
          </a:p>
        </p:txBody>
      </p:sp>
      <p:sp>
        <p:nvSpPr>
          <p:cNvPr id="42" name="Rectangle 41"/>
          <p:cNvSpPr/>
          <p:nvPr/>
        </p:nvSpPr>
        <p:spPr>
          <a:xfrm>
            <a:off x="142875" y="4073882"/>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407388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Rest of GCC</a:t>
            </a:r>
          </a:p>
        </p:txBody>
      </p:sp>
      <p:sp>
        <p:nvSpPr>
          <p:cNvPr id="44" name="TextBox 43"/>
          <p:cNvSpPr txBox="1"/>
          <p:nvPr/>
        </p:nvSpPr>
        <p:spPr>
          <a:xfrm>
            <a:off x="1724025" y="4101263"/>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Above-market pace (8.8%), Rollstock Films demand, Accelerating vs history.</a:t>
            </a:r>
          </a:p>
        </p:txBody>
      </p:sp>
      <p:sp>
        <p:nvSpPr>
          <p:cNvPr id="45" name="TextBox 44"/>
          <p:cNvSpPr txBox="1"/>
          <p:nvPr/>
        </p:nvSpPr>
        <p:spPr>
          <a:xfrm>
            <a:off x="5534025" y="4101263"/>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(1.4%).</a:t>
            </a:r>
          </a:p>
        </p:txBody>
      </p:sp>
      <p:sp>
        <p:nvSpPr>
          <p:cNvPr id="46" name="TextBox 45"/>
          <p:cNvSpPr txBox="1"/>
          <p:nvPr/>
        </p:nvSpPr>
        <p:spPr>
          <a:xfrm>
            <a:off x="8391525" y="4101263"/>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Barrier Casings (9.5%), 941.1 US$ Mn headroom.</a:t>
            </a:r>
          </a:p>
        </p:txBody>
      </p:sp>
      <p:sp>
        <p:nvSpPr>
          <p:cNvPr id="47" name="Rectangle 46"/>
          <p:cNvSpPr/>
          <p:nvPr/>
        </p:nvSpPr>
        <p:spPr>
          <a:xfrm>
            <a:off x="142875" y="4584986"/>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00025" y="4584986"/>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Israel</a:t>
            </a:r>
          </a:p>
        </p:txBody>
      </p:sp>
      <p:sp>
        <p:nvSpPr>
          <p:cNvPr id="49" name="TextBox 48"/>
          <p:cNvSpPr txBox="1"/>
          <p:nvPr/>
        </p:nvSpPr>
        <p:spPr>
          <a:xfrm>
            <a:off x="1724025" y="461236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(6.3% CAGR), Rollstock Films demand, Accelerating vs history.</a:t>
            </a:r>
          </a:p>
        </p:txBody>
      </p:sp>
      <p:sp>
        <p:nvSpPr>
          <p:cNvPr id="50" name="TextBox 49"/>
          <p:cNvSpPr txBox="1"/>
          <p:nvPr/>
        </p:nvSpPr>
        <p:spPr>
          <a:xfrm>
            <a:off x="5534025" y="461236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192 BPS, Rising realisation (1.2%).</a:t>
            </a:r>
          </a:p>
        </p:txBody>
      </p:sp>
      <p:sp>
        <p:nvSpPr>
          <p:cNvPr id="51" name="TextBox 50"/>
          <p:cNvSpPr txBox="1"/>
          <p:nvPr/>
        </p:nvSpPr>
        <p:spPr>
          <a:xfrm>
            <a:off x="8391525" y="461236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(6.6%), 476.5 US$ Mn headroom.</a:t>
            </a:r>
          </a:p>
        </p:txBody>
      </p:sp>
      <p:cxnSp>
        <p:nvCxnSpPr>
          <p:cNvPr id="52" name="Connector 51"/>
          <p:cNvCxnSpPr/>
          <p:nvPr/>
        </p:nvCxnSpPr>
        <p:spPr>
          <a:xfrm>
            <a:off x="142875" y="5096089"/>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00025" y="5114343"/>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54" name="Rounded Rectangle 53"/>
          <p:cNvSpPr/>
          <p:nvPr/>
        </p:nvSpPr>
        <p:spPr>
          <a:xfrm>
            <a:off x="142875" y="5369895"/>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76225" y="5406402"/>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56" name="Connector 55"/>
          <p:cNvCxnSpPr/>
          <p:nvPr/>
        </p:nvCxnSpPr>
        <p:spPr>
          <a:xfrm>
            <a:off x="276225" y="5643700"/>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76225" y="5698461"/>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Turkey, Saudi Arabia, Rest of MEA anchor scale with a combined 59.1% of Middle East &amp; Africa value in 2036, while 'Saudi Arabia' offers the steepest upside at 9.1% CAGR against a market pace of 8.3%. 3 of 7 countries grow at or above that pace, so entry logic has to differ by country scale defence in the leaders, mix and premiumisation in the mid-tier, and availability-led expansion in the fastest movers.</a:t>
            </a:r>
          </a:p>
        </p:txBody>
      </p:sp>
      <p:sp>
        <p:nvSpPr>
          <p:cNvPr id="58" name="TextBox 5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Middle East &amp; Africa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1919946"/>
            <a:ext cx="2324100" cy="3313046"/>
          </a:xfrm>
          <a:custGeom>
            <a:avLst/>
            <a:gdLst/>
            <a:ahLst/>
            <a:cxnLst/>
            <a:rect l="l" t="t" r="r" b="b"/>
            <a:pathLst>
              <a:path w="244" h="363">
                <a:moveTo>
                  <a:pt x="244" y="0"/>
                </a:moveTo>
                <a:lnTo>
                  <a:pt x="167" y="56"/>
                </a:lnTo>
                <a:lnTo>
                  <a:pt x="49" y="60"/>
                </a:lnTo>
                <a:lnTo>
                  <a:pt x="126" y="189"/>
                </a:lnTo>
                <a:lnTo>
                  <a:pt x="0" y="272"/>
                </a:lnTo>
                <a:lnTo>
                  <a:pt x="119" y="316"/>
                </a:lnTo>
                <a:lnTo>
                  <a:pt x="230" y="244"/>
                </a:lnTo>
                <a:lnTo>
                  <a:pt x="244" y="36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Production Scale-up  15.9%</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Input Cost Pressure  13.2%</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Capacity Add  18.5%</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Supply Concentration  8.9%</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Geographic Spread  18.5%</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Portfolio Breadth  11.9%</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Route Depth  2.3%</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Value Realisation  10.9%</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Supply-side conditions are led by Capacity Add (10.0/10), Geographic Spread (10.0/10), Production Scale-up (8.6/10) on a 0-10 scale scored from the middle east &amp; africa dataset itself.</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Volume expands at 6.9% CAGR (2026–2036) while average realisation moves 1.3% a year the balance of those two sets the cost-pass-through picture.</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 is dispersed: 'Turkey' holds 24.2% of 2036 value across 7 countries.</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4 product type lines and 2 application routes, giving producers focused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Capacity added between 2026 and 2036 is worth 8,610 US$ Mn, a 2.2× expansion on the 2026 base.</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Middle East &amp; Africa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011214"/>
            <a:ext cx="1666875" cy="3550344"/>
          </a:xfrm>
          <a:custGeom>
            <a:avLst/>
            <a:gdLst/>
            <a:ahLst/>
            <a:cxnLst/>
            <a:rect l="l" t="t" r="r" b="b"/>
            <a:pathLst>
              <a:path w="175" h="389">
                <a:moveTo>
                  <a:pt x="0" y="0"/>
                </a:moveTo>
                <a:lnTo>
                  <a:pt x="79" y="42"/>
                </a:lnTo>
                <a:lnTo>
                  <a:pt x="24" y="187"/>
                </a:lnTo>
                <a:lnTo>
                  <a:pt x="94" y="185"/>
                </a:lnTo>
                <a:lnTo>
                  <a:pt x="175" y="246"/>
                </a:lnTo>
                <a:lnTo>
                  <a:pt x="146" y="322"/>
                </a:lnTo>
                <a:lnTo>
                  <a:pt x="88" y="389"/>
                </a:lnTo>
                <a:lnTo>
                  <a:pt x="0" y="260"/>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Demand Growth  18.1%</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Premiumisation  16.0%</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App. Breadth  2.7%</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Emerging Pull  8.4%</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Volume Momentum  15.8%</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Category Maturity  16.4%</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Adoption Depth  17.9%</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Consumer Reach  4.7%</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Demand-side conditions are led by Demand Growth (8.3/10), Adoption Depth (8.1/10), Category Maturity (7.5/10) on a 0-10 scale scored from the middle east &amp; africa dataset itself.</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Value grows at 8.3% against volume at 6.9% a premiumising market through 2036.</a:t>
            </a:r>
          </a:p>
        </p:txBody>
      </p:sp>
      <p:sp>
        <p:nvSpPr>
          <p:cNvPr id="63" name="TextBox 62"/>
          <p:cNvSpPr txBox="1"/>
          <p:nvPr/>
        </p:nvSpPr>
        <p:spPr>
          <a:xfrm>
            <a:off x="180975" y="215724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'Rollstock Films' carries 53.9% of product type demand while 'Premade Pouches &amp; Bags' compounds fastest at 8.3%.</a:t>
            </a:r>
          </a:p>
        </p:txBody>
      </p:sp>
      <p:sp>
        <p:nvSpPr>
          <p:cNvPr id="64" name="TextBox 63"/>
          <p:cNvSpPr txBox="1"/>
          <p:nvPr/>
        </p:nvSpPr>
        <p:spPr>
          <a:xfrm>
            <a:off x="180975" y="261358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Pull is strongest in 'Saudi Arabia' (9.1% CAGR, +81 BPS versus the market), with 3 of 7 countries at or above pace.</a:t>
            </a:r>
          </a:p>
        </p:txBody>
      </p:sp>
      <p:sp>
        <p:nvSpPr>
          <p:cNvPr id="65" name="TextBox 64"/>
          <p:cNvSpPr txBox="1"/>
          <p:nvPr/>
        </p:nvSpPr>
        <p:spPr>
          <a:xfrm>
            <a:off x="180975" y="3069929"/>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Reach runs through 2 application routes, led by 'Food Packaging' at 83.8% and with 'Food Packaging' growing fastest at 8.3%.</a:t>
            </a:r>
          </a:p>
        </p:txBody>
      </p:sp>
      <p:sp>
        <p:nvSpPr>
          <p:cNvPr id="66" name="TextBox 65"/>
          <p:cNvSpPr txBox="1"/>
          <p:nvPr/>
        </p:nvSpPr>
        <p:spPr>
          <a:xfrm>
            <a:off x="180975" y="3526271"/>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Middle East &amp; Africa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Barrier Casings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'Barrier Casings' grows at only 8.1% CAGR against the market's 8.3%, a -20 BPS gap, and 'Barrier Casings' surrenders 21 BPS of product type share between 2026 and 2036. Because these lines still carry meaningful volume, the drag is absorbed by the whole category: blended growth sits below what the leading lines achieve on their own. Rationalising or repositioning the lagging end of a 4-line portfolio is therefore a precondition for realising the headline forecast.</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Country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'Israel' grows at just 6.3% CAGR -192 BPS against the market and 4 of 7 countries sit below the market pace altogether. Demand is therefore not uniformly available: suppliers carrying a broad geographic footprint fund presence in slow countries out of returns earned in the fast ones. With 'Turkey' at 24.2% of value, a shortfall in a single leading country is difficult to offset elsewhere in the forecast window.</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is concentrated: 'Turkey' accounts for 24.2% of 2036 value and the leading product type line for 53.9% of its segment. Average realisation moves 1.3% a year, so cost movements cannot be passed on evenly across 7 countries. The practical constraint is the same in either case commercial terms set for the market as a whole underserve part of it, and margin is lost in the mismatch rather than in the headline growth rate.</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Middle East &amp; Africa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Turkey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'Turkey' adds 2,064 US$ Mn between 2026 and 2036 the single largest absolute increment of any geography in the dataset. Capturing it is a question of scale execution rather than market creation: demand already exists and grows at 8.3% at the market level. Prioritising supply, channel coverage and service levels there converts the largest share of the 8,610 US$ Mn the whole market adds over the forecast period.</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Saudi Arabia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'Saudi Arabia' compounds at 9.1% CAGR from a below-median base one of 1 geographies in the dataset combining above-median growth with below-median size. That profile is where share is cheapest to buy: competitive intensity is lower than in the 24.2%-share leaders, while growth runs +81 BPS ahead of the market. Early distribution and reference accounts established here compound through 2036.</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Food Packaging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'Food Packaging' grows at 8.3% CAGR, the fastest of 2 application routes, and adds 7,220 US$ Mn over the forecast period while 'Food Packaging' still carries 83.8% of demand today. Pairing the incumbent route for volume with the fastest route for growth and leading with 'Premade Pouches &amp; Bags' at 8.3% is the highest-yield combination the dataset supports.</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Flexible Plastic Packaging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Middle East &amp; Africa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296013"/>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296013"/>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296013"/>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668957"/>
            <a:ext cx="102108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Strongest historical expansion on record: Middle East &amp; Africa value rose +6.2% year on year to 6,650 US$ Mn, the steepest single-year move of the 2021–2025 period. Demand for 'Rollstock Films' 53.9% of product type value by 2036 set the pace, and the 2 application routes tracked here all carried volume through the year.</a:t>
            </a:r>
          </a:p>
        </p:txBody>
      </p:sp>
      <p:sp>
        <p:nvSpPr>
          <p:cNvPr id="18" name="Rectangle 17"/>
          <p:cNvSpPr/>
          <p:nvPr/>
        </p:nvSpPr>
        <p:spPr>
          <a:xfrm>
            <a:off x="142875" y="26135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6135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6135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905646"/>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Base year for the forecast: the middle east &amp; africa market is estimated at 7,108 US$ Mn, having compounded at 6.0% across 2021–2025. 'Turkey' holds 24.2% of value across 7 countries, and the forecast is built from 6 segment breakdowns covering 4 product type lines.</a:t>
            </a:r>
          </a:p>
        </p:txBody>
      </p:sp>
      <p:sp>
        <p:nvSpPr>
          <p:cNvPr id="22" name="Rectangle 21"/>
          <p:cNvSpPr/>
          <p:nvPr/>
        </p:nvSpPr>
        <p:spPr>
          <a:xfrm>
            <a:off x="142875" y="35992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35992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2032</a:t>
            </a:r>
          </a:p>
        </p:txBody>
      </p:sp>
      <p:cxnSp>
        <p:nvCxnSpPr>
          <p:cNvPr id="24" name="Connector 23"/>
          <p:cNvCxnSpPr/>
          <p:nvPr/>
        </p:nvCxnSpPr>
        <p:spPr>
          <a:xfrm>
            <a:off x="1571625" y="35992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8913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passes 10,662 US$ Mn one and a half times the 2026 base reaching 11,309 US$ Mn. Growth by this point is led by 'Premade Pouches &amp; Bags' at 8.3% CAGR and by 'Saudi Arabia' among countries at 9.1%, with 3 of 7 countries running at or above the market rate.</a:t>
            </a:r>
          </a:p>
        </p:txBody>
      </p:sp>
      <p:sp>
        <p:nvSpPr>
          <p:cNvPr id="26" name="Rectangle 25"/>
          <p:cNvSpPr/>
          <p:nvPr/>
        </p:nvSpPr>
        <p:spPr>
          <a:xfrm>
            <a:off x="142875" y="45849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45849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8" name="Connector 27"/>
          <p:cNvCxnSpPr/>
          <p:nvPr/>
        </p:nvCxnSpPr>
        <p:spPr>
          <a:xfrm>
            <a:off x="1571625" y="45849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8770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Mid-horizon checkpoint: value reaches 10,408 US$ Mn, 1.46× the 2026 base. Average realisation stands at 3154.57 US$/MT, and mix has moved +12 BPS toward 'Premade Pouches &amp; Bags' while 'Barrier Casings' gives up 21 BPS.</a:t>
            </a:r>
          </a:p>
        </p:txBody>
      </p:sp>
      <p:sp>
        <p:nvSpPr>
          <p:cNvPr id="30" name="Rectangle 29"/>
          <p:cNvSpPr/>
          <p:nvPr/>
        </p:nvSpPr>
        <p:spPr>
          <a:xfrm>
            <a:off x="142875" y="55706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142875" y="55706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32" name="Connector 31"/>
          <p:cNvCxnSpPr/>
          <p:nvPr/>
        </p:nvCxnSpPr>
        <p:spPr>
          <a:xfrm>
            <a:off x="1571625" y="55706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8627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Forecast outcome: the middle east &amp; africa market reaches 15,718 US$ Mn, a 2.2× expansion on 2026 and 8,610 US$ Mn of incremental value at 8.3% CAGR. Volume compounds at 6.9% over the same window, leaving realisation 1.3% a year the gap between the two is the premiumisation the forecast assumes.</a:t>
            </a:r>
          </a:p>
        </p:txBody>
      </p:sp>
      <p:sp>
        <p:nvSpPr>
          <p:cNvPr id="34" name="TextBox 3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Middle East &amp; Africa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Supplier power, buyer power, competitive intensity, substitution and entry barriers scored from the middle east &amp; africa dataset 4 product type lines, 2 application routes and 7 countries at 8.3% CAGR.</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to high. 'Turkey' supplies 24.2% of 2036 value across 7 countries, concentrating upstream leverage.</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Average realisation moves 1.3% a year (2026–2036), indicating input costs are being passed through.</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4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Demand routes through 2 application channels led by 'Food Packaging' at 83.8%, giving large buyers scale.</a:t>
            </a:r>
          </a:p>
        </p:txBody>
      </p:sp>
      <p:sp>
        <p:nvSpPr>
          <p:cNvPr id="25" name="TextBox 24"/>
          <p:cNvSpPr txBox="1"/>
          <p:nvPr/>
        </p:nvSpPr>
        <p:spPr>
          <a:xfrm>
            <a:off x="262890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Price sensitivity tracks realisation moving 1.3% a year against volume growth of 6.9%.</a:t>
            </a:r>
          </a:p>
        </p:txBody>
      </p:sp>
      <p:sp>
        <p:nvSpPr>
          <p:cNvPr id="26" name="TextBox 25"/>
          <p:cNvSpPr txBox="1"/>
          <p:nvPr/>
        </p:nvSpPr>
        <p:spPr>
          <a:xfrm>
            <a:off x="26289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4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4 product type lines compete inside the segment; the leader holds 53.9%.</a:t>
            </a:r>
          </a:p>
        </p:txBody>
      </p:sp>
      <p:sp>
        <p:nvSpPr>
          <p:cNvPr id="36" name="TextBox 35"/>
          <p:cNvSpPr txBox="1"/>
          <p:nvPr/>
        </p:nvSpPr>
        <p:spPr>
          <a:xfrm>
            <a:off x="5010150" y="3480637"/>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Growth is unevenly distributed 'Premade Pouches &amp; Bags' at 8.3% against 'Barrier Casings' at 8.1%.</a:t>
            </a:r>
          </a:p>
        </p:txBody>
      </p:sp>
      <p:sp>
        <p:nvSpPr>
          <p:cNvPr id="37" name="TextBox 36"/>
          <p:cNvSpPr txBox="1"/>
          <p:nvPr/>
        </p:nvSpPr>
        <p:spPr>
          <a:xfrm>
            <a:off x="501015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3 of 7 countries grow at or above the 8.3% market pace, keeping share contested.</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'Barrier Casings' loses 21 BPS of share to 'Premade Pouches &amp; Bags' (+12 BPS) by 2036 substitution is visible inside the mix.</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The slowest line grows at 8.1%, -20 BPS against the market.</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Realisation moving 1.3% a year widens the price gap substitutes must close.</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high. The market grows at 8.3% CAGR and adds 8,610 US$ Mn by 2036, attracting entry.</a:t>
            </a:r>
          </a:p>
        </p:txBody>
      </p:sp>
      <p:sp>
        <p:nvSpPr>
          <p:cNvPr id="55" name="TextBox 54"/>
          <p:cNvSpPr txBox="1"/>
          <p:nvPr/>
        </p:nvSpPr>
        <p:spPr>
          <a:xfrm>
            <a:off x="9772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 spreads over 7 countries with no single one above 24.2%, so regional entry is feasible.</a:t>
            </a:r>
          </a:p>
        </p:txBody>
      </p:sp>
      <p:sp>
        <p:nvSpPr>
          <p:cNvPr id="56" name="TextBox 55"/>
          <p:cNvSpPr txBox="1"/>
          <p:nvPr/>
        </p:nvSpPr>
        <p:spPr>
          <a:xfrm>
            <a:off x="9772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Incumbent scale in 'Turkey' and 'Rollstock Films' (53.9% of segment) remains the principal barrier.</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1">
                          <a:solidFill>
                            <a:srgbClr val="000000"/>
                          </a:solidFill>
                          <a:latin typeface="Calibri"/>
                        </a:rPr>
                        <a:t>1.1.1.1.</a:t>
                      </a:r>
                      <a:r>
                        <a:rPr sz="700" b="0" i="1">
                          <a:solidFill>
                            <a:srgbClr val="000000"/>
                          </a:solidFill>
                          <a:latin typeface="Times New Roman"/>
                        </a:rPr>
                        <a:t>    </a:t>
                      </a:r>
                      <a:r>
                        <a:rPr sz="1100" b="0" i="1">
                          <a:solidFill>
                            <a:srgbClr val="000000"/>
                          </a:solidFill>
                          <a:latin typeface="Calibri"/>
                        </a:rPr>
                        <a:t>Key Supply Trends</a:t>
                      </a:r>
                      <a:endParaRPr sz="1100"/>
                    </a:p>
                  </a:txBody>
                  <a:tcPr marL="10287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0" i="1">
                          <a:solidFill>
                            <a:srgbClr val="000000"/>
                          </a:solidFill>
                          <a:latin typeface="Calibri"/>
                        </a:rPr>
                        <a:t>2.2.1.1.</a:t>
                      </a:r>
                      <a:r>
                        <a:rPr sz="700" b="0" i="1">
                          <a:solidFill>
                            <a:srgbClr val="000000"/>
                          </a:solidFill>
                          <a:latin typeface="Times New Roman"/>
                        </a:rPr>
                        <a:t>    </a:t>
                      </a:r>
                      <a:r>
                        <a:rPr sz="1100" b="0" i="1">
                          <a:solidFill>
                            <a:srgbClr val="000000"/>
                          </a:solidFill>
                          <a:latin typeface="Calibri"/>
                        </a:rPr>
                        <a:t>Global Market Size (Value &amp; Volume) 2021–2036</a:t>
                      </a:r>
                      <a:endParaRPr sz="1100"/>
                    </a:p>
                  </a:txBody>
                  <a:tcPr marL="1028700"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Flat Polybags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Standard Flat Bags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Lay Flat Tubing</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Flat Poly Sleeves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Gusseted Polybags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Side Gusset Bags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Bottom Gusset Bags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Quad Seal Bags</a:t>
                      </a:r>
                      <a:endParaRPr sz="1100"/>
                    </a:p>
                  </a:txBody>
                  <a:tcPr marL="1028700"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Resealable Polybags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3.5.3.1.</a:t>
                      </a:r>
                      <a:r>
                        <a:rPr sz="700" b="0" i="1">
                          <a:solidFill>
                            <a:srgbClr val="000000"/>
                          </a:solidFill>
                          <a:latin typeface="Times New Roman"/>
                        </a:rPr>
                        <a:t>    </a:t>
                      </a:r>
                      <a:r>
                        <a:rPr sz="1100" b="0" i="1">
                          <a:solidFill>
                            <a:srgbClr val="000000"/>
                          </a:solidFill>
                          <a:latin typeface="Calibri"/>
                        </a:rPr>
                        <a:t>Zip Lock Bags</a:t>
                      </a:r>
                      <a:endParaRPr sz="1100"/>
                    </a:p>
                  </a:txBody>
                  <a:tcPr marL="1028700" marR="9525" marT="9525" marB="0" anchor="ctr"/>
                </a:tc>
              </a:tr>
              <a:tr h="175260">
                <a:tc>
                  <a:txBody>
                    <a:bodyPr wrap="square"/>
                    <a:lstStyle/>
                    <a:p>
                      <a:pPr algn="l"/>
                      <a:r>
                        <a:rPr sz="1100" b="0" i="1">
                          <a:solidFill>
                            <a:srgbClr val="000000"/>
                          </a:solidFill>
                          <a:latin typeface="Calibri"/>
                        </a:rPr>
                        <a:t>3.5.3.2.</a:t>
                      </a:r>
                      <a:r>
                        <a:rPr sz="700" b="0" i="1">
                          <a:solidFill>
                            <a:srgbClr val="000000"/>
                          </a:solidFill>
                          <a:latin typeface="Times New Roman"/>
                        </a:rPr>
                        <a:t>    </a:t>
                      </a:r>
                      <a:r>
                        <a:rPr sz="1100" b="0" i="1">
                          <a:solidFill>
                            <a:srgbClr val="000000"/>
                          </a:solidFill>
                          <a:latin typeface="Calibri"/>
                        </a:rPr>
                        <a:t>Slider Zip Bags</a:t>
                      </a:r>
                      <a:endParaRPr sz="1100"/>
                    </a:p>
                  </a:txBody>
                  <a:tcPr marL="1028700" marR="9525" marT="9525" marB="0" anchor="ctr"/>
                </a:tc>
              </a:tr>
              <a:tr h="175260">
                <a:tc>
                  <a:txBody>
                    <a:bodyPr wrap="square"/>
                    <a:lstStyle/>
                    <a:p>
                      <a:pPr algn="l"/>
                      <a:r>
                        <a:rPr sz="1100" b="0" i="1">
                          <a:solidFill>
                            <a:srgbClr val="000000"/>
                          </a:solidFill>
                          <a:latin typeface="Calibri"/>
                        </a:rPr>
                        <a:t>3.5.3.3.</a:t>
                      </a:r>
                      <a:r>
                        <a:rPr sz="700" b="0" i="1">
                          <a:solidFill>
                            <a:srgbClr val="000000"/>
                          </a:solidFill>
                          <a:latin typeface="Times New Roman"/>
                        </a:rPr>
                        <a:t>    </a:t>
                      </a:r>
                      <a:r>
                        <a:rPr sz="1100" b="0" i="1">
                          <a:solidFill>
                            <a:srgbClr val="000000"/>
                          </a:solidFill>
                          <a:latin typeface="Calibri"/>
                        </a:rPr>
                        <a:t>Press-to-Close Bags</a:t>
                      </a:r>
                      <a:endParaRPr sz="1100"/>
                    </a:p>
                  </a:txBody>
                  <a:tcPr marL="1028700" marR="9525" marT="9525" marB="0" anchor="ctr"/>
                </a:tc>
              </a:tr>
              <a:tr h="175260">
                <a:tc>
                  <a:txBody>
                    <a:bodyPr wrap="square"/>
                    <a:lstStyle/>
                    <a:p>
                      <a:pPr algn="l"/>
                      <a:r>
                        <a:rPr sz="1100" b="0" i="1">
                          <a:solidFill>
                            <a:srgbClr val="000000"/>
                          </a:solidFill>
                          <a:latin typeface="Calibri"/>
                        </a:rPr>
                        <a:t>3.5.3.4.</a:t>
                      </a:r>
                      <a:r>
                        <a:rPr sz="700" b="0" i="1">
                          <a:solidFill>
                            <a:srgbClr val="000000"/>
                          </a:solidFill>
                          <a:latin typeface="Times New Roman"/>
                        </a:rPr>
                        <a:t>    </a:t>
                      </a:r>
                      <a:r>
                        <a:rPr sz="1100" b="0" i="1">
                          <a:solidFill>
                            <a:srgbClr val="000000"/>
                          </a:solidFill>
                          <a:latin typeface="Calibri"/>
                        </a:rPr>
                        <a:t>Double Zip Bags</a:t>
                      </a:r>
                      <a:endParaRPr sz="1100"/>
                    </a:p>
                  </a:txBody>
                  <a:tcPr marL="1028700"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Industrial Polybags</a:t>
                      </a:r>
                      <a:endParaRPr sz="1100"/>
                    </a:p>
                  </a:txBody>
                  <a:tcPr marL="771525" marR="9525" marT="9525" marB="0" anchor="ctr"/>
                </a:tc>
              </a:tr>
              <a:tr h="175260">
                <a:tc>
                  <a:txBody>
                    <a:bodyPr wrap="square"/>
                    <a:lstStyle/>
                    <a:p>
                      <a:pPr algn="l"/>
                      <a:r>
                        <a:rPr sz="1100" b="0" i="1">
                          <a:solidFill>
                            <a:srgbClr val="000000"/>
                          </a:solidFill>
                          <a:latin typeface="Calibri"/>
                        </a:rPr>
                        <a:t>3.5.4.1.</a:t>
                      </a:r>
                      <a:r>
                        <a:rPr sz="700" b="0" i="1">
                          <a:solidFill>
                            <a:srgbClr val="000000"/>
                          </a:solidFill>
                          <a:latin typeface="Times New Roman"/>
                        </a:rPr>
                        <a:t>    </a:t>
                      </a:r>
                      <a:r>
                        <a:rPr sz="1100" b="0" i="1">
                          <a:solidFill>
                            <a:srgbClr val="000000"/>
                          </a:solidFill>
                          <a:latin typeface="Calibri"/>
                        </a:rPr>
                        <a:t>Heavy-Duty Bags</a:t>
                      </a:r>
                      <a:endParaRPr sz="1100"/>
                    </a:p>
                  </a:txBody>
                  <a:tcPr marL="1028700" marR="9525" marT="9525" marB="0" anchor="ctr"/>
                </a:tc>
              </a:tr>
              <a:tr h="175260">
                <a:tc>
                  <a:txBody>
                    <a:bodyPr wrap="square"/>
                    <a:lstStyle/>
                    <a:p>
                      <a:pPr algn="l"/>
                      <a:r>
                        <a:rPr sz="1100" b="0" i="1">
                          <a:solidFill>
                            <a:srgbClr val="000000"/>
                          </a:solidFill>
                          <a:latin typeface="Calibri"/>
                        </a:rPr>
                        <a:t>3.5.4.2.</a:t>
                      </a:r>
                      <a:r>
                        <a:rPr sz="700" b="0" i="1">
                          <a:solidFill>
                            <a:srgbClr val="000000"/>
                          </a:solidFill>
                          <a:latin typeface="Times New Roman"/>
                        </a:rPr>
                        <a:t>    </a:t>
                      </a:r>
                      <a:r>
                        <a:rPr sz="1100" b="0" i="1">
                          <a:solidFill>
                            <a:srgbClr val="000000"/>
                          </a:solidFill>
                          <a:latin typeface="Calibri"/>
                        </a:rPr>
                        <a:t>FIBC Liners</a:t>
                      </a:r>
                      <a:endParaRPr sz="1100"/>
                    </a:p>
                  </a:txBody>
                  <a:tcPr marL="1028700" marR="9525" marT="9525" marB="0" anchor="ctr"/>
                </a:tc>
              </a:tr>
              <a:tr h="175260">
                <a:tc>
                  <a:txBody>
                    <a:bodyPr wrap="square"/>
                    <a:lstStyle/>
                    <a:p>
                      <a:pPr algn="l"/>
                      <a:r>
                        <a:rPr sz="1100" b="0" i="1">
                          <a:solidFill>
                            <a:srgbClr val="000000"/>
                          </a:solidFill>
                          <a:latin typeface="Calibri"/>
                        </a:rPr>
                        <a:t>3.5.4.3.</a:t>
                      </a:r>
                      <a:r>
                        <a:rPr sz="700" b="0" i="1">
                          <a:solidFill>
                            <a:srgbClr val="000000"/>
                          </a:solidFill>
                          <a:latin typeface="Times New Roman"/>
                        </a:rPr>
                        <a:t>    </a:t>
                      </a:r>
                      <a:r>
                        <a:rPr sz="1100" b="0" i="1">
                          <a:solidFill>
                            <a:srgbClr val="000000"/>
                          </a:solidFill>
                          <a:latin typeface="Calibri"/>
                        </a:rPr>
                        <a:t>Machinery Parts Bags</a:t>
                      </a:r>
                      <a:endParaRPr sz="1100"/>
                    </a:p>
                  </a:txBody>
                  <a:tcPr marL="1028700" marR="9525" marT="9525" marB="0" anchor="ctr"/>
                </a:tc>
              </a:tr>
              <a:tr h="175260">
                <a:tc>
                  <a:txBody>
                    <a:bodyPr wrap="square"/>
                    <a:lstStyle/>
                    <a:p>
                      <a:pPr algn="l"/>
                      <a:r>
                        <a:rPr sz="1100" b="0" i="1">
                          <a:solidFill>
                            <a:srgbClr val="000000"/>
                          </a:solidFill>
                          <a:latin typeface="Calibri"/>
                        </a:rPr>
                        <a:t>3.5.4.4.</a:t>
                      </a:r>
                      <a:r>
                        <a:rPr sz="700" b="0" i="1">
                          <a:solidFill>
                            <a:srgbClr val="000000"/>
                          </a:solidFill>
                          <a:latin typeface="Times New Roman"/>
                        </a:rPr>
                        <a:t>    </a:t>
                      </a:r>
                      <a:r>
                        <a:rPr sz="1100" b="0" i="1">
                          <a:solidFill>
                            <a:srgbClr val="000000"/>
                          </a:solidFill>
                          <a:latin typeface="Calibri"/>
                        </a:rPr>
                        <a:t>Chemical Packaging Bags</a:t>
                      </a:r>
                      <a:endParaRPr sz="1100"/>
                    </a:p>
                  </a:txBody>
                  <a:tcPr marL="1028700" marR="9525" marT="9525" marB="0" anchor="ctr"/>
                </a:tc>
              </a:tr>
              <a:tr h="175260">
                <a:tc>
                  <a:txBody>
                    <a:bodyPr wrap="square"/>
                    <a:lstStyle/>
                    <a:p>
                      <a:pPr algn="l"/>
                      <a:r>
                        <a:rPr sz="1100" b="0" i="0">
                          <a:solidFill>
                            <a:srgbClr val="000000"/>
                          </a:solidFill>
                          <a:latin typeface="Calibri"/>
                        </a:rPr>
                        <a:t>3.5.5.</a:t>
                      </a:r>
                      <a:r>
                        <a:rPr sz="700" b="0" i="0">
                          <a:solidFill>
                            <a:srgbClr val="000000"/>
                          </a:solidFill>
                          <a:latin typeface="Times New Roman"/>
                        </a:rPr>
                        <a:t>   </a:t>
                      </a:r>
                      <a:r>
                        <a:rPr sz="1100" b="0" i="0">
                          <a:solidFill>
                            <a:srgbClr val="000000"/>
                          </a:solidFill>
                          <a:latin typeface="Calibri"/>
                        </a:rPr>
                        <a:t>Protective Polybags</a:t>
                      </a:r>
                      <a:endParaRPr sz="1100"/>
                    </a:p>
                  </a:txBody>
                  <a:tcPr marL="771525" marR="9525" marT="9525" marB="0" anchor="ctr"/>
                </a:tc>
              </a:tr>
              <a:tr h="175260">
                <a:tc>
                  <a:txBody>
                    <a:bodyPr wrap="square"/>
                    <a:lstStyle/>
                    <a:p>
                      <a:pPr algn="l"/>
                      <a:r>
                        <a:rPr sz="1100" b="0" i="1">
                          <a:solidFill>
                            <a:srgbClr val="000000"/>
                          </a:solidFill>
                          <a:latin typeface="Calibri"/>
                        </a:rPr>
                        <a:t>3.5.5.1.</a:t>
                      </a:r>
                      <a:r>
                        <a:rPr sz="700" b="0" i="1">
                          <a:solidFill>
                            <a:srgbClr val="000000"/>
                          </a:solidFill>
                          <a:latin typeface="Times New Roman"/>
                        </a:rPr>
                        <a:t>    </a:t>
                      </a:r>
                      <a:r>
                        <a:rPr sz="1100" b="0" i="1">
                          <a:solidFill>
                            <a:srgbClr val="000000"/>
                          </a:solidFill>
                          <a:latin typeface="Calibri"/>
                        </a:rPr>
                        <a:t>Bubble Poly Mailers</a:t>
                      </a:r>
                      <a:endParaRPr sz="1100"/>
                    </a:p>
                  </a:txBody>
                  <a:tcPr marL="1028700" marR="9525" marT="9525" marB="0" anchor="ctr"/>
                </a:tc>
              </a:tr>
              <a:tr h="175260">
                <a:tc>
                  <a:txBody>
                    <a:bodyPr wrap="square"/>
                    <a:lstStyle/>
                    <a:p>
                      <a:pPr algn="l"/>
                      <a:r>
                        <a:rPr sz="1100" b="0" i="1">
                          <a:solidFill>
                            <a:srgbClr val="000000"/>
                          </a:solidFill>
                          <a:latin typeface="Calibri"/>
                        </a:rPr>
                        <a:t>3.5.5.2.</a:t>
                      </a:r>
                      <a:r>
                        <a:rPr sz="700" b="0" i="1">
                          <a:solidFill>
                            <a:srgbClr val="000000"/>
                          </a:solidFill>
                          <a:latin typeface="Times New Roman"/>
                        </a:rPr>
                        <a:t>    </a:t>
                      </a:r>
                      <a:r>
                        <a:rPr sz="1100" b="0" i="1">
                          <a:solidFill>
                            <a:srgbClr val="000000"/>
                          </a:solidFill>
                          <a:latin typeface="Calibri"/>
                        </a:rPr>
                        <a:t>Anti-Static (ESD) Bags</a:t>
                      </a:r>
                      <a:endParaRPr sz="1100"/>
                    </a:p>
                  </a:txBody>
                  <a:tcPr marL="1028700" marR="9525" marT="9525" marB="0" anchor="ctr"/>
                </a:tc>
              </a:tr>
              <a:tr h="175260">
                <a:tc>
                  <a:txBody>
                    <a:bodyPr wrap="square"/>
                    <a:lstStyle/>
                    <a:p>
                      <a:pPr algn="l"/>
                      <a:r>
                        <a:rPr sz="1100" b="0" i="1">
                          <a:solidFill>
                            <a:srgbClr val="000000"/>
                          </a:solidFill>
                          <a:latin typeface="Calibri"/>
                        </a:rPr>
                        <a:t>3.5.5.3.</a:t>
                      </a:r>
                      <a:r>
                        <a:rPr sz="700" b="0" i="1">
                          <a:solidFill>
                            <a:srgbClr val="000000"/>
                          </a:solidFill>
                          <a:latin typeface="Times New Roman"/>
                        </a:rPr>
                        <a:t>    </a:t>
                      </a:r>
                      <a:r>
                        <a:rPr sz="1100" b="0" i="1">
                          <a:solidFill>
                            <a:srgbClr val="000000"/>
                          </a:solidFill>
                          <a:latin typeface="Calibri"/>
                        </a:rPr>
                        <a:t>Vacuum Bags</a:t>
                      </a:r>
                      <a:endParaRPr sz="1100"/>
                    </a:p>
                  </a:txBody>
                  <a:tcPr marL="1028700" marR="9525" marT="9525" marB="0" anchor="ctr"/>
                </a:tc>
              </a:tr>
              <a:tr h="175260">
                <a:tc>
                  <a:txBody>
                    <a:bodyPr wrap="square"/>
                    <a:lstStyle/>
                    <a:p>
                      <a:pPr algn="l"/>
                      <a:r>
                        <a:rPr sz="1100" b="0" i="1">
                          <a:solidFill>
                            <a:srgbClr val="000000"/>
                          </a:solidFill>
                          <a:latin typeface="Calibri"/>
                        </a:rPr>
                        <a:t>3.5.5.4.</a:t>
                      </a:r>
                      <a:r>
                        <a:rPr sz="700" b="0" i="1">
                          <a:solidFill>
                            <a:srgbClr val="000000"/>
                          </a:solidFill>
                          <a:latin typeface="Times New Roman"/>
                        </a:rPr>
                        <a:t>    </a:t>
                      </a:r>
                      <a:r>
                        <a:rPr sz="1100" b="0" i="1">
                          <a:solidFill>
                            <a:srgbClr val="000000"/>
                          </a:solidFill>
                          <a:latin typeface="Calibri"/>
                        </a:rPr>
                        <a:t>Cushion Packaging Bags</a:t>
                      </a:r>
                      <a:endParaRPr sz="1100"/>
                    </a:p>
                  </a:txBody>
                  <a:tcPr marL="1028700" marR="9525" marT="9525" marB="0" anchor="ctr"/>
                </a:tc>
              </a:tr>
              <a:tr h="175260">
                <a:tc>
                  <a:txBody>
                    <a:bodyPr wrap="square"/>
                    <a:lstStyle/>
                    <a:p>
                      <a:pPr algn="l"/>
                      <a:r>
                        <a:rPr sz="1100" b="0" i="0">
                          <a:solidFill>
                            <a:srgbClr val="000000"/>
                          </a:solidFill>
                          <a:latin typeface="Calibri"/>
                        </a:rPr>
                        <a:t>3.5.6.</a:t>
                      </a:r>
                      <a:r>
                        <a:rPr sz="700" b="0" i="0">
                          <a:solidFill>
                            <a:srgbClr val="000000"/>
                          </a:solidFill>
                          <a:latin typeface="Times New Roman"/>
                        </a:rPr>
                        <a:t>   </a:t>
                      </a:r>
                      <a:r>
                        <a:rPr sz="1100" b="0" i="0">
                          <a:solidFill>
                            <a:srgbClr val="000000"/>
                          </a:solidFill>
                          <a:latin typeface="Calibri"/>
                        </a:rPr>
                        <a:t>Retail &amp; Merchandise Bags</a:t>
                      </a:r>
                      <a:endParaRPr sz="1100"/>
                    </a:p>
                  </a:txBody>
                  <a:tcPr marL="771525" marR="9525" marT="9525" marB="0" anchor="ctr"/>
                </a:tc>
              </a:tr>
              <a:tr h="175260">
                <a:tc>
                  <a:txBody>
                    <a:bodyPr wrap="square"/>
                    <a:lstStyle/>
                    <a:p>
                      <a:pPr algn="l"/>
                      <a:r>
                        <a:rPr sz="1100" b="0" i="1">
                          <a:solidFill>
                            <a:srgbClr val="000000"/>
                          </a:solidFill>
                          <a:latin typeface="Calibri"/>
                        </a:rPr>
                        <a:t>3.5.6.1.</a:t>
                      </a:r>
                      <a:r>
                        <a:rPr sz="700" b="0" i="1">
                          <a:solidFill>
                            <a:srgbClr val="000000"/>
                          </a:solidFill>
                          <a:latin typeface="Times New Roman"/>
                        </a:rPr>
                        <a:t>    </a:t>
                      </a:r>
                      <a:r>
                        <a:rPr sz="1100" b="0" i="1">
                          <a:solidFill>
                            <a:srgbClr val="000000"/>
                          </a:solidFill>
                          <a:latin typeface="Calibri"/>
                        </a:rPr>
                        <a:t>T-Shirt Bags</a:t>
                      </a:r>
                      <a:endParaRPr sz="1100"/>
                    </a:p>
                  </a:txBody>
                  <a:tcPr marL="1028700" marR="9525" marT="9525" marB="0" anchor="ctr"/>
                </a:tc>
              </a:tr>
              <a:tr h="175260">
                <a:tc>
                  <a:txBody>
                    <a:bodyPr wrap="square"/>
                    <a:lstStyle/>
                    <a:p>
                      <a:pPr algn="l"/>
                      <a:r>
                        <a:rPr sz="1100" b="0" i="1">
                          <a:solidFill>
                            <a:srgbClr val="000000"/>
                          </a:solidFill>
                          <a:latin typeface="Calibri"/>
                        </a:rPr>
                        <a:t>3.5.6.2.</a:t>
                      </a:r>
                      <a:r>
                        <a:rPr sz="700" b="0" i="1">
                          <a:solidFill>
                            <a:srgbClr val="000000"/>
                          </a:solidFill>
                          <a:latin typeface="Times New Roman"/>
                        </a:rPr>
                        <a:t>    </a:t>
                      </a:r>
                      <a:r>
                        <a:rPr sz="1100" b="0" i="1">
                          <a:solidFill>
                            <a:srgbClr val="000000"/>
                          </a:solidFill>
                          <a:latin typeface="Calibri"/>
                        </a:rPr>
                        <a:t>Merchandise Bags</a:t>
                      </a:r>
                      <a:endParaRPr sz="1100"/>
                    </a:p>
                  </a:txBody>
                  <a:tcPr marL="1028700" marR="9525" marT="9525" marB="0" anchor="ctr"/>
                </a:tc>
              </a:tr>
              <a:tr h="175260">
                <a:tc>
                  <a:txBody>
                    <a:bodyPr wrap="square"/>
                    <a:lstStyle/>
                    <a:p>
                      <a:pPr algn="l"/>
                      <a:r>
                        <a:rPr sz="1100" b="0" i="1">
                          <a:solidFill>
                            <a:srgbClr val="000000"/>
                          </a:solidFill>
                          <a:latin typeface="Calibri"/>
                        </a:rPr>
                        <a:t>3.5.6.3.</a:t>
                      </a:r>
                      <a:r>
                        <a:rPr sz="700" b="0" i="1">
                          <a:solidFill>
                            <a:srgbClr val="000000"/>
                          </a:solidFill>
                          <a:latin typeface="Times New Roman"/>
                        </a:rPr>
                        <a:t>    </a:t>
                      </a:r>
                      <a:r>
                        <a:rPr sz="1100" b="0" i="1">
                          <a:solidFill>
                            <a:srgbClr val="000000"/>
                          </a:solidFill>
                          <a:latin typeface="Calibri"/>
                        </a:rPr>
                        <a:t>Die-Cut Handle Bags</a:t>
                      </a:r>
                      <a:endParaRPr sz="1100"/>
                    </a:p>
                  </a:txBody>
                  <a:tcPr marL="1028700" marR="9525" marT="9525" marB="0" anchor="ctr"/>
                </a:tc>
              </a:tr>
              <a:tr h="175260">
                <a:tc>
                  <a:txBody>
                    <a:bodyPr wrap="square"/>
                    <a:lstStyle/>
                    <a:p>
                      <a:pPr algn="l"/>
                      <a:r>
                        <a:rPr sz="1100" b="0" i="1">
                          <a:solidFill>
                            <a:srgbClr val="000000"/>
                          </a:solidFill>
                          <a:latin typeface="Calibri"/>
                        </a:rPr>
                        <a:t>3.5.6.4.</a:t>
                      </a:r>
                      <a:r>
                        <a:rPr sz="700" b="0" i="1">
                          <a:solidFill>
                            <a:srgbClr val="000000"/>
                          </a:solidFill>
                          <a:latin typeface="Times New Roman"/>
                        </a:rPr>
                        <a:t>    </a:t>
                      </a:r>
                      <a:r>
                        <a:rPr sz="1100" b="0" i="1">
                          <a:solidFill>
                            <a:srgbClr val="000000"/>
                          </a:solidFill>
                          <a:latin typeface="Calibri"/>
                        </a:rPr>
                        <a:t>Patch Handle Bags</a:t>
                      </a:r>
                      <a:endParaRPr sz="1100"/>
                    </a:p>
                  </a:txBody>
                  <a:tcPr marL="1028700" marR="9525" marT="9525" marB="0" anchor="ctr"/>
                </a:tc>
              </a:tr>
              <a:tr h="175260">
                <a:tc>
                  <a:txBody>
                    <a:bodyPr wrap="square"/>
                    <a:lstStyle/>
                    <a:p>
                      <a:pPr algn="l"/>
                      <a:r>
                        <a:rPr sz="1100" b="0" i="1">
                          <a:solidFill>
                            <a:srgbClr val="000000"/>
                          </a:solidFill>
                          <a:latin typeface="Calibri"/>
                        </a:rPr>
                        <a:t>3.5.6.5.</a:t>
                      </a:r>
                      <a:r>
                        <a:rPr sz="700" b="0" i="1">
                          <a:solidFill>
                            <a:srgbClr val="000000"/>
                          </a:solidFill>
                          <a:latin typeface="Times New Roman"/>
                        </a:rPr>
                        <a:t>    </a:t>
                      </a:r>
                      <a:r>
                        <a:rPr sz="1100" b="0" i="1">
                          <a:solidFill>
                            <a:srgbClr val="000000"/>
                          </a:solidFill>
                          <a:latin typeface="Calibri"/>
                        </a:rPr>
                        <a:t>D-Cut Bags</a:t>
                      </a:r>
                      <a:endParaRPr sz="1100"/>
                    </a:p>
                  </a:txBody>
                  <a:tcPr marL="1028700" marR="9525" marT="9525" marB="0" anchor="ctr"/>
                </a:tc>
              </a:tr>
              <a:tr h="175260">
                <a:tc>
                  <a:txBody>
                    <a:bodyPr wrap="square"/>
                    <a:lstStyle/>
                    <a:p>
                      <a:pPr algn="l"/>
                      <a:r>
                        <a:rPr sz="1100" b="0" i="0">
                          <a:solidFill>
                            <a:srgbClr val="000000"/>
                          </a:solidFill>
                          <a:latin typeface="Calibri"/>
                        </a:rPr>
                        <a:t>3.5.7.</a:t>
                      </a:r>
                      <a:r>
                        <a:rPr sz="700" b="0" i="0">
                          <a:solidFill>
                            <a:srgbClr val="000000"/>
                          </a:solidFill>
                          <a:latin typeface="Times New Roman"/>
                        </a:rPr>
                        <a:t>   </a:t>
                      </a:r>
                      <a:r>
                        <a:rPr sz="1100" b="0" i="0">
                          <a:solidFill>
                            <a:srgbClr val="000000"/>
                          </a:solidFill>
                          <a:latin typeface="Calibri"/>
                        </a:rPr>
                        <a:t>E-commerce Polybags</a:t>
                      </a:r>
                      <a:endParaRPr sz="1100"/>
                    </a:p>
                  </a:txBody>
                  <a:tcPr marL="771525" marR="9525" marT="9525" marB="0" anchor="ctr"/>
                </a:tc>
              </a:tr>
              <a:tr h="175260">
                <a:tc>
                  <a:txBody>
                    <a:bodyPr wrap="square"/>
                    <a:lstStyle/>
                    <a:p>
                      <a:pPr algn="l"/>
                      <a:r>
                        <a:rPr sz="1100" b="0" i="1">
                          <a:solidFill>
                            <a:srgbClr val="000000"/>
                          </a:solidFill>
                          <a:latin typeface="Calibri"/>
                        </a:rPr>
                        <a:t>3.5.7.1.</a:t>
                      </a:r>
                      <a:r>
                        <a:rPr sz="700" b="0" i="1">
                          <a:solidFill>
                            <a:srgbClr val="000000"/>
                          </a:solidFill>
                          <a:latin typeface="Times New Roman"/>
                        </a:rPr>
                        <a:t>    </a:t>
                      </a:r>
                      <a:r>
                        <a:rPr sz="1100" b="0" i="1">
                          <a:solidFill>
                            <a:srgbClr val="000000"/>
                          </a:solidFill>
                          <a:latin typeface="Calibri"/>
                        </a:rPr>
                        <a:t>Courier Mailers</a:t>
                      </a:r>
                      <a:endParaRPr sz="1100"/>
                    </a:p>
                  </a:txBody>
                  <a:tcPr marL="1028700" marR="9525" marT="9525" marB="0" anchor="ctr"/>
                </a:tc>
              </a:tr>
              <a:tr h="175260">
                <a:tc>
                  <a:txBody>
                    <a:bodyPr wrap="square"/>
                    <a:lstStyle/>
                    <a:p>
                      <a:pPr algn="l"/>
                      <a:r>
                        <a:rPr sz="1100" b="0" i="1">
                          <a:solidFill>
                            <a:srgbClr val="000000"/>
                          </a:solidFill>
                          <a:latin typeface="Calibri"/>
                        </a:rPr>
                        <a:t>3.5.7.2.</a:t>
                      </a:r>
                      <a:r>
                        <a:rPr sz="700" b="0" i="1">
                          <a:solidFill>
                            <a:srgbClr val="000000"/>
                          </a:solidFill>
                          <a:latin typeface="Times New Roman"/>
                        </a:rPr>
                        <a:t>    </a:t>
                      </a:r>
                      <a:r>
                        <a:rPr sz="1100" b="0" i="1">
                          <a:solidFill>
                            <a:srgbClr val="000000"/>
                          </a:solidFill>
                          <a:latin typeface="Calibri"/>
                        </a:rPr>
                        <a:t>Tamper-Evident Mailers</a:t>
                      </a:r>
                      <a:endParaRPr sz="1100"/>
                    </a:p>
                  </a:txBody>
                  <a:tcPr marL="1028700" marR="9525" marT="9525" marB="0" anchor="ctr"/>
                </a:tc>
              </a:tr>
              <a:tr h="175260">
                <a:tc>
                  <a:txBody>
                    <a:bodyPr wrap="square"/>
                    <a:lstStyle/>
                    <a:p>
                      <a:pPr algn="l"/>
                      <a:r>
                        <a:rPr sz="1100" b="0" i="1">
                          <a:solidFill>
                            <a:srgbClr val="000000"/>
                          </a:solidFill>
                          <a:latin typeface="Calibri"/>
                        </a:rPr>
                        <a:t>3.5.7.3.</a:t>
                      </a:r>
                      <a:r>
                        <a:rPr sz="700" b="0" i="1">
                          <a:solidFill>
                            <a:srgbClr val="000000"/>
                          </a:solidFill>
                          <a:latin typeface="Times New Roman"/>
                        </a:rPr>
                        <a:t>    </a:t>
                      </a:r>
                      <a:r>
                        <a:rPr sz="1100" b="0" i="1">
                          <a:solidFill>
                            <a:srgbClr val="000000"/>
                          </a:solidFill>
                          <a:latin typeface="Calibri"/>
                        </a:rPr>
                        <a:t>Return Mailers</a:t>
                      </a:r>
                      <a:endParaRPr sz="1100"/>
                    </a:p>
                  </a:txBody>
                  <a:tcPr marL="1028700" marR="9525" marT="9525" marB="0" anchor="ctr"/>
                </a:tc>
              </a:tr>
              <a:tr h="175260">
                <a:tc>
                  <a:txBody>
                    <a:bodyPr wrap="square"/>
                    <a:lstStyle/>
                    <a:p>
                      <a:pPr algn="l"/>
                      <a:r>
                        <a:rPr sz="1100" b="0" i="1">
                          <a:solidFill>
                            <a:srgbClr val="000000"/>
                          </a:solidFill>
                          <a:latin typeface="Calibri"/>
                        </a:rPr>
                        <a:t>3.5.7.4.</a:t>
                      </a:r>
                      <a:r>
                        <a:rPr sz="700" b="0" i="1">
                          <a:solidFill>
                            <a:srgbClr val="000000"/>
                          </a:solidFill>
                          <a:latin typeface="Times New Roman"/>
                        </a:rPr>
                        <a:t>    </a:t>
                      </a:r>
                      <a:r>
                        <a:rPr sz="1100" b="0" i="1">
                          <a:solidFill>
                            <a:srgbClr val="000000"/>
                          </a:solidFill>
                          <a:latin typeface="Calibri"/>
                        </a:rPr>
                        <a:t>Security Mailers</a:t>
                      </a:r>
                      <a:endParaRPr sz="1100"/>
                    </a:p>
                  </a:txBody>
                  <a:tcPr marL="1028700" marR="9525" marT="9525" marB="0" anchor="ctr"/>
                </a:tc>
              </a:tr>
              <a:tr h="175260">
                <a:tc>
                  <a:txBody>
                    <a:bodyPr wrap="square"/>
                    <a:lstStyle/>
                    <a:p>
                      <a:pPr algn="l"/>
                      <a:r>
                        <a:rPr sz="1100" b="0" i="0">
                          <a:solidFill>
                            <a:srgbClr val="000000"/>
                          </a:solidFill>
                          <a:latin typeface="Calibri"/>
                        </a:rPr>
                        <a:t>3.5.8.</a:t>
                      </a:r>
                      <a:r>
                        <a:rPr sz="700" b="0" i="0">
                          <a:solidFill>
                            <a:srgbClr val="000000"/>
                          </a:solidFill>
                          <a:latin typeface="Times New Roman"/>
                        </a:rPr>
                        <a:t>   </a:t>
                      </a:r>
                      <a:r>
                        <a:rPr sz="1100" b="0" i="0">
                          <a:solidFill>
                            <a:srgbClr val="000000"/>
                          </a:solidFill>
                          <a:latin typeface="Calibri"/>
                        </a:rPr>
                        <a:t>Specialty Polybags</a:t>
                      </a:r>
                      <a:endParaRPr sz="1100"/>
                    </a:p>
                  </a:txBody>
                  <a:tcPr marL="771525" marR="9525" marT="9525" marB="0" anchor="ctr"/>
                </a:tc>
              </a:tr>
              <a:tr h="175260">
                <a:tc>
                  <a:txBody>
                    <a:bodyPr wrap="square"/>
                    <a:lstStyle/>
                    <a:p>
                      <a:pPr algn="l"/>
                      <a:r>
                        <a:rPr sz="1100" b="0" i="1">
                          <a:solidFill>
                            <a:srgbClr val="000000"/>
                          </a:solidFill>
                          <a:latin typeface="Calibri"/>
                        </a:rPr>
                        <a:t>3.5.8.1.</a:t>
                      </a:r>
                      <a:r>
                        <a:rPr sz="700" b="0" i="1">
                          <a:solidFill>
                            <a:srgbClr val="000000"/>
                          </a:solidFill>
                          <a:latin typeface="Times New Roman"/>
                        </a:rPr>
                        <a:t>    </a:t>
                      </a:r>
                      <a:r>
                        <a:rPr sz="1100" b="0" i="1">
                          <a:solidFill>
                            <a:srgbClr val="000000"/>
                          </a:solidFill>
                          <a:latin typeface="Calibri"/>
                        </a:rPr>
                        <a:t>Wicketed Bags</a:t>
                      </a:r>
                      <a:endParaRPr sz="1100"/>
                    </a:p>
                  </a:txBody>
                  <a:tcPr marL="1028700" marR="9525" marT="9525" marB="0" anchor="ctr"/>
                </a:tc>
              </a:tr>
              <a:tr h="175260">
                <a:tc>
                  <a:txBody>
                    <a:bodyPr wrap="square"/>
                    <a:lstStyle/>
                    <a:p>
                      <a:pPr algn="l"/>
                      <a:r>
                        <a:rPr sz="1100" b="0" i="1">
                          <a:solidFill>
                            <a:srgbClr val="000000"/>
                          </a:solidFill>
                          <a:latin typeface="Calibri"/>
                        </a:rPr>
                        <a:t>3.5.8.2.</a:t>
                      </a:r>
                      <a:r>
                        <a:rPr sz="700" b="0" i="1">
                          <a:solidFill>
                            <a:srgbClr val="000000"/>
                          </a:solidFill>
                          <a:latin typeface="Times New Roman"/>
                        </a:rPr>
                        <a:t>    </a:t>
                      </a:r>
                      <a:r>
                        <a:rPr sz="1100" b="0" i="1">
                          <a:solidFill>
                            <a:srgbClr val="000000"/>
                          </a:solidFill>
                          <a:latin typeface="Calibri"/>
                        </a:rPr>
                        <a:t>Header Bags</a:t>
                      </a:r>
                      <a:endParaRPr sz="1100"/>
                    </a:p>
                  </a:txBody>
                  <a:tcPr marL="1028700" marR="9525" marT="9525" marB="0" anchor="ctr"/>
                </a:tc>
              </a:tr>
              <a:tr h="175260">
                <a:tc>
                  <a:txBody>
                    <a:bodyPr wrap="square"/>
                    <a:lstStyle/>
                    <a:p>
                      <a:pPr algn="l"/>
                      <a:r>
                        <a:rPr sz="1100" b="0" i="1">
                          <a:solidFill>
                            <a:srgbClr val="000000"/>
                          </a:solidFill>
                          <a:latin typeface="Calibri"/>
                        </a:rPr>
                        <a:t>3.5.8.3.</a:t>
                      </a:r>
                      <a:r>
                        <a:rPr sz="700" b="0" i="1">
                          <a:solidFill>
                            <a:srgbClr val="000000"/>
                          </a:solidFill>
                          <a:latin typeface="Times New Roman"/>
                        </a:rPr>
                        <a:t>    </a:t>
                      </a:r>
                      <a:r>
                        <a:rPr sz="1100" b="0" i="1">
                          <a:solidFill>
                            <a:srgbClr val="000000"/>
                          </a:solidFill>
                          <a:latin typeface="Calibri"/>
                        </a:rPr>
                        <a:t>Perforated Bags</a:t>
                      </a:r>
                      <a:endParaRPr sz="1100"/>
                    </a:p>
                  </a:txBody>
                  <a:tcPr marL="1028700" marR="9525" marT="9525" marB="0" anchor="ctr"/>
                </a:tc>
              </a:tr>
              <a:tr h="175260">
                <a:tc>
                  <a:txBody>
                    <a:bodyPr wrap="square"/>
                    <a:lstStyle/>
                    <a:p>
                      <a:pPr algn="l"/>
                      <a:r>
                        <a:rPr sz="1100" b="0" i="1">
                          <a:solidFill>
                            <a:srgbClr val="000000"/>
                          </a:solidFill>
                          <a:latin typeface="Calibri"/>
                        </a:rPr>
                        <a:t>3.5.8.4.</a:t>
                      </a:r>
                      <a:r>
                        <a:rPr sz="700" b="0" i="1">
                          <a:solidFill>
                            <a:srgbClr val="000000"/>
                          </a:solidFill>
                          <a:latin typeface="Times New Roman"/>
                        </a:rPr>
                        <a:t>    </a:t>
                      </a:r>
                      <a:r>
                        <a:rPr sz="1100" b="0" i="1">
                          <a:solidFill>
                            <a:srgbClr val="000000"/>
                          </a:solidFill>
                          <a:latin typeface="Calibri"/>
                        </a:rPr>
                        <a:t>Drawstring Bags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3.5.8.5.</a:t>
                      </a:r>
                      <a:r>
                        <a:rPr sz="700" b="0" i="1">
                          <a:solidFill>
                            <a:srgbClr val="000000"/>
                          </a:solidFill>
                          <a:latin typeface="Times New Roman"/>
                        </a:rPr>
                        <a:t>    </a:t>
                      </a:r>
                      <a:r>
                        <a:rPr sz="1100" b="0" i="1">
                          <a:solidFill>
                            <a:srgbClr val="000000"/>
                          </a:solidFill>
                          <a:latin typeface="Calibri"/>
                        </a:rPr>
                        <a:t>Custom Printed Bags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Polyethylene (PE)</a:t>
                      </a:r>
                      <a:endParaRPr sz="1100"/>
                    </a:p>
                  </a:txBody>
                  <a:tcPr marL="771525"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Low-Density Polyethylene (LDPE)</a:t>
                      </a:r>
                      <a:endParaRPr sz="1100"/>
                    </a:p>
                  </a:txBody>
                  <a:tcPr marL="771525"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Linear Low-Density Polyethylene (LLDPE)</a:t>
                      </a:r>
                      <a:endParaRPr sz="1100"/>
                    </a:p>
                  </a:txBody>
                  <a:tcPr marL="771525"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High-Density Polyethylene (HDPE)</a:t>
                      </a:r>
                      <a:endParaRPr sz="1100"/>
                    </a:p>
                  </a:txBody>
                  <a:tcPr marL="771525" marR="9525" marT="9525" marB="0" anchor="ctr"/>
                </a:tc>
              </a:tr>
              <a:tr h="175260">
                <a:tc>
                  <a:txBody>
                    <a:bodyPr wrap="square"/>
                    <a:lstStyle/>
                    <a:p>
                      <a:pPr algn="l"/>
                      <a:r>
                        <a:rPr sz="1100" b="0" i="0">
                          <a:solidFill>
                            <a:srgbClr val="000000"/>
                          </a:solidFill>
                          <a:latin typeface="Calibri"/>
                        </a:rPr>
                        <a:t>4.5.5.</a:t>
                      </a:r>
                      <a:r>
                        <a:rPr sz="700" b="0" i="0">
                          <a:solidFill>
                            <a:srgbClr val="000000"/>
                          </a:solidFill>
                          <a:latin typeface="Times New Roman"/>
                        </a:rPr>
                        <a:t>   </a:t>
                      </a:r>
                      <a:r>
                        <a:rPr sz="1100" b="0" i="0">
                          <a:solidFill>
                            <a:srgbClr val="000000"/>
                          </a:solidFill>
                          <a:latin typeface="Calibri"/>
                        </a:rPr>
                        <a:t>Medium-Density Polyethylene (MDPE)</a:t>
                      </a:r>
                      <a:endParaRPr sz="1100"/>
                    </a:p>
                  </a:txBody>
                  <a:tcPr marL="771525" marR="9525" marT="9525" marB="0" anchor="ctr"/>
                </a:tc>
              </a:tr>
              <a:tr h="175260">
                <a:tc>
                  <a:txBody>
                    <a:bodyPr wrap="square"/>
                    <a:lstStyle/>
                    <a:p>
                      <a:pPr algn="l"/>
                      <a:r>
                        <a:rPr sz="1100" b="0" i="0">
                          <a:solidFill>
                            <a:srgbClr val="000000"/>
                          </a:solidFill>
                          <a:latin typeface="Calibri"/>
                        </a:rPr>
                        <a:t>4.5.6.</a:t>
                      </a:r>
                      <a:r>
                        <a:rPr sz="700" b="0" i="0">
                          <a:solidFill>
                            <a:srgbClr val="000000"/>
                          </a:solidFill>
                          <a:latin typeface="Times New Roman"/>
                        </a:rPr>
                        <a:t>   </a:t>
                      </a:r>
                      <a:r>
                        <a:rPr sz="1100" b="0" i="0">
                          <a:solidFill>
                            <a:srgbClr val="000000"/>
                          </a:solidFill>
                          <a:latin typeface="Calibri"/>
                        </a:rPr>
                        <a:t>Polypropylene (PP)</a:t>
                      </a:r>
                      <a:endParaRPr sz="1100"/>
                    </a:p>
                  </a:txBody>
                  <a:tcPr marL="771525" marR="9525" marT="9525" marB="0" anchor="ctr"/>
                </a:tc>
              </a:tr>
              <a:tr h="175260">
                <a:tc>
                  <a:txBody>
                    <a:bodyPr wrap="square"/>
                    <a:lstStyle/>
                    <a:p>
                      <a:pPr algn="l"/>
                      <a:r>
                        <a:rPr sz="1100" b="0" i="1">
                          <a:solidFill>
                            <a:srgbClr val="000000"/>
                          </a:solidFill>
                          <a:latin typeface="Calibri"/>
                        </a:rPr>
                        <a:t>4.5.6.1.</a:t>
                      </a:r>
                      <a:r>
                        <a:rPr sz="700" b="0" i="1">
                          <a:solidFill>
                            <a:srgbClr val="000000"/>
                          </a:solidFill>
                          <a:latin typeface="Times New Roman"/>
                        </a:rPr>
                        <a:t>    </a:t>
                      </a:r>
                      <a:r>
                        <a:rPr sz="1100" b="0" i="1">
                          <a:solidFill>
                            <a:srgbClr val="000000"/>
                          </a:solidFill>
                          <a:latin typeface="Calibri"/>
                        </a:rPr>
                        <a:t>Cast Polypropylene (CPP)</a:t>
                      </a:r>
                      <a:endParaRPr sz="1100"/>
                    </a:p>
                  </a:txBody>
                  <a:tcPr marL="1028700" marR="9525" marT="9525" marB="0" anchor="ctr"/>
                </a:tc>
              </a:tr>
              <a:tr h="175260">
                <a:tc>
                  <a:txBody>
                    <a:bodyPr wrap="square"/>
                    <a:lstStyle/>
                    <a:p>
                      <a:pPr algn="l"/>
                      <a:r>
                        <a:rPr sz="1100" b="0" i="1">
                          <a:solidFill>
                            <a:srgbClr val="000000"/>
                          </a:solidFill>
                          <a:latin typeface="Calibri"/>
                        </a:rPr>
                        <a:t>4.5.6.2.</a:t>
                      </a:r>
                      <a:r>
                        <a:rPr sz="700" b="0" i="1">
                          <a:solidFill>
                            <a:srgbClr val="000000"/>
                          </a:solidFill>
                          <a:latin typeface="Times New Roman"/>
                        </a:rPr>
                        <a:t>    </a:t>
                      </a:r>
                      <a:r>
                        <a:rPr sz="1100" b="0" i="1">
                          <a:solidFill>
                            <a:srgbClr val="000000"/>
                          </a:solidFill>
                          <a:latin typeface="Calibri"/>
                        </a:rPr>
                        <a:t>Biaxially Oriented Polypropylene (BOPP)</a:t>
                      </a:r>
                      <a:endParaRPr sz="1100"/>
                    </a:p>
                  </a:txBody>
                  <a:tcPr marL="1028700" marR="9525" marT="9525" marB="0" anchor="ctr"/>
                </a:tc>
              </a:tr>
              <a:tr h="175260">
                <a:tc>
                  <a:txBody>
                    <a:bodyPr wrap="square"/>
                    <a:lstStyle/>
                    <a:p>
                      <a:pPr algn="l"/>
                      <a:r>
                        <a:rPr sz="1100" b="0" i="1">
                          <a:solidFill>
                            <a:srgbClr val="000000"/>
                          </a:solidFill>
                          <a:latin typeface="Calibri"/>
                        </a:rPr>
                        <a:t>4.5.6.3.</a:t>
                      </a:r>
                      <a:r>
                        <a:rPr sz="700" b="0" i="1">
                          <a:solidFill>
                            <a:srgbClr val="000000"/>
                          </a:solidFill>
                          <a:latin typeface="Times New Roman"/>
                        </a:rPr>
                        <a:t>    </a:t>
                      </a:r>
                      <a:r>
                        <a:rPr sz="1100" b="0" i="1">
                          <a:solidFill>
                            <a:srgbClr val="000000"/>
                          </a:solidFill>
                          <a:latin typeface="Calibri"/>
                        </a:rPr>
                        <a:t>Oriented Polypropylene (OPP)</a:t>
                      </a:r>
                      <a:endParaRPr sz="1100"/>
                    </a:p>
                  </a:txBody>
                  <a:tcPr marL="1028700" marR="9525" marT="9525" marB="0" anchor="ctr"/>
                </a:tc>
              </a:tr>
              <a:tr h="175260">
                <a:tc>
                  <a:txBody>
                    <a:bodyPr wrap="square"/>
                    <a:lstStyle/>
                    <a:p>
                      <a:pPr algn="l"/>
                      <a:r>
                        <a:rPr sz="1100" b="0" i="0">
                          <a:solidFill>
                            <a:srgbClr val="000000"/>
                          </a:solidFill>
                          <a:latin typeface="Calibri"/>
                        </a:rPr>
                        <a:t>4.5.7.</a:t>
                      </a:r>
                      <a:r>
                        <a:rPr sz="700" b="0" i="0">
                          <a:solidFill>
                            <a:srgbClr val="000000"/>
                          </a:solidFill>
                          <a:latin typeface="Times New Roman"/>
                        </a:rPr>
                        <a:t>   </a:t>
                      </a:r>
                      <a:r>
                        <a:rPr sz="1100" b="0" i="0">
                          <a:solidFill>
                            <a:srgbClr val="000000"/>
                          </a:solidFill>
                          <a:latin typeface="Calibri"/>
                        </a:rPr>
                        <a:t>Recycled Plastics</a:t>
                      </a:r>
                      <a:endParaRPr sz="1100"/>
                    </a:p>
                  </a:txBody>
                  <a:tcPr marL="771525" marR="9525" marT="9525" marB="0" anchor="ctr"/>
                </a:tc>
              </a:tr>
              <a:tr h="175260">
                <a:tc>
                  <a:txBody>
                    <a:bodyPr wrap="square"/>
                    <a:lstStyle/>
                    <a:p>
                      <a:pPr algn="l"/>
                      <a:r>
                        <a:rPr sz="1100" b="0" i="1">
                          <a:solidFill>
                            <a:srgbClr val="000000"/>
                          </a:solidFill>
                          <a:latin typeface="Calibri"/>
                        </a:rPr>
                        <a:t>4.5.7.1.</a:t>
                      </a:r>
                      <a:r>
                        <a:rPr sz="700" b="0" i="1">
                          <a:solidFill>
                            <a:srgbClr val="000000"/>
                          </a:solidFill>
                          <a:latin typeface="Times New Roman"/>
                        </a:rPr>
                        <a:t>    </a:t>
                      </a:r>
                      <a:r>
                        <a:rPr sz="1100" b="0" i="1">
                          <a:solidFill>
                            <a:srgbClr val="000000"/>
                          </a:solidFill>
                          <a:latin typeface="Calibri"/>
                        </a:rPr>
                        <a:t>Post-Consumer Recycled (PCR)</a:t>
                      </a:r>
                      <a:endParaRPr sz="1100"/>
                    </a:p>
                  </a:txBody>
                  <a:tcPr marL="1028700" marR="9525" marT="9525" marB="0" anchor="ctr"/>
                </a:tc>
              </a:tr>
              <a:tr h="175260">
                <a:tc>
                  <a:txBody>
                    <a:bodyPr wrap="square"/>
                    <a:lstStyle/>
                    <a:p>
                      <a:pPr algn="l"/>
                      <a:r>
                        <a:rPr sz="1100" b="0" i="1">
                          <a:solidFill>
                            <a:srgbClr val="000000"/>
                          </a:solidFill>
                          <a:latin typeface="Calibri"/>
                        </a:rPr>
                        <a:t>4.5.7.2.</a:t>
                      </a:r>
                      <a:r>
                        <a:rPr sz="700" b="0" i="1">
                          <a:solidFill>
                            <a:srgbClr val="000000"/>
                          </a:solidFill>
                          <a:latin typeface="Times New Roman"/>
                        </a:rPr>
                        <a:t>    </a:t>
                      </a:r>
                      <a:r>
                        <a:rPr sz="1100" b="0" i="1">
                          <a:solidFill>
                            <a:srgbClr val="000000"/>
                          </a:solidFill>
                          <a:latin typeface="Calibri"/>
                        </a:rPr>
                        <a:t>Post-Industrial Recycled (PIR)</a:t>
                      </a:r>
                      <a:endParaRPr sz="1100"/>
                    </a:p>
                  </a:txBody>
                  <a:tcPr marL="1028700" marR="9525" marT="9525" marB="0" anchor="ctr"/>
                </a:tc>
              </a:tr>
              <a:tr h="175260">
                <a:tc>
                  <a:txBody>
                    <a:bodyPr wrap="square"/>
                    <a:lstStyle/>
                    <a:p>
                      <a:pPr algn="l"/>
                      <a:r>
                        <a:rPr sz="1100" b="0" i="1">
                          <a:solidFill>
                            <a:srgbClr val="000000"/>
                          </a:solidFill>
                          <a:latin typeface="Calibri"/>
                        </a:rPr>
                        <a:t>4.5.7.3.</a:t>
                      </a:r>
                      <a:r>
                        <a:rPr sz="700" b="0" i="1">
                          <a:solidFill>
                            <a:srgbClr val="000000"/>
                          </a:solidFill>
                          <a:latin typeface="Times New Roman"/>
                        </a:rPr>
                        <a:t>    </a:t>
                      </a:r>
                      <a:r>
                        <a:rPr sz="1100" b="0" i="1">
                          <a:solidFill>
                            <a:srgbClr val="000000"/>
                          </a:solidFill>
                          <a:latin typeface="Calibri"/>
                        </a:rPr>
                        <a:t>Mixed Recycled Resin</a:t>
                      </a:r>
                      <a:endParaRPr sz="1100"/>
                    </a:p>
                  </a:txBody>
                  <a:tcPr marL="1028700" marR="9525" marT="9525" marB="0" anchor="ctr"/>
                </a:tc>
              </a:tr>
              <a:tr h="175260">
                <a:tc>
                  <a:txBody>
                    <a:bodyPr wrap="square"/>
                    <a:lstStyle/>
                    <a:p>
                      <a:pPr algn="l"/>
                      <a:r>
                        <a:rPr sz="1100" b="0" i="0">
                          <a:solidFill>
                            <a:srgbClr val="000000"/>
                          </a:solidFill>
                          <a:latin typeface="Calibri"/>
                        </a:rPr>
                        <a:t>4.5.8.</a:t>
                      </a:r>
                      <a:r>
                        <a:rPr sz="700" b="0" i="0">
                          <a:solidFill>
                            <a:srgbClr val="000000"/>
                          </a:solidFill>
                          <a:latin typeface="Times New Roman"/>
                        </a:rPr>
                        <a:t>   </a:t>
                      </a:r>
                      <a:r>
                        <a:rPr sz="1100" b="0" i="0">
                          <a:solidFill>
                            <a:srgbClr val="000000"/>
                          </a:solidFill>
                          <a:latin typeface="Calibri"/>
                        </a:rPr>
                        <a:t>Bio-Based Materials</a:t>
                      </a:r>
                      <a:endParaRPr sz="1100"/>
                    </a:p>
                  </a:txBody>
                  <a:tcPr marL="771525" marR="9525" marT="9525" marB="0" anchor="ctr"/>
                </a:tc>
              </a:tr>
              <a:tr h="175260">
                <a:tc>
                  <a:txBody>
                    <a:bodyPr wrap="square"/>
                    <a:lstStyle/>
                    <a:p>
                      <a:pPr algn="l"/>
                      <a:r>
                        <a:rPr sz="1100" b="0" i="1">
                          <a:solidFill>
                            <a:srgbClr val="000000"/>
                          </a:solidFill>
                          <a:latin typeface="Calibri"/>
                        </a:rPr>
                        <a:t>4.5.8.1.</a:t>
                      </a:r>
                      <a:r>
                        <a:rPr sz="700" b="0" i="1">
                          <a:solidFill>
                            <a:srgbClr val="000000"/>
                          </a:solidFill>
                          <a:latin typeface="Times New Roman"/>
                        </a:rPr>
                        <a:t>    </a:t>
                      </a:r>
                      <a:r>
                        <a:rPr sz="1100" b="0" i="1">
                          <a:solidFill>
                            <a:srgbClr val="000000"/>
                          </a:solidFill>
                          <a:latin typeface="Calibri"/>
                        </a:rPr>
                        <a:t>PLA</a:t>
                      </a:r>
                      <a:endParaRPr sz="1100"/>
                    </a:p>
                  </a:txBody>
                  <a:tcPr marL="1028700" marR="9525" marT="9525" marB="0" anchor="ctr"/>
                </a:tc>
              </a:tr>
              <a:tr h="175260">
                <a:tc>
                  <a:txBody>
                    <a:bodyPr wrap="square"/>
                    <a:lstStyle/>
                    <a:p>
                      <a:pPr algn="l"/>
                      <a:r>
                        <a:rPr sz="1100" b="0" i="1">
                          <a:solidFill>
                            <a:srgbClr val="000000"/>
                          </a:solidFill>
                          <a:latin typeface="Calibri"/>
                        </a:rPr>
                        <a:t>4.5.8.2.</a:t>
                      </a:r>
                      <a:r>
                        <a:rPr sz="700" b="0" i="1">
                          <a:solidFill>
                            <a:srgbClr val="000000"/>
                          </a:solidFill>
                          <a:latin typeface="Times New Roman"/>
                        </a:rPr>
                        <a:t>    </a:t>
                      </a:r>
                      <a:r>
                        <a:rPr sz="1100" b="0" i="1">
                          <a:solidFill>
                            <a:srgbClr val="000000"/>
                          </a:solidFill>
                          <a:latin typeface="Calibri"/>
                        </a:rPr>
                        <a:t>PHA</a:t>
                      </a:r>
                      <a:endParaRPr sz="1100"/>
                    </a:p>
                  </a:txBody>
                  <a:tcPr marL="1028700" marR="9525" marT="9525" marB="0" anchor="ctr"/>
                </a:tc>
              </a:tr>
              <a:tr h="175260">
                <a:tc>
                  <a:txBody>
                    <a:bodyPr wrap="square"/>
                    <a:lstStyle/>
                    <a:p>
                      <a:pPr algn="l"/>
                      <a:r>
                        <a:rPr sz="1100" b="0" i="1">
                          <a:solidFill>
                            <a:srgbClr val="000000"/>
                          </a:solidFill>
                          <a:latin typeface="Calibri"/>
                        </a:rPr>
                        <a:t>4.5.8.3.</a:t>
                      </a:r>
                      <a:r>
                        <a:rPr sz="700" b="0" i="1">
                          <a:solidFill>
                            <a:srgbClr val="000000"/>
                          </a:solidFill>
                          <a:latin typeface="Times New Roman"/>
                        </a:rPr>
                        <a:t>    </a:t>
                      </a:r>
                      <a:r>
                        <a:rPr sz="1100" b="0" i="1">
                          <a:solidFill>
                            <a:srgbClr val="000000"/>
                          </a:solidFill>
                          <a:latin typeface="Calibri"/>
                        </a:rPr>
                        <a:t>Starch Blend</a:t>
                      </a:r>
                      <a:endParaRPr sz="1100"/>
                    </a:p>
                  </a:txBody>
                  <a:tcPr marL="1028700" marR="9525" marT="9525" marB="0" anchor="ctr"/>
                </a:tc>
              </a:tr>
              <a:tr h="175260">
                <a:tc>
                  <a:txBody>
                    <a:bodyPr wrap="square"/>
                    <a:lstStyle/>
                    <a:p>
                      <a:pPr algn="l"/>
                      <a:r>
                        <a:rPr sz="1100" b="0" i="1">
                          <a:solidFill>
                            <a:srgbClr val="000000"/>
                          </a:solidFill>
                          <a:latin typeface="Calibri"/>
                        </a:rPr>
                        <a:t>4.5.8.4.</a:t>
                      </a:r>
                      <a:r>
                        <a:rPr sz="700" b="0" i="1">
                          <a:solidFill>
                            <a:srgbClr val="000000"/>
                          </a:solidFill>
                          <a:latin typeface="Times New Roman"/>
                        </a:rPr>
                        <a:t>    </a:t>
                      </a:r>
                      <a:r>
                        <a:rPr sz="1100" b="0" i="1">
                          <a:solidFill>
                            <a:srgbClr val="000000"/>
                          </a:solidFill>
                          <a:latin typeface="Calibri"/>
                        </a:rPr>
                        <a:t>PBAT Blend</a:t>
                      </a:r>
                      <a:endParaRPr sz="1100"/>
                    </a:p>
                  </a:txBody>
                  <a:tcPr marL="1028700" marR="9525" marT="9525" marB="0" anchor="ctr"/>
                </a:tc>
              </a:tr>
              <a:tr h="175260">
                <a:tc>
                  <a:txBody>
                    <a:bodyPr wrap="square"/>
                    <a:lstStyle/>
                    <a:p>
                      <a:pPr algn="l"/>
                      <a:r>
                        <a:rPr sz="1100" b="0" i="1">
                          <a:solidFill>
                            <a:srgbClr val="000000"/>
                          </a:solidFill>
                          <a:latin typeface="Calibri"/>
                        </a:rPr>
                        <a:t>4.5.8.5.</a:t>
                      </a:r>
                      <a:r>
                        <a:rPr sz="700" b="0" i="1">
                          <a:solidFill>
                            <a:srgbClr val="000000"/>
                          </a:solidFill>
                          <a:latin typeface="Times New Roman"/>
                        </a:rPr>
                        <a:t>    </a:t>
                      </a:r>
                      <a:r>
                        <a:rPr sz="1100" b="0" i="1">
                          <a:solidFill>
                            <a:srgbClr val="000000"/>
                          </a:solidFill>
                          <a:latin typeface="Calibri"/>
                        </a:rPr>
                        <a:t>Cellulose-Based Films</a:t>
                      </a:r>
                      <a:endParaRPr sz="1100"/>
                    </a:p>
                  </a:txBody>
                  <a:tcPr marL="1028700" marR="9525" marT="9525" marB="0" anchor="ctr"/>
                </a:tc>
              </a:tr>
              <a:tr h="175260">
                <a:tc>
                  <a:txBody>
                    <a:bodyPr wrap="square"/>
                    <a:lstStyle/>
                    <a:p>
                      <a:pPr algn="l"/>
                      <a:r>
                        <a:rPr sz="1100" b="0" i="0">
                          <a:solidFill>
                            <a:srgbClr val="000000"/>
                          </a:solidFill>
                          <a:latin typeface="Calibri"/>
                        </a:rPr>
                        <a:t>4.5.9.</a:t>
                      </a:r>
                      <a:r>
                        <a:rPr sz="700" b="0" i="0">
                          <a:solidFill>
                            <a:srgbClr val="000000"/>
                          </a:solidFill>
                          <a:latin typeface="Times New Roman"/>
                        </a:rPr>
                        <a:t>   </a:t>
                      </a:r>
                      <a:r>
                        <a:rPr sz="1100" b="0" i="0">
                          <a:solidFill>
                            <a:srgbClr val="000000"/>
                          </a:solidFill>
                          <a:latin typeface="Calibri"/>
                        </a:rPr>
                        <a:t>Specialty Materials</a:t>
                      </a:r>
                      <a:endParaRPr sz="1100"/>
                    </a:p>
                  </a:txBody>
                  <a:tcPr marL="771525" marR="9525" marT="9525" marB="0" anchor="ctr"/>
                </a:tc>
              </a:tr>
              <a:tr h="175260">
                <a:tc>
                  <a:txBody>
                    <a:bodyPr wrap="square"/>
                    <a:lstStyle/>
                    <a:p>
                      <a:pPr algn="l"/>
                      <a:r>
                        <a:rPr sz="1100" b="0" i="1">
                          <a:solidFill>
                            <a:srgbClr val="000000"/>
                          </a:solidFill>
                          <a:latin typeface="Calibri"/>
                        </a:rPr>
                        <a:t>4.5.9.1.</a:t>
                      </a:r>
                      <a:r>
                        <a:rPr sz="700" b="0" i="1">
                          <a:solidFill>
                            <a:srgbClr val="000000"/>
                          </a:solidFill>
                          <a:latin typeface="Times New Roman"/>
                        </a:rPr>
                        <a:t>    </a:t>
                      </a:r>
                      <a:r>
                        <a:rPr sz="1100" b="0" i="1">
                          <a:solidFill>
                            <a:srgbClr val="000000"/>
                          </a:solidFill>
                          <a:latin typeface="Calibri"/>
                        </a:rPr>
                        <a:t>EVA</a:t>
                      </a:r>
                      <a:endParaRPr sz="1100"/>
                    </a:p>
                  </a:txBody>
                  <a:tcPr marL="1028700" marR="9525" marT="9525" marB="0" anchor="ctr"/>
                </a:tc>
              </a:tr>
              <a:tr h="175260">
                <a:tc>
                  <a:txBody>
                    <a:bodyPr wrap="square"/>
                    <a:lstStyle/>
                    <a:p>
                      <a:pPr algn="l"/>
                      <a:r>
                        <a:rPr sz="1100" b="0" i="1">
                          <a:solidFill>
                            <a:srgbClr val="000000"/>
                          </a:solidFill>
                          <a:latin typeface="Calibri"/>
                        </a:rPr>
                        <a:t>4.5.9.2.</a:t>
                      </a:r>
                      <a:r>
                        <a:rPr sz="700" b="0" i="1">
                          <a:solidFill>
                            <a:srgbClr val="000000"/>
                          </a:solidFill>
                          <a:latin typeface="Times New Roman"/>
                        </a:rPr>
                        <a:t>    </a:t>
                      </a:r>
                      <a:r>
                        <a:rPr sz="1100" b="0" i="1">
                          <a:solidFill>
                            <a:srgbClr val="000000"/>
                          </a:solidFill>
                          <a:latin typeface="Calibri"/>
                        </a:rPr>
                        <a:t>Coextruded Multilayer Films</a:t>
                      </a:r>
                      <a:endParaRPr sz="1100"/>
                    </a:p>
                  </a:txBody>
                  <a:tcPr marL="1028700" marR="9525" marT="9525" marB="0" anchor="ctr"/>
                </a:tc>
              </a:tr>
              <a:tr h="175260">
                <a:tc>
                  <a:txBody>
                    <a:bodyPr wrap="square"/>
                    <a:lstStyle/>
                    <a:p>
                      <a:pPr algn="l"/>
                      <a:r>
                        <a:rPr sz="1100" b="0" i="1">
                          <a:solidFill>
                            <a:srgbClr val="000000"/>
                          </a:solidFill>
                          <a:latin typeface="Calibri"/>
                        </a:rPr>
                        <a:t>4.5.9.3.</a:t>
                      </a:r>
                      <a:r>
                        <a:rPr sz="700" b="0" i="1">
                          <a:solidFill>
                            <a:srgbClr val="000000"/>
                          </a:solidFill>
                          <a:latin typeface="Times New Roman"/>
                        </a:rPr>
                        <a:t>    </a:t>
                      </a:r>
                      <a:r>
                        <a:rPr sz="1100" b="0" i="1">
                          <a:solidFill>
                            <a:srgbClr val="000000"/>
                          </a:solidFill>
                          <a:latin typeface="Calibri"/>
                        </a:rPr>
                        <a:t>Barrier Films</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4.5.9.4.</a:t>
                      </a:r>
                      <a:r>
                        <a:rPr sz="700" b="0" i="1">
                          <a:solidFill>
                            <a:srgbClr val="000000"/>
                          </a:solidFill>
                          <a:latin typeface="Times New Roman"/>
                        </a:rPr>
                        <a:t>    </a:t>
                      </a:r>
                      <a:r>
                        <a:rPr sz="1100" b="0" i="1">
                          <a:solidFill>
                            <a:srgbClr val="000000"/>
                          </a:solidFill>
                          <a:latin typeface="Calibri"/>
                        </a:rPr>
                        <a:t>Conductive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End-Use Industry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Fresh Produce</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Frozen Food</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Dairy Products</a:t>
                      </a:r>
                      <a:endParaRPr sz="1100"/>
                    </a:p>
                  </a:txBody>
                  <a:tcPr marL="1028700" marR="9525" marT="9525" marB="0" anchor="ctr"/>
                </a:tc>
              </a:tr>
              <a:tr h="175260">
                <a:tc>
                  <a:txBody>
                    <a:bodyPr wrap="square"/>
                    <a:lstStyle/>
                    <a:p>
                      <a:pPr algn="l"/>
                      <a:r>
                        <a:rPr sz="1100" b="0" i="1">
                          <a:solidFill>
                            <a:srgbClr val="000000"/>
                          </a:solidFill>
                          <a:latin typeface="Calibri"/>
                        </a:rPr>
                        <a:t>5.5.1.4.</a:t>
                      </a:r>
                      <a:r>
                        <a:rPr sz="700" b="0" i="1">
                          <a:solidFill>
                            <a:srgbClr val="000000"/>
                          </a:solidFill>
                          <a:latin typeface="Times New Roman"/>
                        </a:rPr>
                        <a:t>    </a:t>
                      </a:r>
                      <a:r>
                        <a:rPr sz="1100" b="0" i="1">
                          <a:solidFill>
                            <a:srgbClr val="000000"/>
                          </a:solidFill>
                          <a:latin typeface="Calibri"/>
                        </a:rPr>
                        <a:t>Bakery</a:t>
                      </a:r>
                      <a:endParaRPr sz="1100"/>
                    </a:p>
                  </a:txBody>
                  <a:tcPr marL="1028700" marR="9525" marT="9525" marB="0" anchor="ctr"/>
                </a:tc>
              </a:tr>
              <a:tr h="175260">
                <a:tc>
                  <a:txBody>
                    <a:bodyPr wrap="square"/>
                    <a:lstStyle/>
                    <a:p>
                      <a:pPr algn="l"/>
                      <a:r>
                        <a:rPr sz="1100" b="0" i="1">
                          <a:solidFill>
                            <a:srgbClr val="000000"/>
                          </a:solidFill>
                          <a:latin typeface="Calibri"/>
                        </a:rPr>
                        <a:t>5.5.1.5.</a:t>
                      </a:r>
                      <a:r>
                        <a:rPr sz="700" b="0" i="1">
                          <a:solidFill>
                            <a:srgbClr val="000000"/>
                          </a:solidFill>
                          <a:latin typeface="Times New Roman"/>
                        </a:rPr>
                        <a:t>    </a:t>
                      </a:r>
                      <a:r>
                        <a:rPr sz="1100" b="0" i="1">
                          <a:solidFill>
                            <a:srgbClr val="000000"/>
                          </a:solidFill>
                          <a:latin typeface="Calibri"/>
                        </a:rPr>
                        <a:t>Meat &amp; Poultry</a:t>
                      </a:r>
                      <a:endParaRPr sz="1100"/>
                    </a:p>
                  </a:txBody>
                  <a:tcPr marL="1028700" marR="9525" marT="9525" marB="0" anchor="ctr"/>
                </a:tc>
              </a:tr>
              <a:tr h="175260">
                <a:tc>
                  <a:txBody>
                    <a:bodyPr wrap="square"/>
                    <a:lstStyle/>
                    <a:p>
                      <a:pPr algn="l"/>
                      <a:r>
                        <a:rPr sz="1100" b="0" i="1">
                          <a:solidFill>
                            <a:srgbClr val="000000"/>
                          </a:solidFill>
                          <a:latin typeface="Calibri"/>
                        </a:rPr>
                        <a:t>5.5.1.6.</a:t>
                      </a:r>
                      <a:r>
                        <a:rPr sz="700" b="0" i="1">
                          <a:solidFill>
                            <a:srgbClr val="000000"/>
                          </a:solidFill>
                          <a:latin typeface="Times New Roman"/>
                        </a:rPr>
                        <a:t>    </a:t>
                      </a:r>
                      <a:r>
                        <a:rPr sz="1100" b="0" i="1">
                          <a:solidFill>
                            <a:srgbClr val="000000"/>
                          </a:solidFill>
                          <a:latin typeface="Calibri"/>
                        </a:rPr>
                        <a:t>Seafood</a:t>
                      </a:r>
                      <a:endParaRPr sz="1100"/>
                    </a:p>
                  </a:txBody>
                  <a:tcPr marL="1028700" marR="9525" marT="9525" marB="0" anchor="ctr"/>
                </a:tc>
              </a:tr>
              <a:tr h="175260">
                <a:tc>
                  <a:txBody>
                    <a:bodyPr wrap="square"/>
                    <a:lstStyle/>
                    <a:p>
                      <a:pPr algn="l"/>
                      <a:r>
                        <a:rPr sz="1100" b="0" i="1">
                          <a:solidFill>
                            <a:srgbClr val="000000"/>
                          </a:solidFill>
                          <a:latin typeface="Calibri"/>
                        </a:rPr>
                        <a:t>5.5.1.7.</a:t>
                      </a:r>
                      <a:r>
                        <a:rPr sz="700" b="0" i="1">
                          <a:solidFill>
                            <a:srgbClr val="000000"/>
                          </a:solidFill>
                          <a:latin typeface="Times New Roman"/>
                        </a:rPr>
                        <a:t>    </a:t>
                      </a:r>
                      <a:r>
                        <a:rPr sz="1100" b="0" i="1">
                          <a:solidFill>
                            <a:srgbClr val="000000"/>
                          </a:solidFill>
                          <a:latin typeface="Calibri"/>
                        </a:rPr>
                        <a:t>Snacks &amp; Confectionery</a:t>
                      </a:r>
                      <a:endParaRPr sz="1100"/>
                    </a:p>
                  </a:txBody>
                  <a:tcPr marL="1028700" marR="9525" marT="9525" marB="0" anchor="ctr"/>
                </a:tc>
              </a:tr>
              <a:tr h="175260">
                <a:tc>
                  <a:txBody>
                    <a:bodyPr wrap="square"/>
                    <a:lstStyle/>
                    <a:p>
                      <a:pPr algn="l"/>
                      <a:r>
                        <a:rPr sz="1100" b="0" i="1">
                          <a:solidFill>
                            <a:srgbClr val="000000"/>
                          </a:solidFill>
                          <a:latin typeface="Calibri"/>
                        </a:rPr>
                        <a:t>5.5.1.8.</a:t>
                      </a:r>
                      <a:r>
                        <a:rPr sz="700" b="0" i="1">
                          <a:solidFill>
                            <a:srgbClr val="000000"/>
                          </a:solidFill>
                          <a:latin typeface="Times New Roman"/>
                        </a:rPr>
                        <a:t>    </a:t>
                      </a:r>
                      <a:r>
                        <a:rPr sz="1100" b="0" i="1">
                          <a:solidFill>
                            <a:srgbClr val="000000"/>
                          </a:solidFill>
                          <a:latin typeface="Calibri"/>
                        </a:rPr>
                        <a:t>Beverage Packaging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Retail &amp; Consumer Goods</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Apparel</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Footwear</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Toys</a:t>
                      </a:r>
                      <a:endParaRPr sz="1100"/>
                    </a:p>
                  </a:txBody>
                  <a:tcPr marL="1028700" marR="9525" marT="9525" marB="0" anchor="ctr"/>
                </a:tc>
              </a:tr>
              <a:tr h="175260">
                <a:tc>
                  <a:txBody>
                    <a:bodyPr wrap="square"/>
                    <a:lstStyle/>
                    <a:p>
                      <a:pPr algn="l"/>
                      <a:r>
                        <a:rPr sz="1100" b="0" i="1">
                          <a:solidFill>
                            <a:srgbClr val="000000"/>
                          </a:solidFill>
                          <a:latin typeface="Calibri"/>
                        </a:rPr>
                        <a:t>5.5.2.4.</a:t>
                      </a:r>
                      <a:r>
                        <a:rPr sz="700" b="0" i="1">
                          <a:solidFill>
                            <a:srgbClr val="000000"/>
                          </a:solidFill>
                          <a:latin typeface="Times New Roman"/>
                        </a:rPr>
                        <a:t>    </a:t>
                      </a:r>
                      <a:r>
                        <a:rPr sz="1100" b="0" i="1">
                          <a:solidFill>
                            <a:srgbClr val="000000"/>
                          </a:solidFill>
                          <a:latin typeface="Calibri"/>
                        </a:rPr>
                        <a:t>Home Care</a:t>
                      </a:r>
                      <a:endParaRPr sz="1100"/>
                    </a:p>
                  </a:txBody>
                  <a:tcPr marL="1028700" marR="9525" marT="9525" marB="0" anchor="ctr"/>
                </a:tc>
              </a:tr>
              <a:tr h="175260">
                <a:tc>
                  <a:txBody>
                    <a:bodyPr wrap="square"/>
                    <a:lstStyle/>
                    <a:p>
                      <a:pPr algn="l"/>
                      <a:r>
                        <a:rPr sz="1100" b="0" i="1">
                          <a:solidFill>
                            <a:srgbClr val="000000"/>
                          </a:solidFill>
                          <a:latin typeface="Calibri"/>
                        </a:rPr>
                        <a:t>5.5.2.5.</a:t>
                      </a:r>
                      <a:r>
                        <a:rPr sz="700" b="0" i="1">
                          <a:solidFill>
                            <a:srgbClr val="000000"/>
                          </a:solidFill>
                          <a:latin typeface="Times New Roman"/>
                        </a:rPr>
                        <a:t>    </a:t>
                      </a:r>
                      <a:r>
                        <a:rPr sz="1100" b="0" i="1">
                          <a:solidFill>
                            <a:srgbClr val="000000"/>
                          </a:solidFill>
                          <a:latin typeface="Calibri"/>
                        </a:rPr>
                        <a:t>Household Goods</a:t>
                      </a:r>
                      <a:endParaRPr sz="1100"/>
                    </a:p>
                  </a:txBody>
                  <a:tcPr marL="1028700" marR="9525" marT="9525" marB="0" anchor="ctr"/>
                </a:tc>
              </a:tr>
              <a:tr h="175260">
                <a:tc>
                  <a:txBody>
                    <a:bodyPr wrap="square"/>
                    <a:lstStyle/>
                    <a:p>
                      <a:pPr algn="l"/>
                      <a:r>
                        <a:rPr sz="1100" b="0" i="1">
                          <a:solidFill>
                            <a:srgbClr val="000000"/>
                          </a:solidFill>
                          <a:latin typeface="Calibri"/>
                        </a:rPr>
                        <a:t>5.5.2.6.</a:t>
                      </a:r>
                      <a:r>
                        <a:rPr sz="700" b="0" i="1">
                          <a:solidFill>
                            <a:srgbClr val="000000"/>
                          </a:solidFill>
                          <a:latin typeface="Times New Roman"/>
                        </a:rPr>
                        <a:t>    </a:t>
                      </a:r>
                      <a:r>
                        <a:rPr sz="1100" b="0" i="1">
                          <a:solidFill>
                            <a:srgbClr val="000000"/>
                          </a:solidFill>
                          <a:latin typeface="Calibri"/>
                        </a:rPr>
                        <a:t>Stationery</a:t>
                      </a:r>
                      <a:endParaRPr sz="1100"/>
                    </a:p>
                  </a:txBody>
                  <a:tcPr marL="1028700"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Healthcare</a:t>
                      </a:r>
                      <a:endParaRPr sz="1100"/>
                    </a:p>
                  </a:txBody>
                  <a:tcPr marL="771525" marR="9525" marT="9525" marB="0" anchor="ctr"/>
                </a:tc>
              </a:tr>
              <a:tr h="175260">
                <a:tc>
                  <a:txBody>
                    <a:bodyPr wrap="square"/>
                    <a:lstStyle/>
                    <a:p>
                      <a:pPr algn="l"/>
                      <a:r>
                        <a:rPr sz="1100" b="0" i="1">
                          <a:solidFill>
                            <a:srgbClr val="000000"/>
                          </a:solidFill>
                          <a:latin typeface="Calibri"/>
                        </a:rPr>
                        <a:t>5.5.3.1.</a:t>
                      </a:r>
                      <a:r>
                        <a:rPr sz="700" b="0" i="1">
                          <a:solidFill>
                            <a:srgbClr val="000000"/>
                          </a:solidFill>
                          <a:latin typeface="Times New Roman"/>
                        </a:rPr>
                        <a:t>    </a:t>
                      </a:r>
                      <a:r>
                        <a:rPr sz="1100" b="0" i="1">
                          <a:solidFill>
                            <a:srgbClr val="000000"/>
                          </a:solidFill>
                          <a:latin typeface="Calibri"/>
                        </a:rPr>
                        <a:t>Pharmaceuticals</a:t>
                      </a:r>
                      <a:endParaRPr sz="1100"/>
                    </a:p>
                  </a:txBody>
                  <a:tcPr marL="1028700" marR="9525" marT="9525" marB="0" anchor="ctr"/>
                </a:tc>
              </a:tr>
              <a:tr h="175260">
                <a:tc>
                  <a:txBody>
                    <a:bodyPr wrap="square"/>
                    <a:lstStyle/>
                    <a:p>
                      <a:pPr algn="l"/>
                      <a:r>
                        <a:rPr sz="1100" b="0" i="1">
                          <a:solidFill>
                            <a:srgbClr val="000000"/>
                          </a:solidFill>
                          <a:latin typeface="Calibri"/>
                        </a:rPr>
                        <a:t>5.5.3.2.</a:t>
                      </a:r>
                      <a:r>
                        <a:rPr sz="700" b="0" i="1">
                          <a:solidFill>
                            <a:srgbClr val="000000"/>
                          </a:solidFill>
                          <a:latin typeface="Times New Roman"/>
                        </a:rPr>
                        <a:t>    </a:t>
                      </a:r>
                      <a:r>
                        <a:rPr sz="1100" b="0" i="1">
                          <a:solidFill>
                            <a:srgbClr val="000000"/>
                          </a:solidFill>
                          <a:latin typeface="Calibri"/>
                        </a:rPr>
                        <a:t>Medical Devices</a:t>
                      </a:r>
                      <a:endParaRPr sz="1100"/>
                    </a:p>
                  </a:txBody>
                  <a:tcPr marL="1028700" marR="9525" marT="9525" marB="0" anchor="ctr"/>
                </a:tc>
              </a:tr>
              <a:tr h="175260">
                <a:tc>
                  <a:txBody>
                    <a:bodyPr wrap="square"/>
                    <a:lstStyle/>
                    <a:p>
                      <a:pPr algn="l"/>
                      <a:r>
                        <a:rPr sz="1100" b="0" i="1">
                          <a:solidFill>
                            <a:srgbClr val="000000"/>
                          </a:solidFill>
                          <a:latin typeface="Calibri"/>
                        </a:rPr>
                        <a:t>5.5.3.3.</a:t>
                      </a:r>
                      <a:r>
                        <a:rPr sz="700" b="0" i="1">
                          <a:solidFill>
                            <a:srgbClr val="000000"/>
                          </a:solidFill>
                          <a:latin typeface="Times New Roman"/>
                        </a:rPr>
                        <a:t>    </a:t>
                      </a:r>
                      <a:r>
                        <a:rPr sz="1100" b="0" i="1">
                          <a:solidFill>
                            <a:srgbClr val="000000"/>
                          </a:solidFill>
                          <a:latin typeface="Calibri"/>
                        </a:rPr>
                        <a:t>Surgical Products</a:t>
                      </a:r>
                      <a:endParaRPr sz="1100"/>
                    </a:p>
                  </a:txBody>
                  <a:tcPr marL="1028700" marR="9525" marT="9525" marB="0" anchor="ctr"/>
                </a:tc>
              </a:tr>
              <a:tr h="175260">
                <a:tc>
                  <a:txBody>
                    <a:bodyPr wrap="square"/>
                    <a:lstStyle/>
                    <a:p>
                      <a:pPr algn="l"/>
                      <a:r>
                        <a:rPr sz="1100" b="0" i="1">
                          <a:solidFill>
                            <a:srgbClr val="000000"/>
                          </a:solidFill>
                          <a:latin typeface="Calibri"/>
                        </a:rPr>
                        <a:t>5.5.3.4.</a:t>
                      </a:r>
                      <a:r>
                        <a:rPr sz="700" b="0" i="1">
                          <a:solidFill>
                            <a:srgbClr val="000000"/>
                          </a:solidFill>
                          <a:latin typeface="Times New Roman"/>
                        </a:rPr>
                        <a:t>    </a:t>
                      </a:r>
                      <a:r>
                        <a:rPr sz="1100" b="0" i="1">
                          <a:solidFill>
                            <a:srgbClr val="000000"/>
                          </a:solidFill>
                          <a:latin typeface="Calibri"/>
                        </a:rPr>
                        <a:t>Diagnostic Kits</a:t>
                      </a:r>
                      <a:endParaRPr sz="1100"/>
                    </a:p>
                  </a:txBody>
                  <a:tcPr marL="1028700" marR="9525" marT="9525" marB="0" anchor="ctr"/>
                </a:tc>
              </a:tr>
              <a:tr h="175260">
                <a:tc>
                  <a:txBody>
                    <a:bodyPr wrap="square"/>
                    <a:lstStyle/>
                    <a:p>
                      <a:pPr algn="l"/>
                      <a:r>
                        <a:rPr sz="1100" b="0" i="1">
                          <a:solidFill>
                            <a:srgbClr val="000000"/>
                          </a:solidFill>
                          <a:latin typeface="Calibri"/>
                        </a:rPr>
                        <a:t>5.5.3.5.</a:t>
                      </a:r>
                      <a:r>
                        <a:rPr sz="700" b="0" i="1">
                          <a:solidFill>
                            <a:srgbClr val="000000"/>
                          </a:solidFill>
                          <a:latin typeface="Times New Roman"/>
                        </a:rPr>
                        <a:t>    </a:t>
                      </a:r>
                      <a:r>
                        <a:rPr sz="1100" b="0" i="1">
                          <a:solidFill>
                            <a:srgbClr val="000000"/>
                          </a:solidFill>
                          <a:latin typeface="Calibri"/>
                        </a:rPr>
                        <a:t>Laboratory Supplies</a:t>
                      </a:r>
                      <a:endParaRPr sz="1100"/>
                    </a:p>
                  </a:txBody>
                  <a:tcPr marL="1028700"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E-commerce &amp; Logistics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5.5.4.1.</a:t>
                      </a:r>
                      <a:r>
                        <a:rPr sz="700" b="0" i="1">
                          <a:solidFill>
                            <a:srgbClr val="000000"/>
                          </a:solidFill>
                          <a:latin typeface="Times New Roman"/>
                        </a:rPr>
                        <a:t>    </a:t>
                      </a:r>
                      <a:r>
                        <a:rPr sz="1100" b="0" i="1">
                          <a:solidFill>
                            <a:srgbClr val="000000"/>
                          </a:solidFill>
                          <a:latin typeface="Calibri"/>
                        </a:rPr>
                        <a:t>Courier Packaging</a:t>
                      </a:r>
                      <a:endParaRPr sz="1100"/>
                    </a:p>
                  </a:txBody>
                  <a:tcPr marL="1028700" marR="9525" marT="9525" marB="0" anchor="ctr"/>
                </a:tc>
              </a:tr>
              <a:tr h="175260">
                <a:tc>
                  <a:txBody>
                    <a:bodyPr wrap="square"/>
                    <a:lstStyle/>
                    <a:p>
                      <a:pPr algn="l"/>
                      <a:r>
                        <a:rPr sz="1100" b="0" i="1">
                          <a:solidFill>
                            <a:srgbClr val="000000"/>
                          </a:solidFill>
                          <a:latin typeface="Calibri"/>
                        </a:rPr>
                        <a:t>5.5.4.2.</a:t>
                      </a:r>
                      <a:r>
                        <a:rPr sz="700" b="0" i="1">
                          <a:solidFill>
                            <a:srgbClr val="000000"/>
                          </a:solidFill>
                          <a:latin typeface="Times New Roman"/>
                        </a:rPr>
                        <a:t>    </a:t>
                      </a:r>
                      <a:r>
                        <a:rPr sz="1100" b="0" i="1">
                          <a:solidFill>
                            <a:srgbClr val="000000"/>
                          </a:solidFill>
                          <a:latin typeface="Calibri"/>
                        </a:rPr>
                        <a:t>Fulfillment Centers</a:t>
                      </a:r>
                      <a:endParaRPr sz="1100"/>
                    </a:p>
                  </a:txBody>
                  <a:tcPr marL="1028700" marR="9525" marT="9525" marB="0" anchor="ctr"/>
                </a:tc>
              </a:tr>
              <a:tr h="175260">
                <a:tc>
                  <a:txBody>
                    <a:bodyPr wrap="square"/>
                    <a:lstStyle/>
                    <a:p>
                      <a:pPr algn="l"/>
                      <a:r>
                        <a:rPr sz="1100" b="0" i="1">
                          <a:solidFill>
                            <a:srgbClr val="000000"/>
                          </a:solidFill>
                          <a:latin typeface="Calibri"/>
                        </a:rPr>
                        <a:t>5.5.4.3.</a:t>
                      </a:r>
                      <a:r>
                        <a:rPr sz="700" b="0" i="1">
                          <a:solidFill>
                            <a:srgbClr val="000000"/>
                          </a:solidFill>
                          <a:latin typeface="Times New Roman"/>
                        </a:rPr>
                        <a:t>    </a:t>
                      </a:r>
                      <a:r>
                        <a:rPr sz="1100" b="0" i="1">
                          <a:solidFill>
                            <a:srgbClr val="000000"/>
                          </a:solidFill>
                          <a:latin typeface="Calibri"/>
                        </a:rPr>
                        <a:t>Return Packaging</a:t>
                      </a:r>
                      <a:endParaRPr sz="1100"/>
                    </a:p>
                  </a:txBody>
                  <a:tcPr marL="1028700" marR="9525" marT="9525" marB="0" anchor="ctr"/>
                </a:tc>
              </a:tr>
              <a:tr h="175260">
                <a:tc>
                  <a:txBody>
                    <a:bodyPr wrap="square"/>
                    <a:lstStyle/>
                    <a:p>
                      <a:pPr algn="l"/>
                      <a:r>
                        <a:rPr sz="1100" b="0" i="1">
                          <a:solidFill>
                            <a:srgbClr val="000000"/>
                          </a:solidFill>
                          <a:latin typeface="Calibri"/>
                        </a:rPr>
                        <a:t>5.5.4.4.</a:t>
                      </a:r>
                      <a:r>
                        <a:rPr sz="700" b="0" i="1">
                          <a:solidFill>
                            <a:srgbClr val="000000"/>
                          </a:solidFill>
                          <a:latin typeface="Times New Roman"/>
                        </a:rPr>
                        <a:t>    </a:t>
                      </a:r>
                      <a:r>
                        <a:rPr sz="1100" b="0" i="1">
                          <a:solidFill>
                            <a:srgbClr val="000000"/>
                          </a:solidFill>
                          <a:latin typeface="Calibri"/>
                        </a:rPr>
                        <a:t>Warehouse Packaging</a:t>
                      </a:r>
                      <a:endParaRPr sz="1100"/>
                    </a:p>
                  </a:txBody>
                  <a:tcPr marL="1028700"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Industrial</a:t>
                      </a:r>
                      <a:endParaRPr sz="1100"/>
                    </a:p>
                  </a:txBody>
                  <a:tcPr marL="771525" marR="9525" marT="9525" marB="0" anchor="ctr"/>
                </a:tc>
              </a:tr>
              <a:tr h="175260">
                <a:tc>
                  <a:txBody>
                    <a:bodyPr wrap="square"/>
                    <a:lstStyle/>
                    <a:p>
                      <a:pPr algn="l"/>
                      <a:r>
                        <a:rPr sz="1100" b="0" i="1">
                          <a:solidFill>
                            <a:srgbClr val="000000"/>
                          </a:solidFill>
                          <a:latin typeface="Calibri"/>
                        </a:rPr>
                        <a:t>5.5.5.1.</a:t>
                      </a:r>
                      <a:r>
                        <a:rPr sz="700" b="0" i="1">
                          <a:solidFill>
                            <a:srgbClr val="000000"/>
                          </a:solidFill>
                          <a:latin typeface="Times New Roman"/>
                        </a:rPr>
                        <a:t>    </a:t>
                      </a:r>
                      <a:r>
                        <a:rPr sz="1100" b="0" i="1">
                          <a:solidFill>
                            <a:srgbClr val="000000"/>
                          </a:solidFill>
                          <a:latin typeface="Calibri"/>
                        </a:rPr>
                        <a:t>Automotive Components</a:t>
                      </a:r>
                      <a:endParaRPr sz="1100"/>
                    </a:p>
                  </a:txBody>
                  <a:tcPr marL="1028700" marR="9525" marT="9525" marB="0" anchor="ctr"/>
                </a:tc>
              </a:tr>
              <a:tr h="175260">
                <a:tc>
                  <a:txBody>
                    <a:bodyPr wrap="square"/>
                    <a:lstStyle/>
                    <a:p>
                      <a:pPr algn="l"/>
                      <a:r>
                        <a:rPr sz="1100" b="0" i="1">
                          <a:solidFill>
                            <a:srgbClr val="000000"/>
                          </a:solidFill>
                          <a:latin typeface="Calibri"/>
                        </a:rPr>
                        <a:t>5.5.5.2.</a:t>
                      </a:r>
                      <a:r>
                        <a:rPr sz="700" b="0" i="1">
                          <a:solidFill>
                            <a:srgbClr val="000000"/>
                          </a:solidFill>
                          <a:latin typeface="Times New Roman"/>
                        </a:rPr>
                        <a:t>    </a:t>
                      </a:r>
                      <a:r>
                        <a:rPr sz="1100" b="0" i="1">
                          <a:solidFill>
                            <a:srgbClr val="000000"/>
                          </a:solidFill>
                          <a:latin typeface="Calibri"/>
                        </a:rPr>
                        <a:t>Chemicals</a:t>
                      </a:r>
                      <a:endParaRPr sz="1100"/>
                    </a:p>
                  </a:txBody>
                  <a:tcPr marL="1028700" marR="9525" marT="9525" marB="0" anchor="ctr"/>
                </a:tc>
              </a:tr>
              <a:tr h="175260">
                <a:tc>
                  <a:txBody>
                    <a:bodyPr wrap="square"/>
                    <a:lstStyle/>
                    <a:p>
                      <a:pPr algn="l"/>
                      <a:r>
                        <a:rPr sz="1100" b="0" i="1">
                          <a:solidFill>
                            <a:srgbClr val="000000"/>
                          </a:solidFill>
                          <a:latin typeface="Calibri"/>
                        </a:rPr>
                        <a:t>5.5.5.3.</a:t>
                      </a:r>
                      <a:r>
                        <a:rPr sz="700" b="0" i="1">
                          <a:solidFill>
                            <a:srgbClr val="000000"/>
                          </a:solidFill>
                          <a:latin typeface="Times New Roman"/>
                        </a:rPr>
                        <a:t>    </a:t>
                      </a:r>
                      <a:r>
                        <a:rPr sz="1100" b="0" i="1">
                          <a:solidFill>
                            <a:srgbClr val="000000"/>
                          </a:solidFill>
                          <a:latin typeface="Calibri"/>
                        </a:rPr>
                        <a:t>Machinery Parts</a:t>
                      </a:r>
                      <a:endParaRPr sz="1100"/>
                    </a:p>
                  </a:txBody>
                  <a:tcPr marL="1028700" marR="9525" marT="9525" marB="0" anchor="ctr"/>
                </a:tc>
              </a:tr>
              <a:tr h="175260">
                <a:tc>
                  <a:txBody>
                    <a:bodyPr wrap="square"/>
                    <a:lstStyle/>
                    <a:p>
                      <a:pPr algn="l"/>
                      <a:r>
                        <a:rPr sz="1100" b="0" i="1">
                          <a:solidFill>
                            <a:srgbClr val="000000"/>
                          </a:solidFill>
                          <a:latin typeface="Calibri"/>
                        </a:rPr>
                        <a:t>5.5.5.4.</a:t>
                      </a:r>
                      <a:r>
                        <a:rPr sz="700" b="0" i="1">
                          <a:solidFill>
                            <a:srgbClr val="000000"/>
                          </a:solidFill>
                          <a:latin typeface="Times New Roman"/>
                        </a:rPr>
                        <a:t>    </a:t>
                      </a:r>
                      <a:r>
                        <a:rPr sz="1100" b="0" i="1">
                          <a:solidFill>
                            <a:srgbClr val="000000"/>
                          </a:solidFill>
                          <a:latin typeface="Calibri"/>
                        </a:rPr>
                        <a:t>Hardware</a:t>
                      </a:r>
                      <a:endParaRPr sz="1100"/>
                    </a:p>
                  </a:txBody>
                  <a:tcPr marL="1028700" marR="9525" marT="9525" marB="0" anchor="ctr"/>
                </a:tc>
              </a:tr>
              <a:tr h="175260">
                <a:tc>
                  <a:txBody>
                    <a:bodyPr wrap="square"/>
                    <a:lstStyle/>
                    <a:p>
                      <a:pPr algn="l"/>
                      <a:r>
                        <a:rPr sz="1100" b="0" i="1">
                          <a:solidFill>
                            <a:srgbClr val="000000"/>
                          </a:solidFill>
                          <a:latin typeface="Calibri"/>
                        </a:rPr>
                        <a:t>5.5.5.5.</a:t>
                      </a:r>
                      <a:r>
                        <a:rPr sz="700" b="0" i="1">
                          <a:solidFill>
                            <a:srgbClr val="000000"/>
                          </a:solidFill>
                          <a:latin typeface="Times New Roman"/>
                        </a:rPr>
                        <a:t>    </a:t>
                      </a:r>
                      <a:r>
                        <a:rPr sz="1100" b="0" i="1">
                          <a:solidFill>
                            <a:srgbClr val="000000"/>
                          </a:solidFill>
                          <a:latin typeface="Calibri"/>
                        </a:rPr>
                        <a:t>Electrical Components</a:t>
                      </a:r>
                      <a:endParaRPr sz="1100"/>
                    </a:p>
                  </a:txBody>
                  <a:tcPr marL="1028700"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Agriculture</a:t>
                      </a:r>
                      <a:endParaRPr sz="1100"/>
                    </a:p>
                  </a:txBody>
                  <a:tcPr marL="771525" marR="9525" marT="9525" marB="0" anchor="ctr"/>
                </a:tc>
              </a:tr>
              <a:tr h="175260">
                <a:tc>
                  <a:txBody>
                    <a:bodyPr wrap="square"/>
                    <a:lstStyle/>
                    <a:p>
                      <a:pPr algn="l"/>
                      <a:r>
                        <a:rPr sz="1100" b="0" i="1">
                          <a:solidFill>
                            <a:srgbClr val="000000"/>
                          </a:solidFill>
                          <a:latin typeface="Calibri"/>
                        </a:rPr>
                        <a:t>5.5.6.1.</a:t>
                      </a:r>
                      <a:r>
                        <a:rPr sz="700" b="0" i="1">
                          <a:solidFill>
                            <a:srgbClr val="000000"/>
                          </a:solidFill>
                          <a:latin typeface="Times New Roman"/>
                        </a:rPr>
                        <a:t>    </a:t>
                      </a:r>
                      <a:r>
                        <a:rPr sz="1100" b="0" i="1">
                          <a:solidFill>
                            <a:srgbClr val="000000"/>
                          </a:solidFill>
                          <a:latin typeface="Calibri"/>
                        </a:rPr>
                        <a:t>Seeds</a:t>
                      </a:r>
                      <a:endParaRPr sz="1100"/>
                    </a:p>
                  </a:txBody>
                  <a:tcPr marL="1028700" marR="9525" marT="9525" marB="0" anchor="ctr"/>
                </a:tc>
              </a:tr>
              <a:tr h="175260">
                <a:tc>
                  <a:txBody>
                    <a:bodyPr wrap="square"/>
                    <a:lstStyle/>
                    <a:p>
                      <a:pPr algn="l"/>
                      <a:r>
                        <a:rPr sz="1100" b="0" i="1">
                          <a:solidFill>
                            <a:srgbClr val="000000"/>
                          </a:solidFill>
                          <a:latin typeface="Calibri"/>
                        </a:rPr>
                        <a:t>5.5.6.2.</a:t>
                      </a:r>
                      <a:r>
                        <a:rPr sz="700" b="0" i="1">
                          <a:solidFill>
                            <a:srgbClr val="000000"/>
                          </a:solidFill>
                          <a:latin typeface="Times New Roman"/>
                        </a:rPr>
                        <a:t>    </a:t>
                      </a:r>
                      <a:r>
                        <a:rPr sz="1100" b="0" i="1">
                          <a:solidFill>
                            <a:srgbClr val="000000"/>
                          </a:solidFill>
                          <a:latin typeface="Calibri"/>
                        </a:rPr>
                        <a:t>Fertilizers</a:t>
                      </a:r>
                      <a:endParaRPr sz="1100"/>
                    </a:p>
                  </a:txBody>
                  <a:tcPr marL="1028700" marR="9525" marT="9525" marB="0" anchor="ctr"/>
                </a:tc>
              </a:tr>
              <a:tr h="175260">
                <a:tc>
                  <a:txBody>
                    <a:bodyPr wrap="square"/>
                    <a:lstStyle/>
                    <a:p>
                      <a:pPr algn="l"/>
                      <a:r>
                        <a:rPr sz="1100" b="0" i="1">
                          <a:solidFill>
                            <a:srgbClr val="000000"/>
                          </a:solidFill>
                          <a:latin typeface="Calibri"/>
                        </a:rPr>
                        <a:t>5.5.6.3.</a:t>
                      </a:r>
                      <a:r>
                        <a:rPr sz="700" b="0" i="1">
                          <a:solidFill>
                            <a:srgbClr val="000000"/>
                          </a:solidFill>
                          <a:latin typeface="Times New Roman"/>
                        </a:rPr>
                        <a:t>    </a:t>
                      </a:r>
                      <a:r>
                        <a:rPr sz="1100" b="0" i="1">
                          <a:solidFill>
                            <a:srgbClr val="000000"/>
                          </a:solidFill>
                          <a:latin typeface="Calibri"/>
                        </a:rPr>
                        <a:t>Animal Feed</a:t>
                      </a:r>
                      <a:endParaRPr sz="1100"/>
                    </a:p>
                  </a:txBody>
                  <a:tcPr marL="1028700" marR="9525" marT="9525" marB="0" anchor="ctr"/>
                </a:tc>
              </a:tr>
              <a:tr h="175260">
                <a:tc>
                  <a:txBody>
                    <a:bodyPr wrap="square"/>
                    <a:lstStyle/>
                    <a:p>
                      <a:pPr algn="l"/>
                      <a:r>
                        <a:rPr sz="1100" b="0" i="1">
                          <a:solidFill>
                            <a:srgbClr val="000000"/>
                          </a:solidFill>
                          <a:latin typeface="Calibri"/>
                        </a:rPr>
                        <a:t>5.5.6.4.</a:t>
                      </a:r>
                      <a:r>
                        <a:rPr sz="700" b="0" i="1">
                          <a:solidFill>
                            <a:srgbClr val="000000"/>
                          </a:solidFill>
                          <a:latin typeface="Times New Roman"/>
                        </a:rPr>
                        <a:t>    </a:t>
                      </a:r>
                      <a:r>
                        <a:rPr sz="1100" b="0" i="1">
                          <a:solidFill>
                            <a:srgbClr val="000000"/>
                          </a:solidFill>
                          <a:latin typeface="Calibri"/>
                        </a:rPr>
                        <a:t>Produce Packaging</a:t>
                      </a:r>
                      <a:endParaRPr sz="1100"/>
                    </a:p>
                  </a:txBody>
                  <a:tcPr marL="1028700" marR="9525" marT="9525" marB="0" anchor="ctr"/>
                </a:tc>
              </a:tr>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Electronics</a:t>
                      </a:r>
                      <a:endParaRPr sz="1100"/>
                    </a:p>
                  </a:txBody>
                  <a:tcPr marL="771525" marR="9525" marT="9525" marB="0" anchor="ctr"/>
                </a:tc>
              </a:tr>
              <a:tr h="175260">
                <a:tc>
                  <a:txBody>
                    <a:bodyPr wrap="square"/>
                    <a:lstStyle/>
                    <a:p>
                      <a:pPr algn="l"/>
                      <a:r>
                        <a:rPr sz="1100" b="0" i="1">
                          <a:solidFill>
                            <a:srgbClr val="000000"/>
                          </a:solidFill>
                          <a:latin typeface="Calibri"/>
                        </a:rPr>
                        <a:t>5.5.7.1.</a:t>
                      </a:r>
                      <a:r>
                        <a:rPr sz="700" b="0" i="1">
                          <a:solidFill>
                            <a:srgbClr val="000000"/>
                          </a:solidFill>
                          <a:latin typeface="Times New Roman"/>
                        </a:rPr>
                        <a:t>    </a:t>
                      </a:r>
                      <a:r>
                        <a:rPr sz="1100" b="0" i="1">
                          <a:solidFill>
                            <a:srgbClr val="000000"/>
                          </a:solidFill>
                          <a:latin typeface="Calibri"/>
                        </a:rPr>
                        <a:t>Semiconductors</a:t>
                      </a:r>
                      <a:endParaRPr sz="1100"/>
                    </a:p>
                  </a:txBody>
                  <a:tcPr marL="1028700" marR="9525" marT="9525" marB="0" anchor="ctr"/>
                </a:tc>
              </a:tr>
              <a:tr h="175260">
                <a:tc>
                  <a:txBody>
                    <a:bodyPr wrap="square"/>
                    <a:lstStyle/>
                    <a:p>
                      <a:pPr algn="l"/>
                      <a:r>
                        <a:rPr sz="1100" b="0" i="1">
                          <a:solidFill>
                            <a:srgbClr val="000000"/>
                          </a:solidFill>
                          <a:latin typeface="Calibri"/>
                        </a:rPr>
                        <a:t>5.5.7.2.</a:t>
                      </a:r>
                      <a:r>
                        <a:rPr sz="700" b="0" i="1">
                          <a:solidFill>
                            <a:srgbClr val="000000"/>
                          </a:solidFill>
                          <a:latin typeface="Times New Roman"/>
                        </a:rPr>
                        <a:t>    </a:t>
                      </a:r>
                      <a:r>
                        <a:rPr sz="1100" b="0" i="1">
                          <a:solidFill>
                            <a:srgbClr val="000000"/>
                          </a:solidFill>
                          <a:latin typeface="Calibri"/>
                        </a:rPr>
                        <a:t>Consumer Electronics</a:t>
                      </a:r>
                      <a:endParaRPr sz="1100"/>
                    </a:p>
                  </a:txBody>
                  <a:tcPr marL="1028700" marR="9525" marT="9525" marB="0" anchor="ctr"/>
                </a:tc>
              </a:tr>
              <a:tr h="175260">
                <a:tc>
                  <a:txBody>
                    <a:bodyPr wrap="square"/>
                    <a:lstStyle/>
                    <a:p>
                      <a:pPr algn="l"/>
                      <a:r>
                        <a:rPr sz="1100" b="0" i="1">
                          <a:solidFill>
                            <a:srgbClr val="000000"/>
                          </a:solidFill>
                          <a:latin typeface="Calibri"/>
                        </a:rPr>
                        <a:t>5.5.7.3.</a:t>
                      </a:r>
                      <a:r>
                        <a:rPr sz="700" b="0" i="1">
                          <a:solidFill>
                            <a:srgbClr val="000000"/>
                          </a:solidFill>
                          <a:latin typeface="Times New Roman"/>
                        </a:rPr>
                        <a:t>    </a:t>
                      </a:r>
                      <a:r>
                        <a:rPr sz="1100" b="0" i="1">
                          <a:solidFill>
                            <a:srgbClr val="000000"/>
                          </a:solidFill>
                          <a:latin typeface="Calibri"/>
                        </a:rPr>
                        <a:t>Electronic Components</a:t>
                      </a:r>
                      <a:endParaRPr sz="1100"/>
                    </a:p>
                  </a:txBody>
                  <a:tcPr marL="1028700" marR="9525" marT="9525" marB="0" anchor="ctr"/>
                </a:tc>
              </a:tr>
              <a:tr h="175260">
                <a:tc>
                  <a:txBody>
                    <a:bodyPr wrap="square"/>
                    <a:lstStyle/>
                    <a:p>
                      <a:pPr algn="l"/>
                      <a:r>
                        <a:rPr sz="1100" b="0" i="1">
                          <a:solidFill>
                            <a:srgbClr val="000000"/>
                          </a:solidFill>
                          <a:latin typeface="Calibri"/>
                        </a:rPr>
                        <a:t>5.5.7.4.</a:t>
                      </a:r>
                      <a:r>
                        <a:rPr sz="700" b="0" i="1">
                          <a:solidFill>
                            <a:srgbClr val="000000"/>
                          </a:solidFill>
                          <a:latin typeface="Times New Roman"/>
                        </a:rPr>
                        <a:t>    </a:t>
                      </a:r>
                      <a:r>
                        <a:rPr sz="1100" b="0" i="1">
                          <a:solidFill>
                            <a:srgbClr val="000000"/>
                          </a:solidFill>
                          <a:latin typeface="Calibri"/>
                        </a:rPr>
                        <a:t>PCB Packaging</a:t>
                      </a:r>
                      <a:endParaRPr sz="1100"/>
                    </a:p>
                  </a:txBody>
                  <a:tcPr marL="1028700"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tr>
              <a:tr h="175260">
                <a:tc>
                  <a:txBody>
                    <a:bodyPr wrap="square"/>
                    <a:lstStyle/>
                    <a:p>
                      <a:pPr algn="l"/>
                      <a:r>
                        <a:rPr sz="1100" b="0" i="1">
                          <a:solidFill>
                            <a:srgbClr val="000000"/>
                          </a:solidFill>
                          <a:latin typeface="Calibri"/>
                        </a:rPr>
                        <a:t>5.5.8.1.</a:t>
                      </a:r>
                      <a:r>
                        <a:rPr sz="700" b="0" i="1">
                          <a:solidFill>
                            <a:srgbClr val="000000"/>
                          </a:solidFill>
                          <a:latin typeface="Times New Roman"/>
                        </a:rPr>
                        <a:t>    </a:t>
                      </a:r>
                      <a:r>
                        <a:rPr sz="1100" b="0" i="1">
                          <a:solidFill>
                            <a:srgbClr val="000000"/>
                          </a:solidFill>
                          <a:latin typeface="Calibri"/>
                        </a:rPr>
                        <a:t>Cosmetic Products</a:t>
                      </a:r>
                      <a:endParaRPr sz="1100"/>
                    </a:p>
                  </a:txBody>
                  <a:tcPr marL="1028700" marR="9525" marT="9525" marB="0" anchor="ctr"/>
                </a:tc>
              </a:tr>
              <a:tr h="175260">
                <a:tc>
                  <a:txBody>
                    <a:bodyPr wrap="square"/>
                    <a:lstStyle/>
                    <a:p>
                      <a:pPr algn="l"/>
                      <a:r>
                        <a:rPr sz="1100" b="0" i="1">
                          <a:solidFill>
                            <a:srgbClr val="000000"/>
                          </a:solidFill>
                          <a:latin typeface="Calibri"/>
                        </a:rPr>
                        <a:t>5.5.8.2.</a:t>
                      </a:r>
                      <a:r>
                        <a:rPr sz="700" b="0" i="1">
                          <a:solidFill>
                            <a:srgbClr val="000000"/>
                          </a:solidFill>
                          <a:latin typeface="Times New Roman"/>
                        </a:rPr>
                        <a:t>    </a:t>
                      </a:r>
                      <a:r>
                        <a:rPr sz="1100" b="0" i="1">
                          <a:solidFill>
                            <a:srgbClr val="000000"/>
                          </a:solidFill>
                          <a:latin typeface="Calibri"/>
                        </a:rPr>
                        <a:t>Toiletries</a:t>
                      </a:r>
                      <a:endParaRPr sz="1100"/>
                    </a:p>
                  </a:txBody>
                  <a:tcPr marL="1028700" marR="9525" marT="9525" marB="0" anchor="ctr"/>
                </a:tc>
              </a:tr>
              <a:tr h="175260">
                <a:tc>
                  <a:txBody>
                    <a:bodyPr wrap="square"/>
                    <a:lstStyle/>
                    <a:p>
                      <a:pPr algn="l"/>
                      <a:r>
                        <a:rPr sz="1100" b="0" i="1">
                          <a:solidFill>
                            <a:srgbClr val="000000"/>
                          </a:solidFill>
                          <a:latin typeface="Calibri"/>
                        </a:rPr>
                        <a:t>5.5.8.3.</a:t>
                      </a:r>
                      <a:r>
                        <a:rPr sz="700" b="0" i="1">
                          <a:solidFill>
                            <a:srgbClr val="000000"/>
                          </a:solidFill>
                          <a:latin typeface="Times New Roman"/>
                        </a:rPr>
                        <a:t>    </a:t>
                      </a:r>
                      <a:r>
                        <a:rPr sz="1100" b="0" i="1">
                          <a:solidFill>
                            <a:srgbClr val="000000"/>
                          </a:solidFill>
                          <a:latin typeface="Calibri"/>
                        </a:rPr>
                        <a:t>Beauty Products</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6.5.1.1.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6.5.1.2.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6.5.2.1.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6.5.2.2.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6.5.2.3.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6.5.3.1.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6.5.3.2.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6.5.3.3.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6.5.4.1.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6.5.4.2.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6.5.4.3.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6.5.4.4.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6.5.4.5.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6.5.4.6.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6.5.4.7.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6.5.4.8.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6.5.4.9.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6.5.5.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6.5.5.1.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6.5.5.2.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6.5.5.3.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6.5.5.4.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6.5.5.5.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6.5.5.6.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6.5.5.7.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6.5.5.8.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6.5.5.9.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6.5.5.10.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6.5.5.11.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6.5.5.12.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6.5.6.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6.5.6.1.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6.5.6.2.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6.5.6.3.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6.5.6.4.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6.5.6.5.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6.5.6.6.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6.5.6.7.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35052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Product Type × End-Use Industry</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End-Use Industry × Material</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8.4.1.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8.4.2.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8.4.3.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9.4.1.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9.4.2.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9.4.3.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10.4.1.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10.4.2.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10.4.3.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14.1.1.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14.1.2.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14.1.3.</a:t>
                      </a:r>
                      <a:r>
                        <a:rPr sz="700" b="0" i="0">
                          <a:solidFill>
                            <a:srgbClr val="000000"/>
                          </a:solidFill>
                          <a:latin typeface="Times New Roman"/>
                        </a:rPr>
                        <a:t> </a:t>
                      </a:r>
                      <a:r>
                        <a:rPr sz="1100" b="0" i="0">
                          <a:solidFill>
                            <a:srgbClr val="000000"/>
                          </a:solidFill>
                          <a:latin typeface="Calibri"/>
                        </a:rPr>
                        <a:t>Retail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Segment-wise Price Comparison (Product Type vs Material)</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14.6.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15.1.1.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15.1.2.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15.1.3.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16.1.1.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16.1.2.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16.1.3.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16.2.1.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16.2.2.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16.2.3.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16.6.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16.7.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16.8.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16.9.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Formula Requirements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USDA</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FASSAI</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EU Commissions</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19.3.1.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19.3.2.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19.3.3.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7: Competition Assessment</a:t>
                      </a:r>
                      <a:endParaRPr sz="1100"/>
                    </a:p>
                  </a:txBody>
                  <a:tcPr marL="9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Amcor plc</a:t>
                      </a:r>
                      <a:endParaRPr sz="1100"/>
                    </a:p>
                  </a:txBody>
                  <a:tcPr marL="428625" marR="9525" marT="9525" marB="0" anchor="ctr"/>
                </a:tc>
              </a:tr>
              <a:tr h="175260">
                <a:tc>
                  <a:txBody>
                    <a:bodyPr wrap="square"/>
                    <a:lstStyle/>
                    <a:p>
                      <a:pPr algn="l"/>
                      <a:r>
                        <a:rPr sz="1100" b="0" i="0">
                          <a:solidFill>
                            <a:srgbClr val="000000"/>
                          </a:solidFill>
                          <a:latin typeface="Calibri"/>
                        </a:rPr>
                        <a:t>23.1.1.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23.1.2.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23.1.3.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23.1.4.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23.1.4.1.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23.1.4.2.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23.1.4.3.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23.1.5.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23.1.6.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23.1.6.1.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23.1.6.2.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03098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23.1.6.3.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23.1.6.4.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23.1.7.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23.1.8.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Sealed Air Corporation</a:t>
                      </a:r>
                      <a:endParaRPr sz="1100"/>
                    </a:p>
                  </a:txBody>
                  <a:tcPr marL="428625" marR="9525" marT="9525" marB="0" anchor="ctr"/>
                </a:tc>
              </a:tr>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Inteplast Group</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Novolex</a:t>
                      </a:r>
                      <a:endParaRPr sz="1100"/>
                    </a:p>
                  </a:txBody>
                  <a:tcPr marL="428625" marR="9525" marT="9525" marB="0" anchor="ctr"/>
                </a:tc>
              </a:tr>
              <a:tr h="175260">
                <a:tc>
                  <a:txBody>
                    <a:bodyPr wrap="square"/>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Coveris</a:t>
                      </a:r>
                      <a:endParaRPr sz="1100"/>
                    </a:p>
                  </a:txBody>
                  <a:tcPr marL="428625" marR="9525" marT="9525" marB="0" anchor="ctr"/>
                </a:tc>
              </a:tr>
              <a:tr h="175260">
                <a:tc>
                  <a:txBody>
                    <a:bodyPr wrap="square"/>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Printpack</a:t>
                      </a:r>
                      <a:endParaRPr sz="1100"/>
                    </a:p>
                  </a:txBody>
                  <a:tcPr marL="428625" marR="9525" marT="9525" marB="0" anchor="ctr"/>
                </a:tc>
              </a:tr>
              <a:tr h="175260">
                <a:tc>
                  <a:txBody>
                    <a:bodyPr wrap="square"/>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Winpak Ltd.</a:t>
                      </a:r>
                      <a:endParaRPr sz="1100"/>
                    </a:p>
                  </a:txBody>
                  <a:tcPr marL="428625" marR="9525" marT="9525" marB="0" anchor="ctr"/>
                </a:tc>
              </a:tr>
              <a:tr h="175260">
                <a:tc>
                  <a:txBody>
                    <a:bodyPr wrap="square"/>
                    <a:lstStyle/>
                    <a:p>
                      <a:pPr algn="l"/>
                      <a:r>
                        <a:rPr sz="1100" b="0" i="0">
                          <a:solidFill>
                            <a:srgbClr val="0070C0"/>
                          </a:solidFill>
                          <a:latin typeface="Calibri"/>
                        </a:rPr>
                        <a:t>23.8.</a:t>
                      </a:r>
                      <a:r>
                        <a:rPr sz="700" b="0" i="0">
                          <a:solidFill>
                            <a:srgbClr val="0070C0"/>
                          </a:solidFill>
                          <a:latin typeface="Times New Roman"/>
                        </a:rPr>
                        <a:t>  </a:t>
                      </a:r>
                      <a:r>
                        <a:rPr sz="1100" b="0" i="0">
                          <a:solidFill>
                            <a:srgbClr val="0070C0"/>
                          </a:solidFill>
                          <a:latin typeface="Calibri"/>
                        </a:rPr>
                        <a:t>Huhtamaki</a:t>
                      </a:r>
                      <a:endParaRPr sz="1100"/>
                    </a:p>
                  </a:txBody>
                  <a:tcPr marL="428625" marR="9525" marT="9525" marB="0" anchor="ctr"/>
                </a:tc>
              </a:tr>
              <a:tr h="175260">
                <a:tc>
                  <a:txBody>
                    <a:bodyPr wrap="square"/>
                    <a:lstStyle/>
                    <a:p>
                      <a:pPr algn="l"/>
                      <a:r>
                        <a:rPr sz="1100" b="0" i="0">
                          <a:solidFill>
                            <a:srgbClr val="0070C0"/>
                          </a:solidFill>
                          <a:latin typeface="Calibri"/>
                        </a:rPr>
                        <a:t>23.9.</a:t>
                      </a:r>
                      <a:r>
                        <a:rPr sz="700" b="0" i="0">
                          <a:solidFill>
                            <a:srgbClr val="0070C0"/>
                          </a:solidFill>
                          <a:latin typeface="Times New Roman"/>
                        </a:rPr>
                        <a:t>  </a:t>
                      </a:r>
                      <a:r>
                        <a:rPr sz="1100" b="0" i="0">
                          <a:solidFill>
                            <a:srgbClr val="0070C0"/>
                          </a:solidFill>
                          <a:latin typeface="Calibri"/>
                        </a:rPr>
                        <a:t>Berry Global Group</a:t>
                      </a:r>
                      <a:endParaRPr sz="1100"/>
                    </a:p>
                  </a:txBody>
                  <a:tcPr marL="428625" marR="9525" marT="9525" marB="0" anchor="ctr"/>
                </a:tc>
              </a:tr>
              <a:tr h="175260">
                <a:tc>
                  <a:txBody>
                    <a:bodyPr wrap="square"/>
                    <a:lstStyle/>
                    <a:p>
                      <a:pPr algn="l"/>
                      <a:r>
                        <a:rPr sz="1100" b="0" i="0">
                          <a:solidFill>
                            <a:srgbClr val="0070C0"/>
                          </a:solidFill>
                          <a:latin typeface="Calibri"/>
                        </a:rPr>
                        <a:t>23.10.</a:t>
                      </a:r>
                      <a:r>
                        <a:rPr sz="700" b="0" i="0">
                          <a:solidFill>
                            <a:srgbClr val="0070C0"/>
                          </a:solidFill>
                          <a:latin typeface="Times New Roman"/>
                        </a:rPr>
                        <a:t> </a:t>
                      </a:r>
                      <a:r>
                        <a:rPr sz="1100" b="0" i="0">
                          <a:solidFill>
                            <a:srgbClr val="0070C0"/>
                          </a:solidFill>
                          <a:latin typeface="Calibri"/>
                        </a:rPr>
                        <a:t>Mondi Group</a:t>
                      </a:r>
                      <a:endParaRPr sz="1100"/>
                    </a:p>
                  </a:txBody>
                  <a:tcPr marL="428625" marR="9525" marT="9525" marB="0" anchor="ctr"/>
                </a:tc>
              </a:tr>
              <a:tr h="175260">
                <a:tc>
                  <a:txBody>
                    <a:bodyPr wrap="square"/>
                    <a:lstStyle/>
                    <a:p>
                      <a:pPr algn="l"/>
                      <a:r>
                        <a:rPr sz="1100" b="0" i="0">
                          <a:solidFill>
                            <a:srgbClr val="0070C0"/>
                          </a:solidFill>
                          <a:latin typeface="Calibri"/>
                        </a:rPr>
                        <a:t>23.11.</a:t>
                      </a:r>
                      <a:r>
                        <a:rPr sz="700" b="0" i="0">
                          <a:solidFill>
                            <a:srgbClr val="0070C0"/>
                          </a:solidFill>
                          <a:latin typeface="Times New Roman"/>
                        </a:rPr>
                        <a:t> </a:t>
                      </a:r>
                      <a:r>
                        <a:rPr sz="1100" b="0" i="0">
                          <a:solidFill>
                            <a:srgbClr val="0070C0"/>
                          </a:solidFill>
                          <a:latin typeface="Calibri"/>
                        </a:rPr>
                        <a:t>Pactiv Evergreen</a:t>
                      </a:r>
                      <a:endParaRPr sz="1100"/>
                    </a:p>
                  </a:txBody>
                  <a:tcPr marL="428625" marR="9525" marT="9525" marB="0" anchor="ctr"/>
                </a:tc>
              </a:tr>
              <a:tr h="175260">
                <a:tc>
                  <a:txBody>
                    <a:bodyPr wrap="square"/>
                    <a:lstStyle/>
                    <a:p>
                      <a:pPr algn="l"/>
                      <a:r>
                        <a:rPr sz="1100" b="0" i="0">
                          <a:solidFill>
                            <a:srgbClr val="0070C0"/>
                          </a:solidFill>
                          <a:latin typeface="Calibri"/>
                        </a:rPr>
                        <a:t>23.12.</a:t>
                      </a:r>
                      <a:r>
                        <a:rPr sz="700" b="0" i="0">
                          <a:solidFill>
                            <a:srgbClr val="0070C0"/>
                          </a:solidFill>
                          <a:latin typeface="Times New Roman"/>
                        </a:rPr>
                        <a:t> </a:t>
                      </a:r>
                      <a:r>
                        <a:rPr sz="1100" b="0" i="0">
                          <a:solidFill>
                            <a:srgbClr val="0070C0"/>
                          </a:solidFill>
                          <a:latin typeface="Calibri"/>
                        </a:rPr>
                        <a:t>Sonoco Products Company</a:t>
                      </a:r>
                      <a:endParaRPr sz="1100"/>
                    </a:p>
                  </a:txBody>
                  <a:tcPr marL="428625" marR="9525" marT="9525" marB="0" anchor="ctr"/>
                </a:tc>
              </a:tr>
              <a:tr h="175260">
                <a:tc>
                  <a:txBody>
                    <a:bodyPr wrap="square"/>
                    <a:lstStyle/>
                    <a:p>
                      <a:pPr algn="l"/>
                      <a:r>
                        <a:rPr sz="1100" b="0" i="0">
                          <a:solidFill>
                            <a:srgbClr val="0070C0"/>
                          </a:solidFill>
                          <a:latin typeface="Calibri"/>
                        </a:rPr>
                        <a:t>23.13.</a:t>
                      </a:r>
                      <a:r>
                        <a:rPr sz="700" b="0" i="0">
                          <a:solidFill>
                            <a:srgbClr val="0070C0"/>
                          </a:solidFill>
                          <a:latin typeface="Times New Roman"/>
                        </a:rPr>
                        <a:t> </a:t>
                      </a:r>
                      <a:r>
                        <a:rPr sz="1100" b="0" i="0">
                          <a:solidFill>
                            <a:srgbClr val="0070C0"/>
                          </a:solidFill>
                          <a:latin typeface="Calibri"/>
                        </a:rPr>
                        <a:t>A-Pac Manufacturing Co., Inc.</a:t>
                      </a:r>
                      <a:endParaRPr sz="1100"/>
                    </a:p>
                  </a:txBody>
                  <a:tcPr marL="428625" marR="9525" marT="9525" marB="0" anchor="ctr"/>
                </a:tc>
              </a:tr>
              <a:tr h="175260">
                <a:tc>
                  <a:txBody>
                    <a:bodyPr wrap="square"/>
                    <a:lstStyle/>
                    <a:p>
                      <a:pPr algn="l"/>
                      <a:r>
                        <a:rPr sz="1100" b="0" i="0">
                          <a:solidFill>
                            <a:srgbClr val="0070C0"/>
                          </a:solidFill>
                          <a:latin typeface="Calibri"/>
                        </a:rPr>
                        <a:t>23.14.</a:t>
                      </a:r>
                      <a:r>
                        <a:rPr sz="700" b="0" i="0">
                          <a:solidFill>
                            <a:srgbClr val="0070C0"/>
                          </a:solidFill>
                          <a:latin typeface="Times New Roman"/>
                        </a:rPr>
                        <a:t> </a:t>
                      </a:r>
                      <a:r>
                        <a:rPr sz="1100" b="0" i="0">
                          <a:solidFill>
                            <a:srgbClr val="0070C0"/>
                          </a:solidFill>
                          <a:latin typeface="Calibri"/>
                        </a:rPr>
                        <a:t>PPC Flex</a:t>
                      </a:r>
                      <a:endParaRPr sz="1100"/>
                    </a:p>
                  </a:txBody>
                  <a:tcPr marL="428625" marR="9525" marT="9525" marB="0" anchor="ctr"/>
                </a:tc>
              </a:tr>
              <a:tr h="175260">
                <a:tc>
                  <a:txBody>
                    <a:bodyPr wrap="square"/>
                    <a:lstStyle/>
                    <a:p>
                      <a:pPr algn="l"/>
                      <a:r>
                        <a:rPr sz="1100" b="0" i="0">
                          <a:solidFill>
                            <a:srgbClr val="0070C0"/>
                          </a:solidFill>
                          <a:latin typeface="Calibri"/>
                        </a:rPr>
                        <a:t>23.15.</a:t>
                      </a:r>
                      <a:r>
                        <a:rPr sz="700" b="0" i="0">
                          <a:solidFill>
                            <a:srgbClr val="0070C0"/>
                          </a:solidFill>
                          <a:latin typeface="Times New Roman"/>
                        </a:rPr>
                        <a:t> </a:t>
                      </a:r>
                      <a:r>
                        <a:rPr sz="1100" b="0" i="0">
                          <a:solidFill>
                            <a:srgbClr val="0070C0"/>
                          </a:solidFill>
                          <a:latin typeface="Calibri"/>
                        </a:rPr>
                        <a:t>Arihant Packers</a:t>
                      </a:r>
                      <a:endParaRPr sz="1100"/>
                    </a:p>
                  </a:txBody>
                  <a:tcPr marL="428625" marR="9525" marT="9525" marB="0" anchor="ctr"/>
                </a:tc>
              </a:tr>
              <a:tr h="175260">
                <a:tc>
                  <a:txBody>
                    <a:bodyPr wrap="square"/>
                    <a:lstStyle/>
                    <a:p>
                      <a:pPr algn="l"/>
                      <a:r>
                        <a:rPr sz="1100" b="0" i="0">
                          <a:solidFill>
                            <a:srgbClr val="0070C0"/>
                          </a:solidFill>
                          <a:latin typeface="Calibri"/>
                        </a:rPr>
                        <a:t>23.16.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EE0000"/>
                          </a:solidFill>
                          <a:latin typeface="Calibri"/>
                        </a:rPr>
                        <a:t>ADD SECTIONS AS PER STORY LINE</a:t>
                      </a:r>
                      <a:endParaRPr sz="1100"/>
                    </a:p>
                  </a:txBody>
                  <a:tcPr marL="9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Figure 1: Middle East &amp; Africa Market Value and YoY Growth, US$ Mn and %, 2021–2036</a:t>
                      </a:r>
                      <a:endParaRPr sz="1050"/>
                    </a:p>
                  </a:txBody>
                  <a:tcPr marL="9525" marR="9525" marT="9525" marB="0" anchor="ctr"/>
                </a:tc>
              </a:tr>
              <a:tr h="170045">
                <a:tc>
                  <a:txBody>
                    <a:bodyPr wrap="square"/>
                    <a:lstStyle/>
                    <a:p>
                      <a:pPr algn="l"/>
                      <a:r>
                        <a:rPr sz="1050" b="0" i="0">
                          <a:solidFill>
                            <a:srgbClr val="000000"/>
                          </a:solidFill>
                          <a:latin typeface="Calibri"/>
                        </a:rPr>
                        <a:t>Figure 2: Middle East &amp; Africa Market Value Snapshot, US$ Mn, 2026 and 2036</a:t>
                      </a:r>
                      <a:endParaRPr sz="1050"/>
                    </a:p>
                  </a:txBody>
                  <a:tcPr marL="9525" marR="9525" marT="9525" marB="0" anchor="ctr"/>
                </a:tc>
              </a:tr>
              <a:tr h="170045">
                <a:tc>
                  <a:txBody>
                    <a:bodyPr wrap="square"/>
                    <a:lstStyle/>
                    <a:p>
                      <a:pPr algn="l"/>
                      <a:r>
                        <a:rPr sz="1050" b="0" i="0">
                          <a:solidFill>
                            <a:srgbClr val="000000"/>
                          </a:solidFill>
                          <a:latin typeface="Calibri"/>
                        </a:rPr>
                        <a:t>Figure 3: Middle East &amp; Africa Market Taxonomy by Segment, 2026</a:t>
                      </a:r>
                      <a:endParaRPr sz="1050"/>
                    </a:p>
                  </a:txBody>
                  <a:tcPr marL="9525" marR="9525" marT="9525" marB="0" anchor="ctr"/>
                </a:tc>
              </a:tr>
              <a:tr h="170045">
                <a:tc>
                  <a:txBody>
                    <a:bodyPr wrap="square"/>
                    <a:lstStyle/>
                    <a:p>
                      <a:pPr algn="l"/>
                      <a:r>
                        <a:rPr sz="1050" b="0" i="0">
                          <a:solidFill>
                            <a:srgbClr val="000000"/>
                          </a:solidFill>
                          <a:latin typeface="Calibri"/>
                        </a:rPr>
                        <a:t>Figure 4: Middle East &amp; Africa Market Share by Product Type, %, 2026</a:t>
                      </a:r>
                      <a:endParaRPr sz="1050"/>
                    </a:p>
                  </a:txBody>
                  <a:tcPr marL="9525" marR="9525" marT="9525" marB="0" anchor="ctr"/>
                </a:tc>
              </a:tr>
              <a:tr h="170045">
                <a:tc>
                  <a:txBody>
                    <a:bodyPr wrap="square"/>
                    <a:lstStyle/>
                    <a:p>
                      <a:pPr algn="l"/>
                      <a:r>
                        <a:rPr sz="1050" b="0" i="0">
                          <a:solidFill>
                            <a:srgbClr val="000000"/>
                          </a:solidFill>
                          <a:latin typeface="Calibri"/>
                        </a:rPr>
                        <a:t>Figure 5: Middle East &amp; Africa Market Share by Principal Material / Barrier Technology, %, 2026</a:t>
                      </a:r>
                      <a:endParaRPr sz="1050"/>
                    </a:p>
                  </a:txBody>
                  <a:tcPr marL="9525" marR="9525" marT="9525" marB="0" anchor="ctr"/>
                </a:tc>
              </a:tr>
              <a:tr h="170045">
                <a:tc>
                  <a:txBody>
                    <a:bodyPr wrap="square"/>
                    <a:lstStyle/>
                    <a:p>
                      <a:pPr algn="l"/>
                      <a:r>
                        <a:rPr sz="1050" b="0" i="0">
                          <a:solidFill>
                            <a:srgbClr val="000000"/>
                          </a:solidFill>
                          <a:latin typeface="Calibri"/>
                        </a:rPr>
                        <a:t>Figure 6: Middle East &amp; Africa Market Share by Material Structure, %, 2026</a:t>
                      </a:r>
                      <a:endParaRPr sz="1050"/>
                    </a:p>
                  </a:txBody>
                  <a:tcPr marL="9525" marR="9525" marT="9525" marB="0" anchor="ctr"/>
                </a:tc>
              </a:tr>
              <a:tr h="170045">
                <a:tc>
                  <a:txBody>
                    <a:bodyPr wrap="square"/>
                    <a:lstStyle/>
                    <a:p>
                      <a:pPr algn="l"/>
                      <a:r>
                        <a:rPr sz="1050" b="0" i="0">
                          <a:solidFill>
                            <a:srgbClr val="000000"/>
                          </a:solidFill>
                          <a:latin typeface="Calibri"/>
                        </a:rPr>
                        <a:t>Figure 7: Middle East &amp; Africa Market Share by Barrier Level, %, 2026</a:t>
                      </a:r>
                      <a:endParaRPr sz="1050"/>
                    </a:p>
                  </a:txBody>
                  <a:tcPr marL="9525" marR="9525" marT="9525" marB="0" anchor="ctr"/>
                </a:tc>
              </a:tr>
              <a:tr h="170045">
                <a:tc>
                  <a:txBody>
                    <a:bodyPr wrap="square"/>
                    <a:lstStyle/>
                    <a:p>
                      <a:pPr algn="l"/>
                      <a:r>
                        <a:rPr sz="1050" b="0" i="0">
                          <a:solidFill>
                            <a:srgbClr val="000000"/>
                          </a:solidFill>
                          <a:latin typeface="Calibri"/>
                        </a:rPr>
                        <a:t>Figure 8: Middle East &amp; Africa Market Share by Application, %, 2026</a:t>
                      </a:r>
                      <a:endParaRPr sz="1050"/>
                    </a:p>
                  </a:txBody>
                  <a:tcPr marL="9525" marR="9525" marT="9525" marB="0" anchor="ctr"/>
                </a:tc>
              </a:tr>
              <a:tr h="170045">
                <a:tc>
                  <a:txBody>
                    <a:bodyPr wrap="square"/>
                    <a:lstStyle/>
                    <a:p>
                      <a:pPr algn="l"/>
                      <a:r>
                        <a:rPr sz="1050" b="0" i="0">
                          <a:solidFill>
                            <a:srgbClr val="000000"/>
                          </a:solidFill>
                          <a:latin typeface="Calibri"/>
                        </a:rPr>
                        <a:t>Figure 9: Middle East &amp; Africa Market Share by Barrier Level Vs Application, %, 2026</a:t>
                      </a:r>
                      <a:endParaRPr sz="1050"/>
                    </a:p>
                  </a:txBody>
                  <a:tcPr marL="9525" marR="9525" marT="9525" marB="0" anchor="ctr"/>
                </a:tc>
              </a:tr>
              <a:tr h="170045">
                <a:tc>
                  <a:txBody>
                    <a:bodyPr wrap="square"/>
                    <a:lstStyle/>
                    <a:p>
                      <a:pPr algn="l"/>
                      <a:r>
                        <a:rPr sz="1050" b="0" i="0">
                          <a:solidFill>
                            <a:srgbClr val="000000"/>
                          </a:solidFill>
                          <a:latin typeface="Calibri"/>
                        </a:rPr>
                        <a:t>Figure 10: Middle East &amp; Africa Market Incremental $ Opportunity, US$ Mn, 2026–2036</a:t>
                      </a:r>
                      <a:endParaRPr sz="1050"/>
                    </a:p>
                  </a:txBody>
                  <a:tcPr marL="9525" marR="9525" marT="9525" marB="0" anchor="ctr"/>
                </a:tc>
              </a:tr>
              <a:tr h="170045">
                <a:tc>
                  <a:txBody>
                    <a:bodyPr wrap="square"/>
                    <a:lstStyle/>
                    <a:p>
                      <a:pPr algn="l"/>
                      <a:r>
                        <a:rPr sz="1050" b="0" i="0">
                          <a:solidFill>
                            <a:srgbClr val="000000"/>
                          </a:solidFill>
                          <a:latin typeface="Calibri"/>
                        </a:rPr>
                        <a:t>Figure 11: Middle East &amp; Africa Market Historical Value, US$ Mn, 2021–2025</a:t>
                      </a:r>
                      <a:endParaRPr sz="1050"/>
                    </a:p>
                  </a:txBody>
                  <a:tcPr marL="9525" marR="9525" marT="9525" marB="0" anchor="ctr"/>
                </a:tc>
              </a:tr>
              <a:tr h="170045">
                <a:tc>
                  <a:txBody>
                    <a:bodyPr wrap="square"/>
                    <a:lstStyle/>
                    <a:p>
                      <a:pPr algn="l"/>
                      <a:r>
                        <a:rPr sz="1050" b="0" i="0">
                          <a:solidFill>
                            <a:srgbClr val="000000"/>
                          </a:solidFill>
                          <a:latin typeface="Calibri"/>
                        </a:rPr>
                        <a:t>Figure 12: Middle East &amp; Africa Market Forecast Value, US$ Mn, 2026–2036</a:t>
                      </a:r>
                      <a:endParaRPr sz="1050"/>
                    </a:p>
                  </a:txBody>
                  <a:tcPr marL="9525" marR="9525" marT="9525" marB="0" anchor="ctr"/>
                </a:tc>
              </a:tr>
              <a:tr h="170045">
                <a:tc>
                  <a:txBody>
                    <a:bodyPr wrap="square"/>
                    <a:lstStyle/>
                    <a:p>
                      <a:pPr algn="l"/>
                      <a:r>
                        <a:rPr sz="1050" b="0" i="0">
                          <a:solidFill>
                            <a:srgbClr val="000000"/>
                          </a:solidFill>
                          <a:latin typeface="Calibri"/>
                        </a:rPr>
                        <a:t>Figure 13: Middle East &amp; Africa Market YoY Growth, %, 2021–2036</a:t>
                      </a:r>
                      <a:endParaRPr sz="1050"/>
                    </a:p>
                  </a:txBody>
                  <a:tcPr marL="9525" marR="9525" marT="9525" marB="0" anchor="ctr"/>
                </a:tc>
              </a:tr>
              <a:tr h="170045">
                <a:tc>
                  <a:txBody>
                    <a:bodyPr wrap="square"/>
                    <a:lstStyle/>
                    <a:p>
                      <a:pPr algn="l"/>
                      <a:r>
                        <a:rPr sz="1050" b="0" i="0">
                          <a:solidFill>
                            <a:srgbClr val="000000"/>
                          </a:solidFill>
                          <a:latin typeface="Calibri"/>
                        </a:rPr>
                        <a:t>Figure 14: Middle East &amp; Africa Market Volume and YoY Growth, Thousand MT and %, 2021–2036</a:t>
                      </a:r>
                      <a:endParaRPr sz="1050"/>
                    </a:p>
                  </a:txBody>
                  <a:tcPr marL="9525" marR="9525" marT="9525" marB="0" anchor="ctr"/>
                </a:tc>
              </a:tr>
              <a:tr h="170045">
                <a:tc>
                  <a:txBody>
                    <a:bodyPr wrap="square"/>
                    <a:lstStyle/>
                    <a:p>
                      <a:pPr algn="l"/>
                      <a:r>
                        <a:rPr sz="1050" b="0" i="0">
                          <a:solidFill>
                            <a:srgbClr val="000000"/>
                          </a:solidFill>
                          <a:latin typeface="Calibri"/>
                        </a:rPr>
                        <a:t>Figure 15: Middle East &amp; Africa Market Volume vs Value CAGR Comparison, %, 2026–2036</a:t>
                      </a:r>
                      <a:endParaRPr sz="1050"/>
                    </a:p>
                  </a:txBody>
                  <a:tcPr marL="9525" marR="9525" marT="9525" marB="0" anchor="ctr"/>
                </a:tc>
              </a:tr>
              <a:tr h="170045">
                <a:tc>
                  <a:txBody>
                    <a:bodyPr wrap="square"/>
                    <a:lstStyle/>
                    <a:p>
                      <a:pPr algn="l"/>
                      <a:r>
                        <a:rPr sz="1050" b="0" i="0">
                          <a:solidFill>
                            <a:srgbClr val="000000"/>
                          </a:solidFill>
                          <a:latin typeface="Calibri"/>
                        </a:rPr>
                        <a:t>Figure 16: Middle East &amp; Africa Market Average Selling Price, US$/MT, 2021–2036</a:t>
                      </a:r>
                      <a:endParaRPr sz="1050"/>
                    </a:p>
                  </a:txBody>
                  <a:tcPr marL="9525" marR="9525" marT="9525" marB="0" anchor="ctr"/>
                </a:tc>
              </a:tr>
              <a:tr h="170045">
                <a:tc>
                  <a:txBody>
                    <a:bodyPr wrap="square"/>
                    <a:lstStyle/>
                    <a:p>
                      <a:pPr algn="l"/>
                      <a:r>
                        <a:rPr sz="1050" b="0" i="0">
                          <a:solidFill>
                            <a:srgbClr val="000000"/>
                          </a:solidFill>
                          <a:latin typeface="Calibri"/>
                        </a:rPr>
                        <a:t>Figure 17: Middle East &amp; Africa Market Absolute $ Opportunity, US$ Mn, 2026–2036</a:t>
                      </a:r>
                      <a:endParaRPr sz="1050"/>
                    </a:p>
                  </a:txBody>
                  <a:tcPr marL="9525" marR="9525" marT="9525" marB="0" anchor="ctr"/>
                </a:tc>
              </a:tr>
              <a:tr h="170045">
                <a:tc>
                  <a:txBody>
                    <a:bodyPr wrap="square"/>
                    <a:lstStyle/>
                    <a:p>
                      <a:pPr algn="l"/>
                      <a:r>
                        <a:rPr sz="1050" b="0" i="0">
                          <a:solidFill>
                            <a:srgbClr val="000000"/>
                          </a:solidFill>
                          <a:latin typeface="Calibri"/>
                        </a:rPr>
                        <a:t>Figure 18: Middle East &amp; Africa Market Incremental Opportunity by Year, US$ Mn, 2026–2036</a:t>
                      </a:r>
                      <a:endParaRPr sz="1050"/>
                    </a:p>
                  </a:txBody>
                  <a:tcPr marL="9525" marR="9525" marT="9525" marB="0" anchor="ctr"/>
                </a:tc>
              </a:tr>
              <a:tr h="170045">
                <a:tc>
                  <a:txBody>
                    <a:bodyPr wrap="square"/>
                    <a:lstStyle/>
                    <a:p>
                      <a:pPr algn="l"/>
                      <a:r>
                        <a:rPr sz="1050" b="0" i="0">
                          <a:solidFill>
                            <a:srgbClr val="000000"/>
                          </a:solidFill>
                          <a:latin typeface="Calibri"/>
                        </a:rPr>
                        <a:t>Figure 19: Middle East &amp; Africa Market Historical vs Forecast CAGR, %, 2021–2036</a:t>
                      </a:r>
                      <a:endParaRPr sz="1050"/>
                    </a:p>
                  </a:txBody>
                  <a:tcPr marL="9525" marR="9525" marT="9525" marB="0" anchor="ctr"/>
                </a:tc>
              </a:tr>
              <a:tr h="333289">
                <a:tc>
                  <a:txBody>
                    <a:bodyPr wrap="square"/>
                    <a:lstStyle/>
                    <a:p>
                      <a:pPr algn="l"/>
                      <a:r>
                        <a:rPr sz="1050" b="0" i="0">
                          <a:solidFill>
                            <a:srgbClr val="000000"/>
                          </a:solidFill>
                          <a:latin typeface="Calibri"/>
                        </a:rPr>
                        <a:t>Figure 20: Middle East &amp; Africa Market Value by Scenario (Optimistic, Likely, Pessimistic), US$ Mn, 2026–2036</a:t>
                      </a:r>
                      <a:endParaRPr sz="1050"/>
                    </a:p>
                  </a:txBody>
                  <a:tcPr marL="9525" marR="9525" marT="9525" marB="0" anchor="ctr"/>
                </a:tc>
              </a:tr>
              <a:tr h="170045">
                <a:tc>
                  <a:txBody>
                    <a:bodyPr wrap="square"/>
                    <a:lstStyle/>
                    <a:p>
                      <a:pPr algn="l"/>
                      <a:r>
                        <a:rPr sz="1050" b="0" i="0">
                          <a:solidFill>
                            <a:srgbClr val="000000"/>
                          </a:solidFill>
                          <a:latin typeface="Calibri"/>
                        </a:rPr>
                        <a:t>Figure 21: Middle East &amp; Africa Market Size Evolution Index, 2025=100, 2021–2036</a:t>
                      </a:r>
                      <a:endParaRPr sz="1050"/>
                    </a:p>
                  </a:txBody>
                  <a:tcPr marL="9525" marR="9525" marT="9525" marB="0" anchor="ctr"/>
                </a:tc>
              </a:tr>
              <a:tr h="170045">
                <a:tc>
                  <a:txBody>
                    <a:bodyPr wrap="square"/>
                    <a:lstStyle/>
                    <a:p>
                      <a:pPr algn="l"/>
                      <a:r>
                        <a:rPr sz="1050" b="0" i="0">
                          <a:solidFill>
                            <a:srgbClr val="000000"/>
                          </a:solidFill>
                          <a:latin typeface="Calibri"/>
                        </a:rPr>
                        <a:t>Figure 22: Middle East &amp; Africa Market Cumulative Value Addition, US$ Mn, 2026–2036</a:t>
                      </a:r>
                      <a:endParaRPr sz="1050"/>
                    </a:p>
                  </a:txBody>
                  <a:tcPr marL="9525" marR="9525" marT="9525" marB="0" anchor="ctr"/>
                </a:tc>
              </a:tr>
              <a:tr h="170045">
                <a:tc>
                  <a:txBody>
                    <a:bodyPr wrap="square"/>
                    <a:lstStyle/>
                    <a:p>
                      <a:pPr algn="l"/>
                      <a:r>
                        <a:rPr sz="1050" b="0" i="0">
                          <a:solidFill>
                            <a:srgbClr val="000000"/>
                          </a:solidFill>
                          <a:latin typeface="Calibri"/>
                        </a:rPr>
                        <a:t>Figure 23: Middle East &amp; Africa Market Value by Product Type, US$ Mn, 2021–2036</a:t>
                      </a:r>
                      <a:endParaRPr sz="1050"/>
                    </a:p>
                  </a:txBody>
                  <a:tcPr marL="9525" marR="9525" marT="9525" marB="0" anchor="ctr"/>
                </a:tc>
              </a:tr>
              <a:tr h="333289">
                <a:tc>
                  <a:txBody>
                    <a:bodyPr wrap="square"/>
                    <a:lstStyle/>
                    <a:p>
                      <a:pPr algn="l"/>
                      <a:r>
                        <a:rPr sz="1050" b="0" i="0">
                          <a:solidFill>
                            <a:srgbClr val="000000"/>
                          </a:solidFill>
                          <a:latin typeface="Calibri"/>
                        </a:rPr>
                        <a:t>Figure 24: Middle East &amp; Africa Market Value by Principal Material / Barrier Technology, US$ Mn, 2021–2036</a:t>
                      </a:r>
                      <a:endParaRPr sz="1050"/>
                    </a:p>
                  </a:txBody>
                  <a:tcPr marL="9525" marR="9525" marT="9525" marB="0" anchor="ctr"/>
                </a:tc>
              </a:tr>
              <a:tr h="170045">
                <a:tc>
                  <a:txBody>
                    <a:bodyPr wrap="square"/>
                    <a:lstStyle/>
                    <a:p>
                      <a:pPr algn="l"/>
                      <a:r>
                        <a:rPr sz="1050" b="0" i="0">
                          <a:solidFill>
                            <a:srgbClr val="000000"/>
                          </a:solidFill>
                          <a:latin typeface="Calibri"/>
                        </a:rPr>
                        <a:t>Figure 25: Middle East &amp; Africa Market Value by Material Structure, US$ Mn, 2021–2036</a:t>
                      </a:r>
                      <a:endParaRPr sz="1050"/>
                    </a:p>
                  </a:txBody>
                  <a:tcPr marL="9525" marR="9525" marT="9525" marB="0" anchor="ctr"/>
                </a:tc>
              </a:tr>
              <a:tr h="170045">
                <a:tc>
                  <a:txBody>
                    <a:bodyPr wrap="square"/>
                    <a:lstStyle/>
                    <a:p>
                      <a:pPr algn="l"/>
                      <a:r>
                        <a:rPr sz="1050" b="0" i="0">
                          <a:solidFill>
                            <a:srgbClr val="000000"/>
                          </a:solidFill>
                          <a:latin typeface="Calibri"/>
                        </a:rPr>
                        <a:t>Figure 26: Middle East &amp; Africa Market Value by Barrier Level, US$ Mn, 2021–2036</a:t>
                      </a:r>
                      <a:endParaRPr sz="1050"/>
                    </a:p>
                  </a:txBody>
                  <a:tcPr marL="9525" marR="9525" marT="9525" marB="0" anchor="ctr"/>
                </a:tc>
              </a:tr>
              <a:tr h="170045">
                <a:tc>
                  <a:txBody>
                    <a:bodyPr wrap="square"/>
                    <a:lstStyle/>
                    <a:p>
                      <a:pPr algn="l"/>
                      <a:r>
                        <a:rPr sz="1050" b="0" i="0">
                          <a:solidFill>
                            <a:srgbClr val="000000"/>
                          </a:solidFill>
                          <a:latin typeface="Calibri"/>
                        </a:rPr>
                        <a:t>Figure 27: Middle East &amp; Africa Market Value by Application, US$ Mn, 2021–2036</a:t>
                      </a:r>
                      <a:endParaRPr sz="1050"/>
                    </a:p>
                  </a:txBody>
                  <a:tcPr marL="9525" marR="9525" marT="9525" marB="0" anchor="ctr"/>
                </a:tc>
              </a:tr>
              <a:tr h="170045">
                <a:tc>
                  <a:txBody>
                    <a:bodyPr wrap="square"/>
                    <a:lstStyle/>
                    <a:p>
                      <a:pPr algn="l"/>
                      <a:r>
                        <a:rPr sz="1050" b="0" i="0">
                          <a:solidFill>
                            <a:srgbClr val="000000"/>
                          </a:solidFill>
                          <a:latin typeface="Calibri"/>
                        </a:rPr>
                        <a:t>Figure 28: Middle East &amp; Africa Market Value by Barrier Level Vs Application, US$ Mn, 2021–2036</a:t>
                      </a:r>
                      <a:endParaRPr sz="1050"/>
                    </a:p>
                  </a:txBody>
                  <a:tcPr marL="9525" marR="9525" marT="9525" marB="0" anchor="ctr"/>
                </a:tc>
              </a:tr>
              <a:tr h="170045">
                <a:tc>
                  <a:txBody>
                    <a:bodyPr wrap="square"/>
                    <a:lstStyle/>
                    <a:p>
                      <a:pPr algn="l"/>
                      <a:r>
                        <a:rPr sz="1050" b="0" i="0">
                          <a:solidFill>
                            <a:srgbClr val="000000"/>
                          </a:solidFill>
                          <a:latin typeface="Calibri"/>
                        </a:rPr>
                        <a:t>Figure 29: Middle East &amp; Africa Market Share by Product Type,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4"/>
        </p:xfrm>
        <a:graphic>
          <a:graphicData uri="http://schemas.openxmlformats.org/drawingml/2006/table">
            <a:tbl>
              <a:tblPr>
                <a:tableStyleId>{3B4B98B0-60AC-42C2-AFA5-B58CD77FA1E5}</a:tableStyleId>
              </a:tblPr>
              <a:tblGrid>
                <a:gridCol w="5876925"/>
              </a:tblGrid>
              <a:tr h="346280">
                <a:tc>
                  <a:txBody>
                    <a:bodyPr wrap="square"/>
                    <a:lstStyle/>
                    <a:p>
                      <a:pPr algn="l"/>
                      <a:r>
                        <a:rPr sz="1050" b="0" i="0">
                          <a:solidFill>
                            <a:srgbClr val="000000"/>
                          </a:solidFill>
                          <a:latin typeface="Calibri"/>
                        </a:rPr>
                        <a:t>Figure 30: Middle East &amp; Africa Market Share by Principal Material / Barrier Technology, %, 2026 and 2036</a:t>
                      </a:r>
                      <a:endParaRPr sz="1050"/>
                    </a:p>
                  </a:txBody>
                  <a:tcPr marL="9525" marR="9525" marT="9525" marB="0" anchor="ctr"/>
                </a:tc>
              </a:tr>
              <a:tr h="176673">
                <a:tc>
                  <a:txBody>
                    <a:bodyPr wrap="square"/>
                    <a:lstStyle/>
                    <a:p>
                      <a:pPr algn="l"/>
                      <a:r>
                        <a:rPr sz="1050" b="0" i="0">
                          <a:solidFill>
                            <a:srgbClr val="000000"/>
                          </a:solidFill>
                          <a:latin typeface="Calibri"/>
                        </a:rPr>
                        <a:t>Figure 31: Middle East &amp; Africa Market Share by Material Structure, %, 2026 and 2036</a:t>
                      </a:r>
                      <a:endParaRPr sz="1050"/>
                    </a:p>
                  </a:txBody>
                  <a:tcPr marL="9525" marR="9525" marT="9525" marB="0" anchor="ctr"/>
                </a:tc>
              </a:tr>
              <a:tr h="176673">
                <a:tc>
                  <a:txBody>
                    <a:bodyPr wrap="square"/>
                    <a:lstStyle/>
                    <a:p>
                      <a:pPr algn="l"/>
                      <a:r>
                        <a:rPr sz="1050" b="0" i="0">
                          <a:solidFill>
                            <a:srgbClr val="000000"/>
                          </a:solidFill>
                          <a:latin typeface="Calibri"/>
                        </a:rPr>
                        <a:t>Figure 32: Middle East &amp; Africa Market Share by Barrier Level, %, 2026 and 2036</a:t>
                      </a:r>
                      <a:endParaRPr sz="1050"/>
                    </a:p>
                  </a:txBody>
                  <a:tcPr marL="9525" marR="9525" marT="9525" marB="0" anchor="ctr"/>
                </a:tc>
              </a:tr>
              <a:tr h="176673">
                <a:tc>
                  <a:txBody>
                    <a:bodyPr wrap="square"/>
                    <a:lstStyle/>
                    <a:p>
                      <a:pPr algn="l"/>
                      <a:r>
                        <a:rPr sz="1050" b="0" i="0">
                          <a:solidFill>
                            <a:srgbClr val="000000"/>
                          </a:solidFill>
                          <a:latin typeface="Calibri"/>
                        </a:rPr>
                        <a:t>Figure 33: Middle East &amp; Africa Market Share by Application, %, 2026 and 2036</a:t>
                      </a:r>
                      <a:endParaRPr sz="1050"/>
                    </a:p>
                  </a:txBody>
                  <a:tcPr marL="9525" marR="9525" marT="9525" marB="0" anchor="ctr"/>
                </a:tc>
              </a:tr>
              <a:tr h="176673">
                <a:tc>
                  <a:txBody>
                    <a:bodyPr wrap="square"/>
                    <a:lstStyle/>
                    <a:p>
                      <a:pPr algn="l"/>
                      <a:r>
                        <a:rPr sz="1050" b="0" i="0">
                          <a:solidFill>
                            <a:srgbClr val="000000"/>
                          </a:solidFill>
                          <a:latin typeface="Calibri"/>
                        </a:rPr>
                        <a:t>Figure 34: Middle East &amp; Africa Market Share by Barrier Level Vs Application, %, 2026 and 2036</a:t>
                      </a:r>
                      <a:endParaRPr sz="1050"/>
                    </a:p>
                  </a:txBody>
                  <a:tcPr marL="9525" marR="9525" marT="9525" marB="0" anchor="ctr"/>
                </a:tc>
              </a:tr>
              <a:tr h="176673">
                <a:tc>
                  <a:txBody>
                    <a:bodyPr wrap="square"/>
                    <a:lstStyle/>
                    <a:p>
                      <a:pPr algn="l"/>
                      <a:r>
                        <a:rPr sz="1050" b="0" i="0">
                          <a:solidFill>
                            <a:srgbClr val="000000"/>
                          </a:solidFill>
                          <a:latin typeface="Calibri"/>
                        </a:rPr>
                        <a:t>Figure 35: Middle East &amp; Africa Market Absolute $ Opportunity by Product Type, US$ Mn, 2026–2036</a:t>
                      </a:r>
                      <a:endParaRPr sz="1050"/>
                    </a:p>
                  </a:txBody>
                  <a:tcPr marL="9525" marR="9525" marT="9525" marB="0" anchor="ctr"/>
                </a:tc>
              </a:tr>
              <a:tr h="346280">
                <a:tc>
                  <a:txBody>
                    <a:bodyPr wrap="square"/>
                    <a:lstStyle/>
                    <a:p>
                      <a:pPr algn="l"/>
                      <a:r>
                        <a:rPr sz="1050" b="0" i="0">
                          <a:solidFill>
                            <a:srgbClr val="000000"/>
                          </a:solidFill>
                          <a:latin typeface="Calibri"/>
                        </a:rPr>
                        <a:t>Figure 36: Middle East &amp; Africa Market Absolute $ Opportunity by Principal Material / Barrier Technology, US$ Mn, 2026–2036</a:t>
                      </a:r>
                      <a:endParaRPr sz="1050"/>
                    </a:p>
                  </a:txBody>
                  <a:tcPr marL="9525" marR="9525" marT="9525" marB="0" anchor="ctr"/>
                </a:tc>
              </a:tr>
              <a:tr h="346280">
                <a:tc>
                  <a:txBody>
                    <a:bodyPr wrap="square"/>
                    <a:lstStyle/>
                    <a:p>
                      <a:pPr algn="l"/>
                      <a:r>
                        <a:rPr sz="1050" b="0" i="0">
                          <a:solidFill>
                            <a:srgbClr val="000000"/>
                          </a:solidFill>
                          <a:latin typeface="Calibri"/>
                        </a:rPr>
                        <a:t>Figure 37: Middle East &amp; Africa Market Absolute $ Opportunity by Material Structure, US$ Mn, 2026–2036</a:t>
                      </a:r>
                      <a:endParaRPr sz="1050"/>
                    </a:p>
                  </a:txBody>
                  <a:tcPr marL="9525" marR="9525" marT="9525" marB="0" anchor="ctr"/>
                </a:tc>
              </a:tr>
              <a:tr h="176673">
                <a:tc>
                  <a:txBody>
                    <a:bodyPr wrap="square"/>
                    <a:lstStyle/>
                    <a:p>
                      <a:pPr algn="l"/>
                      <a:r>
                        <a:rPr sz="1050" b="0" i="0">
                          <a:solidFill>
                            <a:srgbClr val="000000"/>
                          </a:solidFill>
                          <a:latin typeface="Calibri"/>
                        </a:rPr>
                        <a:t>Figure 38: Middle East &amp; Africa Market Absolute $ Opportunity by Barrier Level, US$ Mn, 2026–2036</a:t>
                      </a:r>
                      <a:endParaRPr sz="1050"/>
                    </a:p>
                  </a:txBody>
                  <a:tcPr marL="9525" marR="9525" marT="9525" marB="0" anchor="ctr"/>
                </a:tc>
              </a:tr>
              <a:tr h="176673">
                <a:tc>
                  <a:txBody>
                    <a:bodyPr wrap="square"/>
                    <a:lstStyle/>
                    <a:p>
                      <a:pPr algn="l"/>
                      <a:r>
                        <a:rPr sz="1050" b="0" i="0">
                          <a:solidFill>
                            <a:srgbClr val="000000"/>
                          </a:solidFill>
                          <a:latin typeface="Calibri"/>
                        </a:rPr>
                        <a:t>Figure 39: Middle East &amp; Africa Market Absolute $ Opportunity by Application, US$ Mn, 2026–2036</a:t>
                      </a:r>
                      <a:endParaRPr sz="1050"/>
                    </a:p>
                  </a:txBody>
                  <a:tcPr marL="9525" marR="9525" marT="9525" marB="0" anchor="ctr"/>
                </a:tc>
              </a:tr>
              <a:tr h="346280">
                <a:tc>
                  <a:txBody>
                    <a:bodyPr wrap="square"/>
                    <a:lstStyle/>
                    <a:p>
                      <a:pPr algn="l"/>
                      <a:r>
                        <a:rPr sz="1050" b="0" i="0">
                          <a:solidFill>
                            <a:srgbClr val="000000"/>
                          </a:solidFill>
                          <a:latin typeface="Calibri"/>
                        </a:rPr>
                        <a:t>Figure 40: Middle East &amp; Africa Market Absolute $ Opportunity by Barrier Level Vs Application, US$ Mn, 2026–2036</a:t>
                      </a:r>
                      <a:endParaRPr sz="1050"/>
                    </a:p>
                  </a:txBody>
                  <a:tcPr marL="9525" marR="9525" marT="9525" marB="0" anchor="ctr"/>
                </a:tc>
              </a:tr>
              <a:tr h="176673">
                <a:tc>
                  <a:txBody>
                    <a:bodyPr wrap="square"/>
                    <a:lstStyle/>
                    <a:p>
                      <a:pPr algn="l"/>
                      <a:r>
                        <a:rPr sz="1050" b="0" i="0">
                          <a:solidFill>
                            <a:srgbClr val="000000"/>
                          </a:solidFill>
                          <a:latin typeface="Calibri"/>
                        </a:rPr>
                        <a:t>Figure 41: Middle East &amp; Africa Market BPS Share Change by Product Type, 2026–2036</a:t>
                      </a:r>
                      <a:endParaRPr sz="1050"/>
                    </a:p>
                  </a:txBody>
                  <a:tcPr marL="9525" marR="9525" marT="9525" marB="0" anchor="ctr"/>
                </a:tc>
              </a:tr>
              <a:tr h="346280">
                <a:tc>
                  <a:txBody>
                    <a:bodyPr wrap="square"/>
                    <a:lstStyle/>
                    <a:p>
                      <a:pPr algn="l"/>
                      <a:r>
                        <a:rPr sz="1050" b="0" i="0">
                          <a:solidFill>
                            <a:srgbClr val="000000"/>
                          </a:solidFill>
                          <a:latin typeface="Calibri"/>
                        </a:rPr>
                        <a:t>Figure 42: Middle East &amp; Africa Market BPS Share Change by Principal Material / Barrier Technology, 2026–2036</a:t>
                      </a:r>
                      <a:endParaRPr sz="1050"/>
                    </a:p>
                  </a:txBody>
                  <a:tcPr marL="9525" marR="9525" marT="9525" marB="0" anchor="ctr"/>
                </a:tc>
              </a:tr>
              <a:tr h="176673">
                <a:tc>
                  <a:txBody>
                    <a:bodyPr wrap="square"/>
                    <a:lstStyle/>
                    <a:p>
                      <a:pPr algn="l"/>
                      <a:r>
                        <a:rPr sz="1050" b="0" i="0">
                          <a:solidFill>
                            <a:srgbClr val="000000"/>
                          </a:solidFill>
                          <a:latin typeface="Calibri"/>
                        </a:rPr>
                        <a:t>Figure 43: Middle East &amp; Africa Market BPS Share Change by Material Structure, 2026–2036</a:t>
                      </a:r>
                      <a:endParaRPr sz="1050"/>
                    </a:p>
                  </a:txBody>
                  <a:tcPr marL="9525" marR="9525" marT="9525" marB="0" anchor="ctr"/>
                </a:tc>
              </a:tr>
              <a:tr h="176673">
                <a:tc>
                  <a:txBody>
                    <a:bodyPr wrap="square"/>
                    <a:lstStyle/>
                    <a:p>
                      <a:pPr algn="l"/>
                      <a:r>
                        <a:rPr sz="1050" b="0" i="0">
                          <a:solidFill>
                            <a:srgbClr val="000000"/>
                          </a:solidFill>
                          <a:latin typeface="Calibri"/>
                        </a:rPr>
                        <a:t>Figure 44: Middle East &amp; Africa Market BPS Share Change by Barrier Level, 2026–2036</a:t>
                      </a:r>
                      <a:endParaRPr sz="1050"/>
                    </a:p>
                  </a:txBody>
                  <a:tcPr marL="9525" marR="9525" marT="9525" marB="0" anchor="ctr"/>
                </a:tc>
              </a:tr>
              <a:tr h="176673">
                <a:tc>
                  <a:txBody>
                    <a:bodyPr wrap="square"/>
                    <a:lstStyle/>
                    <a:p>
                      <a:pPr algn="l"/>
                      <a:r>
                        <a:rPr sz="1050" b="0" i="0">
                          <a:solidFill>
                            <a:srgbClr val="000000"/>
                          </a:solidFill>
                          <a:latin typeface="Calibri"/>
                        </a:rPr>
                        <a:t>Figure 45: Middle East &amp; Africa Market BPS Share Change by Application, 2026–2036</a:t>
                      </a:r>
                      <a:endParaRPr sz="1050"/>
                    </a:p>
                  </a:txBody>
                  <a:tcPr marL="9525" marR="9525" marT="9525" marB="0" anchor="ctr"/>
                </a:tc>
              </a:tr>
              <a:tr h="176673">
                <a:tc>
                  <a:txBody>
                    <a:bodyPr wrap="square"/>
                    <a:lstStyle/>
                    <a:p>
                      <a:pPr algn="l"/>
                      <a:r>
                        <a:rPr sz="1050" b="0" i="0">
                          <a:solidFill>
                            <a:srgbClr val="000000"/>
                          </a:solidFill>
                          <a:latin typeface="Calibri"/>
                        </a:rPr>
                        <a:t>Figure 46: Middle East &amp; Africa Market BPS Share Change by Barrier Level Vs Application, 2026–2036</a:t>
                      </a:r>
                      <a:endParaRPr sz="1050"/>
                    </a:p>
                  </a:txBody>
                  <a:tcPr marL="9525" marR="9525" marT="9525" marB="0" anchor="ctr"/>
                </a:tc>
              </a:tr>
              <a:tr h="176673">
                <a:tc>
                  <a:txBody>
                    <a:bodyPr wrap="square"/>
                    <a:lstStyle/>
                    <a:p>
                      <a:pPr algn="l"/>
                      <a:r>
                        <a:rPr sz="1050" b="0" i="0">
                          <a:solidFill>
                            <a:srgbClr val="000000"/>
                          </a:solidFill>
                          <a:latin typeface="Calibri"/>
                        </a:rPr>
                        <a:t>Figure 47: Middle East &amp; Africa Market YoY Growth by Product Type, %, 2026–2036</a:t>
                      </a:r>
                      <a:endParaRPr sz="1050"/>
                    </a:p>
                  </a:txBody>
                  <a:tcPr marL="9525" marR="9525" marT="9525" marB="0" anchor="ctr"/>
                </a:tc>
              </a:tr>
              <a:tr h="346280">
                <a:tc>
                  <a:txBody>
                    <a:bodyPr wrap="square"/>
                    <a:lstStyle/>
                    <a:p>
                      <a:pPr algn="l"/>
                      <a:r>
                        <a:rPr sz="1050" b="0" i="0">
                          <a:solidFill>
                            <a:srgbClr val="000000"/>
                          </a:solidFill>
                          <a:latin typeface="Calibri"/>
                        </a:rPr>
                        <a:t>Figure 48: Middle East &amp; Africa Market YoY Growth by Principal Material / Barrier Technology, %, 2026–2036</a:t>
                      </a:r>
                      <a:endParaRPr sz="1050"/>
                    </a:p>
                  </a:txBody>
                  <a:tcPr marL="9525" marR="9525" marT="9525" marB="0" anchor="ctr"/>
                </a:tc>
              </a:tr>
              <a:tr h="176673">
                <a:tc>
                  <a:txBody>
                    <a:bodyPr wrap="square"/>
                    <a:lstStyle/>
                    <a:p>
                      <a:pPr algn="l"/>
                      <a:r>
                        <a:rPr sz="1050" b="0" i="0">
                          <a:solidFill>
                            <a:srgbClr val="000000"/>
                          </a:solidFill>
                          <a:latin typeface="Calibri"/>
                        </a:rPr>
                        <a:t>Figure 49: Middle East &amp; Africa Market YoY Growth by Material Structure, %, 2026–2036</a:t>
                      </a:r>
                      <a:endParaRPr sz="1050"/>
                    </a:p>
                  </a:txBody>
                  <a:tcPr marL="9525" marR="9525" marT="9525" marB="0" anchor="ctr"/>
                </a:tc>
              </a:tr>
              <a:tr h="176673">
                <a:tc>
                  <a:txBody>
                    <a:bodyPr wrap="square"/>
                    <a:lstStyle/>
                    <a:p>
                      <a:pPr algn="l"/>
                      <a:r>
                        <a:rPr sz="1050" b="0" i="0">
                          <a:solidFill>
                            <a:srgbClr val="000000"/>
                          </a:solidFill>
                          <a:latin typeface="Calibri"/>
                        </a:rPr>
                        <a:t>Figure 50: Middle East &amp; Africa Market YoY Growth by Barrier Level, %, 2026–2036</a:t>
                      </a:r>
                      <a:endParaRPr sz="1050"/>
                    </a:p>
                  </a:txBody>
                  <a:tcPr marL="9525" marR="9525" marT="9525" marB="0" anchor="ctr"/>
                </a:tc>
              </a:tr>
              <a:tr h="176673">
                <a:tc>
                  <a:txBody>
                    <a:bodyPr wrap="square"/>
                    <a:lstStyle/>
                    <a:p>
                      <a:pPr algn="l"/>
                      <a:r>
                        <a:rPr sz="1050" b="0" i="0">
                          <a:solidFill>
                            <a:srgbClr val="000000"/>
                          </a:solidFill>
                          <a:latin typeface="Calibri"/>
                        </a:rPr>
                        <a:t>Figure 51: Middle East &amp; Africa Market YoY Growth by Application, %, 2026–2036</a:t>
                      </a:r>
                      <a:endParaRPr sz="1050"/>
                    </a:p>
                  </a:txBody>
                  <a:tcPr marL="9525" marR="9525" marT="9525" marB="0" anchor="ctr"/>
                </a:tc>
              </a:tr>
              <a:tr h="176673">
                <a:tc>
                  <a:txBody>
                    <a:bodyPr wrap="square"/>
                    <a:lstStyle/>
                    <a:p>
                      <a:pPr algn="l"/>
                      <a:r>
                        <a:rPr sz="1050" b="0" i="0">
                          <a:solidFill>
                            <a:srgbClr val="000000"/>
                          </a:solidFill>
                          <a:latin typeface="Calibri"/>
                        </a:rPr>
                        <a:t>Figure 52: Middle East &amp; Africa Market YoY Growth by Barrier Level Vs Application, %, 2026–2036</a:t>
                      </a:r>
                      <a:endParaRPr sz="1050"/>
                    </a:p>
                  </a:txBody>
                  <a:tcPr marL="9525" marR="9525" marT="9525" marB="0" anchor="ctr"/>
                </a:tc>
              </a:tr>
              <a:tr h="176673">
                <a:tc>
                  <a:txBody>
                    <a:bodyPr wrap="square"/>
                    <a:lstStyle/>
                    <a:p>
                      <a:pPr algn="l"/>
                      <a:r>
                        <a:rPr sz="1050" b="0" i="0">
                          <a:solidFill>
                            <a:srgbClr val="000000"/>
                          </a:solidFill>
                          <a:latin typeface="Calibri"/>
                        </a:rPr>
                        <a:t>Figure 53: Middle East &amp; Africa Market Attractiveness by Product Type,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804"/>
        </p:xfrm>
        <a:graphic>
          <a:graphicData uri="http://schemas.openxmlformats.org/drawingml/2006/table">
            <a:tbl>
              <a:tblPr>
                <a:tableStyleId>{3B4B98B0-60AC-42C2-AFA5-B58CD77FA1E5}</a:tableStyleId>
              </a:tblPr>
              <a:tblGrid>
                <a:gridCol w="5876925"/>
              </a:tblGrid>
              <a:tr h="336774">
                <a:tc>
                  <a:txBody>
                    <a:bodyPr wrap="square"/>
                    <a:lstStyle/>
                    <a:p>
                      <a:pPr algn="l"/>
                      <a:r>
                        <a:rPr sz="1050" b="0" i="0">
                          <a:solidFill>
                            <a:srgbClr val="000000"/>
                          </a:solidFill>
                          <a:latin typeface="Calibri"/>
                        </a:rPr>
                        <a:t>Figure 54: Middle East &amp; Africa Market Attractiveness by Principal Material / Barrier Technology, 2026–2036</a:t>
                      </a:r>
                      <a:endParaRPr sz="1050"/>
                    </a:p>
                  </a:txBody>
                  <a:tcPr marL="9525" marR="9525" marT="9525" marB="0" anchor="ctr"/>
                </a:tc>
              </a:tr>
              <a:tr h="171824">
                <a:tc>
                  <a:txBody>
                    <a:bodyPr wrap="square"/>
                    <a:lstStyle/>
                    <a:p>
                      <a:pPr algn="l"/>
                      <a:r>
                        <a:rPr sz="1050" b="0" i="0">
                          <a:solidFill>
                            <a:srgbClr val="000000"/>
                          </a:solidFill>
                          <a:latin typeface="Calibri"/>
                        </a:rPr>
                        <a:t>Figure 55: Middle East &amp; Africa Market Attractiveness by Material Structure, 2026–2036</a:t>
                      </a:r>
                      <a:endParaRPr sz="1050"/>
                    </a:p>
                  </a:txBody>
                  <a:tcPr marL="9525" marR="9525" marT="9525" marB="0" anchor="ctr"/>
                </a:tc>
              </a:tr>
              <a:tr h="171824">
                <a:tc>
                  <a:txBody>
                    <a:bodyPr wrap="square"/>
                    <a:lstStyle/>
                    <a:p>
                      <a:pPr algn="l"/>
                      <a:r>
                        <a:rPr sz="1050" b="0" i="0">
                          <a:solidFill>
                            <a:srgbClr val="000000"/>
                          </a:solidFill>
                          <a:latin typeface="Calibri"/>
                        </a:rPr>
                        <a:t>Figure 56: Middle East &amp; Africa Market Attractiveness by Barrier Level, 2026–2036</a:t>
                      </a:r>
                      <a:endParaRPr sz="1050"/>
                    </a:p>
                  </a:txBody>
                  <a:tcPr marL="9525" marR="9525" marT="9525" marB="0" anchor="ctr"/>
                </a:tc>
              </a:tr>
              <a:tr h="171824">
                <a:tc>
                  <a:txBody>
                    <a:bodyPr wrap="square"/>
                    <a:lstStyle/>
                    <a:p>
                      <a:pPr algn="l"/>
                      <a:r>
                        <a:rPr sz="1050" b="0" i="0">
                          <a:solidFill>
                            <a:srgbClr val="000000"/>
                          </a:solidFill>
                          <a:latin typeface="Calibri"/>
                        </a:rPr>
                        <a:t>Figure 57: Middle East &amp; Africa Market Attractiveness by Application, 2026–2036</a:t>
                      </a:r>
                      <a:endParaRPr sz="1050"/>
                    </a:p>
                  </a:txBody>
                  <a:tcPr marL="9525" marR="9525" marT="9525" marB="0" anchor="ctr"/>
                </a:tc>
              </a:tr>
              <a:tr h="171824">
                <a:tc>
                  <a:txBody>
                    <a:bodyPr wrap="square"/>
                    <a:lstStyle/>
                    <a:p>
                      <a:pPr algn="l"/>
                      <a:r>
                        <a:rPr sz="1050" b="0" i="0">
                          <a:solidFill>
                            <a:srgbClr val="000000"/>
                          </a:solidFill>
                          <a:latin typeface="Calibri"/>
                        </a:rPr>
                        <a:t>Figure 58: Middle East &amp; Africa Market Attractiveness by Barrier Level Vs Application, 2026–2036</a:t>
                      </a:r>
                      <a:endParaRPr sz="1050"/>
                    </a:p>
                  </a:txBody>
                  <a:tcPr marL="9525" marR="9525" marT="9525" marB="0" anchor="ctr"/>
                </a:tc>
              </a:tr>
              <a:tr h="171824">
                <a:tc>
                  <a:txBody>
                    <a:bodyPr wrap="square"/>
                    <a:lstStyle/>
                    <a:p>
                      <a:pPr algn="l"/>
                      <a:r>
                        <a:rPr sz="1050" b="0" i="0">
                          <a:solidFill>
                            <a:srgbClr val="000000"/>
                          </a:solidFill>
                          <a:latin typeface="Calibri"/>
                        </a:rPr>
                        <a:t>Figure 59: Middle East &amp; Africa Market Volume by Product Type, Thousand MT, 2021–2036</a:t>
                      </a:r>
                      <a:endParaRPr sz="1050"/>
                    </a:p>
                  </a:txBody>
                  <a:tcPr marL="9525" marR="9525" marT="9525" marB="0" anchor="ctr"/>
                </a:tc>
              </a:tr>
              <a:tr h="336774">
                <a:tc>
                  <a:txBody>
                    <a:bodyPr wrap="square"/>
                    <a:lstStyle/>
                    <a:p>
                      <a:pPr algn="l"/>
                      <a:r>
                        <a:rPr sz="1050" b="0" i="0">
                          <a:solidFill>
                            <a:srgbClr val="000000"/>
                          </a:solidFill>
                          <a:latin typeface="Calibri"/>
                        </a:rPr>
                        <a:t>Figure 60: Middle East &amp; Africa Market Volume by Principal Material / Barrier Technology, Thousand MT, 2021–2036</a:t>
                      </a:r>
                      <a:endParaRPr sz="1050"/>
                    </a:p>
                  </a:txBody>
                  <a:tcPr marL="9525" marR="9525" marT="9525" marB="0" anchor="ctr"/>
                </a:tc>
              </a:tr>
              <a:tr h="171824">
                <a:tc>
                  <a:txBody>
                    <a:bodyPr wrap="square"/>
                    <a:lstStyle/>
                    <a:p>
                      <a:pPr algn="l"/>
                      <a:r>
                        <a:rPr sz="1050" b="0" i="0">
                          <a:solidFill>
                            <a:srgbClr val="000000"/>
                          </a:solidFill>
                          <a:latin typeface="Calibri"/>
                        </a:rPr>
                        <a:t>Figure 61: Middle East &amp; Africa Market Volume by Material Structure, Thousand MT, 2021–2036</a:t>
                      </a:r>
                      <a:endParaRPr sz="1050"/>
                    </a:p>
                  </a:txBody>
                  <a:tcPr marL="9525" marR="9525" marT="9525" marB="0" anchor="ctr"/>
                </a:tc>
              </a:tr>
              <a:tr h="171824">
                <a:tc>
                  <a:txBody>
                    <a:bodyPr wrap="square"/>
                    <a:lstStyle/>
                    <a:p>
                      <a:pPr algn="l"/>
                      <a:r>
                        <a:rPr sz="1050" b="0" i="0">
                          <a:solidFill>
                            <a:srgbClr val="000000"/>
                          </a:solidFill>
                          <a:latin typeface="Calibri"/>
                        </a:rPr>
                        <a:t>Figure 62: Middle East &amp; Africa Market Volume by Barrier Level, Thousand MT, 2021–2036</a:t>
                      </a:r>
                      <a:endParaRPr sz="1050"/>
                    </a:p>
                  </a:txBody>
                  <a:tcPr marL="9525" marR="9525" marT="9525" marB="0" anchor="ctr"/>
                </a:tc>
              </a:tr>
              <a:tr h="171824">
                <a:tc>
                  <a:txBody>
                    <a:bodyPr wrap="square"/>
                    <a:lstStyle/>
                    <a:p>
                      <a:pPr algn="l"/>
                      <a:r>
                        <a:rPr sz="1050" b="0" i="0">
                          <a:solidFill>
                            <a:srgbClr val="000000"/>
                          </a:solidFill>
                          <a:latin typeface="Calibri"/>
                        </a:rPr>
                        <a:t>Figure 63: Middle East &amp; Africa Market Volume by Application, Thousand MT, 2021–2036</a:t>
                      </a:r>
                      <a:endParaRPr sz="1050"/>
                    </a:p>
                  </a:txBody>
                  <a:tcPr marL="9525" marR="9525" marT="9525" marB="0" anchor="ctr"/>
                </a:tc>
              </a:tr>
              <a:tr h="336774">
                <a:tc>
                  <a:txBody>
                    <a:bodyPr wrap="square"/>
                    <a:lstStyle/>
                    <a:p>
                      <a:pPr algn="l"/>
                      <a:r>
                        <a:rPr sz="1050" b="0" i="0">
                          <a:solidFill>
                            <a:srgbClr val="000000"/>
                          </a:solidFill>
                          <a:latin typeface="Calibri"/>
                        </a:rPr>
                        <a:t>Figure 64: Middle East &amp; Africa Market Volume by Barrier Level Vs Application, Thousand MT, 2021–2036</a:t>
                      </a:r>
                      <a:endParaRPr sz="1050"/>
                    </a:p>
                  </a:txBody>
                  <a:tcPr marL="9525" marR="9525" marT="9525" marB="0" anchor="ctr"/>
                </a:tc>
              </a:tr>
              <a:tr h="171824">
                <a:tc>
                  <a:txBody>
                    <a:bodyPr wrap="square"/>
                    <a:lstStyle/>
                    <a:p>
                      <a:pPr algn="l"/>
                      <a:r>
                        <a:rPr sz="1050" b="0" i="0">
                          <a:solidFill>
                            <a:srgbClr val="000000"/>
                          </a:solidFill>
                          <a:latin typeface="Calibri"/>
                        </a:rPr>
                        <a:t>Figure 65: Middle East &amp; Africa Market Average Selling Price by Product Type, US$/MT, 2021–2036</a:t>
                      </a:r>
                      <a:endParaRPr sz="1050"/>
                    </a:p>
                  </a:txBody>
                  <a:tcPr marL="9525" marR="9525" marT="9525" marB="0" anchor="ctr"/>
                </a:tc>
              </a:tr>
              <a:tr h="336774">
                <a:tc>
                  <a:txBody>
                    <a:bodyPr wrap="square"/>
                    <a:lstStyle/>
                    <a:p>
                      <a:pPr algn="l"/>
                      <a:r>
                        <a:rPr sz="1050" b="0" i="0">
                          <a:solidFill>
                            <a:srgbClr val="000000"/>
                          </a:solidFill>
                          <a:latin typeface="Calibri"/>
                        </a:rPr>
                        <a:t>Figure 66: Middle East &amp; Africa Market Average Selling Price by Principal Material / Barrier Technology, US$/MT, 2021–2036</a:t>
                      </a:r>
                      <a:endParaRPr sz="1050"/>
                    </a:p>
                  </a:txBody>
                  <a:tcPr marL="9525" marR="9525" marT="9525" marB="0" anchor="ctr"/>
                </a:tc>
              </a:tr>
              <a:tr h="336774">
                <a:tc>
                  <a:txBody>
                    <a:bodyPr wrap="square"/>
                    <a:lstStyle/>
                    <a:p>
                      <a:pPr algn="l"/>
                      <a:r>
                        <a:rPr sz="1050" b="0" i="0">
                          <a:solidFill>
                            <a:srgbClr val="000000"/>
                          </a:solidFill>
                          <a:latin typeface="Calibri"/>
                        </a:rPr>
                        <a:t>Figure 67: Middle East &amp; Africa Market Average Selling Price by Material Structure, US$/MT, 2021–2036</a:t>
                      </a:r>
                      <a:endParaRPr sz="1050"/>
                    </a:p>
                  </a:txBody>
                  <a:tcPr marL="9525" marR="9525" marT="9525" marB="0" anchor="ctr"/>
                </a:tc>
              </a:tr>
              <a:tr h="171824">
                <a:tc>
                  <a:txBody>
                    <a:bodyPr wrap="square"/>
                    <a:lstStyle/>
                    <a:p>
                      <a:pPr algn="l"/>
                      <a:r>
                        <a:rPr sz="1050" b="0" i="0">
                          <a:solidFill>
                            <a:srgbClr val="000000"/>
                          </a:solidFill>
                          <a:latin typeface="Calibri"/>
                        </a:rPr>
                        <a:t>Figure 68: Middle East &amp; Africa Market Average Selling Price by Barrier Level, US$/MT, 2021–2036</a:t>
                      </a:r>
                      <a:endParaRPr sz="1050"/>
                    </a:p>
                  </a:txBody>
                  <a:tcPr marL="9525" marR="9525" marT="9525" marB="0" anchor="ctr"/>
                </a:tc>
              </a:tr>
              <a:tr h="171824">
                <a:tc>
                  <a:txBody>
                    <a:bodyPr wrap="square"/>
                    <a:lstStyle/>
                    <a:p>
                      <a:pPr algn="l"/>
                      <a:r>
                        <a:rPr sz="1050" b="0" i="0">
                          <a:solidFill>
                            <a:srgbClr val="000000"/>
                          </a:solidFill>
                          <a:latin typeface="Calibri"/>
                        </a:rPr>
                        <a:t>Figure 69: Middle East &amp; Africa Market Average Selling Price by Application, US$/MT, 2021–2036</a:t>
                      </a:r>
                      <a:endParaRPr sz="1050"/>
                    </a:p>
                  </a:txBody>
                  <a:tcPr marL="9525" marR="9525" marT="9525" marB="0" anchor="ctr"/>
                </a:tc>
              </a:tr>
              <a:tr h="336774">
                <a:tc>
                  <a:txBody>
                    <a:bodyPr wrap="square"/>
                    <a:lstStyle/>
                    <a:p>
                      <a:pPr algn="l"/>
                      <a:r>
                        <a:rPr sz="1050" b="0" i="0">
                          <a:solidFill>
                            <a:srgbClr val="000000"/>
                          </a:solidFill>
                          <a:latin typeface="Calibri"/>
                        </a:rPr>
                        <a:t>Figure 70: Middle East &amp; Africa Market Average Selling Price by Barrier Level Vs Application, US$/MT, 2021–2036</a:t>
                      </a:r>
                      <a:endParaRPr sz="1050"/>
                    </a:p>
                  </a:txBody>
                  <a:tcPr marL="9525" marR="9525" marT="9525" marB="0" anchor="ctr"/>
                </a:tc>
              </a:tr>
              <a:tr h="336774">
                <a:tc>
                  <a:txBody>
                    <a:bodyPr wrap="square"/>
                    <a:lstStyle/>
                    <a:p>
                      <a:pPr algn="l"/>
                      <a:r>
                        <a:rPr sz="1050" b="0" i="0">
                          <a:solidFill>
                            <a:srgbClr val="000000"/>
                          </a:solidFill>
                          <a:latin typeface="Calibri"/>
                        </a:rPr>
                        <a:t>Figure 71: Middle East &amp; Africa Market Value and YoY Growth, Rollstock Films (Product Type), US$ Mn and %, 2021–2036</a:t>
                      </a:r>
                      <a:endParaRPr sz="1050"/>
                    </a:p>
                  </a:txBody>
                  <a:tcPr marL="9525" marR="9525" marT="9525" marB="0" anchor="ctr"/>
                </a:tc>
              </a:tr>
              <a:tr h="336774">
                <a:tc>
                  <a:txBody>
                    <a:bodyPr wrap="square"/>
                    <a:lstStyle/>
                    <a:p>
                      <a:pPr algn="l"/>
                      <a:r>
                        <a:rPr sz="1050" b="0" i="0">
                          <a:solidFill>
                            <a:srgbClr val="000000"/>
                          </a:solidFill>
                          <a:latin typeface="Calibri"/>
                        </a:rPr>
                        <a:t>Figure 72: Middle East &amp; Africa Market Value and YoY Growth, PE-Based (Principal Material / Barrier Technology), US$ Mn and %, 2021–2036</a:t>
                      </a:r>
                      <a:endParaRPr sz="1050"/>
                    </a:p>
                  </a:txBody>
                  <a:tcPr marL="9525" marR="9525" marT="9525" marB="0" anchor="ctr"/>
                </a:tc>
              </a:tr>
              <a:tr h="336774">
                <a:tc>
                  <a:txBody>
                    <a:bodyPr wrap="square"/>
                    <a:lstStyle/>
                    <a:p>
                      <a:pPr algn="l"/>
                      <a:r>
                        <a:rPr sz="1050" b="0" i="0">
                          <a:solidFill>
                            <a:srgbClr val="000000"/>
                          </a:solidFill>
                          <a:latin typeface="Calibri"/>
                        </a:rPr>
                        <a:t>Figure 73: Middle East &amp; Africa Market Value and YoY Growth, Monolayer Films (Material Structure), US$ Mn and %, 2021–2036</a:t>
                      </a:r>
                      <a:endParaRPr sz="1050"/>
                    </a:p>
                  </a:txBody>
                  <a:tcPr marL="9525" marR="9525" marT="9525" marB="0" anchor="ctr"/>
                </a:tc>
              </a:tr>
              <a:tr h="336774">
                <a:tc>
                  <a:txBody>
                    <a:bodyPr wrap="square"/>
                    <a:lstStyle/>
                    <a:p>
                      <a:pPr algn="l"/>
                      <a:r>
                        <a:rPr sz="1050" b="0" i="0">
                          <a:solidFill>
                            <a:srgbClr val="000000"/>
                          </a:solidFill>
                          <a:latin typeface="Calibri"/>
                        </a:rPr>
                        <a:t>Figure 74: Middle East &amp; Africa Market Value and YoY Growth, Low-Barrier Films (Barrier Level),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347213">
                <a:tc>
                  <a:txBody>
                    <a:bodyPr wrap="square"/>
                    <a:lstStyle/>
                    <a:p>
                      <a:pPr algn="l"/>
                      <a:r>
                        <a:rPr sz="1050" b="0" i="0">
                          <a:solidFill>
                            <a:srgbClr val="000000"/>
                          </a:solidFill>
                          <a:latin typeface="Calibri"/>
                        </a:rPr>
                        <a:t>Figure 75: Middle East &amp; Africa Market Value and YoY Growth, Food Packaging (Application), US$ Mn and %, 2021–2036</a:t>
                      </a:r>
                      <a:endParaRPr sz="1050"/>
                    </a:p>
                  </a:txBody>
                  <a:tcPr marL="9525" marR="9525" marT="9525" marB="0" anchor="ctr"/>
                </a:tc>
              </a:tr>
              <a:tr h="347213">
                <a:tc>
                  <a:txBody>
                    <a:bodyPr wrap="square"/>
                    <a:lstStyle/>
                    <a:p>
                      <a:pPr algn="l"/>
                      <a:r>
                        <a:rPr sz="1050" b="0" i="0">
                          <a:solidFill>
                            <a:srgbClr val="000000"/>
                          </a:solidFill>
                          <a:latin typeface="Calibri"/>
                        </a:rPr>
                        <a:t>Figure 76: Middle East &amp; Africa Market Value and YoY Growth, Low-Barrier Films (Barrier Level Vs Application), US$ Mn and %, 2021–2036</a:t>
                      </a:r>
                      <a:endParaRPr sz="1050"/>
                    </a:p>
                  </a:txBody>
                  <a:tcPr marL="9525" marR="9525" marT="9525" marB="0" anchor="ctr"/>
                </a:tc>
              </a:tr>
              <a:tr h="347213">
                <a:tc>
                  <a:txBody>
                    <a:bodyPr wrap="square"/>
                    <a:lstStyle/>
                    <a:p>
                      <a:pPr algn="l"/>
                      <a:r>
                        <a:rPr sz="1050" b="0" i="0">
                          <a:solidFill>
                            <a:srgbClr val="000000"/>
                          </a:solidFill>
                          <a:latin typeface="Calibri"/>
                        </a:rPr>
                        <a:t>Figure 77: Middle East &amp; Africa Market Value and YoY Growth, Barrier Casings (Product Type), US$ Mn and %, 2021–2036</a:t>
                      </a:r>
                      <a:endParaRPr sz="1050"/>
                    </a:p>
                  </a:txBody>
                  <a:tcPr marL="9525" marR="9525" marT="9525" marB="0" anchor="ctr"/>
                </a:tc>
              </a:tr>
              <a:tr h="347213">
                <a:tc>
                  <a:txBody>
                    <a:bodyPr wrap="square"/>
                    <a:lstStyle/>
                    <a:p>
                      <a:pPr algn="l"/>
                      <a:r>
                        <a:rPr sz="1050" b="0" i="0">
                          <a:solidFill>
                            <a:srgbClr val="000000"/>
                          </a:solidFill>
                          <a:latin typeface="Calibri"/>
                        </a:rPr>
                        <a:t>Figure 78: Middle East &amp; Africa Market Value and YoY Growth, PP-Based (Principal Material / Barrier Technology), US$ Mn and %, 2021–2036</a:t>
                      </a:r>
                      <a:endParaRPr sz="1050"/>
                    </a:p>
                  </a:txBody>
                  <a:tcPr marL="9525" marR="9525" marT="9525" marB="0" anchor="ctr"/>
                </a:tc>
              </a:tr>
              <a:tr h="347213">
                <a:tc>
                  <a:txBody>
                    <a:bodyPr wrap="square"/>
                    <a:lstStyle/>
                    <a:p>
                      <a:pPr algn="l"/>
                      <a:r>
                        <a:rPr sz="1050" b="0" i="0">
                          <a:solidFill>
                            <a:srgbClr val="000000"/>
                          </a:solidFill>
                          <a:latin typeface="Calibri"/>
                        </a:rPr>
                        <a:t>Figure 79: Middle East &amp; Africa Market Value and YoY Growth, Coextruded Multilayer Films (Material Structure), US$ Mn and %, 2021–2036</a:t>
                      </a:r>
                      <a:endParaRPr sz="1050"/>
                    </a:p>
                  </a:txBody>
                  <a:tcPr marL="9525" marR="9525" marT="9525" marB="0" anchor="ctr"/>
                </a:tc>
              </a:tr>
              <a:tr h="347213">
                <a:tc>
                  <a:txBody>
                    <a:bodyPr wrap="square"/>
                    <a:lstStyle/>
                    <a:p>
                      <a:pPr algn="l"/>
                      <a:r>
                        <a:rPr sz="1050" b="0" i="0">
                          <a:solidFill>
                            <a:srgbClr val="000000"/>
                          </a:solidFill>
                          <a:latin typeface="Calibri"/>
                        </a:rPr>
                        <a:t>Figure 80: Middle East &amp; Africa Market Value and YoY Growth, Medium-Barrier Films (Barrier Level), US$ Mn and %, 2021–2036</a:t>
                      </a:r>
                      <a:endParaRPr sz="1050"/>
                    </a:p>
                  </a:txBody>
                  <a:tcPr marL="9525" marR="9525" marT="9525" marB="0" anchor="ctr"/>
                </a:tc>
              </a:tr>
              <a:tr h="347213">
                <a:tc>
                  <a:txBody>
                    <a:bodyPr wrap="square"/>
                    <a:lstStyle/>
                    <a:p>
                      <a:pPr algn="l"/>
                      <a:r>
                        <a:rPr sz="1050" b="0" i="0">
                          <a:solidFill>
                            <a:srgbClr val="000000"/>
                          </a:solidFill>
                          <a:latin typeface="Calibri"/>
                        </a:rPr>
                        <a:t>Figure 81: Middle East &amp; Africa Market Value and YoY Growth, Non-Food Packaging (Application), US$ Mn and %, 2021–2036</a:t>
                      </a:r>
                      <a:endParaRPr sz="1050"/>
                    </a:p>
                  </a:txBody>
                  <a:tcPr marL="9525" marR="9525" marT="9525" marB="0" anchor="ctr"/>
                </a:tc>
              </a:tr>
              <a:tr h="177150">
                <a:tc>
                  <a:txBody>
                    <a:bodyPr wrap="square"/>
                    <a:lstStyle/>
                    <a:p>
                      <a:pPr algn="l"/>
                      <a:r>
                        <a:rPr sz="1050" b="0" i="0">
                          <a:solidFill>
                            <a:srgbClr val="000000"/>
                          </a:solidFill>
                          <a:latin typeface="Calibri"/>
                        </a:rPr>
                        <a:t>Figure 82: Product Type × Principal Material / Barrier Technology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83: Product Type × Material Structure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84: Product Type × Barrier Level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85: Product Type ×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86: Product Type × Barrier Level Vs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87: Principal Material / Barrier Technology × Material Structure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88: Principal Material / Barrier Technology × Barrier Level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89: Principal Material / Barrier Technology × Application Opportunity Matrix, 2026–2036</a:t>
                      </a:r>
                      <a:endParaRPr sz="1050"/>
                    </a:p>
                  </a:txBody>
                  <a:tcPr marL="9525" marR="9525" marT="9525" marB="0" anchor="ctr"/>
                </a:tc>
              </a:tr>
              <a:tr h="347213">
                <a:tc>
                  <a:txBody>
                    <a:bodyPr wrap="square"/>
                    <a:lstStyle/>
                    <a:p>
                      <a:pPr algn="l"/>
                      <a:r>
                        <a:rPr sz="1050" b="0" i="0">
                          <a:solidFill>
                            <a:srgbClr val="000000"/>
                          </a:solidFill>
                          <a:latin typeface="Calibri"/>
                        </a:rPr>
                        <a:t>Figure 90: Principal Material / Barrier Technology × Barrier Level Vs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91: Material Structure × Barrier Level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92: Material Structure ×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93: Material Structure × Barrier Level Vs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94: Barrier Level ×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95: Barrier Level × Barrier Level Vs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96: Application × Barrier Level Vs Application Opportunity Matrix,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803"/>
        </p:xfrm>
        <a:graphic>
          <a:graphicData uri="http://schemas.openxmlformats.org/drawingml/2006/table">
            <a:tbl>
              <a:tblPr>
                <a:tableStyleId>{3B4B98B0-60AC-42C2-AFA5-B58CD77FA1E5}</a:tableStyleId>
              </a:tblPr>
              <a:tblGrid>
                <a:gridCol w="5876925"/>
              </a:tblGrid>
              <a:tr h="334587">
                <a:tc>
                  <a:txBody>
                    <a:bodyPr wrap="square"/>
                    <a:lstStyle/>
                    <a:p>
                      <a:pPr algn="l"/>
                      <a:r>
                        <a:rPr sz="1050" b="0" i="0">
                          <a:solidFill>
                            <a:srgbClr val="000000"/>
                          </a:solidFill>
                          <a:latin typeface="Calibri"/>
                        </a:rPr>
                        <a:t>Figure 97: Middle East &amp; Africa Market Value by Product Type and Principal Material / Barrier Technology, US$ Mn, 2036</a:t>
                      </a:r>
                      <a:endParaRPr sz="1050"/>
                    </a:p>
                  </a:txBody>
                  <a:tcPr marL="9525" marR="9525" marT="9525" marB="0" anchor="ctr"/>
                </a:tc>
              </a:tr>
              <a:tr h="170708">
                <a:tc>
                  <a:txBody>
                    <a:bodyPr wrap="square"/>
                    <a:lstStyle/>
                    <a:p>
                      <a:pPr algn="l"/>
                      <a:r>
                        <a:rPr sz="1050" b="0" i="0">
                          <a:solidFill>
                            <a:srgbClr val="000000"/>
                          </a:solidFill>
                          <a:latin typeface="Calibri"/>
                        </a:rPr>
                        <a:t>Figure 98: Middle East &amp; Africa Market Value by Product Type and Material Structure, US$ Mn, 2036</a:t>
                      </a:r>
                      <a:endParaRPr sz="1050"/>
                    </a:p>
                  </a:txBody>
                  <a:tcPr marL="9525" marR="9525" marT="9525" marB="0" anchor="ctr"/>
                </a:tc>
              </a:tr>
              <a:tr h="170708">
                <a:tc>
                  <a:txBody>
                    <a:bodyPr wrap="square"/>
                    <a:lstStyle/>
                    <a:p>
                      <a:pPr algn="l"/>
                      <a:r>
                        <a:rPr sz="1050" b="0" i="0">
                          <a:solidFill>
                            <a:srgbClr val="000000"/>
                          </a:solidFill>
                          <a:latin typeface="Calibri"/>
                        </a:rPr>
                        <a:t>Figure 99: Middle East &amp; Africa Market Value by Product Type and Barrier Level, US$ Mn, 2036</a:t>
                      </a:r>
                      <a:endParaRPr sz="1050"/>
                    </a:p>
                  </a:txBody>
                  <a:tcPr marL="9525" marR="9525" marT="9525" marB="0" anchor="ctr"/>
                </a:tc>
              </a:tr>
              <a:tr h="170708">
                <a:tc>
                  <a:txBody>
                    <a:bodyPr wrap="square"/>
                    <a:lstStyle/>
                    <a:p>
                      <a:pPr algn="l"/>
                      <a:r>
                        <a:rPr sz="1050" b="0" i="0">
                          <a:solidFill>
                            <a:srgbClr val="000000"/>
                          </a:solidFill>
                          <a:latin typeface="Calibri"/>
                        </a:rPr>
                        <a:t>Figure 100: Middle East &amp; Africa Market Value by Product Type and Application, US$ Mn, 2036</a:t>
                      </a:r>
                      <a:endParaRPr sz="1050"/>
                    </a:p>
                  </a:txBody>
                  <a:tcPr marL="9525" marR="9525" marT="9525" marB="0" anchor="ctr"/>
                </a:tc>
              </a:tr>
              <a:tr h="334587">
                <a:tc>
                  <a:txBody>
                    <a:bodyPr wrap="square"/>
                    <a:lstStyle/>
                    <a:p>
                      <a:pPr algn="l"/>
                      <a:r>
                        <a:rPr sz="1050" b="0" i="0">
                          <a:solidFill>
                            <a:srgbClr val="000000"/>
                          </a:solidFill>
                          <a:latin typeface="Calibri"/>
                        </a:rPr>
                        <a:t>Figure 101: Middle East &amp; Africa Market Value by Product Type and Barrier Level Vs Application, US$ Mn, 2036</a:t>
                      </a:r>
                      <a:endParaRPr sz="1050"/>
                    </a:p>
                  </a:txBody>
                  <a:tcPr marL="9525" marR="9525" marT="9525" marB="0" anchor="ctr"/>
                </a:tc>
              </a:tr>
              <a:tr h="334587">
                <a:tc>
                  <a:txBody>
                    <a:bodyPr wrap="square"/>
                    <a:lstStyle/>
                    <a:p>
                      <a:pPr algn="l"/>
                      <a:r>
                        <a:rPr sz="1050" b="0" i="0">
                          <a:solidFill>
                            <a:srgbClr val="000000"/>
                          </a:solidFill>
                          <a:latin typeface="Calibri"/>
                        </a:rPr>
                        <a:t>Figure 102: Middle East &amp; Africa Market Value by Principal Material / Barrier Technology and Material Structure, US$ Mn, 2036</a:t>
                      </a:r>
                      <a:endParaRPr sz="1050"/>
                    </a:p>
                  </a:txBody>
                  <a:tcPr marL="9525" marR="9525" marT="9525" marB="0" anchor="ctr"/>
                </a:tc>
              </a:tr>
              <a:tr h="334587">
                <a:tc>
                  <a:txBody>
                    <a:bodyPr wrap="square"/>
                    <a:lstStyle/>
                    <a:p>
                      <a:pPr algn="l"/>
                      <a:r>
                        <a:rPr sz="1050" b="0" i="0">
                          <a:solidFill>
                            <a:srgbClr val="000000"/>
                          </a:solidFill>
                          <a:latin typeface="Calibri"/>
                        </a:rPr>
                        <a:t>Figure 103: Middle East &amp; Africa Market Value by Principal Material / Barrier Technology and Barrier Level, US$ Mn, 2036</a:t>
                      </a:r>
                      <a:endParaRPr sz="1050"/>
                    </a:p>
                  </a:txBody>
                  <a:tcPr marL="9525" marR="9525" marT="9525" marB="0" anchor="ctr"/>
                </a:tc>
              </a:tr>
              <a:tr h="170708">
                <a:tc>
                  <a:txBody>
                    <a:bodyPr wrap="square"/>
                    <a:lstStyle/>
                    <a:p>
                      <a:pPr algn="l"/>
                      <a:r>
                        <a:rPr sz="1050" b="0" i="0">
                          <a:solidFill>
                            <a:srgbClr val="000000"/>
                          </a:solidFill>
                          <a:latin typeface="Calibri"/>
                        </a:rPr>
                        <a:t>Figure 104: Turkey Market Value and YoY Growth, US$ Mn and %, 2021–2036</a:t>
                      </a:r>
                      <a:endParaRPr sz="1050"/>
                    </a:p>
                  </a:txBody>
                  <a:tcPr marL="9525" marR="9525" marT="9525" marB="0" anchor="ctr"/>
                </a:tc>
              </a:tr>
              <a:tr h="170708">
                <a:tc>
                  <a:txBody>
                    <a:bodyPr wrap="square"/>
                    <a:lstStyle/>
                    <a:p>
                      <a:pPr algn="l"/>
                      <a:r>
                        <a:rPr sz="1050" b="0" i="0">
                          <a:solidFill>
                            <a:srgbClr val="000000"/>
                          </a:solidFill>
                          <a:latin typeface="Calibri"/>
                        </a:rPr>
                        <a:t>Figure 105: Turkey Market Value by Product Type,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106: Turkey Market Value by Application,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107: Turkey Market Share within Middle East &amp; Africa, %, 2026 and 2036</a:t>
                      </a:r>
                      <a:endParaRPr sz="1050"/>
                    </a:p>
                  </a:txBody>
                  <a:tcPr marL="9525" marR="9525" marT="9525" marB="0" anchor="ctr"/>
                </a:tc>
              </a:tr>
              <a:tr h="170708">
                <a:tc>
                  <a:txBody>
                    <a:bodyPr wrap="square"/>
                    <a:lstStyle/>
                    <a:p>
                      <a:pPr algn="l"/>
                      <a:r>
                        <a:rPr sz="1050" b="0" i="0">
                          <a:solidFill>
                            <a:srgbClr val="000000"/>
                          </a:solidFill>
                          <a:latin typeface="Calibri"/>
                        </a:rPr>
                        <a:t>Figure 108: Turkey Market Value by Principal Material / Barrier Technology,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109: Turkey Market Value by Material Structure,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110: Turkey Market Value by Barrier Level,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111: Turkey Market Value by Barrier Level Vs Application,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112: Turkey Market Volume and YoY Growth, Thousand MT and %, 2021–2036</a:t>
                      </a:r>
                      <a:endParaRPr sz="1050"/>
                    </a:p>
                  </a:txBody>
                  <a:tcPr marL="9525" marR="9525" marT="9525" marB="0" anchor="ctr"/>
                </a:tc>
              </a:tr>
              <a:tr h="170708">
                <a:tc>
                  <a:txBody>
                    <a:bodyPr wrap="square"/>
                    <a:lstStyle/>
                    <a:p>
                      <a:pPr algn="l"/>
                      <a:r>
                        <a:rPr sz="1050" b="0" i="0">
                          <a:solidFill>
                            <a:srgbClr val="000000"/>
                          </a:solidFill>
                          <a:latin typeface="Calibri"/>
                        </a:rPr>
                        <a:t>Figure 113: Turkey Market Average Selling Price, US$/MT, 2021–2036</a:t>
                      </a:r>
                      <a:endParaRPr sz="1050"/>
                    </a:p>
                  </a:txBody>
                  <a:tcPr marL="9525" marR="9525" marT="9525" marB="0" anchor="ctr"/>
                </a:tc>
              </a:tr>
              <a:tr h="170708">
                <a:tc>
                  <a:txBody>
                    <a:bodyPr wrap="square"/>
                    <a:lstStyle/>
                    <a:p>
                      <a:pPr algn="l"/>
                      <a:r>
                        <a:rPr sz="1050" b="0" i="0">
                          <a:solidFill>
                            <a:srgbClr val="000000"/>
                          </a:solidFill>
                          <a:latin typeface="Calibri"/>
                        </a:rPr>
                        <a:t>Figure 114: Saudi Arabia Market Value and YoY Growth, US$ Mn and %, 2021–2036</a:t>
                      </a:r>
                      <a:endParaRPr sz="1050"/>
                    </a:p>
                  </a:txBody>
                  <a:tcPr marL="9525" marR="9525" marT="9525" marB="0" anchor="ctr"/>
                </a:tc>
              </a:tr>
              <a:tr h="170708">
                <a:tc>
                  <a:txBody>
                    <a:bodyPr wrap="square"/>
                    <a:lstStyle/>
                    <a:p>
                      <a:pPr algn="l"/>
                      <a:r>
                        <a:rPr sz="1050" b="0" i="0">
                          <a:solidFill>
                            <a:srgbClr val="000000"/>
                          </a:solidFill>
                          <a:latin typeface="Calibri"/>
                        </a:rPr>
                        <a:t>Figure 115: Saudi Arabia Market Value by Product Type,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116: Saudi Arabia Market Value by Application,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117: Saudi Arabia Market Share within Middle East &amp; Africa, %, 2026 and 2036</a:t>
                      </a:r>
                      <a:endParaRPr sz="1050"/>
                    </a:p>
                  </a:txBody>
                  <a:tcPr marL="9525" marR="9525" marT="9525" marB="0" anchor="ctr"/>
                </a:tc>
              </a:tr>
              <a:tr h="334587">
                <a:tc>
                  <a:txBody>
                    <a:bodyPr wrap="square"/>
                    <a:lstStyle/>
                    <a:p>
                      <a:pPr algn="l"/>
                      <a:r>
                        <a:rPr sz="1050" b="0" i="0">
                          <a:solidFill>
                            <a:srgbClr val="000000"/>
                          </a:solidFill>
                          <a:latin typeface="Calibri"/>
                        </a:rPr>
                        <a:t>Figure 118: Saudi Arabia Market Value by Principal Material / Barrier Technology,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119: Saudi Arabia Market Value by Material Structure,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120: Saudi Arabia Market Value by Barrier Level,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121: Saudi Arabia Market Value by Barrier Level Vs Application,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122: Saudi Arabia Market Volume and YoY Growth, Thousand MT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Figure 123: Saudi Arabia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Figure 124: UAE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125: UAE Market Value by Product Type,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126: UAE Market Value by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127: UAE Market Share within Middle East &amp; Africa, %, 2026 and 2036</a:t>
                      </a:r>
                      <a:endParaRPr sz="1050"/>
                    </a:p>
                  </a:txBody>
                  <a:tcPr marL="9525" marR="9525" marT="9525" marB="0" anchor="ctr"/>
                </a:tc>
              </a:tr>
              <a:tr h="169826">
                <a:tc>
                  <a:txBody>
                    <a:bodyPr wrap="square"/>
                    <a:lstStyle/>
                    <a:p>
                      <a:pPr algn="l"/>
                      <a:r>
                        <a:rPr sz="1050" b="0" i="0">
                          <a:solidFill>
                            <a:srgbClr val="000000"/>
                          </a:solidFill>
                          <a:latin typeface="Calibri"/>
                        </a:rPr>
                        <a:t>Figure 128: UAE Market Value by Principal Material / Barrier Technology,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129: UAE Market Value by Material Structure,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130: UAE Market Value by Barrier Level,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131: UAE Market Value by Barrier Level Vs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132: UAE Market Volume and YoY Growth, Thousand MT and %, 2021–2036</a:t>
                      </a:r>
                      <a:endParaRPr sz="1050"/>
                    </a:p>
                  </a:txBody>
                  <a:tcPr marL="9525" marR="9525" marT="9525" marB="0" anchor="ctr"/>
                </a:tc>
              </a:tr>
              <a:tr h="169826">
                <a:tc>
                  <a:txBody>
                    <a:bodyPr wrap="square"/>
                    <a:lstStyle/>
                    <a:p>
                      <a:pPr algn="l"/>
                      <a:r>
                        <a:rPr sz="1050" b="0" i="0">
                          <a:solidFill>
                            <a:srgbClr val="000000"/>
                          </a:solidFill>
                          <a:latin typeface="Calibri"/>
                        </a:rPr>
                        <a:t>Figure 133: UAE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Figure 134: South Africa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135: South Africa Market Value by Product Type,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136: South Africa Market Value by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137: South Africa Market Share within Middle East &amp; Africa, %, 2026 and 2036</a:t>
                      </a:r>
                      <a:endParaRPr sz="1050"/>
                    </a:p>
                  </a:txBody>
                  <a:tcPr marL="9525" marR="9525" marT="9525" marB="0" anchor="ctr"/>
                </a:tc>
              </a:tr>
              <a:tr h="332858">
                <a:tc>
                  <a:txBody>
                    <a:bodyPr wrap="square"/>
                    <a:lstStyle/>
                    <a:p>
                      <a:pPr algn="l"/>
                      <a:r>
                        <a:rPr sz="1050" b="0" i="0">
                          <a:solidFill>
                            <a:srgbClr val="000000"/>
                          </a:solidFill>
                          <a:latin typeface="Calibri"/>
                        </a:rPr>
                        <a:t>Figure 138: South Africa Market Value by Principal Material / Barrier Technology,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139: South Africa Market Value by Material Structure,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140: South Africa Market Value by Barrier Level,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141: South Africa Market Value by Barrier Level Vs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142: South Africa Market Volume and YoY Growth, Thousand MT and %, 2021–2036</a:t>
                      </a:r>
                      <a:endParaRPr sz="1050"/>
                    </a:p>
                  </a:txBody>
                  <a:tcPr marL="9525" marR="9525" marT="9525" marB="0" anchor="ctr"/>
                </a:tc>
              </a:tr>
              <a:tr h="169826">
                <a:tc>
                  <a:txBody>
                    <a:bodyPr wrap="square"/>
                    <a:lstStyle/>
                    <a:p>
                      <a:pPr algn="l"/>
                      <a:r>
                        <a:rPr sz="1050" b="0" i="0">
                          <a:solidFill>
                            <a:srgbClr val="000000"/>
                          </a:solidFill>
                          <a:latin typeface="Calibri"/>
                        </a:rPr>
                        <a:t>Figure 143: South Africa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Figure 144: Israel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145: Israel Market Value by Product Type,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146: Israel Market Value by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147: Israel Market Share within Middle East &amp; Africa, %, 2026 and 2036</a:t>
                      </a:r>
                      <a:endParaRPr sz="1050"/>
                    </a:p>
                  </a:txBody>
                  <a:tcPr marL="9525" marR="9525" marT="9525" marB="0" anchor="ctr"/>
                </a:tc>
              </a:tr>
              <a:tr h="169826">
                <a:tc>
                  <a:txBody>
                    <a:bodyPr wrap="square"/>
                    <a:lstStyle/>
                    <a:p>
                      <a:pPr algn="l"/>
                      <a:r>
                        <a:rPr sz="1050" b="0" i="0">
                          <a:solidFill>
                            <a:srgbClr val="000000"/>
                          </a:solidFill>
                          <a:latin typeface="Calibri"/>
                        </a:rPr>
                        <a:t>Figure 148: Israel Market Value by Principal Material / Barrier Technology,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149: Israel Market Value by Material Structure,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150: Israel Market Value by Barrier Level,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151: Israel Market Value by Barrier Level Vs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152: Israel Market Volume and YoY Growth, Thousand MT and %,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5257797"/>
        </p:xfrm>
        <a:graphic>
          <a:graphicData uri="http://schemas.openxmlformats.org/drawingml/2006/table">
            <a:tbl>
              <a:tblPr>
                <a:tableStyleId>{3B4B98B0-60AC-42C2-AFA5-B58CD77FA1E5}</a:tableStyleId>
              </a:tblPr>
              <a:tblGrid>
                <a:gridCol w="5876925"/>
              </a:tblGrid>
              <a:tr h="171152">
                <a:tc>
                  <a:txBody>
                    <a:bodyPr wrap="square"/>
                    <a:lstStyle/>
                    <a:p>
                      <a:pPr algn="l"/>
                      <a:r>
                        <a:rPr sz="1050" b="0" i="0">
                          <a:solidFill>
                            <a:srgbClr val="000000"/>
                          </a:solidFill>
                          <a:latin typeface="Calibri"/>
                        </a:rPr>
                        <a:t>Figure 153: Israel Market Average Selling Price, US$/MT, 2021–2036</a:t>
                      </a:r>
                      <a:endParaRPr sz="1050"/>
                    </a:p>
                  </a:txBody>
                  <a:tcPr marL="9525" marR="9525" marT="9525" marB="0" anchor="ctr"/>
                </a:tc>
              </a:tr>
              <a:tr h="171152">
                <a:tc>
                  <a:txBody>
                    <a:bodyPr wrap="square"/>
                    <a:lstStyle/>
                    <a:p>
                      <a:pPr algn="l"/>
                      <a:r>
                        <a:rPr sz="1050" b="0" i="0">
                          <a:solidFill>
                            <a:srgbClr val="000000"/>
                          </a:solidFill>
                          <a:latin typeface="Calibri"/>
                        </a:rPr>
                        <a:t>Figure 154: Middle East &amp; Africa Market Average Selling Price Trend, US$/MT, 2021–2036</a:t>
                      </a:r>
                      <a:endParaRPr sz="1050"/>
                    </a:p>
                  </a:txBody>
                  <a:tcPr marL="9525" marR="9525" marT="9525" marB="0" anchor="ctr"/>
                </a:tc>
              </a:tr>
              <a:tr h="171152">
                <a:tc>
                  <a:txBody>
                    <a:bodyPr wrap="square"/>
                    <a:lstStyle/>
                    <a:p>
                      <a:pPr algn="l"/>
                      <a:r>
                        <a:rPr sz="1050" b="0" i="0">
                          <a:solidFill>
                            <a:srgbClr val="000000"/>
                          </a:solidFill>
                          <a:latin typeface="Calibri"/>
                        </a:rPr>
                        <a:t>Figure 155: Middle East &amp; Africa Market Average Selling Price Outlook, US$/MT, 2026–2036</a:t>
                      </a:r>
                      <a:endParaRPr sz="1050"/>
                    </a:p>
                  </a:txBody>
                  <a:tcPr marL="9525" marR="9525" marT="9525" marB="0" anchor="ctr"/>
                </a:tc>
              </a:tr>
              <a:tr h="335459">
                <a:tc>
                  <a:txBody>
                    <a:bodyPr wrap="square"/>
                    <a:lstStyle/>
                    <a:p>
                      <a:pPr algn="l"/>
                      <a:r>
                        <a:rPr sz="1050" b="0" i="0">
                          <a:solidFill>
                            <a:srgbClr val="000000"/>
                          </a:solidFill>
                          <a:latin typeface="Calibri"/>
                        </a:rPr>
                        <a:t>Figure 156: Middle East &amp; Africa Market Average Selling Price by Product Type, US$/MT, 2026 and 2036</a:t>
                      </a:r>
                      <a:endParaRPr sz="1050"/>
                    </a:p>
                  </a:txBody>
                  <a:tcPr marL="9525" marR="9525" marT="9525" marB="0" anchor="ctr"/>
                </a:tc>
              </a:tr>
              <a:tr h="335459">
                <a:tc>
                  <a:txBody>
                    <a:bodyPr wrap="square"/>
                    <a:lstStyle/>
                    <a:p>
                      <a:pPr algn="l"/>
                      <a:r>
                        <a:rPr sz="1050" b="0" i="0">
                          <a:solidFill>
                            <a:srgbClr val="000000"/>
                          </a:solidFill>
                          <a:latin typeface="Calibri"/>
                        </a:rPr>
                        <a:t>Figure 157: Middle East &amp; Africa Market Average Selling Price by Principal Material / Barrier Technology, US$/MT, 2026 and 2036</a:t>
                      </a:r>
                      <a:endParaRPr sz="1050"/>
                    </a:p>
                  </a:txBody>
                  <a:tcPr marL="9525" marR="9525" marT="9525" marB="0" anchor="ctr"/>
                </a:tc>
              </a:tr>
              <a:tr h="335459">
                <a:tc>
                  <a:txBody>
                    <a:bodyPr wrap="square"/>
                    <a:lstStyle/>
                    <a:p>
                      <a:pPr algn="l"/>
                      <a:r>
                        <a:rPr sz="1050" b="0" i="0">
                          <a:solidFill>
                            <a:srgbClr val="000000"/>
                          </a:solidFill>
                          <a:latin typeface="Calibri"/>
                        </a:rPr>
                        <a:t>Figure 158: Middle East &amp; Africa Market Average Selling Price by Material Structure, US$/MT, 2026 and 2036</a:t>
                      </a:r>
                      <a:endParaRPr sz="1050"/>
                    </a:p>
                  </a:txBody>
                  <a:tcPr marL="9525" marR="9525" marT="9525" marB="0" anchor="ctr"/>
                </a:tc>
              </a:tr>
              <a:tr h="171152">
                <a:tc>
                  <a:txBody>
                    <a:bodyPr wrap="square"/>
                    <a:lstStyle/>
                    <a:p>
                      <a:pPr algn="l"/>
                      <a:r>
                        <a:rPr sz="1050" b="0" i="0">
                          <a:solidFill>
                            <a:srgbClr val="000000"/>
                          </a:solidFill>
                          <a:latin typeface="Calibri"/>
                        </a:rPr>
                        <a:t>Figure 159: Middle East &amp; Africa Market Average Selling Price by Barrier Level, US$/MT, 2026 and 2036</a:t>
                      </a:r>
                      <a:endParaRPr sz="1050"/>
                    </a:p>
                  </a:txBody>
                  <a:tcPr marL="9525" marR="9525" marT="9525" marB="0" anchor="ctr"/>
                </a:tc>
              </a:tr>
              <a:tr h="171152">
                <a:tc>
                  <a:txBody>
                    <a:bodyPr wrap="square"/>
                    <a:lstStyle/>
                    <a:p>
                      <a:pPr algn="l"/>
                      <a:r>
                        <a:rPr sz="1050" b="0" i="0">
                          <a:solidFill>
                            <a:srgbClr val="000000"/>
                          </a:solidFill>
                          <a:latin typeface="Calibri"/>
                        </a:rPr>
                        <a:t>Figure 160: Middle East &amp; Africa Market Average Selling Price by Application, US$/MT, 2026 and 2036</a:t>
                      </a:r>
                      <a:endParaRPr sz="1050"/>
                    </a:p>
                  </a:txBody>
                  <a:tcPr marL="9525" marR="9525" marT="9525" marB="0" anchor="ctr"/>
                </a:tc>
              </a:tr>
              <a:tr h="335459">
                <a:tc>
                  <a:txBody>
                    <a:bodyPr wrap="square"/>
                    <a:lstStyle/>
                    <a:p>
                      <a:pPr algn="l"/>
                      <a:r>
                        <a:rPr sz="1050" b="0" i="0">
                          <a:solidFill>
                            <a:srgbClr val="000000"/>
                          </a:solidFill>
                          <a:latin typeface="Calibri"/>
                        </a:rPr>
                        <a:t>Figure 161: Middle East &amp; Africa Market Average Selling Price by Barrier Level Vs Application, US$/MT, 2026 and 2036</a:t>
                      </a:r>
                      <a:endParaRPr sz="1050"/>
                    </a:p>
                  </a:txBody>
                  <a:tcPr marL="9525" marR="9525" marT="9525" marB="0" anchor="ctr"/>
                </a:tc>
              </a:tr>
              <a:tr h="171152">
                <a:tc>
                  <a:txBody>
                    <a:bodyPr wrap="square"/>
                    <a:lstStyle/>
                    <a:p>
                      <a:pPr algn="l"/>
                      <a:r>
                        <a:rPr sz="1050" b="0" i="0">
                          <a:solidFill>
                            <a:srgbClr val="000000"/>
                          </a:solidFill>
                          <a:latin typeface="Calibri"/>
                        </a:rPr>
                        <a:t>Figure 162: Middle East &amp; Africa Market Value Chain Structure, 2026</a:t>
                      </a:r>
                      <a:endParaRPr sz="1050"/>
                    </a:p>
                  </a:txBody>
                  <a:tcPr marL="9525" marR="9525" marT="9525" marB="0" anchor="ctr"/>
                </a:tc>
              </a:tr>
              <a:tr h="171152">
                <a:tc>
                  <a:txBody>
                    <a:bodyPr wrap="square"/>
                    <a:lstStyle/>
                    <a:p>
                      <a:pPr algn="l"/>
                      <a:r>
                        <a:rPr sz="1050" b="0" i="0">
                          <a:solidFill>
                            <a:srgbClr val="000000"/>
                          </a:solidFill>
                          <a:latin typeface="Calibri"/>
                        </a:rPr>
                        <a:t>Figure 163: Middle East &amp; Africa Market Margin Distribution across the Value Chain, %, 2026</a:t>
                      </a:r>
                      <a:endParaRPr sz="1050"/>
                    </a:p>
                  </a:txBody>
                  <a:tcPr marL="9525" marR="9525" marT="9525" marB="0" anchor="ctr"/>
                </a:tc>
              </a:tr>
              <a:tr h="171152">
                <a:tc>
                  <a:txBody>
                    <a:bodyPr wrap="square"/>
                    <a:lstStyle/>
                    <a:p>
                      <a:pPr algn="l"/>
                      <a:r>
                        <a:rPr sz="1050" b="0" i="0">
                          <a:solidFill>
                            <a:srgbClr val="000000"/>
                          </a:solidFill>
                          <a:latin typeface="Calibri"/>
                        </a:rPr>
                        <a:t>Figure 164: Middle East &amp; Africa Market Cost Structure Breakdown, %, 2026</a:t>
                      </a:r>
                      <a:endParaRPr sz="1050"/>
                    </a:p>
                  </a:txBody>
                  <a:tcPr marL="9525" marR="9525" marT="9525" marB="0" anchor="ctr"/>
                </a:tc>
              </a:tr>
              <a:tr h="171152">
                <a:tc>
                  <a:txBody>
                    <a:bodyPr wrap="square"/>
                    <a:lstStyle/>
                    <a:p>
                      <a:pPr algn="l"/>
                      <a:r>
                        <a:rPr sz="1050" b="0" i="0">
                          <a:solidFill>
                            <a:srgbClr val="000000"/>
                          </a:solidFill>
                          <a:latin typeface="Calibri"/>
                        </a:rPr>
                        <a:t>Figure 165: Middle East &amp; Africa Market Pricing Pressure Assessment by Product Type, 2026–2036</a:t>
                      </a:r>
                      <a:endParaRPr sz="1050"/>
                    </a:p>
                  </a:txBody>
                  <a:tcPr marL="9525" marR="9525" marT="9525" marB="0" anchor="ctr"/>
                </a:tc>
              </a:tr>
              <a:tr h="171152">
                <a:tc>
                  <a:txBody>
                    <a:bodyPr wrap="square"/>
                    <a:lstStyle/>
                    <a:p>
                      <a:pPr algn="l"/>
                      <a:r>
                        <a:rPr sz="1050" b="0" i="0">
                          <a:solidFill>
                            <a:srgbClr val="000000"/>
                          </a:solidFill>
                          <a:latin typeface="Calibri"/>
                        </a:rPr>
                        <a:t>Figure 166: Middle East &amp; Africa Market Import and Export Share, %, 2025</a:t>
                      </a:r>
                      <a:endParaRPr sz="1050"/>
                    </a:p>
                  </a:txBody>
                  <a:tcPr marL="9525" marR="9525" marT="9525" marB="0" anchor="ctr"/>
                </a:tc>
              </a:tr>
              <a:tr h="171152">
                <a:tc>
                  <a:txBody>
                    <a:bodyPr wrap="square"/>
                    <a:lstStyle/>
                    <a:p>
                      <a:pPr algn="l"/>
                      <a:r>
                        <a:rPr sz="1050" b="0" i="0">
                          <a:solidFill>
                            <a:srgbClr val="000000"/>
                          </a:solidFill>
                          <a:latin typeface="Calibri"/>
                        </a:rPr>
                        <a:t>Figure 167: Middle East &amp; Africa Market Trade Balance by Leading Country, US$ Mn, 2025</a:t>
                      </a:r>
                      <a:endParaRPr sz="1050"/>
                    </a:p>
                  </a:txBody>
                  <a:tcPr marL="9525" marR="9525" marT="9525" marB="0" anchor="ctr"/>
                </a:tc>
              </a:tr>
              <a:tr h="171152">
                <a:tc>
                  <a:txBody>
                    <a:bodyPr wrap="square"/>
                    <a:lstStyle/>
                    <a:p>
                      <a:pPr algn="l"/>
                      <a:r>
                        <a:rPr sz="1050" b="0" i="0">
                          <a:solidFill>
                            <a:srgbClr val="000000"/>
                          </a:solidFill>
                          <a:latin typeface="Calibri"/>
                        </a:rPr>
                        <a:t>Figure 168: Middle East &amp; Africa Market Raw Material Price Index, 2025=100, 2021–2036</a:t>
                      </a:r>
                      <a:endParaRPr sz="1050"/>
                    </a:p>
                  </a:txBody>
                  <a:tcPr marL="9525" marR="9525" marT="9525" marB="0" anchor="ctr"/>
                </a:tc>
              </a:tr>
              <a:tr h="171152">
                <a:tc>
                  <a:txBody>
                    <a:bodyPr wrap="square"/>
                    <a:lstStyle/>
                    <a:p>
                      <a:pPr algn="l"/>
                      <a:r>
                        <a:rPr sz="1050" b="0" i="0">
                          <a:solidFill>
                            <a:srgbClr val="000000"/>
                          </a:solidFill>
                          <a:latin typeface="Calibri"/>
                        </a:rPr>
                        <a:t>Figure 169: Company Market Share in the Middle East &amp; Africa Market, %, 2026</a:t>
                      </a:r>
                      <a:endParaRPr sz="1050"/>
                    </a:p>
                  </a:txBody>
                  <a:tcPr marL="9525" marR="9525" marT="9525" marB="0" anchor="ctr"/>
                </a:tc>
              </a:tr>
              <a:tr h="171152">
                <a:tc>
                  <a:txBody>
                    <a:bodyPr wrap="square"/>
                    <a:lstStyle/>
                    <a:p>
                      <a:pPr algn="l"/>
                      <a:r>
                        <a:rPr sz="1050" b="0" i="0">
                          <a:solidFill>
                            <a:srgbClr val="000000"/>
                          </a:solidFill>
                          <a:latin typeface="Calibri"/>
                        </a:rPr>
                        <a:t>Figure 170: Competitive Positioning of Leading Flexible Plastic Packaging Manufacturers, 2026</a:t>
                      </a:r>
                      <a:endParaRPr sz="1050"/>
                    </a:p>
                  </a:txBody>
                  <a:tcPr marL="9525" marR="9525" marT="9525" marB="0" anchor="ctr"/>
                </a:tc>
              </a:tr>
              <a:tr h="171152">
                <a:tc>
                  <a:txBody>
                    <a:bodyPr wrap="square"/>
                    <a:lstStyle/>
                    <a:p>
                      <a:pPr algn="l"/>
                      <a:r>
                        <a:rPr sz="1050" b="0" i="0">
                          <a:solidFill>
                            <a:srgbClr val="000000"/>
                          </a:solidFill>
                          <a:latin typeface="Calibri"/>
                        </a:rPr>
                        <a:t>Figure 171: Company Revenue from the Middle East &amp; Africa Market, US$ Mn, 2026</a:t>
                      </a:r>
                      <a:endParaRPr sz="1050"/>
                    </a:p>
                  </a:txBody>
                  <a:tcPr marL="9525" marR="9525" marT="9525" marB="0" anchor="ctr"/>
                </a:tc>
              </a:tr>
              <a:tr h="171152">
                <a:tc>
                  <a:txBody>
                    <a:bodyPr wrap="square"/>
                    <a:lstStyle/>
                    <a:p>
                      <a:pPr algn="l"/>
                      <a:r>
                        <a:rPr sz="1050" b="0" i="0">
                          <a:solidFill>
                            <a:srgbClr val="000000"/>
                          </a:solidFill>
                          <a:latin typeface="Calibri"/>
                        </a:rPr>
                        <a:t>Figure 172: Middle East &amp; Africa Market Concentration by Company Tier, %, 2026</a:t>
                      </a:r>
                      <a:endParaRPr sz="1050"/>
                    </a:p>
                  </a:txBody>
                  <a:tcPr marL="9525" marR="9525" marT="9525" marB="0" anchor="ctr"/>
                </a:tc>
              </a:tr>
              <a:tr h="171152">
                <a:tc>
                  <a:txBody>
                    <a:bodyPr wrap="square"/>
                    <a:lstStyle/>
                    <a:p>
                      <a:pPr algn="l"/>
                      <a:r>
                        <a:rPr sz="1050" b="0" i="0">
                          <a:solidFill>
                            <a:srgbClr val="000000"/>
                          </a:solidFill>
                          <a:latin typeface="Calibri"/>
                        </a:rPr>
                        <a:t>Figure 173: Middle East &amp; Africa Market Competitive Intensity Assessment, 2026</a:t>
                      </a:r>
                      <a:endParaRPr sz="1050"/>
                    </a:p>
                  </a:txBody>
                  <a:tcPr marL="9525" marR="9525" marT="9525" marB="0" anchor="ctr"/>
                </a:tc>
              </a:tr>
              <a:tr h="335459">
                <a:tc>
                  <a:txBody>
                    <a:bodyPr wrap="square"/>
                    <a:lstStyle/>
                    <a:p>
                      <a:pPr algn="l"/>
                      <a:r>
                        <a:rPr sz="1050" b="0" i="0">
                          <a:solidFill>
                            <a:srgbClr val="000000"/>
                          </a:solidFill>
                          <a:latin typeface="Calibri"/>
                        </a:rPr>
                        <a:t>Figure 174: Company A: Revenue from the Middle East &amp; Africa Market and Share, US$ Mn and %, 2026</a:t>
                      </a:r>
                      <a:endParaRPr sz="1050"/>
                    </a:p>
                  </a:txBody>
                  <a:tcPr marL="9525" marR="9525" marT="9525" marB="0" anchor="ctr"/>
                </a:tc>
              </a:tr>
              <a:tr h="335459">
                <a:tc>
                  <a:txBody>
                    <a:bodyPr wrap="square"/>
                    <a:lstStyle/>
                    <a:p>
                      <a:pPr algn="l"/>
                      <a:r>
                        <a:rPr sz="1050" b="0" i="0">
                          <a:solidFill>
                            <a:srgbClr val="000000"/>
                          </a:solidFill>
                          <a:latin typeface="Calibri"/>
                        </a:rPr>
                        <a:t>Figure 175: Company B: Revenue from the Middle East &amp; Africa Market and Share, US$ Mn and %, 2026</a:t>
                      </a:r>
                      <a:endParaRPr sz="1050"/>
                    </a:p>
                  </a:txBody>
                  <a:tcPr marL="9525" marR="9525" marT="9525" marB="0" anchor="ctr"/>
                </a:tc>
              </a:tr>
              <a:tr h="335459">
                <a:tc>
                  <a:txBody>
                    <a:bodyPr wrap="square"/>
                    <a:lstStyle/>
                    <a:p>
                      <a:pPr algn="l"/>
                      <a:r>
                        <a:rPr sz="1050" b="0" i="0">
                          <a:solidFill>
                            <a:srgbClr val="000000"/>
                          </a:solidFill>
                          <a:latin typeface="Calibri"/>
                        </a:rPr>
                        <a:t>Figure 176: Company C: Revenue from the Middle East &amp; Africa Market and Share, US$ Mn and %, 2026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960632"/>
        </p:xfrm>
        <a:graphic>
          <a:graphicData uri="http://schemas.openxmlformats.org/drawingml/2006/table">
            <a:tbl>
              <a:tblPr>
                <a:tableStyleId>{3B4B98B0-60AC-42C2-AFA5-B58CD77FA1E5}</a:tableStyleId>
              </a:tblPr>
              <a:tblGrid>
                <a:gridCol w="5876925"/>
              </a:tblGrid>
              <a:tr h="326708">
                <a:tc>
                  <a:txBody>
                    <a:bodyPr wrap="square"/>
                    <a:lstStyle/>
                    <a:p>
                      <a:pPr algn="l"/>
                      <a:r>
                        <a:rPr sz="1050" b="0" i="0">
                          <a:solidFill>
                            <a:srgbClr val="000000"/>
                          </a:solidFill>
                          <a:latin typeface="Calibri"/>
                        </a:rPr>
                        <a:t>Figure 177: Company D: Revenue from the Middle East &amp; Africa Market and Share, US$ Mn and %, 2026</a:t>
                      </a:r>
                      <a:endParaRPr sz="1050"/>
                    </a:p>
                  </a:txBody>
                  <a:tcPr marL="9525" marR="9525" marT="9525" marB="0" anchor="ctr"/>
                </a:tc>
              </a:tr>
              <a:tr h="326708">
                <a:tc>
                  <a:txBody>
                    <a:bodyPr wrap="square"/>
                    <a:lstStyle/>
                    <a:p>
                      <a:pPr algn="l"/>
                      <a:r>
                        <a:rPr sz="1050" b="0" i="0">
                          <a:solidFill>
                            <a:srgbClr val="000000"/>
                          </a:solidFill>
                          <a:latin typeface="Calibri"/>
                        </a:rPr>
                        <a:t>Figure 178: Company E: Revenue from the Middle East &amp; Africa Market and Share, US$ Mn and %, 2026</a:t>
                      </a:r>
                      <a:endParaRPr sz="1050"/>
                    </a:p>
                  </a:txBody>
                  <a:tcPr marL="9525" marR="9525" marT="9525" marB="0" anchor="ctr"/>
                </a:tc>
              </a:tr>
              <a:tr h="326708">
                <a:tc>
                  <a:txBody>
                    <a:bodyPr wrap="square"/>
                    <a:lstStyle/>
                    <a:p>
                      <a:pPr algn="l"/>
                      <a:r>
                        <a:rPr sz="1050" b="0" i="0">
                          <a:solidFill>
                            <a:srgbClr val="000000"/>
                          </a:solidFill>
                          <a:latin typeface="Calibri"/>
                        </a:rPr>
                        <a:t>Figure 179: Company F: Revenue from the Middle East &amp; Africa Market and Share, US$ Mn and %, 2026</a:t>
                      </a:r>
                      <a:endParaRPr sz="1050"/>
                    </a:p>
                  </a:txBody>
                  <a:tcPr marL="9525" marR="9525" marT="9525" marB="0" anchor="ctr"/>
                </a:tc>
              </a:tr>
              <a:tr h="326708">
                <a:tc>
                  <a:txBody>
                    <a:bodyPr wrap="square"/>
                    <a:lstStyle/>
                    <a:p>
                      <a:pPr algn="l"/>
                      <a:r>
                        <a:rPr sz="1050" b="0" i="0">
                          <a:solidFill>
                            <a:srgbClr val="000000"/>
                          </a:solidFill>
                          <a:latin typeface="Calibri"/>
                        </a:rPr>
                        <a:t>Figure 180: Company G: Revenue from the Middle East &amp; Africa Market and Share, US$ Mn and %, 2026</a:t>
                      </a:r>
                      <a:endParaRPr sz="1050"/>
                    </a:p>
                  </a:txBody>
                  <a:tcPr marL="9525" marR="9525" marT="9525" marB="0" anchor="ctr"/>
                </a:tc>
              </a:tr>
              <a:tr h="326708">
                <a:tc>
                  <a:txBody>
                    <a:bodyPr wrap="square"/>
                    <a:lstStyle/>
                    <a:p>
                      <a:pPr algn="l"/>
                      <a:r>
                        <a:rPr sz="1050" b="0" i="0">
                          <a:solidFill>
                            <a:srgbClr val="000000"/>
                          </a:solidFill>
                          <a:latin typeface="Calibri"/>
                        </a:rPr>
                        <a:t>Figure 181: Company H: Revenue from the Middle East &amp; Africa Market and Share, US$ Mn and %, 2026</a:t>
                      </a:r>
                      <a:endParaRPr sz="1050"/>
                    </a:p>
                  </a:txBody>
                  <a:tcPr marL="9525" marR="9525" marT="9525" marB="0" anchor="ctr"/>
                </a:tc>
              </a:tr>
              <a:tr h="166688">
                <a:tc>
                  <a:txBody>
                    <a:bodyPr wrap="square"/>
                    <a:lstStyle/>
                    <a:p>
                      <a:pPr algn="l"/>
                      <a:r>
                        <a:rPr sz="1050" b="0" i="0">
                          <a:solidFill>
                            <a:srgbClr val="000000"/>
                          </a:solidFill>
                          <a:latin typeface="Calibri"/>
                        </a:rPr>
                        <a:t>Figure 182: Middle East &amp; Africa Market Strategic Developments by Type, %, 2025–2026</a:t>
                      </a:r>
                      <a:endParaRPr sz="1050"/>
                    </a:p>
                  </a:txBody>
                  <a:tcPr marL="9525" marR="9525" marT="9525" marB="0" anchor="ctr"/>
                </a:tc>
              </a:tr>
              <a:tr h="166688">
                <a:tc>
                  <a:txBody>
                    <a:bodyPr wrap="square"/>
                    <a:lstStyle/>
                    <a:p>
                      <a:pPr algn="l"/>
                      <a:r>
                        <a:rPr sz="1050" b="0" i="0">
                          <a:solidFill>
                            <a:srgbClr val="000000"/>
                          </a:solidFill>
                          <a:latin typeface="Calibri"/>
                        </a:rPr>
                        <a:t>Figure 183: Middle East &amp; Africa Market Company Footprint by Region, 2026</a:t>
                      </a:r>
                      <a:endParaRPr sz="1050"/>
                    </a:p>
                  </a:txBody>
                  <a:tcPr marL="9525" marR="9525" marT="9525" marB="0" anchor="ctr"/>
                </a:tc>
              </a:tr>
              <a:tr h="166688">
                <a:tc>
                  <a:txBody>
                    <a:bodyPr wrap="square"/>
                    <a:lstStyle/>
                    <a:p>
                      <a:pPr algn="l"/>
                      <a:r>
                        <a:rPr sz="1050" b="0" i="0">
                          <a:solidFill>
                            <a:srgbClr val="000000"/>
                          </a:solidFill>
                          <a:latin typeface="Calibri"/>
                        </a:rPr>
                        <a:t>Figure 184: Middle East &amp; Africa Market Value Forecast by Scenario, US$ Mn, 2026–2036</a:t>
                      </a:r>
                      <a:endParaRPr sz="1050"/>
                    </a:p>
                  </a:txBody>
                  <a:tcPr marL="9525" marR="9525" marT="9525" marB="0" anchor="ctr"/>
                </a:tc>
              </a:tr>
              <a:tr h="166688">
                <a:tc>
                  <a:txBody>
                    <a:bodyPr wrap="square"/>
                    <a:lstStyle/>
                    <a:p>
                      <a:pPr algn="l"/>
                      <a:r>
                        <a:rPr sz="1050" b="0" i="0">
                          <a:solidFill>
                            <a:srgbClr val="000000"/>
                          </a:solidFill>
                          <a:latin typeface="Calibri"/>
                        </a:rPr>
                        <a:t>Figure 185: Middle East &amp; Africa Market YoY Growth by Scenario, %, 2026–2036</a:t>
                      </a:r>
                      <a:endParaRPr sz="1050"/>
                    </a:p>
                  </a:txBody>
                  <a:tcPr marL="9525" marR="9525" marT="9525" marB="0" anchor="ctr"/>
                </a:tc>
              </a:tr>
              <a:tr h="166688">
                <a:tc>
                  <a:txBody>
                    <a:bodyPr wrap="square"/>
                    <a:lstStyle/>
                    <a:p>
                      <a:pPr algn="l"/>
                      <a:r>
                        <a:rPr sz="1050" b="0" i="0">
                          <a:solidFill>
                            <a:srgbClr val="000000"/>
                          </a:solidFill>
                          <a:latin typeface="Calibri"/>
                        </a:rPr>
                        <a:t>Figure 186: Middle East &amp; Africa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187: Middle East &amp; Africa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188: Middle East &amp; Africa Market Opportunity Map by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189: Middle East &amp; Africa Market Technology Adoption Roadmap, 2021–2036</a:t>
                      </a:r>
                      <a:endParaRPr sz="1050"/>
                    </a:p>
                  </a:txBody>
                  <a:tcPr marL="9525" marR="9525" marT="9525" marB="0" anchor="ctr"/>
                </a:tc>
              </a:tr>
              <a:tr h="326708">
                <a:tc>
                  <a:txBody>
                    <a:bodyPr wrap="square"/>
                    <a:lstStyle/>
                    <a:p>
                      <a:pPr algn="l"/>
                      <a:r>
                        <a:rPr sz="1050" b="0" i="0">
                          <a:solidFill>
                            <a:srgbClr val="000000"/>
                          </a:solidFill>
                          <a:latin typeface="Calibri"/>
                        </a:rPr>
                        <a:t>Figure 190: Middle East &amp; Africa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191: Middle East &amp; Africa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192: Middle East &amp; Africa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193: Middle East &amp; Africa Market Investment Hotspots, 2026–2036</a:t>
                      </a:r>
                      <a:endParaRPr sz="1050"/>
                    </a:p>
                  </a:txBody>
                  <a:tcPr marL="9525" marR="9525" marT="9525" marB="0" anchor="ctr"/>
                </a:tc>
              </a:tr>
              <a:tr h="166688">
                <a:tc>
                  <a:txBody>
                    <a:bodyPr wrap="square"/>
                    <a:lstStyle/>
                    <a:p>
                      <a:pPr algn="l"/>
                      <a:r>
                        <a:rPr sz="1050" b="0" i="0">
                          <a:solidFill>
                            <a:srgbClr val="000000"/>
                          </a:solidFill>
                          <a:latin typeface="Calibri"/>
                        </a:rPr>
                        <a:t>Figure 194: Middle East &amp; Africa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195: Middle East &amp; Africa Market Demand Shift Analysis by Product Type, %, 2026–2036</a:t>
                      </a:r>
                      <a:endParaRPr sz="1050"/>
                    </a:p>
                  </a:txBody>
                  <a:tcPr marL="9525" marR="9525" marT="9525" marB="0" anchor="ctr"/>
                </a:tc>
              </a:tr>
              <a:tr h="166688">
                <a:tc>
                  <a:txBody>
                    <a:bodyPr wrap="square"/>
                    <a:lstStyle/>
                    <a:p>
                      <a:pPr algn="l"/>
                      <a:r>
                        <a:rPr sz="1050" b="0" i="0">
                          <a:solidFill>
                            <a:srgbClr val="000000"/>
                          </a:solidFill>
                          <a:latin typeface="Calibri"/>
                        </a:rPr>
                        <a:t>Figure 196: Middle East &amp; Africa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Middle East &amp; Africa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Middle East &amp; Africa Market Go-to-Market Priority, 2026–2036</a:t>
                      </a:r>
                      <a:endParaRPr sz="1050"/>
                    </a:p>
                  </a:txBody>
                  <a:tcPr marL="9525" marR="9525" marT="9525" marB="0" anchor="ctr"/>
                </a:tc>
              </a:tr>
              <a:tr h="166688">
                <a:tc>
                  <a:txBody>
                    <a:bodyPr wrap="square"/>
                    <a:lstStyle/>
                    <a:p>
                      <a:pPr algn="l"/>
                      <a:r>
                        <a:rPr sz="1050" b="0" i="0">
                          <a:solidFill>
                            <a:srgbClr val="000000"/>
                          </a:solidFill>
                          <a:latin typeface="Calibri"/>
                        </a:rPr>
                        <a:t>Figure 199: Middle East &amp; Africa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200: Middle East &amp; Africa Market Right-to-Win Assessment,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(1/5)</a:t>
            </a:r>
          </a:p>
        </p:txBody>
      </p:sp>
      <p:graphicFrame>
        <p:nvGraphicFramePr>
          <p:cNvPr id="9" name="FMI Contents Table"/>
          <p:cNvGraphicFramePr>
            <a:graphicFrameLocks noGrp="1"/>
          </p:cNvGraphicFramePr>
          <p:nvPr/>
        </p:nvGraphicFramePr>
        <p:xfrm>
          <a:off x="142875" y="981075"/>
          <a:ext cx="5876925" cy="5257803"/>
        </p:xfrm>
        <a:graphic>
          <a:graphicData uri="http://schemas.openxmlformats.org/drawingml/2006/table">
            <a:tbl>
              <a:tblPr>
                <a:tableStyleId>{3B4B98B0-60AC-42C2-AFA5-B58CD77FA1E5}</a:tableStyleId>
              </a:tblPr>
              <a:tblGrid>
                <a:gridCol w="5876925"/>
              </a:tblGrid>
              <a:tr h="175964">
                <a:tc>
                  <a:txBody>
                    <a:bodyPr wrap="square"/>
                    <a:lstStyle/>
                    <a:p>
                      <a:pPr algn="l"/>
                      <a:r>
                        <a:rPr sz="1050" b="0" i="0">
                          <a:solidFill>
                            <a:srgbClr val="000000"/>
                          </a:solidFill>
                          <a:latin typeface="Calibri"/>
                        </a:rPr>
                        <a:t>Table 1: Middle East &amp; Africa Market Snapshot: Value, Volume and CAGR, US$ Mn, 2025–2036</a:t>
                      </a:r>
                      <a:endParaRPr sz="1050"/>
                    </a:p>
                  </a:txBody>
                  <a:tcPr marL="9525" marR="9525" marT="9525" marB="0" anchor="ctr"/>
                </a:tc>
              </a:tr>
              <a:tr h="175964">
                <a:tc>
                  <a:txBody>
                    <a:bodyPr wrap="square"/>
                    <a:lstStyle/>
                    <a:p>
                      <a:pPr algn="l"/>
                      <a:r>
                        <a:rPr sz="1050" b="0" i="0">
                          <a:solidFill>
                            <a:srgbClr val="000000"/>
                          </a:solidFill>
                          <a:latin typeface="Calibri"/>
                        </a:rPr>
                        <a:t>Table 2: Middle East &amp; Africa Market Taxonomy by Segment, 2026</a:t>
                      </a:r>
                      <a:endParaRPr sz="1050"/>
                    </a:p>
                  </a:txBody>
                  <a:tcPr marL="9525" marR="9525" marT="9525" marB="0" anchor="ctr"/>
                </a:tc>
              </a:tr>
              <a:tr h="175964">
                <a:tc>
                  <a:txBody>
                    <a:bodyPr wrap="square"/>
                    <a:lstStyle/>
                    <a:p>
                      <a:pPr algn="l"/>
                      <a:r>
                        <a:rPr sz="1050" b="0" i="0">
                          <a:solidFill>
                            <a:srgbClr val="000000"/>
                          </a:solidFill>
                          <a:latin typeface="Calibri"/>
                        </a:rPr>
                        <a:t>Table 3: Middle East &amp; Africa Market Scope: Inclusions and Exclusions by Segment, 2026</a:t>
                      </a:r>
                      <a:endParaRPr sz="1050"/>
                    </a:p>
                  </a:txBody>
                  <a:tcPr marL="9525" marR="9525" marT="9525" marB="0" anchor="ctr"/>
                </a:tc>
              </a:tr>
              <a:tr h="175964">
                <a:tc>
                  <a:txBody>
                    <a:bodyPr wrap="square"/>
                    <a:lstStyle/>
                    <a:p>
                      <a:pPr algn="l"/>
                      <a:r>
                        <a:rPr sz="1050" b="0" i="0">
                          <a:solidFill>
                            <a:srgbClr val="000000"/>
                          </a:solidFill>
                          <a:latin typeface="Calibri"/>
                        </a:rPr>
                        <a:t>Table 4: Middle East &amp; Africa Market Key Demand Drivers and Impact Rating, 2026–2036</a:t>
                      </a:r>
                      <a:endParaRPr sz="1050"/>
                    </a:p>
                  </a:txBody>
                  <a:tcPr marL="9525" marR="9525" marT="9525" marB="0" anchor="ctr"/>
                </a:tc>
              </a:tr>
              <a:tr h="175964">
                <a:tc>
                  <a:txBody>
                    <a:bodyPr wrap="square"/>
                    <a:lstStyle/>
                    <a:p>
                      <a:pPr algn="l"/>
                      <a:r>
                        <a:rPr sz="1050" b="0" i="0">
                          <a:solidFill>
                            <a:srgbClr val="000000"/>
                          </a:solidFill>
                          <a:latin typeface="Calibri"/>
                        </a:rPr>
                        <a:t>Table 5: Middle East &amp; Africa Market Key Restraints and Impact Rating, 2026–2036</a:t>
                      </a:r>
                      <a:endParaRPr sz="1050"/>
                    </a:p>
                  </a:txBody>
                  <a:tcPr marL="9525" marR="9525" marT="9525" marB="0" anchor="ctr"/>
                </a:tc>
              </a:tr>
              <a:tr h="175964">
                <a:tc>
                  <a:txBody>
                    <a:bodyPr wrap="square"/>
                    <a:lstStyle/>
                    <a:p>
                      <a:pPr algn="l"/>
                      <a:r>
                        <a:rPr sz="1050" b="0" i="0">
                          <a:solidFill>
                            <a:srgbClr val="000000"/>
                          </a:solidFill>
                          <a:latin typeface="Calibri"/>
                        </a:rPr>
                        <a:t>Table 6: Middle East &amp; Africa Market Analyst Recommendations by Segment, 2026–2036</a:t>
                      </a:r>
                      <a:endParaRPr sz="1050"/>
                    </a:p>
                  </a:txBody>
                  <a:tcPr marL="9525" marR="9525" marT="9525" marB="0" anchor="ctr"/>
                </a:tc>
              </a:tr>
              <a:tr h="175964">
                <a:tc>
                  <a:txBody>
                    <a:bodyPr wrap="square"/>
                    <a:lstStyle/>
                    <a:p>
                      <a:pPr algn="l"/>
                      <a:r>
                        <a:rPr sz="1050" b="0" i="0">
                          <a:solidFill>
                            <a:srgbClr val="000000"/>
                          </a:solidFill>
                          <a:latin typeface="Calibri"/>
                        </a:rPr>
                        <a:t>Table 7: Middle East &amp; Africa Market Key Market Signals and Data Points, 2026</a:t>
                      </a:r>
                      <a:endParaRPr sz="1050"/>
                    </a:p>
                  </a:txBody>
                  <a:tcPr marL="9525" marR="9525" marT="9525" marB="0" anchor="ctr"/>
                </a:tc>
              </a:tr>
              <a:tr h="175964">
                <a:tc>
                  <a:txBody>
                    <a:bodyPr wrap="square"/>
                    <a:lstStyle/>
                    <a:p>
                      <a:pPr algn="l"/>
                      <a:r>
                        <a:rPr sz="1050" b="0" i="0">
                          <a:solidFill>
                            <a:srgbClr val="000000"/>
                          </a:solidFill>
                          <a:latin typeface="Calibri"/>
                        </a:rPr>
                        <a:t>Table 8: Middle East &amp; Africa Market Value and YoY Growth, US$ Mn and %, 2021–2036</a:t>
                      </a:r>
                      <a:endParaRPr sz="1050"/>
                    </a:p>
                  </a:txBody>
                  <a:tcPr marL="9525" marR="9525" marT="9525" marB="0" anchor="ctr"/>
                </a:tc>
              </a:tr>
              <a:tr h="175964">
                <a:tc>
                  <a:txBody>
                    <a:bodyPr wrap="square"/>
                    <a:lstStyle/>
                    <a:p>
                      <a:pPr algn="l"/>
                      <a:r>
                        <a:rPr sz="1050" b="0" i="0">
                          <a:solidFill>
                            <a:srgbClr val="000000"/>
                          </a:solidFill>
                          <a:latin typeface="Calibri"/>
                        </a:rPr>
                        <a:t>Table 9: Middle East &amp; Africa Market Historical Value Analysis, US$ Mn, 2021–2025</a:t>
                      </a:r>
                      <a:endParaRPr sz="1050"/>
                    </a:p>
                  </a:txBody>
                  <a:tcPr marL="9525" marR="9525" marT="9525" marB="0" anchor="ctr"/>
                </a:tc>
              </a:tr>
              <a:tr h="175964">
                <a:tc>
                  <a:txBody>
                    <a:bodyPr wrap="square"/>
                    <a:lstStyle/>
                    <a:p>
                      <a:pPr algn="l"/>
                      <a:r>
                        <a:rPr sz="1050" b="0" i="0">
                          <a:solidFill>
                            <a:srgbClr val="000000"/>
                          </a:solidFill>
                          <a:latin typeface="Calibri"/>
                        </a:rPr>
                        <a:t>Table 10: Middle East &amp; Africa Market Forecast Value Analysis, US$ Mn, 2026–2036</a:t>
                      </a:r>
                      <a:endParaRPr sz="1050"/>
                    </a:p>
                  </a:txBody>
                  <a:tcPr marL="9525" marR="9525" marT="9525" marB="0" anchor="ctr"/>
                </a:tc>
              </a:tr>
              <a:tr h="175964">
                <a:tc>
                  <a:txBody>
                    <a:bodyPr wrap="square"/>
                    <a:lstStyle/>
                    <a:p>
                      <a:pPr algn="l"/>
                      <a:r>
                        <a:rPr sz="1050" b="0" i="0">
                          <a:solidFill>
                            <a:srgbClr val="000000"/>
                          </a:solidFill>
                          <a:latin typeface="Calibri"/>
                        </a:rPr>
                        <a:t>Table 11: Middle East &amp; Africa Market Volume and YoY Growth, Thousand MT and %, 2021–2036</a:t>
                      </a:r>
                      <a:endParaRPr sz="1050"/>
                    </a:p>
                  </a:txBody>
                  <a:tcPr marL="9525" marR="9525" marT="9525" marB="0" anchor="ctr"/>
                </a:tc>
              </a:tr>
              <a:tr h="175964">
                <a:tc>
                  <a:txBody>
                    <a:bodyPr wrap="square"/>
                    <a:lstStyle/>
                    <a:p>
                      <a:pPr algn="l"/>
                      <a:r>
                        <a:rPr sz="1050" b="0" i="0">
                          <a:solidFill>
                            <a:srgbClr val="000000"/>
                          </a:solidFill>
                          <a:latin typeface="Calibri"/>
                        </a:rPr>
                        <a:t>Table 12: Middle East &amp; Africa Market Volume Forecast, Thousand MT, 2026–2036</a:t>
                      </a:r>
                      <a:endParaRPr sz="1050"/>
                    </a:p>
                  </a:txBody>
                  <a:tcPr marL="9525" marR="9525" marT="9525" marB="0" anchor="ctr"/>
                </a:tc>
              </a:tr>
              <a:tr h="175964">
                <a:tc>
                  <a:txBody>
                    <a:bodyPr wrap="square"/>
                    <a:lstStyle/>
                    <a:p>
                      <a:pPr algn="l"/>
                      <a:r>
                        <a:rPr sz="1050" b="0" i="0">
                          <a:solidFill>
                            <a:srgbClr val="000000"/>
                          </a:solidFill>
                          <a:latin typeface="Calibri"/>
                        </a:rPr>
                        <a:t>Table 13: Middle East &amp; Africa Market Average Selling Price, US$/MT, 2021–2036</a:t>
                      </a:r>
                      <a:endParaRPr sz="1050"/>
                    </a:p>
                  </a:txBody>
                  <a:tcPr marL="9525" marR="9525" marT="9525" marB="0" anchor="ctr"/>
                </a:tc>
              </a:tr>
              <a:tr h="175964">
                <a:tc>
                  <a:txBody>
                    <a:bodyPr wrap="square"/>
                    <a:lstStyle/>
                    <a:p>
                      <a:pPr algn="l"/>
                      <a:r>
                        <a:rPr sz="1050" b="0" i="0">
                          <a:solidFill>
                            <a:srgbClr val="000000"/>
                          </a:solidFill>
                          <a:latin typeface="Calibri"/>
                        </a:rPr>
                        <a:t>Table 14: Middle East &amp; Africa Market Average Selling Price YoY Change, %, 2026–2036</a:t>
                      </a:r>
                      <a:endParaRPr sz="1050"/>
                    </a:p>
                  </a:txBody>
                  <a:tcPr marL="9525" marR="9525" marT="9525" marB="0" anchor="ctr"/>
                </a:tc>
              </a:tr>
              <a:tr h="175964">
                <a:tc>
                  <a:txBody>
                    <a:bodyPr wrap="square"/>
                    <a:lstStyle/>
                    <a:p>
                      <a:pPr algn="l"/>
                      <a:r>
                        <a:rPr sz="1050" b="0" i="0">
                          <a:solidFill>
                            <a:srgbClr val="000000"/>
                          </a:solidFill>
                          <a:latin typeface="Calibri"/>
                        </a:rPr>
                        <a:t>Table 15: Middle East &amp; Africa Market CAGR and Absolute $ Opportunity, %, US$ Mn, 2026–2036</a:t>
                      </a:r>
                      <a:endParaRPr sz="1050"/>
                    </a:p>
                  </a:txBody>
                  <a:tcPr marL="9525" marR="9525" marT="9525" marB="0" anchor="ctr"/>
                </a:tc>
              </a:tr>
              <a:tr h="175964">
                <a:tc>
                  <a:txBody>
                    <a:bodyPr wrap="square"/>
                    <a:lstStyle/>
                    <a:p>
                      <a:pPr algn="l"/>
                      <a:r>
                        <a:rPr sz="1050" b="0" i="0">
                          <a:solidFill>
                            <a:srgbClr val="000000"/>
                          </a:solidFill>
                          <a:latin typeface="Calibri"/>
                        </a:rPr>
                        <a:t>Table 16: Middle East &amp; Africa Market Absolute $ Opportunity by Year, US$ Mn, 2026–2036</a:t>
                      </a:r>
                      <a:endParaRPr sz="1050"/>
                    </a:p>
                  </a:txBody>
                  <a:tcPr marL="9525" marR="9525" marT="9525" marB="0" anchor="ctr"/>
                </a:tc>
              </a:tr>
              <a:tr h="344889">
                <a:tc>
                  <a:txBody>
                    <a:bodyPr wrap="square"/>
                    <a:lstStyle/>
                    <a:p>
                      <a:pPr algn="l"/>
                      <a:r>
                        <a:rPr sz="1050" b="0" i="0">
                          <a:solidFill>
                            <a:srgbClr val="000000"/>
                          </a:solidFill>
                          <a:latin typeface="Calibri"/>
                        </a:rPr>
                        <a:t>Table 17: Middle East &amp; Africa Market Value by Scenario (Optimistic, Likely, Pessimistic), US$ Mn, 2026–2036</a:t>
                      </a:r>
                      <a:endParaRPr sz="1050"/>
                    </a:p>
                  </a:txBody>
                  <a:tcPr marL="9525" marR="9525" marT="9525" marB="0" anchor="ctr"/>
                </a:tc>
              </a:tr>
              <a:tr h="175964">
                <a:tc>
                  <a:txBody>
                    <a:bodyPr wrap="square"/>
                    <a:lstStyle/>
                    <a:p>
                      <a:pPr algn="l"/>
                      <a:r>
                        <a:rPr sz="1050" b="0" i="0">
                          <a:solidFill>
                            <a:srgbClr val="000000"/>
                          </a:solidFill>
                          <a:latin typeface="Calibri"/>
                        </a:rPr>
                        <a:t>Table 18: Middle East &amp; Africa Market Scenario CAGR Comparison, %, 2026–2036</a:t>
                      </a:r>
                      <a:endParaRPr sz="1050"/>
                    </a:p>
                  </a:txBody>
                  <a:tcPr marL="9525" marR="9525" marT="9525" marB="0" anchor="ctr"/>
                </a:tc>
              </a:tr>
              <a:tr h="175964">
                <a:tc>
                  <a:txBody>
                    <a:bodyPr wrap="square"/>
                    <a:lstStyle/>
                    <a:p>
                      <a:pPr algn="l"/>
                      <a:r>
                        <a:rPr sz="1050" b="0" i="0">
                          <a:solidFill>
                            <a:srgbClr val="000000"/>
                          </a:solidFill>
                          <a:latin typeface="Calibri"/>
                        </a:rPr>
                        <a:t>Table 19: Middle East &amp; Africa Market Historical vs Forecast Growth Comparison, %, 2021–2036</a:t>
                      </a:r>
                      <a:endParaRPr sz="1050"/>
                    </a:p>
                  </a:txBody>
                  <a:tcPr marL="9525" marR="9525" marT="9525" marB="0" anchor="ctr"/>
                </a:tc>
              </a:tr>
              <a:tr h="175964">
                <a:tc>
                  <a:txBody>
                    <a:bodyPr wrap="square"/>
                    <a:lstStyle/>
                    <a:p>
                      <a:pPr algn="l"/>
                      <a:r>
                        <a:rPr sz="1050" b="0" i="0">
                          <a:solidFill>
                            <a:srgbClr val="000000"/>
                          </a:solidFill>
                          <a:latin typeface="Calibri"/>
                        </a:rPr>
                        <a:t>Table 20: Middle East &amp; Africa Market Five-Year Block Value Summary, US$ Mn, 2021–2036</a:t>
                      </a:r>
                      <a:endParaRPr sz="1050"/>
                    </a:p>
                  </a:txBody>
                  <a:tcPr marL="9525" marR="9525" marT="9525" marB="0" anchor="ctr"/>
                </a:tc>
              </a:tr>
              <a:tr h="175964">
                <a:tc>
                  <a:txBody>
                    <a:bodyPr wrap="square"/>
                    <a:lstStyle/>
                    <a:p>
                      <a:pPr algn="l"/>
                      <a:r>
                        <a:rPr sz="1050" b="0" i="0">
                          <a:solidFill>
                            <a:srgbClr val="000000"/>
                          </a:solidFill>
                          <a:latin typeface="Calibri"/>
                        </a:rPr>
                        <a:t>Table 21: Middle East &amp; Africa Market Value by Product Type, US$ Mn, 2021–2036</a:t>
                      </a:r>
                      <a:endParaRPr sz="1050"/>
                    </a:p>
                  </a:txBody>
                  <a:tcPr marL="9525" marR="9525" marT="9525" marB="0" anchor="ctr"/>
                </a:tc>
              </a:tr>
              <a:tr h="344889">
                <a:tc>
                  <a:txBody>
                    <a:bodyPr wrap="square"/>
                    <a:lstStyle/>
                    <a:p>
                      <a:pPr algn="l"/>
                      <a:r>
                        <a:rPr sz="1050" b="0" i="0">
                          <a:solidFill>
                            <a:srgbClr val="000000"/>
                          </a:solidFill>
                          <a:latin typeface="Calibri"/>
                        </a:rPr>
                        <a:t>Table 22: Middle East &amp; Africa Market Value by Principal Material / Barrier Technology, US$ Mn, 2021–2036</a:t>
                      </a:r>
                      <a:endParaRPr sz="1050"/>
                    </a:p>
                  </a:txBody>
                  <a:tcPr marL="9525" marR="9525" marT="9525" marB="0" anchor="ctr"/>
                </a:tc>
              </a:tr>
              <a:tr h="175964">
                <a:tc>
                  <a:txBody>
                    <a:bodyPr wrap="square"/>
                    <a:lstStyle/>
                    <a:p>
                      <a:pPr algn="l"/>
                      <a:r>
                        <a:rPr sz="1050" b="0" i="0">
                          <a:solidFill>
                            <a:srgbClr val="000000"/>
                          </a:solidFill>
                          <a:latin typeface="Calibri"/>
                        </a:rPr>
                        <a:t>Table 23: Middle East &amp; Africa Market Value by Material Structure, US$ Mn, 2021–2036</a:t>
                      </a:r>
                      <a:endParaRPr sz="1050"/>
                    </a:p>
                  </a:txBody>
                  <a:tcPr marL="9525" marR="9525" marT="9525" marB="0" anchor="ctr"/>
                </a:tc>
              </a:tr>
              <a:tr h="175964">
                <a:tc>
                  <a:txBody>
                    <a:bodyPr wrap="square"/>
                    <a:lstStyle/>
                    <a:p>
                      <a:pPr algn="l"/>
                      <a:r>
                        <a:rPr sz="1050" b="0" i="0">
                          <a:solidFill>
                            <a:srgbClr val="000000"/>
                          </a:solidFill>
                          <a:latin typeface="Calibri"/>
                        </a:rPr>
                        <a:t>Table 24: Middle East &amp; Africa Market Value by Barrier Level, US$ Mn, 2021–2036</a:t>
                      </a:r>
                      <a:endParaRPr sz="1050"/>
                    </a:p>
                  </a:txBody>
                  <a:tcPr marL="9525" marR="9525" marT="9525" marB="0" anchor="ctr"/>
                </a:tc>
              </a:tr>
              <a:tr h="175964">
                <a:tc>
                  <a:txBody>
                    <a:bodyPr wrap="square"/>
                    <a:lstStyle/>
                    <a:p>
                      <a:pPr algn="l"/>
                      <a:r>
                        <a:rPr sz="1050" b="0" i="0">
                          <a:solidFill>
                            <a:srgbClr val="000000"/>
                          </a:solidFill>
                          <a:latin typeface="Calibri"/>
                        </a:rPr>
                        <a:t>Table 25: Middle East &amp; Africa Market Value by Application, US$ Mn, 2021–2036</a:t>
                      </a:r>
                      <a:endParaRPr sz="1050"/>
                    </a:p>
                  </a:txBody>
                  <a:tcPr marL="9525" marR="9525" marT="9525" marB="0" anchor="ctr"/>
                </a:tc>
              </a:tr>
              <a:tr h="175964">
                <a:tc>
                  <a:txBody>
                    <a:bodyPr wrap="square"/>
                    <a:lstStyle/>
                    <a:p>
                      <a:pPr algn="l"/>
                      <a:r>
                        <a:rPr sz="1050" b="0" i="0">
                          <a:solidFill>
                            <a:srgbClr val="000000"/>
                          </a:solidFill>
                          <a:latin typeface="Calibri"/>
                        </a:rPr>
                        <a:t>Table 26: Middle East &amp; Africa Market Value by Barrier Level Vs Application, US$ Mn, 2021–2036</a:t>
                      </a:r>
                      <a:endParaRPr sz="1050"/>
                    </a:p>
                  </a:txBody>
                  <a:tcPr marL="9525" marR="9525" marT="9525" marB="0" anchor="ctr"/>
                </a:tc>
              </a:tr>
              <a:tr h="344889">
                <a:tc>
                  <a:txBody>
                    <a:bodyPr wrap="square"/>
                    <a:lstStyle/>
                    <a:p>
                      <a:pPr algn="l"/>
                      <a:r>
                        <a:rPr sz="1050" b="0" i="0">
                          <a:solidFill>
                            <a:srgbClr val="000000"/>
                          </a:solidFill>
                          <a:latin typeface="Calibri"/>
                        </a:rPr>
                        <a:t>Table 27: Middle East &amp; Africa Market CAGR and Absolute $ Opportunity by Product Type,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336774">
                <a:tc>
                  <a:txBody>
                    <a:bodyPr wrap="square"/>
                    <a:lstStyle/>
                    <a:p>
                      <a:pPr algn="l"/>
                      <a:r>
                        <a:rPr sz="1050" b="0" i="0">
                          <a:solidFill>
                            <a:srgbClr val="000000"/>
                          </a:solidFill>
                          <a:latin typeface="Calibri"/>
                        </a:rPr>
                        <a:t>Table 28: Middle East &amp; Africa Market CAGR and Absolute $ Opportunity by Principal Material / Barrier Technology, %, US$ Mn, 2026–2036</a:t>
                      </a:r>
                      <a:endParaRPr sz="1050"/>
                    </a:p>
                  </a:txBody>
                  <a:tcPr marL="9525" marR="9525" marT="9525" marB="0" anchor="ctr"/>
                </a:tc>
              </a:tr>
              <a:tr h="336774">
                <a:tc>
                  <a:txBody>
                    <a:bodyPr wrap="square"/>
                    <a:lstStyle/>
                    <a:p>
                      <a:pPr algn="l"/>
                      <a:r>
                        <a:rPr sz="1050" b="0" i="0">
                          <a:solidFill>
                            <a:srgbClr val="000000"/>
                          </a:solidFill>
                          <a:latin typeface="Calibri"/>
                        </a:rPr>
                        <a:t>Table 29: Middle East &amp; Africa Market CAGR and Absolute $ Opportunity by Material Structure, %, US$ Mn, 2026–2036</a:t>
                      </a:r>
                      <a:endParaRPr sz="1050"/>
                    </a:p>
                  </a:txBody>
                  <a:tcPr marL="9525" marR="9525" marT="9525" marB="0" anchor="ctr"/>
                </a:tc>
              </a:tr>
              <a:tr h="336774">
                <a:tc>
                  <a:txBody>
                    <a:bodyPr wrap="square"/>
                    <a:lstStyle/>
                    <a:p>
                      <a:pPr algn="l"/>
                      <a:r>
                        <a:rPr sz="1050" b="0" i="0">
                          <a:solidFill>
                            <a:srgbClr val="000000"/>
                          </a:solidFill>
                          <a:latin typeface="Calibri"/>
                        </a:rPr>
                        <a:t>Table 30: Middle East &amp; Africa Market CAGR and Absolute $ Opportunity by Barrier Level, %, US$ Mn, 2026–2036</a:t>
                      </a:r>
                      <a:endParaRPr sz="1050"/>
                    </a:p>
                  </a:txBody>
                  <a:tcPr marL="9525" marR="9525" marT="9525" marB="0" anchor="ctr"/>
                </a:tc>
              </a:tr>
              <a:tr h="336774">
                <a:tc>
                  <a:txBody>
                    <a:bodyPr wrap="square"/>
                    <a:lstStyle/>
                    <a:p>
                      <a:pPr algn="l"/>
                      <a:r>
                        <a:rPr sz="1050" b="0" i="0">
                          <a:solidFill>
                            <a:srgbClr val="000000"/>
                          </a:solidFill>
                          <a:latin typeface="Calibri"/>
                        </a:rPr>
                        <a:t>Table 31: Middle East &amp; Africa Market CAGR and Absolute $ Opportunity by Application, %, US$ Mn, 2026–2036</a:t>
                      </a:r>
                      <a:endParaRPr sz="1050"/>
                    </a:p>
                  </a:txBody>
                  <a:tcPr marL="9525" marR="9525" marT="9525" marB="0" anchor="ctr"/>
                </a:tc>
              </a:tr>
              <a:tr h="336774">
                <a:tc>
                  <a:txBody>
                    <a:bodyPr wrap="square"/>
                    <a:lstStyle/>
                    <a:p>
                      <a:pPr algn="l"/>
                      <a:r>
                        <a:rPr sz="1050" b="0" i="0">
                          <a:solidFill>
                            <a:srgbClr val="000000"/>
                          </a:solidFill>
                          <a:latin typeface="Calibri"/>
                        </a:rPr>
                        <a:t>Table 32: Middle East &amp; Africa Market CAGR and Absolute $ Opportunity by Barrier Level Vs Application, %, US$ Mn, 2026–2036</a:t>
                      </a:r>
                      <a:endParaRPr sz="1050"/>
                    </a:p>
                  </a:txBody>
                  <a:tcPr marL="9525" marR="9525" marT="9525" marB="0" anchor="ctr"/>
                </a:tc>
              </a:tr>
              <a:tr h="171824">
                <a:tc>
                  <a:txBody>
                    <a:bodyPr wrap="square"/>
                    <a:lstStyle/>
                    <a:p>
                      <a:pPr algn="l"/>
                      <a:r>
                        <a:rPr sz="1050" b="0" i="0">
                          <a:solidFill>
                            <a:srgbClr val="000000"/>
                          </a:solidFill>
                          <a:latin typeface="Calibri"/>
                        </a:rPr>
                        <a:t>Table 33: Middle East &amp; Africa Market Share and BPS Change by Product Type, %, 2025, 2026 and 2036</a:t>
                      </a:r>
                      <a:endParaRPr sz="1050"/>
                    </a:p>
                  </a:txBody>
                  <a:tcPr marL="9525" marR="9525" marT="9525" marB="0" anchor="ctr"/>
                </a:tc>
              </a:tr>
              <a:tr h="336774">
                <a:tc>
                  <a:txBody>
                    <a:bodyPr wrap="square"/>
                    <a:lstStyle/>
                    <a:p>
                      <a:pPr algn="l"/>
                      <a:r>
                        <a:rPr sz="1050" b="0" i="0">
                          <a:solidFill>
                            <a:srgbClr val="000000"/>
                          </a:solidFill>
                          <a:latin typeface="Calibri"/>
                        </a:rPr>
                        <a:t>Table 34: Middle East &amp; Africa Market Share and BPS Change by Principal Material / Barrier Technology, %, 2025, 2026 and 2036</a:t>
                      </a:r>
                      <a:endParaRPr sz="1050"/>
                    </a:p>
                  </a:txBody>
                  <a:tcPr marL="9525" marR="9525" marT="9525" marB="0" anchor="ctr"/>
                </a:tc>
              </a:tr>
              <a:tr h="336774">
                <a:tc>
                  <a:txBody>
                    <a:bodyPr wrap="square"/>
                    <a:lstStyle/>
                    <a:p>
                      <a:pPr algn="l"/>
                      <a:r>
                        <a:rPr sz="1050" b="0" i="0">
                          <a:solidFill>
                            <a:srgbClr val="000000"/>
                          </a:solidFill>
                          <a:latin typeface="Calibri"/>
                        </a:rPr>
                        <a:t>Table 35: Middle East &amp; Africa Market Share and BPS Change by Material Structure, %, 2025, 2026 and 2036</a:t>
                      </a:r>
                      <a:endParaRPr sz="1050"/>
                    </a:p>
                  </a:txBody>
                  <a:tcPr marL="9525" marR="9525" marT="9525" marB="0" anchor="ctr"/>
                </a:tc>
              </a:tr>
              <a:tr h="171824">
                <a:tc>
                  <a:txBody>
                    <a:bodyPr wrap="square"/>
                    <a:lstStyle/>
                    <a:p>
                      <a:pPr algn="l"/>
                      <a:r>
                        <a:rPr sz="1050" b="0" i="0">
                          <a:solidFill>
                            <a:srgbClr val="000000"/>
                          </a:solidFill>
                          <a:latin typeface="Calibri"/>
                        </a:rPr>
                        <a:t>Table 36: Middle East &amp; Africa Market Share and BPS Change by Barrier Level, %, 2025, 2026 and 2036</a:t>
                      </a:r>
                      <a:endParaRPr sz="1050"/>
                    </a:p>
                  </a:txBody>
                  <a:tcPr marL="9525" marR="9525" marT="9525" marB="0" anchor="ctr"/>
                </a:tc>
              </a:tr>
              <a:tr h="171824">
                <a:tc>
                  <a:txBody>
                    <a:bodyPr wrap="square"/>
                    <a:lstStyle/>
                    <a:p>
                      <a:pPr algn="l"/>
                      <a:r>
                        <a:rPr sz="1050" b="0" i="0">
                          <a:solidFill>
                            <a:srgbClr val="000000"/>
                          </a:solidFill>
                          <a:latin typeface="Calibri"/>
                        </a:rPr>
                        <a:t>Table 37: Middle East &amp; Africa Market Share and BPS Change by Application, %, 2025, 2026 and 2036</a:t>
                      </a:r>
                      <a:endParaRPr sz="1050"/>
                    </a:p>
                  </a:txBody>
                  <a:tcPr marL="9525" marR="9525" marT="9525" marB="0" anchor="ctr"/>
                </a:tc>
              </a:tr>
              <a:tr h="336774">
                <a:tc>
                  <a:txBody>
                    <a:bodyPr wrap="square"/>
                    <a:lstStyle/>
                    <a:p>
                      <a:pPr algn="l"/>
                      <a:r>
                        <a:rPr sz="1050" b="0" i="0">
                          <a:solidFill>
                            <a:srgbClr val="000000"/>
                          </a:solidFill>
                          <a:latin typeface="Calibri"/>
                        </a:rPr>
                        <a:t>Table 38: Middle East &amp; Africa Market Share and BPS Change by Barrier Level Vs Application, %, 2025, 2026 and 2036</a:t>
                      </a:r>
                      <a:endParaRPr sz="1050"/>
                    </a:p>
                  </a:txBody>
                  <a:tcPr marL="9525" marR="9525" marT="9525" marB="0" anchor="ctr"/>
                </a:tc>
              </a:tr>
              <a:tr h="171824">
                <a:tc>
                  <a:txBody>
                    <a:bodyPr wrap="square"/>
                    <a:lstStyle/>
                    <a:p>
                      <a:pPr algn="l"/>
                      <a:r>
                        <a:rPr sz="1050" b="0" i="0">
                          <a:solidFill>
                            <a:srgbClr val="000000"/>
                          </a:solidFill>
                          <a:latin typeface="Calibri"/>
                        </a:rPr>
                        <a:t>Table 39: Middle East &amp; Africa Market YoY Growth by Product Type, %, 2026–2036</a:t>
                      </a:r>
                      <a:endParaRPr sz="1050"/>
                    </a:p>
                  </a:txBody>
                  <a:tcPr marL="9525" marR="9525" marT="9525" marB="0" anchor="ctr"/>
                </a:tc>
              </a:tr>
              <a:tr h="336774">
                <a:tc>
                  <a:txBody>
                    <a:bodyPr wrap="square"/>
                    <a:lstStyle/>
                    <a:p>
                      <a:pPr algn="l"/>
                      <a:r>
                        <a:rPr sz="1050" b="0" i="0">
                          <a:solidFill>
                            <a:srgbClr val="000000"/>
                          </a:solidFill>
                          <a:latin typeface="Calibri"/>
                        </a:rPr>
                        <a:t>Table 40: Middle East &amp; Africa Market YoY Growth by Principal Material / Barrier Technology, %, 2026–2036</a:t>
                      </a:r>
                      <a:endParaRPr sz="1050"/>
                    </a:p>
                  </a:txBody>
                  <a:tcPr marL="9525" marR="9525" marT="9525" marB="0" anchor="ctr"/>
                </a:tc>
              </a:tr>
              <a:tr h="171824">
                <a:tc>
                  <a:txBody>
                    <a:bodyPr wrap="square"/>
                    <a:lstStyle/>
                    <a:p>
                      <a:pPr algn="l"/>
                      <a:r>
                        <a:rPr sz="1050" b="0" i="0">
                          <a:solidFill>
                            <a:srgbClr val="000000"/>
                          </a:solidFill>
                          <a:latin typeface="Calibri"/>
                        </a:rPr>
                        <a:t>Table 41: Middle East &amp; Africa Market YoY Growth by Material Structure, %, 2026–2036</a:t>
                      </a:r>
                      <a:endParaRPr sz="1050"/>
                    </a:p>
                  </a:txBody>
                  <a:tcPr marL="9525" marR="9525" marT="9525" marB="0" anchor="ctr"/>
                </a:tc>
              </a:tr>
              <a:tr h="171824">
                <a:tc>
                  <a:txBody>
                    <a:bodyPr wrap="square"/>
                    <a:lstStyle/>
                    <a:p>
                      <a:pPr algn="l"/>
                      <a:r>
                        <a:rPr sz="1050" b="0" i="0">
                          <a:solidFill>
                            <a:srgbClr val="000000"/>
                          </a:solidFill>
                          <a:latin typeface="Calibri"/>
                        </a:rPr>
                        <a:t>Table 42: Middle East &amp; Africa Market YoY Growth by Barrier Level, %, 2026–2036</a:t>
                      </a:r>
                      <a:endParaRPr sz="1050"/>
                    </a:p>
                  </a:txBody>
                  <a:tcPr marL="9525" marR="9525" marT="9525" marB="0" anchor="ctr"/>
                </a:tc>
              </a:tr>
              <a:tr h="171824">
                <a:tc>
                  <a:txBody>
                    <a:bodyPr wrap="square"/>
                    <a:lstStyle/>
                    <a:p>
                      <a:pPr algn="l"/>
                      <a:r>
                        <a:rPr sz="1050" b="0" i="0">
                          <a:solidFill>
                            <a:srgbClr val="000000"/>
                          </a:solidFill>
                          <a:latin typeface="Calibri"/>
                        </a:rPr>
                        <a:t>Table 43: Middle East &amp; Africa Market YoY Growth by Application, %, 2026–2036</a:t>
                      </a:r>
                      <a:endParaRPr sz="1050"/>
                    </a:p>
                  </a:txBody>
                  <a:tcPr marL="9525" marR="9525" marT="9525" marB="0" anchor="ctr"/>
                </a:tc>
              </a:tr>
              <a:tr h="171824">
                <a:tc>
                  <a:txBody>
                    <a:bodyPr wrap="square"/>
                    <a:lstStyle/>
                    <a:p>
                      <a:pPr algn="l"/>
                      <a:r>
                        <a:rPr sz="1050" b="0" i="0">
                          <a:solidFill>
                            <a:srgbClr val="000000"/>
                          </a:solidFill>
                          <a:latin typeface="Calibri"/>
                        </a:rPr>
                        <a:t>Table 44: Middle East &amp; Africa Market YoY Growth by Barrier Level Vs Application, %, 2026–2036</a:t>
                      </a:r>
                      <a:endParaRPr sz="1050"/>
                    </a:p>
                  </a:txBody>
                  <a:tcPr marL="9525" marR="9525" marT="9525" marB="0" anchor="ctr"/>
                </a:tc>
              </a:tr>
              <a:tr h="171824">
                <a:tc>
                  <a:txBody>
                    <a:bodyPr wrap="square"/>
                    <a:lstStyle/>
                    <a:p>
                      <a:pPr algn="l"/>
                      <a:r>
                        <a:rPr sz="1050" b="0" i="0">
                          <a:solidFill>
                            <a:srgbClr val="000000"/>
                          </a:solidFill>
                          <a:latin typeface="Calibri"/>
                        </a:rPr>
                        <a:t>Table 45: Middle East &amp; Africa Market Volume by Product Type, Thousand MT, 2021–2036</a:t>
                      </a:r>
                      <a:endParaRPr sz="1050"/>
                    </a:p>
                  </a:txBody>
                  <a:tcPr marL="9525" marR="9525" marT="9525" marB="0" anchor="ctr"/>
                </a:tc>
              </a:tr>
              <a:tr h="336774">
                <a:tc>
                  <a:txBody>
                    <a:bodyPr wrap="square"/>
                    <a:lstStyle/>
                    <a:p>
                      <a:pPr algn="l"/>
                      <a:r>
                        <a:rPr sz="1050" b="0" i="0">
                          <a:solidFill>
                            <a:srgbClr val="000000"/>
                          </a:solidFill>
                          <a:latin typeface="Calibri"/>
                        </a:rPr>
                        <a:t>Table 46: Middle East &amp; Africa Market Volume by Principal Material / Barrier Technology, Thousand MT, 2021–2036</a:t>
                      </a:r>
                      <a:endParaRPr sz="1050"/>
                    </a:p>
                  </a:txBody>
                  <a:tcPr marL="9525" marR="9525" marT="9525" marB="0" anchor="ctr"/>
                </a:tc>
              </a:tr>
              <a:tr h="171824">
                <a:tc>
                  <a:txBody>
                    <a:bodyPr wrap="square"/>
                    <a:lstStyle/>
                    <a:p>
                      <a:pPr algn="l"/>
                      <a:r>
                        <a:rPr sz="1050" b="0" i="0">
                          <a:solidFill>
                            <a:srgbClr val="000000"/>
                          </a:solidFill>
                          <a:latin typeface="Calibri"/>
                        </a:rPr>
                        <a:t>Table 47: Middle East &amp; Africa Market Volume by Material Structure, Thousand MT, 2021–2036</a:t>
                      </a:r>
                      <a:endParaRPr sz="1050"/>
                    </a:p>
                  </a:txBody>
                  <a:tcPr marL="9525" marR="9525" marT="9525" marB="0" anchor="ctr"/>
                </a:tc>
              </a:tr>
              <a:tr h="171824">
                <a:tc>
                  <a:txBody>
                    <a:bodyPr wrap="square"/>
                    <a:lstStyle/>
                    <a:p>
                      <a:pPr algn="l"/>
                      <a:r>
                        <a:rPr sz="1050" b="0" i="0">
                          <a:solidFill>
                            <a:srgbClr val="000000"/>
                          </a:solidFill>
                          <a:latin typeface="Calibri"/>
                        </a:rPr>
                        <a:t>Table 48: Middle East &amp; Africa Market Volume by Barrier Level, Thousand 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(2/5)</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7628">
                <a:tc>
                  <a:txBody>
                    <a:bodyPr wrap="square"/>
                    <a:lstStyle/>
                    <a:p>
                      <a:pPr algn="l"/>
                      <a:r>
                        <a:rPr sz="1050" b="0" i="0">
                          <a:solidFill>
                            <a:srgbClr val="000000"/>
                          </a:solidFill>
                          <a:latin typeface="Calibri"/>
                        </a:rPr>
                        <a:t>Table 49: Middle East &amp; Africa Market Volume by Application, Thousand MT, 2021–2036</a:t>
                      </a:r>
                      <a:endParaRPr sz="1050"/>
                    </a:p>
                  </a:txBody>
                  <a:tcPr marL="9525" marR="9525" marT="9525" marB="0" anchor="ctr"/>
                </a:tc>
              </a:tr>
              <a:tr h="348152">
                <a:tc>
                  <a:txBody>
                    <a:bodyPr wrap="square"/>
                    <a:lstStyle/>
                    <a:p>
                      <a:pPr algn="l"/>
                      <a:r>
                        <a:rPr sz="1050" b="0" i="0">
                          <a:solidFill>
                            <a:srgbClr val="000000"/>
                          </a:solidFill>
                          <a:latin typeface="Calibri"/>
                        </a:rPr>
                        <a:t>Table 50: Middle East &amp; Africa Market Volume by Barrier Level Vs Application, Thousand MT, 2021–2036</a:t>
                      </a:r>
                      <a:endParaRPr sz="1050"/>
                    </a:p>
                  </a:txBody>
                  <a:tcPr marL="9525" marR="9525" marT="9525" marB="0" anchor="ctr"/>
                </a:tc>
              </a:tr>
              <a:tr h="177628">
                <a:tc>
                  <a:txBody>
                    <a:bodyPr wrap="square"/>
                    <a:lstStyle/>
                    <a:p>
                      <a:pPr algn="l"/>
                      <a:r>
                        <a:rPr sz="1050" b="0" i="0">
                          <a:solidFill>
                            <a:srgbClr val="000000"/>
                          </a:solidFill>
                          <a:latin typeface="Calibri"/>
                        </a:rPr>
                        <a:t>Table 51: Middle East &amp; Africa Market Average Selling Price by Product Type, US$/MT, 2021–2036</a:t>
                      </a:r>
                      <a:endParaRPr sz="1050"/>
                    </a:p>
                  </a:txBody>
                  <a:tcPr marL="9525" marR="9525" marT="9525" marB="0" anchor="ctr"/>
                </a:tc>
              </a:tr>
              <a:tr h="348152">
                <a:tc>
                  <a:txBody>
                    <a:bodyPr wrap="square"/>
                    <a:lstStyle/>
                    <a:p>
                      <a:pPr algn="l"/>
                      <a:r>
                        <a:rPr sz="1050" b="0" i="0">
                          <a:solidFill>
                            <a:srgbClr val="000000"/>
                          </a:solidFill>
                          <a:latin typeface="Calibri"/>
                        </a:rPr>
                        <a:t>Table 52: Middle East &amp; Africa Market Average Selling Price by Principal Material / Barrier Technology, US$/MT, 2021–2036</a:t>
                      </a:r>
                      <a:endParaRPr sz="1050"/>
                    </a:p>
                  </a:txBody>
                  <a:tcPr marL="9525" marR="9525" marT="9525" marB="0" anchor="ctr"/>
                </a:tc>
              </a:tr>
              <a:tr h="177628">
                <a:tc>
                  <a:txBody>
                    <a:bodyPr wrap="square"/>
                    <a:lstStyle/>
                    <a:p>
                      <a:pPr algn="l"/>
                      <a:r>
                        <a:rPr sz="1050" b="0" i="0">
                          <a:solidFill>
                            <a:srgbClr val="000000"/>
                          </a:solidFill>
                          <a:latin typeface="Calibri"/>
                        </a:rPr>
                        <a:t>Table 53: Middle East &amp; Africa Market Average Selling Price by Material Structure, US$/MT, 2021–2036</a:t>
                      </a:r>
                      <a:endParaRPr sz="1050"/>
                    </a:p>
                  </a:txBody>
                  <a:tcPr marL="9525" marR="9525" marT="9525" marB="0" anchor="ctr"/>
                </a:tc>
              </a:tr>
              <a:tr h="177628">
                <a:tc>
                  <a:txBody>
                    <a:bodyPr wrap="square"/>
                    <a:lstStyle/>
                    <a:p>
                      <a:pPr algn="l"/>
                      <a:r>
                        <a:rPr sz="1050" b="0" i="0">
                          <a:solidFill>
                            <a:srgbClr val="000000"/>
                          </a:solidFill>
                          <a:latin typeface="Calibri"/>
                        </a:rPr>
                        <a:t>Table 54: Middle East &amp; Africa Market Average Selling Price by Barrier Level, US$/MT, 2021–2036</a:t>
                      </a:r>
                      <a:endParaRPr sz="1050"/>
                    </a:p>
                  </a:txBody>
                  <a:tcPr marL="9525" marR="9525" marT="9525" marB="0" anchor="ctr"/>
                </a:tc>
              </a:tr>
              <a:tr h="177628">
                <a:tc>
                  <a:txBody>
                    <a:bodyPr wrap="square"/>
                    <a:lstStyle/>
                    <a:p>
                      <a:pPr algn="l"/>
                      <a:r>
                        <a:rPr sz="1050" b="0" i="0">
                          <a:solidFill>
                            <a:srgbClr val="000000"/>
                          </a:solidFill>
                          <a:latin typeface="Calibri"/>
                        </a:rPr>
                        <a:t>Table 55: Middle East &amp; Africa Market Average Selling Price by Application, US$/MT, 2021–2036</a:t>
                      </a:r>
                      <a:endParaRPr sz="1050"/>
                    </a:p>
                  </a:txBody>
                  <a:tcPr marL="9525" marR="9525" marT="9525" marB="0" anchor="ctr"/>
                </a:tc>
              </a:tr>
              <a:tr h="348152">
                <a:tc>
                  <a:txBody>
                    <a:bodyPr wrap="square"/>
                    <a:lstStyle/>
                    <a:p>
                      <a:pPr algn="l"/>
                      <a:r>
                        <a:rPr sz="1050" b="0" i="0">
                          <a:solidFill>
                            <a:srgbClr val="000000"/>
                          </a:solidFill>
                          <a:latin typeface="Calibri"/>
                        </a:rPr>
                        <a:t>Table 56: Middle East &amp; Africa Market Average Selling Price by Barrier Level Vs Application, US$/MT, 2021–2036</a:t>
                      </a:r>
                      <a:endParaRPr sz="1050"/>
                    </a:p>
                  </a:txBody>
                  <a:tcPr marL="9525" marR="9525" marT="9525" marB="0" anchor="ctr"/>
                </a:tc>
              </a:tr>
              <a:tr h="177628">
                <a:tc>
                  <a:txBody>
                    <a:bodyPr wrap="square"/>
                    <a:lstStyle/>
                    <a:p>
                      <a:pPr algn="l"/>
                      <a:r>
                        <a:rPr sz="1050" b="0" i="0">
                          <a:solidFill>
                            <a:srgbClr val="000000"/>
                          </a:solidFill>
                          <a:latin typeface="Calibri"/>
                        </a:rPr>
                        <a:t>Table 57: Middle East &amp; Africa Market Attractiveness Index by Product Type, 2026–2036</a:t>
                      </a:r>
                      <a:endParaRPr sz="1050"/>
                    </a:p>
                  </a:txBody>
                  <a:tcPr marL="9525" marR="9525" marT="9525" marB="0" anchor="ctr"/>
                </a:tc>
              </a:tr>
              <a:tr h="348152">
                <a:tc>
                  <a:txBody>
                    <a:bodyPr wrap="square"/>
                    <a:lstStyle/>
                    <a:p>
                      <a:pPr algn="l"/>
                      <a:r>
                        <a:rPr sz="1050" b="0" i="0">
                          <a:solidFill>
                            <a:srgbClr val="000000"/>
                          </a:solidFill>
                          <a:latin typeface="Calibri"/>
                        </a:rPr>
                        <a:t>Table 58: Middle East &amp; Africa Market Attractiveness Index by Principal Material / Barrier Technology, 2026–2036</a:t>
                      </a:r>
                      <a:endParaRPr sz="1050"/>
                    </a:p>
                  </a:txBody>
                  <a:tcPr marL="9525" marR="9525" marT="9525" marB="0" anchor="ctr"/>
                </a:tc>
              </a:tr>
              <a:tr h="177628">
                <a:tc>
                  <a:txBody>
                    <a:bodyPr wrap="square"/>
                    <a:lstStyle/>
                    <a:p>
                      <a:pPr algn="l"/>
                      <a:r>
                        <a:rPr sz="1050" b="0" i="0">
                          <a:solidFill>
                            <a:srgbClr val="000000"/>
                          </a:solidFill>
                          <a:latin typeface="Calibri"/>
                        </a:rPr>
                        <a:t>Table 59: Middle East &amp; Africa Market Attractiveness Index by Material Structure, 2026–2036</a:t>
                      </a:r>
                      <a:endParaRPr sz="1050"/>
                    </a:p>
                  </a:txBody>
                  <a:tcPr marL="9525" marR="9525" marT="9525" marB="0" anchor="ctr"/>
                </a:tc>
              </a:tr>
              <a:tr h="177628">
                <a:tc>
                  <a:txBody>
                    <a:bodyPr wrap="square"/>
                    <a:lstStyle/>
                    <a:p>
                      <a:pPr algn="l"/>
                      <a:r>
                        <a:rPr sz="1050" b="0" i="0">
                          <a:solidFill>
                            <a:srgbClr val="000000"/>
                          </a:solidFill>
                          <a:latin typeface="Calibri"/>
                        </a:rPr>
                        <a:t>Table 60: Middle East &amp; Africa Market Attractiveness Index by Barrier Level, 2026–2036</a:t>
                      </a:r>
                      <a:endParaRPr sz="1050"/>
                    </a:p>
                  </a:txBody>
                  <a:tcPr marL="9525" marR="9525" marT="9525" marB="0" anchor="ctr"/>
                </a:tc>
              </a:tr>
              <a:tr h="177628">
                <a:tc>
                  <a:txBody>
                    <a:bodyPr wrap="square"/>
                    <a:lstStyle/>
                    <a:p>
                      <a:pPr algn="l"/>
                      <a:r>
                        <a:rPr sz="1050" b="0" i="0">
                          <a:solidFill>
                            <a:srgbClr val="000000"/>
                          </a:solidFill>
                          <a:latin typeface="Calibri"/>
                        </a:rPr>
                        <a:t>Table 61: Middle East &amp; Africa Market Attractiveness Index by Application, 2026–2036</a:t>
                      </a:r>
                      <a:endParaRPr sz="1050"/>
                    </a:p>
                  </a:txBody>
                  <a:tcPr marL="9525" marR="9525" marT="9525" marB="0" anchor="ctr"/>
                </a:tc>
              </a:tr>
              <a:tr h="177628">
                <a:tc>
                  <a:txBody>
                    <a:bodyPr wrap="square"/>
                    <a:lstStyle/>
                    <a:p>
                      <a:pPr algn="l"/>
                      <a:r>
                        <a:rPr sz="1050" b="0" i="0">
                          <a:solidFill>
                            <a:srgbClr val="000000"/>
                          </a:solidFill>
                          <a:latin typeface="Calibri"/>
                        </a:rPr>
                        <a:t>Table 62: Middle East &amp; Africa Market Attractiveness Index by Barrier Level Vs Application, 2026–2036</a:t>
                      </a:r>
                      <a:endParaRPr sz="1050"/>
                    </a:p>
                  </a:txBody>
                  <a:tcPr marL="9525" marR="9525" marT="9525" marB="0" anchor="ctr"/>
                </a:tc>
              </a:tr>
              <a:tr h="348152">
                <a:tc>
                  <a:txBody>
                    <a:bodyPr wrap="square"/>
                    <a:lstStyle/>
                    <a:p>
                      <a:pPr algn="l"/>
                      <a:r>
                        <a:rPr sz="1050" b="0" i="0">
                          <a:solidFill>
                            <a:srgbClr val="000000"/>
                          </a:solidFill>
                          <a:latin typeface="Calibri"/>
                        </a:rPr>
                        <a:t>Table 63: Middle East &amp; Africa Market Value and YoY Growth, Rollstock Films (Product Type), US$ Mn and %, 2021–2036</a:t>
                      </a:r>
                      <a:endParaRPr sz="1050"/>
                    </a:p>
                  </a:txBody>
                  <a:tcPr marL="9525" marR="9525" marT="9525" marB="0" anchor="ctr"/>
                </a:tc>
              </a:tr>
              <a:tr h="348152">
                <a:tc>
                  <a:txBody>
                    <a:bodyPr wrap="square"/>
                    <a:lstStyle/>
                    <a:p>
                      <a:pPr algn="l"/>
                      <a:r>
                        <a:rPr sz="1050" b="0" i="0">
                          <a:solidFill>
                            <a:srgbClr val="000000"/>
                          </a:solidFill>
                          <a:latin typeface="Calibri"/>
                        </a:rPr>
                        <a:t>Table 64: Middle East &amp; Africa Market Value and YoY Growth, PE-Based (Principal Material / Barrier Technology), US$ Mn and %, 2021–2036</a:t>
                      </a:r>
                      <a:endParaRPr sz="1050"/>
                    </a:p>
                  </a:txBody>
                  <a:tcPr marL="9525" marR="9525" marT="9525" marB="0" anchor="ctr"/>
                </a:tc>
              </a:tr>
              <a:tr h="348152">
                <a:tc>
                  <a:txBody>
                    <a:bodyPr wrap="square"/>
                    <a:lstStyle/>
                    <a:p>
                      <a:pPr algn="l"/>
                      <a:r>
                        <a:rPr sz="1050" b="0" i="0">
                          <a:solidFill>
                            <a:srgbClr val="000000"/>
                          </a:solidFill>
                          <a:latin typeface="Calibri"/>
                        </a:rPr>
                        <a:t>Table 65: Middle East &amp; Africa Market Value and YoY Growth, Monolayer Films (Material Structure), US$ Mn and %, 2021–2036</a:t>
                      </a:r>
                      <a:endParaRPr sz="1050"/>
                    </a:p>
                  </a:txBody>
                  <a:tcPr marL="9525" marR="9525" marT="9525" marB="0" anchor="ctr"/>
                </a:tc>
              </a:tr>
              <a:tr h="348152">
                <a:tc>
                  <a:txBody>
                    <a:bodyPr wrap="square"/>
                    <a:lstStyle/>
                    <a:p>
                      <a:pPr algn="l"/>
                      <a:r>
                        <a:rPr sz="1050" b="0" i="0">
                          <a:solidFill>
                            <a:srgbClr val="000000"/>
                          </a:solidFill>
                          <a:latin typeface="Calibri"/>
                        </a:rPr>
                        <a:t>Table 66: Middle East &amp; Africa Market Value and YoY Growth, Low-Barrier Films (Barrier Level), US$ Mn and %, 2021–2036</a:t>
                      </a:r>
                      <a:endParaRPr sz="1050"/>
                    </a:p>
                  </a:txBody>
                  <a:tcPr marL="9525" marR="9525" marT="9525" marB="0" anchor="ctr"/>
                </a:tc>
              </a:tr>
              <a:tr h="348152">
                <a:tc>
                  <a:txBody>
                    <a:bodyPr wrap="square"/>
                    <a:lstStyle/>
                    <a:p>
                      <a:pPr algn="l"/>
                      <a:r>
                        <a:rPr sz="1050" b="0" i="0">
                          <a:solidFill>
                            <a:srgbClr val="000000"/>
                          </a:solidFill>
                          <a:latin typeface="Calibri"/>
                        </a:rPr>
                        <a:t>Table 67: Middle East &amp; Africa Market Value and YoY Growth, Food Packaging (Application), US$ Mn and %, 2021–2036</a:t>
                      </a:r>
                      <a:endParaRPr sz="1050"/>
                    </a:p>
                  </a:txBody>
                  <a:tcPr marL="9525" marR="9525" marT="9525" marB="0" anchor="ctr"/>
                </a:tc>
              </a:tr>
              <a:tr h="348152">
                <a:tc>
                  <a:txBody>
                    <a:bodyPr wrap="square"/>
                    <a:lstStyle/>
                    <a:p>
                      <a:pPr algn="l"/>
                      <a:r>
                        <a:rPr sz="1050" b="0" i="0">
                          <a:solidFill>
                            <a:srgbClr val="000000"/>
                          </a:solidFill>
                          <a:latin typeface="Calibri"/>
                        </a:rPr>
                        <a:t>Table 68: Middle East &amp; Africa Market Value and YoY Growth, Low-Barrier Films (Barrier Level Vs Application),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338990">
                <a:tc>
                  <a:txBody>
                    <a:bodyPr wrap="square"/>
                    <a:lstStyle/>
                    <a:p>
                      <a:pPr algn="l"/>
                      <a:r>
                        <a:rPr sz="1050" b="0" i="0">
                          <a:solidFill>
                            <a:srgbClr val="000000"/>
                          </a:solidFill>
                          <a:latin typeface="Calibri"/>
                        </a:rPr>
                        <a:t>Table 69: Middle East &amp; Africa Market Value and YoY Growth, Barrier Casings (Product Type), US$ Mn and %, 2021–2036</a:t>
                      </a:r>
                      <a:endParaRPr sz="1050"/>
                    </a:p>
                  </a:txBody>
                  <a:tcPr marL="9525" marR="9525" marT="9525" marB="0" anchor="ctr"/>
                </a:tc>
              </a:tr>
              <a:tr h="338990">
                <a:tc>
                  <a:txBody>
                    <a:bodyPr wrap="square"/>
                    <a:lstStyle/>
                    <a:p>
                      <a:pPr algn="l"/>
                      <a:r>
                        <a:rPr sz="1050" b="0" i="0">
                          <a:solidFill>
                            <a:srgbClr val="000000"/>
                          </a:solidFill>
                          <a:latin typeface="Calibri"/>
                        </a:rPr>
                        <a:t>Table 70: Middle East &amp; Africa Market Value and YoY Growth, PP-Based (Principal Material / Barrier Technology), US$ Mn and %, 2021–2036</a:t>
                      </a:r>
                      <a:endParaRPr sz="1050"/>
                    </a:p>
                  </a:txBody>
                  <a:tcPr marL="9525" marR="9525" marT="9525" marB="0" anchor="ctr"/>
                </a:tc>
              </a:tr>
              <a:tr h="338990">
                <a:tc>
                  <a:txBody>
                    <a:bodyPr wrap="square"/>
                    <a:lstStyle/>
                    <a:p>
                      <a:pPr algn="l"/>
                      <a:r>
                        <a:rPr sz="1050" b="0" i="0">
                          <a:solidFill>
                            <a:srgbClr val="000000"/>
                          </a:solidFill>
                          <a:latin typeface="Calibri"/>
                        </a:rPr>
                        <a:t>Table 71: Middle East &amp; Africa Market Value and YoY Growth, Coextruded Multilayer Films (Material Structure), US$ Mn and %, 2021–2036</a:t>
                      </a:r>
                      <a:endParaRPr sz="1050"/>
                    </a:p>
                  </a:txBody>
                  <a:tcPr marL="9525" marR="9525" marT="9525" marB="0" anchor="ctr"/>
                </a:tc>
              </a:tr>
              <a:tr h="338990">
                <a:tc>
                  <a:txBody>
                    <a:bodyPr wrap="square"/>
                    <a:lstStyle/>
                    <a:p>
                      <a:pPr algn="l"/>
                      <a:r>
                        <a:rPr sz="1050" b="0" i="0">
                          <a:solidFill>
                            <a:srgbClr val="000000"/>
                          </a:solidFill>
                          <a:latin typeface="Calibri"/>
                        </a:rPr>
                        <a:t>Table 72: Middle East &amp; Africa Market Value and YoY Growth, Medium-Barrier Films (Barrier Level), US$ Mn and %, 2021–2036</a:t>
                      </a:r>
                      <a:endParaRPr sz="1050"/>
                    </a:p>
                  </a:txBody>
                  <a:tcPr marL="9525" marR="9525" marT="9525" marB="0" anchor="ctr"/>
                </a:tc>
              </a:tr>
              <a:tr h="338990">
                <a:tc>
                  <a:txBody>
                    <a:bodyPr wrap="square"/>
                    <a:lstStyle/>
                    <a:p>
                      <a:pPr algn="l"/>
                      <a:r>
                        <a:rPr sz="1050" b="0" i="0">
                          <a:solidFill>
                            <a:srgbClr val="000000"/>
                          </a:solidFill>
                          <a:latin typeface="Calibri"/>
                        </a:rPr>
                        <a:t>Table 73: Middle East &amp; Africa Market Value and YoY Growth, Non-Food Packaging (Application), US$ Mn and %, 2021–2036</a:t>
                      </a:r>
                      <a:endParaRPr sz="1050"/>
                    </a:p>
                  </a:txBody>
                  <a:tcPr marL="9525" marR="9525" marT="9525" marB="0" anchor="ctr"/>
                </a:tc>
              </a:tr>
              <a:tr h="338990">
                <a:tc>
                  <a:txBody>
                    <a:bodyPr wrap="square"/>
                    <a:lstStyle/>
                    <a:p>
                      <a:pPr algn="l"/>
                      <a:r>
                        <a:rPr sz="1050" b="0" i="0">
                          <a:solidFill>
                            <a:srgbClr val="000000"/>
                          </a:solidFill>
                          <a:latin typeface="Calibri"/>
                        </a:rPr>
                        <a:t>Table 74: Middle East &amp; Africa Market Value and YoY Growth, Medium-Barrier Films (Barrier Level Vs Application), US$ Mn and %, 2021–2036</a:t>
                      </a:r>
                      <a:endParaRPr sz="1050"/>
                    </a:p>
                  </a:txBody>
                  <a:tcPr marL="9525" marR="9525" marT="9525" marB="0" anchor="ctr"/>
                </a:tc>
              </a:tr>
              <a:tr h="338990">
                <a:tc>
                  <a:txBody>
                    <a:bodyPr wrap="square"/>
                    <a:lstStyle/>
                    <a:p>
                      <a:pPr algn="l"/>
                      <a:r>
                        <a:rPr sz="1050" b="0" i="0">
                          <a:solidFill>
                            <a:srgbClr val="000000"/>
                          </a:solidFill>
                          <a:latin typeface="Calibri"/>
                        </a:rPr>
                        <a:t>Table 75: Middle East &amp; Africa Market Value and YoY Growth, Premade Pouches &amp; Bags (Product Type), US$ Mn and %, 2021–2036</a:t>
                      </a:r>
                      <a:endParaRPr sz="1050"/>
                    </a:p>
                  </a:txBody>
                  <a:tcPr marL="9525" marR="9525" marT="9525" marB="0" anchor="ctr"/>
                </a:tc>
              </a:tr>
              <a:tr h="338990">
                <a:tc>
                  <a:txBody>
                    <a:bodyPr wrap="square"/>
                    <a:lstStyle/>
                    <a:p>
                      <a:pPr algn="l"/>
                      <a:r>
                        <a:rPr sz="1050" b="0" i="0">
                          <a:solidFill>
                            <a:srgbClr val="000000"/>
                          </a:solidFill>
                          <a:latin typeface="Calibri"/>
                        </a:rPr>
                        <a:t>Table 76: Middle East &amp; Africa Market Value and YoY Growth, PET-Based (Principal Material / Barrier Technology), US$ Mn and %, 2021–2036</a:t>
                      </a:r>
                      <a:endParaRPr sz="1050"/>
                    </a:p>
                  </a:txBody>
                  <a:tcPr marL="9525" marR="9525" marT="9525" marB="0" anchor="ctr"/>
                </a:tc>
              </a:tr>
              <a:tr h="338990">
                <a:tc>
                  <a:txBody>
                    <a:bodyPr wrap="square"/>
                    <a:lstStyle/>
                    <a:p>
                      <a:pPr algn="l"/>
                      <a:r>
                        <a:rPr sz="1050" b="0" i="0">
                          <a:solidFill>
                            <a:srgbClr val="000000"/>
                          </a:solidFill>
                          <a:latin typeface="Calibri"/>
                        </a:rPr>
                        <a:t>Table 77: Middle East &amp; Africa Market Value and YoY Growth, Laminated Films (Material Structure), US$ Mn and %, 2021–2036</a:t>
                      </a:r>
                      <a:endParaRPr sz="1050"/>
                    </a:p>
                  </a:txBody>
                  <a:tcPr marL="9525" marR="9525" marT="9525" marB="0" anchor="ctr"/>
                </a:tc>
              </a:tr>
              <a:tr h="338990">
                <a:tc>
                  <a:txBody>
                    <a:bodyPr wrap="square"/>
                    <a:lstStyle/>
                    <a:p>
                      <a:pPr algn="l"/>
                      <a:r>
                        <a:rPr sz="1050" b="0" i="0">
                          <a:solidFill>
                            <a:srgbClr val="000000"/>
                          </a:solidFill>
                          <a:latin typeface="Calibri"/>
                        </a:rPr>
                        <a:t>Table 78: Middle East &amp; Africa Market Value and YoY Growth, High-Barrier Films (Barrier Level), US$ Mn and %, 2021–2036</a:t>
                      </a:r>
                      <a:endParaRPr sz="1050"/>
                    </a:p>
                  </a:txBody>
                  <a:tcPr marL="9525" marR="9525" marT="9525" marB="0" anchor="ctr"/>
                </a:tc>
              </a:tr>
              <a:tr h="172954">
                <a:tc>
                  <a:txBody>
                    <a:bodyPr wrap="square"/>
                    <a:lstStyle/>
                    <a:p>
                      <a:pPr algn="l"/>
                      <a:r>
                        <a:rPr sz="1050" b="0" i="0">
                          <a:solidFill>
                            <a:srgbClr val="000000"/>
                          </a:solidFill>
                          <a:latin typeface="Calibri"/>
                        </a:rPr>
                        <a:t>Table 79: Middle East &amp; Africa Market Value by Application by Scenario, US$ Mn, 2036</a:t>
                      </a:r>
                      <a:endParaRPr sz="1050"/>
                    </a:p>
                  </a:txBody>
                  <a:tcPr marL="9525" marR="9525" marT="9525" marB="0" anchor="ctr"/>
                </a:tc>
              </a:tr>
              <a:tr h="338990">
                <a:tc>
                  <a:txBody>
                    <a:bodyPr wrap="square"/>
                    <a:lstStyle/>
                    <a:p>
                      <a:pPr algn="l"/>
                      <a:r>
                        <a:rPr sz="1050" b="0" i="0">
                          <a:solidFill>
                            <a:srgbClr val="000000"/>
                          </a:solidFill>
                          <a:latin typeface="Calibri"/>
                        </a:rPr>
                        <a:t>Table 80: Middle East &amp; Africa Market Value and YoY Growth, High-Barrier Films (Barrier Level Vs Application), US$ Mn and %, 2021–2036</a:t>
                      </a:r>
                      <a:endParaRPr sz="1050"/>
                    </a:p>
                  </a:txBody>
                  <a:tcPr marL="9525" marR="9525" marT="9525" marB="0" anchor="ctr"/>
                </a:tc>
              </a:tr>
              <a:tr h="338990">
                <a:tc>
                  <a:txBody>
                    <a:bodyPr wrap="square"/>
                    <a:lstStyle/>
                    <a:p>
                      <a:pPr algn="l"/>
                      <a:r>
                        <a:rPr sz="1050" b="0" i="0">
                          <a:solidFill>
                            <a:srgbClr val="000000"/>
                          </a:solidFill>
                          <a:latin typeface="Calibri"/>
                        </a:rPr>
                        <a:t>Table 81: Middle East &amp; Africa Market Value and YoY Growth, Sachets &amp; Stick Packs (Product Type), US$ Mn and %, 2021–2036</a:t>
                      </a:r>
                      <a:endParaRPr sz="1050"/>
                    </a:p>
                  </a:txBody>
                  <a:tcPr marL="9525" marR="9525" marT="9525" marB="0" anchor="ctr"/>
                </a:tc>
              </a:tr>
              <a:tr h="338990">
                <a:tc>
                  <a:txBody>
                    <a:bodyPr wrap="square"/>
                    <a:lstStyle/>
                    <a:p>
                      <a:pPr algn="l"/>
                      <a:r>
                        <a:rPr sz="1050" b="0" i="0">
                          <a:solidFill>
                            <a:srgbClr val="000000"/>
                          </a:solidFill>
                          <a:latin typeface="Calibri"/>
                        </a:rPr>
                        <a:t>Table 82: Middle East &amp; Africa Market Value and YoY Growth, PA-Based (Principal Material / Barrier Technology), US$ Mn and %, 2021–2036</a:t>
                      </a:r>
                      <a:endParaRPr sz="1050"/>
                    </a:p>
                  </a:txBody>
                  <a:tcPr marL="9525" marR="9525" marT="9525" marB="0" anchor="ctr"/>
                </a:tc>
              </a:tr>
              <a:tr h="338990">
                <a:tc>
                  <a:txBody>
                    <a:bodyPr wrap="square"/>
                    <a:lstStyle/>
                    <a:p>
                      <a:pPr algn="l"/>
                      <a:r>
                        <a:rPr sz="1050" b="0" i="0">
                          <a:solidFill>
                            <a:srgbClr val="000000"/>
                          </a:solidFill>
                          <a:latin typeface="Calibri"/>
                        </a:rPr>
                        <a:t>Table 83: Middle East &amp; Africa Market Value and YoY Growth, Coated Films (Material Structure), US$ Mn and %, 2021–2036</a:t>
                      </a:r>
                      <a:endParaRPr sz="1050"/>
                    </a:p>
                  </a:txBody>
                  <a:tcPr marL="9525" marR="9525" marT="9525" marB="0" anchor="ctr"/>
                </a:tc>
              </a:tr>
              <a:tr h="338990">
                <a:tc>
                  <a:txBody>
                    <a:bodyPr wrap="square"/>
                    <a:lstStyle/>
                    <a:p>
                      <a:pPr algn="l"/>
                      <a:r>
                        <a:rPr sz="1050" b="0" i="0">
                          <a:solidFill>
                            <a:srgbClr val="000000"/>
                          </a:solidFill>
                          <a:latin typeface="Calibri"/>
                        </a:rPr>
                        <a:t>Table 84: Middle East &amp; Africa Market Value and YoY Growth, Ultra-High-Barrier Films (Barrier Level), US$ Mn and %,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(3/5)</a:t>
            </a:r>
          </a:p>
        </p:txBody>
      </p:sp>
      <p:graphicFrame>
        <p:nvGraphicFramePr>
          <p:cNvPr id="9" name="FMI Contents Table"/>
          <p:cNvGraphicFramePr>
            <a:graphicFrameLocks noGrp="1"/>
          </p:cNvGraphicFramePr>
          <p:nvPr/>
        </p:nvGraphicFramePr>
        <p:xfrm>
          <a:off x="142875" y="981075"/>
          <a:ext cx="5876925" cy="5257796"/>
        </p:xfrm>
        <a:graphic>
          <a:graphicData uri="http://schemas.openxmlformats.org/drawingml/2006/table">
            <a:tbl>
              <a:tblPr>
                <a:tableStyleId>{3B4B98B0-60AC-42C2-AFA5-B58CD77FA1E5}</a:tableStyleId>
              </a:tblPr>
              <a:tblGrid>
                <a:gridCol w="5876925"/>
              </a:tblGrid>
              <a:tr h="327776">
                <a:tc>
                  <a:txBody>
                    <a:bodyPr wrap="square"/>
                    <a:lstStyle/>
                    <a:p>
                      <a:pPr algn="l"/>
                      <a:r>
                        <a:rPr sz="1050" b="0" i="0">
                          <a:solidFill>
                            <a:srgbClr val="000000"/>
                          </a:solidFill>
                          <a:latin typeface="Calibri"/>
                        </a:rPr>
                        <a:t>Table 85: Middle East &amp; Africa Market Value and YoY Growth, Ultra-High-Barrier Films (Barrier Level Vs Application), US$ Mn and %, 2021–2036</a:t>
                      </a:r>
                      <a:endParaRPr sz="1050"/>
                    </a:p>
                  </a:txBody>
                  <a:tcPr marL="9525" marR="9525" marT="9525" marB="0" anchor="ctr"/>
                </a:tc>
              </a:tr>
              <a:tr h="167233">
                <a:tc>
                  <a:txBody>
                    <a:bodyPr wrap="square"/>
                    <a:lstStyle/>
                    <a:p>
                      <a:pPr algn="l"/>
                      <a:r>
                        <a:rPr sz="1050" b="0" i="0">
                          <a:solidFill>
                            <a:srgbClr val="000000"/>
                          </a:solidFill>
                          <a:latin typeface="Calibri"/>
                        </a:rPr>
                        <a:t>Table 86: Middle East &amp; Africa Market Value by Product Type by Scenario, US$ Mn, 2036</a:t>
                      </a:r>
                      <a:endParaRPr sz="1050"/>
                    </a:p>
                  </a:txBody>
                  <a:tcPr marL="9525" marR="9525" marT="9525" marB="0" anchor="ctr"/>
                </a:tc>
              </a:tr>
              <a:tr h="327776">
                <a:tc>
                  <a:txBody>
                    <a:bodyPr wrap="square"/>
                    <a:lstStyle/>
                    <a:p>
                      <a:pPr algn="l"/>
                      <a:r>
                        <a:rPr sz="1050" b="0" i="0">
                          <a:solidFill>
                            <a:srgbClr val="000000"/>
                          </a:solidFill>
                          <a:latin typeface="Calibri"/>
                        </a:rPr>
                        <a:t>Table 87: Middle East &amp; Africa Market Value and YoY Growth, EVOH-Based (Principal Material / Barrier Technology), US$ Mn and %, 2021–2036</a:t>
                      </a:r>
                      <a:endParaRPr sz="1050"/>
                    </a:p>
                  </a:txBody>
                  <a:tcPr marL="9525" marR="9525" marT="9525" marB="0" anchor="ctr"/>
                </a:tc>
              </a:tr>
              <a:tr h="327776">
                <a:tc>
                  <a:txBody>
                    <a:bodyPr wrap="square"/>
                    <a:lstStyle/>
                    <a:p>
                      <a:pPr algn="l"/>
                      <a:r>
                        <a:rPr sz="1050" b="0" i="0">
                          <a:solidFill>
                            <a:srgbClr val="000000"/>
                          </a:solidFill>
                          <a:latin typeface="Calibri"/>
                        </a:rPr>
                        <a:t>Table 88: Middle East &amp; Africa Market Value and YoY Growth, Metallized Films (Material Structure), US$ Mn and %, 2021–2036</a:t>
                      </a:r>
                      <a:endParaRPr sz="1050"/>
                    </a:p>
                  </a:txBody>
                  <a:tcPr marL="9525" marR="9525" marT="9525" marB="0" anchor="ctr"/>
                </a:tc>
              </a:tr>
              <a:tr h="327776">
                <a:tc>
                  <a:txBody>
                    <a:bodyPr wrap="square"/>
                    <a:lstStyle/>
                    <a:p>
                      <a:pPr algn="l"/>
                      <a:r>
                        <a:rPr sz="1050" b="0" i="0">
                          <a:solidFill>
                            <a:srgbClr val="000000"/>
                          </a:solidFill>
                          <a:latin typeface="Calibri"/>
                        </a:rPr>
                        <a:t>Table 89: Middle East &amp; Africa Market Value by Product Type and Principal Material / Barrier Technology, US$ Mn, 2026–2036</a:t>
                      </a:r>
                      <a:endParaRPr sz="1050"/>
                    </a:p>
                  </a:txBody>
                  <a:tcPr marL="9525" marR="9525" marT="9525" marB="0" anchor="ctr"/>
                </a:tc>
              </a:tr>
              <a:tr h="327776">
                <a:tc>
                  <a:txBody>
                    <a:bodyPr wrap="square"/>
                    <a:lstStyle/>
                    <a:p>
                      <a:pPr algn="l"/>
                      <a:r>
                        <a:rPr sz="1050" b="0" i="0">
                          <a:solidFill>
                            <a:srgbClr val="000000"/>
                          </a:solidFill>
                          <a:latin typeface="Calibri"/>
                        </a:rPr>
                        <a:t>Table 90: Middle East &amp; Africa Market Value by Product Type and Material Structure, US$ Mn, 2026–2036</a:t>
                      </a:r>
                      <a:endParaRPr sz="1050"/>
                    </a:p>
                  </a:txBody>
                  <a:tcPr marL="9525" marR="9525" marT="9525" marB="0" anchor="ctr"/>
                </a:tc>
              </a:tr>
              <a:tr h="167233">
                <a:tc>
                  <a:txBody>
                    <a:bodyPr wrap="square"/>
                    <a:lstStyle/>
                    <a:p>
                      <a:pPr algn="l"/>
                      <a:r>
                        <a:rPr sz="1050" b="0" i="0">
                          <a:solidFill>
                            <a:srgbClr val="000000"/>
                          </a:solidFill>
                          <a:latin typeface="Calibri"/>
                        </a:rPr>
                        <a:t>Table 91: Middle East &amp; Africa Market Value by Product Type and Barrier Level, US$ Mn, 2026–2036</a:t>
                      </a:r>
                      <a:endParaRPr sz="1050"/>
                    </a:p>
                  </a:txBody>
                  <a:tcPr marL="9525" marR="9525" marT="9525" marB="0" anchor="ctr"/>
                </a:tc>
              </a:tr>
              <a:tr h="167233">
                <a:tc>
                  <a:txBody>
                    <a:bodyPr wrap="square"/>
                    <a:lstStyle/>
                    <a:p>
                      <a:pPr algn="l"/>
                      <a:r>
                        <a:rPr sz="1050" b="0" i="0">
                          <a:solidFill>
                            <a:srgbClr val="000000"/>
                          </a:solidFill>
                          <a:latin typeface="Calibri"/>
                        </a:rPr>
                        <a:t>Table 92: Middle East &amp; Africa Market Value by Product Type and Application, US$ Mn, 2026–2036</a:t>
                      </a:r>
                      <a:endParaRPr sz="1050"/>
                    </a:p>
                  </a:txBody>
                  <a:tcPr marL="9525" marR="9525" marT="9525" marB="0" anchor="ctr"/>
                </a:tc>
              </a:tr>
              <a:tr h="327776">
                <a:tc>
                  <a:txBody>
                    <a:bodyPr wrap="square"/>
                    <a:lstStyle/>
                    <a:p>
                      <a:pPr algn="l"/>
                      <a:r>
                        <a:rPr sz="1050" b="0" i="0">
                          <a:solidFill>
                            <a:srgbClr val="000000"/>
                          </a:solidFill>
                          <a:latin typeface="Calibri"/>
                        </a:rPr>
                        <a:t>Table 93: Middle East &amp; Africa Market Value by Product Type and Barrier Level Vs Application, US$ Mn, 2026–2036</a:t>
                      </a:r>
                      <a:endParaRPr sz="1050"/>
                    </a:p>
                  </a:txBody>
                  <a:tcPr marL="9525" marR="9525" marT="9525" marB="0" anchor="ctr"/>
                </a:tc>
              </a:tr>
              <a:tr h="327776">
                <a:tc>
                  <a:txBody>
                    <a:bodyPr wrap="square"/>
                    <a:lstStyle/>
                    <a:p>
                      <a:pPr algn="l"/>
                      <a:r>
                        <a:rPr sz="1050" b="0" i="0">
                          <a:solidFill>
                            <a:srgbClr val="000000"/>
                          </a:solidFill>
                          <a:latin typeface="Calibri"/>
                        </a:rPr>
                        <a:t>Table 94: Middle East &amp; Africa Market Value by Principal Material / Barrier Technology and Material Structure, US$ Mn, 2026–2036</a:t>
                      </a:r>
                      <a:endParaRPr sz="1050"/>
                    </a:p>
                  </a:txBody>
                  <a:tcPr marL="9525" marR="9525" marT="9525" marB="0" anchor="ctr"/>
                </a:tc>
              </a:tr>
              <a:tr h="327776">
                <a:tc>
                  <a:txBody>
                    <a:bodyPr wrap="square"/>
                    <a:lstStyle/>
                    <a:p>
                      <a:pPr algn="l"/>
                      <a:r>
                        <a:rPr sz="1050" b="0" i="0">
                          <a:solidFill>
                            <a:srgbClr val="000000"/>
                          </a:solidFill>
                          <a:latin typeface="Calibri"/>
                        </a:rPr>
                        <a:t>Table 95: Middle East &amp; Africa Market Value by Principal Material / Barrier Technology and Barrier Level, US$ Mn, 2026–2036</a:t>
                      </a:r>
                      <a:endParaRPr sz="1050"/>
                    </a:p>
                  </a:txBody>
                  <a:tcPr marL="9525" marR="9525" marT="9525" marB="0" anchor="ctr"/>
                </a:tc>
              </a:tr>
              <a:tr h="327776">
                <a:tc>
                  <a:txBody>
                    <a:bodyPr wrap="square"/>
                    <a:lstStyle/>
                    <a:p>
                      <a:pPr algn="l"/>
                      <a:r>
                        <a:rPr sz="1050" b="0" i="0">
                          <a:solidFill>
                            <a:srgbClr val="000000"/>
                          </a:solidFill>
                          <a:latin typeface="Calibri"/>
                        </a:rPr>
                        <a:t>Table 96: Middle East &amp; Africa Market Value by Principal Material / Barrier Technology and Application, US$ Mn, 2026–2036</a:t>
                      </a:r>
                      <a:endParaRPr sz="1050"/>
                    </a:p>
                  </a:txBody>
                  <a:tcPr marL="9525" marR="9525" marT="9525" marB="0" anchor="ctr"/>
                </a:tc>
              </a:tr>
              <a:tr h="327776">
                <a:tc>
                  <a:txBody>
                    <a:bodyPr wrap="square"/>
                    <a:lstStyle/>
                    <a:p>
                      <a:pPr algn="l"/>
                      <a:r>
                        <a:rPr sz="1050" b="0" i="0">
                          <a:solidFill>
                            <a:srgbClr val="000000"/>
                          </a:solidFill>
                          <a:latin typeface="Calibri"/>
                        </a:rPr>
                        <a:t>Table 97: Middle East &amp; Africa Market Value by Principal Material / Barrier Technology and Barrier Level Vs Application, US$ Mn, 2026–2036</a:t>
                      </a:r>
                      <a:endParaRPr sz="1050"/>
                    </a:p>
                  </a:txBody>
                  <a:tcPr marL="9525" marR="9525" marT="9525" marB="0" anchor="ctr"/>
                </a:tc>
              </a:tr>
              <a:tr h="327776">
                <a:tc>
                  <a:txBody>
                    <a:bodyPr wrap="square"/>
                    <a:lstStyle/>
                    <a:p>
                      <a:pPr algn="l"/>
                      <a:r>
                        <a:rPr sz="1050" b="0" i="0">
                          <a:solidFill>
                            <a:srgbClr val="000000"/>
                          </a:solidFill>
                          <a:latin typeface="Calibri"/>
                        </a:rPr>
                        <a:t>Table 98: Middle East &amp; Africa Market Value by Material Structure and Barrier Level, US$ Mn, 2026–2036</a:t>
                      </a:r>
                      <a:endParaRPr sz="1050"/>
                    </a:p>
                  </a:txBody>
                  <a:tcPr marL="9525" marR="9525" marT="9525" marB="0" anchor="ctr"/>
                </a:tc>
              </a:tr>
              <a:tr h="327776">
                <a:tc>
                  <a:txBody>
                    <a:bodyPr wrap="square"/>
                    <a:lstStyle/>
                    <a:p>
                      <a:pPr algn="l"/>
                      <a:r>
                        <a:rPr sz="1050" b="0" i="0">
                          <a:solidFill>
                            <a:srgbClr val="000000"/>
                          </a:solidFill>
                          <a:latin typeface="Calibri"/>
                        </a:rPr>
                        <a:t>Table 99: Middle East &amp; Africa Market Value by Material Structure and Application, US$ Mn, 2026–2036</a:t>
                      </a:r>
                      <a:endParaRPr sz="1050"/>
                    </a:p>
                  </a:txBody>
                  <a:tcPr marL="9525" marR="9525" marT="9525" marB="0" anchor="ctr"/>
                </a:tc>
              </a:tr>
              <a:tr h="327776">
                <a:tc>
                  <a:txBody>
                    <a:bodyPr wrap="square"/>
                    <a:lstStyle/>
                    <a:p>
                      <a:pPr algn="l"/>
                      <a:r>
                        <a:rPr sz="1050" b="0" i="0">
                          <a:solidFill>
                            <a:srgbClr val="000000"/>
                          </a:solidFill>
                          <a:latin typeface="Calibri"/>
                        </a:rPr>
                        <a:t>Table 100: Middle East &amp; Africa Market Value by Material Structure and Barrier Level Vs Application, US$ Mn, 2026–2036</a:t>
                      </a:r>
                      <a:endParaRPr sz="1050"/>
                    </a:p>
                  </a:txBody>
                  <a:tcPr marL="9525" marR="9525" marT="9525" marB="0" anchor="ctr"/>
                </a:tc>
              </a:tr>
              <a:tr h="167233">
                <a:tc>
                  <a:txBody>
                    <a:bodyPr wrap="square"/>
                    <a:lstStyle/>
                    <a:p>
                      <a:pPr algn="l"/>
                      <a:r>
                        <a:rPr sz="1050" b="0" i="0">
                          <a:solidFill>
                            <a:srgbClr val="000000"/>
                          </a:solidFill>
                          <a:latin typeface="Calibri"/>
                        </a:rPr>
                        <a:t>Table 101: Middle East &amp; Africa Market Value by Barrier Level and Application, US$ Mn, 2026–2036</a:t>
                      </a:r>
                      <a:endParaRPr sz="1050"/>
                    </a:p>
                  </a:txBody>
                  <a:tcPr marL="9525" marR="9525" marT="9525" marB="0" anchor="ctr"/>
                </a:tc>
              </a:tr>
              <a:tr h="327776">
                <a:tc>
                  <a:txBody>
                    <a:bodyPr wrap="square"/>
                    <a:lstStyle/>
                    <a:p>
                      <a:pPr algn="l"/>
                      <a:r>
                        <a:rPr sz="1050" b="0" i="0">
                          <a:solidFill>
                            <a:srgbClr val="000000"/>
                          </a:solidFill>
                          <a:latin typeface="Calibri"/>
                        </a:rPr>
                        <a:t>Table 102: Middle East &amp; Africa Market Value by Barrier Level and Barrier Level Vs Application,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6334">
                <a:tc>
                  <a:txBody>
                    <a:bodyPr wrap="square"/>
                    <a:lstStyle/>
                    <a:p>
                      <a:pPr algn="l"/>
                      <a:r>
                        <a:rPr sz="1050" b="0" i="0">
                          <a:solidFill>
                            <a:srgbClr val="000000"/>
                          </a:solidFill>
                          <a:latin typeface="Calibri"/>
                        </a:rPr>
                        <a:t>Table 103: Middle East &amp; Africa Market Value by Application and Barrier Level Vs Application, US$ Mn, 2026–2036</a:t>
                      </a:r>
                      <a:endParaRPr sz="1050"/>
                    </a:p>
                  </a:txBody>
                  <a:tcPr marL="9525" marR="9525" marT="9525" marB="0" anchor="ctr"/>
                </a:tc>
              </a:tr>
              <a:tr h="336334">
                <a:tc>
                  <a:txBody>
                    <a:bodyPr wrap="square"/>
                    <a:lstStyle/>
                    <a:p>
                      <a:pPr algn="l"/>
                      <a:r>
                        <a:rPr sz="1050" b="0" i="0">
                          <a:solidFill>
                            <a:srgbClr val="000000"/>
                          </a:solidFill>
                          <a:latin typeface="Calibri"/>
                        </a:rPr>
                        <a:t>Table 104: Middle East &amp; Africa Market CAGR by Product Type and Principal Material / Barrier Technology, %, 2026–2036</a:t>
                      </a:r>
                      <a:endParaRPr sz="1050"/>
                    </a:p>
                  </a:txBody>
                  <a:tcPr marL="9525" marR="9525" marT="9525" marB="0" anchor="ctr"/>
                </a:tc>
              </a:tr>
              <a:tr h="171599">
                <a:tc>
                  <a:txBody>
                    <a:bodyPr wrap="square"/>
                    <a:lstStyle/>
                    <a:p>
                      <a:pPr algn="l"/>
                      <a:r>
                        <a:rPr sz="1050" b="0" i="0">
                          <a:solidFill>
                            <a:srgbClr val="000000"/>
                          </a:solidFill>
                          <a:latin typeface="Calibri"/>
                        </a:rPr>
                        <a:t>Table 105: Middle East &amp; Africa Market CAGR by Product Type and Material Structure, %, 2026–2036</a:t>
                      </a:r>
                      <a:endParaRPr sz="1050"/>
                    </a:p>
                  </a:txBody>
                  <a:tcPr marL="9525" marR="9525" marT="9525" marB="0" anchor="ctr"/>
                </a:tc>
              </a:tr>
              <a:tr h="171599">
                <a:tc>
                  <a:txBody>
                    <a:bodyPr wrap="square"/>
                    <a:lstStyle/>
                    <a:p>
                      <a:pPr algn="l"/>
                      <a:r>
                        <a:rPr sz="1050" b="0" i="0">
                          <a:solidFill>
                            <a:srgbClr val="000000"/>
                          </a:solidFill>
                          <a:latin typeface="Calibri"/>
                        </a:rPr>
                        <a:t>Table 106: Middle East &amp; Africa Market CAGR by Product Type and Barrier Level, %, 2026–2036</a:t>
                      </a:r>
                      <a:endParaRPr sz="1050"/>
                    </a:p>
                  </a:txBody>
                  <a:tcPr marL="9525" marR="9525" marT="9525" marB="0" anchor="ctr"/>
                </a:tc>
              </a:tr>
              <a:tr h="171599">
                <a:tc>
                  <a:txBody>
                    <a:bodyPr wrap="square"/>
                    <a:lstStyle/>
                    <a:p>
                      <a:pPr algn="l"/>
                      <a:r>
                        <a:rPr sz="1050" b="0" i="0">
                          <a:solidFill>
                            <a:srgbClr val="000000"/>
                          </a:solidFill>
                          <a:latin typeface="Calibri"/>
                        </a:rPr>
                        <a:t>Table 107: Middle East &amp; Africa Market CAGR by Product Type and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108: Middle East &amp; Africa Market CAGR by Product Type and Barrier Level Vs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109: Middle East &amp; Africa Market CAGR by Principal Material / Barrier Technology and Material Structure, %, 2026–2036</a:t>
                      </a:r>
                      <a:endParaRPr sz="1050"/>
                    </a:p>
                  </a:txBody>
                  <a:tcPr marL="9525" marR="9525" marT="9525" marB="0" anchor="ctr"/>
                </a:tc>
              </a:tr>
              <a:tr h="336334">
                <a:tc>
                  <a:txBody>
                    <a:bodyPr wrap="square"/>
                    <a:lstStyle/>
                    <a:p>
                      <a:pPr algn="l"/>
                      <a:r>
                        <a:rPr sz="1050" b="0" i="0">
                          <a:solidFill>
                            <a:srgbClr val="000000"/>
                          </a:solidFill>
                          <a:latin typeface="Calibri"/>
                        </a:rPr>
                        <a:t>Table 110: Middle East &amp; Africa Market CAGR by Principal Material / Barrier Technology and Barrier Level, %, 2026–2036</a:t>
                      </a:r>
                      <a:endParaRPr sz="1050"/>
                    </a:p>
                  </a:txBody>
                  <a:tcPr marL="9525" marR="9525" marT="9525" marB="0" anchor="ctr"/>
                </a:tc>
              </a:tr>
              <a:tr h="336334">
                <a:tc>
                  <a:txBody>
                    <a:bodyPr wrap="square"/>
                    <a:lstStyle/>
                    <a:p>
                      <a:pPr algn="l"/>
                      <a:r>
                        <a:rPr sz="1050" b="0" i="0">
                          <a:solidFill>
                            <a:srgbClr val="000000"/>
                          </a:solidFill>
                          <a:latin typeface="Calibri"/>
                        </a:rPr>
                        <a:t>Table 111: Middle East &amp; Africa Market CAGR by Principal Material / Barrier Technology and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112: Middle East &amp; Africa Market CAGR by Principal Material / Barrier Technology and Barrier Level Vs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113: Middle East &amp; Africa Market CAGR by Material Structure and Barrier Level, %, 2026–2036</a:t>
                      </a:r>
                      <a:endParaRPr sz="1050"/>
                    </a:p>
                  </a:txBody>
                  <a:tcPr marL="9525" marR="9525" marT="9525" marB="0" anchor="ctr"/>
                </a:tc>
              </a:tr>
              <a:tr h="171599">
                <a:tc>
                  <a:txBody>
                    <a:bodyPr wrap="square"/>
                    <a:lstStyle/>
                    <a:p>
                      <a:pPr algn="l"/>
                      <a:r>
                        <a:rPr sz="1050" b="0" i="0">
                          <a:solidFill>
                            <a:srgbClr val="000000"/>
                          </a:solidFill>
                          <a:latin typeface="Calibri"/>
                        </a:rPr>
                        <a:t>Table 114: Middle East &amp; Africa Market CAGR by Material Structure and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115: Middle East &amp; Africa Market CAGR by Material Structure and Barrier Level Vs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116: Middle East &amp; Africa Market CAGR by Barrier Level and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117: Middle East &amp; Africa Market CAGR by Barrier Level and Barrier Level Vs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118: Turkey Market Value by Product Type, US$ Mn, 2021–2036</a:t>
                      </a:r>
                      <a:endParaRPr sz="1050"/>
                    </a:p>
                  </a:txBody>
                  <a:tcPr marL="9525" marR="9525" marT="9525" marB="0" anchor="ctr"/>
                </a:tc>
              </a:tr>
              <a:tr h="171599">
                <a:tc>
                  <a:txBody>
                    <a:bodyPr wrap="square"/>
                    <a:lstStyle/>
                    <a:p>
                      <a:pPr algn="l"/>
                      <a:r>
                        <a:rPr sz="1050" b="0" i="0">
                          <a:solidFill>
                            <a:srgbClr val="000000"/>
                          </a:solidFill>
                          <a:latin typeface="Calibri"/>
                        </a:rPr>
                        <a:t>Table 119: Turkey Market Historical and Forecast Growth, %, 2021–2036</a:t>
                      </a:r>
                      <a:endParaRPr sz="1050"/>
                    </a:p>
                  </a:txBody>
                  <a:tcPr marL="9525" marR="9525" marT="9525" marB="0" anchor="ctr"/>
                </a:tc>
              </a:tr>
              <a:tr h="171599">
                <a:tc>
                  <a:txBody>
                    <a:bodyPr wrap="square"/>
                    <a:lstStyle/>
                    <a:p>
                      <a:pPr algn="l"/>
                      <a:r>
                        <a:rPr sz="1050" b="0" i="0">
                          <a:solidFill>
                            <a:srgbClr val="000000"/>
                          </a:solidFill>
                          <a:latin typeface="Calibri"/>
                        </a:rPr>
                        <a:t>Table 120: Turkey Market Value by Application, US$ Mn, 2021–2036</a:t>
                      </a:r>
                      <a:endParaRPr sz="1050"/>
                    </a:p>
                  </a:txBody>
                  <a:tcPr marL="9525" marR="9525" marT="9525" marB="0" anchor="ctr"/>
                </a:tc>
              </a:tr>
              <a:tr h="171599">
                <a:tc>
                  <a:txBody>
                    <a:bodyPr wrap="square"/>
                    <a:lstStyle/>
                    <a:p>
                      <a:pPr algn="l"/>
                      <a:r>
                        <a:rPr sz="1050" b="0" i="0">
                          <a:solidFill>
                            <a:srgbClr val="000000"/>
                          </a:solidFill>
                          <a:latin typeface="Calibri"/>
                        </a:rPr>
                        <a:t>Table 121: Turkey Market Share within Middle East &amp; Africa, %, 2025, 2026 and 2036</a:t>
                      </a:r>
                      <a:endParaRPr sz="1050"/>
                    </a:p>
                  </a:txBody>
                  <a:tcPr marL="9525" marR="9525" marT="9525" marB="0" anchor="ctr"/>
                </a:tc>
              </a:tr>
              <a:tr h="171599">
                <a:tc>
                  <a:txBody>
                    <a:bodyPr wrap="square"/>
                    <a:lstStyle/>
                    <a:p>
                      <a:pPr algn="l"/>
                      <a:r>
                        <a:rPr sz="1050" b="0" i="0">
                          <a:solidFill>
                            <a:srgbClr val="000000"/>
                          </a:solidFill>
                          <a:latin typeface="Calibri"/>
                        </a:rPr>
                        <a:t>Table 122: Turkey Market Value by Principal Material / Barrier Technology, US$ Mn, 2021–2036</a:t>
                      </a:r>
                      <a:endParaRPr sz="1050"/>
                    </a:p>
                  </a:txBody>
                  <a:tcPr marL="9525" marR="9525" marT="9525" marB="0" anchor="ctr"/>
                </a:tc>
              </a:tr>
              <a:tr h="171599">
                <a:tc>
                  <a:txBody>
                    <a:bodyPr wrap="square"/>
                    <a:lstStyle/>
                    <a:p>
                      <a:pPr algn="l"/>
                      <a:r>
                        <a:rPr sz="1050" b="0" i="0">
                          <a:solidFill>
                            <a:srgbClr val="000000"/>
                          </a:solidFill>
                          <a:latin typeface="Calibri"/>
                        </a:rPr>
                        <a:t>Table 123: Turkey Market Value by Material Structure, US$ Mn, 2021–2036</a:t>
                      </a:r>
                      <a:endParaRPr sz="1050"/>
                    </a:p>
                  </a:txBody>
                  <a:tcPr marL="9525" marR="9525" marT="9525" marB="0" anchor="ctr"/>
                </a:tc>
              </a:tr>
              <a:tr h="171599">
                <a:tc>
                  <a:txBody>
                    <a:bodyPr wrap="square"/>
                    <a:lstStyle/>
                    <a:p>
                      <a:pPr algn="l"/>
                      <a:r>
                        <a:rPr sz="1050" b="0" i="0">
                          <a:solidFill>
                            <a:srgbClr val="000000"/>
                          </a:solidFill>
                          <a:latin typeface="Calibri"/>
                        </a:rPr>
                        <a:t>Table 124: Turkey Market Value by Barrier Level, US$ Mn,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(4/5)</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125: Turkey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126: Turkey Market Volume by Product Type, Thousand MT, 2021–2036</a:t>
                      </a:r>
                      <a:endParaRPr sz="1050"/>
                    </a:p>
                  </a:txBody>
                  <a:tcPr marL="9525" marR="9525" marT="9525" marB="0" anchor="ctr"/>
                </a:tc>
              </a:tr>
              <a:tr h="169606">
                <a:tc>
                  <a:txBody>
                    <a:bodyPr wrap="square"/>
                    <a:lstStyle/>
                    <a:p>
                      <a:pPr algn="l"/>
                      <a:r>
                        <a:rPr sz="1050" b="0" i="0">
                          <a:solidFill>
                            <a:srgbClr val="000000"/>
                          </a:solidFill>
                          <a:latin typeface="Calibri"/>
                        </a:rPr>
                        <a:t>Table 127: Turkey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Table 128: Turkey Market Leading Suppliers and Brands, 2026</a:t>
                      </a:r>
                      <a:endParaRPr sz="1050"/>
                    </a:p>
                  </a:txBody>
                  <a:tcPr marL="9525" marR="9525" marT="9525" marB="0" anchor="ctr"/>
                </a:tc>
              </a:tr>
              <a:tr h="169606">
                <a:tc>
                  <a:txBody>
                    <a:bodyPr wrap="square"/>
                    <a:lstStyle/>
                    <a:p>
                      <a:pPr algn="l"/>
                      <a:r>
                        <a:rPr sz="1050" b="0" i="0">
                          <a:solidFill>
                            <a:srgbClr val="000000"/>
                          </a:solidFill>
                          <a:latin typeface="Calibri"/>
                        </a:rPr>
                        <a:t>Table 129: Saudi Arabia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130: Saudi Arabia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131: Saudi Arabia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132: Saudi Arabia Market Share within Middle East &amp; Africa,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133: Saudi Arabia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134: Saudi Arabia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135: Saudi Arabia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136: Saudi Arabia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137: Saudi Arabia Market Volume by Product Type, Thousand MT, 2021–2036</a:t>
                      </a:r>
                      <a:endParaRPr sz="1050"/>
                    </a:p>
                  </a:txBody>
                  <a:tcPr marL="9525" marR="9525" marT="9525" marB="0" anchor="ctr"/>
                </a:tc>
              </a:tr>
              <a:tr h="169606">
                <a:tc>
                  <a:txBody>
                    <a:bodyPr wrap="square"/>
                    <a:lstStyle/>
                    <a:p>
                      <a:pPr algn="l"/>
                      <a:r>
                        <a:rPr sz="1050" b="0" i="0">
                          <a:solidFill>
                            <a:srgbClr val="000000"/>
                          </a:solidFill>
                          <a:latin typeface="Calibri"/>
                        </a:rPr>
                        <a:t>Table 138: Saudi Arabia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Table 139: Saudi Arabia Market Leading Suppliers and Brands, 2026</a:t>
                      </a:r>
                      <a:endParaRPr sz="1050"/>
                    </a:p>
                  </a:txBody>
                  <a:tcPr marL="9525" marR="9525" marT="9525" marB="0" anchor="ctr"/>
                </a:tc>
              </a:tr>
              <a:tr h="169606">
                <a:tc>
                  <a:txBody>
                    <a:bodyPr wrap="square"/>
                    <a:lstStyle/>
                    <a:p>
                      <a:pPr algn="l"/>
                      <a:r>
                        <a:rPr sz="1050" b="0" i="0">
                          <a:solidFill>
                            <a:srgbClr val="000000"/>
                          </a:solidFill>
                          <a:latin typeface="Calibri"/>
                        </a:rPr>
                        <a:t>Table 140: UAE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141: UAE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142: UAE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143: UAE Market Share within Middle East &amp; Africa,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144: UAE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145: UAE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146: UAE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147: UAE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148: UAE Market Volume by Product Type, Thousand MT, 2021–2036</a:t>
                      </a:r>
                      <a:endParaRPr sz="1050"/>
                    </a:p>
                  </a:txBody>
                  <a:tcPr marL="9525" marR="9525" marT="9525" marB="0" anchor="ctr"/>
                </a:tc>
              </a:tr>
              <a:tr h="169606">
                <a:tc>
                  <a:txBody>
                    <a:bodyPr wrap="square"/>
                    <a:lstStyle/>
                    <a:p>
                      <a:pPr algn="l"/>
                      <a:r>
                        <a:rPr sz="1050" b="0" i="0">
                          <a:solidFill>
                            <a:srgbClr val="000000"/>
                          </a:solidFill>
                          <a:latin typeface="Calibri"/>
                        </a:rPr>
                        <a:t>Table 149: UAE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Table 150: South Africa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151: South Africa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152: South Africa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153: South Africa Market Share within Middle East &amp; Africa,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154: South Africa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155: South Africa Market Value by Material Structure,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0"/>
        </p:xfrm>
        <a:graphic>
          <a:graphicData uri="http://schemas.openxmlformats.org/drawingml/2006/table">
            <a:tbl>
              <a:tblPr>
                <a:tableStyleId>{3B4B98B0-60AC-42C2-AFA5-B58CD77FA1E5}</a:tableStyleId>
              </a:tblPr>
              <a:tblGrid>
                <a:gridCol w="5876925"/>
              </a:tblGrid>
              <a:tr h="170486">
                <a:tc>
                  <a:txBody>
                    <a:bodyPr wrap="square"/>
                    <a:lstStyle/>
                    <a:p>
                      <a:pPr algn="l"/>
                      <a:r>
                        <a:rPr sz="1050" b="0" i="0">
                          <a:solidFill>
                            <a:srgbClr val="000000"/>
                          </a:solidFill>
                          <a:latin typeface="Calibri"/>
                        </a:rPr>
                        <a:t>Table 156: South Africa Market Value by Barrier Level, US$ Mn, 2021–2036</a:t>
                      </a:r>
                      <a:endParaRPr sz="1050"/>
                    </a:p>
                  </a:txBody>
                  <a:tcPr marL="9525" marR="9525" marT="9525" marB="0" anchor="ctr"/>
                </a:tc>
              </a:tr>
              <a:tr h="170486">
                <a:tc>
                  <a:txBody>
                    <a:bodyPr wrap="square"/>
                    <a:lstStyle/>
                    <a:p>
                      <a:pPr algn="l"/>
                      <a:r>
                        <a:rPr sz="1050" b="0" i="0">
                          <a:solidFill>
                            <a:srgbClr val="000000"/>
                          </a:solidFill>
                          <a:latin typeface="Calibri"/>
                        </a:rPr>
                        <a:t>Table 157: South Africa Market Value by Barrier Level Vs Application, US$ Mn, 2021–2036</a:t>
                      </a:r>
                      <a:endParaRPr sz="1050"/>
                    </a:p>
                  </a:txBody>
                  <a:tcPr marL="9525" marR="9525" marT="9525" marB="0" anchor="ctr"/>
                </a:tc>
              </a:tr>
              <a:tr h="170486">
                <a:tc>
                  <a:txBody>
                    <a:bodyPr wrap="square"/>
                    <a:lstStyle/>
                    <a:p>
                      <a:pPr algn="l"/>
                      <a:r>
                        <a:rPr sz="1050" b="0" i="0">
                          <a:solidFill>
                            <a:srgbClr val="000000"/>
                          </a:solidFill>
                          <a:latin typeface="Calibri"/>
                        </a:rPr>
                        <a:t>Table 158: South Africa Market Volume by Product Type, Thousand MT, 2021–2036</a:t>
                      </a:r>
                      <a:endParaRPr sz="1050"/>
                    </a:p>
                  </a:txBody>
                  <a:tcPr marL="9525" marR="9525" marT="9525" marB="0" anchor="ctr"/>
                </a:tc>
              </a:tr>
              <a:tr h="170486">
                <a:tc>
                  <a:txBody>
                    <a:bodyPr wrap="square"/>
                    <a:lstStyle/>
                    <a:p>
                      <a:pPr algn="l"/>
                      <a:r>
                        <a:rPr sz="1050" b="0" i="0">
                          <a:solidFill>
                            <a:srgbClr val="000000"/>
                          </a:solidFill>
                          <a:latin typeface="Calibri"/>
                        </a:rPr>
                        <a:t>Table 159: South Africa Market Average Selling Price, US$/MT, 2021–2036</a:t>
                      </a:r>
                      <a:endParaRPr sz="1050"/>
                    </a:p>
                  </a:txBody>
                  <a:tcPr marL="9525" marR="9525" marT="9525" marB="0" anchor="ctr"/>
                </a:tc>
              </a:tr>
              <a:tr h="170486">
                <a:tc>
                  <a:txBody>
                    <a:bodyPr wrap="square"/>
                    <a:lstStyle/>
                    <a:p>
                      <a:pPr algn="l"/>
                      <a:r>
                        <a:rPr sz="1050" b="0" i="0">
                          <a:solidFill>
                            <a:srgbClr val="000000"/>
                          </a:solidFill>
                          <a:latin typeface="Calibri"/>
                        </a:rPr>
                        <a:t>Table 160: Israel Market Value by Product Type, US$ Mn, 2021–2036</a:t>
                      </a:r>
                      <a:endParaRPr sz="1050"/>
                    </a:p>
                  </a:txBody>
                  <a:tcPr marL="9525" marR="9525" marT="9525" marB="0" anchor="ctr"/>
                </a:tc>
              </a:tr>
              <a:tr h="170486">
                <a:tc>
                  <a:txBody>
                    <a:bodyPr wrap="square"/>
                    <a:lstStyle/>
                    <a:p>
                      <a:pPr algn="l"/>
                      <a:r>
                        <a:rPr sz="1050" b="0" i="0">
                          <a:solidFill>
                            <a:srgbClr val="000000"/>
                          </a:solidFill>
                          <a:latin typeface="Calibri"/>
                        </a:rPr>
                        <a:t>Table 161: Israel Market Historical and Forecast Growth, %, 2021–2036</a:t>
                      </a:r>
                      <a:endParaRPr sz="1050"/>
                    </a:p>
                  </a:txBody>
                  <a:tcPr marL="9525" marR="9525" marT="9525" marB="0" anchor="ctr"/>
                </a:tc>
              </a:tr>
              <a:tr h="170486">
                <a:tc>
                  <a:txBody>
                    <a:bodyPr wrap="square"/>
                    <a:lstStyle/>
                    <a:p>
                      <a:pPr algn="l"/>
                      <a:r>
                        <a:rPr sz="1050" b="0" i="0">
                          <a:solidFill>
                            <a:srgbClr val="000000"/>
                          </a:solidFill>
                          <a:latin typeface="Calibri"/>
                        </a:rPr>
                        <a:t>Table 162: Israel Market Value by Application, US$ Mn, 2021–2036</a:t>
                      </a:r>
                      <a:endParaRPr sz="1050"/>
                    </a:p>
                  </a:txBody>
                  <a:tcPr marL="9525" marR="9525" marT="9525" marB="0" anchor="ctr"/>
                </a:tc>
              </a:tr>
              <a:tr h="170486">
                <a:tc>
                  <a:txBody>
                    <a:bodyPr wrap="square"/>
                    <a:lstStyle/>
                    <a:p>
                      <a:pPr algn="l"/>
                      <a:r>
                        <a:rPr sz="1050" b="0" i="0">
                          <a:solidFill>
                            <a:srgbClr val="000000"/>
                          </a:solidFill>
                          <a:latin typeface="Calibri"/>
                        </a:rPr>
                        <a:t>Table 163: Israel Market Share within Middle East &amp; Africa, %, 2025, 2026 and 2036</a:t>
                      </a:r>
                      <a:endParaRPr sz="1050"/>
                    </a:p>
                  </a:txBody>
                  <a:tcPr marL="9525" marR="9525" marT="9525" marB="0" anchor="ctr"/>
                </a:tc>
              </a:tr>
              <a:tr h="170486">
                <a:tc>
                  <a:txBody>
                    <a:bodyPr wrap="square"/>
                    <a:lstStyle/>
                    <a:p>
                      <a:pPr algn="l"/>
                      <a:r>
                        <a:rPr sz="1050" b="0" i="0">
                          <a:solidFill>
                            <a:srgbClr val="000000"/>
                          </a:solidFill>
                          <a:latin typeface="Calibri"/>
                        </a:rPr>
                        <a:t>Table 164: Market Product Price Comparison by Company and Product Type, US$/MT, 2026</a:t>
                      </a:r>
                      <a:endParaRPr sz="1050"/>
                    </a:p>
                  </a:txBody>
                  <a:tcPr marL="9525" marR="9525" marT="9525" marB="0" anchor="ctr"/>
                </a:tc>
              </a:tr>
              <a:tr h="170486">
                <a:tc>
                  <a:txBody>
                    <a:bodyPr wrap="square"/>
                    <a:lstStyle/>
                    <a:p>
                      <a:pPr algn="l"/>
                      <a:r>
                        <a:rPr sz="1050" b="0" i="0">
                          <a:solidFill>
                            <a:srgbClr val="000000"/>
                          </a:solidFill>
                          <a:latin typeface="Calibri"/>
                        </a:rPr>
                        <a:t>Table 165: Middle East &amp; Africa Market Average Selling Price, US$/MT, 2021–2036</a:t>
                      </a:r>
                      <a:endParaRPr sz="1050"/>
                    </a:p>
                  </a:txBody>
                  <a:tcPr marL="9525" marR="9525" marT="9525" marB="0" anchor="ctr"/>
                </a:tc>
              </a:tr>
              <a:tr h="170486">
                <a:tc>
                  <a:txBody>
                    <a:bodyPr wrap="square"/>
                    <a:lstStyle/>
                    <a:p>
                      <a:pPr algn="l"/>
                      <a:r>
                        <a:rPr sz="1050" b="0" i="0">
                          <a:solidFill>
                            <a:srgbClr val="000000"/>
                          </a:solidFill>
                          <a:latin typeface="Calibri"/>
                        </a:rPr>
                        <a:t>Table 166: Middle East &amp; Africa Market Average Selling Price by Product Type, US$/MT, 2021–2036</a:t>
                      </a:r>
                      <a:endParaRPr sz="1050"/>
                    </a:p>
                  </a:txBody>
                  <a:tcPr marL="9525" marR="9525" marT="9525" marB="0" anchor="ctr"/>
                </a:tc>
              </a:tr>
              <a:tr h="334153">
                <a:tc>
                  <a:txBody>
                    <a:bodyPr wrap="square"/>
                    <a:lstStyle/>
                    <a:p>
                      <a:pPr algn="l"/>
                      <a:r>
                        <a:rPr sz="1050" b="0" i="0">
                          <a:solidFill>
                            <a:srgbClr val="000000"/>
                          </a:solidFill>
                          <a:latin typeface="Calibri"/>
                        </a:rPr>
                        <a:t>Table 167: Middle East &amp; Africa Market Average Selling Price by Principal Material / Barrier Technology, US$/MT, 2021–2036</a:t>
                      </a:r>
                      <a:endParaRPr sz="1050"/>
                    </a:p>
                  </a:txBody>
                  <a:tcPr marL="9525" marR="9525" marT="9525" marB="0" anchor="ctr"/>
                </a:tc>
              </a:tr>
              <a:tr h="334153">
                <a:tc>
                  <a:txBody>
                    <a:bodyPr wrap="square"/>
                    <a:lstStyle/>
                    <a:p>
                      <a:pPr algn="l"/>
                      <a:r>
                        <a:rPr sz="1050" b="0" i="0">
                          <a:solidFill>
                            <a:srgbClr val="000000"/>
                          </a:solidFill>
                          <a:latin typeface="Calibri"/>
                        </a:rPr>
                        <a:t>Table 168: Middle East &amp; Africa Market Average Selling Price by Material Structure, US$/MT, 2021–2036</a:t>
                      </a:r>
                      <a:endParaRPr sz="1050"/>
                    </a:p>
                  </a:txBody>
                  <a:tcPr marL="9525" marR="9525" marT="9525" marB="0" anchor="ctr"/>
                </a:tc>
              </a:tr>
              <a:tr h="170486">
                <a:tc>
                  <a:txBody>
                    <a:bodyPr wrap="square"/>
                    <a:lstStyle/>
                    <a:p>
                      <a:pPr algn="l"/>
                      <a:r>
                        <a:rPr sz="1050" b="0" i="0">
                          <a:solidFill>
                            <a:srgbClr val="000000"/>
                          </a:solidFill>
                          <a:latin typeface="Calibri"/>
                        </a:rPr>
                        <a:t>Table 169: Middle East &amp; Africa Market Average Selling Price by Barrier Level, US$/MT, 2021–2036</a:t>
                      </a:r>
                      <a:endParaRPr sz="1050"/>
                    </a:p>
                  </a:txBody>
                  <a:tcPr marL="9525" marR="9525" marT="9525" marB="0" anchor="ctr"/>
                </a:tc>
              </a:tr>
              <a:tr h="170486">
                <a:tc>
                  <a:txBody>
                    <a:bodyPr wrap="square"/>
                    <a:lstStyle/>
                    <a:p>
                      <a:pPr algn="l"/>
                      <a:r>
                        <a:rPr sz="1050" b="0" i="0">
                          <a:solidFill>
                            <a:srgbClr val="000000"/>
                          </a:solidFill>
                          <a:latin typeface="Calibri"/>
                        </a:rPr>
                        <a:t>Table 170: Middle East &amp; Africa Market Average Selling Price by Application, US$/MT, 2021–2036</a:t>
                      </a:r>
                      <a:endParaRPr sz="1050"/>
                    </a:p>
                  </a:txBody>
                  <a:tcPr marL="9525" marR="9525" marT="9525" marB="0" anchor="ctr"/>
                </a:tc>
              </a:tr>
              <a:tr h="334153">
                <a:tc>
                  <a:txBody>
                    <a:bodyPr wrap="square"/>
                    <a:lstStyle/>
                    <a:p>
                      <a:pPr algn="l"/>
                      <a:r>
                        <a:rPr sz="1050" b="0" i="0">
                          <a:solidFill>
                            <a:srgbClr val="000000"/>
                          </a:solidFill>
                          <a:latin typeface="Calibri"/>
                        </a:rPr>
                        <a:t>Table 171: Middle East &amp; Africa Market Average Selling Price by Barrier Level Vs Application, US$/MT, 2021–2036</a:t>
                      </a:r>
                      <a:endParaRPr sz="1050"/>
                    </a:p>
                  </a:txBody>
                  <a:tcPr marL="9525" marR="9525" marT="9525" marB="0" anchor="ctr"/>
                </a:tc>
              </a:tr>
              <a:tr h="170486">
                <a:tc>
                  <a:txBody>
                    <a:bodyPr wrap="square"/>
                    <a:lstStyle/>
                    <a:p>
                      <a:pPr algn="l"/>
                      <a:r>
                        <a:rPr sz="1050" b="0" i="0">
                          <a:solidFill>
                            <a:srgbClr val="000000"/>
                          </a:solidFill>
                          <a:latin typeface="Calibri"/>
                        </a:rPr>
                        <a:t>Table 172: Supplier-to-Customer Relationship Mapping in Turkey, 2026</a:t>
                      </a:r>
                      <a:endParaRPr sz="1050"/>
                    </a:p>
                  </a:txBody>
                  <a:tcPr marL="9525" marR="9525" marT="9525" marB="0" anchor="ctr"/>
                </a:tc>
              </a:tr>
              <a:tr h="170486">
                <a:tc>
                  <a:txBody>
                    <a:bodyPr wrap="square"/>
                    <a:lstStyle/>
                    <a:p>
                      <a:pPr algn="l"/>
                      <a:r>
                        <a:rPr sz="1050" b="0" i="0">
                          <a:solidFill>
                            <a:srgbClr val="000000"/>
                          </a:solidFill>
                          <a:latin typeface="Calibri"/>
                        </a:rPr>
                        <a:t>Table 173: Middle East &amp; Africa Market Value Chain Participants by Stage, 2026</a:t>
                      </a:r>
                      <a:endParaRPr sz="1050"/>
                    </a:p>
                  </a:txBody>
                  <a:tcPr marL="9525" marR="9525" marT="9525" marB="0" anchor="ctr"/>
                </a:tc>
              </a:tr>
              <a:tr h="170486">
                <a:tc>
                  <a:txBody>
                    <a:bodyPr wrap="square"/>
                    <a:lstStyle/>
                    <a:p>
                      <a:pPr algn="l"/>
                      <a:r>
                        <a:rPr sz="1050" b="0" i="0">
                          <a:solidFill>
                            <a:srgbClr val="000000"/>
                          </a:solidFill>
                          <a:latin typeface="Calibri"/>
                        </a:rPr>
                        <a:t>Table 174: Middle East &amp; Africa Market Margin Analysis by Value Chain Stage, %, 2026</a:t>
                      </a:r>
                      <a:endParaRPr sz="1050"/>
                    </a:p>
                  </a:txBody>
                  <a:tcPr marL="9525" marR="9525" marT="9525" marB="0" anchor="ctr"/>
                </a:tc>
              </a:tr>
              <a:tr h="170486">
                <a:tc>
                  <a:txBody>
                    <a:bodyPr wrap="square"/>
                    <a:lstStyle/>
                    <a:p>
                      <a:pPr algn="l"/>
                      <a:r>
                        <a:rPr sz="1050" b="0" i="0">
                          <a:solidFill>
                            <a:srgbClr val="000000"/>
                          </a:solidFill>
                          <a:latin typeface="Calibri"/>
                        </a:rPr>
                        <a:t>Table 175: Middle East &amp; Africa Market Cost Structure by Component, %, 2026</a:t>
                      </a:r>
                      <a:endParaRPr sz="1050"/>
                    </a:p>
                  </a:txBody>
                  <a:tcPr marL="9525" marR="9525" marT="9525" marB="0" anchor="ctr"/>
                </a:tc>
              </a:tr>
              <a:tr h="170486">
                <a:tc>
                  <a:txBody>
                    <a:bodyPr wrap="square"/>
                    <a:lstStyle/>
                    <a:p>
                      <a:pPr algn="l"/>
                      <a:r>
                        <a:rPr sz="1050" b="0" i="0">
                          <a:solidFill>
                            <a:srgbClr val="000000"/>
                          </a:solidFill>
                          <a:latin typeface="Calibri"/>
                        </a:rPr>
                        <a:t>Table 176: Middle East &amp; Africa Market Import Value by Leading Country, US$ Mn, 2021–2025</a:t>
                      </a:r>
                      <a:endParaRPr sz="1050"/>
                    </a:p>
                  </a:txBody>
                  <a:tcPr marL="9525" marR="9525" marT="9525" marB="0" anchor="ctr"/>
                </a:tc>
              </a:tr>
              <a:tr h="170486">
                <a:tc>
                  <a:txBody>
                    <a:bodyPr wrap="square"/>
                    <a:lstStyle/>
                    <a:p>
                      <a:pPr algn="l"/>
                      <a:r>
                        <a:rPr sz="1050" b="0" i="0">
                          <a:solidFill>
                            <a:srgbClr val="000000"/>
                          </a:solidFill>
                          <a:latin typeface="Calibri"/>
                        </a:rPr>
                        <a:t>Table 177: Middle East &amp; Africa Market Export Value by Leading Country, US$ Mn, 2021–2025</a:t>
                      </a:r>
                      <a:endParaRPr sz="1050"/>
                    </a:p>
                  </a:txBody>
                  <a:tcPr marL="9525" marR="9525" marT="9525" marB="0" anchor="ctr"/>
                </a:tc>
              </a:tr>
              <a:tr h="170486">
                <a:tc>
                  <a:txBody>
                    <a:bodyPr wrap="square"/>
                    <a:lstStyle/>
                    <a:p>
                      <a:pPr algn="l"/>
                      <a:r>
                        <a:rPr sz="1050" b="0" i="0">
                          <a:solidFill>
                            <a:srgbClr val="000000"/>
                          </a:solidFill>
                          <a:latin typeface="Calibri"/>
                        </a:rPr>
                        <a:t>Table 178: Middle East &amp; Africa Market Trade Flow Summary, US$ Mn, 2025</a:t>
                      </a:r>
                      <a:endParaRPr sz="1050"/>
                    </a:p>
                  </a:txBody>
                  <a:tcPr marL="9525" marR="9525" marT="9525" marB="0" anchor="ctr"/>
                </a:tc>
              </a:tr>
              <a:tr h="170486">
                <a:tc>
                  <a:txBody>
                    <a:bodyPr wrap="square"/>
                    <a:lstStyle/>
                    <a:p>
                      <a:pPr algn="l"/>
                      <a:r>
                        <a:rPr sz="1050" b="0" i="0">
                          <a:solidFill>
                            <a:srgbClr val="000000"/>
                          </a:solidFill>
                          <a:latin typeface="Calibri"/>
                        </a:rPr>
                        <a:t>Table 179: Middle East &amp; Africa Market Pricing Factors and Impact Rating, 2026–2036</a:t>
                      </a:r>
                      <a:endParaRPr sz="1050"/>
                    </a:p>
                  </a:txBody>
                  <a:tcPr marL="9525" marR="9525" marT="9525" marB="0" anchor="ctr"/>
                </a:tc>
              </a:tr>
              <a:tr h="170486">
                <a:tc>
                  <a:txBody>
                    <a:bodyPr wrap="square"/>
                    <a:lstStyle/>
                    <a:p>
                      <a:pPr algn="l"/>
                      <a:r>
                        <a:rPr sz="1050" b="0" i="0">
                          <a:solidFill>
                            <a:srgbClr val="000000"/>
                          </a:solidFill>
                          <a:latin typeface="Calibri"/>
                        </a:rPr>
                        <a:t>Table 180: Middle East &amp; Africa Market Raw Material Price Trend, US$, 2021–2036</a:t>
                      </a:r>
                      <a:endParaRPr sz="1050"/>
                    </a:p>
                  </a:txBody>
                  <a:tcPr marL="9525" marR="9525" marT="9525" marB="0" anchor="ctr"/>
                </a:tc>
              </a:tr>
              <a:tr h="334153">
                <a:tc>
                  <a:txBody>
                    <a:bodyPr wrap="square"/>
                    <a:lstStyle/>
                    <a:p>
                      <a:pPr algn="l"/>
                      <a:r>
                        <a:rPr sz="1050" b="0" i="0">
                          <a:solidFill>
                            <a:srgbClr val="000000"/>
                          </a:solidFill>
                          <a:latin typeface="Calibri"/>
                        </a:rPr>
                        <a:t>Table 181: Leading Flexible Plastic Packaging Manufacturers: Product Portfolio and Geographic Presence, 2026</a:t>
                      </a:r>
                      <a:endParaRPr sz="1050"/>
                    </a:p>
                  </a:txBody>
                  <a:tcPr marL="9525" marR="9525" marT="9525" marB="0" anchor="ctr"/>
                </a:tc>
              </a:tr>
              <a:tr h="170486">
                <a:tc>
                  <a:txBody>
                    <a:bodyPr wrap="square"/>
                    <a:lstStyle/>
                    <a:p>
                      <a:pPr algn="l"/>
                      <a:r>
                        <a:rPr sz="1050" b="0" i="0">
                          <a:solidFill>
                            <a:srgbClr val="000000"/>
                          </a:solidFill>
                          <a:latin typeface="Calibri"/>
                        </a:rPr>
                        <a:t>Table 182: Company Revenue from the Middle East &amp; Africa Market, US$ Mn, 2025–2026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(5/5)</a:t>
            </a:r>
          </a:p>
        </p:txBody>
      </p:sp>
      <p:graphicFrame>
        <p:nvGraphicFramePr>
          <p:cNvPr id="9" name="FMI Contents Table"/>
          <p:cNvGraphicFramePr>
            <a:graphicFrameLocks noGrp="1"/>
          </p:cNvGraphicFramePr>
          <p:nvPr/>
        </p:nvGraphicFramePr>
        <p:xfrm>
          <a:off x="142875" y="981075"/>
          <a:ext cx="5876925" cy="3000384"/>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183: Company Market Share in the Middle East &amp; Africa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184: Middle East &amp; Africa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185: Middle East &amp; Africa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186: Company 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Company B: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Company 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Company D: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Company 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Company F: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Company 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Company 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Middle East &amp; Africa Market Value by Scenario, US$ Mn, 2026–2036</a:t>
                      </a:r>
                      <a:endParaRPr sz="1050"/>
                    </a:p>
                  </a:txBody>
                  <a:tcPr marL="9525" marR="9525" marT="9525" marB="0" anchor="ctr"/>
                </a:tc>
              </a:tr>
              <a:tr h="166688">
                <a:tc>
                  <a:txBody>
                    <a:bodyPr wrap="square"/>
                    <a:lstStyle/>
                    <a:p>
                      <a:pPr algn="l"/>
                      <a:r>
                        <a:rPr sz="1050" b="0" i="0">
                          <a:solidFill>
                            <a:srgbClr val="000000"/>
                          </a:solidFill>
                          <a:latin typeface="Calibri"/>
                        </a:rPr>
                        <a:t>Table 195: Middle East &amp; Africa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Middle East &amp; Africa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197: Middle East &amp; Africa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Middle East &amp; Africa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199: Middle East &amp; Africa Market Customer Purchase Criteria by Product Type, 2026</a:t>
                      </a:r>
                      <a:endParaRPr sz="1050"/>
                    </a:p>
                  </a:txBody>
                  <a:tcPr marL="9525" marR="9525" marT="9525" marB="0" anchor="ctr"/>
                </a:tc>
              </a:tr>
              <a:tr h="166688">
                <a:tc>
                  <a:txBody>
                    <a:bodyPr wrap="square"/>
                    <a:lstStyle/>
                    <a:p>
                      <a:pPr algn="l"/>
                      <a:r>
                        <a:rPr sz="1050" b="0" i="0">
                          <a:solidFill>
                            <a:srgbClr val="000000"/>
                          </a:solidFill>
                          <a:latin typeface="Calibri"/>
                        </a:rPr>
                        <a:t>Table 200: Middle East &amp; Africa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