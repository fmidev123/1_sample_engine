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463" r:id="rId215"/>
    <p:sldId id="457" r:id="rId209"/>
    <p:sldId id="458" r:id="rId210"/>
    <p:sldId id="459" r:id="rId211"/>
    <p:sldId id="460" r:id="rId212"/>
    <p:sldId id="461" r:id="rId213"/>
    <p:sldId id="462" r:id="rId214"/>
    <p:sldId id="473" r:id="rId225"/>
    <p:sldId id="464" r:id="rId216"/>
    <p:sldId id="465" r:id="rId217"/>
    <p:sldId id="466" r:id="rId218"/>
    <p:sldId id="467" r:id="rId219"/>
    <p:sldId id="468" r:id="rId220"/>
    <p:sldId id="469" r:id="rId221"/>
    <p:sldId id="470" r:id="rId222"/>
    <p:sldId id="471" r:id="rId223"/>
    <p:sldId id="472" r:id="rId224"/>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11.xml"/><Relationship Id="rId19" Type="http://schemas.openxmlformats.org/officeDocument/2006/relationships/slide" Target="slides/slide12.xml"/><Relationship Id="rId20" Type="http://schemas.openxmlformats.org/officeDocument/2006/relationships/slide" Target="slides/slide13.xml"/><Relationship Id="rId21" Type="http://schemas.openxmlformats.org/officeDocument/2006/relationships/slide" Target="slides/slide14.xml"/><Relationship Id="rId22" Type="http://schemas.openxmlformats.org/officeDocument/2006/relationships/slide" Target="slides/slide15.xml"/><Relationship Id="rId23" Type="http://schemas.openxmlformats.org/officeDocument/2006/relationships/slide" Target="slides/slide16.xml"/><Relationship Id="rId24" Type="http://schemas.openxmlformats.org/officeDocument/2006/relationships/slide" Target="slides/slide17.xml"/><Relationship Id="rId25" Type="http://schemas.openxmlformats.org/officeDocument/2006/relationships/slide" Target="slides/slide18.xml"/><Relationship Id="rId26" Type="http://schemas.openxmlformats.org/officeDocument/2006/relationships/slide" Target="slides/slide19.xml"/><Relationship Id="rId27" Type="http://schemas.openxmlformats.org/officeDocument/2006/relationships/slide" Target="slides/slide20.xml"/><Relationship Id="rId28" Type="http://schemas.openxmlformats.org/officeDocument/2006/relationships/slide" Target="slides/slide21.xml"/><Relationship Id="rId29" Type="http://schemas.openxmlformats.org/officeDocument/2006/relationships/slide" Target="slides/slide22.xml"/><Relationship Id="rId30" Type="http://schemas.openxmlformats.org/officeDocument/2006/relationships/slide" Target="slides/slide23.xml"/><Relationship Id="rId31" Type="http://schemas.openxmlformats.org/officeDocument/2006/relationships/slide" Target="slides/slide24.xml"/><Relationship Id="rId32" Type="http://schemas.openxmlformats.org/officeDocument/2006/relationships/slide" Target="slides/slide25.xml"/><Relationship Id="rId33" Type="http://schemas.openxmlformats.org/officeDocument/2006/relationships/slide" Target="slides/slide26.xml"/><Relationship Id="rId34" Type="http://schemas.openxmlformats.org/officeDocument/2006/relationships/slide" Target="slides/slide27.xml"/><Relationship Id="rId35" Type="http://schemas.openxmlformats.org/officeDocument/2006/relationships/slide" Target="slides/slide28.xml"/><Relationship Id="rId36" Type="http://schemas.openxmlformats.org/officeDocument/2006/relationships/slide" Target="slides/slide29.xml"/><Relationship Id="rId37" Type="http://schemas.openxmlformats.org/officeDocument/2006/relationships/slide" Target="slides/slide30.xml"/><Relationship Id="rId38" Type="http://schemas.openxmlformats.org/officeDocument/2006/relationships/slide" Target="slides/slide31.xml"/><Relationship Id="rId39" Type="http://schemas.openxmlformats.org/officeDocument/2006/relationships/slide" Target="slides/slide32.xml"/><Relationship Id="rId40" Type="http://schemas.openxmlformats.org/officeDocument/2006/relationships/slide" Target="slides/slide33.xml"/><Relationship Id="rId41" Type="http://schemas.openxmlformats.org/officeDocument/2006/relationships/slide" Target="slides/slide34.xml"/><Relationship Id="rId42" Type="http://schemas.openxmlformats.org/officeDocument/2006/relationships/slide" Target="slides/slide35.xml"/><Relationship Id="rId43" Type="http://schemas.openxmlformats.org/officeDocument/2006/relationships/slide" Target="slides/slide36.xml"/><Relationship Id="rId44" Type="http://schemas.openxmlformats.org/officeDocument/2006/relationships/slide" Target="slides/slide37.xml"/><Relationship Id="rId45" Type="http://schemas.openxmlformats.org/officeDocument/2006/relationships/slide" Target="slides/slide38.xml"/><Relationship Id="rId46" Type="http://schemas.openxmlformats.org/officeDocument/2006/relationships/slide" Target="slides/slide39.xml"/><Relationship Id="rId47" Type="http://schemas.openxmlformats.org/officeDocument/2006/relationships/slide" Target="slides/slide40.xml"/><Relationship Id="rId48" Type="http://schemas.openxmlformats.org/officeDocument/2006/relationships/slide" Target="slides/slide41.xml"/><Relationship Id="rId49" Type="http://schemas.openxmlformats.org/officeDocument/2006/relationships/slide" Target="slides/slide42.xml"/><Relationship Id="rId50" Type="http://schemas.openxmlformats.org/officeDocument/2006/relationships/slide" Target="slides/slide43.xml"/><Relationship Id="rId51" Type="http://schemas.openxmlformats.org/officeDocument/2006/relationships/slide" Target="slides/slide44.xml"/><Relationship Id="rId52" Type="http://schemas.openxmlformats.org/officeDocument/2006/relationships/slide" Target="slides/slide45.xml"/><Relationship Id="rId53" Type="http://schemas.openxmlformats.org/officeDocument/2006/relationships/slide" Target="slides/slide46.xml"/><Relationship Id="rId54" Type="http://schemas.openxmlformats.org/officeDocument/2006/relationships/slide" Target="slides/slide47.xml"/><Relationship Id="rId55" Type="http://schemas.openxmlformats.org/officeDocument/2006/relationships/slide" Target="slides/slide48.xml"/><Relationship Id="rId56" Type="http://schemas.openxmlformats.org/officeDocument/2006/relationships/slide" Target="slides/slide49.xml"/><Relationship Id="rId57" Type="http://schemas.openxmlformats.org/officeDocument/2006/relationships/slide" Target="slides/slide50.xml"/><Relationship Id="rId58" Type="http://schemas.openxmlformats.org/officeDocument/2006/relationships/slide" Target="slides/slide51.xml"/><Relationship Id="rId59" Type="http://schemas.openxmlformats.org/officeDocument/2006/relationships/slide" Target="slides/slide52.xml"/><Relationship Id="rId60" Type="http://schemas.openxmlformats.org/officeDocument/2006/relationships/slide" Target="slides/slide53.xml"/><Relationship Id="rId61" Type="http://schemas.openxmlformats.org/officeDocument/2006/relationships/slide" Target="slides/slide54.xml"/><Relationship Id="rId62" Type="http://schemas.openxmlformats.org/officeDocument/2006/relationships/slide" Target="slides/slide55.xml"/><Relationship Id="rId63" Type="http://schemas.openxmlformats.org/officeDocument/2006/relationships/slide" Target="slides/slide56.xml"/><Relationship Id="rId64" Type="http://schemas.openxmlformats.org/officeDocument/2006/relationships/slide" Target="slides/slide57.xml"/><Relationship Id="rId65" Type="http://schemas.openxmlformats.org/officeDocument/2006/relationships/slide" Target="slides/slide58.xml"/><Relationship Id="rId66" Type="http://schemas.openxmlformats.org/officeDocument/2006/relationships/slide" Target="slides/slide59.xml"/><Relationship Id="rId67" Type="http://schemas.openxmlformats.org/officeDocument/2006/relationships/slide" Target="slides/slide60.xml"/><Relationship Id="rId68" Type="http://schemas.openxmlformats.org/officeDocument/2006/relationships/slide" Target="slides/slide61.xml"/><Relationship Id="rId69" Type="http://schemas.openxmlformats.org/officeDocument/2006/relationships/slide" Target="slides/slide62.xml"/><Relationship Id="rId70" Type="http://schemas.openxmlformats.org/officeDocument/2006/relationships/slide" Target="slides/slide63.xml"/><Relationship Id="rId71" Type="http://schemas.openxmlformats.org/officeDocument/2006/relationships/slide" Target="slides/slide64.xml"/><Relationship Id="rId72" Type="http://schemas.openxmlformats.org/officeDocument/2006/relationships/slide" Target="slides/slide65.xml"/><Relationship Id="rId73" Type="http://schemas.openxmlformats.org/officeDocument/2006/relationships/slide" Target="slides/slide66.xml"/><Relationship Id="rId74" Type="http://schemas.openxmlformats.org/officeDocument/2006/relationships/slide" Target="slides/slide67.xml"/><Relationship Id="rId75" Type="http://schemas.openxmlformats.org/officeDocument/2006/relationships/slide" Target="slides/slide68.xml"/><Relationship Id="rId76" Type="http://schemas.openxmlformats.org/officeDocument/2006/relationships/slide" Target="slides/slide69.xml"/><Relationship Id="rId77" Type="http://schemas.openxmlformats.org/officeDocument/2006/relationships/slide" Target="slides/slide70.xml"/><Relationship Id="rId78" Type="http://schemas.openxmlformats.org/officeDocument/2006/relationships/slide" Target="slides/slide71.xml"/><Relationship Id="rId79" Type="http://schemas.openxmlformats.org/officeDocument/2006/relationships/slide" Target="slides/slide72.xml"/><Relationship Id="rId80" Type="http://schemas.openxmlformats.org/officeDocument/2006/relationships/slide" Target="slides/slide73.xml"/><Relationship Id="rId81" Type="http://schemas.openxmlformats.org/officeDocument/2006/relationships/slide" Target="slides/slide74.xml"/><Relationship Id="rId82" Type="http://schemas.openxmlformats.org/officeDocument/2006/relationships/slide" Target="slides/slide75.xml"/><Relationship Id="rId83" Type="http://schemas.openxmlformats.org/officeDocument/2006/relationships/slide" Target="slides/slide76.xml"/><Relationship Id="rId84" Type="http://schemas.openxmlformats.org/officeDocument/2006/relationships/slide" Target="slides/slide77.xml"/><Relationship Id="rId85" Type="http://schemas.openxmlformats.org/officeDocument/2006/relationships/slide" Target="slides/slide78.xml"/><Relationship Id="rId86" Type="http://schemas.openxmlformats.org/officeDocument/2006/relationships/slide" Target="slides/slide79.xml"/><Relationship Id="rId87" Type="http://schemas.openxmlformats.org/officeDocument/2006/relationships/slide" Target="slides/slide80.xml"/><Relationship Id="rId88" Type="http://schemas.openxmlformats.org/officeDocument/2006/relationships/slide" Target="slides/slide81.xml"/><Relationship Id="rId89" Type="http://schemas.openxmlformats.org/officeDocument/2006/relationships/slide" Target="slides/slide82.xml"/><Relationship Id="rId90" Type="http://schemas.openxmlformats.org/officeDocument/2006/relationships/slide" Target="slides/slide83.xml"/><Relationship Id="rId91" Type="http://schemas.openxmlformats.org/officeDocument/2006/relationships/slide" Target="slides/slide84.xml"/><Relationship Id="rId92" Type="http://schemas.openxmlformats.org/officeDocument/2006/relationships/slide" Target="slides/slide85.xml"/><Relationship Id="rId93" Type="http://schemas.openxmlformats.org/officeDocument/2006/relationships/slide" Target="slides/slide86.xml"/><Relationship Id="rId94" Type="http://schemas.openxmlformats.org/officeDocument/2006/relationships/slide" Target="slides/slide87.xml"/><Relationship Id="rId95" Type="http://schemas.openxmlformats.org/officeDocument/2006/relationships/slide" Target="slides/slide88.xml"/><Relationship Id="rId96" Type="http://schemas.openxmlformats.org/officeDocument/2006/relationships/slide" Target="slides/slide89.xml"/><Relationship Id="rId97" Type="http://schemas.openxmlformats.org/officeDocument/2006/relationships/slide" Target="slides/slide90.xml"/><Relationship Id="rId98" Type="http://schemas.openxmlformats.org/officeDocument/2006/relationships/slide" Target="slides/slide91.xml"/><Relationship Id="rId99" Type="http://schemas.openxmlformats.org/officeDocument/2006/relationships/slide" Target="slides/slide92.xml"/><Relationship Id="rId100" Type="http://schemas.openxmlformats.org/officeDocument/2006/relationships/slide" Target="slides/slide93.xml"/><Relationship Id="rId101" Type="http://schemas.openxmlformats.org/officeDocument/2006/relationships/slide" Target="slides/slide94.xml"/><Relationship Id="rId102" Type="http://schemas.openxmlformats.org/officeDocument/2006/relationships/slide" Target="slides/slide95.xml"/><Relationship Id="rId103" Type="http://schemas.openxmlformats.org/officeDocument/2006/relationships/slide" Target="slides/slide96.xml"/><Relationship Id="rId104" Type="http://schemas.openxmlformats.org/officeDocument/2006/relationships/slide" Target="slides/slide97.xml"/><Relationship Id="rId105" Type="http://schemas.openxmlformats.org/officeDocument/2006/relationships/slide" Target="slides/slide98.xml"/><Relationship Id="rId106" Type="http://schemas.openxmlformats.org/officeDocument/2006/relationships/slide" Target="slides/slide99.xml"/><Relationship Id="rId107" Type="http://schemas.openxmlformats.org/officeDocument/2006/relationships/slide" Target="slides/slide100.xml"/><Relationship Id="rId108" Type="http://schemas.openxmlformats.org/officeDocument/2006/relationships/slide" Target="slides/slide101.xml"/><Relationship Id="rId109" Type="http://schemas.openxmlformats.org/officeDocument/2006/relationships/slide" Target="slides/slide102.xml"/><Relationship Id="rId110" Type="http://schemas.openxmlformats.org/officeDocument/2006/relationships/slide" Target="slides/slide103.xml"/><Relationship Id="rId111" Type="http://schemas.openxmlformats.org/officeDocument/2006/relationships/slide" Target="slides/slide104.xml"/><Relationship Id="rId112" Type="http://schemas.openxmlformats.org/officeDocument/2006/relationships/slide" Target="slides/slide105.xml"/><Relationship Id="rId113" Type="http://schemas.openxmlformats.org/officeDocument/2006/relationships/slide" Target="slides/slide106.xml"/><Relationship Id="rId114" Type="http://schemas.openxmlformats.org/officeDocument/2006/relationships/slide" Target="slides/slide107.xml"/><Relationship Id="rId115" Type="http://schemas.openxmlformats.org/officeDocument/2006/relationships/slide" Target="slides/slide108.xml"/><Relationship Id="rId116" Type="http://schemas.openxmlformats.org/officeDocument/2006/relationships/slide" Target="slides/slide109.xml"/><Relationship Id="rId117" Type="http://schemas.openxmlformats.org/officeDocument/2006/relationships/slide" Target="slides/slide110.xml"/><Relationship Id="rId118" Type="http://schemas.openxmlformats.org/officeDocument/2006/relationships/slide" Target="slides/slide111.xml"/><Relationship Id="rId119" Type="http://schemas.openxmlformats.org/officeDocument/2006/relationships/slide" Target="slides/slide112.xml"/><Relationship Id="rId120" Type="http://schemas.openxmlformats.org/officeDocument/2006/relationships/slide" Target="slides/slide113.xml"/><Relationship Id="rId121" Type="http://schemas.openxmlformats.org/officeDocument/2006/relationships/slide" Target="slides/slide114.xml"/><Relationship Id="rId122" Type="http://schemas.openxmlformats.org/officeDocument/2006/relationships/slide" Target="slides/slide115.xml"/><Relationship Id="rId123" Type="http://schemas.openxmlformats.org/officeDocument/2006/relationships/slide" Target="slides/slide116.xml"/><Relationship Id="rId124" Type="http://schemas.openxmlformats.org/officeDocument/2006/relationships/slide" Target="slides/slide117.xml"/><Relationship Id="rId125" Type="http://schemas.openxmlformats.org/officeDocument/2006/relationships/slide" Target="slides/slide118.xml"/><Relationship Id="rId126" Type="http://schemas.openxmlformats.org/officeDocument/2006/relationships/slide" Target="slides/slide119.xml"/><Relationship Id="rId127" Type="http://schemas.openxmlformats.org/officeDocument/2006/relationships/slide" Target="slides/slide120.xml"/><Relationship Id="rId128" Type="http://schemas.openxmlformats.org/officeDocument/2006/relationships/slide" Target="slides/slide121.xml"/><Relationship Id="rId129" Type="http://schemas.openxmlformats.org/officeDocument/2006/relationships/slide" Target="slides/slide122.xml"/><Relationship Id="rId130" Type="http://schemas.openxmlformats.org/officeDocument/2006/relationships/slide" Target="slides/slide123.xml"/><Relationship Id="rId131" Type="http://schemas.openxmlformats.org/officeDocument/2006/relationships/slide" Target="slides/slide124.xml"/><Relationship Id="rId132" Type="http://schemas.openxmlformats.org/officeDocument/2006/relationships/slide" Target="slides/slide125.xml"/><Relationship Id="rId133" Type="http://schemas.openxmlformats.org/officeDocument/2006/relationships/slide" Target="slides/slide126.xml"/><Relationship Id="rId134" Type="http://schemas.openxmlformats.org/officeDocument/2006/relationships/slide" Target="slides/slide127.xml"/><Relationship Id="rId135" Type="http://schemas.openxmlformats.org/officeDocument/2006/relationships/slide" Target="slides/slide128.xml"/><Relationship Id="rId136" Type="http://schemas.openxmlformats.org/officeDocument/2006/relationships/slide" Target="slides/slide129.xml"/><Relationship Id="rId137" Type="http://schemas.openxmlformats.org/officeDocument/2006/relationships/slide" Target="slides/slide130.xml"/><Relationship Id="rId138" Type="http://schemas.openxmlformats.org/officeDocument/2006/relationships/slide" Target="slides/slide131.xml"/><Relationship Id="rId139" Type="http://schemas.openxmlformats.org/officeDocument/2006/relationships/slide" Target="slides/slide132.xml"/><Relationship Id="rId140" Type="http://schemas.openxmlformats.org/officeDocument/2006/relationships/slide" Target="slides/slide133.xml"/><Relationship Id="rId141" Type="http://schemas.openxmlformats.org/officeDocument/2006/relationships/slide" Target="slides/slide134.xml"/><Relationship Id="rId142" Type="http://schemas.openxmlformats.org/officeDocument/2006/relationships/slide" Target="slides/slide135.xml"/><Relationship Id="rId143" Type="http://schemas.openxmlformats.org/officeDocument/2006/relationships/slide" Target="slides/slide136.xml"/><Relationship Id="rId144" Type="http://schemas.openxmlformats.org/officeDocument/2006/relationships/slide" Target="slides/slide137.xml"/><Relationship Id="rId145" Type="http://schemas.openxmlformats.org/officeDocument/2006/relationships/slide" Target="slides/slide138.xml"/><Relationship Id="rId146" Type="http://schemas.openxmlformats.org/officeDocument/2006/relationships/slide" Target="slides/slide139.xml"/><Relationship Id="rId147" Type="http://schemas.openxmlformats.org/officeDocument/2006/relationships/slide" Target="slides/slide140.xml"/><Relationship Id="rId148" Type="http://schemas.openxmlformats.org/officeDocument/2006/relationships/slide" Target="slides/slide141.xml"/><Relationship Id="rId149" Type="http://schemas.openxmlformats.org/officeDocument/2006/relationships/slide" Target="slides/slide142.xml"/><Relationship Id="rId150" Type="http://schemas.openxmlformats.org/officeDocument/2006/relationships/slide" Target="slides/slide143.xml"/><Relationship Id="rId151" Type="http://schemas.openxmlformats.org/officeDocument/2006/relationships/slide" Target="slides/slide144.xml"/><Relationship Id="rId152" Type="http://schemas.openxmlformats.org/officeDocument/2006/relationships/slide" Target="slides/slide145.xml"/><Relationship Id="rId153" Type="http://schemas.openxmlformats.org/officeDocument/2006/relationships/slide" Target="slides/slide146.xml"/><Relationship Id="rId154" Type="http://schemas.openxmlformats.org/officeDocument/2006/relationships/slide" Target="slides/slide147.xml"/><Relationship Id="rId155" Type="http://schemas.openxmlformats.org/officeDocument/2006/relationships/slide" Target="slides/slide148.xml"/><Relationship Id="rId156" Type="http://schemas.openxmlformats.org/officeDocument/2006/relationships/slide" Target="slides/slide149.xml"/><Relationship Id="rId157" Type="http://schemas.openxmlformats.org/officeDocument/2006/relationships/slide" Target="slides/slide150.xml"/><Relationship Id="rId158" Type="http://schemas.openxmlformats.org/officeDocument/2006/relationships/slide" Target="slides/slide151.xml"/><Relationship Id="rId159" Type="http://schemas.openxmlformats.org/officeDocument/2006/relationships/slide" Target="slides/slide152.xml"/><Relationship Id="rId160" Type="http://schemas.openxmlformats.org/officeDocument/2006/relationships/slide" Target="slides/slide153.xml"/><Relationship Id="rId161" Type="http://schemas.openxmlformats.org/officeDocument/2006/relationships/slide" Target="slides/slide154.xml"/><Relationship Id="rId162" Type="http://schemas.openxmlformats.org/officeDocument/2006/relationships/slide" Target="slides/slide155.xml"/><Relationship Id="rId163" Type="http://schemas.openxmlformats.org/officeDocument/2006/relationships/slide" Target="slides/slide156.xml"/><Relationship Id="rId164" Type="http://schemas.openxmlformats.org/officeDocument/2006/relationships/slide" Target="slides/slide157.xml"/><Relationship Id="rId165" Type="http://schemas.openxmlformats.org/officeDocument/2006/relationships/slide" Target="slides/slide158.xml"/><Relationship Id="rId166" Type="http://schemas.openxmlformats.org/officeDocument/2006/relationships/slide" Target="slides/slide159.xml"/><Relationship Id="rId167" Type="http://schemas.openxmlformats.org/officeDocument/2006/relationships/slide" Target="slides/slide160.xml"/><Relationship Id="rId168" Type="http://schemas.openxmlformats.org/officeDocument/2006/relationships/slide" Target="slides/slide161.xml"/><Relationship Id="rId169" Type="http://schemas.openxmlformats.org/officeDocument/2006/relationships/slide" Target="slides/slide162.xml"/><Relationship Id="rId170" Type="http://schemas.openxmlformats.org/officeDocument/2006/relationships/slide" Target="slides/slide163.xml"/><Relationship Id="rId171" Type="http://schemas.openxmlformats.org/officeDocument/2006/relationships/slide" Target="slides/slide164.xml"/><Relationship Id="rId172" Type="http://schemas.openxmlformats.org/officeDocument/2006/relationships/slide" Target="slides/slide165.xml"/><Relationship Id="rId173" Type="http://schemas.openxmlformats.org/officeDocument/2006/relationships/slide" Target="slides/slide166.xml"/><Relationship Id="rId174" Type="http://schemas.openxmlformats.org/officeDocument/2006/relationships/slide" Target="slides/slide167.xml"/><Relationship Id="rId175" Type="http://schemas.openxmlformats.org/officeDocument/2006/relationships/slide" Target="slides/slide168.xml"/><Relationship Id="rId176" Type="http://schemas.openxmlformats.org/officeDocument/2006/relationships/slide" Target="slides/slide169.xml"/><Relationship Id="rId177" Type="http://schemas.openxmlformats.org/officeDocument/2006/relationships/slide" Target="slides/slide170.xml"/><Relationship Id="rId178" Type="http://schemas.openxmlformats.org/officeDocument/2006/relationships/slide" Target="slides/slide171.xml"/><Relationship Id="rId179" Type="http://schemas.openxmlformats.org/officeDocument/2006/relationships/slide" Target="slides/slide172.xml"/><Relationship Id="rId180" Type="http://schemas.openxmlformats.org/officeDocument/2006/relationships/slide" Target="slides/slide173.xml"/><Relationship Id="rId181" Type="http://schemas.openxmlformats.org/officeDocument/2006/relationships/slide" Target="slides/slide174.xml"/><Relationship Id="rId182" Type="http://schemas.openxmlformats.org/officeDocument/2006/relationships/slide" Target="slides/slide175.xml"/><Relationship Id="rId183" Type="http://schemas.openxmlformats.org/officeDocument/2006/relationships/slide" Target="slides/slide176.xml"/><Relationship Id="rId184" Type="http://schemas.openxmlformats.org/officeDocument/2006/relationships/slide" Target="slides/slide177.xml"/><Relationship Id="rId185" Type="http://schemas.openxmlformats.org/officeDocument/2006/relationships/slide" Target="slides/slide178.xml"/><Relationship Id="rId186" Type="http://schemas.openxmlformats.org/officeDocument/2006/relationships/slide" Target="slides/slide179.xml"/><Relationship Id="rId187" Type="http://schemas.openxmlformats.org/officeDocument/2006/relationships/slide" Target="slides/slide180.xml"/><Relationship Id="rId188" Type="http://schemas.openxmlformats.org/officeDocument/2006/relationships/slide" Target="slides/slide181.xml"/><Relationship Id="rId189" Type="http://schemas.openxmlformats.org/officeDocument/2006/relationships/slide" Target="slides/slide182.xml"/><Relationship Id="rId190" Type="http://schemas.openxmlformats.org/officeDocument/2006/relationships/slide" Target="slides/slide183.xml"/><Relationship Id="rId191" Type="http://schemas.openxmlformats.org/officeDocument/2006/relationships/slide" Target="slides/slide184.xml"/><Relationship Id="rId192" Type="http://schemas.openxmlformats.org/officeDocument/2006/relationships/slide" Target="slides/slide185.xml"/><Relationship Id="rId193" Type="http://schemas.openxmlformats.org/officeDocument/2006/relationships/slide" Target="slides/slide186.xml"/><Relationship Id="rId194" Type="http://schemas.openxmlformats.org/officeDocument/2006/relationships/slide" Target="slides/slide187.xml"/><Relationship Id="rId195" Type="http://schemas.openxmlformats.org/officeDocument/2006/relationships/slide" Target="slides/slide188.xml"/><Relationship Id="rId196" Type="http://schemas.openxmlformats.org/officeDocument/2006/relationships/slide" Target="slides/slide189.xml"/><Relationship Id="rId197" Type="http://schemas.openxmlformats.org/officeDocument/2006/relationships/slide" Target="slides/slide190.xml"/><Relationship Id="rId198" Type="http://schemas.openxmlformats.org/officeDocument/2006/relationships/slide" Target="slides/slide191.xml"/><Relationship Id="rId199" Type="http://schemas.openxmlformats.org/officeDocument/2006/relationships/slide" Target="slides/slide192.xml"/><Relationship Id="rId200" Type="http://schemas.openxmlformats.org/officeDocument/2006/relationships/slide" Target="slides/slide193.xml"/><Relationship Id="rId201" Type="http://schemas.openxmlformats.org/officeDocument/2006/relationships/slide" Target="slides/slide194.xml"/><Relationship Id="rId202" Type="http://schemas.openxmlformats.org/officeDocument/2006/relationships/slide" Target="slides/slide195.xml"/><Relationship Id="rId203" Type="http://schemas.openxmlformats.org/officeDocument/2006/relationships/slide" Target="slides/slide196.xml"/><Relationship Id="rId204" Type="http://schemas.openxmlformats.org/officeDocument/2006/relationships/slide" Target="slides/slide197.xml"/><Relationship Id="rId205" Type="http://schemas.openxmlformats.org/officeDocument/2006/relationships/slide" Target="slides/slide198.xml"/><Relationship Id="rId206" Type="http://schemas.openxmlformats.org/officeDocument/2006/relationships/slide" Target="slides/slide199.xml"/><Relationship Id="rId207" Type="http://schemas.openxmlformats.org/officeDocument/2006/relationships/slide" Target="slides/slide200.xml"/><Relationship Id="rId208" Type="http://schemas.openxmlformats.org/officeDocument/2006/relationships/slide" Target="slides/slide201.xml"/><Relationship Id="rId209" Type="http://schemas.openxmlformats.org/officeDocument/2006/relationships/slide" Target="slides/slide202.xml"/><Relationship Id="rId210" Type="http://schemas.openxmlformats.org/officeDocument/2006/relationships/slide" Target="slides/slide203.xml"/><Relationship Id="rId211" Type="http://schemas.openxmlformats.org/officeDocument/2006/relationships/slide" Target="slides/slide204.xml"/><Relationship Id="rId212" Type="http://schemas.openxmlformats.org/officeDocument/2006/relationships/slide" Target="slides/slide205.xml"/><Relationship Id="rId213" Type="http://schemas.openxmlformats.org/officeDocument/2006/relationships/slide" Target="slides/slide206.xml"/><Relationship Id="rId214" Type="http://schemas.openxmlformats.org/officeDocument/2006/relationships/slide" Target="slides/slide207.xml"/><Relationship Id="rId215" Type="http://schemas.openxmlformats.org/officeDocument/2006/relationships/slide" Target="slides/slide208.xml"/><Relationship Id="rId216" Type="http://schemas.openxmlformats.org/officeDocument/2006/relationships/slide" Target="slides/slide209.xml"/><Relationship Id="rId217" Type="http://schemas.openxmlformats.org/officeDocument/2006/relationships/slide" Target="slides/slide210.xml"/><Relationship Id="rId218" Type="http://schemas.openxmlformats.org/officeDocument/2006/relationships/slide" Target="slides/slide211.xml"/><Relationship Id="rId219" Type="http://schemas.openxmlformats.org/officeDocument/2006/relationships/slide" Target="slides/slide212.xml"/><Relationship Id="rId220" Type="http://schemas.openxmlformats.org/officeDocument/2006/relationships/slide" Target="slides/slide213.xml"/><Relationship Id="rId221" Type="http://schemas.openxmlformats.org/officeDocument/2006/relationships/slide" Target="slides/slide214.xml"/><Relationship Id="rId222" Type="http://schemas.openxmlformats.org/officeDocument/2006/relationships/slide" Target="slides/slide215.xml"/><Relationship Id="rId223" Type="http://schemas.openxmlformats.org/officeDocument/2006/relationships/slide" Target="slides/slide216.xml"/><Relationship Id="rId224" Type="http://schemas.openxmlformats.org/officeDocument/2006/relationships/slide" Target="slides/slide217.xml"/><Relationship Id="rId225" Type="http://schemas.openxmlformats.org/officeDocument/2006/relationships/slide" Target="slides/slide218.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Sheet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Sheet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Sheet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Sheet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Sheet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Sheet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Sheet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Sheet13.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Sheet14.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Sheet15.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Sheet16.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Sheet17.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Sheet18.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Sheet19.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Sheet20.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Sheet23.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Sheet24.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Sheet25.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Sheet26.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Sheet27.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Sheet28.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Sheet29.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Sheet30.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Sheet31.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Sheet32.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Sheet33.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Sheet34.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Sheet35.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Sheet36.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Sheet37.xlsx"/></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Sheet38.xlsx"/></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Sheet39.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Sheet40.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Sheet41.xlsx"/></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Sheet42.xlsx"/></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Sheet43.xlsx"/></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Sheet44.xlsx"/></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Sheet45.xlsx"/></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Sheet46.xlsx"/></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Sheet47.xlsx"/></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Sheet48.xlsx"/></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Sheet49.xlsx"/></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Sheet50.xlsx"/></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Sheet51.xlsx"/></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Excel_Sheet52.xlsx"/></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Sheet53.xlsx"/></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Sheet54.xlsx"/></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Sheet55.xlsx"/></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Sheet56.xlsx"/></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Sheet57.xlsx"/></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Sheet58.xlsx"/></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Sheet59.xlsx"/></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Sheet60.xlsx"/></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Sheet61.xlsx"/></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Sheet62.xlsx"/></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Sheet63.xlsx"/></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Sheet64.xlsx"/></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Sheet65.xlsx"/></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Sheet66.xlsx"/></Relationships>
</file>

<file path=ppt/charts/_rels/chart67.xml.rels><?xml version='1.0' encoding='UTF-8' standalone='yes'?>
<Relationships xmlns="http://schemas.openxmlformats.org/package/2006/relationships"><Relationship Id="rId1" Type="http://schemas.openxmlformats.org/officeDocument/2006/relationships/package" Target="../embeddings/Microsoft_Excel_Sheet67.xlsx"/></Relationships>
</file>

<file path=ppt/charts/_rels/chart68.xml.rels><?xml version='1.0' encoding='UTF-8' standalone='yes'?>
<Relationships xmlns="http://schemas.openxmlformats.org/package/2006/relationships"><Relationship Id="rId1" Type="http://schemas.openxmlformats.org/officeDocument/2006/relationships/package" Target="../embeddings/Microsoft_Excel_Sheet68.xlsx"/></Relationships>
</file>

<file path=ppt/charts/_rels/chart69.xml.rels><?xml version='1.0' encoding='UTF-8' standalone='yes'?>
<Relationships xmlns="http://schemas.openxmlformats.org/package/2006/relationships"><Relationship Id="rId1" Type="http://schemas.openxmlformats.org/officeDocument/2006/relationships/package" Target="../embeddings/Microsoft_Excel_Sheet69.xlsx"/></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Sheet70.xlsx"/></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Sheet71.xlsx"/></Relationships>
</file>

<file path=ppt/charts/_rels/chart72.xml.rels><?xml version='1.0' encoding='UTF-8' standalone='yes'?>
<Relationships xmlns="http://schemas.openxmlformats.org/package/2006/relationships"><Relationship Id="rId1" Type="http://schemas.openxmlformats.org/officeDocument/2006/relationships/package" Target="../embeddings/Microsoft_Excel_Sheet72.xlsx"/></Relationships>
</file>

<file path=ppt/charts/_rels/chart73.xml.rels><?xml version='1.0' encoding='UTF-8' standalone='yes'?>
<Relationships xmlns="http://schemas.openxmlformats.org/package/2006/relationships"><Relationship Id="rId1" Type="http://schemas.openxmlformats.org/officeDocument/2006/relationships/package" Target="../embeddings/Microsoft_Excel_Sheet73.xlsx"/></Relationships>
</file>

<file path=ppt/charts/_rels/chart74.xml.rels><?xml version='1.0' encoding='UTF-8' standalone='yes'?>
<Relationships xmlns="http://schemas.openxmlformats.org/package/2006/relationships"><Relationship Id="rId1" Type="http://schemas.openxmlformats.org/officeDocument/2006/relationships/package" Target="../embeddings/Microsoft_Excel_Sheet74.xlsx"/></Relationships>
</file>

<file path=ppt/charts/_rels/chart75.xml.rels><?xml version='1.0' encoding='UTF-8' standalone='yes'?>
<Relationships xmlns="http://schemas.openxmlformats.org/package/2006/relationships"><Relationship Id="rId1" Type="http://schemas.openxmlformats.org/officeDocument/2006/relationships/package" Target="../embeddings/Microsoft_Excel_Sheet75.xlsx"/></Relationships>
</file>

<file path=ppt/charts/_rels/chart76.xml.rels><?xml version='1.0' encoding='UTF-8' standalone='yes'?>
<Relationships xmlns="http://schemas.openxmlformats.org/package/2006/relationships"><Relationship Id="rId1" Type="http://schemas.openxmlformats.org/officeDocument/2006/relationships/package" Target="../embeddings/Microsoft_Excel_Sheet76.xlsx"/></Relationships>
</file>

<file path=ppt/charts/_rels/chart77.xml.rels><?xml version='1.0' encoding='UTF-8' standalone='yes'?>
<Relationships xmlns="http://schemas.openxmlformats.org/package/2006/relationships"><Relationship Id="rId1" Type="http://schemas.openxmlformats.org/officeDocument/2006/relationships/package" Target="../embeddings/Microsoft_Excel_Sheet77.xlsx"/></Relationships>
</file>

<file path=ppt/charts/_rels/chart78.xml.rels><?xml version='1.0' encoding='UTF-8' standalone='yes'?>
<Relationships xmlns="http://schemas.openxmlformats.org/package/2006/relationships"><Relationship Id="rId1" Type="http://schemas.openxmlformats.org/officeDocument/2006/relationships/package" Target="../embeddings/Microsoft_Excel_Sheet78.xlsx"/></Relationships>
</file>

<file path=ppt/charts/_rels/chart79.xml.rels><?xml version='1.0' encoding='UTF-8' standalone='yes'?>
<Relationships xmlns="http://schemas.openxmlformats.org/package/2006/relationships"><Relationship Id="rId1" Type="http://schemas.openxmlformats.org/officeDocument/2006/relationships/package" Target="../embeddings/Microsoft_Excel_Sheet79.xlsx"/></Relationships>
</file>

<file path=ppt/charts/_rels/chart80.xml.rels><?xml version='1.0' encoding='UTF-8' standalone='yes'?>
<Relationships xmlns="http://schemas.openxmlformats.org/package/2006/relationships"><Relationship Id="rId1" Type="http://schemas.openxmlformats.org/officeDocument/2006/relationships/package" Target="../embeddings/Microsoft_Excel_Sheet80.xlsx"/></Relationships>
</file>

<file path=ppt/charts/_rels/chart81.xml.rels><?xml version='1.0' encoding='UTF-8' standalone='yes'?>
<Relationships xmlns="http://schemas.openxmlformats.org/package/2006/relationships"><Relationship Id="rId1" Type="http://schemas.openxmlformats.org/officeDocument/2006/relationships/package" Target="../embeddings/Microsoft_Excel_Sheet81.xlsx"/></Relationships>
</file>

<file path=ppt/charts/_rels/chart82.xml.rels><?xml version='1.0' encoding='UTF-8' standalone='yes'?>
<Relationships xmlns="http://schemas.openxmlformats.org/package/2006/relationships"><Relationship Id="rId1" Type="http://schemas.openxmlformats.org/officeDocument/2006/relationships/package" Target="../embeddings/Microsoft_Excel_Sheet82.xlsx"/></Relationships>
</file>

<file path=ppt/charts/_rels/chart83.xml.rels><?xml version='1.0' encoding='UTF-8' standalone='yes'?>
<Relationships xmlns="http://schemas.openxmlformats.org/package/2006/relationships"><Relationship Id="rId1" Type="http://schemas.openxmlformats.org/officeDocument/2006/relationships/package" Target="../embeddings/Microsoft_Excel_Sheet83.xlsx"/></Relationships>
</file>

<file path=ppt/charts/_rels/chart84.xml.rels><?xml version='1.0' encoding='UTF-8' standalone='yes'?>
<Relationships xmlns="http://schemas.openxmlformats.org/package/2006/relationships"><Relationship Id="rId1" Type="http://schemas.openxmlformats.org/officeDocument/2006/relationships/package" Target="../embeddings/Microsoft_Excel_Sheet84.xlsx"/></Relationships>
</file>

<file path=ppt/charts/_rels/chart85.xml.rels><?xml version='1.0' encoding='UTF-8' standalone='yes'?>
<Relationships xmlns="http://schemas.openxmlformats.org/package/2006/relationships"><Relationship Id="rId1" Type="http://schemas.openxmlformats.org/officeDocument/2006/relationships/package" Target="../embeddings/Microsoft_Excel_Sheet85.xlsx"/></Relationships>
</file>

<file path=ppt/charts/_rels/chart86.xml.rels><?xml version='1.0' encoding='UTF-8' standalone='yes'?>
<Relationships xmlns="http://schemas.openxmlformats.org/package/2006/relationships"><Relationship Id="rId1" Type="http://schemas.openxmlformats.org/officeDocument/2006/relationships/package" Target="../embeddings/Microsoft_Excel_Sheet86.xlsx"/></Relationships>
</file>

<file path=ppt/charts/_rels/chart87.xml.rels><?xml version='1.0' encoding='UTF-8' standalone='yes'?>
<Relationships xmlns="http://schemas.openxmlformats.org/package/2006/relationships"><Relationship Id="rId1" Type="http://schemas.openxmlformats.org/officeDocument/2006/relationships/package" Target="../embeddings/Microsoft_Excel_Sheet87.xlsx"/></Relationships>
</file>

<file path=ppt/charts/_rels/chart88.xml.rels><?xml version='1.0' encoding='UTF-8' standalone='yes'?>
<Relationships xmlns="http://schemas.openxmlformats.org/package/2006/relationships"><Relationship Id="rId1" Type="http://schemas.openxmlformats.org/officeDocument/2006/relationships/package" Target="../embeddings/Microsoft_Excel_Sheet88.xlsx"/></Relationships>
</file>

<file path=ppt/charts/_rels/chart89.xml.rels><?xml version='1.0' encoding='UTF-8' standalone='yes'?>
<Relationships xmlns="http://schemas.openxmlformats.org/package/2006/relationships"><Relationship Id="rId1" Type="http://schemas.openxmlformats.org/officeDocument/2006/relationships/package" Target="../embeddings/Microsoft_Excel_Sheet89.xlsx"/></Relationships>
</file>

<file path=ppt/charts/_rels/chart90.xml.rels><?xml version='1.0' encoding='UTF-8' standalone='yes'?>
<Relationships xmlns="http://schemas.openxmlformats.org/package/2006/relationships"><Relationship Id="rId1" Type="http://schemas.openxmlformats.org/officeDocument/2006/relationships/package" Target="../embeddings/Microsoft_Excel_Sheet90.xlsx"/></Relationships>
</file>

<file path=ppt/charts/_rels/chart91.xml.rels><?xml version='1.0' encoding='UTF-8' standalone='yes'?>
<Relationships xmlns="http://schemas.openxmlformats.org/package/2006/relationships"><Relationship Id="rId1" Type="http://schemas.openxmlformats.org/officeDocument/2006/relationships/package" Target="../embeddings/Microsoft_Excel_Sheet91.xlsx"/></Relationships>
</file>

<file path=ppt/charts/_rels/chart92.xml.rels><?xml version='1.0' encoding='UTF-8' standalone='yes'?>
<Relationships xmlns="http://schemas.openxmlformats.org/package/2006/relationships"><Relationship Id="rId1" Type="http://schemas.openxmlformats.org/officeDocument/2006/relationships/package" Target="../embeddings/Microsoft_Excel_Sheet92.xlsx"/></Relationships>
</file>

<file path=ppt/charts/_rels/chart93.xml.rels><?xml version='1.0' encoding='UTF-8' standalone='yes'?>
<Relationships xmlns="http://schemas.openxmlformats.org/package/2006/relationships"><Relationship Id="rId1" Type="http://schemas.openxmlformats.org/officeDocument/2006/relationships/package" Target="../embeddings/Microsoft_Excel_Sheet93.xlsx"/></Relationships>
</file>

<file path=ppt/charts/_rels/chart94.xml.rels><?xml version='1.0' encoding='UTF-8' standalone='yes'?>
<Relationships xmlns="http://schemas.openxmlformats.org/package/2006/relationships"><Relationship Id="rId1" Type="http://schemas.openxmlformats.org/officeDocument/2006/relationships/package" Target="../embeddings/Microsoft_Excel_Sheet94.xlsx"/></Relationships>
</file>

<file path=ppt/charts/_rels/chart95.xml.rels><?xml version='1.0' encoding='UTF-8' standalone='yes'?>
<Relationships xmlns="http://schemas.openxmlformats.org/package/2006/relationships"><Relationship Id="rId1" Type="http://schemas.openxmlformats.org/officeDocument/2006/relationships/package" Target="../embeddings/Microsoft_Excel_Sheet95.xlsx"/></Relationships>
</file>

<file path=ppt/charts/_rels/chart96.xml.rels><?xml version='1.0' encoding='UTF-8' standalone='yes'?>
<Relationships xmlns="http://schemas.openxmlformats.org/package/2006/relationships"><Relationship Id="rId1" Type="http://schemas.openxmlformats.org/officeDocument/2006/relationships/package" Target="../embeddings/Microsoft_Excel_Sheet96.xlsx"/></Relationships>
</file>

<file path=ppt/charts/_rels/chart97.xml.rels><?xml version='1.0' encoding='UTF-8' standalone='yes'?>
<Relationships xmlns="http://schemas.openxmlformats.org/package/2006/relationships"><Relationship Id="rId1" Type="http://schemas.openxmlformats.org/officeDocument/2006/relationships/package" Target="../embeddings/Microsoft_Excel_Sheet97.xlsx"/></Relationships>
</file>

<file path=ppt/charts/_rels/chart98.xml.rels><?xml version='1.0' encoding='UTF-8' standalone='yes'?>
<Relationships xmlns="http://schemas.openxmlformats.org/package/2006/relationships"><Relationship Id="rId1" Type="http://schemas.openxmlformats.org/officeDocument/2006/relationships/package" Target="../embeddings/Microsoft_Excel_Sheet98.xlsx"/></Relationships>
</file>

<file path=ppt/charts/_rels/chart99.xml.rels><?xml version='1.0' encoding='UTF-8' standalone='yes'?>
<Relationships xmlns="http://schemas.openxmlformats.org/package/2006/relationships"><Relationship Id="rId1" Type="http://schemas.openxmlformats.org/officeDocument/2006/relationships/package" Target="../embeddings/Microsoft_Excel_Sheet99.xlsx"/></Relationships>
</file>

<file path=ppt/charts/_rels/chart100.xml.rels><?xml version='1.0' encoding='UTF-8' standalone='yes'?>
<Relationships xmlns="http://schemas.openxmlformats.org/package/2006/relationships"><Relationship Id="rId1" Type="http://schemas.openxmlformats.org/officeDocument/2006/relationships/package" Target="../embeddings/Microsoft_Excel_Sheet100.xlsx"/></Relationships>
</file>

<file path=ppt/charts/_rels/chart101.xml.rels><?xml version='1.0' encoding='UTF-8' standalone='yes'?>
<Relationships xmlns="http://schemas.openxmlformats.org/package/2006/relationships"><Relationship Id="rId1" Type="http://schemas.openxmlformats.org/officeDocument/2006/relationships/package" Target="../embeddings/Microsoft_Excel_Sheet101.xlsx"/></Relationships>
</file>

<file path=ppt/charts/_rels/chart102.xml.rels><?xml version='1.0' encoding='UTF-8' standalone='yes'?>
<Relationships xmlns="http://schemas.openxmlformats.org/package/2006/relationships"><Relationship Id="rId1" Type="http://schemas.openxmlformats.org/officeDocument/2006/relationships/package" Target="../embeddings/Microsoft_Excel_Sheet102.xlsx"/></Relationships>
</file>

<file path=ppt/charts/_rels/chart103.xml.rels><?xml version='1.0' encoding='UTF-8' standalone='yes'?>
<Relationships xmlns="http://schemas.openxmlformats.org/package/2006/relationships"><Relationship Id="rId1" Type="http://schemas.openxmlformats.org/officeDocument/2006/relationships/package" Target="../embeddings/Microsoft_Excel_Sheet103.xlsx"/></Relationships>
</file>

<file path=ppt/charts/_rels/chart104.xml.rels><?xml version='1.0' encoding='UTF-8' standalone='yes'?>
<Relationships xmlns="http://schemas.openxmlformats.org/package/2006/relationships"><Relationship Id="rId1" Type="http://schemas.openxmlformats.org/officeDocument/2006/relationships/package" Target="../embeddings/Microsoft_Excel_Sheet104.xlsx"/></Relationships>
</file>

<file path=ppt/charts/_rels/chart105.xml.rels><?xml version='1.0' encoding='UTF-8' standalone='yes'?>
<Relationships xmlns="http://schemas.openxmlformats.org/package/2006/relationships"><Relationship Id="rId1" Type="http://schemas.openxmlformats.org/officeDocument/2006/relationships/package" Target="../embeddings/Microsoft_Excel_Sheet105.xlsx"/></Relationships>
</file>

<file path=ppt/charts/_rels/chart106.xml.rels><?xml version='1.0' encoding='UTF-8' standalone='yes'?>
<Relationships xmlns="http://schemas.openxmlformats.org/package/2006/relationships"><Relationship Id="rId1" Type="http://schemas.openxmlformats.org/officeDocument/2006/relationships/package" Target="../embeddings/Microsoft_Excel_Sheet106.xlsx"/></Relationships>
</file>

<file path=ppt/charts/_rels/chart107.xml.rels><?xml version='1.0' encoding='UTF-8' standalone='yes'?>
<Relationships xmlns="http://schemas.openxmlformats.org/package/2006/relationships"><Relationship Id="rId1" Type="http://schemas.openxmlformats.org/officeDocument/2006/relationships/package" Target="../embeddings/Microsoft_Excel_Sheet107.xlsx"/></Relationships>
</file>

<file path=ppt/charts/_rels/chart108.xml.rels><?xml version='1.0' encoding='UTF-8' standalone='yes'?>
<Relationships xmlns="http://schemas.openxmlformats.org/package/2006/relationships"><Relationship Id="rId1" Type="http://schemas.openxmlformats.org/officeDocument/2006/relationships/package" Target="../embeddings/Microsoft_Excel_Sheet108.xlsx"/></Relationships>
</file>

<file path=ppt/charts/_rels/chart109.xml.rels><?xml version='1.0' encoding='UTF-8' standalone='yes'?>
<Relationships xmlns="http://schemas.openxmlformats.org/package/2006/relationships"><Relationship Id="rId1" Type="http://schemas.openxmlformats.org/officeDocument/2006/relationships/package" Target="../embeddings/Microsoft_Excel_Sheet109.xlsx"/></Relationships>
</file>

<file path=ppt/charts/_rels/chart110.xml.rels><?xml version='1.0' encoding='UTF-8' standalone='yes'?>
<Relationships xmlns="http://schemas.openxmlformats.org/package/2006/relationships"><Relationship Id="rId1" Type="http://schemas.openxmlformats.org/officeDocument/2006/relationships/package" Target="../embeddings/Microsoft_Excel_Sheet110.xlsx"/></Relationships>
</file>

<file path=ppt/charts/_rels/chart111.xml.rels><?xml version='1.0' encoding='UTF-8' standalone='yes'?>
<Relationships xmlns="http://schemas.openxmlformats.org/package/2006/relationships"><Relationship Id="rId1" Type="http://schemas.openxmlformats.org/officeDocument/2006/relationships/package" Target="../embeddings/Microsoft_Excel_Sheet111.xlsx"/></Relationships>
</file>

<file path=ppt/charts/_rels/chart112.xml.rels><?xml version='1.0' encoding='UTF-8' standalone='yes'?>
<Relationships xmlns="http://schemas.openxmlformats.org/package/2006/relationships"><Relationship Id="rId1" Type="http://schemas.openxmlformats.org/officeDocument/2006/relationships/package" Target="../embeddings/Microsoft_Excel_Sheet112.xlsx"/></Relationships>
</file>

<file path=ppt/charts/_rels/chart113.xml.rels><?xml version='1.0' encoding='UTF-8' standalone='yes'?>
<Relationships xmlns="http://schemas.openxmlformats.org/package/2006/relationships"><Relationship Id="rId1" Type="http://schemas.openxmlformats.org/officeDocument/2006/relationships/package" Target="../embeddings/Microsoft_Excel_Sheet113.xlsx"/></Relationships>
</file>

<file path=ppt/charts/_rels/chart114.xml.rels><?xml version='1.0' encoding='UTF-8' standalone='yes'?>
<Relationships xmlns="http://schemas.openxmlformats.org/package/2006/relationships"><Relationship Id="rId1" Type="http://schemas.openxmlformats.org/officeDocument/2006/relationships/package" Target="../embeddings/Microsoft_Excel_Sheet114.xlsx"/></Relationships>
</file>

<file path=ppt/charts/_rels/chart115.xml.rels><?xml version='1.0' encoding='UTF-8' standalone='yes'?>
<Relationships xmlns="http://schemas.openxmlformats.org/package/2006/relationships"><Relationship Id="rId1" Type="http://schemas.openxmlformats.org/officeDocument/2006/relationships/package" Target="../embeddings/Microsoft_Excel_Sheet115.xlsx"/></Relationships>
</file>

<file path=ppt/charts/_rels/chart116.xml.rels><?xml version='1.0' encoding='UTF-8' standalone='yes'?>
<Relationships xmlns="http://schemas.openxmlformats.org/package/2006/relationships"><Relationship Id="rId1" Type="http://schemas.openxmlformats.org/officeDocument/2006/relationships/package" Target="../embeddings/Microsoft_Excel_Sheet116.xlsx"/></Relationships>
</file>

<file path=ppt/charts/_rels/chart117.xml.rels><?xml version='1.0' encoding='UTF-8' standalone='yes'?>
<Relationships xmlns="http://schemas.openxmlformats.org/package/2006/relationships"><Relationship Id="rId1" Type="http://schemas.openxmlformats.org/officeDocument/2006/relationships/package" Target="../embeddings/Microsoft_Excel_Sheet117.xlsx"/></Relationships>
</file>

<file path=ppt/charts/_rels/chart118.xml.rels><?xml version='1.0' encoding='UTF-8' standalone='yes'?>
<Relationships xmlns="http://schemas.openxmlformats.org/package/2006/relationships"><Relationship Id="rId1" Type="http://schemas.openxmlformats.org/officeDocument/2006/relationships/package" Target="../embeddings/Microsoft_Excel_Sheet118.xlsx"/></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3.3412686076339515</c:v>
                </c:pt>
                <c:pt idx="1">
                  <c:v>4.258700165577789</c:v>
                </c:pt>
                <c:pt idx="2">
                  <c:v>3.9519882350633972</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5.621484218562681"/>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8755.68</c:v>
                </c:pt>
                <c:pt idx="2">
                  <c:v>0.0</c:v>
                </c:pt>
                <c:pt idx="3">
                  <c:v>10319.503999999999</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8755.68</c:v>
                </c:pt>
                <c:pt idx="1">
                  <c:v>1563.8239999999987</c:v>
                </c:pt>
                <c:pt idx="2">
                  <c:v>10319.503999999999</c:v>
                </c:pt>
                <c:pt idx="3">
                  <c:v>5340.140000000001</c:v>
                </c:pt>
                <c:pt idx="4">
                  <c:v>15659.644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3.857538701714458</c:v>
                </c:pt>
                <c:pt idx="1">
                  <c:v>5.6048056867851415</c:v>
                </c:pt>
                <c:pt idx="2">
                  <c:v>5.019141379020842</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7.398343506556387"/>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29774.215</c:v>
                </c:pt>
                <c:pt idx="2">
                  <c:v>0.0</c:v>
                </c:pt>
                <c:pt idx="3">
                  <c:v>35977.456</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29774.215</c:v>
                </c:pt>
                <c:pt idx="1">
                  <c:v>6203.240999999998</c:v>
                </c:pt>
                <c:pt idx="2">
                  <c:v>35977.456</c:v>
                </c:pt>
                <c:pt idx="3">
                  <c:v>26090.475</c:v>
                </c:pt>
                <c:pt idx="4">
                  <c:v>62067.931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29774.215</c:v>
                </c:pt>
                <c:pt idx="1">
                  <c:v>30844.417</c:v>
                </c:pt>
                <c:pt idx="2">
                  <c:v>31971.467</c:v>
                </c:pt>
                <c:pt idx="3">
                  <c:v>33177.77</c:v>
                </c:pt>
                <c:pt idx="4">
                  <c:v>34456.503</c:v>
                </c:pt>
              </c:numCache>
            </c:numRef>
          </c:val>
        </c:ser>
        <c:gapWidth val="50"/>
        <c:axId val="-2068027336"/>
        <c:axId val="-2113994440"/>
      </c:barChart>
      <c:barChart>
        <c:barDir val="col"/>
        <c:grouping val="clustered"/>
        <c:varyColors val="0"/>
        <c:ser>
          <c:idx val="1"/>
          <c:order val="1"/>
          <c:tx>
            <c:strRef>
              <c:f>Sheet1!$C$1</c:f>
              <c:strCache>
                <c:ptCount val="1"/>
                <c:pt idx="0">
                  <c:v>Volume (Thousand MT)</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8755.68</c:v>
                </c:pt>
                <c:pt idx="1">
                  <c:v>9039.389</c:v>
                </c:pt>
                <c:pt idx="2">
                  <c:v>9334.648</c:v>
                </c:pt>
                <c:pt idx="3">
                  <c:v>9643.349999999999</c:v>
                </c:pt>
                <c:pt idx="4">
                  <c:v>9967.573999999999</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40659"/>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3587"/>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35977.456</c:v>
                </c:pt>
                <c:pt idx="1">
                  <c:v>37657.649000000005</c:v>
                </c:pt>
                <c:pt idx="2">
                  <c:v>39515.742000000006</c:v>
                </c:pt>
                <c:pt idx="3">
                  <c:v>41575.032</c:v>
                </c:pt>
                <c:pt idx="4">
                  <c:v>43865.089</c:v>
                </c:pt>
                <c:pt idx="5">
                  <c:v>46393.68</c:v>
                </c:pt>
                <c:pt idx="6">
                  <c:v>49159.994</c:v>
                </c:pt>
                <c:pt idx="7">
                  <c:v>52122.945</c:v>
                </c:pt>
                <c:pt idx="8">
                  <c:v>55271.282</c:v>
                </c:pt>
                <c:pt idx="9">
                  <c:v>58587.019</c:v>
                </c:pt>
                <c:pt idx="10">
                  <c:v>62067.931</c:v>
                </c:pt>
              </c:numCache>
            </c:numRef>
          </c:val>
        </c:ser>
        <c:gapWidth val="50"/>
        <c:axId val="-2068027336"/>
        <c:axId val="-2113994440"/>
      </c:barChart>
      <c:barChart>
        <c:barDir val="col"/>
        <c:grouping val="clustered"/>
        <c:varyColors val="0"/>
        <c:ser>
          <c:idx val="1"/>
          <c:order val="1"/>
          <c:tx>
            <c:strRef>
              <c:f>Sheet1!$C$1</c:f>
              <c:strCache>
                <c:ptCount val="1"/>
                <c:pt idx="0">
                  <c:v>Volume (Thousand MT)</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10319.503999999999</c:v>
                </c:pt>
                <c:pt idx="1">
                  <c:v>10701.550000000001</c:v>
                </c:pt>
                <c:pt idx="2">
                  <c:v>11117.912999999999</c:v>
                </c:pt>
                <c:pt idx="3">
                  <c:v>11571.486</c:v>
                </c:pt>
                <c:pt idx="4">
                  <c:v>12068.725</c:v>
                </c:pt>
                <c:pt idx="5">
                  <c:v>12607.302999999998</c:v>
                </c:pt>
                <c:pt idx="6">
                  <c:v>13182.788</c:v>
                </c:pt>
                <c:pt idx="7">
                  <c:v>13782.581</c:v>
                </c:pt>
                <c:pt idx="8">
                  <c:v>14400.092</c:v>
                </c:pt>
                <c:pt idx="9">
                  <c:v>15026.465999999999</c:v>
                </c:pt>
                <c:pt idx="10">
                  <c:v>15659.644</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73240"/>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23872"/>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Sheet1!$A$2:$A$3</c:f>
              <c:strCache>
                <c:ptCount val="2"/>
                <c:pt idx="0">
                  <c:v>U.S.</c:v>
                </c:pt>
                <c:pt idx="1">
                  <c:v>Canada</c:v>
                </c:pt>
              </c:strCache>
            </c:strRef>
          </c:cat>
          <c:val>
            <c:numRef>
              <c:f>Sheet1!$B$2:$B$3</c:f>
              <c:numCache>
                <c:formatCode>General</c:formatCode>
                <c:ptCount val="2"/>
                <c:pt idx="0">
                  <c:v>98.20288060241582</c:v>
                </c:pt>
                <c:pt idx="1">
                  <c:v>117.60737677479867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Sheet1!$A$2:$A$3</c:f>
              <c:strCache>
                <c:ptCount val="2"/>
                <c:pt idx="0">
                  <c:v>Canada</c:v>
                </c:pt>
                <c:pt idx="1">
                  <c:v>U.S.</c:v>
                </c:pt>
              </c:strCache>
            </c:strRef>
          </c:cat>
          <c:val>
            <c:numRef>
              <c:f>Sheet1!$B$2:$B$3</c:f>
              <c:numCache>
                <c:formatCode>General</c:formatCode>
                <c:ptCount val="2"/>
                <c:pt idx="0">
                  <c:v>10.93640878519843</c:v>
                </c:pt>
                <c:pt idx="1">
                  <c:v>89.06355288663775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tx>
                <c:rich>
                  <a:bodyPr/>
                  <a:lstStyle/>
                  <a:p>
                    <a:pPr>
                      <a:defRPr sz="1100" b="1">
                        <a:solidFill>
                          <a:srgbClr val="FFFFFF"/>
                        </a:solidFill>
                        <a:latin typeface="Calibri"/>
                      </a:defRPr>
                    </a:pPr>
                    <a:r>
                      <a:t>52.7%</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11.3%</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29.0%</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7.1%</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Rollstock Films</c:v>
                </c:pt>
                <c:pt idx="1">
                  <c:v>Barrier Casings</c:v>
                </c:pt>
                <c:pt idx="2">
                  <c:v>Premade Pouches &amp; Bags</c:v>
                </c:pt>
                <c:pt idx="3">
                  <c:v>Sachets &amp; Stick Packs</c:v>
                </c:pt>
              </c:strCache>
            </c:strRef>
          </c:cat>
          <c:val>
            <c:numRef>
              <c:f>Sheet1!$B$2:$B$5</c:f>
              <c:numCache>
                <c:formatCode>General</c:formatCode>
                <c:ptCount val="4"/>
                <c:pt idx="0">
                  <c:v>32692.926</c:v>
                </c:pt>
                <c:pt idx="1">
                  <c:v>6997.54</c:v>
                </c:pt>
                <c:pt idx="2">
                  <c:v>17986.193</c:v>
                </c:pt>
                <c:pt idx="3">
                  <c:v>4391.272</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0.06972246563746595</c:v>
                </c:pt>
                <c:pt idx="1">
                  <c:v>0.07220011420853739</c:v>
                </c:pt>
                <c:pt idx="2">
                  <c:v>0.07428603968536827</c:v>
                </c:pt>
                <c:pt idx="3">
                  <c:v>0.07393348890055179</c:v>
                </c:pt>
                <c:pt idx="4">
                  <c:v>0.0714117714813783</c:v>
                </c:pt>
                <c:pt idx="5">
                  <c:v>0.0695363971677017</c:v>
                </c:pt>
                <c:pt idx="6">
                  <c:v>0.0677442640115512</c:v>
                </c:pt>
                <c:pt idx="7">
                  <c:v>0.06582482084977255</c:v>
                </c:pt>
                <c:pt idx="8">
                  <c:v>0.06492875427169731</c:v>
                </c:pt>
                <c:pt idx="9">
                  <c:v>0.06374379191161966</c:v>
                </c:pt>
                <c:pt idx="10">
                  <c:v>0.062397243775167796</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0.05263274402673762</c:v>
                </c:pt>
                <c:pt idx="1">
                  <c:v>0.05263274402673762</c:v>
                </c:pt>
                <c:pt idx="2">
                  <c:v>0.05396274402673762</c:v>
                </c:pt>
                <c:pt idx="3">
                  <c:v>0.05630274402673762</c:v>
                </c:pt>
                <c:pt idx="4">
                  <c:v>0.05863274402673762</c:v>
                </c:pt>
                <c:pt idx="5">
                  <c:v>0.058852744026737625</c:v>
                </c:pt>
                <c:pt idx="6">
                  <c:v>0.057222744026737625</c:v>
                </c:pt>
                <c:pt idx="7">
                  <c:v>0.05530274402673762</c:v>
                </c:pt>
                <c:pt idx="8">
                  <c:v>0.05449274402673762</c:v>
                </c:pt>
                <c:pt idx="9">
                  <c:v>0.05293274402673762</c:v>
                </c:pt>
                <c:pt idx="10">
                  <c:v>0.051622744026737624</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0.03856336734495097</c:v>
                </c:pt>
                <c:pt idx="1">
                  <c:v>0.041903367344950974</c:v>
                </c:pt>
                <c:pt idx="2">
                  <c:v>0.04407336734495097</c:v>
                </c:pt>
                <c:pt idx="3">
                  <c:v>0.04517336734495097</c:v>
                </c:pt>
                <c:pt idx="4">
                  <c:v>0.04517336734495097</c:v>
                </c:pt>
                <c:pt idx="5">
                  <c:v>0.04390336734495097</c:v>
                </c:pt>
                <c:pt idx="6">
                  <c:v>0.041563367344950974</c:v>
                </c:pt>
                <c:pt idx="7">
                  <c:v>0.04014336734495097</c:v>
                </c:pt>
                <c:pt idx="8">
                  <c:v>0.03887336734495097</c:v>
                </c:pt>
                <c:pt idx="9">
                  <c:v>0.03765336734495097</c:v>
                </c:pt>
                <c:pt idx="10">
                  <c:v>0.03647336734495097</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U.S.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91.24669170146161</c:v>
                </c:pt>
                <c:pt idx="1">
                  <c:v>90.36895091612556</c:v>
                </c:pt>
              </c:numCache>
            </c:numRef>
          </c:val>
        </c:ser>
        <c:ser>
          <c:idx val="1"/>
          <c:order val="1"/>
          <c:tx>
            <c:strRef>
              <c:f>Sheet1!$C$1</c:f>
              <c:strCache>
                <c:ptCount val="1"/>
                <c:pt idx="0">
                  <c:v>Canada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8.753308298538379</c:v>
                </c:pt>
                <c:pt idx="1">
                  <c:v>9.63104908387445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U.S.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91.12228755480342</c:v>
                </c:pt>
                <c:pt idx="1">
                  <c:v>90.25689756368547</c:v>
                </c:pt>
              </c:numCache>
            </c:numRef>
          </c:val>
        </c:ser>
        <c:ser>
          <c:idx val="1"/>
          <c:order val="1"/>
          <c:tx>
            <c:strRef>
              <c:f>Sheet1!$C$1</c:f>
              <c:strCache>
                <c:ptCount val="1"/>
                <c:pt idx="0">
                  <c:v>Canada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8.87771244519658</c:v>
                </c:pt>
                <c:pt idx="1">
                  <c:v>9.743102436314533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U.S.</c:v>
                </c:pt>
              </c:strCache>
            </c:strRef>
          </c:tx>
          <c:spPr>
            <a:solidFill>
              <a:srgbClr val="3D85C6"/>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8022.105</c:v>
                </c:pt>
                <c:pt idx="1">
                  <c:v>8275.597</c:v>
                </c:pt>
                <c:pt idx="2">
                  <c:v>8539.088</c:v>
                </c:pt>
                <c:pt idx="3">
                  <c:v>8814.282</c:v>
                </c:pt>
                <c:pt idx="4">
                  <c:v>9102.993</c:v>
                </c:pt>
                <c:pt idx="5">
                  <c:v>9416.206</c:v>
                </c:pt>
                <c:pt idx="6">
                  <c:v>9756.076</c:v>
                </c:pt>
                <c:pt idx="7">
                  <c:v>10126.262</c:v>
                </c:pt>
                <c:pt idx="8">
                  <c:v>10529.212</c:v>
                </c:pt>
                <c:pt idx="9">
                  <c:v>10970.872</c:v>
                </c:pt>
                <c:pt idx="10">
                  <c:v>11449.076</c:v>
                </c:pt>
                <c:pt idx="11">
                  <c:v>11959.808</c:v>
                </c:pt>
                <c:pt idx="12">
                  <c:v>12491.56</c:v>
                </c:pt>
                <c:pt idx="13">
                  <c:v>13038.35</c:v>
                </c:pt>
                <c:pt idx="14">
                  <c:v>13592.282</c:v>
                </c:pt>
                <c:pt idx="15">
                  <c:v>14151.456</c:v>
                </c:pt>
              </c:numCache>
            </c:numRef>
          </c:val>
        </c:ser>
        <c:ser>
          <c:idx val="1"/>
          <c:order val="1"/>
          <c:tx>
            <c:strRef>
              <c:f>Sheet1!$C$1</c:f>
              <c:strCache>
                <c:ptCount val="1"/>
                <c:pt idx="0">
                  <c:v>Canada</c:v>
                </c:pt>
              </c:strCache>
            </c:strRef>
          </c:tx>
          <c:spPr>
            <a:solidFill>
              <a:srgbClr val="9E7E0A"/>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733.575</c:v>
                </c:pt>
                <c:pt idx="1">
                  <c:v>763.792</c:v>
                </c:pt>
                <c:pt idx="2">
                  <c:v>795.56</c:v>
                </c:pt>
                <c:pt idx="3">
                  <c:v>829.068</c:v>
                </c:pt>
                <c:pt idx="4">
                  <c:v>864.581</c:v>
                </c:pt>
                <c:pt idx="5">
                  <c:v>903.298</c:v>
                </c:pt>
                <c:pt idx="6">
                  <c:v>945.474</c:v>
                </c:pt>
                <c:pt idx="7">
                  <c:v>991.651</c:v>
                </c:pt>
                <c:pt idx="8">
                  <c:v>1042.274</c:v>
                </c:pt>
                <c:pt idx="9">
                  <c:v>1097.853</c:v>
                </c:pt>
                <c:pt idx="10">
                  <c:v>1158.227</c:v>
                </c:pt>
                <c:pt idx="11">
                  <c:v>1222.98</c:v>
                </c:pt>
                <c:pt idx="12">
                  <c:v>1291.021</c:v>
                </c:pt>
                <c:pt idx="13">
                  <c:v>1361.742</c:v>
                </c:pt>
                <c:pt idx="14">
                  <c:v>1434.184</c:v>
                </c:pt>
                <c:pt idx="15">
                  <c:v>1508.188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U.S.</c:v>
                </c:pt>
              </c:strCache>
            </c:strRef>
          </c:tx>
          <c:spPr>
            <a:solidFill>
              <a:srgbClr val="3D85C6"/>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27238.141</c:v>
                </c:pt>
                <c:pt idx="1">
                  <c:v>28196.044</c:v>
                </c:pt>
                <c:pt idx="2">
                  <c:v>29204.053</c:v>
                </c:pt>
                <c:pt idx="3">
                  <c:v>30282.373</c:v>
                </c:pt>
                <c:pt idx="4">
                  <c:v>31424.328</c:v>
                </c:pt>
                <c:pt idx="5">
                  <c:v>32783.48</c:v>
                </c:pt>
                <c:pt idx="6">
                  <c:v>34283.978</c:v>
                </c:pt>
                <c:pt idx="7">
                  <c:v>35941.775</c:v>
                </c:pt>
                <c:pt idx="8">
                  <c:v>37778.007</c:v>
                </c:pt>
                <c:pt idx="9">
                  <c:v>39819.357</c:v>
                </c:pt>
                <c:pt idx="10">
                  <c:v>42073.19</c:v>
                </c:pt>
                <c:pt idx="11">
                  <c:v>44538.493</c:v>
                </c:pt>
                <c:pt idx="12">
                  <c:v>47177.145</c:v>
                </c:pt>
                <c:pt idx="13">
                  <c:v>49979.004</c:v>
                </c:pt>
                <c:pt idx="14">
                  <c:v>52927.447</c:v>
                </c:pt>
                <c:pt idx="15">
                  <c:v>56020.588</c:v>
                </c:pt>
              </c:numCache>
            </c:numRef>
          </c:val>
        </c:ser>
        <c:ser>
          <c:idx val="1"/>
          <c:order val="1"/>
          <c:tx>
            <c:strRef>
              <c:f>Sheet1!$C$1</c:f>
              <c:strCache>
                <c:ptCount val="1"/>
                <c:pt idx="0">
                  <c:v>Canada</c:v>
                </c:pt>
              </c:strCache>
            </c:strRef>
          </c:tx>
          <c:spPr>
            <a:solidFill>
              <a:srgbClr val="9E7E0A"/>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2536.075</c:v>
                </c:pt>
                <c:pt idx="1">
                  <c:v>2648.375</c:v>
                </c:pt>
                <c:pt idx="2">
                  <c:v>2767.414</c:v>
                </c:pt>
                <c:pt idx="3">
                  <c:v>2895.397</c:v>
                </c:pt>
                <c:pt idx="4">
                  <c:v>3032.174</c:v>
                </c:pt>
                <c:pt idx="5">
                  <c:v>3193.975</c:v>
                </c:pt>
                <c:pt idx="6">
                  <c:v>3373.669</c:v>
                </c:pt>
                <c:pt idx="7">
                  <c:v>3573.965</c:v>
                </c:pt>
                <c:pt idx="8">
                  <c:v>3797.025</c:v>
                </c:pt>
                <c:pt idx="9">
                  <c:v>4045.732</c:v>
                </c:pt>
                <c:pt idx="10">
                  <c:v>4320.493</c:v>
                </c:pt>
                <c:pt idx="11">
                  <c:v>4621.503</c:v>
                </c:pt>
                <c:pt idx="12">
                  <c:v>4945.8</c:v>
                </c:pt>
                <c:pt idx="13">
                  <c:v>5292.279</c:v>
                </c:pt>
                <c:pt idx="14">
                  <c:v>5659.573</c:v>
                </c:pt>
                <c:pt idx="15">
                  <c:v>6047.342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Rollstock Films</c:v>
                </c:pt>
              </c:strCache>
            </c:strRef>
          </c:tx>
          <c:spPr>
            <a:solidFill>
              <a:srgbClr val="3D85C6"/>
            </a:solidFill>
            <a:ln>
              <a:noFill/>
            </a:ln>
          </c:spPr>
          <c:dLbls>
            <c:dLbl>
              <c:idx val="0"/>
              <c:tx>
                <c:rich>
                  <a:bodyPr/>
                  <a:lstStyle/>
                  <a:p>
                    <a:r>
                      <a:rPr sz="1100">
                        <a:solidFill>
                          <a:srgbClr val="FFFFFF"/>
                        </a:solidFill>
                        <a:latin typeface="Calibri"/>
                      </a:rPr>
                      <a:t>53%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53%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Sheet1!$B$2:$B$3</c:f>
              <c:numCache>
                <c:formatCode>General</c:formatCode>
                <c:ptCount val="2"/>
                <c:pt idx="0">
                  <c:v>53.492710346271366</c:v>
                </c:pt>
                <c:pt idx="1">
                  <c:v>52.584308071756126</c:v>
                </c:pt>
              </c:numCache>
            </c:numRef>
          </c:val>
        </c:ser>
        <c:ser>
          <c:idx val="1"/>
          <c:order val="1"/>
          <c:tx>
            <c:strRef>
              <c:f>Sheet1!$C$1</c:f>
              <c:strCache>
                <c:ptCount val="1"/>
                <c:pt idx="0">
                  <c:v>Barrier Casings</c:v>
                </c:pt>
              </c:strCache>
            </c:strRef>
          </c:tx>
          <c:spPr>
            <a:solidFill>
              <a:srgbClr val="9E7E0A"/>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Sheet1!$C$2:$C$3</c:f>
              <c:numCache>
                <c:formatCode>General</c:formatCode>
                <c:ptCount val="2"/>
                <c:pt idx="0">
                  <c:v>10.921631964345304</c:v>
                </c:pt>
                <c:pt idx="1">
                  <c:v>11.312040029571273</c:v>
                </c:pt>
              </c:numCache>
            </c:numRef>
          </c:val>
        </c:ser>
        <c:ser>
          <c:idx val="2"/>
          <c:order val="2"/>
          <c:tx>
            <c:strRef>
              <c:f>Sheet1!$D$1</c:f>
              <c:strCache>
                <c:ptCount val="1"/>
                <c:pt idx="0">
                  <c:v>Premade Pouches &amp; Bags</c:v>
                </c:pt>
              </c:strCache>
            </c:strRef>
          </c:tx>
          <c:spPr>
            <a:solidFill>
              <a:srgbClr val="008189"/>
            </a:solidFill>
            <a:ln>
              <a:noFill/>
            </a:ln>
          </c:spPr>
          <c:dLbls>
            <c:dLbl>
              <c:idx val="0"/>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Sheet1!$D$2:$D$3</c:f>
              <c:numCache>
                <c:formatCode>General</c:formatCode>
                <c:ptCount val="2"/>
                <c:pt idx="0">
                  <c:v>28.562236805682105</c:v>
                </c:pt>
                <c:pt idx="1">
                  <c:v>29.023145688321534</c:v>
                </c:pt>
              </c:numCache>
            </c:numRef>
          </c:val>
        </c:ser>
        <c:ser>
          <c:idx val="3"/>
          <c:order val="3"/>
          <c:tx>
            <c:strRef>
              <c:f>Sheet1!$E$1</c:f>
              <c:strCache>
                <c:ptCount val="1"/>
                <c:pt idx="0">
                  <c:v>Sachets &amp; Stick Packs</c:v>
                </c:pt>
              </c:strCache>
            </c:strRef>
          </c:tx>
          <c:spPr>
            <a:solidFill>
              <a:srgbClr val="40315E"/>
            </a:solidFill>
            <a:ln>
              <a:noFill/>
            </a:ln>
          </c:spPr>
          <c:dLbls>
            <c:dLbl>
              <c:idx val="0"/>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Sheet1!$E$2:$E$3</c:f>
              <c:numCache>
                <c:formatCode>General</c:formatCode>
                <c:ptCount val="2"/>
                <c:pt idx="0">
                  <c:v>7.023420883701226</c:v>
                </c:pt>
                <c:pt idx="1">
                  <c:v>7.0805062103510705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Rollstock Films</c:v>
                </c:pt>
              </c:strCache>
            </c:strRef>
          </c:tx>
          <c:spPr>
            <a:solidFill>
              <a:srgbClr val="3D85C6"/>
            </a:solidFill>
          </c:spPr>
          <c:invertIfNegative val="0"/>
          <c:xVal>
            <c:numRef>
              <c:f>Sheet1!$A$2:$A$2</c:f>
              <c:numCache>
                <c:formatCode>General</c:formatCode>
                <c:ptCount val="1"/>
                <c:pt idx="0">
                  <c:v>97.2482535476031</c:v>
                </c:pt>
              </c:numCache>
            </c:numRef>
          </c:xVal>
          <c:yVal>
            <c:numRef>
              <c:f>Sheet1!$B$2:$B$2</c:f>
              <c:numCache>
                <c:formatCode>General</c:formatCode>
                <c:ptCount val="1"/>
                <c:pt idx="0">
                  <c:v>213.79314868733354</c:v>
                </c:pt>
              </c:numCache>
            </c:numRef>
          </c:yVal>
          <c:bubbleSize>
            <c:numRef>
              <c:f>Sheet1!$C$2:$C$2</c:f>
              <c:numCache>
                <c:formatCode>General</c:formatCode>
                <c:ptCount val="1"/>
                <c:pt idx="0">
                  <c:v>32692.926</c:v>
                </c:pt>
              </c:numCache>
            </c:numRef>
          </c:bubbleSize>
          <c:bubble3D val="0"/>
        </c:ser>
        <c:ser>
          <c:idx val="1"/>
          <c:order val="1"/>
          <c:tx>
            <c:strRef>
              <c:f>Sheet1!$B$4</c:f>
              <c:strCache>
                <c:ptCount val="1"/>
                <c:pt idx="0">
                  <c:v>Barrier Casings</c:v>
                </c:pt>
              </c:strCache>
            </c:strRef>
          </c:tx>
          <c:spPr>
            <a:solidFill>
              <a:srgbClr val="9E7E0A"/>
            </a:solidFill>
          </c:spPr>
          <c:invertIfNegative val="0"/>
          <c:xVal>
            <c:numRef>
              <c:f>Sheet1!$A$5:$A$5</c:f>
              <c:numCache>
                <c:formatCode>General</c:formatCode>
                <c:ptCount val="1"/>
                <c:pt idx="0">
                  <c:v>103.58045107193644</c:v>
                </c:pt>
              </c:numCache>
            </c:numRef>
          </c:xVal>
          <c:yVal>
            <c:numRef>
              <c:f>Sheet1!$B$5:$B$5</c:f>
              <c:numCache>
                <c:formatCode>General</c:formatCode>
                <c:ptCount val="1"/>
                <c:pt idx="0">
                  <c:v>44.24795349621163</c:v>
                </c:pt>
              </c:numCache>
            </c:numRef>
          </c:yVal>
          <c:bubbleSize>
            <c:numRef>
              <c:f>Sheet1!$C$5:$C$5</c:f>
              <c:numCache>
                <c:formatCode>General</c:formatCode>
                <c:ptCount val="1"/>
                <c:pt idx="0">
                  <c:v>6997.54</c:v>
                </c:pt>
              </c:numCache>
            </c:numRef>
          </c:bubbleSize>
          <c:bubble3D val="0"/>
        </c:ser>
        <c:ser>
          <c:idx val="2"/>
          <c:order val="2"/>
          <c:tx>
            <c:strRef>
              <c:f>Sheet1!$B$7</c:f>
              <c:strCache>
                <c:ptCount val="1"/>
                <c:pt idx="0">
                  <c:v>Premade Pouches &amp; Bags</c:v>
                </c:pt>
              </c:strCache>
            </c:strRef>
          </c:tx>
          <c:spPr>
            <a:solidFill>
              <a:srgbClr val="008189"/>
            </a:solidFill>
          </c:spPr>
          <c:invertIfNegative val="0"/>
          <c:xVal>
            <c:numRef>
              <c:f>Sheet1!$A$8:$A$8</c:f>
              <c:numCache>
                <c:formatCode>General</c:formatCode>
                <c:ptCount val="1"/>
                <c:pt idx="0">
                  <c:v>103.52496983142716</c:v>
                </c:pt>
              </c:numCache>
            </c:numRef>
          </c:xVal>
          <c:yVal>
            <c:numRef>
              <c:f>Sheet1!$B$8:$B$8</c:f>
              <c:numCache>
                <c:formatCode>General</c:formatCode>
                <c:ptCount val="1"/>
                <c:pt idx="0">
                  <c:v>113.76657649167856</c:v>
                </c:pt>
              </c:numCache>
            </c:numRef>
          </c:yVal>
          <c:bubbleSize>
            <c:numRef>
              <c:f>Sheet1!$C$8:$C$8</c:f>
              <c:numCache>
                <c:formatCode>General</c:formatCode>
                <c:ptCount val="1"/>
                <c:pt idx="0">
                  <c:v>17986.193</c:v>
                </c:pt>
              </c:numCache>
            </c:numRef>
          </c:bubbleSize>
          <c:bubble3D val="0"/>
        </c:ser>
        <c:ser>
          <c:idx val="3"/>
          <c:order val="3"/>
          <c:tx>
            <c:strRef>
              <c:f>Sheet1!$B$10</c:f>
              <c:strCache>
                <c:ptCount val="1"/>
                <c:pt idx="0">
                  <c:v>Sachets &amp; Stick Packs</c:v>
                </c:pt>
              </c:strCache>
            </c:strRef>
          </c:tx>
          <c:spPr>
            <a:solidFill>
              <a:srgbClr val="40315E"/>
            </a:solidFill>
          </c:spPr>
          <c:invertIfNegative val="0"/>
          <c:xVal>
            <c:numRef>
              <c:f>Sheet1!$A$11:$A$11</c:f>
              <c:numCache>
                <c:formatCode>General</c:formatCode>
                <c:ptCount val="1"/>
                <c:pt idx="0">
                  <c:v>100.71695269917886</c:v>
                </c:pt>
              </c:numCache>
            </c:numRef>
          </c:xVal>
          <c:yVal>
            <c:numRef>
              <c:f>Sheet1!$B$11:$B$11</c:f>
              <c:numCache>
                <c:formatCode>General</c:formatCode>
                <c:ptCount val="1"/>
                <c:pt idx="0">
                  <c:v>28.19232132477627</c:v>
                </c:pt>
              </c:numCache>
            </c:numRef>
          </c:yVal>
          <c:bubbleSize>
            <c:numRef>
              <c:f>Sheet1!$C$11:$C$11</c:f>
              <c:numCache>
                <c:formatCode>General</c:formatCode>
                <c:ptCount val="1"/>
                <c:pt idx="0">
                  <c:v>4391.272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7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19229.334</c:v>
                </c:pt>
                <c:pt idx="2">
                  <c:v>21025.613</c:v>
                </c:pt>
                <c:pt idx="3">
                  <c:v>23242.138</c:v>
                </c:pt>
                <c:pt idx="4">
                  <c:v>25991.342</c:v>
                </c:pt>
                <c:pt idx="5">
                  <c:v>29178.504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19229.334</c:v>
                </c:pt>
                <c:pt idx="1">
                  <c:v>1796.2790000000023</c:v>
                </c:pt>
                <c:pt idx="2">
                  <c:v>2216.524999999998</c:v>
                </c:pt>
                <c:pt idx="3">
                  <c:v>2749.2040000000015</c:v>
                </c:pt>
                <c:pt idx="4">
                  <c:v>3187.1620000000003</c:v>
                </c:pt>
                <c:pt idx="5">
                  <c:v>3514.4219999999987</c:v>
                </c:pt>
                <c:pt idx="6">
                  <c:v>32692.926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3979.822</c:v>
                </c:pt>
                <c:pt idx="2">
                  <c:v>4396.623</c:v>
                </c:pt>
                <c:pt idx="3">
                  <c:v>4900.3820000000005</c:v>
                </c:pt>
                <c:pt idx="4">
                  <c:v>5510.921</c:v>
                </c:pt>
                <c:pt idx="5">
                  <c:v>6211.477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3979.822</c:v>
                </c:pt>
                <c:pt idx="1">
                  <c:v>416.8009999999995</c:v>
                </c:pt>
                <c:pt idx="2">
                  <c:v>503.7590000000009</c:v>
                </c:pt>
                <c:pt idx="3">
                  <c:v>610.5389999999998</c:v>
                </c:pt>
                <c:pt idx="4">
                  <c:v>700.5559999999996</c:v>
                </c:pt>
                <c:pt idx="5">
                  <c:v>786.0630000000001</c:v>
                </c:pt>
                <c:pt idx="6">
                  <c:v>6997.54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10232.58</c:v>
                </c:pt>
                <c:pt idx="2">
                  <c:v>11312.526</c:v>
                </c:pt>
                <c:pt idx="3">
                  <c:v>12631.833</c:v>
                </c:pt>
                <c:pt idx="4">
                  <c:v>14190.976999999999</c:v>
                </c:pt>
                <c:pt idx="5">
                  <c:v>15980.219000000001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10232.58</c:v>
                </c:pt>
                <c:pt idx="1">
                  <c:v>1079.946</c:v>
                </c:pt>
                <c:pt idx="2">
                  <c:v>1319.3070000000007</c:v>
                </c:pt>
                <c:pt idx="3">
                  <c:v>1559.1439999999984</c:v>
                </c:pt>
                <c:pt idx="4">
                  <c:v>1789.242000000002</c:v>
                </c:pt>
                <c:pt idx="5">
                  <c:v>2005.9739999999983</c:v>
                </c:pt>
                <c:pt idx="6">
                  <c:v>17986.193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2535.72</c:v>
                </c:pt>
                <c:pt idx="2">
                  <c:v>2780.98</c:v>
                </c:pt>
                <c:pt idx="3">
                  <c:v>3090.736</c:v>
                </c:pt>
                <c:pt idx="4">
                  <c:v>3466.754</c:v>
                </c:pt>
                <c:pt idx="5">
                  <c:v>3901.082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2535.72</c:v>
                </c:pt>
                <c:pt idx="1">
                  <c:v>245.26000000000022</c:v>
                </c:pt>
                <c:pt idx="2">
                  <c:v>309.75599999999986</c:v>
                </c:pt>
                <c:pt idx="3">
                  <c:v>376.01800000000003</c:v>
                </c:pt>
                <c:pt idx="4">
                  <c:v>434.328</c:v>
                </c:pt>
                <c:pt idx="5">
                  <c:v>490.19000000000005</c:v>
                </c:pt>
                <c:pt idx="6">
                  <c:v>4391.272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Rollstock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54.11363154326655</c:v>
                </c:pt>
                <c:pt idx="1">
                  <c:v>53.448287171833385</c:v>
                </c:pt>
                <c:pt idx="2">
                  <c:v>52.67281424283339</c:v>
                </c:pt>
              </c:numCache>
            </c:numRef>
          </c:val>
        </c:ser>
        <c:ser>
          <c:idx val="1"/>
          <c:order val="1"/>
          <c:tx>
            <c:strRef>
              <c:f>Sheet1!$C$1</c:f>
              <c:strCache>
                <c:ptCount val="1"/>
                <c:pt idx="0">
                  <c:v>Premade Pouches &amp; Bags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28.055379461725522</c:v>
                </c:pt>
                <c:pt idx="1">
                  <c:v>28.44164412291964</c:v>
                </c:pt>
                <c:pt idx="2">
                  <c:v>28.9782383756275</c:v>
                </c:pt>
              </c:numCache>
            </c:numRef>
          </c:val>
        </c:ser>
        <c:ser>
          <c:idx val="2"/>
          <c:order val="2"/>
          <c:tx>
            <c:strRef>
              <c:f>Sheet1!$D$1</c:f>
              <c:strCache>
                <c:ptCount val="1"/>
                <c:pt idx="0">
                  <c:v>Barrier Casings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10.727507005642298</c:v>
                </c:pt>
                <c:pt idx="1">
                  <c:v>11.061988374052907</c:v>
                </c:pt>
                <c:pt idx="2">
                  <c:v>11.274002350746958</c:v>
                </c:pt>
              </c:numCache>
            </c:numRef>
          </c:val>
        </c:ser>
        <c:ser>
          <c:idx val="3"/>
          <c:order val="3"/>
          <c:tx>
            <c:strRef>
              <c:f>Sheet1!$E$1</c:f>
              <c:strCache>
                <c:ptCount val="1"/>
                <c:pt idx="0">
                  <c:v>Sachets &amp; Stick Packs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7.10348198936563</c:v>
                </c:pt>
                <c:pt idx="1">
                  <c:v>7.048080331194067</c:v>
                </c:pt>
                <c:pt idx="2">
                  <c:v>7.07494503079215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PE-Based</c:v>
                </c:pt>
              </c:strCache>
            </c:strRef>
          </c:tx>
          <c:spPr>
            <a:solidFill>
              <a:srgbClr val="3D85C6"/>
            </a:solidFill>
            <a:ln>
              <a:noFill/>
            </a:ln>
          </c:spPr>
          <c:dLbls>
            <c:dLbl>
              <c:idx val="0"/>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Sheet1!$B$2:$B$3</c:f>
              <c:numCache>
                <c:formatCode>General</c:formatCode>
                <c:ptCount val="2"/>
                <c:pt idx="0">
                  <c:v>31.341190890146454</c:v>
                </c:pt>
                <c:pt idx="1">
                  <c:v>31.345361815909538</c:v>
                </c:pt>
              </c:numCache>
            </c:numRef>
          </c:val>
        </c:ser>
        <c:ser>
          <c:idx val="1"/>
          <c:order val="1"/>
          <c:tx>
            <c:strRef>
              <c:f>Sheet1!$C$1</c:f>
              <c:strCache>
                <c:ptCount val="1"/>
                <c:pt idx="0">
                  <c:v>PP-Based</c:v>
                </c:pt>
              </c:strCache>
            </c:strRef>
          </c:tx>
          <c:spPr>
            <a:solidFill>
              <a:srgbClr val="9E7E0A"/>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Sheet1!$C$2:$C$3</c:f>
              <c:numCache>
                <c:formatCode>General</c:formatCode>
                <c:ptCount val="2"/>
                <c:pt idx="0">
                  <c:v>20.255163342837236</c:v>
                </c:pt>
                <c:pt idx="1">
                  <c:v>20.251420781231356</c:v>
                </c:pt>
              </c:numCache>
            </c:numRef>
          </c:val>
        </c:ser>
        <c:ser>
          <c:idx val="2"/>
          <c:order val="2"/>
          <c:tx>
            <c:strRef>
              <c:f>Sheet1!$D$1</c:f>
              <c:strCache>
                <c:ptCount val="1"/>
                <c:pt idx="0">
                  <c:v>PET-Based</c:v>
                </c:pt>
              </c:strCache>
            </c:strRef>
          </c:tx>
          <c:spPr>
            <a:solidFill>
              <a:srgbClr val="008189"/>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Sheet1!$D$2:$D$3</c:f>
              <c:numCache>
                <c:formatCode>General</c:formatCode>
                <c:ptCount val="2"/>
                <c:pt idx="0">
                  <c:v>9.883978779437316</c:v>
                </c:pt>
                <c:pt idx="1">
                  <c:v>9.88561919414341</c:v>
                </c:pt>
              </c:numCache>
            </c:numRef>
          </c:val>
        </c:ser>
        <c:ser>
          <c:idx val="3"/>
          <c:order val="3"/>
          <c:tx>
            <c:strRef>
              <c:f>Sheet1!$E$1</c:f>
              <c:strCache>
                <c:ptCount val="1"/>
                <c:pt idx="0">
                  <c:v>PA-Based</c:v>
                </c:pt>
              </c:strCache>
            </c:strRef>
          </c:tx>
          <c:spPr>
            <a:solidFill>
              <a:srgbClr val="40315E"/>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Sheet1!$E$2:$E$3</c:f>
              <c:numCache>
                <c:formatCode>General</c:formatCode>
                <c:ptCount val="2"/>
                <c:pt idx="0">
                  <c:v>8.176501345549832</c:v>
                </c:pt>
                <c:pt idx="1">
                  <c:v>8.17523014931582</c:v>
                </c:pt>
              </c:numCache>
            </c:numRef>
          </c:val>
        </c:ser>
        <c:ser>
          <c:idx val="4"/>
          <c:order val="4"/>
          <c:tx>
            <c:strRef>
              <c:f>Sheet1!$F$1</c:f>
              <c:strCache>
                <c:ptCount val="1"/>
                <c:pt idx="0">
                  <c:v>EVOH-Based</c:v>
                </c:pt>
              </c:strCache>
            </c:strRef>
          </c:tx>
          <c:spPr>
            <a:solidFill>
              <a:srgbClr val="A35313"/>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Sheet1!$F$2:$F$3</c:f>
              <c:numCache>
                <c:formatCode>General</c:formatCode>
                <c:ptCount val="2"/>
                <c:pt idx="0">
                  <c:v>7.979704141092071</c:v>
                </c:pt>
                <c:pt idx="1">
                  <c:v>7.981306800992521</c:v>
                </c:pt>
              </c:numCache>
            </c:numRef>
          </c:val>
        </c:ser>
        <c:ser>
          <c:idx val="5"/>
          <c:order val="5"/>
          <c:tx>
            <c:strRef>
              <c:f>Sheet1!$G$1</c:f>
              <c:strCache>
                <c:ptCount val="1"/>
                <c:pt idx="0">
                  <c:v>PVDC-Based</c:v>
                </c:pt>
              </c:strCache>
            </c:strRef>
          </c:tx>
          <c:spPr>
            <a:solidFill>
              <a:srgbClr val="808080"/>
            </a:solidFill>
            <a:ln>
              <a:noFill/>
            </a:ln>
          </c:spPr>
          <c:cat>
            <c:strRef>
              <c:f>Sheet1!$A$2:$A$3</c:f>
              <c:strCache>
                <c:ptCount val="2"/>
                <c:pt idx="0">
                  <c:v>Canada  ·  6,047</c:v>
                </c:pt>
                <c:pt idx="1">
                  <c:v>U.S.  ·  56,021</c:v>
                </c:pt>
              </c:strCache>
            </c:strRef>
          </c:cat>
          <c:val>
            <c:numRef>
              <c:f>Sheet1!$G$2:$G$3</c:f>
              <c:numCache>
                <c:formatCode>General</c:formatCode>
                <c:ptCount val="2"/>
                <c:pt idx="0">
                  <c:v>4.893687176944847</c:v>
                </c:pt>
                <c:pt idx="1">
                  <c:v>4.890359237214719</c:v>
                </c:pt>
              </c:numCache>
            </c:numRef>
          </c:val>
        </c:ser>
        <c:ser>
          <c:idx val="6"/>
          <c:order val="6"/>
          <c:tx>
            <c:strRef>
              <c:f>Sheet1!$H$1</c:f>
              <c:strCache>
                <c:ptCount val="1"/>
                <c:pt idx="0">
                  <c:v>PVOH-Based</c:v>
                </c:pt>
              </c:strCache>
            </c:strRef>
          </c:tx>
          <c:spPr>
            <a:solidFill>
              <a:srgbClr val="0E72AE"/>
            </a:solidFill>
            <a:ln>
              <a:noFill/>
            </a:ln>
          </c:spPr>
          <c:cat>
            <c:strRef>
              <c:f>Sheet1!$A$2:$A$3</c:f>
              <c:strCache>
                <c:ptCount val="2"/>
                <c:pt idx="0">
                  <c:v>Canada  ·  6,047</c:v>
                </c:pt>
                <c:pt idx="1">
                  <c:v>U.S.  ·  56,021</c:v>
                </c:pt>
              </c:strCache>
            </c:strRef>
          </c:cat>
          <c:val>
            <c:numRef>
              <c:f>Sheet1!$H$2:$H$3</c:f>
              <c:numCache>
                <c:formatCode>General</c:formatCode>
                <c:ptCount val="2"/>
                <c:pt idx="0">
                  <c:v>2.013215062088435</c:v>
                </c:pt>
                <c:pt idx="1">
                  <c:v>2.0136936084997896</c:v>
                </c:pt>
              </c:numCache>
            </c:numRef>
          </c:val>
        </c:ser>
        <c:ser>
          <c:idx val="7"/>
          <c:order val="7"/>
          <c:tx>
            <c:strRef>
              <c:f>Sheet1!$I$1</c:f>
              <c:strCache>
                <c:ptCount val="1"/>
                <c:pt idx="0">
                  <c:v>Metallized Barrier</c:v>
                </c:pt>
              </c:strCache>
            </c:strRef>
          </c:tx>
          <c:spPr>
            <a:solidFill>
              <a:srgbClr val="A86F00"/>
            </a:solidFill>
            <a:ln>
              <a:noFill/>
            </a:ln>
          </c:spPr>
          <c:cat>
            <c:strRef>
              <c:f>Sheet1!$A$2:$A$3</c:f>
              <c:strCache>
                <c:ptCount val="2"/>
                <c:pt idx="0">
                  <c:v>Canada  ·  6,047</c:v>
                </c:pt>
                <c:pt idx="1">
                  <c:v>U.S.  ·  56,021</c:v>
                </c:pt>
              </c:strCache>
            </c:strRef>
          </c:cat>
          <c:val>
            <c:numRef>
              <c:f>Sheet1!$I$2:$I$3</c:f>
              <c:numCache>
                <c:formatCode>General</c:formatCode>
                <c:ptCount val="2"/>
                <c:pt idx="0">
                  <c:v>6.245504223177722</c:v>
                </c:pt>
                <c:pt idx="1">
                  <c:v>6.244946947004555</c:v>
                </c:pt>
              </c:numCache>
            </c:numRef>
          </c:val>
        </c:ser>
        <c:ser>
          <c:idx val="8"/>
          <c:order val="8"/>
          <c:tx>
            <c:strRef>
              <c:f>Sheet1!$J$1</c:f>
              <c:strCache>
                <c:ptCount val="1"/>
                <c:pt idx="0">
                  <c:v>AlOx / SiOx-Coated</c:v>
                </c:pt>
              </c:strCache>
            </c:strRef>
          </c:tx>
          <c:spPr>
            <a:solidFill>
              <a:srgbClr val="0B2E4A"/>
            </a:solidFill>
            <a:ln>
              <a:noFill/>
            </a:ln>
          </c:spPr>
          <c:cat>
            <c:strRef>
              <c:f>Sheet1!$A$2:$A$3</c:f>
              <c:strCache>
                <c:ptCount val="2"/>
                <c:pt idx="0">
                  <c:v>Canada  ·  6,047</c:v>
                </c:pt>
                <c:pt idx="1">
                  <c:v>U.S.  ·  56,021</c:v>
                </c:pt>
              </c:strCache>
            </c:strRef>
          </c:cat>
          <c:val>
            <c:numRef>
              <c:f>Sheet1!$J$2:$J$3</c:f>
              <c:numCache>
                <c:formatCode>General</c:formatCode>
                <c:ptCount val="2"/>
                <c:pt idx="0">
                  <c:v>3.047570320977382</c:v>
                </c:pt>
                <c:pt idx="1">
                  <c:v>3.04835072420161</c:v>
                </c:pt>
              </c:numCache>
            </c:numRef>
          </c:val>
        </c:ser>
        <c:ser>
          <c:idx val="9"/>
          <c:order val="9"/>
          <c:tx>
            <c:strRef>
              <c:f>Sheet1!$K$1</c:f>
              <c:strCache>
                <c:ptCount val="1"/>
                <c:pt idx="0">
                  <c:v>Aluminum Foil-Based</c:v>
                </c:pt>
              </c:strCache>
            </c:strRef>
          </c:tx>
          <c:spPr>
            <a:solidFill>
              <a:srgbClr val="6C7A89"/>
            </a:solidFill>
            <a:ln>
              <a:noFill/>
            </a:ln>
          </c:spPr>
          <c:cat>
            <c:strRef>
              <c:f>Sheet1!$A$2:$A$3</c:f>
              <c:strCache>
                <c:ptCount val="2"/>
                <c:pt idx="0">
                  <c:v>Canada  ·  6,047</c:v>
                </c:pt>
                <c:pt idx="1">
                  <c:v>U.S.  ·  56,021</c:v>
                </c:pt>
              </c:strCache>
            </c:strRef>
          </c:cat>
          <c:val>
            <c:numRef>
              <c:f>Sheet1!$K$2:$K$3</c:f>
              <c:numCache>
                <c:formatCode>General</c:formatCode>
                <c:ptCount val="2"/>
                <c:pt idx="0">
                  <c:v>2.9904047100362448</c:v>
                </c:pt>
                <c:pt idx="1">
                  <c:v>2.9886316080795154</c:v>
                </c:pt>
              </c:numCache>
            </c:numRef>
          </c:val>
        </c:ser>
        <c:ser>
          <c:idx val="10"/>
          <c:order val="10"/>
          <c:tx>
            <c:strRef>
              <c:f>Sheet1!$L$1</c:f>
              <c:strCache>
                <c:ptCount val="1"/>
                <c:pt idx="0">
                  <c:v>Other Specialty Barrier Technologies</c:v>
                </c:pt>
              </c:strCache>
            </c:strRef>
          </c:tx>
          <c:spPr>
            <a:solidFill>
              <a:srgbClr val="B2B2B2"/>
            </a:solidFill>
            <a:ln>
              <a:noFill/>
            </a:ln>
          </c:spPr>
          <c:cat>
            <c:strRef>
              <c:f>Sheet1!$A$2:$A$3</c:f>
              <c:strCache>
                <c:ptCount val="2"/>
                <c:pt idx="0">
                  <c:v>Canada  ·  6,047</c:v>
                </c:pt>
                <c:pt idx="1">
                  <c:v>U.S.  ·  56,021</c:v>
                </c:pt>
              </c:strCache>
            </c:strRef>
          </c:cat>
          <c:val>
            <c:numRef>
              <c:f>Sheet1!$L$2:$L$3</c:f>
              <c:numCache>
                <c:formatCode>General</c:formatCode>
                <c:ptCount val="2"/>
                <c:pt idx="0">
                  <c:v>3.17308000771248</c:v>
                </c:pt>
                <c:pt idx="1">
                  <c:v>3.1750791334071686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PE-Based</c:v>
                </c:pt>
              </c:strCache>
            </c:strRef>
          </c:tx>
          <c:spPr>
            <a:solidFill>
              <a:srgbClr val="3D85C6"/>
            </a:solidFill>
          </c:spPr>
          <c:invertIfNegative val="0"/>
          <c:xVal>
            <c:numRef>
              <c:f>Sheet1!$A$2:$A$2</c:f>
              <c:numCache>
                <c:formatCode>General</c:formatCode>
                <c:ptCount val="1"/>
                <c:pt idx="0">
                  <c:v>103.01996672329436</c:v>
                </c:pt>
              </c:numCache>
            </c:numRef>
          </c:xVal>
          <c:yVal>
            <c:numRef>
              <c:f>Sheet1!$B$2:$B$2</c:f>
              <c:numCache>
                <c:formatCode>General</c:formatCode>
                <c:ptCount val="1"/>
                <c:pt idx="0">
                  <c:v>339.31652475140345</c:v>
                </c:pt>
              </c:numCache>
            </c:numRef>
          </c:yVal>
          <c:bubbleSize>
            <c:numRef>
              <c:f>Sheet1!$C$2:$C$2</c:f>
              <c:numCache>
                <c:formatCode>General</c:formatCode>
                <c:ptCount val="1"/>
                <c:pt idx="0">
                  <c:v>19455.164</c:v>
                </c:pt>
              </c:numCache>
            </c:numRef>
          </c:bubbleSize>
          <c:bubble3D val="0"/>
        </c:ser>
        <c:ser>
          <c:idx val="1"/>
          <c:order val="1"/>
          <c:tx>
            <c:strRef>
              <c:f>Sheet1!$B$4</c:f>
              <c:strCache>
                <c:ptCount val="1"/>
                <c:pt idx="0">
                  <c:v>PP-Based</c:v>
                </c:pt>
              </c:strCache>
            </c:strRef>
          </c:tx>
          <c:spPr>
            <a:solidFill>
              <a:srgbClr val="9E7E0A"/>
            </a:solidFill>
          </c:spPr>
          <c:invertIfNegative val="0"/>
          <c:xVal>
            <c:numRef>
              <c:f>Sheet1!$A$5:$A$5</c:f>
              <c:numCache>
                <c:formatCode>General</c:formatCode>
                <c:ptCount val="1"/>
                <c:pt idx="0">
                  <c:v>97.12190840418079</c:v>
                </c:pt>
              </c:numCache>
            </c:numRef>
          </c:xVal>
          <c:yVal>
            <c:numRef>
              <c:f>Sheet1!$B$5:$B$5</c:f>
              <c:numCache>
                <c:formatCode>General</c:formatCode>
                <c:ptCount val="1"/>
                <c:pt idx="0">
                  <c:v>226.2012224044197</c:v>
                </c:pt>
              </c:numCache>
            </c:numRef>
          </c:yVal>
          <c:bubbleSize>
            <c:numRef>
              <c:f>Sheet1!$C$5:$C$5</c:f>
              <c:numCache>
                <c:formatCode>General</c:formatCode>
                <c:ptCount val="1"/>
                <c:pt idx="0">
                  <c:v>12569.865</c:v>
                </c:pt>
              </c:numCache>
            </c:numRef>
          </c:bubbleSize>
          <c:bubble3D val="0"/>
        </c:ser>
        <c:ser>
          <c:idx val="2"/>
          <c:order val="2"/>
          <c:tx>
            <c:strRef>
              <c:f>Sheet1!$B$7</c:f>
              <c:strCache>
                <c:ptCount val="1"/>
                <c:pt idx="0">
                  <c:v>PET-Based</c:v>
                </c:pt>
              </c:strCache>
            </c:strRef>
          </c:tx>
          <c:spPr>
            <a:solidFill>
              <a:srgbClr val="008189"/>
            </a:solidFill>
          </c:spPr>
          <c:invertIfNegative val="0"/>
          <c:xVal>
            <c:numRef>
              <c:f>Sheet1!$A$8:$A$8</c:f>
              <c:numCache>
                <c:formatCode>General</c:formatCode>
                <c:ptCount val="1"/>
                <c:pt idx="0">
                  <c:v>100.852711683403</c:v>
                </c:pt>
              </c:numCache>
            </c:numRef>
          </c:xVal>
          <c:yVal>
            <c:numRef>
              <c:f>Sheet1!$B$8:$B$8</c:f>
              <c:numCache>
                <c:formatCode>General</c:formatCode>
                <c:ptCount val="1"/>
                <c:pt idx="0">
                  <c:v>108.24915492215892</c:v>
                </c:pt>
              </c:numCache>
            </c:numRef>
          </c:yVal>
          <c:bubbleSize>
            <c:numRef>
              <c:f>Sheet1!$C$8:$C$8</c:f>
              <c:numCache>
                <c:formatCode>General</c:formatCode>
                <c:ptCount val="1"/>
                <c:pt idx="0">
                  <c:v>6135.7</c:v>
                </c:pt>
              </c:numCache>
            </c:numRef>
          </c:bubbleSize>
          <c:bubble3D val="0"/>
        </c:ser>
        <c:ser>
          <c:idx val="3"/>
          <c:order val="3"/>
          <c:tx>
            <c:strRef>
              <c:f>Sheet1!$B$10</c:f>
              <c:strCache>
                <c:ptCount val="1"/>
                <c:pt idx="0">
                  <c:v>PA-Based</c:v>
                </c:pt>
              </c:strCache>
            </c:strRef>
          </c:tx>
          <c:spPr>
            <a:solidFill>
              <a:srgbClr val="40315E"/>
            </a:solidFill>
          </c:spPr>
          <c:invertIfNegative val="0"/>
          <c:xVal>
            <c:numRef>
              <c:f>Sheet1!$A$11:$A$11</c:f>
              <c:numCache>
                <c:formatCode>General</c:formatCode>
                <c:ptCount val="1"/>
                <c:pt idx="0">
                  <c:v>97.08110293122783</c:v>
                </c:pt>
              </c:numCache>
            </c:numRef>
          </c:xVal>
          <c:yVal>
            <c:numRef>
              <c:f>Sheet1!$B$11:$B$11</c:f>
              <c:numCache>
                <c:formatCode>General</c:formatCode>
                <c:ptCount val="1"/>
                <c:pt idx="0">
                  <c:v>91.3339756800474</c:v>
                </c:pt>
              </c:numCache>
            </c:numRef>
          </c:yVal>
          <c:bubbleSize>
            <c:numRef>
              <c:f>Sheet1!$C$11:$C$11</c:f>
              <c:numCache>
                <c:formatCode>General</c:formatCode>
                <c:ptCount val="1"/>
                <c:pt idx="0">
                  <c:v>5074.273</c:v>
                </c:pt>
              </c:numCache>
            </c:numRef>
          </c:bubbleSize>
          <c:bubble3D val="0"/>
        </c:ser>
        <c:ser>
          <c:idx val="4"/>
          <c:order val="4"/>
          <c:tx>
            <c:strRef>
              <c:f>Sheet1!$B$13</c:f>
              <c:strCache>
                <c:ptCount val="1"/>
                <c:pt idx="0">
                  <c:v>EVOH-Based</c:v>
                </c:pt>
              </c:strCache>
            </c:strRef>
          </c:tx>
          <c:spPr>
            <a:solidFill>
              <a:srgbClr val="A35313"/>
            </a:solidFill>
          </c:spPr>
          <c:invertIfNegative val="0"/>
          <c:xVal>
            <c:numRef>
              <c:f>Sheet1!$A$14:$A$14</c:f>
              <c:numCache>
                <c:formatCode>General</c:formatCode>
                <c:ptCount val="1"/>
                <c:pt idx="0">
                  <c:v>102.74896137739206</c:v>
                </c:pt>
              </c:numCache>
            </c:numRef>
          </c:xVal>
          <c:yVal>
            <c:numRef>
              <c:f>Sheet1!$B$14:$B$14</c:f>
              <c:numCache>
                <c:formatCode>General</c:formatCode>
                <c:ptCount val="1"/>
                <c:pt idx="0">
                  <c:v>86.52200662887357</c:v>
                </c:pt>
              </c:numCache>
            </c:numRef>
          </c:yVal>
          <c:bubbleSize>
            <c:numRef>
              <c:f>Sheet1!$C$14:$C$14</c:f>
              <c:numCache>
                <c:formatCode>General</c:formatCode>
                <c:ptCount val="1"/>
                <c:pt idx="0">
                  <c:v>4953.735</c:v>
                </c:pt>
              </c:numCache>
            </c:numRef>
          </c:bubbleSize>
          <c:bubble3D val="0"/>
        </c:ser>
        <c:ser>
          <c:idx val="5"/>
          <c:order val="5"/>
          <c:tx>
            <c:strRef>
              <c:f>Sheet1!$B$16</c:f>
              <c:strCache>
                <c:ptCount val="1"/>
                <c:pt idx="0">
                  <c:v>PVDC-Based</c:v>
                </c:pt>
              </c:strCache>
            </c:strRef>
          </c:tx>
          <c:spPr>
            <a:solidFill>
              <a:srgbClr val="808080"/>
            </a:solidFill>
          </c:spPr>
          <c:invertIfNegative val="0"/>
          <c:xVal>
            <c:numRef>
              <c:f>Sheet1!$A$17:$A$17</c:f>
              <c:numCache>
                <c:formatCode>General</c:formatCode>
                <c:ptCount val="1"/>
                <c:pt idx="0">
                  <c:v>90.97792714848218</c:v>
                </c:pt>
              </c:numCache>
            </c:numRef>
          </c:xVal>
          <c:yVal>
            <c:numRef>
              <c:f>Sheet1!$B$17:$B$17</c:f>
              <c:numCache>
                <c:formatCode>General</c:formatCode>
                <c:ptCount val="1"/>
                <c:pt idx="0">
                  <c:v>56.44267500299841</c:v>
                </c:pt>
              </c:numCache>
            </c:numRef>
          </c:yVal>
          <c:bubbleSize>
            <c:numRef>
              <c:f>Sheet1!$C$17:$C$17</c:f>
              <c:numCache>
                <c:formatCode>General</c:formatCode>
                <c:ptCount val="1"/>
                <c:pt idx="0">
                  <c:v>3035.546</c:v>
                </c:pt>
              </c:numCache>
            </c:numRef>
          </c:bubbleSize>
          <c:bubble3D val="0"/>
        </c:ser>
        <c:ser>
          <c:idx val="6"/>
          <c:order val="6"/>
          <c:tx>
            <c:strRef>
              <c:f>Sheet1!$B$19</c:f>
              <c:strCache>
                <c:ptCount val="1"/>
                <c:pt idx="0">
                  <c:v>PVOH-Based</c:v>
                </c:pt>
              </c:strCache>
            </c:strRef>
          </c:tx>
          <c:spPr>
            <a:solidFill>
              <a:srgbClr val="0E72AE"/>
            </a:solidFill>
          </c:spPr>
          <c:invertIfNegative val="0"/>
          <c:xVal>
            <c:numRef>
              <c:f>Sheet1!$A$20:$A$20</c:f>
              <c:numCache>
                <c:formatCode>General</c:formatCode>
                <c:ptCount val="1"/>
                <c:pt idx="0">
                  <c:v>102.4188205736299</c:v>
                </c:pt>
              </c:numCache>
            </c:numRef>
          </c:xVal>
          <c:yVal>
            <c:numRef>
              <c:f>Sheet1!$B$20:$B$20</c:f>
              <c:numCache>
                <c:formatCode>General</c:formatCode>
                <c:ptCount val="1"/>
                <c:pt idx="0">
                  <c:v>21.867761352213495</c:v>
                </c:pt>
              </c:numCache>
            </c:numRef>
          </c:yVal>
          <c:bubbleSize>
            <c:numRef>
              <c:f>Sheet1!$C$20:$C$20</c:f>
              <c:numCache>
                <c:formatCode>General</c:formatCode>
                <c:ptCount val="1"/>
                <c:pt idx="0">
                  <c:v>1249.829</c:v>
                </c:pt>
              </c:numCache>
            </c:numRef>
          </c:bubbleSize>
          <c:bubble3D val="0"/>
        </c:ser>
        <c:ser>
          <c:idx val="7"/>
          <c:order val="7"/>
          <c:tx>
            <c:strRef>
              <c:f>Sheet1!$B$22</c:f>
              <c:strCache>
                <c:ptCount val="1"/>
                <c:pt idx="0">
                  <c:v>Metallized Barrier</c:v>
                </c:pt>
              </c:strCache>
            </c:strRef>
          </c:tx>
          <c:spPr>
            <a:solidFill>
              <a:srgbClr val="A86F00"/>
            </a:solidFill>
          </c:spPr>
          <c:invertIfNegative val="0"/>
          <c:xVal>
            <c:numRef>
              <c:f>Sheet1!$A$23:$A$23</c:f>
              <c:numCache>
                <c:formatCode>General</c:formatCode>
                <c:ptCount val="1"/>
                <c:pt idx="0">
                  <c:v>97.84058589943285</c:v>
                </c:pt>
              </c:numCache>
            </c:numRef>
          </c:xVal>
          <c:yVal>
            <c:numRef>
              <c:f>Sheet1!$B$23:$B$23</c:f>
              <c:numCache>
                <c:formatCode>General</c:formatCode>
                <c:ptCount val="1"/>
                <c:pt idx="0">
                  <c:v>69.4873108728786</c:v>
                </c:pt>
              </c:numCache>
            </c:numRef>
          </c:yVal>
          <c:bubbleSize>
            <c:numRef>
              <c:f>Sheet1!$C$23:$C$23</c:f>
              <c:numCache>
                <c:formatCode>General</c:formatCode>
                <c:ptCount val="1"/>
                <c:pt idx="0">
                  <c:v>3876.144</c:v>
                </c:pt>
              </c:numCache>
            </c:numRef>
          </c:bubbleSize>
          <c:bubble3D val="0"/>
        </c:ser>
        <c:ser>
          <c:idx val="8"/>
          <c:order val="8"/>
          <c:tx>
            <c:strRef>
              <c:f>Sheet1!$B$25</c:f>
              <c:strCache>
                <c:ptCount val="1"/>
                <c:pt idx="0">
                  <c:v>AlOx / SiOx-Coated</c:v>
                </c:pt>
              </c:strCache>
            </c:strRef>
          </c:tx>
          <c:spPr>
            <a:solidFill>
              <a:srgbClr val="0B2E4A"/>
            </a:solidFill>
          </c:spPr>
          <c:invertIfNegative val="0"/>
          <c:xVal>
            <c:numRef>
              <c:f>Sheet1!$A$26:$A$26</c:f>
              <c:numCache>
                <c:formatCode>General</c:formatCode>
                <c:ptCount val="1"/>
                <c:pt idx="0">
                  <c:v>104.04539747985706</c:v>
                </c:pt>
              </c:numCache>
            </c:numRef>
          </c:xVal>
          <c:yVal>
            <c:numRef>
              <c:f>Sheet1!$B$26:$B$26</c:f>
              <c:numCache>
                <c:formatCode>General</c:formatCode>
                <c:ptCount val="1"/>
                <c:pt idx="0">
                  <c:v>32.81952822955376</c:v>
                </c:pt>
              </c:numCache>
            </c:numRef>
          </c:yVal>
          <c:bubbleSize>
            <c:numRef>
              <c:f>Sheet1!$C$26:$C$26</c:f>
              <c:numCache>
                <c:formatCode>General</c:formatCode>
                <c:ptCount val="1"/>
                <c:pt idx="0">
                  <c:v>1892.001</c:v>
                </c:pt>
              </c:numCache>
            </c:numRef>
          </c:bubbleSize>
          <c:bubble3D val="0"/>
        </c:ser>
        <c:ser>
          <c:idx val="9"/>
          <c:order val="9"/>
          <c:tx>
            <c:strRef>
              <c:f>Sheet1!$B$28</c:f>
              <c:strCache>
                <c:ptCount val="1"/>
                <c:pt idx="0">
                  <c:v>Aluminum Foil-Based</c:v>
                </c:pt>
              </c:strCache>
            </c:strRef>
          </c:tx>
          <c:spPr>
            <a:solidFill>
              <a:srgbClr val="6C7A89"/>
            </a:solidFill>
          </c:spPr>
          <c:invertIfNegative val="0"/>
          <c:xVal>
            <c:numRef>
              <c:f>Sheet1!$A$29:$A$29</c:f>
              <c:numCache>
                <c:formatCode>General</c:formatCode>
                <c:ptCount val="1"/>
                <c:pt idx="0">
                  <c:v>89.71380656267233</c:v>
                </c:pt>
              </c:numCache>
            </c:numRef>
          </c:xVal>
          <c:yVal>
            <c:numRef>
              <c:f>Sheet1!$B$29:$B$29</c:f>
              <c:numCache>
                <c:formatCode>General</c:formatCode>
                <c:ptCount val="1"/>
                <c:pt idx="0">
                  <c:v>34.726778200403565</c:v>
                </c:pt>
              </c:numCache>
            </c:numRef>
          </c:yVal>
          <c:bubbleSize>
            <c:numRef>
              <c:f>Sheet1!$C$29:$C$29</c:f>
              <c:numCache>
                <c:formatCode>General</c:formatCode>
                <c:ptCount val="1"/>
                <c:pt idx="0">
                  <c:v>1855.09</c:v>
                </c:pt>
              </c:numCache>
            </c:numRef>
          </c:bubbleSize>
          <c:bubble3D val="0"/>
        </c:ser>
        <c:ser>
          <c:idx val="10"/>
          <c:order val="10"/>
          <c:tx>
            <c:strRef>
              <c:f>Sheet1!$B$31</c:f>
              <c:strCache>
                <c:ptCount val="1"/>
                <c:pt idx="0">
                  <c:v>Other Specialty Barrier Technologies</c:v>
                </c:pt>
              </c:strCache>
            </c:strRef>
          </c:tx>
          <c:spPr>
            <a:solidFill>
              <a:srgbClr val="B2B2B2"/>
            </a:solidFill>
          </c:spPr>
          <c:invertIfNegative val="0"/>
          <c:xVal>
            <c:numRef>
              <c:f>Sheet1!$A$32:$A$32</c:f>
              <c:numCache>
                <c:formatCode>General</c:formatCode>
                <c:ptCount val="1"/>
                <c:pt idx="0">
                  <c:v>110.5161318370503</c:v>
                </c:pt>
              </c:numCache>
            </c:numRef>
          </c:xVal>
          <c:yVal>
            <c:numRef>
              <c:f>Sheet1!$B$32:$B$32</c:f>
              <c:numCache>
                <c:formatCode>General</c:formatCode>
                <c:ptCount val="1"/>
                <c:pt idx="0">
                  <c:v>33.033061955049355</c:v>
                </c:pt>
              </c:numCache>
            </c:numRef>
          </c:yVal>
          <c:bubbleSize>
            <c:numRef>
              <c:f>Sheet1!$C$32:$C$32</c:f>
              <c:numCache>
                <c:formatCode>General</c:formatCode>
                <c:ptCount val="1"/>
                <c:pt idx="0">
                  <c:v>1970.585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4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11097.95</c:v>
                </c:pt>
                <c:pt idx="2">
                  <c:v>12149.607</c:v>
                </c:pt>
                <c:pt idx="3">
                  <c:v>13508.769</c:v>
                </c:pt>
                <c:pt idx="4">
                  <c:v>15234.622</c:v>
                </c:pt>
                <c:pt idx="5">
                  <c:v>17230.895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11097.95</c:v>
                </c:pt>
                <c:pt idx="1">
                  <c:v>1051.6569999999992</c:v>
                </c:pt>
                <c:pt idx="2">
                  <c:v>1359.1620000000003</c:v>
                </c:pt>
                <c:pt idx="3">
                  <c:v>1725.8529999999992</c:v>
                </c:pt>
                <c:pt idx="4">
                  <c:v>1996.273000000001</c:v>
                </c:pt>
                <c:pt idx="5">
                  <c:v>2224.2690000000002</c:v>
                </c:pt>
                <c:pt idx="6">
                  <c:v>19455.164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7398.313</c:v>
                </c:pt>
                <c:pt idx="2">
                  <c:v>8089.719</c:v>
                </c:pt>
                <c:pt idx="3">
                  <c:v>8941.452</c:v>
                </c:pt>
                <c:pt idx="4">
                  <c:v>9993.504</c:v>
                </c:pt>
                <c:pt idx="5">
                  <c:v>11211.294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7398.313</c:v>
                </c:pt>
                <c:pt idx="1">
                  <c:v>691.406</c:v>
                </c:pt>
                <c:pt idx="2">
                  <c:v>851.7329999999993</c:v>
                </c:pt>
                <c:pt idx="3">
                  <c:v>1052.0520000000015</c:v>
                </c:pt>
                <c:pt idx="4">
                  <c:v>1217.789999999999</c:v>
                </c:pt>
                <c:pt idx="5">
                  <c:v>1358.571</c:v>
                </c:pt>
                <c:pt idx="6">
                  <c:v>12569.865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3540.481</c:v>
                </c:pt>
                <c:pt idx="2">
                  <c:v>3956.837</c:v>
                </c:pt>
                <c:pt idx="3">
                  <c:v>4420.987</c:v>
                </c:pt>
                <c:pt idx="4">
                  <c:v>4936.972</c:v>
                </c:pt>
                <c:pt idx="5">
                  <c:v>5506.674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3540.481</c:v>
                </c:pt>
                <c:pt idx="1">
                  <c:v>416.35599999999977</c:v>
                </c:pt>
                <c:pt idx="2">
                  <c:v>464.1500000000001</c:v>
                </c:pt>
                <c:pt idx="3">
                  <c:v>515.9849999999997</c:v>
                </c:pt>
                <c:pt idx="4">
                  <c:v>569.7020000000002</c:v>
                </c:pt>
                <c:pt idx="5">
                  <c:v>629.0259999999998</c:v>
                </c:pt>
                <c:pt idx="6">
                  <c:v>6135.7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2987.24</c:v>
                </c:pt>
                <c:pt idx="2">
                  <c:v>3291.593</c:v>
                </c:pt>
                <c:pt idx="3">
                  <c:v>3658.172</c:v>
                </c:pt>
                <c:pt idx="4">
                  <c:v>4079.538</c:v>
                </c:pt>
                <c:pt idx="5">
                  <c:v>4552.773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2987.24</c:v>
                </c:pt>
                <c:pt idx="1">
                  <c:v>304.35300000000007</c:v>
                </c:pt>
                <c:pt idx="2">
                  <c:v>366.5790000000002</c:v>
                </c:pt>
                <c:pt idx="3">
                  <c:v>421.366</c:v>
                </c:pt>
                <c:pt idx="4">
                  <c:v>473.2350000000001</c:v>
                </c:pt>
                <c:pt idx="5">
                  <c:v>521.5</c:v>
                </c:pt>
                <c:pt idx="6">
                  <c:v>5074.273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2829.856</c:v>
                </c:pt>
                <c:pt idx="2">
                  <c:v>3135.567</c:v>
                </c:pt>
                <c:pt idx="3">
                  <c:v>3498.929</c:v>
                </c:pt>
                <c:pt idx="4">
                  <c:v>3920.502</c:v>
                </c:pt>
                <c:pt idx="5">
                  <c:v>4408.672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2829.856</c:v>
                </c:pt>
                <c:pt idx="1">
                  <c:v>305.7109999999998</c:v>
                </c:pt>
                <c:pt idx="2">
                  <c:v>363.3620000000001</c:v>
                </c:pt>
                <c:pt idx="3">
                  <c:v>421.57299999999987</c:v>
                </c:pt>
                <c:pt idx="4">
                  <c:v>488.1699999999996</c:v>
                </c:pt>
                <c:pt idx="5">
                  <c:v>545.0630000000001</c:v>
                </c:pt>
                <c:pt idx="6">
                  <c:v>4953.735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1846.058</c:v>
                </c:pt>
                <c:pt idx="2">
                  <c:v>1976.603</c:v>
                </c:pt>
                <c:pt idx="3">
                  <c:v>2152.36</c:v>
                </c:pt>
                <c:pt idx="4">
                  <c:v>2395.004</c:v>
                </c:pt>
                <c:pt idx="5">
                  <c:v>2697.637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1846.058</c:v>
                </c:pt>
                <c:pt idx="1">
                  <c:v>130.54500000000007</c:v>
                </c:pt>
                <c:pt idx="2">
                  <c:v>175.75700000000006</c:v>
                </c:pt>
                <c:pt idx="3">
                  <c:v>242.64399999999978</c:v>
                </c:pt>
                <c:pt idx="4">
                  <c:v>302.63300000000027</c:v>
                </c:pt>
                <c:pt idx="5">
                  <c:v>337.90899999999965</c:v>
                </c:pt>
                <c:pt idx="6">
                  <c:v>3035.546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715.224</c:v>
                </c:pt>
                <c:pt idx="2">
                  <c:v>796.001</c:v>
                </c:pt>
                <c:pt idx="3">
                  <c:v>886.131</c:v>
                </c:pt>
                <c:pt idx="4">
                  <c:v>990.186</c:v>
                </c:pt>
                <c:pt idx="5">
                  <c:v>1112.994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715.224</c:v>
                </c:pt>
                <c:pt idx="1">
                  <c:v>80.77699999999993</c:v>
                </c:pt>
                <c:pt idx="2">
                  <c:v>90.13</c:v>
                </c:pt>
                <c:pt idx="3">
                  <c:v>104.05500000000006</c:v>
                </c:pt>
                <c:pt idx="4">
                  <c:v>122.80799999999988</c:v>
                </c:pt>
                <c:pt idx="5">
                  <c:v>136.83500000000004</c:v>
                </c:pt>
                <c:pt idx="6">
                  <c:v>1249.829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2272.706</c:v>
                </c:pt>
                <c:pt idx="2">
                  <c:v>2495.078</c:v>
                </c:pt>
                <c:pt idx="3">
                  <c:v>2764.231</c:v>
                </c:pt>
                <c:pt idx="4">
                  <c:v>3092.439</c:v>
                </c:pt>
                <c:pt idx="5">
                  <c:v>3466.135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2272.706</c:v>
                </c:pt>
                <c:pt idx="1">
                  <c:v>222.37199999999984</c:v>
                </c:pt>
                <c:pt idx="2">
                  <c:v>269.15300000000025</c:v>
                </c:pt>
                <c:pt idx="3">
                  <c:v>328.20799999999963</c:v>
                </c:pt>
                <c:pt idx="4">
                  <c:v>373.69600000000037</c:v>
                </c:pt>
                <c:pt idx="5">
                  <c:v>410.00899999999956</c:v>
                </c:pt>
                <c:pt idx="6">
                  <c:v>3876.144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1073.421</c:v>
                </c:pt>
                <c:pt idx="2">
                  <c:v>1194.343</c:v>
                </c:pt>
                <c:pt idx="3">
                  <c:v>1341.417</c:v>
                </c:pt>
                <c:pt idx="4">
                  <c:v>1506.871</c:v>
                </c:pt>
                <c:pt idx="5">
                  <c:v>1690.214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1073.421</c:v>
                </c:pt>
                <c:pt idx="1">
                  <c:v>120.92200000000003</c:v>
                </c:pt>
                <c:pt idx="2">
                  <c:v>147.07399999999984</c:v>
                </c:pt>
                <c:pt idx="3">
                  <c:v>165.45400000000018</c:v>
                </c:pt>
                <c:pt idx="4">
                  <c:v>183.34299999999985</c:v>
                </c:pt>
                <c:pt idx="5">
                  <c:v>201.78700000000003</c:v>
                </c:pt>
                <c:pt idx="6">
                  <c:v>1892.001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1135.801</c:v>
                </c:pt>
                <c:pt idx="2">
                  <c:v>1240.512</c:v>
                </c:pt>
                <c:pt idx="3">
                  <c:v>1367.988</c:v>
                </c:pt>
                <c:pt idx="4">
                  <c:v>1508.671</c:v>
                </c:pt>
                <c:pt idx="5">
                  <c:v>1673.262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1135.801</c:v>
                </c:pt>
                <c:pt idx="1">
                  <c:v>104.71100000000001</c:v>
                </c:pt>
                <c:pt idx="2">
                  <c:v>127.47600000000011</c:v>
                </c:pt>
                <c:pt idx="3">
                  <c:v>140.683</c:v>
                </c:pt>
                <c:pt idx="4">
                  <c:v>164.5909999999999</c:v>
                </c:pt>
                <c:pt idx="5">
                  <c:v>181.82799999999997</c:v>
                </c:pt>
                <c:pt idx="6">
                  <c:v>1855.09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1080.405</c:v>
                </c:pt>
                <c:pt idx="2">
                  <c:v>1189.88</c:v>
                </c:pt>
                <c:pt idx="3">
                  <c:v>1324.651</c:v>
                </c:pt>
                <c:pt idx="4">
                  <c:v>1501.688</c:v>
                </c:pt>
                <c:pt idx="5">
                  <c:v>1720.732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1080.405</c:v>
                </c:pt>
                <c:pt idx="1">
                  <c:v>109.47500000000014</c:v>
                </c:pt>
                <c:pt idx="2">
                  <c:v>134.77099999999996</c:v>
                </c:pt>
                <c:pt idx="3">
                  <c:v>177.03700000000003</c:v>
                </c:pt>
                <c:pt idx="4">
                  <c:v>219.04399999999987</c:v>
                </c:pt>
                <c:pt idx="5">
                  <c:v>249.85300000000007</c:v>
                </c:pt>
                <c:pt idx="6">
                  <c:v>1970.585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PE-Based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31.668199088768617</c:v>
                </c:pt>
                <c:pt idx="1">
                  <c:v>30.84695679558212</c:v>
                </c:pt>
                <c:pt idx="2">
                  <c:v>31.34495281718102</c:v>
                </c:pt>
              </c:numCache>
            </c:numRef>
          </c:val>
        </c:ser>
        <c:ser>
          <c:idx val="1"/>
          <c:order val="1"/>
          <c:tx>
            <c:strRef>
              <c:f>Sheet1!$C$1</c:f>
              <c:strCache>
                <c:ptCount val="1"/>
                <c:pt idx="0">
                  <c:v>PP-Based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20.747434625986457</c:v>
                </c:pt>
                <c:pt idx="1">
                  <c:v>20.563747491310878</c:v>
                </c:pt>
                <c:pt idx="2">
                  <c:v>20.2517863814119</c:v>
                </c:pt>
              </c:numCache>
            </c:numRef>
          </c:val>
        </c:ser>
        <c:ser>
          <c:idx val="2"/>
          <c:order val="2"/>
          <c:tx>
            <c:strRef>
              <c:f>Sheet1!$D$1</c:f>
              <c:strCache>
                <c:ptCount val="1"/>
                <c:pt idx="0">
                  <c:v>PET-Based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9.195832394041878</c:v>
                </c:pt>
                <c:pt idx="1">
                  <c:v>9.840832265650809</c:v>
                </c:pt>
                <c:pt idx="2">
                  <c:v>9.885459048321442</c:v>
                </c:pt>
              </c:numCache>
            </c:numRef>
          </c:val>
        </c:ser>
        <c:ser>
          <c:idx val="3"/>
          <c:order val="3"/>
          <c:tx>
            <c:strRef>
              <c:f>Sheet1!$E$1</c:f>
              <c:strCache>
                <c:ptCount val="1"/>
                <c:pt idx="0">
                  <c:v>PA-Based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8.224834534685984</c:v>
                </c:pt>
                <c:pt idx="1">
                  <c:v>8.303088698186126</c:v>
                </c:pt>
                <c:pt idx="2">
                  <c:v>8.175353739834607</c:v>
                </c:pt>
              </c:numCache>
            </c:numRef>
          </c:val>
        </c:ser>
        <c:ser>
          <c:idx val="4"/>
          <c:order val="4"/>
          <c:tx>
            <c:strRef>
              <c:f>Sheet1!$F$1</c:f>
              <c:strCache>
                <c:ptCount val="1"/>
                <c:pt idx="0">
                  <c:v>EVOH-Based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7.640375820475004</c:v>
                </c:pt>
                <c:pt idx="1">
                  <c:v>7.865636966261233</c:v>
                </c:pt>
                <c:pt idx="2">
                  <c:v>7.981150395022022</c:v>
                </c:pt>
              </c:numCache>
            </c:numRef>
          </c:val>
        </c:ser>
        <c:ser>
          <c:idx val="5"/>
          <c:order val="5"/>
          <c:tx>
            <c:strRef>
              <c:f>Sheet1!$G$1</c:f>
              <c:strCache>
                <c:ptCount val="1"/>
                <c:pt idx="0">
                  <c:v>Metallized Barrier</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6.1184919193170355</c:v>
                </c:pt>
                <c:pt idx="1">
                  <c:v>6.317028261170781</c:v>
                </c:pt>
                <c:pt idx="2">
                  <c:v>6.245002652899729</c:v>
                </c:pt>
              </c:numCache>
            </c:numRef>
          </c:val>
        </c:ser>
        <c:ser>
          <c:idx val="6"/>
          <c:order val="6"/>
          <c:tx>
            <c:strRef>
              <c:f>Sheet1!$H$1</c:f>
              <c:strCache>
                <c:ptCount val="1"/>
                <c:pt idx="0">
                  <c:v>PVDC-Based</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5.55238801250048</c:v>
                </c:pt>
                <c:pt idx="1">
                  <c:v>5.131152272999855</c:v>
                </c:pt>
                <c:pt idx="2">
                  <c:v>4.890683324200329</c:v>
                </c:pt>
              </c:numCache>
            </c:numRef>
          </c:val>
        </c:ser>
        <c:ser>
          <c:idx val="7"/>
          <c:order val="7"/>
          <c:tx>
            <c:strRef>
              <c:f>Sheet1!$I$1</c:f>
              <c:strCache>
                <c:ptCount val="1"/>
                <c:pt idx="0">
                  <c:v>Other Specialty Barrier Technologies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2.8506376120869144</c:v>
                </c:pt>
                <c:pt idx="1">
                  <c:v>3.0030056322772136</c:v>
                </c:pt>
                <c:pt idx="2">
                  <c:v>3.1748842542393714</c:v>
                </c:pt>
              </c:numCache>
            </c:numRef>
          </c:val>
        </c:ser>
        <c:ser>
          <c:idx val="8"/>
          <c:order val="8"/>
          <c:tx>
            <c:strRef>
              <c:f>Sheet1!$J$1</c:f>
              <c:strCache>
                <c:ptCount val="1"/>
                <c:pt idx="0">
                  <c:v>AlOx / SiOx-Coated</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Sheet1!$J$2:$J$4</c:f>
              <c:numCache>
                <c:formatCode>General</c:formatCode>
                <c:ptCount val="3"/>
                <c:pt idx="0">
                  <c:v>2.982348888716331</c:v>
                </c:pt>
                <c:pt idx="1">
                  <c:v>2.983593475413978</c:v>
                </c:pt>
                <c:pt idx="2">
                  <c:v>3.048274590492237</c:v>
                </c:pt>
              </c:numCache>
            </c:numRef>
          </c:val>
        </c:ser>
        <c:ser>
          <c:idx val="9"/>
          <c:order val="9"/>
          <c:tx>
            <c:strRef>
              <c:f>Sheet1!$K$1</c:f>
              <c:strCache>
                <c:ptCount val="1"/>
                <c:pt idx="0">
                  <c:v>Aluminum Foil-Based</c:v>
                </c:pt>
              </c:strCache>
            </c:strRef>
          </c:tx>
          <c:spPr>
            <a:solidFill>
              <a:srgbClr val="6C7A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Sheet1!$K$2:$K$4</c:f>
              <c:numCache>
                <c:formatCode>General</c:formatCode>
                <c:ptCount val="3"/>
                <c:pt idx="0">
                  <c:v>3.144630239802116</c:v>
                </c:pt>
                <c:pt idx="1">
                  <c:v>3.1569798364003234</c:v>
                </c:pt>
                <c:pt idx="2">
                  <c:v>2.9888058780498756</c:v>
                </c:pt>
              </c:numCache>
            </c:numRef>
          </c:val>
        </c:ser>
        <c:ser>
          <c:idx val="10"/>
          <c:order val="10"/>
          <c:tx>
            <c:strRef>
              <c:f>Sheet1!$L$1</c:f>
              <c:strCache>
                <c:ptCount val="1"/>
                <c:pt idx="0">
                  <c:v>PVOH-Based</c:v>
                </c:pt>
              </c:strCache>
            </c:strRef>
          </c:tx>
          <c:spPr>
            <a:solidFill>
              <a:srgbClr val="B2B2B2"/>
            </a:solidFill>
            <a:ln>
              <a:noFill/>
            </a:ln>
          </c:spPr>
          <c:dLbls>
            <c:numFmt formatCode="0&quot;%&quot;" sourceLinked="0"/>
            <c:txPr>
              <a:bodyPr rot="0" vert="horz"/>
              <a:lstStyle/>
              <a:p>
                <a:pPr>
                  <a:defRPr sz="1100">
                    <a:solidFill>
                      <a:srgbClr val="2E2E2E"/>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Sheet1!$L$2:$L$4</c:f>
              <c:numCache>
                <c:formatCode>General</c:formatCode>
                <c:ptCount val="3"/>
                <c:pt idx="0">
                  <c:v>1.8748268636191798</c:v>
                </c:pt>
                <c:pt idx="1">
                  <c:v>1.987978304746681</c:v>
                </c:pt>
                <c:pt idx="2">
                  <c:v>2.013646918347465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Monolayer Films</c:v>
                </c:pt>
              </c:strCache>
            </c:strRef>
          </c:tx>
          <c:spPr>
            <a:solidFill>
              <a:srgbClr val="3D85C6"/>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Sheet1!$B$2:$B$3</c:f>
              <c:numCache>
                <c:formatCode>General</c:formatCode>
                <c:ptCount val="2"/>
                <c:pt idx="0">
                  <c:v>15.950202899125895</c:v>
                </c:pt>
                <c:pt idx="1">
                  <c:v>15.97759944928817</c:v>
                </c:pt>
              </c:numCache>
            </c:numRef>
          </c:val>
        </c:ser>
        <c:ser>
          <c:idx val="1"/>
          <c:order val="1"/>
          <c:tx>
            <c:strRef>
              <c:f>Sheet1!$C$1</c:f>
              <c:strCache>
                <c:ptCount val="1"/>
                <c:pt idx="0">
                  <c:v>Coextruded Multilayer Films</c:v>
                </c:pt>
              </c:strCache>
            </c:strRef>
          </c:tx>
          <c:spPr>
            <a:solidFill>
              <a:srgbClr val="9E7E0A"/>
            </a:solidFill>
            <a:ln>
              <a:noFill/>
            </a:ln>
          </c:spPr>
          <c:dLbls>
            <c:dLbl>
              <c:idx val="0"/>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Sheet1!$C$2:$C$3</c:f>
              <c:numCache>
                <c:formatCode>General</c:formatCode>
                <c:ptCount val="2"/>
                <c:pt idx="0">
                  <c:v>28.866096498625836</c:v>
                </c:pt>
                <c:pt idx="1">
                  <c:v>28.91107335237312</c:v>
                </c:pt>
              </c:numCache>
            </c:numRef>
          </c:val>
        </c:ser>
        <c:ser>
          <c:idx val="2"/>
          <c:order val="2"/>
          <c:tx>
            <c:strRef>
              <c:f>Sheet1!$D$1</c:f>
              <c:strCache>
                <c:ptCount val="1"/>
                <c:pt idx="0">
                  <c:v>Laminated Films</c:v>
                </c:pt>
              </c:strCache>
            </c:strRef>
          </c:tx>
          <c:spPr>
            <a:solidFill>
              <a:srgbClr val="008189"/>
            </a:solidFill>
            <a:ln>
              <a:noFill/>
            </a:ln>
          </c:spPr>
          <c:dLbls>
            <c:dLbl>
              <c:idx val="0"/>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Sheet1!$D$2:$D$3</c:f>
              <c:numCache>
                <c:formatCode>General</c:formatCode>
                <c:ptCount val="2"/>
                <c:pt idx="0">
                  <c:v>25.11330601553741</c:v>
                </c:pt>
                <c:pt idx="1">
                  <c:v>25.150254137822582</c:v>
                </c:pt>
              </c:numCache>
            </c:numRef>
          </c:val>
        </c:ser>
        <c:ser>
          <c:idx val="3"/>
          <c:order val="3"/>
          <c:tx>
            <c:strRef>
              <c:f>Sheet1!$E$1</c:f>
              <c:strCache>
                <c:ptCount val="1"/>
                <c:pt idx="0">
                  <c:v>Coated Films</c:v>
                </c:pt>
              </c:strCache>
            </c:strRef>
          </c:tx>
          <c:spPr>
            <a:solidFill>
              <a:srgbClr val="40315E"/>
            </a:solidFill>
            <a:ln>
              <a:noFill/>
            </a:ln>
          </c:spPr>
          <c:cat>
            <c:strRef>
              <c:f>Sheet1!$A$2:$A$3</c:f>
              <c:strCache>
                <c:ptCount val="2"/>
                <c:pt idx="0">
                  <c:v>Canada  ·  6,047</c:v>
                </c:pt>
                <c:pt idx="1">
                  <c:v>U.S.  ·  56,021</c:v>
                </c:pt>
              </c:strCache>
            </c:strRef>
          </c:cat>
          <c:val>
            <c:numRef>
              <c:f>Sheet1!$E$2:$E$3</c:f>
              <c:numCache>
                <c:formatCode>General</c:formatCode>
                <c:ptCount val="2"/>
                <c:pt idx="0">
                  <c:v>6.630204354311152</c:v>
                </c:pt>
                <c:pt idx="1">
                  <c:v>6.640383828894903</c:v>
                </c:pt>
              </c:numCache>
            </c:numRef>
          </c:val>
        </c:ser>
        <c:ser>
          <c:idx val="4"/>
          <c:order val="4"/>
          <c:tx>
            <c:strRef>
              <c:f>Sheet1!$F$1</c:f>
              <c:strCache>
                <c:ptCount val="1"/>
                <c:pt idx="0">
                  <c:v>Metallized Films</c:v>
                </c:pt>
              </c:strCache>
            </c:strRef>
          </c:tx>
          <c:spPr>
            <a:solidFill>
              <a:srgbClr val="A35313"/>
            </a:solidFill>
            <a:ln>
              <a:noFill/>
            </a:ln>
          </c:spPr>
          <c:cat>
            <c:strRef>
              <c:f>Sheet1!$A$2:$A$3</c:f>
              <c:strCache>
                <c:ptCount val="2"/>
                <c:pt idx="0">
                  <c:v>Canada  ·  6,047</c:v>
                </c:pt>
                <c:pt idx="1">
                  <c:v>U.S.  ·  56,021</c:v>
                </c:pt>
              </c:strCache>
            </c:strRef>
          </c:cat>
          <c:val>
            <c:numRef>
              <c:f>Sheet1!$F$2:$F$3</c:f>
              <c:numCache>
                <c:formatCode>General</c:formatCode>
                <c:ptCount val="2"/>
                <c:pt idx="0">
                  <c:v>6.855708460248638</c:v>
                </c:pt>
                <c:pt idx="1">
                  <c:v>6.864006976578092</c:v>
                </c:pt>
              </c:numCache>
            </c:numRef>
          </c:val>
        </c:ser>
        <c:ser>
          <c:idx val="5"/>
          <c:order val="5"/>
          <c:tx>
            <c:strRef>
              <c:f>Sheet1!$G$1</c:f>
              <c:strCache>
                <c:ptCount val="1"/>
                <c:pt idx="0">
                  <c:v>Foil-Laminated Structures</c:v>
                </c:pt>
              </c:strCache>
            </c:strRef>
          </c:tx>
          <c:spPr>
            <a:solidFill>
              <a:srgbClr val="808080"/>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Sheet1!$G$2:$G$3</c:f>
              <c:numCache>
                <c:formatCode>General</c:formatCode>
                <c:ptCount val="2"/>
                <c:pt idx="0">
                  <c:v>7.646932370265273</c:v>
                </c:pt>
                <c:pt idx="1">
                  <c:v>7.658921888840616</c:v>
                </c:pt>
              </c:numCache>
            </c:numRef>
          </c:val>
        </c:ser>
        <c:ser>
          <c:idx val="6"/>
          <c:order val="6"/>
          <c:tx>
            <c:strRef>
              <c:f>Sheet1!$H$1</c:f>
              <c:strCache>
                <c:ptCount val="1"/>
                <c:pt idx="0">
                  <c:v>Mono-Material Recyclable Structures</c:v>
                </c:pt>
              </c:strCache>
            </c:strRef>
          </c:tx>
          <c:spPr>
            <a:solidFill>
              <a:srgbClr val="0E72AE"/>
            </a:solidFill>
            <a:ln>
              <a:noFill/>
            </a:ln>
          </c:spPr>
          <c:dLbls>
            <c:dLbl>
              <c:idx val="0"/>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Sheet1!$H$2:$H$3</c:f>
              <c:numCache>
                <c:formatCode>General</c:formatCode>
                <c:ptCount val="2"/>
                <c:pt idx="0">
                  <c:v>8.93754940188579</c:v>
                </c:pt>
                <c:pt idx="1">
                  <c:v>8.797760366202517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Monolayer Films</c:v>
                </c:pt>
              </c:strCache>
            </c:strRef>
          </c:tx>
          <c:spPr>
            <a:solidFill>
              <a:srgbClr val="3D85C6"/>
            </a:solidFill>
          </c:spPr>
          <c:invertIfNegative val="0"/>
          <c:xVal>
            <c:numRef>
              <c:f>Sheet1!$A$2:$A$2</c:f>
              <c:numCache>
                <c:formatCode>General</c:formatCode>
                <c:ptCount val="1"/>
                <c:pt idx="0">
                  <c:v>102.74708896270835</c:v>
                </c:pt>
              </c:numCache>
            </c:numRef>
          </c:xVal>
          <c:yVal>
            <c:numRef>
              <c:f>Sheet1!$B$2:$B$2</c:f>
              <c:numCache>
                <c:formatCode>General</c:formatCode>
                <c:ptCount val="1"/>
                <c:pt idx="0">
                  <c:v>110.2071338842617</c:v>
                </c:pt>
              </c:numCache>
            </c:numRef>
          </c:yVal>
          <c:bubbleSize>
            <c:numRef>
              <c:f>Sheet1!$C$2:$C$2</c:f>
              <c:numCache>
                <c:formatCode>General</c:formatCode>
                <c:ptCount val="1"/>
                <c:pt idx="0">
                  <c:v>9915.308</c:v>
                </c:pt>
              </c:numCache>
            </c:numRef>
          </c:bubbleSize>
          <c:bubble3D val="0"/>
        </c:ser>
        <c:ser>
          <c:idx val="1"/>
          <c:order val="1"/>
          <c:tx>
            <c:strRef>
              <c:f>Sheet1!$B$4</c:f>
              <c:strCache>
                <c:ptCount val="1"/>
                <c:pt idx="0">
                  <c:v>Coextruded Multilayer Films</c:v>
                </c:pt>
              </c:strCache>
            </c:strRef>
          </c:tx>
          <c:spPr>
            <a:solidFill>
              <a:srgbClr val="9E7E0A"/>
            </a:solidFill>
          </c:spPr>
          <c:invertIfNegative val="0"/>
          <c:xVal>
            <c:numRef>
              <c:f>Sheet1!$A$5:$A$5</c:f>
              <c:numCache>
                <c:formatCode>General</c:formatCode>
                <c:ptCount val="1"/>
                <c:pt idx="0">
                  <c:v>98.70455981662157</c:v>
                </c:pt>
              </c:numCache>
            </c:numRef>
          </c:xVal>
          <c:yVal>
            <c:numRef>
              <c:f>Sheet1!$B$5:$B$5</c:f>
              <c:numCache>
                <c:formatCode>General</c:formatCode>
                <c:ptCount val="1"/>
                <c:pt idx="0">
                  <c:v>203.74332203320108</c:v>
                </c:pt>
              </c:numCache>
            </c:numRef>
          </c:yVal>
          <c:bubbleSize>
            <c:numRef>
              <c:f>Sheet1!$C$5:$C$5</c:f>
              <c:numCache>
                <c:formatCode>General</c:formatCode>
                <c:ptCount val="1"/>
                <c:pt idx="0">
                  <c:v>17941.785</c:v>
                </c:pt>
              </c:numCache>
            </c:numRef>
          </c:bubbleSize>
          <c:bubble3D val="0"/>
        </c:ser>
        <c:ser>
          <c:idx val="2"/>
          <c:order val="2"/>
          <c:tx>
            <c:strRef>
              <c:f>Sheet1!$B$7</c:f>
              <c:strCache>
                <c:ptCount val="1"/>
                <c:pt idx="0">
                  <c:v>Laminated Films</c:v>
                </c:pt>
              </c:strCache>
            </c:strRef>
          </c:tx>
          <c:spPr>
            <a:solidFill>
              <a:srgbClr val="008189"/>
            </a:solidFill>
          </c:spPr>
          <c:invertIfNegative val="0"/>
          <c:xVal>
            <c:numRef>
              <c:f>Sheet1!$A$8:$A$8</c:f>
              <c:numCache>
                <c:formatCode>General</c:formatCode>
                <c:ptCount val="1"/>
                <c:pt idx="0">
                  <c:v>98.65350264969098</c:v>
                </c:pt>
              </c:numCache>
            </c:numRef>
          </c:xVal>
          <c:yVal>
            <c:numRef>
              <c:f>Sheet1!$B$8:$B$8</c:f>
              <c:numCache>
                <c:formatCode>General</c:formatCode>
                <c:ptCount val="1"/>
                <c:pt idx="0">
                  <c:v>177.28948587386185</c:v>
                </c:pt>
              </c:numCache>
            </c:numRef>
          </c:yVal>
          <c:bubbleSize>
            <c:numRef>
              <c:f>Sheet1!$C$8:$C$8</c:f>
              <c:numCache>
                <c:formatCode>General</c:formatCode>
                <c:ptCount val="1"/>
                <c:pt idx="0">
                  <c:v>15608.008</c:v>
                </c:pt>
              </c:numCache>
            </c:numRef>
          </c:bubbleSize>
          <c:bubble3D val="0"/>
        </c:ser>
        <c:ser>
          <c:idx val="3"/>
          <c:order val="3"/>
          <c:tx>
            <c:strRef>
              <c:f>Sheet1!$B$10</c:f>
              <c:strCache>
                <c:ptCount val="1"/>
                <c:pt idx="0">
                  <c:v>Coated Films</c:v>
                </c:pt>
              </c:strCache>
            </c:strRef>
          </c:tx>
          <c:spPr>
            <a:solidFill>
              <a:srgbClr val="40315E"/>
            </a:solidFill>
          </c:spPr>
          <c:invertIfNegative val="0"/>
          <c:xVal>
            <c:numRef>
              <c:f>Sheet1!$A$11:$A$11</c:f>
              <c:numCache>
                <c:formatCode>General</c:formatCode>
                <c:ptCount val="1"/>
                <c:pt idx="0">
                  <c:v>98.95780310071946</c:v>
                </c:pt>
              </c:numCache>
            </c:numRef>
          </c:xVal>
          <c:yVal>
            <c:numRef>
              <c:f>Sheet1!$B$11:$B$11</c:f>
              <c:numCache>
                <c:formatCode>General</c:formatCode>
                <c:ptCount val="1"/>
                <c:pt idx="0">
                  <c:v>46.73359747097175</c:v>
                </c:pt>
              </c:numCache>
            </c:numRef>
          </c:yVal>
          <c:bubbleSize>
            <c:numRef>
              <c:f>Sheet1!$C$11:$C$11</c:f>
              <c:numCache>
                <c:formatCode>General</c:formatCode>
                <c:ptCount val="1"/>
                <c:pt idx="0">
                  <c:v>4120.933</c:v>
                </c:pt>
              </c:numCache>
            </c:numRef>
          </c:bubbleSize>
          <c:bubble3D val="0"/>
        </c:ser>
        <c:ser>
          <c:idx val="4"/>
          <c:order val="4"/>
          <c:tx>
            <c:strRef>
              <c:f>Sheet1!$B$13</c:f>
              <c:strCache>
                <c:ptCount val="1"/>
                <c:pt idx="0">
                  <c:v>Metallized Films</c:v>
                </c:pt>
              </c:strCache>
            </c:strRef>
          </c:tx>
          <c:spPr>
            <a:solidFill>
              <a:srgbClr val="A35313"/>
            </a:solidFill>
          </c:spPr>
          <c:invertIfNegative val="0"/>
          <c:xVal>
            <c:numRef>
              <c:f>Sheet1!$A$14:$A$14</c:f>
              <c:numCache>
                <c:formatCode>General</c:formatCode>
                <c:ptCount val="1"/>
                <c:pt idx="0">
                  <c:v>92.52847876631076</c:v>
                </c:pt>
              </c:numCache>
            </c:numRef>
          </c:xVal>
          <c:yVal>
            <c:numRef>
              <c:f>Sheet1!$B$14:$B$14</c:f>
              <c:numCache>
                <c:formatCode>General</c:formatCode>
                <c:ptCount val="1"/>
                <c:pt idx="0">
                  <c:v>49.989683817268336</c:v>
                </c:pt>
              </c:numCache>
            </c:numRef>
          </c:yVal>
          <c:bubbleSize>
            <c:numRef>
              <c:f>Sheet1!$C$14:$C$14</c:f>
              <c:numCache>
                <c:formatCode>General</c:formatCode>
                <c:ptCount val="1"/>
                <c:pt idx="0">
                  <c:v>4259.846</c:v>
                </c:pt>
              </c:numCache>
            </c:numRef>
          </c:bubbleSize>
          <c:bubble3D val="0"/>
        </c:ser>
        <c:ser>
          <c:idx val="5"/>
          <c:order val="5"/>
          <c:tx>
            <c:strRef>
              <c:f>Sheet1!$B$16</c:f>
              <c:strCache>
                <c:ptCount val="1"/>
                <c:pt idx="0">
                  <c:v>Foil-Laminated Structures</c:v>
                </c:pt>
              </c:strCache>
            </c:strRef>
          </c:tx>
          <c:spPr>
            <a:solidFill>
              <a:srgbClr val="808080"/>
            </a:solidFill>
          </c:spPr>
          <c:invertIfNegative val="0"/>
          <c:xVal>
            <c:numRef>
              <c:f>Sheet1!$A$17:$A$17</c:f>
              <c:numCache>
                <c:formatCode>General</c:formatCode>
                <c:ptCount val="1"/>
                <c:pt idx="0">
                  <c:v>98.66761652278623</c:v>
                </c:pt>
              </c:numCache>
            </c:numRef>
          </c:xVal>
          <c:yVal>
            <c:numRef>
              <c:f>Sheet1!$B$17:$B$17</c:f>
              <c:numCache>
                <c:formatCode>General</c:formatCode>
                <c:ptCount val="1"/>
                <c:pt idx="0">
                  <c:v>53.98481076551968</c:v>
                </c:pt>
              </c:numCache>
            </c:numRef>
          </c:yVal>
          <c:bubbleSize>
            <c:numRef>
              <c:f>Sheet1!$C$17:$C$17</c:f>
              <c:numCache>
                <c:formatCode>General</c:formatCode>
                <c:ptCount val="1"/>
                <c:pt idx="0">
                  <c:v>4753.009</c:v>
                </c:pt>
              </c:numCache>
            </c:numRef>
          </c:bubbleSize>
          <c:bubble3D val="0"/>
        </c:ser>
        <c:ser>
          <c:idx val="6"/>
          <c:order val="6"/>
          <c:tx>
            <c:strRef>
              <c:f>Sheet1!$B$19</c:f>
              <c:strCache>
                <c:ptCount val="1"/>
                <c:pt idx="0">
                  <c:v>Mono-Material Recyclable Structures</c:v>
                </c:pt>
              </c:strCache>
            </c:strRef>
          </c:tx>
          <c:spPr>
            <a:solidFill>
              <a:srgbClr val="0E72AE"/>
            </a:solidFill>
          </c:spPr>
          <c:invertIfNegative val="0"/>
          <c:xVal>
            <c:numRef>
              <c:f>Sheet1!$A$20:$A$20</c:f>
              <c:numCache>
                <c:formatCode>General</c:formatCode>
                <c:ptCount val="1"/>
                <c:pt idx="0">
                  <c:v>111.45574424575872</c:v>
                </c:pt>
              </c:numCache>
            </c:numRef>
          </c:xVal>
          <c:yVal>
            <c:numRef>
              <c:f>Sheet1!$B$20:$B$20</c:f>
              <c:numCache>
                <c:formatCode>General</c:formatCode>
                <c:ptCount val="1"/>
                <c:pt idx="0">
                  <c:v>58.051966154915625</c:v>
                </c:pt>
              </c:numCache>
            </c:numRef>
          </c:yVal>
          <c:bubbleSize>
            <c:numRef>
              <c:f>Sheet1!$C$20:$C$20</c:f>
              <c:numCache>
                <c:formatCode>General</c:formatCode>
                <c:ptCount val="1"/>
                <c:pt idx="0">
                  <c:v>5469.04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5664.246</c:v>
                </c:pt>
                <c:pt idx="2">
                  <c:v>6234.467</c:v>
                </c:pt>
                <c:pt idx="3">
                  <c:v>6937.045</c:v>
                </c:pt>
                <c:pt idx="4">
                  <c:v>7809.037</c:v>
                </c:pt>
                <c:pt idx="5">
                  <c:v>8804.61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5664.246</c:v>
                </c:pt>
                <c:pt idx="1">
                  <c:v>570.2209999999995</c:v>
                </c:pt>
                <c:pt idx="2">
                  <c:v>702.5780000000004</c:v>
                </c:pt>
                <c:pt idx="3">
                  <c:v>871.9920000000002</c:v>
                </c:pt>
                <c:pt idx="4">
                  <c:v>995.5730000000003</c:v>
                </c:pt>
                <c:pt idx="5">
                  <c:v>1110.6980000000003</c:v>
                </c:pt>
                <c:pt idx="6">
                  <c:v>9915.308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10471.666000000001</c:v>
                </c:pt>
                <c:pt idx="2">
                  <c:v>11392.665</c:v>
                </c:pt>
                <c:pt idx="3">
                  <c:v>12588.214</c:v>
                </c:pt>
                <c:pt idx="4">
                  <c:v>14113.124</c:v>
                </c:pt>
                <c:pt idx="5">
                  <c:v>15921.544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10471.666000000001</c:v>
                </c:pt>
                <c:pt idx="1">
                  <c:v>920.9989999999998</c:v>
                </c:pt>
                <c:pt idx="2">
                  <c:v>1195.548999999999</c:v>
                </c:pt>
                <c:pt idx="3">
                  <c:v>1524.9099999999999</c:v>
                </c:pt>
                <c:pt idx="4">
                  <c:v>1808.42</c:v>
                </c:pt>
                <c:pt idx="5">
                  <c:v>2020.241</c:v>
                </c:pt>
                <c:pt idx="6">
                  <c:v>17941.785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9112.035</c:v>
                </c:pt>
                <c:pt idx="2">
                  <c:v>9988.714</c:v>
                </c:pt>
                <c:pt idx="3">
                  <c:v>11082.483</c:v>
                </c:pt>
                <c:pt idx="4">
                  <c:v>12401.921</c:v>
                </c:pt>
                <c:pt idx="5">
                  <c:v>13921.91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9112.035</c:v>
                </c:pt>
                <c:pt idx="1">
                  <c:v>876.6790000000001</c:v>
                </c:pt>
                <c:pt idx="2">
                  <c:v>1093.7690000000002</c:v>
                </c:pt>
                <c:pt idx="3">
                  <c:v>1319.438</c:v>
                </c:pt>
                <c:pt idx="4">
                  <c:v>1519.9889999999996</c:v>
                </c:pt>
                <c:pt idx="5">
                  <c:v>1686.098</c:v>
                </c:pt>
                <c:pt idx="6">
                  <c:v>15608.008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2401.937</c:v>
                </c:pt>
                <c:pt idx="2">
                  <c:v>2653.966</c:v>
                </c:pt>
                <c:pt idx="3">
                  <c:v>2951.786</c:v>
                </c:pt>
                <c:pt idx="4">
                  <c:v>3296.485</c:v>
                </c:pt>
                <c:pt idx="5">
                  <c:v>3687.33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2401.937</c:v>
                </c:pt>
                <c:pt idx="1">
                  <c:v>252.029</c:v>
                </c:pt>
                <c:pt idx="2">
                  <c:v>297.82000000000016</c:v>
                </c:pt>
                <c:pt idx="3">
                  <c:v>344.69900000000007</c:v>
                </c:pt>
                <c:pt idx="4">
                  <c:v>390.8449999999998</c:v>
                </c:pt>
                <c:pt idx="5">
                  <c:v>433.60300000000007</c:v>
                </c:pt>
                <c:pt idx="6">
                  <c:v>4120.933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2569.288</c:v>
                </c:pt>
                <c:pt idx="2">
                  <c:v>2846.503</c:v>
                </c:pt>
                <c:pt idx="3">
                  <c:v>3153.237</c:v>
                </c:pt>
                <c:pt idx="4">
                  <c:v>3492.83</c:v>
                </c:pt>
                <c:pt idx="5">
                  <c:v>3858.972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2569.288</c:v>
                </c:pt>
                <c:pt idx="1">
                  <c:v>277.21500000000015</c:v>
                </c:pt>
                <c:pt idx="2">
                  <c:v>306.7339999999999</c:v>
                </c:pt>
                <c:pt idx="3">
                  <c:v>339.59299999999985</c:v>
                </c:pt>
                <c:pt idx="4">
                  <c:v>366.1420000000003</c:v>
                </c:pt>
                <c:pt idx="5">
                  <c:v>400.87399999999934</c:v>
                </c:pt>
                <c:pt idx="6">
                  <c:v>4259.846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2774.623</c:v>
                </c:pt>
                <c:pt idx="2">
                  <c:v>3078.857</c:v>
                </c:pt>
                <c:pt idx="3">
                  <c:v>3416.692</c:v>
                </c:pt>
                <c:pt idx="4">
                  <c:v>3805.784</c:v>
                </c:pt>
                <c:pt idx="5">
                  <c:v>4255.317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2774.623</c:v>
                </c:pt>
                <c:pt idx="1">
                  <c:v>304.2339999999999</c:v>
                </c:pt>
                <c:pt idx="2">
                  <c:v>337.83500000000004</c:v>
                </c:pt>
                <c:pt idx="3">
                  <c:v>389.0920000000001</c:v>
                </c:pt>
                <c:pt idx="4">
                  <c:v>449.5329999999999</c:v>
                </c:pt>
                <c:pt idx="5">
                  <c:v>497.692</c:v>
                </c:pt>
                <c:pt idx="6">
                  <c:v>4753.009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2983.66</c:v>
                </c:pt>
                <c:pt idx="2">
                  <c:v>3320.569</c:v>
                </c:pt>
                <c:pt idx="3">
                  <c:v>3735.631</c:v>
                </c:pt>
                <c:pt idx="4">
                  <c:v>4240.816</c:v>
                </c:pt>
                <c:pt idx="5">
                  <c:v>4821.601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2983.66</c:v>
                </c:pt>
                <c:pt idx="1">
                  <c:v>336.9090000000001</c:v>
                </c:pt>
                <c:pt idx="2">
                  <c:v>415.0619999999999</c:v>
                </c:pt>
                <c:pt idx="3">
                  <c:v>505.18499999999995</c:v>
                </c:pt>
                <c:pt idx="4">
                  <c:v>580.7849999999999</c:v>
                </c:pt>
                <c:pt idx="5">
                  <c:v>647.4390000000003</c:v>
                </c:pt>
                <c:pt idx="6">
                  <c:v>5469.04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Coextruded Multilayer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30.096841841382428</c:v>
                </c:pt>
                <c:pt idx="1">
                  <c:v>29.10618886188587</c:v>
                </c:pt>
                <c:pt idx="2">
                  <c:v>28.906691892361998</c:v>
                </c:pt>
              </c:numCache>
            </c:numRef>
          </c:val>
        </c:ser>
        <c:ser>
          <c:idx val="1"/>
          <c:order val="1"/>
          <c:tx>
            <c:strRef>
              <c:f>Sheet1!$C$1</c:f>
              <c:strCache>
                <c:ptCount val="1"/>
                <c:pt idx="0">
                  <c:v>Laminated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25.37696625237869</c:v>
                </c:pt>
                <c:pt idx="1">
                  <c:v>25.32706941055169</c:v>
                </c:pt>
                <c:pt idx="2">
                  <c:v>25.14665504628002</c:v>
                </c:pt>
              </c:numCache>
            </c:numRef>
          </c:val>
        </c:ser>
        <c:ser>
          <c:idx val="2"/>
          <c:order val="2"/>
          <c:tx>
            <c:strRef>
              <c:f>Sheet1!$D$1</c:f>
              <c:strCache>
                <c:ptCount val="1"/>
                <c:pt idx="0">
                  <c:v>Monolayer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15.69250670806893</c:v>
                </c:pt>
                <c:pt idx="1">
                  <c:v>15.743876269180241</c:v>
                </c:pt>
                <c:pt idx="2">
                  <c:v>15.974929661339274</c:v>
                </c:pt>
              </c:numCache>
            </c:numRef>
          </c:val>
        </c:ser>
        <c:ser>
          <c:idx val="3"/>
          <c:order val="3"/>
          <c:tx>
            <c:strRef>
              <c:f>Sheet1!$E$1</c:f>
              <c:strCache>
                <c:ptCount val="1"/>
                <c:pt idx="0">
                  <c:v>Mono-Material Recyclable Structures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8.106943668745343</c:v>
                </c:pt>
                <c:pt idx="1">
                  <c:v>8.293138022130803</c:v>
                </c:pt>
                <c:pt idx="2">
                  <c:v>8.81137825623278</c:v>
                </c:pt>
              </c:numCache>
            </c:numRef>
          </c:val>
        </c:ser>
        <c:ser>
          <c:idx val="4"/>
          <c:order val="4"/>
          <c:tx>
            <c:strRef>
              <c:f>Sheet1!$F$1</c:f>
              <c:strCache>
                <c:ptCount val="1"/>
                <c:pt idx="0">
                  <c:v>Foil-Laminated Structures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7.346527366278012</c:v>
                </c:pt>
                <c:pt idx="1">
                  <c:v>7.712115823645668</c:v>
                </c:pt>
                <c:pt idx="2">
                  <c:v>7.657753491340108</c:v>
                </c:pt>
              </c:numCache>
            </c:numRef>
          </c:val>
        </c:ser>
        <c:ser>
          <c:idx val="5"/>
          <c:order val="5"/>
          <c:tx>
            <c:strRef>
              <c:f>Sheet1!$G$1</c:f>
              <c:strCache>
                <c:ptCount val="1"/>
                <c:pt idx="0">
                  <c:v>Metallized Films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6.837677712901737</c:v>
                </c:pt>
                <c:pt idx="1">
                  <c:v>7.141383402466905</c:v>
                </c:pt>
                <c:pt idx="2">
                  <c:v>6.863199833846558</c:v>
                </c:pt>
              </c:numCache>
            </c:numRef>
          </c:val>
        </c:ser>
        <c:ser>
          <c:idx val="6"/>
          <c:order val="6"/>
          <c:tx>
            <c:strRef>
              <c:f>Sheet1!$H$1</c:f>
              <c:strCache>
                <c:ptCount val="1"/>
                <c:pt idx="0">
                  <c:v>Coated Films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6.542536450244854</c:v>
                </c:pt>
                <c:pt idx="1">
                  <c:v>6.676228210138821</c:v>
                </c:pt>
                <c:pt idx="2">
                  <c:v>6.639391818599264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Low-Barrier Films</c:v>
                </c:pt>
              </c:strCache>
            </c:strRef>
          </c:tx>
          <c:spPr>
            <a:solidFill>
              <a:srgbClr val="3D85C6"/>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Sheet1!$B$2:$B$3</c:f>
              <c:numCache>
                <c:formatCode>General</c:formatCode>
                <c:ptCount val="2"/>
                <c:pt idx="0">
                  <c:v>21.12131247083429</c:v>
                </c:pt>
                <c:pt idx="1">
                  <c:v>21.118582709602812</c:v>
                </c:pt>
              </c:numCache>
            </c:numRef>
          </c:val>
        </c:ser>
        <c:ser>
          <c:idx val="1"/>
          <c:order val="1"/>
          <c:tx>
            <c:strRef>
              <c:f>Sheet1!$C$1</c:f>
              <c:strCache>
                <c:ptCount val="1"/>
                <c:pt idx="0">
                  <c:v>Medium-Barrier Films</c:v>
                </c:pt>
              </c:strCache>
            </c:strRef>
          </c:tx>
          <c:spPr>
            <a:solidFill>
              <a:srgbClr val="9E7E0A"/>
            </a:solidFill>
            <a:ln>
              <a:noFill/>
            </a:ln>
          </c:spPr>
          <c:dLbls>
            <c:dLbl>
              <c:idx val="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Sheet1!$C$2:$C$3</c:f>
              <c:numCache>
                <c:formatCode>General</c:formatCode>
                <c:ptCount val="2"/>
                <c:pt idx="0">
                  <c:v>31.885479604097135</c:v>
                </c:pt>
                <c:pt idx="1">
                  <c:v>31.871158365405915</c:v>
                </c:pt>
              </c:numCache>
            </c:numRef>
          </c:val>
        </c:ser>
        <c:ser>
          <c:idx val="2"/>
          <c:order val="2"/>
          <c:tx>
            <c:strRef>
              <c:f>Sheet1!$D$1</c:f>
              <c:strCache>
                <c:ptCount val="1"/>
                <c:pt idx="0">
                  <c:v>High-Barrier Films</c:v>
                </c:pt>
              </c:strCache>
            </c:strRef>
          </c:tx>
          <c:spPr>
            <a:solidFill>
              <a:srgbClr val="008189"/>
            </a:solidFill>
            <a:ln>
              <a:noFill/>
            </a:ln>
          </c:spPr>
          <c:dLbls>
            <c:dLbl>
              <c:idx val="0"/>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Sheet1!$D$2:$D$3</c:f>
              <c:numCache>
                <c:formatCode>General</c:formatCode>
                <c:ptCount val="2"/>
                <c:pt idx="0">
                  <c:v>33.36646083519007</c:v>
                </c:pt>
                <c:pt idx="1">
                  <c:v>33.38161201345498</c:v>
                </c:pt>
              </c:numCache>
            </c:numRef>
          </c:val>
        </c:ser>
        <c:ser>
          <c:idx val="3"/>
          <c:order val="3"/>
          <c:tx>
            <c:strRef>
              <c:f>Sheet1!$E$1</c:f>
              <c:strCache>
                <c:ptCount val="1"/>
                <c:pt idx="0">
                  <c:v>Ultra-High-Barrier Films</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Sheet1!$E$2:$E$3</c:f>
              <c:numCache>
                <c:formatCode>General</c:formatCode>
                <c:ptCount val="2"/>
                <c:pt idx="0">
                  <c:v>13.626747089878494</c:v>
                </c:pt>
                <c:pt idx="1">
                  <c:v>13.62864691153629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Low-Barrier Films</c:v>
                </c:pt>
              </c:strCache>
            </c:strRef>
          </c:tx>
          <c:spPr>
            <a:solidFill>
              <a:srgbClr val="3D85C6"/>
            </a:solidFill>
          </c:spPr>
          <c:invertIfNegative val="0"/>
          <c:xVal>
            <c:numRef>
              <c:f>Sheet1!$A$2:$A$2</c:f>
              <c:numCache>
                <c:formatCode>General</c:formatCode>
                <c:ptCount val="1"/>
                <c:pt idx="0">
                  <c:v>97.94686000257074</c:v>
                </c:pt>
              </c:numCache>
            </c:numRef>
          </c:xVal>
          <c:yVal>
            <c:numRef>
              <c:f>Sheet1!$B$2:$B$2</c:f>
              <c:numCache>
                <c:formatCode>General</c:formatCode>
                <c:ptCount val="1"/>
                <c:pt idx="0">
                  <c:v>85.4014382062322</c:v>
                </c:pt>
              </c:numCache>
            </c:numRef>
          </c:yVal>
          <c:bubbleSize>
            <c:numRef>
              <c:f>Sheet1!$C$2:$C$2</c:f>
              <c:numCache>
                <c:formatCode>General</c:formatCode>
                <c:ptCount val="1"/>
                <c:pt idx="0">
                  <c:v>13108.032</c:v>
                </c:pt>
              </c:numCache>
            </c:numRef>
          </c:bubbleSize>
          <c:bubble3D val="0"/>
        </c:ser>
        <c:ser>
          <c:idx val="1"/>
          <c:order val="1"/>
          <c:tx>
            <c:strRef>
              <c:f>Sheet1!$B$4</c:f>
              <c:strCache>
                <c:ptCount val="1"/>
                <c:pt idx="0">
                  <c:v>Medium-Barrier Films</c:v>
                </c:pt>
              </c:strCache>
            </c:strRef>
          </c:tx>
          <c:spPr>
            <a:solidFill>
              <a:srgbClr val="9E7E0A"/>
            </a:solidFill>
          </c:spPr>
          <c:invertIfNegative val="0"/>
          <c:xVal>
            <c:numRef>
              <c:f>Sheet1!$A$5:$A$5</c:f>
              <c:numCache>
                <c:formatCode>General</c:formatCode>
                <c:ptCount val="1"/>
                <c:pt idx="0">
                  <c:v>92.88594487165615</c:v>
                </c:pt>
              </c:numCache>
            </c:numRef>
          </c:xVal>
          <c:yVal>
            <c:numRef>
              <c:f>Sheet1!$B$5:$B$5</c:f>
              <c:numCache>
                <c:formatCode>General</c:formatCode>
                <c:ptCount val="1"/>
                <c:pt idx="0">
                  <c:v>132.40531883091785</c:v>
                </c:pt>
              </c:numCache>
            </c:numRef>
          </c:yVal>
          <c:bubbleSize>
            <c:numRef>
              <c:f>Sheet1!$C$5:$C$5</c:f>
              <c:numCache>
                <c:formatCode>General</c:formatCode>
                <c:ptCount val="1"/>
                <c:pt idx="0">
                  <c:v>19782.635</c:v>
                </c:pt>
              </c:numCache>
            </c:numRef>
          </c:bubbleSize>
          <c:bubble3D val="0"/>
        </c:ser>
        <c:ser>
          <c:idx val="2"/>
          <c:order val="2"/>
          <c:tx>
            <c:strRef>
              <c:f>Sheet1!$B$7</c:f>
              <c:strCache>
                <c:ptCount val="1"/>
                <c:pt idx="0">
                  <c:v>High-Barrier Films</c:v>
                </c:pt>
              </c:strCache>
            </c:strRef>
          </c:tx>
          <c:spPr>
            <a:solidFill>
              <a:srgbClr val="008189"/>
            </a:solidFill>
          </c:spPr>
          <c:invertIfNegative val="0"/>
          <c:xVal>
            <c:numRef>
              <c:f>Sheet1!$A$8:$A$8</c:f>
              <c:numCache>
                <c:formatCode>General</c:formatCode>
                <c:ptCount val="1"/>
                <c:pt idx="0">
                  <c:v>107.36523421004188</c:v>
                </c:pt>
              </c:numCache>
            </c:numRef>
          </c:xVal>
          <c:yVal>
            <c:numRef>
              <c:f>Sheet1!$B$8:$B$8</c:f>
              <c:numCache>
                <c:formatCode>General</c:formatCode>
                <c:ptCount val="1"/>
                <c:pt idx="0">
                  <c:v>128.41172895637004</c:v>
                </c:pt>
              </c:numCache>
            </c:numRef>
          </c:yVal>
          <c:bubbleSize>
            <c:numRef>
              <c:f>Sheet1!$C$8:$C$8</c:f>
              <c:numCache>
                <c:formatCode>General</c:formatCode>
                <c:ptCount val="1"/>
                <c:pt idx="0">
                  <c:v>20718.359</c:v>
                </c:pt>
              </c:numCache>
            </c:numRef>
          </c:bubbleSize>
          <c:bubble3D val="0"/>
        </c:ser>
        <c:ser>
          <c:idx val="3"/>
          <c:order val="3"/>
          <c:tx>
            <c:strRef>
              <c:f>Sheet1!$B$10</c:f>
              <c:strCache>
                <c:ptCount val="1"/>
                <c:pt idx="0">
                  <c:v>Ultra-High-Barrier Films</c:v>
                </c:pt>
              </c:strCache>
            </c:strRef>
          </c:tx>
          <c:spPr>
            <a:solidFill>
              <a:srgbClr val="40315E"/>
            </a:solidFill>
          </c:spPr>
          <c:invertIfNegative val="0"/>
          <c:xVal>
            <c:numRef>
              <c:f>Sheet1!$A$11:$A$11</c:f>
              <c:numCache>
                <c:formatCode>General</c:formatCode>
                <c:ptCount val="1"/>
                <c:pt idx="0">
                  <c:v>102.55006835778016</c:v>
                </c:pt>
              </c:numCache>
            </c:numRef>
          </c:xVal>
          <c:yVal>
            <c:numRef>
              <c:f>Sheet1!$B$11:$B$11</c:f>
              <c:numCache>
                <c:formatCode>General</c:formatCode>
                <c:ptCount val="1"/>
                <c:pt idx="0">
                  <c:v>53.78151400647989</c:v>
                </c:pt>
              </c:numCache>
            </c:numRef>
          </c:yVal>
          <c:bubbleSize>
            <c:numRef>
              <c:f>Sheet1!$C$11:$C$11</c:f>
              <c:numCache>
                <c:formatCode>General</c:formatCode>
                <c:ptCount val="1"/>
                <c:pt idx="0">
                  <c:v>8458.904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7681.316</c:v>
                </c:pt>
                <c:pt idx="2">
                  <c:v>8441.714</c:v>
                </c:pt>
                <c:pt idx="3">
                  <c:v>9353.328</c:v>
                </c:pt>
                <c:pt idx="4">
                  <c:v>10441.54</c:v>
                </c:pt>
                <c:pt idx="5">
                  <c:v>11701.267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7681.316</c:v>
                </c:pt>
                <c:pt idx="1">
                  <c:v>760.3980000000001</c:v>
                </c:pt>
                <c:pt idx="2">
                  <c:v>911.6139999999996</c:v>
                </c:pt>
                <c:pt idx="3">
                  <c:v>1088.2120000000014</c:v>
                </c:pt>
                <c:pt idx="4">
                  <c:v>1259.726999999999</c:v>
                </c:pt>
                <c:pt idx="5">
                  <c:v>1406.7649999999994</c:v>
                </c:pt>
                <c:pt idx="6">
                  <c:v>13108.032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11909.016</c:v>
                </c:pt>
                <c:pt idx="2">
                  <c:v>12971.184</c:v>
                </c:pt>
                <c:pt idx="3">
                  <c:v>14311.925</c:v>
                </c:pt>
                <c:pt idx="4">
                  <c:v>15963.609</c:v>
                </c:pt>
                <c:pt idx="5">
                  <c:v>17783.457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11909.016</c:v>
                </c:pt>
                <c:pt idx="1">
                  <c:v>1062.1679999999997</c:v>
                </c:pt>
                <c:pt idx="2">
                  <c:v>1340.741</c:v>
                </c:pt>
                <c:pt idx="3">
                  <c:v>1651.684000000001</c:v>
                </c:pt>
                <c:pt idx="4">
                  <c:v>1819.8479999999981</c:v>
                </c:pt>
                <c:pt idx="5">
                  <c:v>1999.1779999999999</c:v>
                </c:pt>
                <c:pt idx="6">
                  <c:v>19782.635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11549.818</c:v>
                </c:pt>
                <c:pt idx="2">
                  <c:v>12823.837</c:v>
                </c:pt>
                <c:pt idx="3">
                  <c:v>14384.204</c:v>
                </c:pt>
                <c:pt idx="4">
                  <c:v>16204.005</c:v>
                </c:pt>
                <c:pt idx="5">
                  <c:v>18339.866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11549.818</c:v>
                </c:pt>
                <c:pt idx="1">
                  <c:v>1274.0190000000002</c:v>
                </c:pt>
                <c:pt idx="2">
                  <c:v>1560.3670000000002</c:v>
                </c:pt>
                <c:pt idx="3">
                  <c:v>1819.8009999999995</c:v>
                </c:pt>
                <c:pt idx="4">
                  <c:v>2135.8610000000026</c:v>
                </c:pt>
                <c:pt idx="5">
                  <c:v>2378.4929999999986</c:v>
                </c:pt>
                <c:pt idx="6">
                  <c:v>20718.359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4837.305</c:v>
                </c:pt>
                <c:pt idx="2">
                  <c:v>5279.005</c:v>
                </c:pt>
                <c:pt idx="3">
                  <c:v>5815.632</c:v>
                </c:pt>
                <c:pt idx="4">
                  <c:v>6550.842</c:v>
                </c:pt>
                <c:pt idx="5">
                  <c:v>7446.691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4837.305</c:v>
                </c:pt>
                <c:pt idx="1">
                  <c:v>441.6999999999998</c:v>
                </c:pt>
                <c:pt idx="2">
                  <c:v>536.6269999999995</c:v>
                </c:pt>
                <c:pt idx="3">
                  <c:v>735.21</c:v>
                </c:pt>
                <c:pt idx="4">
                  <c:v>895.8490000000002</c:v>
                </c:pt>
                <c:pt idx="5">
                  <c:v>1012.2130000000006</c:v>
                </c:pt>
                <c:pt idx="6">
                  <c:v>8458.904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High-Barrier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31.244127469216988</c:v>
                </c:pt>
                <c:pt idx="1">
                  <c:v>32.10293223909251</c:v>
                </c:pt>
                <c:pt idx="2">
                  <c:v>33.38013528081249</c:v>
                </c:pt>
              </c:numCache>
            </c:numRef>
          </c:val>
        </c:ser>
        <c:ser>
          <c:idx val="1"/>
          <c:order val="1"/>
          <c:tx>
            <c:strRef>
              <c:f>Sheet1!$C$1</c:f>
              <c:strCache>
                <c:ptCount val="1"/>
                <c:pt idx="0">
                  <c:v>Medium-Barrier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33.95131546032984</c:v>
                </c:pt>
                <c:pt idx="1">
                  <c:v>33.10132970772946</c:v>
                </c:pt>
                <c:pt idx="2">
                  <c:v>31.8725547960114</c:v>
                </c:pt>
              </c:numCache>
            </c:numRef>
          </c:val>
        </c:ser>
        <c:ser>
          <c:idx val="2"/>
          <c:order val="2"/>
          <c:tx>
            <c:strRef>
              <c:f>Sheet1!$D$1</c:f>
              <c:strCache>
                <c:ptCount val="1"/>
                <c:pt idx="0">
                  <c:v>Low-Barrier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21.50679635023807</c:v>
                </c:pt>
                <c:pt idx="1">
                  <c:v>21.35035955155805</c:v>
                </c:pt>
                <c:pt idx="2">
                  <c:v>21.11884833278635</c:v>
                </c:pt>
              </c:numCache>
            </c:numRef>
          </c:val>
        </c:ser>
        <c:ser>
          <c:idx val="3"/>
          <c:order val="3"/>
          <c:tx>
            <c:strRef>
              <c:f>Sheet1!$E$1</c:f>
              <c:strCache>
                <c:ptCount val="1"/>
                <c:pt idx="0">
                  <c:v>Ultra-High-Barrier Films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13.297760720215102</c:v>
                </c:pt>
                <c:pt idx="1">
                  <c:v>13.445378501619972</c:v>
                </c:pt>
                <c:pt idx="2">
                  <c:v>13.628461590389756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Food Packaging</c:v>
                </c:pt>
              </c:strCache>
            </c:strRef>
          </c:tx>
          <c:spPr>
            <a:solidFill>
              <a:srgbClr val="3D85C6"/>
            </a:solidFill>
            <a:ln>
              <a:noFill/>
            </a:ln>
          </c:spPr>
          <c:dLbls>
            <c:dLbl>
              <c:idx val="0"/>
              <c:tx>
                <c:rich>
                  <a:bodyPr/>
                  <a:lstStyle/>
                  <a:p>
                    <a:r>
                      <a:rPr sz="1100">
                        <a:solidFill>
                          <a:srgbClr val="FFFFFF"/>
                        </a:solidFill>
                        <a:latin typeface="Calibri"/>
                      </a:rPr>
                      <a:t>84%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Sheet1!$B$2:$B$3</c:f>
              <c:numCache>
                <c:formatCode>General</c:formatCode>
                <c:ptCount val="2"/>
                <c:pt idx="0">
                  <c:v>84.02381276805156</c:v>
                </c:pt>
                <c:pt idx="1">
                  <c:v>83.7814864621904</c:v>
                </c:pt>
              </c:numCache>
            </c:numRef>
          </c:val>
        </c:ser>
        <c:ser>
          <c:idx val="1"/>
          <c:order val="1"/>
          <c:tx>
            <c:strRef>
              <c:f>Sheet1!$C$1</c:f>
              <c:strCache>
                <c:ptCount val="1"/>
                <c:pt idx="0">
                  <c:v>Non-Food Packaging</c:v>
                </c:pt>
              </c:strCache>
            </c:strRef>
          </c:tx>
          <c:spPr>
            <a:solidFill>
              <a:srgbClr val="9E7E0A"/>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Sheet1!$C$2:$C$3</c:f>
              <c:numCache>
                <c:formatCode>General</c:formatCode>
                <c:ptCount val="2"/>
                <c:pt idx="0">
                  <c:v>15.976187231948439</c:v>
                </c:pt>
                <c:pt idx="1">
                  <c:v>16.218513537809603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Food Packaging</c:v>
                </c:pt>
              </c:strCache>
            </c:strRef>
          </c:tx>
          <c:spPr>
            <a:solidFill>
              <a:srgbClr val="3D85C6"/>
            </a:solidFill>
          </c:spPr>
          <c:invertIfNegative val="0"/>
          <c:xVal>
            <c:numRef>
              <c:f>Sheet1!$A$2:$A$2</c:f>
              <c:numCache>
                <c:formatCode>General</c:formatCode>
                <c:ptCount val="1"/>
                <c:pt idx="0">
                  <c:v>100.23258397175698</c:v>
                </c:pt>
              </c:numCache>
            </c:numRef>
          </c:xVal>
          <c:yVal>
            <c:numRef>
              <c:f>Sheet1!$B$2:$B$2</c:f>
              <c:numCache>
                <c:formatCode>General</c:formatCode>
                <c:ptCount val="1"/>
                <c:pt idx="0">
                  <c:v>167.4034298141114</c:v>
                </c:pt>
              </c:numCache>
            </c:numRef>
          </c:yVal>
          <c:bubbleSize>
            <c:numRef>
              <c:f>Sheet1!$C$2:$C$2</c:f>
              <c:numCache>
                <c:formatCode>General</c:formatCode>
                <c:ptCount val="1"/>
                <c:pt idx="0">
                  <c:v>52016.087</c:v>
                </c:pt>
              </c:numCache>
            </c:numRef>
          </c:bubbleSize>
          <c:bubble3D val="0"/>
        </c:ser>
        <c:ser>
          <c:idx val="1"/>
          <c:order val="1"/>
          <c:tx>
            <c:strRef>
              <c:f>Sheet1!$B$4</c:f>
              <c:strCache>
                <c:ptCount val="1"/>
                <c:pt idx="0">
                  <c:v>Non-Food Packaging</c:v>
                </c:pt>
              </c:strCache>
            </c:strRef>
          </c:tx>
          <c:spPr>
            <a:solidFill>
              <a:srgbClr val="9E7E0A"/>
            </a:solidFill>
          </c:spPr>
          <c:invertIfNegative val="0"/>
          <c:xVal>
            <c:numRef>
              <c:f>Sheet1!$A$5:$A$5</c:f>
              <c:numCache>
                <c:formatCode>General</c:formatCode>
                <c:ptCount val="1"/>
                <c:pt idx="0">
                  <c:v>98.80144954403599</c:v>
                </c:pt>
              </c:numCache>
            </c:numRef>
          </c:xVal>
          <c:yVal>
            <c:numRef>
              <c:f>Sheet1!$B$5:$B$5</c:f>
              <c:numCache>
                <c:formatCode>General</c:formatCode>
                <c:ptCount val="1"/>
                <c:pt idx="0">
                  <c:v>32.59657018588861</c:v>
                </c:pt>
              </c:numCache>
            </c:numRef>
          </c:yVal>
          <c:bubbleSize>
            <c:numRef>
              <c:f>Sheet1!$C$5:$C$5</c:f>
              <c:numCache>
                <c:formatCode>General</c:formatCode>
                <c:ptCount val="1"/>
                <c:pt idx="0">
                  <c:v>10051.843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30113.751</c:v>
                </c:pt>
                <c:pt idx="2">
                  <c:v>33077.848</c:v>
                </c:pt>
                <c:pt idx="3">
                  <c:v>36724.86</c:v>
                </c:pt>
                <c:pt idx="4">
                  <c:v>41166.63</c:v>
                </c:pt>
                <c:pt idx="5">
                  <c:v>46301.777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30113.751</c:v>
                </c:pt>
                <c:pt idx="1">
                  <c:v>2964.096999999998</c:v>
                </c:pt>
                <c:pt idx="2">
                  <c:v>3647.0120000000024</c:v>
                </c:pt>
                <c:pt idx="3">
                  <c:v>4441.769999999997</c:v>
                </c:pt>
                <c:pt idx="4">
                  <c:v>5135.1470000000045</c:v>
                </c:pt>
                <c:pt idx="5">
                  <c:v>5714.309999999998</c:v>
                </c:pt>
                <c:pt idx="6">
                  <c:v>52016.087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5863.709</c:v>
                </c:pt>
                <c:pt idx="2">
                  <c:v>6437.8910000000005</c:v>
                </c:pt>
                <c:pt idx="3">
                  <c:v>7140.228</c:v>
                </c:pt>
                <c:pt idx="4">
                  <c:v>7993.365</c:v>
                </c:pt>
                <c:pt idx="5">
                  <c:v>8969.504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5863.709</c:v>
                </c:pt>
                <c:pt idx="1">
                  <c:v>574.1820000000007</c:v>
                </c:pt>
                <c:pt idx="2">
                  <c:v>702.3369999999995</c:v>
                </c:pt>
                <c:pt idx="3">
                  <c:v>853.1369999999997</c:v>
                </c:pt>
                <c:pt idx="4">
                  <c:v>976.139000000001</c:v>
                </c:pt>
                <c:pt idx="5">
                  <c:v>1082.339</c:v>
                </c:pt>
                <c:pt idx="6">
                  <c:v>10051.843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Food Packaging</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83.77736965433448</c:v>
                </c:pt>
                <c:pt idx="1">
                  <c:v>83.7017149070557</c:v>
                </c:pt>
                <c:pt idx="2">
                  <c:v>83.8050938705383</c:v>
                </c:pt>
              </c:numCache>
            </c:numRef>
          </c:val>
        </c:ser>
        <c:ser>
          <c:idx val="1"/>
          <c:order val="1"/>
          <c:tx>
            <c:strRef>
              <c:f>Sheet1!$C$1</c:f>
              <c:strCache>
                <c:ptCount val="1"/>
                <c:pt idx="0">
                  <c:v>Non-Food Packaging</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16.222630345665525</c:v>
                </c:pt>
                <c:pt idx="1">
                  <c:v>16.298285092944305</c:v>
                </c:pt>
                <c:pt idx="2">
                  <c:v>16.194906129461707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Low-Barrier Films</c:v>
                </c:pt>
              </c:strCache>
            </c:strRef>
          </c:tx>
          <c:spPr>
            <a:solidFill>
              <a:srgbClr val="3D85C6"/>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Sheet1!$B$2:$B$3</c:f>
              <c:numCache>
                <c:formatCode>General</c:formatCode>
                <c:ptCount val="2"/>
                <c:pt idx="0">
                  <c:v>21.12132202170077</c:v>
                </c:pt>
                <c:pt idx="1">
                  <c:v>21.118580924544755</c:v>
                </c:pt>
              </c:numCache>
            </c:numRef>
          </c:val>
        </c:ser>
        <c:ser>
          <c:idx val="1"/>
          <c:order val="1"/>
          <c:tx>
            <c:strRef>
              <c:f>Sheet1!$C$1</c:f>
              <c:strCache>
                <c:ptCount val="1"/>
                <c:pt idx="0">
                  <c:v>Medium-Barrier Films</c:v>
                </c:pt>
              </c:strCache>
            </c:strRef>
          </c:tx>
          <c:spPr>
            <a:solidFill>
              <a:srgbClr val="9E7E0A"/>
            </a:solidFill>
            <a:ln>
              <a:noFill/>
            </a:ln>
          </c:spPr>
          <c:dLbls>
            <c:dLbl>
              <c:idx val="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Sheet1!$C$2:$C$3</c:f>
              <c:numCache>
                <c:formatCode>General</c:formatCode>
                <c:ptCount val="2"/>
                <c:pt idx="0">
                  <c:v>31.88546905881326</c:v>
                </c:pt>
                <c:pt idx="1">
                  <c:v>31.871160150463968</c:v>
                </c:pt>
              </c:numCache>
            </c:numRef>
          </c:val>
        </c:ser>
        <c:ser>
          <c:idx val="2"/>
          <c:order val="2"/>
          <c:tx>
            <c:strRef>
              <c:f>Sheet1!$D$1</c:f>
              <c:strCache>
                <c:ptCount val="1"/>
                <c:pt idx="0">
                  <c:v>High-Barrier Films</c:v>
                </c:pt>
              </c:strCache>
            </c:strRef>
          </c:tx>
          <c:spPr>
            <a:solidFill>
              <a:srgbClr val="008189"/>
            </a:solidFill>
            <a:ln>
              <a:noFill/>
            </a:ln>
          </c:spPr>
          <c:dLbls>
            <c:dLbl>
              <c:idx val="0"/>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Sheet1!$D$2:$D$3</c:f>
              <c:numCache>
                <c:formatCode>General</c:formatCode>
                <c:ptCount val="2"/>
                <c:pt idx="0">
                  <c:v>33.366466336295744</c:v>
                </c:pt>
                <c:pt idx="1">
                  <c:v>33.38161379851303</c:v>
                </c:pt>
              </c:numCache>
            </c:numRef>
          </c:val>
        </c:ser>
        <c:ser>
          <c:idx val="3"/>
          <c:order val="3"/>
          <c:tx>
            <c:strRef>
              <c:f>Sheet1!$E$1</c:f>
              <c:strCache>
                <c:ptCount val="1"/>
                <c:pt idx="0">
                  <c:v>Ultra-High-Barrier Films</c:v>
                </c:pt>
              </c:strCache>
            </c:strRef>
          </c:tx>
          <c:spPr>
            <a:solidFill>
              <a:srgbClr val="40315E"/>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6,047</c:v>
                </c:pt>
                <c:pt idx="1">
                  <c:v>U.S.  ·  56,021</c:v>
                </c:pt>
              </c:strCache>
            </c:strRef>
          </c:cat>
          <c:val>
            <c:numRef>
              <c:f>Sheet1!$E$2:$E$3</c:f>
              <c:numCache>
                <c:formatCode>General</c:formatCode>
                <c:ptCount val="2"/>
                <c:pt idx="0">
                  <c:v>13.626742583190243</c:v>
                </c:pt>
                <c:pt idx="1">
                  <c:v>13.628645126478233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Low-Barrier Films</c:v>
                </c:pt>
              </c:strCache>
            </c:strRef>
          </c:tx>
          <c:spPr>
            <a:solidFill>
              <a:srgbClr val="3D85C6"/>
            </a:solidFill>
          </c:spPr>
          <c:invertIfNegative val="0"/>
          <c:xVal>
            <c:numRef>
              <c:f>Sheet1!$A$2:$A$2</c:f>
              <c:numCache>
                <c:formatCode>General</c:formatCode>
                <c:ptCount val="1"/>
                <c:pt idx="0">
                  <c:v>97.94684257263148</c:v>
                </c:pt>
              </c:numCache>
            </c:numRef>
          </c:xVal>
          <c:yVal>
            <c:numRef>
              <c:f>Sheet1!$B$2:$B$2</c:f>
              <c:numCache>
                <c:formatCode>General</c:formatCode>
                <c:ptCount val="1"/>
                <c:pt idx="0">
                  <c:v>85.40145407180437</c:v>
                </c:pt>
              </c:numCache>
            </c:numRef>
          </c:yVal>
          <c:bubbleSize>
            <c:numRef>
              <c:f>Sheet1!$C$2:$C$2</c:f>
              <c:numCache>
                <c:formatCode>General</c:formatCode>
                <c:ptCount val="1"/>
                <c:pt idx="0">
                  <c:v>13108.033</c:v>
                </c:pt>
              </c:numCache>
            </c:numRef>
          </c:bubbleSize>
          <c:bubble3D val="0"/>
        </c:ser>
        <c:ser>
          <c:idx val="1"/>
          <c:order val="1"/>
          <c:tx>
            <c:strRef>
              <c:f>Sheet1!$B$4</c:f>
              <c:strCache>
                <c:ptCount val="1"/>
                <c:pt idx="0">
                  <c:v>Medium-Barrier Films</c:v>
                </c:pt>
              </c:strCache>
            </c:strRef>
          </c:tx>
          <c:spPr>
            <a:solidFill>
              <a:srgbClr val="9E7E0A"/>
            </a:solidFill>
          </c:spPr>
          <c:invertIfNegative val="0"/>
          <c:xVal>
            <c:numRef>
              <c:f>Sheet1!$A$5:$A$5</c:f>
              <c:numCache>
                <c:formatCode>General</c:formatCode>
                <c:ptCount val="1"/>
                <c:pt idx="0">
                  <c:v>92.88591898533944</c:v>
                </c:pt>
              </c:numCache>
            </c:numRef>
          </c:xVal>
          <c:yVal>
            <c:numRef>
              <c:f>Sheet1!$B$5:$B$5</c:f>
              <c:numCache>
                <c:formatCode>General</c:formatCode>
                <c:ptCount val="1"/>
                <c:pt idx="0">
                  <c:v>132.4053261913788</c:v>
                </c:pt>
              </c:numCache>
            </c:numRef>
          </c:yVal>
          <c:bubbleSize>
            <c:numRef>
              <c:f>Sheet1!$C$5:$C$5</c:f>
              <c:numCache>
                <c:formatCode>General</c:formatCode>
                <c:ptCount val="1"/>
                <c:pt idx="0">
                  <c:v>19782.633</c:v>
                </c:pt>
              </c:numCache>
            </c:numRef>
          </c:bubbleSize>
          <c:bubble3D val="0"/>
        </c:ser>
        <c:ser>
          <c:idx val="2"/>
          <c:order val="2"/>
          <c:tx>
            <c:strRef>
              <c:f>Sheet1!$B$7</c:f>
              <c:strCache>
                <c:ptCount val="1"/>
                <c:pt idx="0">
                  <c:v>High-Barrier Films</c:v>
                </c:pt>
              </c:strCache>
            </c:strRef>
          </c:tx>
          <c:spPr>
            <a:solidFill>
              <a:srgbClr val="008189"/>
            </a:solidFill>
          </c:spPr>
          <c:invertIfNegative val="0"/>
          <c:xVal>
            <c:numRef>
              <c:f>Sheet1!$A$8:$A$8</c:f>
              <c:numCache>
                <c:formatCode>General</c:formatCode>
                <c:ptCount val="1"/>
                <c:pt idx="0">
                  <c:v>107.36524071857656</c:v>
                </c:pt>
              </c:numCache>
            </c:numRef>
          </c:xVal>
          <c:yVal>
            <c:numRef>
              <c:f>Sheet1!$B$8:$B$8</c:f>
              <c:numCache>
                <c:formatCode>General</c:formatCode>
                <c:ptCount val="1"/>
                <c:pt idx="0">
                  <c:v>128.41171385867702</c:v>
                </c:pt>
              </c:numCache>
            </c:numRef>
          </c:yVal>
          <c:bubbleSize>
            <c:numRef>
              <c:f>Sheet1!$C$8:$C$8</c:f>
              <c:numCache>
                <c:formatCode>General</c:formatCode>
                <c:ptCount val="1"/>
                <c:pt idx="0">
                  <c:v>20718.357</c:v>
                </c:pt>
              </c:numCache>
            </c:numRef>
          </c:bubbleSize>
          <c:bubble3D val="0"/>
        </c:ser>
        <c:ser>
          <c:idx val="3"/>
          <c:order val="3"/>
          <c:tx>
            <c:strRef>
              <c:f>Sheet1!$B$10</c:f>
              <c:strCache>
                <c:ptCount val="1"/>
                <c:pt idx="0">
                  <c:v>Ultra-High-Barrier Films</c:v>
                </c:pt>
              </c:strCache>
            </c:strRef>
          </c:tx>
          <c:spPr>
            <a:solidFill>
              <a:srgbClr val="40315E"/>
            </a:solidFill>
          </c:spPr>
          <c:invertIfNegative val="0"/>
          <c:xVal>
            <c:numRef>
              <c:f>Sheet1!$A$11:$A$11</c:f>
              <c:numCache>
                <c:formatCode>General</c:formatCode>
                <c:ptCount val="1"/>
                <c:pt idx="0">
                  <c:v>102.55014434273231</c:v>
                </c:pt>
              </c:numCache>
            </c:numRef>
          </c:xVal>
          <c:yVal>
            <c:numRef>
              <c:f>Sheet1!$B$11:$B$11</c:f>
              <c:numCache>
                <c:formatCode>General</c:formatCode>
                <c:ptCount val="1"/>
                <c:pt idx="0">
                  <c:v>53.78150587813985</c:v>
                </c:pt>
              </c:numCache>
            </c:numRef>
          </c:yVal>
          <c:bubbleSize>
            <c:numRef>
              <c:f>Sheet1!$C$11:$C$11</c:f>
              <c:numCache>
                <c:formatCode>General</c:formatCode>
                <c:ptCount val="1"/>
                <c:pt idx="0">
                  <c:v>8458.906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7681.317</c:v>
                </c:pt>
                <c:pt idx="2">
                  <c:v>8441.714</c:v>
                </c:pt>
                <c:pt idx="3">
                  <c:v>9353.326</c:v>
                </c:pt>
                <c:pt idx="4">
                  <c:v>10441.541</c:v>
                </c:pt>
                <c:pt idx="5">
                  <c:v>11701.27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7681.317</c:v>
                </c:pt>
                <c:pt idx="1">
                  <c:v>760.3969999999999</c:v>
                </c:pt>
                <c:pt idx="2">
                  <c:v>911.6119999999992</c:v>
                </c:pt>
                <c:pt idx="3">
                  <c:v>1088.2150000000001</c:v>
                </c:pt>
                <c:pt idx="4">
                  <c:v>1259.7290000000012</c:v>
                </c:pt>
                <c:pt idx="5">
                  <c:v>1406.762999999999</c:v>
                </c:pt>
                <c:pt idx="6">
                  <c:v>13108.033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11909.016</c:v>
                </c:pt>
                <c:pt idx="2">
                  <c:v>12971.184000000001</c:v>
                </c:pt>
                <c:pt idx="3">
                  <c:v>14311.922999999999</c:v>
                </c:pt>
                <c:pt idx="4">
                  <c:v>15963.61</c:v>
                </c:pt>
                <c:pt idx="5">
                  <c:v>17783.456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11909.016</c:v>
                </c:pt>
                <c:pt idx="1">
                  <c:v>1062.1680000000015</c:v>
                </c:pt>
                <c:pt idx="2">
                  <c:v>1340.7389999999978</c:v>
                </c:pt>
                <c:pt idx="3">
                  <c:v>1651.6870000000017</c:v>
                </c:pt>
                <c:pt idx="4">
                  <c:v>1819.8459999999977</c:v>
                </c:pt>
                <c:pt idx="5">
                  <c:v>1999.1770000000033</c:v>
                </c:pt>
                <c:pt idx="6">
                  <c:v>19782.633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11549.816</c:v>
                </c:pt>
                <c:pt idx="2">
                  <c:v>12823.837</c:v>
                </c:pt>
                <c:pt idx="3">
                  <c:v>14384.205</c:v>
                </c:pt>
                <c:pt idx="4">
                  <c:v>16204.005</c:v>
                </c:pt>
                <c:pt idx="5">
                  <c:v>18339.865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11549.816</c:v>
                </c:pt>
                <c:pt idx="1">
                  <c:v>1274.0209999999988</c:v>
                </c:pt>
                <c:pt idx="2">
                  <c:v>1560.3680000000004</c:v>
                </c:pt>
                <c:pt idx="3">
                  <c:v>1819.7999999999993</c:v>
                </c:pt>
                <c:pt idx="4">
                  <c:v>2135.8600000000024</c:v>
                </c:pt>
                <c:pt idx="5">
                  <c:v>2378.4919999999984</c:v>
                </c:pt>
                <c:pt idx="6">
                  <c:v>20718.357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4837.304</c:v>
                </c:pt>
                <c:pt idx="2">
                  <c:v>5279.004</c:v>
                </c:pt>
                <c:pt idx="3">
                  <c:v>5815.631</c:v>
                </c:pt>
                <c:pt idx="4">
                  <c:v>6550.844</c:v>
                </c:pt>
                <c:pt idx="5">
                  <c:v>7446.691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4837.304</c:v>
                </c:pt>
                <c:pt idx="1">
                  <c:v>441.6999999999998</c:v>
                </c:pt>
                <c:pt idx="2">
                  <c:v>536.6270000000004</c:v>
                </c:pt>
                <c:pt idx="3">
                  <c:v>735.2129999999997</c:v>
                </c:pt>
                <c:pt idx="4">
                  <c:v>895.8469999999998</c:v>
                </c:pt>
                <c:pt idx="5">
                  <c:v>1012.215000000001</c:v>
                </c:pt>
                <c:pt idx="6">
                  <c:v>8458.906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High-Barrier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31.244127679721846</c:v>
                </c:pt>
                <c:pt idx="1">
                  <c:v>32.10292846466925</c:v>
                </c:pt>
                <c:pt idx="2">
                  <c:v>33.3801325963365</c:v>
                </c:pt>
              </c:numCache>
            </c:numRef>
          </c:val>
        </c:ser>
        <c:ser>
          <c:idx val="1"/>
          <c:order val="1"/>
          <c:tx>
            <c:strRef>
              <c:f>Sheet1!$C$1</c:f>
              <c:strCache>
                <c:ptCount val="1"/>
                <c:pt idx="0">
                  <c:v>Medium-Barrier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33.95131203945266</c:v>
                </c:pt>
                <c:pt idx="1">
                  <c:v>33.1013315478447</c:v>
                </c:pt>
                <c:pt idx="2">
                  <c:v>31.87255208724622</c:v>
                </c:pt>
              </c:numCache>
            </c:numRef>
          </c:val>
        </c:ser>
        <c:ser>
          <c:idx val="2"/>
          <c:order val="2"/>
          <c:tx>
            <c:strRef>
              <c:f>Sheet1!$D$1</c:f>
              <c:strCache>
                <c:ptCount val="1"/>
                <c:pt idx="0">
                  <c:v>Low-Barrier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21.506797541859957</c:v>
                </c:pt>
                <c:pt idx="1">
                  <c:v>21.35036351795109</c:v>
                </c:pt>
                <c:pt idx="2">
                  <c:v>21.11885028417816</c:v>
                </c:pt>
              </c:numCache>
            </c:numRef>
          </c:val>
        </c:ser>
        <c:ser>
          <c:idx val="3"/>
          <c:order val="3"/>
          <c:tx>
            <c:strRef>
              <c:f>Sheet1!$E$1</c:f>
              <c:strCache>
                <c:ptCount val="1"/>
                <c:pt idx="0">
                  <c:v>Ultra-High-Barrier Films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13.297762738965545</c:v>
                </c:pt>
                <c:pt idx="1">
                  <c:v>13.445376469534962</c:v>
                </c:pt>
                <c:pt idx="2">
                  <c:v>13.628465032239115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8022.105</c:v>
                </c:pt>
                <c:pt idx="1">
                  <c:v>8275.597</c:v>
                </c:pt>
                <c:pt idx="2">
                  <c:v>8539.088</c:v>
                </c:pt>
                <c:pt idx="3">
                  <c:v>8814.282</c:v>
                </c:pt>
                <c:pt idx="4">
                  <c:v>9102.993</c:v>
                </c:pt>
                <c:pt idx="5">
                  <c:v>9416.206</c:v>
                </c:pt>
                <c:pt idx="6">
                  <c:v>9756.076</c:v>
                </c:pt>
                <c:pt idx="7">
                  <c:v>10126.261999999999</c:v>
                </c:pt>
                <c:pt idx="8">
                  <c:v>10529.212</c:v>
                </c:pt>
                <c:pt idx="9">
                  <c:v>10970.872</c:v>
                </c:pt>
                <c:pt idx="10">
                  <c:v>11449.076000000001</c:v>
                </c:pt>
                <c:pt idx="11">
                  <c:v>11959.808</c:v>
                </c:pt>
                <c:pt idx="12">
                  <c:v>12491.560000000001</c:v>
                </c:pt>
                <c:pt idx="13">
                  <c:v>13038.35</c:v>
                </c:pt>
                <c:pt idx="14">
                  <c:v>13592.282</c:v>
                </c:pt>
                <c:pt idx="15">
                  <c:v>14151.456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North America</c:v>
                </c:pt>
                <c:pt idx="1">
                  <c:v>U.S.</c:v>
                </c:pt>
              </c:strCache>
            </c:strRef>
          </c:cat>
          <c:val>
            <c:numRef>
              <c:f>Sheet1!$B$2:$B$3</c:f>
              <c:numCache>
                <c:formatCode>General</c:formatCode>
                <c:ptCount val="2"/>
                <c:pt idx="0">
                  <c:v>0.04258700165577789</c:v>
                </c:pt>
                <c:pt idx="1">
                  <c:v>0.04157972485199424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57492452235300154"/>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9416.206</c:v>
                </c:pt>
                <c:pt idx="2">
                  <c:v>9756.076</c:v>
                </c:pt>
                <c:pt idx="3">
                  <c:v>10126.261999999999</c:v>
                </c:pt>
                <c:pt idx="4">
                  <c:v>10529.212</c:v>
                </c:pt>
                <c:pt idx="5">
                  <c:v>10970.872</c:v>
                </c:pt>
                <c:pt idx="6">
                  <c:v>11449.076000000001</c:v>
                </c:pt>
                <c:pt idx="7">
                  <c:v>11959.808</c:v>
                </c:pt>
                <c:pt idx="8">
                  <c:v>12491.560000000001</c:v>
                </c:pt>
                <c:pt idx="9">
                  <c:v>13038.35</c:v>
                </c:pt>
                <c:pt idx="10">
                  <c:v>13592.282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9416.206</c:v>
                </c:pt>
                <c:pt idx="1">
                  <c:v>339.869999999999</c:v>
                </c:pt>
                <c:pt idx="2">
                  <c:v>370.1859999999997</c:v>
                </c:pt>
                <c:pt idx="3">
                  <c:v>402.9500000000007</c:v>
                </c:pt>
                <c:pt idx="4">
                  <c:v>441.65999999999985</c:v>
                </c:pt>
                <c:pt idx="5">
                  <c:v>478.20400000000154</c:v>
                </c:pt>
                <c:pt idx="6">
                  <c:v>510.73199999999997</c:v>
                </c:pt>
                <c:pt idx="7">
                  <c:v>531.7520000000004</c:v>
                </c:pt>
                <c:pt idx="8">
                  <c:v>546.789999999999</c:v>
                </c:pt>
                <c:pt idx="9">
                  <c:v>553.9319999999989</c:v>
                </c:pt>
                <c:pt idx="10">
                  <c:v>559.1740000000009</c:v>
                </c:pt>
                <c:pt idx="11">
                  <c:v>14151.456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North America</c:v>
                </c:pt>
              </c:strCache>
            </c:strRef>
          </c:cat>
          <c:val>
            <c:numRef>
              <c:f>Sheet1!$B$2:$B$2</c:f>
              <c:numCache>
                <c:formatCode>General</c:formatCode>
                <c:ptCount val="1"/>
                <c:pt idx="0">
                  <c:v>91.24669170146161</c:v>
                </c:pt>
              </c:numCache>
            </c:numRef>
          </c:val>
        </c:ser>
        <c:ser>
          <c:idx val="1"/>
          <c:order val="1"/>
          <c:tx>
            <c:strRef>
              <c:f>Sheet1!$C$1</c:f>
              <c:strCache>
                <c:ptCount val="1"/>
                <c:pt idx="0">
                  <c:v>Rest of North America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North America</c:v>
                </c:pt>
              </c:strCache>
            </c:strRef>
          </c:cat>
          <c:val>
            <c:numRef>
              <c:f>Sheet1!$C$2:$C$2</c:f>
              <c:numCache>
                <c:formatCode>General</c:formatCode>
                <c:ptCount val="1"/>
                <c:pt idx="0">
                  <c:v>8.753308298538386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27238.14</c:v>
                </c:pt>
                <c:pt idx="1">
                  <c:v>28196.043</c:v>
                </c:pt>
                <c:pt idx="2">
                  <c:v>29204.053</c:v>
                </c:pt>
                <c:pt idx="3">
                  <c:v>30282.378000000004</c:v>
                </c:pt>
                <c:pt idx="4">
                  <c:v>31424.326999999997</c:v>
                </c:pt>
                <c:pt idx="5">
                  <c:v>32783.481</c:v>
                </c:pt>
                <c:pt idx="6">
                  <c:v>34283.979</c:v>
                </c:pt>
                <c:pt idx="7">
                  <c:v>35941.775</c:v>
                </c:pt>
                <c:pt idx="8">
                  <c:v>37778.01</c:v>
                </c:pt>
                <c:pt idx="9">
                  <c:v>39819.359</c:v>
                </c:pt>
                <c:pt idx="10">
                  <c:v>42073.193</c:v>
                </c:pt>
                <c:pt idx="11">
                  <c:v>44538.494</c:v>
                </c:pt>
                <c:pt idx="12">
                  <c:v>47177.143</c:v>
                </c:pt>
                <c:pt idx="13">
                  <c:v>49979.004</c:v>
                </c:pt>
                <c:pt idx="14">
                  <c:v>52927.45</c:v>
                </c:pt>
                <c:pt idx="15">
                  <c:v>56020.585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North America</c:v>
                </c:pt>
                <c:pt idx="1">
                  <c:v>U.S.</c:v>
                </c:pt>
              </c:strCache>
            </c:strRef>
          </c:cat>
          <c:val>
            <c:numRef>
              <c:f>Sheet1!$B$2:$B$3</c:f>
              <c:numCache>
                <c:formatCode>General</c:formatCode>
                <c:ptCount val="2"/>
                <c:pt idx="0">
                  <c:v>0.056048056867851415</c:v>
                </c:pt>
                <c:pt idx="1">
                  <c:v>0.055040806365910244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56648767715994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32783.481</c:v>
                </c:pt>
                <c:pt idx="2">
                  <c:v>34283.979</c:v>
                </c:pt>
                <c:pt idx="3">
                  <c:v>35941.775</c:v>
                </c:pt>
                <c:pt idx="4">
                  <c:v>37778.01</c:v>
                </c:pt>
                <c:pt idx="5">
                  <c:v>39819.359</c:v>
                </c:pt>
                <c:pt idx="6">
                  <c:v>42073.193</c:v>
                </c:pt>
                <c:pt idx="7">
                  <c:v>44538.494</c:v>
                </c:pt>
                <c:pt idx="8">
                  <c:v>47177.143</c:v>
                </c:pt>
                <c:pt idx="9">
                  <c:v>49979.004</c:v>
                </c:pt>
                <c:pt idx="10">
                  <c:v>52927.45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32783.481</c:v>
                </c:pt>
                <c:pt idx="1">
                  <c:v>1500.4979999999996</c:v>
                </c:pt>
                <c:pt idx="2">
                  <c:v>1657.796000000002</c:v>
                </c:pt>
                <c:pt idx="3">
                  <c:v>1836.2350000000006</c:v>
                </c:pt>
                <c:pt idx="4">
                  <c:v>2041.3489999999947</c:v>
                </c:pt>
                <c:pt idx="5">
                  <c:v>2253.8340000000026</c:v>
                </c:pt>
                <c:pt idx="6">
                  <c:v>2465.3009999999995</c:v>
                </c:pt>
                <c:pt idx="7">
                  <c:v>2638.6489999999976</c:v>
                </c:pt>
                <c:pt idx="8">
                  <c:v>2801.8610000000044</c:v>
                </c:pt>
                <c:pt idx="9">
                  <c:v>2948.4459999999963</c:v>
                </c:pt>
                <c:pt idx="10">
                  <c:v>3093.135000000002</c:v>
                </c:pt>
                <c:pt idx="11">
                  <c:v>56020.585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North America</c:v>
                </c:pt>
              </c:strCache>
            </c:strRef>
          </c:cat>
          <c:val>
            <c:numRef>
              <c:f>Sheet1!$B$2:$B$2</c:f>
              <c:numCache>
                <c:formatCode>General</c:formatCode>
                <c:ptCount val="1"/>
                <c:pt idx="0">
                  <c:v>91.12229033432186</c:v>
                </c:pt>
              </c:numCache>
            </c:numRef>
          </c:val>
        </c:ser>
        <c:ser>
          <c:idx val="1"/>
          <c:order val="1"/>
          <c:tx>
            <c:strRef>
              <c:f>Sheet1!$C$1</c:f>
              <c:strCache>
                <c:ptCount val="1"/>
                <c:pt idx="0">
                  <c:v>Rest of North America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North America</c:v>
                </c:pt>
              </c:strCache>
            </c:strRef>
          </c:cat>
          <c:val>
            <c:numRef>
              <c:f>Sheet1!$C$2:$C$2</c:f>
              <c:numCache>
                <c:formatCode>General</c:formatCode>
                <c:ptCount val="1"/>
                <c:pt idx="0">
                  <c:v>8.87770966567814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2308.41</c:v>
                </c:pt>
                <c:pt idx="8">
                  <c:v>3627.2690000000002</c:v>
                </c:pt>
                <c:pt idx="9">
                  <c:v>9326.37</c:v>
                </c:pt>
                <c:pt idx="10">
                  <c:v>17521.432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3478.718880000004"/>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AlOx / SiOx-Coated</c:v>
                </c:pt>
                <c:pt idx="2">
                  <c:v>Other Specialty Barri…</c:v>
                </c:pt>
                <c:pt idx="3">
                  <c:v>Aluminum Foil-Based</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652.062</c:v>
                </c:pt>
                <c:pt idx="1">
                  <c:v>977.902</c:v>
                </c:pt>
                <c:pt idx="2">
                  <c:v>986.247</c:v>
                </c:pt>
                <c:pt idx="3">
                  <c:v>1034.802</c:v>
                </c:pt>
                <c:pt idx="4">
                  <c:v>1680.914</c:v>
                </c:pt>
                <c:pt idx="5">
                  <c:v>2068.879</c:v>
                </c:pt>
                <c:pt idx="6">
                  <c:v>2578.927</c:v>
                </c:pt>
                <c:pt idx="7">
                  <c:v>2722.839</c:v>
                </c:pt>
                <c:pt idx="8">
                  <c:v>3231.118</c:v>
                </c:pt>
                <c:pt idx="9">
                  <c:v>6742.049</c:v>
                </c:pt>
                <c:pt idx="10">
                  <c:v>10107.741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3544.372940000001"/>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2189.036</c:v>
                </c:pt>
                <c:pt idx="5">
                  <c:v>2344.542</c:v>
                </c:pt>
                <c:pt idx="6">
                  <c:v>2529.648</c:v>
                </c:pt>
                <c:pt idx="7">
                  <c:v>2714.999</c:v>
                </c:pt>
                <c:pt idx="8">
                  <c:v>5162.084</c:v>
                </c:pt>
                <c:pt idx="9">
                  <c:v>8303.311</c:v>
                </c:pt>
                <c:pt idx="10">
                  <c:v>9539.86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2783.412400000001"/>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4415.935</c:v>
                </c:pt>
                <c:pt idx="8">
                  <c:v>6999.562</c:v>
                </c:pt>
                <c:pt idx="9">
                  <c:v>10524.6</c:v>
                </c:pt>
                <c:pt idx="10">
                  <c:v>10843.383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4530.1332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5352.445</c:v>
                </c:pt>
                <c:pt idx="10">
                  <c:v>27431.036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6757.588240000005"/>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4415.933</c:v>
                </c:pt>
                <c:pt idx="8">
                  <c:v>6999.562</c:v>
                </c:pt>
                <c:pt idx="9">
                  <c:v>10524.6</c:v>
                </c:pt>
                <c:pt idx="10">
                  <c:v>10843.384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4530.13456"/>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32783.481</c:v>
                </c:pt>
                <c:pt idx="2">
                  <c:v>44720.085999999996</c:v>
                </c:pt>
                <c:pt idx="3">
                  <c:v>47429.88799999999</c:v>
                </c:pt>
                <c:pt idx="4">
                  <c:v>54362.45399999999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32783.481</c:v>
                </c:pt>
                <c:pt idx="1">
                  <c:v>11936.605</c:v>
                </c:pt>
                <c:pt idx="2">
                  <c:v>2709.8019999999997</c:v>
                </c:pt>
                <c:pt idx="3">
                  <c:v>6932.565999999999</c:v>
                </c:pt>
                <c:pt idx="4">
                  <c:v>1658.1310000000003</c:v>
                </c:pt>
                <c:pt idx="5">
                  <c:v>56020.585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11936.605</c:v>
                </c:pt>
                <c:pt idx="2">
                  <c:v>14646.407</c:v>
                </c:pt>
                <c:pt idx="3">
                  <c:v>21578.972999999998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11936.605</c:v>
                </c:pt>
                <c:pt idx="1">
                  <c:v>2709.8019999999997</c:v>
                </c:pt>
                <c:pt idx="2">
                  <c:v>6932.565999999999</c:v>
                </c:pt>
                <c:pt idx="3">
                  <c:v>1658.1310000000003</c:v>
                </c:pt>
                <c:pt idx="4">
                  <c:v>23237.104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32783.48</c:v>
                </c:pt>
                <c:pt idx="2">
                  <c:v>40235.595</c:v>
                </c:pt>
                <c:pt idx="3">
                  <c:v>44838.511</c:v>
                </c:pt>
                <c:pt idx="4">
                  <c:v>47145.375</c:v>
                </c:pt>
                <c:pt idx="5">
                  <c:v>49002.348</c:v>
                </c:pt>
                <c:pt idx="6">
                  <c:v>50894.596</c:v>
                </c:pt>
                <c:pt idx="7">
                  <c:v>51953.29</c:v>
                </c:pt>
                <c:pt idx="8">
                  <c:v>52429.311</c:v>
                </c:pt>
                <c:pt idx="9">
                  <c:v>53858.888</c:v>
                </c:pt>
                <c:pt idx="10">
                  <c:v>54588.69</c:v>
                </c:pt>
                <c:pt idx="11">
                  <c:v>55228.137</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32783.48</c:v>
                </c:pt>
                <c:pt idx="1">
                  <c:v>7452.115</c:v>
                </c:pt>
                <c:pt idx="2">
                  <c:v>4602.916</c:v>
                </c:pt>
                <c:pt idx="3">
                  <c:v>2306.864</c:v>
                </c:pt>
                <c:pt idx="4">
                  <c:v>1856.973</c:v>
                </c:pt>
                <c:pt idx="5">
                  <c:v>1892.248</c:v>
                </c:pt>
                <c:pt idx="6">
                  <c:v>1058.6940000000002</c:v>
                </c:pt>
                <c:pt idx="7">
                  <c:v>476.0210000000001</c:v>
                </c:pt>
                <c:pt idx="8">
                  <c:v>1429.5770000000002</c:v>
                </c:pt>
                <c:pt idx="9">
                  <c:v>729.8019999999999</c:v>
                </c:pt>
                <c:pt idx="10">
                  <c:v>639.4470000000001</c:v>
                </c:pt>
                <c:pt idx="11">
                  <c:v>792.4510000000001</c:v>
                </c:pt>
                <c:pt idx="12">
                  <c:v>56020.587999999996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7452.115</c:v>
                </c:pt>
                <c:pt idx="2">
                  <c:v>12055.030999999999</c:v>
                </c:pt>
                <c:pt idx="3">
                  <c:v>14361.894999999999</c:v>
                </c:pt>
                <c:pt idx="4">
                  <c:v>16218.867999999999</c:v>
                </c:pt>
                <c:pt idx="5">
                  <c:v>18111.115999999998</c:v>
                </c:pt>
                <c:pt idx="6">
                  <c:v>19169.809999999998</c:v>
                </c:pt>
                <c:pt idx="7">
                  <c:v>19645.831</c:v>
                </c:pt>
                <c:pt idx="8">
                  <c:v>21075.408</c:v>
                </c:pt>
                <c:pt idx="9">
                  <c:v>21805.21</c:v>
                </c:pt>
                <c:pt idx="10">
                  <c:v>22444.657</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7452.115</c:v>
                </c:pt>
                <c:pt idx="1">
                  <c:v>4602.916</c:v>
                </c:pt>
                <c:pt idx="2">
                  <c:v>2306.864</c:v>
                </c:pt>
                <c:pt idx="3">
                  <c:v>1856.973</c:v>
                </c:pt>
                <c:pt idx="4">
                  <c:v>1892.248</c:v>
                </c:pt>
                <c:pt idx="5">
                  <c:v>1058.6940000000002</c:v>
                </c:pt>
                <c:pt idx="6">
                  <c:v>476.0210000000001</c:v>
                </c:pt>
                <c:pt idx="7">
                  <c:v>1429.5770000000002</c:v>
                </c:pt>
                <c:pt idx="8">
                  <c:v>729.8019999999999</c:v>
                </c:pt>
                <c:pt idx="9">
                  <c:v>639.4470000000001</c:v>
                </c:pt>
                <c:pt idx="10">
                  <c:v>792.4510000000001</c:v>
                </c:pt>
                <c:pt idx="11">
                  <c:v>23237.108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32783.479999999996</c:v>
                </c:pt>
                <c:pt idx="2">
                  <c:v>36572.140999999996</c:v>
                </c:pt>
                <c:pt idx="3">
                  <c:v>43228.433999999994</c:v>
                </c:pt>
                <c:pt idx="4">
                  <c:v>49014.44299999999</c:v>
                </c:pt>
                <c:pt idx="5">
                  <c:v>50545.388999999996</c:v>
                </c:pt>
                <c:pt idx="6">
                  <c:v>52046.10399999999</c:v>
                </c:pt>
                <c:pt idx="7">
                  <c:v>53807.028999999995</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32783.479999999996</c:v>
                </c:pt>
                <c:pt idx="1">
                  <c:v>3788.661000000001</c:v>
                </c:pt>
                <c:pt idx="2">
                  <c:v>6656.292999999998</c:v>
                </c:pt>
                <c:pt idx="3">
                  <c:v>5786.009</c:v>
                </c:pt>
                <c:pt idx="4">
                  <c:v>1530.946</c:v>
                </c:pt>
                <c:pt idx="5">
                  <c:v>1500.7150000000001</c:v>
                </c:pt>
                <c:pt idx="6">
                  <c:v>1760.9250000000002</c:v>
                </c:pt>
                <c:pt idx="7">
                  <c:v>2213.558</c:v>
                </c:pt>
                <c:pt idx="8">
                  <c:v>56020.587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3788.661000000001</c:v>
                </c:pt>
                <c:pt idx="2">
                  <c:v>10444.953999999998</c:v>
                </c:pt>
                <c:pt idx="3">
                  <c:v>16230.962999999998</c:v>
                </c:pt>
                <c:pt idx="4">
                  <c:v>17761.909</c:v>
                </c:pt>
                <c:pt idx="5">
                  <c:v>19262.624</c:v>
                </c:pt>
                <c:pt idx="6">
                  <c:v>21023.549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3788.661000000001</c:v>
                </c:pt>
                <c:pt idx="1">
                  <c:v>6656.292999999998</c:v>
                </c:pt>
                <c:pt idx="2">
                  <c:v>5786.009</c:v>
                </c:pt>
                <c:pt idx="3">
                  <c:v>1530.946</c:v>
                </c:pt>
                <c:pt idx="4">
                  <c:v>1500.7150000000001</c:v>
                </c:pt>
                <c:pt idx="5">
                  <c:v>1760.9250000000002</c:v>
                </c:pt>
                <c:pt idx="6">
                  <c:v>2213.558</c:v>
                </c:pt>
                <c:pt idx="7">
                  <c:v>23237.107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32783.479999999996</c:v>
                </c:pt>
                <c:pt idx="2">
                  <c:v>37614.672</c:v>
                </c:pt>
                <c:pt idx="3">
                  <c:v>44625.699</c:v>
                </c:pt>
                <c:pt idx="4">
                  <c:v>52801.674</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32783.479999999996</c:v>
                </c:pt>
                <c:pt idx="1">
                  <c:v>4831.192000000001</c:v>
                </c:pt>
                <c:pt idx="2">
                  <c:v>7011.027</c:v>
                </c:pt>
                <c:pt idx="3">
                  <c:v>8175.975</c:v>
                </c:pt>
                <c:pt idx="4">
                  <c:v>3218.9129999999996</c:v>
                </c:pt>
                <c:pt idx="5">
                  <c:v>56020.587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4831.192000000001</c:v>
                </c:pt>
                <c:pt idx="2">
                  <c:v>11842.219000000001</c:v>
                </c:pt>
                <c:pt idx="3">
                  <c:v>20018.194000000003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4831.192000000001</c:v>
                </c:pt>
                <c:pt idx="1">
                  <c:v>7011.027</c:v>
                </c:pt>
                <c:pt idx="2">
                  <c:v>8175.975</c:v>
                </c:pt>
                <c:pt idx="3">
                  <c:v>3218.9129999999996</c:v>
                </c:pt>
                <c:pt idx="4">
                  <c:v>23237.107000000004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32783.481</c:v>
                </c:pt>
                <c:pt idx="2">
                  <c:v>52287.323</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32783.481</c:v>
                </c:pt>
                <c:pt idx="1">
                  <c:v>19503.841999999997</c:v>
                </c:pt>
                <c:pt idx="2">
                  <c:v>3733.2610000000004</c:v>
                </c:pt>
                <c:pt idx="3">
                  <c:v>56020.583999999995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19503.841999999997</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19503.841999999997</c:v>
                </c:pt>
                <c:pt idx="1">
                  <c:v>3733.2610000000004</c:v>
                </c:pt>
                <c:pt idx="2">
                  <c:v>23237.102999999996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32783.479</c:v>
                </c:pt>
                <c:pt idx="2">
                  <c:v>37614.67</c:v>
                </c:pt>
                <c:pt idx="3">
                  <c:v>44625.697</c:v>
                </c:pt>
                <c:pt idx="4">
                  <c:v>52801.673</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32783.479</c:v>
                </c:pt>
                <c:pt idx="1">
                  <c:v>4831.191000000001</c:v>
                </c:pt>
                <c:pt idx="2">
                  <c:v>7011.027</c:v>
                </c:pt>
                <c:pt idx="3">
                  <c:v>8175.976000000001</c:v>
                </c:pt>
                <c:pt idx="4">
                  <c:v>3218.9139999999998</c:v>
                </c:pt>
                <c:pt idx="5">
                  <c:v>56020.58700000001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4831.191000000001</c:v>
                </c:pt>
                <c:pt idx="2">
                  <c:v>11842.218</c:v>
                </c:pt>
                <c:pt idx="3">
                  <c:v>20018.194000000003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4831.191000000001</c:v>
                </c:pt>
                <c:pt idx="1">
                  <c:v>7011.027</c:v>
                </c:pt>
                <c:pt idx="2">
                  <c:v>8175.976000000001</c:v>
                </c:pt>
                <c:pt idx="3">
                  <c:v>3218.9139999999998</c:v>
                </c:pt>
                <c:pt idx="4">
                  <c:v>23237.108000000004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733.575</c:v>
                </c:pt>
                <c:pt idx="1">
                  <c:v>763.7919999999999</c:v>
                </c:pt>
                <c:pt idx="2">
                  <c:v>795.5600000000001</c:v>
                </c:pt>
                <c:pt idx="3">
                  <c:v>829.068</c:v>
                </c:pt>
                <c:pt idx="4">
                  <c:v>864.581</c:v>
                </c:pt>
                <c:pt idx="5">
                  <c:v>903.298</c:v>
                </c:pt>
                <c:pt idx="6">
                  <c:v>945.4739999999999</c:v>
                </c:pt>
                <c:pt idx="7">
                  <c:v>991.6510000000002</c:v>
                </c:pt>
                <c:pt idx="8">
                  <c:v>1042.274</c:v>
                </c:pt>
                <c:pt idx="9">
                  <c:v>1097.8529999999998</c:v>
                </c:pt>
                <c:pt idx="10">
                  <c:v>1158.227</c:v>
                </c:pt>
                <c:pt idx="11">
                  <c:v>1222.98</c:v>
                </c:pt>
                <c:pt idx="12">
                  <c:v>1291.021</c:v>
                </c:pt>
                <c:pt idx="13">
                  <c:v>1361.7420000000002</c:v>
                </c:pt>
                <c:pt idx="14">
                  <c:v>1434.1840000000002</c:v>
                </c:pt>
                <c:pt idx="15">
                  <c:v>1508.1879999999999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North America</c:v>
                </c:pt>
                <c:pt idx="1">
                  <c:v>Canada</c:v>
                </c:pt>
              </c:strCache>
            </c:strRef>
          </c:cat>
          <c:val>
            <c:numRef>
              <c:f>Sheet1!$B$2:$B$3</c:f>
              <c:numCache>
                <c:formatCode>General</c:formatCode>
                <c:ptCount val="2"/>
                <c:pt idx="0">
                  <c:v>0.04258700165577789</c:v>
                </c:pt>
                <c:pt idx="1">
                  <c:v>0.052597764259715074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100698175061536"/>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903.298</c:v>
                </c:pt>
                <c:pt idx="2">
                  <c:v>945.4739999999999</c:v>
                </c:pt>
                <c:pt idx="3">
                  <c:v>991.6510000000002</c:v>
                </c:pt>
                <c:pt idx="4">
                  <c:v>1042.274</c:v>
                </c:pt>
                <c:pt idx="5">
                  <c:v>1097.8529999999998</c:v>
                </c:pt>
                <c:pt idx="6">
                  <c:v>1158.227</c:v>
                </c:pt>
                <c:pt idx="7">
                  <c:v>1222.98</c:v>
                </c:pt>
                <c:pt idx="8">
                  <c:v>1291.021</c:v>
                </c:pt>
                <c:pt idx="9">
                  <c:v>1361.7420000000002</c:v>
                </c:pt>
                <c:pt idx="10">
                  <c:v>1434.1840000000002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903.298</c:v>
                </c:pt>
                <c:pt idx="1">
                  <c:v>42.17599999999993</c:v>
                </c:pt>
                <c:pt idx="2">
                  <c:v>46.17700000000025</c:v>
                </c:pt>
                <c:pt idx="3">
                  <c:v>50.622999999999706</c:v>
                </c:pt>
                <c:pt idx="4">
                  <c:v>55.57899999999995</c:v>
                </c:pt>
                <c:pt idx="5">
                  <c:v>60.37400000000025</c:v>
                </c:pt>
                <c:pt idx="6">
                  <c:v>64.75299999999993</c:v>
                </c:pt>
                <c:pt idx="7">
                  <c:v>68.04099999999994</c:v>
                </c:pt>
                <c:pt idx="8">
                  <c:v>70.72100000000023</c:v>
                </c:pt>
                <c:pt idx="9">
                  <c:v>72.44200000000001</c:v>
                </c:pt>
                <c:pt idx="10">
                  <c:v>74.00399999999968</c:v>
                </c:pt>
                <c:pt idx="11">
                  <c:v>1508.1879999999999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Canada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North America</c:v>
                </c:pt>
              </c:strCache>
            </c:strRef>
          </c:cat>
          <c:val>
            <c:numRef>
              <c:f>Sheet1!$B$2:$B$2</c:f>
              <c:numCache>
                <c:formatCode>General</c:formatCode>
                <c:ptCount val="1"/>
                <c:pt idx="0">
                  <c:v>8.753308298538379</c:v>
                </c:pt>
              </c:numCache>
            </c:numRef>
          </c:val>
        </c:ser>
        <c:ser>
          <c:idx val="1"/>
          <c:order val="1"/>
          <c:tx>
            <c:strRef>
              <c:f>Sheet1!$C$1</c:f>
              <c:strCache>
                <c:ptCount val="1"/>
                <c:pt idx="0">
                  <c:v>Rest of North America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North America</c:v>
                </c:pt>
              </c:strCache>
            </c:strRef>
          </c:cat>
          <c:val>
            <c:numRef>
              <c:f>Sheet1!$C$2:$C$2</c:f>
              <c:numCache>
                <c:formatCode>General</c:formatCode>
                <c:ptCount val="1"/>
                <c:pt idx="0">
                  <c:v>91.24669170146163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2536.075</c:v>
                </c:pt>
                <c:pt idx="1">
                  <c:v>2648.374</c:v>
                </c:pt>
                <c:pt idx="2">
                  <c:v>2767.414</c:v>
                </c:pt>
                <c:pt idx="3">
                  <c:v>2895.3959999999997</c:v>
                </c:pt>
                <c:pt idx="4">
                  <c:v>3032.1749999999997</c:v>
                </c:pt>
                <c:pt idx="5">
                  <c:v>3193.977</c:v>
                </c:pt>
                <c:pt idx="6">
                  <c:v>3373.669</c:v>
                </c:pt>
                <c:pt idx="7">
                  <c:v>3573.966</c:v>
                </c:pt>
                <c:pt idx="8">
                  <c:v>3797.027</c:v>
                </c:pt>
                <c:pt idx="9">
                  <c:v>4045.733</c:v>
                </c:pt>
                <c:pt idx="10">
                  <c:v>4320.493</c:v>
                </c:pt>
                <c:pt idx="11">
                  <c:v>4621.501</c:v>
                </c:pt>
                <c:pt idx="12">
                  <c:v>4945.799</c:v>
                </c:pt>
                <c:pt idx="13">
                  <c:v>5292.277</c:v>
                </c:pt>
                <c:pt idx="14">
                  <c:v>5659.5740000000005</c:v>
                </c:pt>
                <c:pt idx="15">
                  <c:v>6047.338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North America</c:v>
                </c:pt>
                <c:pt idx="1">
                  <c:v>Canada</c:v>
                </c:pt>
              </c:strCache>
            </c:strRef>
          </c:cat>
          <c:val>
            <c:numRef>
              <c:f>Sheet1!$B$2:$B$3</c:f>
              <c:numCache>
                <c:formatCode>General</c:formatCode>
                <c:ptCount val="2"/>
                <c:pt idx="0">
                  <c:v>0.056048056867851415</c:v>
                </c:pt>
                <c:pt idx="1">
                  <c:v>0.06591664941552744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89874767109620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3193.977</c:v>
                </c:pt>
                <c:pt idx="2">
                  <c:v>3373.669</c:v>
                </c:pt>
                <c:pt idx="3">
                  <c:v>3573.966</c:v>
                </c:pt>
                <c:pt idx="4">
                  <c:v>3797.027</c:v>
                </c:pt>
                <c:pt idx="5">
                  <c:v>4045.733</c:v>
                </c:pt>
                <c:pt idx="6">
                  <c:v>4320.493</c:v>
                </c:pt>
                <c:pt idx="7">
                  <c:v>4621.501</c:v>
                </c:pt>
                <c:pt idx="8">
                  <c:v>4945.799</c:v>
                </c:pt>
                <c:pt idx="9">
                  <c:v>5292.277</c:v>
                </c:pt>
                <c:pt idx="10">
                  <c:v>5659.5740000000005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3193.977</c:v>
                </c:pt>
                <c:pt idx="1">
                  <c:v>179.692</c:v>
                </c:pt>
                <c:pt idx="2">
                  <c:v>200.29700000000003</c:v>
                </c:pt>
                <c:pt idx="3">
                  <c:v>223.06100000000015</c:v>
                </c:pt>
                <c:pt idx="4">
                  <c:v>248.70600000000013</c:v>
                </c:pt>
                <c:pt idx="5">
                  <c:v>274.7600000000002</c:v>
                </c:pt>
                <c:pt idx="6">
                  <c:v>301.0079999999998</c:v>
                </c:pt>
                <c:pt idx="7">
                  <c:v>324.2979999999998</c:v>
                </c:pt>
                <c:pt idx="8">
                  <c:v>346.47800000000007</c:v>
                </c:pt>
                <c:pt idx="9">
                  <c:v>367.2970000000005</c:v>
                </c:pt>
                <c:pt idx="10">
                  <c:v>387.7639999999992</c:v>
                </c:pt>
                <c:pt idx="11">
                  <c:v>6047.338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Canada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North America</c:v>
                </c:pt>
              </c:strCache>
            </c:strRef>
          </c:cat>
          <c:val>
            <c:numRef>
              <c:f>Sheet1!$B$2:$B$2</c:f>
              <c:numCache>
                <c:formatCode>General</c:formatCode>
                <c:ptCount val="1"/>
                <c:pt idx="0">
                  <c:v>8.877718004233484</c:v>
                </c:pt>
              </c:numCache>
            </c:numRef>
          </c:val>
        </c:ser>
        <c:ser>
          <c:idx val="1"/>
          <c:order val="1"/>
          <c:tx>
            <c:strRef>
              <c:f>Sheet1!$C$1</c:f>
              <c:strCache>
                <c:ptCount val="1"/>
                <c:pt idx="0">
                  <c:v>Rest of North America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North America</c:v>
                </c:pt>
              </c:strCache>
            </c:strRef>
          </c:cat>
          <c:val>
            <c:numRef>
              <c:f>Sheet1!$C$2:$C$2</c:f>
              <c:numCache>
                <c:formatCode>General</c:formatCode>
                <c:ptCount val="1"/>
                <c:pt idx="0">
                  <c:v>91.12228199576651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227.31</c:v>
                </c:pt>
                <c:pt idx="8">
                  <c:v>352.554</c:v>
                </c:pt>
                <c:pt idx="9">
                  <c:v>906.212</c:v>
                </c:pt>
                <c:pt idx="10">
                  <c:v>1707.9009999999998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288.58734"/>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AlOx / SiOx-Coated</c:v>
                </c:pt>
                <c:pt idx="3">
                  <c:v>Aluminum Foil-Based</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63.162</c:v>
                </c:pt>
                <c:pt idx="1">
                  <c:v>94.158</c:v>
                </c:pt>
                <c:pt idx="2">
                  <c:v>95.519</c:v>
                </c:pt>
                <c:pt idx="3">
                  <c:v>101.0</c:v>
                </c:pt>
                <c:pt idx="4">
                  <c:v>165.144</c:v>
                </c:pt>
                <c:pt idx="5">
                  <c:v>203.827</c:v>
                </c:pt>
                <c:pt idx="6">
                  <c:v>250.929</c:v>
                </c:pt>
                <c:pt idx="7">
                  <c:v>264.401</c:v>
                </c:pt>
                <c:pt idx="8">
                  <c:v>309.363</c:v>
                </c:pt>
                <c:pt idx="9">
                  <c:v>656.264</c:v>
                </c:pt>
                <c:pt idx="10">
                  <c:v>990.209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326.880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212.9</c:v>
                </c:pt>
                <c:pt idx="5">
                  <c:v>224.746</c:v>
                </c:pt>
                <c:pt idx="6">
                  <c:v>244.975</c:v>
                </c:pt>
                <c:pt idx="7">
                  <c:v>268.66200000000003</c:v>
                </c:pt>
                <c:pt idx="8">
                  <c:v>502.162</c:v>
                </c:pt>
                <c:pt idx="9">
                  <c:v>808.724</c:v>
                </c:pt>
                <c:pt idx="10">
                  <c:v>931.806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248.62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421.37</c:v>
                </c:pt>
                <c:pt idx="8">
                  <c:v>681.754</c:v>
                </c:pt>
                <c:pt idx="9">
                  <c:v>1025.218</c:v>
                </c:pt>
                <c:pt idx="10">
                  <c:v>1065.633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427.948220000000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511.26300000000003</c:v>
                </c:pt>
                <c:pt idx="10">
                  <c:v>2682.71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594.8314000000005"/>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421.372</c:v>
                </c:pt>
                <c:pt idx="8">
                  <c:v>681.754</c:v>
                </c:pt>
                <c:pt idx="9">
                  <c:v>1025.214</c:v>
                </c:pt>
                <c:pt idx="10">
                  <c:v>1065.634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427.94956"/>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3193.977</c:v>
                </c:pt>
                <c:pt idx="2">
                  <c:v>4720.960999999999</c:v>
                </c:pt>
                <c:pt idx="3">
                  <c:v>5028.874999999999</c:v>
                </c:pt>
                <c:pt idx="4">
                  <c:v>5849.918</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3193.977</c:v>
                </c:pt>
                <c:pt idx="1">
                  <c:v>1526.984</c:v>
                </c:pt>
                <c:pt idx="2">
                  <c:v>307.914</c:v>
                </c:pt>
                <c:pt idx="3">
                  <c:v>821.0430000000001</c:v>
                </c:pt>
                <c:pt idx="4">
                  <c:v>197.42000000000002</c:v>
                </c:pt>
                <c:pt idx="5">
                  <c:v>6047.338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1526.984</c:v>
                </c:pt>
                <c:pt idx="2">
                  <c:v>1834.898</c:v>
                </c:pt>
                <c:pt idx="3">
                  <c:v>2655.941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1526.984</c:v>
                </c:pt>
                <c:pt idx="1">
                  <c:v>307.914</c:v>
                </c:pt>
                <c:pt idx="2">
                  <c:v>821.0430000000001</c:v>
                </c:pt>
                <c:pt idx="3">
                  <c:v>197.42000000000002</c:v>
                </c:pt>
                <c:pt idx="4">
                  <c:v>2853.361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3193.976</c:v>
                </c:pt>
                <c:pt idx="2">
                  <c:v>4099.076</c:v>
                </c:pt>
                <c:pt idx="3">
                  <c:v>4667.711</c:v>
                </c:pt>
                <c:pt idx="4">
                  <c:v>4956.066</c:v>
                </c:pt>
                <c:pt idx="5">
                  <c:v>5186.126</c:v>
                </c:pt>
                <c:pt idx="6">
                  <c:v>5417.7570000000005</c:v>
                </c:pt>
                <c:pt idx="7">
                  <c:v>5548.551</c:v>
                </c:pt>
                <c:pt idx="8">
                  <c:v>5607.135</c:v>
                </c:pt>
                <c:pt idx="9">
                  <c:v>5780.995</c:v>
                </c:pt>
                <c:pt idx="10">
                  <c:v>5869.773</c:v>
                </c:pt>
                <c:pt idx="11">
                  <c:v>5949.613</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3193.976</c:v>
                </c:pt>
                <c:pt idx="1">
                  <c:v>905.1</c:v>
                </c:pt>
                <c:pt idx="2">
                  <c:v>568.6349999999999</c:v>
                </c:pt>
                <c:pt idx="3">
                  <c:v>288.35499999999996</c:v>
                </c:pt>
                <c:pt idx="4">
                  <c:v>230.06</c:v>
                </c:pt>
                <c:pt idx="5">
                  <c:v>231.631</c:v>
                </c:pt>
                <c:pt idx="6">
                  <c:v>130.79399999999998</c:v>
                </c:pt>
                <c:pt idx="7">
                  <c:v>58.583999999999996</c:v>
                </c:pt>
                <c:pt idx="8">
                  <c:v>173.86</c:v>
                </c:pt>
                <c:pt idx="9">
                  <c:v>88.77799999999999</c:v>
                </c:pt>
                <c:pt idx="10">
                  <c:v>79.84</c:v>
                </c:pt>
                <c:pt idx="11">
                  <c:v>97.729</c:v>
                </c:pt>
                <c:pt idx="12">
                  <c:v>6047.341999999999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905.1</c:v>
                </c:pt>
                <c:pt idx="2">
                  <c:v>1473.735</c:v>
                </c:pt>
                <c:pt idx="3">
                  <c:v>1762.09</c:v>
                </c:pt>
                <c:pt idx="4">
                  <c:v>1992.1499999999999</c:v>
                </c:pt>
                <c:pt idx="5">
                  <c:v>2223.781</c:v>
                </c:pt>
                <c:pt idx="6">
                  <c:v>2354.575</c:v>
                </c:pt>
                <c:pt idx="7">
                  <c:v>2413.1589999999997</c:v>
                </c:pt>
                <c:pt idx="8">
                  <c:v>2587.019</c:v>
                </c:pt>
                <c:pt idx="9">
                  <c:v>2675.7969999999996</c:v>
                </c:pt>
                <c:pt idx="10">
                  <c:v>2755.6369999999997</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905.1</c:v>
                </c:pt>
                <c:pt idx="1">
                  <c:v>568.6349999999999</c:v>
                </c:pt>
                <c:pt idx="2">
                  <c:v>288.35499999999996</c:v>
                </c:pt>
                <c:pt idx="3">
                  <c:v>230.06</c:v>
                </c:pt>
                <c:pt idx="4">
                  <c:v>231.631</c:v>
                </c:pt>
                <c:pt idx="5">
                  <c:v>130.79399999999998</c:v>
                </c:pt>
                <c:pt idx="6">
                  <c:v>58.583999999999996</c:v>
                </c:pt>
                <c:pt idx="7">
                  <c:v>173.86</c:v>
                </c:pt>
                <c:pt idx="8">
                  <c:v>88.77799999999999</c:v>
                </c:pt>
                <c:pt idx="9">
                  <c:v>79.84</c:v>
                </c:pt>
                <c:pt idx="10">
                  <c:v>97.729</c:v>
                </c:pt>
                <c:pt idx="11">
                  <c:v>2853.3659999999995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3193.9750000000004</c:v>
                </c:pt>
                <c:pt idx="2">
                  <c:v>3656.376</c:v>
                </c:pt>
                <c:pt idx="3">
                  <c:v>4470.201</c:v>
                </c:pt>
                <c:pt idx="4">
                  <c:v>5180.164</c:v>
                </c:pt>
                <c:pt idx="5">
                  <c:v>5368.215</c:v>
                </c:pt>
                <c:pt idx="6">
                  <c:v>5558.057</c:v>
                </c:pt>
                <c:pt idx="7">
                  <c:v>5775.518</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3193.9750000000004</c:v>
                </c:pt>
                <c:pt idx="1">
                  <c:v>462.401</c:v>
                </c:pt>
                <c:pt idx="2">
                  <c:v>813.8249999999998</c:v>
                </c:pt>
                <c:pt idx="3">
                  <c:v>709.9630000000001</c:v>
                </c:pt>
                <c:pt idx="4">
                  <c:v>188.05100000000002</c:v>
                </c:pt>
                <c:pt idx="5">
                  <c:v>189.842</c:v>
                </c:pt>
                <c:pt idx="6">
                  <c:v>217.46099999999998</c:v>
                </c:pt>
                <c:pt idx="7">
                  <c:v>271.822</c:v>
                </c:pt>
                <c:pt idx="8">
                  <c:v>6047.34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462.401</c:v>
                </c:pt>
                <c:pt idx="2">
                  <c:v>1276.2259999999999</c:v>
                </c:pt>
                <c:pt idx="3">
                  <c:v>1986.1889999999999</c:v>
                </c:pt>
                <c:pt idx="4">
                  <c:v>2174.24</c:v>
                </c:pt>
                <c:pt idx="5">
                  <c:v>2364.082</c:v>
                </c:pt>
                <c:pt idx="6">
                  <c:v>2581.5429999999997</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462.401</c:v>
                </c:pt>
                <c:pt idx="1">
                  <c:v>813.8249999999998</c:v>
                </c:pt>
                <c:pt idx="2">
                  <c:v>709.9630000000001</c:v>
                </c:pt>
                <c:pt idx="3">
                  <c:v>188.05100000000002</c:v>
                </c:pt>
                <c:pt idx="4">
                  <c:v>189.842</c:v>
                </c:pt>
                <c:pt idx="5">
                  <c:v>217.46099999999998</c:v>
                </c:pt>
                <c:pt idx="6">
                  <c:v>271.822</c:v>
                </c:pt>
                <c:pt idx="7">
                  <c:v>2853.365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3193.9750000000004</c:v>
                </c:pt>
                <c:pt idx="2">
                  <c:v>3789.4990000000003</c:v>
                </c:pt>
                <c:pt idx="3">
                  <c:v>4652.09</c:v>
                </c:pt>
                <c:pt idx="4">
                  <c:v>5644.656</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3193.9750000000004</c:v>
                </c:pt>
                <c:pt idx="1">
                  <c:v>595.524</c:v>
                </c:pt>
                <c:pt idx="2">
                  <c:v>862.5909999999999</c:v>
                </c:pt>
                <c:pt idx="3">
                  <c:v>992.566</c:v>
                </c:pt>
                <c:pt idx="4">
                  <c:v>402.68600000000004</c:v>
                </c:pt>
                <c:pt idx="5">
                  <c:v>6047.342000000001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595.524</c:v>
                </c:pt>
                <c:pt idx="2">
                  <c:v>1458.1149999999998</c:v>
                </c:pt>
                <c:pt idx="3">
                  <c:v>2450.6809999999996</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595.524</c:v>
                </c:pt>
                <c:pt idx="1">
                  <c:v>862.5909999999999</c:v>
                </c:pt>
                <c:pt idx="2">
                  <c:v>992.566</c:v>
                </c:pt>
                <c:pt idx="3">
                  <c:v>402.68600000000004</c:v>
                </c:pt>
                <c:pt idx="4">
                  <c:v>2853.3669999999997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3193.973</c:v>
                </c:pt>
                <c:pt idx="2">
                  <c:v>5592.472</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3193.973</c:v>
                </c:pt>
                <c:pt idx="1">
                  <c:v>2398.499</c:v>
                </c:pt>
                <c:pt idx="2">
                  <c:v>454.87199999999996</c:v>
                </c:pt>
                <c:pt idx="3">
                  <c:v>6047.344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2398.499</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2398.499</c:v>
                </c:pt>
                <c:pt idx="1">
                  <c:v>454.87199999999996</c:v>
                </c:pt>
                <c:pt idx="2">
                  <c:v>2853.3709999999996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3193.9739999999997</c:v>
                </c:pt>
                <c:pt idx="2">
                  <c:v>3789.499</c:v>
                </c:pt>
                <c:pt idx="3">
                  <c:v>4652.089</c:v>
                </c:pt>
                <c:pt idx="4">
                  <c:v>5644.66</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3193.9739999999997</c:v>
                </c:pt>
                <c:pt idx="1">
                  <c:v>595.525</c:v>
                </c:pt>
                <c:pt idx="2">
                  <c:v>862.5899999999999</c:v>
                </c:pt>
                <c:pt idx="3">
                  <c:v>992.5710000000001</c:v>
                </c:pt>
                <c:pt idx="4">
                  <c:v>402.684</c:v>
                </c:pt>
                <c:pt idx="5">
                  <c:v>6047.343999999999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595.525</c:v>
                </c:pt>
                <c:pt idx="2">
                  <c:v>1458.1149999999998</c:v>
                </c:pt>
                <c:pt idx="3">
                  <c:v>2450.6859999999997</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595.525</c:v>
                </c:pt>
                <c:pt idx="1">
                  <c:v>862.5899999999999</c:v>
                </c:pt>
                <c:pt idx="2">
                  <c:v>992.5710000000001</c:v>
                </c:pt>
                <c:pt idx="3">
                  <c:v>402.684</c:v>
                </c:pt>
                <c:pt idx="4">
                  <c:v>2853.37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f>Sheet1!$B$1</c:f>
              <c:strCache>
                <c:ptCount val="1"/>
                <c:pt idx="0">
                  <c:v>Barrier Casings</c:v>
                </c:pt>
              </c:strCache>
            </c:strRef>
          </c:tx>
          <c:spPr>
            <a:ln w="25400">
              <a:solidFill>
                <a:srgbClr val="C55A11"/>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4897.0</c:v>
                </c:pt>
                <c:pt idx="1">
                  <c:v>4919.0</c:v>
                </c:pt>
                <c:pt idx="2">
                  <c:v>4945.0</c:v>
                </c:pt>
                <c:pt idx="3">
                  <c:v>4974.0</c:v>
                </c:pt>
                <c:pt idx="4">
                  <c:v>5005.0</c:v>
                </c:pt>
                <c:pt idx="5">
                  <c:v>5038.0</c:v>
                </c:pt>
                <c:pt idx="6">
                  <c:v>5137.0</c:v>
                </c:pt>
                <c:pt idx="7">
                  <c:v>5227.0</c:v>
                </c:pt>
                <c:pt idx="8">
                  <c:v>5302.0</c:v>
                </c:pt>
                <c:pt idx="9">
                  <c:v>5374.0</c:v>
                </c:pt>
                <c:pt idx="10">
                  <c:v>5456.0</c:v>
                </c:pt>
                <c:pt idx="11">
                  <c:v>5546.0</c:v>
                </c:pt>
                <c:pt idx="12">
                  <c:v>5637.0</c:v>
                </c:pt>
                <c:pt idx="13">
                  <c:v>5723.0</c:v>
                </c:pt>
                <c:pt idx="14">
                  <c:v>5803.0</c:v>
                </c:pt>
                <c:pt idx="15">
                  <c:v>5873.0</c:v>
                </c:pt>
              </c:numCache>
            </c:numRef>
          </c:val>
          <c:smooth val="0"/>
        </c:ser>
        <c:ser>
          <c:idx val="1"/>
          <c:order val="1"/>
          <c:tx>
            <c:strRef>
              <c:f>Sheet1!$C$1</c:f>
              <c:strCache>
                <c:ptCount val="1"/>
                <c:pt idx="0">
                  <c:v>Rollstock Films</c:v>
                </c:pt>
              </c:strCache>
            </c:strRef>
          </c:tx>
          <c:spPr>
            <a:ln w="25400">
              <a:solidFill>
                <a:srgbClr val="0B2E4A"/>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3415.0</c:v>
                </c:pt>
                <c:pt idx="1">
                  <c:v>3435.0</c:v>
                </c:pt>
                <c:pt idx="2">
                  <c:v>3452.0</c:v>
                </c:pt>
                <c:pt idx="3">
                  <c:v>3468.0</c:v>
                </c:pt>
                <c:pt idx="4">
                  <c:v>3482.0</c:v>
                </c:pt>
                <c:pt idx="5">
                  <c:v>3494.0</c:v>
                </c:pt>
                <c:pt idx="6">
                  <c:v>3533.0</c:v>
                </c:pt>
                <c:pt idx="7">
                  <c:v>3571.0</c:v>
                </c:pt>
                <c:pt idx="8">
                  <c:v>3611.0</c:v>
                </c:pt>
                <c:pt idx="9">
                  <c:v>3661.0</c:v>
                </c:pt>
                <c:pt idx="10">
                  <c:v>3713.0</c:v>
                </c:pt>
                <c:pt idx="11">
                  <c:v>3764.0</c:v>
                </c:pt>
                <c:pt idx="12">
                  <c:v>3807.0</c:v>
                </c:pt>
                <c:pt idx="13">
                  <c:v>3846.0</c:v>
                </c:pt>
                <c:pt idx="14">
                  <c:v>3882.0</c:v>
                </c:pt>
                <c:pt idx="15">
                  <c:v>3912.0</c:v>
                </c:pt>
              </c:numCache>
            </c:numRef>
          </c:val>
          <c:smooth val="0"/>
        </c:ser>
        <c:ser>
          <c:idx val="2"/>
          <c:order val="2"/>
          <c:tx>
            <c:strRef>
              <c:f>Sheet1!$D$1</c:f>
              <c:strCache>
                <c:ptCount val="1"/>
                <c:pt idx="0">
                  <c:v>Premade Pouches &amp; Bags</c:v>
                </c:pt>
              </c:strCache>
            </c:strRef>
          </c:tx>
          <c:spPr>
            <a:ln w="25400">
              <a:solidFill>
                <a:srgbClr val="7030A0"/>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3136.0</c:v>
                </c:pt>
                <c:pt idx="1">
                  <c:v>3152.0</c:v>
                </c:pt>
                <c:pt idx="2">
                  <c:v>3168.0</c:v>
                </c:pt>
                <c:pt idx="3">
                  <c:v>3184.0</c:v>
                </c:pt>
                <c:pt idx="4">
                  <c:v>3199.0</c:v>
                </c:pt>
                <c:pt idx="5">
                  <c:v>3214.0</c:v>
                </c:pt>
                <c:pt idx="6">
                  <c:v>3285.0</c:v>
                </c:pt>
                <c:pt idx="7">
                  <c:v>3350.0</c:v>
                </c:pt>
                <c:pt idx="8">
                  <c:v>3412.0</c:v>
                </c:pt>
                <c:pt idx="9">
                  <c:v>3468.0</c:v>
                </c:pt>
                <c:pt idx="10">
                  <c:v>3519.0</c:v>
                </c:pt>
                <c:pt idx="11">
                  <c:v>3564.0</c:v>
                </c:pt>
                <c:pt idx="12">
                  <c:v>3602.0</c:v>
                </c:pt>
                <c:pt idx="13">
                  <c:v>3642.0</c:v>
                </c:pt>
                <c:pt idx="14">
                  <c:v>3672.0</c:v>
                </c:pt>
                <c:pt idx="15">
                  <c:v>3706.0</c:v>
                </c:pt>
              </c:numCache>
            </c:numRef>
          </c:val>
          <c:smooth val="0"/>
        </c:ser>
        <c:ser>
          <c:idx val="3"/>
          <c:order val="3"/>
          <c:tx>
            <c:strRef>
              <c:f>Sheet1!$E$1</c:f>
              <c:strCache>
                <c:ptCount val="1"/>
                <c:pt idx="0">
                  <c:v>Sachets &amp; Stick Packs</c:v>
                </c:pt>
              </c:strCache>
            </c:strRef>
          </c:tx>
          <c:spPr>
            <a:ln w="25400">
              <a:solidFill>
                <a:srgbClr val="008189"/>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2932.0</c:v>
                </c:pt>
                <c:pt idx="1">
                  <c:v>2948.0</c:v>
                </c:pt>
                <c:pt idx="2">
                  <c:v>2962.0</c:v>
                </c:pt>
                <c:pt idx="3">
                  <c:v>2977.0</c:v>
                </c:pt>
                <c:pt idx="4">
                  <c:v>2994.0</c:v>
                </c:pt>
                <c:pt idx="5">
                  <c:v>3011.0</c:v>
                </c:pt>
                <c:pt idx="6">
                  <c:v>3102.0</c:v>
                </c:pt>
                <c:pt idx="7">
                  <c:v>3192.0</c:v>
                </c:pt>
                <c:pt idx="8">
                  <c:v>3271.0</c:v>
                </c:pt>
                <c:pt idx="9">
                  <c:v>3343.0</c:v>
                </c:pt>
                <c:pt idx="10">
                  <c:v>3402.0</c:v>
                </c:pt>
                <c:pt idx="11">
                  <c:v>3446.0</c:v>
                </c:pt>
                <c:pt idx="12">
                  <c:v>3472.0</c:v>
                </c:pt>
                <c:pt idx="13">
                  <c:v>3501.0</c:v>
                </c:pt>
                <c:pt idx="14">
                  <c:v>3509.0</c:v>
                </c:pt>
                <c:pt idx="15">
                  <c:v>3491.0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6000.0"/>
          <c:min val="2500.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externalData r:id="rId1">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f>Sheet1!$B$1</c:f>
              <c:strCache>
                <c:ptCount val="1"/>
                <c:pt idx="0">
                  <c:v>Index</c:v>
                </c:pt>
              </c:strCache>
            </c:strRef>
          </c:tx>
          <c:dPt>
            <c:idx val="0"/>
            <c:spPr>
              <a:solidFill>
                <a:srgbClr val="5B7DB1"/>
              </a:solidFill>
            </c:spPr>
          </c:dPt>
          <c:dPt>
            <c:idx val="1"/>
            <c:spPr>
              <a:solidFill>
                <a:srgbClr val="5B7DB1"/>
              </a:solidFill>
            </c:spPr>
          </c:dPt>
          <c:dPt>
            <c:idx val="2"/>
            <c:spPr>
              <a:solidFill>
                <a:srgbClr val="C55A11"/>
              </a:solidFill>
            </c:spPr>
          </c:dPt>
          <c:dPt>
            <c:idx val="3"/>
            <c:spPr>
              <a:solidFill>
                <a:srgbClr val="C55A11"/>
              </a:solidFill>
            </c:spPr>
          </c:dPt>
          <c:cat>
            <c:strRef>
              <c:f>Sheet1!$A$2:$A$5</c:f>
              <c:strCache>
                <c:ptCount val="4"/>
                <c:pt idx="0">
                  <c:v>Sachets &amp; Stick Packs</c:v>
                </c:pt>
                <c:pt idx="1">
                  <c:v>Premade Pouches &amp; Bags</c:v>
                </c:pt>
                <c:pt idx="2">
                  <c:v>Rollstock Films</c:v>
                </c:pt>
                <c:pt idx="3">
                  <c:v>Barrier Casings</c:v>
                </c:pt>
              </c:strCache>
            </c:strRef>
          </c:cat>
          <c:val>
            <c:numRef>
              <c:f>Sheet1!$B$2:$B$5</c:f>
              <c:numCache>
                <c:formatCode>General</c:formatCode>
                <c:ptCount val="4"/>
                <c:pt idx="0">
                  <c:v>86.4</c:v>
                </c:pt>
                <c:pt idx="1">
                  <c:v>92.2</c:v>
                </c:pt>
                <c:pt idx="2">
                  <c:v>100.2</c:v>
                </c:pt>
                <c:pt idx="3">
                  <c:v>144.5</c:v>
                </c:pt>
              </c:numCache>
            </c:numRef>
          </c:val>
        </c:ser>
        <c:dLbls>
          <c:numFmt formatCode="0.0" sourceLinked="0"/>
          <c:txPr>
            <a:bodyPr/>
            <a:lstStyle/>
            <a:p>
              <a:pPr>
                <a:defRPr sz="900" b="1">
                  <a:solidFill>
                    <a:srgbClr val="1F1F1F"/>
                  </a:solidFill>
                </a:defRPr>
              </a:pPr>
            </a:p>
          </c:txPr>
          <c:dLblPos val="outEnd"/>
          <c:showLegendKey val="0"/>
          <c:showVal val="1"/>
          <c:showCatName val="0"/>
          <c:showSerName val="0"/>
          <c:showPercent val="0"/>
          <c:showBubbleSize val="0"/>
          <c:showLeaderLines val="1"/>
        </c:dLbls>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47.0"/>
          <c:min val="83.0"/>
        </c:scaling>
        <c:delete/>
        <c:axPos val="b"/>
        <c:majorTickMark val="out"/>
        <c:minorTickMark val="none"/>
        <c:tickLblPos val="nextTo"/>
        <c:crossAx val="-2068027336"/>
        <c:crosses val="autoZero"/>
      </c:valAx>
    </c:plotArea>
    <c:dispBlanksAs val="gap"/>
  </c:chart>
  <c:txPr>
    <a:bodyPr/>
    <a:lstStyle/>
    <a:p>
      <a:pPr>
        <a:defRPr sz="1800"/>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Market Segments</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North America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North America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North America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North America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North America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North America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North America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North America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North America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North America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North America Flexible Plastic Packaging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By Principal Material / Barrier Technology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By Principal Material / Barrier Technology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(1/3)</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(2/3)</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(3/3)</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By Material Structure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By Material Structure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By Barrier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By Application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By Barrier Level Vs Application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Country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North America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Regional Price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North America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Price Forecast &amp; Dynamics</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Dynamics by Geography</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(1/6)</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(2/6)</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(3/6)</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(4/6)</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(5/6)</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(6/6)</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(1/5)</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(2/5)</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(3/5)</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(4/5)</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(5/5)</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208.xml"/><Relationship Id="rId7" Type="http://schemas.openxmlformats.org/officeDocument/2006/relationships/slide" Target="slide218.xml"/><Relationship Id="rId8" Type="http://schemas.openxmlformats.org/officeDocument/2006/relationships/slide" Target="slide10.xml"/><Relationship Id="rId9" Type="http://schemas.openxmlformats.org/officeDocument/2006/relationships/slide" Target="slide11.xml"/><Relationship Id="rId10" Type="http://schemas.openxmlformats.org/officeDocument/2006/relationships/slide" Target="slide21.xml"/><Relationship Id="rId11" Type="http://schemas.openxmlformats.org/officeDocument/2006/relationships/slide" Target="slide29.xml"/><Relationship Id="rId12" Type="http://schemas.openxmlformats.org/officeDocument/2006/relationships/slide" Target="slide103.xml"/><Relationship Id="rId13" Type="http://schemas.openxmlformats.org/officeDocument/2006/relationships/slide" Target="slide105.xml"/><Relationship Id="rId14" Type="http://schemas.openxmlformats.org/officeDocument/2006/relationships/slide" Target="slide109.xml"/><Relationship Id="rId15" Type="http://schemas.openxmlformats.org/officeDocument/2006/relationships/slide" Target="slide178.xml"/><Relationship Id="rId16" Type="http://schemas.openxmlformats.org/officeDocument/2006/relationships/slide" Target="slide179.xml"/><Relationship Id="rId17" Type="http://schemas.openxmlformats.org/officeDocument/2006/relationships/slide" Target="slide189.xml"/><Relationship Id="rId18" Type="http://schemas.openxmlformats.org/officeDocument/2006/relationships/slide" Target="slide193.xml"/><Relationship Id="rId19" Type="http://schemas.openxmlformats.org/officeDocument/2006/relationships/slide" Target="slide19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9.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0.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1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18.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chart" Target="../charts/chart19.xml"/><Relationship Id="rId6" Type="http://schemas.openxmlformats.org/officeDocument/2006/relationships/chart" Target="../charts/chart20.xml"/><Relationship Id="rId7" Type="http://schemas.openxmlformats.org/officeDocument/2006/relationships/notesSlide" Target="../notesSlides/notesSlide25.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xml"/><Relationship Id="rId4" Type="http://schemas.openxmlformats.org/officeDocument/2006/relationships/notesSlide" Target="../notesSlides/notesSlide30.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xml"/><Relationship Id="rId4" Type="http://schemas.openxmlformats.org/officeDocument/2006/relationships/chart" Target="../charts/chart23.xml"/><Relationship Id="rId5" Type="http://schemas.openxmlformats.org/officeDocument/2006/relationships/notesSlide" Target="../notesSlides/notesSlide3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xml"/><Relationship Id="rId4" Type="http://schemas.openxmlformats.org/officeDocument/2006/relationships/chart" Target="../charts/chart25.xml"/><Relationship Id="rId5" Type="http://schemas.openxmlformats.org/officeDocument/2006/relationships/chart" Target="../charts/chart26.xml"/><Relationship Id="rId6" Type="http://schemas.openxmlformats.org/officeDocument/2006/relationships/chart" Target="../charts/chart27.xml"/><Relationship Id="rId7" Type="http://schemas.openxmlformats.org/officeDocument/2006/relationships/notesSlide" Target="../notesSlides/notesSlide38.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xml"/><Relationship Id="rId4" Type="http://schemas.openxmlformats.org/officeDocument/2006/relationships/chart" Target="../charts/chart29.xml"/><Relationship Id="rId5" Type="http://schemas.openxmlformats.org/officeDocument/2006/relationships/chart" Target="../charts/chart30.xml"/><Relationship Id="rId6" Type="http://schemas.openxmlformats.org/officeDocument/2006/relationships/chart" Target="../charts/chart31.xml"/><Relationship Id="rId7" Type="http://schemas.openxmlformats.org/officeDocument/2006/relationships/notesSlide" Target="../notesSlides/notesSlide39.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xml"/><Relationship Id="rId4" Type="http://schemas.openxmlformats.org/officeDocument/2006/relationships/chart" Target="../charts/chart33.xml"/><Relationship Id="rId5" Type="http://schemas.openxmlformats.org/officeDocument/2006/relationships/chart" Target="../charts/chart34.xml"/><Relationship Id="rId6" Type="http://schemas.openxmlformats.org/officeDocument/2006/relationships/notesSlide" Target="../notesSlides/notesSlide4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xml"/><Relationship Id="rId4" Type="http://schemas.openxmlformats.org/officeDocument/2006/relationships/notesSlide" Target="../notesSlides/notesSlide4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xml"/><Relationship Id="rId4" Type="http://schemas.openxmlformats.org/officeDocument/2006/relationships/chart" Target="../charts/chart37.xml"/><Relationship Id="rId5" Type="http://schemas.openxmlformats.org/officeDocument/2006/relationships/notesSlide" Target="../notesSlides/notesSlide4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8.xml"/><Relationship Id="rId4" Type="http://schemas.openxmlformats.org/officeDocument/2006/relationships/chart" Target="../charts/chart39.xml"/><Relationship Id="rId5" Type="http://schemas.openxmlformats.org/officeDocument/2006/relationships/chart" Target="../charts/chart40.xml"/><Relationship Id="rId6" Type="http://schemas.openxmlformats.org/officeDocument/2006/relationships/chart" Target="../charts/chart41.xml"/><Relationship Id="rId7" Type="http://schemas.openxmlformats.org/officeDocument/2006/relationships/notesSlide" Target="../notesSlides/notesSlide4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xml"/><Relationship Id="rId4" Type="http://schemas.openxmlformats.org/officeDocument/2006/relationships/chart" Target="../charts/chart43.xml"/><Relationship Id="rId5" Type="http://schemas.openxmlformats.org/officeDocument/2006/relationships/chart" Target="../charts/chart44.xml"/><Relationship Id="rId6" Type="http://schemas.openxmlformats.org/officeDocument/2006/relationships/notesSlide" Target="../notesSlides/notesSlide5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xml"/><Relationship Id="rId4" Type="http://schemas.openxmlformats.org/officeDocument/2006/relationships/notesSlide" Target="../notesSlides/notesSlide5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xml"/><Relationship Id="rId4" Type="http://schemas.openxmlformats.org/officeDocument/2006/relationships/chart" Target="../charts/chart47.xml"/><Relationship Id="rId5" Type="http://schemas.openxmlformats.org/officeDocument/2006/relationships/notesSlide" Target="../notesSlides/notesSlide6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xml"/><Relationship Id="rId4" Type="http://schemas.openxmlformats.org/officeDocument/2006/relationships/chart" Target="../charts/chart49.xml"/><Relationship Id="rId5" Type="http://schemas.openxmlformats.org/officeDocument/2006/relationships/chart" Target="../charts/chart50.xml"/><Relationship Id="rId6" Type="http://schemas.openxmlformats.org/officeDocument/2006/relationships/chart" Target="../charts/chart51.xml"/><Relationship Id="rId7" Type="http://schemas.openxmlformats.org/officeDocument/2006/relationships/notesSlide" Target="../notesSlides/notesSlide6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xml"/><Relationship Id="rId4" Type="http://schemas.openxmlformats.org/officeDocument/2006/relationships/notesSlide" Target="../notesSlides/notesSlide65.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xml"/><Relationship Id="rId4" Type="http://schemas.openxmlformats.org/officeDocument/2006/relationships/chart" Target="../charts/chart54.xml"/><Relationship Id="rId5" Type="http://schemas.openxmlformats.org/officeDocument/2006/relationships/notesSlide" Target="../notesSlides/notesSlide69.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5.xml"/><Relationship Id="rId4" Type="http://schemas.openxmlformats.org/officeDocument/2006/relationships/chart" Target="../charts/chart56.xml"/><Relationship Id="rId5" Type="http://schemas.openxmlformats.org/officeDocument/2006/relationships/notesSlide" Target="../notesSlides/notesSlide70.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7.xml"/><Relationship Id="rId4" Type="http://schemas.openxmlformats.org/officeDocument/2006/relationships/notesSlide" Target="../notesSlides/notesSlide75.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xml"/><Relationship Id="rId4" Type="http://schemas.openxmlformats.org/officeDocument/2006/relationships/chart" Target="../charts/chart59.xml"/><Relationship Id="rId5" Type="http://schemas.openxmlformats.org/officeDocument/2006/relationships/notesSlide" Target="../notesSlides/notesSlide8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0.xml"/><Relationship Id="rId4" Type="http://schemas.openxmlformats.org/officeDocument/2006/relationships/chart" Target="../charts/chart61.xml"/><Relationship Id="rId5" Type="http://schemas.openxmlformats.org/officeDocument/2006/relationships/chart" Target="../charts/chart62.xml"/><Relationship Id="rId6" Type="http://schemas.openxmlformats.org/officeDocument/2006/relationships/chart" Target="../charts/chart63.xml"/><Relationship Id="rId7" Type="http://schemas.openxmlformats.org/officeDocument/2006/relationships/notesSlide" Target="../notesSlides/notesSlide8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xml"/><Relationship Id="rId4" Type="http://schemas.openxmlformats.org/officeDocument/2006/relationships/notesSlide" Target="../notesSlides/notesSlide85.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6.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8.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xml"/><Relationship Id="rId4" Type="http://schemas.openxmlformats.org/officeDocument/2006/relationships/chart" Target="../charts/chart66.xml"/><Relationship Id="rId5" Type="http://schemas.openxmlformats.org/officeDocument/2006/relationships/chart" Target="../charts/chart67.xml"/><Relationship Id="rId6" Type="http://schemas.openxmlformats.org/officeDocument/2006/relationships/chart" Target="../charts/chart68.xml"/><Relationship Id="rId7" Type="http://schemas.openxmlformats.org/officeDocument/2006/relationships/notesSlide" Target="../notesSlides/notesSlide9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9.xml"/><Relationship Id="rId4" Type="http://schemas.openxmlformats.org/officeDocument/2006/relationships/chart" Target="../charts/chart70.xml"/><Relationship Id="rId5" Type="http://schemas.openxmlformats.org/officeDocument/2006/relationships/chart" Target="../charts/chart71.xml"/><Relationship Id="rId6" Type="http://schemas.openxmlformats.org/officeDocument/2006/relationships/chart" Target="../charts/chart72.xml"/><Relationship Id="rId7" Type="http://schemas.openxmlformats.org/officeDocument/2006/relationships/notesSlide" Target="../notesSlides/notesSlide9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xml"/><Relationship Id="rId4" Type="http://schemas.openxmlformats.org/officeDocument/2006/relationships/chart" Target="../charts/chart74.xml"/><Relationship Id="rId5" Type="http://schemas.openxmlformats.org/officeDocument/2006/relationships/chart" Target="../charts/chart75.xml"/><Relationship Id="rId6" Type="http://schemas.openxmlformats.org/officeDocument/2006/relationships/chart" Target="../charts/chart76.xml"/><Relationship Id="rId7" Type="http://schemas.openxmlformats.org/officeDocument/2006/relationships/chart" Target="../charts/chart77.xml"/><Relationship Id="rId8" Type="http://schemas.openxmlformats.org/officeDocument/2006/relationships/chart" Target="../charts/chart78.xml"/><Relationship Id="rId9" Type="http://schemas.openxmlformats.org/officeDocument/2006/relationships/notesSlide" Target="../notesSlides/notesSlide93.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xml"/><Relationship Id="rId4" Type="http://schemas.openxmlformats.org/officeDocument/2006/relationships/chart" Target="../charts/chart80.xml"/><Relationship Id="rId5" Type="http://schemas.openxmlformats.org/officeDocument/2006/relationships/notesSlide" Target="../notesSlides/notesSlide9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xml"/><Relationship Id="rId4" Type="http://schemas.openxmlformats.org/officeDocument/2006/relationships/notesSlide" Target="../notesSlides/notesSlide99.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xml"/><Relationship Id="rId4" Type="http://schemas.openxmlformats.org/officeDocument/2006/relationships/notesSlide" Target="../notesSlides/notesSlide10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3.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3.xml"/><Relationship Id="rId4" Type="http://schemas.openxmlformats.org/officeDocument/2006/relationships/chart" Target="../charts/chart84.xml"/><Relationship Id="rId5" Type="http://schemas.openxmlformats.org/officeDocument/2006/relationships/notesSlide" Target="../notesSlides/notesSlide105.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xml"/><Relationship Id="rId4" Type="http://schemas.openxmlformats.org/officeDocument/2006/relationships/chart" Target="../charts/chart86.xml"/><Relationship Id="rId5" Type="http://schemas.openxmlformats.org/officeDocument/2006/relationships/notesSlide" Target="../notesSlides/notesSlide11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xml"/><Relationship Id="rId4" Type="http://schemas.openxmlformats.org/officeDocument/2006/relationships/chart" Target="../charts/chart88.xml"/><Relationship Id="rId5" Type="http://schemas.openxmlformats.org/officeDocument/2006/relationships/notesSlide" Target="../notesSlides/notesSlide11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9.xml"/><Relationship Id="rId4" Type="http://schemas.openxmlformats.org/officeDocument/2006/relationships/chart" Target="../charts/chart90.xml"/><Relationship Id="rId5" Type="http://schemas.openxmlformats.org/officeDocument/2006/relationships/notesSlide" Target="../notesSlides/notesSlide118.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1.xml"/><Relationship Id="rId4" Type="http://schemas.openxmlformats.org/officeDocument/2006/relationships/chart" Target="../charts/chart92.xml"/><Relationship Id="rId5" Type="http://schemas.openxmlformats.org/officeDocument/2006/relationships/chart" Target="../charts/chart93.xml"/><Relationship Id="rId6" Type="http://schemas.openxmlformats.org/officeDocument/2006/relationships/chart" Target="../charts/chart94.xml"/><Relationship Id="rId7" Type="http://schemas.openxmlformats.org/officeDocument/2006/relationships/notesSlide" Target="../notesSlides/notesSlide123.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5.xml"/><Relationship Id="rId4" Type="http://schemas.openxmlformats.org/officeDocument/2006/relationships/chart" Target="../charts/chart96.xml"/><Relationship Id="rId5" Type="http://schemas.openxmlformats.org/officeDocument/2006/relationships/chart" Target="../charts/chart97.xml"/><Relationship Id="rId6" Type="http://schemas.openxmlformats.org/officeDocument/2006/relationships/chart" Target="../charts/chart98.xml"/><Relationship Id="rId7" Type="http://schemas.openxmlformats.org/officeDocument/2006/relationships/notesSlide" Target="../notesSlides/notesSlide124.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chart" Target="../charts/chart100.xml"/><Relationship Id="rId5" Type="http://schemas.openxmlformats.org/officeDocument/2006/relationships/chart" Target="../charts/chart101.xml"/><Relationship Id="rId6" Type="http://schemas.openxmlformats.org/officeDocument/2006/relationships/chart" Target="../charts/chart102.xml"/><Relationship Id="rId7" Type="http://schemas.openxmlformats.org/officeDocument/2006/relationships/chart" Target="../charts/chart103.xml"/><Relationship Id="rId8" Type="http://schemas.openxmlformats.org/officeDocument/2006/relationships/chart" Target="../charts/chart104.xml"/><Relationship Id="rId9" Type="http://schemas.openxmlformats.org/officeDocument/2006/relationships/notesSlide" Target="../notesSlides/notesSlide125.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xml"/><Relationship Id="rId4" Type="http://schemas.openxmlformats.org/officeDocument/2006/relationships/chart" Target="../charts/chart106.xml"/><Relationship Id="rId5" Type="http://schemas.openxmlformats.org/officeDocument/2006/relationships/notesSlide" Target="../notesSlides/notesSlide126.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xml"/><Relationship Id="rId4" Type="http://schemas.openxmlformats.org/officeDocument/2006/relationships/notesSlide" Target="../notesSlides/notesSlide131.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xml"/><Relationship Id="rId4" Type="http://schemas.openxmlformats.org/officeDocument/2006/relationships/notesSlide" Target="../notesSlides/notesSlide13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5.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9.xml"/><Relationship Id="rId4" Type="http://schemas.openxmlformats.org/officeDocument/2006/relationships/chart" Target="../charts/chart110.xml"/><Relationship Id="rId5" Type="http://schemas.openxmlformats.org/officeDocument/2006/relationships/notesSlide" Target="../notesSlides/notesSlide137.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8.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xml"/><Relationship Id="rId4" Type="http://schemas.openxmlformats.org/officeDocument/2006/relationships/chart" Target="../charts/chart112.xml"/><Relationship Id="rId5" Type="http://schemas.openxmlformats.org/officeDocument/2006/relationships/notesSlide" Target="../notesSlides/notesSlide14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3.xml"/><Relationship Id="rId4" Type="http://schemas.openxmlformats.org/officeDocument/2006/relationships/chart" Target="../charts/chart114.xml"/><Relationship Id="rId5" Type="http://schemas.openxmlformats.org/officeDocument/2006/relationships/notesSlide" Target="../notesSlides/notesSlide145.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xml"/><Relationship Id="rId4" Type="http://schemas.openxmlformats.org/officeDocument/2006/relationships/chart" Target="../charts/chart116.xml"/><Relationship Id="rId5" Type="http://schemas.openxmlformats.org/officeDocument/2006/relationships/notesSlide" Target="../notesSlides/notesSlide150.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5.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xml"/><Relationship Id="rId4" Type="http://schemas.openxmlformats.org/officeDocument/2006/relationships/chart" Target="../charts/chart118.xml"/><Relationship Id="rId5" Type="http://schemas.openxmlformats.org/officeDocument/2006/relationships/notesSlide" Target="../notesSlides/notesSlide157.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8.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4.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5.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6.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7.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8.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9.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0.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1.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3.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4.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6.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7.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9.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0.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rIns="28575" tIns="9525" bIns="9525" anchor="ctr">
            <a:spAutoFit/>
          </a:bodyPr>
          <a:lstStyle/>
          <a:p>
            <a:pPr algn="l"/>
            <a:r>
              <a:rPr sz="3400" b="1">
                <a:solidFill>
                  <a:srgbClr val="0B2E4A"/>
                </a:solidFill>
                <a:latin typeface="Calibri"/>
              </a:rPr>
              <a:t>North America Flexible Plastic Packaging Market</a:t>
            </a:r>
          </a:p>
        </p:txBody>
      </p:sp>
      <p:sp>
        <p:nvSpPr>
          <p:cNvPr id="17" name="TextBox 16"/>
          <p:cNvSpPr txBox="1"/>
          <p:nvPr/>
        </p:nvSpPr>
        <p:spPr>
          <a:xfrm>
            <a:off x="1162050" y="4686300"/>
            <a:ext cx="9334500" cy="857250"/>
          </a:xfrm>
          <a:prstGeom prst="rect">
            <a:avLst/>
          </a:prstGeom>
          <a:noFill/>
        </p:spPr>
        <p:txBody>
          <a:bodyPr wrap="square" lIns="28575" rIns="28575" tIns="9525" bIns="9525">
            <a:spAutoFit/>
          </a:bodyPr>
          <a:lstStyle/>
          <a:p>
            <a:pPr algn="l"/>
            <a:r>
              <a:rPr sz="1600" b="0">
                <a:solidFill>
                  <a:srgbClr val="6C7A89"/>
                </a:solidFill>
                <a:latin typeface="Calibri"/>
              </a:rPr>
              <a:t>Value (US$ Mn) and Volume (Thousand MT) Analysis and Forecast, 2021–2036</a:t>
            </a:r>
          </a:p>
          <a:p>
            <a:pPr algn="l"/>
            <a:r>
              <a:rPr sz="1100" b="0">
                <a:solidFill>
                  <a:srgbClr val="8FCBE6"/>
                </a:solidFill>
                <a:latin typeface="Calibri"/>
              </a:rPr>
              <a:t>Region focus: North America   ·   Country focus: U.S.   ·   Generated 08 Oct 2026   ·   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71915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228502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2869138"/>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Table of Contents</a:t>
            </a:r>
          </a:p>
        </p:txBody>
      </p:sp>
      <p:sp>
        <p:nvSpPr>
          <p:cNvPr id="14" name="Rounded Rectangle 13">
            <a:hlinkClick action="ppaction://hlinksldjump" r:id="rId7"/>
          </p:cNvPr>
          <p:cNvSpPr/>
          <p:nvPr/>
        </p:nvSpPr>
        <p:spPr>
          <a:xfrm>
            <a:off x="314325" y="3453257"/>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List of Figures, List of Tables</a:t>
            </a:r>
          </a:p>
        </p:txBody>
      </p:sp>
      <p:sp>
        <p:nvSpPr>
          <p:cNvPr id="15" name="Rounded Rectangle 14">
            <a:hlinkClick action="ppaction://hlinksldjump" r:id="rId8"/>
          </p:cNvPr>
          <p:cNvSpPr/>
          <p:nvPr/>
        </p:nvSpPr>
        <p:spPr>
          <a:xfrm>
            <a:off x="142875" y="403737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North America Market Outlook</a:t>
            </a:r>
          </a:p>
        </p:txBody>
      </p:sp>
      <p:sp>
        <p:nvSpPr>
          <p:cNvPr id="16" name="Rounded Rectangle 15">
            <a:hlinkClick action="ppaction://hlinksldjump" r:id="rId9"/>
          </p:cNvPr>
          <p:cNvSpPr/>
          <p:nvPr/>
        </p:nvSpPr>
        <p:spPr>
          <a:xfrm>
            <a:off x="314325" y="460324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North America Overview</a:t>
            </a:r>
          </a:p>
        </p:txBody>
      </p:sp>
      <p:sp>
        <p:nvSpPr>
          <p:cNvPr id="17" name="Rounded Rectangle 16">
            <a:hlinkClick action="ppaction://hlinksldjump" r:id="rId10"/>
          </p:cNvPr>
          <p:cNvSpPr/>
          <p:nvPr/>
        </p:nvSpPr>
        <p:spPr>
          <a:xfrm>
            <a:off x="314325" y="5187358"/>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North America Market Analysis By Country</a:t>
            </a:r>
          </a:p>
        </p:txBody>
      </p:sp>
      <p:sp>
        <p:nvSpPr>
          <p:cNvPr id="18" name="Rounded Rectangle 17">
            <a:hlinkClick action="ppaction://hlinksldjump" r:id="rId11"/>
          </p:cNvPr>
          <p:cNvSpPr/>
          <p:nvPr/>
        </p:nvSpPr>
        <p:spPr>
          <a:xfrm>
            <a:off x="314325" y="5771476"/>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North America Market Analysis By Segments</a:t>
            </a:r>
          </a:p>
        </p:txBody>
      </p:sp>
      <p:sp>
        <p:nvSpPr>
          <p:cNvPr id="19" name="Rounded Rectangle 18">
            <a:hlinkClick action="ppaction://hlinksldjump" r:id="rId12"/>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Country Market Outlook</a:t>
            </a:r>
          </a:p>
        </p:txBody>
      </p:sp>
      <p:sp>
        <p:nvSpPr>
          <p:cNvPr id="20" name="Rounded Rectangle 19">
            <a:hlinkClick action="ppaction://hlinksldjump" r:id="rId13"/>
          </p:cNvPr>
          <p:cNvSpPr/>
          <p:nvPr/>
        </p:nvSpPr>
        <p:spPr>
          <a:xfrm>
            <a:off x="6391275" y="1700902"/>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Flexible Plastic Packaging Market Overview (Volume &amp; Value)</a:t>
            </a:r>
          </a:p>
        </p:txBody>
      </p:sp>
      <p:sp>
        <p:nvSpPr>
          <p:cNvPr id="21" name="Rounded Rectangle 20">
            <a:hlinkClick action="ppaction://hlinksldjump" r:id="rId14"/>
          </p:cNvPr>
          <p:cNvSpPr/>
          <p:nvPr/>
        </p:nvSpPr>
        <p:spPr>
          <a:xfrm>
            <a:off x="6391275" y="228502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Segment Overview (Volume &amp; Value)</a:t>
            </a:r>
          </a:p>
        </p:txBody>
      </p:sp>
      <p:sp>
        <p:nvSpPr>
          <p:cNvPr id="22" name="Rounded Rectangle 21">
            <a:hlinkClick action="ppaction://hlinksldjump" r:id="rId15"/>
          </p:cNvPr>
          <p:cNvSpPr/>
          <p:nvPr/>
        </p:nvSpPr>
        <p:spPr>
          <a:xfrm>
            <a:off x="6219825" y="2869138"/>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23" name="Rounded Rectangle 22">
            <a:hlinkClick action="ppaction://hlinksldjump" r:id="rId16"/>
          </p:cNvPr>
          <p:cNvSpPr/>
          <p:nvPr/>
        </p:nvSpPr>
        <p:spPr>
          <a:xfrm>
            <a:off x="6391275" y="3435003"/>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Flexible Plastic Packaging Market Pricing Analysis</a:t>
            </a:r>
          </a:p>
        </p:txBody>
      </p:sp>
      <p:sp>
        <p:nvSpPr>
          <p:cNvPr id="24" name="Rounded Rectangle 23">
            <a:hlinkClick action="ppaction://hlinksldjump" r:id="rId17"/>
          </p:cNvPr>
          <p:cNvSpPr/>
          <p:nvPr/>
        </p:nvSpPr>
        <p:spPr>
          <a:xfrm>
            <a:off x="6391275" y="4019121"/>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Supply Chain Analysis</a:t>
            </a:r>
          </a:p>
        </p:txBody>
      </p:sp>
      <p:sp>
        <p:nvSpPr>
          <p:cNvPr id="25" name="Rounded Rectangle 24">
            <a:hlinkClick action="ppaction://hlinksldjump" r:id="rId18"/>
          </p:cNvPr>
          <p:cNvSpPr/>
          <p:nvPr/>
        </p:nvSpPr>
        <p:spPr>
          <a:xfrm>
            <a:off x="6219825" y="4603240"/>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26" name="Rounded Rectangle 25">
            <a:hlinkClick action="ppaction://hlinksldjump" r:id="rId19"/>
          </p:cNvPr>
          <p:cNvSpPr/>
          <p:nvPr/>
        </p:nvSpPr>
        <p:spPr>
          <a:xfrm>
            <a:off x="6391275" y="5169104"/>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Market Dynamics &amp; Forces</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Flexible Plastic Packaging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Flexible Plastic Packaging demand, the evidence behind each and what it implies for the North America…</a:t>
            </a:r>
          </a:p>
        </p:txBody>
      </p:sp>
      <p:graphicFrame>
        <p:nvGraphicFramePr>
          <p:cNvPr id="10" name="Table 9"/>
          <p:cNvGraphicFramePr>
            <a:graphicFrameLocks noGrp="1"/>
          </p:cNvGraphicFramePr>
          <p:nvPr/>
        </p:nvGraphicFramePr>
        <p:xfrm>
          <a:off x="142875" y="1062022"/>
          <a:ext cx="11906250" cy="5549125"/>
        </p:xfrm>
        <a:graphic>
          <a:graphicData uri="http://schemas.openxmlformats.org/drawingml/2006/table">
            <a:tbl>
              <a:tblPr>
                <a:tableStyleId>{5C22544A-7EE6-4342-B048-85BDC9FD1C3A}</a:tableStyleId>
              </a:tblPr>
              <a:tblGrid>
                <a:gridCol w="3571875"/>
                <a:gridCol w="5000625"/>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Flexible Plastic Packaging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North America demand expands at a 6.6% forecast CAGR (2026–2036), accelerating from 4.5% across 2021–2025.</a:t>
                      </a:r>
                    </a:p>
                  </a:txBody>
                  <a:tcPr marL="70000" marR="70000" marT="45000" marB="45000" anchor="ctr">
                    <a:solidFill>
                      <a:srgbClr val="FFFFFF"/>
                    </a:solidFill>
                  </a:tcPr>
                </a:tc>
                <a:tc>
                  <a:txBody>
                    <a:bodyPr wrap="square"/>
                    <a:lstStyle/>
                    <a:p>
                      <a:pPr algn="l"/>
                      <a:r>
                        <a:rPr sz="1100" b="0">
                          <a:solidFill>
                            <a:srgbClr val="2E2E2E"/>
                          </a:solidFill>
                          <a:latin typeface="Calibri"/>
                        </a:rPr>
                        <a:t>127,346 → 240,208 US$ Mn  ·  CAGR 6.6%</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product type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Rollstock Films leads Product Type, at 53.6% of 2036 value, within a mix of 4 tracked categories.</a:t>
                      </a:r>
                    </a:p>
                  </a:txBody>
                  <a:tcPr marL="70000" marR="70000" marT="45000" marB="45000" anchor="ctr">
                    <a:solidFill>
                      <a:srgbClr val="F6F9FC"/>
                    </a:solidFill>
                  </a:tcPr>
                </a:tc>
                <a:tc>
                  <a:txBody>
                    <a:bodyPr wrap="square"/>
                    <a:lstStyle/>
                    <a:p>
                      <a:pPr algn="l"/>
                      <a:r>
                        <a:rPr sz="1100" b="0">
                          <a:solidFill>
                            <a:srgbClr val="2E2E2E"/>
                          </a:solidFill>
                          <a:latin typeface="Calibri"/>
                        </a:rPr>
                        <a:t>Lead: Rollstock Films  ·  53.6% share (2036)</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Food Packaging is the fastest-growing part of Application, at a 6.6% forecast CAGR outpacing the wider market.</a:t>
                      </a:r>
                    </a:p>
                  </a:txBody>
                  <a:tcPr marL="70000" marR="70000" marT="45000" marB="45000" anchor="ctr">
                    <a:solidFill>
                      <a:srgbClr val="FFFFFF"/>
                    </a:solidFill>
                  </a:tcPr>
                </a:tc>
                <a:tc>
                  <a:txBody>
                    <a:bodyPr wrap="square"/>
                    <a:lstStyle/>
                    <a:p>
                      <a:pPr algn="l"/>
                      <a:r>
                        <a:rPr sz="1100" b="0">
                          <a:solidFill>
                            <a:srgbClr val="2E2E2E"/>
                          </a:solidFill>
                          <a:latin typeface="Calibri"/>
                        </a:rPr>
                        <a:t>Fastest: Food Packaging  ·  6.6% F-CAGR</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Flexible Plastic Packaging demand?</a:t>
                      </a:r>
                    </a:p>
                  </a:txBody>
                  <a:tcPr marL="70000" marR="70000" marT="45000" marB="45000" anchor="ctr">
                    <a:solidFill>
                      <a:srgbClr val="F6F9FC"/>
                    </a:solidFill>
                  </a:tcPr>
                </a:tc>
                <a:tc>
                  <a:txBody>
                    <a:bodyPr wrap="square"/>
                    <a:lstStyle/>
                    <a:p>
                      <a:pPr algn="l"/>
                      <a:r>
                        <a:rPr sz="1100" b="0">
                          <a:solidFill>
                            <a:srgbClr val="2E2E2E"/>
                          </a:solidFill>
                          <a:latin typeface="Calibri"/>
                        </a:rPr>
                        <a:t>East Asia is the largest regional market (26.5% of 2036 value), while Middle East &amp; Africa grows fastest at 8.3%.</a:t>
                      </a:r>
                    </a:p>
                  </a:txBody>
                  <a:tcPr marL="70000" marR="70000" marT="45000" marB="45000" anchor="ctr">
                    <a:solidFill>
                      <a:srgbClr val="F6F9FC"/>
                    </a:solidFill>
                  </a:tcPr>
                </a:tc>
                <a:tc>
                  <a:txBody>
                    <a:bodyPr wrap="square"/>
                    <a:lstStyle/>
                    <a:p>
                      <a:pPr algn="l"/>
                      <a:r>
                        <a:rPr sz="1100" b="0">
                          <a:solidFill>
                            <a:srgbClr val="2E2E2E"/>
                          </a:solidFill>
                          <a:latin typeface="Calibri"/>
                        </a:rPr>
                        <a:t>Largest: East Asia (26.5%)  ·  Fastest: Middle East &amp; Africa (8.3%)</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An incremental 112,862 US$ Mn of demand is added between 2026 and 2036, front-loaded in the leading categories and regions above.</a:t>
                      </a:r>
                    </a:p>
                  </a:txBody>
                  <a:tcPr marL="70000" marR="70000" marT="45000" marB="45000" anchor="ctr">
                    <a:solidFill>
                      <a:srgbClr val="FFFFFF"/>
                    </a:solidFill>
                  </a:tcPr>
                </a:tc>
                <a:tc>
                  <a:txBody>
                    <a:bodyPr wrap="square"/>
                    <a:lstStyle/>
                    <a:p>
                      <a:pPr algn="l"/>
                      <a:r>
                        <a:rPr sz="1100" b="0">
                          <a:solidFill>
                            <a:srgbClr val="2E2E2E"/>
                          </a:solidFill>
                          <a:latin typeface="Calibri"/>
                        </a:rPr>
                        <a:t>$ opportunity 112,862 US$ Mn (2026–2036)  ·  44,547 by 2031</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Table of Contents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North America market broken into 2 countries and the countries assessed under each</a:t>
            </a:r>
          </a:p>
        </p:txBody>
      </p:sp>
      <p:cxnSp>
        <p:nvCxnSpPr>
          <p:cNvPr id="10" name="Connector 9"/>
          <p:cNvCxnSpPr/>
          <p:nvPr/>
        </p:nvCxnSpPr>
        <p:spPr>
          <a:xfrm>
            <a:off x="6096000" y="1682648"/>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846931"/>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152775"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75048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309730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45325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380007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1468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49371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484966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19648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54330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58901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153025" y="624607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71628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488617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9163050" y="524211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1633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16330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5" name="Rounded Rectangle 54"/>
          <p:cNvSpPr/>
          <p:nvPr/>
        </p:nvSpPr>
        <p:spPr>
          <a:xfrm>
            <a:off x="4667250" y="1080276"/>
            <a:ext cx="2857500" cy="602372"/>
          </a:xfrm>
          <a:prstGeom prst="roundRect">
            <a:avLst>
              <a:gd name="adj" fmla="val 10606"/>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Flexible Plastic Packaging Market</a:t>
            </a:r>
          </a:p>
        </p:txBody>
      </p:sp>
      <p:sp>
        <p:nvSpPr>
          <p:cNvPr id="56" name="Rounded Rectangle 55"/>
          <p:cNvSpPr/>
          <p:nvPr/>
        </p:nvSpPr>
        <p:spPr>
          <a:xfrm>
            <a:off x="1428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7" name="Rounded Rectangle 56"/>
          <p:cNvSpPr/>
          <p:nvPr/>
        </p:nvSpPr>
        <p:spPr>
          <a:xfrm>
            <a:off x="2762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8" name="Rounded Rectangle 57"/>
          <p:cNvSpPr/>
          <p:nvPr/>
        </p:nvSpPr>
        <p:spPr>
          <a:xfrm>
            <a:off x="27622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59" name="Rounded Rectangle 58"/>
          <p:cNvSpPr/>
          <p:nvPr/>
        </p:nvSpPr>
        <p:spPr>
          <a:xfrm>
            <a:off x="214312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60" name="Rounded Rectangle 59"/>
          <p:cNvSpPr/>
          <p:nvPr/>
        </p:nvSpPr>
        <p:spPr>
          <a:xfrm>
            <a:off x="227647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1" name="Rounded Rectangle 60"/>
          <p:cNvSpPr/>
          <p:nvPr/>
        </p:nvSpPr>
        <p:spPr>
          <a:xfrm>
            <a:off x="227647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2" name="Rounded Rectangle 61"/>
          <p:cNvSpPr/>
          <p:nvPr/>
        </p:nvSpPr>
        <p:spPr>
          <a:xfrm>
            <a:off x="2276475"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Colombia</a:t>
            </a:r>
          </a:p>
        </p:txBody>
      </p:sp>
      <p:sp>
        <p:nvSpPr>
          <p:cNvPr id="63" name="Rounded Rectangle 62"/>
          <p:cNvSpPr/>
          <p:nvPr/>
        </p:nvSpPr>
        <p:spPr>
          <a:xfrm>
            <a:off x="2276475"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Latin America</a:t>
            </a:r>
          </a:p>
        </p:txBody>
      </p:sp>
      <p:sp>
        <p:nvSpPr>
          <p:cNvPr id="64" name="Rounded Rectangle 63"/>
          <p:cNvSpPr/>
          <p:nvPr/>
        </p:nvSpPr>
        <p:spPr>
          <a:xfrm>
            <a:off x="41433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5" name="Rounded Rectangle 64"/>
          <p:cNvSpPr/>
          <p:nvPr/>
        </p:nvSpPr>
        <p:spPr>
          <a:xfrm>
            <a:off x="42767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6" name="Rounded Rectangle 65"/>
          <p:cNvSpPr/>
          <p:nvPr/>
        </p:nvSpPr>
        <p:spPr>
          <a:xfrm>
            <a:off x="4276725" y="281437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7" name="Rounded Rectangle 66"/>
          <p:cNvSpPr/>
          <p:nvPr/>
        </p:nvSpPr>
        <p:spPr>
          <a:xfrm>
            <a:off x="4276725" y="317032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8" name="Rounded Rectangle 67"/>
          <p:cNvSpPr/>
          <p:nvPr/>
        </p:nvSpPr>
        <p:spPr>
          <a:xfrm>
            <a:off x="4276725" y="35171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69" name="Rounded Rectangle 68"/>
          <p:cNvSpPr/>
          <p:nvPr/>
        </p:nvSpPr>
        <p:spPr>
          <a:xfrm>
            <a:off x="4276725" y="386396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70" name="Rounded Rectangle 69"/>
          <p:cNvSpPr/>
          <p:nvPr/>
        </p:nvSpPr>
        <p:spPr>
          <a:xfrm>
            <a:off x="4276725" y="421078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71" name="Rounded Rectangle 70"/>
          <p:cNvSpPr/>
          <p:nvPr/>
        </p:nvSpPr>
        <p:spPr>
          <a:xfrm>
            <a:off x="4276725" y="456673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2" name="Rounded Rectangle 71"/>
          <p:cNvSpPr/>
          <p:nvPr/>
        </p:nvSpPr>
        <p:spPr>
          <a:xfrm>
            <a:off x="4276725" y="491355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a:t>
            </a:r>
          </a:p>
        </p:txBody>
      </p:sp>
      <p:sp>
        <p:nvSpPr>
          <p:cNvPr id="73" name="Rounded Rectangle 72"/>
          <p:cNvSpPr/>
          <p:nvPr/>
        </p:nvSpPr>
        <p:spPr>
          <a:xfrm>
            <a:off x="4276725" y="526037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4" name="Rounded Rectangle 73"/>
          <p:cNvSpPr/>
          <p:nvPr/>
        </p:nvSpPr>
        <p:spPr>
          <a:xfrm>
            <a:off x="4276725" y="560719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5" name="Rounded Rectangle 74"/>
          <p:cNvSpPr/>
          <p:nvPr/>
        </p:nvSpPr>
        <p:spPr>
          <a:xfrm>
            <a:off x="4276725" y="59631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6" name="Rounded Rectangle 75"/>
          <p:cNvSpPr/>
          <p:nvPr/>
        </p:nvSpPr>
        <p:spPr>
          <a:xfrm>
            <a:off x="4276725" y="630996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7" name="Rounded Rectangle 76"/>
          <p:cNvSpPr/>
          <p:nvPr/>
        </p:nvSpPr>
        <p:spPr>
          <a:xfrm>
            <a:off x="61531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8" name="Rounded Rectangle 77"/>
          <p:cNvSpPr/>
          <p:nvPr/>
        </p:nvSpPr>
        <p:spPr>
          <a:xfrm>
            <a:off x="62865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79" name="Rounded Rectangle 78"/>
          <p:cNvSpPr/>
          <p:nvPr/>
        </p:nvSpPr>
        <p:spPr>
          <a:xfrm>
            <a:off x="62865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80" name="Rounded Rectangle 79"/>
          <p:cNvSpPr/>
          <p:nvPr/>
        </p:nvSpPr>
        <p:spPr>
          <a:xfrm>
            <a:off x="62865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81" name="Rounded Rectangle 80"/>
          <p:cNvSpPr/>
          <p:nvPr/>
        </p:nvSpPr>
        <p:spPr>
          <a:xfrm>
            <a:off x="815340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2" name="Rounded Rectangle 81"/>
          <p:cNvSpPr/>
          <p:nvPr/>
        </p:nvSpPr>
        <p:spPr>
          <a:xfrm>
            <a:off x="828675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3" name="Rounded Rectangle 82"/>
          <p:cNvSpPr/>
          <p:nvPr/>
        </p:nvSpPr>
        <p:spPr>
          <a:xfrm>
            <a:off x="828675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4" name="Rounded Rectangle 83"/>
          <p:cNvSpPr/>
          <p:nvPr/>
        </p:nvSpPr>
        <p:spPr>
          <a:xfrm>
            <a:off x="828675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5" name="Rounded Rectangle 84"/>
          <p:cNvSpPr/>
          <p:nvPr/>
        </p:nvSpPr>
        <p:spPr>
          <a:xfrm>
            <a:off x="828675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6" name="Rounded Rectangle 85"/>
          <p:cNvSpPr/>
          <p:nvPr/>
        </p:nvSpPr>
        <p:spPr>
          <a:xfrm>
            <a:off x="828675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7" name="Rounded Rectangle 86"/>
          <p:cNvSpPr/>
          <p:nvPr/>
        </p:nvSpPr>
        <p:spPr>
          <a:xfrm>
            <a:off x="828675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8" name="Rounded Rectangle 87"/>
          <p:cNvSpPr/>
          <p:nvPr/>
        </p:nvSpPr>
        <p:spPr>
          <a:xfrm>
            <a:off x="828675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89" name="Rounded Rectangle 88"/>
          <p:cNvSpPr/>
          <p:nvPr/>
        </p:nvSpPr>
        <p:spPr>
          <a:xfrm>
            <a:off x="8286750" y="495918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90" name="Rounded Rectangle 89"/>
          <p:cNvSpPr/>
          <p:nvPr/>
        </p:nvSpPr>
        <p:spPr>
          <a:xfrm>
            <a:off x="8286750" y="531513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Asia</a:t>
            </a:r>
          </a:p>
        </p:txBody>
      </p:sp>
      <p:sp>
        <p:nvSpPr>
          <p:cNvPr id="91" name="Rounded Rectangle 90"/>
          <p:cNvSpPr/>
          <p:nvPr/>
        </p:nvSpPr>
        <p:spPr>
          <a:xfrm>
            <a:off x="101536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2" name="Rounded Rectangle 91"/>
          <p:cNvSpPr/>
          <p:nvPr/>
        </p:nvSpPr>
        <p:spPr>
          <a:xfrm>
            <a:off x="102870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3" name="Rounded Rectangle 92"/>
          <p:cNvSpPr/>
          <p:nvPr/>
        </p:nvSpPr>
        <p:spPr>
          <a:xfrm>
            <a:off x="102870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4" name="Rounded Rectangle 93"/>
          <p:cNvSpPr/>
          <p:nvPr/>
        </p:nvSpPr>
        <p:spPr>
          <a:xfrm>
            <a:off x="102870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5" name="Rounded Rectangle 94"/>
          <p:cNvSpPr/>
          <p:nvPr/>
        </p:nvSpPr>
        <p:spPr>
          <a:xfrm>
            <a:off x="1028700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6" name="Rounded Rectangle 95"/>
          <p:cNvSpPr/>
          <p:nvPr/>
        </p:nvSpPr>
        <p:spPr>
          <a:xfrm>
            <a:off x="1028700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GCC</a:t>
            </a:r>
          </a:p>
        </p:txBody>
      </p:sp>
      <p:sp>
        <p:nvSpPr>
          <p:cNvPr id="97" name="Rounded Rectangle 96"/>
          <p:cNvSpPr/>
          <p:nvPr/>
        </p:nvSpPr>
        <p:spPr>
          <a:xfrm>
            <a:off x="1028700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98" name="Rounded Rectangle 97"/>
          <p:cNvSpPr/>
          <p:nvPr/>
        </p:nvSpPr>
        <p:spPr>
          <a:xfrm>
            <a:off x="1028700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MEA</a:t>
            </a:r>
          </a:p>
        </p:txBody>
      </p:sp>
      <p:sp>
        <p:nvSpPr>
          <p:cNvPr id="99" name="TextBox 9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6 axes and the sub-segments sized under each</a:t>
            </a:r>
          </a:p>
        </p:txBody>
      </p:sp>
      <p:sp>
        <p:nvSpPr>
          <p:cNvPr id="10" name="Rectangle 9"/>
          <p:cNvSpPr/>
          <p:nvPr/>
        </p:nvSpPr>
        <p:spPr>
          <a:xfrm>
            <a:off x="142875" y="1028700"/>
            <a:ext cx="2876550" cy="377190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Type</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Rollstock Films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Lidding &amp; Tray-Sealing Films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Thermoforming Films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3714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5619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Vacuum Skin Packaging Films</a:t>
            </a:r>
          </a:p>
        </p:txBody>
      </p:sp>
      <p:cxnSp>
        <p:nvCxnSpPr>
          <p:cNvPr id="24" name="Connector 23"/>
          <p:cNvCxnSpPr/>
          <p:nvPr/>
        </p:nvCxnSpPr>
        <p:spPr>
          <a:xfrm>
            <a:off x="1524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714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5619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HFFS / Flow-Pack Films</a:t>
            </a:r>
          </a:p>
        </p:txBody>
      </p:sp>
      <p:cxnSp>
        <p:nvCxnSpPr>
          <p:cNvPr id="27" name="Connector 26"/>
          <p:cNvCxnSpPr/>
          <p:nvPr/>
        </p:nvCxnSpPr>
        <p:spPr>
          <a:xfrm>
            <a:off x="1524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VFFS Rollstock Films</a:t>
            </a:r>
          </a:p>
        </p:txBody>
      </p:sp>
      <p:cxnSp>
        <p:nvCxnSpPr>
          <p:cNvPr id="30" name="Connector 29"/>
          <p:cNvCxnSpPr/>
          <p:nvPr/>
        </p:nvCxnSpPr>
        <p:spPr>
          <a:xfrm>
            <a:off x="1524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3714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 name="TextBox 31"/>
          <p:cNvSpPr txBox="1"/>
          <p:nvPr/>
        </p:nvSpPr>
        <p:spPr>
          <a:xfrm>
            <a:off x="5619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&amp; Overwrap Films</a:t>
            </a:r>
          </a:p>
        </p:txBody>
      </p:sp>
      <p:cxnSp>
        <p:nvCxnSpPr>
          <p:cNvPr id="33" name="Connector 32"/>
          <p:cNvCxnSpPr/>
          <p:nvPr/>
        </p:nvCxnSpPr>
        <p:spPr>
          <a:xfrm>
            <a:off x="1524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2000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 name="TextBox 34"/>
          <p:cNvSpPr txBox="1"/>
          <p:nvPr/>
        </p:nvSpPr>
        <p:spPr>
          <a:xfrm>
            <a:off x="3905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Barrier Casings</a:t>
            </a:r>
          </a:p>
        </p:txBody>
      </p:sp>
      <p:cxnSp>
        <p:nvCxnSpPr>
          <p:cNvPr id="36" name="Connector 35"/>
          <p:cNvCxnSpPr/>
          <p:nvPr/>
        </p:nvCxnSpPr>
        <p:spPr>
          <a:xfrm>
            <a:off x="1524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3714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8" name="TextBox 37"/>
          <p:cNvSpPr txBox="1"/>
          <p:nvPr/>
        </p:nvSpPr>
        <p:spPr>
          <a:xfrm>
            <a:off x="5619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Non-Shrink Casings</a:t>
            </a:r>
          </a:p>
        </p:txBody>
      </p:sp>
      <p:cxnSp>
        <p:nvCxnSpPr>
          <p:cNvPr id="39" name="Connector 38"/>
          <p:cNvCxnSpPr/>
          <p:nvPr/>
        </p:nvCxnSpPr>
        <p:spPr>
          <a:xfrm>
            <a:off x="1524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3714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1" name="TextBox 40"/>
          <p:cNvSpPr txBox="1"/>
          <p:nvPr/>
        </p:nvSpPr>
        <p:spPr>
          <a:xfrm>
            <a:off x="5619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Casings</a:t>
            </a:r>
          </a:p>
        </p:txBody>
      </p:sp>
      <p:cxnSp>
        <p:nvCxnSpPr>
          <p:cNvPr id="42" name="Connector 41"/>
          <p:cNvCxnSpPr/>
          <p:nvPr/>
        </p:nvCxnSpPr>
        <p:spPr>
          <a:xfrm>
            <a:off x="1524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3714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5619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Casings</a:t>
            </a:r>
          </a:p>
        </p:txBody>
      </p:sp>
      <p:cxnSp>
        <p:nvCxnSpPr>
          <p:cNvPr id="45" name="Connector 44"/>
          <p:cNvCxnSpPr/>
          <p:nvPr/>
        </p:nvCxnSpPr>
        <p:spPr>
          <a:xfrm>
            <a:off x="1524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20002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390525" y="32061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Premade Pouches &amp; Bags</a:t>
            </a:r>
          </a:p>
        </p:txBody>
      </p:sp>
      <p:cxnSp>
        <p:nvCxnSpPr>
          <p:cNvPr id="48" name="Connector 47"/>
          <p:cNvCxnSpPr/>
          <p:nvPr/>
        </p:nvCxnSpPr>
        <p:spPr>
          <a:xfrm>
            <a:off x="1524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37147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561975" y="33832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Vacuum Pouches</a:t>
            </a:r>
          </a:p>
        </p:txBody>
      </p:sp>
      <p:cxnSp>
        <p:nvCxnSpPr>
          <p:cNvPr id="51" name="Connector 50"/>
          <p:cNvCxnSpPr/>
          <p:nvPr/>
        </p:nvCxnSpPr>
        <p:spPr>
          <a:xfrm>
            <a:off x="1524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3714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3" name="TextBox 52"/>
          <p:cNvSpPr txBox="1"/>
          <p:nvPr/>
        </p:nvSpPr>
        <p:spPr>
          <a:xfrm>
            <a:off x="5619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Bags</a:t>
            </a:r>
          </a:p>
        </p:txBody>
      </p:sp>
      <p:cxnSp>
        <p:nvCxnSpPr>
          <p:cNvPr id="54" name="Connector 53"/>
          <p:cNvCxnSpPr/>
          <p:nvPr/>
        </p:nvCxnSpPr>
        <p:spPr>
          <a:xfrm>
            <a:off x="1524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5" name="TextBox 54"/>
          <p:cNvSpPr txBox="1"/>
          <p:nvPr/>
        </p:nvSpPr>
        <p:spPr>
          <a:xfrm>
            <a:off x="3714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6" name="TextBox 55"/>
          <p:cNvSpPr txBox="1"/>
          <p:nvPr/>
        </p:nvSpPr>
        <p:spPr>
          <a:xfrm>
            <a:off x="561975" y="37376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Stand-Up Pouches</a:t>
            </a:r>
          </a:p>
        </p:txBody>
      </p:sp>
      <p:cxnSp>
        <p:nvCxnSpPr>
          <p:cNvPr id="57" name="Connector 56"/>
          <p:cNvCxnSpPr/>
          <p:nvPr/>
        </p:nvCxnSpPr>
        <p:spPr>
          <a:xfrm>
            <a:off x="1524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3714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9" name="TextBox 58"/>
          <p:cNvSpPr txBox="1"/>
          <p:nvPr/>
        </p:nvSpPr>
        <p:spPr>
          <a:xfrm>
            <a:off x="561975" y="39147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Flat Pouches</a:t>
            </a:r>
          </a:p>
        </p:txBody>
      </p:sp>
      <p:cxnSp>
        <p:nvCxnSpPr>
          <p:cNvPr id="60" name="Connector 59"/>
          <p:cNvCxnSpPr/>
          <p:nvPr/>
        </p:nvCxnSpPr>
        <p:spPr>
          <a:xfrm>
            <a:off x="152400" y="40919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71475" y="40919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2" name="TextBox 61"/>
          <p:cNvSpPr txBox="1"/>
          <p:nvPr/>
        </p:nvSpPr>
        <p:spPr>
          <a:xfrm>
            <a:off x="561975" y="40919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Retort Pouches</a:t>
            </a:r>
          </a:p>
        </p:txBody>
      </p:sp>
      <p:cxnSp>
        <p:nvCxnSpPr>
          <p:cNvPr id="63" name="Connector 62"/>
          <p:cNvCxnSpPr/>
          <p:nvPr/>
        </p:nvCxnSpPr>
        <p:spPr>
          <a:xfrm>
            <a:off x="152400" y="42691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4" name="TextBox 63"/>
          <p:cNvSpPr txBox="1"/>
          <p:nvPr/>
        </p:nvSpPr>
        <p:spPr>
          <a:xfrm>
            <a:off x="200025" y="42691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5" name="TextBox 64"/>
          <p:cNvSpPr txBox="1"/>
          <p:nvPr/>
        </p:nvSpPr>
        <p:spPr>
          <a:xfrm>
            <a:off x="390525" y="426910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Sachets &amp; Stick Packs</a:t>
            </a:r>
          </a:p>
        </p:txBody>
      </p:sp>
      <p:cxnSp>
        <p:nvCxnSpPr>
          <p:cNvPr id="66" name="Connector 65"/>
          <p:cNvCxnSpPr/>
          <p:nvPr/>
        </p:nvCxnSpPr>
        <p:spPr>
          <a:xfrm>
            <a:off x="152400" y="44462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7" name="TextBox 66"/>
          <p:cNvSpPr txBox="1"/>
          <p:nvPr/>
        </p:nvSpPr>
        <p:spPr>
          <a:xfrm>
            <a:off x="371475" y="44462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61975" y="44462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Sachets</a:t>
            </a:r>
          </a:p>
        </p:txBody>
      </p:sp>
      <p:cxnSp>
        <p:nvCxnSpPr>
          <p:cNvPr id="69" name="Connector 68"/>
          <p:cNvCxnSpPr/>
          <p:nvPr/>
        </p:nvCxnSpPr>
        <p:spPr>
          <a:xfrm>
            <a:off x="152400" y="46234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371475" y="46234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61975" y="46234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Stick Packs</a:t>
            </a:r>
          </a:p>
        </p:txBody>
      </p:sp>
      <p:sp>
        <p:nvSpPr>
          <p:cNvPr id="72" name="Rectangle 71"/>
          <p:cNvSpPr/>
          <p:nvPr/>
        </p:nvSpPr>
        <p:spPr>
          <a:xfrm>
            <a:off x="3152775" y="1028700"/>
            <a:ext cx="2876550" cy="23602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3152775" y="1028700"/>
            <a:ext cx="2876550" cy="41148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228975" y="1028700"/>
            <a:ext cx="2724150" cy="411480"/>
          </a:xfrm>
          <a:prstGeom prst="rect">
            <a:avLst/>
          </a:prstGeom>
          <a:noFill/>
        </p:spPr>
        <p:txBody>
          <a:bodyPr wrap="square" lIns="28575" rIns="28575" tIns="9525" bIns="9525" anchor="t">
            <a:spAutoFit/>
          </a:bodyPr>
          <a:lstStyle/>
          <a:p>
            <a:pPr algn="l">
              <a:lnSpc>
                <a:spcPct val="100000"/>
              </a:lnSpc>
            </a:pPr>
            <a:r>
              <a:rPr sz="1100" b="1">
                <a:solidFill>
                  <a:srgbClr val="FFFFFF"/>
                </a:solidFill>
                <a:latin typeface="Calibri"/>
              </a:rPr>
              <a:t>By Principal Material / Barrier Technology</a:t>
            </a:r>
          </a:p>
        </p:txBody>
      </p:sp>
      <p:sp>
        <p:nvSpPr>
          <p:cNvPr id="75" name="TextBox 74"/>
          <p:cNvSpPr txBox="1"/>
          <p:nvPr/>
        </p:nvSpPr>
        <p:spPr>
          <a:xfrm>
            <a:off x="3209925" y="1440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6" name="TextBox 75"/>
          <p:cNvSpPr txBox="1"/>
          <p:nvPr/>
        </p:nvSpPr>
        <p:spPr>
          <a:xfrm>
            <a:off x="3400425" y="144018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cxnSp>
        <p:nvCxnSpPr>
          <p:cNvPr id="77" name="Connector 76"/>
          <p:cNvCxnSpPr/>
          <p:nvPr/>
        </p:nvCxnSpPr>
        <p:spPr>
          <a:xfrm>
            <a:off x="3162300" y="1617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3209925" y="1617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3400425" y="161734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cxnSp>
        <p:nvCxnSpPr>
          <p:cNvPr id="80" name="Connector 79"/>
          <p:cNvCxnSpPr/>
          <p:nvPr/>
        </p:nvCxnSpPr>
        <p:spPr>
          <a:xfrm>
            <a:off x="3162300" y="1794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3209925" y="1794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2" name="TextBox 81"/>
          <p:cNvSpPr txBox="1"/>
          <p:nvPr/>
        </p:nvSpPr>
        <p:spPr>
          <a:xfrm>
            <a:off x="3400425" y="179451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cxnSp>
        <p:nvCxnSpPr>
          <p:cNvPr id="83" name="Connector 82"/>
          <p:cNvCxnSpPr/>
          <p:nvPr/>
        </p:nvCxnSpPr>
        <p:spPr>
          <a:xfrm>
            <a:off x="3162300" y="1971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3209925" y="1971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5" name="TextBox 84"/>
          <p:cNvSpPr txBox="1"/>
          <p:nvPr/>
        </p:nvSpPr>
        <p:spPr>
          <a:xfrm>
            <a:off x="3400425" y="197167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cxnSp>
        <p:nvCxnSpPr>
          <p:cNvPr id="86" name="Connector 85"/>
          <p:cNvCxnSpPr/>
          <p:nvPr/>
        </p:nvCxnSpPr>
        <p:spPr>
          <a:xfrm>
            <a:off x="3162300" y="2148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3209925" y="2148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8" name="TextBox 87"/>
          <p:cNvSpPr txBox="1"/>
          <p:nvPr/>
        </p:nvSpPr>
        <p:spPr>
          <a:xfrm>
            <a:off x="3400425" y="214884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cxnSp>
        <p:nvCxnSpPr>
          <p:cNvPr id="89" name="Connector 88"/>
          <p:cNvCxnSpPr/>
          <p:nvPr/>
        </p:nvCxnSpPr>
        <p:spPr>
          <a:xfrm>
            <a:off x="3162300" y="2326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3209925" y="2326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1" name="TextBox 90"/>
          <p:cNvSpPr txBox="1"/>
          <p:nvPr/>
        </p:nvSpPr>
        <p:spPr>
          <a:xfrm>
            <a:off x="3400425" y="232600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cxnSp>
        <p:nvCxnSpPr>
          <p:cNvPr id="92" name="Connector 91"/>
          <p:cNvCxnSpPr/>
          <p:nvPr/>
        </p:nvCxnSpPr>
        <p:spPr>
          <a:xfrm>
            <a:off x="3162300" y="2503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3" name="TextBox 92"/>
          <p:cNvSpPr txBox="1"/>
          <p:nvPr/>
        </p:nvSpPr>
        <p:spPr>
          <a:xfrm>
            <a:off x="3209925" y="2503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4" name="TextBox 93"/>
          <p:cNvSpPr txBox="1"/>
          <p:nvPr/>
        </p:nvSpPr>
        <p:spPr>
          <a:xfrm>
            <a:off x="3400425" y="250317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cxnSp>
        <p:nvCxnSpPr>
          <p:cNvPr id="95" name="Connector 94"/>
          <p:cNvCxnSpPr/>
          <p:nvPr/>
        </p:nvCxnSpPr>
        <p:spPr>
          <a:xfrm>
            <a:off x="3162300" y="2680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3209925" y="2680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7" name="TextBox 96"/>
          <p:cNvSpPr txBox="1"/>
          <p:nvPr/>
        </p:nvSpPr>
        <p:spPr>
          <a:xfrm>
            <a:off x="3400425" y="268033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cxnSp>
        <p:nvCxnSpPr>
          <p:cNvPr id="98" name="Connector 97"/>
          <p:cNvCxnSpPr/>
          <p:nvPr/>
        </p:nvCxnSpPr>
        <p:spPr>
          <a:xfrm>
            <a:off x="3162300" y="2857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3209925" y="2857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3400425" y="28575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cxnSp>
        <p:nvCxnSpPr>
          <p:cNvPr id="101" name="Connector 100"/>
          <p:cNvCxnSpPr/>
          <p:nvPr/>
        </p:nvCxnSpPr>
        <p:spPr>
          <a:xfrm>
            <a:off x="3162300" y="30346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3209925" y="30346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3" name="TextBox 102"/>
          <p:cNvSpPr txBox="1"/>
          <p:nvPr/>
        </p:nvSpPr>
        <p:spPr>
          <a:xfrm>
            <a:off x="3400425" y="30346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cxnSp>
        <p:nvCxnSpPr>
          <p:cNvPr id="104" name="Connector 103"/>
          <p:cNvCxnSpPr/>
          <p:nvPr/>
        </p:nvCxnSpPr>
        <p:spPr>
          <a:xfrm>
            <a:off x="3162300" y="32118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3209925" y="32118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3400425" y="32118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07" name="Rectangle 106"/>
          <p:cNvSpPr/>
          <p:nvPr/>
        </p:nvSpPr>
        <p:spPr>
          <a:xfrm>
            <a:off x="3152775" y="3503295"/>
            <a:ext cx="2876550" cy="235458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3152775" y="350329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3228975" y="350329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Barrier Level Vs Application</a:t>
            </a:r>
          </a:p>
        </p:txBody>
      </p:sp>
      <p:sp>
        <p:nvSpPr>
          <p:cNvPr id="110" name="TextBox 109"/>
          <p:cNvSpPr txBox="1"/>
          <p:nvPr/>
        </p:nvSpPr>
        <p:spPr>
          <a:xfrm>
            <a:off x="3209925" y="37318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1" name="TextBox 110"/>
          <p:cNvSpPr txBox="1"/>
          <p:nvPr/>
        </p:nvSpPr>
        <p:spPr>
          <a:xfrm>
            <a:off x="3400425" y="37318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Low-Barrier Films</a:t>
            </a:r>
          </a:p>
        </p:txBody>
      </p:sp>
      <p:cxnSp>
        <p:nvCxnSpPr>
          <p:cNvPr id="112" name="Connector 111"/>
          <p:cNvCxnSpPr/>
          <p:nvPr/>
        </p:nvCxnSpPr>
        <p:spPr>
          <a:xfrm>
            <a:off x="3162300" y="39090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3" name="TextBox 112"/>
          <p:cNvSpPr txBox="1"/>
          <p:nvPr/>
        </p:nvSpPr>
        <p:spPr>
          <a:xfrm>
            <a:off x="3381375" y="39090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4" name="TextBox 113"/>
          <p:cNvSpPr txBox="1"/>
          <p:nvPr/>
        </p:nvSpPr>
        <p:spPr>
          <a:xfrm>
            <a:off x="3571875" y="39090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15" name="Connector 114"/>
          <p:cNvCxnSpPr/>
          <p:nvPr/>
        </p:nvCxnSpPr>
        <p:spPr>
          <a:xfrm>
            <a:off x="3162300" y="40862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3381375" y="40862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3571875" y="40862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18" name="Connector 117"/>
          <p:cNvCxnSpPr/>
          <p:nvPr/>
        </p:nvCxnSpPr>
        <p:spPr>
          <a:xfrm>
            <a:off x="3162300" y="42633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9" name="TextBox 118"/>
          <p:cNvSpPr txBox="1"/>
          <p:nvPr/>
        </p:nvSpPr>
        <p:spPr>
          <a:xfrm>
            <a:off x="3209925" y="42633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0" name="TextBox 119"/>
          <p:cNvSpPr txBox="1"/>
          <p:nvPr/>
        </p:nvSpPr>
        <p:spPr>
          <a:xfrm>
            <a:off x="3400425" y="42633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Medium-Barrier Films</a:t>
            </a:r>
          </a:p>
        </p:txBody>
      </p:sp>
      <p:cxnSp>
        <p:nvCxnSpPr>
          <p:cNvPr id="121" name="Connector 120"/>
          <p:cNvCxnSpPr/>
          <p:nvPr/>
        </p:nvCxnSpPr>
        <p:spPr>
          <a:xfrm>
            <a:off x="3162300" y="44405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2" name="TextBox 121"/>
          <p:cNvSpPr txBox="1"/>
          <p:nvPr/>
        </p:nvSpPr>
        <p:spPr>
          <a:xfrm>
            <a:off x="3381375" y="44405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3" name="TextBox 122"/>
          <p:cNvSpPr txBox="1"/>
          <p:nvPr/>
        </p:nvSpPr>
        <p:spPr>
          <a:xfrm>
            <a:off x="3571875" y="44405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24" name="Connector 123"/>
          <p:cNvCxnSpPr/>
          <p:nvPr/>
        </p:nvCxnSpPr>
        <p:spPr>
          <a:xfrm>
            <a:off x="3162300" y="46177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5" name="TextBox 124"/>
          <p:cNvSpPr txBox="1"/>
          <p:nvPr/>
        </p:nvSpPr>
        <p:spPr>
          <a:xfrm>
            <a:off x="3381375" y="46177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6" name="TextBox 125"/>
          <p:cNvSpPr txBox="1"/>
          <p:nvPr/>
        </p:nvSpPr>
        <p:spPr>
          <a:xfrm>
            <a:off x="3571875" y="46177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27" name="Connector 126"/>
          <p:cNvCxnSpPr/>
          <p:nvPr/>
        </p:nvCxnSpPr>
        <p:spPr>
          <a:xfrm>
            <a:off x="3162300" y="47948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8" name="TextBox 127"/>
          <p:cNvSpPr txBox="1"/>
          <p:nvPr/>
        </p:nvSpPr>
        <p:spPr>
          <a:xfrm>
            <a:off x="3209925" y="47948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9" name="TextBox 128"/>
          <p:cNvSpPr txBox="1"/>
          <p:nvPr/>
        </p:nvSpPr>
        <p:spPr>
          <a:xfrm>
            <a:off x="3400425" y="47948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High-Barrier Films</a:t>
            </a:r>
          </a:p>
        </p:txBody>
      </p:sp>
      <p:cxnSp>
        <p:nvCxnSpPr>
          <p:cNvPr id="130" name="Connector 129"/>
          <p:cNvCxnSpPr/>
          <p:nvPr/>
        </p:nvCxnSpPr>
        <p:spPr>
          <a:xfrm>
            <a:off x="3162300" y="49720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3381375" y="49720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2" name="TextBox 131"/>
          <p:cNvSpPr txBox="1"/>
          <p:nvPr/>
        </p:nvSpPr>
        <p:spPr>
          <a:xfrm>
            <a:off x="3571875" y="49720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33" name="Connector 132"/>
          <p:cNvCxnSpPr/>
          <p:nvPr/>
        </p:nvCxnSpPr>
        <p:spPr>
          <a:xfrm>
            <a:off x="3162300" y="51492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4" name="TextBox 133"/>
          <p:cNvSpPr txBox="1"/>
          <p:nvPr/>
        </p:nvSpPr>
        <p:spPr>
          <a:xfrm>
            <a:off x="3381375" y="51492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5" name="TextBox 134"/>
          <p:cNvSpPr txBox="1"/>
          <p:nvPr/>
        </p:nvSpPr>
        <p:spPr>
          <a:xfrm>
            <a:off x="3571875" y="51492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36" name="Connector 135"/>
          <p:cNvCxnSpPr/>
          <p:nvPr/>
        </p:nvCxnSpPr>
        <p:spPr>
          <a:xfrm>
            <a:off x="3162300" y="53263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7" name="TextBox 136"/>
          <p:cNvSpPr txBox="1"/>
          <p:nvPr/>
        </p:nvSpPr>
        <p:spPr>
          <a:xfrm>
            <a:off x="3209925" y="53263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8" name="TextBox 137"/>
          <p:cNvSpPr txBox="1"/>
          <p:nvPr/>
        </p:nvSpPr>
        <p:spPr>
          <a:xfrm>
            <a:off x="3400425" y="53263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Ultra-High-Barrier Films</a:t>
            </a:r>
          </a:p>
        </p:txBody>
      </p:sp>
      <p:cxnSp>
        <p:nvCxnSpPr>
          <p:cNvPr id="139" name="Connector 138"/>
          <p:cNvCxnSpPr/>
          <p:nvPr/>
        </p:nvCxnSpPr>
        <p:spPr>
          <a:xfrm>
            <a:off x="3162300" y="55035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0" name="TextBox 139"/>
          <p:cNvSpPr txBox="1"/>
          <p:nvPr/>
        </p:nvSpPr>
        <p:spPr>
          <a:xfrm>
            <a:off x="3381375" y="55035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1" name="TextBox 140"/>
          <p:cNvSpPr txBox="1"/>
          <p:nvPr/>
        </p:nvSpPr>
        <p:spPr>
          <a:xfrm>
            <a:off x="3571875" y="55035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42" name="Connector 141"/>
          <p:cNvCxnSpPr/>
          <p:nvPr/>
        </p:nvCxnSpPr>
        <p:spPr>
          <a:xfrm>
            <a:off x="3162300" y="56807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3" name="TextBox 142"/>
          <p:cNvSpPr txBox="1"/>
          <p:nvPr/>
        </p:nvSpPr>
        <p:spPr>
          <a:xfrm>
            <a:off x="3381375" y="56807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4" name="TextBox 143"/>
          <p:cNvSpPr txBox="1"/>
          <p:nvPr/>
        </p:nvSpPr>
        <p:spPr>
          <a:xfrm>
            <a:off x="3571875" y="56807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45" name="Rectangle 144"/>
          <p:cNvSpPr/>
          <p:nvPr/>
        </p:nvSpPr>
        <p:spPr>
          <a:xfrm>
            <a:off x="6162675" y="1028700"/>
            <a:ext cx="2876550" cy="306324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Material Structure</a:t>
            </a:r>
          </a:p>
        </p:txBody>
      </p:sp>
      <p:sp>
        <p:nvSpPr>
          <p:cNvPr id="148" name="TextBox 147"/>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9" name="TextBox 148"/>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Monolayer Films</a:t>
            </a:r>
          </a:p>
        </p:txBody>
      </p:sp>
      <p:cxnSp>
        <p:nvCxnSpPr>
          <p:cNvPr id="150" name="Connector 149"/>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1" name="TextBox 150"/>
          <p:cNvSpPr txBox="1"/>
          <p:nvPr/>
        </p:nvSpPr>
        <p:spPr>
          <a:xfrm>
            <a:off x="62198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2" name="TextBox 151"/>
          <p:cNvSpPr txBox="1"/>
          <p:nvPr/>
        </p:nvSpPr>
        <p:spPr>
          <a:xfrm>
            <a:off x="6410325" y="143446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Coextruded Multilayer Films</a:t>
            </a:r>
          </a:p>
        </p:txBody>
      </p:sp>
      <p:cxnSp>
        <p:nvCxnSpPr>
          <p:cNvPr id="153" name="Connector 152"/>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4" name="TextBox 153"/>
          <p:cNvSpPr txBox="1"/>
          <p:nvPr/>
        </p:nvSpPr>
        <p:spPr>
          <a:xfrm>
            <a:off x="63912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5" name="TextBox 154"/>
          <p:cNvSpPr txBox="1"/>
          <p:nvPr/>
        </p:nvSpPr>
        <p:spPr>
          <a:xfrm>
            <a:off x="65817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3–5 Layer</a:t>
            </a:r>
          </a:p>
        </p:txBody>
      </p:sp>
      <p:cxnSp>
        <p:nvCxnSpPr>
          <p:cNvPr id="156" name="Connector 155"/>
          <p:cNvCxnSpPr/>
          <p:nvPr/>
        </p:nvCxnSpPr>
        <p:spPr>
          <a:xfrm>
            <a:off x="61722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7" name="TextBox 156"/>
          <p:cNvSpPr txBox="1"/>
          <p:nvPr/>
        </p:nvSpPr>
        <p:spPr>
          <a:xfrm>
            <a:off x="63912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8" name="TextBox 157"/>
          <p:cNvSpPr txBox="1"/>
          <p:nvPr/>
        </p:nvSpPr>
        <p:spPr>
          <a:xfrm>
            <a:off x="65817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7 Layer</a:t>
            </a:r>
          </a:p>
        </p:txBody>
      </p:sp>
      <p:cxnSp>
        <p:nvCxnSpPr>
          <p:cNvPr id="159" name="Connector 158"/>
          <p:cNvCxnSpPr/>
          <p:nvPr/>
        </p:nvCxnSpPr>
        <p:spPr>
          <a:xfrm>
            <a:off x="61722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0" name="TextBox 159"/>
          <p:cNvSpPr txBox="1"/>
          <p:nvPr/>
        </p:nvSpPr>
        <p:spPr>
          <a:xfrm>
            <a:off x="63912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1" name="TextBox 160"/>
          <p:cNvSpPr txBox="1"/>
          <p:nvPr/>
        </p:nvSpPr>
        <p:spPr>
          <a:xfrm>
            <a:off x="65817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9 Layer and Above</a:t>
            </a:r>
          </a:p>
        </p:txBody>
      </p:sp>
      <p:cxnSp>
        <p:nvCxnSpPr>
          <p:cNvPr id="162" name="Connector 161"/>
          <p:cNvCxnSpPr/>
          <p:nvPr/>
        </p:nvCxnSpPr>
        <p:spPr>
          <a:xfrm>
            <a:off x="61722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3" name="TextBox 162"/>
          <p:cNvSpPr txBox="1"/>
          <p:nvPr/>
        </p:nvSpPr>
        <p:spPr>
          <a:xfrm>
            <a:off x="621982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4" name="TextBox 163"/>
          <p:cNvSpPr txBox="1"/>
          <p:nvPr/>
        </p:nvSpPr>
        <p:spPr>
          <a:xfrm>
            <a:off x="6410325" y="214312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Laminated Films</a:t>
            </a:r>
          </a:p>
        </p:txBody>
      </p:sp>
      <p:cxnSp>
        <p:nvCxnSpPr>
          <p:cNvPr id="165" name="Connector 164"/>
          <p:cNvCxnSpPr/>
          <p:nvPr/>
        </p:nvCxnSpPr>
        <p:spPr>
          <a:xfrm>
            <a:off x="61722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6" name="TextBox 165"/>
          <p:cNvSpPr txBox="1"/>
          <p:nvPr/>
        </p:nvSpPr>
        <p:spPr>
          <a:xfrm>
            <a:off x="63912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7" name="TextBox 166"/>
          <p:cNvSpPr txBox="1"/>
          <p:nvPr/>
        </p:nvSpPr>
        <p:spPr>
          <a:xfrm>
            <a:off x="65817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Duplex</a:t>
            </a:r>
          </a:p>
        </p:txBody>
      </p:sp>
      <p:cxnSp>
        <p:nvCxnSpPr>
          <p:cNvPr id="168" name="Connector 167"/>
          <p:cNvCxnSpPr/>
          <p:nvPr/>
        </p:nvCxnSpPr>
        <p:spPr>
          <a:xfrm>
            <a:off x="61722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9" name="TextBox 168"/>
          <p:cNvSpPr txBox="1"/>
          <p:nvPr/>
        </p:nvSpPr>
        <p:spPr>
          <a:xfrm>
            <a:off x="63912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0" name="TextBox 169"/>
          <p:cNvSpPr txBox="1"/>
          <p:nvPr/>
        </p:nvSpPr>
        <p:spPr>
          <a:xfrm>
            <a:off x="65817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Triplex</a:t>
            </a:r>
          </a:p>
        </p:txBody>
      </p:sp>
      <p:cxnSp>
        <p:nvCxnSpPr>
          <p:cNvPr id="171" name="Connector 170"/>
          <p:cNvCxnSpPr/>
          <p:nvPr/>
        </p:nvCxnSpPr>
        <p:spPr>
          <a:xfrm>
            <a:off x="61722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2" name="TextBox 171"/>
          <p:cNvSpPr txBox="1"/>
          <p:nvPr/>
        </p:nvSpPr>
        <p:spPr>
          <a:xfrm>
            <a:off x="63912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3" name="TextBox 172"/>
          <p:cNvSpPr txBox="1"/>
          <p:nvPr/>
        </p:nvSpPr>
        <p:spPr>
          <a:xfrm>
            <a:off x="65817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Multi-Ply</a:t>
            </a:r>
          </a:p>
        </p:txBody>
      </p:sp>
      <p:cxnSp>
        <p:nvCxnSpPr>
          <p:cNvPr id="174" name="Connector 173"/>
          <p:cNvCxnSpPr/>
          <p:nvPr/>
        </p:nvCxnSpPr>
        <p:spPr>
          <a:xfrm>
            <a:off x="61722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5" name="TextBox 174"/>
          <p:cNvSpPr txBox="1"/>
          <p:nvPr/>
        </p:nvSpPr>
        <p:spPr>
          <a:xfrm>
            <a:off x="621982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6" name="TextBox 175"/>
          <p:cNvSpPr txBox="1"/>
          <p:nvPr/>
        </p:nvSpPr>
        <p:spPr>
          <a:xfrm>
            <a:off x="6410325" y="28517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Coated Films</a:t>
            </a:r>
          </a:p>
        </p:txBody>
      </p:sp>
      <p:cxnSp>
        <p:nvCxnSpPr>
          <p:cNvPr id="177" name="Connector 176"/>
          <p:cNvCxnSpPr/>
          <p:nvPr/>
        </p:nvCxnSpPr>
        <p:spPr>
          <a:xfrm>
            <a:off x="61722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8" name="TextBox 177"/>
          <p:cNvSpPr txBox="1"/>
          <p:nvPr/>
        </p:nvSpPr>
        <p:spPr>
          <a:xfrm>
            <a:off x="621982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9" name="TextBox 178"/>
          <p:cNvSpPr txBox="1"/>
          <p:nvPr/>
        </p:nvSpPr>
        <p:spPr>
          <a:xfrm>
            <a:off x="6410325" y="30289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Metallized Films</a:t>
            </a:r>
          </a:p>
        </p:txBody>
      </p:sp>
      <p:cxnSp>
        <p:nvCxnSpPr>
          <p:cNvPr id="180" name="Connector 179"/>
          <p:cNvCxnSpPr/>
          <p:nvPr/>
        </p:nvCxnSpPr>
        <p:spPr>
          <a:xfrm>
            <a:off x="61722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1" name="TextBox 180"/>
          <p:cNvSpPr txBox="1"/>
          <p:nvPr/>
        </p:nvSpPr>
        <p:spPr>
          <a:xfrm>
            <a:off x="621982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2" name="TextBox 181"/>
          <p:cNvSpPr txBox="1"/>
          <p:nvPr/>
        </p:nvSpPr>
        <p:spPr>
          <a:xfrm>
            <a:off x="6410325" y="32061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Foil-Laminated Structures</a:t>
            </a:r>
          </a:p>
        </p:txBody>
      </p:sp>
      <p:cxnSp>
        <p:nvCxnSpPr>
          <p:cNvPr id="183" name="Connector 182"/>
          <p:cNvCxnSpPr/>
          <p:nvPr/>
        </p:nvCxnSpPr>
        <p:spPr>
          <a:xfrm>
            <a:off x="61722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4" name="TextBox 183"/>
          <p:cNvSpPr txBox="1"/>
          <p:nvPr/>
        </p:nvSpPr>
        <p:spPr>
          <a:xfrm>
            <a:off x="621982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5" name="TextBox 184"/>
          <p:cNvSpPr txBox="1"/>
          <p:nvPr/>
        </p:nvSpPr>
        <p:spPr>
          <a:xfrm>
            <a:off x="6410325" y="33832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Mono-Material Recyclable Structures</a:t>
            </a:r>
          </a:p>
        </p:txBody>
      </p:sp>
      <p:cxnSp>
        <p:nvCxnSpPr>
          <p:cNvPr id="186" name="Connector 185"/>
          <p:cNvCxnSpPr/>
          <p:nvPr/>
        </p:nvCxnSpPr>
        <p:spPr>
          <a:xfrm>
            <a:off x="61722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7" name="TextBox 186"/>
          <p:cNvSpPr txBox="1"/>
          <p:nvPr/>
        </p:nvSpPr>
        <p:spPr>
          <a:xfrm>
            <a:off x="63912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8" name="TextBox 187"/>
          <p:cNvSpPr txBox="1"/>
          <p:nvPr/>
        </p:nvSpPr>
        <p:spPr>
          <a:xfrm>
            <a:off x="65817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cxnSp>
        <p:nvCxnSpPr>
          <p:cNvPr id="189" name="Connector 188"/>
          <p:cNvCxnSpPr/>
          <p:nvPr/>
        </p:nvCxnSpPr>
        <p:spPr>
          <a:xfrm>
            <a:off x="61722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0" name="TextBox 189"/>
          <p:cNvSpPr txBox="1"/>
          <p:nvPr/>
        </p:nvSpPr>
        <p:spPr>
          <a:xfrm>
            <a:off x="63912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1" name="TextBox 190"/>
          <p:cNvSpPr txBox="1"/>
          <p:nvPr/>
        </p:nvSpPr>
        <p:spPr>
          <a:xfrm>
            <a:off x="6581775" y="37376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cxnSp>
        <p:nvCxnSpPr>
          <p:cNvPr id="192" name="Connector 191"/>
          <p:cNvCxnSpPr/>
          <p:nvPr/>
        </p:nvCxnSpPr>
        <p:spPr>
          <a:xfrm>
            <a:off x="61722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3" name="TextBox 192"/>
          <p:cNvSpPr txBox="1"/>
          <p:nvPr/>
        </p:nvSpPr>
        <p:spPr>
          <a:xfrm>
            <a:off x="63912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4" name="TextBox 193"/>
          <p:cNvSpPr txBox="1"/>
          <p:nvPr/>
        </p:nvSpPr>
        <p:spPr>
          <a:xfrm>
            <a:off x="6581775" y="39147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195" name="Rectangle 194"/>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TextBox 196"/>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Barrier Level</a:t>
            </a:r>
          </a:p>
        </p:txBody>
      </p:sp>
      <p:sp>
        <p:nvSpPr>
          <p:cNvPr id="198" name="TextBox 197"/>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9" name="TextBox 198"/>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cxnSp>
        <p:nvCxnSpPr>
          <p:cNvPr id="200" name="Connector 199"/>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1" name="TextBox 200"/>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2" name="TextBox 201"/>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cxnSp>
        <p:nvCxnSpPr>
          <p:cNvPr id="203" name="Connector 202"/>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4" name="TextBox 203"/>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5" name="TextBox 204"/>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cxnSp>
        <p:nvCxnSpPr>
          <p:cNvPr id="206" name="Connector 205"/>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7" name="TextBox 206"/>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8" name="TextBox 207"/>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209" name="Rectangle 208"/>
          <p:cNvSpPr/>
          <p:nvPr/>
        </p:nvSpPr>
        <p:spPr>
          <a:xfrm>
            <a:off x="9172575" y="2080260"/>
            <a:ext cx="2876550" cy="341757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91725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92487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Application</a:t>
            </a:r>
          </a:p>
        </p:txBody>
      </p:sp>
      <p:sp>
        <p:nvSpPr>
          <p:cNvPr id="212" name="TextBox 211"/>
          <p:cNvSpPr txBox="1"/>
          <p:nvPr/>
        </p:nvSpPr>
        <p:spPr>
          <a:xfrm>
            <a:off x="92297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3" name="TextBox 212"/>
          <p:cNvSpPr txBox="1"/>
          <p:nvPr/>
        </p:nvSpPr>
        <p:spPr>
          <a:xfrm>
            <a:off x="9420225" y="23088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Food Packaging</a:t>
            </a:r>
          </a:p>
        </p:txBody>
      </p:sp>
      <p:cxnSp>
        <p:nvCxnSpPr>
          <p:cNvPr id="214" name="Connector 213"/>
          <p:cNvCxnSpPr/>
          <p:nvPr/>
        </p:nvCxnSpPr>
        <p:spPr>
          <a:xfrm>
            <a:off x="91821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5" name="TextBox 214"/>
          <p:cNvSpPr txBox="1"/>
          <p:nvPr/>
        </p:nvSpPr>
        <p:spPr>
          <a:xfrm>
            <a:off x="940117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6" name="TextBox 215"/>
          <p:cNvSpPr txBox="1"/>
          <p:nvPr/>
        </p:nvSpPr>
        <p:spPr>
          <a:xfrm>
            <a:off x="9591675" y="24860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Meat and Processed Meat</a:t>
            </a:r>
          </a:p>
        </p:txBody>
      </p:sp>
      <p:cxnSp>
        <p:nvCxnSpPr>
          <p:cNvPr id="217" name="Connector 216"/>
          <p:cNvCxnSpPr/>
          <p:nvPr/>
        </p:nvCxnSpPr>
        <p:spPr>
          <a:xfrm>
            <a:off x="91821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8" name="TextBox 217"/>
          <p:cNvSpPr txBox="1"/>
          <p:nvPr/>
        </p:nvSpPr>
        <p:spPr>
          <a:xfrm>
            <a:off x="940117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9" name="TextBox 218"/>
          <p:cNvSpPr txBox="1"/>
          <p:nvPr/>
        </p:nvSpPr>
        <p:spPr>
          <a:xfrm>
            <a:off x="9591675" y="26631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Poultry</a:t>
            </a:r>
          </a:p>
        </p:txBody>
      </p:sp>
      <p:cxnSp>
        <p:nvCxnSpPr>
          <p:cNvPr id="220" name="Connector 219"/>
          <p:cNvCxnSpPr/>
          <p:nvPr/>
        </p:nvCxnSpPr>
        <p:spPr>
          <a:xfrm>
            <a:off x="91821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1" name="TextBox 220"/>
          <p:cNvSpPr txBox="1"/>
          <p:nvPr/>
        </p:nvSpPr>
        <p:spPr>
          <a:xfrm>
            <a:off x="940117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2" name="TextBox 221"/>
          <p:cNvSpPr txBox="1"/>
          <p:nvPr/>
        </p:nvSpPr>
        <p:spPr>
          <a:xfrm>
            <a:off x="9591675" y="28403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Fish and Seafood</a:t>
            </a:r>
          </a:p>
        </p:txBody>
      </p:sp>
      <p:cxnSp>
        <p:nvCxnSpPr>
          <p:cNvPr id="223" name="Connector 222"/>
          <p:cNvCxnSpPr/>
          <p:nvPr/>
        </p:nvCxnSpPr>
        <p:spPr>
          <a:xfrm>
            <a:off x="91821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4" name="TextBox 223"/>
          <p:cNvSpPr txBox="1"/>
          <p:nvPr/>
        </p:nvSpPr>
        <p:spPr>
          <a:xfrm>
            <a:off x="940117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5" name="TextBox 224"/>
          <p:cNvSpPr txBox="1"/>
          <p:nvPr/>
        </p:nvSpPr>
        <p:spPr>
          <a:xfrm>
            <a:off x="9591675" y="30175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Dairy and Cheese</a:t>
            </a:r>
          </a:p>
        </p:txBody>
      </p:sp>
      <p:cxnSp>
        <p:nvCxnSpPr>
          <p:cNvPr id="226" name="Connector 225"/>
          <p:cNvCxnSpPr/>
          <p:nvPr/>
        </p:nvCxnSpPr>
        <p:spPr>
          <a:xfrm>
            <a:off x="91821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7" name="TextBox 226"/>
          <p:cNvSpPr txBox="1"/>
          <p:nvPr/>
        </p:nvSpPr>
        <p:spPr>
          <a:xfrm>
            <a:off x="940117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8" name="TextBox 227"/>
          <p:cNvSpPr txBox="1"/>
          <p:nvPr/>
        </p:nvSpPr>
        <p:spPr>
          <a:xfrm>
            <a:off x="9591675" y="31946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Ready Meals and Prepared Foods</a:t>
            </a:r>
          </a:p>
        </p:txBody>
      </p:sp>
      <p:cxnSp>
        <p:nvCxnSpPr>
          <p:cNvPr id="229" name="Connector 228"/>
          <p:cNvCxnSpPr/>
          <p:nvPr/>
        </p:nvCxnSpPr>
        <p:spPr>
          <a:xfrm>
            <a:off x="91821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0" name="TextBox 229"/>
          <p:cNvSpPr txBox="1"/>
          <p:nvPr/>
        </p:nvSpPr>
        <p:spPr>
          <a:xfrm>
            <a:off x="940117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1" name="TextBox 230"/>
          <p:cNvSpPr txBox="1"/>
          <p:nvPr/>
        </p:nvSpPr>
        <p:spPr>
          <a:xfrm>
            <a:off x="9591675" y="33718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Bakery, Confectionery and Snacks</a:t>
            </a:r>
          </a:p>
        </p:txBody>
      </p:sp>
      <p:cxnSp>
        <p:nvCxnSpPr>
          <p:cNvPr id="232" name="Connector 231"/>
          <p:cNvCxnSpPr/>
          <p:nvPr/>
        </p:nvCxnSpPr>
        <p:spPr>
          <a:xfrm>
            <a:off x="9182100" y="35490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3" name="TextBox 232"/>
          <p:cNvSpPr txBox="1"/>
          <p:nvPr/>
        </p:nvSpPr>
        <p:spPr>
          <a:xfrm>
            <a:off x="940117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4" name="TextBox 233"/>
          <p:cNvSpPr txBox="1"/>
          <p:nvPr/>
        </p:nvSpPr>
        <p:spPr>
          <a:xfrm>
            <a:off x="9591675" y="35490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Dry Foods and Powders</a:t>
            </a:r>
          </a:p>
        </p:txBody>
      </p:sp>
      <p:cxnSp>
        <p:nvCxnSpPr>
          <p:cNvPr id="235" name="Connector 234"/>
          <p:cNvCxnSpPr/>
          <p:nvPr/>
        </p:nvCxnSpPr>
        <p:spPr>
          <a:xfrm>
            <a:off x="9182100" y="37261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6" name="TextBox 235"/>
          <p:cNvSpPr txBox="1"/>
          <p:nvPr/>
        </p:nvSpPr>
        <p:spPr>
          <a:xfrm>
            <a:off x="9401175" y="3726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7" name="TextBox 236"/>
          <p:cNvSpPr txBox="1"/>
          <p:nvPr/>
        </p:nvSpPr>
        <p:spPr>
          <a:xfrm>
            <a:off x="9591675" y="37261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Pet Food</a:t>
            </a:r>
          </a:p>
        </p:txBody>
      </p:sp>
      <p:cxnSp>
        <p:nvCxnSpPr>
          <p:cNvPr id="238" name="Connector 237"/>
          <p:cNvCxnSpPr/>
          <p:nvPr/>
        </p:nvCxnSpPr>
        <p:spPr>
          <a:xfrm>
            <a:off x="91821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9" name="TextBox 238"/>
          <p:cNvSpPr txBox="1"/>
          <p:nvPr/>
        </p:nvSpPr>
        <p:spPr>
          <a:xfrm>
            <a:off x="940117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0" name="TextBox 239"/>
          <p:cNvSpPr txBox="1"/>
          <p:nvPr/>
        </p:nvSpPr>
        <p:spPr>
          <a:xfrm>
            <a:off x="9591675" y="3903345"/>
            <a:ext cx="2419350" cy="531495"/>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Other Food Products (Fresh Produce, Plant-Based Foods, Condiments and Dressings, Foodservice Products)</a:t>
            </a:r>
          </a:p>
        </p:txBody>
      </p:sp>
      <p:cxnSp>
        <p:nvCxnSpPr>
          <p:cNvPr id="241" name="Connector 240"/>
          <p:cNvCxnSpPr/>
          <p:nvPr/>
        </p:nvCxnSpPr>
        <p:spPr>
          <a:xfrm>
            <a:off x="91821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2" name="TextBox 241"/>
          <p:cNvSpPr txBox="1"/>
          <p:nvPr/>
        </p:nvSpPr>
        <p:spPr>
          <a:xfrm>
            <a:off x="922972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3" name="TextBox 242"/>
          <p:cNvSpPr txBox="1"/>
          <p:nvPr/>
        </p:nvSpPr>
        <p:spPr>
          <a:xfrm>
            <a:off x="9420225" y="443484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Non-Food Packaging</a:t>
            </a:r>
          </a:p>
        </p:txBody>
      </p:sp>
      <p:cxnSp>
        <p:nvCxnSpPr>
          <p:cNvPr id="244" name="Connector 243"/>
          <p:cNvCxnSpPr/>
          <p:nvPr/>
        </p:nvCxnSpPr>
        <p:spPr>
          <a:xfrm>
            <a:off x="9182100" y="4612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5" name="TextBox 244"/>
          <p:cNvSpPr txBox="1"/>
          <p:nvPr/>
        </p:nvSpPr>
        <p:spPr>
          <a:xfrm>
            <a:off x="9401175" y="4612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6" name="TextBox 245"/>
          <p:cNvSpPr txBox="1"/>
          <p:nvPr/>
        </p:nvSpPr>
        <p:spPr>
          <a:xfrm>
            <a:off x="9591675" y="4612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Pharmaceutical and Healthcare</a:t>
            </a:r>
          </a:p>
        </p:txBody>
      </p:sp>
      <p:cxnSp>
        <p:nvCxnSpPr>
          <p:cNvPr id="247" name="Connector 246"/>
          <p:cNvCxnSpPr/>
          <p:nvPr/>
        </p:nvCxnSpPr>
        <p:spPr>
          <a:xfrm>
            <a:off x="9182100" y="4789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8" name="TextBox 247"/>
          <p:cNvSpPr txBox="1"/>
          <p:nvPr/>
        </p:nvSpPr>
        <p:spPr>
          <a:xfrm>
            <a:off x="9401175" y="4789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9" name="TextBox 248"/>
          <p:cNvSpPr txBox="1"/>
          <p:nvPr/>
        </p:nvSpPr>
        <p:spPr>
          <a:xfrm>
            <a:off x="9591675" y="47891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Personal Care and Cosmetics</a:t>
            </a:r>
          </a:p>
        </p:txBody>
      </p:sp>
      <p:cxnSp>
        <p:nvCxnSpPr>
          <p:cNvPr id="250" name="Connector 249"/>
          <p:cNvCxnSpPr/>
          <p:nvPr/>
        </p:nvCxnSpPr>
        <p:spPr>
          <a:xfrm>
            <a:off x="9182100" y="4966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1" name="TextBox 250"/>
          <p:cNvSpPr txBox="1"/>
          <p:nvPr/>
        </p:nvSpPr>
        <p:spPr>
          <a:xfrm>
            <a:off x="9401175" y="4966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2" name="TextBox 251"/>
          <p:cNvSpPr txBox="1"/>
          <p:nvPr/>
        </p:nvSpPr>
        <p:spPr>
          <a:xfrm>
            <a:off x="9591675" y="49663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Household Care</a:t>
            </a:r>
          </a:p>
        </p:txBody>
      </p:sp>
      <p:cxnSp>
        <p:nvCxnSpPr>
          <p:cNvPr id="253" name="Connector 252"/>
          <p:cNvCxnSpPr/>
          <p:nvPr/>
        </p:nvCxnSpPr>
        <p:spPr>
          <a:xfrm>
            <a:off x="9182100" y="5143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4" name="TextBox 253"/>
          <p:cNvSpPr txBox="1"/>
          <p:nvPr/>
        </p:nvSpPr>
        <p:spPr>
          <a:xfrm>
            <a:off x="9401175" y="5143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5" name="TextBox 254"/>
          <p:cNvSpPr txBox="1"/>
          <p:nvPr/>
        </p:nvSpPr>
        <p:spPr>
          <a:xfrm>
            <a:off x="9591675" y="51435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Chemicals and Agrochemicals</a:t>
            </a:r>
          </a:p>
        </p:txBody>
      </p:sp>
      <p:cxnSp>
        <p:nvCxnSpPr>
          <p:cNvPr id="256" name="Connector 255"/>
          <p:cNvCxnSpPr/>
          <p:nvPr/>
        </p:nvCxnSpPr>
        <p:spPr>
          <a:xfrm>
            <a:off x="9182100" y="53206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7" name="TextBox 256"/>
          <p:cNvSpPr txBox="1"/>
          <p:nvPr/>
        </p:nvSpPr>
        <p:spPr>
          <a:xfrm>
            <a:off x="9401175" y="53206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8" name="TextBox 257"/>
          <p:cNvSpPr txBox="1"/>
          <p:nvPr/>
        </p:nvSpPr>
        <p:spPr>
          <a:xfrm>
            <a:off x="9591675" y="53206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Electronics and Technical Products</a:t>
            </a:r>
          </a:p>
        </p:txBody>
      </p:sp>
      <p:sp>
        <p:nvSpPr>
          <p:cNvPr id="259" name="TextBox 2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Flexible Plastic Packaging Market profiled and benchmarked in the Competition Assessment section.</a:t>
            </a:r>
          </a:p>
        </p:txBody>
      </p:sp>
      <p:sp>
        <p:nvSpPr>
          <p:cNvPr id="11" name="Rectangle 10"/>
          <p:cNvSpPr/>
          <p:nvPr/>
        </p:nvSpPr>
        <p:spPr>
          <a:xfrm>
            <a:off x="142875"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A</a:t>
            </a:r>
          </a:p>
        </p:txBody>
      </p:sp>
      <p:sp>
        <p:nvSpPr>
          <p:cNvPr id="16" name="Rectangle 15"/>
          <p:cNvSpPr/>
          <p:nvPr/>
        </p:nvSpPr>
        <p:spPr>
          <a:xfrm>
            <a:off x="152400"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B</a:t>
            </a:r>
          </a:p>
        </p:txBody>
      </p:sp>
      <p:cxnSp>
        <p:nvCxnSpPr>
          <p:cNvPr id="20" name="Connector 19"/>
          <p:cNvCxnSpPr/>
          <p:nvPr/>
        </p:nvCxnSpPr>
        <p:spPr>
          <a:xfrm>
            <a:off x="152400"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C</a:t>
            </a:r>
          </a:p>
        </p:txBody>
      </p:sp>
      <p:sp>
        <p:nvSpPr>
          <p:cNvPr id="23" name="Rectangle 22"/>
          <p:cNvSpPr/>
          <p:nvPr/>
        </p:nvSpPr>
        <p:spPr>
          <a:xfrm>
            <a:off x="152400"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D</a:t>
            </a:r>
          </a:p>
        </p:txBody>
      </p:sp>
      <p:sp>
        <p:nvSpPr>
          <p:cNvPr id="27" name="Rectangle 26"/>
          <p:cNvSpPr/>
          <p:nvPr/>
        </p:nvSpPr>
        <p:spPr>
          <a:xfrm>
            <a:off x="6191250"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191250"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191250"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30" name="TextBox 29"/>
          <p:cNvSpPr txBox="1"/>
          <p:nvPr/>
        </p:nvSpPr>
        <p:spPr>
          <a:xfrm>
            <a:off x="6381750"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1" name="TextBox 30"/>
          <p:cNvSpPr txBox="1"/>
          <p:nvPr/>
        </p:nvSpPr>
        <p:spPr>
          <a:xfrm>
            <a:off x="6629400"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E</a:t>
            </a:r>
          </a:p>
        </p:txBody>
      </p:sp>
      <p:sp>
        <p:nvSpPr>
          <p:cNvPr id="32" name="Rectangle 31"/>
          <p:cNvSpPr/>
          <p:nvPr/>
        </p:nvSpPr>
        <p:spPr>
          <a:xfrm>
            <a:off x="6200775"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3" name="Connector 32"/>
          <p:cNvCxnSpPr/>
          <p:nvPr/>
        </p:nvCxnSpPr>
        <p:spPr>
          <a:xfrm>
            <a:off x="6200775"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6381750"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5" name="TextBox 34"/>
          <p:cNvSpPr txBox="1"/>
          <p:nvPr/>
        </p:nvSpPr>
        <p:spPr>
          <a:xfrm>
            <a:off x="6629400"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F</a:t>
            </a:r>
          </a:p>
        </p:txBody>
      </p:sp>
      <p:cxnSp>
        <p:nvCxnSpPr>
          <p:cNvPr id="36" name="Connector 35"/>
          <p:cNvCxnSpPr/>
          <p:nvPr/>
        </p:nvCxnSpPr>
        <p:spPr>
          <a:xfrm>
            <a:off x="6200775"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6381750"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8" name="TextBox 37"/>
          <p:cNvSpPr txBox="1"/>
          <p:nvPr/>
        </p:nvSpPr>
        <p:spPr>
          <a:xfrm>
            <a:off x="6629400"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G</a:t>
            </a:r>
          </a:p>
        </p:txBody>
      </p:sp>
      <p:sp>
        <p:nvSpPr>
          <p:cNvPr id="39" name="Rectangle 38"/>
          <p:cNvSpPr/>
          <p:nvPr/>
        </p:nvSpPr>
        <p:spPr>
          <a:xfrm>
            <a:off x="6200775"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0" name="Connector 39"/>
          <p:cNvCxnSpPr/>
          <p:nvPr/>
        </p:nvCxnSpPr>
        <p:spPr>
          <a:xfrm>
            <a:off x="6200775"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6381750"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2" name="TextBox 41"/>
          <p:cNvSpPr txBox="1"/>
          <p:nvPr/>
        </p:nvSpPr>
        <p:spPr>
          <a:xfrm>
            <a:off x="6629400"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H</a:t>
            </a:r>
          </a:p>
        </p:txBody>
      </p:sp>
      <p:sp>
        <p:nvSpPr>
          <p:cNvPr id="43" name="TextBox 42"/>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94500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2249805"/>
            <a:ext cx="7239000" cy="971550"/>
          </a:xfrm>
          <a:prstGeom prst="rect">
            <a:avLst/>
          </a:prstGeom>
          <a:noFill/>
        </p:spPr>
        <p:txBody>
          <a:bodyPr wrap="square" lIns="0" rIns="0" tIns="0">
            <a:spAutoFit/>
          </a:bodyPr>
          <a:lstStyle/>
          <a:p>
            <a:r>
              <a:rPr sz="3000" b="1" cap="all" spc="400">
                <a:solidFill>
                  <a:srgbClr val="FFFFFF"/>
                </a:solidFill>
                <a:latin typeface="Calibri"/>
              </a:rPr>
              <a:t>North America Market Outlook</a:t>
            </a:r>
          </a:p>
        </p:txBody>
      </p:sp>
      <p:sp>
        <p:nvSpPr>
          <p:cNvPr id="7" name="TextBox 6"/>
          <p:cNvSpPr txBox="1"/>
          <p:nvPr/>
        </p:nvSpPr>
        <p:spPr>
          <a:xfrm>
            <a:off x="914400" y="3411855"/>
            <a:ext cx="7124700" cy="292989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Principal Material / Barrier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Material Structure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Barrier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Application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Barrier Level Vs Application</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North America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Summary, By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(THOUSAND MT)</a:t>
            </a:r>
          </a:p>
          <a:p>
            <a:pPr algn="ctr">
              <a:lnSpc>
                <a:spcPct val="95000"/>
              </a:lnSpc>
            </a:pPr>
            <a:r>
              <a:rPr sz="1500" b="1">
                <a:solidFill>
                  <a:srgbClr val="0E72AE"/>
                </a:solidFill>
                <a:latin typeface="Calibri"/>
              </a:rPr>
              <a:t>10,320</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15,660</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3.3%</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4.3%</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(Thousand MT)</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North America flexible plastic packaging market is projected to register 1.6X increase in volume by the end of forecast period, 2036. North America flexible plastic packaging market volume stood at 9,968 Thousand MT in 2025 and is expected to reach 15,660 Thousand MT by 2036 end, at a CAGR of 4.3%.</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leads regional growth at 5.3%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'Rollstock Films' within Product Type.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(US$/MT)</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2,491</a:t>
            </a:r>
          </a:p>
        </p:txBody>
      </p:sp>
      <p:sp>
        <p:nvSpPr>
          <p:cNvPr id="25" name="FMI Scale tick"/>
          <p:cNvSpPr txBox="1"/>
          <p:nvPr/>
        </p:nvSpPr>
        <p:spPr>
          <a:xfrm>
            <a:off x="219075" y="2328265"/>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4,403</a:t>
            </a:r>
          </a:p>
        </p:txBody>
      </p:sp>
      <p:sp>
        <p:nvSpPr>
          <p:cNvPr id="26" name="FMI Scale tick"/>
          <p:cNvSpPr txBox="1"/>
          <p:nvPr/>
        </p:nvSpPr>
        <p:spPr>
          <a:xfrm>
            <a:off x="219075" y="138627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6,314</a:t>
            </a:r>
          </a:p>
        </p:txBody>
      </p:sp>
      <p:cxnSp>
        <p:nvCxnSpPr>
          <p:cNvPr id="27" name="Connector 26"/>
          <p:cNvCxnSpPr/>
          <p:nvPr/>
        </p:nvCxnSpPr>
        <p:spPr>
          <a:xfrm flipV="1">
            <a:off x="1533525" y="2636717"/>
            <a:ext cx="0" cy="245134"/>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402080" y="288185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402080" y="263671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314450" y="2729962"/>
            <a:ext cx="438150" cy="128491"/>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314450" y="280337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484317"/>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3,574</a:t>
            </a:r>
          </a:p>
        </p:txBody>
      </p:sp>
      <p:cxnSp>
        <p:nvCxnSpPr>
          <p:cNvPr id="33" name="Connector 32"/>
          <p:cNvCxnSpPr/>
          <p:nvPr/>
        </p:nvCxnSpPr>
        <p:spPr>
          <a:xfrm flipV="1">
            <a:off x="3286125" y="1670329"/>
            <a:ext cx="0" cy="481181"/>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3154680" y="215151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31546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067050" y="1869074"/>
            <a:ext cx="438150" cy="238717"/>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067050" y="2011870"/>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409825" y="151792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5,180</a:t>
            </a:r>
          </a:p>
        </p:txBody>
      </p:sp>
      <p:cxnSp>
        <p:nvCxnSpPr>
          <p:cNvPr id="39" name="Connector 38"/>
          <p:cNvCxnSpPr/>
          <p:nvPr/>
        </p:nvCxnSpPr>
        <p:spPr>
          <a:xfrm flipV="1">
            <a:off x="5038725" y="2738451"/>
            <a:ext cx="0" cy="28082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4907280" y="301927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4907280" y="273845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4819650" y="2852718"/>
            <a:ext cx="438150" cy="143382"/>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4819650" y="2938290"/>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4162425" y="2586051"/>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3,300</a:t>
            </a:r>
          </a:p>
        </p:txBody>
      </p:sp>
      <p:cxnSp>
        <p:nvCxnSpPr>
          <p:cNvPr id="45" name="Connector 44"/>
          <p:cNvCxnSpPr/>
          <p:nvPr/>
        </p:nvCxnSpPr>
        <p:spPr>
          <a:xfrm flipV="1">
            <a:off x="6791325" y="2844170"/>
            <a:ext cx="0" cy="275382"/>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6598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659880" y="284417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6572250" y="2956670"/>
            <a:ext cx="438150" cy="139681"/>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6572250" y="3038806"/>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5915025" y="2691770"/>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3,096</a:t>
            </a:r>
          </a:p>
        </p:txBody>
      </p:sp>
      <p:sp>
        <p:nvSpPr>
          <p:cNvPr id="51" name="TextBox 50"/>
          <p:cNvSpPr txBox="1"/>
          <p:nvPr/>
        </p:nvSpPr>
        <p:spPr>
          <a:xfrm>
            <a:off x="6572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Rollstock Films</a:t>
            </a:r>
          </a:p>
        </p:txBody>
      </p:sp>
      <p:sp>
        <p:nvSpPr>
          <p:cNvPr id="52" name="TextBox 51"/>
          <p:cNvSpPr txBox="1"/>
          <p:nvPr/>
        </p:nvSpPr>
        <p:spPr>
          <a:xfrm>
            <a:off x="24098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Barrier Casings</a:t>
            </a:r>
          </a:p>
        </p:txBody>
      </p:sp>
      <p:sp>
        <p:nvSpPr>
          <p:cNvPr id="53" name="TextBox 52"/>
          <p:cNvSpPr txBox="1"/>
          <p:nvPr/>
        </p:nvSpPr>
        <p:spPr>
          <a:xfrm>
            <a:off x="41624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Premade Pouches &amp; Bags</a:t>
            </a:r>
          </a:p>
        </p:txBody>
      </p:sp>
      <p:sp>
        <p:nvSpPr>
          <p:cNvPr id="54" name="TextBox 53"/>
          <p:cNvSpPr txBox="1"/>
          <p:nvPr/>
        </p:nvSpPr>
        <p:spPr>
          <a:xfrm>
            <a:off x="59150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Sachets &amp; Stick Packs</a:t>
            </a:r>
          </a:p>
        </p:txBody>
      </p:sp>
      <p:sp>
        <p:nvSpPr>
          <p:cNvPr id="55" name="Rounded Rectangle 54"/>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North America  ·  2026–2036</a:t>
            </a:r>
          </a:p>
        </p:txBody>
      </p:sp>
      <p:cxnSp>
        <p:nvCxnSpPr>
          <p:cNvPr id="57" name="Connector 56"/>
          <p:cNvCxnSpPr/>
          <p:nvPr/>
        </p:nvCxnSpPr>
        <p:spPr>
          <a:xfrm>
            <a:off x="619125" y="430043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619125" y="474677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619125" y="563945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619125" y="608579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619125" y="4300438"/>
            <a:ext cx="0" cy="1785356"/>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590550" y="43004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590550" y="474677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6" name="Connector 65"/>
          <p:cNvCxnSpPr/>
          <p:nvPr/>
        </p:nvCxnSpPr>
        <p:spPr>
          <a:xfrm>
            <a:off x="590550" y="563945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a:off x="590550" y="608579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8" name="FMI Scale tick"/>
          <p:cNvSpPr txBox="1"/>
          <p:nvPr/>
        </p:nvSpPr>
        <p:spPr>
          <a:xfrm>
            <a:off x="138112" y="4233763"/>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+1.7%</a:t>
            </a:r>
          </a:p>
        </p:txBody>
      </p:sp>
      <p:sp>
        <p:nvSpPr>
          <p:cNvPr id="69" name="FMI Scale tick"/>
          <p:cNvSpPr txBox="1"/>
          <p:nvPr/>
        </p:nvSpPr>
        <p:spPr>
          <a:xfrm>
            <a:off x="138112" y="4680102"/>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+0.8%</a:t>
            </a:r>
          </a:p>
        </p:txBody>
      </p:sp>
      <p:sp>
        <p:nvSpPr>
          <p:cNvPr id="70"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North America</a:t>
            </a:r>
          </a:p>
        </p:txBody>
      </p:sp>
      <p:sp>
        <p:nvSpPr>
          <p:cNvPr id="71" name="FMI Scale tick"/>
          <p:cNvSpPr txBox="1"/>
          <p:nvPr/>
        </p:nvSpPr>
        <p:spPr>
          <a:xfrm>
            <a:off x="164306" y="5572780"/>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-0.8%</a:t>
            </a:r>
          </a:p>
        </p:txBody>
      </p:sp>
      <p:sp>
        <p:nvSpPr>
          <p:cNvPr id="72" name="FMI Scale tick"/>
          <p:cNvSpPr txBox="1"/>
          <p:nvPr/>
        </p:nvSpPr>
        <p:spPr>
          <a:xfrm>
            <a:off x="164306" y="6019119"/>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-1.7%</a:t>
            </a:r>
          </a:p>
        </p:txBody>
      </p:sp>
      <p:cxnSp>
        <p:nvCxnSpPr>
          <p:cNvPr id="73" name="Connector 72"/>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2152650" y="5193116"/>
            <a:ext cx="457200" cy="76821"/>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MI Data Label"/>
          <p:cNvSpPr txBox="1"/>
          <p:nvPr/>
        </p:nvSpPr>
        <p:spPr>
          <a:xfrm>
            <a:off x="619125" y="5279461"/>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-0.1%</a:t>
            </a:r>
          </a:p>
        </p:txBody>
      </p:sp>
      <p:sp>
        <p:nvSpPr>
          <p:cNvPr id="76" name="Rectangle 75"/>
          <p:cNvSpPr/>
          <p:nvPr/>
        </p:nvSpPr>
        <p:spPr>
          <a:xfrm>
            <a:off x="5676900" y="4437287"/>
            <a:ext cx="457200" cy="7558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MI Data Label"/>
          <p:cNvSpPr txBox="1"/>
          <p:nvPr/>
        </p:nvSpPr>
        <p:spPr>
          <a:xfrm>
            <a:off x="4143375" y="4294412"/>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+1.4%</a:t>
            </a:r>
          </a:p>
        </p:txBody>
      </p:sp>
      <p:sp>
        <p:nvSpPr>
          <p:cNvPr id="78" name="TextBox 77"/>
          <p:cNvSpPr txBox="1"/>
          <p:nvPr/>
        </p:nvSpPr>
        <p:spPr>
          <a:xfrm>
            <a:off x="61912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U.S.</a:t>
            </a:r>
          </a:p>
        </p:txBody>
      </p:sp>
      <p:sp>
        <p:nvSpPr>
          <p:cNvPr id="79" name="TextBox 78"/>
          <p:cNvSpPr txBox="1"/>
          <p:nvPr/>
        </p:nvSpPr>
        <p:spPr>
          <a:xfrm>
            <a:off x="414337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Canada</a:t>
            </a:r>
          </a:p>
        </p:txBody>
      </p:sp>
      <p:sp>
        <p:nvSpPr>
          <p:cNvPr id="80" name="Rounded Rectangle 79"/>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82" name="Rectangle 81"/>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Barrier casings segment is expected to command the highest average price of US$ 5,873 per MT in 2036. Average selling price of flexible plastic packaging is estimated at US$ 3,457 per MT in 2025 and is projected to increase to US$ 3,964 per MT by 2036. Canada is the highest-priced country, while U.S. is the most price-competitive market.</a:t>
            </a:r>
          </a:p>
          <a:p>
            <a:pPr algn="l">
              <a:lnSpc>
                <a:spcPct val="110000"/>
              </a:lnSpc>
              <a:spcBef>
                <a:spcPts val="0"/>
              </a:spcBef>
              <a:spcAft>
                <a:spcPts val="500"/>
              </a:spcAft>
            </a:pPr>
            <a:r>
              <a:rPr sz="1150" b="0">
                <a:solidFill>
                  <a:srgbClr val="2E2E2E"/>
                </a:solidFill>
                <a:latin typeface="Calibri"/>
              </a:rPr>
              <a:t>Against the North America price of 3,718 US$/MT, 1 of 2 countries price above and 1 below. 'Canada' is the dearest at +1.4% versus North America, 'U.S.' the cheapest at -0.1% pointing to premiumisation headroom in the lower-priced countries.</a:t>
            </a:r>
          </a:p>
          <a:p>
            <a:pPr algn="l">
              <a:lnSpc>
                <a:spcPct val="110000"/>
              </a:lnSpc>
              <a:spcBef>
                <a:spcPts val="0"/>
              </a:spcBef>
              <a:spcAft>
                <a:spcPts val="500"/>
              </a:spcAft>
            </a:pPr>
            <a:r>
              <a:rPr sz="1150" b="0">
                <a:solidFill>
                  <a:srgbClr val="2E2E2E"/>
                </a:solidFill>
                <a:latin typeface="Calibri"/>
              </a:rPr>
              <a:t>North American average price rises from US$3,486 to US$3,964 per MT, which is why value grows at 5.6% against 4.3% for volume. The drivers are resin cost pass-through, higher labour and compliance costs, and a richer mix of high-barrier, recycled-content and mono-material films required by retailers, protein processors and e-commerce brands.</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35,977</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62,068</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3.7%</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5.6%</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3141719"/>
          </a:xfrm>
          <a:prstGeom prst="roundRect">
            <a:avLst>
              <a:gd name="adj" fmla="val 24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65594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Flexible plastic packaging market value in North America is expected to increase 1.8X between 2025 and 2036. In 2025, the flexible plastic packaging market in North America was valued at US$ 34,457 Mn and is estimated to account for US$ 35,977 Mn by the end of 2026, reflecting a Y-o-Y growth rate of 4.4%.</a:t>
            </a:r>
          </a:p>
          <a:p>
            <a:pPr algn="l">
              <a:lnSpc>
                <a:spcPct val="110000"/>
              </a:lnSpc>
              <a:spcBef>
                <a:spcPts val="0"/>
              </a:spcBef>
              <a:spcAft>
                <a:spcPts val="500"/>
              </a:spcAft>
            </a:pPr>
            <a:r>
              <a:rPr sz="1100" b="0">
                <a:solidFill>
                  <a:srgbClr val="2E2E2E"/>
                </a:solidFill>
                <a:latin typeface="Calibri"/>
              </a:rPr>
              <a:t>The market in North America is expected to account for US$ 62,068 Mn by 2036 at a CAGR of 5.6% over the forecast period. North America is expected to create an incremental opportunity of US$ 27,611 Mn for the overall flexible plastic packaging market from 2025 to 2036.</a:t>
            </a:r>
          </a:p>
          <a:p>
            <a:pPr algn="l">
              <a:lnSpc>
                <a:spcPct val="110000"/>
              </a:lnSpc>
              <a:spcBef>
                <a:spcPts val="0"/>
              </a:spcBef>
              <a:spcAft>
                <a:spcPts val="500"/>
              </a:spcAft>
            </a:pPr>
            <a:r>
              <a:rPr sz="1100" b="0">
                <a:solidFill>
                  <a:srgbClr val="2E2E2E"/>
                </a:solidFill>
                <a:latin typeface="Calibri"/>
              </a:rPr>
              <a:t>Absolute $ value for 2026 is estimated to be US$ 1,521 Mn.</a:t>
            </a:r>
          </a:p>
        </p:txBody>
      </p:sp>
      <p:sp>
        <p:nvSpPr>
          <p:cNvPr id="25" name="Rounded Rectangle 24"/>
          <p:cNvSpPr/>
          <p:nvPr/>
        </p:nvSpPr>
        <p:spPr>
          <a:xfrm>
            <a:off x="7915275" y="4824367"/>
            <a:ext cx="4133850" cy="1732019"/>
          </a:xfrm>
          <a:prstGeom prst="roundRect">
            <a:avLst>
              <a:gd name="adj" fmla="val 43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910092"/>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514821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233942"/>
            <a:ext cx="3867150" cy="124624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leads regional growth at 6.6%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'Rollstock Films' within Product Type.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North America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4695825" cy="2314575"/>
          </a:xfrm>
          <a:prstGeom prst="roundRect">
            <a:avLst>
              <a:gd name="adj" fmla="val 3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2021–2025 (Historical)</a:t>
            </a:r>
          </a:p>
        </p:txBody>
      </p:sp>
      <p:graphicFrame>
        <p:nvGraphicFramePr>
          <p:cNvPr id="13" name="Chart 12"/>
          <p:cNvGraphicFramePr>
            <a:graphicFrameLocks noGrp="1"/>
          </p:cNvGraphicFramePr>
          <p:nvPr/>
        </p:nvGraphicFramePr>
        <p:xfrm>
          <a:off x="238125" y="1266825"/>
          <a:ext cx="4505325" cy="197167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314575"/>
          </a:xfrm>
          <a:prstGeom prst="roundRect">
            <a:avLst>
              <a:gd name="adj" fmla="val 3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2026–2036 (Forecast)</a:t>
            </a:r>
          </a:p>
        </p:txBody>
      </p:sp>
      <p:graphicFrame>
        <p:nvGraphicFramePr>
          <p:cNvPr id="16" name="Chart 15"/>
          <p:cNvGraphicFramePr>
            <a:graphicFrameLocks noGrp="1"/>
          </p:cNvGraphicFramePr>
          <p:nvPr/>
        </p:nvGraphicFramePr>
        <p:xfrm>
          <a:off x="5086350" y="1266825"/>
          <a:ext cx="6858000" cy="19716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429000"/>
            <a:ext cx="25146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3.7%</a:t>
            </a:r>
          </a:p>
        </p:txBody>
      </p:sp>
      <p:sp>
        <p:nvSpPr>
          <p:cNvPr id="18" name="Rounded Rectangle 17"/>
          <p:cNvSpPr/>
          <p:nvPr/>
        </p:nvSpPr>
        <p:spPr>
          <a:xfrm>
            <a:off x="2809875" y="3429000"/>
            <a:ext cx="25146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5.6%</a:t>
            </a:r>
          </a:p>
        </p:txBody>
      </p:sp>
      <p:sp>
        <p:nvSpPr>
          <p:cNvPr id="19" name="Rounded Rectangle 18"/>
          <p:cNvSpPr/>
          <p:nvPr/>
        </p:nvSpPr>
        <p:spPr>
          <a:xfrm>
            <a:off x="5476875" y="3429000"/>
            <a:ext cx="32004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10,416 US$ Mn</a:t>
            </a:r>
          </a:p>
        </p:txBody>
      </p:sp>
      <p:sp>
        <p:nvSpPr>
          <p:cNvPr id="20" name="Rounded Rectangle 19"/>
          <p:cNvSpPr/>
          <p:nvPr/>
        </p:nvSpPr>
        <p:spPr>
          <a:xfrm>
            <a:off x="8829675" y="3429000"/>
            <a:ext cx="32004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26,090 US$ Mn</a:t>
            </a:r>
          </a:p>
        </p:txBody>
      </p:sp>
      <p:sp>
        <p:nvSpPr>
          <p:cNvPr id="21" name="Rounded Rectangle 20"/>
          <p:cNvSpPr/>
          <p:nvPr/>
        </p:nvSpPr>
        <p:spPr>
          <a:xfrm>
            <a:off x="142875" y="4105275"/>
            <a:ext cx="11906250" cy="2514600"/>
          </a:xfrm>
          <a:prstGeom prst="roundRect">
            <a:avLst>
              <a:gd name="adj" fmla="val 3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1910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&amp; Value Analysis</a:t>
            </a:r>
          </a:p>
        </p:txBody>
      </p:sp>
      <p:sp>
        <p:nvSpPr>
          <p:cNvPr id="23" name="Rectangle 22"/>
          <p:cNvSpPr/>
          <p:nvPr/>
        </p:nvSpPr>
        <p:spPr>
          <a:xfrm>
            <a:off x="276225" y="4429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514850"/>
            <a:ext cx="11639550" cy="20288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Flexible plastic packaging market value in North America is expected to increase 1.8X between 2025 and 2036. In 2025, the flexible plastic packaging market in North America was valued at US$ 34,457 Mn and is estimated to account for US$ 35,977 Mn by the end of 2026, reflecting a Y-o-Y growth rate of 4.4%. The market in North America is expected to account for US$ 62,068 Mn by 2036 at a CAGR of 5.6% over the forecast period. North America is expected to create an incremental opportunity of US$ 27,611 Mn for the overall flexible plastic packaging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US$ 1,521 Mn. North America flexible plastic packaging market is projected to register 1.6X increase in volume by the end of forecast period, 2036. North America flexible plastic packaging market volume stood at 9,968 Thousand MT in 2025 and is expected to reach 15,660 Thousand MT by 2036 end, at a CAGR of 4.3%. Value is projected to grow faster than volume over the forecast period, owing to an increase in average selling price.</a:t>
            </a:r>
          </a:p>
          <a:p>
            <a:pPr algn="l">
              <a:lnSpc>
                <a:spcPct val="100000"/>
              </a:lnSpc>
              <a:spcBef>
                <a:spcPts val="0"/>
              </a:spcBef>
              <a:spcAft>
                <a:spcPts val="300"/>
              </a:spcAft>
            </a:pPr>
            <a:r>
              <a:rPr sz="1100" b="0">
                <a:solidFill>
                  <a:srgbClr val="2E2E2E"/>
                </a:solidFill>
                <a:latin typeface="Calibri"/>
              </a:rPr>
              <a:t>North America is a mature market, so volume advances at 4.3% as growth depends on e-commerce, food delivery, protein and ready-meal packaging rather than new consumers. Value grows faster at 5.6% because average price rises from US$3,486 to US$3,964 per MT, reflecting higher resin and labour costs and a mix shift to high-barrier, resealable and recyclable structures. Canada, at 6.6%, outpaces the U.S. at 5.5%.</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69"/>
        </p:xfrm>
        <a:graphic>
          <a:graphicData uri="http://schemas.openxmlformats.org/drawingml/2006/table">
            <a:tbl>
              <a:tblPr>
                <a:tableStyleId>{5C22544A-7EE6-4342-B048-85BDC9FD1C3A}</a:tableStyleId>
              </a:tblPr>
              <a:tblGrid>
                <a:gridCol w="608071"/>
                <a:gridCol w="1102235"/>
                <a:gridCol w="1102235"/>
                <a:gridCol w="1102235"/>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958402">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2,853</a:t>
                      </a:r>
                      <a:endParaRPr sz="1100"/>
                    </a:p>
                  </a:txBody>
                  <a:tcPr marL="47625" marR="38100" marT="19050" marB="19050" anchor="ctr">
                    <a:solidFill>
                      <a:srgbClr val="FFFFFF"/>
                    </a:solidFill>
                  </a:tcPr>
                </a:tc>
              </a:tr>
              <a:tr h="958402">
                <a:tc>
                  <a:txBody>
                    <a:bodyPr wrap="none"/>
                    <a:lstStyle/>
                    <a:p>
                      <a:pPr algn="l"/>
                      <a:r>
                        <a:rPr sz="1100" b="1">
                          <a:solidFill>
                            <a:srgbClr val="2E2E2E"/>
                          </a:solidFill>
                          <a:latin typeface="Calibri"/>
                        </a:rPr>
                        <a:t>U.S.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23,237</a:t>
                      </a:r>
                      <a:endParaRPr sz="1100"/>
                    </a:p>
                  </a:txBody>
                  <a:tcPr marL="47625" marR="38100" marT="19050" marB="19050" anchor="ctr">
                    <a:solidFill>
                      <a:srgbClr val="F5F8FA"/>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4138819"/>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56,021</a:t>
            </a:r>
          </a:p>
        </p:txBody>
      </p:sp>
      <p:sp>
        <p:nvSpPr>
          <p:cNvPr id="19" name="Rectangle 18"/>
          <p:cNvSpPr/>
          <p:nvPr/>
        </p:nvSpPr>
        <p:spPr>
          <a:xfrm>
            <a:off x="4210050" y="5431830"/>
            <a:ext cx="3743325" cy="446779"/>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6,047</a:t>
            </a:r>
          </a:p>
        </p:txBody>
      </p:sp>
      <p:sp>
        <p:nvSpPr>
          <p:cNvPr id="20" name="Rounded Rectangle 19"/>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2" name="Chart 21"/>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3" name="Rounded Rectangle 22"/>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4" name="Table 23"/>
          <p:cNvGraphicFramePr>
            <a:graphicFrameLocks noGrp="1"/>
          </p:cNvGraphicFramePr>
          <p:nvPr/>
        </p:nvGraphicFramePr>
        <p:xfrm>
          <a:off x="8096250" y="3547710"/>
          <a:ext cx="3914776" cy="2159449"/>
        </p:xfrm>
        <a:graphic>
          <a:graphicData uri="http://schemas.openxmlformats.org/drawingml/2006/table">
            <a:tbl>
              <a:tblPr>
                <a:tableStyleId>{5C22544A-7EE6-4342-B048-85BDC9FD1C3A}</a:tableStyleId>
              </a:tblPr>
              <a:tblGrid>
                <a:gridCol w="608071"/>
                <a:gridCol w="1102235"/>
                <a:gridCol w="1102235"/>
                <a:gridCol w="1102235"/>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972092">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23,237</a:t>
                      </a:r>
                      <a:endParaRPr sz="1100"/>
                    </a:p>
                  </a:txBody>
                  <a:tcPr marL="47625" marR="38100" marT="19050" marB="19050" anchor="ctr">
                    <a:solidFill>
                      <a:srgbClr val="FFFFFF"/>
                    </a:solidFill>
                  </a:tcPr>
                </a:tc>
              </a:tr>
              <a:tr h="972092">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2,853</a:t>
                      </a:r>
                      <a:endParaRPr sz="1100"/>
                    </a:p>
                  </a:txBody>
                  <a:tcPr marL="47625" marR="38100" marT="19050" marB="19050" anchor="ctr">
                    <a:solidFill>
                      <a:srgbClr val="F5F8FA"/>
                    </a:solidFill>
                  </a:tcPr>
                </a:tc>
              </a:tr>
            </a:tbl>
          </a:graphicData>
        </a:graphic>
      </p:graphicFrame>
      <p:sp>
        <p:nvSpPr>
          <p:cNvPr id="25" name="TextBox 24"/>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6" name="Rounded Rectangle 25"/>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U.S. flexible plastic packaging market is projected to register 9.3X higher value than Canada in 2036. Canada posts the highest CAGR Index (118), growing at 6.6% against the North America benchmark, while U.S. offers the largest absolute opportunity 23,237 US$ Mn of incremental market between 2026 and 2036 (89% of the North America increment).</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flexible plastic packaging market is expected to witness 1.8X increase in revenue by 2036 end. Global flexible plastic packaging market accounted for US$ 34,457 Mn in 2025, which is expected to increase to US$ 62,068 Mn in 2036 at a CAGR of 5.6%.</a:t>
            </a:r>
          </a:p>
          <a:p>
            <a:pPr algn="l">
              <a:lnSpc>
                <a:spcPct val="110000"/>
              </a:lnSpc>
              <a:spcBef>
                <a:spcPts val="0"/>
              </a:spcBef>
              <a:spcAft>
                <a:spcPts val="500"/>
              </a:spcAft>
            </a:pPr>
            <a:r>
              <a:rPr sz="1150" b="0">
                <a:solidFill>
                  <a:srgbClr val="2E2E2E"/>
                </a:solidFill>
                <a:latin typeface="Calibri"/>
              </a:rPr>
              <a:t>The global flexible plastic packaging market has been analysed on the basis of product type, principal material / barrier technology, material structure and barrier level across the globe. U.S. is expected to remain the largest market for flexible plastic packaging, while demand in Canada is projected to increase at the highest CAGR of 6.6%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consolidated: the leading product type category 'Rollstock Films' holds 52.7%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2 countries and 6 segmentation lenses (4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U.S. is the largest country market at 90.3%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'Barrier Casings' (5.8%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Canada (6.6%).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Food Packaging within application (5.6%).</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'Rollstock Films'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5.6%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'Rollstock Films'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'Barrier Casings'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outpacing the North America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4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'Barrier Casings' and Canada.</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U.S. and Canada.</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2026 size 35,977 US$ Mn; 2036 62,068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Forecast CAGR 5.6% (2026–2036).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Lead category 'Rollstock Films' 52.7% of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Lead country U.S. 90.3%.</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Incremental opportunity 26,090 US$ Mn.</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Investment is flowing toward the fastest-growing tier 'Barrier Casings' (5.8%).</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(6.6%) is a priority country for new capacity.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Scale players anchor around 'Rollstock Films' (52.7% share).</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R&amp;D aligns with the migration to 'Barrier Casings' and adjacent premium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Development spend targets product type categories gaining share to 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Innovation underpins the 5.6% forecast CAGR.</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'Rollstock Films' with targeted growth in 'Barrier Casings', pursuing the 5.6% CAGR trajectory to 2036.</a:t>
            </a:r>
          </a:p>
        </p:txBody>
      </p:sp>
      <p:sp>
        <p:nvSpPr>
          <p:cNvPr id="14" name="Rounded Rectangle 13"/>
          <p:cNvSpPr/>
          <p:nvPr/>
        </p:nvSpPr>
        <p:spPr>
          <a:xfrm>
            <a:off x="6172200"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'Barrier Casings' tier and Food Packaging within application.</a:t>
            </a:r>
          </a:p>
        </p:txBody>
      </p:sp>
      <p:sp>
        <p:nvSpPr>
          <p:cNvPr id="18" name="Rounded Rectangle 17"/>
          <p:cNvSpPr/>
          <p:nvPr/>
        </p:nvSpPr>
        <p:spPr>
          <a:xfrm>
            <a:off x="142875"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'Barrier Casings' (5.8%); 'Rollstock Films' anchors 52.7% of value.</a:t>
            </a:r>
          </a:p>
        </p:txBody>
      </p:sp>
      <p:sp>
        <p:nvSpPr>
          <p:cNvPr id="22" name="Rounded Rectangle 21"/>
          <p:cNvSpPr/>
          <p:nvPr/>
        </p:nvSpPr>
        <p:spPr>
          <a:xfrm>
            <a:off x="6172200"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U.S. (90.3%); capture upside in Canada (6.6%).</a:t>
            </a:r>
          </a:p>
        </p:txBody>
      </p:sp>
      <p:sp>
        <p:nvSpPr>
          <p:cNvPr id="26" name="Rounded Rectangle 25"/>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Flexible Plastic Packaging adds 26,090 US$ Mn of demand to 2036 a 1.7× expansion.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'Rollstock Films' as the value anchor of the portfolio.</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71,559 US$ Mn</a:t>
            </a:r>
          </a:p>
          <a:p>
            <a:pPr algn="ctr">
              <a:lnSpc>
                <a:spcPct val="95000"/>
              </a:lnSpc>
            </a:pPr>
            <a:r>
              <a:rPr sz="1100" b="0">
                <a:solidFill>
                  <a:srgbClr val="6C7A89"/>
                </a:solidFill>
                <a:latin typeface="Calibri"/>
              </a:rPr>
              <a:t>CAGR 6.9%</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62,068 US$ Mn</a:t>
            </a:r>
          </a:p>
          <a:p>
            <a:pPr algn="ctr">
              <a:lnSpc>
                <a:spcPct val="95000"/>
              </a:lnSpc>
            </a:pPr>
            <a:r>
              <a:rPr sz="1100" b="0">
                <a:solidFill>
                  <a:srgbClr val="6C7A89"/>
                </a:solidFill>
                <a:latin typeface="Calibri"/>
              </a:rPr>
              <a:t>CAGR 5.6%</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53,734 US$ Mn</a:t>
            </a:r>
          </a:p>
          <a:p>
            <a:pPr algn="ctr">
              <a:lnSpc>
                <a:spcPct val="95000"/>
              </a:lnSpc>
            </a:pPr>
            <a:r>
              <a:rPr sz="1100" b="0">
                <a:solidFill>
                  <a:srgbClr val="6C7A89"/>
                </a:solidFill>
                <a:latin typeface="Calibri"/>
              </a:rPr>
              <a:t>CAGR 4.1%</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Flexible Plastic Packaging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534786"/>
            <a:ext cx="635826" cy="770514"/>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103698"/>
            <a:ext cx="635826" cy="1201602"/>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917342"/>
            <a:ext cx="635826" cy="1387958"/>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705100"/>
            <a:ext cx="635826" cy="1600200"/>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70348"/>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65573"/>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4.1%</a:t>
            </a:r>
          </a:p>
        </p:txBody>
      </p:sp>
      <p:cxnSp>
        <p:nvCxnSpPr>
          <p:cNvPr id="22" name="Connector 21"/>
          <p:cNvCxnSpPr/>
          <p:nvPr/>
        </p:nvCxnSpPr>
        <p:spPr>
          <a:xfrm>
            <a:off x="1456468" y="2713173"/>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608398"/>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5.6%</a:t>
            </a:r>
          </a:p>
        </p:txBody>
      </p:sp>
      <p:cxnSp>
        <p:nvCxnSpPr>
          <p:cNvPr id="24" name="Connector 23"/>
          <p:cNvCxnSpPr/>
          <p:nvPr/>
        </p:nvCxnSpPr>
        <p:spPr>
          <a:xfrm>
            <a:off x="1456468" y="2455998"/>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51223"/>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6.9%</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Flexible Plastic Packaging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71,559 US$ Mn by 2036 at 6.9%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62,068 US$ Mn at 5.6%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53,734 US$ Mn at 4.1%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±25% across the 2026–2036 horizon.</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North America Flexible Plastic Packaging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2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North America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U.S.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32,783</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56,021</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5.5%</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Canada</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3,194</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6,047</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6.6%</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The U.S. flexible plastic packaging market is projected to register 9.3X higher value than Canada in 2036. Among flexible plastic packaging by country, Canada is expected to witness the highest CAGR of 6.6% over the forecast period.</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In terms of value share by country, U.S. is expected to dominate the market, losing 87 BPS and accounting for 90.3% share by 2036.</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U.S.: </a:t>
            </a:r>
            <a:r>
              <a:rPr sz="1100" b="0">
                <a:solidFill>
                  <a:srgbClr val="2E2E2E"/>
                </a:solidFill>
                <a:latin typeface="Calibri"/>
              </a:rPr>
              <a:t>91% of 2026 value · 5.5%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Canada: </a:t>
            </a:r>
            <a:r>
              <a:rPr sz="1100" b="0">
                <a:solidFill>
                  <a:srgbClr val="2E2E2E"/>
                </a:solidFill>
                <a:latin typeface="Calibri"/>
              </a:rPr>
              <a:t>9% of 2026 value · 6.6% CAGR grows fastest.</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North America market is projected to grow at a CAGR of 5.6%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Analysis, By Country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3867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63391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5771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1619629"/>
            <a:ext cx="514350" cy="123825"/>
          </a:xfrm>
          <a:prstGeom prst="rect">
            <a:avLst/>
          </a:prstGeom>
          <a:noFill/>
        </p:spPr>
        <p:txBody>
          <a:bodyPr wrap="none" lIns="0" rIns="0" tIns="0" bIns="0" anchor="ctr">
            <a:spAutoFit/>
          </a:bodyPr>
          <a:lstStyle/>
          <a:p>
            <a:pPr algn="r"/>
            <a:r>
              <a:rPr sz="900" b="1">
                <a:solidFill>
                  <a:srgbClr val="2E7D32"/>
                </a:solidFill>
                <a:latin typeface="Calibri"/>
              </a:rPr>
              <a:t>+88</a:t>
            </a:r>
          </a:p>
        </p:txBody>
      </p:sp>
      <p:sp>
        <p:nvSpPr>
          <p:cNvPr id="20" name="FMI Legend Chip"/>
          <p:cNvSpPr/>
          <p:nvPr/>
        </p:nvSpPr>
        <p:spPr>
          <a:xfrm>
            <a:off x="4551045" y="347224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46747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39127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453191"/>
            <a:ext cx="514350" cy="123825"/>
          </a:xfrm>
          <a:prstGeom prst="rect">
            <a:avLst/>
          </a:prstGeom>
          <a:noFill/>
        </p:spPr>
        <p:txBody>
          <a:bodyPr wrap="none" lIns="0" rIns="0" tIns="0" bIns="0" anchor="ctr">
            <a:spAutoFit/>
          </a:bodyPr>
          <a:lstStyle/>
          <a:p>
            <a:pPr algn="r"/>
            <a:r>
              <a:rPr sz="900" b="1">
                <a:solidFill>
                  <a:srgbClr val="E44D3A"/>
                </a:solidFill>
                <a:latin typeface="Calibri"/>
              </a:rPr>
              <a:t>-88</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U.S. flexible plastic packaging market is projected to register 9.4X higher volume than Canada in 2036. Among flexible plastic packaging by country, Canada is expected to witness the highest CAGR of 5.3% over the forecast period.</a:t>
            </a:r>
          </a:p>
          <a:p>
            <a:pPr algn="l">
              <a:lnSpc>
                <a:spcPct val="110000"/>
              </a:lnSpc>
              <a:spcBef>
                <a:spcPts val="0"/>
              </a:spcBef>
              <a:spcAft>
                <a:spcPts val="500"/>
              </a:spcAft>
            </a:pPr>
            <a:r>
              <a:rPr sz="1150" b="0">
                <a:solidFill>
                  <a:srgbClr val="2E2E2E"/>
                </a:solidFill>
                <a:latin typeface="Calibri"/>
              </a:rPr>
              <a:t>In terms of volume share by country, U.S. is expected to dominate the market, losing 88 BPS and accounting for 90.4% share by 2036.</a:t>
            </a:r>
          </a:p>
          <a:p>
            <a:pPr algn="l">
              <a:lnSpc>
                <a:spcPct val="110000"/>
              </a:lnSpc>
              <a:spcBef>
                <a:spcPts val="0"/>
              </a:spcBef>
              <a:spcAft>
                <a:spcPts val="500"/>
              </a:spcAft>
            </a:pPr>
            <a:r>
              <a:rPr sz="1150" b="0">
                <a:solidFill>
                  <a:srgbClr val="2E2E2E"/>
                </a:solidFill>
                <a:latin typeface="Calibri"/>
              </a:rPr>
              <a:t>Canada grows fastest at 5.3% in volume against 4.2% for the U.S. and 4.3% for the region, as population growth driven by immigration, expanding food processing and e-commerce grocery lift demand from a smaller base. The U.S. is the largest market, but its mature packaged-food base and lightweighting slow tonnage growth, so it cedes 88 BPS of share.</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(THOUSAND MT)</a:t>
            </a:r>
          </a:p>
          <a:p>
            <a:pPr algn="ctr">
              <a:lnSpc>
                <a:spcPct val="95000"/>
              </a:lnSpc>
            </a:pPr>
            <a:r>
              <a:rPr sz="2000" b="1">
                <a:solidFill>
                  <a:srgbClr val="0E72AE"/>
                </a:solidFill>
                <a:latin typeface="Calibri"/>
              </a:rPr>
              <a:t>10,320</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(THOUSAND MT)</a:t>
            </a:r>
          </a:p>
          <a:p>
            <a:pPr algn="ctr">
              <a:lnSpc>
                <a:spcPct val="95000"/>
              </a:lnSpc>
            </a:pPr>
            <a:r>
              <a:rPr sz="2000" b="1">
                <a:solidFill>
                  <a:srgbClr val="0E72AE"/>
                </a:solidFill>
                <a:latin typeface="Calibri"/>
              </a:rPr>
              <a:t>15,660</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4.3%</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4073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63597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5977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1621683"/>
            <a:ext cx="514350" cy="123825"/>
          </a:xfrm>
          <a:prstGeom prst="rect">
            <a:avLst/>
          </a:prstGeom>
          <a:noFill/>
        </p:spPr>
        <p:txBody>
          <a:bodyPr wrap="none" lIns="0" rIns="0" tIns="0" bIns="0" anchor="ctr">
            <a:spAutoFit/>
          </a:bodyPr>
          <a:lstStyle/>
          <a:p>
            <a:pPr algn="r"/>
            <a:r>
              <a:rPr sz="900" b="1">
                <a:solidFill>
                  <a:srgbClr val="2E7D32"/>
                </a:solidFill>
                <a:latin typeface="Calibri"/>
              </a:rPr>
              <a:t>+87</a:t>
            </a:r>
          </a:p>
        </p:txBody>
      </p:sp>
      <p:sp>
        <p:nvSpPr>
          <p:cNvPr id="20" name="FMI Legend Chip"/>
          <p:cNvSpPr/>
          <p:nvPr/>
        </p:nvSpPr>
        <p:spPr>
          <a:xfrm>
            <a:off x="4551045" y="347429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4695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39333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455246"/>
            <a:ext cx="514350" cy="123825"/>
          </a:xfrm>
          <a:prstGeom prst="rect">
            <a:avLst/>
          </a:prstGeom>
          <a:noFill/>
        </p:spPr>
        <p:txBody>
          <a:bodyPr wrap="none" lIns="0" rIns="0" tIns="0" bIns="0" anchor="ctr">
            <a:spAutoFit/>
          </a:bodyPr>
          <a:lstStyle/>
          <a:p>
            <a:pPr algn="r"/>
            <a:r>
              <a:rPr sz="900" b="1">
                <a:solidFill>
                  <a:srgbClr val="E44D3A"/>
                </a:solidFill>
                <a:latin typeface="Calibri"/>
              </a:rPr>
              <a:t>-87</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U.S. flexible plastic packaging market is projected to register 9.3X higher value than Canada in 2036. Among flexible plastic packaging by country, Canada is expected to witness the highest CAGR of 6.6% over the forecast period.</a:t>
            </a:r>
          </a:p>
          <a:p>
            <a:pPr algn="l">
              <a:lnSpc>
                <a:spcPct val="110000"/>
              </a:lnSpc>
              <a:spcBef>
                <a:spcPts val="0"/>
              </a:spcBef>
              <a:spcAft>
                <a:spcPts val="500"/>
              </a:spcAft>
            </a:pPr>
            <a:r>
              <a:rPr sz="1150" b="0">
                <a:solidFill>
                  <a:srgbClr val="2E2E2E"/>
                </a:solidFill>
                <a:latin typeface="Calibri"/>
              </a:rPr>
              <a:t>In terms of value share by country, U.S. is expected to dominate the market, losing 87 BPS and accounting for 90.3% share by 2036.</a:t>
            </a:r>
          </a:p>
          <a:p>
            <a:pPr algn="l">
              <a:lnSpc>
                <a:spcPct val="110000"/>
              </a:lnSpc>
              <a:spcBef>
                <a:spcPts val="0"/>
              </a:spcBef>
              <a:spcAft>
                <a:spcPts val="500"/>
              </a:spcAft>
            </a:pPr>
            <a:r>
              <a:rPr sz="1150" b="0">
                <a:solidFill>
                  <a:srgbClr val="2E2E2E"/>
                </a:solidFill>
                <a:latin typeface="Calibri"/>
              </a:rPr>
              <a:t>Canada grows fastest at 6.6% against 5.5% for the U.S., lifting its share by 87 BPS. Canada is a smaller, younger base where immigration-led population growth, expanding grocery e-commerce and investment in food processing and meat packaging add demand. Provincial EPR programmes also push brands toward recyclable flexible formats. The U.S. is far larger at 91.1% share, so its mature base expands more slowly.</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35,977</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62,068</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5.6%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Share Analysis, By Country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(Thousand MT)</a:t>
            </a:r>
          </a:p>
        </p:txBody>
      </p:sp>
      <p:graphicFrame>
        <p:nvGraphicFramePr>
          <p:cNvPr id="13" name="Table 12"/>
          <p:cNvGraphicFramePr>
            <a:graphicFrameLocks noGrp="1"/>
          </p:cNvGraphicFramePr>
          <p:nvPr/>
        </p:nvGraphicFramePr>
        <p:xfrm>
          <a:off x="152400" y="1238250"/>
          <a:ext cx="11887200" cy="866775"/>
        </p:xfrm>
        <a:graphic>
          <a:graphicData uri="http://schemas.openxmlformats.org/drawingml/2006/table">
            <a:tbl>
              <a:tblPr>
                <a:tableStyleId>{5C22544A-7EE6-4342-B048-85BDC9FD1C3A}</a:tableStyleId>
              </a:tblPr>
              <a:tblGrid>
                <a:gridCol w="696253"/>
                <a:gridCol w="658291"/>
                <a:gridCol w="658291"/>
                <a:gridCol w="658291"/>
                <a:gridCol w="658291"/>
                <a:gridCol w="658291"/>
                <a:gridCol w="658291"/>
                <a:gridCol w="658291"/>
                <a:gridCol w="658291"/>
                <a:gridCol w="658291"/>
                <a:gridCol w="658291"/>
                <a:gridCol w="658291"/>
                <a:gridCol w="658291"/>
                <a:gridCol w="658291"/>
                <a:gridCol w="658291"/>
                <a:gridCol w="658291"/>
                <a:gridCol w="658291"/>
                <a:gridCol w="65829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5336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Share Read-out, By Country</a:t>
            </a:r>
          </a:p>
        </p:txBody>
      </p:sp>
      <p:sp>
        <p:nvSpPr>
          <p:cNvPr id="17" name="Rectangle 16"/>
          <p:cNvSpPr/>
          <p:nvPr/>
        </p:nvSpPr>
        <p:spPr>
          <a:xfrm>
            <a:off x="276225" y="27717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857500"/>
            <a:ext cx="11639550" cy="36957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U.S. flexible plastic packaging market is projected to register 9.4X higher volume than Canada in 2036. Among flexible plastic packaging by country, Canada is expected to witness the highest CAGR of 5.3% over the forecast period.</a:t>
            </a:r>
          </a:p>
          <a:p>
            <a:pPr algn="l">
              <a:lnSpc>
                <a:spcPct val="110000"/>
              </a:lnSpc>
              <a:spcBef>
                <a:spcPts val="0"/>
              </a:spcBef>
              <a:spcAft>
                <a:spcPts val="500"/>
              </a:spcAft>
            </a:pPr>
            <a:r>
              <a:rPr sz="1150" b="0">
                <a:solidFill>
                  <a:srgbClr val="2E2E2E"/>
                </a:solidFill>
                <a:latin typeface="Calibri"/>
              </a:rPr>
              <a:t>In terms of volume share by country, U.S. is expected to dominate the market, losing 88 BPS and accounting for 90.4% share by 2036.</a:t>
            </a:r>
          </a:p>
          <a:p>
            <a:pPr algn="l">
              <a:lnSpc>
                <a:spcPct val="110000"/>
              </a:lnSpc>
              <a:spcBef>
                <a:spcPts val="0"/>
              </a:spcBef>
              <a:spcAft>
                <a:spcPts val="500"/>
              </a:spcAft>
            </a:pPr>
            <a:r>
              <a:rPr sz="1150" b="0">
                <a:solidFill>
                  <a:srgbClr val="2E2E2E"/>
                </a:solidFill>
                <a:latin typeface="Calibri"/>
              </a:rPr>
              <a:t>Canada gains 88 BPS of volume share at 5.3% growth because population gains through immigration, rising packaged-food and e-commerce demand and a smaller starting base lift tonnage faster. The U.S. concedes 88 BPS at 4.2% since its market is far larger, more penetrated and closer to saturation, even though it still holds over 90% of regional volume.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(US$ Mn)</a:t>
            </a:r>
          </a:p>
        </p:txBody>
      </p:sp>
      <p:graphicFrame>
        <p:nvGraphicFramePr>
          <p:cNvPr id="13" name="Table 12"/>
          <p:cNvGraphicFramePr>
            <a:graphicFrameLocks noGrp="1"/>
          </p:cNvGraphicFramePr>
          <p:nvPr/>
        </p:nvGraphicFramePr>
        <p:xfrm>
          <a:off x="152400" y="1238250"/>
          <a:ext cx="11887200" cy="866775"/>
        </p:xfrm>
        <a:graphic>
          <a:graphicData uri="http://schemas.openxmlformats.org/drawingml/2006/table">
            <a:tbl>
              <a:tblPr>
                <a:tableStyleId>{5C22544A-7EE6-4342-B048-85BDC9FD1C3A}</a:tableStyleId>
              </a:tblPr>
              <a:tblGrid>
                <a:gridCol w="696253"/>
                <a:gridCol w="658291"/>
                <a:gridCol w="658291"/>
                <a:gridCol w="658291"/>
                <a:gridCol w="658291"/>
                <a:gridCol w="658291"/>
                <a:gridCol w="658291"/>
                <a:gridCol w="658291"/>
                <a:gridCol w="658291"/>
                <a:gridCol w="658291"/>
                <a:gridCol w="658291"/>
                <a:gridCol w="658291"/>
                <a:gridCol w="658291"/>
                <a:gridCol w="658291"/>
                <a:gridCol w="658291"/>
                <a:gridCol w="658291"/>
                <a:gridCol w="658291"/>
                <a:gridCol w="65829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5336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Share Read-out, By Country</a:t>
            </a:r>
          </a:p>
        </p:txBody>
      </p:sp>
      <p:sp>
        <p:nvSpPr>
          <p:cNvPr id="17" name="Rectangle 16"/>
          <p:cNvSpPr/>
          <p:nvPr/>
        </p:nvSpPr>
        <p:spPr>
          <a:xfrm>
            <a:off x="276225" y="27717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857500"/>
            <a:ext cx="11639550" cy="36957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U.S. flexible plastic packaging market is projected to register 9.3X higher value than Canada in 2036. Among flexible plastic packaging by country, Canada is expected to witness the highest CAGR of 6.6% over the forecast period.</a:t>
            </a:r>
          </a:p>
          <a:p>
            <a:pPr algn="l">
              <a:lnSpc>
                <a:spcPct val="110000"/>
              </a:lnSpc>
              <a:spcBef>
                <a:spcPts val="0"/>
              </a:spcBef>
              <a:spcAft>
                <a:spcPts val="500"/>
              </a:spcAft>
            </a:pPr>
            <a:r>
              <a:rPr sz="1150" b="0">
                <a:solidFill>
                  <a:srgbClr val="2E2E2E"/>
                </a:solidFill>
                <a:latin typeface="Calibri"/>
              </a:rPr>
              <a:t>In terms of value share by country, U.S. is expected to dominate the market, losing 87 BPS and accounting for 90.3% share by 2036.</a:t>
            </a:r>
          </a:p>
          <a:p>
            <a:pPr algn="l">
              <a:lnSpc>
                <a:spcPct val="110000"/>
              </a:lnSpc>
              <a:spcBef>
                <a:spcPts val="0"/>
              </a:spcBef>
              <a:spcAft>
                <a:spcPts val="500"/>
              </a:spcAft>
            </a:pPr>
            <a:r>
              <a:rPr sz="1150" b="0">
                <a:solidFill>
                  <a:srgbClr val="2E2E2E"/>
                </a:solidFill>
                <a:latin typeface="Calibri"/>
              </a:rPr>
              <a:t>Canada gains 87 BPS because it grows at 6.6% against 5.5% for the U.S., supported by a smaller, rapidly diversifying food processing base, population growth through immigration and rising demand for packaged and e-commerce goods. The U.S. is far larger and more saturated, so it grows slower and loses the same 87 BPS even though it still holds the vast majority of value.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Country (Thousand MT)</a:t>
            </a:r>
          </a:p>
        </p:txBody>
      </p:sp>
      <p:graphicFrame>
        <p:nvGraphicFramePr>
          <p:cNvPr id="13" name="Chart 12"/>
          <p:cNvGraphicFramePr>
            <a:graphicFrameLocks noGrp="1"/>
          </p:cNvGraphicFramePr>
          <p:nvPr/>
        </p:nvGraphicFramePr>
        <p:xfrm>
          <a:off x="238125" y="1266825"/>
          <a:ext cx="1171575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Country (US$ Mn)</a:t>
            </a:r>
          </a:p>
        </p:txBody>
      </p:sp>
      <p:graphicFrame>
        <p:nvGraphicFramePr>
          <p:cNvPr id="16" name="Chart 15"/>
          <p:cNvGraphicFramePr>
            <a:graphicFrameLocks noGrp="1"/>
          </p:cNvGraphicFramePr>
          <p:nvPr/>
        </p:nvGraphicFramePr>
        <p:xfrm>
          <a:off x="238125" y="4152900"/>
          <a:ext cx="11715750" cy="24098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Top 2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North America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by country  ·  2036 (US$ Mn)  ·  tile size = market value</a:t>
            </a:r>
          </a:p>
        </p:txBody>
      </p:sp>
      <p:sp>
        <p:nvSpPr>
          <p:cNvPr id="13" name="Rectangle 12"/>
          <p:cNvSpPr/>
          <p:nvPr/>
        </p:nvSpPr>
        <p:spPr>
          <a:xfrm>
            <a:off x="238125" y="1266825"/>
            <a:ext cx="10574272"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56,021</a:t>
            </a:r>
          </a:p>
        </p:txBody>
      </p:sp>
      <p:sp>
        <p:nvSpPr>
          <p:cNvPr id="14" name="Rectangle 13"/>
          <p:cNvSpPr/>
          <p:nvPr/>
        </p:nvSpPr>
        <p:spPr>
          <a:xfrm>
            <a:off x="10812397" y="1266825"/>
            <a:ext cx="1141478"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6,047</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Segments</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Principal Material / Barrier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Structure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Application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Vs Application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Rollstock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19,229</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32,693</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5.5%</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Premade Pouches &amp; Bags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10,233</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17,986</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5.8%</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Barrier Casings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3,980</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6,998</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5.8%</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Sachets &amp; Stick Packs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2,536</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4,391</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5.6%</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product type, barrier casings segment is expected to witness the highest CAGR of 5.8% over the forecast period. In terms of value share by product type, the rollstock films segment is expected to dominate the market, losing 78 BPS and accounting for 52.7%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Rollstock films segment is projected to register 1.8X higher value than premade pouches &amp; bags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Rollstock Films: </a:t>
            </a:r>
            <a:r>
              <a:rPr sz="1100" b="0">
                <a:solidFill>
                  <a:srgbClr val="2E2E2E"/>
                </a:solidFill>
                <a:latin typeface="Calibri"/>
              </a:rPr>
              <a:t>53% of 2026 value · 5.5%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Premade Pouches &amp; Bags: </a:t>
            </a:r>
            <a:r>
              <a:rPr sz="1100" b="0">
                <a:solidFill>
                  <a:srgbClr val="2E2E2E"/>
                </a:solidFill>
                <a:latin typeface="Calibri"/>
              </a:rPr>
              <a:t>28% of 2026 value · 5.8%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Barrier Casings: </a:t>
            </a:r>
            <a:r>
              <a:rPr sz="1100" b="0">
                <a:solidFill>
                  <a:srgbClr val="2E2E2E"/>
                </a:solidFill>
                <a:latin typeface="Calibri"/>
              </a:rPr>
              <a:t>11% of 2026 value · 5.8%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Sachets &amp; Stick Packs: </a:t>
            </a:r>
            <a:r>
              <a:rPr sz="1100" b="0">
                <a:solidFill>
                  <a:srgbClr val="2E2E2E"/>
                </a:solidFill>
                <a:latin typeface="Calibri"/>
              </a:rPr>
              <a:t>7% of 2026 value · 5.6%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Type segment is projected to grow at a CAGR of 5.6%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Rollstock films followed by premade pouches &amp; bags are expected to be the two most attractive product type segments in the North America flexible plastic packaging market in terms of value over the forecast period. Rollstock films and premade pouches &amp; bags exhibit a CAGR index of 97 and 104 and a market share index of 214 and 114 respectively, against the segment average of 100. The sachets &amp; stick packs segment is expected to be less attractive as compared to other segments over the forecast period, owing to its lower CAGR and incremental opportunity. Rollstock Films and Premade Pouches &amp; Bags rank as the most attractive because they pair scale with growth. Rollstock feeds the high-speed form-fill-seal lines used across food, so its scale turns average growth into the largest absolute gain, with 53.4% of 2026 value growing at 5.5%. For Premade Pouches &amp; Bags, pouch demand rises with convenience, resealability and e-commerce, at 28.4% share and 5.8% CAGR.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Rollstock Films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Barrier Casings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Premade Pouches &amp; Bags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Sachets &amp; Stick Packs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Product Type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Product Type (Thousand MT)</a:t>
            </a:r>
          </a:p>
        </p:txBody>
      </p:sp>
      <p:graphicFrame>
        <p:nvGraphicFramePr>
          <p:cNvPr id="13" name="Table 12"/>
          <p:cNvGraphicFramePr>
            <a:graphicFrameLocks noGrp="1"/>
          </p:cNvGraphicFramePr>
          <p:nvPr/>
        </p:nvGraphicFramePr>
        <p:xfrm>
          <a:off x="152400" y="1238250"/>
          <a:ext cx="11887205" cy="3448050"/>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Product Type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Product Type (Thousand MT)</a:t>
            </a:r>
          </a:p>
        </p:txBody>
      </p:sp>
      <p:graphicFrame>
        <p:nvGraphicFramePr>
          <p:cNvPr id="12" name="Table 11"/>
          <p:cNvGraphicFramePr>
            <a:graphicFrameLocks noGrp="1"/>
          </p:cNvGraphicFramePr>
          <p:nvPr/>
        </p:nvGraphicFramePr>
        <p:xfrm>
          <a:off x="152400" y="1238250"/>
          <a:ext cx="11887207" cy="1514475"/>
        </p:xfrm>
        <a:graphic>
          <a:graphicData uri="http://schemas.openxmlformats.org/drawingml/2006/table">
            <a:tbl>
              <a:tblPr>
                <a:tableStyleId>{5C22544A-7EE6-4342-B048-85BDC9FD1C3A}</a:tableStyleId>
              </a:tblPr>
              <a:tblGrid>
                <a:gridCol w="1522732"/>
                <a:gridCol w="609675"/>
                <a:gridCol w="609675"/>
                <a:gridCol w="609675"/>
                <a:gridCol w="609675"/>
                <a:gridCol w="609675"/>
                <a:gridCol w="609675"/>
                <a:gridCol w="609675"/>
                <a:gridCol w="609675"/>
                <a:gridCol w="609675"/>
                <a:gridCol w="609675"/>
                <a:gridCol w="609675"/>
                <a:gridCol w="609675"/>
                <a:gridCol w="609675"/>
                <a:gridCol w="609675"/>
                <a:gridCol w="609675"/>
                <a:gridCol w="609675"/>
                <a:gridCol w="609675"/>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Flat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Retort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Sachets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Product Type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Rollstock films segment is projected to register 1.7X higher volume than premade pouches &amp; bags segment in 2036. Among flexible plastic packaging by product type, premade pouches &amp; bags segment is expected to witness the highest CAGR of 4.3% over the forecast period.</a:t>
            </a:r>
          </a:p>
          <a:p>
            <a:pPr algn="l">
              <a:lnSpc>
                <a:spcPct val="110000"/>
              </a:lnSpc>
              <a:spcBef>
                <a:spcPts val="0"/>
              </a:spcBef>
              <a:spcAft>
                <a:spcPts val="500"/>
              </a:spcAft>
            </a:pPr>
            <a:r>
              <a:rPr sz="1150" b="0">
                <a:solidFill>
                  <a:srgbClr val="2E2E2E"/>
                </a:solidFill>
                <a:latin typeface="Calibri"/>
              </a:rPr>
              <a:t>In terms of volume share by product type, the rollstock films segment is expected to dominate the market, maintaining its share and accounting for 53.4% share by 2036. The sachets &amp; stick packs segment is expected to lose 13 BPS over the forecast period to account for 8.0% share by 2036.</a:t>
            </a:r>
          </a:p>
          <a:p>
            <a:pPr algn="l">
              <a:lnSpc>
                <a:spcPct val="110000"/>
              </a:lnSpc>
              <a:spcBef>
                <a:spcPts val="0"/>
              </a:spcBef>
              <a:spcAft>
                <a:spcPts val="500"/>
              </a:spcAft>
            </a:pPr>
            <a:r>
              <a:rPr sz="1150" b="0">
                <a:solidFill>
                  <a:srgbClr val="2E2E2E"/>
                </a:solidFill>
                <a:latin typeface="Calibri"/>
              </a:rPr>
              <a:t>Premade Pouches &amp; Bags gain 15 BPS of volume share because stand-up and resealable formats suit e-commerce, convenience retail and portion-controlled food, backed by e-commerce fulfilment, food delivery and strong protein and ready-meal packaging demand. Sachets &amp; Stick Packs lose 13 BPS at 4.1% growth as single-serve formats are niche and largely mature, so the 4.3% market rate runs ahead of them.</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Product Type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Product Type (US$ Mn)</a:t>
            </a:r>
          </a:p>
        </p:txBody>
      </p:sp>
      <p:graphicFrame>
        <p:nvGraphicFramePr>
          <p:cNvPr id="13" name="Table 12"/>
          <p:cNvGraphicFramePr>
            <a:graphicFrameLocks noGrp="1"/>
          </p:cNvGraphicFramePr>
          <p:nvPr/>
        </p:nvGraphicFramePr>
        <p:xfrm>
          <a:off x="152400" y="1238250"/>
          <a:ext cx="11887205" cy="3448050"/>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Product Type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Product Type (US$ Mn)</a:t>
            </a:r>
          </a:p>
        </p:txBody>
      </p:sp>
      <p:graphicFrame>
        <p:nvGraphicFramePr>
          <p:cNvPr id="12" name="Table 11"/>
          <p:cNvGraphicFramePr>
            <a:graphicFrameLocks noGrp="1"/>
          </p:cNvGraphicFramePr>
          <p:nvPr/>
        </p:nvGraphicFramePr>
        <p:xfrm>
          <a:off x="152400" y="1238250"/>
          <a:ext cx="11887207" cy="1514475"/>
        </p:xfrm>
        <a:graphic>
          <a:graphicData uri="http://schemas.openxmlformats.org/drawingml/2006/table">
            <a:tbl>
              <a:tblPr>
                <a:tableStyleId>{5C22544A-7EE6-4342-B048-85BDC9FD1C3A}</a:tableStyleId>
              </a:tblPr>
              <a:tblGrid>
                <a:gridCol w="1522732"/>
                <a:gridCol w="609675"/>
                <a:gridCol w="609675"/>
                <a:gridCol w="609675"/>
                <a:gridCol w="609675"/>
                <a:gridCol w="609675"/>
                <a:gridCol w="609675"/>
                <a:gridCol w="609675"/>
                <a:gridCol w="609675"/>
                <a:gridCol w="609675"/>
                <a:gridCol w="609675"/>
                <a:gridCol w="609675"/>
                <a:gridCol w="609675"/>
                <a:gridCol w="609675"/>
                <a:gridCol w="609675"/>
                <a:gridCol w="609675"/>
                <a:gridCol w="609675"/>
                <a:gridCol w="609675"/>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Flat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Retort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Sachets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Product Type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Rollstock films segment is projected to register 1.8X higher value than premade pouches &amp; bags segment in 2036. Among flexible plastic packaging by product type, barrier casings segment is expected to witness the highest CAGR of 5.8% over the forecast period.</a:t>
            </a:r>
          </a:p>
          <a:p>
            <a:pPr algn="l">
              <a:lnSpc>
                <a:spcPct val="110000"/>
              </a:lnSpc>
              <a:spcBef>
                <a:spcPts val="0"/>
              </a:spcBef>
              <a:spcAft>
                <a:spcPts val="500"/>
              </a:spcAft>
            </a:pPr>
            <a:r>
              <a:rPr sz="1150" b="0">
                <a:solidFill>
                  <a:srgbClr val="2E2E2E"/>
                </a:solidFill>
                <a:latin typeface="Calibri"/>
              </a:rPr>
              <a:t>In terms of value share by product type, the rollstock films segment is expected to dominate the market, losing 78 BPS and accounting for 52.7% share by 2036.</a:t>
            </a:r>
          </a:p>
          <a:p>
            <a:pPr algn="l">
              <a:lnSpc>
                <a:spcPct val="110000"/>
              </a:lnSpc>
              <a:spcBef>
                <a:spcPts val="0"/>
              </a:spcBef>
              <a:spcAft>
                <a:spcPts val="500"/>
              </a:spcAft>
            </a:pPr>
            <a:r>
              <a:rPr sz="1150" b="0">
                <a:solidFill>
                  <a:srgbClr val="2E2E2E"/>
                </a:solidFill>
                <a:latin typeface="Calibri"/>
              </a:rPr>
              <a:t>Premade Pouches &amp; Bags gain 54 BPS because e-commerce, pet food, ready meals and resealable snack formats favour stand-up pouches that fillers can adopt without form-fill-seal lines. Barrier Casings rise on protein and processed meat demand and grow fastest at 5.8%. Rollstock Films lose 78 BPS since, as the mature and largest format, they grow only 5.5%.</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3300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2824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5204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Sachets &amp; Stick Packs</a:t>
            </a:r>
          </a:p>
        </p:txBody>
      </p:sp>
      <p:sp>
        <p:nvSpPr>
          <p:cNvPr id="19" name="BPS Value 1"/>
          <p:cNvSpPr txBox="1"/>
          <p:nvPr/>
        </p:nvSpPr>
        <p:spPr>
          <a:xfrm>
            <a:off x="6896100" y="1813953"/>
            <a:ext cx="514350" cy="123825"/>
          </a:xfrm>
          <a:prstGeom prst="rect">
            <a:avLst/>
          </a:prstGeom>
          <a:noFill/>
        </p:spPr>
        <p:txBody>
          <a:bodyPr wrap="none" lIns="0" rIns="0" tIns="0" bIns="0" anchor="ctr">
            <a:spAutoFit/>
          </a:bodyPr>
          <a:lstStyle/>
          <a:p>
            <a:pPr algn="r"/>
            <a:r>
              <a:rPr sz="900" b="1">
                <a:solidFill>
                  <a:srgbClr val="2E7D32"/>
                </a:solidFill>
                <a:latin typeface="Calibri"/>
              </a:rPr>
              <a:t>+3</a:t>
            </a:r>
          </a:p>
        </p:txBody>
      </p:sp>
      <p:sp>
        <p:nvSpPr>
          <p:cNvPr id="20" name="FMI Legend Chip"/>
          <p:cNvSpPr/>
          <p:nvPr/>
        </p:nvSpPr>
        <p:spPr>
          <a:xfrm>
            <a:off x="4928997" y="225249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24773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1715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Barrier Casings</a:t>
            </a:r>
          </a:p>
        </p:txBody>
      </p:sp>
      <p:sp>
        <p:nvSpPr>
          <p:cNvPr id="23" name="BPS Value 2"/>
          <p:cNvSpPr txBox="1"/>
          <p:nvPr/>
        </p:nvSpPr>
        <p:spPr>
          <a:xfrm>
            <a:off x="6896100" y="2233445"/>
            <a:ext cx="514350" cy="123825"/>
          </a:xfrm>
          <a:prstGeom prst="rect">
            <a:avLst/>
          </a:prstGeom>
          <a:noFill/>
        </p:spPr>
        <p:txBody>
          <a:bodyPr wrap="none" lIns="0" rIns="0" tIns="0" bIns="0" anchor="ctr">
            <a:spAutoFit/>
          </a:bodyPr>
          <a:lstStyle/>
          <a:p>
            <a:pPr algn="r"/>
            <a:r>
              <a:rPr sz="900" b="1">
                <a:solidFill>
                  <a:srgbClr val="2E7D32"/>
                </a:solidFill>
                <a:latin typeface="Calibri"/>
              </a:rPr>
              <a:t>+21</a:t>
            </a:r>
          </a:p>
        </p:txBody>
      </p:sp>
      <p:sp>
        <p:nvSpPr>
          <p:cNvPr id="24" name="FMI Legend Chip"/>
          <p:cNvSpPr/>
          <p:nvPr/>
        </p:nvSpPr>
        <p:spPr>
          <a:xfrm>
            <a:off x="4928997" y="317273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16797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09177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Premade Pouches &amp; Bags</a:t>
            </a:r>
          </a:p>
        </p:txBody>
      </p:sp>
      <p:sp>
        <p:nvSpPr>
          <p:cNvPr id="27" name="BPS Value 3"/>
          <p:cNvSpPr txBox="1"/>
          <p:nvPr/>
        </p:nvSpPr>
        <p:spPr>
          <a:xfrm>
            <a:off x="6896100" y="3153688"/>
            <a:ext cx="514350" cy="123825"/>
          </a:xfrm>
          <a:prstGeom prst="rect">
            <a:avLst/>
          </a:prstGeom>
          <a:noFill/>
        </p:spPr>
        <p:txBody>
          <a:bodyPr wrap="none" lIns="0" rIns="0" tIns="0" bIns="0" anchor="ctr">
            <a:spAutoFit/>
          </a:bodyPr>
          <a:lstStyle/>
          <a:p>
            <a:pPr algn="r"/>
            <a:r>
              <a:rPr sz="900" b="1">
                <a:solidFill>
                  <a:srgbClr val="2E7D32"/>
                </a:solidFill>
                <a:latin typeface="Calibri"/>
              </a:rPr>
              <a:t>+54</a:t>
            </a:r>
          </a:p>
        </p:txBody>
      </p:sp>
      <p:sp>
        <p:nvSpPr>
          <p:cNvPr id="28" name="FMI Legend Chip"/>
          <p:cNvSpPr/>
          <p:nvPr/>
        </p:nvSpPr>
        <p:spPr>
          <a:xfrm>
            <a:off x="4928997" y="503943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503467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95847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Rollstock Films</a:t>
            </a:r>
          </a:p>
        </p:txBody>
      </p:sp>
      <p:sp>
        <p:nvSpPr>
          <p:cNvPr id="31" name="BPS Value 4"/>
          <p:cNvSpPr txBox="1"/>
          <p:nvPr/>
        </p:nvSpPr>
        <p:spPr>
          <a:xfrm>
            <a:off x="6896100" y="5020387"/>
            <a:ext cx="514350" cy="123825"/>
          </a:xfrm>
          <a:prstGeom prst="rect">
            <a:avLst/>
          </a:prstGeom>
          <a:noFill/>
        </p:spPr>
        <p:txBody>
          <a:bodyPr wrap="none" lIns="0" rIns="0" tIns="0" bIns="0" anchor="ctr">
            <a:spAutoFit/>
          </a:bodyPr>
          <a:lstStyle/>
          <a:p>
            <a:pPr algn="r"/>
            <a:r>
              <a:rPr sz="900" b="1">
                <a:solidFill>
                  <a:srgbClr val="E44D3A"/>
                </a:solidFill>
                <a:latin typeface="Calibri"/>
              </a:rPr>
              <a:t>-78</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Product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product type, barrier casings segment is expected to witness the highest CAGR of 5.8% over the forecast period.</a:t>
            </a:r>
          </a:p>
          <a:p>
            <a:pPr algn="l">
              <a:lnSpc>
                <a:spcPct val="110000"/>
              </a:lnSpc>
              <a:spcBef>
                <a:spcPts val="0"/>
              </a:spcBef>
              <a:spcAft>
                <a:spcPts val="500"/>
              </a:spcAft>
            </a:pPr>
            <a:r>
              <a:rPr sz="1150" b="0">
                <a:solidFill>
                  <a:srgbClr val="2E2E2E"/>
                </a:solidFill>
                <a:latin typeface="Calibri"/>
              </a:rPr>
              <a:t>In terms of value share by product type, the rollstock films segment is expected to dominate the market, losing 78 BPS and accounting for 52.7% share by 2036.</a:t>
            </a:r>
          </a:p>
          <a:p>
            <a:pPr algn="l">
              <a:lnSpc>
                <a:spcPct val="110000"/>
              </a:lnSpc>
              <a:spcBef>
                <a:spcPts val="0"/>
              </a:spcBef>
              <a:spcAft>
                <a:spcPts val="500"/>
              </a:spcAft>
            </a:pPr>
            <a:r>
              <a:rPr sz="1150" b="0">
                <a:solidFill>
                  <a:srgbClr val="2E2E2E"/>
                </a:solidFill>
                <a:latin typeface="Calibri"/>
              </a:rPr>
              <a:t>Barrier Casings grows fastest at a 5.8% CAGR against 5.6% for the market because rising processed-meat and cheese consumption calls for casings with better oxygen and moisture barrier. The slowest part, Rollstock Films, grows at 5.5% as its large mature base grows more slowly than ready-made formats. In North America, e-commerce volumes, food delivery and recycled-content rules shape converter choices.</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Product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Product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Product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Rollstock Films</a:t>
            </a:r>
          </a:p>
        </p:txBody>
      </p:sp>
      <p:sp>
        <p:nvSpPr>
          <p:cNvPr id="28" name="Rectangle 27"/>
          <p:cNvSpPr/>
          <p:nvPr/>
        </p:nvSpPr>
        <p:spPr>
          <a:xfrm>
            <a:off x="1857375" y="1409700"/>
            <a:ext cx="643890" cy="258128"/>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258128"/>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258128"/>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258128"/>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258128"/>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25812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258128"/>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258128"/>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25812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25812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258128"/>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66782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Lidding &amp; Tray-Sealing Films</a:t>
            </a:r>
          </a:p>
        </p:txBody>
      </p:sp>
      <p:sp>
        <p:nvSpPr>
          <p:cNvPr id="44" name="Rectangle 43"/>
          <p:cNvSpPr/>
          <p:nvPr/>
        </p:nvSpPr>
        <p:spPr>
          <a:xfrm>
            <a:off x="1857375" y="1667828"/>
            <a:ext cx="643890" cy="258128"/>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667828"/>
            <a:ext cx="643890" cy="258128"/>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667828"/>
            <a:ext cx="643890" cy="258128"/>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667828"/>
            <a:ext cx="643890" cy="258128"/>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667828"/>
            <a:ext cx="643890" cy="258128"/>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667828"/>
            <a:ext cx="643890" cy="25812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667828"/>
            <a:ext cx="643890" cy="258128"/>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667828"/>
            <a:ext cx="643890" cy="25812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667828"/>
            <a:ext cx="643890" cy="258128"/>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667828"/>
            <a:ext cx="643890" cy="258128"/>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667828"/>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667828"/>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667828"/>
            <a:ext cx="643890" cy="258128"/>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667828"/>
            <a:ext cx="643890" cy="25812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667828"/>
            <a:ext cx="643890" cy="258128"/>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192595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Thermoforming Films</a:t>
            </a:r>
          </a:p>
        </p:txBody>
      </p:sp>
      <p:sp>
        <p:nvSpPr>
          <p:cNvPr id="60" name="Rectangle 59"/>
          <p:cNvSpPr/>
          <p:nvPr/>
        </p:nvSpPr>
        <p:spPr>
          <a:xfrm>
            <a:off x="1857375" y="1925955"/>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1925955"/>
            <a:ext cx="643890" cy="258128"/>
          </a:xfrm>
          <a:prstGeom prst="rect">
            <a:avLst/>
          </a:prstGeom>
          <a:solidFill>
            <a:srgbClr val="D1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1925955"/>
            <a:ext cx="643890" cy="258128"/>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1925955"/>
            <a:ext cx="643890" cy="258128"/>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1925955"/>
            <a:ext cx="643890" cy="258128"/>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1925955"/>
            <a:ext cx="643890" cy="258128"/>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1925955"/>
            <a:ext cx="643890" cy="258128"/>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1925955"/>
            <a:ext cx="643890" cy="258128"/>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1925955"/>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1925955"/>
            <a:ext cx="643890" cy="258128"/>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1925955"/>
            <a:ext cx="643890" cy="258128"/>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1925955"/>
            <a:ext cx="643890" cy="258128"/>
          </a:xfrm>
          <a:prstGeom prst="rect">
            <a:avLst/>
          </a:prstGeom>
          <a:solidFill>
            <a:srgbClr val="0D5F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1925955"/>
            <a:ext cx="643890" cy="258128"/>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1925955"/>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1925955"/>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18408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Skin Packaging Films</a:t>
            </a:r>
          </a:p>
        </p:txBody>
      </p:sp>
      <p:sp>
        <p:nvSpPr>
          <p:cNvPr id="76" name="Rectangle 75"/>
          <p:cNvSpPr/>
          <p:nvPr/>
        </p:nvSpPr>
        <p:spPr>
          <a:xfrm>
            <a:off x="1857375" y="2184082"/>
            <a:ext cx="643890" cy="25812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184082"/>
            <a:ext cx="643890" cy="25812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184082"/>
            <a:ext cx="643890" cy="258128"/>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184082"/>
            <a:ext cx="643890" cy="258128"/>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184082"/>
            <a:ext cx="643890" cy="258128"/>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184082"/>
            <a:ext cx="643890" cy="258128"/>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184082"/>
            <a:ext cx="643890" cy="258128"/>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184082"/>
            <a:ext cx="643890" cy="258128"/>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184082"/>
            <a:ext cx="643890" cy="258128"/>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184082"/>
            <a:ext cx="643890" cy="258128"/>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184082"/>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184082"/>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184082"/>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184082"/>
            <a:ext cx="643890" cy="25812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184082"/>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44221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HFFS / Flow-Pack Films</a:t>
            </a:r>
          </a:p>
        </p:txBody>
      </p:sp>
      <p:sp>
        <p:nvSpPr>
          <p:cNvPr id="92" name="Rectangle 91"/>
          <p:cNvSpPr/>
          <p:nvPr/>
        </p:nvSpPr>
        <p:spPr>
          <a:xfrm>
            <a:off x="1857375" y="2442210"/>
            <a:ext cx="643890" cy="25812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442210"/>
            <a:ext cx="643890" cy="258128"/>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442210"/>
            <a:ext cx="643890" cy="258128"/>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442210"/>
            <a:ext cx="643890" cy="258128"/>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442210"/>
            <a:ext cx="643890" cy="258128"/>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442210"/>
            <a:ext cx="643890" cy="258128"/>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442210"/>
            <a:ext cx="643890" cy="258128"/>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442210"/>
            <a:ext cx="643890" cy="258128"/>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442210"/>
            <a:ext cx="643890" cy="258128"/>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442210"/>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442210"/>
            <a:ext cx="643890" cy="258128"/>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442210"/>
            <a:ext cx="643890" cy="258128"/>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442210"/>
            <a:ext cx="643890" cy="258128"/>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442210"/>
            <a:ext cx="643890" cy="258128"/>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442210"/>
            <a:ext cx="643890" cy="258128"/>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270033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VFFS Rollstock Films</a:t>
            </a:r>
          </a:p>
        </p:txBody>
      </p:sp>
      <p:sp>
        <p:nvSpPr>
          <p:cNvPr id="108" name="Rectangle 107"/>
          <p:cNvSpPr/>
          <p:nvPr/>
        </p:nvSpPr>
        <p:spPr>
          <a:xfrm>
            <a:off x="1857375" y="2700338"/>
            <a:ext cx="643890" cy="258128"/>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2700338"/>
            <a:ext cx="643890" cy="258128"/>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2700338"/>
            <a:ext cx="643890" cy="25812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2700338"/>
            <a:ext cx="643890" cy="258128"/>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2700338"/>
            <a:ext cx="643890" cy="25812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2700338"/>
            <a:ext cx="643890" cy="25812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2700338"/>
            <a:ext cx="643890" cy="258128"/>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2700338"/>
            <a:ext cx="643890" cy="258128"/>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2700338"/>
            <a:ext cx="643890" cy="258128"/>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2700338"/>
            <a:ext cx="643890" cy="258128"/>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2700338"/>
            <a:ext cx="643890" cy="25812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2700338"/>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2700338"/>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2700338"/>
            <a:ext cx="643890" cy="258128"/>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2700338"/>
            <a:ext cx="643890" cy="258128"/>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295846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&amp; Overwrap Films</a:t>
            </a:r>
          </a:p>
        </p:txBody>
      </p:sp>
      <p:sp>
        <p:nvSpPr>
          <p:cNvPr id="124" name="Rectangle 123"/>
          <p:cNvSpPr/>
          <p:nvPr/>
        </p:nvSpPr>
        <p:spPr>
          <a:xfrm>
            <a:off x="1857375" y="2958465"/>
            <a:ext cx="643890" cy="258128"/>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2958465"/>
            <a:ext cx="643890" cy="25812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2958465"/>
            <a:ext cx="643890" cy="258128"/>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2958465"/>
            <a:ext cx="643890" cy="25812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2958465"/>
            <a:ext cx="643890" cy="258128"/>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2958465"/>
            <a:ext cx="643890" cy="258128"/>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2958465"/>
            <a:ext cx="643890" cy="258128"/>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2958465"/>
            <a:ext cx="643890" cy="25812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2958465"/>
            <a:ext cx="643890" cy="25812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2958465"/>
            <a:ext cx="643890" cy="258128"/>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2958465"/>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2958465"/>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2958465"/>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2958465"/>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2958465"/>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216593"/>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Barrier Casings</a:t>
            </a:r>
          </a:p>
        </p:txBody>
      </p:sp>
      <p:sp>
        <p:nvSpPr>
          <p:cNvPr id="140" name="Rectangle 139"/>
          <p:cNvSpPr/>
          <p:nvPr/>
        </p:nvSpPr>
        <p:spPr>
          <a:xfrm>
            <a:off x="1857375" y="3216593"/>
            <a:ext cx="643890" cy="258128"/>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216593"/>
            <a:ext cx="643890" cy="258128"/>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216593"/>
            <a:ext cx="643890" cy="258128"/>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216593"/>
            <a:ext cx="643890" cy="258128"/>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216593"/>
            <a:ext cx="643890" cy="258128"/>
          </a:xfrm>
          <a:prstGeom prst="rect">
            <a:avLst/>
          </a:prstGeom>
          <a:solidFill>
            <a:srgbClr val="74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216593"/>
            <a:ext cx="643890" cy="258128"/>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216593"/>
            <a:ext cx="643890" cy="258128"/>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216593"/>
            <a:ext cx="643890" cy="25812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216593"/>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216593"/>
            <a:ext cx="643890" cy="258128"/>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216593"/>
            <a:ext cx="643890" cy="258128"/>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216593"/>
            <a:ext cx="643890" cy="258128"/>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216593"/>
            <a:ext cx="643890" cy="258128"/>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216593"/>
            <a:ext cx="643890" cy="258128"/>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216593"/>
            <a:ext cx="643890" cy="258128"/>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47472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Non-Shrink Casings</a:t>
            </a:r>
          </a:p>
        </p:txBody>
      </p:sp>
      <p:sp>
        <p:nvSpPr>
          <p:cNvPr id="156" name="Rectangle 155"/>
          <p:cNvSpPr/>
          <p:nvPr/>
        </p:nvSpPr>
        <p:spPr>
          <a:xfrm>
            <a:off x="1857375" y="3474720"/>
            <a:ext cx="643890" cy="258128"/>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474720"/>
            <a:ext cx="643890" cy="258128"/>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474720"/>
            <a:ext cx="643890" cy="258128"/>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474720"/>
            <a:ext cx="643890" cy="25812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474720"/>
            <a:ext cx="643890" cy="258128"/>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474720"/>
            <a:ext cx="643890" cy="258128"/>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474720"/>
            <a:ext cx="643890" cy="258128"/>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474720"/>
            <a:ext cx="643890" cy="258128"/>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474720"/>
            <a:ext cx="643890" cy="258128"/>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474720"/>
            <a:ext cx="643890" cy="258128"/>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474720"/>
            <a:ext cx="643890" cy="258128"/>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474720"/>
            <a:ext cx="643890" cy="258128"/>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474720"/>
            <a:ext cx="643890" cy="25812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474720"/>
            <a:ext cx="643890" cy="25812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474720"/>
            <a:ext cx="643890" cy="258128"/>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373284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Casings</a:t>
            </a:r>
          </a:p>
        </p:txBody>
      </p:sp>
      <p:sp>
        <p:nvSpPr>
          <p:cNvPr id="172" name="Rectangle 171"/>
          <p:cNvSpPr/>
          <p:nvPr/>
        </p:nvSpPr>
        <p:spPr>
          <a:xfrm>
            <a:off x="1857375" y="3732848"/>
            <a:ext cx="643890" cy="258128"/>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3732848"/>
            <a:ext cx="643890" cy="258128"/>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3732848"/>
            <a:ext cx="643890" cy="258128"/>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3732848"/>
            <a:ext cx="643890" cy="258128"/>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3732848"/>
            <a:ext cx="643890" cy="25812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3732848"/>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3732848"/>
            <a:ext cx="643890" cy="25812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3732848"/>
            <a:ext cx="643890" cy="258128"/>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3732848"/>
            <a:ext cx="643890" cy="258128"/>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3732848"/>
            <a:ext cx="643890" cy="258128"/>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3732848"/>
            <a:ext cx="643890" cy="258128"/>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3732848"/>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3732848"/>
            <a:ext cx="643890" cy="258128"/>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3732848"/>
            <a:ext cx="643890" cy="258128"/>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3732848"/>
            <a:ext cx="643890" cy="258128"/>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399097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Other Specialty Casings</a:t>
            </a:r>
          </a:p>
        </p:txBody>
      </p:sp>
      <p:sp>
        <p:nvSpPr>
          <p:cNvPr id="188" name="Rectangle 187"/>
          <p:cNvSpPr/>
          <p:nvPr/>
        </p:nvSpPr>
        <p:spPr>
          <a:xfrm>
            <a:off x="1857375" y="3990975"/>
            <a:ext cx="643890" cy="258128"/>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3990975"/>
            <a:ext cx="643890" cy="258128"/>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3990975"/>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3990975"/>
            <a:ext cx="643890" cy="258128"/>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3990975"/>
            <a:ext cx="643890" cy="258128"/>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3990975"/>
            <a:ext cx="643890" cy="258128"/>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3990975"/>
            <a:ext cx="643890" cy="258128"/>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3990975"/>
            <a:ext cx="643890" cy="258128"/>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3990975"/>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3990975"/>
            <a:ext cx="643890" cy="258128"/>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3990975"/>
            <a:ext cx="643890" cy="258128"/>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3990975"/>
            <a:ext cx="643890" cy="258128"/>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3990975"/>
            <a:ext cx="643890" cy="258128"/>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3990975"/>
            <a:ext cx="643890" cy="258128"/>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3990975"/>
            <a:ext cx="643890" cy="258128"/>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24910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Premade Pouches &amp; Bags</a:t>
            </a:r>
          </a:p>
        </p:txBody>
      </p:sp>
      <p:sp>
        <p:nvSpPr>
          <p:cNvPr id="204" name="Rectangle 203"/>
          <p:cNvSpPr/>
          <p:nvPr/>
        </p:nvSpPr>
        <p:spPr>
          <a:xfrm>
            <a:off x="1857375" y="4249102"/>
            <a:ext cx="643890" cy="258128"/>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249102"/>
            <a:ext cx="643890" cy="25812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249102"/>
            <a:ext cx="643890" cy="258128"/>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249102"/>
            <a:ext cx="643890" cy="258128"/>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249102"/>
            <a:ext cx="643890" cy="258128"/>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249102"/>
            <a:ext cx="643890" cy="25812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249102"/>
            <a:ext cx="643890" cy="25812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249102"/>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249102"/>
            <a:ext cx="643890" cy="258128"/>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249102"/>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249102"/>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249102"/>
            <a:ext cx="643890" cy="258128"/>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249102"/>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249102"/>
            <a:ext cx="643890" cy="258128"/>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249102"/>
            <a:ext cx="643890" cy="258128"/>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450723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Pouches</a:t>
            </a:r>
          </a:p>
        </p:txBody>
      </p:sp>
      <p:sp>
        <p:nvSpPr>
          <p:cNvPr id="220" name="Rectangle 219"/>
          <p:cNvSpPr/>
          <p:nvPr/>
        </p:nvSpPr>
        <p:spPr>
          <a:xfrm>
            <a:off x="1857375" y="4507230"/>
            <a:ext cx="643890" cy="258128"/>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4507230"/>
            <a:ext cx="643890" cy="258128"/>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4507230"/>
            <a:ext cx="643890" cy="258128"/>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4507230"/>
            <a:ext cx="643890" cy="258128"/>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4507230"/>
            <a:ext cx="643890" cy="258128"/>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4507230"/>
            <a:ext cx="643890" cy="258128"/>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4507230"/>
            <a:ext cx="643890" cy="258128"/>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4507230"/>
            <a:ext cx="643890" cy="258128"/>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4507230"/>
            <a:ext cx="643890" cy="258128"/>
          </a:xfrm>
          <a:prstGeom prst="rect">
            <a:avLst/>
          </a:prstGeom>
          <a:solidFill>
            <a:srgbClr val="2E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4507230"/>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4507230"/>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4507230"/>
            <a:ext cx="643890" cy="258128"/>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4507230"/>
            <a:ext cx="643890" cy="258128"/>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4507230"/>
            <a:ext cx="643890" cy="25812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4507230"/>
            <a:ext cx="643890" cy="258128"/>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476535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Bags</a:t>
            </a:r>
          </a:p>
        </p:txBody>
      </p:sp>
      <p:sp>
        <p:nvSpPr>
          <p:cNvPr id="236" name="Rectangle 235"/>
          <p:cNvSpPr/>
          <p:nvPr/>
        </p:nvSpPr>
        <p:spPr>
          <a:xfrm>
            <a:off x="1857375" y="4765358"/>
            <a:ext cx="643890" cy="258128"/>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4765358"/>
            <a:ext cx="643890" cy="258128"/>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4765358"/>
            <a:ext cx="643890" cy="258128"/>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4765358"/>
            <a:ext cx="643890" cy="258128"/>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4765358"/>
            <a:ext cx="643890" cy="258128"/>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4765358"/>
            <a:ext cx="643890" cy="258128"/>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4765358"/>
            <a:ext cx="643890" cy="258128"/>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4765358"/>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4765358"/>
            <a:ext cx="643890" cy="258128"/>
          </a:xfrm>
          <a:prstGeom prst="rect">
            <a:avLst/>
          </a:prstGeom>
          <a:solidFill>
            <a:srgbClr val="16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4765358"/>
            <a:ext cx="643890" cy="258128"/>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4765358"/>
            <a:ext cx="643890" cy="258128"/>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4765358"/>
            <a:ext cx="643890" cy="25812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4765358"/>
            <a:ext cx="643890" cy="258128"/>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4765358"/>
            <a:ext cx="643890" cy="258128"/>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4765358"/>
            <a:ext cx="643890" cy="258128"/>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02348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Stand-Up Pouches</a:t>
            </a:r>
          </a:p>
        </p:txBody>
      </p:sp>
      <p:sp>
        <p:nvSpPr>
          <p:cNvPr id="252" name="Rectangle 251"/>
          <p:cNvSpPr/>
          <p:nvPr/>
        </p:nvSpPr>
        <p:spPr>
          <a:xfrm>
            <a:off x="1857375" y="5023485"/>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023485"/>
            <a:ext cx="643890" cy="258128"/>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023485"/>
            <a:ext cx="643890" cy="258128"/>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023485"/>
            <a:ext cx="643890" cy="258128"/>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023485"/>
            <a:ext cx="643890" cy="258128"/>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023485"/>
            <a:ext cx="643890" cy="25812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023485"/>
            <a:ext cx="643890" cy="258128"/>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023485"/>
            <a:ext cx="643890" cy="258128"/>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023485"/>
            <a:ext cx="643890" cy="258128"/>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023485"/>
            <a:ext cx="643890" cy="258128"/>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023485"/>
            <a:ext cx="643890" cy="25812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023485"/>
            <a:ext cx="643890" cy="258128"/>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023485"/>
            <a:ext cx="643890" cy="25812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023485"/>
            <a:ext cx="643890" cy="258128"/>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023485"/>
            <a:ext cx="643890" cy="258128"/>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528161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Flat Pouches</a:t>
            </a:r>
          </a:p>
        </p:txBody>
      </p:sp>
      <p:sp>
        <p:nvSpPr>
          <p:cNvPr id="268" name="Rectangle 267"/>
          <p:cNvSpPr/>
          <p:nvPr/>
        </p:nvSpPr>
        <p:spPr>
          <a:xfrm>
            <a:off x="1857375" y="5281612"/>
            <a:ext cx="643890" cy="258128"/>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5281612"/>
            <a:ext cx="643890" cy="25812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5281612"/>
            <a:ext cx="643890" cy="258128"/>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5281612"/>
            <a:ext cx="643890" cy="258128"/>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5281612"/>
            <a:ext cx="643890" cy="258128"/>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5281612"/>
            <a:ext cx="643890" cy="258128"/>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5281612"/>
            <a:ext cx="643890" cy="258128"/>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5281612"/>
            <a:ext cx="643890" cy="258128"/>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5281612"/>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5281612"/>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5281612"/>
            <a:ext cx="643890" cy="258128"/>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5281612"/>
            <a:ext cx="643890" cy="258128"/>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5281612"/>
            <a:ext cx="643890" cy="258128"/>
          </a:xfrm>
          <a:prstGeom prst="rect">
            <a:avLst/>
          </a:prstGeom>
          <a:solidFill>
            <a:srgbClr val="0D54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5281612"/>
            <a:ext cx="643890" cy="258128"/>
          </a:xfrm>
          <a:prstGeom prst="rect">
            <a:avLst/>
          </a:prstGeom>
          <a:solidFill>
            <a:srgbClr val="0E6C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5281612"/>
            <a:ext cx="643890" cy="258128"/>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238125" y="553974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Retort Pouches</a:t>
            </a:r>
          </a:p>
        </p:txBody>
      </p:sp>
      <p:sp>
        <p:nvSpPr>
          <p:cNvPr id="284" name="Rectangle 283"/>
          <p:cNvSpPr/>
          <p:nvPr/>
        </p:nvSpPr>
        <p:spPr>
          <a:xfrm>
            <a:off x="1857375" y="5539740"/>
            <a:ext cx="643890" cy="258128"/>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2501265" y="5539740"/>
            <a:ext cx="643890" cy="258128"/>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3145155" y="5539740"/>
            <a:ext cx="643890" cy="25812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3789045" y="5539740"/>
            <a:ext cx="643890" cy="258128"/>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4432935" y="5539740"/>
            <a:ext cx="643890" cy="25812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5076825" y="5539740"/>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5720715" y="5539740"/>
            <a:ext cx="643890" cy="258128"/>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6364605" y="5539740"/>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7008495" y="5539740"/>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7652385" y="5539740"/>
            <a:ext cx="643890" cy="258128"/>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8296275" y="5539740"/>
            <a:ext cx="643890" cy="258128"/>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8940165" y="5539740"/>
            <a:ext cx="643890" cy="258128"/>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9584055" y="5539740"/>
            <a:ext cx="643890" cy="258128"/>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0227945" y="5539740"/>
            <a:ext cx="643890" cy="258128"/>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0871835" y="5539740"/>
            <a:ext cx="643890" cy="258128"/>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238125" y="579786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Sachets &amp; Stick Packs</a:t>
            </a:r>
          </a:p>
        </p:txBody>
      </p:sp>
      <p:sp>
        <p:nvSpPr>
          <p:cNvPr id="300" name="Rectangle 299"/>
          <p:cNvSpPr/>
          <p:nvPr/>
        </p:nvSpPr>
        <p:spPr>
          <a:xfrm>
            <a:off x="1857375" y="5797868"/>
            <a:ext cx="643890" cy="258128"/>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2501265" y="5797868"/>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3145155" y="5797868"/>
            <a:ext cx="643890" cy="258128"/>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3789045" y="5797868"/>
            <a:ext cx="643890" cy="258128"/>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4432935" y="5797868"/>
            <a:ext cx="643890" cy="258128"/>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5076825" y="5797868"/>
            <a:ext cx="643890" cy="258128"/>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5720715" y="5797868"/>
            <a:ext cx="643890" cy="258128"/>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6364605" y="5797868"/>
            <a:ext cx="643890" cy="25812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7008495" y="5797868"/>
            <a:ext cx="643890" cy="25812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7652385" y="5797868"/>
            <a:ext cx="643890" cy="258128"/>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8296275" y="5797868"/>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8940165" y="5797868"/>
            <a:ext cx="643890" cy="258128"/>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9584055" y="5797868"/>
            <a:ext cx="643890" cy="258128"/>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0227945" y="5797868"/>
            <a:ext cx="643890" cy="25812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0871835" y="5797868"/>
            <a:ext cx="643890" cy="258128"/>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238125" y="605599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Sachets</a:t>
            </a:r>
          </a:p>
        </p:txBody>
      </p:sp>
      <p:sp>
        <p:nvSpPr>
          <p:cNvPr id="316" name="Rectangle 315"/>
          <p:cNvSpPr/>
          <p:nvPr/>
        </p:nvSpPr>
        <p:spPr>
          <a:xfrm>
            <a:off x="1857375" y="6055995"/>
            <a:ext cx="643890" cy="258128"/>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2501265" y="6055995"/>
            <a:ext cx="643890" cy="258128"/>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3145155" y="6055995"/>
            <a:ext cx="643890" cy="258128"/>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3789045" y="6055995"/>
            <a:ext cx="643890" cy="258128"/>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4432935" y="6055995"/>
            <a:ext cx="643890" cy="25812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5076825" y="6055995"/>
            <a:ext cx="643890" cy="258128"/>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5720715" y="6055995"/>
            <a:ext cx="643890" cy="258128"/>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6364605" y="6055995"/>
            <a:ext cx="643890" cy="258128"/>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Rectangle 323"/>
          <p:cNvSpPr/>
          <p:nvPr/>
        </p:nvSpPr>
        <p:spPr>
          <a:xfrm>
            <a:off x="7008495" y="6055995"/>
            <a:ext cx="643890" cy="258128"/>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Rectangle 324"/>
          <p:cNvSpPr/>
          <p:nvPr/>
        </p:nvSpPr>
        <p:spPr>
          <a:xfrm>
            <a:off x="7652385" y="6055995"/>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6" name="Rectangle 325"/>
          <p:cNvSpPr/>
          <p:nvPr/>
        </p:nvSpPr>
        <p:spPr>
          <a:xfrm>
            <a:off x="8296275" y="6055995"/>
            <a:ext cx="643890" cy="25812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Rectangle 326"/>
          <p:cNvSpPr/>
          <p:nvPr/>
        </p:nvSpPr>
        <p:spPr>
          <a:xfrm>
            <a:off x="8940165" y="6055995"/>
            <a:ext cx="643890" cy="258128"/>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8" name="Rectangle 327"/>
          <p:cNvSpPr/>
          <p:nvPr/>
        </p:nvSpPr>
        <p:spPr>
          <a:xfrm>
            <a:off x="9584055" y="6055995"/>
            <a:ext cx="643890" cy="258128"/>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Rectangle 328"/>
          <p:cNvSpPr/>
          <p:nvPr/>
        </p:nvSpPr>
        <p:spPr>
          <a:xfrm>
            <a:off x="10227945" y="6055995"/>
            <a:ext cx="643890" cy="25812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Rectangle 329"/>
          <p:cNvSpPr/>
          <p:nvPr/>
        </p:nvSpPr>
        <p:spPr>
          <a:xfrm>
            <a:off x="10871835" y="6055995"/>
            <a:ext cx="643890" cy="258128"/>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238125" y="631412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Stick Packs</a:t>
            </a:r>
          </a:p>
        </p:txBody>
      </p:sp>
      <p:sp>
        <p:nvSpPr>
          <p:cNvPr id="332" name="Rectangle 331"/>
          <p:cNvSpPr/>
          <p:nvPr/>
        </p:nvSpPr>
        <p:spPr>
          <a:xfrm>
            <a:off x="1857375" y="6314122"/>
            <a:ext cx="643890" cy="258128"/>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Rectangle 332"/>
          <p:cNvSpPr/>
          <p:nvPr/>
        </p:nvSpPr>
        <p:spPr>
          <a:xfrm>
            <a:off x="2501265" y="6314122"/>
            <a:ext cx="643890" cy="258128"/>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Rectangle 333"/>
          <p:cNvSpPr/>
          <p:nvPr/>
        </p:nvSpPr>
        <p:spPr>
          <a:xfrm>
            <a:off x="3145155" y="6314122"/>
            <a:ext cx="643890" cy="25812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5" name="Rectangle 334"/>
          <p:cNvSpPr/>
          <p:nvPr/>
        </p:nvSpPr>
        <p:spPr>
          <a:xfrm>
            <a:off x="3789045" y="6314122"/>
            <a:ext cx="643890" cy="258128"/>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Rectangle 335"/>
          <p:cNvSpPr/>
          <p:nvPr/>
        </p:nvSpPr>
        <p:spPr>
          <a:xfrm>
            <a:off x="4432935" y="6314122"/>
            <a:ext cx="643890" cy="258128"/>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7" name="Rectangle 336"/>
          <p:cNvSpPr/>
          <p:nvPr/>
        </p:nvSpPr>
        <p:spPr>
          <a:xfrm>
            <a:off x="5076825" y="6314122"/>
            <a:ext cx="643890" cy="258128"/>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Rectangle 337"/>
          <p:cNvSpPr/>
          <p:nvPr/>
        </p:nvSpPr>
        <p:spPr>
          <a:xfrm>
            <a:off x="5720715" y="6314122"/>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Rectangle 338"/>
          <p:cNvSpPr/>
          <p:nvPr/>
        </p:nvSpPr>
        <p:spPr>
          <a:xfrm>
            <a:off x="6364605" y="6314122"/>
            <a:ext cx="643890" cy="258128"/>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0" name="Rectangle 339"/>
          <p:cNvSpPr/>
          <p:nvPr/>
        </p:nvSpPr>
        <p:spPr>
          <a:xfrm>
            <a:off x="7008495" y="6314122"/>
            <a:ext cx="643890" cy="258128"/>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1" name="Rectangle 340"/>
          <p:cNvSpPr/>
          <p:nvPr/>
        </p:nvSpPr>
        <p:spPr>
          <a:xfrm>
            <a:off x="7652385" y="6314122"/>
            <a:ext cx="643890" cy="25812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2" name="Rectangle 341"/>
          <p:cNvSpPr/>
          <p:nvPr/>
        </p:nvSpPr>
        <p:spPr>
          <a:xfrm>
            <a:off x="8296275" y="6314122"/>
            <a:ext cx="643890" cy="258128"/>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3" name="Rectangle 342"/>
          <p:cNvSpPr/>
          <p:nvPr/>
        </p:nvSpPr>
        <p:spPr>
          <a:xfrm>
            <a:off x="8940165" y="6314122"/>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4" name="Rectangle 343"/>
          <p:cNvSpPr/>
          <p:nvPr/>
        </p:nvSpPr>
        <p:spPr>
          <a:xfrm>
            <a:off x="9584055" y="6314122"/>
            <a:ext cx="643890" cy="258128"/>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5" name="Rectangle 344"/>
          <p:cNvSpPr/>
          <p:nvPr/>
        </p:nvSpPr>
        <p:spPr>
          <a:xfrm>
            <a:off x="10227945" y="6314122"/>
            <a:ext cx="643890" cy="258128"/>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6" name="Rectangle 345"/>
          <p:cNvSpPr/>
          <p:nvPr/>
        </p:nvSpPr>
        <p:spPr>
          <a:xfrm>
            <a:off x="10871835" y="6314122"/>
            <a:ext cx="643890" cy="25812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7" name="Rectangle 34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8" name="Rectangle 34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9" name="Rectangle 34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0" name="Rectangle 34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1" name="Rectangle 35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2" name="Rectangle 35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3" name="Rectangle 35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4" name="Rectangle 35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5" name="Rectangle 35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6" name="Rectangle 35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7" name="Rectangle 35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8" name="Rectangle 35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9" name="Rectangle 35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0" name="Rectangle 35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1" name="Rectangle 36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2" name="Rectangle 36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3" name="Rectangle 36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4" name="Rectangle 36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5" name="Rectangle 36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6" name="Rectangle 36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7" name="Rectangle 36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8" name="Rectangle 36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9" name="Rectangle 36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0" name="Rectangle 36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1" name="Rectangle 37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2" name="Rectangle 37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3" name="Rectangle 37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4" name="Rectangle 37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5" name="Rectangle 37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6" name="Rectangle 37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7" name="Rectangle 37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8" name="Rectangle 37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9" name="Rectangle 37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0" name="Rectangle 37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1" name="Rectangle 38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2" name="Rectangle 38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3" name="Rectangle 38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4" name="Rectangle 38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5" name="Rectangle 38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6" name="Rectangle 38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7" name="Rectangle 38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8" name="TextBox 38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89" name="TextBox 38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90" name="TextBox 38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391" name="TextBox 39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Product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Product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Product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Rollstock Films</a:t>
            </a:r>
          </a:p>
        </p:txBody>
      </p:sp>
      <p:sp>
        <p:nvSpPr>
          <p:cNvPr id="28" name="Rectangle 27"/>
          <p:cNvSpPr/>
          <p:nvPr/>
        </p:nvSpPr>
        <p:spPr>
          <a:xfrm>
            <a:off x="1857375" y="1409700"/>
            <a:ext cx="643890" cy="258128"/>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258128"/>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258128"/>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258128"/>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258128"/>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258128"/>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25812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25812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258128"/>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258128"/>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66782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Lidding &amp; Tray-Sealing Films</a:t>
            </a:r>
          </a:p>
        </p:txBody>
      </p:sp>
      <p:sp>
        <p:nvSpPr>
          <p:cNvPr id="44" name="Rectangle 43"/>
          <p:cNvSpPr/>
          <p:nvPr/>
        </p:nvSpPr>
        <p:spPr>
          <a:xfrm>
            <a:off x="1857375" y="1667828"/>
            <a:ext cx="643890" cy="258128"/>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667828"/>
            <a:ext cx="643890" cy="258128"/>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667828"/>
            <a:ext cx="643890" cy="258128"/>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667828"/>
            <a:ext cx="643890" cy="25812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667828"/>
            <a:ext cx="643890" cy="258128"/>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667828"/>
            <a:ext cx="643890" cy="258128"/>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667828"/>
            <a:ext cx="643890" cy="258128"/>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667828"/>
            <a:ext cx="643890" cy="258128"/>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667828"/>
            <a:ext cx="643890" cy="258128"/>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667828"/>
            <a:ext cx="643890" cy="258128"/>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667828"/>
            <a:ext cx="643890" cy="258128"/>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667828"/>
            <a:ext cx="643890" cy="258128"/>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667828"/>
            <a:ext cx="643890" cy="258128"/>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667828"/>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667828"/>
            <a:ext cx="643890" cy="258128"/>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192595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Thermoforming Films</a:t>
            </a:r>
          </a:p>
        </p:txBody>
      </p:sp>
      <p:sp>
        <p:nvSpPr>
          <p:cNvPr id="60" name="Rectangle 59"/>
          <p:cNvSpPr/>
          <p:nvPr/>
        </p:nvSpPr>
        <p:spPr>
          <a:xfrm>
            <a:off x="1857375" y="1925955"/>
            <a:ext cx="643890" cy="258128"/>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1925955"/>
            <a:ext cx="643890" cy="258128"/>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1925955"/>
            <a:ext cx="643890" cy="25812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1925955"/>
            <a:ext cx="643890" cy="258128"/>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1925955"/>
            <a:ext cx="643890" cy="258128"/>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1925955"/>
            <a:ext cx="643890" cy="258128"/>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1925955"/>
            <a:ext cx="643890" cy="258128"/>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1925955"/>
            <a:ext cx="643890" cy="258128"/>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1925955"/>
            <a:ext cx="643890" cy="258128"/>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1925955"/>
            <a:ext cx="643890" cy="258128"/>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1925955"/>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1925955"/>
            <a:ext cx="643890" cy="258128"/>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1925955"/>
            <a:ext cx="643890" cy="258128"/>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1925955"/>
            <a:ext cx="643890" cy="258128"/>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1925955"/>
            <a:ext cx="643890" cy="258128"/>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18408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Skin Packaging Films</a:t>
            </a:r>
          </a:p>
        </p:txBody>
      </p:sp>
      <p:sp>
        <p:nvSpPr>
          <p:cNvPr id="76" name="Rectangle 75"/>
          <p:cNvSpPr/>
          <p:nvPr/>
        </p:nvSpPr>
        <p:spPr>
          <a:xfrm>
            <a:off x="1857375" y="2184082"/>
            <a:ext cx="643890" cy="25812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184082"/>
            <a:ext cx="643890" cy="25812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184082"/>
            <a:ext cx="643890" cy="258128"/>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184082"/>
            <a:ext cx="643890" cy="258128"/>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184082"/>
            <a:ext cx="643890" cy="258128"/>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184082"/>
            <a:ext cx="643890" cy="258128"/>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184082"/>
            <a:ext cx="643890" cy="258128"/>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184082"/>
            <a:ext cx="643890" cy="25812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184082"/>
            <a:ext cx="643890" cy="258128"/>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184082"/>
            <a:ext cx="643890" cy="258128"/>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184082"/>
            <a:ext cx="643890" cy="25812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184082"/>
            <a:ext cx="643890" cy="258128"/>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184082"/>
            <a:ext cx="643890" cy="25812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184082"/>
            <a:ext cx="643890" cy="258128"/>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184082"/>
            <a:ext cx="643890" cy="258128"/>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44221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HFFS / Flow-Pack Films</a:t>
            </a:r>
          </a:p>
        </p:txBody>
      </p:sp>
      <p:sp>
        <p:nvSpPr>
          <p:cNvPr id="92" name="Rectangle 91"/>
          <p:cNvSpPr/>
          <p:nvPr/>
        </p:nvSpPr>
        <p:spPr>
          <a:xfrm>
            <a:off x="1857375" y="2442210"/>
            <a:ext cx="643890" cy="25812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442210"/>
            <a:ext cx="643890" cy="258128"/>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442210"/>
            <a:ext cx="643890" cy="258128"/>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442210"/>
            <a:ext cx="643890" cy="258128"/>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442210"/>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442210"/>
            <a:ext cx="643890" cy="258128"/>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442210"/>
            <a:ext cx="643890" cy="258128"/>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442210"/>
            <a:ext cx="643890" cy="258128"/>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442210"/>
            <a:ext cx="643890" cy="258128"/>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442210"/>
            <a:ext cx="643890" cy="258128"/>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442210"/>
            <a:ext cx="643890" cy="258128"/>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442210"/>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442210"/>
            <a:ext cx="643890" cy="258128"/>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442210"/>
            <a:ext cx="643890" cy="25812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442210"/>
            <a:ext cx="643890" cy="25812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270033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VFFS Rollstock Films</a:t>
            </a:r>
          </a:p>
        </p:txBody>
      </p:sp>
      <p:sp>
        <p:nvSpPr>
          <p:cNvPr id="108" name="Rectangle 107"/>
          <p:cNvSpPr/>
          <p:nvPr/>
        </p:nvSpPr>
        <p:spPr>
          <a:xfrm>
            <a:off x="1857375" y="2700338"/>
            <a:ext cx="643890" cy="25812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2700338"/>
            <a:ext cx="643890" cy="258128"/>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2700338"/>
            <a:ext cx="643890" cy="258128"/>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2700338"/>
            <a:ext cx="643890" cy="258128"/>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2700338"/>
            <a:ext cx="643890" cy="258128"/>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2700338"/>
            <a:ext cx="643890" cy="258128"/>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2700338"/>
            <a:ext cx="643890" cy="258128"/>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2700338"/>
            <a:ext cx="643890" cy="258128"/>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2700338"/>
            <a:ext cx="643890" cy="25812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2700338"/>
            <a:ext cx="643890" cy="258128"/>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2700338"/>
            <a:ext cx="643890" cy="258128"/>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2700338"/>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2700338"/>
            <a:ext cx="643890" cy="258128"/>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2700338"/>
            <a:ext cx="643890" cy="25812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2700338"/>
            <a:ext cx="643890" cy="258128"/>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295846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&amp; Overwrap Films</a:t>
            </a:r>
          </a:p>
        </p:txBody>
      </p:sp>
      <p:sp>
        <p:nvSpPr>
          <p:cNvPr id="124" name="Rectangle 123"/>
          <p:cNvSpPr/>
          <p:nvPr/>
        </p:nvSpPr>
        <p:spPr>
          <a:xfrm>
            <a:off x="1857375" y="2958465"/>
            <a:ext cx="643890" cy="258128"/>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2958465"/>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2958465"/>
            <a:ext cx="643890" cy="258128"/>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2958465"/>
            <a:ext cx="643890" cy="258128"/>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2958465"/>
            <a:ext cx="643890" cy="258128"/>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2958465"/>
            <a:ext cx="643890" cy="258128"/>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2958465"/>
            <a:ext cx="643890" cy="258128"/>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2958465"/>
            <a:ext cx="643890" cy="258128"/>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2958465"/>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2958465"/>
            <a:ext cx="643890" cy="258128"/>
          </a:xfrm>
          <a:prstGeom prst="rect">
            <a:avLst/>
          </a:prstGeom>
          <a:solidFill>
            <a:srgbClr val="28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2958465"/>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2958465"/>
            <a:ext cx="643890" cy="258128"/>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2958465"/>
            <a:ext cx="643890" cy="258128"/>
          </a:xfrm>
          <a:prstGeom prst="rect">
            <a:avLst/>
          </a:prstGeom>
          <a:solidFill>
            <a:srgbClr val="0D5F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2958465"/>
            <a:ext cx="643890" cy="258128"/>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2958465"/>
            <a:ext cx="643890" cy="258128"/>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216593"/>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Barrier Casings</a:t>
            </a:r>
          </a:p>
        </p:txBody>
      </p:sp>
      <p:sp>
        <p:nvSpPr>
          <p:cNvPr id="140" name="Rectangle 139"/>
          <p:cNvSpPr/>
          <p:nvPr/>
        </p:nvSpPr>
        <p:spPr>
          <a:xfrm>
            <a:off x="1857375" y="3216593"/>
            <a:ext cx="643890" cy="258128"/>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216593"/>
            <a:ext cx="643890" cy="258128"/>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216593"/>
            <a:ext cx="643890" cy="25812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216593"/>
            <a:ext cx="643890" cy="258128"/>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216593"/>
            <a:ext cx="643890" cy="258128"/>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216593"/>
            <a:ext cx="643890" cy="25812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216593"/>
            <a:ext cx="643890" cy="25812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216593"/>
            <a:ext cx="643890" cy="258128"/>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216593"/>
            <a:ext cx="643890" cy="258128"/>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216593"/>
            <a:ext cx="643890" cy="258128"/>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216593"/>
            <a:ext cx="643890" cy="258128"/>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216593"/>
            <a:ext cx="643890" cy="258128"/>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216593"/>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216593"/>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216593"/>
            <a:ext cx="643890" cy="25812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47472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Non-Shrink Casings</a:t>
            </a:r>
          </a:p>
        </p:txBody>
      </p:sp>
      <p:sp>
        <p:nvSpPr>
          <p:cNvPr id="156" name="Rectangle 155"/>
          <p:cNvSpPr/>
          <p:nvPr/>
        </p:nvSpPr>
        <p:spPr>
          <a:xfrm>
            <a:off x="1857375" y="3474720"/>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474720"/>
            <a:ext cx="643890" cy="258128"/>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474720"/>
            <a:ext cx="643890" cy="258128"/>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474720"/>
            <a:ext cx="643890" cy="258128"/>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474720"/>
            <a:ext cx="643890" cy="258128"/>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474720"/>
            <a:ext cx="643890" cy="258128"/>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474720"/>
            <a:ext cx="643890" cy="258128"/>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474720"/>
            <a:ext cx="643890" cy="258128"/>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474720"/>
            <a:ext cx="643890" cy="258128"/>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474720"/>
            <a:ext cx="643890" cy="258128"/>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474720"/>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474720"/>
            <a:ext cx="643890" cy="258128"/>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474720"/>
            <a:ext cx="643890" cy="258128"/>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474720"/>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474720"/>
            <a:ext cx="643890" cy="258128"/>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373284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Casings</a:t>
            </a:r>
          </a:p>
        </p:txBody>
      </p:sp>
      <p:sp>
        <p:nvSpPr>
          <p:cNvPr id="172" name="Rectangle 171"/>
          <p:cNvSpPr/>
          <p:nvPr/>
        </p:nvSpPr>
        <p:spPr>
          <a:xfrm>
            <a:off x="1857375" y="3732848"/>
            <a:ext cx="643890" cy="258128"/>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3732848"/>
            <a:ext cx="643890" cy="258128"/>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3732848"/>
            <a:ext cx="643890" cy="258128"/>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3732848"/>
            <a:ext cx="643890" cy="258128"/>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3732848"/>
            <a:ext cx="643890" cy="258128"/>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3732848"/>
            <a:ext cx="643890" cy="258128"/>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3732848"/>
            <a:ext cx="643890" cy="25812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3732848"/>
            <a:ext cx="643890" cy="258128"/>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3732848"/>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3732848"/>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3732848"/>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3732848"/>
            <a:ext cx="643890" cy="258128"/>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3732848"/>
            <a:ext cx="643890" cy="258128"/>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3732848"/>
            <a:ext cx="643890" cy="258128"/>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3732848"/>
            <a:ext cx="643890" cy="258128"/>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399097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Other Specialty Casings</a:t>
            </a:r>
          </a:p>
        </p:txBody>
      </p:sp>
      <p:sp>
        <p:nvSpPr>
          <p:cNvPr id="188" name="Rectangle 187"/>
          <p:cNvSpPr/>
          <p:nvPr/>
        </p:nvSpPr>
        <p:spPr>
          <a:xfrm>
            <a:off x="1857375" y="3990975"/>
            <a:ext cx="643890" cy="258128"/>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3990975"/>
            <a:ext cx="643890" cy="25812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3990975"/>
            <a:ext cx="643890" cy="25812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3990975"/>
            <a:ext cx="643890" cy="258128"/>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3990975"/>
            <a:ext cx="643890" cy="258128"/>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3990975"/>
            <a:ext cx="643890" cy="258128"/>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3990975"/>
            <a:ext cx="643890" cy="258128"/>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3990975"/>
            <a:ext cx="643890" cy="258128"/>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3990975"/>
            <a:ext cx="643890" cy="258128"/>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3990975"/>
            <a:ext cx="643890" cy="258128"/>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3990975"/>
            <a:ext cx="643890" cy="258128"/>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3990975"/>
            <a:ext cx="643890" cy="258128"/>
          </a:xfrm>
          <a:prstGeom prst="rect">
            <a:avLst/>
          </a:prstGeom>
          <a:solidFill>
            <a:srgbClr val="0C41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3990975"/>
            <a:ext cx="643890" cy="258128"/>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3990975"/>
            <a:ext cx="643890" cy="258128"/>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3990975"/>
            <a:ext cx="643890" cy="25812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24910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Premade Pouches &amp; Bags</a:t>
            </a:r>
          </a:p>
        </p:txBody>
      </p:sp>
      <p:sp>
        <p:nvSpPr>
          <p:cNvPr id="204" name="Rectangle 203"/>
          <p:cNvSpPr/>
          <p:nvPr/>
        </p:nvSpPr>
        <p:spPr>
          <a:xfrm>
            <a:off x="1857375" y="4249102"/>
            <a:ext cx="643890" cy="258128"/>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249102"/>
            <a:ext cx="643890" cy="258128"/>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249102"/>
            <a:ext cx="643890" cy="258128"/>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249102"/>
            <a:ext cx="643890" cy="258128"/>
          </a:xfrm>
          <a:prstGeom prst="rect">
            <a:avLst/>
          </a:prstGeom>
          <a:solidFill>
            <a:srgbClr val="C8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249102"/>
            <a:ext cx="643890" cy="25812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249102"/>
            <a:ext cx="643890" cy="25812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249102"/>
            <a:ext cx="643890" cy="258128"/>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249102"/>
            <a:ext cx="643890" cy="258128"/>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249102"/>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249102"/>
            <a:ext cx="643890" cy="258128"/>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249102"/>
            <a:ext cx="643890" cy="25812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249102"/>
            <a:ext cx="643890" cy="25812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249102"/>
            <a:ext cx="643890" cy="258128"/>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249102"/>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249102"/>
            <a:ext cx="643890" cy="258128"/>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450723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Pouches</a:t>
            </a:r>
          </a:p>
        </p:txBody>
      </p:sp>
      <p:sp>
        <p:nvSpPr>
          <p:cNvPr id="220" name="Rectangle 219"/>
          <p:cNvSpPr/>
          <p:nvPr/>
        </p:nvSpPr>
        <p:spPr>
          <a:xfrm>
            <a:off x="1857375" y="4507230"/>
            <a:ext cx="643890" cy="258128"/>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4507230"/>
            <a:ext cx="643890" cy="258128"/>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4507230"/>
            <a:ext cx="643890" cy="258128"/>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4507230"/>
            <a:ext cx="643890" cy="258128"/>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4507230"/>
            <a:ext cx="643890" cy="258128"/>
          </a:xfrm>
          <a:prstGeom prst="rect">
            <a:avLst/>
          </a:prstGeom>
          <a:solidFill>
            <a:srgbClr val="A9C9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4507230"/>
            <a:ext cx="643890" cy="258128"/>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4507230"/>
            <a:ext cx="643890" cy="258128"/>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4507230"/>
            <a:ext cx="643890" cy="258128"/>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4507230"/>
            <a:ext cx="643890" cy="258128"/>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4507230"/>
            <a:ext cx="643890" cy="258128"/>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4507230"/>
            <a:ext cx="643890" cy="258128"/>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4507230"/>
            <a:ext cx="643890" cy="258128"/>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4507230"/>
            <a:ext cx="643890" cy="25812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4507230"/>
            <a:ext cx="643890" cy="258128"/>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4507230"/>
            <a:ext cx="643890" cy="25812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476535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Bags</a:t>
            </a:r>
          </a:p>
        </p:txBody>
      </p:sp>
      <p:sp>
        <p:nvSpPr>
          <p:cNvPr id="236" name="Rectangle 235"/>
          <p:cNvSpPr/>
          <p:nvPr/>
        </p:nvSpPr>
        <p:spPr>
          <a:xfrm>
            <a:off x="1857375" y="4765358"/>
            <a:ext cx="643890" cy="258128"/>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4765358"/>
            <a:ext cx="643890" cy="258128"/>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4765358"/>
            <a:ext cx="643890" cy="258128"/>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4765358"/>
            <a:ext cx="643890" cy="25812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4765358"/>
            <a:ext cx="643890" cy="258128"/>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4765358"/>
            <a:ext cx="643890" cy="25812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4765358"/>
            <a:ext cx="643890" cy="258128"/>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4765358"/>
            <a:ext cx="643890" cy="258128"/>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4765358"/>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4765358"/>
            <a:ext cx="643890" cy="258128"/>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4765358"/>
            <a:ext cx="643890" cy="258128"/>
          </a:xfrm>
          <a:prstGeom prst="rect">
            <a:avLst/>
          </a:prstGeom>
          <a:solidFill>
            <a:srgbClr val="0C4E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4765358"/>
            <a:ext cx="643890" cy="258128"/>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4765358"/>
            <a:ext cx="643890" cy="258128"/>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4765358"/>
            <a:ext cx="643890" cy="258128"/>
          </a:xfrm>
          <a:prstGeom prst="rect">
            <a:avLst/>
          </a:prstGeom>
          <a:solidFill>
            <a:srgbClr val="0C3F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4765358"/>
            <a:ext cx="643890" cy="258128"/>
          </a:xfrm>
          <a:prstGeom prst="rect">
            <a:avLst/>
          </a:prstGeom>
          <a:solidFill>
            <a:srgbClr val="0C43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02348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Stand-Up Pouches</a:t>
            </a:r>
          </a:p>
        </p:txBody>
      </p:sp>
      <p:sp>
        <p:nvSpPr>
          <p:cNvPr id="252" name="Rectangle 251"/>
          <p:cNvSpPr/>
          <p:nvPr/>
        </p:nvSpPr>
        <p:spPr>
          <a:xfrm>
            <a:off x="1857375" y="5023485"/>
            <a:ext cx="643890" cy="258128"/>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023485"/>
            <a:ext cx="643890" cy="258128"/>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023485"/>
            <a:ext cx="643890" cy="258128"/>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023485"/>
            <a:ext cx="643890" cy="258128"/>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023485"/>
            <a:ext cx="643890" cy="258128"/>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023485"/>
            <a:ext cx="643890" cy="258128"/>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023485"/>
            <a:ext cx="643890" cy="25812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023485"/>
            <a:ext cx="643890" cy="258128"/>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023485"/>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023485"/>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023485"/>
            <a:ext cx="643890" cy="258128"/>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023485"/>
            <a:ext cx="643890" cy="25812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023485"/>
            <a:ext cx="643890" cy="258128"/>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023485"/>
            <a:ext cx="643890" cy="258128"/>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023485"/>
            <a:ext cx="643890" cy="258128"/>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528161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Flat Pouches</a:t>
            </a:r>
          </a:p>
        </p:txBody>
      </p:sp>
      <p:sp>
        <p:nvSpPr>
          <p:cNvPr id="268" name="Rectangle 267"/>
          <p:cNvSpPr/>
          <p:nvPr/>
        </p:nvSpPr>
        <p:spPr>
          <a:xfrm>
            <a:off x="1857375" y="5281612"/>
            <a:ext cx="643890" cy="25812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5281612"/>
            <a:ext cx="643890" cy="258128"/>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5281612"/>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5281612"/>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5281612"/>
            <a:ext cx="643890" cy="25812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5281612"/>
            <a:ext cx="643890" cy="258128"/>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5281612"/>
            <a:ext cx="643890" cy="25812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5281612"/>
            <a:ext cx="643890" cy="25812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5281612"/>
            <a:ext cx="643890" cy="258128"/>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5281612"/>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5281612"/>
            <a:ext cx="643890" cy="258128"/>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5281612"/>
            <a:ext cx="643890" cy="258128"/>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5281612"/>
            <a:ext cx="643890" cy="258128"/>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5281612"/>
            <a:ext cx="643890" cy="258128"/>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5281612"/>
            <a:ext cx="643890" cy="258128"/>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238125" y="553974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Retort Pouches</a:t>
            </a:r>
          </a:p>
        </p:txBody>
      </p:sp>
      <p:sp>
        <p:nvSpPr>
          <p:cNvPr id="284" name="Rectangle 283"/>
          <p:cNvSpPr/>
          <p:nvPr/>
        </p:nvSpPr>
        <p:spPr>
          <a:xfrm>
            <a:off x="1857375" y="5539740"/>
            <a:ext cx="643890" cy="25812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2501265" y="5539740"/>
            <a:ext cx="643890" cy="25812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3145155" y="5539740"/>
            <a:ext cx="643890" cy="258128"/>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3789045" y="5539740"/>
            <a:ext cx="643890" cy="258128"/>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4432935" y="5539740"/>
            <a:ext cx="643890" cy="258128"/>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5076825" y="5539740"/>
            <a:ext cx="643890" cy="25812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5720715" y="5539740"/>
            <a:ext cx="643890" cy="258128"/>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6364605" y="5539740"/>
            <a:ext cx="643890" cy="258128"/>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7008495" y="5539740"/>
            <a:ext cx="643890" cy="258128"/>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7652385" y="5539740"/>
            <a:ext cx="643890" cy="258128"/>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8296275" y="5539740"/>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8940165" y="5539740"/>
            <a:ext cx="643890" cy="258128"/>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9584055" y="5539740"/>
            <a:ext cx="643890" cy="258128"/>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0227945" y="5539740"/>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0871835" y="5539740"/>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238125" y="579786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Sachets &amp; Stick Packs</a:t>
            </a:r>
          </a:p>
        </p:txBody>
      </p:sp>
      <p:sp>
        <p:nvSpPr>
          <p:cNvPr id="300" name="Rectangle 299"/>
          <p:cNvSpPr/>
          <p:nvPr/>
        </p:nvSpPr>
        <p:spPr>
          <a:xfrm>
            <a:off x="1857375" y="5797868"/>
            <a:ext cx="643890" cy="25812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2501265" y="5797868"/>
            <a:ext cx="643890" cy="258128"/>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3145155" y="5797868"/>
            <a:ext cx="643890" cy="25812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3789045" y="5797868"/>
            <a:ext cx="643890" cy="258128"/>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4432935" y="5797868"/>
            <a:ext cx="643890" cy="258128"/>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5076825" y="5797868"/>
            <a:ext cx="643890" cy="258128"/>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5720715" y="5797868"/>
            <a:ext cx="643890" cy="258128"/>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6364605" y="5797868"/>
            <a:ext cx="643890" cy="258128"/>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7008495" y="5797868"/>
            <a:ext cx="643890" cy="258128"/>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7652385" y="5797868"/>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8296275" y="5797868"/>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8940165" y="5797868"/>
            <a:ext cx="643890" cy="25812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9584055" y="5797868"/>
            <a:ext cx="643890" cy="25812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0227945" y="5797868"/>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0871835" y="5797868"/>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238125" y="605599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Sachets</a:t>
            </a:r>
          </a:p>
        </p:txBody>
      </p:sp>
      <p:sp>
        <p:nvSpPr>
          <p:cNvPr id="316" name="Rectangle 315"/>
          <p:cNvSpPr/>
          <p:nvPr/>
        </p:nvSpPr>
        <p:spPr>
          <a:xfrm>
            <a:off x="1857375" y="6055995"/>
            <a:ext cx="643890" cy="258128"/>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2501265" y="6055995"/>
            <a:ext cx="643890" cy="25812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3145155" y="6055995"/>
            <a:ext cx="643890" cy="258128"/>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3789045" y="6055995"/>
            <a:ext cx="643890" cy="258128"/>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4432935" y="6055995"/>
            <a:ext cx="643890" cy="258128"/>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5076825" y="6055995"/>
            <a:ext cx="643890" cy="258128"/>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5720715" y="6055995"/>
            <a:ext cx="643890" cy="258128"/>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6364605" y="6055995"/>
            <a:ext cx="643890" cy="258128"/>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Rectangle 323"/>
          <p:cNvSpPr/>
          <p:nvPr/>
        </p:nvSpPr>
        <p:spPr>
          <a:xfrm>
            <a:off x="7008495" y="6055995"/>
            <a:ext cx="643890" cy="258128"/>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Rectangle 324"/>
          <p:cNvSpPr/>
          <p:nvPr/>
        </p:nvSpPr>
        <p:spPr>
          <a:xfrm>
            <a:off x="7652385" y="6055995"/>
            <a:ext cx="643890" cy="258128"/>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6" name="Rectangle 325"/>
          <p:cNvSpPr/>
          <p:nvPr/>
        </p:nvSpPr>
        <p:spPr>
          <a:xfrm>
            <a:off x="8296275" y="6055995"/>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Rectangle 326"/>
          <p:cNvSpPr/>
          <p:nvPr/>
        </p:nvSpPr>
        <p:spPr>
          <a:xfrm>
            <a:off x="8940165" y="6055995"/>
            <a:ext cx="643890" cy="258128"/>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8" name="Rectangle 327"/>
          <p:cNvSpPr/>
          <p:nvPr/>
        </p:nvSpPr>
        <p:spPr>
          <a:xfrm>
            <a:off x="9584055" y="6055995"/>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Rectangle 328"/>
          <p:cNvSpPr/>
          <p:nvPr/>
        </p:nvSpPr>
        <p:spPr>
          <a:xfrm>
            <a:off x="10227945" y="6055995"/>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Rectangle 329"/>
          <p:cNvSpPr/>
          <p:nvPr/>
        </p:nvSpPr>
        <p:spPr>
          <a:xfrm>
            <a:off x="10871835" y="6055995"/>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238125" y="631412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Stick Packs</a:t>
            </a:r>
          </a:p>
        </p:txBody>
      </p:sp>
      <p:sp>
        <p:nvSpPr>
          <p:cNvPr id="332" name="Rectangle 331"/>
          <p:cNvSpPr/>
          <p:nvPr/>
        </p:nvSpPr>
        <p:spPr>
          <a:xfrm>
            <a:off x="1857375" y="6314122"/>
            <a:ext cx="643890" cy="258128"/>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Rectangle 332"/>
          <p:cNvSpPr/>
          <p:nvPr/>
        </p:nvSpPr>
        <p:spPr>
          <a:xfrm>
            <a:off x="2501265" y="6314122"/>
            <a:ext cx="643890" cy="25812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Rectangle 333"/>
          <p:cNvSpPr/>
          <p:nvPr/>
        </p:nvSpPr>
        <p:spPr>
          <a:xfrm>
            <a:off x="3145155" y="6314122"/>
            <a:ext cx="643890" cy="258128"/>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5" name="Rectangle 334"/>
          <p:cNvSpPr/>
          <p:nvPr/>
        </p:nvSpPr>
        <p:spPr>
          <a:xfrm>
            <a:off x="3789045" y="6314122"/>
            <a:ext cx="643890" cy="258128"/>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Rectangle 335"/>
          <p:cNvSpPr/>
          <p:nvPr/>
        </p:nvSpPr>
        <p:spPr>
          <a:xfrm>
            <a:off x="4432935" y="6314122"/>
            <a:ext cx="643890" cy="258128"/>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7" name="Rectangle 336"/>
          <p:cNvSpPr/>
          <p:nvPr/>
        </p:nvSpPr>
        <p:spPr>
          <a:xfrm>
            <a:off x="5076825" y="6314122"/>
            <a:ext cx="643890" cy="258128"/>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Rectangle 337"/>
          <p:cNvSpPr/>
          <p:nvPr/>
        </p:nvSpPr>
        <p:spPr>
          <a:xfrm>
            <a:off x="5720715" y="6314122"/>
            <a:ext cx="643890" cy="258128"/>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Rectangle 338"/>
          <p:cNvSpPr/>
          <p:nvPr/>
        </p:nvSpPr>
        <p:spPr>
          <a:xfrm>
            <a:off x="6364605" y="6314122"/>
            <a:ext cx="643890" cy="258128"/>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0" name="Rectangle 339"/>
          <p:cNvSpPr/>
          <p:nvPr/>
        </p:nvSpPr>
        <p:spPr>
          <a:xfrm>
            <a:off x="7008495" y="6314122"/>
            <a:ext cx="643890" cy="258128"/>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1" name="Rectangle 340"/>
          <p:cNvSpPr/>
          <p:nvPr/>
        </p:nvSpPr>
        <p:spPr>
          <a:xfrm>
            <a:off x="7652385" y="6314122"/>
            <a:ext cx="643890" cy="258128"/>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2" name="Rectangle 341"/>
          <p:cNvSpPr/>
          <p:nvPr/>
        </p:nvSpPr>
        <p:spPr>
          <a:xfrm>
            <a:off x="8296275" y="6314122"/>
            <a:ext cx="643890" cy="258128"/>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3" name="Rectangle 342"/>
          <p:cNvSpPr/>
          <p:nvPr/>
        </p:nvSpPr>
        <p:spPr>
          <a:xfrm>
            <a:off x="8940165" y="6314122"/>
            <a:ext cx="643890" cy="258128"/>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4" name="Rectangle 343"/>
          <p:cNvSpPr/>
          <p:nvPr/>
        </p:nvSpPr>
        <p:spPr>
          <a:xfrm>
            <a:off x="9584055" y="6314122"/>
            <a:ext cx="643890" cy="258128"/>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5" name="Rectangle 344"/>
          <p:cNvSpPr/>
          <p:nvPr/>
        </p:nvSpPr>
        <p:spPr>
          <a:xfrm>
            <a:off x="10227945" y="6314122"/>
            <a:ext cx="643890" cy="258128"/>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6" name="Rectangle 345"/>
          <p:cNvSpPr/>
          <p:nvPr/>
        </p:nvSpPr>
        <p:spPr>
          <a:xfrm>
            <a:off x="10871835" y="6314122"/>
            <a:ext cx="643890" cy="25812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7" name="Rectangle 34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8" name="Rectangle 34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9" name="Rectangle 34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0" name="Rectangle 34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1" name="Rectangle 35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2" name="Rectangle 35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3" name="Rectangle 35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4" name="Rectangle 35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5" name="Rectangle 35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6" name="Rectangle 35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7" name="Rectangle 35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8" name="Rectangle 35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9" name="Rectangle 35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0" name="Rectangle 35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1" name="Rectangle 36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2" name="Rectangle 36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3" name="Rectangle 36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4" name="Rectangle 36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5" name="Rectangle 36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6" name="Rectangle 36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7" name="Rectangle 36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8" name="Rectangle 36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9" name="Rectangle 36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0" name="Rectangle 36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1" name="Rectangle 37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2" name="Rectangle 37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3" name="Rectangle 37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4" name="Rectangle 37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5" name="Rectangle 37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6" name="Rectangle 37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7" name="Rectangle 37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8" name="Rectangle 37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9" name="Rectangle 37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0" name="Rectangle 37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1" name="Rectangle 38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2" name="Rectangle 38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3" name="Rectangle 38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4" name="Rectangle 38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5" name="Rectangle 38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6" name="Rectangle 38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7" name="Rectangle 38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8" name="TextBox 38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89" name="TextBox 38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90" name="TextBox 38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391" name="TextBox 39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Principal Material / Barrier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Principal Material / Barrier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Principal Material / Barrier Technology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11 sub-segments of Principal Material / Barrier Technology…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Principal Material / Barrier Technology segment categorizes the market by principal material / barrier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PE-Based</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11,098</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19,455</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5.8%</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PP-Based</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7,398</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12,570</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5.4%</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PET-Based</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3,540</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6,136</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5.7%</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PA-Based</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2,987</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5,074</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5.4%</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EVOH-Based</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2,830</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4,954</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5.8%</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Metallized Barrier</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2,273</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3,876</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5.5%</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Among flexible plastic packaging by principal material / barrier technology, other specialty barrier technologies segment is expected to witness the highest CAGR of 6.2% over the forecast period. In terms of value share by principal material / barrier technology, the pe-based segment is expected to dominate the market, gaining 50 BPS and accounting for 31.3% share by 2036.</a:t>
            </a:r>
          </a:p>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Pe-based segment is projected to register 1.5X higher value than pp-based segment in 2036.</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PE-Based: </a:t>
            </a:r>
            <a:r>
              <a:rPr sz="1100" b="0">
                <a:solidFill>
                  <a:srgbClr val="2E2E2E"/>
                </a:solidFill>
                <a:latin typeface="Calibri"/>
              </a:rPr>
              <a:t>31% of 2026 value · 5.8%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PP-Based: </a:t>
            </a:r>
            <a:r>
              <a:rPr sz="1100" b="0">
                <a:solidFill>
                  <a:srgbClr val="2E2E2E"/>
                </a:solidFill>
                <a:latin typeface="Calibri"/>
              </a:rPr>
              <a:t>21% of 2026 value · 5.4%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PET-Based: </a:t>
            </a:r>
            <a:r>
              <a:rPr sz="1100" b="0">
                <a:solidFill>
                  <a:srgbClr val="2E2E2E"/>
                </a:solidFill>
                <a:latin typeface="Calibri"/>
              </a:rPr>
              <a:t>10% of 2026 value · 5.7%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PA-Based: </a:t>
            </a:r>
            <a:r>
              <a:rPr sz="1100" b="0">
                <a:solidFill>
                  <a:srgbClr val="2E2E2E"/>
                </a:solidFill>
                <a:latin typeface="Calibri"/>
              </a:rPr>
              <a:t>8% of 2026 value · 5.4%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EVOH-Based: </a:t>
            </a:r>
            <a:r>
              <a:rPr sz="1100" b="0">
                <a:solidFill>
                  <a:srgbClr val="2E2E2E"/>
                </a:solidFill>
                <a:latin typeface="Calibri"/>
              </a:rPr>
              <a:t>8% of 2026 value · 5.8%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Metallized Barrier: </a:t>
            </a:r>
            <a:r>
              <a:rPr sz="1100" b="0">
                <a:solidFill>
                  <a:srgbClr val="2E2E2E"/>
                </a:solidFill>
                <a:latin typeface="Calibri"/>
              </a:rPr>
              <a:t>6% of 2026 value · 5.5% CAGR serves a niche.</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Principal Material / Barrier Technology split shows how demand is distributed across principal material / barrier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Principal Material / Barrier Technology segment is projected to grow at a CAGR of 5.6% from 2026 to 2036.</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Principal Material / Barrier Technology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11 sub-segments of Principal Material / Barrier Technology…</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Principal Material / Barrier Technology segment categorizes the market by principal material / barrier technology.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90881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90881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PVDC-Based</a:t>
            </a:r>
          </a:p>
        </p:txBody>
      </p:sp>
      <p:sp>
        <p:nvSpPr>
          <p:cNvPr id="22" name="Rectangle 21"/>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1,846</a:t>
            </a:r>
          </a:p>
        </p:txBody>
      </p:sp>
      <p:sp>
        <p:nvSpPr>
          <p:cNvPr id="23" name="Rectangle 22"/>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3,036</a:t>
            </a:r>
          </a:p>
        </p:txBody>
      </p:sp>
      <p:sp>
        <p:nvSpPr>
          <p:cNvPr id="24" name="Rectangle 23"/>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5.1%</a:t>
            </a:r>
          </a:p>
        </p:txBody>
      </p:sp>
      <p:sp>
        <p:nvSpPr>
          <p:cNvPr id="25" name="Oval 24"/>
          <p:cNvSpPr/>
          <p:nvPr/>
        </p:nvSpPr>
        <p:spPr>
          <a:xfrm>
            <a:off x="265938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26" name="Rounded Rectangle 25"/>
          <p:cNvSpPr/>
          <p:nvPr/>
        </p:nvSpPr>
        <p:spPr>
          <a:xfrm>
            <a:off x="389001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89001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Aluminum Foil-Based</a:t>
            </a:r>
          </a:p>
        </p:txBody>
      </p:sp>
      <p:sp>
        <p:nvSpPr>
          <p:cNvPr id="29" name="Rectangle 28"/>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1,136</a:t>
            </a:r>
          </a:p>
        </p:txBody>
      </p:sp>
      <p:sp>
        <p:nvSpPr>
          <p:cNvPr id="30" name="Rectangle 29"/>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1,855</a:t>
            </a:r>
          </a:p>
        </p:txBody>
      </p:sp>
      <p:sp>
        <p:nvSpPr>
          <p:cNvPr id="31" name="Rectangle 30"/>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5.0%</a:t>
            </a:r>
          </a:p>
        </p:txBody>
      </p:sp>
      <p:sp>
        <p:nvSpPr>
          <p:cNvPr id="32" name="Oval 31"/>
          <p:cNvSpPr/>
          <p:nvPr/>
        </p:nvSpPr>
        <p:spPr>
          <a:xfrm>
            <a:off x="468249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33" name="Rounded Rectangle 32"/>
          <p:cNvSpPr/>
          <p:nvPr/>
        </p:nvSpPr>
        <p:spPr>
          <a:xfrm>
            <a:off x="591312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12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Specialty Barrier Technolog…</a:t>
            </a:r>
          </a:p>
        </p:txBody>
      </p:sp>
      <p:sp>
        <p:nvSpPr>
          <p:cNvPr id="36" name="Rectangle 35"/>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1,080</a:t>
            </a:r>
          </a:p>
        </p:txBody>
      </p:sp>
      <p:sp>
        <p:nvSpPr>
          <p:cNvPr id="37" name="Rectangle 36"/>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1,971</a:t>
            </a:r>
          </a:p>
        </p:txBody>
      </p:sp>
      <p:sp>
        <p:nvSpPr>
          <p:cNvPr id="38" name="Rectangle 37"/>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6.2%</a:t>
            </a:r>
          </a:p>
        </p:txBody>
      </p:sp>
      <p:sp>
        <p:nvSpPr>
          <p:cNvPr id="39" name="Oval 38"/>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9</a:t>
            </a:r>
          </a:p>
        </p:txBody>
      </p:sp>
      <p:sp>
        <p:nvSpPr>
          <p:cNvPr id="40" name="Rounded Rectangle 39"/>
          <p:cNvSpPr/>
          <p:nvPr/>
        </p:nvSpPr>
        <p:spPr>
          <a:xfrm>
            <a:off x="793623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93623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AlOx / SiOx-Coated</a:t>
            </a:r>
          </a:p>
        </p:txBody>
      </p:sp>
      <p:sp>
        <p:nvSpPr>
          <p:cNvPr id="43" name="Rectangle 42"/>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1,073</a:t>
            </a:r>
          </a:p>
        </p:txBody>
      </p:sp>
      <p:sp>
        <p:nvSpPr>
          <p:cNvPr id="44" name="Rectangle 43"/>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1,892</a:t>
            </a:r>
          </a:p>
        </p:txBody>
      </p:sp>
      <p:sp>
        <p:nvSpPr>
          <p:cNvPr id="45" name="Rectangle 44"/>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5.8%</a:t>
            </a:r>
          </a:p>
        </p:txBody>
      </p:sp>
      <p:sp>
        <p:nvSpPr>
          <p:cNvPr id="46" name="Oval 45"/>
          <p:cNvSpPr/>
          <p:nvPr/>
        </p:nvSpPr>
        <p:spPr>
          <a:xfrm>
            <a:off x="872871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10</a:t>
            </a:r>
          </a:p>
        </p:txBody>
      </p:sp>
      <p:sp>
        <p:nvSpPr>
          <p:cNvPr id="47" name="Rounded Rectangle 46"/>
          <p:cNvSpPr/>
          <p:nvPr/>
        </p:nvSpPr>
        <p:spPr>
          <a:xfrm>
            <a:off x="995934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995934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PVOH-Based</a:t>
            </a:r>
          </a:p>
        </p:txBody>
      </p:sp>
      <p:sp>
        <p:nvSpPr>
          <p:cNvPr id="50" name="Rectangle 49"/>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715.2</a:t>
            </a:r>
          </a:p>
        </p:txBody>
      </p:sp>
      <p:sp>
        <p:nvSpPr>
          <p:cNvPr id="51" name="Rectangle 50"/>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1,250</a:t>
            </a:r>
          </a:p>
        </p:txBody>
      </p:sp>
      <p:sp>
        <p:nvSpPr>
          <p:cNvPr id="52" name="Rectangle 51"/>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5.7%</a:t>
            </a:r>
          </a:p>
        </p:txBody>
      </p:sp>
      <p:sp>
        <p:nvSpPr>
          <p:cNvPr id="53" name="Oval 52"/>
          <p:cNvSpPr/>
          <p:nvPr/>
        </p:nvSpPr>
        <p:spPr>
          <a:xfrm>
            <a:off x="1075182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11</a:t>
            </a:r>
          </a:p>
        </p:txBody>
      </p:sp>
      <p:sp>
        <p:nvSpPr>
          <p:cNvPr id="54" name="Rounded Rectangle 53"/>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6" name="Rectangle 55"/>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PVDC-Based: </a:t>
            </a:r>
            <a:r>
              <a:rPr sz="1100" b="0">
                <a:solidFill>
                  <a:srgbClr val="2E2E2E"/>
                </a:solidFill>
                <a:latin typeface="Calibri"/>
              </a:rPr>
              <a:t>5% of 2026 value · 5.1%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Aluminum Foil-Based: </a:t>
            </a:r>
            <a:r>
              <a:rPr sz="1100" b="0">
                <a:solidFill>
                  <a:srgbClr val="2E2E2E"/>
                </a:solidFill>
                <a:latin typeface="Calibri"/>
              </a:rPr>
              <a:t>3% of 2026 value · 5.0% CAGR serves a niche.</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Other Specialty Barrier Technologies: </a:t>
            </a:r>
            <a:r>
              <a:rPr sz="1100" b="0">
                <a:solidFill>
                  <a:srgbClr val="2E2E2E"/>
                </a:solidFill>
                <a:latin typeface="Calibri"/>
              </a:rPr>
              <a:t>3% of 2026 value · 6.2%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AlOx / SiOx-Coated: </a:t>
            </a:r>
            <a:r>
              <a:rPr sz="1100" b="0">
                <a:solidFill>
                  <a:srgbClr val="2E2E2E"/>
                </a:solidFill>
                <a:latin typeface="Calibri"/>
              </a:rPr>
              <a:t>3% of 2026 value · 5.8%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PVOH-Based: </a:t>
            </a:r>
            <a:r>
              <a:rPr sz="1100" b="0">
                <a:solidFill>
                  <a:srgbClr val="2E2E2E"/>
                </a:solidFill>
                <a:latin typeface="Calibri"/>
              </a:rPr>
              <a:t>2% of 2026 value · 5.7% CAGR serves a niche.</a:t>
            </a:r>
          </a:p>
        </p:txBody>
      </p:sp>
      <p:sp>
        <p:nvSpPr>
          <p:cNvPr id="58" name="TextBox 5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9" name="TextBox 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Principal Material / Barrier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Principal Material / Barrier Technology mix within each country and the attractiveness of each sub-segment on growth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Principal Material / Barrier Technology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Pe-based followed by pp-based are expected to be the two most attractive principal material / barrier technology segments in the North America flexible plastic packaging market in terms of value over the forecast period. PE-Based and PP-Based exhibit a CAGR index of 103 and 97 and a market share index of 339 and 226 respectively, against the segment average of 100. The pvoh-based segment is expected to be less attractive as compared to other segments over the forecast period, owing to its lower CAGR and incremental opportunity. PE-Based ranks most attractive because it combines the largest pool at 30.8% share with 5.8% growth, above the 5.6% regional rate. Polyethylene suits the mono-material recyclable packs favoured by North American retailers and state EPR laws, and it serves frozen food, produce and e-commerce mailers. Other Specialty Barrier Technologies grow fastest at 6.2% but from a 3.0% base, so they rank lower on size.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Principal Material / Barrier Technology (1/3)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PE-Based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PP-Based</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PET-Based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PA-Based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Principal Material / Barrier Technology (2/3)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EVOH-Based</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PVDC-Based</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PVOH-Based</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Metallized Barrier</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Principal Material / Barrier Technology (3/3)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AlOx / SiOx-Coated</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Aluminum Foil-Based</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Other Specialty Barrier Technologies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Principal Material / Barrier Technology</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By 2036, pe-based segment is anticipated to witness an increase of 1.8X in terms of value as compared to 2026. The PE-Based segment is expected to create an incremental opportunity of US$ 8,357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The PP-Based segment is expected to create an incremental opportunity of US$ 5,172 Mn for the overall flexible plastic packaging market from 2026 to 2036. The PET-Based segment is expected to create an incremental opportunity of US$ 2,595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PE-Based and PP-Based add the most value because the two hold the largest bases, 30.8% and 20.6%, and grow at 5.8% and 5.4% against the 5.6% market. Low-cost PE and PP serve most food, protein and e-commerce applications, and e-commerce fulfilment, food delivery and strong protein and ready-meal packaging demand keep absolute gains concentrated there rather than in faster but smaller barrier niches.</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Principal Material / Barrier Technology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Principal Material / Barrier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Principal Material / Barrier Technology</a:t>
            </a:r>
          </a:p>
        </p:txBody>
      </p:sp>
      <p:sp>
        <p:nvSpPr>
          <p:cNvPr id="17" name="Rectangle 16"/>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Pe-based segment is projected to register 1.5X higher volume than pp-based segment in 2036. Among flexible plastic packaging by principal material / barrier technology, other specialty barrier technologies segment is expected to witness the highest CAGR of 4.8% over the forecast period.</a:t>
            </a:r>
          </a:p>
          <a:p>
            <a:pPr algn="l">
              <a:lnSpc>
                <a:spcPct val="110000"/>
              </a:lnSpc>
              <a:spcBef>
                <a:spcPts val="0"/>
              </a:spcBef>
              <a:spcAft>
                <a:spcPts val="500"/>
              </a:spcAft>
            </a:pPr>
            <a:r>
              <a:rPr sz="1150" b="0">
                <a:solidFill>
                  <a:srgbClr val="2E2E2E"/>
                </a:solidFill>
                <a:latin typeface="Calibri"/>
              </a:rPr>
              <a:t>In terms of volume share by principal material / barrier technology, the pe-based segment is expected to dominate the market, gaining 50 BPS and accounting for 31.3% share by 2036. The pp-based segment is expected to lose 31 BPS over the forecast period to account for 20.3% share by 2036.</a:t>
            </a:r>
          </a:p>
          <a:p>
            <a:pPr algn="l">
              <a:lnSpc>
                <a:spcPct val="110000"/>
              </a:lnSpc>
              <a:spcBef>
                <a:spcPts val="0"/>
              </a:spcBef>
              <a:spcAft>
                <a:spcPts val="500"/>
              </a:spcAft>
            </a:pPr>
            <a:r>
              <a:rPr sz="1150" b="0">
                <a:solidFill>
                  <a:srgbClr val="2E2E2E"/>
                </a:solidFill>
                <a:latin typeface="Calibri"/>
              </a:rPr>
              <a:t>PE-Based gains 50 BPS because polyethylene suits mono-material recyclable pouches and films, aligning with state-level extended producer responsibility laws and retailer recyclability commitments in North America. PP-Based and PVDC-Based lose share as chlorinated and mixed-polymer builds face recyclability pressure. Other Specialty Barrier Technologies grow fastest at 4.8%, as niche high-performance barrier coatings answer shelf-life needs without compromising recyclability.</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Principal Material / Barrier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Principal Material / Barrier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Principal Material / Barrier Technology (US$ Mn)</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34,456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Principal Material / Barrier Technology</a:t>
            </a:r>
          </a:p>
        </p:txBody>
      </p:sp>
      <p:sp>
        <p:nvSpPr>
          <p:cNvPr id="17" name="Rectangle 16"/>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Pe-based segment is projected to register 1.5X higher value than pp-based segment in 2036. Among flexible plastic packaging by principal material / barrier technology, other specialty barrier technologies segment is expected to witness the highest CAGR of 6.2% over the forecast period.</a:t>
            </a:r>
          </a:p>
          <a:p>
            <a:pPr algn="l">
              <a:lnSpc>
                <a:spcPct val="110000"/>
              </a:lnSpc>
              <a:spcBef>
                <a:spcPts val="0"/>
              </a:spcBef>
              <a:spcAft>
                <a:spcPts val="500"/>
              </a:spcAft>
            </a:pPr>
            <a:r>
              <a:rPr sz="1150" b="0">
                <a:solidFill>
                  <a:srgbClr val="2E2E2E"/>
                </a:solidFill>
                <a:latin typeface="Calibri"/>
              </a:rPr>
              <a:t>In terms of value share by principal material / barrier technology, the pe-based segment is expected to dominate the market, gaining 50 BPS and accounting for 31.3% share by 2036. The pp-based segment is expected to lose 31 BPS over the forecast period to account for 20.3% share by 2036.</a:t>
            </a:r>
          </a:p>
          <a:p>
            <a:pPr algn="l">
              <a:lnSpc>
                <a:spcPct val="110000"/>
              </a:lnSpc>
              <a:spcBef>
                <a:spcPts val="0"/>
              </a:spcBef>
              <a:spcAft>
                <a:spcPts val="500"/>
              </a:spcAft>
            </a:pPr>
            <a:r>
              <a:rPr sz="1150" b="0">
                <a:solidFill>
                  <a:srgbClr val="2E2E2E"/>
                </a:solidFill>
                <a:latin typeface="Calibri"/>
              </a:rPr>
              <a:t>PE-Based gains 50 BPS of value share because PE combines low resin cost, strong sealability and straightforward mono-material recycling, which suits lightweight stand-up and lidding formats. Its 5.8% CAGR compares with a 5.6% market rate, while PP-Based loses 31 BPS at 5.4% as PE is displacing PP in mono-material pouch and lidding redesigns. In North America, e-commerce volumes, food delivery and recycled-content rules shape converter choices.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Principal Material / Barrier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Principal Material / Barrier Technology in 2021, 2026 and 2036, highlighting share shifts in basis…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Principal Material / Barrier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3318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5684" y="18331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903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PE-Based</a:t>
            </a:r>
          </a:p>
        </p:txBody>
      </p:sp>
      <p:sp>
        <p:nvSpPr>
          <p:cNvPr id="19" name="BPS Value 1"/>
          <p:cNvSpPr txBox="1"/>
          <p:nvPr/>
        </p:nvSpPr>
        <p:spPr>
          <a:xfrm>
            <a:off x="6896100" y="1790319"/>
            <a:ext cx="514350" cy="171450"/>
          </a:xfrm>
          <a:prstGeom prst="rect">
            <a:avLst/>
          </a:prstGeom>
          <a:noFill/>
        </p:spPr>
        <p:txBody>
          <a:bodyPr wrap="none" lIns="0" rIns="0" tIns="0" bIns="0" anchor="ctr">
            <a:spAutoFit/>
          </a:bodyPr>
          <a:lstStyle/>
          <a:p>
            <a:pPr algn="r"/>
            <a:r>
              <a:rPr sz="900" b="1">
                <a:solidFill>
                  <a:srgbClr val="2E7D32"/>
                </a:solidFill>
                <a:latin typeface="Calibri"/>
              </a:rPr>
              <a:t>+50</a:t>
            </a:r>
          </a:p>
        </p:txBody>
      </p:sp>
      <p:sp>
        <p:nvSpPr>
          <p:cNvPr id="20" name="FMI Legend Chip"/>
          <p:cNvSpPr/>
          <p:nvPr/>
        </p:nvSpPr>
        <p:spPr>
          <a:xfrm>
            <a:off x="4928997" y="2004632"/>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5684" y="20046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961769"/>
            <a:ext cx="2178844" cy="171450"/>
          </a:xfrm>
          <a:prstGeom prst="rect">
            <a:avLst/>
          </a:prstGeom>
          <a:noFill/>
        </p:spPr>
        <p:txBody>
          <a:bodyPr wrap="none" lIns="19050" rIns="19050" tIns="0" bIns="0" anchor="ctr">
            <a:spAutoFit/>
          </a:bodyPr>
          <a:lstStyle/>
          <a:p>
            <a:pPr algn="l"/>
            <a:r>
              <a:rPr sz="900" b="0">
                <a:solidFill>
                  <a:srgbClr val="2E2E2E"/>
                </a:solidFill>
                <a:latin typeface="Calibri"/>
              </a:rPr>
              <a:t>Other Specialty Barrier Technologies</a:t>
            </a:r>
          </a:p>
        </p:txBody>
      </p:sp>
      <p:sp>
        <p:nvSpPr>
          <p:cNvPr id="23" name="BPS Value 2"/>
          <p:cNvSpPr txBox="1"/>
          <p:nvPr/>
        </p:nvSpPr>
        <p:spPr>
          <a:xfrm>
            <a:off x="6896100" y="1961769"/>
            <a:ext cx="514350" cy="171450"/>
          </a:xfrm>
          <a:prstGeom prst="rect">
            <a:avLst/>
          </a:prstGeom>
          <a:noFill/>
        </p:spPr>
        <p:txBody>
          <a:bodyPr wrap="none" lIns="0" rIns="0" tIns="0" bIns="0" anchor="ctr">
            <a:spAutoFit/>
          </a:bodyPr>
          <a:lstStyle/>
          <a:p>
            <a:pPr algn="r"/>
            <a:r>
              <a:rPr sz="900" b="1">
                <a:solidFill>
                  <a:srgbClr val="2E7D32"/>
                </a:solidFill>
                <a:latin typeface="Calibri"/>
              </a:rPr>
              <a:t>+17</a:t>
            </a:r>
          </a:p>
        </p:txBody>
      </p:sp>
      <p:sp>
        <p:nvSpPr>
          <p:cNvPr id="24" name="FMI Legend Chip"/>
          <p:cNvSpPr/>
          <p:nvPr/>
        </p:nvSpPr>
        <p:spPr>
          <a:xfrm>
            <a:off x="4928997" y="217608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5684" y="21760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1332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EVOH-Based</a:t>
            </a:r>
          </a:p>
        </p:txBody>
      </p:sp>
      <p:sp>
        <p:nvSpPr>
          <p:cNvPr id="27" name="BPS Value 3"/>
          <p:cNvSpPr txBox="1"/>
          <p:nvPr/>
        </p:nvSpPr>
        <p:spPr>
          <a:xfrm>
            <a:off x="6896100" y="2133219"/>
            <a:ext cx="514350" cy="171450"/>
          </a:xfrm>
          <a:prstGeom prst="rect">
            <a:avLst/>
          </a:prstGeom>
          <a:noFill/>
        </p:spPr>
        <p:txBody>
          <a:bodyPr wrap="none" lIns="0" rIns="0" tIns="0" bIns="0" anchor="ctr">
            <a:spAutoFit/>
          </a:bodyPr>
          <a:lstStyle/>
          <a:p>
            <a:pPr algn="r"/>
            <a:r>
              <a:rPr sz="900" b="1">
                <a:solidFill>
                  <a:srgbClr val="2E7D32"/>
                </a:solidFill>
                <a:latin typeface="Calibri"/>
              </a:rPr>
              <a:t>+12</a:t>
            </a:r>
          </a:p>
        </p:txBody>
      </p:sp>
      <p:sp>
        <p:nvSpPr>
          <p:cNvPr id="28" name="FMI Legend Chip"/>
          <p:cNvSpPr/>
          <p:nvPr/>
        </p:nvSpPr>
        <p:spPr>
          <a:xfrm>
            <a:off x="4928997" y="2347532"/>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5684" y="23475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3046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AlOx / SiOx-Coated</a:t>
            </a:r>
          </a:p>
        </p:txBody>
      </p:sp>
      <p:sp>
        <p:nvSpPr>
          <p:cNvPr id="31" name="BPS Value 4"/>
          <p:cNvSpPr txBox="1"/>
          <p:nvPr/>
        </p:nvSpPr>
        <p:spPr>
          <a:xfrm>
            <a:off x="6896100" y="2304669"/>
            <a:ext cx="514350" cy="171450"/>
          </a:xfrm>
          <a:prstGeom prst="rect">
            <a:avLst/>
          </a:prstGeom>
          <a:noFill/>
        </p:spPr>
        <p:txBody>
          <a:bodyPr wrap="none" lIns="0" rIns="0" tIns="0" bIns="0" anchor="ctr">
            <a:spAutoFit/>
          </a:bodyPr>
          <a:lstStyle/>
          <a:p>
            <a:pPr algn="r"/>
            <a:r>
              <a:rPr sz="900" b="1">
                <a:solidFill>
                  <a:srgbClr val="2E7D32"/>
                </a:solidFill>
                <a:latin typeface="Calibri"/>
              </a:rPr>
              <a:t>+6</a:t>
            </a:r>
          </a:p>
        </p:txBody>
      </p:sp>
      <p:sp>
        <p:nvSpPr>
          <p:cNvPr id="32" name="FMI Legend Chip"/>
          <p:cNvSpPr/>
          <p:nvPr/>
        </p:nvSpPr>
        <p:spPr>
          <a:xfrm>
            <a:off x="4928997" y="251898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5684" y="25189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24761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PET-Based</a:t>
            </a:r>
          </a:p>
        </p:txBody>
      </p:sp>
      <p:sp>
        <p:nvSpPr>
          <p:cNvPr id="35" name="BPS Value 5"/>
          <p:cNvSpPr txBox="1"/>
          <p:nvPr/>
        </p:nvSpPr>
        <p:spPr>
          <a:xfrm>
            <a:off x="6896100" y="2476119"/>
            <a:ext cx="514350" cy="171450"/>
          </a:xfrm>
          <a:prstGeom prst="rect">
            <a:avLst/>
          </a:prstGeom>
          <a:noFill/>
        </p:spPr>
        <p:txBody>
          <a:bodyPr wrap="none" lIns="0" rIns="0" tIns="0" bIns="0" anchor="ctr">
            <a:spAutoFit/>
          </a:bodyPr>
          <a:lstStyle/>
          <a:p>
            <a:pPr algn="r"/>
            <a:r>
              <a:rPr sz="900" b="1">
                <a:solidFill>
                  <a:srgbClr val="2E7D32"/>
                </a:solidFill>
                <a:latin typeface="Calibri"/>
              </a:rPr>
              <a:t>+4</a:t>
            </a:r>
          </a:p>
        </p:txBody>
      </p:sp>
      <p:sp>
        <p:nvSpPr>
          <p:cNvPr id="36" name="FMI Legend Chip"/>
          <p:cNvSpPr/>
          <p:nvPr/>
        </p:nvSpPr>
        <p:spPr>
          <a:xfrm>
            <a:off x="4928997" y="2690432"/>
            <a:ext cx="85725" cy="85725"/>
          </a:xfrm>
          <a:prstGeom prst="rect">
            <a:avLst/>
          </a:prstGeom>
          <a:solidFill>
            <a:srgbClr val="B2B2B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5684" y="26904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26475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PVOH-Based</a:t>
            </a:r>
          </a:p>
        </p:txBody>
      </p:sp>
      <p:sp>
        <p:nvSpPr>
          <p:cNvPr id="39" name="BPS Value 6"/>
          <p:cNvSpPr txBox="1"/>
          <p:nvPr/>
        </p:nvSpPr>
        <p:spPr>
          <a:xfrm>
            <a:off x="6896100" y="2647569"/>
            <a:ext cx="514350" cy="171450"/>
          </a:xfrm>
          <a:prstGeom prst="rect">
            <a:avLst/>
          </a:prstGeom>
          <a:noFill/>
        </p:spPr>
        <p:txBody>
          <a:bodyPr wrap="none" lIns="0" rIns="0" tIns="0" bIns="0" anchor="ctr">
            <a:spAutoFit/>
          </a:bodyPr>
          <a:lstStyle/>
          <a:p>
            <a:pPr algn="r"/>
            <a:r>
              <a:rPr sz="900" b="1">
                <a:solidFill>
                  <a:srgbClr val="2E7D32"/>
                </a:solidFill>
                <a:latin typeface="Calibri"/>
              </a:rPr>
              <a:t>+3</a:t>
            </a:r>
          </a:p>
        </p:txBody>
      </p:sp>
      <p:sp>
        <p:nvSpPr>
          <p:cNvPr id="40" name="FMI Legend Chip"/>
          <p:cNvSpPr/>
          <p:nvPr/>
        </p:nvSpPr>
        <p:spPr>
          <a:xfrm>
            <a:off x="4928997" y="286188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5684" y="28618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28190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Metallized Barrier</a:t>
            </a:r>
          </a:p>
        </p:txBody>
      </p:sp>
      <p:sp>
        <p:nvSpPr>
          <p:cNvPr id="43" name="BPS Value 7"/>
          <p:cNvSpPr txBox="1"/>
          <p:nvPr/>
        </p:nvSpPr>
        <p:spPr>
          <a:xfrm>
            <a:off x="6896100" y="2819019"/>
            <a:ext cx="514350" cy="171450"/>
          </a:xfrm>
          <a:prstGeom prst="rect">
            <a:avLst/>
          </a:prstGeom>
          <a:noFill/>
        </p:spPr>
        <p:txBody>
          <a:bodyPr wrap="none" lIns="0" rIns="0" tIns="0" bIns="0" anchor="ctr">
            <a:spAutoFit/>
          </a:bodyPr>
          <a:lstStyle/>
          <a:p>
            <a:pPr algn="r"/>
            <a:r>
              <a:rPr sz="900" b="1">
                <a:solidFill>
                  <a:srgbClr val="E44D3A"/>
                </a:solidFill>
                <a:latin typeface="Calibri"/>
              </a:rPr>
              <a:t>-7</a:t>
            </a:r>
          </a:p>
        </p:txBody>
      </p:sp>
      <p:sp>
        <p:nvSpPr>
          <p:cNvPr id="44" name="FMI Legend Chip"/>
          <p:cNvSpPr/>
          <p:nvPr/>
        </p:nvSpPr>
        <p:spPr>
          <a:xfrm>
            <a:off x="4928997" y="303333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rot="10800000">
            <a:off x="5095684" y="303333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29904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PA-Based</a:t>
            </a:r>
          </a:p>
        </p:txBody>
      </p:sp>
      <p:sp>
        <p:nvSpPr>
          <p:cNvPr id="47" name="BPS Value 8"/>
          <p:cNvSpPr txBox="1"/>
          <p:nvPr/>
        </p:nvSpPr>
        <p:spPr>
          <a:xfrm>
            <a:off x="6896100" y="2990469"/>
            <a:ext cx="514350" cy="171450"/>
          </a:xfrm>
          <a:prstGeom prst="rect">
            <a:avLst/>
          </a:prstGeom>
          <a:noFill/>
        </p:spPr>
        <p:txBody>
          <a:bodyPr wrap="none" lIns="0" rIns="0" tIns="0" bIns="0" anchor="ctr">
            <a:spAutoFit/>
          </a:bodyPr>
          <a:lstStyle/>
          <a:p>
            <a:pPr algn="r"/>
            <a:r>
              <a:rPr sz="900" b="1">
                <a:solidFill>
                  <a:srgbClr val="E44D3A"/>
                </a:solidFill>
                <a:latin typeface="Calibri"/>
              </a:rPr>
              <a:t>-13</a:t>
            </a:r>
          </a:p>
        </p:txBody>
      </p:sp>
      <p:sp>
        <p:nvSpPr>
          <p:cNvPr id="48" name="FMI Legend Chip"/>
          <p:cNvSpPr/>
          <p:nvPr/>
        </p:nvSpPr>
        <p:spPr>
          <a:xfrm>
            <a:off x="4928997" y="3204782"/>
            <a:ext cx="85725" cy="85725"/>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rot="10800000">
            <a:off x="5095684" y="32047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5233797" y="31619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Aluminum Foil-Based</a:t>
            </a:r>
          </a:p>
        </p:txBody>
      </p:sp>
      <p:sp>
        <p:nvSpPr>
          <p:cNvPr id="51" name="BPS Value 9"/>
          <p:cNvSpPr txBox="1"/>
          <p:nvPr/>
        </p:nvSpPr>
        <p:spPr>
          <a:xfrm>
            <a:off x="6896100" y="3161919"/>
            <a:ext cx="514350" cy="171450"/>
          </a:xfrm>
          <a:prstGeom prst="rect">
            <a:avLst/>
          </a:prstGeom>
          <a:noFill/>
        </p:spPr>
        <p:txBody>
          <a:bodyPr wrap="none" lIns="0" rIns="0" tIns="0" bIns="0" anchor="ctr">
            <a:spAutoFit/>
          </a:bodyPr>
          <a:lstStyle/>
          <a:p>
            <a:pPr algn="r"/>
            <a:r>
              <a:rPr sz="900" b="1">
                <a:solidFill>
                  <a:srgbClr val="E44D3A"/>
                </a:solidFill>
                <a:latin typeface="Calibri"/>
              </a:rPr>
              <a:t>-17</a:t>
            </a:r>
          </a:p>
        </p:txBody>
      </p:sp>
      <p:sp>
        <p:nvSpPr>
          <p:cNvPr id="52" name="FMI Legend Chip"/>
          <p:cNvSpPr/>
          <p:nvPr/>
        </p:nvSpPr>
        <p:spPr>
          <a:xfrm>
            <a:off x="4928997" y="337623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Isosceles Triangle 52"/>
          <p:cNvSpPr/>
          <p:nvPr/>
        </p:nvSpPr>
        <p:spPr>
          <a:xfrm rot="10800000">
            <a:off x="5095684" y="337623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BPS Name 10"/>
          <p:cNvSpPr txBox="1"/>
          <p:nvPr/>
        </p:nvSpPr>
        <p:spPr>
          <a:xfrm>
            <a:off x="5233797" y="33333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PVDC-Based</a:t>
            </a:r>
          </a:p>
        </p:txBody>
      </p:sp>
      <p:sp>
        <p:nvSpPr>
          <p:cNvPr id="55" name="BPS Value 10"/>
          <p:cNvSpPr txBox="1"/>
          <p:nvPr/>
        </p:nvSpPr>
        <p:spPr>
          <a:xfrm>
            <a:off x="6896100" y="3333369"/>
            <a:ext cx="514350" cy="171450"/>
          </a:xfrm>
          <a:prstGeom prst="rect">
            <a:avLst/>
          </a:prstGeom>
          <a:noFill/>
        </p:spPr>
        <p:txBody>
          <a:bodyPr wrap="none" lIns="0" rIns="0" tIns="0" bIns="0" anchor="ctr">
            <a:spAutoFit/>
          </a:bodyPr>
          <a:lstStyle/>
          <a:p>
            <a:pPr algn="r"/>
            <a:r>
              <a:rPr sz="900" b="1">
                <a:solidFill>
                  <a:srgbClr val="E44D3A"/>
                </a:solidFill>
                <a:latin typeface="Calibri"/>
              </a:rPr>
              <a:t>-24</a:t>
            </a:r>
          </a:p>
        </p:txBody>
      </p:sp>
      <p:sp>
        <p:nvSpPr>
          <p:cNvPr id="56" name="FMI Legend Chip"/>
          <p:cNvSpPr/>
          <p:nvPr/>
        </p:nvSpPr>
        <p:spPr>
          <a:xfrm>
            <a:off x="4928997" y="354768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Isosceles Triangle 56"/>
          <p:cNvSpPr/>
          <p:nvPr/>
        </p:nvSpPr>
        <p:spPr>
          <a:xfrm rot="10800000">
            <a:off x="5095684" y="35476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BPS Name 11"/>
          <p:cNvSpPr txBox="1"/>
          <p:nvPr/>
        </p:nvSpPr>
        <p:spPr>
          <a:xfrm>
            <a:off x="5233797" y="35048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PP-Based</a:t>
            </a:r>
          </a:p>
        </p:txBody>
      </p:sp>
      <p:sp>
        <p:nvSpPr>
          <p:cNvPr id="59" name="BPS Value 11"/>
          <p:cNvSpPr txBox="1"/>
          <p:nvPr/>
        </p:nvSpPr>
        <p:spPr>
          <a:xfrm>
            <a:off x="6896100" y="3504819"/>
            <a:ext cx="514350" cy="171450"/>
          </a:xfrm>
          <a:prstGeom prst="rect">
            <a:avLst/>
          </a:prstGeom>
          <a:noFill/>
        </p:spPr>
        <p:txBody>
          <a:bodyPr wrap="none" lIns="0" rIns="0" tIns="0" bIns="0" anchor="ctr">
            <a:spAutoFit/>
          </a:bodyPr>
          <a:lstStyle/>
          <a:p>
            <a:pPr algn="r"/>
            <a:r>
              <a:rPr sz="900" b="1">
                <a:solidFill>
                  <a:srgbClr val="E44D3A"/>
                </a:solidFill>
                <a:latin typeface="Calibri"/>
              </a:rPr>
              <a:t>-31</a:t>
            </a:r>
          </a:p>
        </p:txBody>
      </p:sp>
      <p:sp>
        <p:nvSpPr>
          <p:cNvPr id="60" name="Rounded Rectangle 5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Principal Material / Barrier Technology</a:t>
            </a:r>
          </a:p>
        </p:txBody>
      </p:sp>
      <p:sp>
        <p:nvSpPr>
          <p:cNvPr id="62" name="Rectangle 6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principal material / barrier technology, other specialty barrier technologies segment is expected to witness the highest CAGR of 6.2% over the forecast period. In terms of value share by principal material / barrier technology, the pe-based segment is expected to dominate the market, gaining 50 BPS and accounting for 31.3% share by 2036.</a:t>
            </a:r>
          </a:p>
          <a:p>
            <a:pPr algn="l">
              <a:lnSpc>
                <a:spcPct val="110000"/>
              </a:lnSpc>
              <a:spcBef>
                <a:spcPts val="0"/>
              </a:spcBef>
              <a:spcAft>
                <a:spcPts val="500"/>
              </a:spcAft>
            </a:pPr>
            <a:r>
              <a:rPr sz="1150" b="0">
                <a:solidFill>
                  <a:srgbClr val="2E2E2E"/>
                </a:solidFill>
                <a:latin typeface="Calibri"/>
              </a:rPr>
              <a:t>The pp-based segment is expected to lose 31 BPS over the forecast period to account for 20.3% share by 2036.</a:t>
            </a:r>
          </a:p>
          <a:p>
            <a:pPr algn="l">
              <a:lnSpc>
                <a:spcPct val="110000"/>
              </a:lnSpc>
              <a:spcBef>
                <a:spcPts val="0"/>
              </a:spcBef>
              <a:spcAft>
                <a:spcPts val="500"/>
              </a:spcAft>
            </a:pPr>
            <a:r>
              <a:rPr sz="1150" b="0">
                <a:solidFill>
                  <a:srgbClr val="2E2E2E"/>
                </a:solidFill>
                <a:latin typeface="Calibri"/>
              </a:rPr>
              <a:t>Other Specialty Barrier Technologies grow fastest at 6.2% against 5.6% for the region because brands need high-performance barriers that still satisfy recyclability goals, such as new coatings, bio-based barrier layers and advanced PE solutions. Applications such as pharma, medical devices and premium protein demand tighter oxygen control. Their 3.0% starting share means rapid adoption adds meaningful share, up 17 BPS.</a:t>
            </a:r>
          </a:p>
        </p:txBody>
      </p:sp>
      <p:sp>
        <p:nvSpPr>
          <p:cNvPr id="64" name="TextBox 6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Principal Material / Barrier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Principal Material / Barrier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2457450"/>
          </a:xfrm>
          <a:prstGeom prst="roundRect">
            <a:avLst>
              <a:gd name="adj" fmla="val 31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Principal Material / Barrier Technology (%)  ·  light = lower, dark = higher growth</a:t>
            </a:r>
          </a:p>
        </p:txBody>
      </p:sp>
      <p:sp>
        <p:nvSpPr>
          <p:cNvPr id="17" name="TextBox 16"/>
          <p:cNvSpPr txBox="1"/>
          <p:nvPr/>
        </p:nvSpPr>
        <p:spPr>
          <a:xfrm>
            <a:off x="18573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60057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sp>
        <p:nvSpPr>
          <p:cNvPr id="33" name="Rectangle 32"/>
          <p:cNvSpPr/>
          <p:nvPr/>
        </p:nvSpPr>
        <p:spPr>
          <a:xfrm>
            <a:off x="1857375" y="4600575"/>
            <a:ext cx="643890" cy="17924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600575"/>
            <a:ext cx="643890" cy="179243"/>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600575"/>
            <a:ext cx="643890" cy="179243"/>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600575"/>
            <a:ext cx="643890" cy="179243"/>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600575"/>
            <a:ext cx="643890" cy="179243"/>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600575"/>
            <a:ext cx="643890" cy="17924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600575"/>
            <a:ext cx="643890" cy="179243"/>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600575"/>
            <a:ext cx="643890" cy="179243"/>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600575"/>
            <a:ext cx="643890" cy="179243"/>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600575"/>
            <a:ext cx="643890" cy="17924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600575"/>
            <a:ext cx="643890" cy="179243"/>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600575"/>
            <a:ext cx="643890" cy="179243"/>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600575"/>
            <a:ext cx="643890" cy="179243"/>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600575"/>
            <a:ext cx="643890" cy="179243"/>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600575"/>
            <a:ext cx="643890" cy="179243"/>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77981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sp>
        <p:nvSpPr>
          <p:cNvPr id="49" name="Rectangle 48"/>
          <p:cNvSpPr/>
          <p:nvPr/>
        </p:nvSpPr>
        <p:spPr>
          <a:xfrm>
            <a:off x="1857375" y="4779818"/>
            <a:ext cx="643890" cy="17924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779818"/>
            <a:ext cx="643890" cy="179243"/>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779818"/>
            <a:ext cx="643890" cy="17924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779818"/>
            <a:ext cx="643890" cy="17924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779818"/>
            <a:ext cx="643890" cy="17924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779818"/>
            <a:ext cx="643890" cy="17924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779818"/>
            <a:ext cx="643890" cy="179243"/>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779818"/>
            <a:ext cx="643890" cy="179243"/>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779818"/>
            <a:ext cx="643890" cy="179243"/>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779818"/>
            <a:ext cx="643890" cy="179243"/>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779818"/>
            <a:ext cx="643890" cy="179243"/>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779818"/>
            <a:ext cx="643890" cy="179243"/>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779818"/>
            <a:ext cx="643890" cy="17924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779818"/>
            <a:ext cx="643890" cy="179243"/>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779818"/>
            <a:ext cx="643890" cy="179243"/>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5906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65" name="Rectangle 64"/>
          <p:cNvSpPr/>
          <p:nvPr/>
        </p:nvSpPr>
        <p:spPr>
          <a:xfrm>
            <a:off x="1857375" y="4959061"/>
            <a:ext cx="643890" cy="179243"/>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59061"/>
            <a:ext cx="643890" cy="17924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59061"/>
            <a:ext cx="643890" cy="179243"/>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59061"/>
            <a:ext cx="643890" cy="17924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59061"/>
            <a:ext cx="643890" cy="179243"/>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59061"/>
            <a:ext cx="643890" cy="179243"/>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59061"/>
            <a:ext cx="643890" cy="179243"/>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59061"/>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59061"/>
            <a:ext cx="643890" cy="179243"/>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59061"/>
            <a:ext cx="643890" cy="17924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59061"/>
            <a:ext cx="643890" cy="17924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59061"/>
            <a:ext cx="643890" cy="179243"/>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59061"/>
            <a:ext cx="643890" cy="179243"/>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59061"/>
            <a:ext cx="643890" cy="179243"/>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59061"/>
            <a:ext cx="643890" cy="179243"/>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3830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sp>
        <p:nvSpPr>
          <p:cNvPr id="81" name="Rectangle 80"/>
          <p:cNvSpPr/>
          <p:nvPr/>
        </p:nvSpPr>
        <p:spPr>
          <a:xfrm>
            <a:off x="1857375" y="5138305"/>
            <a:ext cx="643890" cy="179243"/>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38305"/>
            <a:ext cx="643890" cy="17924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38305"/>
            <a:ext cx="643890" cy="179243"/>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38305"/>
            <a:ext cx="643890" cy="179243"/>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38305"/>
            <a:ext cx="643890" cy="179243"/>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38305"/>
            <a:ext cx="643890" cy="179243"/>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38305"/>
            <a:ext cx="643890" cy="179243"/>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38305"/>
            <a:ext cx="643890" cy="179243"/>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38305"/>
            <a:ext cx="643890" cy="179243"/>
          </a:xfrm>
          <a:prstGeom prst="rect">
            <a:avLst/>
          </a:prstGeom>
          <a:solidFill>
            <a:srgbClr val="44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38305"/>
            <a:ext cx="643890" cy="17924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38305"/>
            <a:ext cx="643890" cy="179243"/>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38305"/>
            <a:ext cx="643890" cy="179243"/>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38305"/>
            <a:ext cx="643890" cy="179243"/>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38305"/>
            <a:ext cx="643890" cy="179243"/>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38305"/>
            <a:ext cx="643890" cy="179243"/>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1754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sp>
        <p:nvSpPr>
          <p:cNvPr id="97" name="Rectangle 96"/>
          <p:cNvSpPr/>
          <p:nvPr/>
        </p:nvSpPr>
        <p:spPr>
          <a:xfrm>
            <a:off x="1857375" y="5317548"/>
            <a:ext cx="643890" cy="179243"/>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317548"/>
            <a:ext cx="643890" cy="179243"/>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317548"/>
            <a:ext cx="643890" cy="179243"/>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317548"/>
            <a:ext cx="643890" cy="179243"/>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317548"/>
            <a:ext cx="643890" cy="179243"/>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317548"/>
            <a:ext cx="643890" cy="179243"/>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317548"/>
            <a:ext cx="643890" cy="179243"/>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317548"/>
            <a:ext cx="643890" cy="179243"/>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317548"/>
            <a:ext cx="643890" cy="179243"/>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317548"/>
            <a:ext cx="643890" cy="179243"/>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317548"/>
            <a:ext cx="643890" cy="179243"/>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317548"/>
            <a:ext cx="643890" cy="179243"/>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317548"/>
            <a:ext cx="643890" cy="179243"/>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317548"/>
            <a:ext cx="643890" cy="179243"/>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317548"/>
            <a:ext cx="643890" cy="179243"/>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49679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sp>
        <p:nvSpPr>
          <p:cNvPr id="113" name="Rectangle 112"/>
          <p:cNvSpPr/>
          <p:nvPr/>
        </p:nvSpPr>
        <p:spPr>
          <a:xfrm>
            <a:off x="1857375" y="5496791"/>
            <a:ext cx="643890" cy="179243"/>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496791"/>
            <a:ext cx="643890" cy="179243"/>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496791"/>
            <a:ext cx="643890" cy="179243"/>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496791"/>
            <a:ext cx="643890" cy="17924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496791"/>
            <a:ext cx="643890" cy="179243"/>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496791"/>
            <a:ext cx="643890" cy="179243"/>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496791"/>
            <a:ext cx="643890" cy="179243"/>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496791"/>
            <a:ext cx="643890" cy="179243"/>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496791"/>
            <a:ext cx="643890" cy="179243"/>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496791"/>
            <a:ext cx="643890" cy="179243"/>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496791"/>
            <a:ext cx="643890" cy="179243"/>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496791"/>
            <a:ext cx="643890" cy="179243"/>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496791"/>
            <a:ext cx="643890" cy="179243"/>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496791"/>
            <a:ext cx="643890" cy="179243"/>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496791"/>
            <a:ext cx="643890" cy="179243"/>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67603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sp>
        <p:nvSpPr>
          <p:cNvPr id="129" name="Rectangle 128"/>
          <p:cNvSpPr/>
          <p:nvPr/>
        </p:nvSpPr>
        <p:spPr>
          <a:xfrm>
            <a:off x="1857375" y="5676034"/>
            <a:ext cx="643890" cy="179243"/>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676034"/>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676034"/>
            <a:ext cx="643890" cy="179243"/>
          </a:xfrm>
          <a:prstGeom prst="rect">
            <a:avLst/>
          </a:prstGeom>
          <a:solidFill>
            <a:srgbClr val="2B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676034"/>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676034"/>
            <a:ext cx="643890" cy="179243"/>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676034"/>
            <a:ext cx="643890" cy="179243"/>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676034"/>
            <a:ext cx="643890" cy="179243"/>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676034"/>
            <a:ext cx="643890" cy="17924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676034"/>
            <a:ext cx="643890" cy="179243"/>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676034"/>
            <a:ext cx="643890" cy="179243"/>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676034"/>
            <a:ext cx="643890" cy="179243"/>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676034"/>
            <a:ext cx="643890" cy="179243"/>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676034"/>
            <a:ext cx="643890" cy="179243"/>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676034"/>
            <a:ext cx="643890" cy="179243"/>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676034"/>
            <a:ext cx="643890" cy="179243"/>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585527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sp>
        <p:nvSpPr>
          <p:cNvPr id="145" name="Rectangle 144"/>
          <p:cNvSpPr/>
          <p:nvPr/>
        </p:nvSpPr>
        <p:spPr>
          <a:xfrm>
            <a:off x="1857375" y="5855277"/>
            <a:ext cx="643890" cy="179243"/>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5855277"/>
            <a:ext cx="643890" cy="179243"/>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5855277"/>
            <a:ext cx="643890" cy="179243"/>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5855277"/>
            <a:ext cx="643890" cy="179243"/>
          </a:xfrm>
          <a:prstGeom prst="rect">
            <a:avLst/>
          </a:prstGeom>
          <a:solidFill>
            <a:srgbClr val="65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5855277"/>
            <a:ext cx="643890" cy="179243"/>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5855277"/>
            <a:ext cx="643890" cy="179243"/>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5855277"/>
            <a:ext cx="643890" cy="179243"/>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5855277"/>
            <a:ext cx="643890" cy="179243"/>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5855277"/>
            <a:ext cx="643890" cy="179243"/>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5855277"/>
            <a:ext cx="643890" cy="179243"/>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5855277"/>
            <a:ext cx="643890" cy="179243"/>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5855277"/>
            <a:ext cx="643890" cy="179243"/>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5855277"/>
            <a:ext cx="643890" cy="179243"/>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5855277"/>
            <a:ext cx="643890" cy="179243"/>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5855277"/>
            <a:ext cx="643890" cy="179243"/>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238125" y="6034520"/>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sp>
        <p:nvSpPr>
          <p:cNvPr id="161" name="Rectangle 160"/>
          <p:cNvSpPr/>
          <p:nvPr/>
        </p:nvSpPr>
        <p:spPr>
          <a:xfrm>
            <a:off x="1857375" y="6034520"/>
            <a:ext cx="643890" cy="179243"/>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2501265" y="6034520"/>
            <a:ext cx="643890" cy="179243"/>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3145155" y="6034520"/>
            <a:ext cx="643890" cy="179243"/>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3789045" y="6034520"/>
            <a:ext cx="643890" cy="179243"/>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4432935" y="6034520"/>
            <a:ext cx="643890" cy="179243"/>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5076825" y="6034520"/>
            <a:ext cx="643890" cy="179243"/>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5720715" y="6034520"/>
            <a:ext cx="643890" cy="179243"/>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6364605" y="6034520"/>
            <a:ext cx="643890" cy="179243"/>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7008495" y="6034520"/>
            <a:ext cx="643890" cy="179243"/>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7652385" y="6034520"/>
            <a:ext cx="643890" cy="17924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8296275" y="6034520"/>
            <a:ext cx="643890" cy="179243"/>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8940165" y="6034520"/>
            <a:ext cx="643890" cy="179243"/>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9584055" y="6034520"/>
            <a:ext cx="643890" cy="179243"/>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0227945" y="6034520"/>
            <a:ext cx="643890" cy="179243"/>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0871835" y="6034520"/>
            <a:ext cx="643890" cy="179243"/>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238125" y="621376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sp>
        <p:nvSpPr>
          <p:cNvPr id="177" name="Rectangle 176"/>
          <p:cNvSpPr/>
          <p:nvPr/>
        </p:nvSpPr>
        <p:spPr>
          <a:xfrm>
            <a:off x="1857375" y="6213764"/>
            <a:ext cx="643890" cy="179243"/>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2501265" y="6213764"/>
            <a:ext cx="643890" cy="179243"/>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3145155" y="6213764"/>
            <a:ext cx="643890" cy="17924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3789045" y="6213764"/>
            <a:ext cx="643890" cy="179243"/>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4432935" y="6213764"/>
            <a:ext cx="643890" cy="179243"/>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5076825" y="6213764"/>
            <a:ext cx="643890" cy="179243"/>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5720715" y="6213764"/>
            <a:ext cx="643890" cy="17924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6364605" y="6213764"/>
            <a:ext cx="643890" cy="179243"/>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7008495" y="6213764"/>
            <a:ext cx="643890" cy="179243"/>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7652385" y="6213764"/>
            <a:ext cx="643890" cy="179243"/>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8296275" y="6213764"/>
            <a:ext cx="643890" cy="179243"/>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8940165" y="6213764"/>
            <a:ext cx="643890" cy="179243"/>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9584055" y="6213764"/>
            <a:ext cx="643890" cy="179243"/>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0227945" y="6213764"/>
            <a:ext cx="643890" cy="179243"/>
          </a:xfrm>
          <a:prstGeom prst="rect">
            <a:avLst/>
          </a:prstGeom>
          <a:solidFill>
            <a:srgbClr val="89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0871835" y="6213764"/>
            <a:ext cx="643890" cy="179243"/>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238125" y="639300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93" name="Rectangle 192"/>
          <p:cNvSpPr/>
          <p:nvPr/>
        </p:nvSpPr>
        <p:spPr>
          <a:xfrm>
            <a:off x="1857375" y="6393007"/>
            <a:ext cx="643890" cy="179243"/>
          </a:xfrm>
          <a:prstGeom prst="rect">
            <a:avLst/>
          </a:prstGeom>
          <a:solidFill>
            <a:srgbClr val="0E6E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2501265" y="6393007"/>
            <a:ext cx="643890" cy="179243"/>
          </a:xfrm>
          <a:prstGeom prst="rect">
            <a:avLst/>
          </a:prstGeom>
          <a:solidFill>
            <a:srgbClr val="28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3145155" y="6393007"/>
            <a:ext cx="643890" cy="179243"/>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3789045" y="6393007"/>
            <a:ext cx="643890" cy="179243"/>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4432935" y="6393007"/>
            <a:ext cx="643890" cy="179243"/>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5076825" y="6393007"/>
            <a:ext cx="643890" cy="179243"/>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5720715" y="6393007"/>
            <a:ext cx="643890" cy="179243"/>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364605" y="6393007"/>
            <a:ext cx="643890" cy="179243"/>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7008495" y="6393007"/>
            <a:ext cx="643890" cy="179243"/>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7652385" y="6393007"/>
            <a:ext cx="643890" cy="179243"/>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8296275" y="6393007"/>
            <a:ext cx="643890" cy="179243"/>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8940165" y="6393007"/>
            <a:ext cx="643890" cy="17924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9584055" y="6393007"/>
            <a:ext cx="643890" cy="179243"/>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10227945" y="6393007"/>
            <a:ext cx="643890" cy="179243"/>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10871835" y="6393007"/>
            <a:ext cx="643890" cy="179243"/>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11572875" y="4638675"/>
            <a:ext cx="104775" cy="55007"/>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11572875" y="4686062"/>
            <a:ext cx="104775" cy="55007"/>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11572875" y="4733449"/>
            <a:ext cx="104775" cy="55007"/>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11572875" y="4780836"/>
            <a:ext cx="104775" cy="55007"/>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11572875" y="4828222"/>
            <a:ext cx="104775" cy="55007"/>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11572875" y="4875609"/>
            <a:ext cx="104775" cy="55007"/>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11572875" y="4922996"/>
            <a:ext cx="104775" cy="55007"/>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1572875" y="4970383"/>
            <a:ext cx="104775" cy="55007"/>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11572875" y="5017770"/>
            <a:ext cx="104775" cy="55007"/>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1572875" y="5065157"/>
            <a:ext cx="104775" cy="55007"/>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1572875" y="5112544"/>
            <a:ext cx="104775" cy="55007"/>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5159931"/>
            <a:ext cx="104775" cy="55007"/>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5207318"/>
            <a:ext cx="104775" cy="55007"/>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5254704"/>
            <a:ext cx="104775" cy="55007"/>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5302091"/>
            <a:ext cx="104775" cy="55007"/>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5349478"/>
            <a:ext cx="104775" cy="55007"/>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5396865"/>
            <a:ext cx="104775" cy="55007"/>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5444252"/>
            <a:ext cx="104775" cy="55007"/>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5491639"/>
            <a:ext cx="104775" cy="55007"/>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5539026"/>
            <a:ext cx="104775" cy="55007"/>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5586412"/>
            <a:ext cx="104775" cy="55007"/>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5633799"/>
            <a:ext cx="104775" cy="55007"/>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5681186"/>
            <a:ext cx="104775" cy="55007"/>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5728573"/>
            <a:ext cx="104775" cy="55007"/>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5775960"/>
            <a:ext cx="104775" cy="55007"/>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5823347"/>
            <a:ext cx="104775" cy="55007"/>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5870734"/>
            <a:ext cx="104775" cy="55007"/>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5918121"/>
            <a:ext cx="104775" cy="55007"/>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5965508"/>
            <a:ext cx="104775" cy="55007"/>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6012894"/>
            <a:ext cx="104775" cy="55007"/>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6060281"/>
            <a:ext cx="104775" cy="55007"/>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6107668"/>
            <a:ext cx="104775" cy="55007"/>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6155055"/>
            <a:ext cx="104775" cy="55007"/>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6202442"/>
            <a:ext cx="104775" cy="55007"/>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6249829"/>
            <a:ext cx="104775" cy="55007"/>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6297216"/>
            <a:ext cx="104775" cy="55007"/>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6344602"/>
            <a:ext cx="104775" cy="55007"/>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6391989"/>
            <a:ext cx="104775" cy="55007"/>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6439376"/>
            <a:ext cx="104775" cy="55007"/>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6486763"/>
            <a:ext cx="104775" cy="55007"/>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4638675"/>
            <a:ext cx="104775" cy="18954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1687175" y="45720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50" name="TextBox 249"/>
          <p:cNvSpPr txBox="1"/>
          <p:nvPr/>
        </p:nvSpPr>
        <p:spPr>
          <a:xfrm>
            <a:off x="11687175" y="55197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51" name="TextBox 25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252" name="TextBox 2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Principal Material / Barrier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Principal Material / Barrier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2457450"/>
          </a:xfrm>
          <a:prstGeom prst="roundRect">
            <a:avLst>
              <a:gd name="adj" fmla="val 31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Principal Material / Barrier Technology (%)  ·  light = lower, dark = higher growth</a:t>
            </a:r>
          </a:p>
        </p:txBody>
      </p:sp>
      <p:sp>
        <p:nvSpPr>
          <p:cNvPr id="17" name="TextBox 16"/>
          <p:cNvSpPr txBox="1"/>
          <p:nvPr/>
        </p:nvSpPr>
        <p:spPr>
          <a:xfrm>
            <a:off x="18573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60057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sp>
        <p:nvSpPr>
          <p:cNvPr id="33" name="Rectangle 32"/>
          <p:cNvSpPr/>
          <p:nvPr/>
        </p:nvSpPr>
        <p:spPr>
          <a:xfrm>
            <a:off x="1857375" y="4600575"/>
            <a:ext cx="643890" cy="179243"/>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600575"/>
            <a:ext cx="643890" cy="179243"/>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600575"/>
            <a:ext cx="643890" cy="17924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600575"/>
            <a:ext cx="643890" cy="17924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600575"/>
            <a:ext cx="643890" cy="179243"/>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600575"/>
            <a:ext cx="643890" cy="17924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600575"/>
            <a:ext cx="643890" cy="179243"/>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600575"/>
            <a:ext cx="643890" cy="179243"/>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600575"/>
            <a:ext cx="643890" cy="179243"/>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600575"/>
            <a:ext cx="643890" cy="179243"/>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600575"/>
            <a:ext cx="643890" cy="179243"/>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600575"/>
            <a:ext cx="643890" cy="179243"/>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600575"/>
            <a:ext cx="643890" cy="179243"/>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600575"/>
            <a:ext cx="643890" cy="179243"/>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600575"/>
            <a:ext cx="643890" cy="179243"/>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77981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sp>
        <p:nvSpPr>
          <p:cNvPr id="49" name="Rectangle 48"/>
          <p:cNvSpPr/>
          <p:nvPr/>
        </p:nvSpPr>
        <p:spPr>
          <a:xfrm>
            <a:off x="1857375" y="4779818"/>
            <a:ext cx="643890" cy="179243"/>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779818"/>
            <a:ext cx="643890" cy="17924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779818"/>
            <a:ext cx="643890" cy="179243"/>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779818"/>
            <a:ext cx="643890" cy="17924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779818"/>
            <a:ext cx="643890" cy="179243"/>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779818"/>
            <a:ext cx="643890" cy="179243"/>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779818"/>
            <a:ext cx="643890" cy="179243"/>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779818"/>
            <a:ext cx="643890" cy="179243"/>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779818"/>
            <a:ext cx="643890" cy="179243"/>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779818"/>
            <a:ext cx="643890" cy="179243"/>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779818"/>
            <a:ext cx="643890" cy="179243"/>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779818"/>
            <a:ext cx="643890" cy="179243"/>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779818"/>
            <a:ext cx="643890" cy="179243"/>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779818"/>
            <a:ext cx="643890" cy="179243"/>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779818"/>
            <a:ext cx="643890" cy="179243"/>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5906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65" name="Rectangle 64"/>
          <p:cNvSpPr/>
          <p:nvPr/>
        </p:nvSpPr>
        <p:spPr>
          <a:xfrm>
            <a:off x="1857375" y="4959061"/>
            <a:ext cx="643890" cy="179243"/>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59061"/>
            <a:ext cx="643890" cy="179243"/>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59061"/>
            <a:ext cx="643890" cy="179243"/>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59061"/>
            <a:ext cx="643890" cy="179243"/>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59061"/>
            <a:ext cx="643890" cy="179243"/>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59061"/>
            <a:ext cx="643890" cy="179243"/>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59061"/>
            <a:ext cx="643890" cy="179243"/>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59061"/>
            <a:ext cx="643890" cy="179243"/>
          </a:xfrm>
          <a:prstGeom prst="rect">
            <a:avLst/>
          </a:prstGeom>
          <a:solidFill>
            <a:srgbClr val="37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59061"/>
            <a:ext cx="643890" cy="179243"/>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59061"/>
            <a:ext cx="643890" cy="179243"/>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59061"/>
            <a:ext cx="643890" cy="179243"/>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59061"/>
            <a:ext cx="643890" cy="179243"/>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59061"/>
            <a:ext cx="643890" cy="179243"/>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59061"/>
            <a:ext cx="643890" cy="179243"/>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59061"/>
            <a:ext cx="643890" cy="179243"/>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3830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sp>
        <p:nvSpPr>
          <p:cNvPr id="81" name="Rectangle 80"/>
          <p:cNvSpPr/>
          <p:nvPr/>
        </p:nvSpPr>
        <p:spPr>
          <a:xfrm>
            <a:off x="1857375" y="5138305"/>
            <a:ext cx="643890" cy="179243"/>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38305"/>
            <a:ext cx="643890" cy="179243"/>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38305"/>
            <a:ext cx="643890" cy="179243"/>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38305"/>
            <a:ext cx="643890" cy="179243"/>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38305"/>
            <a:ext cx="643890" cy="179243"/>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38305"/>
            <a:ext cx="643890" cy="179243"/>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38305"/>
            <a:ext cx="643890" cy="179243"/>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38305"/>
            <a:ext cx="643890" cy="179243"/>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38305"/>
            <a:ext cx="643890" cy="179243"/>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38305"/>
            <a:ext cx="643890" cy="179243"/>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38305"/>
            <a:ext cx="643890" cy="179243"/>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38305"/>
            <a:ext cx="643890" cy="179243"/>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38305"/>
            <a:ext cx="643890" cy="179243"/>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38305"/>
            <a:ext cx="643890" cy="17924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38305"/>
            <a:ext cx="643890" cy="17924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1754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sp>
        <p:nvSpPr>
          <p:cNvPr id="97" name="Rectangle 96"/>
          <p:cNvSpPr/>
          <p:nvPr/>
        </p:nvSpPr>
        <p:spPr>
          <a:xfrm>
            <a:off x="1857375" y="5317548"/>
            <a:ext cx="643890" cy="179243"/>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317548"/>
            <a:ext cx="643890" cy="179243"/>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317548"/>
            <a:ext cx="643890" cy="179243"/>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317548"/>
            <a:ext cx="643890" cy="17924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317548"/>
            <a:ext cx="643890" cy="179243"/>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317548"/>
            <a:ext cx="643890" cy="179243"/>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317548"/>
            <a:ext cx="643890" cy="179243"/>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317548"/>
            <a:ext cx="643890" cy="179243"/>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317548"/>
            <a:ext cx="643890" cy="179243"/>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317548"/>
            <a:ext cx="643890" cy="179243"/>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317548"/>
            <a:ext cx="643890" cy="179243"/>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317548"/>
            <a:ext cx="643890" cy="179243"/>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317548"/>
            <a:ext cx="643890" cy="17924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317548"/>
            <a:ext cx="643890" cy="179243"/>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317548"/>
            <a:ext cx="643890" cy="179243"/>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49679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sp>
        <p:nvSpPr>
          <p:cNvPr id="113" name="Rectangle 112"/>
          <p:cNvSpPr/>
          <p:nvPr/>
        </p:nvSpPr>
        <p:spPr>
          <a:xfrm>
            <a:off x="1857375" y="5496791"/>
            <a:ext cx="643890" cy="17924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496791"/>
            <a:ext cx="643890" cy="179243"/>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496791"/>
            <a:ext cx="643890" cy="17924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496791"/>
            <a:ext cx="643890" cy="17924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496791"/>
            <a:ext cx="643890" cy="179243"/>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496791"/>
            <a:ext cx="643890" cy="179243"/>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496791"/>
            <a:ext cx="643890" cy="179243"/>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496791"/>
            <a:ext cx="643890" cy="179243"/>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496791"/>
            <a:ext cx="643890" cy="179243"/>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496791"/>
            <a:ext cx="643890" cy="179243"/>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496791"/>
            <a:ext cx="643890" cy="179243"/>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496791"/>
            <a:ext cx="643890" cy="17924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496791"/>
            <a:ext cx="643890" cy="179243"/>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496791"/>
            <a:ext cx="643890" cy="179243"/>
          </a:xfrm>
          <a:prstGeom prst="rect">
            <a:avLst/>
          </a:prstGeom>
          <a:solidFill>
            <a:srgbClr val="1E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496791"/>
            <a:ext cx="643890" cy="17924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67603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sp>
        <p:nvSpPr>
          <p:cNvPr id="129" name="Rectangle 128"/>
          <p:cNvSpPr/>
          <p:nvPr/>
        </p:nvSpPr>
        <p:spPr>
          <a:xfrm>
            <a:off x="1857375" y="5676034"/>
            <a:ext cx="643890" cy="179243"/>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676034"/>
            <a:ext cx="643890" cy="179243"/>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676034"/>
            <a:ext cx="643890" cy="179243"/>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676034"/>
            <a:ext cx="643890" cy="179243"/>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676034"/>
            <a:ext cx="643890" cy="179243"/>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676034"/>
            <a:ext cx="643890" cy="179243"/>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676034"/>
            <a:ext cx="643890" cy="179243"/>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676034"/>
            <a:ext cx="643890" cy="17924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676034"/>
            <a:ext cx="643890" cy="179243"/>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676034"/>
            <a:ext cx="643890" cy="17924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676034"/>
            <a:ext cx="643890" cy="179243"/>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676034"/>
            <a:ext cx="643890" cy="179243"/>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676034"/>
            <a:ext cx="643890" cy="17924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676034"/>
            <a:ext cx="643890" cy="179243"/>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676034"/>
            <a:ext cx="643890" cy="179243"/>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585527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sp>
        <p:nvSpPr>
          <p:cNvPr id="145" name="Rectangle 144"/>
          <p:cNvSpPr/>
          <p:nvPr/>
        </p:nvSpPr>
        <p:spPr>
          <a:xfrm>
            <a:off x="1857375" y="5855277"/>
            <a:ext cx="643890" cy="179243"/>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5855277"/>
            <a:ext cx="643890" cy="179243"/>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5855277"/>
            <a:ext cx="643890" cy="179243"/>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5855277"/>
            <a:ext cx="643890" cy="17924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5855277"/>
            <a:ext cx="643890" cy="179243"/>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5855277"/>
            <a:ext cx="643890" cy="179243"/>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5855277"/>
            <a:ext cx="643890" cy="179243"/>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5855277"/>
            <a:ext cx="643890" cy="179243"/>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5855277"/>
            <a:ext cx="643890" cy="179243"/>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5855277"/>
            <a:ext cx="643890" cy="179243"/>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5855277"/>
            <a:ext cx="643890" cy="179243"/>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5855277"/>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5855277"/>
            <a:ext cx="643890" cy="179243"/>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5855277"/>
            <a:ext cx="643890" cy="179243"/>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5855277"/>
            <a:ext cx="643890" cy="179243"/>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238125" y="6034520"/>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sp>
        <p:nvSpPr>
          <p:cNvPr id="161" name="Rectangle 160"/>
          <p:cNvSpPr/>
          <p:nvPr/>
        </p:nvSpPr>
        <p:spPr>
          <a:xfrm>
            <a:off x="1857375" y="6034520"/>
            <a:ext cx="643890" cy="179243"/>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2501265" y="6034520"/>
            <a:ext cx="643890" cy="179243"/>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3145155" y="6034520"/>
            <a:ext cx="643890" cy="179243"/>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3789045" y="6034520"/>
            <a:ext cx="643890" cy="179243"/>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4432935" y="6034520"/>
            <a:ext cx="643890" cy="179243"/>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5076825" y="6034520"/>
            <a:ext cx="643890" cy="179243"/>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5720715" y="6034520"/>
            <a:ext cx="643890" cy="179243"/>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6364605" y="6034520"/>
            <a:ext cx="643890" cy="179243"/>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7008495" y="6034520"/>
            <a:ext cx="643890" cy="17924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7652385" y="6034520"/>
            <a:ext cx="643890" cy="179243"/>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8296275" y="6034520"/>
            <a:ext cx="643890" cy="179243"/>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8940165" y="6034520"/>
            <a:ext cx="643890" cy="179243"/>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9584055" y="6034520"/>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0227945" y="6034520"/>
            <a:ext cx="643890" cy="179243"/>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0871835" y="6034520"/>
            <a:ext cx="643890" cy="179243"/>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238125" y="621376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sp>
        <p:nvSpPr>
          <p:cNvPr id="177" name="Rectangle 176"/>
          <p:cNvSpPr/>
          <p:nvPr/>
        </p:nvSpPr>
        <p:spPr>
          <a:xfrm>
            <a:off x="1857375" y="6213764"/>
            <a:ext cx="643890" cy="179243"/>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2501265" y="6213764"/>
            <a:ext cx="643890" cy="179243"/>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3145155" y="6213764"/>
            <a:ext cx="643890" cy="179243"/>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3789045" y="6213764"/>
            <a:ext cx="643890" cy="179243"/>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4432935" y="6213764"/>
            <a:ext cx="643890" cy="179243"/>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5076825" y="6213764"/>
            <a:ext cx="643890" cy="179243"/>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5720715" y="6213764"/>
            <a:ext cx="643890" cy="17924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6364605" y="6213764"/>
            <a:ext cx="643890" cy="179243"/>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7008495" y="6213764"/>
            <a:ext cx="643890" cy="179243"/>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7652385" y="6213764"/>
            <a:ext cx="643890" cy="179243"/>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8296275" y="6213764"/>
            <a:ext cx="643890" cy="179243"/>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8940165" y="6213764"/>
            <a:ext cx="643890" cy="179243"/>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9584055" y="6213764"/>
            <a:ext cx="643890" cy="179243"/>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0227945" y="6213764"/>
            <a:ext cx="643890" cy="179243"/>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0871835" y="6213764"/>
            <a:ext cx="643890" cy="179243"/>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238125" y="639300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93" name="Rectangle 192"/>
          <p:cNvSpPr/>
          <p:nvPr/>
        </p:nvSpPr>
        <p:spPr>
          <a:xfrm>
            <a:off x="1857375" y="6393007"/>
            <a:ext cx="643890" cy="179243"/>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2501265" y="6393007"/>
            <a:ext cx="643890" cy="179243"/>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3145155" y="6393007"/>
            <a:ext cx="643890" cy="17924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3789045" y="6393007"/>
            <a:ext cx="643890" cy="179243"/>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4432935" y="6393007"/>
            <a:ext cx="643890" cy="179243"/>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5076825" y="6393007"/>
            <a:ext cx="643890" cy="17924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5720715" y="6393007"/>
            <a:ext cx="643890" cy="179243"/>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364605" y="6393007"/>
            <a:ext cx="643890" cy="179243"/>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7008495" y="6393007"/>
            <a:ext cx="643890" cy="179243"/>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7652385" y="6393007"/>
            <a:ext cx="643890" cy="179243"/>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8296275" y="6393007"/>
            <a:ext cx="643890" cy="179243"/>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8940165" y="6393007"/>
            <a:ext cx="643890" cy="179243"/>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9584055" y="6393007"/>
            <a:ext cx="643890" cy="17924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10227945" y="6393007"/>
            <a:ext cx="643890" cy="179243"/>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10871835" y="6393007"/>
            <a:ext cx="643890" cy="179243"/>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11572875" y="4638675"/>
            <a:ext cx="104775" cy="55007"/>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11572875" y="4686062"/>
            <a:ext cx="104775" cy="55007"/>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11572875" y="4733449"/>
            <a:ext cx="104775" cy="55007"/>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11572875" y="4780836"/>
            <a:ext cx="104775" cy="55007"/>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11572875" y="4828222"/>
            <a:ext cx="104775" cy="55007"/>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11572875" y="4875609"/>
            <a:ext cx="104775" cy="55007"/>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11572875" y="4922996"/>
            <a:ext cx="104775" cy="55007"/>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1572875" y="4970383"/>
            <a:ext cx="104775" cy="55007"/>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11572875" y="5017770"/>
            <a:ext cx="104775" cy="55007"/>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1572875" y="5065157"/>
            <a:ext cx="104775" cy="55007"/>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1572875" y="5112544"/>
            <a:ext cx="104775" cy="55007"/>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5159931"/>
            <a:ext cx="104775" cy="55007"/>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5207318"/>
            <a:ext cx="104775" cy="55007"/>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5254704"/>
            <a:ext cx="104775" cy="55007"/>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5302091"/>
            <a:ext cx="104775" cy="55007"/>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5349478"/>
            <a:ext cx="104775" cy="55007"/>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5396865"/>
            <a:ext cx="104775" cy="55007"/>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5444252"/>
            <a:ext cx="104775" cy="55007"/>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5491639"/>
            <a:ext cx="104775" cy="55007"/>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5539026"/>
            <a:ext cx="104775" cy="55007"/>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5586412"/>
            <a:ext cx="104775" cy="55007"/>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5633799"/>
            <a:ext cx="104775" cy="55007"/>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5681186"/>
            <a:ext cx="104775" cy="55007"/>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5728573"/>
            <a:ext cx="104775" cy="55007"/>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5775960"/>
            <a:ext cx="104775" cy="55007"/>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5823347"/>
            <a:ext cx="104775" cy="55007"/>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5870734"/>
            <a:ext cx="104775" cy="55007"/>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5918121"/>
            <a:ext cx="104775" cy="55007"/>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5965508"/>
            <a:ext cx="104775" cy="55007"/>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6012894"/>
            <a:ext cx="104775" cy="55007"/>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6060281"/>
            <a:ext cx="104775" cy="55007"/>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6107668"/>
            <a:ext cx="104775" cy="55007"/>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6155055"/>
            <a:ext cx="104775" cy="55007"/>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6202442"/>
            <a:ext cx="104775" cy="55007"/>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6249829"/>
            <a:ext cx="104775" cy="55007"/>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6297216"/>
            <a:ext cx="104775" cy="55007"/>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6344602"/>
            <a:ext cx="104775" cy="55007"/>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6391989"/>
            <a:ext cx="104775" cy="55007"/>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6439376"/>
            <a:ext cx="104775" cy="55007"/>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6486763"/>
            <a:ext cx="104775" cy="55007"/>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4638675"/>
            <a:ext cx="104775" cy="18954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1687175" y="45720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50" name="TextBox 249"/>
          <p:cNvSpPr txBox="1"/>
          <p:nvPr/>
        </p:nvSpPr>
        <p:spPr>
          <a:xfrm>
            <a:off x="11687175" y="5519738"/>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51" name="TextBox 25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252" name="TextBox 2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Material Structure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Structure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Structure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Material Structure,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Structure segment categorizes the market by material structure.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Coextruded Multilayer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10,472</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17,942</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5.5%</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Laminated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9,112</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15,608</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Monolayer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5,664</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9,915</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5.8%</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Mono-Material Recyclable Structur…</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2,984</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5,469</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6.2%</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material structure, mono-material recyclable structures segment is expected to witness the highest CAGR of 6.2% over the forecast period. In terms of value share by material structure, the coextruded multilayer films segment is expected to dominate the market, losing 20 BPS and accounting for 28.9%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Coextruded multilayer films segment is projected to register 1.1X higher value than laminated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Coextruded Multilayer Films: </a:t>
            </a:r>
            <a:r>
              <a:rPr sz="1100" b="0">
                <a:solidFill>
                  <a:srgbClr val="2E2E2E"/>
                </a:solidFill>
                <a:latin typeface="Calibri"/>
              </a:rPr>
              <a:t>29% of 2026 value · 5.5%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Laminated Films: </a:t>
            </a:r>
            <a:r>
              <a:rPr sz="1100" b="0">
                <a:solidFill>
                  <a:srgbClr val="2E2E2E"/>
                </a:solidFill>
                <a:latin typeface="Calibri"/>
              </a:rPr>
              <a:t>25% of 2026 value · 5.5%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Monolayer Films: </a:t>
            </a:r>
            <a:r>
              <a:rPr sz="1100" b="0">
                <a:solidFill>
                  <a:srgbClr val="2E2E2E"/>
                </a:solidFill>
                <a:latin typeface="Calibri"/>
              </a:rPr>
              <a:t>16% of 2026 value · 5.8%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Mono-Material Recyclable Structures: </a:t>
            </a:r>
            <a:r>
              <a:rPr sz="1100" b="0">
                <a:solidFill>
                  <a:srgbClr val="2E2E2E"/>
                </a:solidFill>
                <a:latin typeface="Calibri"/>
              </a:rPr>
              <a:t>8% of 2026 value · 6.2%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Structure split shows how demand is distributed across material structure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Material Structure segment is projected to grow at a CAGR of 5.6%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Structure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Material Structure,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Structure segment categorizes the market by material structure.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Foil-Laminated Structures</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2,775</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4,753</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5.5%</a:t>
            </a:r>
          </a:p>
        </p:txBody>
      </p:sp>
      <p:sp>
        <p:nvSpPr>
          <p:cNvPr id="25" name="Oval 24"/>
          <p:cNvSpPr/>
          <p:nvPr/>
        </p:nvSpPr>
        <p:spPr>
          <a:xfrm>
            <a:off x="333375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523875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Metallized Films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2,569</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4,260</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5.2%</a:t>
            </a:r>
          </a:p>
        </p:txBody>
      </p:sp>
      <p:sp>
        <p:nvSpPr>
          <p:cNvPr id="32" name="Oval 31"/>
          <p:cNvSpPr/>
          <p:nvPr/>
        </p:nvSpPr>
        <p:spPr>
          <a:xfrm>
            <a:off x="670560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8610600" y="1773916"/>
            <a:ext cx="325755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Coated Films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2,402</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4,121</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5.5%</a:t>
            </a:r>
          </a:p>
        </p:txBody>
      </p:sp>
      <p:sp>
        <p:nvSpPr>
          <p:cNvPr id="39" name="Oval 38"/>
          <p:cNvSpPr/>
          <p:nvPr/>
        </p:nvSpPr>
        <p:spPr>
          <a:xfrm>
            <a:off x="1007745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Foil-Laminated Structures: </a:t>
            </a:r>
            <a:r>
              <a:rPr sz="1100" b="0">
                <a:solidFill>
                  <a:srgbClr val="2E2E2E"/>
                </a:solidFill>
                <a:latin typeface="Calibri"/>
              </a:rPr>
              <a:t>8% of 2026 value · 5.5%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Metallized Films: </a:t>
            </a:r>
            <a:r>
              <a:rPr sz="1100" b="0">
                <a:solidFill>
                  <a:srgbClr val="2E2E2E"/>
                </a:solidFill>
                <a:latin typeface="Calibri"/>
              </a:rPr>
              <a:t>7% of 2026 value · 5.2%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Coated Films: </a:t>
            </a:r>
            <a:r>
              <a:rPr sz="1100" b="0">
                <a:solidFill>
                  <a:srgbClr val="2E2E2E"/>
                </a:solidFill>
                <a:latin typeface="Calibri"/>
              </a:rPr>
              <a:t>7% of 2026 value · 5.5%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Material Structure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Material Structure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Material Structure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Coextruded multilayer films followed by laminated films are expected to be the two most attractive material structure segments in the North America flexible plastic packaging market in terms of value over the forecast period. Coextruded multilayer films and laminated films exhibit a CAGR index of 99 and 99 and a market share index of 204 and 177 respectively, against the segment average of 100. The metallized films segment is expected to be less attractive as compared to other segments over the forecast period, owing to its lower CAGR and incremental opportunity. Mono-Material Recyclable Structures rank highest on growth at 6.2% as brand owners redesign packs for recycling under EPR, while Coextruded Multilayer Films rank on size with a 29.1% share at 5.5% growth. The pairing of scale and recyclable transition, supported by e-commerce fulfilment, food delivery and strong protein and ready-meal packaging demand, sets the ranking.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Structure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Monolayer Films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Coextruded Multilayer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Laminated Films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Coated Films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Structure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Metallized Films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Foil-Laminated Structures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Mono-Material Recyclable Structures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Material Structure</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By 2036, coextruded multilayer films segment is anticipated to witness an increase of 1.7X in terms of value as compared to 2026. The coextruded multilayer films segment is expected to create an incremental opportunity of US$ 7,470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The laminated films segment is expected to create an incremental opportunity of US$ 6,496 Mn for the overall flexible plastic packaging market from 2026 to 2036. The monolayer films segment is expected to create an incremental opportunity of US$ 4,251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Mono-Material Recyclable Structures add the most momentum, growing at 6.2% and gaining 52 BPS as extended producer responsibility rules and retailer recyclability pledges push brand owners to redesign laminates. Coextruded Multilayer Films and Laminated Films add large absolute value simply because their bases are largest, around 29% and 25% of the market, even though both grow slower at 5.5%.</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Material Structure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Material Structure (Thousand MT)</a:t>
            </a:r>
          </a:p>
        </p:txBody>
      </p:sp>
      <p:graphicFrame>
        <p:nvGraphicFramePr>
          <p:cNvPr id="13" name="Table 12"/>
          <p:cNvGraphicFramePr>
            <a:graphicFrameLocks noGrp="1"/>
          </p:cNvGraphicFramePr>
          <p:nvPr/>
        </p:nvGraphicFramePr>
        <p:xfrm>
          <a:off x="152400" y="1238250"/>
          <a:ext cx="11887208" cy="2590803"/>
        </p:xfrm>
        <a:graphic>
          <a:graphicData uri="http://schemas.openxmlformats.org/drawingml/2006/table">
            <a:tbl>
              <a:tblPr>
                <a:tableStyleId>{5C22544A-7EE6-4342-B048-85BDC9FD1C3A}</a:tableStyleId>
              </a:tblPr>
              <a:tblGrid>
                <a:gridCol w="1914770"/>
                <a:gridCol w="586614"/>
                <a:gridCol w="586614"/>
                <a:gridCol w="586614"/>
                <a:gridCol w="586614"/>
                <a:gridCol w="586614"/>
                <a:gridCol w="586614"/>
                <a:gridCol w="586614"/>
                <a:gridCol w="586614"/>
                <a:gridCol w="586614"/>
                <a:gridCol w="586614"/>
                <a:gridCol w="586614"/>
                <a:gridCol w="586614"/>
                <a:gridCol w="586614"/>
                <a:gridCol w="586614"/>
                <a:gridCol w="586614"/>
                <a:gridCol w="586614"/>
                <a:gridCol w="586614"/>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Material Structure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Structure,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Material Structure (Thousand MT)</a:t>
            </a:r>
          </a:p>
        </p:txBody>
      </p:sp>
      <p:graphicFrame>
        <p:nvGraphicFramePr>
          <p:cNvPr id="12" name="Table 11"/>
          <p:cNvGraphicFramePr>
            <a:graphicFrameLocks noGrp="1"/>
          </p:cNvGraphicFramePr>
          <p:nvPr/>
        </p:nvGraphicFramePr>
        <p:xfrm>
          <a:off x="152400" y="1238250"/>
          <a:ext cx="11887208" cy="1514475"/>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Material Structure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Coextruded multilayer films segment is projected to register 1.1X higher volume than laminated films segment in 2036. Among flexible plastic packaging by material structure, mono-material recyclable structures segment is expected to witness the highest CAGR of 4.9% over the forecast period.</a:t>
            </a:r>
          </a:p>
          <a:p>
            <a:pPr algn="l">
              <a:lnSpc>
                <a:spcPct val="110000"/>
              </a:lnSpc>
              <a:spcBef>
                <a:spcPts val="0"/>
              </a:spcBef>
              <a:spcAft>
                <a:spcPts val="500"/>
              </a:spcAft>
            </a:pPr>
            <a:r>
              <a:rPr sz="1150" b="0">
                <a:solidFill>
                  <a:srgbClr val="2E2E2E"/>
                </a:solidFill>
                <a:latin typeface="Calibri"/>
              </a:rPr>
              <a:t>In terms of volume share by material structure, the coextruded multilayer films segment is expected to dominate the market, losing 20 BPS and accounting for 28.9% share by 2036. The metallized films segment is expected to lose 28 BPS over the forecast period to account for 6.9% share by 2036.</a:t>
            </a:r>
          </a:p>
          <a:p>
            <a:pPr algn="l">
              <a:lnSpc>
                <a:spcPct val="110000"/>
              </a:lnSpc>
              <a:spcBef>
                <a:spcPts val="0"/>
              </a:spcBef>
              <a:spcAft>
                <a:spcPts val="500"/>
              </a:spcAft>
            </a:pPr>
            <a:r>
              <a:rPr sz="1150" b="0">
                <a:solidFill>
                  <a:srgbClr val="2E2E2E"/>
                </a:solidFill>
                <a:latin typeface="Calibri"/>
              </a:rPr>
              <a:t>Mono-Material Recyclable Structures gains 52 BPS of volume share because brand owners are redesigning multilayer laminates into recyclable mono-PE and mono-PP formats to meet EPR and recycled-content requirements. Its 4.9% CAGR compares with a 4.3% market rate, while Metallized Films loses 28 BPS at 3.8% as transparent coated barriers and mono-material alternatives are replacing metallised layers in recyclability-led redesigns. In North America, e-commerce volumes, food delivery and recycled-content rules shape converter choices.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Material Structure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Material Structure (US$ Mn)</a:t>
            </a:r>
          </a:p>
        </p:txBody>
      </p:sp>
      <p:graphicFrame>
        <p:nvGraphicFramePr>
          <p:cNvPr id="13" name="Table 12"/>
          <p:cNvGraphicFramePr>
            <a:graphicFrameLocks noGrp="1"/>
          </p:cNvGraphicFramePr>
          <p:nvPr/>
        </p:nvGraphicFramePr>
        <p:xfrm>
          <a:off x="152400" y="1238250"/>
          <a:ext cx="11887208" cy="2590803"/>
        </p:xfrm>
        <a:graphic>
          <a:graphicData uri="http://schemas.openxmlformats.org/drawingml/2006/table">
            <a:tbl>
              <a:tblPr>
                <a:tableStyleId>{5C22544A-7EE6-4342-B048-85BDC9FD1C3A}</a:tableStyleId>
              </a:tblPr>
              <a:tblGrid>
                <a:gridCol w="1914770"/>
                <a:gridCol w="586614"/>
                <a:gridCol w="586614"/>
                <a:gridCol w="586614"/>
                <a:gridCol w="586614"/>
                <a:gridCol w="586614"/>
                <a:gridCol w="586614"/>
                <a:gridCol w="586614"/>
                <a:gridCol w="586614"/>
                <a:gridCol w="586614"/>
                <a:gridCol w="586614"/>
                <a:gridCol w="586614"/>
                <a:gridCol w="586614"/>
                <a:gridCol w="586614"/>
                <a:gridCol w="586614"/>
                <a:gridCol w="586614"/>
                <a:gridCol w="586614"/>
                <a:gridCol w="586614"/>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Material Structure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Structure,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Material Structure (US$ Mn)</a:t>
            </a:r>
          </a:p>
        </p:txBody>
      </p:sp>
      <p:graphicFrame>
        <p:nvGraphicFramePr>
          <p:cNvPr id="12" name="Table 11"/>
          <p:cNvGraphicFramePr>
            <a:graphicFrameLocks noGrp="1"/>
          </p:cNvGraphicFramePr>
          <p:nvPr/>
        </p:nvGraphicFramePr>
        <p:xfrm>
          <a:off x="152400" y="1238250"/>
          <a:ext cx="11887208" cy="1514475"/>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Material Structure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Coextruded multilayer films segment is projected to register 1.1X higher value than laminated films segment in 2036. Among flexible plastic packaging by material structure, mono-material recyclable structures segment is expected to witness the highest CAGR of 6.2% over the forecast period.</a:t>
            </a:r>
          </a:p>
          <a:p>
            <a:pPr algn="l">
              <a:lnSpc>
                <a:spcPct val="110000"/>
              </a:lnSpc>
              <a:spcBef>
                <a:spcPts val="0"/>
              </a:spcBef>
              <a:spcAft>
                <a:spcPts val="500"/>
              </a:spcAft>
            </a:pPr>
            <a:r>
              <a:rPr sz="1150" b="0">
                <a:solidFill>
                  <a:srgbClr val="2E2E2E"/>
                </a:solidFill>
                <a:latin typeface="Calibri"/>
              </a:rPr>
              <a:t>In terms of value share by material structure, the coextruded multilayer films segment is expected to dominate the market, losing 20 BPS and accounting for 28.9% share by 2036. The metallized films segment is expected to lose 28 BPS over the forecast period to account for 6.9% share by 2036.</a:t>
            </a:r>
          </a:p>
          <a:p>
            <a:pPr algn="l">
              <a:lnSpc>
                <a:spcPct val="110000"/>
              </a:lnSpc>
              <a:spcBef>
                <a:spcPts val="0"/>
              </a:spcBef>
              <a:spcAft>
                <a:spcPts val="500"/>
              </a:spcAft>
            </a:pPr>
            <a:r>
              <a:rPr sz="1150" b="0">
                <a:solidFill>
                  <a:srgbClr val="2E2E2E"/>
                </a:solidFill>
                <a:latin typeface="Calibri"/>
              </a:rPr>
              <a:t>Mono-Material Recyclable Structures gain 52 BPS and grow at 6.2% because North American retailers, brand pledges and state EPR laws are pushing packs toward single-polymer designs. Metallized Films lose the most share, falling 28 BPS with 5.2% growth, as they are hard to recycle and are being replaced by clear high-barrier PE and AlOx or SiOx-coated alternatives. Coextruded Multilayer Films remain the largest pool.</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Material Structure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Material Structure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23046"/>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1828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4208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Coated Films</a:t>
            </a:r>
          </a:p>
        </p:txBody>
      </p:sp>
      <p:sp>
        <p:nvSpPr>
          <p:cNvPr id="19" name="BPS Value 1"/>
          <p:cNvSpPr txBox="1"/>
          <p:nvPr/>
        </p:nvSpPr>
        <p:spPr>
          <a:xfrm>
            <a:off x="6896100" y="1803996"/>
            <a:ext cx="514350" cy="123825"/>
          </a:xfrm>
          <a:prstGeom prst="rect">
            <a:avLst/>
          </a:prstGeom>
          <a:noFill/>
        </p:spPr>
        <p:txBody>
          <a:bodyPr wrap="none" lIns="0" rIns="0" tIns="0" bIns="0" anchor="ctr">
            <a:spAutoFit/>
          </a:bodyPr>
          <a:lstStyle/>
          <a:p>
            <a:pPr algn="r"/>
            <a:r>
              <a:rPr sz="900" b="1">
                <a:solidFill>
                  <a:srgbClr val="E44D3A"/>
                </a:solidFill>
                <a:latin typeface="Calibri"/>
              </a:rPr>
              <a:t>-4</a:t>
            </a:r>
          </a:p>
        </p:txBody>
      </p:sp>
      <p:sp>
        <p:nvSpPr>
          <p:cNvPr id="20" name="FMI Legend Chip"/>
          <p:cNvSpPr/>
          <p:nvPr/>
        </p:nvSpPr>
        <p:spPr>
          <a:xfrm>
            <a:off x="4928997" y="2131741"/>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2697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5077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Metallized Films</a:t>
            </a:r>
          </a:p>
        </p:txBody>
      </p:sp>
      <p:sp>
        <p:nvSpPr>
          <p:cNvPr id="23" name="BPS Value 2"/>
          <p:cNvSpPr txBox="1"/>
          <p:nvPr/>
        </p:nvSpPr>
        <p:spPr>
          <a:xfrm>
            <a:off x="6896100" y="2112691"/>
            <a:ext cx="514350" cy="123825"/>
          </a:xfrm>
          <a:prstGeom prst="rect">
            <a:avLst/>
          </a:prstGeom>
          <a:noFill/>
        </p:spPr>
        <p:txBody>
          <a:bodyPr wrap="none" lIns="0" rIns="0" tIns="0" bIns="0" anchor="ctr">
            <a:spAutoFit/>
          </a:bodyPr>
          <a:lstStyle/>
          <a:p>
            <a:pPr algn="r"/>
            <a:r>
              <a:rPr sz="900" b="1">
                <a:solidFill>
                  <a:srgbClr val="E44D3A"/>
                </a:solidFill>
                <a:latin typeface="Calibri"/>
              </a:rPr>
              <a:t>-28</a:t>
            </a:r>
          </a:p>
        </p:txBody>
      </p:sp>
      <p:sp>
        <p:nvSpPr>
          <p:cNvPr id="24" name="FMI Legend Chip"/>
          <p:cNvSpPr/>
          <p:nvPr/>
        </p:nvSpPr>
        <p:spPr>
          <a:xfrm>
            <a:off x="4928997" y="2463717"/>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45895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38275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Foil-Laminated Structures</a:t>
            </a:r>
          </a:p>
        </p:txBody>
      </p:sp>
      <p:sp>
        <p:nvSpPr>
          <p:cNvPr id="27" name="BPS Value 3"/>
          <p:cNvSpPr txBox="1"/>
          <p:nvPr/>
        </p:nvSpPr>
        <p:spPr>
          <a:xfrm>
            <a:off x="6896100" y="2444667"/>
            <a:ext cx="514350" cy="123825"/>
          </a:xfrm>
          <a:prstGeom prst="rect">
            <a:avLst/>
          </a:prstGeom>
          <a:noFill/>
        </p:spPr>
        <p:txBody>
          <a:bodyPr wrap="none" lIns="0" rIns="0" tIns="0" bIns="0" anchor="ctr">
            <a:spAutoFit/>
          </a:bodyPr>
          <a:lstStyle/>
          <a:p>
            <a:pPr algn="r"/>
            <a:r>
              <a:rPr sz="900" b="1">
                <a:solidFill>
                  <a:srgbClr val="E44D3A"/>
                </a:solidFill>
                <a:latin typeface="Calibri"/>
              </a:rPr>
              <a:t>-5</a:t>
            </a:r>
          </a:p>
        </p:txBody>
      </p:sp>
      <p:sp>
        <p:nvSpPr>
          <p:cNvPr id="28" name="FMI Legend Chip"/>
          <p:cNvSpPr/>
          <p:nvPr/>
        </p:nvSpPr>
        <p:spPr>
          <a:xfrm>
            <a:off x="4928997" y="284023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283547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75927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Mono-Material Recyclable Structures</a:t>
            </a:r>
          </a:p>
        </p:txBody>
      </p:sp>
      <p:sp>
        <p:nvSpPr>
          <p:cNvPr id="31" name="BPS Value 4"/>
          <p:cNvSpPr txBox="1"/>
          <p:nvPr/>
        </p:nvSpPr>
        <p:spPr>
          <a:xfrm>
            <a:off x="6896100" y="2821183"/>
            <a:ext cx="514350" cy="123825"/>
          </a:xfrm>
          <a:prstGeom prst="rect">
            <a:avLst/>
          </a:prstGeom>
          <a:noFill/>
        </p:spPr>
        <p:txBody>
          <a:bodyPr wrap="none" lIns="0" rIns="0" tIns="0" bIns="0" anchor="ctr">
            <a:spAutoFit/>
          </a:bodyPr>
          <a:lstStyle/>
          <a:p>
            <a:pPr algn="r"/>
            <a:r>
              <a:rPr sz="900" b="1">
                <a:solidFill>
                  <a:srgbClr val="2E7D32"/>
                </a:solidFill>
                <a:latin typeface="Calibri"/>
              </a:rPr>
              <a:t>+52</a:t>
            </a:r>
          </a:p>
        </p:txBody>
      </p:sp>
      <p:sp>
        <p:nvSpPr>
          <p:cNvPr id="32" name="FMI Legend Chip"/>
          <p:cNvSpPr/>
          <p:nvPr/>
        </p:nvSpPr>
        <p:spPr>
          <a:xfrm>
            <a:off x="4928997" y="340689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40213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3259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Monolayer Films</a:t>
            </a:r>
          </a:p>
        </p:txBody>
      </p:sp>
      <p:sp>
        <p:nvSpPr>
          <p:cNvPr id="35" name="BPS Value 5"/>
          <p:cNvSpPr txBox="1"/>
          <p:nvPr/>
        </p:nvSpPr>
        <p:spPr>
          <a:xfrm>
            <a:off x="6896100" y="3387845"/>
            <a:ext cx="514350" cy="123825"/>
          </a:xfrm>
          <a:prstGeom prst="rect">
            <a:avLst/>
          </a:prstGeom>
          <a:noFill/>
        </p:spPr>
        <p:txBody>
          <a:bodyPr wrap="none" lIns="0" rIns="0" tIns="0" bIns="0" anchor="ctr">
            <a:spAutoFit/>
          </a:bodyPr>
          <a:lstStyle/>
          <a:p>
            <a:pPr algn="r"/>
            <a:r>
              <a:rPr sz="900" b="1">
                <a:solidFill>
                  <a:srgbClr val="2E7D32"/>
                </a:solidFill>
                <a:latin typeface="Calibri"/>
              </a:rPr>
              <a:t>+23</a:t>
            </a:r>
          </a:p>
        </p:txBody>
      </p:sp>
      <p:sp>
        <p:nvSpPr>
          <p:cNvPr id="36" name="FMI Legend Chip"/>
          <p:cNvSpPr/>
          <p:nvPr/>
        </p:nvSpPr>
        <p:spPr>
          <a:xfrm>
            <a:off x="4928997" y="434701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5090922" y="43422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2660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Laminated Films</a:t>
            </a:r>
          </a:p>
        </p:txBody>
      </p:sp>
      <p:sp>
        <p:nvSpPr>
          <p:cNvPr id="39" name="BPS Value 6"/>
          <p:cNvSpPr txBox="1"/>
          <p:nvPr/>
        </p:nvSpPr>
        <p:spPr>
          <a:xfrm>
            <a:off x="6896100" y="4327963"/>
            <a:ext cx="514350" cy="123825"/>
          </a:xfrm>
          <a:prstGeom prst="rect">
            <a:avLst/>
          </a:prstGeom>
          <a:noFill/>
        </p:spPr>
        <p:txBody>
          <a:bodyPr wrap="none" lIns="0" rIns="0" tIns="0" bIns="0" anchor="ctr">
            <a:spAutoFit/>
          </a:bodyPr>
          <a:lstStyle/>
          <a:p>
            <a:pPr algn="r"/>
            <a:r>
              <a:rPr sz="900" b="1">
                <a:solidFill>
                  <a:srgbClr val="E44D3A"/>
                </a:solidFill>
                <a:latin typeface="Calibri"/>
              </a:rPr>
              <a:t>-18</a:t>
            </a:r>
          </a:p>
        </p:txBody>
      </p:sp>
      <p:sp>
        <p:nvSpPr>
          <p:cNvPr id="40" name="FMI Legend Chip"/>
          <p:cNvSpPr/>
          <p:nvPr/>
        </p:nvSpPr>
        <p:spPr>
          <a:xfrm>
            <a:off x="4928997" y="558277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557801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50181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Coextruded Multilayer Films</a:t>
            </a:r>
          </a:p>
        </p:txBody>
      </p:sp>
      <p:sp>
        <p:nvSpPr>
          <p:cNvPr id="43" name="BPS Value 7"/>
          <p:cNvSpPr txBox="1"/>
          <p:nvPr/>
        </p:nvSpPr>
        <p:spPr>
          <a:xfrm>
            <a:off x="6896100" y="5563725"/>
            <a:ext cx="514350" cy="123825"/>
          </a:xfrm>
          <a:prstGeom prst="rect">
            <a:avLst/>
          </a:prstGeom>
          <a:noFill/>
        </p:spPr>
        <p:txBody>
          <a:bodyPr wrap="none" lIns="0" rIns="0" tIns="0" bIns="0" anchor="ctr">
            <a:spAutoFit/>
          </a:bodyPr>
          <a:lstStyle/>
          <a:p>
            <a:pPr algn="r"/>
            <a:r>
              <a:rPr sz="900" b="1">
                <a:solidFill>
                  <a:srgbClr val="E44D3A"/>
                </a:solidFill>
                <a:latin typeface="Calibri"/>
              </a:rPr>
              <a:t>-20</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Material Structure</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material structure, mono-material recyclable structures segment is expected to witness the highest CAGR of 6.2% over the forecast period. In terms of value share by material structure, the coextruded multilayer films segment is expected to dominate the market, losing 20 BPS and accounting for 28.9% share by 2036.</a:t>
            </a:r>
          </a:p>
          <a:p>
            <a:pPr algn="l">
              <a:lnSpc>
                <a:spcPct val="110000"/>
              </a:lnSpc>
              <a:spcBef>
                <a:spcPts val="0"/>
              </a:spcBef>
              <a:spcAft>
                <a:spcPts val="500"/>
              </a:spcAft>
            </a:pPr>
            <a:r>
              <a:rPr sz="1150" b="0">
                <a:solidFill>
                  <a:srgbClr val="2E2E2E"/>
                </a:solidFill>
                <a:latin typeface="Calibri"/>
              </a:rPr>
              <a:t>The metallized films segment is expected to lose 28 BPS over the forecast period to account for 6.9% share by 2036.</a:t>
            </a:r>
          </a:p>
          <a:p>
            <a:pPr algn="l">
              <a:lnSpc>
                <a:spcPct val="110000"/>
              </a:lnSpc>
              <a:spcBef>
                <a:spcPts val="0"/>
              </a:spcBef>
              <a:spcAft>
                <a:spcPts val="500"/>
              </a:spcAft>
            </a:pPr>
            <a:r>
              <a:rPr sz="1150" b="0">
                <a:solidFill>
                  <a:srgbClr val="2E2E2E"/>
                </a:solidFill>
                <a:latin typeface="Calibri"/>
              </a:rPr>
              <a:t>Mono-Material Recyclable Structures grow fastest at 6.2% against the 5.6% market because brand owners and retailers are redesigning multi-material laminates into recyclable all-polyolefin packs to meet recyclability commitments and EPR costs. Advances in high-barrier PE and PP films make the switch viable, helped by e-commerce fulfilment, food delivery and strong protein and ready-meal packaging demand.</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Material Structure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Material Structure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Structure,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Material Structure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Monolayer Films</a:t>
            </a:r>
          </a:p>
        </p:txBody>
      </p:sp>
      <p:sp>
        <p:nvSpPr>
          <p:cNvPr id="28" name="Rectangle 27"/>
          <p:cNvSpPr/>
          <p:nvPr/>
        </p:nvSpPr>
        <p:spPr>
          <a:xfrm>
            <a:off x="1857375" y="1409700"/>
            <a:ext cx="643890" cy="322659"/>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Coextruded Multilayer Films</a:t>
            </a:r>
          </a:p>
        </p:txBody>
      </p:sp>
      <p:sp>
        <p:nvSpPr>
          <p:cNvPr id="44" name="Rectangle 43"/>
          <p:cNvSpPr/>
          <p:nvPr/>
        </p:nvSpPr>
        <p:spPr>
          <a:xfrm>
            <a:off x="1857375" y="1732359"/>
            <a:ext cx="643890" cy="322659"/>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3–5 Layer</a:t>
            </a:r>
          </a:p>
        </p:txBody>
      </p:sp>
      <p:sp>
        <p:nvSpPr>
          <p:cNvPr id="60" name="Rectangle 59"/>
          <p:cNvSpPr/>
          <p:nvPr/>
        </p:nvSpPr>
        <p:spPr>
          <a:xfrm>
            <a:off x="1857375" y="2055019"/>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7 Layer</a:t>
            </a:r>
          </a:p>
        </p:txBody>
      </p:sp>
      <p:sp>
        <p:nvSpPr>
          <p:cNvPr id="76" name="Rectangle 75"/>
          <p:cNvSpPr/>
          <p:nvPr/>
        </p:nvSpPr>
        <p:spPr>
          <a:xfrm>
            <a:off x="1857375" y="2377678"/>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C8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9 Layer and Above</a:t>
            </a:r>
          </a:p>
        </p:txBody>
      </p:sp>
      <p:sp>
        <p:nvSpPr>
          <p:cNvPr id="92" name="Rectangle 91"/>
          <p:cNvSpPr/>
          <p:nvPr/>
        </p:nvSpPr>
        <p:spPr>
          <a:xfrm>
            <a:off x="1857375" y="2700338"/>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Laminated Films</a:t>
            </a:r>
          </a:p>
        </p:txBody>
      </p:sp>
      <p:sp>
        <p:nvSpPr>
          <p:cNvPr id="108" name="Rectangle 107"/>
          <p:cNvSpPr/>
          <p:nvPr/>
        </p:nvSpPr>
        <p:spPr>
          <a:xfrm>
            <a:off x="1857375" y="3022997"/>
            <a:ext cx="643890" cy="322659"/>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Duplex</a:t>
            </a:r>
          </a:p>
        </p:txBody>
      </p:sp>
      <p:sp>
        <p:nvSpPr>
          <p:cNvPr id="124" name="Rectangle 123"/>
          <p:cNvSpPr/>
          <p:nvPr/>
        </p:nvSpPr>
        <p:spPr>
          <a:xfrm>
            <a:off x="1857375" y="3345656"/>
            <a:ext cx="643890" cy="322659"/>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Triplex</a:t>
            </a:r>
          </a:p>
        </p:txBody>
      </p:sp>
      <p:sp>
        <p:nvSpPr>
          <p:cNvPr id="140" name="Rectangle 139"/>
          <p:cNvSpPr/>
          <p:nvPr/>
        </p:nvSpPr>
        <p:spPr>
          <a:xfrm>
            <a:off x="1857375" y="3668316"/>
            <a:ext cx="643890" cy="322659"/>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Multi-Ply</a:t>
            </a:r>
          </a:p>
        </p:txBody>
      </p:sp>
      <p:sp>
        <p:nvSpPr>
          <p:cNvPr id="156" name="Rectangle 155"/>
          <p:cNvSpPr/>
          <p:nvPr/>
        </p:nvSpPr>
        <p:spPr>
          <a:xfrm>
            <a:off x="1857375" y="3990975"/>
            <a:ext cx="643890" cy="322659"/>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Coated Films</a:t>
            </a:r>
          </a:p>
        </p:txBody>
      </p:sp>
      <p:sp>
        <p:nvSpPr>
          <p:cNvPr id="172" name="Rectangle 171"/>
          <p:cNvSpPr/>
          <p:nvPr/>
        </p:nvSpPr>
        <p:spPr>
          <a:xfrm>
            <a:off x="1857375" y="4313634"/>
            <a:ext cx="643890" cy="322659"/>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66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Metallized Films</a:t>
            </a:r>
          </a:p>
        </p:txBody>
      </p:sp>
      <p:sp>
        <p:nvSpPr>
          <p:cNvPr id="188" name="Rectangle 187"/>
          <p:cNvSpPr/>
          <p:nvPr/>
        </p:nvSpPr>
        <p:spPr>
          <a:xfrm>
            <a:off x="1857375" y="4636294"/>
            <a:ext cx="643890" cy="322659"/>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Foil-Laminated Structures</a:t>
            </a:r>
          </a:p>
        </p:txBody>
      </p:sp>
      <p:sp>
        <p:nvSpPr>
          <p:cNvPr id="204" name="Rectangle 203"/>
          <p:cNvSpPr/>
          <p:nvPr/>
        </p:nvSpPr>
        <p:spPr>
          <a:xfrm>
            <a:off x="1857375" y="4958953"/>
            <a:ext cx="643890" cy="322659"/>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Mono-Material Recyclable Structures</a:t>
            </a:r>
          </a:p>
        </p:txBody>
      </p:sp>
      <p:sp>
        <p:nvSpPr>
          <p:cNvPr id="220" name="Rectangle 219"/>
          <p:cNvSpPr/>
          <p:nvPr/>
        </p:nvSpPr>
        <p:spPr>
          <a:xfrm>
            <a:off x="1857375" y="5281612"/>
            <a:ext cx="643890" cy="322659"/>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PE-Based</a:t>
            </a:r>
          </a:p>
        </p:txBody>
      </p:sp>
      <p:sp>
        <p:nvSpPr>
          <p:cNvPr id="236" name="Rectangle 235"/>
          <p:cNvSpPr/>
          <p:nvPr/>
        </p:nvSpPr>
        <p:spPr>
          <a:xfrm>
            <a:off x="1857375" y="5604272"/>
            <a:ext cx="643890" cy="322659"/>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PP-Based</a:t>
            </a:r>
          </a:p>
        </p:txBody>
      </p:sp>
      <p:sp>
        <p:nvSpPr>
          <p:cNvPr id="252" name="Rectangle 251"/>
          <p:cNvSpPr/>
          <p:nvPr/>
        </p:nvSpPr>
        <p:spPr>
          <a:xfrm>
            <a:off x="1857375" y="5926931"/>
            <a:ext cx="643890" cy="322659"/>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PET-Based</a:t>
            </a:r>
          </a:p>
        </p:txBody>
      </p:sp>
      <p:sp>
        <p:nvSpPr>
          <p:cNvPr id="268" name="Rectangle 267"/>
          <p:cNvSpPr/>
          <p:nvPr/>
        </p:nvSpPr>
        <p:spPr>
          <a:xfrm>
            <a:off x="1857375" y="6249591"/>
            <a:ext cx="643890" cy="322659"/>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Material Structure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Material Structure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Structure,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Material Structure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Monolayer Films</a:t>
            </a:r>
          </a:p>
        </p:txBody>
      </p:sp>
      <p:sp>
        <p:nvSpPr>
          <p:cNvPr id="28" name="Rectangle 27"/>
          <p:cNvSpPr/>
          <p:nvPr/>
        </p:nvSpPr>
        <p:spPr>
          <a:xfrm>
            <a:off x="1857375" y="1409700"/>
            <a:ext cx="643890" cy="322659"/>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Coextruded Multilayer Films</a:t>
            </a:r>
          </a:p>
        </p:txBody>
      </p:sp>
      <p:sp>
        <p:nvSpPr>
          <p:cNvPr id="44" name="Rectangle 43"/>
          <p:cNvSpPr/>
          <p:nvPr/>
        </p:nvSpPr>
        <p:spPr>
          <a:xfrm>
            <a:off x="1857375" y="1732359"/>
            <a:ext cx="643890" cy="322659"/>
          </a:xfrm>
          <a:prstGeom prst="rect">
            <a:avLst/>
          </a:prstGeom>
          <a:solidFill>
            <a:srgbClr val="E9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3–5 Layer</a:t>
            </a:r>
          </a:p>
        </p:txBody>
      </p:sp>
      <p:sp>
        <p:nvSpPr>
          <p:cNvPr id="60" name="Rectangle 59"/>
          <p:cNvSpPr/>
          <p:nvPr/>
        </p:nvSpPr>
        <p:spPr>
          <a:xfrm>
            <a:off x="1857375" y="2055019"/>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0E6B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7 Layer</a:t>
            </a:r>
          </a:p>
        </p:txBody>
      </p:sp>
      <p:sp>
        <p:nvSpPr>
          <p:cNvPr id="76" name="Rectangle 75"/>
          <p:cNvSpPr/>
          <p:nvPr/>
        </p:nvSpPr>
        <p:spPr>
          <a:xfrm>
            <a:off x="1857375" y="2377678"/>
            <a:ext cx="643890" cy="322659"/>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9 Layer and Above</a:t>
            </a:r>
          </a:p>
        </p:txBody>
      </p:sp>
      <p:sp>
        <p:nvSpPr>
          <p:cNvPr id="92" name="Rectangle 91"/>
          <p:cNvSpPr/>
          <p:nvPr/>
        </p:nvSpPr>
        <p:spPr>
          <a:xfrm>
            <a:off x="1857375" y="2700338"/>
            <a:ext cx="643890" cy="322659"/>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Laminated Films</a:t>
            </a:r>
          </a:p>
        </p:txBody>
      </p:sp>
      <p:sp>
        <p:nvSpPr>
          <p:cNvPr id="108" name="Rectangle 107"/>
          <p:cNvSpPr/>
          <p:nvPr/>
        </p:nvSpPr>
        <p:spPr>
          <a:xfrm>
            <a:off x="1857375" y="3022997"/>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Duplex</a:t>
            </a:r>
          </a:p>
        </p:txBody>
      </p:sp>
      <p:sp>
        <p:nvSpPr>
          <p:cNvPr id="124" name="Rectangle 123"/>
          <p:cNvSpPr/>
          <p:nvPr/>
        </p:nvSpPr>
        <p:spPr>
          <a:xfrm>
            <a:off x="1857375" y="3345656"/>
            <a:ext cx="643890" cy="322659"/>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Triplex</a:t>
            </a:r>
          </a:p>
        </p:txBody>
      </p:sp>
      <p:sp>
        <p:nvSpPr>
          <p:cNvPr id="140" name="Rectangle 139"/>
          <p:cNvSpPr/>
          <p:nvPr/>
        </p:nvSpPr>
        <p:spPr>
          <a:xfrm>
            <a:off x="1857375" y="3668316"/>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Multi-Ply</a:t>
            </a:r>
          </a:p>
        </p:txBody>
      </p:sp>
      <p:sp>
        <p:nvSpPr>
          <p:cNvPr id="156" name="Rectangle 155"/>
          <p:cNvSpPr/>
          <p:nvPr/>
        </p:nvSpPr>
        <p:spPr>
          <a:xfrm>
            <a:off x="1857375" y="3990975"/>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2E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Coated Films</a:t>
            </a:r>
          </a:p>
        </p:txBody>
      </p:sp>
      <p:sp>
        <p:nvSpPr>
          <p:cNvPr id="172" name="Rectangle 171"/>
          <p:cNvSpPr/>
          <p:nvPr/>
        </p:nvSpPr>
        <p:spPr>
          <a:xfrm>
            <a:off x="1857375" y="4313634"/>
            <a:ext cx="643890" cy="322659"/>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Metallized Films</a:t>
            </a:r>
          </a:p>
        </p:txBody>
      </p:sp>
      <p:sp>
        <p:nvSpPr>
          <p:cNvPr id="188" name="Rectangle 187"/>
          <p:cNvSpPr/>
          <p:nvPr/>
        </p:nvSpPr>
        <p:spPr>
          <a:xfrm>
            <a:off x="1857375" y="4636294"/>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Foil-Laminated Structures</a:t>
            </a:r>
          </a:p>
        </p:txBody>
      </p:sp>
      <p:sp>
        <p:nvSpPr>
          <p:cNvPr id="204" name="Rectangle 203"/>
          <p:cNvSpPr/>
          <p:nvPr/>
        </p:nvSpPr>
        <p:spPr>
          <a:xfrm>
            <a:off x="1857375" y="4958953"/>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Mono-Material Recyclable Structures</a:t>
            </a:r>
          </a:p>
        </p:txBody>
      </p:sp>
      <p:sp>
        <p:nvSpPr>
          <p:cNvPr id="220" name="Rectangle 219"/>
          <p:cNvSpPr/>
          <p:nvPr/>
        </p:nvSpPr>
        <p:spPr>
          <a:xfrm>
            <a:off x="1857375" y="5281612"/>
            <a:ext cx="643890" cy="322659"/>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PE-Based</a:t>
            </a:r>
          </a:p>
        </p:txBody>
      </p:sp>
      <p:sp>
        <p:nvSpPr>
          <p:cNvPr id="236" name="Rectangle 235"/>
          <p:cNvSpPr/>
          <p:nvPr/>
        </p:nvSpPr>
        <p:spPr>
          <a:xfrm>
            <a:off x="1857375" y="5604272"/>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PP-Based</a:t>
            </a:r>
          </a:p>
        </p:txBody>
      </p:sp>
      <p:sp>
        <p:nvSpPr>
          <p:cNvPr id="252" name="Rectangle 251"/>
          <p:cNvSpPr/>
          <p:nvPr/>
        </p:nvSpPr>
        <p:spPr>
          <a:xfrm>
            <a:off x="1857375" y="5926931"/>
            <a:ext cx="643890" cy="322659"/>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PET-Based</a:t>
            </a:r>
          </a:p>
        </p:txBody>
      </p:sp>
      <p:sp>
        <p:nvSpPr>
          <p:cNvPr id="268" name="Rectangle 267"/>
          <p:cNvSpPr/>
          <p:nvPr/>
        </p:nvSpPr>
        <p:spPr>
          <a:xfrm>
            <a:off x="1857375" y="6249591"/>
            <a:ext cx="643890" cy="322659"/>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Barrier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Barrier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Barrier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Barrier Level segment categorizes the market by barrier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Medium-Barrier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11,909</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19,783</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5.2%</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High-Barrier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11,550</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20,718</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6.0%</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Low-Barrier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7,681</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13,108</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5.5%</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Ultra-High-Barrier Films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4,837</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8,459</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5.7%</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barrier level, high-barrier films segment is expected to witness the highest CAGR of 6.0% over the forecast period. In terms of value share by barrier level, the high-barrier films segment is expected to dominate the market, gaining 128 BPS and accounting for 33.4%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High-barrier films segment is projected to register 1.0X higher value than medium-barrier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Medium-Barrier Films: </a:t>
            </a:r>
            <a:r>
              <a:rPr sz="1100" b="0">
                <a:solidFill>
                  <a:srgbClr val="2E2E2E"/>
                </a:solidFill>
                <a:latin typeface="Calibri"/>
              </a:rPr>
              <a:t>33% of 2026 value · 5.2%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High-Barrier Films: </a:t>
            </a:r>
            <a:r>
              <a:rPr sz="1100" b="0">
                <a:solidFill>
                  <a:srgbClr val="2E2E2E"/>
                </a:solidFill>
                <a:latin typeface="Calibri"/>
              </a:rPr>
              <a:t>32% of 2026 value · 6.0%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Low-Barrier Films: </a:t>
            </a:r>
            <a:r>
              <a:rPr sz="1100" b="0">
                <a:solidFill>
                  <a:srgbClr val="2E2E2E"/>
                </a:solidFill>
                <a:latin typeface="Calibri"/>
              </a:rPr>
              <a:t>21% of 2026 value · 5.5%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Ultra-High-Barrier Films: </a:t>
            </a:r>
            <a:r>
              <a:rPr sz="1100" b="0">
                <a:solidFill>
                  <a:srgbClr val="2E2E2E"/>
                </a:solidFill>
                <a:latin typeface="Calibri"/>
              </a:rPr>
              <a:t>13% of 2026 value · 5.7%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Barrier Level split shows how demand is distributed across barrier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Barrier Level segment is projected to grow at a CAGR of 5.6%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Barrier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Barrier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Barrier Level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High-barrier films followed by medium-barrier films are expected to be the two most attractive barrier level segments in the North America flexible plastic packaging market in terms of value over the forecast period. High-Barrier films and Medium-Barrier films exhibit a CAGR index of 107 and 93 and a market share index of 128 and 132 respectively, against the segment average of 100. The ultra-high-barrier films segment is expected to be less attractive as compared to other segments over the forecast period, owing to its lower CAGR and incremental opportunity. High-Barrier Films rank most attractive because they combine a 32.1% base with the fastest growth at 6.0% and a 128 BPS gain. Fresh protein, cheese, ready meals and pharmaceutical packaging demand longer shelf life, and cutting food waste justifies the added cost. Medium-Barrier Films, growing only 5.2%, lose 123 BPS as buyers upgrade specifications.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Barrier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Low-Barrier Films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Medium-Barrier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High-Barrier Films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Ultra-High-Barrier Films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Barrier Level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Barrier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Barrier Level</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High-barrier films segment is projected to register 1.0X higher volume than medium-barrier films segment in 2036. Among flexible plastic packaging by barrier level, high-barrier films segment is expected to witness the highest CAGR of 4.7% over the forecast period.</a:t>
            </a:r>
          </a:p>
          <a:p>
            <a:pPr algn="l">
              <a:lnSpc>
                <a:spcPct val="110000"/>
              </a:lnSpc>
              <a:spcBef>
                <a:spcPts val="0"/>
              </a:spcBef>
              <a:spcAft>
                <a:spcPts val="500"/>
              </a:spcAft>
            </a:pPr>
            <a:r>
              <a:rPr sz="1150" b="0">
                <a:solidFill>
                  <a:srgbClr val="2E2E2E"/>
                </a:solidFill>
                <a:latin typeface="Calibri"/>
              </a:rPr>
              <a:t>In terms of volume share by barrier level, the high-barrier films segment is expected to dominate the market, gaining 128 BPS and accounting for 33.4% share by 2036. The medium-barrier films segment is expected to lose 123 BPS over the forecast period to account for 31.9% share by 2036.</a:t>
            </a:r>
          </a:p>
          <a:p>
            <a:pPr algn="l">
              <a:lnSpc>
                <a:spcPct val="110000"/>
              </a:lnSpc>
              <a:spcBef>
                <a:spcPts val="0"/>
              </a:spcBef>
              <a:spcAft>
                <a:spcPts val="500"/>
              </a:spcAft>
            </a:pPr>
            <a:r>
              <a:rPr sz="1150" b="0">
                <a:solidFill>
                  <a:srgbClr val="2E2E2E"/>
                </a:solidFill>
                <a:latin typeface="Calibri"/>
              </a:rPr>
              <a:t>High-Barrier Films gain 128 BPS in volume, growing at 4.7% against 4.3% overall, because North American processors of fresh meat, cheese, ready meals and pharmaceutical products want longer shelf life and less waste. Medium-Barrier Films give up 123 BPS at 3.9% growth as customers upgrade or move to recyclable constructions. Low-Barrier and Ultra-High-Barrier Films move only marginally.</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Barrier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Barrier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Barrier Level (US$ Mn)</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Barrier Level</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High-barrier films segment is projected to register 1.0X higher value than medium-barrier films segment in 2036. Among flexible plastic packaging by barrier level, high-barrier films segment is expected to witness the highest CAGR of 6.0% over the forecast period.</a:t>
            </a:r>
          </a:p>
          <a:p>
            <a:pPr algn="l">
              <a:lnSpc>
                <a:spcPct val="110000"/>
              </a:lnSpc>
              <a:spcBef>
                <a:spcPts val="0"/>
              </a:spcBef>
              <a:spcAft>
                <a:spcPts val="500"/>
              </a:spcAft>
            </a:pPr>
            <a:r>
              <a:rPr sz="1150" b="0">
                <a:solidFill>
                  <a:srgbClr val="2E2E2E"/>
                </a:solidFill>
                <a:latin typeface="Calibri"/>
              </a:rPr>
              <a:t>In terms of value share by barrier level, the high-barrier films segment is expected to dominate the market, gaining 128 BPS and accounting for 33.4% share by 2036. The medium-barrier films segment is expected to lose 123 BPS over the forecast period to account for 31.9% share by 2036.</a:t>
            </a:r>
          </a:p>
          <a:p>
            <a:pPr algn="l">
              <a:lnSpc>
                <a:spcPct val="110000"/>
              </a:lnSpc>
              <a:spcBef>
                <a:spcPts val="0"/>
              </a:spcBef>
              <a:spcAft>
                <a:spcPts val="500"/>
              </a:spcAft>
            </a:pPr>
            <a:r>
              <a:rPr sz="1150" b="0">
                <a:solidFill>
                  <a:srgbClr val="2E2E2E"/>
                </a:solidFill>
                <a:latin typeface="Calibri"/>
              </a:rPr>
              <a:t>High-Barrier Films add 128 BPS of value share at 6.0% growth because fresh protein, cheese, snacks and ready meals need longer shelf life and lower food waste, and brands keep upgrading packs, supported by e-commerce fulfilment, food delivery and strong protein and ready-meal packaging demand. Medium-Barrier Films lose 123 BPS at 5.2%, as those applications trade up to higher barrier and ultra-high-barrier films take the premium niches.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Barrier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Barrier Level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8282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7806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018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Ultra-High-Barrier Films</a:t>
            </a:r>
          </a:p>
        </p:txBody>
      </p:sp>
      <p:sp>
        <p:nvSpPr>
          <p:cNvPr id="19" name="BPS Value 1"/>
          <p:cNvSpPr txBox="1"/>
          <p:nvPr/>
        </p:nvSpPr>
        <p:spPr>
          <a:xfrm>
            <a:off x="6896100" y="1963779"/>
            <a:ext cx="514350" cy="123825"/>
          </a:xfrm>
          <a:prstGeom prst="rect">
            <a:avLst/>
          </a:prstGeom>
          <a:noFill/>
        </p:spPr>
        <p:txBody>
          <a:bodyPr wrap="none" lIns="0" rIns="0" tIns="0" bIns="0" anchor="ctr">
            <a:spAutoFit/>
          </a:bodyPr>
          <a:lstStyle/>
          <a:p>
            <a:pPr algn="r"/>
            <a:r>
              <a:rPr sz="900" b="1">
                <a:solidFill>
                  <a:srgbClr val="2E7D32"/>
                </a:solidFill>
                <a:latin typeface="Calibri"/>
              </a:rPr>
              <a:t>+18</a:t>
            </a:r>
          </a:p>
        </p:txBody>
      </p:sp>
      <p:sp>
        <p:nvSpPr>
          <p:cNvPr id="20" name="FMI Legend Chip"/>
          <p:cNvSpPr/>
          <p:nvPr/>
        </p:nvSpPr>
        <p:spPr>
          <a:xfrm>
            <a:off x="4928997" y="277721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77245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6962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Low-Barrier Films</a:t>
            </a:r>
          </a:p>
        </p:txBody>
      </p:sp>
      <p:sp>
        <p:nvSpPr>
          <p:cNvPr id="23" name="BPS Value 2"/>
          <p:cNvSpPr txBox="1"/>
          <p:nvPr/>
        </p:nvSpPr>
        <p:spPr>
          <a:xfrm>
            <a:off x="6896100" y="2758169"/>
            <a:ext cx="514350" cy="123825"/>
          </a:xfrm>
          <a:prstGeom prst="rect">
            <a:avLst/>
          </a:prstGeom>
          <a:noFill/>
        </p:spPr>
        <p:txBody>
          <a:bodyPr wrap="none" lIns="0" rIns="0" tIns="0" bIns="0" anchor="ctr">
            <a:spAutoFit/>
          </a:bodyPr>
          <a:lstStyle/>
          <a:p>
            <a:pPr algn="r"/>
            <a:r>
              <a:rPr sz="900" b="1">
                <a:solidFill>
                  <a:srgbClr val="E44D3A"/>
                </a:solidFill>
                <a:latin typeface="Calibri"/>
              </a:rPr>
              <a:t>-23</a:t>
            </a:r>
          </a:p>
        </p:txBody>
      </p:sp>
      <p:sp>
        <p:nvSpPr>
          <p:cNvPr id="24" name="FMI Legend Chip"/>
          <p:cNvSpPr/>
          <p:nvPr/>
        </p:nvSpPr>
        <p:spPr>
          <a:xfrm>
            <a:off x="4928997" y="398870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8394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90774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Medium-Barrier Films</a:t>
            </a:r>
          </a:p>
        </p:txBody>
      </p:sp>
      <p:sp>
        <p:nvSpPr>
          <p:cNvPr id="27" name="BPS Value 3"/>
          <p:cNvSpPr txBox="1"/>
          <p:nvPr/>
        </p:nvSpPr>
        <p:spPr>
          <a:xfrm>
            <a:off x="6896100" y="3969653"/>
            <a:ext cx="514350" cy="123825"/>
          </a:xfrm>
          <a:prstGeom prst="rect">
            <a:avLst/>
          </a:prstGeom>
          <a:noFill/>
        </p:spPr>
        <p:txBody>
          <a:bodyPr wrap="none" lIns="0" rIns="0" tIns="0" bIns="0" anchor="ctr">
            <a:spAutoFit/>
          </a:bodyPr>
          <a:lstStyle/>
          <a:p>
            <a:pPr algn="r"/>
            <a:r>
              <a:rPr sz="900" b="1">
                <a:solidFill>
                  <a:srgbClr val="E44D3A"/>
                </a:solidFill>
                <a:latin typeface="Calibri"/>
              </a:rPr>
              <a:t>-123</a:t>
            </a:r>
          </a:p>
        </p:txBody>
      </p:sp>
      <p:sp>
        <p:nvSpPr>
          <p:cNvPr id="28" name="FMI Legend Chip"/>
          <p:cNvSpPr/>
          <p:nvPr/>
        </p:nvSpPr>
        <p:spPr>
          <a:xfrm>
            <a:off x="4928997" y="548050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47574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39954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High-Barrier Films</a:t>
            </a:r>
          </a:p>
        </p:txBody>
      </p:sp>
      <p:sp>
        <p:nvSpPr>
          <p:cNvPr id="31" name="BPS Value 4"/>
          <p:cNvSpPr txBox="1"/>
          <p:nvPr/>
        </p:nvSpPr>
        <p:spPr>
          <a:xfrm>
            <a:off x="6896100" y="5461454"/>
            <a:ext cx="514350" cy="123825"/>
          </a:xfrm>
          <a:prstGeom prst="rect">
            <a:avLst/>
          </a:prstGeom>
          <a:noFill/>
        </p:spPr>
        <p:txBody>
          <a:bodyPr wrap="none" lIns="0" rIns="0" tIns="0" bIns="0" anchor="ctr">
            <a:spAutoFit/>
          </a:bodyPr>
          <a:lstStyle/>
          <a:p>
            <a:pPr algn="r"/>
            <a:r>
              <a:rPr sz="900" b="1">
                <a:solidFill>
                  <a:srgbClr val="2E7D32"/>
                </a:solidFill>
                <a:latin typeface="Calibri"/>
              </a:rPr>
              <a:t>+128</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Barrier Level</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barrier level, high-barrier films segment is expected to witness the highest CAGR of 6.0% over the forecast period. In terms of value share by barrier level, the high-barrier films segment is expected to dominate the market, gaining 128 BPS and accounting for 33.4% share by 2036.</a:t>
            </a:r>
          </a:p>
          <a:p>
            <a:pPr algn="l">
              <a:lnSpc>
                <a:spcPct val="110000"/>
              </a:lnSpc>
              <a:spcBef>
                <a:spcPts val="0"/>
              </a:spcBef>
              <a:spcAft>
                <a:spcPts val="500"/>
              </a:spcAft>
            </a:pPr>
            <a:r>
              <a:rPr sz="1150" b="0">
                <a:solidFill>
                  <a:srgbClr val="2E2E2E"/>
                </a:solidFill>
                <a:latin typeface="Calibri"/>
              </a:rPr>
              <a:t>The medium-barrier films segment is expected to lose 123 BPS over the forecast period to account for 31.9% share by 2036.</a:t>
            </a:r>
          </a:p>
          <a:p>
            <a:pPr algn="l">
              <a:lnSpc>
                <a:spcPct val="110000"/>
              </a:lnSpc>
              <a:spcBef>
                <a:spcPts val="0"/>
              </a:spcBef>
              <a:spcAft>
                <a:spcPts val="500"/>
              </a:spcAft>
            </a:pPr>
            <a:r>
              <a:rPr sz="1150" b="0">
                <a:solidFill>
                  <a:srgbClr val="2E2E2E"/>
                </a:solidFill>
                <a:latin typeface="Calibri"/>
              </a:rPr>
              <a:t>High-Barrier Films grow fastest at 6.0% because North American processors and retailers want longer shelf life for fresh protein, cheese, ready meals and meal kits shipped through e-commerce, and pharmaceutical and medical packaging demands strong moisture and oxygen protection. Cutting food waste justifies the extra film cost, so Medium-Barrier Films, at 5.2%, are steadily upgraded.</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Barrier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Barrier Level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33" name="Rectangle 32"/>
          <p:cNvSpPr/>
          <p:nvPr/>
        </p:nvSpPr>
        <p:spPr>
          <a:xfrm>
            <a:off x="1857375" y="3086100"/>
            <a:ext cx="643890" cy="871538"/>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49" name="Rectangle 48"/>
          <p:cNvSpPr/>
          <p:nvPr/>
        </p:nvSpPr>
        <p:spPr>
          <a:xfrm>
            <a:off x="1857375" y="3957638"/>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65" name="Rectangle 64"/>
          <p:cNvSpPr/>
          <p:nvPr/>
        </p:nvSpPr>
        <p:spPr>
          <a:xfrm>
            <a:off x="1857375" y="4829175"/>
            <a:ext cx="643890" cy="871538"/>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0E70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81" name="Rectangle 80"/>
          <p:cNvSpPr/>
          <p:nvPr/>
        </p:nvSpPr>
        <p:spPr>
          <a:xfrm>
            <a:off x="1857375" y="5700712"/>
            <a:ext cx="643890" cy="871538"/>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Barrier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Barrier Level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33" name="Rectangle 32"/>
          <p:cNvSpPr/>
          <p:nvPr/>
        </p:nvSpPr>
        <p:spPr>
          <a:xfrm>
            <a:off x="1857375" y="3086100"/>
            <a:ext cx="643890" cy="871538"/>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49" name="Rectangle 48"/>
          <p:cNvSpPr/>
          <p:nvPr/>
        </p:nvSpPr>
        <p:spPr>
          <a:xfrm>
            <a:off x="1857375" y="3957638"/>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65" name="Rectangle 64"/>
          <p:cNvSpPr/>
          <p:nvPr/>
        </p:nvSpPr>
        <p:spPr>
          <a:xfrm>
            <a:off x="1857375" y="4829175"/>
            <a:ext cx="643890" cy="871538"/>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C8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13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81" name="Rectangle 80"/>
          <p:cNvSpPr/>
          <p:nvPr/>
        </p:nvSpPr>
        <p:spPr>
          <a:xfrm>
            <a:off x="1857375" y="5700712"/>
            <a:ext cx="643890" cy="871538"/>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Application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Application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Application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Application,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Application segment categorizes the market by application.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Food Packaging</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30,114</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52,016</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5.6%</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Non-Food Packaging</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5,864</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10,052</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application, food packaging segment is expected to witness the highest CAGR of 5.6% over the forecast period. In terms of value share by application, the food packaging segment is expected to dominate the market, gaining 10 BPS and accounting for 83.8%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Food packaging segment is projected to register 5.2X higher value than non-food packaging segment in 2036.</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Food Packaging: </a:t>
            </a:r>
            <a:r>
              <a:rPr sz="1100" b="0">
                <a:solidFill>
                  <a:srgbClr val="2E2E2E"/>
                </a:solidFill>
                <a:latin typeface="Calibri"/>
              </a:rPr>
              <a:t>84% of 2026 value · 5.6%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Non-Food Packaging: </a:t>
            </a:r>
            <a:r>
              <a:rPr sz="1100" b="0">
                <a:solidFill>
                  <a:srgbClr val="2E2E2E"/>
                </a:solidFill>
                <a:latin typeface="Calibri"/>
              </a:rPr>
              <a:t>16% of 2026 value · 5.5% CAGR serves a niche.</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Application split shows how demand is distributed across application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Application segment is projected to grow at a CAGR of 5.6%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Application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Application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276725"/>
          </a:xfrm>
          <a:prstGeom prst="roundRect">
            <a:avLst>
              <a:gd name="adj" fmla="val 17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762375"/>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276725"/>
          </a:xfrm>
          <a:prstGeom prst="roundRect">
            <a:avLst>
              <a:gd name="adj" fmla="val 17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Application · Bubble size represents 2036 value</a:t>
            </a:r>
          </a:p>
        </p:txBody>
      </p:sp>
      <p:graphicFrame>
        <p:nvGraphicFramePr>
          <p:cNvPr id="16" name="Chart 15"/>
          <p:cNvGraphicFramePr>
            <a:graphicFrameLocks noGrp="1"/>
          </p:cNvGraphicFramePr>
          <p:nvPr/>
        </p:nvGraphicFramePr>
        <p:xfrm>
          <a:off x="6734175" y="1266825"/>
          <a:ext cx="5210175" cy="3933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91150"/>
            <a:ext cx="11906250" cy="1228725"/>
          </a:xfrm>
          <a:prstGeom prst="roundRect">
            <a:avLst>
              <a:gd name="adj" fmla="val 62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Food packaging followed by non-food packaging are expected to be the two most attractive application segments in the North America flexible plastic packaging market in terms of value over the forecast period. Food packaging and Non-Food packaging exhibit a CAGR index of 100 and 99 and a market share index of 167 and 33 respectively, against the segment average of 100. Food Packaging ranks as the most attractive sub-segment because it pairs scale with steady growth: food accounts for the overwhelming bulk of flexible packaging use, so even average growth adds the most value. Its 83.7% share of 2026 value and 5.6% CAGR far outweigh Non-Food Packaging, at 16.3% share. In North America, e-commerce volumes, food delivery and recycled-content rules shape converter choices.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Application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Food Packaging</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Non-Food Packaging</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Application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Application (Thousand MT)</a:t>
            </a:r>
          </a:p>
        </p:txBody>
      </p:sp>
      <p:graphicFrame>
        <p:nvGraphicFramePr>
          <p:cNvPr id="13" name="Table 12"/>
          <p:cNvGraphicFramePr>
            <a:graphicFrameLocks noGrp="1"/>
          </p:cNvGraphicFramePr>
          <p:nvPr/>
        </p:nvGraphicFramePr>
        <p:xfrm>
          <a:off x="152400" y="1238250"/>
          <a:ext cx="11887193" cy="2857498"/>
        </p:xfrm>
        <a:graphic>
          <a:graphicData uri="http://schemas.openxmlformats.org/drawingml/2006/table">
            <a:tbl>
              <a:tblPr>
                <a:tableStyleId>{5C22544A-7EE6-4342-B048-85BDC9FD1C3A}</a:tableStyleId>
              </a:tblPr>
              <a:tblGrid>
                <a:gridCol w="2284301"/>
                <a:gridCol w="564876"/>
                <a:gridCol w="564876"/>
                <a:gridCol w="564876"/>
                <a:gridCol w="564876"/>
                <a:gridCol w="564876"/>
                <a:gridCol w="564876"/>
                <a:gridCol w="564876"/>
                <a:gridCol w="564876"/>
                <a:gridCol w="564876"/>
                <a:gridCol w="564876"/>
                <a:gridCol w="564876"/>
                <a:gridCol w="564876"/>
                <a:gridCol w="564876"/>
                <a:gridCol w="564876"/>
                <a:gridCol w="564876"/>
                <a:gridCol w="564876"/>
                <a:gridCol w="564876"/>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40203">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1052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Application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Application,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Application (Thousand MT)</a:t>
            </a:r>
          </a:p>
        </p:txBody>
      </p:sp>
      <p:graphicFrame>
        <p:nvGraphicFramePr>
          <p:cNvPr id="12" name="Table 11"/>
          <p:cNvGraphicFramePr>
            <a:graphicFrameLocks noGrp="1"/>
          </p:cNvGraphicFramePr>
          <p:nvPr/>
        </p:nvGraphicFramePr>
        <p:xfrm>
          <a:off x="152400" y="1238250"/>
          <a:ext cx="11887203" cy="1514475"/>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Household 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Application</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Food packaging segment is projected to register 5.2X higher volume than non-food packaging segment in 2036. Among flexible plastic packaging by application, food packaging segment is expected to witness the highest CAGR of 4.3% over the forecast period.</a:t>
            </a:r>
          </a:p>
          <a:p>
            <a:pPr algn="l">
              <a:lnSpc>
                <a:spcPct val="110000"/>
              </a:lnSpc>
              <a:spcBef>
                <a:spcPts val="0"/>
              </a:spcBef>
              <a:spcAft>
                <a:spcPts val="500"/>
              </a:spcAft>
            </a:pPr>
            <a:r>
              <a:rPr sz="1150" b="0">
                <a:solidFill>
                  <a:srgbClr val="2E2E2E"/>
                </a:solidFill>
                <a:latin typeface="Calibri"/>
              </a:rPr>
              <a:t>In terms of volume share by application, the food packaging segment is expected to dominate the market, gaining 10 BPS and accounting for 83.8% share by 2036. The non-food packaging segment is expected to lose 10 BPS over the forecast period to account for 16.2% share by 2036.</a:t>
            </a:r>
          </a:p>
          <a:p>
            <a:pPr algn="l">
              <a:lnSpc>
                <a:spcPct val="110000"/>
              </a:lnSpc>
              <a:spcBef>
                <a:spcPts val="0"/>
              </a:spcBef>
              <a:spcAft>
                <a:spcPts val="500"/>
              </a:spcAft>
            </a:pPr>
            <a:r>
              <a:rPr sz="1150" b="0">
                <a:solidFill>
                  <a:srgbClr val="2E2E2E"/>
                </a:solidFill>
                <a:latin typeface="Calibri"/>
              </a:rPr>
              <a:t>Food Packaging gains 10 BPS of volume share because shelf-life extension, protein and ready-meal growth all depend on flexible barrier formats, reinforced by e-commerce fulfilment and food delivery. Non-Food Packaging, covering personal care, household and healthcare, still grows at 4.2% but trails the 4.3% of food, so it concedes 10 BPS in a narrow shift.</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Application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Application (US$ Mn)</a:t>
            </a:r>
          </a:p>
        </p:txBody>
      </p:sp>
      <p:graphicFrame>
        <p:nvGraphicFramePr>
          <p:cNvPr id="13" name="Table 12"/>
          <p:cNvGraphicFramePr>
            <a:graphicFrameLocks noGrp="1"/>
          </p:cNvGraphicFramePr>
          <p:nvPr/>
        </p:nvGraphicFramePr>
        <p:xfrm>
          <a:off x="152400" y="1238250"/>
          <a:ext cx="11887193" cy="2857498"/>
        </p:xfrm>
        <a:graphic>
          <a:graphicData uri="http://schemas.openxmlformats.org/drawingml/2006/table">
            <a:tbl>
              <a:tblPr>
                <a:tableStyleId>{5C22544A-7EE6-4342-B048-85BDC9FD1C3A}</a:tableStyleId>
              </a:tblPr>
              <a:tblGrid>
                <a:gridCol w="2284301"/>
                <a:gridCol w="564876"/>
                <a:gridCol w="564876"/>
                <a:gridCol w="564876"/>
                <a:gridCol w="564876"/>
                <a:gridCol w="564876"/>
                <a:gridCol w="564876"/>
                <a:gridCol w="564876"/>
                <a:gridCol w="564876"/>
                <a:gridCol w="564876"/>
                <a:gridCol w="564876"/>
                <a:gridCol w="564876"/>
                <a:gridCol w="564876"/>
                <a:gridCol w="564876"/>
                <a:gridCol w="564876"/>
                <a:gridCol w="564876"/>
                <a:gridCol w="564876"/>
                <a:gridCol w="564876"/>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40203">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1052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Application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Application,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Application (US$ Mn)</a:t>
            </a:r>
          </a:p>
        </p:txBody>
      </p:sp>
      <p:graphicFrame>
        <p:nvGraphicFramePr>
          <p:cNvPr id="12" name="Table 11"/>
          <p:cNvGraphicFramePr>
            <a:graphicFrameLocks noGrp="1"/>
          </p:cNvGraphicFramePr>
          <p:nvPr/>
        </p:nvGraphicFramePr>
        <p:xfrm>
          <a:off x="152400" y="1238250"/>
          <a:ext cx="11887203" cy="1514475"/>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Household 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Application</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Food packaging segment is projected to register 5.2X higher value than non-food packaging segment in 2036. Among flexible plastic packaging by application, food packaging segment is expected to witness the highest CAGR of 5.6% over the forecast period.</a:t>
            </a:r>
          </a:p>
          <a:p>
            <a:pPr algn="l">
              <a:lnSpc>
                <a:spcPct val="110000"/>
              </a:lnSpc>
              <a:spcBef>
                <a:spcPts val="0"/>
              </a:spcBef>
              <a:spcAft>
                <a:spcPts val="500"/>
              </a:spcAft>
            </a:pPr>
            <a:r>
              <a:rPr sz="1150" b="0">
                <a:solidFill>
                  <a:srgbClr val="2E2E2E"/>
                </a:solidFill>
                <a:latin typeface="Calibri"/>
              </a:rPr>
              <a:t>In terms of value share by application, the food packaging segment is expected to dominate the market, gaining 10 BPS and accounting for 83.8% share by 2036. The non-food packaging segment is expected to lose 10 BPS over the forecast period to account for 16.2% share by 2036.</a:t>
            </a:r>
          </a:p>
          <a:p>
            <a:pPr algn="l">
              <a:lnSpc>
                <a:spcPct val="110000"/>
              </a:lnSpc>
              <a:spcBef>
                <a:spcPts val="0"/>
              </a:spcBef>
              <a:spcAft>
                <a:spcPts val="500"/>
              </a:spcAft>
            </a:pPr>
            <a:r>
              <a:rPr sz="1150" b="0">
                <a:solidFill>
                  <a:srgbClr val="2E2E2E"/>
                </a:solidFill>
                <a:latin typeface="Calibri"/>
              </a:rPr>
              <a:t>Food Packaging edges up 10 BPS because growth of 5.6% is driven by protein, ready meals, snacks, food delivery and meal kits that depend on flexible barrier film for shelf life and portability. Non-Food Packaging grows slightly slower at 5.5%, as household, personal care and industrial uses are more mature and less exposed to the structural shift toward packaged and delivered food.</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Application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Application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4150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3674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6054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Non-Food Packaging</a:t>
            </a:r>
          </a:p>
        </p:txBody>
      </p:sp>
      <p:sp>
        <p:nvSpPr>
          <p:cNvPr id="19" name="BPS Value 1"/>
          <p:cNvSpPr txBox="1"/>
          <p:nvPr/>
        </p:nvSpPr>
        <p:spPr>
          <a:xfrm>
            <a:off x="6896100" y="2022453"/>
            <a:ext cx="514350" cy="123825"/>
          </a:xfrm>
          <a:prstGeom prst="rect">
            <a:avLst/>
          </a:prstGeom>
          <a:noFill/>
        </p:spPr>
        <p:txBody>
          <a:bodyPr wrap="none" lIns="0" rIns="0" tIns="0" bIns="0" anchor="ctr">
            <a:spAutoFit/>
          </a:bodyPr>
          <a:lstStyle/>
          <a:p>
            <a:pPr algn="r"/>
            <a:r>
              <a:rPr sz="900" b="1">
                <a:solidFill>
                  <a:srgbClr val="E44D3A"/>
                </a:solidFill>
                <a:latin typeface="Calibri"/>
              </a:rPr>
              <a:t>-10</a:t>
            </a:r>
          </a:p>
        </p:txBody>
      </p:sp>
      <p:sp>
        <p:nvSpPr>
          <p:cNvPr id="20" name="FMI Legend Chip"/>
          <p:cNvSpPr/>
          <p:nvPr/>
        </p:nvSpPr>
        <p:spPr>
          <a:xfrm>
            <a:off x="4928997" y="432769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32293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24673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 Packaging</a:t>
            </a:r>
          </a:p>
        </p:txBody>
      </p:sp>
      <p:sp>
        <p:nvSpPr>
          <p:cNvPr id="23" name="BPS Value 2"/>
          <p:cNvSpPr txBox="1"/>
          <p:nvPr/>
        </p:nvSpPr>
        <p:spPr>
          <a:xfrm>
            <a:off x="6896100" y="4308643"/>
            <a:ext cx="514350" cy="123825"/>
          </a:xfrm>
          <a:prstGeom prst="rect">
            <a:avLst/>
          </a:prstGeom>
          <a:noFill/>
        </p:spPr>
        <p:txBody>
          <a:bodyPr wrap="none" lIns="0" rIns="0" tIns="0" bIns="0" anchor="ctr">
            <a:spAutoFit/>
          </a:bodyPr>
          <a:lstStyle/>
          <a:p>
            <a:pPr algn="r"/>
            <a:r>
              <a:rPr sz="900" b="1">
                <a:solidFill>
                  <a:srgbClr val="2E7D32"/>
                </a:solidFill>
                <a:latin typeface="Calibri"/>
              </a:rPr>
              <a:t>+10</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Application</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application, food packaging segment is expected to witness the highest CAGR of 5.6% over the forecast period. In terms of value share by application, the food packaging segment is expected to dominate the market, gaining 10 BPS and accounting for 83.8% share by 2036.</a:t>
            </a:r>
          </a:p>
          <a:p>
            <a:pPr algn="l">
              <a:lnSpc>
                <a:spcPct val="110000"/>
              </a:lnSpc>
              <a:spcBef>
                <a:spcPts val="0"/>
              </a:spcBef>
              <a:spcAft>
                <a:spcPts val="500"/>
              </a:spcAft>
            </a:pPr>
            <a:r>
              <a:rPr sz="1150" b="0">
                <a:solidFill>
                  <a:srgbClr val="2E2E2E"/>
                </a:solidFill>
                <a:latin typeface="Calibri"/>
              </a:rPr>
              <a:t>The non-food packaging segment is expected to lose 10 BPS over the forecast period to account for 16.2% share by 2036.</a:t>
            </a:r>
          </a:p>
          <a:p>
            <a:pPr algn="l">
              <a:lnSpc>
                <a:spcPct val="110000"/>
              </a:lnSpc>
              <a:spcBef>
                <a:spcPts val="0"/>
              </a:spcBef>
              <a:spcAft>
                <a:spcPts val="500"/>
              </a:spcAft>
            </a:pPr>
            <a:r>
              <a:rPr sz="1150" b="0">
                <a:solidFill>
                  <a:srgbClr val="2E2E2E"/>
                </a:solidFill>
                <a:latin typeface="Calibri"/>
              </a:rPr>
              <a:t>Food Packaging grows fastest at a 5.6% CAGR against 5.6% for the market because processed, frozen and delivered food keeps expanding faster than other uses. The slowest part, Non-Food Packaging, grows at 5.5% as industrial and household uses grow more slowly than food. In North America, e-commerce volumes, food delivery and recycled-content rules shape converter choices.</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sp>
        <p:nvSpPr>
          <p:cNvPr id="28" name="Rectangle 27"/>
          <p:cNvSpPr/>
          <p:nvPr/>
        </p:nvSpPr>
        <p:spPr>
          <a:xfrm>
            <a:off x="1857375" y="1409700"/>
            <a:ext cx="643890" cy="322659"/>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Meat and Processed Meat</a:t>
            </a:r>
          </a:p>
        </p:txBody>
      </p:sp>
      <p:sp>
        <p:nvSpPr>
          <p:cNvPr id="44" name="Rectangle 43"/>
          <p:cNvSpPr/>
          <p:nvPr/>
        </p:nvSpPr>
        <p:spPr>
          <a:xfrm>
            <a:off x="1857375" y="1732359"/>
            <a:ext cx="643890" cy="322659"/>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0E6E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Poultry</a:t>
            </a:r>
          </a:p>
        </p:txBody>
      </p:sp>
      <p:sp>
        <p:nvSpPr>
          <p:cNvPr id="60" name="Rectangle 59"/>
          <p:cNvSpPr/>
          <p:nvPr/>
        </p:nvSpPr>
        <p:spPr>
          <a:xfrm>
            <a:off x="1857375" y="2055019"/>
            <a:ext cx="643890" cy="322659"/>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7E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Fish and Seafood</a:t>
            </a:r>
          </a:p>
        </p:txBody>
      </p:sp>
      <p:sp>
        <p:nvSpPr>
          <p:cNvPr id="76" name="Rectangle 75"/>
          <p:cNvSpPr/>
          <p:nvPr/>
        </p:nvSpPr>
        <p:spPr>
          <a:xfrm>
            <a:off x="1857375" y="2377678"/>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Dairy and Cheese</a:t>
            </a:r>
          </a:p>
        </p:txBody>
      </p:sp>
      <p:sp>
        <p:nvSpPr>
          <p:cNvPr id="92" name="Rectangle 91"/>
          <p:cNvSpPr/>
          <p:nvPr/>
        </p:nvSpPr>
        <p:spPr>
          <a:xfrm>
            <a:off x="1857375" y="2700338"/>
            <a:ext cx="643890" cy="322659"/>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Ready Meals and Prepared Foods</a:t>
            </a:r>
          </a:p>
        </p:txBody>
      </p:sp>
      <p:sp>
        <p:nvSpPr>
          <p:cNvPr id="108" name="Rectangle 107"/>
          <p:cNvSpPr/>
          <p:nvPr/>
        </p:nvSpPr>
        <p:spPr>
          <a:xfrm>
            <a:off x="1857375" y="3022997"/>
            <a:ext cx="643890" cy="322659"/>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Bakery, Confectionery and Snacks</a:t>
            </a:r>
          </a:p>
        </p:txBody>
      </p:sp>
      <p:sp>
        <p:nvSpPr>
          <p:cNvPr id="124" name="Rectangle 123"/>
          <p:cNvSpPr/>
          <p:nvPr/>
        </p:nvSpPr>
        <p:spPr>
          <a:xfrm>
            <a:off x="1857375" y="3345656"/>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1A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Dry Foods and Powders</a:t>
            </a:r>
          </a:p>
        </p:txBody>
      </p:sp>
      <p:sp>
        <p:nvSpPr>
          <p:cNvPr id="140" name="Rectangle 139"/>
          <p:cNvSpPr/>
          <p:nvPr/>
        </p:nvSpPr>
        <p:spPr>
          <a:xfrm>
            <a:off x="1857375" y="3668316"/>
            <a:ext cx="643890" cy="322659"/>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 Food</a:t>
            </a:r>
          </a:p>
        </p:txBody>
      </p:sp>
      <p:sp>
        <p:nvSpPr>
          <p:cNvPr id="156" name="Rectangle 155"/>
          <p:cNvSpPr/>
          <p:nvPr/>
        </p:nvSpPr>
        <p:spPr>
          <a:xfrm>
            <a:off x="1857375" y="3990975"/>
            <a:ext cx="643890" cy="322659"/>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Other Food Products (Fresh Produce, Plant-Based Foods, Condiments and Dressings, Foodservice Products)</a:t>
            </a:r>
          </a:p>
        </p:txBody>
      </p:sp>
      <p:sp>
        <p:nvSpPr>
          <p:cNvPr id="172" name="Rectangle 171"/>
          <p:cNvSpPr/>
          <p:nvPr/>
        </p:nvSpPr>
        <p:spPr>
          <a:xfrm>
            <a:off x="1857375" y="4313634"/>
            <a:ext cx="643890" cy="322659"/>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0D67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88" name="Rectangle 187"/>
          <p:cNvSpPr/>
          <p:nvPr/>
        </p:nvSpPr>
        <p:spPr>
          <a:xfrm>
            <a:off x="1857375" y="4636294"/>
            <a:ext cx="643890" cy="322659"/>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Pharmaceutical and Healthcare</a:t>
            </a:r>
          </a:p>
        </p:txBody>
      </p:sp>
      <p:sp>
        <p:nvSpPr>
          <p:cNvPr id="204" name="Rectangle 203"/>
          <p:cNvSpPr/>
          <p:nvPr/>
        </p:nvSpPr>
        <p:spPr>
          <a:xfrm>
            <a:off x="1857375" y="4958953"/>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Personal Care and Cosmetics</a:t>
            </a:r>
          </a:p>
        </p:txBody>
      </p:sp>
      <p:sp>
        <p:nvSpPr>
          <p:cNvPr id="220" name="Rectangle 219"/>
          <p:cNvSpPr/>
          <p:nvPr/>
        </p:nvSpPr>
        <p:spPr>
          <a:xfrm>
            <a:off x="1857375" y="5281612"/>
            <a:ext cx="643890" cy="322659"/>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B1CF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Household Care</a:t>
            </a:r>
          </a:p>
        </p:txBody>
      </p:sp>
      <p:sp>
        <p:nvSpPr>
          <p:cNvPr id="236" name="Rectangle 235"/>
          <p:cNvSpPr/>
          <p:nvPr/>
        </p:nvSpPr>
        <p:spPr>
          <a:xfrm>
            <a:off x="1857375" y="5604272"/>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Chemicals and Agrochemicals</a:t>
            </a:r>
          </a:p>
        </p:txBody>
      </p:sp>
      <p:sp>
        <p:nvSpPr>
          <p:cNvPr id="252" name="Rectangle 251"/>
          <p:cNvSpPr/>
          <p:nvPr/>
        </p:nvSpPr>
        <p:spPr>
          <a:xfrm>
            <a:off x="1857375" y="5926931"/>
            <a:ext cx="643890" cy="322659"/>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Electronics and Technical Products</a:t>
            </a:r>
          </a:p>
        </p:txBody>
      </p:sp>
      <p:sp>
        <p:nvSpPr>
          <p:cNvPr id="268" name="Rectangle 267"/>
          <p:cNvSpPr/>
          <p:nvPr/>
        </p:nvSpPr>
        <p:spPr>
          <a:xfrm>
            <a:off x="1857375" y="6249591"/>
            <a:ext cx="643890" cy="322659"/>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sp>
        <p:nvSpPr>
          <p:cNvPr id="28" name="Rectangle 27"/>
          <p:cNvSpPr/>
          <p:nvPr/>
        </p:nvSpPr>
        <p:spPr>
          <a:xfrm>
            <a:off x="1857375" y="1409700"/>
            <a:ext cx="643890" cy="322659"/>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Meat and Processed Meat</a:t>
            </a:r>
          </a:p>
        </p:txBody>
      </p:sp>
      <p:sp>
        <p:nvSpPr>
          <p:cNvPr id="44" name="Rectangle 43"/>
          <p:cNvSpPr/>
          <p:nvPr/>
        </p:nvSpPr>
        <p:spPr>
          <a:xfrm>
            <a:off x="1857375" y="1732359"/>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Poultry</a:t>
            </a:r>
          </a:p>
        </p:txBody>
      </p:sp>
      <p:sp>
        <p:nvSpPr>
          <p:cNvPr id="60" name="Rectangle 59"/>
          <p:cNvSpPr/>
          <p:nvPr/>
        </p:nvSpPr>
        <p:spPr>
          <a:xfrm>
            <a:off x="1857375" y="2055019"/>
            <a:ext cx="643890" cy="322659"/>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Fish and Seafood</a:t>
            </a:r>
          </a:p>
        </p:txBody>
      </p:sp>
      <p:sp>
        <p:nvSpPr>
          <p:cNvPr id="76" name="Rectangle 75"/>
          <p:cNvSpPr/>
          <p:nvPr/>
        </p:nvSpPr>
        <p:spPr>
          <a:xfrm>
            <a:off x="1857375" y="2377678"/>
            <a:ext cx="643890" cy="322659"/>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Dairy and Cheese</a:t>
            </a:r>
          </a:p>
        </p:txBody>
      </p:sp>
      <p:sp>
        <p:nvSpPr>
          <p:cNvPr id="92" name="Rectangle 91"/>
          <p:cNvSpPr/>
          <p:nvPr/>
        </p:nvSpPr>
        <p:spPr>
          <a:xfrm>
            <a:off x="1857375" y="2700338"/>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Ready Meals and Prepared Foods</a:t>
            </a:r>
          </a:p>
        </p:txBody>
      </p:sp>
      <p:sp>
        <p:nvSpPr>
          <p:cNvPr id="108" name="Rectangle 107"/>
          <p:cNvSpPr/>
          <p:nvPr/>
        </p:nvSpPr>
        <p:spPr>
          <a:xfrm>
            <a:off x="1857375" y="3022997"/>
            <a:ext cx="643890" cy="322659"/>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0E6B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Bakery, Confectionery and Snacks</a:t>
            </a:r>
          </a:p>
        </p:txBody>
      </p:sp>
      <p:sp>
        <p:nvSpPr>
          <p:cNvPr id="124" name="Rectangle 123"/>
          <p:cNvSpPr/>
          <p:nvPr/>
        </p:nvSpPr>
        <p:spPr>
          <a:xfrm>
            <a:off x="1857375" y="3345656"/>
            <a:ext cx="643890" cy="322659"/>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16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Dry Foods and Powders</a:t>
            </a:r>
          </a:p>
        </p:txBody>
      </p:sp>
      <p:sp>
        <p:nvSpPr>
          <p:cNvPr id="140" name="Rectangle 139"/>
          <p:cNvSpPr/>
          <p:nvPr/>
        </p:nvSpPr>
        <p:spPr>
          <a:xfrm>
            <a:off x="1857375" y="3668316"/>
            <a:ext cx="643890" cy="322659"/>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 Food</a:t>
            </a:r>
          </a:p>
        </p:txBody>
      </p:sp>
      <p:sp>
        <p:nvSpPr>
          <p:cNvPr id="156" name="Rectangle 155"/>
          <p:cNvSpPr/>
          <p:nvPr/>
        </p:nvSpPr>
        <p:spPr>
          <a:xfrm>
            <a:off x="1857375" y="3990975"/>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Other Food Products (Fresh Produce, Plant-Based Foods, Condiments and Dressings, Foodservice Products)</a:t>
            </a:r>
          </a:p>
        </p:txBody>
      </p:sp>
      <p:sp>
        <p:nvSpPr>
          <p:cNvPr id="172" name="Rectangle 171"/>
          <p:cNvSpPr/>
          <p:nvPr/>
        </p:nvSpPr>
        <p:spPr>
          <a:xfrm>
            <a:off x="1857375" y="4313634"/>
            <a:ext cx="643890" cy="322659"/>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88" name="Rectangle 187"/>
          <p:cNvSpPr/>
          <p:nvPr/>
        </p:nvSpPr>
        <p:spPr>
          <a:xfrm>
            <a:off x="1857375" y="4636294"/>
            <a:ext cx="643890" cy="322659"/>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Pharmaceutical and Healthcare</a:t>
            </a:r>
          </a:p>
        </p:txBody>
      </p:sp>
      <p:sp>
        <p:nvSpPr>
          <p:cNvPr id="204" name="Rectangle 203"/>
          <p:cNvSpPr/>
          <p:nvPr/>
        </p:nvSpPr>
        <p:spPr>
          <a:xfrm>
            <a:off x="1857375" y="4958953"/>
            <a:ext cx="643890" cy="322659"/>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Personal Care and Cosmetics</a:t>
            </a:r>
          </a:p>
        </p:txBody>
      </p:sp>
      <p:sp>
        <p:nvSpPr>
          <p:cNvPr id="220" name="Rectangle 219"/>
          <p:cNvSpPr/>
          <p:nvPr/>
        </p:nvSpPr>
        <p:spPr>
          <a:xfrm>
            <a:off x="1857375" y="5281612"/>
            <a:ext cx="643890" cy="322659"/>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Household Care</a:t>
            </a:r>
          </a:p>
        </p:txBody>
      </p:sp>
      <p:sp>
        <p:nvSpPr>
          <p:cNvPr id="236" name="Rectangle 235"/>
          <p:cNvSpPr/>
          <p:nvPr/>
        </p:nvSpPr>
        <p:spPr>
          <a:xfrm>
            <a:off x="1857375" y="5604272"/>
            <a:ext cx="643890" cy="322659"/>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Chemicals and Agrochemicals</a:t>
            </a:r>
          </a:p>
        </p:txBody>
      </p:sp>
      <p:sp>
        <p:nvSpPr>
          <p:cNvPr id="252" name="Rectangle 251"/>
          <p:cNvSpPr/>
          <p:nvPr/>
        </p:nvSpPr>
        <p:spPr>
          <a:xfrm>
            <a:off x="1857375" y="5926931"/>
            <a:ext cx="643890" cy="322659"/>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Electronics and Technical Products</a:t>
            </a:r>
          </a:p>
        </p:txBody>
      </p:sp>
      <p:sp>
        <p:nvSpPr>
          <p:cNvPr id="268" name="Rectangle 267"/>
          <p:cNvSpPr/>
          <p:nvPr/>
        </p:nvSpPr>
        <p:spPr>
          <a:xfrm>
            <a:off x="1857375" y="6249591"/>
            <a:ext cx="643890" cy="322659"/>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Barrier Level Vs Application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Vs Application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Barrier Level Vs Application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Barrier Level Vs Application,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Barrier Level Vs Application segment categorizes the market by barrier level vs application.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Medium-Barrier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11,909</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19,783</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5.2%</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High-Barrier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11,550</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20,718</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6.0%</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Low-Barrier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7,681</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13,108</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5.5%</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Ultra-High-Barrier Films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4,837</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8,459</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5.7%</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barrier level vs application, high-barrier films segment is expected to witness the highest CAGR of 6.0% over the forecast period. In terms of value share by barrier level vs application, the high-barrier films segment is expected to dominate the market, gaining 128 BPS and accounting for 33.4%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High-barrier films segment is projected to register 1.0X higher value than medium-barrier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Medium-Barrier Films: </a:t>
            </a:r>
            <a:r>
              <a:rPr sz="1100" b="0">
                <a:solidFill>
                  <a:srgbClr val="2E2E2E"/>
                </a:solidFill>
                <a:latin typeface="Calibri"/>
              </a:rPr>
              <a:t>33% of 2026 value · 5.2%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High-Barrier Films: </a:t>
            </a:r>
            <a:r>
              <a:rPr sz="1100" b="0">
                <a:solidFill>
                  <a:srgbClr val="2E2E2E"/>
                </a:solidFill>
                <a:latin typeface="Calibri"/>
              </a:rPr>
              <a:t>32% of 2026 value · 6.0%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Low-Barrier Films: </a:t>
            </a:r>
            <a:r>
              <a:rPr sz="1100" b="0">
                <a:solidFill>
                  <a:srgbClr val="2E2E2E"/>
                </a:solidFill>
                <a:latin typeface="Calibri"/>
              </a:rPr>
              <a:t>21% of 2026 value · 5.5%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Ultra-High-Barrier Films: </a:t>
            </a:r>
            <a:r>
              <a:rPr sz="1100" b="0">
                <a:solidFill>
                  <a:srgbClr val="2E2E2E"/>
                </a:solidFill>
                <a:latin typeface="Calibri"/>
              </a:rPr>
              <a:t>13% of 2026 value · 5.7%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Barrier Level Vs Application split shows how demand is distributed across barrier level vs application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Barrier Level Vs Application segment is projected to grow at a CAGR of 5.6%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Barrier Level Vs Application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Barrier Level Vs Application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Barrier Level Vs Application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High-barrier films followed by medium-barrier films are expected to be the two most attractive barrier level vs application segments in the North America flexible plastic packaging market in terms of value over the forecast period. High-Barrier films and Medium-Barrier films exhibit a CAGR index of 107 and 93 and a market share index of 128 and 132 respectively, against the segment average of 100. The ultra-high-barrier films segment is expected to be less attractive as compared to other segments over the forecast period, owing to its lower CAGR and incremental opportunity. High-Barrier Films rank most attractive because they pair a 32.1% share with the fastest growth at 6.0%, ahead of the 5.6% regional rate. Fresh protein, cheese, ready meals and healthcare packs need oxygen and moisture protection to cut food waste, and the structures command a price premium. Ultra-High-Barrier Films grow at 5.7% from a smaller base, while Medium-Barrier Films trail at 5.2%.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Barrier Level Vs Application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Low-Barrier Films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Medium-Barrier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High-Barrier Films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Ultra-High-Barrier Films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Barrier Level Vs Application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Barrier Level Vs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Barrier Level Vs Application</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High-barrier films segment is projected to register 1.0X higher volume than medium-barrier films segment in 2036. Among flexible plastic packaging by barrier level vs application, high-barrier films segment is expected to witness the highest CAGR of 4.7% over the forecast period.</a:t>
            </a:r>
          </a:p>
          <a:p>
            <a:pPr algn="l">
              <a:lnSpc>
                <a:spcPct val="110000"/>
              </a:lnSpc>
              <a:spcBef>
                <a:spcPts val="0"/>
              </a:spcBef>
              <a:spcAft>
                <a:spcPts val="500"/>
              </a:spcAft>
            </a:pPr>
            <a:r>
              <a:rPr sz="1100" b="0">
                <a:solidFill>
                  <a:srgbClr val="2E2E2E"/>
                </a:solidFill>
                <a:latin typeface="Calibri"/>
              </a:rPr>
              <a:t>In terms of volume share by barrier level vs application, the high-barrier films segment is expected to dominate the market, gaining 128 BPS and accounting for 33.4% share by 2036. The medium-barrier films segment is expected to lose 123 BPS over the forecast period to account for 31.9% share by 2036.</a:t>
            </a:r>
          </a:p>
          <a:p>
            <a:pPr algn="l">
              <a:lnSpc>
                <a:spcPct val="110000"/>
              </a:lnSpc>
              <a:spcBef>
                <a:spcPts val="0"/>
              </a:spcBef>
              <a:spcAft>
                <a:spcPts val="500"/>
              </a:spcAft>
            </a:pPr>
            <a:r>
              <a:rPr sz="1100" b="0">
                <a:solidFill>
                  <a:srgbClr val="2E2E2E"/>
                </a:solidFill>
                <a:latin typeface="Calibri"/>
              </a:rPr>
              <a:t>High-Barrier Films gain 128 BPS because food uses such as fresh protein, cheese and ready meals, plus pharma and medical packaging, need longer shelf life and stronger oxygen and moisture protection, and e-commerce shipping adds to that demand. Medium-Barrier Films lose 123 BPS and grow just 3.9% as buyers specify better barriers to reduce food waste.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Barrier Level Vs Application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Barrier Level Vs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Barrier Level Vs Application (US$ Mn)</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29,774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43,865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46,394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52,123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55,271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58,587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Barrier Level Vs Application</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High-barrier films segment is projected to register 1.0X higher value than medium-barrier films segment in 2036. Among flexible plastic packaging by barrier level vs application, high-barrier films segment is expected to witness the highest CAGR of 6.0% over the forecast period.</a:t>
            </a:r>
          </a:p>
          <a:p>
            <a:pPr algn="l">
              <a:lnSpc>
                <a:spcPct val="110000"/>
              </a:lnSpc>
              <a:spcBef>
                <a:spcPts val="0"/>
              </a:spcBef>
              <a:spcAft>
                <a:spcPts val="500"/>
              </a:spcAft>
            </a:pPr>
            <a:r>
              <a:rPr sz="1100" b="0">
                <a:solidFill>
                  <a:srgbClr val="2E2E2E"/>
                </a:solidFill>
                <a:latin typeface="Calibri"/>
              </a:rPr>
              <a:t>In terms of value share by barrier level vs application, the high-barrier films segment is expected to dominate the market, gaining 128 BPS and accounting for 33.4% share by 2036. The medium-barrier films segment is expected to lose 123 BPS over the forecast period to account for 31.9% share by 2036.</a:t>
            </a:r>
          </a:p>
          <a:p>
            <a:pPr algn="l">
              <a:lnSpc>
                <a:spcPct val="110000"/>
              </a:lnSpc>
              <a:spcBef>
                <a:spcPts val="0"/>
              </a:spcBef>
              <a:spcAft>
                <a:spcPts val="500"/>
              </a:spcAft>
            </a:pPr>
            <a:r>
              <a:rPr sz="1100" b="0">
                <a:solidFill>
                  <a:srgbClr val="2E2E2E"/>
                </a:solidFill>
                <a:latin typeface="Calibri"/>
              </a:rPr>
              <a:t>High-Barrier Films gains 128 BPS of value share because protein, ready meals and e-commerce-delivered food need longer shelf life and lower spoilage, which pulls demand up from medium-barrier grades. Its 6.0% CAGR compares with a 5.6% market rate, while Medium-Barrier Films loses 123 BPS at 5.2% as demand polarises between cost-led low-barrier grades and performance-led high-barrier grades. In North America, e-commerce volumes, food delivery and recycled-content rules shape converter choices.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Barrier Level Vs Application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Barrier Level Vs Application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8282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7806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018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Ultra-High-Barrier Films</a:t>
            </a:r>
          </a:p>
        </p:txBody>
      </p:sp>
      <p:sp>
        <p:nvSpPr>
          <p:cNvPr id="19" name="BPS Value 1"/>
          <p:cNvSpPr txBox="1"/>
          <p:nvPr/>
        </p:nvSpPr>
        <p:spPr>
          <a:xfrm>
            <a:off x="6896100" y="1963779"/>
            <a:ext cx="514350" cy="123825"/>
          </a:xfrm>
          <a:prstGeom prst="rect">
            <a:avLst/>
          </a:prstGeom>
          <a:noFill/>
        </p:spPr>
        <p:txBody>
          <a:bodyPr wrap="none" lIns="0" rIns="0" tIns="0" bIns="0" anchor="ctr">
            <a:spAutoFit/>
          </a:bodyPr>
          <a:lstStyle/>
          <a:p>
            <a:pPr algn="r"/>
            <a:r>
              <a:rPr sz="900" b="1">
                <a:solidFill>
                  <a:srgbClr val="2E7D32"/>
                </a:solidFill>
                <a:latin typeface="Calibri"/>
              </a:rPr>
              <a:t>+18</a:t>
            </a:r>
          </a:p>
        </p:txBody>
      </p:sp>
      <p:sp>
        <p:nvSpPr>
          <p:cNvPr id="20" name="FMI Legend Chip"/>
          <p:cNvSpPr/>
          <p:nvPr/>
        </p:nvSpPr>
        <p:spPr>
          <a:xfrm>
            <a:off x="4928997" y="277721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77245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6962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Low-Barrier Films</a:t>
            </a:r>
          </a:p>
        </p:txBody>
      </p:sp>
      <p:sp>
        <p:nvSpPr>
          <p:cNvPr id="23" name="BPS Value 2"/>
          <p:cNvSpPr txBox="1"/>
          <p:nvPr/>
        </p:nvSpPr>
        <p:spPr>
          <a:xfrm>
            <a:off x="6896100" y="2758169"/>
            <a:ext cx="514350" cy="123825"/>
          </a:xfrm>
          <a:prstGeom prst="rect">
            <a:avLst/>
          </a:prstGeom>
          <a:noFill/>
        </p:spPr>
        <p:txBody>
          <a:bodyPr wrap="none" lIns="0" rIns="0" tIns="0" bIns="0" anchor="ctr">
            <a:spAutoFit/>
          </a:bodyPr>
          <a:lstStyle/>
          <a:p>
            <a:pPr algn="r"/>
            <a:r>
              <a:rPr sz="900" b="1">
                <a:solidFill>
                  <a:srgbClr val="E44D3A"/>
                </a:solidFill>
                <a:latin typeface="Calibri"/>
              </a:rPr>
              <a:t>-23</a:t>
            </a:r>
          </a:p>
        </p:txBody>
      </p:sp>
      <p:sp>
        <p:nvSpPr>
          <p:cNvPr id="24" name="FMI Legend Chip"/>
          <p:cNvSpPr/>
          <p:nvPr/>
        </p:nvSpPr>
        <p:spPr>
          <a:xfrm>
            <a:off x="4928997" y="398870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8394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90774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Medium-Barrier Films</a:t>
            </a:r>
          </a:p>
        </p:txBody>
      </p:sp>
      <p:sp>
        <p:nvSpPr>
          <p:cNvPr id="27" name="BPS Value 3"/>
          <p:cNvSpPr txBox="1"/>
          <p:nvPr/>
        </p:nvSpPr>
        <p:spPr>
          <a:xfrm>
            <a:off x="6896100" y="3969653"/>
            <a:ext cx="514350" cy="123825"/>
          </a:xfrm>
          <a:prstGeom prst="rect">
            <a:avLst/>
          </a:prstGeom>
          <a:noFill/>
        </p:spPr>
        <p:txBody>
          <a:bodyPr wrap="none" lIns="0" rIns="0" tIns="0" bIns="0" anchor="ctr">
            <a:spAutoFit/>
          </a:bodyPr>
          <a:lstStyle/>
          <a:p>
            <a:pPr algn="r"/>
            <a:r>
              <a:rPr sz="900" b="1">
                <a:solidFill>
                  <a:srgbClr val="E44D3A"/>
                </a:solidFill>
                <a:latin typeface="Calibri"/>
              </a:rPr>
              <a:t>-123</a:t>
            </a:r>
          </a:p>
        </p:txBody>
      </p:sp>
      <p:sp>
        <p:nvSpPr>
          <p:cNvPr id="28" name="FMI Legend Chip"/>
          <p:cNvSpPr/>
          <p:nvPr/>
        </p:nvSpPr>
        <p:spPr>
          <a:xfrm>
            <a:off x="4928997" y="548050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47574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39954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High-Barrier Films</a:t>
            </a:r>
          </a:p>
        </p:txBody>
      </p:sp>
      <p:sp>
        <p:nvSpPr>
          <p:cNvPr id="31" name="BPS Value 4"/>
          <p:cNvSpPr txBox="1"/>
          <p:nvPr/>
        </p:nvSpPr>
        <p:spPr>
          <a:xfrm>
            <a:off x="6896100" y="5461454"/>
            <a:ext cx="514350" cy="123825"/>
          </a:xfrm>
          <a:prstGeom prst="rect">
            <a:avLst/>
          </a:prstGeom>
          <a:noFill/>
        </p:spPr>
        <p:txBody>
          <a:bodyPr wrap="none" lIns="0" rIns="0" tIns="0" bIns="0" anchor="ctr">
            <a:spAutoFit/>
          </a:bodyPr>
          <a:lstStyle/>
          <a:p>
            <a:pPr algn="r"/>
            <a:r>
              <a:rPr sz="900" b="1">
                <a:solidFill>
                  <a:srgbClr val="2E7D32"/>
                </a:solidFill>
                <a:latin typeface="Calibri"/>
              </a:rPr>
              <a:t>+128</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Barrier Level Vs Application</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barrier level vs application, high-barrier films segment is expected to witness the highest CAGR of 6.0% over the forecast period. In terms of value share by barrier level vs application, the high-barrier films segment is expected to dominate the market, gaining 128 BPS and accounting for 33.4% share by 2036.</a:t>
            </a:r>
          </a:p>
          <a:p>
            <a:pPr algn="l">
              <a:lnSpc>
                <a:spcPct val="110000"/>
              </a:lnSpc>
              <a:spcBef>
                <a:spcPts val="0"/>
              </a:spcBef>
              <a:spcAft>
                <a:spcPts val="500"/>
              </a:spcAft>
            </a:pPr>
            <a:r>
              <a:rPr sz="1150" b="0">
                <a:solidFill>
                  <a:srgbClr val="2E2E2E"/>
                </a:solidFill>
                <a:latin typeface="Calibri"/>
              </a:rPr>
              <a:t>The medium-barrier films segment is expected to lose 123 BPS over the forecast period to account for 31.9% share by 2036.</a:t>
            </a:r>
          </a:p>
          <a:p>
            <a:pPr algn="l">
              <a:lnSpc>
                <a:spcPct val="110000"/>
              </a:lnSpc>
              <a:spcBef>
                <a:spcPts val="0"/>
              </a:spcBef>
              <a:spcAft>
                <a:spcPts val="500"/>
              </a:spcAft>
            </a:pPr>
            <a:r>
              <a:rPr sz="1150" b="0">
                <a:solidFill>
                  <a:srgbClr val="2E2E2E"/>
                </a:solidFill>
                <a:latin typeface="Calibri"/>
              </a:rPr>
              <a:t>High-Barrier Films grow fastest at 6.0% against 5.6% for the region because food processors and pharma packagers want longer shelf life and lower waste, and retailers support this with larger chilled and ready-meal ranges. Advances in high-barrier PE and EVOH coextrusion also let them replace foil and PVDC. Medium-Barrier Films grow slowest at 5.2% because they are either upgraded or redesigned.</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Barrier Level Vs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Vs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Barrier Level Vs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Vs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Barrier Level Vs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28" name="Rectangle 27"/>
          <p:cNvSpPr/>
          <p:nvPr/>
        </p:nvSpPr>
        <p:spPr>
          <a:xfrm>
            <a:off x="1857375" y="1409700"/>
            <a:ext cx="643890" cy="430212"/>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67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a:t>
            </a:r>
          </a:p>
        </p:txBody>
      </p:sp>
      <p:sp>
        <p:nvSpPr>
          <p:cNvPr id="44" name="Rectangle 43"/>
          <p:cNvSpPr/>
          <p:nvPr/>
        </p:nvSpPr>
        <p:spPr>
          <a:xfrm>
            <a:off x="1857375" y="1839912"/>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a:t>
            </a:r>
          </a:p>
        </p:txBody>
      </p:sp>
      <p:sp>
        <p:nvSpPr>
          <p:cNvPr id="60" name="Rectangle 59"/>
          <p:cNvSpPr/>
          <p:nvPr/>
        </p:nvSpPr>
        <p:spPr>
          <a:xfrm>
            <a:off x="1857375" y="2270125"/>
            <a:ext cx="643890" cy="430212"/>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76" name="Rectangle 75"/>
          <p:cNvSpPr/>
          <p:nvPr/>
        </p:nvSpPr>
        <p:spPr>
          <a:xfrm>
            <a:off x="1857375" y="2700338"/>
            <a:ext cx="643890" cy="430212"/>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92" name="Rectangle 91"/>
          <p:cNvSpPr/>
          <p:nvPr/>
        </p:nvSpPr>
        <p:spPr>
          <a:xfrm>
            <a:off x="1857375" y="3130550"/>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08" name="Rectangle 107"/>
          <p:cNvSpPr/>
          <p:nvPr/>
        </p:nvSpPr>
        <p:spPr>
          <a:xfrm>
            <a:off x="1857375" y="3560762"/>
            <a:ext cx="643890" cy="43021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124" name="Rectangle 123"/>
          <p:cNvSpPr/>
          <p:nvPr/>
        </p:nvSpPr>
        <p:spPr>
          <a:xfrm>
            <a:off x="1857375" y="3990975"/>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40" name="Rectangle 139"/>
          <p:cNvSpPr/>
          <p:nvPr/>
        </p:nvSpPr>
        <p:spPr>
          <a:xfrm>
            <a:off x="1857375" y="4421188"/>
            <a:ext cx="643890" cy="430212"/>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56" name="Rectangle 155"/>
          <p:cNvSpPr/>
          <p:nvPr/>
        </p:nvSpPr>
        <p:spPr>
          <a:xfrm>
            <a:off x="1857375" y="4851400"/>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172" name="Rectangle 171"/>
          <p:cNvSpPr/>
          <p:nvPr/>
        </p:nvSpPr>
        <p:spPr>
          <a:xfrm>
            <a:off x="1857375" y="5281612"/>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88" name="Rectangle 187"/>
          <p:cNvSpPr/>
          <p:nvPr/>
        </p:nvSpPr>
        <p:spPr>
          <a:xfrm>
            <a:off x="1857375" y="5711825"/>
            <a:ext cx="643890" cy="430212"/>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0E6E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204" name="Rectangle 203"/>
          <p:cNvSpPr/>
          <p:nvPr/>
        </p:nvSpPr>
        <p:spPr>
          <a:xfrm>
            <a:off x="1857375" y="6142037"/>
            <a:ext cx="643890" cy="430212"/>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0C3D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0C4C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Barrier Level Vs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Vs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Barrier Level Vs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Vs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Barrier Level Vs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28" name="Rectangle 27"/>
          <p:cNvSpPr/>
          <p:nvPr/>
        </p:nvSpPr>
        <p:spPr>
          <a:xfrm>
            <a:off x="1857375" y="1409700"/>
            <a:ext cx="643890" cy="43021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a:t>
            </a:r>
          </a:p>
        </p:txBody>
      </p:sp>
      <p:sp>
        <p:nvSpPr>
          <p:cNvPr id="44" name="Rectangle 43"/>
          <p:cNvSpPr/>
          <p:nvPr/>
        </p:nvSpPr>
        <p:spPr>
          <a:xfrm>
            <a:off x="1857375" y="1839912"/>
            <a:ext cx="643890" cy="430212"/>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a:t>
            </a:r>
          </a:p>
        </p:txBody>
      </p:sp>
      <p:sp>
        <p:nvSpPr>
          <p:cNvPr id="60" name="Rectangle 59"/>
          <p:cNvSpPr/>
          <p:nvPr/>
        </p:nvSpPr>
        <p:spPr>
          <a:xfrm>
            <a:off x="1857375" y="2270125"/>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76" name="Rectangle 75"/>
          <p:cNvSpPr/>
          <p:nvPr/>
        </p:nvSpPr>
        <p:spPr>
          <a:xfrm>
            <a:off x="1857375" y="2700338"/>
            <a:ext cx="643890" cy="43021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92" name="Rectangle 91"/>
          <p:cNvSpPr/>
          <p:nvPr/>
        </p:nvSpPr>
        <p:spPr>
          <a:xfrm>
            <a:off x="1857375" y="3130550"/>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08" name="Rectangle 107"/>
          <p:cNvSpPr/>
          <p:nvPr/>
        </p:nvSpPr>
        <p:spPr>
          <a:xfrm>
            <a:off x="1857375" y="3560762"/>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CF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124" name="Rectangle 123"/>
          <p:cNvSpPr/>
          <p:nvPr/>
        </p:nvSpPr>
        <p:spPr>
          <a:xfrm>
            <a:off x="1857375" y="3990975"/>
            <a:ext cx="643890" cy="43021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40" name="Rectangle 139"/>
          <p:cNvSpPr/>
          <p:nvPr/>
        </p:nvSpPr>
        <p:spPr>
          <a:xfrm>
            <a:off x="1857375" y="4421188"/>
            <a:ext cx="643890" cy="43021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0E67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56" name="Rectangle 155"/>
          <p:cNvSpPr/>
          <p:nvPr/>
        </p:nvSpPr>
        <p:spPr>
          <a:xfrm>
            <a:off x="1857375" y="4851400"/>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1C7B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172" name="Rectangle 171"/>
          <p:cNvSpPr/>
          <p:nvPr/>
        </p:nvSpPr>
        <p:spPr>
          <a:xfrm>
            <a:off x="1857375" y="5281612"/>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88" name="Rectangle 187"/>
          <p:cNvSpPr/>
          <p:nvPr/>
        </p:nvSpPr>
        <p:spPr>
          <a:xfrm>
            <a:off x="1857375" y="5711825"/>
            <a:ext cx="643890" cy="430212"/>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0C4E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204" name="Rectangle 203"/>
          <p:cNvSpPr/>
          <p:nvPr/>
        </p:nvSpPr>
        <p:spPr>
          <a:xfrm>
            <a:off x="1857375" y="6142037"/>
            <a:ext cx="643890" cy="430212"/>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0C3F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37045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2675255"/>
            <a:ext cx="7239000" cy="514350"/>
          </a:xfrm>
          <a:prstGeom prst="rect">
            <a:avLst/>
          </a:prstGeom>
          <a:noFill/>
        </p:spPr>
        <p:txBody>
          <a:bodyPr wrap="square" lIns="0" rIns="0" tIns="0">
            <a:spAutoFit/>
          </a:bodyPr>
          <a:lstStyle/>
          <a:p>
            <a:r>
              <a:rPr sz="3000" b="1" cap="all" spc="400">
                <a:solidFill>
                  <a:srgbClr val="FFFFFF"/>
                </a:solidFill>
                <a:latin typeface="Calibri"/>
              </a:rPr>
              <a:t>Country Market Outlook</a:t>
            </a:r>
          </a:p>
        </p:txBody>
      </p:sp>
      <p:sp>
        <p:nvSpPr>
          <p:cNvPr id="7" name="TextBox 6"/>
          <p:cNvSpPr txBox="1"/>
          <p:nvPr/>
        </p:nvSpPr>
        <p:spPr>
          <a:xfrm>
            <a:off x="914400" y="3380105"/>
            <a:ext cx="7124700" cy="253619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Overview (Volume &amp; Value)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Segment Overview (Volume &amp; Value)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Principal Material / Barrier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Material Structure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Barrier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Application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Barrier Level Vs Application</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U.S.</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Overview (Volume &amp; Value)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Segments (Value)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volume: size, growth, YoY momentum and gap to the North America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9,103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14,151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4.2%</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-10 BPS</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U.S.'s flexible plastic packaging market expands at 4.2% CAGR through 2036, trailing the North America benchmark of 4.3% by 10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U.S. holds 91.2% of the North America flexible plastic packaging market in 2026; by 2036 that share moves to 90.4%.</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4,735 Thousand MT between 2026 and 2036 the U.S.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value: size, growth, YoY momentum and gap to the North America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31,424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56,021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3.6%</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5.5%</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-10 BPS</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U.S.'s flexible plastic packaging market expands at 5.5% CAGR through 2036, trailing the North America benchmark of 5.6% by 10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U.S. holds 91.1% of the North America flexible plastic packaging market in 2026; by 2036 that share moves to 90.3%.</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the U.S. is expected to account for US$ 56,021 Mn by 2036 at a CAGR of 5.5% over the forecast period. The U.S. is expected to create an incremental opportunity of US$ 24,596 Mn for the overall flexible plastic packaging market from 2025 to 2036. The U.S. grows at 5.5% in value and 4.2% in volume, from a mature and highly penetrated base where tonnage comes from e-commerce, food delivery, protein and ready-meal packaging and pharma and medical demand. Value outpaces volume because the average price rises from US$3,482 to US$3,959 per MT on high-barrier mix, recycled-content requirements and state EPR costs.</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32,783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17,521 US$ Mn (53% share), ahead of 'Premade Pouches &amp; Bags' (9,326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10,108 US$ Mn (31% share), ahead of 'PP-Based' (6,742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9,540 US$ Mn (29% share), ahead of 'Laminated Films' (8,303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10,843 US$ Mn (33% share), ahead of 'High-Barrier Films' (10,525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27,431 US$ Mn (84% share), ahead of 'Non-Food Packaging' (5,352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10,843 US$ Mn (33% share), ahead of 'High-Barrier Films' (10,525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Segment Overview (Volume &amp; Value)</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Principal Material / Barrier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Material Structure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Barrier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Application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Barrier Level Vs Application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42,073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52,927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Principal Material / Barrier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42,073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52,927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Principal Material / Barrier Technology,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Principal Material / Barrier Technology,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Material Structure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42,073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52,927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Barrier Level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42,073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52,927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Application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42,073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52,927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Barrier Level Vs Application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27,238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31,424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37,778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42,073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49,979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52,927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Canada</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Canada market in volume: size, growth, YoY momentum and gap to the North America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864.6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1,508</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+100 BPS</a:t>
            </a:r>
          </a:p>
          <a:p>
            <a:pPr algn="ctr"/>
            <a:r>
              <a:rPr sz="1100" b="0">
                <a:solidFill>
                  <a:srgbClr val="6C7A89"/>
                </a:solidFill>
                <a:latin typeface="Calibri"/>
              </a:rPr>
              <a:t>vs North America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Canada's flexible plastic packaging market expands at 5.3% CAGR through 2036, outpacing the North America benchmark of 4.3% by 100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Canada holds 8.8% of the North America flexible plastic packaging market in 2026; by 2036 that share moves to 9.6%.</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604.9 Thousand MT between 2026 and 2036 the Canada market grows to 1.7×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Canada market in value: size, growth, YoY momentum and gap to the North America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3,032</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6,047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4.6%</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6.6%</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+99 BPS</a:t>
            </a:r>
          </a:p>
          <a:p>
            <a:pPr algn="ctr"/>
            <a:r>
              <a:rPr sz="1100" b="0">
                <a:solidFill>
                  <a:srgbClr val="6C7A89"/>
                </a:solidFill>
                <a:latin typeface="Calibri"/>
              </a:rPr>
              <a:t>vs North America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Canada's flexible plastic packaging market expands at 6.6% CAGR through 2036, outpacing the North America benchmark of 5.6% by 99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Canada holds 8.9% of the North America flexible plastic packaging market in 2026; by 2036 that share moves to 9.7%.</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Canada is expected to account for US$ 6,047 Mn by 2036 at a CAGR of 6.6% over the forecast period. Canada is expected to create an incremental opportunity of US$ 3,015 Mn for the overall flexible plastic packaging market from 2025 to 2036. Canada grows at 6.6% in value and 5.3% in volume, ahead of the U.S., because population growth through immigration, rising packaged and ethnic food demand and expanding e-commerce lift consumption of flexible packaging. The gap between value and volume reflects average price rising from US$3,536 to US$4,010 per MT, as resin costs and a shift to barrier and recyclable films lift mix.</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Canada's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3,194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1,708 US$ Mn (53% share), ahead of 'Premade Pouches &amp; Bags' (906.2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990.2 US$ Mn (31% share), ahead of 'PP-Based' (656.3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931.8 US$ Mn (29% share), ahead of 'Laminated Films' (808.7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1,066 US$ Mn (33% share), ahead of 'High-Barrier Films' (1,025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2,683 US$ Mn (84% share), ahead of 'Non-Food Packaging' (511.3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1,066 US$ Mn (33% share), ahead of 'High-Barrier Films' (1,025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Canada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Canada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Canada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Canada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Canada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Canada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Canada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Canada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Canada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Canada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Canada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Canada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Canada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Canada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North America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Product Pricing &amp;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111919" y="3471051"/>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2491.3</a:t>
            </a:r>
          </a:p>
        </p:txBody>
      </p:sp>
      <p:sp>
        <p:nvSpPr>
          <p:cNvPr id="14" name="TextBox 13"/>
          <p:cNvSpPr txBox="1"/>
          <p:nvPr/>
        </p:nvSpPr>
        <p:spPr>
          <a:xfrm>
            <a:off x="111919" y="2561000"/>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4402.8</a:t>
            </a:r>
          </a:p>
        </p:txBody>
      </p:sp>
      <p:sp>
        <p:nvSpPr>
          <p:cNvPr id="15" name="TextBox 14"/>
          <p:cNvSpPr txBox="1"/>
          <p:nvPr/>
        </p:nvSpPr>
        <p:spPr>
          <a:xfrm>
            <a:off x="111919" y="1650949"/>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6314.3</a:t>
            </a:r>
          </a:p>
        </p:txBody>
      </p:sp>
      <p:cxnSp>
        <p:nvCxnSpPr>
          <p:cNvPr id="16" name="Connector 15"/>
          <p:cNvCxnSpPr/>
          <p:nvPr/>
        </p:nvCxnSpPr>
        <p:spPr>
          <a:xfrm>
            <a:off x="1533525" y="2861253"/>
            <a:ext cx="0" cy="236821"/>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1314450" y="2861253"/>
            <a:ext cx="438150" cy="236821"/>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2708853"/>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3912.2</a:t>
            </a:r>
          </a:p>
        </p:txBody>
      </p:sp>
      <p:sp>
        <p:nvSpPr>
          <p:cNvPr id="19" name="TextBox 18"/>
          <p:cNvSpPr txBox="1"/>
          <p:nvPr/>
        </p:nvSpPr>
        <p:spPr>
          <a:xfrm>
            <a:off x="6572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Rollstock Films</a:t>
            </a:r>
          </a:p>
        </p:txBody>
      </p:sp>
      <p:cxnSp>
        <p:nvCxnSpPr>
          <p:cNvPr id="20" name="Connector 19"/>
          <p:cNvCxnSpPr/>
          <p:nvPr/>
        </p:nvCxnSpPr>
        <p:spPr>
          <a:xfrm>
            <a:off x="3286125" y="1927636"/>
            <a:ext cx="0" cy="464864"/>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3067050" y="1927636"/>
            <a:ext cx="438150" cy="464864"/>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409825" y="177523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5873.2</a:t>
            </a:r>
          </a:p>
        </p:txBody>
      </p:sp>
      <p:sp>
        <p:nvSpPr>
          <p:cNvPr id="23" name="TextBox 22"/>
          <p:cNvSpPr txBox="1"/>
          <p:nvPr/>
        </p:nvSpPr>
        <p:spPr>
          <a:xfrm>
            <a:off x="24098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Barrier Casings</a:t>
            </a:r>
          </a:p>
        </p:txBody>
      </p:sp>
      <p:cxnSp>
        <p:nvCxnSpPr>
          <p:cNvPr id="24" name="Connector 23"/>
          <p:cNvCxnSpPr/>
          <p:nvPr/>
        </p:nvCxnSpPr>
        <p:spPr>
          <a:xfrm>
            <a:off x="5038725" y="2959537"/>
            <a:ext cx="0" cy="271302"/>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4819650" y="2959537"/>
            <a:ext cx="438150" cy="271302"/>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4162425" y="2807137"/>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3705.7</a:t>
            </a:r>
          </a:p>
        </p:txBody>
      </p:sp>
      <p:sp>
        <p:nvSpPr>
          <p:cNvPr id="27" name="TextBox 26"/>
          <p:cNvSpPr txBox="1"/>
          <p:nvPr/>
        </p:nvSpPr>
        <p:spPr>
          <a:xfrm>
            <a:off x="41624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Premade Pouches &amp; Bags</a:t>
            </a:r>
          </a:p>
        </p:txBody>
      </p:sp>
      <p:cxnSp>
        <p:nvCxnSpPr>
          <p:cNvPr id="28" name="Connector 27"/>
          <p:cNvCxnSpPr/>
          <p:nvPr/>
        </p:nvCxnSpPr>
        <p:spPr>
          <a:xfrm>
            <a:off x="6791325" y="3061671"/>
            <a:ext cx="0" cy="266043"/>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6572250" y="3061671"/>
            <a:ext cx="438150" cy="266044"/>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5915025" y="2909271"/>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3491.2</a:t>
            </a:r>
          </a:p>
        </p:txBody>
      </p:sp>
      <p:sp>
        <p:nvSpPr>
          <p:cNvPr id="31" name="TextBox 30"/>
          <p:cNvSpPr txBox="1"/>
          <p:nvPr/>
        </p:nvSpPr>
        <p:spPr>
          <a:xfrm>
            <a:off x="59150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Sachets &amp; Stick Packs</a:t>
            </a:r>
          </a:p>
        </p:txBody>
      </p:sp>
      <p:sp>
        <p:nvSpPr>
          <p:cNvPr id="32" name="Rounded Rectangle 31"/>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a:t>
            </a:r>
          </a:p>
        </p:txBody>
      </p:sp>
      <p:cxnSp>
        <p:nvCxnSpPr>
          <p:cNvPr id="34" name="Connector 33"/>
          <p:cNvCxnSpPr/>
          <p:nvPr/>
        </p:nvCxnSpPr>
        <p:spPr>
          <a:xfrm>
            <a:off x="619125" y="452954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619125" y="491609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619125" y="530263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619125" y="568918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619125" y="607573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619125" y="4529543"/>
            <a:ext cx="0" cy="15461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590550" y="45295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590550" y="491609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590550" y="53026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590550" y="568918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590550" y="607573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45" name="FMI Scale tick"/>
          <p:cNvSpPr txBox="1"/>
          <p:nvPr/>
        </p:nvSpPr>
        <p:spPr>
          <a:xfrm>
            <a:off x="219075" y="4462868"/>
            <a:ext cx="361950" cy="133350"/>
          </a:xfrm>
          <a:prstGeom prst="rect">
            <a:avLst/>
          </a:prstGeom>
          <a:noFill/>
        </p:spPr>
        <p:txBody>
          <a:bodyPr wrap="none" lIns="0" rIns="0" tIns="0" bIns="0" anchor="ctr">
            <a:spAutoFit/>
          </a:bodyPr>
          <a:lstStyle/>
          <a:p>
            <a:pPr algn="r"/>
            <a:r>
              <a:rPr sz="1100" b="0">
                <a:solidFill>
                  <a:srgbClr val="6C7A89"/>
                </a:solidFill>
                <a:latin typeface="Calibri"/>
              </a:rPr>
              <a:t>+16%</a:t>
            </a:r>
          </a:p>
        </p:txBody>
      </p:sp>
      <p:sp>
        <p:nvSpPr>
          <p:cNvPr id="46" name="FMI Scale tick"/>
          <p:cNvSpPr txBox="1"/>
          <p:nvPr/>
        </p:nvSpPr>
        <p:spPr>
          <a:xfrm>
            <a:off x="219075" y="4849415"/>
            <a:ext cx="361950" cy="133350"/>
          </a:xfrm>
          <a:prstGeom prst="rect">
            <a:avLst/>
          </a:prstGeom>
          <a:noFill/>
        </p:spPr>
        <p:txBody>
          <a:bodyPr wrap="none" lIns="0" rIns="0" tIns="0" bIns="0" anchor="ctr">
            <a:spAutoFit/>
          </a:bodyPr>
          <a:lstStyle/>
          <a:p>
            <a:pPr algn="r"/>
            <a:r>
              <a:rPr sz="1100" b="0">
                <a:solidFill>
                  <a:srgbClr val="6C7A89"/>
                </a:solidFill>
                <a:latin typeface="Calibri"/>
              </a:rPr>
              <a:t>+8%</a:t>
            </a:r>
          </a:p>
        </p:txBody>
      </p:sp>
      <p:sp>
        <p:nvSpPr>
          <p:cNvPr id="47" name="FMI Scale tick"/>
          <p:cNvSpPr txBox="1"/>
          <p:nvPr/>
        </p:nvSpPr>
        <p:spPr>
          <a:xfrm>
            <a:off x="219075" y="523596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tick"/>
          <p:cNvSpPr txBox="1"/>
          <p:nvPr/>
        </p:nvSpPr>
        <p:spPr>
          <a:xfrm>
            <a:off x="219075" y="5622511"/>
            <a:ext cx="361950" cy="133350"/>
          </a:xfrm>
          <a:prstGeom prst="rect">
            <a:avLst/>
          </a:prstGeom>
          <a:noFill/>
        </p:spPr>
        <p:txBody>
          <a:bodyPr wrap="none" lIns="0" rIns="0" tIns="0" bIns="0" anchor="ctr">
            <a:spAutoFit/>
          </a:bodyPr>
          <a:lstStyle/>
          <a:p>
            <a:pPr algn="r"/>
            <a:r>
              <a:rPr sz="1100" b="0">
                <a:solidFill>
                  <a:srgbClr val="6C7A89"/>
                </a:solidFill>
                <a:latin typeface="Calibri"/>
              </a:rPr>
              <a:t>-8%</a:t>
            </a:r>
          </a:p>
        </p:txBody>
      </p:sp>
      <p:sp>
        <p:nvSpPr>
          <p:cNvPr id="49" name="FMI Scale tick"/>
          <p:cNvSpPr txBox="1"/>
          <p:nvPr/>
        </p:nvSpPr>
        <p:spPr>
          <a:xfrm>
            <a:off x="219075" y="6009058"/>
            <a:ext cx="361950" cy="133350"/>
          </a:xfrm>
          <a:prstGeom prst="rect">
            <a:avLst/>
          </a:prstGeom>
          <a:noFill/>
        </p:spPr>
        <p:txBody>
          <a:bodyPr wrap="none" lIns="0" rIns="0" tIns="0" bIns="0" anchor="ctr">
            <a:spAutoFit/>
          </a:bodyPr>
          <a:lstStyle/>
          <a:p>
            <a:pPr algn="r"/>
            <a:r>
              <a:rPr sz="1100" b="0">
                <a:solidFill>
                  <a:srgbClr val="6C7A89"/>
                </a:solidFill>
                <a:latin typeface="Calibri"/>
              </a:rPr>
              <a:t>-16%</a:t>
            </a:r>
          </a:p>
        </p:txBody>
      </p:sp>
      <p:cxnSp>
        <p:nvCxnSpPr>
          <p:cNvPr id="50" name="Connector 49"/>
          <p:cNvCxnSpPr/>
          <p:nvPr/>
        </p:nvCxnSpPr>
        <p:spPr>
          <a:xfrm>
            <a:off x="619125" y="530263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2152650" y="4627936"/>
            <a:ext cx="457200" cy="67470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MI Data Label"/>
          <p:cNvSpPr txBox="1"/>
          <p:nvPr/>
        </p:nvSpPr>
        <p:spPr>
          <a:xfrm>
            <a:off x="619125" y="4485061"/>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+13.7%</a:t>
            </a:r>
          </a:p>
        </p:txBody>
      </p:sp>
      <p:sp>
        <p:nvSpPr>
          <p:cNvPr id="53" name="Rectangle 52"/>
          <p:cNvSpPr/>
          <p:nvPr/>
        </p:nvSpPr>
        <p:spPr>
          <a:xfrm>
            <a:off x="5676900" y="4642856"/>
            <a:ext cx="457200" cy="65978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MI Data Label"/>
          <p:cNvSpPr txBox="1"/>
          <p:nvPr/>
        </p:nvSpPr>
        <p:spPr>
          <a:xfrm>
            <a:off x="4143375" y="4499981"/>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+13.4%</a:t>
            </a:r>
          </a:p>
        </p:txBody>
      </p:sp>
      <p:sp>
        <p:nvSpPr>
          <p:cNvPr id="55" name="TextBox 54"/>
          <p:cNvSpPr txBox="1"/>
          <p:nvPr/>
        </p:nvSpPr>
        <p:spPr>
          <a:xfrm>
            <a:off x="61912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U.S.</a:t>
            </a:r>
          </a:p>
        </p:txBody>
      </p:sp>
      <p:sp>
        <p:nvSpPr>
          <p:cNvPr id="56" name="TextBox 55"/>
          <p:cNvSpPr txBox="1"/>
          <p:nvPr/>
        </p:nvSpPr>
        <p:spPr>
          <a:xfrm>
            <a:off x="414337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Canada</a:t>
            </a:r>
          </a:p>
        </p:txBody>
      </p:sp>
      <p:sp>
        <p:nvSpPr>
          <p:cNvPr id="57" name="Rounded Rectangle 56"/>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9" name="Rectangle 58"/>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chart shows North America average pricing of key product type types in USD, harmonised across regions. Each candlestick spans the minimum-to-maximum observed price within the base year, giving a clear read of price range and market dispersion.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Wider bodies mark a larger gap between opening and closing price levels 'Barrier Casings' shows the most movement (+19.9%) and 'Rollstock Films' the least (+14.6%) variability stakeholders should monitor when planning procurement or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lower chart indexes country-level price movement to the base year, applied consistently across the horizon to strip out year-on-year inflationary volatility and reveal structural price shifts.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Country price indices diverge by up to 13.7% between 2026 and 2036: higher-priced countries start higher and grow steadily, while lower-priced countries start lower and converge, reflecting catch-up growth.</a:t>
            </a:r>
          </a:p>
        </p:txBody>
      </p:sp>
      <p:sp>
        <p:nvSpPr>
          <p:cNvPr id="61" name="TextBox 6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Pricing Assessment: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(US$/MT) by product type,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Barrier Casings command the highest 2026 price point at US$ 5,038/MT, a 67.3% premium over Sachets &amp; Stick Packs.</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Product Type, 2021 to 2036 (US$/MT)</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Index vs North America Average (= 100)</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88"/>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307848">
                <a:tc>
                  <a:txBody>
                    <a:bodyPr wrap="square"/>
                    <a:lstStyle/>
                    <a:p>
                      <a:pPr algn="l"/>
                      <a:r>
                        <a:rPr sz="850" b="1">
                          <a:solidFill>
                            <a:srgbClr val="FFFFFF"/>
                          </a:solidFill>
                          <a:latin typeface="Calibri"/>
                        </a:rPr>
                        <a:t>Product Type</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307848">
                <a:tc>
                  <a:txBody>
                    <a:bodyPr wrap="square"/>
                    <a:lstStyle/>
                    <a:p>
                      <a:pPr algn="l"/>
                      <a:r>
                        <a:rPr sz="850" b="1">
                          <a:solidFill>
                            <a:srgbClr val="1F1F1F"/>
                          </a:solidFill>
                          <a:latin typeface="Calibri"/>
                        </a:rPr>
                        <a:t>Barrier Casings</a:t>
                      </a:r>
                    </a:p>
                  </a:txBody>
                  <a:tcPr marL="36576" marR="36576" marT="9144" marB="9144" anchor="ctr">
                    <a:solidFill>
                      <a:srgbClr val="FFFFFF"/>
                    </a:solidFill>
                  </a:tcPr>
                </a:tc>
                <a:tc>
                  <a:txBody>
                    <a:bodyPr wrap="square"/>
                    <a:lstStyle/>
                    <a:p>
                      <a:pPr algn="ctr"/>
                      <a:r>
                        <a:rPr sz="850" b="0">
                          <a:solidFill>
                            <a:srgbClr val="1F1F1F"/>
                          </a:solidFill>
                          <a:latin typeface="Calibri"/>
                        </a:rPr>
                        <a:t>4,897</a:t>
                      </a:r>
                    </a:p>
                  </a:txBody>
                  <a:tcPr marL="36576" marR="36576" marT="9144" marB="9144" anchor="ctr">
                    <a:solidFill>
                      <a:srgbClr val="FFFFFF"/>
                    </a:solidFill>
                  </a:tcPr>
                </a:tc>
                <a:tc>
                  <a:txBody>
                    <a:bodyPr wrap="square"/>
                    <a:lstStyle/>
                    <a:p>
                      <a:pPr algn="ctr"/>
                      <a:r>
                        <a:rPr sz="850" b="0">
                          <a:solidFill>
                            <a:srgbClr val="1F1F1F"/>
                          </a:solidFill>
                          <a:latin typeface="Calibri"/>
                        </a:rPr>
                        <a:t>5,038</a:t>
                      </a:r>
                    </a:p>
                  </a:txBody>
                  <a:tcPr marL="36576" marR="36576" marT="9144" marB="9144" anchor="ctr">
                    <a:solidFill>
                      <a:srgbClr val="FFFFFF"/>
                    </a:solidFill>
                  </a:tcPr>
                </a:tc>
                <a:tc>
                  <a:txBody>
                    <a:bodyPr wrap="square"/>
                    <a:lstStyle/>
                    <a:p>
                      <a:pPr algn="ctr"/>
                      <a:r>
                        <a:rPr sz="850" b="0">
                          <a:solidFill>
                            <a:srgbClr val="1F1F1F"/>
                          </a:solidFill>
                          <a:latin typeface="Calibri"/>
                        </a:rPr>
                        <a:t>5,873</a:t>
                      </a:r>
                    </a:p>
                  </a:txBody>
                  <a:tcPr marL="36576" marR="36576" marT="9144" marB="9144" anchor="ctr">
                    <a:solidFill>
                      <a:srgbClr val="FFFFFF"/>
                    </a:solidFill>
                  </a:tcPr>
                </a:tc>
                <a:tc>
                  <a:txBody>
                    <a:bodyPr wrap="square"/>
                    <a:lstStyle/>
                    <a:p>
                      <a:pPr algn="ctr"/>
                      <a:r>
                        <a:rPr sz="850" b="0">
                          <a:solidFill>
                            <a:srgbClr val="1F1F1F"/>
                          </a:solidFill>
                          <a:latin typeface="Calibri"/>
                        </a:rPr>
                        <a:t>1.54%</a:t>
                      </a:r>
                    </a:p>
                  </a:txBody>
                  <a:tcPr marL="36576" marR="36576" marT="9144" marB="9144" anchor="ctr">
                    <a:solidFill>
                      <a:srgbClr val="FFFFFF"/>
                    </a:solidFill>
                  </a:tcPr>
                </a:tc>
                <a:tc>
                  <a:txBody>
                    <a:bodyPr wrap="square"/>
                    <a:lstStyle/>
                    <a:p>
                      <a:pPr algn="ctr"/>
                      <a:r>
                        <a:rPr sz="850" b="0">
                          <a:solidFill>
                            <a:srgbClr val="1F1F1F"/>
                          </a:solidFill>
                          <a:latin typeface="Calibri"/>
                        </a:rPr>
                        <a:t>144.5</a:t>
                      </a:r>
                    </a:p>
                  </a:txBody>
                  <a:tcPr marL="36576" marR="36576" marT="9144" marB="9144" anchor="ctr">
                    <a:solidFill>
                      <a:srgbClr val="F4B183"/>
                    </a:solidFill>
                  </a:tcPr>
                </a:tc>
              </a:tr>
              <a:tr h="307848">
                <a:tc>
                  <a:txBody>
                    <a:bodyPr wrap="square"/>
                    <a:lstStyle/>
                    <a:p>
                      <a:pPr algn="l"/>
                      <a:r>
                        <a:rPr sz="850" b="1">
                          <a:solidFill>
                            <a:srgbClr val="1F1F1F"/>
                          </a:solidFill>
                          <a:latin typeface="Calibri"/>
                        </a:rPr>
                        <a:t>Rollstock Films</a:t>
                      </a:r>
                    </a:p>
                  </a:txBody>
                  <a:tcPr marL="36576" marR="36576" marT="9144" marB="9144" anchor="ctr">
                    <a:solidFill>
                      <a:srgbClr val="F3F6F9"/>
                    </a:solidFill>
                  </a:tcPr>
                </a:tc>
                <a:tc>
                  <a:txBody>
                    <a:bodyPr wrap="square"/>
                    <a:lstStyle/>
                    <a:p>
                      <a:pPr algn="ctr"/>
                      <a:r>
                        <a:rPr sz="850" b="0">
                          <a:solidFill>
                            <a:srgbClr val="1F1F1F"/>
                          </a:solidFill>
                          <a:latin typeface="Calibri"/>
                        </a:rPr>
                        <a:t>3,415</a:t>
                      </a:r>
                    </a:p>
                  </a:txBody>
                  <a:tcPr marL="36576" marR="36576" marT="9144" marB="9144" anchor="ctr">
                    <a:solidFill>
                      <a:srgbClr val="F3F6F9"/>
                    </a:solidFill>
                  </a:tcPr>
                </a:tc>
                <a:tc>
                  <a:txBody>
                    <a:bodyPr wrap="square"/>
                    <a:lstStyle/>
                    <a:p>
                      <a:pPr algn="ctr"/>
                      <a:r>
                        <a:rPr sz="850" b="0">
                          <a:solidFill>
                            <a:srgbClr val="1F1F1F"/>
                          </a:solidFill>
                          <a:latin typeface="Calibri"/>
                        </a:rPr>
                        <a:t>3,494</a:t>
                      </a:r>
                    </a:p>
                  </a:txBody>
                  <a:tcPr marL="36576" marR="36576" marT="9144" marB="9144" anchor="ctr">
                    <a:solidFill>
                      <a:srgbClr val="F3F6F9"/>
                    </a:solidFill>
                  </a:tcPr>
                </a:tc>
                <a:tc>
                  <a:txBody>
                    <a:bodyPr wrap="square"/>
                    <a:lstStyle/>
                    <a:p>
                      <a:pPr algn="ctr"/>
                      <a:r>
                        <a:rPr sz="850" b="0">
                          <a:solidFill>
                            <a:srgbClr val="1F1F1F"/>
                          </a:solidFill>
                          <a:latin typeface="Calibri"/>
                        </a:rPr>
                        <a:t>3,912</a:t>
                      </a:r>
                    </a:p>
                  </a:txBody>
                  <a:tcPr marL="36576" marR="36576" marT="9144" marB="9144" anchor="ctr">
                    <a:solidFill>
                      <a:srgbClr val="F3F6F9"/>
                    </a:solidFill>
                  </a:tcPr>
                </a:tc>
                <a:tc>
                  <a:txBody>
                    <a:bodyPr wrap="square"/>
                    <a:lstStyle/>
                    <a:p>
                      <a:pPr algn="ctr"/>
                      <a:r>
                        <a:rPr sz="850" b="0">
                          <a:solidFill>
                            <a:srgbClr val="1F1F1F"/>
                          </a:solidFill>
                          <a:latin typeface="Calibri"/>
                        </a:rPr>
                        <a:t>1.14%</a:t>
                      </a:r>
                    </a:p>
                  </a:txBody>
                  <a:tcPr marL="36576" marR="36576" marT="9144" marB="9144" anchor="ctr">
                    <a:solidFill>
                      <a:srgbClr val="F3F6F9"/>
                    </a:solidFill>
                  </a:tcPr>
                </a:tc>
                <a:tc>
                  <a:txBody>
                    <a:bodyPr wrap="square"/>
                    <a:lstStyle/>
                    <a:p>
                      <a:pPr algn="ctr"/>
                      <a:r>
                        <a:rPr sz="850" b="0">
                          <a:solidFill>
                            <a:srgbClr val="1F1F1F"/>
                          </a:solidFill>
                          <a:latin typeface="Calibri"/>
                        </a:rPr>
                        <a:t>100.2</a:t>
                      </a:r>
                    </a:p>
                  </a:txBody>
                  <a:tcPr marL="36576" marR="36576" marT="9144" marB="9144" anchor="ctr">
                    <a:solidFill>
                      <a:srgbClr val="F7F7F7"/>
                    </a:solidFill>
                  </a:tcPr>
                </a:tc>
              </a:tr>
              <a:tr h="307848">
                <a:tc>
                  <a:txBody>
                    <a:bodyPr wrap="square"/>
                    <a:lstStyle/>
                    <a:p>
                      <a:pPr algn="l"/>
                      <a:r>
                        <a:rPr sz="850" b="1">
                          <a:solidFill>
                            <a:srgbClr val="1F1F1F"/>
                          </a:solidFill>
                          <a:latin typeface="Calibri"/>
                        </a:rPr>
                        <a:t>Premade Pouches &amp; Bags</a:t>
                      </a:r>
                    </a:p>
                  </a:txBody>
                  <a:tcPr marL="36576" marR="36576" marT="9144" marB="9144" anchor="ctr">
                    <a:solidFill>
                      <a:srgbClr val="FFFFFF"/>
                    </a:solidFill>
                  </a:tcPr>
                </a:tc>
                <a:tc>
                  <a:txBody>
                    <a:bodyPr wrap="square"/>
                    <a:lstStyle/>
                    <a:p>
                      <a:pPr algn="ctr"/>
                      <a:r>
                        <a:rPr sz="850" b="0">
                          <a:solidFill>
                            <a:srgbClr val="1F1F1F"/>
                          </a:solidFill>
                          <a:latin typeface="Calibri"/>
                        </a:rPr>
                        <a:t>3,136</a:t>
                      </a:r>
                    </a:p>
                  </a:txBody>
                  <a:tcPr marL="36576" marR="36576" marT="9144" marB="9144" anchor="ctr">
                    <a:solidFill>
                      <a:srgbClr val="FFFFFF"/>
                    </a:solidFill>
                  </a:tcPr>
                </a:tc>
                <a:tc>
                  <a:txBody>
                    <a:bodyPr wrap="square"/>
                    <a:lstStyle/>
                    <a:p>
                      <a:pPr algn="ctr"/>
                      <a:r>
                        <a:rPr sz="850" b="0">
                          <a:solidFill>
                            <a:srgbClr val="1F1F1F"/>
                          </a:solidFill>
                          <a:latin typeface="Calibri"/>
                        </a:rPr>
                        <a:t>3,214</a:t>
                      </a:r>
                    </a:p>
                  </a:txBody>
                  <a:tcPr marL="36576" marR="36576" marT="9144" marB="9144" anchor="ctr">
                    <a:solidFill>
                      <a:srgbClr val="FFFFFF"/>
                    </a:solidFill>
                  </a:tcPr>
                </a:tc>
                <a:tc>
                  <a:txBody>
                    <a:bodyPr wrap="square"/>
                    <a:lstStyle/>
                    <a:p>
                      <a:pPr algn="ctr"/>
                      <a:r>
                        <a:rPr sz="850" b="0">
                          <a:solidFill>
                            <a:srgbClr val="1F1F1F"/>
                          </a:solidFill>
                          <a:latin typeface="Calibri"/>
                        </a:rPr>
                        <a:t>3,706</a:t>
                      </a:r>
                    </a:p>
                  </a:txBody>
                  <a:tcPr marL="36576" marR="36576" marT="9144" marB="9144" anchor="ctr">
                    <a:solidFill>
                      <a:srgbClr val="FFFFFF"/>
                    </a:solidFill>
                  </a:tcPr>
                </a:tc>
                <a:tc>
                  <a:txBody>
                    <a:bodyPr wrap="square"/>
                    <a:lstStyle/>
                    <a:p>
                      <a:pPr algn="ctr"/>
                      <a:r>
                        <a:rPr sz="850" b="0">
                          <a:solidFill>
                            <a:srgbClr val="1F1F1F"/>
                          </a:solidFill>
                          <a:latin typeface="Calibri"/>
                        </a:rPr>
                        <a:t>1.43%</a:t>
                      </a:r>
                    </a:p>
                  </a:txBody>
                  <a:tcPr marL="36576" marR="36576" marT="9144" marB="9144" anchor="ctr">
                    <a:solidFill>
                      <a:srgbClr val="FFFFFF"/>
                    </a:solidFill>
                  </a:tcPr>
                </a:tc>
                <a:tc>
                  <a:txBody>
                    <a:bodyPr wrap="square"/>
                    <a:lstStyle/>
                    <a:p>
                      <a:pPr algn="ctr"/>
                      <a:r>
                        <a:rPr sz="850" b="0">
                          <a:solidFill>
                            <a:srgbClr val="1F1F1F"/>
                          </a:solidFill>
                          <a:latin typeface="Calibri"/>
                        </a:rPr>
                        <a:t>92.2</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Sachets &amp; Stick Packs</a:t>
                      </a:r>
                    </a:p>
                  </a:txBody>
                  <a:tcPr marL="36576" marR="36576" marT="9144" marB="9144" anchor="ctr">
                    <a:solidFill>
                      <a:srgbClr val="F3F6F9"/>
                    </a:solidFill>
                  </a:tcPr>
                </a:tc>
                <a:tc>
                  <a:txBody>
                    <a:bodyPr wrap="square"/>
                    <a:lstStyle/>
                    <a:p>
                      <a:pPr algn="ctr"/>
                      <a:r>
                        <a:rPr sz="850" b="0">
                          <a:solidFill>
                            <a:srgbClr val="1F1F1F"/>
                          </a:solidFill>
                          <a:latin typeface="Calibri"/>
                        </a:rPr>
                        <a:t>2,932</a:t>
                      </a:r>
                    </a:p>
                  </a:txBody>
                  <a:tcPr marL="36576" marR="36576" marT="9144" marB="9144" anchor="ctr">
                    <a:solidFill>
                      <a:srgbClr val="F3F6F9"/>
                    </a:solidFill>
                  </a:tcPr>
                </a:tc>
                <a:tc>
                  <a:txBody>
                    <a:bodyPr wrap="square"/>
                    <a:lstStyle/>
                    <a:p>
                      <a:pPr algn="ctr"/>
                      <a:r>
                        <a:rPr sz="850" b="0">
                          <a:solidFill>
                            <a:srgbClr val="1F1F1F"/>
                          </a:solidFill>
                          <a:latin typeface="Calibri"/>
                        </a:rPr>
                        <a:t>3,011</a:t>
                      </a:r>
                    </a:p>
                  </a:txBody>
                  <a:tcPr marL="36576" marR="36576" marT="9144" marB="9144" anchor="ctr">
                    <a:solidFill>
                      <a:srgbClr val="F3F6F9"/>
                    </a:solidFill>
                  </a:tcPr>
                </a:tc>
                <a:tc>
                  <a:txBody>
                    <a:bodyPr wrap="square"/>
                    <a:lstStyle/>
                    <a:p>
                      <a:pPr algn="ctr"/>
                      <a:r>
                        <a:rPr sz="850" b="0">
                          <a:solidFill>
                            <a:srgbClr val="1F1F1F"/>
                          </a:solidFill>
                          <a:latin typeface="Calibri"/>
                        </a:rPr>
                        <a:t>3,491</a:t>
                      </a:r>
                    </a:p>
                  </a:txBody>
                  <a:tcPr marL="36576" marR="36576" marT="9144" marB="9144" anchor="ctr">
                    <a:solidFill>
                      <a:srgbClr val="F3F6F9"/>
                    </a:solidFill>
                  </a:tcPr>
                </a:tc>
                <a:tc>
                  <a:txBody>
                    <a:bodyPr wrap="square"/>
                    <a:lstStyle/>
                    <a:p>
                      <a:pPr algn="ctr"/>
                      <a:r>
                        <a:rPr sz="850" b="0">
                          <a:solidFill>
                            <a:srgbClr val="1F1F1F"/>
                          </a:solidFill>
                          <a:latin typeface="Calibri"/>
                        </a:rPr>
                        <a:t>1.49%</a:t>
                      </a:r>
                    </a:p>
                  </a:txBody>
                  <a:tcPr marL="36576" marR="36576" marT="9144" marB="9144" anchor="ctr">
                    <a:solidFill>
                      <a:srgbClr val="F3F6F9"/>
                    </a:solidFill>
                  </a:tcPr>
                </a:tc>
                <a:tc>
                  <a:txBody>
                    <a:bodyPr wrap="square"/>
                    <a:lstStyle/>
                    <a:p>
                      <a:pPr algn="ctr"/>
                      <a:r>
                        <a:rPr sz="850" b="0">
                          <a:solidFill>
                            <a:srgbClr val="1F1F1F"/>
                          </a:solidFill>
                          <a:latin typeface="Calibri"/>
                        </a:rPr>
                        <a:t>86.4</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North America Average</a:t>
                      </a:r>
                    </a:p>
                  </a:txBody>
                  <a:tcPr marL="36576" marR="36576" marT="9144" marB="9144" anchor="ctr">
                    <a:solidFill>
                      <a:srgbClr val="F3F6F9"/>
                    </a:solidFill>
                  </a:tcPr>
                </a:tc>
                <a:tc>
                  <a:txBody>
                    <a:bodyPr wrap="square"/>
                    <a:lstStyle/>
                    <a:p>
                      <a:pPr algn="ctr"/>
                      <a:r>
                        <a:rPr sz="850" b="0">
                          <a:solidFill>
                            <a:srgbClr val="1F1F1F"/>
                          </a:solidFill>
                          <a:latin typeface="Calibri"/>
                        </a:rPr>
                        <a:t>3,401</a:t>
                      </a:r>
                    </a:p>
                  </a:txBody>
                  <a:tcPr marL="36576" marR="36576" marT="9144" marB="9144" anchor="ctr">
                    <a:solidFill>
                      <a:srgbClr val="F3F6F9"/>
                    </a:solidFill>
                  </a:tcPr>
                </a:tc>
                <a:tc>
                  <a:txBody>
                    <a:bodyPr wrap="square"/>
                    <a:lstStyle/>
                    <a:p>
                      <a:pPr algn="ctr"/>
                      <a:r>
                        <a:rPr sz="850" b="0">
                          <a:solidFill>
                            <a:srgbClr val="1F1F1F"/>
                          </a:solidFill>
                          <a:latin typeface="Calibri"/>
                        </a:rPr>
                        <a:t>3,486</a:t>
                      </a:r>
                    </a:p>
                  </a:txBody>
                  <a:tcPr marL="36576" marR="36576" marT="9144" marB="9144" anchor="ctr">
                    <a:solidFill>
                      <a:srgbClr val="F3F6F9"/>
                    </a:solidFill>
                  </a:tcPr>
                </a:tc>
                <a:tc>
                  <a:txBody>
                    <a:bodyPr wrap="square"/>
                    <a:lstStyle/>
                    <a:p>
                      <a:pPr algn="ctr"/>
                      <a:r>
                        <a:rPr sz="850" b="0">
                          <a:solidFill>
                            <a:srgbClr val="1F1F1F"/>
                          </a:solidFill>
                          <a:latin typeface="Calibri"/>
                        </a:rPr>
                        <a:t>3,964</a:t>
                      </a:r>
                    </a:p>
                  </a:txBody>
                  <a:tcPr marL="36576" marR="36576" marT="9144" marB="9144" anchor="ctr">
                    <a:solidFill>
                      <a:srgbClr val="F3F6F9"/>
                    </a:solidFill>
                  </a:tcPr>
                </a:tc>
                <a:tc>
                  <a:txBody>
                    <a:bodyPr wrap="square"/>
                    <a:lstStyle/>
                    <a:p>
                      <a:pPr algn="ctr"/>
                      <a:r>
                        <a:rPr sz="850" b="0">
                          <a:solidFill>
                            <a:srgbClr val="1F1F1F"/>
                          </a:solidFill>
                          <a:latin typeface="Calibri"/>
                        </a:rPr>
                        <a:t>1.29%</a:t>
                      </a:r>
                    </a:p>
                  </a:txBody>
                  <a:tcPr marL="36576" marR="36576" marT="9144" marB="9144" anchor="ctr">
                    <a:solidFill>
                      <a:srgbClr val="F3F6F9"/>
                    </a:solidFill>
                  </a:tcPr>
                </a:tc>
                <a:tc>
                  <a:txBody>
                    <a:bodyPr wrap="square"/>
                    <a:lstStyle/>
                    <a:p>
                      <a:pPr algn="ctr"/>
                      <a:r>
                        <a:rPr sz="850" b="0">
                          <a:solidFill>
                            <a:srgbClr val="1F1F1F"/>
                          </a:solidFill>
                          <a:latin typeface="Calibri"/>
                        </a:rPr>
                        <a:t>100.0</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Barrier Casings sit at the top of the 2026 price ladder at an index of 144.5, while Sachets &amp; Stick Packs trade at 86.4, which keeps the full product type spread within 67.3%.</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Barrier Casings post the fastest price growth at a 1.54% CAGR between 2026 and 2036, compared with 1.14% for Rollstock Films.</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The North America average price rises from US$ 3,486/MT in 2026 to US$ 3,964/MT in 2036, and the gap between the highest and lowest priced product type moves from 67.0% in 2021 to 68.2% in 2036.</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(MT).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country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(US$/MT).</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2,714</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3,250</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3,786</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4,323</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4,859</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5,396</a:t>
            </a:r>
          </a:p>
        </p:txBody>
      </p:sp>
      <p:sp>
        <p:nvSpPr>
          <p:cNvPr id="25" name="TextBox 24"/>
          <p:cNvSpPr txBox="1"/>
          <p:nvPr/>
        </p:nvSpPr>
        <p:spPr>
          <a:xfrm>
            <a:off x="238125" y="292731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U.S.</a:t>
            </a:r>
          </a:p>
        </p:txBody>
      </p:sp>
      <p:sp>
        <p:nvSpPr>
          <p:cNvPr id="26" name="Rectangle 25"/>
          <p:cNvSpPr/>
          <p:nvPr/>
        </p:nvSpPr>
        <p:spPr>
          <a:xfrm>
            <a:off x="2045494" y="2448389"/>
            <a:ext cx="4718445" cy="1129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3562030" y="295112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509904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Canada</a:t>
            </a:r>
          </a:p>
        </p:txBody>
      </p:sp>
      <p:sp>
        <p:nvSpPr>
          <p:cNvPr id="29" name="Rectangle 28"/>
          <p:cNvSpPr/>
          <p:nvPr/>
        </p:nvSpPr>
        <p:spPr>
          <a:xfrm>
            <a:off x="2158847" y="4620120"/>
            <a:ext cx="4768209" cy="1129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693027" y="512285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33" name="Rectangle 32"/>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35" name="Rounded Rectangle 34"/>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37" name="Rectangle 3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8048625" y="1727149"/>
            <a:ext cx="3867150" cy="343877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Barrier casings segment is expected to command the highest average price of US$ 5,873 per MT in 2036. Average selling price of flexible plastic packaging is estimated at US$ 3,457 per MT in 2025 and is projected to increase to US$ 3,964 per MT by 2036. Canada is the highest-priced country, while U.S. is the most price-competitive market.</a:t>
            </a:r>
          </a:p>
          <a:p>
            <a:pPr algn="l">
              <a:lnSpc>
                <a:spcPct val="100000"/>
              </a:lnSpc>
              <a:spcBef>
                <a:spcPts val="0"/>
              </a:spcBef>
              <a:spcAft>
                <a:spcPts val="300"/>
              </a:spcAft>
            </a:pPr>
            <a:r>
              <a:rPr sz="1100" b="0">
                <a:solidFill>
                  <a:srgbClr val="2E2E2E"/>
                </a:solidFill>
                <a:latin typeface="Calibri"/>
              </a:rPr>
              <a:t>The orange dot is each region's average selling price; the blue band is its full low-to-high price range, all derived as Value ÷ Volume. Narrow bands point to commoditised, price-led competition; wider bands flag premiumisation headroom to trade buyers up the mix.</a:t>
            </a:r>
          </a:p>
          <a:p>
            <a:pPr algn="l">
              <a:lnSpc>
                <a:spcPct val="100000"/>
              </a:lnSpc>
              <a:spcBef>
                <a:spcPts val="0"/>
              </a:spcBef>
              <a:spcAft>
                <a:spcPts val="300"/>
              </a:spcAft>
            </a:pPr>
            <a:r>
              <a:rPr sz="1100" b="0">
                <a:solidFill>
                  <a:srgbClr val="2E2E2E"/>
                </a:solidFill>
                <a:latin typeface="Calibri"/>
              </a:rPr>
              <a:t>North America has the highest average price among regions, at US$3,486 per MT in 2026 rising to US$3,964 in 2036, because converters supply a richer mix of high-barrier, resealable and e-commerce-ready formats with high labour and compliance costs. Value grows 5.6% against 4.3% in volume as recycled-content rules and resin costs keep pushing price up.</a:t>
            </a:r>
          </a:p>
        </p:txBody>
      </p:sp>
      <p:sp>
        <p:nvSpPr>
          <p:cNvPr id="39" name="Rounded Rectangle 38"/>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Flexible Plastic Packaging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702945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6838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295650"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943225"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581275"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219325"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1866900"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flipV="1">
            <a:off x="3657600"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657600"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657600"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657600"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657600"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657600"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48814"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863547"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863547"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48814"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95550"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624262"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400412"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790397"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969802"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4566730"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624262"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958991"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637533"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2458128"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125309"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686175"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1" name="TextBox 40"/>
          <p:cNvSpPr txBox="1"/>
          <p:nvPr/>
        </p:nvSpPr>
        <p:spPr>
          <a:xfrm>
            <a:off x="3686175"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2" name="TextBox 41"/>
          <p:cNvSpPr txBox="1"/>
          <p:nvPr/>
        </p:nvSpPr>
        <p:spPr>
          <a:xfrm>
            <a:off x="3686175"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3" name="TextBox 42"/>
          <p:cNvSpPr txBox="1"/>
          <p:nvPr/>
        </p:nvSpPr>
        <p:spPr>
          <a:xfrm>
            <a:off x="3686175"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4" name="TextBox 43"/>
          <p:cNvSpPr txBox="1"/>
          <p:nvPr/>
        </p:nvSpPr>
        <p:spPr>
          <a:xfrm>
            <a:off x="3686175"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5" name="TextBox 44"/>
          <p:cNvSpPr txBox="1"/>
          <p:nvPr/>
        </p:nvSpPr>
        <p:spPr>
          <a:xfrm>
            <a:off x="3000375"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Input Cost  13.0%</a:t>
            </a:r>
          </a:p>
        </p:txBody>
      </p:sp>
      <p:sp>
        <p:nvSpPr>
          <p:cNvPr id="46" name="TextBox 45"/>
          <p:cNvSpPr txBox="1"/>
          <p:nvPr/>
        </p:nvSpPr>
        <p:spPr>
          <a:xfrm>
            <a:off x="4232331"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Labor &amp; Production Costs  10.1%</a:t>
            </a:r>
          </a:p>
        </p:txBody>
      </p:sp>
      <p:sp>
        <p:nvSpPr>
          <p:cNvPr id="47" name="TextBox 46"/>
          <p:cNvSpPr txBox="1"/>
          <p:nvPr/>
        </p:nvSpPr>
        <p:spPr>
          <a:xfrm>
            <a:off x="4993722"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Technology &amp; Innovation  9.4%</a:t>
            </a:r>
          </a:p>
        </p:txBody>
      </p:sp>
      <p:sp>
        <p:nvSpPr>
          <p:cNvPr id="48" name="TextBox 47"/>
          <p:cNvSpPr txBox="1"/>
          <p:nvPr/>
        </p:nvSpPr>
        <p:spPr>
          <a:xfrm>
            <a:off x="4993722"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Supply Chain &amp; Logistics  10.9%</a:t>
            </a:r>
          </a:p>
        </p:txBody>
      </p:sp>
      <p:sp>
        <p:nvSpPr>
          <p:cNvPr id="49" name="TextBox 48"/>
          <p:cNvSpPr txBox="1"/>
          <p:nvPr/>
        </p:nvSpPr>
        <p:spPr>
          <a:xfrm>
            <a:off x="4232331"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Demand &amp; Market Conditions  12.3%</a:t>
            </a:r>
          </a:p>
        </p:txBody>
      </p:sp>
      <p:sp>
        <p:nvSpPr>
          <p:cNvPr id="50" name="TextBox 49"/>
          <p:cNvSpPr txBox="1"/>
          <p:nvPr/>
        </p:nvSpPr>
        <p:spPr>
          <a:xfrm>
            <a:off x="3000375"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Competitive Landscape  11.6%</a:t>
            </a:r>
          </a:p>
        </p:txBody>
      </p:sp>
      <p:sp>
        <p:nvSpPr>
          <p:cNvPr id="51" name="TextBox 50"/>
          <p:cNvSpPr txBox="1"/>
          <p:nvPr/>
        </p:nvSpPr>
        <p:spPr>
          <a:xfrm>
            <a:off x="1768419"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Regulatory &amp; Compliance Costs  8.7%</a:t>
            </a:r>
          </a:p>
        </p:txBody>
      </p:sp>
      <p:sp>
        <p:nvSpPr>
          <p:cNvPr id="52" name="TextBox 51"/>
          <p:cNvSpPr txBox="1"/>
          <p:nvPr/>
        </p:nvSpPr>
        <p:spPr>
          <a:xfrm>
            <a:off x="1007028"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Currency &amp; Trade Dynamics  8.0%</a:t>
            </a:r>
          </a:p>
        </p:txBody>
      </p:sp>
      <p:sp>
        <p:nvSpPr>
          <p:cNvPr id="53" name="TextBox 52"/>
          <p:cNvSpPr txBox="1"/>
          <p:nvPr/>
        </p:nvSpPr>
        <p:spPr>
          <a:xfrm>
            <a:off x="1007028"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Brand &amp; Value Perception  9.4%</a:t>
            </a:r>
          </a:p>
        </p:txBody>
      </p:sp>
      <p:sp>
        <p:nvSpPr>
          <p:cNvPr id="54" name="TextBox 53"/>
          <p:cNvSpPr txBox="1"/>
          <p:nvPr/>
        </p:nvSpPr>
        <p:spPr>
          <a:xfrm>
            <a:off x="1768419"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Aftermarket &amp; Service Costs  6.5%</a:t>
            </a:r>
          </a:p>
        </p:txBody>
      </p:sp>
      <p:sp>
        <p:nvSpPr>
          <p:cNvPr id="55" name="Rounded Rectangle 54"/>
          <p:cNvSpPr/>
          <p:nvPr/>
        </p:nvSpPr>
        <p:spPr>
          <a:xfrm>
            <a:off x="7248525" y="1354081"/>
            <a:ext cx="4800600" cy="3479443"/>
          </a:xfrm>
          <a:prstGeom prst="roundRect">
            <a:avLst>
              <a:gd name="adj" fmla="val 21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7381875" y="1439806"/>
            <a:ext cx="453390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7" name="Rectangle 56"/>
          <p:cNvSpPr/>
          <p:nvPr/>
        </p:nvSpPr>
        <p:spPr>
          <a:xfrm>
            <a:off x="7381875" y="1677931"/>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7381875" y="1763656"/>
            <a:ext cx="4533900" cy="2993668"/>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Flexible Plastic Packaging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Flexible Plastic Packaging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248525" y="4943046"/>
            <a:ext cx="4800600" cy="1686354"/>
          </a:xfrm>
          <a:prstGeom prst="roundRect">
            <a:avLst>
              <a:gd name="adj" fmla="val 45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7381875" y="5028771"/>
            <a:ext cx="453390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1" name="Rectangle 60"/>
          <p:cNvSpPr/>
          <p:nvPr/>
        </p:nvSpPr>
        <p:spPr>
          <a:xfrm>
            <a:off x="7381875" y="5266896"/>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381875" y="5352621"/>
            <a:ext cx="4533900" cy="1200579"/>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Input Cost 9.0 / 10  ·  dominant cost pressure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&amp; Market Conditions 8.5 / 10  ·  major cost pressure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Landscape 8.0 / 10  ·  key pricing lever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Supply Chain &amp; Logistics 7.5 / 10  ·  key pricing lever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Labor &amp; Production Costs 7.0 / 10  ·  supporting factor</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114675"/>
          </a:xfrm>
          <a:prstGeom prst="roundRect">
            <a:avLst>
              <a:gd name="adj" fmla="val 24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809875"/>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15265">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59461">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210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581525"/>
            <a:ext cx="11906250" cy="1962150"/>
          </a:xfrm>
          <a:prstGeom prst="roundRect">
            <a:avLst>
              <a:gd name="adj" fmla="val 388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66725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4905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991100"/>
            <a:ext cx="11639550" cy="14763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Input Cost and Demand &amp; Market Conditions carry the heaviest weight on selling prices (9.0 and 8.5 / 10).</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8 of 10 factors exert upward pressure on price; the rest pull prices down chiefly Technology &amp; Innovation and the Competitive Landscape.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Cost-side factors set the price floor; demand, brand and competitive forces determine how much of that cost can be passed through.</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Aftermarket &amp; Service Costs exerts the least pressure a second-order effect to monitor rather than actively manage.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Regional Price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(US$/MT)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(US$/MT)</a:t>
            </a:r>
          </a:p>
        </p:txBody>
      </p:sp>
      <p:graphicFrame>
        <p:nvGraphicFramePr>
          <p:cNvPr id="13" name="Table 12"/>
          <p:cNvGraphicFramePr>
            <a:graphicFrameLocks noGrp="1"/>
          </p:cNvGraphicFramePr>
          <p:nvPr/>
        </p:nvGraphicFramePr>
        <p:xfrm>
          <a:off x="152400" y="1574749"/>
          <a:ext cx="5886451" cy="2271329"/>
        </p:xfrm>
        <a:graphic>
          <a:graphicData uri="http://schemas.openxmlformats.org/drawingml/2006/table">
            <a:tbl>
              <a:tblPr>
                <a:tableStyleId>{5C22544A-7EE6-4342-B048-85BDC9FD1C3A}</a:tableStyleId>
              </a:tblPr>
              <a:tblGrid>
                <a:gridCol w="875075"/>
                <a:gridCol w="1252844"/>
                <a:gridCol w="1252844"/>
                <a:gridCol w="1252844"/>
                <a:gridCol w="1252844"/>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Total Margin (%)</a:t>
                      </a:r>
                      <a:endParaRPr sz="1100"/>
                    </a:p>
                  </a:txBody>
                  <a:tcPr marL="47625" marR="38100" marT="19050" marB="19050" anchor="ctr">
                    <a:solidFill>
                      <a:srgbClr val="E0E8EF"/>
                    </a:solidFill>
                  </a:tcPr>
                </a:tc>
              </a:tr>
              <a:tr h="1028032">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1028032">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855604"/>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(US$/MT)</a:t>
            </a:r>
          </a:p>
        </p:txBody>
      </p:sp>
      <p:graphicFrame>
        <p:nvGraphicFramePr>
          <p:cNvPr id="17" name="Table 16"/>
          <p:cNvGraphicFramePr>
            <a:graphicFrameLocks noGrp="1"/>
          </p:cNvGraphicFramePr>
          <p:nvPr/>
        </p:nvGraphicFramePr>
        <p:xfrm>
          <a:off x="6210300" y="1574749"/>
          <a:ext cx="5829299" cy="2271329"/>
        </p:xfrm>
        <a:graphic>
          <a:graphicData uri="http://schemas.openxmlformats.org/drawingml/2006/table">
            <a:tbl>
              <a:tblPr>
                <a:tableStyleId>{5C22544A-7EE6-4342-B048-85BDC9FD1C3A}</a:tableStyleId>
              </a:tblPr>
              <a:tblGrid>
                <a:gridCol w="1377259"/>
                <a:gridCol w="1113010"/>
                <a:gridCol w="1113010"/>
                <a:gridCol w="1113010"/>
                <a:gridCol w="1113010"/>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1028032">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3,958.64</a:t>
                      </a:r>
                      <a:endParaRPr sz="1100"/>
                    </a:p>
                  </a:txBody>
                  <a:tcPr marL="47625" marR="38100" marT="19050" marB="19050" anchor="ctr">
                    <a:solidFill>
                      <a:srgbClr val="FFFFFF"/>
                    </a:solidFill>
                  </a:tcPr>
                </a:tc>
              </a:tr>
              <a:tr h="1028032">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4,009.67</a:t>
                      </a:r>
                      <a:endParaRPr sz="1100"/>
                    </a:p>
                  </a:txBody>
                  <a:tcPr marL="47625" marR="38100" marT="19050" marB="19050" anchor="ctr">
                    <a:solidFill>
                      <a:srgbClr val="F5F8FA"/>
                    </a:solidFill>
                  </a:tcPr>
                </a:tc>
              </a:tr>
            </a:tbl>
          </a:graphicData>
        </a:graphic>
      </p:graphicFrame>
      <p:sp>
        <p:nvSpPr>
          <p:cNvPr id="18" name="TextBox 17"/>
          <p:cNvSpPr txBox="1"/>
          <p:nvPr/>
        </p:nvSpPr>
        <p:spPr>
          <a:xfrm>
            <a:off x="6276975" y="3855604"/>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North America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country and sub-segment against the weighted average price of each country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product type type and region (US$/MT).</a:t>
            </a:r>
          </a:p>
        </p:txBody>
      </p:sp>
      <p:sp>
        <p:nvSpPr>
          <p:cNvPr id="11" name="Rounded Rectangle 10"/>
          <p:cNvSpPr/>
          <p:nvPr/>
        </p:nvSpPr>
        <p:spPr>
          <a:xfrm>
            <a:off x="142875" y="1314450"/>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Product Type (US$/MT)</a:t>
            </a:r>
          </a:p>
        </p:txBody>
      </p:sp>
      <p:graphicFrame>
        <p:nvGraphicFramePr>
          <p:cNvPr id="13" name="Table 12"/>
          <p:cNvGraphicFramePr>
            <a:graphicFrameLocks noGrp="1"/>
          </p:cNvGraphicFramePr>
          <p:nvPr/>
        </p:nvGraphicFramePr>
        <p:xfrm>
          <a:off x="152400" y="1571625"/>
          <a:ext cx="11887200" cy="1866899"/>
        </p:xfrm>
        <a:graphic>
          <a:graphicData uri="http://schemas.openxmlformats.org/drawingml/2006/table">
            <a:tbl>
              <a:tblPr>
                <a:tableStyleId>{5C22544A-7EE6-4342-B048-85BDC9FD1C3A}</a:tableStyleId>
              </a:tblPr>
              <a:tblGrid>
                <a:gridCol w="752830"/>
                <a:gridCol w="2226874"/>
                <a:gridCol w="2226874"/>
                <a:gridCol w="2226874"/>
                <a:gridCol w="2226874"/>
                <a:gridCol w="2226874"/>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Rollstock Films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Barrier Casings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Premade Pouches &amp; Bags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Sachets &amp; Stick Packs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Weighted Avg</a:t>
                      </a:r>
                      <a:endParaRPr sz="1100"/>
                    </a:p>
                  </a:txBody>
                  <a:tcPr marL="47625" marR="38100" marT="19050" marB="19050" anchor="ctr">
                    <a:solidFill>
                      <a:srgbClr val="E0E8EF"/>
                    </a:solidFill>
                  </a:tcPr>
                </a:tc>
              </a:tr>
              <a:tr h="825817">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3,453.88–3,523.66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4,981.97–5,082.61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3,177.83–3,242.03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2,976.89–3,037.03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3,481.60</a:t>
                      </a:r>
                      <a:endParaRPr sz="1100"/>
                    </a:p>
                  </a:txBody>
                  <a:tcPr marL="47625" marR="38100" marT="19050" marB="19050" anchor="ctr">
                    <a:solidFill>
                      <a:srgbClr val="FFFFFF"/>
                    </a:solidFill>
                  </a:tcPr>
                </a:tc>
              </a:tr>
              <a:tr h="825817">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3,508.61–3,579.49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5,051.28–5,153.33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3,228.28–3,293.50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3,025.06–3,086.17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3,535.90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48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743200"/>
          </a:xfrm>
          <a:prstGeom prst="roundRect">
            <a:avLst>
              <a:gd name="adj" fmla="val 27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886200"/>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4124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210050"/>
            <a:ext cx="11639550" cy="2257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On a weighted-average basis 'Canada' is the highest-priced region (~3,535.90 US$/MT) and 'U.S.' the most competitive (~3,481.60 US$/MT).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Price ranges are benchmarked per product type type at 2026, derived as Value ÷ Volume with a ±1% observed trading band.</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Cross-region price dispersion of ~1.02× reflects differences in mix, logistics and channel structure.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Benchmarks support price-corridor setting and margin-defence decisions across geographies.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Price Forecast &amp; Dynamics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product type type and the structural factors shaping it (US$/MT).</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Product Type (US$/MT)</a:t>
            </a:r>
          </a:p>
        </p:txBody>
      </p:sp>
      <p:graphicFrame>
        <p:nvGraphicFramePr>
          <p:cNvPr id="13" name="Table 12"/>
          <p:cNvGraphicFramePr>
            <a:graphicFrameLocks noGrp="1"/>
          </p:cNvGraphicFramePr>
          <p:nvPr/>
        </p:nvGraphicFramePr>
        <p:xfrm>
          <a:off x="152400" y="1574749"/>
          <a:ext cx="11887200" cy="1504673"/>
        </p:xfrm>
        <a:graphic>
          <a:graphicData uri="http://schemas.openxmlformats.org/drawingml/2006/table">
            <a:tbl>
              <a:tblPr>
                <a:tableStyleId>{5C22544A-7EE6-4342-B048-85BDC9FD1C3A}</a:tableStyleId>
              </a:tblPr>
              <a:tblGrid>
                <a:gridCol w="3622896"/>
                <a:gridCol w="1377384"/>
                <a:gridCol w="1377384"/>
                <a:gridCol w="1377384"/>
                <a:gridCol w="1377384"/>
                <a:gridCol w="1377384"/>
                <a:gridCol w="1377384"/>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322352">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3,495.65</a:t>
                      </a:r>
                      <a:endParaRPr sz="1100"/>
                    </a:p>
                  </a:txBody>
                  <a:tcPr marL="47625" marR="38100" marT="19050" marB="19050" anchor="ctr">
                    <a:solidFill>
                      <a:srgbClr val="FFFFFF"/>
                    </a:solidFill>
                  </a:tcPr>
                </a:tc>
              </a:tr>
              <a:tr h="322352">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5,078.83</a:t>
                      </a:r>
                      <a:endParaRPr sz="1100"/>
                    </a:p>
                  </a:txBody>
                  <a:tcPr marL="47625" marR="38100" marT="19050" marB="19050" anchor="ctr">
                    <a:solidFill>
                      <a:srgbClr val="F5F8FA"/>
                    </a:solidFill>
                  </a:tcPr>
                </a:tc>
              </a:tr>
              <a:tr h="322352">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3,248.16</a:t>
                      </a:r>
                      <a:endParaRPr sz="1100"/>
                    </a:p>
                  </a:txBody>
                  <a:tcPr marL="47625" marR="38100" marT="19050" marB="19050" anchor="ctr">
                    <a:solidFill>
                      <a:srgbClr val="FFFFFF"/>
                    </a:solidFill>
                  </a:tcPr>
                </a:tc>
              </a:tr>
              <a:tr h="322352">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3,014.94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691165"/>
        </p:xfrm>
        <a:graphic>
          <a:graphicData uri="http://schemas.openxmlformats.org/drawingml/2006/table">
            <a:tbl>
              <a:tblPr>
                <a:tableStyleId>{5C22544A-7EE6-4342-B048-85BDC9FD1C3A}</a:tableStyleId>
              </a:tblPr>
              <a:tblGrid>
                <a:gridCol w="2867491"/>
                <a:gridCol w="1509479"/>
                <a:gridCol w="1509479"/>
              </a:tblGrid>
              <a:tr h="215265">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759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5636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Average product type price is projected to rise from ~3,280.75 to ~3,709.40 US$/MT by 2036 a +1.2%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'Premade Pouches &amp; Bags' shows the strongest forecast price appreciation (+13.8%) over the horizon.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Upward pressure is led by input cost and demand &amp; market conditions; efficiency and competitive intensity work the other way.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Net outlook: modest, structural price appreciation mix and geography will determine realised pricing.</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5–10%</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20–40%</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5–25%</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10–35%</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10–20%</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Flexible Plastic Packaging Market value chain runs from raw-material suppliers through manufacturers, distributors and retailers to end users.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'Manufacturers / Processors' captures the largest value addition (20–40%), reflecting processing and scale advantages.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Forward and backward integration is common some suppliers process, and some large end users produce their own input.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Percentages show each stage's indicative share of value added along the chain.</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Flexible Plastic Packaging Market Operating Margin by Region &amp; Node</a:t>
            </a:r>
          </a:p>
        </p:txBody>
      </p:sp>
      <p:graphicFrame>
        <p:nvGraphicFramePr>
          <p:cNvPr id="12" name="Table 11"/>
          <p:cNvGraphicFramePr>
            <a:graphicFrameLocks noGrp="1"/>
          </p:cNvGraphicFramePr>
          <p:nvPr/>
        </p:nvGraphicFramePr>
        <p:xfrm>
          <a:off x="152400" y="1238250"/>
          <a:ext cx="11887202" cy="2800353"/>
        </p:xfrm>
        <a:graphic>
          <a:graphicData uri="http://schemas.openxmlformats.org/drawingml/2006/table">
            <a:tbl>
              <a:tblPr>
                <a:tableStyleId>{5C22544A-7EE6-4342-B048-85BDC9FD1C3A}</a:tableStyleId>
              </a:tblPr>
              <a:tblGrid>
                <a:gridCol w="1208402"/>
                <a:gridCol w="2669700"/>
                <a:gridCol w="2669700"/>
                <a:gridCol w="2669700"/>
                <a:gridCol w="2669700"/>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2838450"/>
          </a:xfrm>
          <a:prstGeom prst="roundRect">
            <a:avLst>
              <a:gd name="adj" fmla="val 268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Flexible Plastic Packaging Market Buyers / End-User Assessment</a:t>
            </a:r>
          </a:p>
        </p:txBody>
      </p:sp>
      <p:graphicFrame>
        <p:nvGraphicFramePr>
          <p:cNvPr id="12" name="Table 11"/>
          <p:cNvGraphicFramePr>
            <a:graphicFrameLocks noGrp="1"/>
          </p:cNvGraphicFramePr>
          <p:nvPr/>
        </p:nvGraphicFramePr>
        <p:xfrm>
          <a:off x="152400" y="1238250"/>
          <a:ext cx="11887200" cy="2371725"/>
        </p:xfrm>
        <a:graphic>
          <a:graphicData uri="http://schemas.openxmlformats.org/drawingml/2006/table">
            <a:tbl>
              <a:tblPr>
                <a:tableStyleId>{5C22544A-7EE6-4342-B048-85BDC9FD1C3A}</a:tableStyleId>
              </a:tblPr>
              <a:tblGrid>
                <a:gridCol w="938673"/>
                <a:gridCol w="1486675"/>
                <a:gridCol w="1065550"/>
                <a:gridCol w="1130339"/>
                <a:gridCol w="1605454"/>
                <a:gridCol w="1397591"/>
                <a:gridCol w="1405647"/>
                <a:gridCol w="1351699"/>
                <a:gridCol w="1505572"/>
              </a:tblGrid>
              <a:tr h="215265">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Procurement Vol.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Avg Price (US$/MT)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Revenue (US$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47625" marR="38100" marT="19050" marB="19050" anchor="ctr">
                    <a:solidFill>
                      <a:srgbClr val="E0E8EF"/>
                    </a:solidFill>
                  </a:tcPr>
                </a:tc>
              </a:tr>
              <a:tr h="215646">
                <a:tc>
                  <a:txBody>
                    <a:bodyPr wrap="none"/>
                    <a:lstStyle/>
                    <a:p>
                      <a:pPr algn="l"/>
                      <a:r>
                        <a:rPr sz="1100" b="1">
                          <a:solidFill>
                            <a:srgbClr val="2E2E2E"/>
                          </a:solidFill>
                          <a:latin typeface="Calibri"/>
                        </a:rPr>
                        <a:t>Company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2,390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6,520,131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6,090,395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1,673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5,082,738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4,504,817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3,877,502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3,200,791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2,474,686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1,699,186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3619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952875"/>
            <a:ext cx="11906250" cy="2676525"/>
          </a:xfrm>
          <a:prstGeom prst="roundRect">
            <a:avLst>
              <a:gd name="adj" fmla="val 2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0386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4276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362450"/>
            <a:ext cx="11639550" cy="2190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Dynamics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country of the North America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180975" y="1025515"/>
            <a:ext cx="8572500" cy="219044"/>
          </a:xfrm>
          <a:prstGeom prst="rect">
            <a:avLst/>
          </a:prstGeom>
          <a:noFill/>
        </p:spPr>
        <p:txBody>
          <a:bodyPr wrap="square" lIns="28575" rIns="28575" tIns="9525" bIns="9525" anchor="ctr">
            <a:spAutoFit/>
          </a:bodyPr>
          <a:lstStyle/>
          <a:p>
            <a:pPr algn="l"/>
            <a:r>
              <a:rPr sz="1150" b="1">
                <a:solidFill>
                  <a:srgbClr val="2E2E2E"/>
                </a:solidFill>
                <a:latin typeface="Calibri"/>
              </a:rPr>
              <a:t>Demand Dynamics by Country  ·  ranked by 2036 value</a:t>
            </a:r>
          </a:p>
        </p:txBody>
      </p:sp>
      <p:sp>
        <p:nvSpPr>
          <p:cNvPr id="12" name="Rectangle 11"/>
          <p:cNvSpPr/>
          <p:nvPr/>
        </p:nvSpPr>
        <p:spPr>
          <a:xfrm>
            <a:off x="142875" y="1262813"/>
            <a:ext cx="11906250" cy="255552"/>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00025" y="1262813"/>
            <a:ext cx="1428750" cy="255552"/>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TextBox 13"/>
          <p:cNvSpPr txBox="1"/>
          <p:nvPr/>
        </p:nvSpPr>
        <p:spPr>
          <a:xfrm>
            <a:off x="1724025" y="1262813"/>
            <a:ext cx="3714750" cy="255552"/>
          </a:xfrm>
          <a:prstGeom prst="rect">
            <a:avLst/>
          </a:prstGeom>
          <a:noFill/>
        </p:spPr>
        <p:txBody>
          <a:bodyPr wrap="square" lIns="28575" rIns="28575" tIns="9525" bIns="9525" anchor="ctr">
            <a:spAutoFit/>
          </a:bodyPr>
          <a:lstStyle/>
          <a:p>
            <a:pPr algn="l"/>
            <a:r>
              <a:rPr sz="1100" b="1">
                <a:solidFill>
                  <a:srgbClr val="0B2E4A"/>
                </a:solidFill>
                <a:latin typeface="Calibri"/>
              </a:rPr>
              <a:t>Growth Drivers</a:t>
            </a:r>
          </a:p>
        </p:txBody>
      </p:sp>
      <p:sp>
        <p:nvSpPr>
          <p:cNvPr id="15" name="TextBox 14"/>
          <p:cNvSpPr txBox="1"/>
          <p:nvPr/>
        </p:nvSpPr>
        <p:spPr>
          <a:xfrm>
            <a:off x="5534025" y="1262813"/>
            <a:ext cx="2762250" cy="255552"/>
          </a:xfrm>
          <a:prstGeom prst="rect">
            <a:avLst/>
          </a:prstGeom>
          <a:noFill/>
        </p:spPr>
        <p:txBody>
          <a:bodyPr wrap="square" lIns="28575" rIns="28575" tIns="9525" bIns="9525" anchor="ctr">
            <a:spAutoFit/>
          </a:bodyPr>
          <a:lstStyle/>
          <a:p>
            <a:pPr algn="l"/>
            <a:r>
              <a:rPr sz="1100" b="1">
                <a:solidFill>
                  <a:srgbClr val="0B2E4A"/>
                </a:solidFill>
                <a:latin typeface="Calibri"/>
              </a:rPr>
              <a:t>Restraints</a:t>
            </a:r>
          </a:p>
        </p:txBody>
      </p:sp>
      <p:sp>
        <p:nvSpPr>
          <p:cNvPr id="16" name="TextBox 15"/>
          <p:cNvSpPr txBox="1"/>
          <p:nvPr/>
        </p:nvSpPr>
        <p:spPr>
          <a:xfrm>
            <a:off x="8391525" y="1262813"/>
            <a:ext cx="3619500" cy="255552"/>
          </a:xfrm>
          <a:prstGeom prst="rect">
            <a:avLst/>
          </a:prstGeom>
          <a:noFill/>
        </p:spPr>
        <p:txBody>
          <a:bodyPr wrap="square" lIns="28575" rIns="28575" tIns="9525" bIns="9525" anchor="ctr">
            <a:spAutoFit/>
          </a:bodyPr>
          <a:lstStyle/>
          <a:p>
            <a:pPr algn="l"/>
            <a:r>
              <a:rPr sz="1100" b="1">
                <a:solidFill>
                  <a:srgbClr val="0B2E4A"/>
                </a:solidFill>
                <a:latin typeface="Calibri"/>
              </a:rPr>
              <a:t>Priority Opportunities</a:t>
            </a:r>
          </a:p>
        </p:txBody>
      </p:sp>
      <p:sp>
        <p:nvSpPr>
          <p:cNvPr id="17" name="Rectangle 16"/>
          <p:cNvSpPr/>
          <p:nvPr/>
        </p:nvSpPr>
        <p:spPr>
          <a:xfrm>
            <a:off x="142875" y="1518365"/>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00025" y="151836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U.S.</a:t>
            </a:r>
          </a:p>
        </p:txBody>
      </p:sp>
      <p:sp>
        <p:nvSpPr>
          <p:cNvPr id="19" name="TextBox 18"/>
          <p:cNvSpPr txBox="1"/>
          <p:nvPr/>
        </p:nvSpPr>
        <p:spPr>
          <a:xfrm>
            <a:off x="1724025" y="1545745"/>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(90.3% share), Installed demand (5.5% CAGR), Rollstock Films demand, Accelerating vs history.</a:t>
            </a:r>
          </a:p>
        </p:txBody>
      </p:sp>
      <p:sp>
        <p:nvSpPr>
          <p:cNvPr id="20" name="TextBox 19"/>
          <p:cNvSpPr txBox="1"/>
          <p:nvPr/>
        </p:nvSpPr>
        <p:spPr>
          <a:xfrm>
            <a:off x="5534025" y="1545745"/>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10 BPS, Rising realisation (1.3%).</a:t>
            </a:r>
          </a:p>
        </p:txBody>
      </p:sp>
      <p:sp>
        <p:nvSpPr>
          <p:cNvPr id="21" name="TextBox 20"/>
          <p:cNvSpPr txBox="1"/>
          <p:nvPr/>
        </p:nvSpPr>
        <p:spPr>
          <a:xfrm>
            <a:off x="8391525" y="1545745"/>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Barrier Casings (5.7%), Mix shift to Premade Pouches &amp; Bags, 23,237 US$ Mn headroom.</a:t>
            </a:r>
          </a:p>
        </p:txBody>
      </p:sp>
      <p:sp>
        <p:nvSpPr>
          <p:cNvPr id="22" name="Rectangle 21"/>
          <p:cNvSpPr/>
          <p:nvPr/>
        </p:nvSpPr>
        <p:spPr>
          <a:xfrm>
            <a:off x="142875" y="2029468"/>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00025" y="2029468"/>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Canada</a:t>
            </a:r>
          </a:p>
        </p:txBody>
      </p:sp>
      <p:sp>
        <p:nvSpPr>
          <p:cNvPr id="24" name="TextBox 23"/>
          <p:cNvSpPr txBox="1"/>
          <p:nvPr/>
        </p:nvSpPr>
        <p:spPr>
          <a:xfrm>
            <a:off x="1724025" y="205684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(9.7% share), Above-market pace (6.6%), Rollstock Films demand, Accelerating vs history.</a:t>
            </a:r>
          </a:p>
        </p:txBody>
      </p:sp>
      <p:sp>
        <p:nvSpPr>
          <p:cNvPr id="25" name="TextBox 24"/>
          <p:cNvSpPr txBox="1"/>
          <p:nvPr/>
        </p:nvSpPr>
        <p:spPr>
          <a:xfrm>
            <a:off x="5534025" y="205684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(1.3%).</a:t>
            </a:r>
          </a:p>
        </p:txBody>
      </p:sp>
      <p:sp>
        <p:nvSpPr>
          <p:cNvPr id="26" name="TextBox 25"/>
          <p:cNvSpPr txBox="1"/>
          <p:nvPr/>
        </p:nvSpPr>
        <p:spPr>
          <a:xfrm>
            <a:off x="8391525" y="205684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(6.7%), 2,853 US$ Mn headroom.</a:t>
            </a:r>
          </a:p>
        </p:txBody>
      </p:sp>
      <p:cxnSp>
        <p:nvCxnSpPr>
          <p:cNvPr id="27" name="Connector 26"/>
          <p:cNvCxnSpPr/>
          <p:nvPr/>
        </p:nvCxnSpPr>
        <p:spPr>
          <a:xfrm>
            <a:off x="142875" y="2540572"/>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200025" y="2558825"/>
            <a:ext cx="3810000" cy="182537"/>
          </a:xfrm>
          <a:prstGeom prst="rect">
            <a:avLst/>
          </a:prstGeom>
          <a:noFill/>
        </p:spPr>
        <p:txBody>
          <a:bodyPr wrap="square" lIns="28575" rIns="28575" tIns="9525" bIns="9525" anchor="ctr">
            <a:spAutoFit/>
          </a:bodyPr>
          <a:lstStyle/>
          <a:p>
            <a:pPr algn="l"/>
            <a:r>
              <a:rPr sz="1100" b="0">
                <a:solidFill>
                  <a:srgbClr val="6C7A89"/>
                </a:solidFill>
                <a:latin typeface="Calibri"/>
              </a:rPr>
              <a:t>Source: FMI Analysis, 2026</a:t>
            </a:r>
          </a:p>
        </p:txBody>
      </p:sp>
      <p:sp>
        <p:nvSpPr>
          <p:cNvPr id="29" name="Rounded Rectangle 28"/>
          <p:cNvSpPr/>
          <p:nvPr/>
        </p:nvSpPr>
        <p:spPr>
          <a:xfrm>
            <a:off x="142875" y="2814377"/>
            <a:ext cx="11906250" cy="994827"/>
          </a:xfrm>
          <a:prstGeom prst="roundRect">
            <a:avLst>
              <a:gd name="adj" fmla="val 479"/>
            </a:avLst>
          </a:prstGeom>
          <a:solidFill>
            <a:srgbClr val="FFFFFF"/>
          </a:solidFill>
          <a:ln w="1270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2850885"/>
            <a:ext cx="3810000" cy="219044"/>
          </a:xfrm>
          <a:prstGeom prst="rect">
            <a:avLst/>
          </a:prstGeom>
          <a:noFill/>
        </p:spPr>
        <p:txBody>
          <a:bodyPr wrap="square" lIns="28575" rIns="28575" tIns="9525" bIns="9525" anchor="ctr">
            <a:spAutoFit/>
          </a:bodyPr>
          <a:lstStyle/>
          <a:p>
            <a:pPr algn="l"/>
            <a:r>
              <a:rPr sz="1200" b="1">
                <a:solidFill>
                  <a:srgbClr val="0B2E4A"/>
                </a:solidFill>
                <a:latin typeface="Calibri"/>
              </a:rPr>
              <a:t>KEY TAKEAWAY</a:t>
            </a:r>
          </a:p>
        </p:txBody>
      </p:sp>
      <p:cxnSp>
        <p:nvCxnSpPr>
          <p:cNvPr id="31" name="Connector 30"/>
          <p:cNvCxnSpPr/>
          <p:nvPr/>
        </p:nvCxnSpPr>
        <p:spPr>
          <a:xfrm>
            <a:off x="276225" y="3088183"/>
            <a:ext cx="11639550" cy="0"/>
          </a:xfrm>
          <a:prstGeom prst="line">
            <a:avLst/>
          </a:prstGeom>
          <a:ln w="15875">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276225" y="3142944"/>
            <a:ext cx="1152525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U.S., Canada anchor scale with a combined 100.0% of North America value in 2036, while 'Canada' offers the steepest upside at 6.6% CAGR against a market pace of 5.6%. 1 of 2 countries grow at or above that pace, so entry logic has to differ by country scale defence in the leaders, mix and premiumisation in the mid-tier, and availability-led expansion in the fastest movers.</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North America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Oval 10"/>
          <p:cNvSpPr/>
          <p:nvPr/>
        </p:nvSpPr>
        <p:spPr>
          <a:xfrm>
            <a:off x="2381250" y="1609633"/>
            <a:ext cx="4762500" cy="4563424"/>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2619375" y="1837804"/>
            <a:ext cx="4286250" cy="410708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2857500" y="2065976"/>
            <a:ext cx="3810000" cy="365074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3095625" y="2294147"/>
            <a:ext cx="3333750" cy="319439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3333750" y="2522318"/>
            <a:ext cx="2857500" cy="273805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3571875" y="2750489"/>
            <a:ext cx="2381250" cy="228171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3810000" y="2978660"/>
            <a:ext cx="1905000" cy="182537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4048125" y="3206832"/>
            <a:ext cx="1428750" cy="136902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4286250" y="3435003"/>
            <a:ext cx="952500" cy="91268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4524375" y="3663174"/>
            <a:ext cx="476250" cy="45634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4762500" y="1609633"/>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flipV="1">
            <a:off x="3729314" y="1835594"/>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H="1" flipV="1">
            <a:off x="2900764" y="2468721"/>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flipV="1">
            <a:off x="2440953" y="3383617"/>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440953" y="3891345"/>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2900764" y="3891345"/>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a:off x="3729314" y="3891345"/>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4762500" y="3891345"/>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38400" y="2421923"/>
            <a:ext cx="2324100" cy="2820196"/>
          </a:xfrm>
          <a:custGeom>
            <a:avLst/>
            <a:gdLst/>
            <a:ahLst/>
            <a:cxnLst/>
            <a:rect l="l" t="t" r="r" b="b"/>
            <a:pathLst>
              <a:path w="244" h="309">
                <a:moveTo>
                  <a:pt x="244" y="28"/>
                </a:moveTo>
                <a:lnTo>
                  <a:pt x="166" y="0"/>
                </a:lnTo>
                <a:lnTo>
                  <a:pt x="118" y="60"/>
                </a:lnTo>
                <a:lnTo>
                  <a:pt x="0" y="105"/>
                </a:lnTo>
                <a:lnTo>
                  <a:pt x="0" y="217"/>
                </a:lnTo>
                <a:lnTo>
                  <a:pt x="117" y="262"/>
                </a:lnTo>
                <a:lnTo>
                  <a:pt x="230" y="189"/>
                </a:lnTo>
                <a:lnTo>
                  <a:pt x="244" y="309"/>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714875" y="1563999"/>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400300" y="128106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Production Scale-up  10.1%</a:t>
            </a:r>
          </a:p>
        </p:txBody>
      </p:sp>
      <p:sp>
        <p:nvSpPr>
          <p:cNvPr id="32" name="Oval 31"/>
          <p:cNvSpPr/>
          <p:nvPr/>
        </p:nvSpPr>
        <p:spPr>
          <a:xfrm>
            <a:off x="3681689" y="178996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1385456" y="151968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Input Cost Pressure  13.6%</a:t>
            </a:r>
          </a:p>
        </p:txBody>
      </p:sp>
      <p:sp>
        <p:nvSpPr>
          <p:cNvPr id="34" name="Oval 33"/>
          <p:cNvSpPr/>
          <p:nvPr/>
        </p:nvSpPr>
        <p:spPr>
          <a:xfrm>
            <a:off x="2853139" y="2423087"/>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10507" y="227040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Capacity Add  12.3%</a:t>
            </a:r>
          </a:p>
        </p:txBody>
      </p:sp>
      <p:sp>
        <p:nvSpPr>
          <p:cNvPr id="36" name="Oval 35"/>
          <p:cNvSpPr/>
          <p:nvPr/>
        </p:nvSpPr>
        <p:spPr>
          <a:xfrm>
            <a:off x="2393328" y="3337982"/>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4946" y="323653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Supply Concentration  19.0%</a:t>
            </a:r>
          </a:p>
        </p:txBody>
      </p:sp>
      <p:sp>
        <p:nvSpPr>
          <p:cNvPr id="38" name="Oval 37"/>
          <p:cNvSpPr/>
          <p:nvPr/>
        </p:nvSpPr>
        <p:spPr>
          <a:xfrm>
            <a:off x="2393328" y="435344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4946" y="4308858"/>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Geographic Spread  19.0%</a:t>
            </a:r>
          </a:p>
        </p:txBody>
      </p:sp>
      <p:sp>
        <p:nvSpPr>
          <p:cNvPr id="40" name="Oval 39"/>
          <p:cNvSpPr/>
          <p:nvPr/>
        </p:nvSpPr>
        <p:spPr>
          <a:xfrm>
            <a:off x="2853139" y="5268335"/>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510507" y="527498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Portfolio Breadth  12.4%</a:t>
            </a:r>
          </a:p>
        </p:txBody>
      </p:sp>
      <p:sp>
        <p:nvSpPr>
          <p:cNvPr id="42" name="Oval 41"/>
          <p:cNvSpPr/>
          <p:nvPr/>
        </p:nvSpPr>
        <p:spPr>
          <a:xfrm>
            <a:off x="3681689" y="590146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385456" y="602571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Route Depth  2.4%</a:t>
            </a:r>
          </a:p>
        </p:txBody>
      </p:sp>
      <p:sp>
        <p:nvSpPr>
          <p:cNvPr id="44" name="Oval 43"/>
          <p:cNvSpPr/>
          <p:nvPr/>
        </p:nvSpPr>
        <p:spPr>
          <a:xfrm>
            <a:off x="4714875" y="612742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400300" y="6264326"/>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Value Realisation  11.3%</a:t>
            </a:r>
          </a:p>
        </p:txBody>
      </p:sp>
      <p:sp>
        <p:nvSpPr>
          <p:cNvPr id="46" name="Rectangle 45"/>
          <p:cNvSpPr/>
          <p:nvPr/>
        </p:nvSpPr>
        <p:spPr>
          <a:xfrm>
            <a:off x="476250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4286250" y="3818331"/>
            <a:ext cx="419100" cy="14603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1"/>
          <p:cNvSpPr txBox="1"/>
          <p:nvPr/>
        </p:nvSpPr>
        <p:spPr>
          <a:xfrm>
            <a:off x="4286250" y="3590159"/>
            <a:ext cx="419100" cy="14603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9" name="FMI Scale 2"/>
          <p:cNvSpPr txBox="1"/>
          <p:nvPr/>
        </p:nvSpPr>
        <p:spPr>
          <a:xfrm>
            <a:off x="4286250" y="3361988"/>
            <a:ext cx="419100" cy="146030"/>
          </a:xfrm>
          <a:prstGeom prst="rect">
            <a:avLst/>
          </a:prstGeom>
          <a:noFill/>
        </p:spPr>
        <p:txBody>
          <a:bodyPr wrap="none" lIns="0" rIns="0" tIns="0" bIns="0" anchor="ctr">
            <a:spAutoFit/>
          </a:bodyPr>
          <a:lstStyle/>
          <a:p>
            <a:pPr algn="r"/>
            <a:r>
              <a:rPr sz="1100" b="0">
                <a:solidFill>
                  <a:srgbClr val="6C7A89"/>
                </a:solidFill>
                <a:latin typeface="Calibri"/>
              </a:rPr>
              <a:t>20%</a:t>
            </a:r>
          </a:p>
        </p:txBody>
      </p:sp>
      <p:sp>
        <p:nvSpPr>
          <p:cNvPr id="50" name="FMI Scale 3"/>
          <p:cNvSpPr txBox="1"/>
          <p:nvPr/>
        </p:nvSpPr>
        <p:spPr>
          <a:xfrm>
            <a:off x="4286250" y="3133817"/>
            <a:ext cx="419100" cy="146030"/>
          </a:xfrm>
          <a:prstGeom prst="rect">
            <a:avLst/>
          </a:prstGeom>
          <a:noFill/>
        </p:spPr>
        <p:txBody>
          <a:bodyPr wrap="none" lIns="0" rIns="0" tIns="0" bIns="0" anchor="ctr">
            <a:spAutoFit/>
          </a:bodyPr>
          <a:lstStyle/>
          <a:p>
            <a:pPr algn="r"/>
            <a:r>
              <a:rPr sz="1100" b="0">
                <a:solidFill>
                  <a:srgbClr val="6C7A89"/>
                </a:solidFill>
                <a:latin typeface="Calibri"/>
              </a:rPr>
              <a:t>30%</a:t>
            </a:r>
          </a:p>
        </p:txBody>
      </p:sp>
      <p:sp>
        <p:nvSpPr>
          <p:cNvPr id="51" name="FMI Scale 4"/>
          <p:cNvSpPr txBox="1"/>
          <p:nvPr/>
        </p:nvSpPr>
        <p:spPr>
          <a:xfrm>
            <a:off x="4286250" y="2905646"/>
            <a:ext cx="419100" cy="146030"/>
          </a:xfrm>
          <a:prstGeom prst="rect">
            <a:avLst/>
          </a:prstGeom>
          <a:noFill/>
        </p:spPr>
        <p:txBody>
          <a:bodyPr wrap="none" lIns="0" rIns="0" tIns="0" bIns="0" anchor="ctr">
            <a:spAutoFit/>
          </a:bodyPr>
          <a:lstStyle/>
          <a:p>
            <a:pPr algn="r"/>
            <a:r>
              <a:rPr sz="1100" b="0">
                <a:solidFill>
                  <a:srgbClr val="6C7A89"/>
                </a:solidFill>
                <a:latin typeface="Calibri"/>
              </a:rPr>
              <a:t>40%</a:t>
            </a:r>
          </a:p>
        </p:txBody>
      </p:sp>
      <p:sp>
        <p:nvSpPr>
          <p:cNvPr id="52" name="FMI Scale 5"/>
          <p:cNvSpPr txBox="1"/>
          <p:nvPr/>
        </p:nvSpPr>
        <p:spPr>
          <a:xfrm>
            <a:off x="4286250" y="2677474"/>
            <a:ext cx="419100" cy="14603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53" name="FMI Scale 6"/>
          <p:cNvSpPr txBox="1"/>
          <p:nvPr/>
        </p:nvSpPr>
        <p:spPr>
          <a:xfrm>
            <a:off x="4286250" y="2449303"/>
            <a:ext cx="419100" cy="146030"/>
          </a:xfrm>
          <a:prstGeom prst="rect">
            <a:avLst/>
          </a:prstGeom>
          <a:noFill/>
        </p:spPr>
        <p:txBody>
          <a:bodyPr wrap="none" lIns="0" rIns="0" tIns="0" bIns="0" anchor="ctr">
            <a:spAutoFit/>
          </a:bodyPr>
          <a:lstStyle/>
          <a:p>
            <a:pPr algn="r"/>
            <a:r>
              <a:rPr sz="1100" b="0">
                <a:solidFill>
                  <a:srgbClr val="6C7A89"/>
                </a:solidFill>
                <a:latin typeface="Calibri"/>
              </a:rPr>
              <a:t>60%</a:t>
            </a:r>
          </a:p>
        </p:txBody>
      </p:sp>
      <p:sp>
        <p:nvSpPr>
          <p:cNvPr id="54" name="FMI Scale 7"/>
          <p:cNvSpPr txBox="1"/>
          <p:nvPr/>
        </p:nvSpPr>
        <p:spPr>
          <a:xfrm>
            <a:off x="4286250" y="2221132"/>
            <a:ext cx="419100" cy="14603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55" name="FMI Scale 8"/>
          <p:cNvSpPr txBox="1"/>
          <p:nvPr/>
        </p:nvSpPr>
        <p:spPr>
          <a:xfrm>
            <a:off x="4286250" y="1992961"/>
            <a:ext cx="419100" cy="146030"/>
          </a:xfrm>
          <a:prstGeom prst="rect">
            <a:avLst/>
          </a:prstGeom>
          <a:noFill/>
        </p:spPr>
        <p:txBody>
          <a:bodyPr wrap="none" lIns="0" rIns="0" tIns="0" bIns="0" anchor="ctr">
            <a:spAutoFit/>
          </a:bodyPr>
          <a:lstStyle/>
          <a:p>
            <a:pPr algn="r"/>
            <a:r>
              <a:rPr sz="1100" b="0">
                <a:solidFill>
                  <a:srgbClr val="6C7A89"/>
                </a:solidFill>
                <a:latin typeface="Calibri"/>
              </a:rPr>
              <a:t>80%</a:t>
            </a:r>
          </a:p>
        </p:txBody>
      </p:sp>
      <p:sp>
        <p:nvSpPr>
          <p:cNvPr id="56" name="FMI Scale 9"/>
          <p:cNvSpPr txBox="1"/>
          <p:nvPr/>
        </p:nvSpPr>
        <p:spPr>
          <a:xfrm>
            <a:off x="4286250" y="1764790"/>
            <a:ext cx="419100" cy="146030"/>
          </a:xfrm>
          <a:prstGeom prst="rect">
            <a:avLst/>
          </a:prstGeom>
          <a:noFill/>
        </p:spPr>
        <p:txBody>
          <a:bodyPr wrap="none" lIns="0" rIns="0" tIns="0" bIns="0" anchor="ctr">
            <a:spAutoFit/>
          </a:bodyPr>
          <a:lstStyle/>
          <a:p>
            <a:pPr algn="r"/>
            <a:r>
              <a:rPr sz="1100" b="0">
                <a:solidFill>
                  <a:srgbClr val="6C7A89"/>
                </a:solidFill>
                <a:latin typeface="Calibri"/>
              </a:rPr>
              <a:t>90%</a:t>
            </a:r>
          </a:p>
        </p:txBody>
      </p:sp>
      <p:sp>
        <p:nvSpPr>
          <p:cNvPr id="57" name="FMI Scale 10"/>
          <p:cNvSpPr txBox="1"/>
          <p:nvPr/>
        </p:nvSpPr>
        <p:spPr>
          <a:xfrm>
            <a:off x="4286250" y="1536618"/>
            <a:ext cx="419100" cy="146030"/>
          </a:xfrm>
          <a:prstGeom prst="rect">
            <a:avLst/>
          </a:prstGeom>
          <a:noFill/>
        </p:spPr>
        <p:txBody>
          <a:bodyPr wrap="none" lIns="0" rIns="0" tIns="0" bIns="0" anchor="ctr">
            <a:spAutoFit/>
          </a:bodyPr>
          <a:lstStyle/>
          <a:p>
            <a:pPr algn="r"/>
            <a:r>
              <a:rPr sz="1100" b="0">
                <a:solidFill>
                  <a:srgbClr val="6C7A89"/>
                </a:solidFill>
                <a:latin typeface="Calibri"/>
              </a:rPr>
              <a:t>100%</a:t>
            </a:r>
          </a:p>
        </p:txBody>
      </p:sp>
      <p:cxnSp>
        <p:nvCxnSpPr>
          <p:cNvPr id="58" name="Connector 57"/>
          <p:cNvCxnSpPr/>
          <p:nvPr/>
        </p:nvCxnSpPr>
        <p:spPr>
          <a:xfrm>
            <a:off x="4762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972050" y="1080276"/>
            <a:ext cx="7077075" cy="219044"/>
          </a:xfrm>
          <a:prstGeom prst="rect">
            <a:avLst/>
          </a:prstGeom>
          <a:noFill/>
        </p:spPr>
        <p:txBody>
          <a:bodyPr wrap="square" lIns="28575" rIns="28575" tIns="9525" bIns="9525" anchor="ctr">
            <a:spAutoFit/>
          </a:bodyPr>
          <a:lstStyle/>
          <a:p>
            <a:pPr algn="l"/>
            <a:r>
              <a:rPr sz="1200" b="1">
                <a:solidFill>
                  <a:srgbClr val="0B2E4A"/>
                </a:solidFill>
                <a:latin typeface="Calibri"/>
              </a:rPr>
              <a:t>Economic and Supply-side Factors</a:t>
            </a:r>
          </a:p>
        </p:txBody>
      </p:sp>
      <p:cxnSp>
        <p:nvCxnSpPr>
          <p:cNvPr id="60" name="Connector 59"/>
          <p:cNvCxnSpPr/>
          <p:nvPr/>
        </p:nvCxnSpPr>
        <p:spPr>
          <a:xfrm>
            <a:off x="4972050" y="1335828"/>
            <a:ext cx="70770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4972050" y="142709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Supply-side conditions are led by Supply Concentration (10.0/10), Geographic Spread (10.0/10), Input Cost Pressure (7.2/10) on a 0-10 scale scored from the north america dataset itself.</a:t>
            </a:r>
          </a:p>
        </p:txBody>
      </p:sp>
      <p:sp>
        <p:nvSpPr>
          <p:cNvPr id="62" name="TextBox 61"/>
          <p:cNvSpPr txBox="1"/>
          <p:nvPr/>
        </p:nvSpPr>
        <p:spPr>
          <a:xfrm>
            <a:off x="4972050" y="1883439"/>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Volume expands at 4.3% CAGR (2026–2036) while average realisation moves 1.3% a year the balance of those two sets the cost-pass-through picture.</a:t>
            </a:r>
          </a:p>
        </p:txBody>
      </p:sp>
      <p:sp>
        <p:nvSpPr>
          <p:cNvPr id="63" name="TextBox 62"/>
          <p:cNvSpPr txBox="1"/>
          <p:nvPr/>
        </p:nvSpPr>
        <p:spPr>
          <a:xfrm>
            <a:off x="4972050" y="2339781"/>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Supply is concentrated: 'U.S.' holds 90.3% of 2036 value across 2 countries.</a:t>
            </a:r>
          </a:p>
        </p:txBody>
      </p:sp>
      <p:sp>
        <p:nvSpPr>
          <p:cNvPr id="64" name="TextBox 63"/>
          <p:cNvSpPr txBox="1"/>
          <p:nvPr/>
        </p:nvSpPr>
        <p:spPr>
          <a:xfrm>
            <a:off x="4972050" y="261358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Portfolio breadth spans 4 product type lines and 2 application routes, giving producers focused reformulation and channel latitude.</a:t>
            </a:r>
          </a:p>
        </p:txBody>
      </p:sp>
      <p:sp>
        <p:nvSpPr>
          <p:cNvPr id="65" name="TextBox 64"/>
          <p:cNvSpPr txBox="1"/>
          <p:nvPr/>
        </p:nvSpPr>
        <p:spPr>
          <a:xfrm>
            <a:off x="4972050" y="3069929"/>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Capacity added between 2026 and 2036 is worth 26,090 US$ Mn, a 1.7× expansion on the 2026 base.</a:t>
            </a:r>
          </a:p>
        </p:txBody>
      </p:sp>
      <p:sp>
        <p:nvSpPr>
          <p:cNvPr id="66" name="TextBox 65"/>
          <p:cNvSpPr txBox="1"/>
          <p:nvPr/>
        </p:nvSpPr>
        <p:spPr>
          <a:xfrm>
            <a:off x="4972050" y="3343734"/>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North America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Oval 10"/>
          <p:cNvSpPr/>
          <p:nvPr/>
        </p:nvSpPr>
        <p:spPr>
          <a:xfrm>
            <a:off x="5048250" y="1609633"/>
            <a:ext cx="4762500" cy="4563424"/>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5286375" y="1837804"/>
            <a:ext cx="4286250" cy="410708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5524500" y="2065976"/>
            <a:ext cx="3810000" cy="365074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5762625" y="2294147"/>
            <a:ext cx="3333750" cy="319439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00750" y="2522318"/>
            <a:ext cx="2857500" cy="273805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238875" y="2750489"/>
            <a:ext cx="2381250" cy="228171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6477000" y="2978660"/>
            <a:ext cx="1905000" cy="182537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6715125" y="3206832"/>
            <a:ext cx="1428750" cy="136902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6953250" y="3435003"/>
            <a:ext cx="952500" cy="91268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7191375" y="3663174"/>
            <a:ext cx="476250" cy="45634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7429500" y="1609633"/>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V="1">
            <a:off x="7429500" y="1835594"/>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V="1">
            <a:off x="7429500" y="2468721"/>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V="1">
            <a:off x="7429500" y="3383617"/>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7429500" y="3891345"/>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7429500" y="3891345"/>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7429500" y="3891345"/>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7429500" y="3891345"/>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7429500" y="2403669"/>
            <a:ext cx="1533525" cy="3121382"/>
          </a:xfrm>
          <a:custGeom>
            <a:avLst/>
            <a:gdLst/>
            <a:ahLst/>
            <a:cxnLst/>
            <a:rect l="l" t="t" r="r" b="b"/>
            <a:pathLst>
              <a:path w="161" h="342">
                <a:moveTo>
                  <a:pt x="0" y="23"/>
                </a:moveTo>
                <a:lnTo>
                  <a:pt x="79" y="0"/>
                </a:lnTo>
                <a:lnTo>
                  <a:pt x="24" y="144"/>
                </a:lnTo>
                <a:lnTo>
                  <a:pt x="101" y="140"/>
                </a:lnTo>
                <a:lnTo>
                  <a:pt x="161" y="200"/>
                </a:lnTo>
                <a:lnTo>
                  <a:pt x="91" y="235"/>
                </a:lnTo>
                <a:lnTo>
                  <a:pt x="86" y="342"/>
                </a:lnTo>
                <a:lnTo>
                  <a:pt x="0" y="217"/>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7381875" y="1563999"/>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505700" y="128106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Demand Growth  14.2%</a:t>
            </a:r>
          </a:p>
        </p:txBody>
      </p:sp>
      <p:sp>
        <p:nvSpPr>
          <p:cNvPr id="32" name="Oval 31"/>
          <p:cNvSpPr/>
          <p:nvPr/>
        </p:nvSpPr>
        <p:spPr>
          <a:xfrm>
            <a:off x="8415061" y="178996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8520544" y="151968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Premiumisation  18.3%</a:t>
            </a:r>
          </a:p>
        </p:txBody>
      </p:sp>
      <p:sp>
        <p:nvSpPr>
          <p:cNvPr id="34" name="Oval 33"/>
          <p:cNvSpPr/>
          <p:nvPr/>
        </p:nvSpPr>
        <p:spPr>
          <a:xfrm>
            <a:off x="9243611" y="2423087"/>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9395493" y="2270405"/>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App. Breadth  3.2%</a:t>
            </a:r>
          </a:p>
        </p:txBody>
      </p:sp>
      <p:sp>
        <p:nvSpPr>
          <p:cNvPr id="36" name="Oval 35"/>
          <p:cNvSpPr/>
          <p:nvPr/>
        </p:nvSpPr>
        <p:spPr>
          <a:xfrm>
            <a:off x="9703422" y="3337982"/>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9881054" y="3236535"/>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Emerging Pull  10.5%</a:t>
            </a:r>
          </a:p>
        </p:txBody>
      </p:sp>
      <p:sp>
        <p:nvSpPr>
          <p:cNvPr id="38" name="Oval 37"/>
          <p:cNvSpPr/>
          <p:nvPr/>
        </p:nvSpPr>
        <p:spPr>
          <a:xfrm>
            <a:off x="9703422" y="435344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1054" y="4308858"/>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Volume Momentum  16.7%</a:t>
            </a:r>
          </a:p>
        </p:txBody>
      </p:sp>
      <p:sp>
        <p:nvSpPr>
          <p:cNvPr id="40" name="Oval 39"/>
          <p:cNvSpPr/>
          <p:nvPr/>
        </p:nvSpPr>
        <p:spPr>
          <a:xfrm>
            <a:off x="9243611" y="5268335"/>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9395493" y="527498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Category Maturity  11.7%</a:t>
            </a:r>
          </a:p>
        </p:txBody>
      </p:sp>
      <p:sp>
        <p:nvSpPr>
          <p:cNvPr id="42" name="Oval 41"/>
          <p:cNvSpPr/>
          <p:nvPr/>
        </p:nvSpPr>
        <p:spPr>
          <a:xfrm>
            <a:off x="8415061" y="590146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520544" y="602571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Adoption Depth  20.1%</a:t>
            </a:r>
          </a:p>
        </p:txBody>
      </p:sp>
      <p:sp>
        <p:nvSpPr>
          <p:cNvPr id="44" name="Oval 43"/>
          <p:cNvSpPr/>
          <p:nvPr/>
        </p:nvSpPr>
        <p:spPr>
          <a:xfrm>
            <a:off x="7381875" y="612742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505700" y="6264326"/>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Consumer Reach  5.4%</a:t>
            </a:r>
          </a:p>
        </p:txBody>
      </p:sp>
      <p:sp>
        <p:nvSpPr>
          <p:cNvPr id="46" name="Rectangle 45"/>
          <p:cNvSpPr/>
          <p:nvPr/>
        </p:nvSpPr>
        <p:spPr>
          <a:xfrm>
            <a:off x="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7486650" y="3818331"/>
            <a:ext cx="419100" cy="14603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48" name="FMI Scale 1"/>
          <p:cNvSpPr txBox="1"/>
          <p:nvPr/>
        </p:nvSpPr>
        <p:spPr>
          <a:xfrm>
            <a:off x="7486650" y="3590159"/>
            <a:ext cx="419100" cy="14603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9" name="FMI Scale 2"/>
          <p:cNvSpPr txBox="1"/>
          <p:nvPr/>
        </p:nvSpPr>
        <p:spPr>
          <a:xfrm>
            <a:off x="7486650" y="3361988"/>
            <a:ext cx="419100" cy="146030"/>
          </a:xfrm>
          <a:prstGeom prst="rect">
            <a:avLst/>
          </a:prstGeom>
          <a:noFill/>
        </p:spPr>
        <p:txBody>
          <a:bodyPr wrap="none" lIns="0" rIns="0" tIns="0" bIns="0" anchor="ctr">
            <a:spAutoFit/>
          </a:bodyPr>
          <a:lstStyle/>
          <a:p>
            <a:pPr algn="l"/>
            <a:r>
              <a:rPr sz="1100" b="0">
                <a:solidFill>
                  <a:srgbClr val="6C7A89"/>
                </a:solidFill>
                <a:latin typeface="Calibri"/>
              </a:rPr>
              <a:t>20%</a:t>
            </a:r>
          </a:p>
        </p:txBody>
      </p:sp>
      <p:sp>
        <p:nvSpPr>
          <p:cNvPr id="50" name="FMI Scale 3"/>
          <p:cNvSpPr txBox="1"/>
          <p:nvPr/>
        </p:nvSpPr>
        <p:spPr>
          <a:xfrm>
            <a:off x="7486650" y="3133817"/>
            <a:ext cx="419100" cy="146030"/>
          </a:xfrm>
          <a:prstGeom prst="rect">
            <a:avLst/>
          </a:prstGeom>
          <a:noFill/>
        </p:spPr>
        <p:txBody>
          <a:bodyPr wrap="none" lIns="0" rIns="0" tIns="0" bIns="0" anchor="ctr">
            <a:spAutoFit/>
          </a:bodyPr>
          <a:lstStyle/>
          <a:p>
            <a:pPr algn="l"/>
            <a:r>
              <a:rPr sz="1100" b="0">
                <a:solidFill>
                  <a:srgbClr val="6C7A89"/>
                </a:solidFill>
                <a:latin typeface="Calibri"/>
              </a:rPr>
              <a:t>30%</a:t>
            </a:r>
          </a:p>
        </p:txBody>
      </p:sp>
      <p:sp>
        <p:nvSpPr>
          <p:cNvPr id="51" name="FMI Scale 4"/>
          <p:cNvSpPr txBox="1"/>
          <p:nvPr/>
        </p:nvSpPr>
        <p:spPr>
          <a:xfrm>
            <a:off x="7486650" y="2905646"/>
            <a:ext cx="419100" cy="146030"/>
          </a:xfrm>
          <a:prstGeom prst="rect">
            <a:avLst/>
          </a:prstGeom>
          <a:noFill/>
        </p:spPr>
        <p:txBody>
          <a:bodyPr wrap="none" lIns="0" rIns="0" tIns="0" bIns="0" anchor="ctr">
            <a:spAutoFit/>
          </a:bodyPr>
          <a:lstStyle/>
          <a:p>
            <a:pPr algn="l"/>
            <a:r>
              <a:rPr sz="1100" b="0">
                <a:solidFill>
                  <a:srgbClr val="6C7A89"/>
                </a:solidFill>
                <a:latin typeface="Calibri"/>
              </a:rPr>
              <a:t>40%</a:t>
            </a:r>
          </a:p>
        </p:txBody>
      </p:sp>
      <p:sp>
        <p:nvSpPr>
          <p:cNvPr id="52" name="FMI Scale 5"/>
          <p:cNvSpPr txBox="1"/>
          <p:nvPr/>
        </p:nvSpPr>
        <p:spPr>
          <a:xfrm>
            <a:off x="7486650" y="2677474"/>
            <a:ext cx="419100" cy="146030"/>
          </a:xfrm>
          <a:prstGeom prst="rect">
            <a:avLst/>
          </a:prstGeom>
          <a:noFill/>
        </p:spPr>
        <p:txBody>
          <a:bodyPr wrap="none" lIns="0" rIns="0" tIns="0" bIns="0" anchor="ctr">
            <a:spAutoFit/>
          </a:bodyPr>
          <a:lstStyle/>
          <a:p>
            <a:pPr algn="l"/>
            <a:r>
              <a:rPr sz="1100" b="0">
                <a:solidFill>
                  <a:srgbClr val="6C7A89"/>
                </a:solidFill>
                <a:latin typeface="Calibri"/>
              </a:rPr>
              <a:t>50%</a:t>
            </a:r>
          </a:p>
        </p:txBody>
      </p:sp>
      <p:sp>
        <p:nvSpPr>
          <p:cNvPr id="53" name="FMI Scale 6"/>
          <p:cNvSpPr txBox="1"/>
          <p:nvPr/>
        </p:nvSpPr>
        <p:spPr>
          <a:xfrm>
            <a:off x="7486650" y="2449303"/>
            <a:ext cx="419100" cy="146030"/>
          </a:xfrm>
          <a:prstGeom prst="rect">
            <a:avLst/>
          </a:prstGeom>
          <a:noFill/>
        </p:spPr>
        <p:txBody>
          <a:bodyPr wrap="none" lIns="0" rIns="0" tIns="0" bIns="0" anchor="ctr">
            <a:spAutoFit/>
          </a:bodyPr>
          <a:lstStyle/>
          <a:p>
            <a:pPr algn="l"/>
            <a:r>
              <a:rPr sz="1100" b="0">
                <a:solidFill>
                  <a:srgbClr val="6C7A89"/>
                </a:solidFill>
                <a:latin typeface="Calibri"/>
              </a:rPr>
              <a:t>60%</a:t>
            </a:r>
          </a:p>
        </p:txBody>
      </p:sp>
      <p:sp>
        <p:nvSpPr>
          <p:cNvPr id="54" name="FMI Scale 7"/>
          <p:cNvSpPr txBox="1"/>
          <p:nvPr/>
        </p:nvSpPr>
        <p:spPr>
          <a:xfrm>
            <a:off x="7486650" y="2221132"/>
            <a:ext cx="419100" cy="146030"/>
          </a:xfrm>
          <a:prstGeom prst="rect">
            <a:avLst/>
          </a:prstGeom>
          <a:noFill/>
        </p:spPr>
        <p:txBody>
          <a:bodyPr wrap="none" lIns="0" rIns="0" tIns="0" bIns="0" anchor="ctr">
            <a:spAutoFit/>
          </a:bodyPr>
          <a:lstStyle/>
          <a:p>
            <a:pPr algn="l"/>
            <a:r>
              <a:rPr sz="1100" b="0">
                <a:solidFill>
                  <a:srgbClr val="6C7A89"/>
                </a:solidFill>
                <a:latin typeface="Calibri"/>
              </a:rPr>
              <a:t>70%</a:t>
            </a:r>
          </a:p>
        </p:txBody>
      </p:sp>
      <p:sp>
        <p:nvSpPr>
          <p:cNvPr id="55" name="FMI Scale 8"/>
          <p:cNvSpPr txBox="1"/>
          <p:nvPr/>
        </p:nvSpPr>
        <p:spPr>
          <a:xfrm>
            <a:off x="7486650" y="1992961"/>
            <a:ext cx="419100" cy="146030"/>
          </a:xfrm>
          <a:prstGeom prst="rect">
            <a:avLst/>
          </a:prstGeom>
          <a:noFill/>
        </p:spPr>
        <p:txBody>
          <a:bodyPr wrap="none" lIns="0" rIns="0" tIns="0" bIns="0" anchor="ctr">
            <a:spAutoFit/>
          </a:bodyPr>
          <a:lstStyle/>
          <a:p>
            <a:pPr algn="l"/>
            <a:r>
              <a:rPr sz="1100" b="0">
                <a:solidFill>
                  <a:srgbClr val="6C7A89"/>
                </a:solidFill>
                <a:latin typeface="Calibri"/>
              </a:rPr>
              <a:t>80%</a:t>
            </a:r>
          </a:p>
        </p:txBody>
      </p:sp>
      <p:sp>
        <p:nvSpPr>
          <p:cNvPr id="56" name="FMI Scale 9"/>
          <p:cNvSpPr txBox="1"/>
          <p:nvPr/>
        </p:nvSpPr>
        <p:spPr>
          <a:xfrm>
            <a:off x="7486650" y="1764790"/>
            <a:ext cx="419100" cy="146030"/>
          </a:xfrm>
          <a:prstGeom prst="rect">
            <a:avLst/>
          </a:prstGeom>
          <a:noFill/>
        </p:spPr>
        <p:txBody>
          <a:bodyPr wrap="none" lIns="0" rIns="0" tIns="0" bIns="0" anchor="ctr">
            <a:spAutoFit/>
          </a:bodyPr>
          <a:lstStyle/>
          <a:p>
            <a:pPr algn="l"/>
            <a:r>
              <a:rPr sz="1100" b="0">
                <a:solidFill>
                  <a:srgbClr val="6C7A89"/>
                </a:solidFill>
                <a:latin typeface="Calibri"/>
              </a:rPr>
              <a:t>90%</a:t>
            </a:r>
          </a:p>
        </p:txBody>
      </p:sp>
      <p:sp>
        <p:nvSpPr>
          <p:cNvPr id="57" name="FMI Scale 10"/>
          <p:cNvSpPr txBox="1"/>
          <p:nvPr/>
        </p:nvSpPr>
        <p:spPr>
          <a:xfrm>
            <a:off x="7486650" y="1536618"/>
            <a:ext cx="419100" cy="146030"/>
          </a:xfrm>
          <a:prstGeom prst="rect">
            <a:avLst/>
          </a:prstGeom>
          <a:noFill/>
        </p:spPr>
        <p:txBody>
          <a:bodyPr wrap="none" lIns="0" rIns="0" tIns="0" bIns="0" anchor="ctr">
            <a:spAutoFit/>
          </a:bodyPr>
          <a:lstStyle/>
          <a:p>
            <a:pPr algn="l"/>
            <a:r>
              <a:rPr sz="1100" b="0">
                <a:solidFill>
                  <a:srgbClr val="6C7A89"/>
                </a:solidFill>
                <a:latin typeface="Calibri"/>
              </a:rPr>
              <a:t>100%</a:t>
            </a:r>
          </a:p>
        </p:txBody>
      </p:sp>
      <p:cxnSp>
        <p:nvCxnSpPr>
          <p:cNvPr id="58" name="Connector 57"/>
          <p:cNvCxnSpPr/>
          <p:nvPr/>
        </p:nvCxnSpPr>
        <p:spPr>
          <a:xfrm>
            <a:off x="7429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180975" y="1080276"/>
            <a:ext cx="7038975" cy="219044"/>
          </a:xfrm>
          <a:prstGeom prst="rect">
            <a:avLst/>
          </a:prstGeom>
          <a:noFill/>
        </p:spPr>
        <p:txBody>
          <a:bodyPr wrap="square" lIns="28575" rIns="28575" tIns="9525" bIns="9525" anchor="ctr">
            <a:spAutoFit/>
          </a:bodyPr>
          <a:lstStyle/>
          <a:p>
            <a:pPr algn="l"/>
            <a:r>
              <a:rPr sz="1200" b="1">
                <a:solidFill>
                  <a:srgbClr val="0B2E4A"/>
                </a:solidFill>
                <a:latin typeface="Calibri"/>
              </a:rPr>
              <a:t>Demand-side Factors</a:t>
            </a:r>
          </a:p>
        </p:txBody>
      </p:sp>
      <p:cxnSp>
        <p:nvCxnSpPr>
          <p:cNvPr id="60" name="Connector 59"/>
          <p:cNvCxnSpPr/>
          <p:nvPr/>
        </p:nvCxnSpPr>
        <p:spPr>
          <a:xfrm>
            <a:off x="180975" y="1335828"/>
            <a:ext cx="70389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80975" y="142709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Demand-side conditions are led by Adoption Depth (7.9/10), Premiumisation (7.2/10), Volume Momentum (6.6/10) on a 0-10 scale scored from the north america dataset itself.</a:t>
            </a:r>
          </a:p>
        </p:txBody>
      </p:sp>
      <p:sp>
        <p:nvSpPr>
          <p:cNvPr id="62" name="TextBox 61"/>
          <p:cNvSpPr txBox="1"/>
          <p:nvPr/>
        </p:nvSpPr>
        <p:spPr>
          <a:xfrm>
            <a:off x="180975" y="1883439"/>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Value grows at 5.6% against volume at 4.3% a premiumising market through 2036.</a:t>
            </a:r>
          </a:p>
        </p:txBody>
      </p:sp>
      <p:sp>
        <p:nvSpPr>
          <p:cNvPr id="63" name="TextBox 62"/>
          <p:cNvSpPr txBox="1"/>
          <p:nvPr/>
        </p:nvSpPr>
        <p:spPr>
          <a:xfrm>
            <a:off x="180975" y="2157244"/>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'Rollstock Films' carries 52.7% of product type demand while 'Barrier Casings' compounds fastest at 5.8%.</a:t>
            </a:r>
          </a:p>
        </p:txBody>
      </p:sp>
      <p:sp>
        <p:nvSpPr>
          <p:cNvPr id="64" name="TextBox 63"/>
          <p:cNvSpPr txBox="1"/>
          <p:nvPr/>
        </p:nvSpPr>
        <p:spPr>
          <a:xfrm>
            <a:off x="180975" y="2431050"/>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Pull is strongest in 'Canada' (6.6% CAGR, +99 BPS versus the market), with 1 of 2 countries at or above pace.</a:t>
            </a:r>
          </a:p>
        </p:txBody>
      </p:sp>
      <p:sp>
        <p:nvSpPr>
          <p:cNvPr id="65" name="TextBox 64"/>
          <p:cNvSpPr txBox="1"/>
          <p:nvPr/>
        </p:nvSpPr>
        <p:spPr>
          <a:xfrm>
            <a:off x="180975" y="2887392"/>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Reach runs through 2 application routes, led by 'Food Packaging' at 83.8% and with 'Food Packaging' growing fastest at 5.6%.</a:t>
            </a:r>
          </a:p>
        </p:txBody>
      </p:sp>
      <p:sp>
        <p:nvSpPr>
          <p:cNvPr id="66" name="TextBox 65"/>
          <p:cNvSpPr txBox="1"/>
          <p:nvPr/>
        </p:nvSpPr>
        <p:spPr>
          <a:xfrm>
            <a:off x="180975" y="3343734"/>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North America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038350" cy="255552"/>
          </a:xfrm>
          <a:prstGeom prst="roundRect">
            <a:avLst>
              <a:gd name="adj" fmla="val 1869"/>
            </a:avLst>
          </a:prstGeom>
          <a:solidFill>
            <a:srgbClr val="C0603A"/>
          </a:solidFill>
          <a:ln w="12700">
            <a:solidFill>
              <a:srgbClr val="C060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Restraints</a:t>
            </a:r>
          </a:p>
        </p:txBody>
      </p:sp>
      <p:sp>
        <p:nvSpPr>
          <p:cNvPr id="13" name="Rectangle 12"/>
          <p:cNvSpPr/>
          <p:nvPr/>
        </p:nvSpPr>
        <p:spPr>
          <a:xfrm>
            <a:off x="142875" y="139058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Rollstock Films Lags the Category and Dilutes Blended Growth</a:t>
            </a:r>
          </a:p>
        </p:txBody>
      </p:sp>
      <p:sp>
        <p:nvSpPr>
          <p:cNvPr id="15" name="TextBox 14"/>
          <p:cNvSpPr txBox="1"/>
          <p:nvPr/>
        </p:nvSpPr>
        <p:spPr>
          <a:xfrm>
            <a:off x="161925" y="1700902"/>
            <a:ext cx="9439275"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'Rollstock Films' grows at only 5.5% CAGR against the market's 5.6%, a -15 BPS gap, and 'Rollstock Films' surrenders 78 BPS of product type share between 2026 and 2036. Because these lines still carry meaningful volume, the drag is absorbed by the whole category: blended growth sits below what the leading lines achieve on their own. Rationalising or repositioning the lagging end of a 4-line portfolio is therefore a precondition for realising the headline forecast.</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Uneven Country Performance Caps the Blended Rate</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'U.S.' grows at just 5.5% CAGR -10 BPS against the market and 1 of 2 countries sit below the market pace altogether. Demand is therefore not uniformly available: suppliers carrying a broad geographic footprint fund presence in slow countries out of returns earned in the fast ones. With 'U.S.' at 90.3% of value, a shortfall in a single leading country is difficult to offset elsewhere in the forecast window.</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Concentration Risk Limits Pricing and Sourcing Flexibility</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The market is concentrated: 'U.S.' accounts for 90.3% of 2036 value and the leading product type line for 52.7% of its segment. Average realisation moves 1.3% a year, so cost movements cannot be passed on evenly across 2 countries. The practical constraint is the same in either case commercial terms set for the market as a whole underserve part of it, and margin is lost in the mismatch rather than in the headline growth rate.</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North America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038350" cy="255552"/>
          </a:xfrm>
          <a:prstGeom prst="roundRect">
            <a:avLst>
              <a:gd name="adj" fmla="val 1869"/>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Opportunities</a:t>
            </a:r>
          </a:p>
        </p:txBody>
      </p:sp>
      <p:sp>
        <p:nvSpPr>
          <p:cNvPr id="13" name="Rectangle 12"/>
          <p:cNvSpPr/>
          <p:nvPr/>
        </p:nvSpPr>
        <p:spPr>
          <a:xfrm>
            <a:off x="142875" y="139058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U.S. Carries the Largest Absolute Opportunity</a:t>
            </a:r>
          </a:p>
        </p:txBody>
      </p:sp>
      <p:sp>
        <p:nvSpPr>
          <p:cNvPr id="15" name="TextBox 14"/>
          <p:cNvSpPr txBox="1"/>
          <p:nvPr/>
        </p:nvSpPr>
        <p:spPr>
          <a:xfrm>
            <a:off x="161925" y="170090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'U.S.' adds 23,237 US$ Mn between 2026 and 2036 the single largest absolute increment of any geography in the dataset. Capturing it is a question of scale execution rather than market creation: demand already exists and grows at 5.6% at the market level. Prioritising supply, channel coverage and service levels there converts the largest share of the 26,090 US$ Mn the whole market adds over the forecast period.</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Canada Offers Under-penetrated, Above-pace Headroom</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'Canada' compounds at 6.6% CAGR from a below-median base one of 1 geographies in the dataset combining above-median growth with below-median size. That profile is where share is cheapest to buy: competitive intensity is lower than in the 90.3%-share leaders, while growth runs +99 BPS ahead of the market. Early distribution and reference accounts established here compound through 2036.</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Food Packaging Opens the Fastest Route to Market</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'Food Packaging' grows at 5.6% CAGR, the fastest of 2 application routes, and adds 21,902 US$ Mn over the forecast period while 'Food Packaging' still carries 83.8% of demand today. Pairing the incumbent route for volume with the fastest route for growth and leading with 'Barrier Casings' at 5.8% is the highest-yield combination the dataset supports.</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Flexible Plastic Packaging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North America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ectangle 10"/>
          <p:cNvSpPr/>
          <p:nvPr/>
        </p:nvSpPr>
        <p:spPr>
          <a:xfrm>
            <a:off x="142875" y="1025515"/>
            <a:ext cx="11906250" cy="29205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1428750" cy="292059"/>
          </a:xfrm>
          <a:prstGeom prst="rect">
            <a:avLst/>
          </a:prstGeom>
          <a:noFill/>
        </p:spPr>
        <p:txBody>
          <a:bodyPr wrap="square" lIns="28575" rIns="28575" tIns="9525" bIns="9525" anchor="ctr">
            <a:spAutoFit/>
          </a:bodyPr>
          <a:lstStyle/>
          <a:p>
            <a:pPr algn="ctr"/>
            <a:r>
              <a:rPr sz="1150" b="1">
                <a:solidFill>
                  <a:srgbClr val="FFFFFF"/>
                </a:solidFill>
                <a:latin typeface="Calibri"/>
              </a:rPr>
              <a:t>Year</a:t>
            </a:r>
          </a:p>
        </p:txBody>
      </p:sp>
      <p:sp>
        <p:nvSpPr>
          <p:cNvPr id="13" name="TextBox 12"/>
          <p:cNvSpPr txBox="1"/>
          <p:nvPr/>
        </p:nvSpPr>
        <p:spPr>
          <a:xfrm>
            <a:off x="1714500" y="1025515"/>
            <a:ext cx="10239375" cy="292059"/>
          </a:xfrm>
          <a:prstGeom prst="rect">
            <a:avLst/>
          </a:prstGeom>
          <a:noFill/>
        </p:spPr>
        <p:txBody>
          <a:bodyPr wrap="square" lIns="28575" rIns="28575" tIns="9525" bIns="9525" anchor="ctr">
            <a:spAutoFit/>
          </a:bodyPr>
          <a:lstStyle/>
          <a:p>
            <a:pPr algn="ctr"/>
            <a:r>
              <a:rPr sz="1150" b="1">
                <a:solidFill>
                  <a:srgbClr val="FFFFFF"/>
                </a:solidFill>
                <a:latin typeface="Calibri"/>
              </a:rPr>
              <a:t>Recent Development</a:t>
            </a:r>
          </a:p>
        </p:txBody>
      </p:sp>
      <p:sp>
        <p:nvSpPr>
          <p:cNvPr id="14" name="Rectangle 13"/>
          <p:cNvSpPr/>
          <p:nvPr/>
        </p:nvSpPr>
        <p:spPr>
          <a:xfrm>
            <a:off x="142875" y="1317574"/>
            <a:ext cx="11906250" cy="1296013"/>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142875" y="1317574"/>
            <a:ext cx="1428750" cy="1296013"/>
          </a:xfrm>
          <a:prstGeom prst="rect">
            <a:avLst/>
          </a:prstGeom>
          <a:noFill/>
        </p:spPr>
        <p:txBody>
          <a:bodyPr wrap="square" lIns="28575" rIns="28575" tIns="9525" bIns="9525" anchor="ctr">
            <a:spAutoFit/>
          </a:bodyPr>
          <a:lstStyle/>
          <a:p>
            <a:pPr algn="ctr"/>
            <a:r>
              <a:rPr sz="1250" b="1">
                <a:solidFill>
                  <a:srgbClr val="0B2E4A"/>
                </a:solidFill>
                <a:latin typeface="Calibri"/>
              </a:rPr>
              <a:t>2025</a:t>
            </a:r>
          </a:p>
        </p:txBody>
      </p:sp>
      <p:cxnSp>
        <p:nvCxnSpPr>
          <p:cNvPr id="16" name="Connector 15"/>
          <p:cNvCxnSpPr/>
          <p:nvPr/>
        </p:nvCxnSpPr>
        <p:spPr>
          <a:xfrm>
            <a:off x="1571625" y="1317574"/>
            <a:ext cx="0" cy="1296013"/>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714500" y="1668957"/>
            <a:ext cx="102108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Strongest historical expansion on record: North America value rose +3.9% year on year to 34,457 US$ Mn, the steepest single-year move of the 2021–2025 period. Demand for 'Rollstock Films' 52.7% of product type value by 2036 set the pace, and the 2 application routes tracked here all carried volume through the year.</a:t>
            </a:r>
          </a:p>
        </p:txBody>
      </p:sp>
      <p:sp>
        <p:nvSpPr>
          <p:cNvPr id="18" name="Rectangle 17"/>
          <p:cNvSpPr/>
          <p:nvPr/>
        </p:nvSpPr>
        <p:spPr>
          <a:xfrm>
            <a:off x="142875" y="2613586"/>
            <a:ext cx="11906250" cy="985700"/>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42875" y="26135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2026</a:t>
            </a:r>
          </a:p>
        </p:txBody>
      </p:sp>
      <p:cxnSp>
        <p:nvCxnSpPr>
          <p:cNvPr id="20" name="Connector 19"/>
          <p:cNvCxnSpPr/>
          <p:nvPr/>
        </p:nvCxnSpPr>
        <p:spPr>
          <a:xfrm>
            <a:off x="1571625" y="26135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714500" y="2905646"/>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Base year for the forecast: the north america market is estimated at 35,977 US$ Mn, having compounded at 3.7% across 2021–2025. 'U.S.' holds 90.3% of value across 2 countries, and the forecast is built from 6 segment breakdowns covering 4 product type lines.</a:t>
            </a:r>
          </a:p>
        </p:txBody>
      </p:sp>
      <p:sp>
        <p:nvSpPr>
          <p:cNvPr id="22" name="Rectangle 21"/>
          <p:cNvSpPr/>
          <p:nvPr/>
        </p:nvSpPr>
        <p:spPr>
          <a:xfrm>
            <a:off x="142875" y="3599286"/>
            <a:ext cx="11906250" cy="985700"/>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42875" y="35992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2034</a:t>
            </a:r>
          </a:p>
        </p:txBody>
      </p:sp>
      <p:cxnSp>
        <p:nvCxnSpPr>
          <p:cNvPr id="24" name="Connector 23"/>
          <p:cNvCxnSpPr/>
          <p:nvPr/>
        </p:nvCxnSpPr>
        <p:spPr>
          <a:xfrm>
            <a:off x="1571625" y="35992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1714500" y="3891345"/>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The market passes 53,966 US$ Mn one and a half times the 2026 base reaching 55,271 US$ Mn. Growth by this point is led by 'Barrier Casings' at 5.8% CAGR and by 'Canada' among countries at 6.6%, with 1 of 2 countries running at or above the market rate.</a:t>
            </a:r>
          </a:p>
        </p:txBody>
      </p:sp>
      <p:sp>
        <p:nvSpPr>
          <p:cNvPr id="26" name="Rectangle 25"/>
          <p:cNvSpPr/>
          <p:nvPr/>
        </p:nvSpPr>
        <p:spPr>
          <a:xfrm>
            <a:off x="142875" y="4584986"/>
            <a:ext cx="11906250" cy="985700"/>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42875" y="45849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2031</a:t>
            </a:r>
          </a:p>
        </p:txBody>
      </p:sp>
      <p:cxnSp>
        <p:nvCxnSpPr>
          <p:cNvPr id="28" name="Connector 27"/>
          <p:cNvCxnSpPr/>
          <p:nvPr/>
        </p:nvCxnSpPr>
        <p:spPr>
          <a:xfrm>
            <a:off x="1571625" y="45849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714500" y="4877045"/>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Mid-horizon checkpoint: value reaches 46,394 US$ Mn, 1.29× the 2026 base. Average realisation stands at 3679.91 US$/MT, and mix has moved +54 BPS toward 'Premade Pouches &amp; Bags' while 'Rollstock Films' gives up 78 BPS.</a:t>
            </a:r>
          </a:p>
        </p:txBody>
      </p:sp>
      <p:sp>
        <p:nvSpPr>
          <p:cNvPr id="30" name="Rectangle 29"/>
          <p:cNvSpPr/>
          <p:nvPr/>
        </p:nvSpPr>
        <p:spPr>
          <a:xfrm>
            <a:off x="142875" y="5570686"/>
            <a:ext cx="11906250" cy="985700"/>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142875" y="55706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2036</a:t>
            </a:r>
          </a:p>
        </p:txBody>
      </p:sp>
      <p:cxnSp>
        <p:nvCxnSpPr>
          <p:cNvPr id="32" name="Connector 31"/>
          <p:cNvCxnSpPr/>
          <p:nvPr/>
        </p:nvCxnSpPr>
        <p:spPr>
          <a:xfrm>
            <a:off x="1571625" y="55706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714500" y="5862745"/>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Forecast outcome: the north america market reaches 62,068 US$ Mn, a 1.7× expansion on 2026 and 26,090 US$ Mn of incremental value at 5.6% CAGR. Volume compounds at 4.3% over the same window, leaving realisation 1.3% a year the gap between the two is the premiumisation the forecast assumes.</a:t>
            </a:r>
          </a:p>
        </p:txBody>
      </p:sp>
      <p:sp>
        <p:nvSpPr>
          <p:cNvPr id="34" name="TextBox 3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North America Flexible Plastic Packaging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142875" y="989007"/>
            <a:ext cx="11906250" cy="328567"/>
          </a:xfrm>
          <a:prstGeom prst="rect">
            <a:avLst/>
          </a:prstGeom>
          <a:noFill/>
        </p:spPr>
        <p:txBody>
          <a:bodyPr wrap="square" lIns="28575" rIns="28575" tIns="9525" bIns="9525" anchor="ctr">
            <a:spAutoFit/>
          </a:bodyPr>
          <a:lstStyle/>
          <a:p>
            <a:pPr algn="l">
              <a:lnSpc>
                <a:spcPct val="115000"/>
              </a:lnSpc>
            </a:pPr>
            <a:r>
              <a:rPr sz="1100" b="0">
                <a:solidFill>
                  <a:srgbClr val="6C7A89"/>
                </a:solidFill>
                <a:latin typeface="Calibri"/>
              </a:rPr>
              <a:t>Supplier power, buyer power, competitive intensity, substitution and entry barriers scored from the north america dataset 4 product type lines, 2 application routes and 2 countries at 5.6% CAGR.</a:t>
            </a:r>
          </a:p>
        </p:txBody>
      </p:sp>
      <p:sp>
        <p:nvSpPr>
          <p:cNvPr id="12" name="Oval 11"/>
          <p:cNvSpPr/>
          <p:nvPr/>
        </p:nvSpPr>
        <p:spPr>
          <a:xfrm>
            <a:off x="876300" y="1427096"/>
            <a:ext cx="914400" cy="876177"/>
          </a:xfrm>
          <a:prstGeom prst="ellipse">
            <a:avLst/>
          </a:prstGeom>
          <a:solidFill>
            <a:srgbClr val="F2D24B"/>
          </a:solidFill>
          <a:ln w="12700">
            <a:solidFill>
              <a:srgbClr val="F2D24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047750" y="1664394"/>
            <a:ext cx="571500" cy="401581"/>
          </a:xfrm>
          <a:prstGeom prst="rect">
            <a:avLst/>
          </a:prstGeom>
          <a:noFill/>
        </p:spPr>
        <p:txBody>
          <a:bodyPr wrap="none" lIns="0" rIns="0" tIns="0" bIns="0" anchor="ctr">
            <a:spAutoFit/>
          </a:bodyPr>
          <a:lstStyle/>
          <a:p>
            <a:pPr algn="ctr"/>
            <a:r>
              <a:rPr sz="3400" b="1">
                <a:solidFill>
                  <a:srgbClr val="8A6A00"/>
                </a:solidFill>
                <a:latin typeface="Calibri"/>
              </a:rPr>
              <a:t>$</a:t>
            </a:r>
          </a:p>
        </p:txBody>
      </p:sp>
      <p:sp>
        <p:nvSpPr>
          <p:cNvPr id="14" name="TextBox 13"/>
          <p:cNvSpPr txBox="1"/>
          <p:nvPr/>
        </p:nvSpPr>
        <p:spPr>
          <a:xfrm>
            <a:off x="219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Suppliers</a:t>
            </a:r>
          </a:p>
        </p:txBody>
      </p:sp>
      <p:sp>
        <p:nvSpPr>
          <p:cNvPr id="15" name="TextBox 14"/>
          <p:cNvSpPr txBox="1"/>
          <p:nvPr/>
        </p:nvSpPr>
        <p:spPr>
          <a:xfrm>
            <a:off x="247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high. 'U.S.' supplies 90.3% of 2036 value across 2 countries, concentrating upstream leverage.</a:t>
            </a:r>
          </a:p>
        </p:txBody>
      </p:sp>
      <p:sp>
        <p:nvSpPr>
          <p:cNvPr id="16" name="TextBox 15"/>
          <p:cNvSpPr txBox="1"/>
          <p:nvPr/>
        </p:nvSpPr>
        <p:spPr>
          <a:xfrm>
            <a:off x="247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Average realisation moves 1.3% a year (2026–2036), indicating input costs are being passed through.</a:t>
            </a:r>
          </a:p>
        </p:txBody>
      </p:sp>
      <p:sp>
        <p:nvSpPr>
          <p:cNvPr id="17" name="TextBox 16"/>
          <p:cNvSpPr txBox="1"/>
          <p:nvPr/>
        </p:nvSpPr>
        <p:spPr>
          <a:xfrm>
            <a:off x="247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Buyers can rebalance across 4 product type lines, which caps supplier leverage in commodity grades.</a:t>
            </a:r>
          </a:p>
        </p:txBody>
      </p:sp>
      <p:sp>
        <p:nvSpPr>
          <p:cNvPr id="18" name="Oval 17"/>
          <p:cNvSpPr/>
          <p:nvPr/>
        </p:nvSpPr>
        <p:spPr>
          <a:xfrm>
            <a:off x="3257550" y="1427096"/>
            <a:ext cx="914400" cy="876177"/>
          </a:xfrm>
          <a:prstGeom prst="ellipse">
            <a:avLst/>
          </a:prstGeom>
          <a:solidFill>
            <a:srgbClr val="D9D9D9"/>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3476625" y="1710028"/>
            <a:ext cx="152400" cy="209918"/>
          </a:xfrm>
          <a:custGeom>
            <a:avLst/>
            <a:gdLst/>
            <a:ahLst/>
            <a:cxnLst/>
            <a:rect l="l" t="t" r="r" b="b"/>
            <a:pathLst>
              <a:path w="16" h="23">
                <a:moveTo>
                  <a:pt x="0" y="0"/>
                </a:moveTo>
                <a:lnTo>
                  <a:pt x="8" y="0"/>
                </a:lnTo>
                <a:lnTo>
                  <a:pt x="16" y="23"/>
                </a:lnTo>
              </a:path>
            </a:pathLst>
          </a:custGeom>
          <a:noFill/>
          <a:ln w="4318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3609975" y="1783043"/>
            <a:ext cx="342900" cy="155156"/>
          </a:xfrm>
          <a:custGeom>
            <a:avLst/>
            <a:gdLst/>
            <a:ahLst/>
            <a:cxnLst/>
            <a:rect l="l" t="t" r="r" b="b"/>
            <a:pathLst>
              <a:path w="36" h="17">
                <a:moveTo>
                  <a:pt x="0" y="0"/>
                </a:moveTo>
                <a:lnTo>
                  <a:pt x="36" y="0"/>
                </a:lnTo>
                <a:lnTo>
                  <a:pt x="31" y="17"/>
                </a:lnTo>
                <a:lnTo>
                  <a:pt x="5" y="17"/>
                </a:lnTo>
                <a:close/>
              </a:path>
            </a:pathLst>
          </a:custGeom>
          <a:solidFill>
            <a:srgbClr val="2B2B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Oval 20"/>
          <p:cNvSpPr/>
          <p:nvPr/>
        </p:nvSpPr>
        <p:spPr>
          <a:xfrm>
            <a:off x="3648075"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3829050"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6003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Buyers</a:t>
            </a:r>
          </a:p>
        </p:txBody>
      </p:sp>
      <p:sp>
        <p:nvSpPr>
          <p:cNvPr id="24" name="TextBox 23"/>
          <p:cNvSpPr txBox="1"/>
          <p:nvPr/>
        </p:nvSpPr>
        <p:spPr>
          <a:xfrm>
            <a:off x="262890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low. Demand routes through 2 application channels led by 'Food Packaging' at 83.8%, giving large buyers scale.</a:t>
            </a:r>
          </a:p>
        </p:txBody>
      </p:sp>
      <p:sp>
        <p:nvSpPr>
          <p:cNvPr id="25" name="TextBox 24"/>
          <p:cNvSpPr txBox="1"/>
          <p:nvPr/>
        </p:nvSpPr>
        <p:spPr>
          <a:xfrm>
            <a:off x="2628900" y="3663174"/>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Price sensitivity tracks realisation moving 1.3% a year against volume growth of 4.3%.</a:t>
            </a:r>
          </a:p>
        </p:txBody>
      </p:sp>
      <p:sp>
        <p:nvSpPr>
          <p:cNvPr id="26" name="TextBox 25"/>
          <p:cNvSpPr txBox="1"/>
          <p:nvPr/>
        </p:nvSpPr>
        <p:spPr>
          <a:xfrm>
            <a:off x="26289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Switching is easiest where 4 comparable product type lines compete for the same demand.</a:t>
            </a:r>
          </a:p>
        </p:txBody>
      </p:sp>
      <p:sp>
        <p:nvSpPr>
          <p:cNvPr id="27" name="Oval 26"/>
          <p:cNvSpPr/>
          <p:nvPr/>
        </p:nvSpPr>
        <p:spPr>
          <a:xfrm>
            <a:off x="5638800" y="1427096"/>
            <a:ext cx="914400" cy="876177"/>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Oval 27"/>
          <p:cNvSpPr/>
          <p:nvPr/>
        </p:nvSpPr>
        <p:spPr>
          <a:xfrm>
            <a:off x="5876925" y="1655267"/>
            <a:ext cx="438150" cy="419835"/>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5943600" y="1719155"/>
            <a:ext cx="304800" cy="292059"/>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6010275" y="1783043"/>
            <a:ext cx="171450" cy="164283"/>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6062662" y="1833240"/>
            <a:ext cx="66675" cy="63888"/>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6134100" y="1627887"/>
            <a:ext cx="209550" cy="200791"/>
          </a:xfrm>
          <a:custGeom>
            <a:avLst/>
            <a:gdLst/>
            <a:ahLst/>
            <a:cxnLst/>
            <a:rect l="l" t="t" r="r" b="b"/>
            <a:pathLst>
              <a:path w="22" h="22">
                <a:moveTo>
                  <a:pt x="0" y="22"/>
                </a:moveTo>
                <a:lnTo>
                  <a:pt x="22" y="0"/>
                </a:lnTo>
              </a:path>
            </a:pathLst>
          </a:custGeom>
          <a:noFill/>
          <a:ln w="381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6267450" y="1591379"/>
            <a:ext cx="114300" cy="109522"/>
          </a:xfrm>
          <a:custGeom>
            <a:avLst/>
            <a:gdLst/>
            <a:ahLst/>
            <a:cxnLst/>
            <a:rect l="l" t="t" r="r" b="b"/>
            <a:pathLst>
              <a:path w="12" h="12">
                <a:moveTo>
                  <a:pt x="0" y="0"/>
                </a:moveTo>
                <a:lnTo>
                  <a:pt x="12" y="0"/>
                </a:lnTo>
                <a:lnTo>
                  <a:pt x="12" y="12"/>
                </a:lnTo>
                <a:close/>
              </a:path>
            </a:pathLst>
          </a:custGeom>
          <a:solidFill>
            <a:srgbClr val="B23A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9815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Intensity of Competition</a:t>
            </a:r>
          </a:p>
        </p:txBody>
      </p:sp>
      <p:sp>
        <p:nvSpPr>
          <p:cNvPr id="35" name="TextBox 34"/>
          <p:cNvSpPr txBox="1"/>
          <p:nvPr/>
        </p:nvSpPr>
        <p:spPr>
          <a:xfrm>
            <a:off x="5010150" y="2796123"/>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4 product type lines compete inside the segment; the leader holds 52.7%.</a:t>
            </a:r>
          </a:p>
        </p:txBody>
      </p:sp>
      <p:sp>
        <p:nvSpPr>
          <p:cNvPr id="36" name="TextBox 35"/>
          <p:cNvSpPr txBox="1"/>
          <p:nvPr/>
        </p:nvSpPr>
        <p:spPr>
          <a:xfrm>
            <a:off x="5010150" y="3480637"/>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Growth is unevenly distributed 'Barrier Casings' at 5.8% against 'Rollstock Films' at 5.5%.</a:t>
            </a:r>
          </a:p>
        </p:txBody>
      </p:sp>
      <p:sp>
        <p:nvSpPr>
          <p:cNvPr id="37" name="TextBox 36"/>
          <p:cNvSpPr txBox="1"/>
          <p:nvPr/>
        </p:nvSpPr>
        <p:spPr>
          <a:xfrm>
            <a:off x="5010150" y="4165151"/>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1 of 2 countries grow at or above the 5.6% market pace, keeping share contested.</a:t>
            </a:r>
          </a:p>
        </p:txBody>
      </p:sp>
      <p:sp>
        <p:nvSpPr>
          <p:cNvPr id="38" name="Oval 37"/>
          <p:cNvSpPr/>
          <p:nvPr/>
        </p:nvSpPr>
        <p:spPr>
          <a:xfrm>
            <a:off x="8020050" y="1427096"/>
            <a:ext cx="914400" cy="876177"/>
          </a:xfrm>
          <a:prstGeom prst="ellipse">
            <a:avLst/>
          </a:prstGeom>
          <a:solidFill>
            <a:srgbClr val="C9C0E0"/>
          </a:solidFill>
          <a:ln w="12700">
            <a:solidFill>
              <a:srgbClr val="C9C0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ounded Rectangle 38"/>
          <p:cNvSpPr/>
          <p:nvPr/>
        </p:nvSpPr>
        <p:spPr>
          <a:xfrm>
            <a:off x="8382000" y="1637014"/>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ounded Rectangle 39"/>
          <p:cNvSpPr/>
          <p:nvPr/>
        </p:nvSpPr>
        <p:spPr>
          <a:xfrm>
            <a:off x="82486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ounded Rectangle 40"/>
          <p:cNvSpPr/>
          <p:nvPr/>
        </p:nvSpPr>
        <p:spPr>
          <a:xfrm>
            <a:off x="85153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3628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Substitutes</a:t>
            </a:r>
          </a:p>
        </p:txBody>
      </p:sp>
      <p:sp>
        <p:nvSpPr>
          <p:cNvPr id="43" name="TextBox 42"/>
          <p:cNvSpPr txBox="1"/>
          <p:nvPr/>
        </p:nvSpPr>
        <p:spPr>
          <a:xfrm>
            <a:off x="73914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low. 'Rollstock Films' loses 78 BPS of share to 'Premade Pouches &amp; Bags' (+54 BPS) by 2036 substitution is visible inside the mix.</a:t>
            </a:r>
          </a:p>
        </p:txBody>
      </p:sp>
      <p:sp>
        <p:nvSpPr>
          <p:cNvPr id="44" name="TextBox 43"/>
          <p:cNvSpPr txBox="1"/>
          <p:nvPr/>
        </p:nvSpPr>
        <p:spPr>
          <a:xfrm>
            <a:off x="7391400" y="3854838"/>
            <a:ext cx="21717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The slowest line grows at 5.5%, -15 BPS against the market.</a:t>
            </a:r>
          </a:p>
        </p:txBody>
      </p:sp>
      <p:sp>
        <p:nvSpPr>
          <p:cNvPr id="45" name="TextBox 44"/>
          <p:cNvSpPr txBox="1"/>
          <p:nvPr/>
        </p:nvSpPr>
        <p:spPr>
          <a:xfrm>
            <a:off x="73914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Realisation moving 1.3% a year widens the price gap substitutes must close.</a:t>
            </a:r>
          </a:p>
        </p:txBody>
      </p:sp>
      <p:sp>
        <p:nvSpPr>
          <p:cNvPr id="46" name="Oval 45"/>
          <p:cNvSpPr/>
          <p:nvPr/>
        </p:nvSpPr>
        <p:spPr>
          <a:xfrm>
            <a:off x="10401300" y="1427096"/>
            <a:ext cx="914400" cy="876177"/>
          </a:xfrm>
          <a:prstGeom prst="ellipse">
            <a:avLst/>
          </a:prstGeom>
          <a:solidFill>
            <a:srgbClr val="BFDCEA"/>
          </a:solidFill>
          <a:ln w="12700">
            <a:solidFill>
              <a:srgbClr val="BFDC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10610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10563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10991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10944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0782300" y="1609633"/>
            <a:ext cx="152400" cy="146030"/>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10715625" y="1783043"/>
            <a:ext cx="285750" cy="255552"/>
          </a:xfrm>
          <a:custGeom>
            <a:avLst/>
            <a:gdLst/>
            <a:ahLst/>
            <a:cxnLst/>
            <a:rect l="l" t="t" r="r" b="b"/>
            <a:pathLst>
              <a:path w="30" h="28">
                <a:moveTo>
                  <a:pt x="0" y="28"/>
                </a:moveTo>
                <a:lnTo>
                  <a:pt x="4" y="0"/>
                </a:lnTo>
                <a:lnTo>
                  <a:pt x="26" y="0"/>
                </a:lnTo>
                <a:lnTo>
                  <a:pt x="30" y="28"/>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744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New Entrants</a:t>
            </a:r>
          </a:p>
        </p:txBody>
      </p:sp>
      <p:sp>
        <p:nvSpPr>
          <p:cNvPr id="54" name="TextBox 53"/>
          <p:cNvSpPr txBox="1"/>
          <p:nvPr/>
        </p:nvSpPr>
        <p:spPr>
          <a:xfrm>
            <a:off x="9772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low. The market grows at 5.6% CAGR and adds 26,090 US$ Mn by 2036, attracting entry.</a:t>
            </a:r>
          </a:p>
        </p:txBody>
      </p:sp>
      <p:sp>
        <p:nvSpPr>
          <p:cNvPr id="55" name="TextBox 54"/>
          <p:cNvSpPr txBox="1"/>
          <p:nvPr/>
        </p:nvSpPr>
        <p:spPr>
          <a:xfrm>
            <a:off x="9772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Demand spreads over 2 countries with no single one above 90.3%, so regional entry is feasible.</a:t>
            </a:r>
          </a:p>
        </p:txBody>
      </p:sp>
      <p:sp>
        <p:nvSpPr>
          <p:cNvPr id="56" name="TextBox 55"/>
          <p:cNvSpPr txBox="1"/>
          <p:nvPr/>
        </p:nvSpPr>
        <p:spPr>
          <a:xfrm>
            <a:off x="9772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Incumbent scale in 'U.S.' and 'Rollstock Films' (52.7% of segment) remains the principal barrier.</a:t>
            </a:r>
          </a:p>
        </p:txBody>
      </p:sp>
      <p:sp>
        <p:nvSpPr>
          <p:cNvPr id="57" name="TextBox 5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tr>
              <a:tr h="175260">
                <a:tc>
                  <a:txBody>
                    <a:bodyPr wrap="square"/>
                    <a:lstStyle/>
                    <a:p>
                      <a:pPr algn="l"/>
                      <a:r>
                        <a:rPr sz="1100" b="0" i="1">
                          <a:solidFill>
                            <a:srgbClr val="000000"/>
                          </a:solidFill>
                          <a:latin typeface="Calibri"/>
                        </a:rPr>
                        <a:t>1.1.1.1.</a:t>
                      </a:r>
                      <a:r>
                        <a:rPr sz="700" b="0" i="1">
                          <a:solidFill>
                            <a:srgbClr val="000000"/>
                          </a:solidFill>
                          <a:latin typeface="Times New Roman"/>
                        </a:rPr>
                        <a:t>    </a:t>
                      </a:r>
                      <a:r>
                        <a:rPr sz="1100" b="0" i="1">
                          <a:solidFill>
                            <a:srgbClr val="000000"/>
                          </a:solidFill>
                          <a:latin typeface="Calibri"/>
                        </a:rPr>
                        <a:t>Key Supply Trends</a:t>
                      </a:r>
                      <a:endParaRPr sz="1100"/>
                    </a:p>
                  </a:txBody>
                  <a:tcPr marL="10287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tr>
              <a:tr h="175260">
                <a:tc>
                  <a:txBody>
                    <a:bodyPr wrap="square"/>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tr>
              <a:tr h="175260">
                <a:tc>
                  <a:txBody>
                    <a:bodyPr wrap="square"/>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tr>
              <a:tr h="175260">
                <a:tc>
                  <a:txBody>
                    <a:bodyPr wrap="square"/>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tr>
              <a:tr h="175260">
                <a:tc>
                  <a:txBody>
                    <a:bodyPr wrap="square"/>
                    <a:lstStyle/>
                    <a:p>
                      <a:pPr algn="l"/>
                      <a:r>
                        <a:rPr sz="1100" b="1" i="0">
                          <a:solidFill>
                            <a:srgbClr val="000000"/>
                          </a:solidFill>
                          <a:latin typeface="Calibri"/>
                        </a:rPr>
                        <a:t>Section 1: Global Market Outlook</a:t>
                      </a:r>
                      <a:endParaRPr sz="1100"/>
                    </a:p>
                  </a:txBody>
                  <a:tcPr marL="9525" marR="9525" marT="9525" marB="0" anchor="ctr"/>
                </a:tc>
              </a:tr>
              <a:tr h="175260">
                <a:tc>
                  <a:txBody>
                    <a:bodyPr wrap="square"/>
                    <a:lstStyle/>
                    <a:p>
                      <a:pPr algn="l"/>
                      <a:r>
                        <a:rPr sz="1100" b="0" i="1">
                          <a:solidFill>
                            <a:srgbClr val="000000"/>
                          </a:solidFill>
                          <a:latin typeface="Calibri"/>
                        </a:rPr>
                        <a:t>2.2.1.1.</a:t>
                      </a:r>
                      <a:r>
                        <a:rPr sz="700" b="0" i="1">
                          <a:solidFill>
                            <a:srgbClr val="000000"/>
                          </a:solidFill>
                          <a:latin typeface="Times New Roman"/>
                        </a:rPr>
                        <a:t>    </a:t>
                      </a:r>
                      <a:r>
                        <a:rPr sz="1100" b="0" i="1">
                          <a:solidFill>
                            <a:srgbClr val="000000"/>
                          </a:solidFill>
                          <a:latin typeface="Calibri"/>
                        </a:rPr>
                        <a:t>Global Market Size (Value &amp; Volume) 2021–2036</a:t>
                      </a:r>
                      <a:endParaRPr sz="1100"/>
                    </a:p>
                  </a:txBody>
                  <a:tcPr marL="1028700" marR="9525" marT="9525" marB="0" anchor="ctr"/>
                </a:tc>
              </a:tr>
              <a:tr h="175260">
                <a:tc>
                  <a:txBody>
                    <a:bodyPr wrap="square"/>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2.4.</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2.5.</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2.6.</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Global Market (Value- Volume) Analysis 2021-2036, By Product Type</a:t>
                      </a:r>
                      <a:endParaRPr sz="1100"/>
                    </a:p>
                  </a:txBody>
                  <a:tcPr marL="171450" marR="9525" marT="9525" marB="0" anchor="ctr"/>
                </a:tc>
              </a:tr>
              <a:tr h="175260">
                <a:tc>
                  <a:txBody>
                    <a:bodyPr wrap="square"/>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3.5.1.</a:t>
                      </a:r>
                      <a:r>
                        <a:rPr sz="700" b="0" i="0">
                          <a:solidFill>
                            <a:srgbClr val="000000"/>
                          </a:solidFill>
                          <a:latin typeface="Times New Roman"/>
                        </a:rPr>
                        <a:t>   </a:t>
                      </a:r>
                      <a:r>
                        <a:rPr sz="1100" b="0" i="0">
                          <a:solidFill>
                            <a:srgbClr val="000000"/>
                          </a:solidFill>
                          <a:latin typeface="Calibri"/>
                        </a:rPr>
                        <a:t>Flat Polybags</a:t>
                      </a:r>
                      <a:endParaRPr sz="1100"/>
                    </a:p>
                  </a:txBody>
                  <a:tcPr marL="771525" marR="9525" marT="9525" marB="0" anchor="ctr"/>
                </a:tc>
              </a:tr>
              <a:tr h="175260">
                <a:tc>
                  <a:txBody>
                    <a:bodyPr wrap="square"/>
                    <a:lstStyle/>
                    <a:p>
                      <a:pPr algn="l"/>
                      <a:r>
                        <a:rPr sz="1100" b="0" i="1">
                          <a:solidFill>
                            <a:srgbClr val="000000"/>
                          </a:solidFill>
                          <a:latin typeface="Calibri"/>
                        </a:rPr>
                        <a:t>3.5.1.1.</a:t>
                      </a:r>
                      <a:r>
                        <a:rPr sz="700" b="0" i="1">
                          <a:solidFill>
                            <a:srgbClr val="000000"/>
                          </a:solidFill>
                          <a:latin typeface="Times New Roman"/>
                        </a:rPr>
                        <a:t>    </a:t>
                      </a:r>
                      <a:r>
                        <a:rPr sz="1100" b="0" i="1">
                          <a:solidFill>
                            <a:srgbClr val="000000"/>
                          </a:solidFill>
                          <a:latin typeface="Calibri"/>
                        </a:rPr>
                        <a:t>Standard Flat Bags</a:t>
                      </a:r>
                      <a:endParaRPr sz="1100"/>
                    </a:p>
                  </a:txBody>
                  <a:tcPr marL="1028700" marR="9525" marT="9525" marB="0" anchor="ctr"/>
                </a:tc>
              </a:tr>
              <a:tr h="175260">
                <a:tc>
                  <a:txBody>
                    <a:bodyPr wrap="square"/>
                    <a:lstStyle/>
                    <a:p>
                      <a:pPr algn="l"/>
                      <a:r>
                        <a:rPr sz="1100" b="0" i="1">
                          <a:solidFill>
                            <a:srgbClr val="000000"/>
                          </a:solidFill>
                          <a:latin typeface="Calibri"/>
                        </a:rPr>
                        <a:t>3.5.1.2.</a:t>
                      </a:r>
                      <a:r>
                        <a:rPr sz="700" b="0" i="1">
                          <a:solidFill>
                            <a:srgbClr val="000000"/>
                          </a:solidFill>
                          <a:latin typeface="Times New Roman"/>
                        </a:rPr>
                        <a:t>    </a:t>
                      </a:r>
                      <a:r>
                        <a:rPr sz="1100" b="0" i="1">
                          <a:solidFill>
                            <a:srgbClr val="000000"/>
                          </a:solidFill>
                          <a:latin typeface="Calibri"/>
                        </a:rPr>
                        <a:t>Lay Flat Tubing</a:t>
                      </a:r>
                      <a:endParaRPr sz="1100"/>
                    </a:p>
                  </a:txBody>
                  <a:tcPr marL="1028700" marR="9525" marT="9525" marB="0" anchor="ctr"/>
                </a:tc>
              </a:tr>
              <a:tr h="175260">
                <a:tc>
                  <a:txBody>
                    <a:bodyPr wrap="square"/>
                    <a:lstStyle/>
                    <a:p>
                      <a:pPr algn="l"/>
                      <a:r>
                        <a:rPr sz="1100" b="0" i="1">
                          <a:solidFill>
                            <a:srgbClr val="000000"/>
                          </a:solidFill>
                          <a:latin typeface="Calibri"/>
                        </a:rPr>
                        <a:t>3.5.1.3.</a:t>
                      </a:r>
                      <a:r>
                        <a:rPr sz="700" b="0" i="1">
                          <a:solidFill>
                            <a:srgbClr val="000000"/>
                          </a:solidFill>
                          <a:latin typeface="Times New Roman"/>
                        </a:rPr>
                        <a:t>    </a:t>
                      </a:r>
                      <a:r>
                        <a:rPr sz="1100" b="0" i="1">
                          <a:solidFill>
                            <a:srgbClr val="000000"/>
                          </a:solidFill>
                          <a:latin typeface="Calibri"/>
                        </a:rPr>
                        <a:t>Flat Poly Sleeves</a:t>
                      </a:r>
                      <a:endParaRPr sz="1100"/>
                    </a:p>
                  </a:txBody>
                  <a:tcPr marL="1028700" marR="9525" marT="9525" marB="0" anchor="ctr"/>
                </a:tc>
              </a:tr>
              <a:tr h="175260">
                <a:tc>
                  <a:txBody>
                    <a:bodyPr wrap="square"/>
                    <a:lstStyle/>
                    <a:p>
                      <a:pPr algn="l"/>
                      <a:r>
                        <a:rPr sz="1100" b="0" i="0">
                          <a:solidFill>
                            <a:srgbClr val="000000"/>
                          </a:solidFill>
                          <a:latin typeface="Calibri"/>
                        </a:rPr>
                        <a:t>3.5.2.</a:t>
                      </a:r>
                      <a:r>
                        <a:rPr sz="700" b="0" i="0">
                          <a:solidFill>
                            <a:srgbClr val="000000"/>
                          </a:solidFill>
                          <a:latin typeface="Times New Roman"/>
                        </a:rPr>
                        <a:t>   </a:t>
                      </a:r>
                      <a:r>
                        <a:rPr sz="1100" b="0" i="0">
                          <a:solidFill>
                            <a:srgbClr val="000000"/>
                          </a:solidFill>
                          <a:latin typeface="Calibri"/>
                        </a:rPr>
                        <a:t>Gusseted Polybags</a:t>
                      </a:r>
                      <a:endParaRPr sz="1100"/>
                    </a:p>
                  </a:txBody>
                  <a:tcPr marL="771525" marR="9525" marT="9525" marB="0" anchor="ctr"/>
                </a:tc>
              </a:tr>
              <a:tr h="175260">
                <a:tc>
                  <a:txBody>
                    <a:bodyPr wrap="square"/>
                    <a:lstStyle/>
                    <a:p>
                      <a:pPr algn="l"/>
                      <a:r>
                        <a:rPr sz="1100" b="0" i="1">
                          <a:solidFill>
                            <a:srgbClr val="000000"/>
                          </a:solidFill>
                          <a:latin typeface="Calibri"/>
                        </a:rPr>
                        <a:t>3.5.2.1.</a:t>
                      </a:r>
                      <a:r>
                        <a:rPr sz="700" b="0" i="1">
                          <a:solidFill>
                            <a:srgbClr val="000000"/>
                          </a:solidFill>
                          <a:latin typeface="Times New Roman"/>
                        </a:rPr>
                        <a:t>    </a:t>
                      </a:r>
                      <a:r>
                        <a:rPr sz="1100" b="0" i="1">
                          <a:solidFill>
                            <a:srgbClr val="000000"/>
                          </a:solidFill>
                          <a:latin typeface="Calibri"/>
                        </a:rPr>
                        <a:t>Side Gusset Bags</a:t>
                      </a:r>
                      <a:endParaRPr sz="1100"/>
                    </a:p>
                  </a:txBody>
                  <a:tcPr marL="1028700" marR="9525" marT="9525" marB="0" anchor="ctr"/>
                </a:tc>
              </a:tr>
              <a:tr h="175260">
                <a:tc>
                  <a:txBody>
                    <a:bodyPr wrap="square"/>
                    <a:lstStyle/>
                    <a:p>
                      <a:pPr algn="l"/>
                      <a:r>
                        <a:rPr sz="1100" b="0" i="1">
                          <a:solidFill>
                            <a:srgbClr val="000000"/>
                          </a:solidFill>
                          <a:latin typeface="Calibri"/>
                        </a:rPr>
                        <a:t>3.5.2.2.</a:t>
                      </a:r>
                      <a:r>
                        <a:rPr sz="700" b="0" i="1">
                          <a:solidFill>
                            <a:srgbClr val="000000"/>
                          </a:solidFill>
                          <a:latin typeface="Times New Roman"/>
                        </a:rPr>
                        <a:t>    </a:t>
                      </a:r>
                      <a:r>
                        <a:rPr sz="1100" b="0" i="1">
                          <a:solidFill>
                            <a:srgbClr val="000000"/>
                          </a:solidFill>
                          <a:latin typeface="Calibri"/>
                        </a:rPr>
                        <a:t>Bottom Gusset Bags</a:t>
                      </a:r>
                      <a:endParaRPr sz="1100"/>
                    </a:p>
                  </a:txBody>
                  <a:tcPr marL="1028700" marR="9525" marT="9525" marB="0" anchor="ctr"/>
                </a:tc>
              </a:tr>
              <a:tr h="175260">
                <a:tc>
                  <a:txBody>
                    <a:bodyPr wrap="square"/>
                    <a:lstStyle/>
                    <a:p>
                      <a:pPr algn="l"/>
                      <a:r>
                        <a:rPr sz="1100" b="0" i="1">
                          <a:solidFill>
                            <a:srgbClr val="000000"/>
                          </a:solidFill>
                          <a:latin typeface="Calibri"/>
                        </a:rPr>
                        <a:t>3.5.2.3.</a:t>
                      </a:r>
                      <a:r>
                        <a:rPr sz="700" b="0" i="1">
                          <a:solidFill>
                            <a:srgbClr val="000000"/>
                          </a:solidFill>
                          <a:latin typeface="Times New Roman"/>
                        </a:rPr>
                        <a:t>    </a:t>
                      </a:r>
                      <a:r>
                        <a:rPr sz="1100" b="0" i="1">
                          <a:solidFill>
                            <a:srgbClr val="000000"/>
                          </a:solidFill>
                          <a:latin typeface="Calibri"/>
                        </a:rPr>
                        <a:t>Quad Seal Bags</a:t>
                      </a:r>
                      <a:endParaRPr sz="1100"/>
                    </a:p>
                  </a:txBody>
                  <a:tcPr marL="1028700" marR="9525" marT="9525" marB="0" anchor="ctr"/>
                </a:tc>
              </a:tr>
              <a:tr h="175260">
                <a:tc>
                  <a:txBody>
                    <a:bodyPr wrap="square"/>
                    <a:lstStyle/>
                    <a:p>
                      <a:pPr algn="l"/>
                      <a:r>
                        <a:rPr sz="1100" b="0" i="0">
                          <a:solidFill>
                            <a:srgbClr val="000000"/>
                          </a:solidFill>
                          <a:latin typeface="Calibri"/>
                        </a:rPr>
                        <a:t>3.5.3.</a:t>
                      </a:r>
                      <a:r>
                        <a:rPr sz="700" b="0" i="0">
                          <a:solidFill>
                            <a:srgbClr val="000000"/>
                          </a:solidFill>
                          <a:latin typeface="Times New Roman"/>
                        </a:rPr>
                        <a:t>   </a:t>
                      </a:r>
                      <a:r>
                        <a:rPr sz="1100" b="0" i="0">
                          <a:solidFill>
                            <a:srgbClr val="000000"/>
                          </a:solidFill>
                          <a:latin typeface="Calibri"/>
                        </a:rPr>
                        <a:t>Resealable Polybags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3.5.3.1.</a:t>
                      </a:r>
                      <a:r>
                        <a:rPr sz="700" b="0" i="1">
                          <a:solidFill>
                            <a:srgbClr val="000000"/>
                          </a:solidFill>
                          <a:latin typeface="Times New Roman"/>
                        </a:rPr>
                        <a:t>    </a:t>
                      </a:r>
                      <a:r>
                        <a:rPr sz="1100" b="0" i="1">
                          <a:solidFill>
                            <a:srgbClr val="000000"/>
                          </a:solidFill>
                          <a:latin typeface="Calibri"/>
                        </a:rPr>
                        <a:t>Zip Lock Bags</a:t>
                      </a:r>
                      <a:endParaRPr sz="1100"/>
                    </a:p>
                  </a:txBody>
                  <a:tcPr marL="1028700" marR="9525" marT="9525" marB="0" anchor="ctr"/>
                </a:tc>
              </a:tr>
              <a:tr h="175260">
                <a:tc>
                  <a:txBody>
                    <a:bodyPr wrap="square"/>
                    <a:lstStyle/>
                    <a:p>
                      <a:pPr algn="l"/>
                      <a:r>
                        <a:rPr sz="1100" b="0" i="1">
                          <a:solidFill>
                            <a:srgbClr val="000000"/>
                          </a:solidFill>
                          <a:latin typeface="Calibri"/>
                        </a:rPr>
                        <a:t>3.5.3.2.</a:t>
                      </a:r>
                      <a:r>
                        <a:rPr sz="700" b="0" i="1">
                          <a:solidFill>
                            <a:srgbClr val="000000"/>
                          </a:solidFill>
                          <a:latin typeface="Times New Roman"/>
                        </a:rPr>
                        <a:t>    </a:t>
                      </a:r>
                      <a:r>
                        <a:rPr sz="1100" b="0" i="1">
                          <a:solidFill>
                            <a:srgbClr val="000000"/>
                          </a:solidFill>
                          <a:latin typeface="Calibri"/>
                        </a:rPr>
                        <a:t>Slider Zip Bags</a:t>
                      </a:r>
                      <a:endParaRPr sz="1100"/>
                    </a:p>
                  </a:txBody>
                  <a:tcPr marL="1028700" marR="9525" marT="9525" marB="0" anchor="ctr"/>
                </a:tc>
              </a:tr>
              <a:tr h="175260">
                <a:tc>
                  <a:txBody>
                    <a:bodyPr wrap="square"/>
                    <a:lstStyle/>
                    <a:p>
                      <a:pPr algn="l"/>
                      <a:r>
                        <a:rPr sz="1100" b="0" i="1">
                          <a:solidFill>
                            <a:srgbClr val="000000"/>
                          </a:solidFill>
                          <a:latin typeface="Calibri"/>
                        </a:rPr>
                        <a:t>3.5.3.3.</a:t>
                      </a:r>
                      <a:r>
                        <a:rPr sz="700" b="0" i="1">
                          <a:solidFill>
                            <a:srgbClr val="000000"/>
                          </a:solidFill>
                          <a:latin typeface="Times New Roman"/>
                        </a:rPr>
                        <a:t>    </a:t>
                      </a:r>
                      <a:r>
                        <a:rPr sz="1100" b="0" i="1">
                          <a:solidFill>
                            <a:srgbClr val="000000"/>
                          </a:solidFill>
                          <a:latin typeface="Calibri"/>
                        </a:rPr>
                        <a:t>Press-to-Close Bags</a:t>
                      </a:r>
                      <a:endParaRPr sz="1100"/>
                    </a:p>
                  </a:txBody>
                  <a:tcPr marL="1028700" marR="9525" marT="9525" marB="0" anchor="ctr"/>
                </a:tc>
              </a:tr>
              <a:tr h="175260">
                <a:tc>
                  <a:txBody>
                    <a:bodyPr wrap="square"/>
                    <a:lstStyle/>
                    <a:p>
                      <a:pPr algn="l"/>
                      <a:r>
                        <a:rPr sz="1100" b="0" i="1">
                          <a:solidFill>
                            <a:srgbClr val="000000"/>
                          </a:solidFill>
                          <a:latin typeface="Calibri"/>
                        </a:rPr>
                        <a:t>3.5.3.4.</a:t>
                      </a:r>
                      <a:r>
                        <a:rPr sz="700" b="0" i="1">
                          <a:solidFill>
                            <a:srgbClr val="000000"/>
                          </a:solidFill>
                          <a:latin typeface="Times New Roman"/>
                        </a:rPr>
                        <a:t>    </a:t>
                      </a:r>
                      <a:r>
                        <a:rPr sz="1100" b="0" i="1">
                          <a:solidFill>
                            <a:srgbClr val="000000"/>
                          </a:solidFill>
                          <a:latin typeface="Calibri"/>
                        </a:rPr>
                        <a:t>Double Zip Bags</a:t>
                      </a:r>
                      <a:endParaRPr sz="1100"/>
                    </a:p>
                  </a:txBody>
                  <a:tcPr marL="1028700" marR="9525" marT="9525" marB="0" anchor="ctr"/>
                </a:tc>
              </a:tr>
              <a:tr h="175260">
                <a:tc>
                  <a:txBody>
                    <a:bodyPr wrap="square"/>
                    <a:lstStyle/>
                    <a:p>
                      <a:pPr algn="l"/>
                      <a:r>
                        <a:rPr sz="1100" b="0" i="0">
                          <a:solidFill>
                            <a:srgbClr val="000000"/>
                          </a:solidFill>
                          <a:latin typeface="Calibri"/>
                        </a:rPr>
                        <a:t>3.5.4.</a:t>
                      </a:r>
                      <a:r>
                        <a:rPr sz="700" b="0" i="0">
                          <a:solidFill>
                            <a:srgbClr val="000000"/>
                          </a:solidFill>
                          <a:latin typeface="Times New Roman"/>
                        </a:rPr>
                        <a:t>   </a:t>
                      </a:r>
                      <a:r>
                        <a:rPr sz="1100" b="0" i="0">
                          <a:solidFill>
                            <a:srgbClr val="000000"/>
                          </a:solidFill>
                          <a:latin typeface="Calibri"/>
                        </a:rPr>
                        <a:t>Industrial Polybags</a:t>
                      </a:r>
                      <a:endParaRPr sz="1100"/>
                    </a:p>
                  </a:txBody>
                  <a:tcPr marL="771525" marR="9525" marT="9525" marB="0" anchor="ctr"/>
                </a:tc>
              </a:tr>
              <a:tr h="175260">
                <a:tc>
                  <a:txBody>
                    <a:bodyPr wrap="square"/>
                    <a:lstStyle/>
                    <a:p>
                      <a:pPr algn="l"/>
                      <a:r>
                        <a:rPr sz="1100" b="0" i="1">
                          <a:solidFill>
                            <a:srgbClr val="000000"/>
                          </a:solidFill>
                          <a:latin typeface="Calibri"/>
                        </a:rPr>
                        <a:t>3.5.4.1.</a:t>
                      </a:r>
                      <a:r>
                        <a:rPr sz="700" b="0" i="1">
                          <a:solidFill>
                            <a:srgbClr val="000000"/>
                          </a:solidFill>
                          <a:latin typeface="Times New Roman"/>
                        </a:rPr>
                        <a:t>    </a:t>
                      </a:r>
                      <a:r>
                        <a:rPr sz="1100" b="0" i="1">
                          <a:solidFill>
                            <a:srgbClr val="000000"/>
                          </a:solidFill>
                          <a:latin typeface="Calibri"/>
                        </a:rPr>
                        <a:t>Heavy-Duty Bags</a:t>
                      </a:r>
                      <a:endParaRPr sz="1100"/>
                    </a:p>
                  </a:txBody>
                  <a:tcPr marL="1028700" marR="9525" marT="9525" marB="0" anchor="ctr"/>
                </a:tc>
              </a:tr>
              <a:tr h="175260">
                <a:tc>
                  <a:txBody>
                    <a:bodyPr wrap="square"/>
                    <a:lstStyle/>
                    <a:p>
                      <a:pPr algn="l"/>
                      <a:r>
                        <a:rPr sz="1100" b="0" i="1">
                          <a:solidFill>
                            <a:srgbClr val="000000"/>
                          </a:solidFill>
                          <a:latin typeface="Calibri"/>
                        </a:rPr>
                        <a:t>3.5.4.2.</a:t>
                      </a:r>
                      <a:r>
                        <a:rPr sz="700" b="0" i="1">
                          <a:solidFill>
                            <a:srgbClr val="000000"/>
                          </a:solidFill>
                          <a:latin typeface="Times New Roman"/>
                        </a:rPr>
                        <a:t>    </a:t>
                      </a:r>
                      <a:r>
                        <a:rPr sz="1100" b="0" i="1">
                          <a:solidFill>
                            <a:srgbClr val="000000"/>
                          </a:solidFill>
                          <a:latin typeface="Calibri"/>
                        </a:rPr>
                        <a:t>FIBC Liners</a:t>
                      </a:r>
                      <a:endParaRPr sz="1100"/>
                    </a:p>
                  </a:txBody>
                  <a:tcPr marL="1028700" marR="9525" marT="9525" marB="0" anchor="ctr"/>
                </a:tc>
              </a:tr>
              <a:tr h="175260">
                <a:tc>
                  <a:txBody>
                    <a:bodyPr wrap="square"/>
                    <a:lstStyle/>
                    <a:p>
                      <a:pPr algn="l"/>
                      <a:r>
                        <a:rPr sz="1100" b="0" i="1">
                          <a:solidFill>
                            <a:srgbClr val="000000"/>
                          </a:solidFill>
                          <a:latin typeface="Calibri"/>
                        </a:rPr>
                        <a:t>3.5.4.3.</a:t>
                      </a:r>
                      <a:r>
                        <a:rPr sz="700" b="0" i="1">
                          <a:solidFill>
                            <a:srgbClr val="000000"/>
                          </a:solidFill>
                          <a:latin typeface="Times New Roman"/>
                        </a:rPr>
                        <a:t>    </a:t>
                      </a:r>
                      <a:r>
                        <a:rPr sz="1100" b="0" i="1">
                          <a:solidFill>
                            <a:srgbClr val="000000"/>
                          </a:solidFill>
                          <a:latin typeface="Calibri"/>
                        </a:rPr>
                        <a:t>Machinery Parts Bags</a:t>
                      </a:r>
                      <a:endParaRPr sz="1100"/>
                    </a:p>
                  </a:txBody>
                  <a:tcPr marL="1028700" marR="9525" marT="9525" marB="0" anchor="ctr"/>
                </a:tc>
              </a:tr>
              <a:tr h="175260">
                <a:tc>
                  <a:txBody>
                    <a:bodyPr wrap="square"/>
                    <a:lstStyle/>
                    <a:p>
                      <a:pPr algn="l"/>
                      <a:r>
                        <a:rPr sz="1100" b="0" i="1">
                          <a:solidFill>
                            <a:srgbClr val="000000"/>
                          </a:solidFill>
                          <a:latin typeface="Calibri"/>
                        </a:rPr>
                        <a:t>3.5.4.4.</a:t>
                      </a:r>
                      <a:r>
                        <a:rPr sz="700" b="0" i="1">
                          <a:solidFill>
                            <a:srgbClr val="000000"/>
                          </a:solidFill>
                          <a:latin typeface="Times New Roman"/>
                        </a:rPr>
                        <a:t>    </a:t>
                      </a:r>
                      <a:r>
                        <a:rPr sz="1100" b="0" i="1">
                          <a:solidFill>
                            <a:srgbClr val="000000"/>
                          </a:solidFill>
                          <a:latin typeface="Calibri"/>
                        </a:rPr>
                        <a:t>Chemical Packaging Bags</a:t>
                      </a:r>
                      <a:endParaRPr sz="1100"/>
                    </a:p>
                  </a:txBody>
                  <a:tcPr marL="1028700" marR="9525" marT="9525" marB="0" anchor="ctr"/>
                </a:tc>
              </a:tr>
              <a:tr h="175260">
                <a:tc>
                  <a:txBody>
                    <a:bodyPr wrap="square"/>
                    <a:lstStyle/>
                    <a:p>
                      <a:pPr algn="l"/>
                      <a:r>
                        <a:rPr sz="1100" b="0" i="0">
                          <a:solidFill>
                            <a:srgbClr val="000000"/>
                          </a:solidFill>
                          <a:latin typeface="Calibri"/>
                        </a:rPr>
                        <a:t>3.5.5.</a:t>
                      </a:r>
                      <a:r>
                        <a:rPr sz="700" b="0" i="0">
                          <a:solidFill>
                            <a:srgbClr val="000000"/>
                          </a:solidFill>
                          <a:latin typeface="Times New Roman"/>
                        </a:rPr>
                        <a:t>   </a:t>
                      </a:r>
                      <a:r>
                        <a:rPr sz="1100" b="0" i="0">
                          <a:solidFill>
                            <a:srgbClr val="000000"/>
                          </a:solidFill>
                          <a:latin typeface="Calibri"/>
                        </a:rPr>
                        <a:t>Protective Polybags</a:t>
                      </a:r>
                      <a:endParaRPr sz="1100"/>
                    </a:p>
                  </a:txBody>
                  <a:tcPr marL="771525" marR="9525" marT="9525" marB="0" anchor="ctr"/>
                </a:tc>
              </a:tr>
              <a:tr h="175260">
                <a:tc>
                  <a:txBody>
                    <a:bodyPr wrap="square"/>
                    <a:lstStyle/>
                    <a:p>
                      <a:pPr algn="l"/>
                      <a:r>
                        <a:rPr sz="1100" b="0" i="1">
                          <a:solidFill>
                            <a:srgbClr val="000000"/>
                          </a:solidFill>
                          <a:latin typeface="Calibri"/>
                        </a:rPr>
                        <a:t>3.5.5.1.</a:t>
                      </a:r>
                      <a:r>
                        <a:rPr sz="700" b="0" i="1">
                          <a:solidFill>
                            <a:srgbClr val="000000"/>
                          </a:solidFill>
                          <a:latin typeface="Times New Roman"/>
                        </a:rPr>
                        <a:t>    </a:t>
                      </a:r>
                      <a:r>
                        <a:rPr sz="1100" b="0" i="1">
                          <a:solidFill>
                            <a:srgbClr val="000000"/>
                          </a:solidFill>
                          <a:latin typeface="Calibri"/>
                        </a:rPr>
                        <a:t>Bubble Poly Mailers</a:t>
                      </a:r>
                      <a:endParaRPr sz="1100"/>
                    </a:p>
                  </a:txBody>
                  <a:tcPr marL="1028700" marR="9525" marT="9525" marB="0" anchor="ctr"/>
                </a:tc>
              </a:tr>
              <a:tr h="175260">
                <a:tc>
                  <a:txBody>
                    <a:bodyPr wrap="square"/>
                    <a:lstStyle/>
                    <a:p>
                      <a:pPr algn="l"/>
                      <a:r>
                        <a:rPr sz="1100" b="0" i="1">
                          <a:solidFill>
                            <a:srgbClr val="000000"/>
                          </a:solidFill>
                          <a:latin typeface="Calibri"/>
                        </a:rPr>
                        <a:t>3.5.5.2.</a:t>
                      </a:r>
                      <a:r>
                        <a:rPr sz="700" b="0" i="1">
                          <a:solidFill>
                            <a:srgbClr val="000000"/>
                          </a:solidFill>
                          <a:latin typeface="Times New Roman"/>
                        </a:rPr>
                        <a:t>    </a:t>
                      </a:r>
                      <a:r>
                        <a:rPr sz="1100" b="0" i="1">
                          <a:solidFill>
                            <a:srgbClr val="000000"/>
                          </a:solidFill>
                          <a:latin typeface="Calibri"/>
                        </a:rPr>
                        <a:t>Anti-Static (ESD) Bags</a:t>
                      </a:r>
                      <a:endParaRPr sz="1100"/>
                    </a:p>
                  </a:txBody>
                  <a:tcPr marL="1028700" marR="9525" marT="9525" marB="0" anchor="ctr"/>
                </a:tc>
              </a:tr>
              <a:tr h="175260">
                <a:tc>
                  <a:txBody>
                    <a:bodyPr wrap="square"/>
                    <a:lstStyle/>
                    <a:p>
                      <a:pPr algn="l"/>
                      <a:r>
                        <a:rPr sz="1100" b="0" i="1">
                          <a:solidFill>
                            <a:srgbClr val="000000"/>
                          </a:solidFill>
                          <a:latin typeface="Calibri"/>
                        </a:rPr>
                        <a:t>3.5.5.3.</a:t>
                      </a:r>
                      <a:r>
                        <a:rPr sz="700" b="0" i="1">
                          <a:solidFill>
                            <a:srgbClr val="000000"/>
                          </a:solidFill>
                          <a:latin typeface="Times New Roman"/>
                        </a:rPr>
                        <a:t>    </a:t>
                      </a:r>
                      <a:r>
                        <a:rPr sz="1100" b="0" i="1">
                          <a:solidFill>
                            <a:srgbClr val="000000"/>
                          </a:solidFill>
                          <a:latin typeface="Calibri"/>
                        </a:rPr>
                        <a:t>Vacuum Bags</a:t>
                      </a:r>
                      <a:endParaRPr sz="1100"/>
                    </a:p>
                  </a:txBody>
                  <a:tcPr marL="1028700" marR="9525" marT="9525" marB="0" anchor="ctr"/>
                </a:tc>
              </a:tr>
              <a:tr h="175260">
                <a:tc>
                  <a:txBody>
                    <a:bodyPr wrap="square"/>
                    <a:lstStyle/>
                    <a:p>
                      <a:pPr algn="l"/>
                      <a:r>
                        <a:rPr sz="1100" b="0" i="1">
                          <a:solidFill>
                            <a:srgbClr val="000000"/>
                          </a:solidFill>
                          <a:latin typeface="Calibri"/>
                        </a:rPr>
                        <a:t>3.5.5.4.</a:t>
                      </a:r>
                      <a:r>
                        <a:rPr sz="700" b="0" i="1">
                          <a:solidFill>
                            <a:srgbClr val="000000"/>
                          </a:solidFill>
                          <a:latin typeface="Times New Roman"/>
                        </a:rPr>
                        <a:t>    </a:t>
                      </a:r>
                      <a:r>
                        <a:rPr sz="1100" b="0" i="1">
                          <a:solidFill>
                            <a:srgbClr val="000000"/>
                          </a:solidFill>
                          <a:latin typeface="Calibri"/>
                        </a:rPr>
                        <a:t>Cushion Packaging Bags</a:t>
                      </a:r>
                      <a:endParaRPr sz="1100"/>
                    </a:p>
                  </a:txBody>
                  <a:tcPr marL="1028700" marR="9525" marT="9525" marB="0" anchor="ctr"/>
                </a:tc>
              </a:tr>
              <a:tr h="175260">
                <a:tc>
                  <a:txBody>
                    <a:bodyPr wrap="square"/>
                    <a:lstStyle/>
                    <a:p>
                      <a:pPr algn="l"/>
                      <a:r>
                        <a:rPr sz="1100" b="0" i="0">
                          <a:solidFill>
                            <a:srgbClr val="000000"/>
                          </a:solidFill>
                          <a:latin typeface="Calibri"/>
                        </a:rPr>
                        <a:t>3.5.6.</a:t>
                      </a:r>
                      <a:r>
                        <a:rPr sz="700" b="0" i="0">
                          <a:solidFill>
                            <a:srgbClr val="000000"/>
                          </a:solidFill>
                          <a:latin typeface="Times New Roman"/>
                        </a:rPr>
                        <a:t>   </a:t>
                      </a:r>
                      <a:r>
                        <a:rPr sz="1100" b="0" i="0">
                          <a:solidFill>
                            <a:srgbClr val="000000"/>
                          </a:solidFill>
                          <a:latin typeface="Calibri"/>
                        </a:rPr>
                        <a:t>Retail &amp; Merchandise Bags</a:t>
                      </a:r>
                      <a:endParaRPr sz="1100"/>
                    </a:p>
                  </a:txBody>
                  <a:tcPr marL="771525" marR="9525" marT="9525" marB="0" anchor="ctr"/>
                </a:tc>
              </a:tr>
              <a:tr h="175260">
                <a:tc>
                  <a:txBody>
                    <a:bodyPr wrap="square"/>
                    <a:lstStyle/>
                    <a:p>
                      <a:pPr algn="l"/>
                      <a:r>
                        <a:rPr sz="1100" b="0" i="1">
                          <a:solidFill>
                            <a:srgbClr val="000000"/>
                          </a:solidFill>
                          <a:latin typeface="Calibri"/>
                        </a:rPr>
                        <a:t>3.5.6.1.</a:t>
                      </a:r>
                      <a:r>
                        <a:rPr sz="700" b="0" i="1">
                          <a:solidFill>
                            <a:srgbClr val="000000"/>
                          </a:solidFill>
                          <a:latin typeface="Times New Roman"/>
                        </a:rPr>
                        <a:t>    </a:t>
                      </a:r>
                      <a:r>
                        <a:rPr sz="1100" b="0" i="1">
                          <a:solidFill>
                            <a:srgbClr val="000000"/>
                          </a:solidFill>
                          <a:latin typeface="Calibri"/>
                        </a:rPr>
                        <a:t>T-Shirt Bags</a:t>
                      </a:r>
                      <a:endParaRPr sz="1100"/>
                    </a:p>
                  </a:txBody>
                  <a:tcPr marL="1028700" marR="9525" marT="9525" marB="0" anchor="ctr"/>
                </a:tc>
              </a:tr>
              <a:tr h="175260">
                <a:tc>
                  <a:txBody>
                    <a:bodyPr wrap="square"/>
                    <a:lstStyle/>
                    <a:p>
                      <a:pPr algn="l"/>
                      <a:r>
                        <a:rPr sz="1100" b="0" i="1">
                          <a:solidFill>
                            <a:srgbClr val="000000"/>
                          </a:solidFill>
                          <a:latin typeface="Calibri"/>
                        </a:rPr>
                        <a:t>3.5.6.2.</a:t>
                      </a:r>
                      <a:r>
                        <a:rPr sz="700" b="0" i="1">
                          <a:solidFill>
                            <a:srgbClr val="000000"/>
                          </a:solidFill>
                          <a:latin typeface="Times New Roman"/>
                        </a:rPr>
                        <a:t>    </a:t>
                      </a:r>
                      <a:r>
                        <a:rPr sz="1100" b="0" i="1">
                          <a:solidFill>
                            <a:srgbClr val="000000"/>
                          </a:solidFill>
                          <a:latin typeface="Calibri"/>
                        </a:rPr>
                        <a:t>Merchandise Bags</a:t>
                      </a:r>
                      <a:endParaRPr sz="1100"/>
                    </a:p>
                  </a:txBody>
                  <a:tcPr marL="1028700" marR="9525" marT="9525" marB="0" anchor="ctr"/>
                </a:tc>
              </a:tr>
              <a:tr h="175260">
                <a:tc>
                  <a:txBody>
                    <a:bodyPr wrap="square"/>
                    <a:lstStyle/>
                    <a:p>
                      <a:pPr algn="l"/>
                      <a:r>
                        <a:rPr sz="1100" b="0" i="1">
                          <a:solidFill>
                            <a:srgbClr val="000000"/>
                          </a:solidFill>
                          <a:latin typeface="Calibri"/>
                        </a:rPr>
                        <a:t>3.5.6.3.</a:t>
                      </a:r>
                      <a:r>
                        <a:rPr sz="700" b="0" i="1">
                          <a:solidFill>
                            <a:srgbClr val="000000"/>
                          </a:solidFill>
                          <a:latin typeface="Times New Roman"/>
                        </a:rPr>
                        <a:t>    </a:t>
                      </a:r>
                      <a:r>
                        <a:rPr sz="1100" b="0" i="1">
                          <a:solidFill>
                            <a:srgbClr val="000000"/>
                          </a:solidFill>
                          <a:latin typeface="Calibri"/>
                        </a:rPr>
                        <a:t>Die-Cut Handle Bags</a:t>
                      </a:r>
                      <a:endParaRPr sz="1100"/>
                    </a:p>
                  </a:txBody>
                  <a:tcPr marL="1028700" marR="9525" marT="9525" marB="0" anchor="ctr"/>
                </a:tc>
              </a:tr>
              <a:tr h="175260">
                <a:tc>
                  <a:txBody>
                    <a:bodyPr wrap="square"/>
                    <a:lstStyle/>
                    <a:p>
                      <a:pPr algn="l"/>
                      <a:r>
                        <a:rPr sz="1100" b="0" i="1">
                          <a:solidFill>
                            <a:srgbClr val="000000"/>
                          </a:solidFill>
                          <a:latin typeface="Calibri"/>
                        </a:rPr>
                        <a:t>3.5.6.4.</a:t>
                      </a:r>
                      <a:r>
                        <a:rPr sz="700" b="0" i="1">
                          <a:solidFill>
                            <a:srgbClr val="000000"/>
                          </a:solidFill>
                          <a:latin typeface="Times New Roman"/>
                        </a:rPr>
                        <a:t>    </a:t>
                      </a:r>
                      <a:r>
                        <a:rPr sz="1100" b="0" i="1">
                          <a:solidFill>
                            <a:srgbClr val="000000"/>
                          </a:solidFill>
                          <a:latin typeface="Calibri"/>
                        </a:rPr>
                        <a:t>Patch Handle Bags</a:t>
                      </a:r>
                      <a:endParaRPr sz="1100"/>
                    </a:p>
                  </a:txBody>
                  <a:tcPr marL="1028700" marR="9525" marT="9525" marB="0" anchor="ctr"/>
                </a:tc>
              </a:tr>
              <a:tr h="175260">
                <a:tc>
                  <a:txBody>
                    <a:bodyPr wrap="square"/>
                    <a:lstStyle/>
                    <a:p>
                      <a:pPr algn="l"/>
                      <a:r>
                        <a:rPr sz="1100" b="0" i="1">
                          <a:solidFill>
                            <a:srgbClr val="000000"/>
                          </a:solidFill>
                          <a:latin typeface="Calibri"/>
                        </a:rPr>
                        <a:t>3.5.6.5.</a:t>
                      </a:r>
                      <a:r>
                        <a:rPr sz="700" b="0" i="1">
                          <a:solidFill>
                            <a:srgbClr val="000000"/>
                          </a:solidFill>
                          <a:latin typeface="Times New Roman"/>
                        </a:rPr>
                        <a:t>    </a:t>
                      </a:r>
                      <a:r>
                        <a:rPr sz="1100" b="0" i="1">
                          <a:solidFill>
                            <a:srgbClr val="000000"/>
                          </a:solidFill>
                          <a:latin typeface="Calibri"/>
                        </a:rPr>
                        <a:t>D-Cut Bags</a:t>
                      </a:r>
                      <a:endParaRPr sz="1100"/>
                    </a:p>
                  </a:txBody>
                  <a:tcPr marL="1028700" marR="9525" marT="9525" marB="0" anchor="ctr"/>
                </a:tc>
              </a:tr>
              <a:tr h="175260">
                <a:tc>
                  <a:txBody>
                    <a:bodyPr wrap="square"/>
                    <a:lstStyle/>
                    <a:p>
                      <a:pPr algn="l"/>
                      <a:r>
                        <a:rPr sz="1100" b="0" i="0">
                          <a:solidFill>
                            <a:srgbClr val="000000"/>
                          </a:solidFill>
                          <a:latin typeface="Calibri"/>
                        </a:rPr>
                        <a:t>3.5.7.</a:t>
                      </a:r>
                      <a:r>
                        <a:rPr sz="700" b="0" i="0">
                          <a:solidFill>
                            <a:srgbClr val="000000"/>
                          </a:solidFill>
                          <a:latin typeface="Times New Roman"/>
                        </a:rPr>
                        <a:t>   </a:t>
                      </a:r>
                      <a:r>
                        <a:rPr sz="1100" b="0" i="0">
                          <a:solidFill>
                            <a:srgbClr val="000000"/>
                          </a:solidFill>
                          <a:latin typeface="Calibri"/>
                        </a:rPr>
                        <a:t>E-commerce Polybags</a:t>
                      </a:r>
                      <a:endParaRPr sz="1100"/>
                    </a:p>
                  </a:txBody>
                  <a:tcPr marL="771525" marR="9525" marT="9525" marB="0" anchor="ctr"/>
                </a:tc>
              </a:tr>
              <a:tr h="175260">
                <a:tc>
                  <a:txBody>
                    <a:bodyPr wrap="square"/>
                    <a:lstStyle/>
                    <a:p>
                      <a:pPr algn="l"/>
                      <a:r>
                        <a:rPr sz="1100" b="0" i="1">
                          <a:solidFill>
                            <a:srgbClr val="000000"/>
                          </a:solidFill>
                          <a:latin typeface="Calibri"/>
                        </a:rPr>
                        <a:t>3.5.7.1.</a:t>
                      </a:r>
                      <a:r>
                        <a:rPr sz="700" b="0" i="1">
                          <a:solidFill>
                            <a:srgbClr val="000000"/>
                          </a:solidFill>
                          <a:latin typeface="Times New Roman"/>
                        </a:rPr>
                        <a:t>    </a:t>
                      </a:r>
                      <a:r>
                        <a:rPr sz="1100" b="0" i="1">
                          <a:solidFill>
                            <a:srgbClr val="000000"/>
                          </a:solidFill>
                          <a:latin typeface="Calibri"/>
                        </a:rPr>
                        <a:t>Courier Mailers</a:t>
                      </a:r>
                      <a:endParaRPr sz="1100"/>
                    </a:p>
                  </a:txBody>
                  <a:tcPr marL="1028700" marR="9525" marT="9525" marB="0" anchor="ctr"/>
                </a:tc>
              </a:tr>
              <a:tr h="175260">
                <a:tc>
                  <a:txBody>
                    <a:bodyPr wrap="square"/>
                    <a:lstStyle/>
                    <a:p>
                      <a:pPr algn="l"/>
                      <a:r>
                        <a:rPr sz="1100" b="0" i="1">
                          <a:solidFill>
                            <a:srgbClr val="000000"/>
                          </a:solidFill>
                          <a:latin typeface="Calibri"/>
                        </a:rPr>
                        <a:t>3.5.7.2.</a:t>
                      </a:r>
                      <a:r>
                        <a:rPr sz="700" b="0" i="1">
                          <a:solidFill>
                            <a:srgbClr val="000000"/>
                          </a:solidFill>
                          <a:latin typeface="Times New Roman"/>
                        </a:rPr>
                        <a:t>    </a:t>
                      </a:r>
                      <a:r>
                        <a:rPr sz="1100" b="0" i="1">
                          <a:solidFill>
                            <a:srgbClr val="000000"/>
                          </a:solidFill>
                          <a:latin typeface="Calibri"/>
                        </a:rPr>
                        <a:t>Tamper-Evident Mailers</a:t>
                      </a:r>
                      <a:endParaRPr sz="1100"/>
                    </a:p>
                  </a:txBody>
                  <a:tcPr marL="1028700" marR="9525" marT="9525" marB="0" anchor="ctr"/>
                </a:tc>
              </a:tr>
              <a:tr h="175260">
                <a:tc>
                  <a:txBody>
                    <a:bodyPr wrap="square"/>
                    <a:lstStyle/>
                    <a:p>
                      <a:pPr algn="l"/>
                      <a:r>
                        <a:rPr sz="1100" b="0" i="1">
                          <a:solidFill>
                            <a:srgbClr val="000000"/>
                          </a:solidFill>
                          <a:latin typeface="Calibri"/>
                        </a:rPr>
                        <a:t>3.5.7.3.</a:t>
                      </a:r>
                      <a:r>
                        <a:rPr sz="700" b="0" i="1">
                          <a:solidFill>
                            <a:srgbClr val="000000"/>
                          </a:solidFill>
                          <a:latin typeface="Times New Roman"/>
                        </a:rPr>
                        <a:t>    </a:t>
                      </a:r>
                      <a:r>
                        <a:rPr sz="1100" b="0" i="1">
                          <a:solidFill>
                            <a:srgbClr val="000000"/>
                          </a:solidFill>
                          <a:latin typeface="Calibri"/>
                        </a:rPr>
                        <a:t>Return Mailers</a:t>
                      </a:r>
                      <a:endParaRPr sz="1100"/>
                    </a:p>
                  </a:txBody>
                  <a:tcPr marL="1028700" marR="9525" marT="9525" marB="0" anchor="ctr"/>
                </a:tc>
              </a:tr>
              <a:tr h="175260">
                <a:tc>
                  <a:txBody>
                    <a:bodyPr wrap="square"/>
                    <a:lstStyle/>
                    <a:p>
                      <a:pPr algn="l"/>
                      <a:r>
                        <a:rPr sz="1100" b="0" i="1">
                          <a:solidFill>
                            <a:srgbClr val="000000"/>
                          </a:solidFill>
                          <a:latin typeface="Calibri"/>
                        </a:rPr>
                        <a:t>3.5.7.4.</a:t>
                      </a:r>
                      <a:r>
                        <a:rPr sz="700" b="0" i="1">
                          <a:solidFill>
                            <a:srgbClr val="000000"/>
                          </a:solidFill>
                          <a:latin typeface="Times New Roman"/>
                        </a:rPr>
                        <a:t>    </a:t>
                      </a:r>
                      <a:r>
                        <a:rPr sz="1100" b="0" i="1">
                          <a:solidFill>
                            <a:srgbClr val="000000"/>
                          </a:solidFill>
                          <a:latin typeface="Calibri"/>
                        </a:rPr>
                        <a:t>Security Mailers</a:t>
                      </a:r>
                      <a:endParaRPr sz="1100"/>
                    </a:p>
                  </a:txBody>
                  <a:tcPr marL="1028700" marR="9525" marT="9525" marB="0" anchor="ctr"/>
                </a:tc>
              </a:tr>
              <a:tr h="175260">
                <a:tc>
                  <a:txBody>
                    <a:bodyPr wrap="square"/>
                    <a:lstStyle/>
                    <a:p>
                      <a:pPr algn="l"/>
                      <a:r>
                        <a:rPr sz="1100" b="0" i="0">
                          <a:solidFill>
                            <a:srgbClr val="000000"/>
                          </a:solidFill>
                          <a:latin typeface="Calibri"/>
                        </a:rPr>
                        <a:t>3.5.8.</a:t>
                      </a:r>
                      <a:r>
                        <a:rPr sz="700" b="0" i="0">
                          <a:solidFill>
                            <a:srgbClr val="000000"/>
                          </a:solidFill>
                          <a:latin typeface="Times New Roman"/>
                        </a:rPr>
                        <a:t>   </a:t>
                      </a:r>
                      <a:r>
                        <a:rPr sz="1100" b="0" i="0">
                          <a:solidFill>
                            <a:srgbClr val="000000"/>
                          </a:solidFill>
                          <a:latin typeface="Calibri"/>
                        </a:rPr>
                        <a:t>Specialty Polybags</a:t>
                      </a:r>
                      <a:endParaRPr sz="1100"/>
                    </a:p>
                  </a:txBody>
                  <a:tcPr marL="771525" marR="9525" marT="9525" marB="0" anchor="ctr"/>
                </a:tc>
              </a:tr>
              <a:tr h="175260">
                <a:tc>
                  <a:txBody>
                    <a:bodyPr wrap="square"/>
                    <a:lstStyle/>
                    <a:p>
                      <a:pPr algn="l"/>
                      <a:r>
                        <a:rPr sz="1100" b="0" i="1">
                          <a:solidFill>
                            <a:srgbClr val="000000"/>
                          </a:solidFill>
                          <a:latin typeface="Calibri"/>
                        </a:rPr>
                        <a:t>3.5.8.1.</a:t>
                      </a:r>
                      <a:r>
                        <a:rPr sz="700" b="0" i="1">
                          <a:solidFill>
                            <a:srgbClr val="000000"/>
                          </a:solidFill>
                          <a:latin typeface="Times New Roman"/>
                        </a:rPr>
                        <a:t>    </a:t>
                      </a:r>
                      <a:r>
                        <a:rPr sz="1100" b="0" i="1">
                          <a:solidFill>
                            <a:srgbClr val="000000"/>
                          </a:solidFill>
                          <a:latin typeface="Calibri"/>
                        </a:rPr>
                        <a:t>Wicketed Bags</a:t>
                      </a:r>
                      <a:endParaRPr sz="1100"/>
                    </a:p>
                  </a:txBody>
                  <a:tcPr marL="1028700" marR="9525" marT="9525" marB="0" anchor="ctr"/>
                </a:tc>
              </a:tr>
              <a:tr h="175260">
                <a:tc>
                  <a:txBody>
                    <a:bodyPr wrap="square"/>
                    <a:lstStyle/>
                    <a:p>
                      <a:pPr algn="l"/>
                      <a:r>
                        <a:rPr sz="1100" b="0" i="1">
                          <a:solidFill>
                            <a:srgbClr val="000000"/>
                          </a:solidFill>
                          <a:latin typeface="Calibri"/>
                        </a:rPr>
                        <a:t>3.5.8.2.</a:t>
                      </a:r>
                      <a:r>
                        <a:rPr sz="700" b="0" i="1">
                          <a:solidFill>
                            <a:srgbClr val="000000"/>
                          </a:solidFill>
                          <a:latin typeface="Times New Roman"/>
                        </a:rPr>
                        <a:t>    </a:t>
                      </a:r>
                      <a:r>
                        <a:rPr sz="1100" b="0" i="1">
                          <a:solidFill>
                            <a:srgbClr val="000000"/>
                          </a:solidFill>
                          <a:latin typeface="Calibri"/>
                        </a:rPr>
                        <a:t>Header Bags</a:t>
                      </a:r>
                      <a:endParaRPr sz="1100"/>
                    </a:p>
                  </a:txBody>
                  <a:tcPr marL="1028700" marR="9525" marT="9525" marB="0" anchor="ctr"/>
                </a:tc>
              </a:tr>
              <a:tr h="175260">
                <a:tc>
                  <a:txBody>
                    <a:bodyPr wrap="square"/>
                    <a:lstStyle/>
                    <a:p>
                      <a:pPr algn="l"/>
                      <a:r>
                        <a:rPr sz="1100" b="0" i="1">
                          <a:solidFill>
                            <a:srgbClr val="000000"/>
                          </a:solidFill>
                          <a:latin typeface="Calibri"/>
                        </a:rPr>
                        <a:t>3.5.8.3.</a:t>
                      </a:r>
                      <a:r>
                        <a:rPr sz="700" b="0" i="1">
                          <a:solidFill>
                            <a:srgbClr val="000000"/>
                          </a:solidFill>
                          <a:latin typeface="Times New Roman"/>
                        </a:rPr>
                        <a:t>    </a:t>
                      </a:r>
                      <a:r>
                        <a:rPr sz="1100" b="0" i="1">
                          <a:solidFill>
                            <a:srgbClr val="000000"/>
                          </a:solidFill>
                          <a:latin typeface="Calibri"/>
                        </a:rPr>
                        <a:t>Perforated Bags</a:t>
                      </a:r>
                      <a:endParaRPr sz="1100"/>
                    </a:p>
                  </a:txBody>
                  <a:tcPr marL="1028700" marR="9525" marT="9525" marB="0" anchor="ctr"/>
                </a:tc>
              </a:tr>
              <a:tr h="175260">
                <a:tc>
                  <a:txBody>
                    <a:bodyPr wrap="square"/>
                    <a:lstStyle/>
                    <a:p>
                      <a:pPr algn="l"/>
                      <a:r>
                        <a:rPr sz="1100" b="0" i="1">
                          <a:solidFill>
                            <a:srgbClr val="000000"/>
                          </a:solidFill>
                          <a:latin typeface="Calibri"/>
                        </a:rPr>
                        <a:t>3.5.8.4.</a:t>
                      </a:r>
                      <a:r>
                        <a:rPr sz="700" b="0" i="1">
                          <a:solidFill>
                            <a:srgbClr val="000000"/>
                          </a:solidFill>
                          <a:latin typeface="Times New Roman"/>
                        </a:rPr>
                        <a:t>    </a:t>
                      </a:r>
                      <a:r>
                        <a:rPr sz="1100" b="0" i="1">
                          <a:solidFill>
                            <a:srgbClr val="000000"/>
                          </a:solidFill>
                          <a:latin typeface="Calibri"/>
                        </a:rPr>
                        <a:t>Drawstring Bags</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(2/6)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3.5.8.5.</a:t>
                      </a:r>
                      <a:r>
                        <a:rPr sz="700" b="0" i="1">
                          <a:solidFill>
                            <a:srgbClr val="000000"/>
                          </a:solidFill>
                          <a:latin typeface="Times New Roman"/>
                        </a:rPr>
                        <a:t>    </a:t>
                      </a:r>
                      <a:r>
                        <a:rPr sz="1100" b="0" i="1">
                          <a:solidFill>
                            <a:srgbClr val="000000"/>
                          </a:solidFill>
                          <a:latin typeface="Calibri"/>
                        </a:rPr>
                        <a:t>Custom Printed Bags</a:t>
                      </a:r>
                      <a:endParaRPr sz="1100"/>
                    </a:p>
                  </a:txBody>
                  <a:tcPr marL="1028700" marR="9525" marT="9525" marB="0" anchor="ctr"/>
                </a:tc>
              </a:tr>
              <a:tr h="175260">
                <a:tc>
                  <a:txBody>
                    <a:bodyPr wrap="square"/>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Global Market (Value- Volume) Analysis 2021–2036, By Material</a:t>
                      </a:r>
                      <a:endParaRPr sz="1100"/>
                    </a:p>
                  </a:txBody>
                  <a:tcPr marL="171450" marR="9525" marT="9525" marB="0" anchor="ctr"/>
                </a:tc>
              </a:tr>
              <a:tr h="175260">
                <a:tc>
                  <a:txBody>
                    <a:bodyPr wrap="square"/>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4.5.1.</a:t>
                      </a:r>
                      <a:r>
                        <a:rPr sz="700" b="0" i="0">
                          <a:solidFill>
                            <a:srgbClr val="000000"/>
                          </a:solidFill>
                          <a:latin typeface="Times New Roman"/>
                        </a:rPr>
                        <a:t>   </a:t>
                      </a:r>
                      <a:r>
                        <a:rPr sz="1100" b="0" i="0">
                          <a:solidFill>
                            <a:srgbClr val="000000"/>
                          </a:solidFill>
                          <a:latin typeface="Calibri"/>
                        </a:rPr>
                        <a:t>Polyethylene (PE)</a:t>
                      </a:r>
                      <a:endParaRPr sz="1100"/>
                    </a:p>
                  </a:txBody>
                  <a:tcPr marL="771525" marR="9525" marT="9525" marB="0" anchor="ctr"/>
                </a:tc>
              </a:tr>
              <a:tr h="175260">
                <a:tc>
                  <a:txBody>
                    <a:bodyPr wrap="square"/>
                    <a:lstStyle/>
                    <a:p>
                      <a:pPr algn="l"/>
                      <a:r>
                        <a:rPr sz="1100" b="0" i="0">
                          <a:solidFill>
                            <a:srgbClr val="000000"/>
                          </a:solidFill>
                          <a:latin typeface="Calibri"/>
                        </a:rPr>
                        <a:t>4.5.2.</a:t>
                      </a:r>
                      <a:r>
                        <a:rPr sz="700" b="0" i="0">
                          <a:solidFill>
                            <a:srgbClr val="000000"/>
                          </a:solidFill>
                          <a:latin typeface="Times New Roman"/>
                        </a:rPr>
                        <a:t>   </a:t>
                      </a:r>
                      <a:r>
                        <a:rPr sz="1100" b="0" i="0">
                          <a:solidFill>
                            <a:srgbClr val="000000"/>
                          </a:solidFill>
                          <a:latin typeface="Calibri"/>
                        </a:rPr>
                        <a:t>Low-Density Polyethylene (LDPE)</a:t>
                      </a:r>
                      <a:endParaRPr sz="1100"/>
                    </a:p>
                  </a:txBody>
                  <a:tcPr marL="771525" marR="9525" marT="9525" marB="0" anchor="ctr"/>
                </a:tc>
              </a:tr>
              <a:tr h="175260">
                <a:tc>
                  <a:txBody>
                    <a:bodyPr wrap="square"/>
                    <a:lstStyle/>
                    <a:p>
                      <a:pPr algn="l"/>
                      <a:r>
                        <a:rPr sz="1100" b="0" i="0">
                          <a:solidFill>
                            <a:srgbClr val="000000"/>
                          </a:solidFill>
                          <a:latin typeface="Calibri"/>
                        </a:rPr>
                        <a:t>4.5.3.</a:t>
                      </a:r>
                      <a:r>
                        <a:rPr sz="700" b="0" i="0">
                          <a:solidFill>
                            <a:srgbClr val="000000"/>
                          </a:solidFill>
                          <a:latin typeface="Times New Roman"/>
                        </a:rPr>
                        <a:t>   </a:t>
                      </a:r>
                      <a:r>
                        <a:rPr sz="1100" b="0" i="0">
                          <a:solidFill>
                            <a:srgbClr val="000000"/>
                          </a:solidFill>
                          <a:latin typeface="Calibri"/>
                        </a:rPr>
                        <a:t>Linear Low-Density Polyethylene (LLDPE)</a:t>
                      </a:r>
                      <a:endParaRPr sz="1100"/>
                    </a:p>
                  </a:txBody>
                  <a:tcPr marL="771525" marR="9525" marT="9525" marB="0" anchor="ctr"/>
                </a:tc>
              </a:tr>
              <a:tr h="175260">
                <a:tc>
                  <a:txBody>
                    <a:bodyPr wrap="square"/>
                    <a:lstStyle/>
                    <a:p>
                      <a:pPr algn="l"/>
                      <a:r>
                        <a:rPr sz="1100" b="0" i="0">
                          <a:solidFill>
                            <a:srgbClr val="000000"/>
                          </a:solidFill>
                          <a:latin typeface="Calibri"/>
                        </a:rPr>
                        <a:t>4.5.4.</a:t>
                      </a:r>
                      <a:r>
                        <a:rPr sz="700" b="0" i="0">
                          <a:solidFill>
                            <a:srgbClr val="000000"/>
                          </a:solidFill>
                          <a:latin typeface="Times New Roman"/>
                        </a:rPr>
                        <a:t>   </a:t>
                      </a:r>
                      <a:r>
                        <a:rPr sz="1100" b="0" i="0">
                          <a:solidFill>
                            <a:srgbClr val="000000"/>
                          </a:solidFill>
                          <a:latin typeface="Calibri"/>
                        </a:rPr>
                        <a:t>High-Density Polyethylene (HDPE)</a:t>
                      </a:r>
                      <a:endParaRPr sz="1100"/>
                    </a:p>
                  </a:txBody>
                  <a:tcPr marL="771525" marR="9525" marT="9525" marB="0" anchor="ctr"/>
                </a:tc>
              </a:tr>
              <a:tr h="175260">
                <a:tc>
                  <a:txBody>
                    <a:bodyPr wrap="square"/>
                    <a:lstStyle/>
                    <a:p>
                      <a:pPr algn="l"/>
                      <a:r>
                        <a:rPr sz="1100" b="0" i="0">
                          <a:solidFill>
                            <a:srgbClr val="000000"/>
                          </a:solidFill>
                          <a:latin typeface="Calibri"/>
                        </a:rPr>
                        <a:t>4.5.5.</a:t>
                      </a:r>
                      <a:r>
                        <a:rPr sz="700" b="0" i="0">
                          <a:solidFill>
                            <a:srgbClr val="000000"/>
                          </a:solidFill>
                          <a:latin typeface="Times New Roman"/>
                        </a:rPr>
                        <a:t>   </a:t>
                      </a:r>
                      <a:r>
                        <a:rPr sz="1100" b="0" i="0">
                          <a:solidFill>
                            <a:srgbClr val="000000"/>
                          </a:solidFill>
                          <a:latin typeface="Calibri"/>
                        </a:rPr>
                        <a:t>Medium-Density Polyethylene (MDPE)</a:t>
                      </a:r>
                      <a:endParaRPr sz="1100"/>
                    </a:p>
                  </a:txBody>
                  <a:tcPr marL="771525" marR="9525" marT="9525" marB="0" anchor="ctr"/>
                </a:tc>
              </a:tr>
              <a:tr h="175260">
                <a:tc>
                  <a:txBody>
                    <a:bodyPr wrap="square"/>
                    <a:lstStyle/>
                    <a:p>
                      <a:pPr algn="l"/>
                      <a:r>
                        <a:rPr sz="1100" b="0" i="0">
                          <a:solidFill>
                            <a:srgbClr val="000000"/>
                          </a:solidFill>
                          <a:latin typeface="Calibri"/>
                        </a:rPr>
                        <a:t>4.5.6.</a:t>
                      </a:r>
                      <a:r>
                        <a:rPr sz="700" b="0" i="0">
                          <a:solidFill>
                            <a:srgbClr val="000000"/>
                          </a:solidFill>
                          <a:latin typeface="Times New Roman"/>
                        </a:rPr>
                        <a:t>   </a:t>
                      </a:r>
                      <a:r>
                        <a:rPr sz="1100" b="0" i="0">
                          <a:solidFill>
                            <a:srgbClr val="000000"/>
                          </a:solidFill>
                          <a:latin typeface="Calibri"/>
                        </a:rPr>
                        <a:t>Polypropylene (PP)</a:t>
                      </a:r>
                      <a:endParaRPr sz="1100"/>
                    </a:p>
                  </a:txBody>
                  <a:tcPr marL="771525" marR="9525" marT="9525" marB="0" anchor="ctr"/>
                </a:tc>
              </a:tr>
              <a:tr h="175260">
                <a:tc>
                  <a:txBody>
                    <a:bodyPr wrap="square"/>
                    <a:lstStyle/>
                    <a:p>
                      <a:pPr algn="l"/>
                      <a:r>
                        <a:rPr sz="1100" b="0" i="1">
                          <a:solidFill>
                            <a:srgbClr val="000000"/>
                          </a:solidFill>
                          <a:latin typeface="Calibri"/>
                        </a:rPr>
                        <a:t>4.5.6.1.</a:t>
                      </a:r>
                      <a:r>
                        <a:rPr sz="700" b="0" i="1">
                          <a:solidFill>
                            <a:srgbClr val="000000"/>
                          </a:solidFill>
                          <a:latin typeface="Times New Roman"/>
                        </a:rPr>
                        <a:t>    </a:t>
                      </a:r>
                      <a:r>
                        <a:rPr sz="1100" b="0" i="1">
                          <a:solidFill>
                            <a:srgbClr val="000000"/>
                          </a:solidFill>
                          <a:latin typeface="Calibri"/>
                        </a:rPr>
                        <a:t>Cast Polypropylene (CPP)</a:t>
                      </a:r>
                      <a:endParaRPr sz="1100"/>
                    </a:p>
                  </a:txBody>
                  <a:tcPr marL="1028700" marR="9525" marT="9525" marB="0" anchor="ctr"/>
                </a:tc>
              </a:tr>
              <a:tr h="175260">
                <a:tc>
                  <a:txBody>
                    <a:bodyPr wrap="square"/>
                    <a:lstStyle/>
                    <a:p>
                      <a:pPr algn="l"/>
                      <a:r>
                        <a:rPr sz="1100" b="0" i="1">
                          <a:solidFill>
                            <a:srgbClr val="000000"/>
                          </a:solidFill>
                          <a:latin typeface="Calibri"/>
                        </a:rPr>
                        <a:t>4.5.6.2.</a:t>
                      </a:r>
                      <a:r>
                        <a:rPr sz="700" b="0" i="1">
                          <a:solidFill>
                            <a:srgbClr val="000000"/>
                          </a:solidFill>
                          <a:latin typeface="Times New Roman"/>
                        </a:rPr>
                        <a:t>    </a:t>
                      </a:r>
                      <a:r>
                        <a:rPr sz="1100" b="0" i="1">
                          <a:solidFill>
                            <a:srgbClr val="000000"/>
                          </a:solidFill>
                          <a:latin typeface="Calibri"/>
                        </a:rPr>
                        <a:t>Biaxially Oriented Polypropylene (BOPP)</a:t>
                      </a:r>
                      <a:endParaRPr sz="1100"/>
                    </a:p>
                  </a:txBody>
                  <a:tcPr marL="1028700" marR="9525" marT="9525" marB="0" anchor="ctr"/>
                </a:tc>
              </a:tr>
              <a:tr h="175260">
                <a:tc>
                  <a:txBody>
                    <a:bodyPr wrap="square"/>
                    <a:lstStyle/>
                    <a:p>
                      <a:pPr algn="l"/>
                      <a:r>
                        <a:rPr sz="1100" b="0" i="1">
                          <a:solidFill>
                            <a:srgbClr val="000000"/>
                          </a:solidFill>
                          <a:latin typeface="Calibri"/>
                        </a:rPr>
                        <a:t>4.5.6.3.</a:t>
                      </a:r>
                      <a:r>
                        <a:rPr sz="700" b="0" i="1">
                          <a:solidFill>
                            <a:srgbClr val="000000"/>
                          </a:solidFill>
                          <a:latin typeface="Times New Roman"/>
                        </a:rPr>
                        <a:t>    </a:t>
                      </a:r>
                      <a:r>
                        <a:rPr sz="1100" b="0" i="1">
                          <a:solidFill>
                            <a:srgbClr val="000000"/>
                          </a:solidFill>
                          <a:latin typeface="Calibri"/>
                        </a:rPr>
                        <a:t>Oriented Polypropylene (OPP)</a:t>
                      </a:r>
                      <a:endParaRPr sz="1100"/>
                    </a:p>
                  </a:txBody>
                  <a:tcPr marL="1028700" marR="9525" marT="9525" marB="0" anchor="ctr"/>
                </a:tc>
              </a:tr>
              <a:tr h="175260">
                <a:tc>
                  <a:txBody>
                    <a:bodyPr wrap="square"/>
                    <a:lstStyle/>
                    <a:p>
                      <a:pPr algn="l"/>
                      <a:r>
                        <a:rPr sz="1100" b="0" i="0">
                          <a:solidFill>
                            <a:srgbClr val="000000"/>
                          </a:solidFill>
                          <a:latin typeface="Calibri"/>
                        </a:rPr>
                        <a:t>4.5.7.</a:t>
                      </a:r>
                      <a:r>
                        <a:rPr sz="700" b="0" i="0">
                          <a:solidFill>
                            <a:srgbClr val="000000"/>
                          </a:solidFill>
                          <a:latin typeface="Times New Roman"/>
                        </a:rPr>
                        <a:t>   </a:t>
                      </a:r>
                      <a:r>
                        <a:rPr sz="1100" b="0" i="0">
                          <a:solidFill>
                            <a:srgbClr val="000000"/>
                          </a:solidFill>
                          <a:latin typeface="Calibri"/>
                        </a:rPr>
                        <a:t>Recycled Plastics</a:t>
                      </a:r>
                      <a:endParaRPr sz="1100"/>
                    </a:p>
                  </a:txBody>
                  <a:tcPr marL="771525" marR="9525" marT="9525" marB="0" anchor="ctr"/>
                </a:tc>
              </a:tr>
              <a:tr h="175260">
                <a:tc>
                  <a:txBody>
                    <a:bodyPr wrap="square"/>
                    <a:lstStyle/>
                    <a:p>
                      <a:pPr algn="l"/>
                      <a:r>
                        <a:rPr sz="1100" b="0" i="1">
                          <a:solidFill>
                            <a:srgbClr val="000000"/>
                          </a:solidFill>
                          <a:latin typeface="Calibri"/>
                        </a:rPr>
                        <a:t>4.5.7.1.</a:t>
                      </a:r>
                      <a:r>
                        <a:rPr sz="700" b="0" i="1">
                          <a:solidFill>
                            <a:srgbClr val="000000"/>
                          </a:solidFill>
                          <a:latin typeface="Times New Roman"/>
                        </a:rPr>
                        <a:t>    </a:t>
                      </a:r>
                      <a:r>
                        <a:rPr sz="1100" b="0" i="1">
                          <a:solidFill>
                            <a:srgbClr val="000000"/>
                          </a:solidFill>
                          <a:latin typeface="Calibri"/>
                        </a:rPr>
                        <a:t>Post-Consumer Recycled (PCR)</a:t>
                      </a:r>
                      <a:endParaRPr sz="1100"/>
                    </a:p>
                  </a:txBody>
                  <a:tcPr marL="1028700" marR="9525" marT="9525" marB="0" anchor="ctr"/>
                </a:tc>
              </a:tr>
              <a:tr h="175260">
                <a:tc>
                  <a:txBody>
                    <a:bodyPr wrap="square"/>
                    <a:lstStyle/>
                    <a:p>
                      <a:pPr algn="l"/>
                      <a:r>
                        <a:rPr sz="1100" b="0" i="1">
                          <a:solidFill>
                            <a:srgbClr val="000000"/>
                          </a:solidFill>
                          <a:latin typeface="Calibri"/>
                        </a:rPr>
                        <a:t>4.5.7.2.</a:t>
                      </a:r>
                      <a:r>
                        <a:rPr sz="700" b="0" i="1">
                          <a:solidFill>
                            <a:srgbClr val="000000"/>
                          </a:solidFill>
                          <a:latin typeface="Times New Roman"/>
                        </a:rPr>
                        <a:t>    </a:t>
                      </a:r>
                      <a:r>
                        <a:rPr sz="1100" b="0" i="1">
                          <a:solidFill>
                            <a:srgbClr val="000000"/>
                          </a:solidFill>
                          <a:latin typeface="Calibri"/>
                        </a:rPr>
                        <a:t>Post-Industrial Recycled (PIR)</a:t>
                      </a:r>
                      <a:endParaRPr sz="1100"/>
                    </a:p>
                  </a:txBody>
                  <a:tcPr marL="1028700" marR="9525" marT="9525" marB="0" anchor="ctr"/>
                </a:tc>
              </a:tr>
              <a:tr h="175260">
                <a:tc>
                  <a:txBody>
                    <a:bodyPr wrap="square"/>
                    <a:lstStyle/>
                    <a:p>
                      <a:pPr algn="l"/>
                      <a:r>
                        <a:rPr sz="1100" b="0" i="1">
                          <a:solidFill>
                            <a:srgbClr val="000000"/>
                          </a:solidFill>
                          <a:latin typeface="Calibri"/>
                        </a:rPr>
                        <a:t>4.5.7.3.</a:t>
                      </a:r>
                      <a:r>
                        <a:rPr sz="700" b="0" i="1">
                          <a:solidFill>
                            <a:srgbClr val="000000"/>
                          </a:solidFill>
                          <a:latin typeface="Times New Roman"/>
                        </a:rPr>
                        <a:t>    </a:t>
                      </a:r>
                      <a:r>
                        <a:rPr sz="1100" b="0" i="1">
                          <a:solidFill>
                            <a:srgbClr val="000000"/>
                          </a:solidFill>
                          <a:latin typeface="Calibri"/>
                        </a:rPr>
                        <a:t>Mixed Recycled Resin</a:t>
                      </a:r>
                      <a:endParaRPr sz="1100"/>
                    </a:p>
                  </a:txBody>
                  <a:tcPr marL="1028700" marR="9525" marT="9525" marB="0" anchor="ctr"/>
                </a:tc>
              </a:tr>
              <a:tr h="175260">
                <a:tc>
                  <a:txBody>
                    <a:bodyPr wrap="square"/>
                    <a:lstStyle/>
                    <a:p>
                      <a:pPr algn="l"/>
                      <a:r>
                        <a:rPr sz="1100" b="0" i="0">
                          <a:solidFill>
                            <a:srgbClr val="000000"/>
                          </a:solidFill>
                          <a:latin typeface="Calibri"/>
                        </a:rPr>
                        <a:t>4.5.8.</a:t>
                      </a:r>
                      <a:r>
                        <a:rPr sz="700" b="0" i="0">
                          <a:solidFill>
                            <a:srgbClr val="000000"/>
                          </a:solidFill>
                          <a:latin typeface="Times New Roman"/>
                        </a:rPr>
                        <a:t>   </a:t>
                      </a:r>
                      <a:r>
                        <a:rPr sz="1100" b="0" i="0">
                          <a:solidFill>
                            <a:srgbClr val="000000"/>
                          </a:solidFill>
                          <a:latin typeface="Calibri"/>
                        </a:rPr>
                        <a:t>Bio-Based Materials</a:t>
                      </a:r>
                      <a:endParaRPr sz="1100"/>
                    </a:p>
                  </a:txBody>
                  <a:tcPr marL="771525" marR="9525" marT="9525" marB="0" anchor="ctr"/>
                </a:tc>
              </a:tr>
              <a:tr h="175260">
                <a:tc>
                  <a:txBody>
                    <a:bodyPr wrap="square"/>
                    <a:lstStyle/>
                    <a:p>
                      <a:pPr algn="l"/>
                      <a:r>
                        <a:rPr sz="1100" b="0" i="1">
                          <a:solidFill>
                            <a:srgbClr val="000000"/>
                          </a:solidFill>
                          <a:latin typeface="Calibri"/>
                        </a:rPr>
                        <a:t>4.5.8.1.</a:t>
                      </a:r>
                      <a:r>
                        <a:rPr sz="700" b="0" i="1">
                          <a:solidFill>
                            <a:srgbClr val="000000"/>
                          </a:solidFill>
                          <a:latin typeface="Times New Roman"/>
                        </a:rPr>
                        <a:t>    </a:t>
                      </a:r>
                      <a:r>
                        <a:rPr sz="1100" b="0" i="1">
                          <a:solidFill>
                            <a:srgbClr val="000000"/>
                          </a:solidFill>
                          <a:latin typeface="Calibri"/>
                        </a:rPr>
                        <a:t>PLA</a:t>
                      </a:r>
                      <a:endParaRPr sz="1100"/>
                    </a:p>
                  </a:txBody>
                  <a:tcPr marL="1028700" marR="9525" marT="9525" marB="0" anchor="ctr"/>
                </a:tc>
              </a:tr>
              <a:tr h="175260">
                <a:tc>
                  <a:txBody>
                    <a:bodyPr wrap="square"/>
                    <a:lstStyle/>
                    <a:p>
                      <a:pPr algn="l"/>
                      <a:r>
                        <a:rPr sz="1100" b="0" i="1">
                          <a:solidFill>
                            <a:srgbClr val="000000"/>
                          </a:solidFill>
                          <a:latin typeface="Calibri"/>
                        </a:rPr>
                        <a:t>4.5.8.2.</a:t>
                      </a:r>
                      <a:r>
                        <a:rPr sz="700" b="0" i="1">
                          <a:solidFill>
                            <a:srgbClr val="000000"/>
                          </a:solidFill>
                          <a:latin typeface="Times New Roman"/>
                        </a:rPr>
                        <a:t>    </a:t>
                      </a:r>
                      <a:r>
                        <a:rPr sz="1100" b="0" i="1">
                          <a:solidFill>
                            <a:srgbClr val="000000"/>
                          </a:solidFill>
                          <a:latin typeface="Calibri"/>
                        </a:rPr>
                        <a:t>PHA</a:t>
                      </a:r>
                      <a:endParaRPr sz="1100"/>
                    </a:p>
                  </a:txBody>
                  <a:tcPr marL="1028700" marR="9525" marT="9525" marB="0" anchor="ctr"/>
                </a:tc>
              </a:tr>
              <a:tr h="175260">
                <a:tc>
                  <a:txBody>
                    <a:bodyPr wrap="square"/>
                    <a:lstStyle/>
                    <a:p>
                      <a:pPr algn="l"/>
                      <a:r>
                        <a:rPr sz="1100" b="0" i="1">
                          <a:solidFill>
                            <a:srgbClr val="000000"/>
                          </a:solidFill>
                          <a:latin typeface="Calibri"/>
                        </a:rPr>
                        <a:t>4.5.8.3.</a:t>
                      </a:r>
                      <a:r>
                        <a:rPr sz="700" b="0" i="1">
                          <a:solidFill>
                            <a:srgbClr val="000000"/>
                          </a:solidFill>
                          <a:latin typeface="Times New Roman"/>
                        </a:rPr>
                        <a:t>    </a:t>
                      </a:r>
                      <a:r>
                        <a:rPr sz="1100" b="0" i="1">
                          <a:solidFill>
                            <a:srgbClr val="000000"/>
                          </a:solidFill>
                          <a:latin typeface="Calibri"/>
                        </a:rPr>
                        <a:t>Starch Blend</a:t>
                      </a:r>
                      <a:endParaRPr sz="1100"/>
                    </a:p>
                  </a:txBody>
                  <a:tcPr marL="1028700" marR="9525" marT="9525" marB="0" anchor="ctr"/>
                </a:tc>
              </a:tr>
              <a:tr h="175260">
                <a:tc>
                  <a:txBody>
                    <a:bodyPr wrap="square"/>
                    <a:lstStyle/>
                    <a:p>
                      <a:pPr algn="l"/>
                      <a:r>
                        <a:rPr sz="1100" b="0" i="1">
                          <a:solidFill>
                            <a:srgbClr val="000000"/>
                          </a:solidFill>
                          <a:latin typeface="Calibri"/>
                        </a:rPr>
                        <a:t>4.5.8.4.</a:t>
                      </a:r>
                      <a:r>
                        <a:rPr sz="700" b="0" i="1">
                          <a:solidFill>
                            <a:srgbClr val="000000"/>
                          </a:solidFill>
                          <a:latin typeface="Times New Roman"/>
                        </a:rPr>
                        <a:t>    </a:t>
                      </a:r>
                      <a:r>
                        <a:rPr sz="1100" b="0" i="1">
                          <a:solidFill>
                            <a:srgbClr val="000000"/>
                          </a:solidFill>
                          <a:latin typeface="Calibri"/>
                        </a:rPr>
                        <a:t>PBAT Blend</a:t>
                      </a:r>
                      <a:endParaRPr sz="1100"/>
                    </a:p>
                  </a:txBody>
                  <a:tcPr marL="1028700" marR="9525" marT="9525" marB="0" anchor="ctr"/>
                </a:tc>
              </a:tr>
              <a:tr h="175260">
                <a:tc>
                  <a:txBody>
                    <a:bodyPr wrap="square"/>
                    <a:lstStyle/>
                    <a:p>
                      <a:pPr algn="l"/>
                      <a:r>
                        <a:rPr sz="1100" b="0" i="1">
                          <a:solidFill>
                            <a:srgbClr val="000000"/>
                          </a:solidFill>
                          <a:latin typeface="Calibri"/>
                        </a:rPr>
                        <a:t>4.5.8.5.</a:t>
                      </a:r>
                      <a:r>
                        <a:rPr sz="700" b="0" i="1">
                          <a:solidFill>
                            <a:srgbClr val="000000"/>
                          </a:solidFill>
                          <a:latin typeface="Times New Roman"/>
                        </a:rPr>
                        <a:t>    </a:t>
                      </a:r>
                      <a:r>
                        <a:rPr sz="1100" b="0" i="1">
                          <a:solidFill>
                            <a:srgbClr val="000000"/>
                          </a:solidFill>
                          <a:latin typeface="Calibri"/>
                        </a:rPr>
                        <a:t>Cellulose-Based Films</a:t>
                      </a:r>
                      <a:endParaRPr sz="1100"/>
                    </a:p>
                  </a:txBody>
                  <a:tcPr marL="1028700" marR="9525" marT="9525" marB="0" anchor="ctr"/>
                </a:tc>
              </a:tr>
              <a:tr h="175260">
                <a:tc>
                  <a:txBody>
                    <a:bodyPr wrap="square"/>
                    <a:lstStyle/>
                    <a:p>
                      <a:pPr algn="l"/>
                      <a:r>
                        <a:rPr sz="1100" b="0" i="0">
                          <a:solidFill>
                            <a:srgbClr val="000000"/>
                          </a:solidFill>
                          <a:latin typeface="Calibri"/>
                        </a:rPr>
                        <a:t>4.5.9.</a:t>
                      </a:r>
                      <a:r>
                        <a:rPr sz="700" b="0" i="0">
                          <a:solidFill>
                            <a:srgbClr val="000000"/>
                          </a:solidFill>
                          <a:latin typeface="Times New Roman"/>
                        </a:rPr>
                        <a:t>   </a:t>
                      </a:r>
                      <a:r>
                        <a:rPr sz="1100" b="0" i="0">
                          <a:solidFill>
                            <a:srgbClr val="000000"/>
                          </a:solidFill>
                          <a:latin typeface="Calibri"/>
                        </a:rPr>
                        <a:t>Specialty Materials</a:t>
                      </a:r>
                      <a:endParaRPr sz="1100"/>
                    </a:p>
                  </a:txBody>
                  <a:tcPr marL="771525" marR="9525" marT="9525" marB="0" anchor="ctr"/>
                </a:tc>
              </a:tr>
              <a:tr h="175260">
                <a:tc>
                  <a:txBody>
                    <a:bodyPr wrap="square"/>
                    <a:lstStyle/>
                    <a:p>
                      <a:pPr algn="l"/>
                      <a:r>
                        <a:rPr sz="1100" b="0" i="1">
                          <a:solidFill>
                            <a:srgbClr val="000000"/>
                          </a:solidFill>
                          <a:latin typeface="Calibri"/>
                        </a:rPr>
                        <a:t>4.5.9.1.</a:t>
                      </a:r>
                      <a:r>
                        <a:rPr sz="700" b="0" i="1">
                          <a:solidFill>
                            <a:srgbClr val="000000"/>
                          </a:solidFill>
                          <a:latin typeface="Times New Roman"/>
                        </a:rPr>
                        <a:t>    </a:t>
                      </a:r>
                      <a:r>
                        <a:rPr sz="1100" b="0" i="1">
                          <a:solidFill>
                            <a:srgbClr val="000000"/>
                          </a:solidFill>
                          <a:latin typeface="Calibri"/>
                        </a:rPr>
                        <a:t>EVA</a:t>
                      </a:r>
                      <a:endParaRPr sz="1100"/>
                    </a:p>
                  </a:txBody>
                  <a:tcPr marL="1028700" marR="9525" marT="9525" marB="0" anchor="ctr"/>
                </a:tc>
              </a:tr>
              <a:tr h="175260">
                <a:tc>
                  <a:txBody>
                    <a:bodyPr wrap="square"/>
                    <a:lstStyle/>
                    <a:p>
                      <a:pPr algn="l"/>
                      <a:r>
                        <a:rPr sz="1100" b="0" i="1">
                          <a:solidFill>
                            <a:srgbClr val="000000"/>
                          </a:solidFill>
                          <a:latin typeface="Calibri"/>
                        </a:rPr>
                        <a:t>4.5.9.2.</a:t>
                      </a:r>
                      <a:r>
                        <a:rPr sz="700" b="0" i="1">
                          <a:solidFill>
                            <a:srgbClr val="000000"/>
                          </a:solidFill>
                          <a:latin typeface="Times New Roman"/>
                        </a:rPr>
                        <a:t>    </a:t>
                      </a:r>
                      <a:r>
                        <a:rPr sz="1100" b="0" i="1">
                          <a:solidFill>
                            <a:srgbClr val="000000"/>
                          </a:solidFill>
                          <a:latin typeface="Calibri"/>
                        </a:rPr>
                        <a:t>Coextruded Multilayer Films</a:t>
                      </a:r>
                      <a:endParaRPr sz="1100"/>
                    </a:p>
                  </a:txBody>
                  <a:tcPr marL="1028700" marR="9525" marT="9525" marB="0" anchor="ctr"/>
                </a:tc>
              </a:tr>
              <a:tr h="175260">
                <a:tc>
                  <a:txBody>
                    <a:bodyPr wrap="square"/>
                    <a:lstStyle/>
                    <a:p>
                      <a:pPr algn="l"/>
                      <a:r>
                        <a:rPr sz="1100" b="0" i="1">
                          <a:solidFill>
                            <a:srgbClr val="000000"/>
                          </a:solidFill>
                          <a:latin typeface="Calibri"/>
                        </a:rPr>
                        <a:t>4.5.9.3.</a:t>
                      </a:r>
                      <a:r>
                        <a:rPr sz="700" b="0" i="1">
                          <a:solidFill>
                            <a:srgbClr val="000000"/>
                          </a:solidFill>
                          <a:latin typeface="Times New Roman"/>
                        </a:rPr>
                        <a:t>    </a:t>
                      </a:r>
                      <a:r>
                        <a:rPr sz="1100" b="0" i="1">
                          <a:solidFill>
                            <a:srgbClr val="000000"/>
                          </a:solidFill>
                          <a:latin typeface="Calibri"/>
                        </a:rPr>
                        <a:t>Barrier Films</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4.5.9.4.</a:t>
                      </a:r>
                      <a:r>
                        <a:rPr sz="700" b="0" i="1">
                          <a:solidFill>
                            <a:srgbClr val="000000"/>
                          </a:solidFill>
                          <a:latin typeface="Times New Roman"/>
                        </a:rPr>
                        <a:t>    </a:t>
                      </a:r>
                      <a:r>
                        <a:rPr sz="1100" b="0" i="1">
                          <a:solidFill>
                            <a:srgbClr val="000000"/>
                          </a:solidFill>
                          <a:latin typeface="Calibri"/>
                        </a:rPr>
                        <a:t>Conductive Polymers</a:t>
                      </a:r>
                      <a:endParaRPr sz="1100"/>
                    </a:p>
                  </a:txBody>
                  <a:tcPr marL="1028700" marR="9525" marT="9525" marB="0" anchor="ctr"/>
                </a:tc>
              </a:tr>
              <a:tr h="175260">
                <a:tc>
                  <a:txBody>
                    <a:bodyPr wrap="square"/>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Global Market (Value- Volume) Analysis 2021–2036, By End-Use Industry</a:t>
                      </a:r>
                      <a:endParaRPr sz="1100"/>
                    </a:p>
                  </a:txBody>
                  <a:tcPr marL="171450" marR="9525" marT="9525" marB="0" anchor="ctr"/>
                </a:tc>
              </a:tr>
              <a:tr h="175260">
                <a:tc>
                  <a:txBody>
                    <a:bodyPr wrap="square"/>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5.5.1.</a:t>
                      </a:r>
                      <a:r>
                        <a:rPr sz="700" b="0" i="0">
                          <a:solidFill>
                            <a:srgbClr val="000000"/>
                          </a:solidFill>
                          <a:latin typeface="Times New Roman"/>
                        </a:rPr>
                        <a:t>   </a:t>
                      </a:r>
                      <a:r>
                        <a:rPr sz="1100" b="0" i="0">
                          <a:solidFill>
                            <a:srgbClr val="000000"/>
                          </a:solidFill>
                          <a:latin typeface="Calibri"/>
                        </a:rPr>
                        <a:t>Food &amp; Beverage</a:t>
                      </a:r>
                      <a:endParaRPr sz="1100"/>
                    </a:p>
                  </a:txBody>
                  <a:tcPr marL="771525" marR="9525" marT="9525" marB="0" anchor="ctr"/>
                </a:tc>
              </a:tr>
              <a:tr h="175260">
                <a:tc>
                  <a:txBody>
                    <a:bodyPr wrap="square"/>
                    <a:lstStyle/>
                    <a:p>
                      <a:pPr algn="l"/>
                      <a:r>
                        <a:rPr sz="1100" b="0" i="1">
                          <a:solidFill>
                            <a:srgbClr val="000000"/>
                          </a:solidFill>
                          <a:latin typeface="Calibri"/>
                        </a:rPr>
                        <a:t>5.5.1.1.</a:t>
                      </a:r>
                      <a:r>
                        <a:rPr sz="700" b="0" i="1">
                          <a:solidFill>
                            <a:srgbClr val="000000"/>
                          </a:solidFill>
                          <a:latin typeface="Times New Roman"/>
                        </a:rPr>
                        <a:t>    </a:t>
                      </a:r>
                      <a:r>
                        <a:rPr sz="1100" b="0" i="1">
                          <a:solidFill>
                            <a:srgbClr val="000000"/>
                          </a:solidFill>
                          <a:latin typeface="Calibri"/>
                        </a:rPr>
                        <a:t>Fresh Produce</a:t>
                      </a:r>
                      <a:endParaRPr sz="1100"/>
                    </a:p>
                  </a:txBody>
                  <a:tcPr marL="1028700" marR="9525" marT="9525" marB="0" anchor="ctr"/>
                </a:tc>
              </a:tr>
              <a:tr h="175260">
                <a:tc>
                  <a:txBody>
                    <a:bodyPr wrap="square"/>
                    <a:lstStyle/>
                    <a:p>
                      <a:pPr algn="l"/>
                      <a:r>
                        <a:rPr sz="1100" b="0" i="1">
                          <a:solidFill>
                            <a:srgbClr val="000000"/>
                          </a:solidFill>
                          <a:latin typeface="Calibri"/>
                        </a:rPr>
                        <a:t>5.5.1.2.</a:t>
                      </a:r>
                      <a:r>
                        <a:rPr sz="700" b="0" i="1">
                          <a:solidFill>
                            <a:srgbClr val="000000"/>
                          </a:solidFill>
                          <a:latin typeface="Times New Roman"/>
                        </a:rPr>
                        <a:t>    </a:t>
                      </a:r>
                      <a:r>
                        <a:rPr sz="1100" b="0" i="1">
                          <a:solidFill>
                            <a:srgbClr val="000000"/>
                          </a:solidFill>
                          <a:latin typeface="Calibri"/>
                        </a:rPr>
                        <a:t>Frozen Food</a:t>
                      </a:r>
                      <a:endParaRPr sz="1100"/>
                    </a:p>
                  </a:txBody>
                  <a:tcPr marL="1028700" marR="9525" marT="9525" marB="0" anchor="ctr"/>
                </a:tc>
              </a:tr>
              <a:tr h="175260">
                <a:tc>
                  <a:txBody>
                    <a:bodyPr wrap="square"/>
                    <a:lstStyle/>
                    <a:p>
                      <a:pPr algn="l"/>
                      <a:r>
                        <a:rPr sz="1100" b="0" i="1">
                          <a:solidFill>
                            <a:srgbClr val="000000"/>
                          </a:solidFill>
                          <a:latin typeface="Calibri"/>
                        </a:rPr>
                        <a:t>5.5.1.3.</a:t>
                      </a:r>
                      <a:r>
                        <a:rPr sz="700" b="0" i="1">
                          <a:solidFill>
                            <a:srgbClr val="000000"/>
                          </a:solidFill>
                          <a:latin typeface="Times New Roman"/>
                        </a:rPr>
                        <a:t>    </a:t>
                      </a:r>
                      <a:r>
                        <a:rPr sz="1100" b="0" i="1">
                          <a:solidFill>
                            <a:srgbClr val="000000"/>
                          </a:solidFill>
                          <a:latin typeface="Calibri"/>
                        </a:rPr>
                        <a:t>Dairy Products</a:t>
                      </a:r>
                      <a:endParaRPr sz="1100"/>
                    </a:p>
                  </a:txBody>
                  <a:tcPr marL="1028700" marR="9525" marT="9525" marB="0" anchor="ctr"/>
                </a:tc>
              </a:tr>
              <a:tr h="175260">
                <a:tc>
                  <a:txBody>
                    <a:bodyPr wrap="square"/>
                    <a:lstStyle/>
                    <a:p>
                      <a:pPr algn="l"/>
                      <a:r>
                        <a:rPr sz="1100" b="0" i="1">
                          <a:solidFill>
                            <a:srgbClr val="000000"/>
                          </a:solidFill>
                          <a:latin typeface="Calibri"/>
                        </a:rPr>
                        <a:t>5.5.1.4.</a:t>
                      </a:r>
                      <a:r>
                        <a:rPr sz="700" b="0" i="1">
                          <a:solidFill>
                            <a:srgbClr val="000000"/>
                          </a:solidFill>
                          <a:latin typeface="Times New Roman"/>
                        </a:rPr>
                        <a:t>    </a:t>
                      </a:r>
                      <a:r>
                        <a:rPr sz="1100" b="0" i="1">
                          <a:solidFill>
                            <a:srgbClr val="000000"/>
                          </a:solidFill>
                          <a:latin typeface="Calibri"/>
                        </a:rPr>
                        <a:t>Bakery</a:t>
                      </a:r>
                      <a:endParaRPr sz="1100"/>
                    </a:p>
                  </a:txBody>
                  <a:tcPr marL="1028700" marR="9525" marT="9525" marB="0" anchor="ctr"/>
                </a:tc>
              </a:tr>
              <a:tr h="175260">
                <a:tc>
                  <a:txBody>
                    <a:bodyPr wrap="square"/>
                    <a:lstStyle/>
                    <a:p>
                      <a:pPr algn="l"/>
                      <a:r>
                        <a:rPr sz="1100" b="0" i="1">
                          <a:solidFill>
                            <a:srgbClr val="000000"/>
                          </a:solidFill>
                          <a:latin typeface="Calibri"/>
                        </a:rPr>
                        <a:t>5.5.1.5.</a:t>
                      </a:r>
                      <a:r>
                        <a:rPr sz="700" b="0" i="1">
                          <a:solidFill>
                            <a:srgbClr val="000000"/>
                          </a:solidFill>
                          <a:latin typeface="Times New Roman"/>
                        </a:rPr>
                        <a:t>    </a:t>
                      </a:r>
                      <a:r>
                        <a:rPr sz="1100" b="0" i="1">
                          <a:solidFill>
                            <a:srgbClr val="000000"/>
                          </a:solidFill>
                          <a:latin typeface="Calibri"/>
                        </a:rPr>
                        <a:t>Meat &amp; Poultry</a:t>
                      </a:r>
                      <a:endParaRPr sz="1100"/>
                    </a:p>
                  </a:txBody>
                  <a:tcPr marL="1028700" marR="9525" marT="9525" marB="0" anchor="ctr"/>
                </a:tc>
              </a:tr>
              <a:tr h="175260">
                <a:tc>
                  <a:txBody>
                    <a:bodyPr wrap="square"/>
                    <a:lstStyle/>
                    <a:p>
                      <a:pPr algn="l"/>
                      <a:r>
                        <a:rPr sz="1100" b="0" i="1">
                          <a:solidFill>
                            <a:srgbClr val="000000"/>
                          </a:solidFill>
                          <a:latin typeface="Calibri"/>
                        </a:rPr>
                        <a:t>5.5.1.6.</a:t>
                      </a:r>
                      <a:r>
                        <a:rPr sz="700" b="0" i="1">
                          <a:solidFill>
                            <a:srgbClr val="000000"/>
                          </a:solidFill>
                          <a:latin typeface="Times New Roman"/>
                        </a:rPr>
                        <a:t>    </a:t>
                      </a:r>
                      <a:r>
                        <a:rPr sz="1100" b="0" i="1">
                          <a:solidFill>
                            <a:srgbClr val="000000"/>
                          </a:solidFill>
                          <a:latin typeface="Calibri"/>
                        </a:rPr>
                        <a:t>Seafood</a:t>
                      </a:r>
                      <a:endParaRPr sz="1100"/>
                    </a:p>
                  </a:txBody>
                  <a:tcPr marL="1028700" marR="9525" marT="9525" marB="0" anchor="ctr"/>
                </a:tc>
              </a:tr>
              <a:tr h="175260">
                <a:tc>
                  <a:txBody>
                    <a:bodyPr wrap="square"/>
                    <a:lstStyle/>
                    <a:p>
                      <a:pPr algn="l"/>
                      <a:r>
                        <a:rPr sz="1100" b="0" i="1">
                          <a:solidFill>
                            <a:srgbClr val="000000"/>
                          </a:solidFill>
                          <a:latin typeface="Calibri"/>
                        </a:rPr>
                        <a:t>5.5.1.7.</a:t>
                      </a:r>
                      <a:r>
                        <a:rPr sz="700" b="0" i="1">
                          <a:solidFill>
                            <a:srgbClr val="000000"/>
                          </a:solidFill>
                          <a:latin typeface="Times New Roman"/>
                        </a:rPr>
                        <a:t>    </a:t>
                      </a:r>
                      <a:r>
                        <a:rPr sz="1100" b="0" i="1">
                          <a:solidFill>
                            <a:srgbClr val="000000"/>
                          </a:solidFill>
                          <a:latin typeface="Calibri"/>
                        </a:rPr>
                        <a:t>Snacks &amp; Confectionery</a:t>
                      </a:r>
                      <a:endParaRPr sz="1100"/>
                    </a:p>
                  </a:txBody>
                  <a:tcPr marL="1028700" marR="9525" marT="9525" marB="0" anchor="ctr"/>
                </a:tc>
              </a:tr>
              <a:tr h="175260">
                <a:tc>
                  <a:txBody>
                    <a:bodyPr wrap="square"/>
                    <a:lstStyle/>
                    <a:p>
                      <a:pPr algn="l"/>
                      <a:r>
                        <a:rPr sz="1100" b="0" i="1">
                          <a:solidFill>
                            <a:srgbClr val="000000"/>
                          </a:solidFill>
                          <a:latin typeface="Calibri"/>
                        </a:rPr>
                        <a:t>5.5.1.8.</a:t>
                      </a:r>
                      <a:r>
                        <a:rPr sz="700" b="0" i="1">
                          <a:solidFill>
                            <a:srgbClr val="000000"/>
                          </a:solidFill>
                          <a:latin typeface="Times New Roman"/>
                        </a:rPr>
                        <a:t>    </a:t>
                      </a:r>
                      <a:r>
                        <a:rPr sz="1100" b="0" i="1">
                          <a:solidFill>
                            <a:srgbClr val="000000"/>
                          </a:solidFill>
                          <a:latin typeface="Calibri"/>
                        </a:rPr>
                        <a:t>Beverage Packaging</a:t>
                      </a:r>
                      <a:endParaRPr sz="1100"/>
                    </a:p>
                  </a:txBody>
                  <a:tcPr marL="1028700" marR="9525" marT="9525" marB="0" anchor="ctr"/>
                </a:tc>
              </a:tr>
              <a:tr h="175260">
                <a:tc>
                  <a:txBody>
                    <a:bodyPr wrap="square"/>
                    <a:lstStyle/>
                    <a:p>
                      <a:pPr algn="l"/>
                      <a:r>
                        <a:rPr sz="1100" b="0" i="0">
                          <a:solidFill>
                            <a:srgbClr val="000000"/>
                          </a:solidFill>
                          <a:latin typeface="Calibri"/>
                        </a:rPr>
                        <a:t>5.5.2.</a:t>
                      </a:r>
                      <a:r>
                        <a:rPr sz="700" b="0" i="0">
                          <a:solidFill>
                            <a:srgbClr val="000000"/>
                          </a:solidFill>
                          <a:latin typeface="Times New Roman"/>
                        </a:rPr>
                        <a:t>   </a:t>
                      </a:r>
                      <a:r>
                        <a:rPr sz="1100" b="0" i="0">
                          <a:solidFill>
                            <a:srgbClr val="000000"/>
                          </a:solidFill>
                          <a:latin typeface="Calibri"/>
                        </a:rPr>
                        <a:t>Retail &amp; Consumer Goods</a:t>
                      </a:r>
                      <a:endParaRPr sz="1100"/>
                    </a:p>
                  </a:txBody>
                  <a:tcPr marL="771525" marR="9525" marT="9525" marB="0" anchor="ctr"/>
                </a:tc>
              </a:tr>
              <a:tr h="175260">
                <a:tc>
                  <a:txBody>
                    <a:bodyPr wrap="square"/>
                    <a:lstStyle/>
                    <a:p>
                      <a:pPr algn="l"/>
                      <a:r>
                        <a:rPr sz="1100" b="0" i="1">
                          <a:solidFill>
                            <a:srgbClr val="000000"/>
                          </a:solidFill>
                          <a:latin typeface="Calibri"/>
                        </a:rPr>
                        <a:t>5.5.2.1.</a:t>
                      </a:r>
                      <a:r>
                        <a:rPr sz="700" b="0" i="1">
                          <a:solidFill>
                            <a:srgbClr val="000000"/>
                          </a:solidFill>
                          <a:latin typeface="Times New Roman"/>
                        </a:rPr>
                        <a:t>    </a:t>
                      </a:r>
                      <a:r>
                        <a:rPr sz="1100" b="0" i="1">
                          <a:solidFill>
                            <a:srgbClr val="000000"/>
                          </a:solidFill>
                          <a:latin typeface="Calibri"/>
                        </a:rPr>
                        <a:t>Apparel</a:t>
                      </a:r>
                      <a:endParaRPr sz="1100"/>
                    </a:p>
                  </a:txBody>
                  <a:tcPr marL="1028700" marR="9525" marT="9525" marB="0" anchor="ctr"/>
                </a:tc>
              </a:tr>
              <a:tr h="175260">
                <a:tc>
                  <a:txBody>
                    <a:bodyPr wrap="square"/>
                    <a:lstStyle/>
                    <a:p>
                      <a:pPr algn="l"/>
                      <a:r>
                        <a:rPr sz="1100" b="0" i="1">
                          <a:solidFill>
                            <a:srgbClr val="000000"/>
                          </a:solidFill>
                          <a:latin typeface="Calibri"/>
                        </a:rPr>
                        <a:t>5.5.2.2.</a:t>
                      </a:r>
                      <a:r>
                        <a:rPr sz="700" b="0" i="1">
                          <a:solidFill>
                            <a:srgbClr val="000000"/>
                          </a:solidFill>
                          <a:latin typeface="Times New Roman"/>
                        </a:rPr>
                        <a:t>    </a:t>
                      </a:r>
                      <a:r>
                        <a:rPr sz="1100" b="0" i="1">
                          <a:solidFill>
                            <a:srgbClr val="000000"/>
                          </a:solidFill>
                          <a:latin typeface="Calibri"/>
                        </a:rPr>
                        <a:t>Footwear</a:t>
                      </a:r>
                      <a:endParaRPr sz="1100"/>
                    </a:p>
                  </a:txBody>
                  <a:tcPr marL="1028700" marR="9525" marT="9525" marB="0" anchor="ctr"/>
                </a:tc>
              </a:tr>
              <a:tr h="175260">
                <a:tc>
                  <a:txBody>
                    <a:bodyPr wrap="square"/>
                    <a:lstStyle/>
                    <a:p>
                      <a:pPr algn="l"/>
                      <a:r>
                        <a:rPr sz="1100" b="0" i="1">
                          <a:solidFill>
                            <a:srgbClr val="000000"/>
                          </a:solidFill>
                          <a:latin typeface="Calibri"/>
                        </a:rPr>
                        <a:t>5.5.2.3.</a:t>
                      </a:r>
                      <a:r>
                        <a:rPr sz="700" b="0" i="1">
                          <a:solidFill>
                            <a:srgbClr val="000000"/>
                          </a:solidFill>
                          <a:latin typeface="Times New Roman"/>
                        </a:rPr>
                        <a:t>    </a:t>
                      </a:r>
                      <a:r>
                        <a:rPr sz="1100" b="0" i="1">
                          <a:solidFill>
                            <a:srgbClr val="000000"/>
                          </a:solidFill>
                          <a:latin typeface="Calibri"/>
                        </a:rPr>
                        <a:t>Toys</a:t>
                      </a:r>
                      <a:endParaRPr sz="1100"/>
                    </a:p>
                  </a:txBody>
                  <a:tcPr marL="1028700" marR="9525" marT="9525" marB="0" anchor="ctr"/>
                </a:tc>
              </a:tr>
              <a:tr h="175260">
                <a:tc>
                  <a:txBody>
                    <a:bodyPr wrap="square"/>
                    <a:lstStyle/>
                    <a:p>
                      <a:pPr algn="l"/>
                      <a:r>
                        <a:rPr sz="1100" b="0" i="1">
                          <a:solidFill>
                            <a:srgbClr val="000000"/>
                          </a:solidFill>
                          <a:latin typeface="Calibri"/>
                        </a:rPr>
                        <a:t>5.5.2.4.</a:t>
                      </a:r>
                      <a:r>
                        <a:rPr sz="700" b="0" i="1">
                          <a:solidFill>
                            <a:srgbClr val="000000"/>
                          </a:solidFill>
                          <a:latin typeface="Times New Roman"/>
                        </a:rPr>
                        <a:t>    </a:t>
                      </a:r>
                      <a:r>
                        <a:rPr sz="1100" b="0" i="1">
                          <a:solidFill>
                            <a:srgbClr val="000000"/>
                          </a:solidFill>
                          <a:latin typeface="Calibri"/>
                        </a:rPr>
                        <a:t>Home Care</a:t>
                      </a:r>
                      <a:endParaRPr sz="1100"/>
                    </a:p>
                  </a:txBody>
                  <a:tcPr marL="1028700" marR="9525" marT="9525" marB="0" anchor="ctr"/>
                </a:tc>
              </a:tr>
              <a:tr h="175260">
                <a:tc>
                  <a:txBody>
                    <a:bodyPr wrap="square"/>
                    <a:lstStyle/>
                    <a:p>
                      <a:pPr algn="l"/>
                      <a:r>
                        <a:rPr sz="1100" b="0" i="1">
                          <a:solidFill>
                            <a:srgbClr val="000000"/>
                          </a:solidFill>
                          <a:latin typeface="Calibri"/>
                        </a:rPr>
                        <a:t>5.5.2.5.</a:t>
                      </a:r>
                      <a:r>
                        <a:rPr sz="700" b="0" i="1">
                          <a:solidFill>
                            <a:srgbClr val="000000"/>
                          </a:solidFill>
                          <a:latin typeface="Times New Roman"/>
                        </a:rPr>
                        <a:t>    </a:t>
                      </a:r>
                      <a:r>
                        <a:rPr sz="1100" b="0" i="1">
                          <a:solidFill>
                            <a:srgbClr val="000000"/>
                          </a:solidFill>
                          <a:latin typeface="Calibri"/>
                        </a:rPr>
                        <a:t>Household Goods</a:t>
                      </a:r>
                      <a:endParaRPr sz="1100"/>
                    </a:p>
                  </a:txBody>
                  <a:tcPr marL="1028700" marR="9525" marT="9525" marB="0" anchor="ctr"/>
                </a:tc>
              </a:tr>
              <a:tr h="175260">
                <a:tc>
                  <a:txBody>
                    <a:bodyPr wrap="square"/>
                    <a:lstStyle/>
                    <a:p>
                      <a:pPr algn="l"/>
                      <a:r>
                        <a:rPr sz="1100" b="0" i="1">
                          <a:solidFill>
                            <a:srgbClr val="000000"/>
                          </a:solidFill>
                          <a:latin typeface="Calibri"/>
                        </a:rPr>
                        <a:t>5.5.2.6.</a:t>
                      </a:r>
                      <a:r>
                        <a:rPr sz="700" b="0" i="1">
                          <a:solidFill>
                            <a:srgbClr val="000000"/>
                          </a:solidFill>
                          <a:latin typeface="Times New Roman"/>
                        </a:rPr>
                        <a:t>    </a:t>
                      </a:r>
                      <a:r>
                        <a:rPr sz="1100" b="0" i="1">
                          <a:solidFill>
                            <a:srgbClr val="000000"/>
                          </a:solidFill>
                          <a:latin typeface="Calibri"/>
                        </a:rPr>
                        <a:t>Stationery</a:t>
                      </a:r>
                      <a:endParaRPr sz="1100"/>
                    </a:p>
                  </a:txBody>
                  <a:tcPr marL="1028700" marR="9525" marT="9525" marB="0" anchor="ctr"/>
                </a:tc>
              </a:tr>
              <a:tr h="175260">
                <a:tc>
                  <a:txBody>
                    <a:bodyPr wrap="square"/>
                    <a:lstStyle/>
                    <a:p>
                      <a:pPr algn="l"/>
                      <a:r>
                        <a:rPr sz="1100" b="0" i="0">
                          <a:solidFill>
                            <a:srgbClr val="000000"/>
                          </a:solidFill>
                          <a:latin typeface="Calibri"/>
                        </a:rPr>
                        <a:t>5.5.3.</a:t>
                      </a:r>
                      <a:r>
                        <a:rPr sz="700" b="0" i="0">
                          <a:solidFill>
                            <a:srgbClr val="000000"/>
                          </a:solidFill>
                          <a:latin typeface="Times New Roman"/>
                        </a:rPr>
                        <a:t>   </a:t>
                      </a:r>
                      <a:r>
                        <a:rPr sz="1100" b="0" i="0">
                          <a:solidFill>
                            <a:srgbClr val="000000"/>
                          </a:solidFill>
                          <a:latin typeface="Calibri"/>
                        </a:rPr>
                        <a:t>Healthcare</a:t>
                      </a:r>
                      <a:endParaRPr sz="1100"/>
                    </a:p>
                  </a:txBody>
                  <a:tcPr marL="771525" marR="9525" marT="9525" marB="0" anchor="ctr"/>
                </a:tc>
              </a:tr>
              <a:tr h="175260">
                <a:tc>
                  <a:txBody>
                    <a:bodyPr wrap="square"/>
                    <a:lstStyle/>
                    <a:p>
                      <a:pPr algn="l"/>
                      <a:r>
                        <a:rPr sz="1100" b="0" i="1">
                          <a:solidFill>
                            <a:srgbClr val="000000"/>
                          </a:solidFill>
                          <a:latin typeface="Calibri"/>
                        </a:rPr>
                        <a:t>5.5.3.1.</a:t>
                      </a:r>
                      <a:r>
                        <a:rPr sz="700" b="0" i="1">
                          <a:solidFill>
                            <a:srgbClr val="000000"/>
                          </a:solidFill>
                          <a:latin typeface="Times New Roman"/>
                        </a:rPr>
                        <a:t>    </a:t>
                      </a:r>
                      <a:r>
                        <a:rPr sz="1100" b="0" i="1">
                          <a:solidFill>
                            <a:srgbClr val="000000"/>
                          </a:solidFill>
                          <a:latin typeface="Calibri"/>
                        </a:rPr>
                        <a:t>Pharmaceuticals</a:t>
                      </a:r>
                      <a:endParaRPr sz="1100"/>
                    </a:p>
                  </a:txBody>
                  <a:tcPr marL="1028700" marR="9525" marT="9525" marB="0" anchor="ctr"/>
                </a:tc>
              </a:tr>
              <a:tr h="175260">
                <a:tc>
                  <a:txBody>
                    <a:bodyPr wrap="square"/>
                    <a:lstStyle/>
                    <a:p>
                      <a:pPr algn="l"/>
                      <a:r>
                        <a:rPr sz="1100" b="0" i="1">
                          <a:solidFill>
                            <a:srgbClr val="000000"/>
                          </a:solidFill>
                          <a:latin typeface="Calibri"/>
                        </a:rPr>
                        <a:t>5.5.3.2.</a:t>
                      </a:r>
                      <a:r>
                        <a:rPr sz="700" b="0" i="1">
                          <a:solidFill>
                            <a:srgbClr val="000000"/>
                          </a:solidFill>
                          <a:latin typeface="Times New Roman"/>
                        </a:rPr>
                        <a:t>    </a:t>
                      </a:r>
                      <a:r>
                        <a:rPr sz="1100" b="0" i="1">
                          <a:solidFill>
                            <a:srgbClr val="000000"/>
                          </a:solidFill>
                          <a:latin typeface="Calibri"/>
                        </a:rPr>
                        <a:t>Medical Devices</a:t>
                      </a:r>
                      <a:endParaRPr sz="1100"/>
                    </a:p>
                  </a:txBody>
                  <a:tcPr marL="1028700" marR="9525" marT="9525" marB="0" anchor="ctr"/>
                </a:tc>
              </a:tr>
              <a:tr h="175260">
                <a:tc>
                  <a:txBody>
                    <a:bodyPr wrap="square"/>
                    <a:lstStyle/>
                    <a:p>
                      <a:pPr algn="l"/>
                      <a:r>
                        <a:rPr sz="1100" b="0" i="1">
                          <a:solidFill>
                            <a:srgbClr val="000000"/>
                          </a:solidFill>
                          <a:latin typeface="Calibri"/>
                        </a:rPr>
                        <a:t>5.5.3.3.</a:t>
                      </a:r>
                      <a:r>
                        <a:rPr sz="700" b="0" i="1">
                          <a:solidFill>
                            <a:srgbClr val="000000"/>
                          </a:solidFill>
                          <a:latin typeface="Times New Roman"/>
                        </a:rPr>
                        <a:t>    </a:t>
                      </a:r>
                      <a:r>
                        <a:rPr sz="1100" b="0" i="1">
                          <a:solidFill>
                            <a:srgbClr val="000000"/>
                          </a:solidFill>
                          <a:latin typeface="Calibri"/>
                        </a:rPr>
                        <a:t>Surgical Products</a:t>
                      </a:r>
                      <a:endParaRPr sz="1100"/>
                    </a:p>
                  </a:txBody>
                  <a:tcPr marL="1028700" marR="9525" marT="9525" marB="0" anchor="ctr"/>
                </a:tc>
              </a:tr>
              <a:tr h="175260">
                <a:tc>
                  <a:txBody>
                    <a:bodyPr wrap="square"/>
                    <a:lstStyle/>
                    <a:p>
                      <a:pPr algn="l"/>
                      <a:r>
                        <a:rPr sz="1100" b="0" i="1">
                          <a:solidFill>
                            <a:srgbClr val="000000"/>
                          </a:solidFill>
                          <a:latin typeface="Calibri"/>
                        </a:rPr>
                        <a:t>5.5.3.4.</a:t>
                      </a:r>
                      <a:r>
                        <a:rPr sz="700" b="0" i="1">
                          <a:solidFill>
                            <a:srgbClr val="000000"/>
                          </a:solidFill>
                          <a:latin typeface="Times New Roman"/>
                        </a:rPr>
                        <a:t>    </a:t>
                      </a:r>
                      <a:r>
                        <a:rPr sz="1100" b="0" i="1">
                          <a:solidFill>
                            <a:srgbClr val="000000"/>
                          </a:solidFill>
                          <a:latin typeface="Calibri"/>
                        </a:rPr>
                        <a:t>Diagnostic Kits</a:t>
                      </a:r>
                      <a:endParaRPr sz="1100"/>
                    </a:p>
                  </a:txBody>
                  <a:tcPr marL="1028700" marR="9525" marT="9525" marB="0" anchor="ctr"/>
                </a:tc>
              </a:tr>
              <a:tr h="175260">
                <a:tc>
                  <a:txBody>
                    <a:bodyPr wrap="square"/>
                    <a:lstStyle/>
                    <a:p>
                      <a:pPr algn="l"/>
                      <a:r>
                        <a:rPr sz="1100" b="0" i="1">
                          <a:solidFill>
                            <a:srgbClr val="000000"/>
                          </a:solidFill>
                          <a:latin typeface="Calibri"/>
                        </a:rPr>
                        <a:t>5.5.3.5.</a:t>
                      </a:r>
                      <a:r>
                        <a:rPr sz="700" b="0" i="1">
                          <a:solidFill>
                            <a:srgbClr val="000000"/>
                          </a:solidFill>
                          <a:latin typeface="Times New Roman"/>
                        </a:rPr>
                        <a:t>    </a:t>
                      </a:r>
                      <a:r>
                        <a:rPr sz="1100" b="0" i="1">
                          <a:solidFill>
                            <a:srgbClr val="000000"/>
                          </a:solidFill>
                          <a:latin typeface="Calibri"/>
                        </a:rPr>
                        <a:t>Laboratory Supplies</a:t>
                      </a:r>
                      <a:endParaRPr sz="1100"/>
                    </a:p>
                  </a:txBody>
                  <a:tcPr marL="1028700" marR="9525" marT="9525" marB="0" anchor="ctr"/>
                </a:tc>
              </a:tr>
              <a:tr h="175260">
                <a:tc>
                  <a:txBody>
                    <a:bodyPr wrap="square"/>
                    <a:lstStyle/>
                    <a:p>
                      <a:pPr algn="l"/>
                      <a:r>
                        <a:rPr sz="1100" b="0" i="0">
                          <a:solidFill>
                            <a:srgbClr val="000000"/>
                          </a:solidFill>
                          <a:latin typeface="Calibri"/>
                        </a:rPr>
                        <a:t>5.5.4.</a:t>
                      </a:r>
                      <a:r>
                        <a:rPr sz="700" b="0" i="0">
                          <a:solidFill>
                            <a:srgbClr val="000000"/>
                          </a:solidFill>
                          <a:latin typeface="Times New Roman"/>
                        </a:rPr>
                        <a:t>   </a:t>
                      </a:r>
                      <a:r>
                        <a:rPr sz="1100" b="0" i="0">
                          <a:solidFill>
                            <a:srgbClr val="000000"/>
                          </a:solidFill>
                          <a:latin typeface="Calibri"/>
                        </a:rPr>
                        <a:t>E-commerce &amp; Logistics</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(3/6)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5.5.4.1.</a:t>
                      </a:r>
                      <a:r>
                        <a:rPr sz="700" b="0" i="1">
                          <a:solidFill>
                            <a:srgbClr val="000000"/>
                          </a:solidFill>
                          <a:latin typeface="Times New Roman"/>
                        </a:rPr>
                        <a:t>    </a:t>
                      </a:r>
                      <a:r>
                        <a:rPr sz="1100" b="0" i="1">
                          <a:solidFill>
                            <a:srgbClr val="000000"/>
                          </a:solidFill>
                          <a:latin typeface="Calibri"/>
                        </a:rPr>
                        <a:t>Courier Packaging</a:t>
                      </a:r>
                      <a:endParaRPr sz="1100"/>
                    </a:p>
                  </a:txBody>
                  <a:tcPr marL="1028700" marR="9525" marT="9525" marB="0" anchor="ctr"/>
                </a:tc>
              </a:tr>
              <a:tr h="175260">
                <a:tc>
                  <a:txBody>
                    <a:bodyPr wrap="square"/>
                    <a:lstStyle/>
                    <a:p>
                      <a:pPr algn="l"/>
                      <a:r>
                        <a:rPr sz="1100" b="0" i="1">
                          <a:solidFill>
                            <a:srgbClr val="000000"/>
                          </a:solidFill>
                          <a:latin typeface="Calibri"/>
                        </a:rPr>
                        <a:t>5.5.4.2.</a:t>
                      </a:r>
                      <a:r>
                        <a:rPr sz="700" b="0" i="1">
                          <a:solidFill>
                            <a:srgbClr val="000000"/>
                          </a:solidFill>
                          <a:latin typeface="Times New Roman"/>
                        </a:rPr>
                        <a:t>    </a:t>
                      </a:r>
                      <a:r>
                        <a:rPr sz="1100" b="0" i="1">
                          <a:solidFill>
                            <a:srgbClr val="000000"/>
                          </a:solidFill>
                          <a:latin typeface="Calibri"/>
                        </a:rPr>
                        <a:t>Fulfillment Centers</a:t>
                      </a:r>
                      <a:endParaRPr sz="1100"/>
                    </a:p>
                  </a:txBody>
                  <a:tcPr marL="1028700" marR="9525" marT="9525" marB="0" anchor="ctr"/>
                </a:tc>
              </a:tr>
              <a:tr h="175260">
                <a:tc>
                  <a:txBody>
                    <a:bodyPr wrap="square"/>
                    <a:lstStyle/>
                    <a:p>
                      <a:pPr algn="l"/>
                      <a:r>
                        <a:rPr sz="1100" b="0" i="1">
                          <a:solidFill>
                            <a:srgbClr val="000000"/>
                          </a:solidFill>
                          <a:latin typeface="Calibri"/>
                        </a:rPr>
                        <a:t>5.5.4.3.</a:t>
                      </a:r>
                      <a:r>
                        <a:rPr sz="700" b="0" i="1">
                          <a:solidFill>
                            <a:srgbClr val="000000"/>
                          </a:solidFill>
                          <a:latin typeface="Times New Roman"/>
                        </a:rPr>
                        <a:t>    </a:t>
                      </a:r>
                      <a:r>
                        <a:rPr sz="1100" b="0" i="1">
                          <a:solidFill>
                            <a:srgbClr val="000000"/>
                          </a:solidFill>
                          <a:latin typeface="Calibri"/>
                        </a:rPr>
                        <a:t>Return Packaging</a:t>
                      </a:r>
                      <a:endParaRPr sz="1100"/>
                    </a:p>
                  </a:txBody>
                  <a:tcPr marL="1028700" marR="9525" marT="9525" marB="0" anchor="ctr"/>
                </a:tc>
              </a:tr>
              <a:tr h="175260">
                <a:tc>
                  <a:txBody>
                    <a:bodyPr wrap="square"/>
                    <a:lstStyle/>
                    <a:p>
                      <a:pPr algn="l"/>
                      <a:r>
                        <a:rPr sz="1100" b="0" i="1">
                          <a:solidFill>
                            <a:srgbClr val="000000"/>
                          </a:solidFill>
                          <a:latin typeface="Calibri"/>
                        </a:rPr>
                        <a:t>5.5.4.4.</a:t>
                      </a:r>
                      <a:r>
                        <a:rPr sz="700" b="0" i="1">
                          <a:solidFill>
                            <a:srgbClr val="000000"/>
                          </a:solidFill>
                          <a:latin typeface="Times New Roman"/>
                        </a:rPr>
                        <a:t>    </a:t>
                      </a:r>
                      <a:r>
                        <a:rPr sz="1100" b="0" i="1">
                          <a:solidFill>
                            <a:srgbClr val="000000"/>
                          </a:solidFill>
                          <a:latin typeface="Calibri"/>
                        </a:rPr>
                        <a:t>Warehouse Packaging</a:t>
                      </a:r>
                      <a:endParaRPr sz="1100"/>
                    </a:p>
                  </a:txBody>
                  <a:tcPr marL="1028700" marR="9525" marT="9525" marB="0" anchor="ctr"/>
                </a:tc>
              </a:tr>
              <a:tr h="175260">
                <a:tc>
                  <a:txBody>
                    <a:bodyPr wrap="square"/>
                    <a:lstStyle/>
                    <a:p>
                      <a:pPr algn="l"/>
                      <a:r>
                        <a:rPr sz="1100" b="0" i="0">
                          <a:solidFill>
                            <a:srgbClr val="000000"/>
                          </a:solidFill>
                          <a:latin typeface="Calibri"/>
                        </a:rPr>
                        <a:t>5.5.5.</a:t>
                      </a:r>
                      <a:r>
                        <a:rPr sz="700" b="0" i="0">
                          <a:solidFill>
                            <a:srgbClr val="000000"/>
                          </a:solidFill>
                          <a:latin typeface="Times New Roman"/>
                        </a:rPr>
                        <a:t>   </a:t>
                      </a:r>
                      <a:r>
                        <a:rPr sz="1100" b="0" i="0">
                          <a:solidFill>
                            <a:srgbClr val="000000"/>
                          </a:solidFill>
                          <a:latin typeface="Calibri"/>
                        </a:rPr>
                        <a:t>Industrial</a:t>
                      </a:r>
                      <a:endParaRPr sz="1100"/>
                    </a:p>
                  </a:txBody>
                  <a:tcPr marL="771525" marR="9525" marT="9525" marB="0" anchor="ctr"/>
                </a:tc>
              </a:tr>
              <a:tr h="175260">
                <a:tc>
                  <a:txBody>
                    <a:bodyPr wrap="square"/>
                    <a:lstStyle/>
                    <a:p>
                      <a:pPr algn="l"/>
                      <a:r>
                        <a:rPr sz="1100" b="0" i="1">
                          <a:solidFill>
                            <a:srgbClr val="000000"/>
                          </a:solidFill>
                          <a:latin typeface="Calibri"/>
                        </a:rPr>
                        <a:t>5.5.5.1.</a:t>
                      </a:r>
                      <a:r>
                        <a:rPr sz="700" b="0" i="1">
                          <a:solidFill>
                            <a:srgbClr val="000000"/>
                          </a:solidFill>
                          <a:latin typeface="Times New Roman"/>
                        </a:rPr>
                        <a:t>    </a:t>
                      </a:r>
                      <a:r>
                        <a:rPr sz="1100" b="0" i="1">
                          <a:solidFill>
                            <a:srgbClr val="000000"/>
                          </a:solidFill>
                          <a:latin typeface="Calibri"/>
                        </a:rPr>
                        <a:t>Automotive Components</a:t>
                      </a:r>
                      <a:endParaRPr sz="1100"/>
                    </a:p>
                  </a:txBody>
                  <a:tcPr marL="1028700" marR="9525" marT="9525" marB="0" anchor="ctr"/>
                </a:tc>
              </a:tr>
              <a:tr h="175260">
                <a:tc>
                  <a:txBody>
                    <a:bodyPr wrap="square"/>
                    <a:lstStyle/>
                    <a:p>
                      <a:pPr algn="l"/>
                      <a:r>
                        <a:rPr sz="1100" b="0" i="1">
                          <a:solidFill>
                            <a:srgbClr val="000000"/>
                          </a:solidFill>
                          <a:latin typeface="Calibri"/>
                        </a:rPr>
                        <a:t>5.5.5.2.</a:t>
                      </a:r>
                      <a:r>
                        <a:rPr sz="700" b="0" i="1">
                          <a:solidFill>
                            <a:srgbClr val="000000"/>
                          </a:solidFill>
                          <a:latin typeface="Times New Roman"/>
                        </a:rPr>
                        <a:t>    </a:t>
                      </a:r>
                      <a:r>
                        <a:rPr sz="1100" b="0" i="1">
                          <a:solidFill>
                            <a:srgbClr val="000000"/>
                          </a:solidFill>
                          <a:latin typeface="Calibri"/>
                        </a:rPr>
                        <a:t>Chemicals</a:t>
                      </a:r>
                      <a:endParaRPr sz="1100"/>
                    </a:p>
                  </a:txBody>
                  <a:tcPr marL="1028700" marR="9525" marT="9525" marB="0" anchor="ctr"/>
                </a:tc>
              </a:tr>
              <a:tr h="175260">
                <a:tc>
                  <a:txBody>
                    <a:bodyPr wrap="square"/>
                    <a:lstStyle/>
                    <a:p>
                      <a:pPr algn="l"/>
                      <a:r>
                        <a:rPr sz="1100" b="0" i="1">
                          <a:solidFill>
                            <a:srgbClr val="000000"/>
                          </a:solidFill>
                          <a:latin typeface="Calibri"/>
                        </a:rPr>
                        <a:t>5.5.5.3.</a:t>
                      </a:r>
                      <a:r>
                        <a:rPr sz="700" b="0" i="1">
                          <a:solidFill>
                            <a:srgbClr val="000000"/>
                          </a:solidFill>
                          <a:latin typeface="Times New Roman"/>
                        </a:rPr>
                        <a:t>    </a:t>
                      </a:r>
                      <a:r>
                        <a:rPr sz="1100" b="0" i="1">
                          <a:solidFill>
                            <a:srgbClr val="000000"/>
                          </a:solidFill>
                          <a:latin typeface="Calibri"/>
                        </a:rPr>
                        <a:t>Machinery Parts</a:t>
                      </a:r>
                      <a:endParaRPr sz="1100"/>
                    </a:p>
                  </a:txBody>
                  <a:tcPr marL="1028700" marR="9525" marT="9525" marB="0" anchor="ctr"/>
                </a:tc>
              </a:tr>
              <a:tr h="175260">
                <a:tc>
                  <a:txBody>
                    <a:bodyPr wrap="square"/>
                    <a:lstStyle/>
                    <a:p>
                      <a:pPr algn="l"/>
                      <a:r>
                        <a:rPr sz="1100" b="0" i="1">
                          <a:solidFill>
                            <a:srgbClr val="000000"/>
                          </a:solidFill>
                          <a:latin typeface="Calibri"/>
                        </a:rPr>
                        <a:t>5.5.5.4.</a:t>
                      </a:r>
                      <a:r>
                        <a:rPr sz="700" b="0" i="1">
                          <a:solidFill>
                            <a:srgbClr val="000000"/>
                          </a:solidFill>
                          <a:latin typeface="Times New Roman"/>
                        </a:rPr>
                        <a:t>    </a:t>
                      </a:r>
                      <a:r>
                        <a:rPr sz="1100" b="0" i="1">
                          <a:solidFill>
                            <a:srgbClr val="000000"/>
                          </a:solidFill>
                          <a:latin typeface="Calibri"/>
                        </a:rPr>
                        <a:t>Hardware</a:t>
                      </a:r>
                      <a:endParaRPr sz="1100"/>
                    </a:p>
                  </a:txBody>
                  <a:tcPr marL="1028700" marR="9525" marT="9525" marB="0" anchor="ctr"/>
                </a:tc>
              </a:tr>
              <a:tr h="175260">
                <a:tc>
                  <a:txBody>
                    <a:bodyPr wrap="square"/>
                    <a:lstStyle/>
                    <a:p>
                      <a:pPr algn="l"/>
                      <a:r>
                        <a:rPr sz="1100" b="0" i="1">
                          <a:solidFill>
                            <a:srgbClr val="000000"/>
                          </a:solidFill>
                          <a:latin typeface="Calibri"/>
                        </a:rPr>
                        <a:t>5.5.5.5.</a:t>
                      </a:r>
                      <a:r>
                        <a:rPr sz="700" b="0" i="1">
                          <a:solidFill>
                            <a:srgbClr val="000000"/>
                          </a:solidFill>
                          <a:latin typeface="Times New Roman"/>
                        </a:rPr>
                        <a:t>    </a:t>
                      </a:r>
                      <a:r>
                        <a:rPr sz="1100" b="0" i="1">
                          <a:solidFill>
                            <a:srgbClr val="000000"/>
                          </a:solidFill>
                          <a:latin typeface="Calibri"/>
                        </a:rPr>
                        <a:t>Electrical Components</a:t>
                      </a:r>
                      <a:endParaRPr sz="1100"/>
                    </a:p>
                  </a:txBody>
                  <a:tcPr marL="1028700" marR="9525" marT="9525" marB="0" anchor="ctr"/>
                </a:tc>
              </a:tr>
              <a:tr h="175260">
                <a:tc>
                  <a:txBody>
                    <a:bodyPr wrap="square"/>
                    <a:lstStyle/>
                    <a:p>
                      <a:pPr algn="l"/>
                      <a:r>
                        <a:rPr sz="1100" b="0" i="0">
                          <a:solidFill>
                            <a:srgbClr val="000000"/>
                          </a:solidFill>
                          <a:latin typeface="Calibri"/>
                        </a:rPr>
                        <a:t>5.5.6.</a:t>
                      </a:r>
                      <a:r>
                        <a:rPr sz="700" b="0" i="0">
                          <a:solidFill>
                            <a:srgbClr val="000000"/>
                          </a:solidFill>
                          <a:latin typeface="Times New Roman"/>
                        </a:rPr>
                        <a:t>   </a:t>
                      </a:r>
                      <a:r>
                        <a:rPr sz="1100" b="0" i="0">
                          <a:solidFill>
                            <a:srgbClr val="000000"/>
                          </a:solidFill>
                          <a:latin typeface="Calibri"/>
                        </a:rPr>
                        <a:t>Agriculture</a:t>
                      </a:r>
                      <a:endParaRPr sz="1100"/>
                    </a:p>
                  </a:txBody>
                  <a:tcPr marL="771525" marR="9525" marT="9525" marB="0" anchor="ctr"/>
                </a:tc>
              </a:tr>
              <a:tr h="175260">
                <a:tc>
                  <a:txBody>
                    <a:bodyPr wrap="square"/>
                    <a:lstStyle/>
                    <a:p>
                      <a:pPr algn="l"/>
                      <a:r>
                        <a:rPr sz="1100" b="0" i="1">
                          <a:solidFill>
                            <a:srgbClr val="000000"/>
                          </a:solidFill>
                          <a:latin typeface="Calibri"/>
                        </a:rPr>
                        <a:t>5.5.6.1.</a:t>
                      </a:r>
                      <a:r>
                        <a:rPr sz="700" b="0" i="1">
                          <a:solidFill>
                            <a:srgbClr val="000000"/>
                          </a:solidFill>
                          <a:latin typeface="Times New Roman"/>
                        </a:rPr>
                        <a:t>    </a:t>
                      </a:r>
                      <a:r>
                        <a:rPr sz="1100" b="0" i="1">
                          <a:solidFill>
                            <a:srgbClr val="000000"/>
                          </a:solidFill>
                          <a:latin typeface="Calibri"/>
                        </a:rPr>
                        <a:t>Seeds</a:t>
                      </a:r>
                      <a:endParaRPr sz="1100"/>
                    </a:p>
                  </a:txBody>
                  <a:tcPr marL="1028700" marR="9525" marT="9525" marB="0" anchor="ctr"/>
                </a:tc>
              </a:tr>
              <a:tr h="175260">
                <a:tc>
                  <a:txBody>
                    <a:bodyPr wrap="square"/>
                    <a:lstStyle/>
                    <a:p>
                      <a:pPr algn="l"/>
                      <a:r>
                        <a:rPr sz="1100" b="0" i="1">
                          <a:solidFill>
                            <a:srgbClr val="000000"/>
                          </a:solidFill>
                          <a:latin typeface="Calibri"/>
                        </a:rPr>
                        <a:t>5.5.6.2.</a:t>
                      </a:r>
                      <a:r>
                        <a:rPr sz="700" b="0" i="1">
                          <a:solidFill>
                            <a:srgbClr val="000000"/>
                          </a:solidFill>
                          <a:latin typeface="Times New Roman"/>
                        </a:rPr>
                        <a:t>    </a:t>
                      </a:r>
                      <a:r>
                        <a:rPr sz="1100" b="0" i="1">
                          <a:solidFill>
                            <a:srgbClr val="000000"/>
                          </a:solidFill>
                          <a:latin typeface="Calibri"/>
                        </a:rPr>
                        <a:t>Fertilizers</a:t>
                      </a:r>
                      <a:endParaRPr sz="1100"/>
                    </a:p>
                  </a:txBody>
                  <a:tcPr marL="1028700" marR="9525" marT="9525" marB="0" anchor="ctr"/>
                </a:tc>
              </a:tr>
              <a:tr h="175260">
                <a:tc>
                  <a:txBody>
                    <a:bodyPr wrap="square"/>
                    <a:lstStyle/>
                    <a:p>
                      <a:pPr algn="l"/>
                      <a:r>
                        <a:rPr sz="1100" b="0" i="1">
                          <a:solidFill>
                            <a:srgbClr val="000000"/>
                          </a:solidFill>
                          <a:latin typeface="Calibri"/>
                        </a:rPr>
                        <a:t>5.5.6.3.</a:t>
                      </a:r>
                      <a:r>
                        <a:rPr sz="700" b="0" i="1">
                          <a:solidFill>
                            <a:srgbClr val="000000"/>
                          </a:solidFill>
                          <a:latin typeface="Times New Roman"/>
                        </a:rPr>
                        <a:t>    </a:t>
                      </a:r>
                      <a:r>
                        <a:rPr sz="1100" b="0" i="1">
                          <a:solidFill>
                            <a:srgbClr val="000000"/>
                          </a:solidFill>
                          <a:latin typeface="Calibri"/>
                        </a:rPr>
                        <a:t>Animal Feed</a:t>
                      </a:r>
                      <a:endParaRPr sz="1100"/>
                    </a:p>
                  </a:txBody>
                  <a:tcPr marL="1028700" marR="9525" marT="9525" marB="0" anchor="ctr"/>
                </a:tc>
              </a:tr>
              <a:tr h="175260">
                <a:tc>
                  <a:txBody>
                    <a:bodyPr wrap="square"/>
                    <a:lstStyle/>
                    <a:p>
                      <a:pPr algn="l"/>
                      <a:r>
                        <a:rPr sz="1100" b="0" i="1">
                          <a:solidFill>
                            <a:srgbClr val="000000"/>
                          </a:solidFill>
                          <a:latin typeface="Calibri"/>
                        </a:rPr>
                        <a:t>5.5.6.4.</a:t>
                      </a:r>
                      <a:r>
                        <a:rPr sz="700" b="0" i="1">
                          <a:solidFill>
                            <a:srgbClr val="000000"/>
                          </a:solidFill>
                          <a:latin typeface="Times New Roman"/>
                        </a:rPr>
                        <a:t>    </a:t>
                      </a:r>
                      <a:r>
                        <a:rPr sz="1100" b="0" i="1">
                          <a:solidFill>
                            <a:srgbClr val="000000"/>
                          </a:solidFill>
                          <a:latin typeface="Calibri"/>
                        </a:rPr>
                        <a:t>Produce Packaging</a:t>
                      </a:r>
                      <a:endParaRPr sz="1100"/>
                    </a:p>
                  </a:txBody>
                  <a:tcPr marL="1028700" marR="9525" marT="9525" marB="0" anchor="ctr"/>
                </a:tc>
              </a:tr>
              <a:tr h="175260">
                <a:tc>
                  <a:txBody>
                    <a:bodyPr wrap="square"/>
                    <a:lstStyle/>
                    <a:p>
                      <a:pPr algn="l"/>
                      <a:r>
                        <a:rPr sz="1100" b="0" i="0">
                          <a:solidFill>
                            <a:srgbClr val="000000"/>
                          </a:solidFill>
                          <a:latin typeface="Calibri"/>
                        </a:rPr>
                        <a:t>5.5.7.</a:t>
                      </a:r>
                      <a:r>
                        <a:rPr sz="700" b="0" i="0">
                          <a:solidFill>
                            <a:srgbClr val="000000"/>
                          </a:solidFill>
                          <a:latin typeface="Times New Roman"/>
                        </a:rPr>
                        <a:t>   </a:t>
                      </a:r>
                      <a:r>
                        <a:rPr sz="1100" b="0" i="0">
                          <a:solidFill>
                            <a:srgbClr val="000000"/>
                          </a:solidFill>
                          <a:latin typeface="Calibri"/>
                        </a:rPr>
                        <a:t>Electronics</a:t>
                      </a:r>
                      <a:endParaRPr sz="1100"/>
                    </a:p>
                  </a:txBody>
                  <a:tcPr marL="771525" marR="9525" marT="9525" marB="0" anchor="ctr"/>
                </a:tc>
              </a:tr>
              <a:tr h="175260">
                <a:tc>
                  <a:txBody>
                    <a:bodyPr wrap="square"/>
                    <a:lstStyle/>
                    <a:p>
                      <a:pPr algn="l"/>
                      <a:r>
                        <a:rPr sz="1100" b="0" i="1">
                          <a:solidFill>
                            <a:srgbClr val="000000"/>
                          </a:solidFill>
                          <a:latin typeface="Calibri"/>
                        </a:rPr>
                        <a:t>5.5.7.1.</a:t>
                      </a:r>
                      <a:r>
                        <a:rPr sz="700" b="0" i="1">
                          <a:solidFill>
                            <a:srgbClr val="000000"/>
                          </a:solidFill>
                          <a:latin typeface="Times New Roman"/>
                        </a:rPr>
                        <a:t>    </a:t>
                      </a:r>
                      <a:r>
                        <a:rPr sz="1100" b="0" i="1">
                          <a:solidFill>
                            <a:srgbClr val="000000"/>
                          </a:solidFill>
                          <a:latin typeface="Calibri"/>
                        </a:rPr>
                        <a:t>Semiconductors</a:t>
                      </a:r>
                      <a:endParaRPr sz="1100"/>
                    </a:p>
                  </a:txBody>
                  <a:tcPr marL="1028700" marR="9525" marT="9525" marB="0" anchor="ctr"/>
                </a:tc>
              </a:tr>
              <a:tr h="175260">
                <a:tc>
                  <a:txBody>
                    <a:bodyPr wrap="square"/>
                    <a:lstStyle/>
                    <a:p>
                      <a:pPr algn="l"/>
                      <a:r>
                        <a:rPr sz="1100" b="0" i="1">
                          <a:solidFill>
                            <a:srgbClr val="000000"/>
                          </a:solidFill>
                          <a:latin typeface="Calibri"/>
                        </a:rPr>
                        <a:t>5.5.7.2.</a:t>
                      </a:r>
                      <a:r>
                        <a:rPr sz="700" b="0" i="1">
                          <a:solidFill>
                            <a:srgbClr val="000000"/>
                          </a:solidFill>
                          <a:latin typeface="Times New Roman"/>
                        </a:rPr>
                        <a:t>    </a:t>
                      </a:r>
                      <a:r>
                        <a:rPr sz="1100" b="0" i="1">
                          <a:solidFill>
                            <a:srgbClr val="000000"/>
                          </a:solidFill>
                          <a:latin typeface="Calibri"/>
                        </a:rPr>
                        <a:t>Consumer Electronics</a:t>
                      </a:r>
                      <a:endParaRPr sz="1100"/>
                    </a:p>
                  </a:txBody>
                  <a:tcPr marL="1028700" marR="9525" marT="9525" marB="0" anchor="ctr"/>
                </a:tc>
              </a:tr>
              <a:tr h="175260">
                <a:tc>
                  <a:txBody>
                    <a:bodyPr wrap="square"/>
                    <a:lstStyle/>
                    <a:p>
                      <a:pPr algn="l"/>
                      <a:r>
                        <a:rPr sz="1100" b="0" i="1">
                          <a:solidFill>
                            <a:srgbClr val="000000"/>
                          </a:solidFill>
                          <a:latin typeface="Calibri"/>
                        </a:rPr>
                        <a:t>5.5.7.3.</a:t>
                      </a:r>
                      <a:r>
                        <a:rPr sz="700" b="0" i="1">
                          <a:solidFill>
                            <a:srgbClr val="000000"/>
                          </a:solidFill>
                          <a:latin typeface="Times New Roman"/>
                        </a:rPr>
                        <a:t>    </a:t>
                      </a:r>
                      <a:r>
                        <a:rPr sz="1100" b="0" i="1">
                          <a:solidFill>
                            <a:srgbClr val="000000"/>
                          </a:solidFill>
                          <a:latin typeface="Calibri"/>
                        </a:rPr>
                        <a:t>Electronic Components</a:t>
                      </a:r>
                      <a:endParaRPr sz="1100"/>
                    </a:p>
                  </a:txBody>
                  <a:tcPr marL="1028700" marR="9525" marT="9525" marB="0" anchor="ctr"/>
                </a:tc>
              </a:tr>
              <a:tr h="175260">
                <a:tc>
                  <a:txBody>
                    <a:bodyPr wrap="square"/>
                    <a:lstStyle/>
                    <a:p>
                      <a:pPr algn="l"/>
                      <a:r>
                        <a:rPr sz="1100" b="0" i="1">
                          <a:solidFill>
                            <a:srgbClr val="000000"/>
                          </a:solidFill>
                          <a:latin typeface="Calibri"/>
                        </a:rPr>
                        <a:t>5.5.7.4.</a:t>
                      </a:r>
                      <a:r>
                        <a:rPr sz="700" b="0" i="1">
                          <a:solidFill>
                            <a:srgbClr val="000000"/>
                          </a:solidFill>
                          <a:latin typeface="Times New Roman"/>
                        </a:rPr>
                        <a:t>    </a:t>
                      </a:r>
                      <a:r>
                        <a:rPr sz="1100" b="0" i="1">
                          <a:solidFill>
                            <a:srgbClr val="000000"/>
                          </a:solidFill>
                          <a:latin typeface="Calibri"/>
                        </a:rPr>
                        <a:t>PCB Packaging</a:t>
                      </a:r>
                      <a:endParaRPr sz="1100"/>
                    </a:p>
                  </a:txBody>
                  <a:tcPr marL="1028700" marR="9525" marT="9525" marB="0" anchor="ctr"/>
                </a:tc>
              </a:tr>
              <a:tr h="175260">
                <a:tc>
                  <a:txBody>
                    <a:bodyPr wrap="square"/>
                    <a:lstStyle/>
                    <a:p>
                      <a:pPr algn="l"/>
                      <a:r>
                        <a:rPr sz="1100" b="0" i="0">
                          <a:solidFill>
                            <a:srgbClr val="000000"/>
                          </a:solidFill>
                          <a:latin typeface="Calibri"/>
                        </a:rPr>
                        <a:t>5.5.8.</a:t>
                      </a:r>
                      <a:r>
                        <a:rPr sz="700" b="0" i="0">
                          <a:solidFill>
                            <a:srgbClr val="000000"/>
                          </a:solidFill>
                          <a:latin typeface="Times New Roman"/>
                        </a:rPr>
                        <a:t>   </a:t>
                      </a:r>
                      <a:r>
                        <a:rPr sz="1100" b="0" i="0">
                          <a:solidFill>
                            <a:srgbClr val="000000"/>
                          </a:solidFill>
                          <a:latin typeface="Calibri"/>
                        </a:rPr>
                        <a:t>Personal Care &amp; Cosmetics</a:t>
                      </a:r>
                      <a:endParaRPr sz="1100"/>
                    </a:p>
                  </a:txBody>
                  <a:tcPr marL="771525" marR="9525" marT="9525" marB="0" anchor="ctr"/>
                </a:tc>
              </a:tr>
              <a:tr h="175260">
                <a:tc>
                  <a:txBody>
                    <a:bodyPr wrap="square"/>
                    <a:lstStyle/>
                    <a:p>
                      <a:pPr algn="l"/>
                      <a:r>
                        <a:rPr sz="1100" b="0" i="1">
                          <a:solidFill>
                            <a:srgbClr val="000000"/>
                          </a:solidFill>
                          <a:latin typeface="Calibri"/>
                        </a:rPr>
                        <a:t>5.5.8.1.</a:t>
                      </a:r>
                      <a:r>
                        <a:rPr sz="700" b="0" i="1">
                          <a:solidFill>
                            <a:srgbClr val="000000"/>
                          </a:solidFill>
                          <a:latin typeface="Times New Roman"/>
                        </a:rPr>
                        <a:t>    </a:t>
                      </a:r>
                      <a:r>
                        <a:rPr sz="1100" b="0" i="1">
                          <a:solidFill>
                            <a:srgbClr val="000000"/>
                          </a:solidFill>
                          <a:latin typeface="Calibri"/>
                        </a:rPr>
                        <a:t>Cosmetic Products</a:t>
                      </a:r>
                      <a:endParaRPr sz="1100"/>
                    </a:p>
                  </a:txBody>
                  <a:tcPr marL="1028700" marR="9525" marT="9525" marB="0" anchor="ctr"/>
                </a:tc>
              </a:tr>
              <a:tr h="175260">
                <a:tc>
                  <a:txBody>
                    <a:bodyPr wrap="square"/>
                    <a:lstStyle/>
                    <a:p>
                      <a:pPr algn="l"/>
                      <a:r>
                        <a:rPr sz="1100" b="0" i="1">
                          <a:solidFill>
                            <a:srgbClr val="000000"/>
                          </a:solidFill>
                          <a:latin typeface="Calibri"/>
                        </a:rPr>
                        <a:t>5.5.8.2.</a:t>
                      </a:r>
                      <a:r>
                        <a:rPr sz="700" b="0" i="1">
                          <a:solidFill>
                            <a:srgbClr val="000000"/>
                          </a:solidFill>
                          <a:latin typeface="Times New Roman"/>
                        </a:rPr>
                        <a:t>    </a:t>
                      </a:r>
                      <a:r>
                        <a:rPr sz="1100" b="0" i="1">
                          <a:solidFill>
                            <a:srgbClr val="000000"/>
                          </a:solidFill>
                          <a:latin typeface="Calibri"/>
                        </a:rPr>
                        <a:t>Toiletries</a:t>
                      </a:r>
                      <a:endParaRPr sz="1100"/>
                    </a:p>
                  </a:txBody>
                  <a:tcPr marL="1028700" marR="9525" marT="9525" marB="0" anchor="ctr"/>
                </a:tc>
              </a:tr>
              <a:tr h="175260">
                <a:tc>
                  <a:txBody>
                    <a:bodyPr wrap="square"/>
                    <a:lstStyle/>
                    <a:p>
                      <a:pPr algn="l"/>
                      <a:r>
                        <a:rPr sz="1100" b="0" i="1">
                          <a:solidFill>
                            <a:srgbClr val="000000"/>
                          </a:solidFill>
                          <a:latin typeface="Calibri"/>
                        </a:rPr>
                        <a:t>5.5.8.3.</a:t>
                      </a:r>
                      <a:r>
                        <a:rPr sz="700" b="0" i="1">
                          <a:solidFill>
                            <a:srgbClr val="000000"/>
                          </a:solidFill>
                          <a:latin typeface="Times New Roman"/>
                        </a:rPr>
                        <a:t>    </a:t>
                      </a:r>
                      <a:r>
                        <a:rPr sz="1100" b="0" i="1">
                          <a:solidFill>
                            <a:srgbClr val="000000"/>
                          </a:solidFill>
                          <a:latin typeface="Calibri"/>
                        </a:rPr>
                        <a:t>Beauty Products</a:t>
                      </a:r>
                      <a:endParaRPr sz="1100"/>
                    </a:p>
                  </a:txBody>
                  <a:tcPr marL="1028700" marR="9525" marT="9525" marB="0" anchor="ctr"/>
                </a:tc>
              </a:tr>
              <a:tr h="175260">
                <a:tc>
                  <a:txBody>
                    <a:bodyPr wrap="square"/>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tr>
              <a:tr h="175260">
                <a:tc>
                  <a:txBody>
                    <a:bodyPr wrap="square"/>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6.5.1.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tr>
              <a:tr h="175260">
                <a:tc>
                  <a:txBody>
                    <a:bodyPr wrap="square"/>
                    <a:lstStyle/>
                    <a:p>
                      <a:pPr algn="l"/>
                      <a:r>
                        <a:rPr sz="1100" b="0" i="1">
                          <a:solidFill>
                            <a:srgbClr val="000000"/>
                          </a:solidFill>
                          <a:latin typeface="Calibri"/>
                        </a:rPr>
                        <a:t>6.5.1.1.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tr>
              <a:tr h="175260">
                <a:tc>
                  <a:txBody>
                    <a:bodyPr wrap="square"/>
                    <a:lstStyle/>
                    <a:p>
                      <a:pPr algn="l"/>
                      <a:r>
                        <a:rPr sz="1100" b="0" i="1">
                          <a:solidFill>
                            <a:srgbClr val="000000"/>
                          </a:solidFill>
                          <a:latin typeface="Calibri"/>
                        </a:rPr>
                        <a:t>6.5.1.2.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tr>
              <a:tr h="175260">
                <a:tc>
                  <a:txBody>
                    <a:bodyPr wrap="square"/>
                    <a:lstStyle/>
                    <a:p>
                      <a:pPr algn="l"/>
                      <a:r>
                        <a:rPr sz="1100" b="0" i="0">
                          <a:solidFill>
                            <a:srgbClr val="000000"/>
                          </a:solidFill>
                          <a:latin typeface="Calibri"/>
                        </a:rPr>
                        <a:t>6.5.2.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tr>
              <a:tr h="175260">
                <a:tc>
                  <a:txBody>
                    <a:bodyPr wrap="square"/>
                    <a:lstStyle/>
                    <a:p>
                      <a:pPr algn="l"/>
                      <a:r>
                        <a:rPr sz="1100" b="0" i="1">
                          <a:solidFill>
                            <a:srgbClr val="000000"/>
                          </a:solidFill>
                          <a:latin typeface="Calibri"/>
                        </a:rPr>
                        <a:t>6.5.2.1.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tr>
              <a:tr h="175260">
                <a:tc>
                  <a:txBody>
                    <a:bodyPr wrap="square"/>
                    <a:lstStyle/>
                    <a:p>
                      <a:pPr algn="l"/>
                      <a:r>
                        <a:rPr sz="1100" b="0" i="1">
                          <a:solidFill>
                            <a:srgbClr val="000000"/>
                          </a:solidFill>
                          <a:latin typeface="Calibri"/>
                        </a:rPr>
                        <a:t>6.5.2.2.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tr>
              <a:tr h="175260">
                <a:tc>
                  <a:txBody>
                    <a:bodyPr wrap="square"/>
                    <a:lstStyle/>
                    <a:p>
                      <a:pPr algn="l"/>
                      <a:r>
                        <a:rPr sz="1100" b="0" i="1">
                          <a:solidFill>
                            <a:srgbClr val="000000"/>
                          </a:solidFill>
                          <a:latin typeface="Calibri"/>
                        </a:rPr>
                        <a:t>6.5.2.3.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tr>
              <a:tr h="175260">
                <a:tc>
                  <a:txBody>
                    <a:bodyPr wrap="square"/>
                    <a:lstStyle/>
                    <a:p>
                      <a:pPr algn="l"/>
                      <a:r>
                        <a:rPr sz="1100" b="0" i="0">
                          <a:solidFill>
                            <a:srgbClr val="000000"/>
                          </a:solidFill>
                          <a:latin typeface="Calibri"/>
                        </a:rPr>
                        <a:t>6.5.3.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tr>
              <a:tr h="175260">
                <a:tc>
                  <a:txBody>
                    <a:bodyPr wrap="square"/>
                    <a:lstStyle/>
                    <a:p>
                      <a:pPr algn="l"/>
                      <a:r>
                        <a:rPr sz="1100" b="0" i="1">
                          <a:solidFill>
                            <a:srgbClr val="000000"/>
                          </a:solidFill>
                          <a:latin typeface="Calibri"/>
                        </a:rPr>
                        <a:t>6.5.3.1.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tr>
              <a:tr h="175260">
                <a:tc>
                  <a:txBody>
                    <a:bodyPr wrap="square"/>
                    <a:lstStyle/>
                    <a:p>
                      <a:pPr algn="l"/>
                      <a:r>
                        <a:rPr sz="1100" b="0" i="1">
                          <a:solidFill>
                            <a:srgbClr val="000000"/>
                          </a:solidFill>
                          <a:latin typeface="Calibri"/>
                        </a:rPr>
                        <a:t>6.5.3.2.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tr>
              <a:tr h="175260">
                <a:tc>
                  <a:txBody>
                    <a:bodyPr wrap="square"/>
                    <a:lstStyle/>
                    <a:p>
                      <a:pPr algn="l"/>
                      <a:r>
                        <a:rPr sz="1100" b="0" i="1">
                          <a:solidFill>
                            <a:srgbClr val="000000"/>
                          </a:solidFill>
                          <a:latin typeface="Calibri"/>
                        </a:rPr>
                        <a:t>6.5.3.3.</a:t>
                      </a:r>
                      <a:r>
                        <a:rPr sz="700" b="0" i="1">
                          <a:solidFill>
                            <a:srgbClr val="000000"/>
                          </a:solidFill>
                          <a:latin typeface="Times New Roman"/>
                        </a:rPr>
                        <a:t>    </a:t>
                      </a:r>
                      <a:r>
                        <a:rPr sz="1100" b="0" i="1">
                          <a:solidFill>
                            <a:srgbClr val="000000"/>
                          </a:solidFill>
                          <a:latin typeface="Calibri"/>
                        </a:rPr>
                        <a:t>S Korea</a:t>
                      </a:r>
                      <a:endParaRPr sz="1100"/>
                    </a:p>
                  </a:txBody>
                  <a:tcPr marL="1028700" marR="9525" marT="9525" marB="0" anchor="ctr"/>
                </a:tc>
              </a:tr>
              <a:tr h="175260">
                <a:tc>
                  <a:txBody>
                    <a:bodyPr wrap="square"/>
                    <a:lstStyle/>
                    <a:p>
                      <a:pPr algn="l"/>
                      <a:r>
                        <a:rPr sz="1100" b="0" i="0">
                          <a:solidFill>
                            <a:srgbClr val="000000"/>
                          </a:solidFill>
                          <a:latin typeface="Calibri"/>
                        </a:rPr>
                        <a:t>6.5.4.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tr>
              <a:tr h="175260">
                <a:tc>
                  <a:txBody>
                    <a:bodyPr wrap="square"/>
                    <a:lstStyle/>
                    <a:p>
                      <a:pPr algn="l"/>
                      <a:r>
                        <a:rPr sz="1100" b="0" i="1">
                          <a:solidFill>
                            <a:srgbClr val="000000"/>
                          </a:solidFill>
                          <a:latin typeface="Calibri"/>
                        </a:rPr>
                        <a:t>6.5.4.1.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tr>
              <a:tr h="175260">
                <a:tc>
                  <a:txBody>
                    <a:bodyPr wrap="square"/>
                    <a:lstStyle/>
                    <a:p>
                      <a:pPr algn="l"/>
                      <a:r>
                        <a:rPr sz="1100" b="0" i="1">
                          <a:solidFill>
                            <a:srgbClr val="000000"/>
                          </a:solidFill>
                          <a:latin typeface="Calibri"/>
                        </a:rPr>
                        <a:t>6.5.4.2.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tr>
              <a:tr h="175260">
                <a:tc>
                  <a:txBody>
                    <a:bodyPr wrap="square"/>
                    <a:lstStyle/>
                    <a:p>
                      <a:pPr algn="l"/>
                      <a:r>
                        <a:rPr sz="1100" b="0" i="1">
                          <a:solidFill>
                            <a:srgbClr val="000000"/>
                          </a:solidFill>
                          <a:latin typeface="Calibri"/>
                        </a:rPr>
                        <a:t>6.5.4.3.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tr>
              <a:tr h="175260">
                <a:tc>
                  <a:txBody>
                    <a:bodyPr wrap="square"/>
                    <a:lstStyle/>
                    <a:p>
                      <a:pPr algn="l"/>
                      <a:r>
                        <a:rPr sz="1100" b="0" i="1">
                          <a:solidFill>
                            <a:srgbClr val="000000"/>
                          </a:solidFill>
                          <a:latin typeface="Calibri"/>
                        </a:rPr>
                        <a:t>6.5.4.4.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tr>
              <a:tr h="175260">
                <a:tc>
                  <a:txBody>
                    <a:bodyPr wrap="square"/>
                    <a:lstStyle/>
                    <a:p>
                      <a:pPr algn="l"/>
                      <a:r>
                        <a:rPr sz="1100" b="0" i="1">
                          <a:solidFill>
                            <a:srgbClr val="000000"/>
                          </a:solidFill>
                          <a:latin typeface="Calibri"/>
                        </a:rPr>
                        <a:t>6.5.4.5.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tr>
              <a:tr h="175260">
                <a:tc>
                  <a:txBody>
                    <a:bodyPr wrap="square"/>
                    <a:lstStyle/>
                    <a:p>
                      <a:pPr algn="l"/>
                      <a:r>
                        <a:rPr sz="1100" b="0" i="1">
                          <a:solidFill>
                            <a:srgbClr val="000000"/>
                          </a:solidFill>
                          <a:latin typeface="Calibri"/>
                        </a:rPr>
                        <a:t>6.5.4.6.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tr>
              <a:tr h="175260">
                <a:tc>
                  <a:txBody>
                    <a:bodyPr wrap="square"/>
                    <a:lstStyle/>
                    <a:p>
                      <a:pPr algn="l"/>
                      <a:r>
                        <a:rPr sz="1100" b="0" i="1">
                          <a:solidFill>
                            <a:srgbClr val="000000"/>
                          </a:solidFill>
                          <a:latin typeface="Calibri"/>
                        </a:rPr>
                        <a:t>6.5.4.7.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tr>
              <a:tr h="175260">
                <a:tc>
                  <a:txBody>
                    <a:bodyPr wrap="square"/>
                    <a:lstStyle/>
                    <a:p>
                      <a:pPr algn="l"/>
                      <a:r>
                        <a:rPr sz="1100" b="0" i="1">
                          <a:solidFill>
                            <a:srgbClr val="000000"/>
                          </a:solidFill>
                          <a:latin typeface="Calibri"/>
                        </a:rPr>
                        <a:t>6.5.4.8.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tr>
              <a:tr h="175260">
                <a:tc>
                  <a:txBody>
                    <a:bodyPr wrap="square"/>
                    <a:lstStyle/>
                    <a:p>
                      <a:pPr algn="l"/>
                      <a:r>
                        <a:rPr sz="1100" b="0" i="1">
                          <a:solidFill>
                            <a:srgbClr val="000000"/>
                          </a:solidFill>
                          <a:latin typeface="Calibri"/>
                        </a:rPr>
                        <a:t>6.5.4.9.</a:t>
                      </a:r>
                      <a:r>
                        <a:rPr sz="700" b="0" i="1">
                          <a:solidFill>
                            <a:srgbClr val="000000"/>
                          </a:solidFill>
                          <a:latin typeface="Times New Roman"/>
                        </a:rPr>
                        <a:t>    </a:t>
                      </a:r>
                      <a:r>
                        <a:rPr sz="1100" b="0" i="1">
                          <a:solidFill>
                            <a:srgbClr val="000000"/>
                          </a:solidFill>
                          <a:latin typeface="Calibri"/>
                        </a:rPr>
                        <a:t>Rest of South East Asia</a:t>
                      </a:r>
                      <a:endParaRPr sz="1100"/>
                    </a:p>
                  </a:txBody>
                  <a:tcPr marL="1028700" marR="9525" marT="9525" marB="0" anchor="ctr"/>
                </a:tc>
              </a:tr>
              <a:tr h="175260">
                <a:tc>
                  <a:txBody>
                    <a:bodyPr wrap="square"/>
                    <a:lstStyle/>
                    <a:p>
                      <a:pPr algn="l"/>
                      <a:r>
                        <a:rPr sz="1100" b="0" i="0">
                          <a:solidFill>
                            <a:srgbClr val="000000"/>
                          </a:solidFill>
                          <a:latin typeface="Calibri"/>
                        </a:rPr>
                        <a:t>6.5.5.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tr>
              <a:tr h="175260">
                <a:tc>
                  <a:txBody>
                    <a:bodyPr wrap="square"/>
                    <a:lstStyle/>
                    <a:p>
                      <a:pPr algn="l"/>
                      <a:r>
                        <a:rPr sz="1100" b="0" i="1">
                          <a:solidFill>
                            <a:srgbClr val="000000"/>
                          </a:solidFill>
                          <a:latin typeface="Calibri"/>
                        </a:rPr>
                        <a:t>6.5.5.1.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tr>
              <a:tr h="175260">
                <a:tc>
                  <a:txBody>
                    <a:bodyPr wrap="square"/>
                    <a:lstStyle/>
                    <a:p>
                      <a:pPr algn="l"/>
                      <a:r>
                        <a:rPr sz="1100" b="0" i="1">
                          <a:solidFill>
                            <a:srgbClr val="000000"/>
                          </a:solidFill>
                          <a:latin typeface="Calibri"/>
                        </a:rPr>
                        <a:t>6.5.5.2.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tr>
              <a:tr h="175260">
                <a:tc>
                  <a:txBody>
                    <a:bodyPr wrap="square"/>
                    <a:lstStyle/>
                    <a:p>
                      <a:pPr algn="l"/>
                      <a:r>
                        <a:rPr sz="1100" b="0" i="1">
                          <a:solidFill>
                            <a:srgbClr val="000000"/>
                          </a:solidFill>
                          <a:latin typeface="Calibri"/>
                        </a:rPr>
                        <a:t>6.5.5.3.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tr>
              <a:tr h="175260">
                <a:tc>
                  <a:txBody>
                    <a:bodyPr wrap="square"/>
                    <a:lstStyle/>
                    <a:p>
                      <a:pPr algn="l"/>
                      <a:r>
                        <a:rPr sz="1100" b="0" i="1">
                          <a:solidFill>
                            <a:srgbClr val="000000"/>
                          </a:solidFill>
                          <a:latin typeface="Calibri"/>
                        </a:rPr>
                        <a:t>6.5.5.4.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tr>
              <a:tr h="175260">
                <a:tc>
                  <a:txBody>
                    <a:bodyPr wrap="square"/>
                    <a:lstStyle/>
                    <a:p>
                      <a:pPr algn="l"/>
                      <a:r>
                        <a:rPr sz="1100" b="0" i="1">
                          <a:solidFill>
                            <a:srgbClr val="000000"/>
                          </a:solidFill>
                          <a:latin typeface="Calibri"/>
                        </a:rPr>
                        <a:t>6.5.5.5.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tr>
              <a:tr h="175260">
                <a:tc>
                  <a:txBody>
                    <a:bodyPr wrap="square"/>
                    <a:lstStyle/>
                    <a:p>
                      <a:pPr algn="l"/>
                      <a:r>
                        <a:rPr sz="1100" b="0" i="1">
                          <a:solidFill>
                            <a:srgbClr val="000000"/>
                          </a:solidFill>
                          <a:latin typeface="Calibri"/>
                        </a:rPr>
                        <a:t>6.5.5.6.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tr>
              <a:tr h="175260">
                <a:tc>
                  <a:txBody>
                    <a:bodyPr wrap="square"/>
                    <a:lstStyle/>
                    <a:p>
                      <a:pPr algn="l"/>
                      <a:r>
                        <a:rPr sz="1100" b="0" i="1">
                          <a:solidFill>
                            <a:srgbClr val="000000"/>
                          </a:solidFill>
                          <a:latin typeface="Calibri"/>
                        </a:rPr>
                        <a:t>6.5.5.7.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tr>
              <a:tr h="175260">
                <a:tc>
                  <a:txBody>
                    <a:bodyPr wrap="square"/>
                    <a:lstStyle/>
                    <a:p>
                      <a:pPr algn="l"/>
                      <a:r>
                        <a:rPr sz="1100" b="0" i="1">
                          <a:solidFill>
                            <a:srgbClr val="000000"/>
                          </a:solidFill>
                          <a:latin typeface="Calibri"/>
                        </a:rPr>
                        <a:t>6.5.5.8.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(4/6)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6.5.5.9.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tr>
              <a:tr h="175260">
                <a:tc>
                  <a:txBody>
                    <a:bodyPr wrap="square"/>
                    <a:lstStyle/>
                    <a:p>
                      <a:pPr algn="l"/>
                      <a:r>
                        <a:rPr sz="1100" b="0" i="1">
                          <a:solidFill>
                            <a:srgbClr val="000000"/>
                          </a:solidFill>
                          <a:latin typeface="Calibri"/>
                        </a:rPr>
                        <a:t>6.5.5.10.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tr>
              <a:tr h="175260">
                <a:tc>
                  <a:txBody>
                    <a:bodyPr wrap="square"/>
                    <a:lstStyle/>
                    <a:p>
                      <a:pPr algn="l"/>
                      <a:r>
                        <a:rPr sz="1100" b="0" i="1">
                          <a:solidFill>
                            <a:srgbClr val="000000"/>
                          </a:solidFill>
                          <a:latin typeface="Calibri"/>
                        </a:rPr>
                        <a:t>6.5.5.11.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tr>
              <a:tr h="175260">
                <a:tc>
                  <a:txBody>
                    <a:bodyPr wrap="square"/>
                    <a:lstStyle/>
                    <a:p>
                      <a:pPr algn="l"/>
                      <a:r>
                        <a:rPr sz="1100" b="0" i="1">
                          <a:solidFill>
                            <a:srgbClr val="000000"/>
                          </a:solidFill>
                          <a:latin typeface="Calibri"/>
                        </a:rPr>
                        <a:t>6.5.5.12.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tr>
              <a:tr h="175260">
                <a:tc>
                  <a:txBody>
                    <a:bodyPr wrap="square"/>
                    <a:lstStyle/>
                    <a:p>
                      <a:pPr algn="l"/>
                      <a:r>
                        <a:rPr sz="1100" b="0" i="0">
                          <a:solidFill>
                            <a:srgbClr val="000000"/>
                          </a:solidFill>
                          <a:latin typeface="Calibri"/>
                        </a:rPr>
                        <a:t>6.5.6.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tr>
              <a:tr h="175260">
                <a:tc>
                  <a:txBody>
                    <a:bodyPr wrap="square"/>
                    <a:lstStyle/>
                    <a:p>
                      <a:pPr algn="l"/>
                      <a:r>
                        <a:rPr sz="1100" b="0" i="1">
                          <a:solidFill>
                            <a:srgbClr val="000000"/>
                          </a:solidFill>
                          <a:latin typeface="Calibri"/>
                        </a:rPr>
                        <a:t>6.5.6.1.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tr>
              <a:tr h="175260">
                <a:tc>
                  <a:txBody>
                    <a:bodyPr wrap="square"/>
                    <a:lstStyle/>
                    <a:p>
                      <a:pPr algn="l"/>
                      <a:r>
                        <a:rPr sz="1100" b="0" i="1">
                          <a:solidFill>
                            <a:srgbClr val="000000"/>
                          </a:solidFill>
                          <a:latin typeface="Calibri"/>
                        </a:rPr>
                        <a:t>6.5.6.2.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tr>
              <a:tr h="175260">
                <a:tc>
                  <a:txBody>
                    <a:bodyPr wrap="square"/>
                    <a:lstStyle/>
                    <a:p>
                      <a:pPr algn="l"/>
                      <a:r>
                        <a:rPr sz="1100" b="0" i="1">
                          <a:solidFill>
                            <a:srgbClr val="000000"/>
                          </a:solidFill>
                          <a:latin typeface="Calibri"/>
                        </a:rPr>
                        <a:t>6.5.6.3.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tr>
              <a:tr h="175260">
                <a:tc>
                  <a:txBody>
                    <a:bodyPr wrap="square"/>
                    <a:lstStyle/>
                    <a:p>
                      <a:pPr algn="l"/>
                      <a:r>
                        <a:rPr sz="1100" b="0" i="1">
                          <a:solidFill>
                            <a:srgbClr val="000000"/>
                          </a:solidFill>
                          <a:latin typeface="Calibri"/>
                        </a:rPr>
                        <a:t>6.5.6.4.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tr>
              <a:tr h="175260">
                <a:tc>
                  <a:txBody>
                    <a:bodyPr wrap="square"/>
                    <a:lstStyle/>
                    <a:p>
                      <a:pPr algn="l"/>
                      <a:r>
                        <a:rPr sz="1100" b="0" i="1">
                          <a:solidFill>
                            <a:srgbClr val="000000"/>
                          </a:solidFill>
                          <a:latin typeface="Calibri"/>
                        </a:rPr>
                        <a:t>6.5.6.5.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tr>
              <a:tr h="175260">
                <a:tc>
                  <a:txBody>
                    <a:bodyPr wrap="square"/>
                    <a:lstStyle/>
                    <a:p>
                      <a:pPr algn="l"/>
                      <a:r>
                        <a:rPr sz="1100" b="0" i="1">
                          <a:solidFill>
                            <a:srgbClr val="000000"/>
                          </a:solidFill>
                          <a:latin typeface="Calibri"/>
                        </a:rPr>
                        <a:t>6.5.6.6.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tr>
              <a:tr h="175260">
                <a:tc>
                  <a:txBody>
                    <a:bodyPr wrap="square"/>
                    <a:lstStyle/>
                    <a:p>
                      <a:pPr algn="l"/>
                      <a:r>
                        <a:rPr sz="1100" b="0" i="1">
                          <a:solidFill>
                            <a:srgbClr val="000000"/>
                          </a:solidFill>
                          <a:latin typeface="Calibri"/>
                        </a:rPr>
                        <a:t>6.5.6.7.</a:t>
                      </a:r>
                      <a:r>
                        <a:rPr sz="700" b="0" i="1">
                          <a:solidFill>
                            <a:srgbClr val="000000"/>
                          </a:solidFill>
                          <a:latin typeface="Times New Roman"/>
                        </a:rPr>
                        <a:t>    </a:t>
                      </a:r>
                      <a:r>
                        <a:rPr sz="1100" b="0" i="1">
                          <a:solidFill>
                            <a:srgbClr val="000000"/>
                          </a:solidFill>
                          <a:latin typeface="Calibri"/>
                        </a:rPr>
                        <a:t>Rest if MEA</a:t>
                      </a:r>
                      <a:endParaRPr sz="1100"/>
                    </a:p>
                  </a:txBody>
                  <a:tcPr marL="1028700" marR="9525" marT="9525" marB="0" anchor="ctr"/>
                </a:tc>
              </a:tr>
              <a:tr h="350520">
                <a:tc>
                  <a:txBody>
                    <a:bodyPr wrap="square"/>
                    <a:lstStyle/>
                    <a:p>
                      <a:pPr algn="l"/>
                      <a:r>
                        <a:rPr sz="1100" b="0" i="1">
                          <a:solidFill>
                            <a:srgbClr val="EE0000"/>
                          </a:solidFill>
                          <a:latin typeface="Calibri"/>
                        </a:rPr>
                        <a:t>Note: Value &amp; Volume (US$ Mn / UNITS) for all segments will be provided for each region/ Country</a:t>
                      </a:r>
                      <a:endParaRPr sz="1100"/>
                    </a:p>
                  </a:txBody>
                  <a:tcPr marL="9525" marR="9525" marT="9525" marB="0" anchor="ctr"/>
                </a:tc>
              </a:tr>
              <a:tr h="175260">
                <a:tc>
                  <a:txBody>
                    <a:bodyPr wrap="square"/>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Product Type × End-Use Industry</a:t>
                      </a:r>
                      <a:endParaRPr sz="1100"/>
                    </a:p>
                  </a:txBody>
                  <a:tcPr marL="428625" marR="9525" marT="9525" marB="0" anchor="ctr"/>
                </a:tc>
              </a:tr>
              <a:tr h="175260">
                <a:tc>
                  <a:txBody>
                    <a:bodyPr wrap="square"/>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End-Use Industry × Material</a:t>
                      </a:r>
                      <a:endParaRPr sz="1100"/>
                    </a:p>
                  </a:txBody>
                  <a:tcPr marL="428625" marR="9525" marT="9525" marB="0" anchor="ctr"/>
                </a:tc>
              </a:tr>
              <a:tr h="175260">
                <a:tc>
                  <a:txBody>
                    <a:bodyPr wrap="square"/>
                    <a:lstStyle/>
                    <a:p>
                      <a:pPr algn="l"/>
                      <a:r>
                        <a:rPr sz="1100" b="0" i="1">
                          <a:solidFill>
                            <a:srgbClr val="EE0000"/>
                          </a:solidFill>
                          <a:latin typeface="Calibri"/>
                        </a:rPr>
                        <a:t>Note: Cross Sectional Assessment shall be provided on custom request</a:t>
                      </a:r>
                      <a:endParaRPr sz="1100"/>
                    </a:p>
                  </a:txBody>
                  <a:tcPr marL="9525" marR="9525" marT="9525" marB="0" anchor="ctr"/>
                </a:tc>
              </a:tr>
              <a:tr h="175260">
                <a:tc>
                  <a:txBody>
                    <a:bodyPr wrap="square"/>
                    <a:lstStyle/>
                    <a:p>
                      <a:pPr algn="l"/>
                      <a:r>
                        <a:rPr sz="1100" b="1" i="0">
                          <a:solidFill>
                            <a:srgbClr val="000000"/>
                          </a:solidFill>
                          <a:latin typeface="Calibri"/>
                        </a:rPr>
                        <a:t>Section 2: Regional and Country Market Outlook</a:t>
                      </a:r>
                      <a:endParaRPr sz="1100"/>
                    </a:p>
                  </a:txBody>
                  <a:tcPr marL="9525" marR="9525" marT="9525" marB="0" anchor="ctr"/>
                </a:tc>
              </a:tr>
              <a:tr h="175260">
                <a:tc>
                  <a:txBody>
                    <a:bodyPr wrap="square"/>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8.4.1.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8.4.2.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8.4.3.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9.4.1.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9.4.2.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9.4.3.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10.4.1.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10.4.2.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10.4.3.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11.4.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11.4.1.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11.4.2.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11.4.3.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12.4.1.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12.4.2.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12.4.3.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(5/6)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13.4.1.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13.4.2.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13.4.3.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Section 3: Pricing Assessment</a:t>
                      </a:r>
                      <a:endParaRPr sz="1100"/>
                    </a:p>
                  </a:txBody>
                  <a:tcPr marL="9525" marR="9525" marT="9525" marB="0" anchor="ctr"/>
                </a:tc>
              </a:tr>
              <a:tr h="175260">
                <a:tc>
                  <a:txBody>
                    <a:bodyPr wrap="square"/>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tr>
              <a:tr h="175260">
                <a:tc>
                  <a:txBody>
                    <a:bodyPr wrap="square"/>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Regional Price Assessment</a:t>
                      </a:r>
                      <a:endParaRPr sz="1100"/>
                    </a:p>
                  </a:txBody>
                  <a:tcPr marL="428625" marR="9525" marT="9525" marB="0" anchor="ctr"/>
                </a:tc>
              </a:tr>
              <a:tr h="175260">
                <a:tc>
                  <a:txBody>
                    <a:bodyPr wrap="square"/>
                    <a:lstStyle/>
                    <a:p>
                      <a:pPr algn="l"/>
                      <a:r>
                        <a:rPr sz="1100" b="0" i="0">
                          <a:solidFill>
                            <a:srgbClr val="000000"/>
                          </a:solidFill>
                          <a:latin typeface="Calibri"/>
                        </a:rPr>
                        <a:t>14.1.1.</a:t>
                      </a:r>
                      <a:r>
                        <a:rPr sz="700" b="0" i="0">
                          <a:solidFill>
                            <a:srgbClr val="000000"/>
                          </a:solidFill>
                          <a:latin typeface="Times New Roman"/>
                        </a:rPr>
                        <a:t> </a:t>
                      </a:r>
                      <a:r>
                        <a:rPr sz="1100" b="0" i="0">
                          <a:solidFill>
                            <a:srgbClr val="000000"/>
                          </a:solidFill>
                          <a:latin typeface="Calibri"/>
                        </a:rPr>
                        <a:t>Manufacturer Level Pricing</a:t>
                      </a:r>
                      <a:endParaRPr sz="1100"/>
                    </a:p>
                  </a:txBody>
                  <a:tcPr marL="771525" marR="9525" marT="9525" marB="0" anchor="ctr"/>
                </a:tc>
              </a:tr>
              <a:tr h="175260">
                <a:tc>
                  <a:txBody>
                    <a:bodyPr wrap="square"/>
                    <a:lstStyle/>
                    <a:p>
                      <a:pPr algn="l"/>
                      <a:r>
                        <a:rPr sz="1100" b="0" i="0">
                          <a:solidFill>
                            <a:srgbClr val="000000"/>
                          </a:solidFill>
                          <a:latin typeface="Calibri"/>
                        </a:rPr>
                        <a:t>14.1.2.</a:t>
                      </a:r>
                      <a:r>
                        <a:rPr sz="700" b="0" i="0">
                          <a:solidFill>
                            <a:srgbClr val="000000"/>
                          </a:solidFill>
                          <a:latin typeface="Times New Roman"/>
                        </a:rPr>
                        <a:t> </a:t>
                      </a:r>
                      <a:r>
                        <a:rPr sz="1100" b="0" i="0">
                          <a:solidFill>
                            <a:srgbClr val="000000"/>
                          </a:solidFill>
                          <a:latin typeface="Calibri"/>
                        </a:rPr>
                        <a:t>Distributor Level Pricing</a:t>
                      </a:r>
                      <a:endParaRPr sz="1100"/>
                    </a:p>
                  </a:txBody>
                  <a:tcPr marL="771525" marR="9525" marT="9525" marB="0" anchor="ctr"/>
                </a:tc>
              </a:tr>
              <a:tr h="175260">
                <a:tc>
                  <a:txBody>
                    <a:bodyPr wrap="square"/>
                    <a:lstStyle/>
                    <a:p>
                      <a:pPr algn="l"/>
                      <a:r>
                        <a:rPr sz="1100" b="0" i="0">
                          <a:solidFill>
                            <a:srgbClr val="000000"/>
                          </a:solidFill>
                          <a:latin typeface="Calibri"/>
                        </a:rPr>
                        <a:t>14.1.3.</a:t>
                      </a:r>
                      <a:r>
                        <a:rPr sz="700" b="0" i="0">
                          <a:solidFill>
                            <a:srgbClr val="000000"/>
                          </a:solidFill>
                          <a:latin typeface="Times New Roman"/>
                        </a:rPr>
                        <a:t> </a:t>
                      </a:r>
                      <a:r>
                        <a:rPr sz="1100" b="0" i="0">
                          <a:solidFill>
                            <a:srgbClr val="000000"/>
                          </a:solidFill>
                          <a:latin typeface="Calibri"/>
                        </a:rPr>
                        <a:t>Retail Pricing (where applicable)</a:t>
                      </a:r>
                      <a:endParaRPr sz="1100"/>
                    </a:p>
                  </a:txBody>
                  <a:tcPr marL="771525" marR="9525" marT="9525" marB="0" anchor="ctr"/>
                </a:tc>
              </a:tr>
              <a:tr h="175260">
                <a:tc>
                  <a:txBody>
                    <a:bodyPr wrap="square"/>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Segment-wise Price Comparison (Product Type vs Material)</a:t>
                      </a:r>
                      <a:endParaRPr sz="1100"/>
                    </a:p>
                  </a:txBody>
                  <a:tcPr marL="428625" marR="9525" marT="9525" marB="0" anchor="ctr"/>
                </a:tc>
              </a:tr>
              <a:tr h="175260">
                <a:tc>
                  <a:txBody>
                    <a:bodyPr wrap="square"/>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Country-wise Price Comparison (Product Type)</a:t>
                      </a:r>
                      <a:endParaRPr sz="1100"/>
                    </a:p>
                  </a:txBody>
                  <a:tcPr marL="428625" marR="9525" marT="9525" marB="0" anchor="ctr"/>
                </a:tc>
              </a:tr>
              <a:tr h="175260">
                <a:tc>
                  <a:txBody>
                    <a:bodyPr wrap="square"/>
                    <a:lstStyle/>
                    <a:p>
                      <a:pPr algn="l"/>
                      <a:r>
                        <a:rPr sz="1100" b="0" i="0">
                          <a:solidFill>
                            <a:srgbClr val="0070C0"/>
                          </a:solidFill>
                          <a:latin typeface="Calibri"/>
                        </a:rPr>
                        <a:t>14.4.</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tr>
              <a:tr h="175260">
                <a:tc>
                  <a:txBody>
                    <a:bodyPr wrap="square"/>
                    <a:lstStyle/>
                    <a:p>
                      <a:pPr algn="l"/>
                      <a:r>
                        <a:rPr sz="1100" b="0" i="0">
                          <a:solidFill>
                            <a:srgbClr val="0070C0"/>
                          </a:solidFill>
                          <a:latin typeface="Calibri"/>
                        </a:rPr>
                        <a:t>14.5.</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tr>
              <a:tr h="175260">
                <a:tc>
                  <a:txBody>
                    <a:bodyPr wrap="square"/>
                    <a:lstStyle/>
                    <a:p>
                      <a:pPr algn="l"/>
                      <a:r>
                        <a:rPr sz="1100" b="0" i="0">
                          <a:solidFill>
                            <a:srgbClr val="0070C0"/>
                          </a:solidFill>
                          <a:latin typeface="Calibri"/>
                        </a:rPr>
                        <a:t>14.6.</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tr>
              <a:tr h="175260">
                <a:tc>
                  <a:txBody>
                    <a:bodyPr wrap="square"/>
                    <a:lstStyle/>
                    <a:p>
                      <a:pPr algn="l"/>
                      <a:r>
                        <a:rPr sz="1100" b="1" i="0">
                          <a:solidFill>
                            <a:srgbClr val="000000"/>
                          </a:solidFill>
                          <a:latin typeface="Calibri"/>
                        </a:rPr>
                        <a:t>Section 4: Market Dynamics</a:t>
                      </a:r>
                      <a:endParaRPr sz="1100"/>
                    </a:p>
                  </a:txBody>
                  <a:tcPr marL="9525" marR="9525" marT="9525" marB="0" anchor="ctr"/>
                </a:tc>
              </a:tr>
              <a:tr h="175260">
                <a:tc>
                  <a:txBody>
                    <a:bodyPr wrap="square"/>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tr>
              <a:tr h="175260">
                <a:tc>
                  <a:txBody>
                    <a:bodyPr wrap="square"/>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tr>
              <a:tr h="175260">
                <a:tc>
                  <a:txBody>
                    <a:bodyPr wrap="square"/>
                    <a:lstStyle/>
                    <a:p>
                      <a:pPr algn="l"/>
                      <a:r>
                        <a:rPr sz="1100" b="0" i="0">
                          <a:solidFill>
                            <a:srgbClr val="000000"/>
                          </a:solidFill>
                          <a:latin typeface="Calibri"/>
                        </a:rPr>
                        <a:t>15.1.1.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tr>
              <a:tr h="175260">
                <a:tc>
                  <a:txBody>
                    <a:bodyPr wrap="square"/>
                    <a:lstStyle/>
                    <a:p>
                      <a:pPr algn="l"/>
                      <a:r>
                        <a:rPr sz="1100" b="0" i="0">
                          <a:solidFill>
                            <a:srgbClr val="000000"/>
                          </a:solidFill>
                          <a:latin typeface="Calibri"/>
                        </a:rPr>
                        <a:t>15.1.2.</a:t>
                      </a:r>
                      <a:r>
                        <a:rPr sz="700" b="0" i="0">
                          <a:solidFill>
                            <a:srgbClr val="000000"/>
                          </a:solidFill>
                          <a:latin typeface="Times New Roman"/>
                        </a:rPr>
                        <a:t> </a:t>
                      </a:r>
                      <a:r>
                        <a:rPr sz="1100" b="0" i="0">
                          <a:solidFill>
                            <a:srgbClr val="000000"/>
                          </a:solidFill>
                          <a:latin typeface="Calibri"/>
                        </a:rPr>
                        <a:t>Technology Collaboration</a:t>
                      </a:r>
                      <a:endParaRPr sz="1100"/>
                    </a:p>
                  </a:txBody>
                  <a:tcPr marL="771525" marR="9525" marT="9525" marB="0" anchor="ctr"/>
                </a:tc>
              </a:tr>
              <a:tr h="175260">
                <a:tc>
                  <a:txBody>
                    <a:bodyPr wrap="square"/>
                    <a:lstStyle/>
                    <a:p>
                      <a:pPr algn="l"/>
                      <a:r>
                        <a:rPr sz="1100" b="0" i="0">
                          <a:solidFill>
                            <a:srgbClr val="000000"/>
                          </a:solidFill>
                          <a:latin typeface="Calibri"/>
                        </a:rPr>
                        <a:t>15.1.3.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tr>
              <a:tr h="175260">
                <a:tc>
                  <a:txBody>
                    <a:bodyPr wrap="square"/>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Product Launches &amp; Development</a:t>
                      </a:r>
                      <a:endParaRPr sz="1100"/>
                    </a:p>
                  </a:txBody>
                  <a:tcPr marL="428625" marR="9525" marT="9525" marB="0" anchor="ctr"/>
                </a:tc>
              </a:tr>
              <a:tr h="175260">
                <a:tc>
                  <a:txBody>
                    <a:bodyPr wrap="square"/>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Stakeholder Perspectives – Manufacturer, Customer &amp; Distributor Insights</a:t>
                      </a:r>
                      <a:endParaRPr sz="1100"/>
                    </a:p>
                  </a:txBody>
                  <a:tcPr marL="171450" marR="9525" marT="9525" marB="0" anchor="ctr"/>
                </a:tc>
              </a:tr>
              <a:tr h="175260">
                <a:tc>
                  <a:txBody>
                    <a:bodyPr wrap="square"/>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Stakeholder Insights</a:t>
                      </a:r>
                      <a:endParaRPr sz="1100"/>
                    </a:p>
                  </a:txBody>
                  <a:tcPr marL="428625" marR="9525" marT="9525" marB="0" anchor="ctr"/>
                </a:tc>
              </a:tr>
              <a:tr h="175260">
                <a:tc>
                  <a:txBody>
                    <a:bodyPr wrap="square"/>
                    <a:lstStyle/>
                    <a:p>
                      <a:pPr algn="l"/>
                      <a:r>
                        <a:rPr sz="1100" b="0" i="0">
                          <a:solidFill>
                            <a:srgbClr val="000000"/>
                          </a:solidFill>
                          <a:latin typeface="Calibri"/>
                        </a:rPr>
                        <a:t>16.1.1.</a:t>
                      </a:r>
                      <a:r>
                        <a:rPr sz="700" b="0" i="0">
                          <a:solidFill>
                            <a:srgbClr val="000000"/>
                          </a:solidFill>
                          <a:latin typeface="Times New Roman"/>
                        </a:rPr>
                        <a:t> </a:t>
                      </a:r>
                      <a:r>
                        <a:rPr sz="1100" b="0" i="0">
                          <a:solidFill>
                            <a:srgbClr val="000000"/>
                          </a:solidFill>
                          <a:latin typeface="Calibri"/>
                        </a:rPr>
                        <a:t>Manufacturers</a:t>
                      </a:r>
                      <a:endParaRPr sz="1100"/>
                    </a:p>
                  </a:txBody>
                  <a:tcPr marL="771525" marR="9525" marT="9525" marB="0" anchor="ctr"/>
                </a:tc>
              </a:tr>
              <a:tr h="175260">
                <a:tc>
                  <a:txBody>
                    <a:bodyPr wrap="square"/>
                    <a:lstStyle/>
                    <a:p>
                      <a:pPr algn="l"/>
                      <a:r>
                        <a:rPr sz="1100" b="0" i="0">
                          <a:solidFill>
                            <a:srgbClr val="000000"/>
                          </a:solidFill>
                          <a:latin typeface="Calibri"/>
                        </a:rPr>
                        <a:t>16.1.2.</a:t>
                      </a:r>
                      <a:r>
                        <a:rPr sz="700" b="0" i="0">
                          <a:solidFill>
                            <a:srgbClr val="000000"/>
                          </a:solidFill>
                          <a:latin typeface="Times New Roman"/>
                        </a:rPr>
                        <a:t> </a:t>
                      </a:r>
                      <a:r>
                        <a:rPr sz="1100" b="0" i="0">
                          <a:solidFill>
                            <a:srgbClr val="000000"/>
                          </a:solidFill>
                          <a:latin typeface="Calibri"/>
                        </a:rPr>
                        <a:t>Customers</a:t>
                      </a:r>
                      <a:endParaRPr sz="1100"/>
                    </a:p>
                  </a:txBody>
                  <a:tcPr marL="771525" marR="9525" marT="9525" marB="0" anchor="ctr"/>
                </a:tc>
              </a:tr>
              <a:tr h="175260">
                <a:tc>
                  <a:txBody>
                    <a:bodyPr wrap="square"/>
                    <a:lstStyle/>
                    <a:p>
                      <a:pPr algn="l"/>
                      <a:r>
                        <a:rPr sz="1100" b="0" i="0">
                          <a:solidFill>
                            <a:srgbClr val="000000"/>
                          </a:solidFill>
                          <a:latin typeface="Calibri"/>
                        </a:rPr>
                        <a:t>16.1.3.</a:t>
                      </a:r>
                      <a:r>
                        <a:rPr sz="700" b="0" i="0">
                          <a:solidFill>
                            <a:srgbClr val="000000"/>
                          </a:solidFill>
                          <a:latin typeface="Times New Roman"/>
                        </a:rPr>
                        <a:t> </a:t>
                      </a:r>
                      <a:r>
                        <a:rPr sz="1100" b="0" i="0">
                          <a:solidFill>
                            <a:srgbClr val="000000"/>
                          </a:solidFill>
                          <a:latin typeface="Calibri"/>
                        </a:rPr>
                        <a:t>Distributors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tr>
              <a:tr h="175260">
                <a:tc>
                  <a:txBody>
                    <a:bodyPr wrap="square"/>
                    <a:lstStyle/>
                    <a:p>
                      <a:pPr algn="l"/>
                      <a:r>
                        <a:rPr sz="1100" b="0" i="0">
                          <a:solidFill>
                            <a:srgbClr val="000000"/>
                          </a:solidFill>
                          <a:latin typeface="Calibri"/>
                        </a:rPr>
                        <a:t>16.2.1.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tr>
              <a:tr h="175260">
                <a:tc>
                  <a:txBody>
                    <a:bodyPr wrap="square"/>
                    <a:lstStyle/>
                    <a:p>
                      <a:pPr algn="l"/>
                      <a:r>
                        <a:rPr sz="1100" b="0" i="0">
                          <a:solidFill>
                            <a:srgbClr val="000000"/>
                          </a:solidFill>
                          <a:latin typeface="Calibri"/>
                        </a:rPr>
                        <a:t>16.2.2.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tr>
              <a:tr h="175260">
                <a:tc>
                  <a:txBody>
                    <a:bodyPr wrap="square"/>
                    <a:lstStyle/>
                    <a:p>
                      <a:pPr algn="l"/>
                      <a:r>
                        <a:rPr sz="1100" b="0" i="0">
                          <a:solidFill>
                            <a:srgbClr val="000000"/>
                          </a:solidFill>
                          <a:latin typeface="Calibri"/>
                        </a:rPr>
                        <a:t>16.2.3.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tr>
              <a:tr h="175260">
                <a:tc>
                  <a:txBody>
                    <a:bodyPr wrap="square"/>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tr>
              <a:tr h="175260">
                <a:tc>
                  <a:txBody>
                    <a:bodyPr wrap="square"/>
                    <a:lstStyle/>
                    <a:p>
                      <a:pPr algn="l"/>
                      <a:r>
                        <a:rPr sz="1100" b="0" i="0">
                          <a:solidFill>
                            <a:srgbClr val="0070C0"/>
                          </a:solidFill>
                          <a:latin typeface="Calibri"/>
                        </a:rPr>
                        <a:t>16.4.</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tr>
              <a:tr h="175260">
                <a:tc>
                  <a:txBody>
                    <a:bodyPr wrap="square"/>
                    <a:lstStyle/>
                    <a:p>
                      <a:pPr algn="l"/>
                      <a:r>
                        <a:rPr sz="1100" b="0" i="0">
                          <a:solidFill>
                            <a:srgbClr val="0070C0"/>
                          </a:solidFill>
                          <a:latin typeface="Calibri"/>
                        </a:rPr>
                        <a:t>16.5.</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tr>
              <a:tr h="175260">
                <a:tc>
                  <a:txBody>
                    <a:bodyPr wrap="square"/>
                    <a:lstStyle/>
                    <a:p>
                      <a:pPr algn="l"/>
                      <a:r>
                        <a:rPr sz="1100" b="0" i="0">
                          <a:solidFill>
                            <a:srgbClr val="0070C0"/>
                          </a:solidFill>
                          <a:latin typeface="Calibri"/>
                        </a:rPr>
                        <a:t>16.6.</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tr>
              <a:tr h="175260">
                <a:tc>
                  <a:txBody>
                    <a:bodyPr wrap="square"/>
                    <a:lstStyle/>
                    <a:p>
                      <a:pPr algn="l"/>
                      <a:r>
                        <a:rPr sz="1100" b="0" i="0">
                          <a:solidFill>
                            <a:srgbClr val="0070C0"/>
                          </a:solidFill>
                          <a:latin typeface="Calibri"/>
                        </a:rPr>
                        <a:t>16.7.</a:t>
                      </a:r>
                      <a:r>
                        <a:rPr sz="700" b="0" i="0">
                          <a:solidFill>
                            <a:srgbClr val="0070C0"/>
                          </a:solidFill>
                          <a:latin typeface="Times New Roman"/>
                        </a:rPr>
                        <a:t>  </a:t>
                      </a:r>
                      <a:r>
                        <a:rPr sz="1100" b="0" i="0">
                          <a:solidFill>
                            <a:srgbClr val="0070C0"/>
                          </a:solidFill>
                          <a:latin typeface="Calibri"/>
                        </a:rPr>
                        <a:t>Regional Macro-&amp; Micro Economic Indicators</a:t>
                      </a:r>
                      <a:endParaRPr sz="1100"/>
                    </a:p>
                  </a:txBody>
                  <a:tcPr marL="428625" marR="9525" marT="9525" marB="0" anchor="ctr"/>
                </a:tc>
              </a:tr>
              <a:tr h="175260">
                <a:tc>
                  <a:txBody>
                    <a:bodyPr wrap="square"/>
                    <a:lstStyle/>
                    <a:p>
                      <a:pPr algn="l"/>
                      <a:r>
                        <a:rPr sz="1100" b="0" i="0">
                          <a:solidFill>
                            <a:srgbClr val="0070C0"/>
                          </a:solidFill>
                          <a:latin typeface="Calibri"/>
                        </a:rPr>
                        <a:t>16.8.</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tr>
              <a:tr h="175260">
                <a:tc>
                  <a:txBody>
                    <a:bodyPr wrap="square"/>
                    <a:lstStyle/>
                    <a:p>
                      <a:pPr algn="l"/>
                      <a:r>
                        <a:rPr sz="1100" b="0" i="0">
                          <a:solidFill>
                            <a:srgbClr val="0070C0"/>
                          </a:solidFill>
                          <a:latin typeface="Calibri"/>
                        </a:rPr>
                        <a:t>16.9.</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tr>
              <a:tr h="175260">
                <a:tc>
                  <a:txBody>
                    <a:bodyPr wrap="square"/>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Regulations</a:t>
                      </a:r>
                      <a:endParaRPr sz="1100"/>
                    </a:p>
                  </a:txBody>
                  <a:tcPr marL="171450" marR="9525" marT="9525" marB="0" anchor="ctr"/>
                </a:tc>
              </a:tr>
              <a:tr h="175260">
                <a:tc>
                  <a:txBody>
                    <a:bodyPr wrap="square"/>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Certifications and Certifying Agency Overview</a:t>
                      </a:r>
                      <a:endParaRPr sz="1100"/>
                    </a:p>
                  </a:txBody>
                  <a:tcPr marL="428625" marR="9525" marT="9525" marB="0" anchor="ctr"/>
                </a:tc>
              </a:tr>
              <a:tr h="175260">
                <a:tc>
                  <a:txBody>
                    <a:bodyPr wrap="square"/>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Import/Export Policies</a:t>
                      </a:r>
                      <a:endParaRPr sz="1100"/>
                    </a:p>
                  </a:txBody>
                  <a:tcPr marL="428625" marR="9525" marT="9525" marB="0" anchor="ctr"/>
                </a:tc>
              </a:tr>
              <a:tr h="175260">
                <a:tc>
                  <a:txBody>
                    <a:bodyPr wrap="square"/>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Formula Requirements</a:t>
                      </a:r>
                      <a:endParaRPr sz="1100"/>
                    </a:p>
                  </a:txBody>
                  <a:tcPr marL="428625" marR="9525" marT="9525" marB="0" anchor="ctr"/>
                </a:tc>
              </a:tr>
              <a:tr h="175260">
                <a:tc>
                  <a:txBody>
                    <a:bodyPr wrap="square"/>
                    <a:lstStyle/>
                    <a:p>
                      <a:pPr algn="l"/>
                      <a:r>
                        <a:rPr sz="1100" b="0" i="0">
                          <a:solidFill>
                            <a:srgbClr val="0070C0"/>
                          </a:solidFill>
                          <a:latin typeface="Calibri"/>
                        </a:rPr>
                        <a:t>17.4.</a:t>
                      </a:r>
                      <a:r>
                        <a:rPr sz="700" b="0" i="0">
                          <a:solidFill>
                            <a:srgbClr val="0070C0"/>
                          </a:solidFill>
                          <a:latin typeface="Times New Roman"/>
                        </a:rPr>
                        <a:t>  </a:t>
                      </a:r>
                      <a:r>
                        <a:rPr sz="1100" b="0" i="0">
                          <a:solidFill>
                            <a:srgbClr val="0070C0"/>
                          </a:solidFill>
                          <a:latin typeface="Calibri"/>
                        </a:rPr>
                        <a:t>Standards as per institutions</a:t>
                      </a:r>
                      <a:endParaRPr sz="1100"/>
                    </a:p>
                  </a:txBody>
                  <a:tcPr marL="428625" marR="9525" marT="9525" marB="0" anchor="ctr"/>
                </a:tc>
              </a:tr>
              <a:tr h="175260">
                <a:tc>
                  <a:txBody>
                    <a:bodyPr wrap="square"/>
                    <a:lstStyle/>
                    <a:p>
                      <a:pPr algn="l"/>
                      <a:r>
                        <a:rPr sz="1100" b="0" i="0">
                          <a:solidFill>
                            <a:srgbClr val="000000"/>
                          </a:solidFill>
                          <a:latin typeface="Calibri"/>
                        </a:rPr>
                        <a:t>17.4.1.</a:t>
                      </a:r>
                      <a:r>
                        <a:rPr sz="700" b="0" i="0">
                          <a:solidFill>
                            <a:srgbClr val="000000"/>
                          </a:solidFill>
                          <a:latin typeface="Times New Roman"/>
                        </a:rPr>
                        <a:t> </a:t>
                      </a:r>
                      <a:r>
                        <a:rPr sz="1100" b="0" i="0">
                          <a:solidFill>
                            <a:srgbClr val="000000"/>
                          </a:solidFill>
                          <a:latin typeface="Calibri"/>
                        </a:rPr>
                        <a:t>FDA</a:t>
                      </a:r>
                      <a:endParaRPr sz="1100"/>
                    </a:p>
                  </a:txBody>
                  <a:tcPr marL="771525" marR="9525" marT="9525" marB="0" anchor="ctr"/>
                </a:tc>
              </a:tr>
              <a:tr h="175260">
                <a:tc>
                  <a:txBody>
                    <a:bodyPr wrap="square"/>
                    <a:lstStyle/>
                    <a:p>
                      <a:pPr algn="l"/>
                      <a:r>
                        <a:rPr sz="1100" b="0" i="0">
                          <a:solidFill>
                            <a:srgbClr val="000000"/>
                          </a:solidFill>
                          <a:latin typeface="Calibri"/>
                        </a:rPr>
                        <a:t>17.4.2.</a:t>
                      </a:r>
                      <a:r>
                        <a:rPr sz="700" b="0" i="0">
                          <a:solidFill>
                            <a:srgbClr val="000000"/>
                          </a:solidFill>
                          <a:latin typeface="Times New Roman"/>
                        </a:rPr>
                        <a:t> </a:t>
                      </a:r>
                      <a:r>
                        <a:rPr sz="1100" b="0" i="0">
                          <a:solidFill>
                            <a:srgbClr val="000000"/>
                          </a:solidFill>
                          <a:latin typeface="Calibri"/>
                        </a:rPr>
                        <a:t>USDA</a:t>
                      </a:r>
                      <a:endParaRPr sz="1100"/>
                    </a:p>
                  </a:txBody>
                  <a:tcPr marL="771525" marR="9525" marT="9525" marB="0" anchor="ctr"/>
                </a:tc>
              </a:tr>
              <a:tr h="175260">
                <a:tc>
                  <a:txBody>
                    <a:bodyPr wrap="square"/>
                    <a:lstStyle/>
                    <a:p>
                      <a:pPr algn="l"/>
                      <a:r>
                        <a:rPr sz="1100" b="0" i="0">
                          <a:solidFill>
                            <a:srgbClr val="000000"/>
                          </a:solidFill>
                          <a:latin typeface="Calibri"/>
                        </a:rPr>
                        <a:t>17.4.3.</a:t>
                      </a:r>
                      <a:r>
                        <a:rPr sz="700" b="0" i="0">
                          <a:solidFill>
                            <a:srgbClr val="000000"/>
                          </a:solidFill>
                          <a:latin typeface="Times New Roman"/>
                        </a:rPr>
                        <a:t> </a:t>
                      </a:r>
                      <a:r>
                        <a:rPr sz="1100" b="0" i="0">
                          <a:solidFill>
                            <a:srgbClr val="000000"/>
                          </a:solidFill>
                          <a:latin typeface="Calibri"/>
                        </a:rPr>
                        <a:t>FASSAI</a:t>
                      </a:r>
                      <a:endParaRPr sz="1100"/>
                    </a:p>
                  </a:txBody>
                  <a:tcPr marL="771525" marR="9525" marT="9525" marB="0" anchor="ctr"/>
                </a:tc>
              </a:tr>
              <a:tr h="175260">
                <a:tc>
                  <a:txBody>
                    <a:bodyPr wrap="square"/>
                    <a:lstStyle/>
                    <a:p>
                      <a:pPr algn="l"/>
                      <a:r>
                        <a:rPr sz="1100" b="0" i="0">
                          <a:solidFill>
                            <a:srgbClr val="000000"/>
                          </a:solidFill>
                          <a:latin typeface="Calibri"/>
                        </a:rPr>
                        <a:t>17.4.4.</a:t>
                      </a:r>
                      <a:r>
                        <a:rPr sz="700" b="0" i="0">
                          <a:solidFill>
                            <a:srgbClr val="000000"/>
                          </a:solidFill>
                          <a:latin typeface="Times New Roman"/>
                        </a:rPr>
                        <a:t> </a:t>
                      </a:r>
                      <a:r>
                        <a:rPr sz="1100" b="0" i="0">
                          <a:solidFill>
                            <a:srgbClr val="000000"/>
                          </a:solidFill>
                          <a:latin typeface="Calibri"/>
                        </a:rPr>
                        <a:t>EU Commissions</a:t>
                      </a:r>
                      <a:endParaRPr sz="1100"/>
                    </a:p>
                  </a:txBody>
                  <a:tcPr marL="771525" marR="9525" marT="9525" marB="0" anchor="ctr"/>
                </a:tc>
              </a:tr>
              <a:tr h="175260">
                <a:tc>
                  <a:txBody>
                    <a:bodyPr wrap="square"/>
                    <a:lstStyle/>
                    <a:p>
                      <a:pPr algn="l"/>
                      <a:r>
                        <a:rPr sz="1100" b="1" i="0">
                          <a:solidFill>
                            <a:srgbClr val="000000"/>
                          </a:solidFill>
                          <a:latin typeface="Calibri"/>
                        </a:rPr>
                        <a:t>Section 5: Production and Trade Outlook</a:t>
                      </a:r>
                      <a:endParaRPr sz="1100"/>
                    </a:p>
                  </a:txBody>
                  <a:tcPr marL="9525" marR="9525" marT="9525" marB="0" anchor="ctr"/>
                </a:tc>
              </a:tr>
              <a:tr h="175260">
                <a:tc>
                  <a:txBody>
                    <a:bodyPr wrap="square"/>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Global Market- Production and Trade Analysis</a:t>
                      </a:r>
                      <a:endParaRPr sz="1100"/>
                    </a:p>
                  </a:txBody>
                  <a:tcPr marL="171450" marR="9525" marT="9525" marB="0" anchor="ctr"/>
                </a:tc>
              </a:tr>
              <a:tr h="175260">
                <a:tc>
                  <a:txBody>
                    <a:bodyPr wrap="square"/>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Production Volume (UNITS), (2021-2026) by Region/ Country</a:t>
                      </a:r>
                      <a:endParaRPr sz="1100"/>
                    </a:p>
                  </a:txBody>
                  <a:tcPr marL="428625" marR="9525" marT="9525" marB="0" anchor="ctr"/>
                </a:tc>
              </a:tr>
              <a:tr h="175260">
                <a:tc>
                  <a:txBody>
                    <a:bodyPr wrap="square"/>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Exports: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18.3.</a:t>
                      </a:r>
                      <a:r>
                        <a:rPr sz="700" b="0" i="0">
                          <a:solidFill>
                            <a:srgbClr val="0070C0"/>
                          </a:solidFill>
                          <a:latin typeface="Times New Roman"/>
                        </a:rPr>
                        <a:t>  </a:t>
                      </a:r>
                      <a:r>
                        <a:rPr sz="1100" b="0" i="0">
                          <a:solidFill>
                            <a:srgbClr val="0070C0"/>
                          </a:solidFill>
                          <a:latin typeface="Calibri"/>
                        </a:rPr>
                        <a:t>Imports: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18.4.</a:t>
                      </a:r>
                      <a:r>
                        <a:rPr sz="700" b="0" i="0">
                          <a:solidFill>
                            <a:srgbClr val="0070C0"/>
                          </a:solidFill>
                          <a:latin typeface="Times New Roman"/>
                        </a:rPr>
                        <a:t>  </a:t>
                      </a:r>
                      <a:r>
                        <a:rPr sz="1100" b="0" i="0">
                          <a:solidFill>
                            <a:srgbClr val="0070C0"/>
                          </a:solidFill>
                          <a:latin typeface="Calibri"/>
                        </a:rPr>
                        <a:t>Global Supply-Demand Overview (Prod., Sales, Import, Export)</a:t>
                      </a:r>
                      <a:endParaRPr sz="1100"/>
                    </a:p>
                  </a:txBody>
                  <a:tcPr marL="428625" marR="9525" marT="9525" marB="0" anchor="ctr"/>
                </a:tc>
              </a:tr>
              <a:tr h="175260">
                <a:tc>
                  <a:txBody>
                    <a:bodyPr wrap="square"/>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tr>
              <a:tr h="175260">
                <a:tc>
                  <a:txBody>
                    <a:bodyPr wrap="square"/>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tr>
              <a:tr h="175260">
                <a:tc>
                  <a:txBody>
                    <a:bodyPr wrap="square"/>
                    <a:lstStyle/>
                    <a:p>
                      <a:pPr algn="l"/>
                      <a:r>
                        <a:rPr sz="1100" b="0" i="0">
                          <a:solidFill>
                            <a:srgbClr val="000000"/>
                          </a:solidFill>
                          <a:latin typeface="Calibri"/>
                        </a:rPr>
                        <a:t>19.1.1.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tr>
              <a:tr h="175260">
                <a:tc>
                  <a:txBody>
                    <a:bodyPr wrap="square"/>
                    <a:lstStyle/>
                    <a:p>
                      <a:pPr algn="l"/>
                      <a:r>
                        <a:rPr sz="1100" b="0" i="0">
                          <a:solidFill>
                            <a:srgbClr val="000000"/>
                          </a:solidFill>
                          <a:latin typeface="Calibri"/>
                        </a:rPr>
                        <a:t>19.1.2.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(6/6)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tr>
              <a:tr h="175260">
                <a:tc>
                  <a:txBody>
                    <a:bodyPr wrap="square"/>
                    <a:lstStyle/>
                    <a:p>
                      <a:pPr algn="l"/>
                      <a:r>
                        <a:rPr sz="1100" b="0" i="0">
                          <a:solidFill>
                            <a:srgbClr val="0070C0"/>
                          </a:solidFill>
                          <a:latin typeface="Calibri"/>
                        </a:rPr>
                        <a:t>19.3.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tr>
              <a:tr h="175260">
                <a:tc>
                  <a:txBody>
                    <a:bodyPr wrap="square"/>
                    <a:lstStyle/>
                    <a:p>
                      <a:pPr algn="l"/>
                      <a:r>
                        <a:rPr sz="1100" b="0" i="0">
                          <a:solidFill>
                            <a:srgbClr val="000000"/>
                          </a:solidFill>
                          <a:latin typeface="Calibri"/>
                        </a:rPr>
                        <a:t>19.3.1.</a:t>
                      </a:r>
                      <a:r>
                        <a:rPr sz="700" b="0" i="0">
                          <a:solidFill>
                            <a:srgbClr val="000000"/>
                          </a:solidFill>
                          <a:latin typeface="Times New Roman"/>
                        </a:rPr>
                        <a:t> </a:t>
                      </a:r>
                      <a:r>
                        <a:rPr sz="1100" b="0" i="0">
                          <a:solidFill>
                            <a:srgbClr val="000000"/>
                          </a:solidFill>
                          <a:latin typeface="Calibri"/>
                        </a:rPr>
                        <a:t>Product Manufacturers/ Key Brands</a:t>
                      </a:r>
                      <a:endParaRPr sz="1100"/>
                    </a:p>
                  </a:txBody>
                  <a:tcPr marL="771525" marR="9525" marT="9525" marB="0" anchor="ctr"/>
                </a:tc>
              </a:tr>
              <a:tr h="175260">
                <a:tc>
                  <a:txBody>
                    <a:bodyPr wrap="square"/>
                    <a:lstStyle/>
                    <a:p>
                      <a:pPr algn="l"/>
                      <a:r>
                        <a:rPr sz="1100" b="0" i="0">
                          <a:solidFill>
                            <a:srgbClr val="000000"/>
                          </a:solidFill>
                          <a:latin typeface="Calibri"/>
                        </a:rPr>
                        <a:t>19.3.2.</a:t>
                      </a:r>
                      <a:r>
                        <a:rPr sz="700" b="0" i="0">
                          <a:solidFill>
                            <a:srgbClr val="000000"/>
                          </a:solidFill>
                          <a:latin typeface="Times New Roman"/>
                        </a:rPr>
                        <a:t> </a:t>
                      </a:r>
                      <a:r>
                        <a:rPr sz="1100" b="0" i="0">
                          <a:solidFill>
                            <a:srgbClr val="000000"/>
                          </a:solidFill>
                          <a:latin typeface="Calibri"/>
                        </a:rPr>
                        <a:t>Distributors/Suppliers</a:t>
                      </a:r>
                      <a:endParaRPr sz="1100"/>
                    </a:p>
                  </a:txBody>
                  <a:tcPr marL="771525" marR="9525" marT="9525" marB="0" anchor="ctr"/>
                </a:tc>
              </a:tr>
              <a:tr h="175260">
                <a:tc>
                  <a:txBody>
                    <a:bodyPr wrap="square"/>
                    <a:lstStyle/>
                    <a:p>
                      <a:pPr algn="l"/>
                      <a:r>
                        <a:rPr sz="1100" b="0" i="0">
                          <a:solidFill>
                            <a:srgbClr val="000000"/>
                          </a:solidFill>
                          <a:latin typeface="Calibri"/>
                        </a:rPr>
                        <a:t>19.3.3.</a:t>
                      </a:r>
                      <a:r>
                        <a:rPr sz="700" b="0" i="0">
                          <a:solidFill>
                            <a:srgbClr val="000000"/>
                          </a:solidFill>
                          <a:latin typeface="Times New Roman"/>
                        </a:rPr>
                        <a:t> </a:t>
                      </a:r>
                      <a:r>
                        <a:rPr sz="1100" b="0" i="0">
                          <a:solidFill>
                            <a:srgbClr val="000000"/>
                          </a:solidFill>
                          <a:latin typeface="Calibri"/>
                        </a:rPr>
                        <a:t>End Users</a:t>
                      </a:r>
                      <a:endParaRPr sz="1100"/>
                    </a:p>
                  </a:txBody>
                  <a:tcPr marL="771525" marR="9525" marT="9525" marB="0" anchor="ctr"/>
                </a:tc>
              </a:tr>
              <a:tr h="350520">
                <a:tc>
                  <a:txBody>
                    <a:bodyPr wrap="square"/>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tr>
              <a:tr h="175260">
                <a:tc>
                  <a:txBody>
                    <a:bodyPr wrap="square"/>
                    <a:lstStyle/>
                    <a:p>
                      <a:pPr algn="l"/>
                      <a:r>
                        <a:rPr sz="1100" b="1" i="0">
                          <a:solidFill>
                            <a:srgbClr val="000000"/>
                          </a:solidFill>
                          <a:latin typeface="Calibri"/>
                        </a:rPr>
                        <a:t>Section 7: Competition Assessment</a:t>
                      </a:r>
                      <a:endParaRPr sz="1100"/>
                    </a:p>
                  </a:txBody>
                  <a:tcPr marL="9525" marR="9525" marT="9525" marB="0" anchor="ctr"/>
                </a:tc>
              </a:tr>
              <a:tr h="175260">
                <a:tc>
                  <a:txBody>
                    <a:bodyPr wrap="square"/>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tr>
              <a:tr h="175260">
                <a:tc>
                  <a:txBody>
                    <a:bodyPr wrap="square"/>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Company Share (%) Analysis, 2023, 2025, 2026</a:t>
                      </a:r>
                      <a:endParaRPr sz="1100"/>
                    </a:p>
                  </a:txBody>
                  <a:tcPr marL="171450" marR="9525" marT="9525" marB="0" anchor="ctr"/>
                </a:tc>
              </a:tr>
              <a:tr h="175260">
                <a:tc>
                  <a:txBody>
                    <a:bodyPr wrap="square"/>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By Region</a:t>
                      </a:r>
                      <a:endParaRPr sz="1100"/>
                    </a:p>
                  </a:txBody>
                  <a:tcPr marL="428625" marR="9525" marT="9525" marB="0" anchor="ctr"/>
                </a:tc>
              </a:tr>
              <a:tr h="175260">
                <a:tc>
                  <a:txBody>
                    <a:bodyPr wrap="square"/>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tr>
              <a:tr h="175260">
                <a:tc>
                  <a:txBody>
                    <a:bodyPr wrap="square"/>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By End Use Application/ Sales Channel</a:t>
                      </a:r>
                      <a:endParaRPr sz="1100"/>
                    </a:p>
                  </a:txBody>
                  <a:tcPr marL="428625" marR="9525" marT="9525" marB="0" anchor="ctr"/>
                </a:tc>
              </a:tr>
              <a:tr h="175260">
                <a:tc>
                  <a:txBody>
                    <a:bodyPr wrap="square"/>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Company Share Breakdown (2026)</a:t>
                      </a:r>
                      <a:endParaRPr sz="1100"/>
                    </a:p>
                  </a:txBody>
                  <a:tcPr marL="171450" marR="9525" marT="9525" marB="0" anchor="ctr"/>
                </a:tc>
              </a:tr>
              <a:tr h="175260">
                <a:tc>
                  <a:txBody>
                    <a:bodyPr wrap="square"/>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tr>
              <a:tr h="175260">
                <a:tc>
                  <a:txBody>
                    <a:bodyPr wrap="square"/>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tr>
              <a:tr h="175260">
                <a:tc>
                  <a:txBody>
                    <a:bodyPr wrap="square"/>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tr>
              <a:tr h="175260">
                <a:tc>
                  <a:txBody>
                    <a:bodyPr wrap="square"/>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Company Profile- MNCs</a:t>
                      </a:r>
                      <a:endParaRPr sz="1100"/>
                    </a:p>
                  </a:txBody>
                  <a:tcPr marL="171450" marR="9525" marT="9525" marB="0" anchor="ctr"/>
                </a:tc>
              </a:tr>
              <a:tr h="175260">
                <a:tc>
                  <a:txBody>
                    <a:bodyPr wrap="square"/>
                    <a:lstStyle/>
                    <a:p>
                      <a:pPr algn="l"/>
                      <a:r>
                        <a:rPr sz="1100" b="0" i="0">
                          <a:solidFill>
                            <a:srgbClr val="0070C0"/>
                          </a:solidFill>
                          <a:latin typeface="Calibri"/>
                        </a:rPr>
                        <a:t>23.1.</a:t>
                      </a:r>
                      <a:r>
                        <a:rPr sz="700" b="0" i="0">
                          <a:solidFill>
                            <a:srgbClr val="0070C0"/>
                          </a:solidFill>
                          <a:latin typeface="Times New Roman"/>
                        </a:rPr>
                        <a:t>  </a:t>
                      </a:r>
                      <a:r>
                        <a:rPr sz="1100" b="0" i="0">
                          <a:solidFill>
                            <a:srgbClr val="0070C0"/>
                          </a:solidFill>
                          <a:latin typeface="Calibri"/>
                        </a:rPr>
                        <a:t>Amcor plc</a:t>
                      </a:r>
                      <a:endParaRPr sz="1100"/>
                    </a:p>
                  </a:txBody>
                  <a:tcPr marL="428625" marR="9525" marT="9525" marB="0" anchor="ctr"/>
                </a:tc>
              </a:tr>
              <a:tr h="175260">
                <a:tc>
                  <a:txBody>
                    <a:bodyPr wrap="square"/>
                    <a:lstStyle/>
                    <a:p>
                      <a:pPr algn="l"/>
                      <a:r>
                        <a:rPr sz="1100" b="0" i="0">
                          <a:solidFill>
                            <a:srgbClr val="000000"/>
                          </a:solidFill>
                          <a:latin typeface="Calibri"/>
                        </a:rPr>
                        <a:t>23.1.1.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tr>
              <a:tr h="175260">
                <a:tc>
                  <a:txBody>
                    <a:bodyPr wrap="square"/>
                    <a:lstStyle/>
                    <a:p>
                      <a:pPr algn="l"/>
                      <a:r>
                        <a:rPr sz="1100" b="0" i="0">
                          <a:solidFill>
                            <a:srgbClr val="000000"/>
                          </a:solidFill>
                          <a:latin typeface="Calibri"/>
                        </a:rPr>
                        <a:t>23.1.2.</a:t>
                      </a:r>
                      <a:r>
                        <a:rPr sz="700" b="0" i="0">
                          <a:solidFill>
                            <a:srgbClr val="000000"/>
                          </a:solidFill>
                          <a:latin typeface="Times New Roman"/>
                        </a:rPr>
                        <a:t> </a:t>
                      </a:r>
                      <a:r>
                        <a:rPr sz="1100" b="0" i="0">
                          <a:solidFill>
                            <a:srgbClr val="000000"/>
                          </a:solidFill>
                          <a:latin typeface="Calibri"/>
                        </a:rPr>
                        <a:t>Apparent Production Volume (UNITS)</a:t>
                      </a:r>
                      <a:endParaRPr sz="1100"/>
                    </a:p>
                  </a:txBody>
                  <a:tcPr marL="771525" marR="9525" marT="9525" marB="0" anchor="ctr"/>
                </a:tc>
              </a:tr>
              <a:tr h="175260">
                <a:tc>
                  <a:txBody>
                    <a:bodyPr wrap="square"/>
                    <a:lstStyle/>
                    <a:p>
                      <a:pPr algn="l"/>
                      <a:r>
                        <a:rPr sz="1100" b="0" i="0">
                          <a:solidFill>
                            <a:srgbClr val="000000"/>
                          </a:solidFill>
                          <a:latin typeface="Calibri"/>
                        </a:rPr>
                        <a:t>23.1.3.</a:t>
                      </a:r>
                      <a:r>
                        <a:rPr sz="700" b="0" i="0">
                          <a:solidFill>
                            <a:srgbClr val="000000"/>
                          </a:solidFill>
                          <a:latin typeface="Times New Roman"/>
                        </a:rPr>
                        <a:t> </a:t>
                      </a:r>
                      <a:r>
                        <a:rPr sz="1100" b="0" i="0">
                          <a:solidFill>
                            <a:srgbClr val="000000"/>
                          </a:solidFill>
                          <a:latin typeface="Calibri"/>
                        </a:rPr>
                        <a:t>Pricing Analysis (USD Per Unit) By Product Type</a:t>
                      </a:r>
                      <a:endParaRPr sz="1100"/>
                    </a:p>
                  </a:txBody>
                  <a:tcPr marL="771525" marR="9525" marT="9525" marB="0" anchor="ctr"/>
                </a:tc>
              </a:tr>
              <a:tr h="175260">
                <a:tc>
                  <a:txBody>
                    <a:bodyPr wrap="square"/>
                    <a:lstStyle/>
                    <a:p>
                      <a:pPr algn="l"/>
                      <a:r>
                        <a:rPr sz="1100" b="0" i="0">
                          <a:solidFill>
                            <a:srgbClr val="000000"/>
                          </a:solidFill>
                          <a:latin typeface="Calibri"/>
                        </a:rPr>
                        <a:t>23.1.4.</a:t>
                      </a:r>
                      <a:r>
                        <a:rPr sz="700" b="0" i="0">
                          <a:solidFill>
                            <a:srgbClr val="000000"/>
                          </a:solidFill>
                          <a:latin typeface="Times New Roman"/>
                        </a:rPr>
                        <a:t> </a:t>
                      </a:r>
                      <a:r>
                        <a:rPr sz="1100" b="0" i="0">
                          <a:solidFill>
                            <a:srgbClr val="000000"/>
                          </a:solidFill>
                          <a:latin typeface="Calibri"/>
                        </a:rPr>
                        <a:t>Revenue (USD Mn) and Market Share by Market Segments</a:t>
                      </a:r>
                      <a:endParaRPr sz="1100"/>
                    </a:p>
                  </a:txBody>
                  <a:tcPr marL="771525" marR="9525" marT="9525" marB="0" anchor="ctr"/>
                </a:tc>
              </a:tr>
              <a:tr h="175260">
                <a:tc>
                  <a:txBody>
                    <a:bodyPr wrap="square"/>
                    <a:lstStyle/>
                    <a:p>
                      <a:pPr algn="l"/>
                      <a:r>
                        <a:rPr sz="1100" b="0" i="1">
                          <a:solidFill>
                            <a:srgbClr val="000000"/>
                          </a:solidFill>
                          <a:latin typeface="Calibri"/>
                        </a:rPr>
                        <a:t>23.1.4.1.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tr>
              <a:tr h="175260">
                <a:tc>
                  <a:txBody>
                    <a:bodyPr wrap="square"/>
                    <a:lstStyle/>
                    <a:p>
                      <a:pPr algn="l"/>
                      <a:r>
                        <a:rPr sz="1100" b="0" i="1">
                          <a:solidFill>
                            <a:srgbClr val="000000"/>
                          </a:solidFill>
                          <a:latin typeface="Calibri"/>
                        </a:rPr>
                        <a:t>23.1.4.2.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tr>
              <a:tr h="175260">
                <a:tc>
                  <a:txBody>
                    <a:bodyPr wrap="square"/>
                    <a:lstStyle/>
                    <a:p>
                      <a:pPr algn="l"/>
                      <a:r>
                        <a:rPr sz="1100" b="0" i="1">
                          <a:solidFill>
                            <a:srgbClr val="000000"/>
                          </a:solidFill>
                          <a:latin typeface="Calibri"/>
                        </a:rPr>
                        <a:t>23.1.4.3.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tr>
              <a:tr h="175260">
                <a:tc>
                  <a:txBody>
                    <a:bodyPr wrap="square"/>
                    <a:lstStyle/>
                    <a:p>
                      <a:pPr algn="l"/>
                      <a:r>
                        <a:rPr sz="1100" b="0" i="0">
                          <a:solidFill>
                            <a:srgbClr val="000000"/>
                          </a:solidFill>
                          <a:latin typeface="Calibri"/>
                        </a:rPr>
                        <a:t>23.1.5.</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tr>
              <a:tr h="175260">
                <a:tc>
                  <a:txBody>
                    <a:bodyPr wrap="square"/>
                    <a:lstStyle/>
                    <a:p>
                      <a:pPr algn="l"/>
                      <a:r>
                        <a:rPr sz="1100" b="0" i="0">
                          <a:solidFill>
                            <a:srgbClr val="000000"/>
                          </a:solidFill>
                          <a:latin typeface="Calibri"/>
                        </a:rPr>
                        <a:t>23.1.6.</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tr>
              <a:tr h="175260">
                <a:tc>
                  <a:txBody>
                    <a:bodyPr wrap="square"/>
                    <a:lstStyle/>
                    <a:p>
                      <a:pPr algn="l"/>
                      <a:r>
                        <a:rPr sz="1100" b="0" i="1">
                          <a:solidFill>
                            <a:srgbClr val="000000"/>
                          </a:solidFill>
                          <a:latin typeface="Calibri"/>
                        </a:rPr>
                        <a:t>23.1.6.1.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tr>
              <a:tr h="175260">
                <a:tc>
                  <a:txBody>
                    <a:bodyPr wrap="square"/>
                    <a:lstStyle/>
                    <a:p>
                      <a:pPr algn="l"/>
                      <a:r>
                        <a:rPr sz="1100" b="0" i="1">
                          <a:solidFill>
                            <a:srgbClr val="000000"/>
                          </a:solidFill>
                          <a:latin typeface="Calibri"/>
                        </a:rPr>
                        <a:t>23.1.6.2.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403098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23.1.6.3.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tr>
              <a:tr h="175260">
                <a:tc>
                  <a:txBody>
                    <a:bodyPr wrap="square"/>
                    <a:lstStyle/>
                    <a:p>
                      <a:pPr algn="l"/>
                      <a:r>
                        <a:rPr sz="1100" b="0" i="1">
                          <a:solidFill>
                            <a:srgbClr val="000000"/>
                          </a:solidFill>
                          <a:latin typeface="Calibri"/>
                        </a:rPr>
                        <a:t>23.1.6.4.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tr>
              <a:tr h="175260">
                <a:tc>
                  <a:txBody>
                    <a:bodyPr wrap="square"/>
                    <a:lstStyle/>
                    <a:p>
                      <a:pPr algn="l"/>
                      <a:r>
                        <a:rPr sz="1100" b="0" i="0">
                          <a:solidFill>
                            <a:srgbClr val="000000"/>
                          </a:solidFill>
                          <a:latin typeface="Calibri"/>
                        </a:rPr>
                        <a:t>23.1.7.</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tr>
              <a:tr h="175260">
                <a:tc>
                  <a:txBody>
                    <a:bodyPr wrap="square"/>
                    <a:lstStyle/>
                    <a:p>
                      <a:pPr algn="l"/>
                      <a:r>
                        <a:rPr sz="1100" b="0" i="0">
                          <a:solidFill>
                            <a:srgbClr val="000000"/>
                          </a:solidFill>
                          <a:latin typeface="Calibri"/>
                        </a:rPr>
                        <a:t>23.1.8.</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tr>
              <a:tr h="175260">
                <a:tc>
                  <a:txBody>
                    <a:bodyPr wrap="square"/>
                    <a:lstStyle/>
                    <a:p>
                      <a:pPr algn="l"/>
                      <a:r>
                        <a:rPr sz="1100" b="0" i="1">
                          <a:solidFill>
                            <a:srgbClr val="EE0000"/>
                          </a:solidFill>
                          <a:latin typeface="Calibri"/>
                        </a:rPr>
                        <a:t>Note: All companies shall be indicated in similar manner</a:t>
                      </a:r>
                      <a:endParaRPr sz="1100"/>
                    </a:p>
                  </a:txBody>
                  <a:tcPr marL="9525" marR="9525" marT="9525" marB="0" anchor="ctr"/>
                </a:tc>
              </a:tr>
              <a:tr h="175260">
                <a:tc>
                  <a:txBody>
                    <a:bodyPr wrap="square"/>
                    <a:lstStyle/>
                    <a:p>
                      <a:pPr algn="l"/>
                      <a:r>
                        <a:rPr sz="1100" b="0" i="0">
                          <a:solidFill>
                            <a:srgbClr val="0070C0"/>
                          </a:solidFill>
                          <a:latin typeface="Calibri"/>
                        </a:rPr>
                        <a:t>23.2.</a:t>
                      </a:r>
                      <a:r>
                        <a:rPr sz="700" b="0" i="0">
                          <a:solidFill>
                            <a:srgbClr val="0070C0"/>
                          </a:solidFill>
                          <a:latin typeface="Times New Roman"/>
                        </a:rPr>
                        <a:t>  </a:t>
                      </a:r>
                      <a:r>
                        <a:rPr sz="1100" b="0" i="0">
                          <a:solidFill>
                            <a:srgbClr val="0070C0"/>
                          </a:solidFill>
                          <a:latin typeface="Calibri"/>
                        </a:rPr>
                        <a:t>Sealed Air Corporation</a:t>
                      </a:r>
                      <a:endParaRPr sz="1100"/>
                    </a:p>
                  </a:txBody>
                  <a:tcPr marL="428625" marR="9525" marT="9525" marB="0" anchor="ctr"/>
                </a:tc>
              </a:tr>
              <a:tr h="175260">
                <a:tc>
                  <a:txBody>
                    <a:bodyPr wrap="square"/>
                    <a:lstStyle/>
                    <a:p>
                      <a:pPr algn="l"/>
                      <a:r>
                        <a:rPr sz="1100" b="0" i="0">
                          <a:solidFill>
                            <a:srgbClr val="0070C0"/>
                          </a:solidFill>
                          <a:latin typeface="Calibri"/>
                        </a:rPr>
                        <a:t>23.3.</a:t>
                      </a:r>
                      <a:r>
                        <a:rPr sz="700" b="0" i="0">
                          <a:solidFill>
                            <a:srgbClr val="0070C0"/>
                          </a:solidFill>
                          <a:latin typeface="Times New Roman"/>
                        </a:rPr>
                        <a:t>  </a:t>
                      </a:r>
                      <a:r>
                        <a:rPr sz="1100" b="0" i="0">
                          <a:solidFill>
                            <a:srgbClr val="0070C0"/>
                          </a:solidFill>
                          <a:latin typeface="Calibri"/>
                        </a:rPr>
                        <a:t>Inteplast Group</a:t>
                      </a:r>
                      <a:endParaRPr sz="1100"/>
                    </a:p>
                  </a:txBody>
                  <a:tcPr marL="428625" marR="9525" marT="9525" marB="0" anchor="ctr"/>
                </a:tc>
              </a:tr>
              <a:tr h="175260">
                <a:tc>
                  <a:txBody>
                    <a:bodyPr wrap="square"/>
                    <a:lstStyle/>
                    <a:p>
                      <a:pPr algn="l"/>
                      <a:r>
                        <a:rPr sz="1100" b="0" i="0">
                          <a:solidFill>
                            <a:srgbClr val="0070C0"/>
                          </a:solidFill>
                          <a:latin typeface="Calibri"/>
                        </a:rPr>
                        <a:t>23.4.</a:t>
                      </a:r>
                      <a:r>
                        <a:rPr sz="700" b="0" i="0">
                          <a:solidFill>
                            <a:srgbClr val="0070C0"/>
                          </a:solidFill>
                          <a:latin typeface="Times New Roman"/>
                        </a:rPr>
                        <a:t>  </a:t>
                      </a:r>
                      <a:r>
                        <a:rPr sz="1100" b="0" i="0">
                          <a:solidFill>
                            <a:srgbClr val="0070C0"/>
                          </a:solidFill>
                          <a:latin typeface="Calibri"/>
                        </a:rPr>
                        <a:t>Novolex</a:t>
                      </a:r>
                      <a:endParaRPr sz="1100"/>
                    </a:p>
                  </a:txBody>
                  <a:tcPr marL="428625" marR="9525" marT="9525" marB="0" anchor="ctr"/>
                </a:tc>
              </a:tr>
              <a:tr h="175260">
                <a:tc>
                  <a:txBody>
                    <a:bodyPr wrap="square"/>
                    <a:lstStyle/>
                    <a:p>
                      <a:pPr algn="l"/>
                      <a:r>
                        <a:rPr sz="1100" b="0" i="0">
                          <a:solidFill>
                            <a:srgbClr val="0070C0"/>
                          </a:solidFill>
                          <a:latin typeface="Calibri"/>
                        </a:rPr>
                        <a:t>23.5.</a:t>
                      </a:r>
                      <a:r>
                        <a:rPr sz="700" b="0" i="0">
                          <a:solidFill>
                            <a:srgbClr val="0070C0"/>
                          </a:solidFill>
                          <a:latin typeface="Times New Roman"/>
                        </a:rPr>
                        <a:t>  </a:t>
                      </a:r>
                      <a:r>
                        <a:rPr sz="1100" b="0" i="0">
                          <a:solidFill>
                            <a:srgbClr val="0070C0"/>
                          </a:solidFill>
                          <a:latin typeface="Calibri"/>
                        </a:rPr>
                        <a:t>Coveris</a:t>
                      </a:r>
                      <a:endParaRPr sz="1100"/>
                    </a:p>
                  </a:txBody>
                  <a:tcPr marL="428625" marR="9525" marT="9525" marB="0" anchor="ctr"/>
                </a:tc>
              </a:tr>
              <a:tr h="175260">
                <a:tc>
                  <a:txBody>
                    <a:bodyPr wrap="square"/>
                    <a:lstStyle/>
                    <a:p>
                      <a:pPr algn="l"/>
                      <a:r>
                        <a:rPr sz="1100" b="0" i="0">
                          <a:solidFill>
                            <a:srgbClr val="0070C0"/>
                          </a:solidFill>
                          <a:latin typeface="Calibri"/>
                        </a:rPr>
                        <a:t>23.6.</a:t>
                      </a:r>
                      <a:r>
                        <a:rPr sz="700" b="0" i="0">
                          <a:solidFill>
                            <a:srgbClr val="0070C0"/>
                          </a:solidFill>
                          <a:latin typeface="Times New Roman"/>
                        </a:rPr>
                        <a:t>  </a:t>
                      </a:r>
                      <a:r>
                        <a:rPr sz="1100" b="0" i="0">
                          <a:solidFill>
                            <a:srgbClr val="0070C0"/>
                          </a:solidFill>
                          <a:latin typeface="Calibri"/>
                        </a:rPr>
                        <a:t>Printpack</a:t>
                      </a:r>
                      <a:endParaRPr sz="1100"/>
                    </a:p>
                  </a:txBody>
                  <a:tcPr marL="428625" marR="9525" marT="9525" marB="0" anchor="ctr"/>
                </a:tc>
              </a:tr>
              <a:tr h="175260">
                <a:tc>
                  <a:txBody>
                    <a:bodyPr wrap="square"/>
                    <a:lstStyle/>
                    <a:p>
                      <a:pPr algn="l"/>
                      <a:r>
                        <a:rPr sz="1100" b="0" i="0">
                          <a:solidFill>
                            <a:srgbClr val="0070C0"/>
                          </a:solidFill>
                          <a:latin typeface="Calibri"/>
                        </a:rPr>
                        <a:t>23.7.</a:t>
                      </a:r>
                      <a:r>
                        <a:rPr sz="700" b="0" i="0">
                          <a:solidFill>
                            <a:srgbClr val="0070C0"/>
                          </a:solidFill>
                          <a:latin typeface="Times New Roman"/>
                        </a:rPr>
                        <a:t>  </a:t>
                      </a:r>
                      <a:r>
                        <a:rPr sz="1100" b="0" i="0">
                          <a:solidFill>
                            <a:srgbClr val="0070C0"/>
                          </a:solidFill>
                          <a:latin typeface="Calibri"/>
                        </a:rPr>
                        <a:t>Winpak Ltd.</a:t>
                      </a:r>
                      <a:endParaRPr sz="1100"/>
                    </a:p>
                  </a:txBody>
                  <a:tcPr marL="428625" marR="9525" marT="9525" marB="0" anchor="ctr"/>
                </a:tc>
              </a:tr>
              <a:tr h="175260">
                <a:tc>
                  <a:txBody>
                    <a:bodyPr wrap="square"/>
                    <a:lstStyle/>
                    <a:p>
                      <a:pPr algn="l"/>
                      <a:r>
                        <a:rPr sz="1100" b="0" i="0">
                          <a:solidFill>
                            <a:srgbClr val="0070C0"/>
                          </a:solidFill>
                          <a:latin typeface="Calibri"/>
                        </a:rPr>
                        <a:t>23.8.</a:t>
                      </a:r>
                      <a:r>
                        <a:rPr sz="700" b="0" i="0">
                          <a:solidFill>
                            <a:srgbClr val="0070C0"/>
                          </a:solidFill>
                          <a:latin typeface="Times New Roman"/>
                        </a:rPr>
                        <a:t>  </a:t>
                      </a:r>
                      <a:r>
                        <a:rPr sz="1100" b="0" i="0">
                          <a:solidFill>
                            <a:srgbClr val="0070C0"/>
                          </a:solidFill>
                          <a:latin typeface="Calibri"/>
                        </a:rPr>
                        <a:t>Huhtamaki</a:t>
                      </a:r>
                      <a:endParaRPr sz="1100"/>
                    </a:p>
                  </a:txBody>
                  <a:tcPr marL="428625" marR="9525" marT="9525" marB="0" anchor="ctr"/>
                </a:tc>
              </a:tr>
              <a:tr h="175260">
                <a:tc>
                  <a:txBody>
                    <a:bodyPr wrap="square"/>
                    <a:lstStyle/>
                    <a:p>
                      <a:pPr algn="l"/>
                      <a:r>
                        <a:rPr sz="1100" b="0" i="0">
                          <a:solidFill>
                            <a:srgbClr val="0070C0"/>
                          </a:solidFill>
                          <a:latin typeface="Calibri"/>
                        </a:rPr>
                        <a:t>23.9.</a:t>
                      </a:r>
                      <a:r>
                        <a:rPr sz="700" b="0" i="0">
                          <a:solidFill>
                            <a:srgbClr val="0070C0"/>
                          </a:solidFill>
                          <a:latin typeface="Times New Roman"/>
                        </a:rPr>
                        <a:t>  </a:t>
                      </a:r>
                      <a:r>
                        <a:rPr sz="1100" b="0" i="0">
                          <a:solidFill>
                            <a:srgbClr val="0070C0"/>
                          </a:solidFill>
                          <a:latin typeface="Calibri"/>
                        </a:rPr>
                        <a:t>Berry Global Group</a:t>
                      </a:r>
                      <a:endParaRPr sz="1100"/>
                    </a:p>
                  </a:txBody>
                  <a:tcPr marL="428625" marR="9525" marT="9525" marB="0" anchor="ctr"/>
                </a:tc>
              </a:tr>
              <a:tr h="175260">
                <a:tc>
                  <a:txBody>
                    <a:bodyPr wrap="square"/>
                    <a:lstStyle/>
                    <a:p>
                      <a:pPr algn="l"/>
                      <a:r>
                        <a:rPr sz="1100" b="0" i="0">
                          <a:solidFill>
                            <a:srgbClr val="0070C0"/>
                          </a:solidFill>
                          <a:latin typeface="Calibri"/>
                        </a:rPr>
                        <a:t>23.10.</a:t>
                      </a:r>
                      <a:r>
                        <a:rPr sz="700" b="0" i="0">
                          <a:solidFill>
                            <a:srgbClr val="0070C0"/>
                          </a:solidFill>
                          <a:latin typeface="Times New Roman"/>
                        </a:rPr>
                        <a:t> </a:t>
                      </a:r>
                      <a:r>
                        <a:rPr sz="1100" b="0" i="0">
                          <a:solidFill>
                            <a:srgbClr val="0070C0"/>
                          </a:solidFill>
                          <a:latin typeface="Calibri"/>
                        </a:rPr>
                        <a:t>Mondi Group</a:t>
                      </a:r>
                      <a:endParaRPr sz="1100"/>
                    </a:p>
                  </a:txBody>
                  <a:tcPr marL="428625" marR="9525" marT="9525" marB="0" anchor="ctr"/>
                </a:tc>
              </a:tr>
              <a:tr h="175260">
                <a:tc>
                  <a:txBody>
                    <a:bodyPr wrap="square"/>
                    <a:lstStyle/>
                    <a:p>
                      <a:pPr algn="l"/>
                      <a:r>
                        <a:rPr sz="1100" b="0" i="0">
                          <a:solidFill>
                            <a:srgbClr val="0070C0"/>
                          </a:solidFill>
                          <a:latin typeface="Calibri"/>
                        </a:rPr>
                        <a:t>23.11.</a:t>
                      </a:r>
                      <a:r>
                        <a:rPr sz="700" b="0" i="0">
                          <a:solidFill>
                            <a:srgbClr val="0070C0"/>
                          </a:solidFill>
                          <a:latin typeface="Times New Roman"/>
                        </a:rPr>
                        <a:t> </a:t>
                      </a:r>
                      <a:r>
                        <a:rPr sz="1100" b="0" i="0">
                          <a:solidFill>
                            <a:srgbClr val="0070C0"/>
                          </a:solidFill>
                          <a:latin typeface="Calibri"/>
                        </a:rPr>
                        <a:t>Pactiv Evergreen</a:t>
                      </a:r>
                      <a:endParaRPr sz="1100"/>
                    </a:p>
                  </a:txBody>
                  <a:tcPr marL="428625" marR="9525" marT="9525" marB="0" anchor="ctr"/>
                </a:tc>
              </a:tr>
              <a:tr h="175260">
                <a:tc>
                  <a:txBody>
                    <a:bodyPr wrap="square"/>
                    <a:lstStyle/>
                    <a:p>
                      <a:pPr algn="l"/>
                      <a:r>
                        <a:rPr sz="1100" b="0" i="0">
                          <a:solidFill>
                            <a:srgbClr val="0070C0"/>
                          </a:solidFill>
                          <a:latin typeface="Calibri"/>
                        </a:rPr>
                        <a:t>23.12.</a:t>
                      </a:r>
                      <a:r>
                        <a:rPr sz="700" b="0" i="0">
                          <a:solidFill>
                            <a:srgbClr val="0070C0"/>
                          </a:solidFill>
                          <a:latin typeface="Times New Roman"/>
                        </a:rPr>
                        <a:t> </a:t>
                      </a:r>
                      <a:r>
                        <a:rPr sz="1100" b="0" i="0">
                          <a:solidFill>
                            <a:srgbClr val="0070C0"/>
                          </a:solidFill>
                          <a:latin typeface="Calibri"/>
                        </a:rPr>
                        <a:t>Sonoco Products Company</a:t>
                      </a:r>
                      <a:endParaRPr sz="1100"/>
                    </a:p>
                  </a:txBody>
                  <a:tcPr marL="428625" marR="9525" marT="9525" marB="0" anchor="ctr"/>
                </a:tc>
              </a:tr>
              <a:tr h="175260">
                <a:tc>
                  <a:txBody>
                    <a:bodyPr wrap="square"/>
                    <a:lstStyle/>
                    <a:p>
                      <a:pPr algn="l"/>
                      <a:r>
                        <a:rPr sz="1100" b="0" i="0">
                          <a:solidFill>
                            <a:srgbClr val="0070C0"/>
                          </a:solidFill>
                          <a:latin typeface="Calibri"/>
                        </a:rPr>
                        <a:t>23.13.</a:t>
                      </a:r>
                      <a:r>
                        <a:rPr sz="700" b="0" i="0">
                          <a:solidFill>
                            <a:srgbClr val="0070C0"/>
                          </a:solidFill>
                          <a:latin typeface="Times New Roman"/>
                        </a:rPr>
                        <a:t> </a:t>
                      </a:r>
                      <a:r>
                        <a:rPr sz="1100" b="0" i="0">
                          <a:solidFill>
                            <a:srgbClr val="0070C0"/>
                          </a:solidFill>
                          <a:latin typeface="Calibri"/>
                        </a:rPr>
                        <a:t>A-Pac Manufacturing Co., Inc.</a:t>
                      </a:r>
                      <a:endParaRPr sz="1100"/>
                    </a:p>
                  </a:txBody>
                  <a:tcPr marL="428625" marR="9525" marT="9525" marB="0" anchor="ctr"/>
                </a:tc>
              </a:tr>
              <a:tr h="175260">
                <a:tc>
                  <a:txBody>
                    <a:bodyPr wrap="square"/>
                    <a:lstStyle/>
                    <a:p>
                      <a:pPr algn="l"/>
                      <a:r>
                        <a:rPr sz="1100" b="0" i="0">
                          <a:solidFill>
                            <a:srgbClr val="0070C0"/>
                          </a:solidFill>
                          <a:latin typeface="Calibri"/>
                        </a:rPr>
                        <a:t>23.14.</a:t>
                      </a:r>
                      <a:r>
                        <a:rPr sz="700" b="0" i="0">
                          <a:solidFill>
                            <a:srgbClr val="0070C0"/>
                          </a:solidFill>
                          <a:latin typeface="Times New Roman"/>
                        </a:rPr>
                        <a:t> </a:t>
                      </a:r>
                      <a:r>
                        <a:rPr sz="1100" b="0" i="0">
                          <a:solidFill>
                            <a:srgbClr val="0070C0"/>
                          </a:solidFill>
                          <a:latin typeface="Calibri"/>
                        </a:rPr>
                        <a:t>PPC Flex</a:t>
                      </a:r>
                      <a:endParaRPr sz="1100"/>
                    </a:p>
                  </a:txBody>
                  <a:tcPr marL="428625" marR="9525" marT="9525" marB="0" anchor="ctr"/>
                </a:tc>
              </a:tr>
              <a:tr h="175260">
                <a:tc>
                  <a:txBody>
                    <a:bodyPr wrap="square"/>
                    <a:lstStyle/>
                    <a:p>
                      <a:pPr algn="l"/>
                      <a:r>
                        <a:rPr sz="1100" b="0" i="0">
                          <a:solidFill>
                            <a:srgbClr val="0070C0"/>
                          </a:solidFill>
                          <a:latin typeface="Calibri"/>
                        </a:rPr>
                        <a:t>23.15.</a:t>
                      </a:r>
                      <a:r>
                        <a:rPr sz="700" b="0" i="0">
                          <a:solidFill>
                            <a:srgbClr val="0070C0"/>
                          </a:solidFill>
                          <a:latin typeface="Times New Roman"/>
                        </a:rPr>
                        <a:t> </a:t>
                      </a:r>
                      <a:r>
                        <a:rPr sz="1100" b="0" i="0">
                          <a:solidFill>
                            <a:srgbClr val="0070C0"/>
                          </a:solidFill>
                          <a:latin typeface="Calibri"/>
                        </a:rPr>
                        <a:t>Arihant Packers</a:t>
                      </a:r>
                      <a:endParaRPr sz="1100"/>
                    </a:p>
                  </a:txBody>
                  <a:tcPr marL="428625" marR="9525" marT="9525" marB="0" anchor="ctr"/>
                </a:tc>
              </a:tr>
              <a:tr h="175260">
                <a:tc>
                  <a:txBody>
                    <a:bodyPr wrap="square"/>
                    <a:lstStyle/>
                    <a:p>
                      <a:pPr algn="l"/>
                      <a:r>
                        <a:rPr sz="1100" b="0" i="0">
                          <a:solidFill>
                            <a:srgbClr val="0070C0"/>
                          </a:solidFill>
                          <a:latin typeface="Calibri"/>
                        </a:rPr>
                        <a:t>23.16.</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EE0000"/>
                          </a:solidFill>
                          <a:latin typeface="Calibri"/>
                        </a:rPr>
                        <a:t>ADD SECTIONS AS PER STORY LINE</a:t>
                      </a:r>
                      <a:endParaRPr sz="1100"/>
                    </a:p>
                  </a:txBody>
                  <a:tcPr marL="9525" marR="9525" marT="9525" marB="0" anchor="ctr"/>
                </a:tc>
              </a:tr>
              <a:tr h="175260">
                <a:tc>
                  <a:txBody>
                    <a:bodyPr wrap="square"/>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tr>
              <a:tr h="175260">
                <a:tc>
                  <a:txBody>
                    <a:bodyPr wrap="square"/>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Figure 1: North America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Figure 2: North America Market Value Snapshot, US$ Mn, 2026 and 2036</a:t>
                      </a:r>
                      <a:endParaRPr sz="1050"/>
                    </a:p>
                  </a:txBody>
                  <a:tcPr marL="9525" marR="9525" marT="9525" marB="0" anchor="ctr"/>
                </a:tc>
              </a:tr>
              <a:tr h="169826">
                <a:tc>
                  <a:txBody>
                    <a:bodyPr wrap="square"/>
                    <a:lstStyle/>
                    <a:p>
                      <a:pPr algn="l"/>
                      <a:r>
                        <a:rPr sz="1050" b="0" i="0">
                          <a:solidFill>
                            <a:srgbClr val="000000"/>
                          </a:solidFill>
                          <a:latin typeface="Calibri"/>
                        </a:rPr>
                        <a:t>Figure 3: North America Market Taxonomy by Segment, 2026</a:t>
                      </a:r>
                      <a:endParaRPr sz="1050"/>
                    </a:p>
                  </a:txBody>
                  <a:tcPr marL="9525" marR="9525" marT="9525" marB="0" anchor="ctr"/>
                </a:tc>
              </a:tr>
              <a:tr h="169826">
                <a:tc>
                  <a:txBody>
                    <a:bodyPr wrap="square"/>
                    <a:lstStyle/>
                    <a:p>
                      <a:pPr algn="l"/>
                      <a:r>
                        <a:rPr sz="1050" b="0" i="0">
                          <a:solidFill>
                            <a:srgbClr val="000000"/>
                          </a:solidFill>
                          <a:latin typeface="Calibri"/>
                        </a:rPr>
                        <a:t>Figure 4: North America Market Share by Product Type, %, 2026</a:t>
                      </a:r>
                      <a:endParaRPr sz="1050"/>
                    </a:p>
                  </a:txBody>
                  <a:tcPr marL="9525" marR="9525" marT="9525" marB="0" anchor="ctr"/>
                </a:tc>
              </a:tr>
              <a:tr h="169826">
                <a:tc>
                  <a:txBody>
                    <a:bodyPr wrap="square"/>
                    <a:lstStyle/>
                    <a:p>
                      <a:pPr algn="l"/>
                      <a:r>
                        <a:rPr sz="1050" b="0" i="0">
                          <a:solidFill>
                            <a:srgbClr val="000000"/>
                          </a:solidFill>
                          <a:latin typeface="Calibri"/>
                        </a:rPr>
                        <a:t>Figure 5: North America Market Share by Principal Material / Barrier Technology, %, 2026</a:t>
                      </a:r>
                      <a:endParaRPr sz="1050"/>
                    </a:p>
                  </a:txBody>
                  <a:tcPr marL="9525" marR="9525" marT="9525" marB="0" anchor="ctr"/>
                </a:tc>
              </a:tr>
              <a:tr h="169826">
                <a:tc>
                  <a:txBody>
                    <a:bodyPr wrap="square"/>
                    <a:lstStyle/>
                    <a:p>
                      <a:pPr algn="l"/>
                      <a:r>
                        <a:rPr sz="1050" b="0" i="0">
                          <a:solidFill>
                            <a:srgbClr val="000000"/>
                          </a:solidFill>
                          <a:latin typeface="Calibri"/>
                        </a:rPr>
                        <a:t>Figure 6: North America Market Share by Material Structure, %, 2026</a:t>
                      </a:r>
                      <a:endParaRPr sz="1050"/>
                    </a:p>
                  </a:txBody>
                  <a:tcPr marL="9525" marR="9525" marT="9525" marB="0" anchor="ctr"/>
                </a:tc>
              </a:tr>
              <a:tr h="169826">
                <a:tc>
                  <a:txBody>
                    <a:bodyPr wrap="square"/>
                    <a:lstStyle/>
                    <a:p>
                      <a:pPr algn="l"/>
                      <a:r>
                        <a:rPr sz="1050" b="0" i="0">
                          <a:solidFill>
                            <a:srgbClr val="000000"/>
                          </a:solidFill>
                          <a:latin typeface="Calibri"/>
                        </a:rPr>
                        <a:t>Figure 7: North America Market Share by Barrier Level, %, 2026</a:t>
                      </a:r>
                      <a:endParaRPr sz="1050"/>
                    </a:p>
                  </a:txBody>
                  <a:tcPr marL="9525" marR="9525" marT="9525" marB="0" anchor="ctr"/>
                </a:tc>
              </a:tr>
              <a:tr h="169826">
                <a:tc>
                  <a:txBody>
                    <a:bodyPr wrap="square"/>
                    <a:lstStyle/>
                    <a:p>
                      <a:pPr algn="l"/>
                      <a:r>
                        <a:rPr sz="1050" b="0" i="0">
                          <a:solidFill>
                            <a:srgbClr val="000000"/>
                          </a:solidFill>
                          <a:latin typeface="Calibri"/>
                        </a:rPr>
                        <a:t>Figure 8: North America Market Share by Application, %, 2026</a:t>
                      </a:r>
                      <a:endParaRPr sz="1050"/>
                    </a:p>
                  </a:txBody>
                  <a:tcPr marL="9525" marR="9525" marT="9525" marB="0" anchor="ctr"/>
                </a:tc>
              </a:tr>
              <a:tr h="169826">
                <a:tc>
                  <a:txBody>
                    <a:bodyPr wrap="square"/>
                    <a:lstStyle/>
                    <a:p>
                      <a:pPr algn="l"/>
                      <a:r>
                        <a:rPr sz="1050" b="0" i="0">
                          <a:solidFill>
                            <a:srgbClr val="000000"/>
                          </a:solidFill>
                          <a:latin typeface="Calibri"/>
                        </a:rPr>
                        <a:t>Figure 9: North America Market Share by Barrier Level Vs Application, %, 2026</a:t>
                      </a:r>
                      <a:endParaRPr sz="1050"/>
                    </a:p>
                  </a:txBody>
                  <a:tcPr marL="9525" marR="9525" marT="9525" marB="0" anchor="ctr"/>
                </a:tc>
              </a:tr>
              <a:tr h="169826">
                <a:tc>
                  <a:txBody>
                    <a:bodyPr wrap="square"/>
                    <a:lstStyle/>
                    <a:p>
                      <a:pPr algn="l"/>
                      <a:r>
                        <a:rPr sz="1050" b="0" i="0">
                          <a:solidFill>
                            <a:srgbClr val="000000"/>
                          </a:solidFill>
                          <a:latin typeface="Calibri"/>
                        </a:rPr>
                        <a:t>Figure 10: North America Market Incremental $ Opportunity, US$ Mn, 2026–2036</a:t>
                      </a:r>
                      <a:endParaRPr sz="1050"/>
                    </a:p>
                  </a:txBody>
                  <a:tcPr marL="9525" marR="9525" marT="9525" marB="0" anchor="ctr"/>
                </a:tc>
              </a:tr>
              <a:tr h="169826">
                <a:tc>
                  <a:txBody>
                    <a:bodyPr wrap="square"/>
                    <a:lstStyle/>
                    <a:p>
                      <a:pPr algn="l"/>
                      <a:r>
                        <a:rPr sz="1050" b="0" i="0">
                          <a:solidFill>
                            <a:srgbClr val="000000"/>
                          </a:solidFill>
                          <a:latin typeface="Calibri"/>
                        </a:rPr>
                        <a:t>Figure 11: North America Market Key Demand Drivers Impact Assessment, 2026–2036</a:t>
                      </a:r>
                      <a:endParaRPr sz="1050"/>
                    </a:p>
                  </a:txBody>
                  <a:tcPr marL="9525" marR="9525" marT="9525" marB="0" anchor="ctr"/>
                </a:tc>
              </a:tr>
              <a:tr h="169826">
                <a:tc>
                  <a:txBody>
                    <a:bodyPr wrap="square"/>
                    <a:lstStyle/>
                    <a:p>
                      <a:pPr algn="l"/>
                      <a:r>
                        <a:rPr sz="1050" b="0" i="0">
                          <a:solidFill>
                            <a:srgbClr val="000000"/>
                          </a:solidFill>
                          <a:latin typeface="Calibri"/>
                        </a:rPr>
                        <a:t>Figure 12: North America Market Historical Value, US$ Mn, 2021–2025</a:t>
                      </a:r>
                      <a:endParaRPr sz="1050"/>
                    </a:p>
                  </a:txBody>
                  <a:tcPr marL="9525" marR="9525" marT="9525" marB="0" anchor="ctr"/>
                </a:tc>
              </a:tr>
              <a:tr h="169826">
                <a:tc>
                  <a:txBody>
                    <a:bodyPr wrap="square"/>
                    <a:lstStyle/>
                    <a:p>
                      <a:pPr algn="l"/>
                      <a:r>
                        <a:rPr sz="1050" b="0" i="0">
                          <a:solidFill>
                            <a:srgbClr val="000000"/>
                          </a:solidFill>
                          <a:latin typeface="Calibri"/>
                        </a:rPr>
                        <a:t>Figure 13: North America Market Forecast Value, US$ Mn, 2026–2036</a:t>
                      </a:r>
                      <a:endParaRPr sz="1050"/>
                    </a:p>
                  </a:txBody>
                  <a:tcPr marL="9525" marR="9525" marT="9525" marB="0" anchor="ctr"/>
                </a:tc>
              </a:tr>
              <a:tr h="169826">
                <a:tc>
                  <a:txBody>
                    <a:bodyPr wrap="square"/>
                    <a:lstStyle/>
                    <a:p>
                      <a:pPr algn="l"/>
                      <a:r>
                        <a:rPr sz="1050" b="0" i="0">
                          <a:solidFill>
                            <a:srgbClr val="000000"/>
                          </a:solidFill>
                          <a:latin typeface="Calibri"/>
                        </a:rPr>
                        <a:t>Figure 14: North America Market YoY Growth, %, 2021–2036</a:t>
                      </a:r>
                      <a:endParaRPr sz="1050"/>
                    </a:p>
                  </a:txBody>
                  <a:tcPr marL="9525" marR="9525" marT="9525" marB="0" anchor="ctr"/>
                </a:tc>
              </a:tr>
              <a:tr h="169826">
                <a:tc>
                  <a:txBody>
                    <a:bodyPr wrap="square"/>
                    <a:lstStyle/>
                    <a:p>
                      <a:pPr algn="l"/>
                      <a:r>
                        <a:rPr sz="1050" b="0" i="0">
                          <a:solidFill>
                            <a:srgbClr val="000000"/>
                          </a:solidFill>
                          <a:latin typeface="Calibri"/>
                        </a:rPr>
                        <a:t>Figure 15: North America Market Volume and YoY Growth, Thousand MT and %, 2021–2036</a:t>
                      </a:r>
                      <a:endParaRPr sz="1050"/>
                    </a:p>
                  </a:txBody>
                  <a:tcPr marL="9525" marR="9525" marT="9525" marB="0" anchor="ctr"/>
                </a:tc>
              </a:tr>
              <a:tr h="169826">
                <a:tc>
                  <a:txBody>
                    <a:bodyPr wrap="square"/>
                    <a:lstStyle/>
                    <a:p>
                      <a:pPr algn="l"/>
                      <a:r>
                        <a:rPr sz="1050" b="0" i="0">
                          <a:solidFill>
                            <a:srgbClr val="000000"/>
                          </a:solidFill>
                          <a:latin typeface="Calibri"/>
                        </a:rPr>
                        <a:t>Figure 16: North America Market Volume vs Value CAGR Comparison, %, 2026–2036</a:t>
                      </a:r>
                      <a:endParaRPr sz="1050"/>
                    </a:p>
                  </a:txBody>
                  <a:tcPr marL="9525" marR="9525" marT="9525" marB="0" anchor="ctr"/>
                </a:tc>
              </a:tr>
              <a:tr h="169826">
                <a:tc>
                  <a:txBody>
                    <a:bodyPr wrap="square"/>
                    <a:lstStyle/>
                    <a:p>
                      <a:pPr algn="l"/>
                      <a:r>
                        <a:rPr sz="1050" b="0" i="0">
                          <a:solidFill>
                            <a:srgbClr val="000000"/>
                          </a:solidFill>
                          <a:latin typeface="Calibri"/>
                        </a:rPr>
                        <a:t>Figure 17: North America Market Average Selling Price, US$/MT, 2021–2036</a:t>
                      </a:r>
                      <a:endParaRPr sz="1050"/>
                    </a:p>
                  </a:txBody>
                  <a:tcPr marL="9525" marR="9525" marT="9525" marB="0" anchor="ctr"/>
                </a:tc>
              </a:tr>
              <a:tr h="169826">
                <a:tc>
                  <a:txBody>
                    <a:bodyPr wrap="square"/>
                    <a:lstStyle/>
                    <a:p>
                      <a:pPr algn="l"/>
                      <a:r>
                        <a:rPr sz="1050" b="0" i="0">
                          <a:solidFill>
                            <a:srgbClr val="000000"/>
                          </a:solidFill>
                          <a:latin typeface="Calibri"/>
                        </a:rPr>
                        <a:t>Figure 18: North America Market Absolute $ Opportunity, US$ Mn, 2026–2036</a:t>
                      </a:r>
                      <a:endParaRPr sz="1050"/>
                    </a:p>
                  </a:txBody>
                  <a:tcPr marL="9525" marR="9525" marT="9525" marB="0" anchor="ctr"/>
                </a:tc>
              </a:tr>
              <a:tr h="169826">
                <a:tc>
                  <a:txBody>
                    <a:bodyPr wrap="square"/>
                    <a:lstStyle/>
                    <a:p>
                      <a:pPr algn="l"/>
                      <a:r>
                        <a:rPr sz="1050" b="0" i="0">
                          <a:solidFill>
                            <a:srgbClr val="000000"/>
                          </a:solidFill>
                          <a:latin typeface="Calibri"/>
                        </a:rPr>
                        <a:t>Figure 19: North America Market Incremental Opportunity by Year, US$ Mn, 2026–2036</a:t>
                      </a:r>
                      <a:endParaRPr sz="1050"/>
                    </a:p>
                  </a:txBody>
                  <a:tcPr marL="9525" marR="9525" marT="9525" marB="0" anchor="ctr"/>
                </a:tc>
              </a:tr>
              <a:tr h="169826">
                <a:tc>
                  <a:txBody>
                    <a:bodyPr wrap="square"/>
                    <a:lstStyle/>
                    <a:p>
                      <a:pPr algn="l"/>
                      <a:r>
                        <a:rPr sz="1050" b="0" i="0">
                          <a:solidFill>
                            <a:srgbClr val="000000"/>
                          </a:solidFill>
                          <a:latin typeface="Calibri"/>
                        </a:rPr>
                        <a:t>Figure 20: North America Market Historical vs Forecast CAGR, %, 2021–2036</a:t>
                      </a:r>
                      <a:endParaRPr sz="1050"/>
                    </a:p>
                  </a:txBody>
                  <a:tcPr marL="9525" marR="9525" marT="9525" marB="0" anchor="ctr"/>
                </a:tc>
              </a:tr>
              <a:tr h="332858">
                <a:tc>
                  <a:txBody>
                    <a:bodyPr wrap="square"/>
                    <a:lstStyle/>
                    <a:p>
                      <a:pPr algn="l"/>
                      <a:r>
                        <a:rPr sz="1050" b="0" i="0">
                          <a:solidFill>
                            <a:srgbClr val="000000"/>
                          </a:solidFill>
                          <a:latin typeface="Calibri"/>
                        </a:rPr>
                        <a:t>Figure 21: North America Market Value by Scenario (Optimistic, Likely, Pessimistic), US$ Mn, 2026–2036</a:t>
                      </a:r>
                      <a:endParaRPr sz="1050"/>
                    </a:p>
                  </a:txBody>
                  <a:tcPr marL="9525" marR="9525" marT="9525" marB="0" anchor="ctr"/>
                </a:tc>
              </a:tr>
              <a:tr h="169826">
                <a:tc>
                  <a:txBody>
                    <a:bodyPr wrap="square"/>
                    <a:lstStyle/>
                    <a:p>
                      <a:pPr algn="l"/>
                      <a:r>
                        <a:rPr sz="1050" b="0" i="0">
                          <a:solidFill>
                            <a:srgbClr val="000000"/>
                          </a:solidFill>
                          <a:latin typeface="Calibri"/>
                        </a:rPr>
                        <a:t>Figure 22: North America Market Size Evolution Index, 2025=100, 2021–2036</a:t>
                      </a:r>
                      <a:endParaRPr sz="1050"/>
                    </a:p>
                  </a:txBody>
                  <a:tcPr marL="9525" marR="9525" marT="9525" marB="0" anchor="ctr"/>
                </a:tc>
              </a:tr>
              <a:tr h="169826">
                <a:tc>
                  <a:txBody>
                    <a:bodyPr wrap="square"/>
                    <a:lstStyle/>
                    <a:p>
                      <a:pPr algn="l"/>
                      <a:r>
                        <a:rPr sz="1050" b="0" i="0">
                          <a:solidFill>
                            <a:srgbClr val="000000"/>
                          </a:solidFill>
                          <a:latin typeface="Calibri"/>
                        </a:rPr>
                        <a:t>Figure 23: North America Market Cumulative Value Addition, US$ Mn, 2026–2036</a:t>
                      </a:r>
                      <a:endParaRPr sz="1050"/>
                    </a:p>
                  </a:txBody>
                  <a:tcPr marL="9525" marR="9525" marT="9525" marB="0" anchor="ctr"/>
                </a:tc>
              </a:tr>
              <a:tr h="169826">
                <a:tc>
                  <a:txBody>
                    <a:bodyPr wrap="square"/>
                    <a:lstStyle/>
                    <a:p>
                      <a:pPr algn="l"/>
                      <a:r>
                        <a:rPr sz="1050" b="0" i="0">
                          <a:solidFill>
                            <a:srgbClr val="000000"/>
                          </a:solidFill>
                          <a:latin typeface="Calibri"/>
                        </a:rPr>
                        <a:t>Figure 24: North America Market Five-Year Absolute $ Opportunity, US$ Mn, 2026–2031</a:t>
                      </a:r>
                      <a:endParaRPr sz="1050"/>
                    </a:p>
                  </a:txBody>
                  <a:tcPr marL="9525" marR="9525" marT="9525" marB="0" anchor="ctr"/>
                </a:tc>
              </a:tr>
              <a:tr h="169826">
                <a:tc>
                  <a:txBody>
                    <a:bodyPr wrap="square"/>
                    <a:lstStyle/>
                    <a:p>
                      <a:pPr algn="l"/>
                      <a:r>
                        <a:rPr sz="1050" b="0" i="0">
                          <a:solidFill>
                            <a:srgbClr val="000000"/>
                          </a:solidFill>
                          <a:latin typeface="Calibri"/>
                        </a:rPr>
                        <a:t>Figure 25: North America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Figure 26: North America Market Value by Principal Material / Barrier Technology, US$ Mn, 2021–2036</a:t>
                      </a:r>
                      <a:endParaRPr sz="1050"/>
                    </a:p>
                  </a:txBody>
                  <a:tcPr marL="9525" marR="9525" marT="9525" marB="0" anchor="ctr"/>
                </a:tc>
              </a:tr>
              <a:tr h="169826">
                <a:tc>
                  <a:txBody>
                    <a:bodyPr wrap="square"/>
                    <a:lstStyle/>
                    <a:p>
                      <a:pPr algn="l"/>
                      <a:r>
                        <a:rPr sz="1050" b="0" i="0">
                          <a:solidFill>
                            <a:srgbClr val="000000"/>
                          </a:solidFill>
                          <a:latin typeface="Calibri"/>
                        </a:rPr>
                        <a:t>Figure 27: North America Market Value by Material Structure, US$ Mn, 2021–2036</a:t>
                      </a:r>
                      <a:endParaRPr sz="1050"/>
                    </a:p>
                  </a:txBody>
                  <a:tcPr marL="9525" marR="9525" marT="9525" marB="0" anchor="ctr"/>
                </a:tc>
              </a:tr>
              <a:tr h="169826">
                <a:tc>
                  <a:txBody>
                    <a:bodyPr wrap="square"/>
                    <a:lstStyle/>
                    <a:p>
                      <a:pPr algn="l"/>
                      <a:r>
                        <a:rPr sz="1050" b="0" i="0">
                          <a:solidFill>
                            <a:srgbClr val="000000"/>
                          </a:solidFill>
                          <a:latin typeface="Calibri"/>
                        </a:rPr>
                        <a:t>Figure 28: North America Market Value by Barrier Level, US$ Mn, 2021–2036</a:t>
                      </a:r>
                      <a:endParaRPr sz="1050"/>
                    </a:p>
                  </a:txBody>
                  <a:tcPr marL="9525" marR="9525" marT="9525" marB="0" anchor="ctr"/>
                </a:tc>
              </a:tr>
              <a:tr h="169826">
                <a:tc>
                  <a:txBody>
                    <a:bodyPr wrap="square"/>
                    <a:lstStyle/>
                    <a:p>
                      <a:pPr algn="l"/>
                      <a:r>
                        <a:rPr sz="1050" b="0" i="0">
                          <a:solidFill>
                            <a:srgbClr val="000000"/>
                          </a:solidFill>
                          <a:latin typeface="Calibri"/>
                        </a:rPr>
                        <a:t>Figure 29: North America Market Value by Application, US$ Mn, 2021–2036</a:t>
                      </a:r>
                      <a:endParaRPr sz="1050"/>
                    </a:p>
                  </a:txBody>
                  <a:tcPr marL="9525" marR="9525" marT="9525" marB="0" anchor="ctr"/>
                </a:tc>
              </a:tr>
              <a:tr h="169826">
                <a:tc>
                  <a:txBody>
                    <a:bodyPr wrap="square"/>
                    <a:lstStyle/>
                    <a:p>
                      <a:pPr algn="l"/>
                      <a:r>
                        <a:rPr sz="1050" b="0" i="0">
                          <a:solidFill>
                            <a:srgbClr val="000000"/>
                          </a:solidFill>
                          <a:latin typeface="Calibri"/>
                        </a:rPr>
                        <a:t>Figure 30: North America Market Value by Barrier Level Vs Application, US$ Mn,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0"/>
        </p:xfrm>
        <a:graphic>
          <a:graphicData uri="http://schemas.openxmlformats.org/drawingml/2006/table">
            <a:tbl>
              <a:tblPr>
                <a:tableStyleId>{3B4B98B0-60AC-42C2-AFA5-B58CD77FA1E5}</a:tableStyleId>
              </a:tblPr>
              <a:tblGrid>
                <a:gridCol w="5876925"/>
              </a:tblGrid>
              <a:tr h="170266">
                <a:tc>
                  <a:txBody>
                    <a:bodyPr wrap="square"/>
                    <a:lstStyle/>
                    <a:p>
                      <a:pPr algn="l"/>
                      <a:r>
                        <a:rPr sz="1050" b="0" i="0">
                          <a:solidFill>
                            <a:srgbClr val="000000"/>
                          </a:solidFill>
                          <a:latin typeface="Calibri"/>
                        </a:rPr>
                        <a:t>Figure 31: North America Market Share by Product Type, %, 2026 and 2036</a:t>
                      </a:r>
                      <a:endParaRPr sz="1050"/>
                    </a:p>
                  </a:txBody>
                  <a:tcPr marL="9525" marR="9525" marT="9525" marB="0" anchor="ctr"/>
                </a:tc>
              </a:tr>
              <a:tr h="170266">
                <a:tc>
                  <a:txBody>
                    <a:bodyPr wrap="square"/>
                    <a:lstStyle/>
                    <a:p>
                      <a:pPr algn="l"/>
                      <a:r>
                        <a:rPr sz="1050" b="0" i="0">
                          <a:solidFill>
                            <a:srgbClr val="000000"/>
                          </a:solidFill>
                          <a:latin typeface="Calibri"/>
                        </a:rPr>
                        <a:t>Figure 32: North America Market Share by Principal Material / Barrier Technology, %, 2026 and 2036</a:t>
                      </a:r>
                      <a:endParaRPr sz="1050"/>
                    </a:p>
                  </a:txBody>
                  <a:tcPr marL="9525" marR="9525" marT="9525" marB="0" anchor="ctr"/>
                </a:tc>
              </a:tr>
              <a:tr h="170266">
                <a:tc>
                  <a:txBody>
                    <a:bodyPr wrap="square"/>
                    <a:lstStyle/>
                    <a:p>
                      <a:pPr algn="l"/>
                      <a:r>
                        <a:rPr sz="1050" b="0" i="0">
                          <a:solidFill>
                            <a:srgbClr val="000000"/>
                          </a:solidFill>
                          <a:latin typeface="Calibri"/>
                        </a:rPr>
                        <a:t>Figure 33: North America Market Share by Material Structure, %, 2026 and 2036</a:t>
                      </a:r>
                      <a:endParaRPr sz="1050"/>
                    </a:p>
                  </a:txBody>
                  <a:tcPr marL="9525" marR="9525" marT="9525" marB="0" anchor="ctr"/>
                </a:tc>
              </a:tr>
              <a:tr h="170266">
                <a:tc>
                  <a:txBody>
                    <a:bodyPr wrap="square"/>
                    <a:lstStyle/>
                    <a:p>
                      <a:pPr algn="l"/>
                      <a:r>
                        <a:rPr sz="1050" b="0" i="0">
                          <a:solidFill>
                            <a:srgbClr val="000000"/>
                          </a:solidFill>
                          <a:latin typeface="Calibri"/>
                        </a:rPr>
                        <a:t>Figure 34: North America Market Share by Barrier Level, %, 2026 and 2036</a:t>
                      </a:r>
                      <a:endParaRPr sz="1050"/>
                    </a:p>
                  </a:txBody>
                  <a:tcPr marL="9525" marR="9525" marT="9525" marB="0" anchor="ctr"/>
                </a:tc>
              </a:tr>
              <a:tr h="170266">
                <a:tc>
                  <a:txBody>
                    <a:bodyPr wrap="square"/>
                    <a:lstStyle/>
                    <a:p>
                      <a:pPr algn="l"/>
                      <a:r>
                        <a:rPr sz="1050" b="0" i="0">
                          <a:solidFill>
                            <a:srgbClr val="000000"/>
                          </a:solidFill>
                          <a:latin typeface="Calibri"/>
                        </a:rPr>
                        <a:t>Figure 35: North America Market Share by Application, %, 2026 and 2036</a:t>
                      </a:r>
                      <a:endParaRPr sz="1050"/>
                    </a:p>
                  </a:txBody>
                  <a:tcPr marL="9525" marR="9525" marT="9525" marB="0" anchor="ctr"/>
                </a:tc>
              </a:tr>
              <a:tr h="170266">
                <a:tc>
                  <a:txBody>
                    <a:bodyPr wrap="square"/>
                    <a:lstStyle/>
                    <a:p>
                      <a:pPr algn="l"/>
                      <a:r>
                        <a:rPr sz="1050" b="0" i="0">
                          <a:solidFill>
                            <a:srgbClr val="000000"/>
                          </a:solidFill>
                          <a:latin typeface="Calibri"/>
                        </a:rPr>
                        <a:t>Figure 36: North America Market Share by Barrier Level Vs Application, %, 2026 and 2036</a:t>
                      </a:r>
                      <a:endParaRPr sz="1050"/>
                    </a:p>
                  </a:txBody>
                  <a:tcPr marL="9525" marR="9525" marT="9525" marB="0" anchor="ctr"/>
                </a:tc>
              </a:tr>
              <a:tr h="170266">
                <a:tc>
                  <a:txBody>
                    <a:bodyPr wrap="square"/>
                    <a:lstStyle/>
                    <a:p>
                      <a:pPr algn="l"/>
                      <a:r>
                        <a:rPr sz="1050" b="0" i="0">
                          <a:solidFill>
                            <a:srgbClr val="000000"/>
                          </a:solidFill>
                          <a:latin typeface="Calibri"/>
                        </a:rPr>
                        <a:t>Figure 37: North America Market Absolute $ Opportunity by Product Type, US$ Mn, 2026–2036</a:t>
                      </a:r>
                      <a:endParaRPr sz="1050"/>
                    </a:p>
                  </a:txBody>
                  <a:tcPr marL="9525" marR="9525" marT="9525" marB="0" anchor="ctr"/>
                </a:tc>
              </a:tr>
              <a:tr h="333720">
                <a:tc>
                  <a:txBody>
                    <a:bodyPr wrap="square"/>
                    <a:lstStyle/>
                    <a:p>
                      <a:pPr algn="l"/>
                      <a:r>
                        <a:rPr sz="1050" b="0" i="0">
                          <a:solidFill>
                            <a:srgbClr val="000000"/>
                          </a:solidFill>
                          <a:latin typeface="Calibri"/>
                        </a:rPr>
                        <a:t>Figure 38: North America Market Absolute $ Opportunity by Principal Material / Barrier Technology, US$ Mn, 2026–2036</a:t>
                      </a:r>
                      <a:endParaRPr sz="1050"/>
                    </a:p>
                  </a:txBody>
                  <a:tcPr marL="9525" marR="9525" marT="9525" marB="0" anchor="ctr"/>
                </a:tc>
              </a:tr>
              <a:tr h="170266">
                <a:tc>
                  <a:txBody>
                    <a:bodyPr wrap="square"/>
                    <a:lstStyle/>
                    <a:p>
                      <a:pPr algn="l"/>
                      <a:r>
                        <a:rPr sz="1050" b="0" i="0">
                          <a:solidFill>
                            <a:srgbClr val="000000"/>
                          </a:solidFill>
                          <a:latin typeface="Calibri"/>
                        </a:rPr>
                        <a:t>Figure 39: North America Market Absolute $ Opportunity by Material Structure, US$ Mn, 2026–2036</a:t>
                      </a:r>
                      <a:endParaRPr sz="1050"/>
                    </a:p>
                  </a:txBody>
                  <a:tcPr marL="9525" marR="9525" marT="9525" marB="0" anchor="ctr"/>
                </a:tc>
              </a:tr>
              <a:tr h="170266">
                <a:tc>
                  <a:txBody>
                    <a:bodyPr wrap="square"/>
                    <a:lstStyle/>
                    <a:p>
                      <a:pPr algn="l"/>
                      <a:r>
                        <a:rPr sz="1050" b="0" i="0">
                          <a:solidFill>
                            <a:srgbClr val="000000"/>
                          </a:solidFill>
                          <a:latin typeface="Calibri"/>
                        </a:rPr>
                        <a:t>Figure 40: North America Market Absolute $ Opportunity by Barrier Level, US$ Mn, 2026–2036</a:t>
                      </a:r>
                      <a:endParaRPr sz="1050"/>
                    </a:p>
                  </a:txBody>
                  <a:tcPr marL="9525" marR="9525" marT="9525" marB="0" anchor="ctr"/>
                </a:tc>
              </a:tr>
              <a:tr h="170266">
                <a:tc>
                  <a:txBody>
                    <a:bodyPr wrap="square"/>
                    <a:lstStyle/>
                    <a:p>
                      <a:pPr algn="l"/>
                      <a:r>
                        <a:rPr sz="1050" b="0" i="0">
                          <a:solidFill>
                            <a:srgbClr val="000000"/>
                          </a:solidFill>
                          <a:latin typeface="Calibri"/>
                        </a:rPr>
                        <a:t>Figure 41: North America Market Absolute $ Opportunity by Application, US$ Mn, 2026–2036</a:t>
                      </a:r>
                      <a:endParaRPr sz="1050"/>
                    </a:p>
                  </a:txBody>
                  <a:tcPr marL="9525" marR="9525" marT="9525" marB="0" anchor="ctr"/>
                </a:tc>
              </a:tr>
              <a:tr h="333720">
                <a:tc>
                  <a:txBody>
                    <a:bodyPr wrap="square"/>
                    <a:lstStyle/>
                    <a:p>
                      <a:pPr algn="l"/>
                      <a:r>
                        <a:rPr sz="1050" b="0" i="0">
                          <a:solidFill>
                            <a:srgbClr val="000000"/>
                          </a:solidFill>
                          <a:latin typeface="Calibri"/>
                        </a:rPr>
                        <a:t>Figure 42: North America Market Absolute $ Opportunity by Barrier Level Vs Application, US$ Mn, 2026–2036</a:t>
                      </a:r>
                      <a:endParaRPr sz="1050"/>
                    </a:p>
                  </a:txBody>
                  <a:tcPr marL="9525" marR="9525" marT="9525" marB="0" anchor="ctr"/>
                </a:tc>
              </a:tr>
              <a:tr h="170266">
                <a:tc>
                  <a:txBody>
                    <a:bodyPr wrap="square"/>
                    <a:lstStyle/>
                    <a:p>
                      <a:pPr algn="l"/>
                      <a:r>
                        <a:rPr sz="1050" b="0" i="0">
                          <a:solidFill>
                            <a:srgbClr val="000000"/>
                          </a:solidFill>
                          <a:latin typeface="Calibri"/>
                        </a:rPr>
                        <a:t>Figure 43: North America Market BPS Share Change by Product Type, 2026–2036</a:t>
                      </a:r>
                      <a:endParaRPr sz="1050"/>
                    </a:p>
                  </a:txBody>
                  <a:tcPr marL="9525" marR="9525" marT="9525" marB="0" anchor="ctr"/>
                </a:tc>
              </a:tr>
              <a:tr h="333720">
                <a:tc>
                  <a:txBody>
                    <a:bodyPr wrap="square"/>
                    <a:lstStyle/>
                    <a:p>
                      <a:pPr algn="l"/>
                      <a:r>
                        <a:rPr sz="1050" b="0" i="0">
                          <a:solidFill>
                            <a:srgbClr val="000000"/>
                          </a:solidFill>
                          <a:latin typeface="Calibri"/>
                        </a:rPr>
                        <a:t>Figure 44: North America Market BPS Share Change by Principal Material / Barrier Technology, 2026–2036</a:t>
                      </a:r>
                      <a:endParaRPr sz="1050"/>
                    </a:p>
                  </a:txBody>
                  <a:tcPr marL="9525" marR="9525" marT="9525" marB="0" anchor="ctr"/>
                </a:tc>
              </a:tr>
              <a:tr h="170266">
                <a:tc>
                  <a:txBody>
                    <a:bodyPr wrap="square"/>
                    <a:lstStyle/>
                    <a:p>
                      <a:pPr algn="l"/>
                      <a:r>
                        <a:rPr sz="1050" b="0" i="0">
                          <a:solidFill>
                            <a:srgbClr val="000000"/>
                          </a:solidFill>
                          <a:latin typeface="Calibri"/>
                        </a:rPr>
                        <a:t>Figure 45: North America Market BPS Share Change by Material Structure, 2026–2036</a:t>
                      </a:r>
                      <a:endParaRPr sz="1050"/>
                    </a:p>
                  </a:txBody>
                  <a:tcPr marL="9525" marR="9525" marT="9525" marB="0" anchor="ctr"/>
                </a:tc>
              </a:tr>
              <a:tr h="170266">
                <a:tc>
                  <a:txBody>
                    <a:bodyPr wrap="square"/>
                    <a:lstStyle/>
                    <a:p>
                      <a:pPr algn="l"/>
                      <a:r>
                        <a:rPr sz="1050" b="0" i="0">
                          <a:solidFill>
                            <a:srgbClr val="000000"/>
                          </a:solidFill>
                          <a:latin typeface="Calibri"/>
                        </a:rPr>
                        <a:t>Figure 46: North America Market BPS Share Change by Barrier Level, 2026–2036</a:t>
                      </a:r>
                      <a:endParaRPr sz="1050"/>
                    </a:p>
                  </a:txBody>
                  <a:tcPr marL="9525" marR="9525" marT="9525" marB="0" anchor="ctr"/>
                </a:tc>
              </a:tr>
              <a:tr h="170266">
                <a:tc>
                  <a:txBody>
                    <a:bodyPr wrap="square"/>
                    <a:lstStyle/>
                    <a:p>
                      <a:pPr algn="l"/>
                      <a:r>
                        <a:rPr sz="1050" b="0" i="0">
                          <a:solidFill>
                            <a:srgbClr val="000000"/>
                          </a:solidFill>
                          <a:latin typeface="Calibri"/>
                        </a:rPr>
                        <a:t>Figure 47: North America Market BPS Share Change by Application, 2026–2036</a:t>
                      </a:r>
                      <a:endParaRPr sz="1050"/>
                    </a:p>
                  </a:txBody>
                  <a:tcPr marL="9525" marR="9525" marT="9525" marB="0" anchor="ctr"/>
                </a:tc>
              </a:tr>
              <a:tr h="170266">
                <a:tc>
                  <a:txBody>
                    <a:bodyPr wrap="square"/>
                    <a:lstStyle/>
                    <a:p>
                      <a:pPr algn="l"/>
                      <a:r>
                        <a:rPr sz="1050" b="0" i="0">
                          <a:solidFill>
                            <a:srgbClr val="000000"/>
                          </a:solidFill>
                          <a:latin typeface="Calibri"/>
                        </a:rPr>
                        <a:t>Figure 48: North America Market BPS Share Change by Barrier Level Vs Application, 2026–2036</a:t>
                      </a:r>
                      <a:endParaRPr sz="1050"/>
                    </a:p>
                  </a:txBody>
                  <a:tcPr marL="9525" marR="9525" marT="9525" marB="0" anchor="ctr"/>
                </a:tc>
              </a:tr>
              <a:tr h="170266">
                <a:tc>
                  <a:txBody>
                    <a:bodyPr wrap="square"/>
                    <a:lstStyle/>
                    <a:p>
                      <a:pPr algn="l"/>
                      <a:r>
                        <a:rPr sz="1050" b="0" i="0">
                          <a:solidFill>
                            <a:srgbClr val="000000"/>
                          </a:solidFill>
                          <a:latin typeface="Calibri"/>
                        </a:rPr>
                        <a:t>Figure 49: North America Market YoY Growth by Product Type, %, 2026–2036</a:t>
                      </a:r>
                      <a:endParaRPr sz="1050"/>
                    </a:p>
                  </a:txBody>
                  <a:tcPr marL="9525" marR="9525" marT="9525" marB="0" anchor="ctr"/>
                </a:tc>
              </a:tr>
              <a:tr h="170266">
                <a:tc>
                  <a:txBody>
                    <a:bodyPr wrap="square"/>
                    <a:lstStyle/>
                    <a:p>
                      <a:pPr algn="l"/>
                      <a:r>
                        <a:rPr sz="1050" b="0" i="0">
                          <a:solidFill>
                            <a:srgbClr val="000000"/>
                          </a:solidFill>
                          <a:latin typeface="Calibri"/>
                        </a:rPr>
                        <a:t>Figure 50: North America Market YoY Growth by Principal Material / Barrier Technology, %, 2026–2036</a:t>
                      </a:r>
                      <a:endParaRPr sz="1050"/>
                    </a:p>
                  </a:txBody>
                  <a:tcPr marL="9525" marR="9525" marT="9525" marB="0" anchor="ctr"/>
                </a:tc>
              </a:tr>
              <a:tr h="170266">
                <a:tc>
                  <a:txBody>
                    <a:bodyPr wrap="square"/>
                    <a:lstStyle/>
                    <a:p>
                      <a:pPr algn="l"/>
                      <a:r>
                        <a:rPr sz="1050" b="0" i="0">
                          <a:solidFill>
                            <a:srgbClr val="000000"/>
                          </a:solidFill>
                          <a:latin typeface="Calibri"/>
                        </a:rPr>
                        <a:t>Figure 51: North America Market YoY Growth by Material Structure, %, 2026–2036</a:t>
                      </a:r>
                      <a:endParaRPr sz="1050"/>
                    </a:p>
                  </a:txBody>
                  <a:tcPr marL="9525" marR="9525" marT="9525" marB="0" anchor="ctr"/>
                </a:tc>
              </a:tr>
              <a:tr h="170266">
                <a:tc>
                  <a:txBody>
                    <a:bodyPr wrap="square"/>
                    <a:lstStyle/>
                    <a:p>
                      <a:pPr algn="l"/>
                      <a:r>
                        <a:rPr sz="1050" b="0" i="0">
                          <a:solidFill>
                            <a:srgbClr val="000000"/>
                          </a:solidFill>
                          <a:latin typeface="Calibri"/>
                        </a:rPr>
                        <a:t>Figure 52: North America Market YoY Growth by Barrier Level, %, 2026–2036</a:t>
                      </a:r>
                      <a:endParaRPr sz="1050"/>
                    </a:p>
                  </a:txBody>
                  <a:tcPr marL="9525" marR="9525" marT="9525" marB="0" anchor="ctr"/>
                </a:tc>
              </a:tr>
              <a:tr h="170266">
                <a:tc>
                  <a:txBody>
                    <a:bodyPr wrap="square"/>
                    <a:lstStyle/>
                    <a:p>
                      <a:pPr algn="l"/>
                      <a:r>
                        <a:rPr sz="1050" b="0" i="0">
                          <a:solidFill>
                            <a:srgbClr val="000000"/>
                          </a:solidFill>
                          <a:latin typeface="Calibri"/>
                        </a:rPr>
                        <a:t>Figure 53: North America Market YoY Growth by Application, %, 2026–2036</a:t>
                      </a:r>
                      <a:endParaRPr sz="1050"/>
                    </a:p>
                  </a:txBody>
                  <a:tcPr marL="9525" marR="9525" marT="9525" marB="0" anchor="ctr"/>
                </a:tc>
              </a:tr>
              <a:tr h="170266">
                <a:tc>
                  <a:txBody>
                    <a:bodyPr wrap="square"/>
                    <a:lstStyle/>
                    <a:p>
                      <a:pPr algn="l"/>
                      <a:r>
                        <a:rPr sz="1050" b="0" i="0">
                          <a:solidFill>
                            <a:srgbClr val="000000"/>
                          </a:solidFill>
                          <a:latin typeface="Calibri"/>
                        </a:rPr>
                        <a:t>Figure 54: North America Market YoY Growth by Barrier Level Vs Application, %, 2026–2036</a:t>
                      </a:r>
                      <a:endParaRPr sz="1050"/>
                    </a:p>
                  </a:txBody>
                  <a:tcPr marL="9525" marR="9525" marT="9525" marB="0" anchor="ctr"/>
                </a:tc>
              </a:tr>
              <a:tr h="170266">
                <a:tc>
                  <a:txBody>
                    <a:bodyPr wrap="square"/>
                    <a:lstStyle/>
                    <a:p>
                      <a:pPr algn="l"/>
                      <a:r>
                        <a:rPr sz="1050" b="0" i="0">
                          <a:solidFill>
                            <a:srgbClr val="000000"/>
                          </a:solidFill>
                          <a:latin typeface="Calibri"/>
                        </a:rPr>
                        <a:t>Figure 55: North America Market Attractiveness by Product Type, 2026–2036</a:t>
                      </a:r>
                      <a:endParaRPr sz="1050"/>
                    </a:p>
                  </a:txBody>
                  <a:tcPr marL="9525" marR="9525" marT="9525" marB="0" anchor="ctr"/>
                </a:tc>
              </a:tr>
              <a:tr h="170266">
                <a:tc>
                  <a:txBody>
                    <a:bodyPr wrap="square"/>
                    <a:lstStyle/>
                    <a:p>
                      <a:pPr algn="l"/>
                      <a:r>
                        <a:rPr sz="1050" b="0" i="0">
                          <a:solidFill>
                            <a:srgbClr val="000000"/>
                          </a:solidFill>
                          <a:latin typeface="Calibri"/>
                        </a:rPr>
                        <a:t>Figure 56: North America Market Attractiveness by Principal Material / Barrier Technology, 2026–2036</a:t>
                      </a:r>
                      <a:endParaRPr sz="1050"/>
                    </a:p>
                  </a:txBody>
                  <a:tcPr marL="9525" marR="9525" marT="9525" marB="0" anchor="ctr"/>
                </a:tc>
              </a:tr>
              <a:tr h="170266">
                <a:tc>
                  <a:txBody>
                    <a:bodyPr wrap="square"/>
                    <a:lstStyle/>
                    <a:p>
                      <a:pPr algn="l"/>
                      <a:r>
                        <a:rPr sz="1050" b="0" i="0">
                          <a:solidFill>
                            <a:srgbClr val="000000"/>
                          </a:solidFill>
                          <a:latin typeface="Calibri"/>
                        </a:rPr>
                        <a:t>Figure 57: North America Market Attractiveness by Material Structure, 2026–2036</a:t>
                      </a:r>
                      <a:endParaRPr sz="1050"/>
                    </a:p>
                  </a:txBody>
                  <a:tcPr marL="9525" marR="9525" marT="9525" marB="0" anchor="ctr"/>
                </a:tc>
              </a:tr>
              <a:tr h="170266">
                <a:tc>
                  <a:txBody>
                    <a:bodyPr wrap="square"/>
                    <a:lstStyle/>
                    <a:p>
                      <a:pPr algn="l"/>
                      <a:r>
                        <a:rPr sz="1050" b="0" i="0">
                          <a:solidFill>
                            <a:srgbClr val="000000"/>
                          </a:solidFill>
                          <a:latin typeface="Calibri"/>
                        </a:rPr>
                        <a:t>Figure 58: North America Market Attractiveness by Barrier Level,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804"/>
        </p:xfrm>
        <a:graphic>
          <a:graphicData uri="http://schemas.openxmlformats.org/drawingml/2006/table">
            <a:tbl>
              <a:tblPr>
                <a:tableStyleId>{3B4B98B0-60AC-42C2-AFA5-B58CD77FA1E5}</a:tableStyleId>
              </a:tblPr>
              <a:tblGrid>
                <a:gridCol w="5876925"/>
              </a:tblGrid>
              <a:tr h="171824">
                <a:tc>
                  <a:txBody>
                    <a:bodyPr wrap="square"/>
                    <a:lstStyle/>
                    <a:p>
                      <a:pPr algn="l"/>
                      <a:r>
                        <a:rPr sz="1050" b="0" i="0">
                          <a:solidFill>
                            <a:srgbClr val="000000"/>
                          </a:solidFill>
                          <a:latin typeface="Calibri"/>
                        </a:rPr>
                        <a:t>Figure 59: North America Market Attractiveness by Application, 2026–2036</a:t>
                      </a:r>
                      <a:endParaRPr sz="1050"/>
                    </a:p>
                  </a:txBody>
                  <a:tcPr marL="9525" marR="9525" marT="9525" marB="0" anchor="ctr"/>
                </a:tc>
              </a:tr>
              <a:tr h="171824">
                <a:tc>
                  <a:txBody>
                    <a:bodyPr wrap="square"/>
                    <a:lstStyle/>
                    <a:p>
                      <a:pPr algn="l"/>
                      <a:r>
                        <a:rPr sz="1050" b="0" i="0">
                          <a:solidFill>
                            <a:srgbClr val="000000"/>
                          </a:solidFill>
                          <a:latin typeface="Calibri"/>
                        </a:rPr>
                        <a:t>Figure 60: North America Market Attractiveness by Barrier Level Vs Application, 2026–2036</a:t>
                      </a:r>
                      <a:endParaRPr sz="1050"/>
                    </a:p>
                  </a:txBody>
                  <a:tcPr marL="9525" marR="9525" marT="9525" marB="0" anchor="ctr"/>
                </a:tc>
              </a:tr>
              <a:tr h="171824">
                <a:tc>
                  <a:txBody>
                    <a:bodyPr wrap="square"/>
                    <a:lstStyle/>
                    <a:p>
                      <a:pPr algn="l"/>
                      <a:r>
                        <a:rPr sz="1050" b="0" i="0">
                          <a:solidFill>
                            <a:srgbClr val="000000"/>
                          </a:solidFill>
                          <a:latin typeface="Calibri"/>
                        </a:rPr>
                        <a:t>Figure 61: North America Market Volume by Product Type, Thousand MT, 2021–2036</a:t>
                      </a:r>
                      <a:endParaRPr sz="1050"/>
                    </a:p>
                  </a:txBody>
                  <a:tcPr marL="9525" marR="9525" marT="9525" marB="0" anchor="ctr"/>
                </a:tc>
              </a:tr>
              <a:tr h="336774">
                <a:tc>
                  <a:txBody>
                    <a:bodyPr wrap="square"/>
                    <a:lstStyle/>
                    <a:p>
                      <a:pPr algn="l"/>
                      <a:r>
                        <a:rPr sz="1050" b="0" i="0">
                          <a:solidFill>
                            <a:srgbClr val="000000"/>
                          </a:solidFill>
                          <a:latin typeface="Calibri"/>
                        </a:rPr>
                        <a:t>Figure 62: North America Market Volume by Principal Material / Barrier Technology, Thousand MT, 2021–2036</a:t>
                      </a:r>
                      <a:endParaRPr sz="1050"/>
                    </a:p>
                  </a:txBody>
                  <a:tcPr marL="9525" marR="9525" marT="9525" marB="0" anchor="ctr"/>
                </a:tc>
              </a:tr>
              <a:tr h="171824">
                <a:tc>
                  <a:txBody>
                    <a:bodyPr wrap="square"/>
                    <a:lstStyle/>
                    <a:p>
                      <a:pPr algn="l"/>
                      <a:r>
                        <a:rPr sz="1050" b="0" i="0">
                          <a:solidFill>
                            <a:srgbClr val="000000"/>
                          </a:solidFill>
                          <a:latin typeface="Calibri"/>
                        </a:rPr>
                        <a:t>Figure 63: North America Market Volume by Material Structure, Thousand MT, 2021–2036</a:t>
                      </a:r>
                      <a:endParaRPr sz="1050"/>
                    </a:p>
                  </a:txBody>
                  <a:tcPr marL="9525" marR="9525" marT="9525" marB="0" anchor="ctr"/>
                </a:tc>
              </a:tr>
              <a:tr h="171824">
                <a:tc>
                  <a:txBody>
                    <a:bodyPr wrap="square"/>
                    <a:lstStyle/>
                    <a:p>
                      <a:pPr algn="l"/>
                      <a:r>
                        <a:rPr sz="1050" b="0" i="0">
                          <a:solidFill>
                            <a:srgbClr val="000000"/>
                          </a:solidFill>
                          <a:latin typeface="Calibri"/>
                        </a:rPr>
                        <a:t>Figure 64: North America Market Volume by Barrier Level, Thousand MT, 2021–2036</a:t>
                      </a:r>
                      <a:endParaRPr sz="1050"/>
                    </a:p>
                  </a:txBody>
                  <a:tcPr marL="9525" marR="9525" marT="9525" marB="0" anchor="ctr"/>
                </a:tc>
              </a:tr>
              <a:tr h="171824">
                <a:tc>
                  <a:txBody>
                    <a:bodyPr wrap="square"/>
                    <a:lstStyle/>
                    <a:p>
                      <a:pPr algn="l"/>
                      <a:r>
                        <a:rPr sz="1050" b="0" i="0">
                          <a:solidFill>
                            <a:srgbClr val="000000"/>
                          </a:solidFill>
                          <a:latin typeface="Calibri"/>
                        </a:rPr>
                        <a:t>Figure 65: North America Market Volume by Application, Thousand MT, 2021–2036</a:t>
                      </a:r>
                      <a:endParaRPr sz="1050"/>
                    </a:p>
                  </a:txBody>
                  <a:tcPr marL="9525" marR="9525" marT="9525" marB="0" anchor="ctr"/>
                </a:tc>
              </a:tr>
              <a:tr h="171824">
                <a:tc>
                  <a:txBody>
                    <a:bodyPr wrap="square"/>
                    <a:lstStyle/>
                    <a:p>
                      <a:pPr algn="l"/>
                      <a:r>
                        <a:rPr sz="1050" b="0" i="0">
                          <a:solidFill>
                            <a:srgbClr val="000000"/>
                          </a:solidFill>
                          <a:latin typeface="Calibri"/>
                        </a:rPr>
                        <a:t>Figure 66: North America Market Volume by Barrier Level Vs Application, Thousand MT, 2021–2036</a:t>
                      </a:r>
                      <a:endParaRPr sz="1050"/>
                    </a:p>
                  </a:txBody>
                  <a:tcPr marL="9525" marR="9525" marT="9525" marB="0" anchor="ctr"/>
                </a:tc>
              </a:tr>
              <a:tr h="171824">
                <a:tc>
                  <a:txBody>
                    <a:bodyPr wrap="square"/>
                    <a:lstStyle/>
                    <a:p>
                      <a:pPr algn="l"/>
                      <a:r>
                        <a:rPr sz="1050" b="0" i="0">
                          <a:solidFill>
                            <a:srgbClr val="000000"/>
                          </a:solidFill>
                          <a:latin typeface="Calibri"/>
                        </a:rPr>
                        <a:t>Figure 67: North America Market Average Selling Price by Product Type, US$/MT, 2021–2036</a:t>
                      </a:r>
                      <a:endParaRPr sz="1050"/>
                    </a:p>
                  </a:txBody>
                  <a:tcPr marL="9525" marR="9525" marT="9525" marB="0" anchor="ctr"/>
                </a:tc>
              </a:tr>
              <a:tr h="336774">
                <a:tc>
                  <a:txBody>
                    <a:bodyPr wrap="square"/>
                    <a:lstStyle/>
                    <a:p>
                      <a:pPr algn="l"/>
                      <a:r>
                        <a:rPr sz="1050" b="0" i="0">
                          <a:solidFill>
                            <a:srgbClr val="000000"/>
                          </a:solidFill>
                          <a:latin typeface="Calibri"/>
                        </a:rPr>
                        <a:t>Figure 68: North America Market Average Selling Price by Principal Material / Barrier Technology, US$/MT, 2021–2036</a:t>
                      </a:r>
                      <a:endParaRPr sz="1050"/>
                    </a:p>
                  </a:txBody>
                  <a:tcPr marL="9525" marR="9525" marT="9525" marB="0" anchor="ctr"/>
                </a:tc>
              </a:tr>
              <a:tr h="171824">
                <a:tc>
                  <a:txBody>
                    <a:bodyPr wrap="square"/>
                    <a:lstStyle/>
                    <a:p>
                      <a:pPr algn="l"/>
                      <a:r>
                        <a:rPr sz="1050" b="0" i="0">
                          <a:solidFill>
                            <a:srgbClr val="000000"/>
                          </a:solidFill>
                          <a:latin typeface="Calibri"/>
                        </a:rPr>
                        <a:t>Figure 69: North America Market Average Selling Price by Material Structure, US$/MT, 2021–2036</a:t>
                      </a:r>
                      <a:endParaRPr sz="1050"/>
                    </a:p>
                  </a:txBody>
                  <a:tcPr marL="9525" marR="9525" marT="9525" marB="0" anchor="ctr"/>
                </a:tc>
              </a:tr>
              <a:tr h="171824">
                <a:tc>
                  <a:txBody>
                    <a:bodyPr wrap="square"/>
                    <a:lstStyle/>
                    <a:p>
                      <a:pPr algn="l"/>
                      <a:r>
                        <a:rPr sz="1050" b="0" i="0">
                          <a:solidFill>
                            <a:srgbClr val="000000"/>
                          </a:solidFill>
                          <a:latin typeface="Calibri"/>
                        </a:rPr>
                        <a:t>Figure 70: North America Market Average Selling Price by Barrier Level, US$/MT, 2021–2036</a:t>
                      </a:r>
                      <a:endParaRPr sz="1050"/>
                    </a:p>
                  </a:txBody>
                  <a:tcPr marL="9525" marR="9525" marT="9525" marB="0" anchor="ctr"/>
                </a:tc>
              </a:tr>
              <a:tr h="171824">
                <a:tc>
                  <a:txBody>
                    <a:bodyPr wrap="square"/>
                    <a:lstStyle/>
                    <a:p>
                      <a:pPr algn="l"/>
                      <a:r>
                        <a:rPr sz="1050" b="0" i="0">
                          <a:solidFill>
                            <a:srgbClr val="000000"/>
                          </a:solidFill>
                          <a:latin typeface="Calibri"/>
                        </a:rPr>
                        <a:t>Figure 71: North America Market Average Selling Price by Application, US$/MT, 2021–2036</a:t>
                      </a:r>
                      <a:endParaRPr sz="1050"/>
                    </a:p>
                  </a:txBody>
                  <a:tcPr marL="9525" marR="9525" marT="9525" marB="0" anchor="ctr"/>
                </a:tc>
              </a:tr>
              <a:tr h="336774">
                <a:tc>
                  <a:txBody>
                    <a:bodyPr wrap="square"/>
                    <a:lstStyle/>
                    <a:p>
                      <a:pPr algn="l"/>
                      <a:r>
                        <a:rPr sz="1050" b="0" i="0">
                          <a:solidFill>
                            <a:srgbClr val="000000"/>
                          </a:solidFill>
                          <a:latin typeface="Calibri"/>
                        </a:rPr>
                        <a:t>Figure 72: North America Market Average Selling Price by Barrier Level Vs Application, US$/MT, 2021–2036</a:t>
                      </a:r>
                      <a:endParaRPr sz="1050"/>
                    </a:p>
                  </a:txBody>
                  <a:tcPr marL="9525" marR="9525" marT="9525" marB="0" anchor="ctr"/>
                </a:tc>
              </a:tr>
              <a:tr h="336774">
                <a:tc>
                  <a:txBody>
                    <a:bodyPr wrap="square"/>
                    <a:lstStyle/>
                    <a:p>
                      <a:pPr algn="l"/>
                      <a:r>
                        <a:rPr sz="1050" b="0" i="0">
                          <a:solidFill>
                            <a:srgbClr val="000000"/>
                          </a:solidFill>
                          <a:latin typeface="Calibri"/>
                        </a:rPr>
                        <a:t>Figure 73: North America Market Value and YoY Growth, Rollstock Films (Product Type), US$ Mn and %, 2021–2036</a:t>
                      </a:r>
                      <a:endParaRPr sz="1050"/>
                    </a:p>
                  </a:txBody>
                  <a:tcPr marL="9525" marR="9525" marT="9525" marB="0" anchor="ctr"/>
                </a:tc>
              </a:tr>
              <a:tr h="336774">
                <a:tc>
                  <a:txBody>
                    <a:bodyPr wrap="square"/>
                    <a:lstStyle/>
                    <a:p>
                      <a:pPr algn="l"/>
                      <a:r>
                        <a:rPr sz="1050" b="0" i="0">
                          <a:solidFill>
                            <a:srgbClr val="000000"/>
                          </a:solidFill>
                          <a:latin typeface="Calibri"/>
                        </a:rPr>
                        <a:t>Figure 74: North America Market Value and YoY Growth, PE-Based (Principal Material / Barrier Technology), US$ Mn and %, 2021–2036</a:t>
                      </a:r>
                      <a:endParaRPr sz="1050"/>
                    </a:p>
                  </a:txBody>
                  <a:tcPr marL="9525" marR="9525" marT="9525" marB="0" anchor="ctr"/>
                </a:tc>
              </a:tr>
              <a:tr h="336774">
                <a:tc>
                  <a:txBody>
                    <a:bodyPr wrap="square"/>
                    <a:lstStyle/>
                    <a:p>
                      <a:pPr algn="l"/>
                      <a:r>
                        <a:rPr sz="1050" b="0" i="0">
                          <a:solidFill>
                            <a:srgbClr val="000000"/>
                          </a:solidFill>
                          <a:latin typeface="Calibri"/>
                        </a:rPr>
                        <a:t>Figure 75: North America Market Value and YoY Growth, Monolayer Films (Material Structure), US$ Mn and %, 2021–2036</a:t>
                      </a:r>
                      <a:endParaRPr sz="1050"/>
                    </a:p>
                  </a:txBody>
                  <a:tcPr marL="9525" marR="9525" marT="9525" marB="0" anchor="ctr"/>
                </a:tc>
              </a:tr>
              <a:tr h="336774">
                <a:tc>
                  <a:txBody>
                    <a:bodyPr wrap="square"/>
                    <a:lstStyle/>
                    <a:p>
                      <a:pPr algn="l"/>
                      <a:r>
                        <a:rPr sz="1050" b="0" i="0">
                          <a:solidFill>
                            <a:srgbClr val="000000"/>
                          </a:solidFill>
                          <a:latin typeface="Calibri"/>
                        </a:rPr>
                        <a:t>Figure 76: North America Market Value and YoY Growth, Low-Barrier Films (Barrier Level), US$ Mn and %, 2021–2036</a:t>
                      </a:r>
                      <a:endParaRPr sz="1050"/>
                    </a:p>
                  </a:txBody>
                  <a:tcPr marL="9525" marR="9525" marT="9525" marB="0" anchor="ctr"/>
                </a:tc>
              </a:tr>
              <a:tr h="336774">
                <a:tc>
                  <a:txBody>
                    <a:bodyPr wrap="square"/>
                    <a:lstStyle/>
                    <a:p>
                      <a:pPr algn="l"/>
                      <a:r>
                        <a:rPr sz="1050" b="0" i="0">
                          <a:solidFill>
                            <a:srgbClr val="000000"/>
                          </a:solidFill>
                          <a:latin typeface="Calibri"/>
                        </a:rPr>
                        <a:t>Figure 77: North America Market Value and YoY Growth, Food Packaging (Application), US$ Mn and %, 2021–2036</a:t>
                      </a:r>
                      <a:endParaRPr sz="1050"/>
                    </a:p>
                  </a:txBody>
                  <a:tcPr marL="9525" marR="9525" marT="9525" marB="0" anchor="ctr"/>
                </a:tc>
              </a:tr>
              <a:tr h="336774">
                <a:tc>
                  <a:txBody>
                    <a:bodyPr wrap="square"/>
                    <a:lstStyle/>
                    <a:p>
                      <a:pPr algn="l"/>
                      <a:r>
                        <a:rPr sz="1050" b="0" i="0">
                          <a:solidFill>
                            <a:srgbClr val="000000"/>
                          </a:solidFill>
                          <a:latin typeface="Calibri"/>
                        </a:rPr>
                        <a:t>Figure 78: North America Market Value and YoY Growth, Low-Barrier Films (Barrier Level Vs Application), US$ Mn and %, 2021–2036</a:t>
                      </a:r>
                      <a:endParaRPr sz="1050"/>
                    </a:p>
                  </a:txBody>
                  <a:tcPr marL="9525" marR="9525" marT="9525" marB="0" anchor="ctr"/>
                </a:tc>
              </a:tr>
              <a:tr h="336774">
                <a:tc>
                  <a:txBody>
                    <a:bodyPr wrap="square"/>
                    <a:lstStyle/>
                    <a:p>
                      <a:pPr algn="l"/>
                      <a:r>
                        <a:rPr sz="1050" b="0" i="0">
                          <a:solidFill>
                            <a:srgbClr val="000000"/>
                          </a:solidFill>
                          <a:latin typeface="Calibri"/>
                        </a:rPr>
                        <a:t>Figure 79: North America Market Value and YoY Growth, Barrier Casings (Product Type), US$ Mn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2"/>
        </p:xfrm>
        <a:graphic>
          <a:graphicData uri="http://schemas.openxmlformats.org/drawingml/2006/table">
            <a:tbl>
              <a:tblPr>
                <a:tableStyleId>{3B4B98B0-60AC-42C2-AFA5-B58CD77FA1E5}</a:tableStyleId>
              </a:tblPr>
              <a:tblGrid>
                <a:gridCol w="5876925"/>
              </a:tblGrid>
              <a:tr h="328194">
                <a:tc>
                  <a:txBody>
                    <a:bodyPr wrap="square"/>
                    <a:lstStyle/>
                    <a:p>
                      <a:pPr algn="l"/>
                      <a:r>
                        <a:rPr sz="1050" b="0" i="0">
                          <a:solidFill>
                            <a:srgbClr val="000000"/>
                          </a:solidFill>
                          <a:latin typeface="Calibri"/>
                        </a:rPr>
                        <a:t>Figure 80: North America Market Value and YoY Growth, PP-Based (Principal Material / Barrier Technology), US$ Mn and %, 2021–2036</a:t>
                      </a:r>
                      <a:endParaRPr sz="1050"/>
                    </a:p>
                  </a:txBody>
                  <a:tcPr marL="9525" marR="9525" marT="9525" marB="0" anchor="ctr"/>
                </a:tc>
              </a:tr>
              <a:tr h="328194">
                <a:tc>
                  <a:txBody>
                    <a:bodyPr wrap="square"/>
                    <a:lstStyle/>
                    <a:p>
                      <a:pPr algn="l"/>
                      <a:r>
                        <a:rPr sz="1050" b="0" i="0">
                          <a:solidFill>
                            <a:srgbClr val="000000"/>
                          </a:solidFill>
                          <a:latin typeface="Calibri"/>
                        </a:rPr>
                        <a:t>Figure 81: North America Market Value and YoY Growth, Coextruded Multilayer Films (Material Structure), US$ Mn and %, 2021–2036</a:t>
                      </a:r>
                      <a:endParaRPr sz="1050"/>
                    </a:p>
                  </a:txBody>
                  <a:tcPr marL="9525" marR="9525" marT="9525" marB="0" anchor="ctr"/>
                </a:tc>
              </a:tr>
              <a:tr h="328194">
                <a:tc>
                  <a:txBody>
                    <a:bodyPr wrap="square"/>
                    <a:lstStyle/>
                    <a:p>
                      <a:pPr algn="l"/>
                      <a:r>
                        <a:rPr sz="1050" b="0" i="0">
                          <a:solidFill>
                            <a:srgbClr val="000000"/>
                          </a:solidFill>
                          <a:latin typeface="Calibri"/>
                        </a:rPr>
                        <a:t>Figure 82: North America Market Value and YoY Growth, Medium-Barrier Films (Barrier Level), US$ Mn and %, 2021–2036</a:t>
                      </a:r>
                      <a:endParaRPr sz="1050"/>
                    </a:p>
                  </a:txBody>
                  <a:tcPr marL="9525" marR="9525" marT="9525" marB="0" anchor="ctr"/>
                </a:tc>
              </a:tr>
              <a:tr h="328194">
                <a:tc>
                  <a:txBody>
                    <a:bodyPr wrap="square"/>
                    <a:lstStyle/>
                    <a:p>
                      <a:pPr algn="l"/>
                      <a:r>
                        <a:rPr sz="1050" b="0" i="0">
                          <a:solidFill>
                            <a:srgbClr val="000000"/>
                          </a:solidFill>
                          <a:latin typeface="Calibri"/>
                        </a:rPr>
                        <a:t>Figure 83: North America Market Value and YoY Growth, Non-Food Packaging (Application), US$ Mn and %, 2021–2036</a:t>
                      </a:r>
                      <a:endParaRPr sz="1050"/>
                    </a:p>
                  </a:txBody>
                  <a:tcPr marL="9525" marR="9525" marT="9525" marB="0" anchor="ctr"/>
                </a:tc>
              </a:tr>
              <a:tr h="328194">
                <a:tc>
                  <a:txBody>
                    <a:bodyPr wrap="square"/>
                    <a:lstStyle/>
                    <a:p>
                      <a:pPr algn="l"/>
                      <a:r>
                        <a:rPr sz="1050" b="0" i="0">
                          <a:solidFill>
                            <a:srgbClr val="000000"/>
                          </a:solidFill>
                          <a:latin typeface="Calibri"/>
                        </a:rPr>
                        <a:t>Figure 84: North America Market Value and YoY Growth, Medium-Barrier Films (Barrier Level Vs Application), US$ Mn and %, 2021–2036</a:t>
                      </a:r>
                      <a:endParaRPr sz="1050"/>
                    </a:p>
                  </a:txBody>
                  <a:tcPr marL="9525" marR="9525" marT="9525" marB="0" anchor="ctr"/>
                </a:tc>
              </a:tr>
              <a:tr h="328194">
                <a:tc>
                  <a:txBody>
                    <a:bodyPr wrap="square"/>
                    <a:lstStyle/>
                    <a:p>
                      <a:pPr algn="l"/>
                      <a:r>
                        <a:rPr sz="1050" b="0" i="0">
                          <a:solidFill>
                            <a:srgbClr val="000000"/>
                          </a:solidFill>
                          <a:latin typeface="Calibri"/>
                        </a:rPr>
                        <a:t>Figure 85: North America Market Value and YoY Growth, Premade Pouches &amp; Bags (Product Type), US$ Mn and %, 2021–2036</a:t>
                      </a:r>
                      <a:endParaRPr sz="1050"/>
                    </a:p>
                  </a:txBody>
                  <a:tcPr marL="9525" marR="9525" marT="9525" marB="0" anchor="ctr"/>
                </a:tc>
              </a:tr>
              <a:tr h="328194">
                <a:tc>
                  <a:txBody>
                    <a:bodyPr wrap="square"/>
                    <a:lstStyle/>
                    <a:p>
                      <a:pPr algn="l"/>
                      <a:r>
                        <a:rPr sz="1050" b="0" i="0">
                          <a:solidFill>
                            <a:srgbClr val="000000"/>
                          </a:solidFill>
                          <a:latin typeface="Calibri"/>
                        </a:rPr>
                        <a:t>Figure 86: North America Market Value and YoY Growth, PET-Based (Principal Material / Barrier Technology), US$ Mn and %, 2021–2036</a:t>
                      </a:r>
                      <a:endParaRPr sz="1050"/>
                    </a:p>
                  </a:txBody>
                  <a:tcPr marL="9525" marR="9525" marT="9525" marB="0" anchor="ctr"/>
                </a:tc>
              </a:tr>
              <a:tr h="328194">
                <a:tc>
                  <a:txBody>
                    <a:bodyPr wrap="square"/>
                    <a:lstStyle/>
                    <a:p>
                      <a:pPr algn="l"/>
                      <a:r>
                        <a:rPr sz="1050" b="0" i="0">
                          <a:solidFill>
                            <a:srgbClr val="000000"/>
                          </a:solidFill>
                          <a:latin typeface="Calibri"/>
                        </a:rPr>
                        <a:t>Figure 87: North America Market Value and YoY Growth, Laminated Films (Material Structure), US$ Mn and %, 2021–2036</a:t>
                      </a:r>
                      <a:endParaRPr sz="1050"/>
                    </a:p>
                  </a:txBody>
                  <a:tcPr marL="9525" marR="9525" marT="9525" marB="0" anchor="ctr"/>
                </a:tc>
              </a:tr>
              <a:tr h="328194">
                <a:tc>
                  <a:txBody>
                    <a:bodyPr wrap="square"/>
                    <a:lstStyle/>
                    <a:p>
                      <a:pPr algn="l"/>
                      <a:r>
                        <a:rPr sz="1050" b="0" i="0">
                          <a:solidFill>
                            <a:srgbClr val="000000"/>
                          </a:solidFill>
                          <a:latin typeface="Calibri"/>
                        </a:rPr>
                        <a:t>Figure 88: North America Market Value and YoY Growth, High-Barrier Films (Barrier Level), US$ Mn and %, 2021–2036</a:t>
                      </a:r>
                      <a:endParaRPr sz="1050"/>
                    </a:p>
                  </a:txBody>
                  <a:tcPr marL="9525" marR="9525" marT="9525" marB="0" anchor="ctr"/>
                </a:tc>
              </a:tr>
              <a:tr h="167446">
                <a:tc>
                  <a:txBody>
                    <a:bodyPr wrap="square"/>
                    <a:lstStyle/>
                    <a:p>
                      <a:pPr algn="l"/>
                      <a:r>
                        <a:rPr sz="1050" b="0" i="0">
                          <a:solidFill>
                            <a:srgbClr val="000000"/>
                          </a:solidFill>
                          <a:latin typeface="Calibri"/>
                        </a:rPr>
                        <a:t>Figure 89: North America Market Value by Application by Scenario, US$ Mn, 2036</a:t>
                      </a:r>
                      <a:endParaRPr sz="1050"/>
                    </a:p>
                  </a:txBody>
                  <a:tcPr marL="9525" marR="9525" marT="9525" marB="0" anchor="ctr"/>
                </a:tc>
              </a:tr>
              <a:tr h="328194">
                <a:tc>
                  <a:txBody>
                    <a:bodyPr wrap="square"/>
                    <a:lstStyle/>
                    <a:p>
                      <a:pPr algn="l"/>
                      <a:r>
                        <a:rPr sz="1050" b="0" i="0">
                          <a:solidFill>
                            <a:srgbClr val="000000"/>
                          </a:solidFill>
                          <a:latin typeface="Calibri"/>
                        </a:rPr>
                        <a:t>Figure 90: North America Market Value and YoY Growth, High-Barrier Films (Barrier Level Vs Application), US$ Mn and %, 2021–2036</a:t>
                      </a:r>
                      <a:endParaRPr sz="1050"/>
                    </a:p>
                  </a:txBody>
                  <a:tcPr marL="9525" marR="9525" marT="9525" marB="0" anchor="ctr"/>
                </a:tc>
              </a:tr>
              <a:tr h="328194">
                <a:tc>
                  <a:txBody>
                    <a:bodyPr wrap="square"/>
                    <a:lstStyle/>
                    <a:p>
                      <a:pPr algn="l"/>
                      <a:r>
                        <a:rPr sz="1050" b="0" i="0">
                          <a:solidFill>
                            <a:srgbClr val="000000"/>
                          </a:solidFill>
                          <a:latin typeface="Calibri"/>
                        </a:rPr>
                        <a:t>Figure 91: North America Market Value and YoY Growth, Sachets &amp; Stick Packs (Product Type), US$ Mn and %, 2021–2036</a:t>
                      </a:r>
                      <a:endParaRPr sz="1050"/>
                    </a:p>
                  </a:txBody>
                  <a:tcPr marL="9525" marR="9525" marT="9525" marB="0" anchor="ctr"/>
                </a:tc>
              </a:tr>
              <a:tr h="328194">
                <a:tc>
                  <a:txBody>
                    <a:bodyPr wrap="square"/>
                    <a:lstStyle/>
                    <a:p>
                      <a:pPr algn="l"/>
                      <a:r>
                        <a:rPr sz="1050" b="0" i="0">
                          <a:solidFill>
                            <a:srgbClr val="000000"/>
                          </a:solidFill>
                          <a:latin typeface="Calibri"/>
                        </a:rPr>
                        <a:t>Figure 92: North America Market Value and YoY Growth, PA-Based (Principal Material / Barrier Technology), US$ Mn and %, 2021–2036</a:t>
                      </a:r>
                      <a:endParaRPr sz="1050"/>
                    </a:p>
                  </a:txBody>
                  <a:tcPr marL="9525" marR="9525" marT="9525" marB="0" anchor="ctr"/>
                </a:tc>
              </a:tr>
              <a:tr h="328194">
                <a:tc>
                  <a:txBody>
                    <a:bodyPr wrap="square"/>
                    <a:lstStyle/>
                    <a:p>
                      <a:pPr algn="l"/>
                      <a:r>
                        <a:rPr sz="1050" b="0" i="0">
                          <a:solidFill>
                            <a:srgbClr val="000000"/>
                          </a:solidFill>
                          <a:latin typeface="Calibri"/>
                        </a:rPr>
                        <a:t>Figure 93: North America Market Value and YoY Growth, Coated Films (Material Structure), US$ Mn and %, 2021–2036</a:t>
                      </a:r>
                      <a:endParaRPr sz="1050"/>
                    </a:p>
                  </a:txBody>
                  <a:tcPr marL="9525" marR="9525" marT="9525" marB="0" anchor="ctr"/>
                </a:tc>
              </a:tr>
              <a:tr h="328194">
                <a:tc>
                  <a:txBody>
                    <a:bodyPr wrap="square"/>
                    <a:lstStyle/>
                    <a:p>
                      <a:pPr algn="l"/>
                      <a:r>
                        <a:rPr sz="1050" b="0" i="0">
                          <a:solidFill>
                            <a:srgbClr val="000000"/>
                          </a:solidFill>
                          <a:latin typeface="Calibri"/>
                        </a:rPr>
                        <a:t>Figure 94: North America Market Value and YoY Growth, Ultra-High-Barrier Films (Barrier Level), US$ Mn and %, 2021–2036</a:t>
                      </a:r>
                      <a:endParaRPr sz="1050"/>
                    </a:p>
                  </a:txBody>
                  <a:tcPr marL="9525" marR="9525" marT="9525" marB="0" anchor="ctr"/>
                </a:tc>
              </a:tr>
              <a:tr h="328194">
                <a:tc>
                  <a:txBody>
                    <a:bodyPr wrap="square"/>
                    <a:lstStyle/>
                    <a:p>
                      <a:pPr algn="l"/>
                      <a:r>
                        <a:rPr sz="1050" b="0" i="0">
                          <a:solidFill>
                            <a:srgbClr val="000000"/>
                          </a:solidFill>
                          <a:latin typeface="Calibri"/>
                        </a:rPr>
                        <a:t>Figure 95: North America Market Value and YoY Growth, Ultra-High-Barrier Films (Barrier Level Vs Application), US$ Mn and %, 2021–2036</a:t>
                      </a:r>
                      <a:endParaRPr sz="1050"/>
                    </a:p>
                  </a:txBody>
                  <a:tcPr marL="9525" marR="9525" marT="9525" marB="0" anchor="ctr"/>
                </a:tc>
              </a:tr>
              <a:tr h="167446">
                <a:tc>
                  <a:txBody>
                    <a:bodyPr wrap="square"/>
                    <a:lstStyle/>
                    <a:p>
                      <a:pPr algn="l"/>
                      <a:r>
                        <a:rPr sz="1050" b="0" i="0">
                          <a:solidFill>
                            <a:srgbClr val="000000"/>
                          </a:solidFill>
                          <a:latin typeface="Calibri"/>
                        </a:rPr>
                        <a:t>Figure 96: North America Market Value by Product Type by Scenario, US$ Mn, 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798"/>
        </p:xfrm>
        <a:graphic>
          <a:graphicData uri="http://schemas.openxmlformats.org/drawingml/2006/table">
            <a:tbl>
              <a:tblPr>
                <a:tableStyleId>{3B4B98B0-60AC-42C2-AFA5-B58CD77FA1E5}</a:tableStyleId>
              </a:tblPr>
              <a:tblGrid>
                <a:gridCol w="5876925"/>
              </a:tblGrid>
              <a:tr h="346746">
                <a:tc>
                  <a:txBody>
                    <a:bodyPr wrap="square"/>
                    <a:lstStyle/>
                    <a:p>
                      <a:pPr algn="l"/>
                      <a:r>
                        <a:rPr sz="1050" b="0" i="0">
                          <a:solidFill>
                            <a:srgbClr val="000000"/>
                          </a:solidFill>
                          <a:latin typeface="Calibri"/>
                        </a:rPr>
                        <a:t>Figure 97: North America Market Value and YoY Growth, EVOH-Based (Principal Material / Barrier Technology), US$ Mn and %, 2021–2036</a:t>
                      </a:r>
                      <a:endParaRPr sz="1050"/>
                    </a:p>
                  </a:txBody>
                  <a:tcPr marL="9525" marR="9525" marT="9525" marB="0" anchor="ctr"/>
                </a:tc>
              </a:tr>
              <a:tr h="176911">
                <a:tc>
                  <a:txBody>
                    <a:bodyPr wrap="square"/>
                    <a:lstStyle/>
                    <a:p>
                      <a:pPr algn="l"/>
                      <a:r>
                        <a:rPr sz="1050" b="0" i="0">
                          <a:solidFill>
                            <a:srgbClr val="000000"/>
                          </a:solidFill>
                          <a:latin typeface="Calibri"/>
                        </a:rPr>
                        <a:t>Figure 98: Product Type × Principal Material / Barrier Technology Opportunity Matrix, 2026–2036</a:t>
                      </a:r>
                      <a:endParaRPr sz="1050"/>
                    </a:p>
                  </a:txBody>
                  <a:tcPr marL="9525" marR="9525" marT="9525" marB="0" anchor="ctr"/>
                </a:tc>
              </a:tr>
              <a:tr h="176911">
                <a:tc>
                  <a:txBody>
                    <a:bodyPr wrap="square"/>
                    <a:lstStyle/>
                    <a:p>
                      <a:pPr algn="l"/>
                      <a:r>
                        <a:rPr sz="1050" b="0" i="0">
                          <a:solidFill>
                            <a:srgbClr val="000000"/>
                          </a:solidFill>
                          <a:latin typeface="Calibri"/>
                        </a:rPr>
                        <a:t>Figure 99: Product Type × Material Structure Opportunity Matrix, 2026–2036</a:t>
                      </a:r>
                      <a:endParaRPr sz="1050"/>
                    </a:p>
                  </a:txBody>
                  <a:tcPr marL="9525" marR="9525" marT="9525" marB="0" anchor="ctr"/>
                </a:tc>
              </a:tr>
              <a:tr h="176911">
                <a:tc>
                  <a:txBody>
                    <a:bodyPr wrap="square"/>
                    <a:lstStyle/>
                    <a:p>
                      <a:pPr algn="l"/>
                      <a:r>
                        <a:rPr sz="1050" b="0" i="0">
                          <a:solidFill>
                            <a:srgbClr val="000000"/>
                          </a:solidFill>
                          <a:latin typeface="Calibri"/>
                        </a:rPr>
                        <a:t>Figure 100: Product Type × Barrier Level Opportunity Matrix, 2026–2036</a:t>
                      </a:r>
                      <a:endParaRPr sz="1050"/>
                    </a:p>
                  </a:txBody>
                  <a:tcPr marL="9525" marR="9525" marT="9525" marB="0" anchor="ctr"/>
                </a:tc>
              </a:tr>
              <a:tr h="176911">
                <a:tc>
                  <a:txBody>
                    <a:bodyPr wrap="square"/>
                    <a:lstStyle/>
                    <a:p>
                      <a:pPr algn="l"/>
                      <a:r>
                        <a:rPr sz="1050" b="0" i="0">
                          <a:solidFill>
                            <a:srgbClr val="000000"/>
                          </a:solidFill>
                          <a:latin typeface="Calibri"/>
                        </a:rPr>
                        <a:t>Figure 101: Product Type × Application Opportunity Matrix, 2026–2036</a:t>
                      </a:r>
                      <a:endParaRPr sz="1050"/>
                    </a:p>
                  </a:txBody>
                  <a:tcPr marL="9525" marR="9525" marT="9525" marB="0" anchor="ctr"/>
                </a:tc>
              </a:tr>
              <a:tr h="176911">
                <a:tc>
                  <a:txBody>
                    <a:bodyPr wrap="square"/>
                    <a:lstStyle/>
                    <a:p>
                      <a:pPr algn="l"/>
                      <a:r>
                        <a:rPr sz="1050" b="0" i="0">
                          <a:solidFill>
                            <a:srgbClr val="000000"/>
                          </a:solidFill>
                          <a:latin typeface="Calibri"/>
                        </a:rPr>
                        <a:t>Figure 102: Product Type × Barrier Level Vs Application Opportunity Matrix, 2026–2036</a:t>
                      </a:r>
                      <a:endParaRPr sz="1050"/>
                    </a:p>
                  </a:txBody>
                  <a:tcPr marL="9525" marR="9525" marT="9525" marB="0" anchor="ctr"/>
                </a:tc>
              </a:tr>
              <a:tr h="346746">
                <a:tc>
                  <a:txBody>
                    <a:bodyPr wrap="square"/>
                    <a:lstStyle/>
                    <a:p>
                      <a:pPr algn="l"/>
                      <a:r>
                        <a:rPr sz="1050" b="0" i="0">
                          <a:solidFill>
                            <a:srgbClr val="000000"/>
                          </a:solidFill>
                          <a:latin typeface="Calibri"/>
                        </a:rPr>
                        <a:t>Figure 103: Principal Material / Barrier Technology × Material Structure Opportunity Matrix, 2026–2036</a:t>
                      </a:r>
                      <a:endParaRPr sz="1050"/>
                    </a:p>
                  </a:txBody>
                  <a:tcPr marL="9525" marR="9525" marT="9525" marB="0" anchor="ctr"/>
                </a:tc>
              </a:tr>
              <a:tr h="176911">
                <a:tc>
                  <a:txBody>
                    <a:bodyPr wrap="square"/>
                    <a:lstStyle/>
                    <a:p>
                      <a:pPr algn="l"/>
                      <a:r>
                        <a:rPr sz="1050" b="0" i="0">
                          <a:solidFill>
                            <a:srgbClr val="000000"/>
                          </a:solidFill>
                          <a:latin typeface="Calibri"/>
                        </a:rPr>
                        <a:t>Figure 104: Principal Material / Barrier Technology × Barrier Level Opportunity Matrix, 2026–2036</a:t>
                      </a:r>
                      <a:endParaRPr sz="1050"/>
                    </a:p>
                  </a:txBody>
                  <a:tcPr marL="9525" marR="9525" marT="9525" marB="0" anchor="ctr"/>
                </a:tc>
              </a:tr>
              <a:tr h="176911">
                <a:tc>
                  <a:txBody>
                    <a:bodyPr wrap="square"/>
                    <a:lstStyle/>
                    <a:p>
                      <a:pPr algn="l"/>
                      <a:r>
                        <a:rPr sz="1050" b="0" i="0">
                          <a:solidFill>
                            <a:srgbClr val="000000"/>
                          </a:solidFill>
                          <a:latin typeface="Calibri"/>
                        </a:rPr>
                        <a:t>Figure 105: Principal Material / Barrier Technology × Application Opportunity Matrix, 2026–2036</a:t>
                      </a:r>
                      <a:endParaRPr sz="1050"/>
                    </a:p>
                  </a:txBody>
                  <a:tcPr marL="9525" marR="9525" marT="9525" marB="0" anchor="ctr"/>
                </a:tc>
              </a:tr>
              <a:tr h="346746">
                <a:tc>
                  <a:txBody>
                    <a:bodyPr wrap="square"/>
                    <a:lstStyle/>
                    <a:p>
                      <a:pPr algn="l"/>
                      <a:r>
                        <a:rPr sz="1050" b="0" i="0">
                          <a:solidFill>
                            <a:srgbClr val="000000"/>
                          </a:solidFill>
                          <a:latin typeface="Calibri"/>
                        </a:rPr>
                        <a:t>Figure 106: Principal Material / Barrier Technology × Barrier Level Vs Application Opportunity Matrix, 2026–2036</a:t>
                      </a:r>
                      <a:endParaRPr sz="1050"/>
                    </a:p>
                  </a:txBody>
                  <a:tcPr marL="9525" marR="9525" marT="9525" marB="0" anchor="ctr"/>
                </a:tc>
              </a:tr>
              <a:tr h="176911">
                <a:tc>
                  <a:txBody>
                    <a:bodyPr wrap="square"/>
                    <a:lstStyle/>
                    <a:p>
                      <a:pPr algn="l"/>
                      <a:r>
                        <a:rPr sz="1050" b="0" i="0">
                          <a:solidFill>
                            <a:srgbClr val="000000"/>
                          </a:solidFill>
                          <a:latin typeface="Calibri"/>
                        </a:rPr>
                        <a:t>Figure 107: Material Structure × Barrier Level Opportunity Matrix, 2026–2036</a:t>
                      </a:r>
                      <a:endParaRPr sz="1050"/>
                    </a:p>
                  </a:txBody>
                  <a:tcPr marL="9525" marR="9525" marT="9525" marB="0" anchor="ctr"/>
                </a:tc>
              </a:tr>
              <a:tr h="176911">
                <a:tc>
                  <a:txBody>
                    <a:bodyPr wrap="square"/>
                    <a:lstStyle/>
                    <a:p>
                      <a:pPr algn="l"/>
                      <a:r>
                        <a:rPr sz="1050" b="0" i="0">
                          <a:solidFill>
                            <a:srgbClr val="000000"/>
                          </a:solidFill>
                          <a:latin typeface="Calibri"/>
                        </a:rPr>
                        <a:t>Figure 108: Material Structure × Application Opportunity Matrix, 2026–2036</a:t>
                      </a:r>
                      <a:endParaRPr sz="1050"/>
                    </a:p>
                  </a:txBody>
                  <a:tcPr marL="9525" marR="9525" marT="9525" marB="0" anchor="ctr"/>
                </a:tc>
              </a:tr>
              <a:tr h="176911">
                <a:tc>
                  <a:txBody>
                    <a:bodyPr wrap="square"/>
                    <a:lstStyle/>
                    <a:p>
                      <a:pPr algn="l"/>
                      <a:r>
                        <a:rPr sz="1050" b="0" i="0">
                          <a:solidFill>
                            <a:srgbClr val="000000"/>
                          </a:solidFill>
                          <a:latin typeface="Calibri"/>
                        </a:rPr>
                        <a:t>Figure 109: Material Structure × Barrier Level Vs Application Opportunity Matrix, 2026–2036</a:t>
                      </a:r>
                      <a:endParaRPr sz="1050"/>
                    </a:p>
                  </a:txBody>
                  <a:tcPr marL="9525" marR="9525" marT="9525" marB="0" anchor="ctr"/>
                </a:tc>
              </a:tr>
              <a:tr h="176911">
                <a:tc>
                  <a:txBody>
                    <a:bodyPr wrap="square"/>
                    <a:lstStyle/>
                    <a:p>
                      <a:pPr algn="l"/>
                      <a:r>
                        <a:rPr sz="1050" b="0" i="0">
                          <a:solidFill>
                            <a:srgbClr val="000000"/>
                          </a:solidFill>
                          <a:latin typeface="Calibri"/>
                        </a:rPr>
                        <a:t>Figure 110: Barrier Level × Application Opportunity Matrix, 2026–2036</a:t>
                      </a:r>
                      <a:endParaRPr sz="1050"/>
                    </a:p>
                  </a:txBody>
                  <a:tcPr marL="9525" marR="9525" marT="9525" marB="0" anchor="ctr"/>
                </a:tc>
              </a:tr>
              <a:tr h="176911">
                <a:tc>
                  <a:txBody>
                    <a:bodyPr wrap="square"/>
                    <a:lstStyle/>
                    <a:p>
                      <a:pPr algn="l"/>
                      <a:r>
                        <a:rPr sz="1050" b="0" i="0">
                          <a:solidFill>
                            <a:srgbClr val="000000"/>
                          </a:solidFill>
                          <a:latin typeface="Calibri"/>
                        </a:rPr>
                        <a:t>Figure 111: Barrier Level × Barrier Level Vs Application Opportunity Matrix, 2026–2036</a:t>
                      </a:r>
                      <a:endParaRPr sz="1050"/>
                    </a:p>
                  </a:txBody>
                  <a:tcPr marL="9525" marR="9525" marT="9525" marB="0" anchor="ctr"/>
                </a:tc>
              </a:tr>
              <a:tr h="176911">
                <a:tc>
                  <a:txBody>
                    <a:bodyPr wrap="square"/>
                    <a:lstStyle/>
                    <a:p>
                      <a:pPr algn="l"/>
                      <a:r>
                        <a:rPr sz="1050" b="0" i="0">
                          <a:solidFill>
                            <a:srgbClr val="000000"/>
                          </a:solidFill>
                          <a:latin typeface="Calibri"/>
                        </a:rPr>
                        <a:t>Figure 112: Application × Barrier Level Vs Application Opportunity Matrix, 2026–2036</a:t>
                      </a:r>
                      <a:endParaRPr sz="1050"/>
                    </a:p>
                  </a:txBody>
                  <a:tcPr marL="9525" marR="9525" marT="9525" marB="0" anchor="ctr"/>
                </a:tc>
              </a:tr>
              <a:tr h="346746">
                <a:tc>
                  <a:txBody>
                    <a:bodyPr wrap="square"/>
                    <a:lstStyle/>
                    <a:p>
                      <a:pPr algn="l"/>
                      <a:r>
                        <a:rPr sz="1050" b="0" i="0">
                          <a:solidFill>
                            <a:srgbClr val="000000"/>
                          </a:solidFill>
                          <a:latin typeface="Calibri"/>
                        </a:rPr>
                        <a:t>Figure 113: North America Market Value by Product Type and Principal Material / Barrier Technology, US$ Mn, 2036</a:t>
                      </a:r>
                      <a:endParaRPr sz="1050"/>
                    </a:p>
                  </a:txBody>
                  <a:tcPr marL="9525" marR="9525" marT="9525" marB="0" anchor="ctr"/>
                </a:tc>
              </a:tr>
              <a:tr h="176911">
                <a:tc>
                  <a:txBody>
                    <a:bodyPr wrap="square"/>
                    <a:lstStyle/>
                    <a:p>
                      <a:pPr algn="l"/>
                      <a:r>
                        <a:rPr sz="1050" b="0" i="0">
                          <a:solidFill>
                            <a:srgbClr val="000000"/>
                          </a:solidFill>
                          <a:latin typeface="Calibri"/>
                        </a:rPr>
                        <a:t>Figure 114: North America Market Value by Product Type and Material Structure, US$ Mn, 2036</a:t>
                      </a:r>
                      <a:endParaRPr sz="1050"/>
                    </a:p>
                  </a:txBody>
                  <a:tcPr marL="9525" marR="9525" marT="9525" marB="0" anchor="ctr"/>
                </a:tc>
              </a:tr>
              <a:tr h="176911">
                <a:tc>
                  <a:txBody>
                    <a:bodyPr wrap="square"/>
                    <a:lstStyle/>
                    <a:p>
                      <a:pPr algn="l"/>
                      <a:r>
                        <a:rPr sz="1050" b="0" i="0">
                          <a:solidFill>
                            <a:srgbClr val="000000"/>
                          </a:solidFill>
                          <a:latin typeface="Calibri"/>
                        </a:rPr>
                        <a:t>Figure 115: North America Market Value by Product Type and Barrier Level, US$ Mn, 2036</a:t>
                      </a:r>
                      <a:endParaRPr sz="1050"/>
                    </a:p>
                  </a:txBody>
                  <a:tcPr marL="9525" marR="9525" marT="9525" marB="0" anchor="ctr"/>
                </a:tc>
              </a:tr>
              <a:tr h="176911">
                <a:tc>
                  <a:txBody>
                    <a:bodyPr wrap="square"/>
                    <a:lstStyle/>
                    <a:p>
                      <a:pPr algn="l"/>
                      <a:r>
                        <a:rPr sz="1050" b="0" i="0">
                          <a:solidFill>
                            <a:srgbClr val="000000"/>
                          </a:solidFill>
                          <a:latin typeface="Calibri"/>
                        </a:rPr>
                        <a:t>Figure 116: North America Market Value by Product Type and Application, US$ Mn, 2036</a:t>
                      </a:r>
                      <a:endParaRPr sz="1050"/>
                    </a:p>
                  </a:txBody>
                  <a:tcPr marL="9525" marR="9525" marT="9525" marB="0" anchor="ctr"/>
                </a:tc>
              </a:tr>
              <a:tr h="346746">
                <a:tc>
                  <a:txBody>
                    <a:bodyPr wrap="square"/>
                    <a:lstStyle/>
                    <a:p>
                      <a:pPr algn="l"/>
                      <a:r>
                        <a:rPr sz="1050" b="0" i="0">
                          <a:solidFill>
                            <a:srgbClr val="000000"/>
                          </a:solidFill>
                          <a:latin typeface="Calibri"/>
                        </a:rPr>
                        <a:t>Figure 117: North America Market Value by Product Type and Barrier Level Vs Application, US$ Mn, 2036</a:t>
                      </a:r>
                      <a:endParaRPr sz="1050"/>
                    </a:p>
                  </a:txBody>
                  <a:tcPr marL="9525" marR="9525" marT="9525" marB="0" anchor="ctr"/>
                </a:tc>
              </a:tr>
              <a:tr h="346746">
                <a:tc>
                  <a:txBody>
                    <a:bodyPr wrap="square"/>
                    <a:lstStyle/>
                    <a:p>
                      <a:pPr algn="l"/>
                      <a:r>
                        <a:rPr sz="1050" b="0" i="0">
                          <a:solidFill>
                            <a:srgbClr val="000000"/>
                          </a:solidFill>
                          <a:latin typeface="Calibri"/>
                        </a:rPr>
                        <a:t>Figure 118: North America Market Value by Principal Material / Barrier Technology and Material Structure, US$ Mn, 2036</a:t>
                      </a:r>
                      <a:endParaRPr sz="1050"/>
                    </a:p>
                  </a:txBody>
                  <a:tcPr marL="9525" marR="9525" marT="9525" marB="0" anchor="ctr"/>
                </a:tc>
              </a:tr>
              <a:tr h="346746">
                <a:tc>
                  <a:txBody>
                    <a:bodyPr wrap="square"/>
                    <a:lstStyle/>
                    <a:p>
                      <a:pPr algn="l"/>
                      <a:r>
                        <a:rPr sz="1050" b="0" i="0">
                          <a:solidFill>
                            <a:srgbClr val="000000"/>
                          </a:solidFill>
                          <a:latin typeface="Calibri"/>
                        </a:rPr>
                        <a:t>Figure 119: North America Market Value by Principal Material / Barrier Technology and Barrier Level, US$ Mn,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0"/>
        </p:xfrm>
        <a:graphic>
          <a:graphicData uri="http://schemas.openxmlformats.org/drawingml/2006/table">
            <a:tbl>
              <a:tblPr>
                <a:tableStyleId>{3B4B98B0-60AC-42C2-AFA5-B58CD77FA1E5}</a:tableStyleId>
              </a:tblPr>
              <a:tblGrid>
                <a:gridCol w="5876925"/>
              </a:tblGrid>
              <a:tr h="333720">
                <a:tc>
                  <a:txBody>
                    <a:bodyPr wrap="square"/>
                    <a:lstStyle/>
                    <a:p>
                      <a:pPr algn="l"/>
                      <a:r>
                        <a:rPr sz="1050" b="0" i="0">
                          <a:solidFill>
                            <a:srgbClr val="000000"/>
                          </a:solidFill>
                          <a:latin typeface="Calibri"/>
                        </a:rPr>
                        <a:t>Figure 120: North America Market Value by Principal Material / Barrier Technology and Application, US$ Mn, 2036</a:t>
                      </a:r>
                      <a:endParaRPr sz="1050"/>
                    </a:p>
                  </a:txBody>
                  <a:tcPr marL="9525" marR="9525" marT="9525" marB="0" anchor="ctr"/>
                </a:tc>
              </a:tr>
              <a:tr h="333720">
                <a:tc>
                  <a:txBody>
                    <a:bodyPr wrap="square"/>
                    <a:lstStyle/>
                    <a:p>
                      <a:pPr algn="l"/>
                      <a:r>
                        <a:rPr sz="1050" b="0" i="0">
                          <a:solidFill>
                            <a:srgbClr val="000000"/>
                          </a:solidFill>
                          <a:latin typeface="Calibri"/>
                        </a:rPr>
                        <a:t>Figure 121: North America Market Value by Principal Material / Barrier Technology and Barrier Level Vs Application, US$ Mn, 2036</a:t>
                      </a:r>
                      <a:endParaRPr sz="1050"/>
                    </a:p>
                  </a:txBody>
                  <a:tcPr marL="9525" marR="9525" marT="9525" marB="0" anchor="ctr"/>
                </a:tc>
              </a:tr>
              <a:tr h="170266">
                <a:tc>
                  <a:txBody>
                    <a:bodyPr wrap="square"/>
                    <a:lstStyle/>
                    <a:p>
                      <a:pPr algn="l"/>
                      <a:r>
                        <a:rPr sz="1050" b="0" i="0">
                          <a:solidFill>
                            <a:srgbClr val="000000"/>
                          </a:solidFill>
                          <a:latin typeface="Calibri"/>
                        </a:rPr>
                        <a:t>Figure 122: North America Market Value by Material Structure and Barrier Level, US$ Mn, 2036</a:t>
                      </a:r>
                      <a:endParaRPr sz="1050"/>
                    </a:p>
                  </a:txBody>
                  <a:tcPr marL="9525" marR="9525" marT="9525" marB="0" anchor="ctr"/>
                </a:tc>
              </a:tr>
              <a:tr h="170266">
                <a:tc>
                  <a:txBody>
                    <a:bodyPr wrap="square"/>
                    <a:lstStyle/>
                    <a:p>
                      <a:pPr algn="l"/>
                      <a:r>
                        <a:rPr sz="1050" b="0" i="0">
                          <a:solidFill>
                            <a:srgbClr val="000000"/>
                          </a:solidFill>
                          <a:latin typeface="Calibri"/>
                        </a:rPr>
                        <a:t>Figure 123: North America Market Value by Material Structure and Application, US$ Mn, 2036</a:t>
                      </a:r>
                      <a:endParaRPr sz="1050"/>
                    </a:p>
                  </a:txBody>
                  <a:tcPr marL="9525" marR="9525" marT="9525" marB="0" anchor="ctr"/>
                </a:tc>
              </a:tr>
              <a:tr h="333720">
                <a:tc>
                  <a:txBody>
                    <a:bodyPr wrap="square"/>
                    <a:lstStyle/>
                    <a:p>
                      <a:pPr algn="l"/>
                      <a:r>
                        <a:rPr sz="1050" b="0" i="0">
                          <a:solidFill>
                            <a:srgbClr val="000000"/>
                          </a:solidFill>
                          <a:latin typeface="Calibri"/>
                        </a:rPr>
                        <a:t>Figure 124: North America Market Value by Material Structure and Barrier Level Vs Application, US$ Mn, 2036</a:t>
                      </a:r>
                      <a:endParaRPr sz="1050"/>
                    </a:p>
                  </a:txBody>
                  <a:tcPr marL="9525" marR="9525" marT="9525" marB="0" anchor="ctr"/>
                </a:tc>
              </a:tr>
              <a:tr h="170266">
                <a:tc>
                  <a:txBody>
                    <a:bodyPr wrap="square"/>
                    <a:lstStyle/>
                    <a:p>
                      <a:pPr algn="l"/>
                      <a:r>
                        <a:rPr sz="1050" b="0" i="0">
                          <a:solidFill>
                            <a:srgbClr val="000000"/>
                          </a:solidFill>
                          <a:latin typeface="Calibri"/>
                        </a:rPr>
                        <a:t>Figure 125: North America Market Value by Barrier Level and Application, US$ Mn, 2036</a:t>
                      </a:r>
                      <a:endParaRPr sz="1050"/>
                    </a:p>
                  </a:txBody>
                  <a:tcPr marL="9525" marR="9525" marT="9525" marB="0" anchor="ctr"/>
                </a:tc>
              </a:tr>
              <a:tr h="170266">
                <a:tc>
                  <a:txBody>
                    <a:bodyPr wrap="square"/>
                    <a:lstStyle/>
                    <a:p>
                      <a:pPr algn="l"/>
                      <a:r>
                        <a:rPr sz="1050" b="0" i="0">
                          <a:solidFill>
                            <a:srgbClr val="000000"/>
                          </a:solidFill>
                          <a:latin typeface="Calibri"/>
                        </a:rPr>
                        <a:t>Figure 126: U.S. Market Value and YoY Growth, US$ Mn and %, 2021–2036</a:t>
                      </a:r>
                      <a:endParaRPr sz="1050"/>
                    </a:p>
                  </a:txBody>
                  <a:tcPr marL="9525" marR="9525" marT="9525" marB="0" anchor="ctr"/>
                </a:tc>
              </a:tr>
              <a:tr h="170266">
                <a:tc>
                  <a:txBody>
                    <a:bodyPr wrap="square"/>
                    <a:lstStyle/>
                    <a:p>
                      <a:pPr algn="l"/>
                      <a:r>
                        <a:rPr sz="1050" b="0" i="0">
                          <a:solidFill>
                            <a:srgbClr val="000000"/>
                          </a:solidFill>
                          <a:latin typeface="Calibri"/>
                        </a:rPr>
                        <a:t>Figure 127: U.S. Market Value by Product Type, US$ Mn, 2026 and 2036</a:t>
                      </a:r>
                      <a:endParaRPr sz="1050"/>
                    </a:p>
                  </a:txBody>
                  <a:tcPr marL="9525" marR="9525" marT="9525" marB="0" anchor="ctr"/>
                </a:tc>
              </a:tr>
              <a:tr h="170266">
                <a:tc>
                  <a:txBody>
                    <a:bodyPr wrap="square"/>
                    <a:lstStyle/>
                    <a:p>
                      <a:pPr algn="l"/>
                      <a:r>
                        <a:rPr sz="1050" b="0" i="0">
                          <a:solidFill>
                            <a:srgbClr val="000000"/>
                          </a:solidFill>
                          <a:latin typeface="Calibri"/>
                        </a:rPr>
                        <a:t>Figure 128: U.S. Market Value by Application, US$ Mn, 2026 and 2036</a:t>
                      </a:r>
                      <a:endParaRPr sz="1050"/>
                    </a:p>
                  </a:txBody>
                  <a:tcPr marL="9525" marR="9525" marT="9525" marB="0" anchor="ctr"/>
                </a:tc>
              </a:tr>
              <a:tr h="170266">
                <a:tc>
                  <a:txBody>
                    <a:bodyPr wrap="square"/>
                    <a:lstStyle/>
                    <a:p>
                      <a:pPr algn="l"/>
                      <a:r>
                        <a:rPr sz="1050" b="0" i="0">
                          <a:solidFill>
                            <a:srgbClr val="000000"/>
                          </a:solidFill>
                          <a:latin typeface="Calibri"/>
                        </a:rPr>
                        <a:t>Figure 129: U.S. Market Share within North America, %, 2026 and 2036</a:t>
                      </a:r>
                      <a:endParaRPr sz="1050"/>
                    </a:p>
                  </a:txBody>
                  <a:tcPr marL="9525" marR="9525" marT="9525" marB="0" anchor="ctr"/>
                </a:tc>
              </a:tr>
              <a:tr h="170266">
                <a:tc>
                  <a:txBody>
                    <a:bodyPr wrap="square"/>
                    <a:lstStyle/>
                    <a:p>
                      <a:pPr algn="l"/>
                      <a:r>
                        <a:rPr sz="1050" b="0" i="0">
                          <a:solidFill>
                            <a:srgbClr val="000000"/>
                          </a:solidFill>
                          <a:latin typeface="Calibri"/>
                        </a:rPr>
                        <a:t>Figure 130: U.S. Market Value by Principal Material / Barrier Technology, US$ Mn, 2026 and 2036</a:t>
                      </a:r>
                      <a:endParaRPr sz="1050"/>
                    </a:p>
                  </a:txBody>
                  <a:tcPr marL="9525" marR="9525" marT="9525" marB="0" anchor="ctr"/>
                </a:tc>
              </a:tr>
              <a:tr h="170266">
                <a:tc>
                  <a:txBody>
                    <a:bodyPr wrap="square"/>
                    <a:lstStyle/>
                    <a:p>
                      <a:pPr algn="l"/>
                      <a:r>
                        <a:rPr sz="1050" b="0" i="0">
                          <a:solidFill>
                            <a:srgbClr val="000000"/>
                          </a:solidFill>
                          <a:latin typeface="Calibri"/>
                        </a:rPr>
                        <a:t>Figure 131: U.S. Market Value by Material Structure, US$ Mn, 2026 and 2036</a:t>
                      </a:r>
                      <a:endParaRPr sz="1050"/>
                    </a:p>
                  </a:txBody>
                  <a:tcPr marL="9525" marR="9525" marT="9525" marB="0" anchor="ctr"/>
                </a:tc>
              </a:tr>
              <a:tr h="170266">
                <a:tc>
                  <a:txBody>
                    <a:bodyPr wrap="square"/>
                    <a:lstStyle/>
                    <a:p>
                      <a:pPr algn="l"/>
                      <a:r>
                        <a:rPr sz="1050" b="0" i="0">
                          <a:solidFill>
                            <a:srgbClr val="000000"/>
                          </a:solidFill>
                          <a:latin typeface="Calibri"/>
                        </a:rPr>
                        <a:t>Figure 132: U.S. Market Value by Barrier Level, US$ Mn, 2026 and 2036</a:t>
                      </a:r>
                      <a:endParaRPr sz="1050"/>
                    </a:p>
                  </a:txBody>
                  <a:tcPr marL="9525" marR="9525" marT="9525" marB="0" anchor="ctr"/>
                </a:tc>
              </a:tr>
              <a:tr h="170266">
                <a:tc>
                  <a:txBody>
                    <a:bodyPr wrap="square"/>
                    <a:lstStyle/>
                    <a:p>
                      <a:pPr algn="l"/>
                      <a:r>
                        <a:rPr sz="1050" b="0" i="0">
                          <a:solidFill>
                            <a:srgbClr val="000000"/>
                          </a:solidFill>
                          <a:latin typeface="Calibri"/>
                        </a:rPr>
                        <a:t>Figure 133: U.S. Market Value by Barrier Level Vs Application, US$ Mn, 2026 and 2036</a:t>
                      </a:r>
                      <a:endParaRPr sz="1050"/>
                    </a:p>
                  </a:txBody>
                  <a:tcPr marL="9525" marR="9525" marT="9525" marB="0" anchor="ctr"/>
                </a:tc>
              </a:tr>
              <a:tr h="170266">
                <a:tc>
                  <a:txBody>
                    <a:bodyPr wrap="square"/>
                    <a:lstStyle/>
                    <a:p>
                      <a:pPr algn="l"/>
                      <a:r>
                        <a:rPr sz="1050" b="0" i="0">
                          <a:solidFill>
                            <a:srgbClr val="000000"/>
                          </a:solidFill>
                          <a:latin typeface="Calibri"/>
                        </a:rPr>
                        <a:t>Figure 134: U.S. Market Volume and YoY Growth, Thousand MT and %, 2021–2036</a:t>
                      </a:r>
                      <a:endParaRPr sz="1050"/>
                    </a:p>
                  </a:txBody>
                  <a:tcPr marL="9525" marR="9525" marT="9525" marB="0" anchor="ctr"/>
                </a:tc>
              </a:tr>
              <a:tr h="170266">
                <a:tc>
                  <a:txBody>
                    <a:bodyPr wrap="square"/>
                    <a:lstStyle/>
                    <a:p>
                      <a:pPr algn="l"/>
                      <a:r>
                        <a:rPr sz="1050" b="0" i="0">
                          <a:solidFill>
                            <a:srgbClr val="000000"/>
                          </a:solidFill>
                          <a:latin typeface="Calibri"/>
                        </a:rPr>
                        <a:t>Figure 135: U.S. Market Average Selling Price, US$/MT, 2021–2036</a:t>
                      </a:r>
                      <a:endParaRPr sz="1050"/>
                    </a:p>
                  </a:txBody>
                  <a:tcPr marL="9525" marR="9525" marT="9525" marB="0" anchor="ctr"/>
                </a:tc>
              </a:tr>
              <a:tr h="170266">
                <a:tc>
                  <a:txBody>
                    <a:bodyPr wrap="square"/>
                    <a:lstStyle/>
                    <a:p>
                      <a:pPr algn="l"/>
                      <a:r>
                        <a:rPr sz="1050" b="0" i="0">
                          <a:solidFill>
                            <a:srgbClr val="000000"/>
                          </a:solidFill>
                          <a:latin typeface="Calibri"/>
                        </a:rPr>
                        <a:t>Figure 136: U.S. Market Leading Suppliers Share, %, 2026</a:t>
                      </a:r>
                      <a:endParaRPr sz="1050"/>
                    </a:p>
                  </a:txBody>
                  <a:tcPr marL="9525" marR="9525" marT="9525" marB="0" anchor="ctr"/>
                </a:tc>
              </a:tr>
              <a:tr h="170266">
                <a:tc>
                  <a:txBody>
                    <a:bodyPr wrap="square"/>
                    <a:lstStyle/>
                    <a:p>
                      <a:pPr algn="l"/>
                      <a:r>
                        <a:rPr sz="1050" b="0" i="0">
                          <a:solidFill>
                            <a:srgbClr val="000000"/>
                          </a:solidFill>
                          <a:latin typeface="Calibri"/>
                        </a:rPr>
                        <a:t>Figure 137: U.S. Market Demand Outlook, US$ Mn, 2026–2036</a:t>
                      </a:r>
                      <a:endParaRPr sz="1050"/>
                    </a:p>
                  </a:txBody>
                  <a:tcPr marL="9525" marR="9525" marT="9525" marB="0" anchor="ctr"/>
                </a:tc>
              </a:tr>
              <a:tr h="170266">
                <a:tc>
                  <a:txBody>
                    <a:bodyPr wrap="square"/>
                    <a:lstStyle/>
                    <a:p>
                      <a:pPr algn="l"/>
                      <a:r>
                        <a:rPr sz="1050" b="0" i="0">
                          <a:solidFill>
                            <a:srgbClr val="000000"/>
                          </a:solidFill>
                          <a:latin typeface="Calibri"/>
                        </a:rPr>
                        <a:t>Figure 138: Canada Market Value and YoY Growth, US$ Mn and %, 2021–2036</a:t>
                      </a:r>
                      <a:endParaRPr sz="1050"/>
                    </a:p>
                  </a:txBody>
                  <a:tcPr marL="9525" marR="9525" marT="9525" marB="0" anchor="ctr"/>
                </a:tc>
              </a:tr>
              <a:tr h="170266">
                <a:tc>
                  <a:txBody>
                    <a:bodyPr wrap="square"/>
                    <a:lstStyle/>
                    <a:p>
                      <a:pPr algn="l"/>
                      <a:r>
                        <a:rPr sz="1050" b="0" i="0">
                          <a:solidFill>
                            <a:srgbClr val="000000"/>
                          </a:solidFill>
                          <a:latin typeface="Calibri"/>
                        </a:rPr>
                        <a:t>Figure 139: Canada Market Value by Product Type, US$ Mn, 2026 and 2036</a:t>
                      </a:r>
                      <a:endParaRPr sz="1050"/>
                    </a:p>
                  </a:txBody>
                  <a:tcPr marL="9525" marR="9525" marT="9525" marB="0" anchor="ctr"/>
                </a:tc>
              </a:tr>
              <a:tr h="170266">
                <a:tc>
                  <a:txBody>
                    <a:bodyPr wrap="square"/>
                    <a:lstStyle/>
                    <a:p>
                      <a:pPr algn="l"/>
                      <a:r>
                        <a:rPr sz="1050" b="0" i="0">
                          <a:solidFill>
                            <a:srgbClr val="000000"/>
                          </a:solidFill>
                          <a:latin typeface="Calibri"/>
                        </a:rPr>
                        <a:t>Figure 140: Canada Market Value by Application, US$ Mn, 2026 and 2036</a:t>
                      </a:r>
                      <a:endParaRPr sz="1050"/>
                    </a:p>
                  </a:txBody>
                  <a:tcPr marL="9525" marR="9525" marT="9525" marB="0" anchor="ctr"/>
                </a:tc>
              </a:tr>
              <a:tr h="170266">
                <a:tc>
                  <a:txBody>
                    <a:bodyPr wrap="square"/>
                    <a:lstStyle/>
                    <a:p>
                      <a:pPr algn="l"/>
                      <a:r>
                        <a:rPr sz="1050" b="0" i="0">
                          <a:solidFill>
                            <a:srgbClr val="000000"/>
                          </a:solidFill>
                          <a:latin typeface="Calibri"/>
                        </a:rPr>
                        <a:t>Figure 141: Canada Market Share within North America, %, 2026 and 2036</a:t>
                      </a:r>
                      <a:endParaRPr sz="1050"/>
                    </a:p>
                  </a:txBody>
                  <a:tcPr marL="9525" marR="9525" marT="9525" marB="0" anchor="ctr"/>
                </a:tc>
              </a:tr>
              <a:tr h="170266">
                <a:tc>
                  <a:txBody>
                    <a:bodyPr wrap="square"/>
                    <a:lstStyle/>
                    <a:p>
                      <a:pPr algn="l"/>
                      <a:r>
                        <a:rPr sz="1050" b="0" i="0">
                          <a:solidFill>
                            <a:srgbClr val="000000"/>
                          </a:solidFill>
                          <a:latin typeface="Calibri"/>
                        </a:rPr>
                        <a:t>Figure 142: Canada Market Value by Principal Material / Barrier Technology, US$ Mn, 2026 and 2036</a:t>
                      </a:r>
                      <a:endParaRPr sz="1050"/>
                    </a:p>
                  </a:txBody>
                  <a:tcPr marL="9525" marR="9525" marT="9525" marB="0" anchor="ctr"/>
                </a:tc>
              </a:tr>
              <a:tr h="170266">
                <a:tc>
                  <a:txBody>
                    <a:bodyPr wrap="square"/>
                    <a:lstStyle/>
                    <a:p>
                      <a:pPr algn="l"/>
                      <a:r>
                        <a:rPr sz="1050" b="0" i="0">
                          <a:solidFill>
                            <a:srgbClr val="000000"/>
                          </a:solidFill>
                          <a:latin typeface="Calibri"/>
                        </a:rPr>
                        <a:t>Figure 143: Canada Market Value by Material Structure, US$ Mn, 2026 and 2036</a:t>
                      </a:r>
                      <a:endParaRPr sz="1050"/>
                    </a:p>
                  </a:txBody>
                  <a:tcPr marL="9525" marR="9525" marT="9525" marB="0" anchor="ctr"/>
                </a:tc>
              </a:tr>
              <a:tr h="170266">
                <a:tc>
                  <a:txBody>
                    <a:bodyPr wrap="square"/>
                    <a:lstStyle/>
                    <a:p>
                      <a:pPr algn="l"/>
                      <a:r>
                        <a:rPr sz="1050" b="0" i="0">
                          <a:solidFill>
                            <a:srgbClr val="000000"/>
                          </a:solidFill>
                          <a:latin typeface="Calibri"/>
                        </a:rPr>
                        <a:t>Figure 144: Canada Market Value by Barrier Level, US$ Mn, 2026 and 2036</a:t>
                      </a:r>
                      <a:endParaRPr sz="1050"/>
                    </a:p>
                  </a:txBody>
                  <a:tcPr marL="9525" marR="9525" marT="9525" marB="0" anchor="ctr"/>
                </a:tc>
              </a:tr>
              <a:tr h="170266">
                <a:tc>
                  <a:txBody>
                    <a:bodyPr wrap="square"/>
                    <a:lstStyle/>
                    <a:p>
                      <a:pPr algn="l"/>
                      <a:r>
                        <a:rPr sz="1050" b="0" i="0">
                          <a:solidFill>
                            <a:srgbClr val="000000"/>
                          </a:solidFill>
                          <a:latin typeface="Calibri"/>
                        </a:rPr>
                        <a:t>Figure 145: Canada Market Value by Barrier Level Vs Application, US$ Mn, 2026 and 2036</a:t>
                      </a:r>
                      <a:endParaRPr sz="1050"/>
                    </a:p>
                  </a:txBody>
                  <a:tcPr marL="9525" marR="9525" marT="9525" marB="0" anchor="ctr"/>
                </a:tc>
              </a:tr>
              <a:tr h="170266">
                <a:tc>
                  <a:txBody>
                    <a:bodyPr wrap="square"/>
                    <a:lstStyle/>
                    <a:p>
                      <a:pPr algn="l"/>
                      <a:r>
                        <a:rPr sz="1050" b="0" i="0">
                          <a:solidFill>
                            <a:srgbClr val="000000"/>
                          </a:solidFill>
                          <a:latin typeface="Calibri"/>
                        </a:rPr>
                        <a:t>Figure 146: Canada Market Volume and YoY Growth, Thousand MT and %, 2021–2036</a:t>
                      </a:r>
                      <a:endParaRPr sz="1050"/>
                    </a:p>
                  </a:txBody>
                  <a:tcPr marL="9525" marR="9525" marT="9525" marB="0" anchor="ctr"/>
                </a:tc>
              </a:tr>
              <a:tr h="170266">
                <a:tc>
                  <a:txBody>
                    <a:bodyPr wrap="square"/>
                    <a:lstStyle/>
                    <a:p>
                      <a:pPr algn="l"/>
                      <a:r>
                        <a:rPr sz="1050" b="0" i="0">
                          <a:solidFill>
                            <a:srgbClr val="000000"/>
                          </a:solidFill>
                          <a:latin typeface="Calibri"/>
                        </a:rPr>
                        <a:t>Figure 147: Canada Market Average Selling Price, US$/MT,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5257793"/>
        </p:xfrm>
        <a:graphic>
          <a:graphicData uri="http://schemas.openxmlformats.org/drawingml/2006/table">
            <a:tbl>
              <a:tblPr>
                <a:tableStyleId>{3B4B98B0-60AC-42C2-AFA5-B58CD77FA1E5}</a:tableStyleId>
              </a:tblPr>
              <a:tblGrid>
                <a:gridCol w="5876925"/>
              </a:tblGrid>
              <a:tr h="170045">
                <a:tc>
                  <a:txBody>
                    <a:bodyPr wrap="square"/>
                    <a:lstStyle/>
                    <a:p>
                      <a:pPr algn="l"/>
                      <a:r>
                        <a:rPr sz="1050" b="0" i="0">
                          <a:solidFill>
                            <a:srgbClr val="000000"/>
                          </a:solidFill>
                          <a:latin typeface="Calibri"/>
                        </a:rPr>
                        <a:t>Figure 148: Canada Market Leading Suppliers Share, %, 2026</a:t>
                      </a:r>
                      <a:endParaRPr sz="1050"/>
                    </a:p>
                  </a:txBody>
                  <a:tcPr marL="9525" marR="9525" marT="9525" marB="0" anchor="ctr"/>
                </a:tc>
              </a:tr>
              <a:tr h="170045">
                <a:tc>
                  <a:txBody>
                    <a:bodyPr wrap="square"/>
                    <a:lstStyle/>
                    <a:p>
                      <a:pPr algn="l"/>
                      <a:r>
                        <a:rPr sz="1050" b="0" i="0">
                          <a:solidFill>
                            <a:srgbClr val="000000"/>
                          </a:solidFill>
                          <a:latin typeface="Calibri"/>
                        </a:rPr>
                        <a:t>Figure 149: Canada Market Demand Outlook, US$ Mn, 2026–2036</a:t>
                      </a:r>
                      <a:endParaRPr sz="1050"/>
                    </a:p>
                  </a:txBody>
                  <a:tcPr marL="9525" marR="9525" marT="9525" marB="0" anchor="ctr"/>
                </a:tc>
              </a:tr>
              <a:tr h="170045">
                <a:tc>
                  <a:txBody>
                    <a:bodyPr wrap="square"/>
                    <a:lstStyle/>
                    <a:p>
                      <a:pPr algn="l"/>
                      <a:r>
                        <a:rPr sz="1050" b="0" i="0">
                          <a:solidFill>
                            <a:srgbClr val="000000"/>
                          </a:solidFill>
                          <a:latin typeface="Calibri"/>
                        </a:rPr>
                        <a:t>Figure 150: North America Market Average Selling Price Trend, US$/MT, 2021–2036</a:t>
                      </a:r>
                      <a:endParaRPr sz="1050"/>
                    </a:p>
                  </a:txBody>
                  <a:tcPr marL="9525" marR="9525" marT="9525" marB="0" anchor="ctr"/>
                </a:tc>
              </a:tr>
              <a:tr h="170045">
                <a:tc>
                  <a:txBody>
                    <a:bodyPr wrap="square"/>
                    <a:lstStyle/>
                    <a:p>
                      <a:pPr algn="l"/>
                      <a:r>
                        <a:rPr sz="1050" b="0" i="0">
                          <a:solidFill>
                            <a:srgbClr val="000000"/>
                          </a:solidFill>
                          <a:latin typeface="Calibri"/>
                        </a:rPr>
                        <a:t>Figure 151: North America Market Average Selling Price Outlook, US$/MT, 2026–2036</a:t>
                      </a:r>
                      <a:endParaRPr sz="1050"/>
                    </a:p>
                  </a:txBody>
                  <a:tcPr marL="9525" marR="9525" marT="9525" marB="0" anchor="ctr"/>
                </a:tc>
              </a:tr>
              <a:tr h="170045">
                <a:tc>
                  <a:txBody>
                    <a:bodyPr wrap="square"/>
                    <a:lstStyle/>
                    <a:p>
                      <a:pPr algn="l"/>
                      <a:r>
                        <a:rPr sz="1050" b="0" i="0">
                          <a:solidFill>
                            <a:srgbClr val="000000"/>
                          </a:solidFill>
                          <a:latin typeface="Calibri"/>
                        </a:rPr>
                        <a:t>Figure 152: North America Market Average Selling Price by Product Type, US$/MT, 2026 and 2036</a:t>
                      </a:r>
                      <a:endParaRPr sz="1050"/>
                    </a:p>
                  </a:txBody>
                  <a:tcPr marL="9525" marR="9525" marT="9525" marB="0" anchor="ctr"/>
                </a:tc>
              </a:tr>
              <a:tr h="333289">
                <a:tc>
                  <a:txBody>
                    <a:bodyPr wrap="square"/>
                    <a:lstStyle/>
                    <a:p>
                      <a:pPr algn="l"/>
                      <a:r>
                        <a:rPr sz="1050" b="0" i="0">
                          <a:solidFill>
                            <a:srgbClr val="000000"/>
                          </a:solidFill>
                          <a:latin typeface="Calibri"/>
                        </a:rPr>
                        <a:t>Figure 153: North America Market Average Selling Price by Principal Material / Barrier Technology, US$/MT, 2026 and 2036</a:t>
                      </a:r>
                      <a:endParaRPr sz="1050"/>
                    </a:p>
                  </a:txBody>
                  <a:tcPr marL="9525" marR="9525" marT="9525" marB="0" anchor="ctr"/>
                </a:tc>
              </a:tr>
              <a:tr h="170045">
                <a:tc>
                  <a:txBody>
                    <a:bodyPr wrap="square"/>
                    <a:lstStyle/>
                    <a:p>
                      <a:pPr algn="l"/>
                      <a:r>
                        <a:rPr sz="1050" b="0" i="0">
                          <a:solidFill>
                            <a:srgbClr val="000000"/>
                          </a:solidFill>
                          <a:latin typeface="Calibri"/>
                        </a:rPr>
                        <a:t>Figure 154: North America Market Average Selling Price by Material Structure, US$/MT, 2026 and 2036</a:t>
                      </a:r>
                      <a:endParaRPr sz="1050"/>
                    </a:p>
                  </a:txBody>
                  <a:tcPr marL="9525" marR="9525" marT="9525" marB="0" anchor="ctr"/>
                </a:tc>
              </a:tr>
              <a:tr h="170045">
                <a:tc>
                  <a:txBody>
                    <a:bodyPr wrap="square"/>
                    <a:lstStyle/>
                    <a:p>
                      <a:pPr algn="l"/>
                      <a:r>
                        <a:rPr sz="1050" b="0" i="0">
                          <a:solidFill>
                            <a:srgbClr val="000000"/>
                          </a:solidFill>
                          <a:latin typeface="Calibri"/>
                        </a:rPr>
                        <a:t>Figure 155: North America Market Average Selling Price by Barrier Level, US$/MT, 2026 and 2036</a:t>
                      </a:r>
                      <a:endParaRPr sz="1050"/>
                    </a:p>
                  </a:txBody>
                  <a:tcPr marL="9525" marR="9525" marT="9525" marB="0" anchor="ctr"/>
                </a:tc>
              </a:tr>
              <a:tr h="170045">
                <a:tc>
                  <a:txBody>
                    <a:bodyPr wrap="square"/>
                    <a:lstStyle/>
                    <a:p>
                      <a:pPr algn="l"/>
                      <a:r>
                        <a:rPr sz="1050" b="0" i="0">
                          <a:solidFill>
                            <a:srgbClr val="000000"/>
                          </a:solidFill>
                          <a:latin typeface="Calibri"/>
                        </a:rPr>
                        <a:t>Figure 156: North America Market Average Selling Price by Application, US$/MT, 2026 and 2036</a:t>
                      </a:r>
                      <a:endParaRPr sz="1050"/>
                    </a:p>
                  </a:txBody>
                  <a:tcPr marL="9525" marR="9525" marT="9525" marB="0" anchor="ctr"/>
                </a:tc>
              </a:tr>
              <a:tr h="333289">
                <a:tc>
                  <a:txBody>
                    <a:bodyPr wrap="square"/>
                    <a:lstStyle/>
                    <a:p>
                      <a:pPr algn="l"/>
                      <a:r>
                        <a:rPr sz="1050" b="0" i="0">
                          <a:solidFill>
                            <a:srgbClr val="000000"/>
                          </a:solidFill>
                          <a:latin typeface="Calibri"/>
                        </a:rPr>
                        <a:t>Figure 157: North America Market Average Selling Price by Barrier Level Vs Application, US$/MT, 2026 and 2036</a:t>
                      </a:r>
                      <a:endParaRPr sz="1050"/>
                    </a:p>
                  </a:txBody>
                  <a:tcPr marL="9525" marR="9525" marT="9525" marB="0" anchor="ctr"/>
                </a:tc>
              </a:tr>
              <a:tr h="170045">
                <a:tc>
                  <a:txBody>
                    <a:bodyPr wrap="square"/>
                    <a:lstStyle/>
                    <a:p>
                      <a:pPr algn="l"/>
                      <a:r>
                        <a:rPr sz="1050" b="0" i="0">
                          <a:solidFill>
                            <a:srgbClr val="000000"/>
                          </a:solidFill>
                          <a:latin typeface="Calibri"/>
                        </a:rPr>
                        <a:t>Figure 158: North America Market Value Chain Structure, 2026</a:t>
                      </a:r>
                      <a:endParaRPr sz="1050"/>
                    </a:p>
                  </a:txBody>
                  <a:tcPr marL="9525" marR="9525" marT="9525" marB="0" anchor="ctr"/>
                </a:tc>
              </a:tr>
              <a:tr h="170045">
                <a:tc>
                  <a:txBody>
                    <a:bodyPr wrap="square"/>
                    <a:lstStyle/>
                    <a:p>
                      <a:pPr algn="l"/>
                      <a:r>
                        <a:rPr sz="1050" b="0" i="0">
                          <a:solidFill>
                            <a:srgbClr val="000000"/>
                          </a:solidFill>
                          <a:latin typeface="Calibri"/>
                        </a:rPr>
                        <a:t>Figure 159: North America Market Margin Distribution across the Value Chain, %, 2026</a:t>
                      </a:r>
                      <a:endParaRPr sz="1050"/>
                    </a:p>
                  </a:txBody>
                  <a:tcPr marL="9525" marR="9525" marT="9525" marB="0" anchor="ctr"/>
                </a:tc>
              </a:tr>
              <a:tr h="170045">
                <a:tc>
                  <a:txBody>
                    <a:bodyPr wrap="square"/>
                    <a:lstStyle/>
                    <a:p>
                      <a:pPr algn="l"/>
                      <a:r>
                        <a:rPr sz="1050" b="0" i="0">
                          <a:solidFill>
                            <a:srgbClr val="000000"/>
                          </a:solidFill>
                          <a:latin typeface="Calibri"/>
                        </a:rPr>
                        <a:t>Figure 160: North America Market Cost Structure Breakdown, %, 2026</a:t>
                      </a:r>
                      <a:endParaRPr sz="1050"/>
                    </a:p>
                  </a:txBody>
                  <a:tcPr marL="9525" marR="9525" marT="9525" marB="0" anchor="ctr"/>
                </a:tc>
              </a:tr>
              <a:tr h="170045">
                <a:tc>
                  <a:txBody>
                    <a:bodyPr wrap="square"/>
                    <a:lstStyle/>
                    <a:p>
                      <a:pPr algn="l"/>
                      <a:r>
                        <a:rPr sz="1050" b="0" i="0">
                          <a:solidFill>
                            <a:srgbClr val="000000"/>
                          </a:solidFill>
                          <a:latin typeface="Calibri"/>
                        </a:rPr>
                        <a:t>Figure 161: North America Market Pricing Pressure Assessment by Product Type, 2026–2036</a:t>
                      </a:r>
                      <a:endParaRPr sz="1050"/>
                    </a:p>
                  </a:txBody>
                  <a:tcPr marL="9525" marR="9525" marT="9525" marB="0" anchor="ctr"/>
                </a:tc>
              </a:tr>
              <a:tr h="170045">
                <a:tc>
                  <a:txBody>
                    <a:bodyPr wrap="square"/>
                    <a:lstStyle/>
                    <a:p>
                      <a:pPr algn="l"/>
                      <a:r>
                        <a:rPr sz="1050" b="0" i="0">
                          <a:solidFill>
                            <a:srgbClr val="000000"/>
                          </a:solidFill>
                          <a:latin typeface="Calibri"/>
                        </a:rPr>
                        <a:t>Figure 162: North America Market Import and Export Share, %, 2025</a:t>
                      </a:r>
                      <a:endParaRPr sz="1050"/>
                    </a:p>
                  </a:txBody>
                  <a:tcPr marL="9525" marR="9525" marT="9525" marB="0" anchor="ctr"/>
                </a:tc>
              </a:tr>
              <a:tr h="170045">
                <a:tc>
                  <a:txBody>
                    <a:bodyPr wrap="square"/>
                    <a:lstStyle/>
                    <a:p>
                      <a:pPr algn="l"/>
                      <a:r>
                        <a:rPr sz="1050" b="0" i="0">
                          <a:solidFill>
                            <a:srgbClr val="000000"/>
                          </a:solidFill>
                          <a:latin typeface="Calibri"/>
                        </a:rPr>
                        <a:t>Figure 163: North America Market Trade Balance by Leading Country, US$ Mn, 2025</a:t>
                      </a:r>
                      <a:endParaRPr sz="1050"/>
                    </a:p>
                  </a:txBody>
                  <a:tcPr marL="9525" marR="9525" marT="9525" marB="0" anchor="ctr"/>
                </a:tc>
              </a:tr>
              <a:tr h="170045">
                <a:tc>
                  <a:txBody>
                    <a:bodyPr wrap="square"/>
                    <a:lstStyle/>
                    <a:p>
                      <a:pPr algn="l"/>
                      <a:r>
                        <a:rPr sz="1050" b="0" i="0">
                          <a:solidFill>
                            <a:srgbClr val="000000"/>
                          </a:solidFill>
                          <a:latin typeface="Calibri"/>
                        </a:rPr>
                        <a:t>Figure 164: North America Market Raw Material Price Index, 2025=100, 2021–2036</a:t>
                      </a:r>
                      <a:endParaRPr sz="1050"/>
                    </a:p>
                  </a:txBody>
                  <a:tcPr marL="9525" marR="9525" marT="9525" marB="0" anchor="ctr"/>
                </a:tc>
              </a:tr>
              <a:tr h="170045">
                <a:tc>
                  <a:txBody>
                    <a:bodyPr wrap="square"/>
                    <a:lstStyle/>
                    <a:p>
                      <a:pPr algn="l"/>
                      <a:r>
                        <a:rPr sz="1050" b="0" i="0">
                          <a:solidFill>
                            <a:srgbClr val="000000"/>
                          </a:solidFill>
                          <a:latin typeface="Calibri"/>
                        </a:rPr>
                        <a:t>Figure 165: North America Market Distribution Channel Margin Comparison, %, 2026</a:t>
                      </a:r>
                      <a:endParaRPr sz="1050"/>
                    </a:p>
                  </a:txBody>
                  <a:tcPr marL="9525" marR="9525" marT="9525" marB="0" anchor="ctr"/>
                </a:tc>
              </a:tr>
              <a:tr h="170045">
                <a:tc>
                  <a:txBody>
                    <a:bodyPr wrap="square"/>
                    <a:lstStyle/>
                    <a:p>
                      <a:pPr algn="l"/>
                      <a:r>
                        <a:rPr sz="1050" b="0" i="0">
                          <a:solidFill>
                            <a:srgbClr val="000000"/>
                          </a:solidFill>
                          <a:latin typeface="Calibri"/>
                        </a:rPr>
                        <a:t>Figure 166: North America Market Price Band Distribution by Product Type, %, 2026</a:t>
                      </a:r>
                      <a:endParaRPr sz="1050"/>
                    </a:p>
                  </a:txBody>
                  <a:tcPr marL="9525" marR="9525" marT="9525" marB="0" anchor="ctr"/>
                </a:tc>
              </a:tr>
              <a:tr h="170045">
                <a:tc>
                  <a:txBody>
                    <a:bodyPr wrap="square"/>
                    <a:lstStyle/>
                    <a:p>
                      <a:pPr algn="l"/>
                      <a:r>
                        <a:rPr sz="1050" b="0" i="0">
                          <a:solidFill>
                            <a:srgbClr val="000000"/>
                          </a:solidFill>
                          <a:latin typeface="Calibri"/>
                        </a:rPr>
                        <a:t>Figure 167: North America Market Pricing Factors Impact Assessment, 2026–2036</a:t>
                      </a:r>
                      <a:endParaRPr sz="1050"/>
                    </a:p>
                  </a:txBody>
                  <a:tcPr marL="9525" marR="9525" marT="9525" marB="0" anchor="ctr"/>
                </a:tc>
              </a:tr>
              <a:tr h="170045">
                <a:tc>
                  <a:txBody>
                    <a:bodyPr wrap="square"/>
                    <a:lstStyle/>
                    <a:p>
                      <a:pPr algn="l"/>
                      <a:r>
                        <a:rPr sz="1050" b="0" i="0">
                          <a:solidFill>
                            <a:srgbClr val="000000"/>
                          </a:solidFill>
                          <a:latin typeface="Calibri"/>
                        </a:rPr>
                        <a:t>Figure 168: Company Market Share in the North America Market, %, 2026</a:t>
                      </a:r>
                      <a:endParaRPr sz="1050"/>
                    </a:p>
                  </a:txBody>
                  <a:tcPr marL="9525" marR="9525" marT="9525" marB="0" anchor="ctr"/>
                </a:tc>
              </a:tr>
              <a:tr h="170045">
                <a:tc>
                  <a:txBody>
                    <a:bodyPr wrap="square"/>
                    <a:lstStyle/>
                    <a:p>
                      <a:pPr algn="l"/>
                      <a:r>
                        <a:rPr sz="1050" b="0" i="0">
                          <a:solidFill>
                            <a:srgbClr val="000000"/>
                          </a:solidFill>
                          <a:latin typeface="Calibri"/>
                        </a:rPr>
                        <a:t>Figure 169: Competitive Positioning of Leading Flexible Plastic Packaging Manufacturers, 2026</a:t>
                      </a:r>
                      <a:endParaRPr sz="1050"/>
                    </a:p>
                  </a:txBody>
                  <a:tcPr marL="9525" marR="9525" marT="9525" marB="0" anchor="ctr"/>
                </a:tc>
              </a:tr>
              <a:tr h="170045">
                <a:tc>
                  <a:txBody>
                    <a:bodyPr wrap="square"/>
                    <a:lstStyle/>
                    <a:p>
                      <a:pPr algn="l"/>
                      <a:r>
                        <a:rPr sz="1050" b="0" i="0">
                          <a:solidFill>
                            <a:srgbClr val="000000"/>
                          </a:solidFill>
                          <a:latin typeface="Calibri"/>
                        </a:rPr>
                        <a:t>Figure 170: Company Revenue from the North America Market, US$ Mn, 2026</a:t>
                      </a:r>
                      <a:endParaRPr sz="1050"/>
                    </a:p>
                  </a:txBody>
                  <a:tcPr marL="9525" marR="9525" marT="9525" marB="0" anchor="ctr"/>
                </a:tc>
              </a:tr>
              <a:tr h="170045">
                <a:tc>
                  <a:txBody>
                    <a:bodyPr wrap="square"/>
                    <a:lstStyle/>
                    <a:p>
                      <a:pPr algn="l"/>
                      <a:r>
                        <a:rPr sz="1050" b="0" i="0">
                          <a:solidFill>
                            <a:srgbClr val="000000"/>
                          </a:solidFill>
                          <a:latin typeface="Calibri"/>
                        </a:rPr>
                        <a:t>Figure 171: North America Market Concentration by Company Tier, %, 2026</a:t>
                      </a:r>
                      <a:endParaRPr sz="1050"/>
                    </a:p>
                  </a:txBody>
                  <a:tcPr marL="9525" marR="9525" marT="9525" marB="0" anchor="ctr"/>
                </a:tc>
              </a:tr>
              <a:tr h="170045">
                <a:tc>
                  <a:txBody>
                    <a:bodyPr wrap="square"/>
                    <a:lstStyle/>
                    <a:p>
                      <a:pPr algn="l"/>
                      <a:r>
                        <a:rPr sz="1050" b="0" i="0">
                          <a:solidFill>
                            <a:srgbClr val="000000"/>
                          </a:solidFill>
                          <a:latin typeface="Calibri"/>
                        </a:rPr>
                        <a:t>Figure 172: North America Market Competitive Intensity Assessment, 2026</a:t>
                      </a:r>
                      <a:endParaRPr sz="1050"/>
                    </a:p>
                  </a:txBody>
                  <a:tcPr marL="9525" marR="9525" marT="9525" marB="0" anchor="ctr"/>
                </a:tc>
              </a:tr>
              <a:tr h="170045">
                <a:tc>
                  <a:txBody>
                    <a:bodyPr wrap="square"/>
                    <a:lstStyle/>
                    <a:p>
                      <a:pPr algn="l"/>
                      <a:r>
                        <a:rPr sz="1050" b="0" i="0">
                          <a:solidFill>
                            <a:srgbClr val="000000"/>
                          </a:solidFill>
                          <a:latin typeface="Calibri"/>
                        </a:rPr>
                        <a:t>Figure 173: Company A: Revenue from the North America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174: Company B: Revenue from the North America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175: Company C: Revenue from the North America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176: Company D: Revenue from the North America Market and Share, US$ Mn and %, 2026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4160532"/>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Figure 177: Company E: Revenue from the North America Market and Share, US$ Mn and %, 2026</a:t>
                      </a:r>
                      <a:endParaRPr sz="1050"/>
                    </a:p>
                  </a:txBody>
                  <a:tcPr marL="9525" marR="9525" marT="9525" marB="0" anchor="ctr"/>
                </a:tc>
              </a:tr>
              <a:tr h="166688">
                <a:tc>
                  <a:txBody>
                    <a:bodyPr wrap="square"/>
                    <a:lstStyle/>
                    <a:p>
                      <a:pPr algn="l"/>
                      <a:r>
                        <a:rPr sz="1050" b="0" i="0">
                          <a:solidFill>
                            <a:srgbClr val="000000"/>
                          </a:solidFill>
                          <a:latin typeface="Calibri"/>
                        </a:rPr>
                        <a:t>Figure 178: Company F: Revenue from the North America Market and Share, US$ Mn and %, 2026</a:t>
                      </a:r>
                      <a:endParaRPr sz="1050"/>
                    </a:p>
                  </a:txBody>
                  <a:tcPr marL="9525" marR="9525" marT="9525" marB="0" anchor="ctr"/>
                </a:tc>
              </a:tr>
              <a:tr h="166688">
                <a:tc>
                  <a:txBody>
                    <a:bodyPr wrap="square"/>
                    <a:lstStyle/>
                    <a:p>
                      <a:pPr algn="l"/>
                      <a:r>
                        <a:rPr sz="1050" b="0" i="0">
                          <a:solidFill>
                            <a:srgbClr val="000000"/>
                          </a:solidFill>
                          <a:latin typeface="Calibri"/>
                        </a:rPr>
                        <a:t>Figure 179: Company G: Revenue from the North America Market and Share, US$ Mn and %, 2026</a:t>
                      </a:r>
                      <a:endParaRPr sz="1050"/>
                    </a:p>
                  </a:txBody>
                  <a:tcPr marL="9525" marR="9525" marT="9525" marB="0" anchor="ctr"/>
                </a:tc>
              </a:tr>
              <a:tr h="166688">
                <a:tc>
                  <a:txBody>
                    <a:bodyPr wrap="square"/>
                    <a:lstStyle/>
                    <a:p>
                      <a:pPr algn="l"/>
                      <a:r>
                        <a:rPr sz="1050" b="0" i="0">
                          <a:solidFill>
                            <a:srgbClr val="000000"/>
                          </a:solidFill>
                          <a:latin typeface="Calibri"/>
                        </a:rPr>
                        <a:t>Figure 180: Company H: Revenue from the North America Market and Share, US$ Mn and %, 2026</a:t>
                      </a:r>
                      <a:endParaRPr sz="1050"/>
                    </a:p>
                  </a:txBody>
                  <a:tcPr marL="9525" marR="9525" marT="9525" marB="0" anchor="ctr"/>
                </a:tc>
              </a:tr>
              <a:tr h="166688">
                <a:tc>
                  <a:txBody>
                    <a:bodyPr wrap="square"/>
                    <a:lstStyle/>
                    <a:p>
                      <a:pPr algn="l"/>
                      <a:r>
                        <a:rPr sz="1050" b="0" i="0">
                          <a:solidFill>
                            <a:srgbClr val="000000"/>
                          </a:solidFill>
                          <a:latin typeface="Calibri"/>
                        </a:rPr>
                        <a:t>Figure 181: North America Market Strategic Developments by Type, %, 2025–2026</a:t>
                      </a:r>
                      <a:endParaRPr sz="1050"/>
                    </a:p>
                  </a:txBody>
                  <a:tcPr marL="9525" marR="9525" marT="9525" marB="0" anchor="ctr"/>
                </a:tc>
              </a:tr>
              <a:tr h="166688">
                <a:tc>
                  <a:txBody>
                    <a:bodyPr wrap="square"/>
                    <a:lstStyle/>
                    <a:p>
                      <a:pPr algn="l"/>
                      <a:r>
                        <a:rPr sz="1050" b="0" i="0">
                          <a:solidFill>
                            <a:srgbClr val="000000"/>
                          </a:solidFill>
                          <a:latin typeface="Calibri"/>
                        </a:rPr>
                        <a:t>Figure 182: North America Market Company Footprint by Region, 2026</a:t>
                      </a:r>
                      <a:endParaRPr sz="1050"/>
                    </a:p>
                  </a:txBody>
                  <a:tcPr marL="9525" marR="9525" marT="9525" marB="0" anchor="ctr"/>
                </a:tc>
              </a:tr>
              <a:tr h="166688">
                <a:tc>
                  <a:txBody>
                    <a:bodyPr wrap="square"/>
                    <a:lstStyle/>
                    <a:p>
                      <a:pPr algn="l"/>
                      <a:r>
                        <a:rPr sz="1050" b="0" i="0">
                          <a:solidFill>
                            <a:srgbClr val="000000"/>
                          </a:solidFill>
                          <a:latin typeface="Calibri"/>
                        </a:rPr>
                        <a:t>Figure 183: North America Market Value Forecast by Scenario, US$ Mn, 2026–2036</a:t>
                      </a:r>
                      <a:endParaRPr sz="1050"/>
                    </a:p>
                  </a:txBody>
                  <a:tcPr marL="9525" marR="9525" marT="9525" marB="0" anchor="ctr"/>
                </a:tc>
              </a:tr>
              <a:tr h="166688">
                <a:tc>
                  <a:txBody>
                    <a:bodyPr wrap="square"/>
                    <a:lstStyle/>
                    <a:p>
                      <a:pPr algn="l"/>
                      <a:r>
                        <a:rPr sz="1050" b="0" i="0">
                          <a:solidFill>
                            <a:srgbClr val="000000"/>
                          </a:solidFill>
                          <a:latin typeface="Calibri"/>
                        </a:rPr>
                        <a:t>Figure 184: North America Market YoY Growth by Scenario, %, 2026–2036</a:t>
                      </a:r>
                      <a:endParaRPr sz="1050"/>
                    </a:p>
                  </a:txBody>
                  <a:tcPr marL="9525" marR="9525" marT="9525" marB="0" anchor="ctr"/>
                </a:tc>
              </a:tr>
              <a:tr h="166688">
                <a:tc>
                  <a:txBody>
                    <a:bodyPr wrap="square"/>
                    <a:lstStyle/>
                    <a:p>
                      <a:pPr algn="l"/>
                      <a:r>
                        <a:rPr sz="1050" b="0" i="0">
                          <a:solidFill>
                            <a:srgbClr val="000000"/>
                          </a:solidFill>
                          <a:latin typeface="Calibri"/>
                        </a:rPr>
                        <a:t>Figure 185: North America Market Key Trends Impact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186: North America Market Drivers, Restraints and Opportunities Impact, 2026–2036</a:t>
                      </a:r>
                      <a:endParaRPr sz="1050"/>
                    </a:p>
                  </a:txBody>
                  <a:tcPr marL="9525" marR="9525" marT="9525" marB="0" anchor="ctr"/>
                </a:tc>
              </a:tr>
              <a:tr h="166688">
                <a:tc>
                  <a:txBody>
                    <a:bodyPr wrap="square"/>
                    <a:lstStyle/>
                    <a:p>
                      <a:pPr algn="l"/>
                      <a:r>
                        <a:rPr sz="1050" b="0" i="0">
                          <a:solidFill>
                            <a:srgbClr val="000000"/>
                          </a:solidFill>
                          <a:latin typeface="Calibri"/>
                        </a:rPr>
                        <a:t>Figure 187: North America Market Opportunity Map by Product Type, 2026–2036</a:t>
                      </a:r>
                      <a:endParaRPr sz="1050"/>
                    </a:p>
                  </a:txBody>
                  <a:tcPr marL="9525" marR="9525" marT="9525" marB="0" anchor="ctr"/>
                </a:tc>
              </a:tr>
              <a:tr h="166688">
                <a:tc>
                  <a:txBody>
                    <a:bodyPr wrap="square"/>
                    <a:lstStyle/>
                    <a:p>
                      <a:pPr algn="l"/>
                      <a:r>
                        <a:rPr sz="1050" b="0" i="0">
                          <a:solidFill>
                            <a:srgbClr val="000000"/>
                          </a:solidFill>
                          <a:latin typeface="Calibri"/>
                        </a:rPr>
                        <a:t>Figure 188: North America Market Technology Adoption Roadmap, 2021–2036</a:t>
                      </a:r>
                      <a:endParaRPr sz="1050"/>
                    </a:p>
                  </a:txBody>
                  <a:tcPr marL="9525" marR="9525" marT="9525" marB="0" anchor="ctr"/>
                </a:tc>
              </a:tr>
              <a:tr h="326708">
                <a:tc>
                  <a:txBody>
                    <a:bodyPr wrap="square"/>
                    <a:lstStyle/>
                    <a:p>
                      <a:pPr algn="l"/>
                      <a:r>
                        <a:rPr sz="1050" b="0" i="0">
                          <a:solidFill>
                            <a:srgbClr val="000000"/>
                          </a:solidFill>
                          <a:latin typeface="Calibri"/>
                        </a:rPr>
                        <a:t>Figure 189: North America Market Emerging Opportunity Pockets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Figure 190: North America Market Risk and Sensitivity Analysis, %, 2026–2036</a:t>
                      </a:r>
                      <a:endParaRPr sz="1050"/>
                    </a:p>
                  </a:txBody>
                  <a:tcPr marL="9525" marR="9525" marT="9525" marB="0" anchor="ctr"/>
                </a:tc>
              </a:tr>
              <a:tr h="166688">
                <a:tc>
                  <a:txBody>
                    <a:bodyPr wrap="square"/>
                    <a:lstStyle/>
                    <a:p>
                      <a:pPr algn="l"/>
                      <a:r>
                        <a:rPr sz="1050" b="0" i="0">
                          <a:solidFill>
                            <a:srgbClr val="000000"/>
                          </a:solidFill>
                          <a:latin typeface="Calibri"/>
                        </a:rPr>
                        <a:t>Figure 191: North America Market Regulatory Landscape Timeline, 2021–2036</a:t>
                      </a:r>
                      <a:endParaRPr sz="1050"/>
                    </a:p>
                  </a:txBody>
                  <a:tcPr marL="9525" marR="9525" marT="9525" marB="0" anchor="ctr"/>
                </a:tc>
              </a:tr>
              <a:tr h="166688">
                <a:tc>
                  <a:txBody>
                    <a:bodyPr wrap="square"/>
                    <a:lstStyle/>
                    <a:p>
                      <a:pPr algn="l"/>
                      <a:r>
                        <a:rPr sz="1050" b="0" i="0">
                          <a:solidFill>
                            <a:srgbClr val="000000"/>
                          </a:solidFill>
                          <a:latin typeface="Calibri"/>
                        </a:rPr>
                        <a:t>Figure 192: North America Market Investment Hotspots, 2026–2036</a:t>
                      </a:r>
                      <a:endParaRPr sz="1050"/>
                    </a:p>
                  </a:txBody>
                  <a:tcPr marL="9525" marR="9525" marT="9525" marB="0" anchor="ctr"/>
                </a:tc>
              </a:tr>
              <a:tr h="166688">
                <a:tc>
                  <a:txBody>
                    <a:bodyPr wrap="square"/>
                    <a:lstStyle/>
                    <a:p>
                      <a:pPr algn="l"/>
                      <a:r>
                        <a:rPr sz="1050" b="0" i="0">
                          <a:solidFill>
                            <a:srgbClr val="000000"/>
                          </a:solidFill>
                          <a:latin typeface="Calibri"/>
                        </a:rPr>
                        <a:t>Figure 193: North America Market Innovation Pipeline Assessment, 2026</a:t>
                      </a:r>
                      <a:endParaRPr sz="1050"/>
                    </a:p>
                  </a:txBody>
                  <a:tcPr marL="9525" marR="9525" marT="9525" marB="0" anchor="ctr"/>
                </a:tc>
              </a:tr>
              <a:tr h="166688">
                <a:tc>
                  <a:txBody>
                    <a:bodyPr wrap="square"/>
                    <a:lstStyle/>
                    <a:p>
                      <a:pPr algn="l"/>
                      <a:r>
                        <a:rPr sz="1050" b="0" i="0">
                          <a:solidFill>
                            <a:srgbClr val="000000"/>
                          </a:solidFill>
                          <a:latin typeface="Calibri"/>
                        </a:rPr>
                        <a:t>Figure 194: North America Market Demand Shift Analysis by Product Type, %, 2026–2036</a:t>
                      </a:r>
                      <a:endParaRPr sz="1050"/>
                    </a:p>
                  </a:txBody>
                  <a:tcPr marL="9525" marR="9525" marT="9525" marB="0" anchor="ctr"/>
                </a:tc>
              </a:tr>
              <a:tr h="166688">
                <a:tc>
                  <a:txBody>
                    <a:bodyPr wrap="square"/>
                    <a:lstStyle/>
                    <a:p>
                      <a:pPr algn="l"/>
                      <a:r>
                        <a:rPr sz="1050" b="0" i="0">
                          <a:solidFill>
                            <a:srgbClr val="000000"/>
                          </a:solidFill>
                          <a:latin typeface="Calibri"/>
                        </a:rPr>
                        <a:t>Figure 195: North America Market White-Space Opportunity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196: North America Market Customer Purchase Criteria Assessment, 2026</a:t>
                      </a:r>
                      <a:endParaRPr sz="1050"/>
                    </a:p>
                  </a:txBody>
                  <a:tcPr marL="9525" marR="9525" marT="9525" marB="0" anchor="ctr"/>
                </a:tc>
              </a:tr>
              <a:tr h="166688">
                <a:tc>
                  <a:txBody>
                    <a:bodyPr wrap="square"/>
                    <a:lstStyle/>
                    <a:p>
                      <a:pPr algn="l"/>
                      <a:r>
                        <a:rPr sz="1050" b="0" i="0">
                          <a:solidFill>
                            <a:srgbClr val="000000"/>
                          </a:solidFill>
                          <a:latin typeface="Calibri"/>
                        </a:rPr>
                        <a:t>Figure 197: North America Market Go-to-Market Priority, 2026–2036</a:t>
                      </a:r>
                      <a:endParaRPr sz="1050"/>
                    </a:p>
                  </a:txBody>
                  <a:tcPr marL="9525" marR="9525" marT="9525" marB="0" anchor="ctr"/>
                </a:tc>
              </a:tr>
              <a:tr h="166688">
                <a:tc>
                  <a:txBody>
                    <a:bodyPr wrap="square"/>
                    <a:lstStyle/>
                    <a:p>
                      <a:pPr algn="l"/>
                      <a:r>
                        <a:rPr sz="1050" b="0" i="0">
                          <a:solidFill>
                            <a:srgbClr val="000000"/>
                          </a:solidFill>
                          <a:latin typeface="Calibri"/>
                        </a:rPr>
                        <a:t>Figure 198: North America Market Unmet Needs Analysis by Product Type, 2026</a:t>
                      </a:r>
                      <a:endParaRPr sz="1050"/>
                    </a:p>
                  </a:txBody>
                  <a:tcPr marL="9525" marR="9525" marT="9525" marB="0" anchor="ctr"/>
                </a:tc>
              </a:tr>
              <a:tr h="166688">
                <a:tc>
                  <a:txBody>
                    <a:bodyPr wrap="square"/>
                    <a:lstStyle/>
                    <a:p>
                      <a:pPr algn="l"/>
                      <a:r>
                        <a:rPr sz="1050" b="0" i="0">
                          <a:solidFill>
                            <a:srgbClr val="000000"/>
                          </a:solidFill>
                          <a:latin typeface="Calibri"/>
                        </a:rPr>
                        <a:t>Figure 199: North America Market Right-to-Win Assessment, 2026</a:t>
                      </a:r>
                      <a:endParaRPr sz="1050"/>
                    </a:p>
                  </a:txBody>
                  <a:tcPr marL="9525" marR="9525" marT="9525" marB="0" anchor="ctr"/>
                </a:tc>
              </a:tr>
              <a:tr h="166688">
                <a:tc>
                  <a:txBody>
                    <a:bodyPr wrap="square"/>
                    <a:lstStyle/>
                    <a:p>
                      <a:pPr algn="l"/>
                      <a:r>
                        <a:rPr sz="1050" b="0" i="0">
                          <a:solidFill>
                            <a:srgbClr val="000000"/>
                          </a:solidFill>
                          <a:latin typeface="Calibri"/>
                        </a:rPr>
                        <a:t>Figure 200: North America Market Entry Strategy Scorecard,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(1/5)</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494">
                <a:tc>
                  <a:txBody>
                    <a:bodyPr wrap="square"/>
                    <a:lstStyle/>
                    <a:p>
                      <a:pPr algn="l"/>
                      <a:r>
                        <a:rPr sz="1050" b="0" i="0">
                          <a:solidFill>
                            <a:srgbClr val="000000"/>
                          </a:solidFill>
                          <a:latin typeface="Calibri"/>
                        </a:rPr>
                        <a:t>Table 1: North America Market Snapshot: Value, Volume and CAGR, US$ Mn, 2025–2036</a:t>
                      </a:r>
                      <a:endParaRPr sz="1050"/>
                    </a:p>
                  </a:txBody>
                  <a:tcPr marL="9525" marR="9525" marT="9525" marB="0" anchor="ctr"/>
                </a:tc>
              </a:tr>
              <a:tr h="175494">
                <a:tc>
                  <a:txBody>
                    <a:bodyPr wrap="square"/>
                    <a:lstStyle/>
                    <a:p>
                      <a:pPr algn="l"/>
                      <a:r>
                        <a:rPr sz="1050" b="0" i="0">
                          <a:solidFill>
                            <a:srgbClr val="000000"/>
                          </a:solidFill>
                          <a:latin typeface="Calibri"/>
                        </a:rPr>
                        <a:t>Table 2: North America Market Taxonomy by Segment, 2026</a:t>
                      </a:r>
                      <a:endParaRPr sz="1050"/>
                    </a:p>
                  </a:txBody>
                  <a:tcPr marL="9525" marR="9525" marT="9525" marB="0" anchor="ctr"/>
                </a:tc>
              </a:tr>
              <a:tr h="175494">
                <a:tc>
                  <a:txBody>
                    <a:bodyPr wrap="square"/>
                    <a:lstStyle/>
                    <a:p>
                      <a:pPr algn="l"/>
                      <a:r>
                        <a:rPr sz="1050" b="0" i="0">
                          <a:solidFill>
                            <a:srgbClr val="000000"/>
                          </a:solidFill>
                          <a:latin typeface="Calibri"/>
                        </a:rPr>
                        <a:t>Table 3: North America Market Scope: Inclusions and Exclusions by Segment, 2026</a:t>
                      </a:r>
                      <a:endParaRPr sz="1050"/>
                    </a:p>
                  </a:txBody>
                  <a:tcPr marL="9525" marR="9525" marT="9525" marB="0" anchor="ctr"/>
                </a:tc>
              </a:tr>
              <a:tr h="175494">
                <a:tc>
                  <a:txBody>
                    <a:bodyPr wrap="square"/>
                    <a:lstStyle/>
                    <a:p>
                      <a:pPr algn="l"/>
                      <a:r>
                        <a:rPr sz="1050" b="0" i="0">
                          <a:solidFill>
                            <a:srgbClr val="000000"/>
                          </a:solidFill>
                          <a:latin typeface="Calibri"/>
                        </a:rPr>
                        <a:t>Table 4: North America Market Key Demand Drivers and Impact Rating, 2026–2036</a:t>
                      </a:r>
                      <a:endParaRPr sz="1050"/>
                    </a:p>
                  </a:txBody>
                  <a:tcPr marL="9525" marR="9525" marT="9525" marB="0" anchor="ctr"/>
                </a:tc>
              </a:tr>
              <a:tr h="175494">
                <a:tc>
                  <a:txBody>
                    <a:bodyPr wrap="square"/>
                    <a:lstStyle/>
                    <a:p>
                      <a:pPr algn="l"/>
                      <a:r>
                        <a:rPr sz="1050" b="0" i="0">
                          <a:solidFill>
                            <a:srgbClr val="000000"/>
                          </a:solidFill>
                          <a:latin typeface="Calibri"/>
                        </a:rPr>
                        <a:t>Table 5: North America Market Key Restraints and Impact Rating, 2026–2036</a:t>
                      </a:r>
                      <a:endParaRPr sz="1050"/>
                    </a:p>
                  </a:txBody>
                  <a:tcPr marL="9525" marR="9525" marT="9525" marB="0" anchor="ctr"/>
                </a:tc>
              </a:tr>
              <a:tr h="175494">
                <a:tc>
                  <a:txBody>
                    <a:bodyPr wrap="square"/>
                    <a:lstStyle/>
                    <a:p>
                      <a:pPr algn="l"/>
                      <a:r>
                        <a:rPr sz="1050" b="0" i="0">
                          <a:solidFill>
                            <a:srgbClr val="000000"/>
                          </a:solidFill>
                          <a:latin typeface="Calibri"/>
                        </a:rPr>
                        <a:t>Table 6: North America Market Analyst Recommendations by Segment, 2026–2036</a:t>
                      </a:r>
                      <a:endParaRPr sz="1050"/>
                    </a:p>
                  </a:txBody>
                  <a:tcPr marL="9525" marR="9525" marT="9525" marB="0" anchor="ctr"/>
                </a:tc>
              </a:tr>
              <a:tr h="175494">
                <a:tc>
                  <a:txBody>
                    <a:bodyPr wrap="square"/>
                    <a:lstStyle/>
                    <a:p>
                      <a:pPr algn="l"/>
                      <a:r>
                        <a:rPr sz="1050" b="0" i="0">
                          <a:solidFill>
                            <a:srgbClr val="000000"/>
                          </a:solidFill>
                          <a:latin typeface="Calibri"/>
                        </a:rPr>
                        <a:t>Table 7: North America Market Key Market Signals and Data Points, 2026</a:t>
                      </a:r>
                      <a:endParaRPr sz="1050"/>
                    </a:p>
                  </a:txBody>
                  <a:tcPr marL="9525" marR="9525" marT="9525" marB="0" anchor="ctr"/>
                </a:tc>
              </a:tr>
              <a:tr h="175494">
                <a:tc>
                  <a:txBody>
                    <a:bodyPr wrap="square"/>
                    <a:lstStyle/>
                    <a:p>
                      <a:pPr algn="l"/>
                      <a:r>
                        <a:rPr sz="1050" b="0" i="0">
                          <a:solidFill>
                            <a:srgbClr val="000000"/>
                          </a:solidFill>
                          <a:latin typeface="Calibri"/>
                        </a:rPr>
                        <a:t>Table 8: North America Market Research Methodology and Data Sources, 2026</a:t>
                      </a:r>
                      <a:endParaRPr sz="1050"/>
                    </a:p>
                  </a:txBody>
                  <a:tcPr marL="9525" marR="9525" marT="9525" marB="0" anchor="ctr"/>
                </a:tc>
              </a:tr>
              <a:tr h="175494">
                <a:tc>
                  <a:txBody>
                    <a:bodyPr wrap="square"/>
                    <a:lstStyle/>
                    <a:p>
                      <a:pPr algn="l"/>
                      <a:r>
                        <a:rPr sz="1050" b="0" i="0">
                          <a:solidFill>
                            <a:srgbClr val="000000"/>
                          </a:solidFill>
                          <a:latin typeface="Calibri"/>
                        </a:rPr>
                        <a:t>Table 9: North America Market Value and YoY Growth, US$ Mn and %, 2021–2036</a:t>
                      </a:r>
                      <a:endParaRPr sz="1050"/>
                    </a:p>
                  </a:txBody>
                  <a:tcPr marL="9525" marR="9525" marT="9525" marB="0" anchor="ctr"/>
                </a:tc>
              </a:tr>
              <a:tr h="175494">
                <a:tc>
                  <a:txBody>
                    <a:bodyPr wrap="square"/>
                    <a:lstStyle/>
                    <a:p>
                      <a:pPr algn="l"/>
                      <a:r>
                        <a:rPr sz="1050" b="0" i="0">
                          <a:solidFill>
                            <a:srgbClr val="000000"/>
                          </a:solidFill>
                          <a:latin typeface="Calibri"/>
                        </a:rPr>
                        <a:t>Table 10: North America Market Historical Value Analysis, US$ Mn, 2021–2025</a:t>
                      </a:r>
                      <a:endParaRPr sz="1050"/>
                    </a:p>
                  </a:txBody>
                  <a:tcPr marL="9525" marR="9525" marT="9525" marB="0" anchor="ctr"/>
                </a:tc>
              </a:tr>
              <a:tr h="175494">
                <a:tc>
                  <a:txBody>
                    <a:bodyPr wrap="square"/>
                    <a:lstStyle/>
                    <a:p>
                      <a:pPr algn="l"/>
                      <a:r>
                        <a:rPr sz="1050" b="0" i="0">
                          <a:solidFill>
                            <a:srgbClr val="000000"/>
                          </a:solidFill>
                          <a:latin typeface="Calibri"/>
                        </a:rPr>
                        <a:t>Table 11: North America Market Forecast Value Analysis, US$ Mn, 2026–2036</a:t>
                      </a:r>
                      <a:endParaRPr sz="1050"/>
                    </a:p>
                  </a:txBody>
                  <a:tcPr marL="9525" marR="9525" marT="9525" marB="0" anchor="ctr"/>
                </a:tc>
              </a:tr>
              <a:tr h="175494">
                <a:tc>
                  <a:txBody>
                    <a:bodyPr wrap="square"/>
                    <a:lstStyle/>
                    <a:p>
                      <a:pPr algn="l"/>
                      <a:r>
                        <a:rPr sz="1050" b="0" i="0">
                          <a:solidFill>
                            <a:srgbClr val="000000"/>
                          </a:solidFill>
                          <a:latin typeface="Calibri"/>
                        </a:rPr>
                        <a:t>Table 12: North America Market Volume and YoY Growth, Thousand MT and %, 2021–2036</a:t>
                      </a:r>
                      <a:endParaRPr sz="1050"/>
                    </a:p>
                  </a:txBody>
                  <a:tcPr marL="9525" marR="9525" marT="9525" marB="0" anchor="ctr"/>
                </a:tc>
              </a:tr>
              <a:tr h="175494">
                <a:tc>
                  <a:txBody>
                    <a:bodyPr wrap="square"/>
                    <a:lstStyle/>
                    <a:p>
                      <a:pPr algn="l"/>
                      <a:r>
                        <a:rPr sz="1050" b="0" i="0">
                          <a:solidFill>
                            <a:srgbClr val="000000"/>
                          </a:solidFill>
                          <a:latin typeface="Calibri"/>
                        </a:rPr>
                        <a:t>Table 13: North America Market Volume Forecast, Thousand MT, 2026–2036</a:t>
                      </a:r>
                      <a:endParaRPr sz="1050"/>
                    </a:p>
                  </a:txBody>
                  <a:tcPr marL="9525" marR="9525" marT="9525" marB="0" anchor="ctr"/>
                </a:tc>
              </a:tr>
              <a:tr h="175494">
                <a:tc>
                  <a:txBody>
                    <a:bodyPr wrap="square"/>
                    <a:lstStyle/>
                    <a:p>
                      <a:pPr algn="l"/>
                      <a:r>
                        <a:rPr sz="1050" b="0" i="0">
                          <a:solidFill>
                            <a:srgbClr val="000000"/>
                          </a:solidFill>
                          <a:latin typeface="Calibri"/>
                        </a:rPr>
                        <a:t>Table 14: North America Market Average Selling Price, US$/MT, 2021–2036</a:t>
                      </a:r>
                      <a:endParaRPr sz="1050"/>
                    </a:p>
                  </a:txBody>
                  <a:tcPr marL="9525" marR="9525" marT="9525" marB="0" anchor="ctr"/>
                </a:tc>
              </a:tr>
              <a:tr h="175494">
                <a:tc>
                  <a:txBody>
                    <a:bodyPr wrap="square"/>
                    <a:lstStyle/>
                    <a:p>
                      <a:pPr algn="l"/>
                      <a:r>
                        <a:rPr sz="1050" b="0" i="0">
                          <a:solidFill>
                            <a:srgbClr val="000000"/>
                          </a:solidFill>
                          <a:latin typeface="Calibri"/>
                        </a:rPr>
                        <a:t>Table 15: North America Market Average Selling Price YoY Change, %, 2026–2036</a:t>
                      </a:r>
                      <a:endParaRPr sz="1050"/>
                    </a:p>
                  </a:txBody>
                  <a:tcPr marL="9525" marR="9525" marT="9525" marB="0" anchor="ctr"/>
                </a:tc>
              </a:tr>
              <a:tr h="175494">
                <a:tc>
                  <a:txBody>
                    <a:bodyPr wrap="square"/>
                    <a:lstStyle/>
                    <a:p>
                      <a:pPr algn="l"/>
                      <a:r>
                        <a:rPr sz="1050" b="0" i="0">
                          <a:solidFill>
                            <a:srgbClr val="000000"/>
                          </a:solidFill>
                          <a:latin typeface="Calibri"/>
                        </a:rPr>
                        <a:t>Table 16: North America Market CAGR and Absolute $ Opportunity, %, US$ Mn, 2026–2036</a:t>
                      </a:r>
                      <a:endParaRPr sz="1050"/>
                    </a:p>
                  </a:txBody>
                  <a:tcPr marL="9525" marR="9525" marT="9525" marB="0" anchor="ctr"/>
                </a:tc>
              </a:tr>
              <a:tr h="175494">
                <a:tc>
                  <a:txBody>
                    <a:bodyPr wrap="square"/>
                    <a:lstStyle/>
                    <a:p>
                      <a:pPr algn="l"/>
                      <a:r>
                        <a:rPr sz="1050" b="0" i="0">
                          <a:solidFill>
                            <a:srgbClr val="000000"/>
                          </a:solidFill>
                          <a:latin typeface="Calibri"/>
                        </a:rPr>
                        <a:t>Table 17: North America Market Absolute $ Opportunity by Year, US$ Mn, 2026–2036</a:t>
                      </a:r>
                      <a:endParaRPr sz="1050"/>
                    </a:p>
                  </a:txBody>
                  <a:tcPr marL="9525" marR="9525" marT="9525" marB="0" anchor="ctr"/>
                </a:tc>
              </a:tr>
              <a:tr h="343968">
                <a:tc>
                  <a:txBody>
                    <a:bodyPr wrap="square"/>
                    <a:lstStyle/>
                    <a:p>
                      <a:pPr algn="l"/>
                      <a:r>
                        <a:rPr sz="1050" b="0" i="0">
                          <a:solidFill>
                            <a:srgbClr val="000000"/>
                          </a:solidFill>
                          <a:latin typeface="Calibri"/>
                        </a:rPr>
                        <a:t>Table 18: North America Market Value by Scenario (Optimistic, Likely, Pessimistic), US$ Mn, 2026–2036</a:t>
                      </a:r>
                      <a:endParaRPr sz="1050"/>
                    </a:p>
                  </a:txBody>
                  <a:tcPr marL="9525" marR="9525" marT="9525" marB="0" anchor="ctr"/>
                </a:tc>
              </a:tr>
              <a:tr h="175494">
                <a:tc>
                  <a:txBody>
                    <a:bodyPr wrap="square"/>
                    <a:lstStyle/>
                    <a:p>
                      <a:pPr algn="l"/>
                      <a:r>
                        <a:rPr sz="1050" b="0" i="0">
                          <a:solidFill>
                            <a:srgbClr val="000000"/>
                          </a:solidFill>
                          <a:latin typeface="Calibri"/>
                        </a:rPr>
                        <a:t>Table 19: North America Market Scenario CAGR Comparison, %, 2026–2036</a:t>
                      </a:r>
                      <a:endParaRPr sz="1050"/>
                    </a:p>
                  </a:txBody>
                  <a:tcPr marL="9525" marR="9525" marT="9525" marB="0" anchor="ctr"/>
                </a:tc>
              </a:tr>
              <a:tr h="175494">
                <a:tc>
                  <a:txBody>
                    <a:bodyPr wrap="square"/>
                    <a:lstStyle/>
                    <a:p>
                      <a:pPr algn="l"/>
                      <a:r>
                        <a:rPr sz="1050" b="0" i="0">
                          <a:solidFill>
                            <a:srgbClr val="000000"/>
                          </a:solidFill>
                          <a:latin typeface="Calibri"/>
                        </a:rPr>
                        <a:t>Table 20: North America Market Historical vs Forecast Growth Comparison, %, 2021–2036</a:t>
                      </a:r>
                      <a:endParaRPr sz="1050"/>
                    </a:p>
                  </a:txBody>
                  <a:tcPr marL="9525" marR="9525" marT="9525" marB="0" anchor="ctr"/>
                </a:tc>
              </a:tr>
              <a:tr h="175494">
                <a:tc>
                  <a:txBody>
                    <a:bodyPr wrap="square"/>
                    <a:lstStyle/>
                    <a:p>
                      <a:pPr algn="l"/>
                      <a:r>
                        <a:rPr sz="1050" b="0" i="0">
                          <a:solidFill>
                            <a:srgbClr val="000000"/>
                          </a:solidFill>
                          <a:latin typeface="Calibri"/>
                        </a:rPr>
                        <a:t>Table 21: North America Market Five-Year Block Value Summary, US$ Mn, 2021–2036</a:t>
                      </a:r>
                      <a:endParaRPr sz="1050"/>
                    </a:p>
                  </a:txBody>
                  <a:tcPr marL="9525" marR="9525" marT="9525" marB="0" anchor="ctr"/>
                </a:tc>
              </a:tr>
              <a:tr h="175494">
                <a:tc>
                  <a:txBody>
                    <a:bodyPr wrap="square"/>
                    <a:lstStyle/>
                    <a:p>
                      <a:pPr algn="l"/>
                      <a:r>
                        <a:rPr sz="1050" b="0" i="0">
                          <a:solidFill>
                            <a:srgbClr val="000000"/>
                          </a:solidFill>
                          <a:latin typeface="Calibri"/>
                        </a:rPr>
                        <a:t>Table 22: North America Market Size Evolution Index, 2025=100, 2021–2036</a:t>
                      </a:r>
                      <a:endParaRPr sz="1050"/>
                    </a:p>
                  </a:txBody>
                  <a:tcPr marL="9525" marR="9525" marT="9525" marB="0" anchor="ctr"/>
                </a:tc>
              </a:tr>
              <a:tr h="175494">
                <a:tc>
                  <a:txBody>
                    <a:bodyPr wrap="square"/>
                    <a:lstStyle/>
                    <a:p>
                      <a:pPr algn="l"/>
                      <a:r>
                        <a:rPr sz="1050" b="0" i="0">
                          <a:solidFill>
                            <a:srgbClr val="000000"/>
                          </a:solidFill>
                          <a:latin typeface="Calibri"/>
                        </a:rPr>
                        <a:t>Table 23: North America Market Key Forecast Assumptions, 2026–2036</a:t>
                      </a:r>
                      <a:endParaRPr sz="1050"/>
                    </a:p>
                  </a:txBody>
                  <a:tcPr marL="9525" marR="9525" marT="9525" marB="0" anchor="ctr"/>
                </a:tc>
              </a:tr>
              <a:tr h="175494">
                <a:tc>
                  <a:txBody>
                    <a:bodyPr wrap="square"/>
                    <a:lstStyle/>
                    <a:p>
                      <a:pPr algn="l"/>
                      <a:r>
                        <a:rPr sz="1050" b="0" i="0">
                          <a:solidFill>
                            <a:srgbClr val="000000"/>
                          </a:solidFill>
                          <a:latin typeface="Calibri"/>
                        </a:rPr>
                        <a:t>Table 24: North America Market Value by Product Type, US$ Mn, 2021–2036</a:t>
                      </a:r>
                      <a:endParaRPr sz="1050"/>
                    </a:p>
                  </a:txBody>
                  <a:tcPr marL="9525" marR="9525" marT="9525" marB="0" anchor="ctr"/>
                </a:tc>
              </a:tr>
              <a:tr h="175494">
                <a:tc>
                  <a:txBody>
                    <a:bodyPr wrap="square"/>
                    <a:lstStyle/>
                    <a:p>
                      <a:pPr algn="l"/>
                      <a:r>
                        <a:rPr sz="1050" b="0" i="0">
                          <a:solidFill>
                            <a:srgbClr val="000000"/>
                          </a:solidFill>
                          <a:latin typeface="Calibri"/>
                        </a:rPr>
                        <a:t>Table 25: North America Market Value by Principal Material / Barrier Technology, US$ Mn, 2021–2036</a:t>
                      </a:r>
                      <a:endParaRPr sz="1050"/>
                    </a:p>
                  </a:txBody>
                  <a:tcPr marL="9525" marR="9525" marT="9525" marB="0" anchor="ctr"/>
                </a:tc>
              </a:tr>
              <a:tr h="175494">
                <a:tc>
                  <a:txBody>
                    <a:bodyPr wrap="square"/>
                    <a:lstStyle/>
                    <a:p>
                      <a:pPr algn="l"/>
                      <a:r>
                        <a:rPr sz="1050" b="0" i="0">
                          <a:solidFill>
                            <a:srgbClr val="000000"/>
                          </a:solidFill>
                          <a:latin typeface="Calibri"/>
                        </a:rPr>
                        <a:t>Table 26: North America Market Value by Material Structure, US$ Mn, 2021–2036</a:t>
                      </a:r>
                      <a:endParaRPr sz="1050"/>
                    </a:p>
                  </a:txBody>
                  <a:tcPr marL="9525" marR="9525" marT="9525" marB="0" anchor="ctr"/>
                </a:tc>
              </a:tr>
              <a:tr h="175494">
                <a:tc>
                  <a:txBody>
                    <a:bodyPr wrap="square"/>
                    <a:lstStyle/>
                    <a:p>
                      <a:pPr algn="l"/>
                      <a:r>
                        <a:rPr sz="1050" b="0" i="0">
                          <a:solidFill>
                            <a:srgbClr val="000000"/>
                          </a:solidFill>
                          <a:latin typeface="Calibri"/>
                        </a:rPr>
                        <a:t>Table 27: North America Market Value by Barrier Level, US$ Mn, 2021–2036</a:t>
                      </a:r>
                      <a:endParaRPr sz="1050"/>
                    </a:p>
                  </a:txBody>
                  <a:tcPr marL="9525" marR="9525" marT="9525" marB="0" anchor="ctr"/>
                </a:tc>
              </a:tr>
              <a:tr h="175494">
                <a:tc>
                  <a:txBody>
                    <a:bodyPr wrap="square"/>
                    <a:lstStyle/>
                    <a:p>
                      <a:pPr algn="l"/>
                      <a:r>
                        <a:rPr sz="1050" b="0" i="0">
                          <a:solidFill>
                            <a:srgbClr val="000000"/>
                          </a:solidFill>
                          <a:latin typeface="Calibri"/>
                        </a:rPr>
                        <a:t>Table 28: North America Market Value by Application, US$ Mn, 2021–2036</a:t>
                      </a:r>
                      <a:endParaRPr sz="1050"/>
                    </a:p>
                  </a:txBody>
                  <a:tcPr marL="9525" marR="9525" marT="9525" marB="0" anchor="ctr"/>
                </a:tc>
              </a:tr>
              <a:tr h="175494">
                <a:tc>
                  <a:txBody>
                    <a:bodyPr wrap="square"/>
                    <a:lstStyle/>
                    <a:p>
                      <a:pPr algn="l"/>
                      <a:r>
                        <a:rPr sz="1050" b="0" i="0">
                          <a:solidFill>
                            <a:srgbClr val="000000"/>
                          </a:solidFill>
                          <a:latin typeface="Calibri"/>
                        </a:rPr>
                        <a:t>Table 29: North America Market Value by Barrier Level Vs Application, US$ Mn,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336334">
                <a:tc>
                  <a:txBody>
                    <a:bodyPr wrap="square"/>
                    <a:lstStyle/>
                    <a:p>
                      <a:pPr algn="l"/>
                      <a:r>
                        <a:rPr sz="1050" b="0" i="0">
                          <a:solidFill>
                            <a:srgbClr val="000000"/>
                          </a:solidFill>
                          <a:latin typeface="Calibri"/>
                        </a:rPr>
                        <a:t>Table 30: North America Market CAGR and Absolute $ Opportunity by Product Type, %, US$ Mn, 2026–2036</a:t>
                      </a:r>
                      <a:endParaRPr sz="1050"/>
                    </a:p>
                  </a:txBody>
                  <a:tcPr marL="9525" marR="9525" marT="9525" marB="0" anchor="ctr"/>
                </a:tc>
              </a:tr>
              <a:tr h="336334">
                <a:tc>
                  <a:txBody>
                    <a:bodyPr wrap="square"/>
                    <a:lstStyle/>
                    <a:p>
                      <a:pPr algn="l"/>
                      <a:r>
                        <a:rPr sz="1050" b="0" i="0">
                          <a:solidFill>
                            <a:srgbClr val="000000"/>
                          </a:solidFill>
                          <a:latin typeface="Calibri"/>
                        </a:rPr>
                        <a:t>Table 31: North America Market CAGR and Absolute $ Opportunity by Principal Material / Barrier Technology, %, US$ Mn, 2026–2036</a:t>
                      </a:r>
                      <a:endParaRPr sz="1050"/>
                    </a:p>
                  </a:txBody>
                  <a:tcPr marL="9525" marR="9525" marT="9525" marB="0" anchor="ctr"/>
                </a:tc>
              </a:tr>
              <a:tr h="336334">
                <a:tc>
                  <a:txBody>
                    <a:bodyPr wrap="square"/>
                    <a:lstStyle/>
                    <a:p>
                      <a:pPr algn="l"/>
                      <a:r>
                        <a:rPr sz="1050" b="0" i="0">
                          <a:solidFill>
                            <a:srgbClr val="000000"/>
                          </a:solidFill>
                          <a:latin typeface="Calibri"/>
                        </a:rPr>
                        <a:t>Table 32: North America Market CAGR and Absolute $ Opportunity by Material Structure, %, US$ Mn, 2026–2036</a:t>
                      </a:r>
                      <a:endParaRPr sz="1050"/>
                    </a:p>
                  </a:txBody>
                  <a:tcPr marL="9525" marR="9525" marT="9525" marB="0" anchor="ctr"/>
                </a:tc>
              </a:tr>
              <a:tr h="336334">
                <a:tc>
                  <a:txBody>
                    <a:bodyPr wrap="square"/>
                    <a:lstStyle/>
                    <a:p>
                      <a:pPr algn="l"/>
                      <a:r>
                        <a:rPr sz="1050" b="0" i="0">
                          <a:solidFill>
                            <a:srgbClr val="000000"/>
                          </a:solidFill>
                          <a:latin typeface="Calibri"/>
                        </a:rPr>
                        <a:t>Table 33: North America Market CAGR and Absolute $ Opportunity by Barrier Level, %, US$ Mn, 2026–2036</a:t>
                      </a:r>
                      <a:endParaRPr sz="1050"/>
                    </a:p>
                  </a:txBody>
                  <a:tcPr marL="9525" marR="9525" marT="9525" marB="0" anchor="ctr"/>
                </a:tc>
              </a:tr>
              <a:tr h="336334">
                <a:tc>
                  <a:txBody>
                    <a:bodyPr wrap="square"/>
                    <a:lstStyle/>
                    <a:p>
                      <a:pPr algn="l"/>
                      <a:r>
                        <a:rPr sz="1050" b="0" i="0">
                          <a:solidFill>
                            <a:srgbClr val="000000"/>
                          </a:solidFill>
                          <a:latin typeface="Calibri"/>
                        </a:rPr>
                        <a:t>Table 34: North America Market CAGR and Absolute $ Opportunity by Application, %, US$ Mn, 2026–2036</a:t>
                      </a:r>
                      <a:endParaRPr sz="1050"/>
                    </a:p>
                  </a:txBody>
                  <a:tcPr marL="9525" marR="9525" marT="9525" marB="0" anchor="ctr"/>
                </a:tc>
              </a:tr>
              <a:tr h="336334">
                <a:tc>
                  <a:txBody>
                    <a:bodyPr wrap="square"/>
                    <a:lstStyle/>
                    <a:p>
                      <a:pPr algn="l"/>
                      <a:r>
                        <a:rPr sz="1050" b="0" i="0">
                          <a:solidFill>
                            <a:srgbClr val="000000"/>
                          </a:solidFill>
                          <a:latin typeface="Calibri"/>
                        </a:rPr>
                        <a:t>Table 35: North America Market CAGR and Absolute $ Opportunity by Barrier Level Vs Application, %, US$ Mn, 2026–2036</a:t>
                      </a:r>
                      <a:endParaRPr sz="1050"/>
                    </a:p>
                  </a:txBody>
                  <a:tcPr marL="9525" marR="9525" marT="9525" marB="0" anchor="ctr"/>
                </a:tc>
              </a:tr>
              <a:tr h="171599">
                <a:tc>
                  <a:txBody>
                    <a:bodyPr wrap="square"/>
                    <a:lstStyle/>
                    <a:p>
                      <a:pPr algn="l"/>
                      <a:r>
                        <a:rPr sz="1050" b="0" i="0">
                          <a:solidFill>
                            <a:srgbClr val="000000"/>
                          </a:solidFill>
                          <a:latin typeface="Calibri"/>
                        </a:rPr>
                        <a:t>Table 36: North America Market Share and BPS Change by Product Type, %, 2025, 2026 and 2036</a:t>
                      </a:r>
                      <a:endParaRPr sz="1050"/>
                    </a:p>
                  </a:txBody>
                  <a:tcPr marL="9525" marR="9525" marT="9525" marB="0" anchor="ctr"/>
                </a:tc>
              </a:tr>
              <a:tr h="336334">
                <a:tc>
                  <a:txBody>
                    <a:bodyPr wrap="square"/>
                    <a:lstStyle/>
                    <a:p>
                      <a:pPr algn="l"/>
                      <a:r>
                        <a:rPr sz="1050" b="0" i="0">
                          <a:solidFill>
                            <a:srgbClr val="000000"/>
                          </a:solidFill>
                          <a:latin typeface="Calibri"/>
                        </a:rPr>
                        <a:t>Table 37: North America Market Share and BPS Change by Principal Material / Barrier Technology, %, 2025, 2026 and 2036</a:t>
                      </a:r>
                      <a:endParaRPr sz="1050"/>
                    </a:p>
                  </a:txBody>
                  <a:tcPr marL="9525" marR="9525" marT="9525" marB="0" anchor="ctr"/>
                </a:tc>
              </a:tr>
              <a:tr h="171599">
                <a:tc>
                  <a:txBody>
                    <a:bodyPr wrap="square"/>
                    <a:lstStyle/>
                    <a:p>
                      <a:pPr algn="l"/>
                      <a:r>
                        <a:rPr sz="1050" b="0" i="0">
                          <a:solidFill>
                            <a:srgbClr val="000000"/>
                          </a:solidFill>
                          <a:latin typeface="Calibri"/>
                        </a:rPr>
                        <a:t>Table 38: North America Market Share and BPS Change by Material Structure, %, 2025, 2026 and 2036</a:t>
                      </a:r>
                      <a:endParaRPr sz="1050"/>
                    </a:p>
                  </a:txBody>
                  <a:tcPr marL="9525" marR="9525" marT="9525" marB="0" anchor="ctr"/>
                </a:tc>
              </a:tr>
              <a:tr h="171599">
                <a:tc>
                  <a:txBody>
                    <a:bodyPr wrap="square"/>
                    <a:lstStyle/>
                    <a:p>
                      <a:pPr algn="l"/>
                      <a:r>
                        <a:rPr sz="1050" b="0" i="0">
                          <a:solidFill>
                            <a:srgbClr val="000000"/>
                          </a:solidFill>
                          <a:latin typeface="Calibri"/>
                        </a:rPr>
                        <a:t>Table 39: North America Market Share and BPS Change by Barrier Level, %, 2025, 2026 and 2036</a:t>
                      </a:r>
                      <a:endParaRPr sz="1050"/>
                    </a:p>
                  </a:txBody>
                  <a:tcPr marL="9525" marR="9525" marT="9525" marB="0" anchor="ctr"/>
                </a:tc>
              </a:tr>
              <a:tr h="171599">
                <a:tc>
                  <a:txBody>
                    <a:bodyPr wrap="square"/>
                    <a:lstStyle/>
                    <a:p>
                      <a:pPr algn="l"/>
                      <a:r>
                        <a:rPr sz="1050" b="0" i="0">
                          <a:solidFill>
                            <a:srgbClr val="000000"/>
                          </a:solidFill>
                          <a:latin typeface="Calibri"/>
                        </a:rPr>
                        <a:t>Table 40: North America Market Share and BPS Change by Application, %, 2025, 2026 and 2036</a:t>
                      </a:r>
                      <a:endParaRPr sz="1050"/>
                    </a:p>
                  </a:txBody>
                  <a:tcPr marL="9525" marR="9525" marT="9525" marB="0" anchor="ctr"/>
                </a:tc>
              </a:tr>
              <a:tr h="336334">
                <a:tc>
                  <a:txBody>
                    <a:bodyPr wrap="square"/>
                    <a:lstStyle/>
                    <a:p>
                      <a:pPr algn="l"/>
                      <a:r>
                        <a:rPr sz="1050" b="0" i="0">
                          <a:solidFill>
                            <a:srgbClr val="000000"/>
                          </a:solidFill>
                          <a:latin typeface="Calibri"/>
                        </a:rPr>
                        <a:t>Table 41: North America Market Share and BPS Change by Barrier Level Vs Application, %, 2025, 2026 and 2036</a:t>
                      </a:r>
                      <a:endParaRPr sz="1050"/>
                    </a:p>
                  </a:txBody>
                  <a:tcPr marL="9525" marR="9525" marT="9525" marB="0" anchor="ctr"/>
                </a:tc>
              </a:tr>
              <a:tr h="171599">
                <a:tc>
                  <a:txBody>
                    <a:bodyPr wrap="square"/>
                    <a:lstStyle/>
                    <a:p>
                      <a:pPr algn="l"/>
                      <a:r>
                        <a:rPr sz="1050" b="0" i="0">
                          <a:solidFill>
                            <a:srgbClr val="000000"/>
                          </a:solidFill>
                          <a:latin typeface="Calibri"/>
                        </a:rPr>
                        <a:t>Table 42: North America Market YoY Growth by Product Type, %, 2026–2036</a:t>
                      </a:r>
                      <a:endParaRPr sz="1050"/>
                    </a:p>
                  </a:txBody>
                  <a:tcPr marL="9525" marR="9525" marT="9525" marB="0" anchor="ctr"/>
                </a:tc>
              </a:tr>
              <a:tr h="171599">
                <a:tc>
                  <a:txBody>
                    <a:bodyPr wrap="square"/>
                    <a:lstStyle/>
                    <a:p>
                      <a:pPr algn="l"/>
                      <a:r>
                        <a:rPr sz="1050" b="0" i="0">
                          <a:solidFill>
                            <a:srgbClr val="000000"/>
                          </a:solidFill>
                          <a:latin typeface="Calibri"/>
                        </a:rPr>
                        <a:t>Table 43: North America Market YoY Growth by Principal Material / Barrier Technology, %, 2026–2036</a:t>
                      </a:r>
                      <a:endParaRPr sz="1050"/>
                    </a:p>
                  </a:txBody>
                  <a:tcPr marL="9525" marR="9525" marT="9525" marB="0" anchor="ctr"/>
                </a:tc>
              </a:tr>
              <a:tr h="171599">
                <a:tc>
                  <a:txBody>
                    <a:bodyPr wrap="square"/>
                    <a:lstStyle/>
                    <a:p>
                      <a:pPr algn="l"/>
                      <a:r>
                        <a:rPr sz="1050" b="0" i="0">
                          <a:solidFill>
                            <a:srgbClr val="000000"/>
                          </a:solidFill>
                          <a:latin typeface="Calibri"/>
                        </a:rPr>
                        <a:t>Table 44: North America Market YoY Growth by Material Structure, %, 2026–2036</a:t>
                      </a:r>
                      <a:endParaRPr sz="1050"/>
                    </a:p>
                  </a:txBody>
                  <a:tcPr marL="9525" marR="9525" marT="9525" marB="0" anchor="ctr"/>
                </a:tc>
              </a:tr>
              <a:tr h="171599">
                <a:tc>
                  <a:txBody>
                    <a:bodyPr wrap="square"/>
                    <a:lstStyle/>
                    <a:p>
                      <a:pPr algn="l"/>
                      <a:r>
                        <a:rPr sz="1050" b="0" i="0">
                          <a:solidFill>
                            <a:srgbClr val="000000"/>
                          </a:solidFill>
                          <a:latin typeface="Calibri"/>
                        </a:rPr>
                        <a:t>Table 45: North America Market YoY Growth by Barrier Level, %, 2026–2036</a:t>
                      </a:r>
                      <a:endParaRPr sz="1050"/>
                    </a:p>
                  </a:txBody>
                  <a:tcPr marL="9525" marR="9525" marT="9525" marB="0" anchor="ctr"/>
                </a:tc>
              </a:tr>
              <a:tr h="171599">
                <a:tc>
                  <a:txBody>
                    <a:bodyPr wrap="square"/>
                    <a:lstStyle/>
                    <a:p>
                      <a:pPr algn="l"/>
                      <a:r>
                        <a:rPr sz="1050" b="0" i="0">
                          <a:solidFill>
                            <a:srgbClr val="000000"/>
                          </a:solidFill>
                          <a:latin typeface="Calibri"/>
                        </a:rPr>
                        <a:t>Table 46: North America Market YoY Growth by Application, %, 2026–2036</a:t>
                      </a:r>
                      <a:endParaRPr sz="1050"/>
                    </a:p>
                  </a:txBody>
                  <a:tcPr marL="9525" marR="9525" marT="9525" marB="0" anchor="ctr"/>
                </a:tc>
              </a:tr>
              <a:tr h="171599">
                <a:tc>
                  <a:txBody>
                    <a:bodyPr wrap="square"/>
                    <a:lstStyle/>
                    <a:p>
                      <a:pPr algn="l"/>
                      <a:r>
                        <a:rPr sz="1050" b="0" i="0">
                          <a:solidFill>
                            <a:srgbClr val="000000"/>
                          </a:solidFill>
                          <a:latin typeface="Calibri"/>
                        </a:rPr>
                        <a:t>Table 47: North America Market YoY Growth by Barrier Level Vs Application, %, 2026–2036</a:t>
                      </a:r>
                      <a:endParaRPr sz="1050"/>
                    </a:p>
                  </a:txBody>
                  <a:tcPr marL="9525" marR="9525" marT="9525" marB="0" anchor="ctr"/>
                </a:tc>
              </a:tr>
              <a:tr h="171599">
                <a:tc>
                  <a:txBody>
                    <a:bodyPr wrap="square"/>
                    <a:lstStyle/>
                    <a:p>
                      <a:pPr algn="l"/>
                      <a:r>
                        <a:rPr sz="1050" b="0" i="0">
                          <a:solidFill>
                            <a:srgbClr val="000000"/>
                          </a:solidFill>
                          <a:latin typeface="Calibri"/>
                        </a:rPr>
                        <a:t>Table 48: North America Market Volume by Product Type, Thousand MT, 2021–2036</a:t>
                      </a:r>
                      <a:endParaRPr sz="1050"/>
                    </a:p>
                  </a:txBody>
                  <a:tcPr marL="9525" marR="9525" marT="9525" marB="0" anchor="ctr"/>
                </a:tc>
              </a:tr>
              <a:tr h="336334">
                <a:tc>
                  <a:txBody>
                    <a:bodyPr wrap="square"/>
                    <a:lstStyle/>
                    <a:p>
                      <a:pPr algn="l"/>
                      <a:r>
                        <a:rPr sz="1050" b="0" i="0">
                          <a:solidFill>
                            <a:srgbClr val="000000"/>
                          </a:solidFill>
                          <a:latin typeface="Calibri"/>
                        </a:rPr>
                        <a:t>Table 49: North America Market Volume by Principal Material / Barrier Technology, Thousand MT, 2021–2036</a:t>
                      </a:r>
                      <a:endParaRPr sz="1050"/>
                    </a:p>
                  </a:txBody>
                  <a:tcPr marL="9525" marR="9525" marT="9525" marB="0" anchor="ctr"/>
                </a:tc>
              </a:tr>
              <a:tr h="171599">
                <a:tc>
                  <a:txBody>
                    <a:bodyPr wrap="square"/>
                    <a:lstStyle/>
                    <a:p>
                      <a:pPr algn="l"/>
                      <a:r>
                        <a:rPr sz="1050" b="0" i="0">
                          <a:solidFill>
                            <a:srgbClr val="000000"/>
                          </a:solidFill>
                          <a:latin typeface="Calibri"/>
                        </a:rPr>
                        <a:t>Table 50: North America Market Volume by Material Structure, Thousand MT, 2021–2036</a:t>
                      </a:r>
                      <a:endParaRPr sz="1050"/>
                    </a:p>
                  </a:txBody>
                  <a:tcPr marL="9525" marR="9525" marT="9525" marB="0" anchor="ctr"/>
                </a:tc>
              </a:tr>
              <a:tr h="171599">
                <a:tc>
                  <a:txBody>
                    <a:bodyPr wrap="square"/>
                    <a:lstStyle/>
                    <a:p>
                      <a:pPr algn="l"/>
                      <a:r>
                        <a:rPr sz="1050" b="0" i="0">
                          <a:solidFill>
                            <a:srgbClr val="000000"/>
                          </a:solidFill>
                          <a:latin typeface="Calibri"/>
                        </a:rPr>
                        <a:t>Table 51: North America Market Volume by Barrier Level, Thousand MT,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(2/5)</a:t>
            </a:r>
          </a:p>
        </p:txBody>
      </p:sp>
      <p:graphicFrame>
        <p:nvGraphicFramePr>
          <p:cNvPr id="9" name="FMI Contents Table"/>
          <p:cNvGraphicFramePr>
            <a:graphicFrameLocks noGrp="1"/>
          </p:cNvGraphicFramePr>
          <p:nvPr/>
        </p:nvGraphicFramePr>
        <p:xfrm>
          <a:off x="142875" y="981075"/>
          <a:ext cx="5876925" cy="5257804"/>
        </p:xfrm>
        <a:graphic>
          <a:graphicData uri="http://schemas.openxmlformats.org/drawingml/2006/table">
            <a:tbl>
              <a:tblPr>
                <a:tableStyleId>{3B4B98B0-60AC-42C2-AFA5-B58CD77FA1E5}</a:tableStyleId>
              </a:tblPr>
              <a:tblGrid>
                <a:gridCol w="5876925"/>
              </a:tblGrid>
              <a:tr h="171824">
                <a:tc>
                  <a:txBody>
                    <a:bodyPr wrap="square"/>
                    <a:lstStyle/>
                    <a:p>
                      <a:pPr algn="l"/>
                      <a:r>
                        <a:rPr sz="1050" b="0" i="0">
                          <a:solidFill>
                            <a:srgbClr val="000000"/>
                          </a:solidFill>
                          <a:latin typeface="Calibri"/>
                        </a:rPr>
                        <a:t>Table 52: North America Market Volume by Application, Thousand MT, 2021–2036</a:t>
                      </a:r>
                      <a:endParaRPr sz="1050"/>
                    </a:p>
                  </a:txBody>
                  <a:tcPr marL="9525" marR="9525" marT="9525" marB="0" anchor="ctr"/>
                </a:tc>
              </a:tr>
              <a:tr h="171824">
                <a:tc>
                  <a:txBody>
                    <a:bodyPr wrap="square"/>
                    <a:lstStyle/>
                    <a:p>
                      <a:pPr algn="l"/>
                      <a:r>
                        <a:rPr sz="1050" b="0" i="0">
                          <a:solidFill>
                            <a:srgbClr val="000000"/>
                          </a:solidFill>
                          <a:latin typeface="Calibri"/>
                        </a:rPr>
                        <a:t>Table 53: North America Market Volume by Barrier Level Vs Application, Thousand MT, 2021–2036</a:t>
                      </a:r>
                      <a:endParaRPr sz="1050"/>
                    </a:p>
                  </a:txBody>
                  <a:tcPr marL="9525" marR="9525" marT="9525" marB="0" anchor="ctr"/>
                </a:tc>
              </a:tr>
              <a:tr h="171824">
                <a:tc>
                  <a:txBody>
                    <a:bodyPr wrap="square"/>
                    <a:lstStyle/>
                    <a:p>
                      <a:pPr algn="l"/>
                      <a:r>
                        <a:rPr sz="1050" b="0" i="0">
                          <a:solidFill>
                            <a:srgbClr val="000000"/>
                          </a:solidFill>
                          <a:latin typeface="Calibri"/>
                        </a:rPr>
                        <a:t>Table 54: North America Market Average Selling Price by Product Type, US$/MT, 2021–2036</a:t>
                      </a:r>
                      <a:endParaRPr sz="1050"/>
                    </a:p>
                  </a:txBody>
                  <a:tcPr marL="9525" marR="9525" marT="9525" marB="0" anchor="ctr"/>
                </a:tc>
              </a:tr>
              <a:tr h="336774">
                <a:tc>
                  <a:txBody>
                    <a:bodyPr wrap="square"/>
                    <a:lstStyle/>
                    <a:p>
                      <a:pPr algn="l"/>
                      <a:r>
                        <a:rPr sz="1050" b="0" i="0">
                          <a:solidFill>
                            <a:srgbClr val="000000"/>
                          </a:solidFill>
                          <a:latin typeface="Calibri"/>
                        </a:rPr>
                        <a:t>Table 55: North America Market Average Selling Price by Principal Material / Barrier Technology, US$/MT, 2021–2036</a:t>
                      </a:r>
                      <a:endParaRPr sz="1050"/>
                    </a:p>
                  </a:txBody>
                  <a:tcPr marL="9525" marR="9525" marT="9525" marB="0" anchor="ctr"/>
                </a:tc>
              </a:tr>
              <a:tr h="171824">
                <a:tc>
                  <a:txBody>
                    <a:bodyPr wrap="square"/>
                    <a:lstStyle/>
                    <a:p>
                      <a:pPr algn="l"/>
                      <a:r>
                        <a:rPr sz="1050" b="0" i="0">
                          <a:solidFill>
                            <a:srgbClr val="000000"/>
                          </a:solidFill>
                          <a:latin typeface="Calibri"/>
                        </a:rPr>
                        <a:t>Table 56: North America Market Average Selling Price by Material Structure, US$/MT, 2021–2036</a:t>
                      </a:r>
                      <a:endParaRPr sz="1050"/>
                    </a:p>
                  </a:txBody>
                  <a:tcPr marL="9525" marR="9525" marT="9525" marB="0" anchor="ctr"/>
                </a:tc>
              </a:tr>
              <a:tr h="171824">
                <a:tc>
                  <a:txBody>
                    <a:bodyPr wrap="square"/>
                    <a:lstStyle/>
                    <a:p>
                      <a:pPr algn="l"/>
                      <a:r>
                        <a:rPr sz="1050" b="0" i="0">
                          <a:solidFill>
                            <a:srgbClr val="000000"/>
                          </a:solidFill>
                          <a:latin typeface="Calibri"/>
                        </a:rPr>
                        <a:t>Table 57: North America Market Average Selling Price by Barrier Level, US$/MT, 2021–2036</a:t>
                      </a:r>
                      <a:endParaRPr sz="1050"/>
                    </a:p>
                  </a:txBody>
                  <a:tcPr marL="9525" marR="9525" marT="9525" marB="0" anchor="ctr"/>
                </a:tc>
              </a:tr>
              <a:tr h="171824">
                <a:tc>
                  <a:txBody>
                    <a:bodyPr wrap="square"/>
                    <a:lstStyle/>
                    <a:p>
                      <a:pPr algn="l"/>
                      <a:r>
                        <a:rPr sz="1050" b="0" i="0">
                          <a:solidFill>
                            <a:srgbClr val="000000"/>
                          </a:solidFill>
                          <a:latin typeface="Calibri"/>
                        </a:rPr>
                        <a:t>Table 58: North America Market Average Selling Price by Application, US$/MT, 2021–2036</a:t>
                      </a:r>
                      <a:endParaRPr sz="1050"/>
                    </a:p>
                  </a:txBody>
                  <a:tcPr marL="9525" marR="9525" marT="9525" marB="0" anchor="ctr"/>
                </a:tc>
              </a:tr>
              <a:tr h="336774">
                <a:tc>
                  <a:txBody>
                    <a:bodyPr wrap="square"/>
                    <a:lstStyle/>
                    <a:p>
                      <a:pPr algn="l"/>
                      <a:r>
                        <a:rPr sz="1050" b="0" i="0">
                          <a:solidFill>
                            <a:srgbClr val="000000"/>
                          </a:solidFill>
                          <a:latin typeface="Calibri"/>
                        </a:rPr>
                        <a:t>Table 59: North America Market Average Selling Price by Barrier Level Vs Application, US$/MT, 2021–2036</a:t>
                      </a:r>
                      <a:endParaRPr sz="1050"/>
                    </a:p>
                  </a:txBody>
                  <a:tcPr marL="9525" marR="9525" marT="9525" marB="0" anchor="ctr"/>
                </a:tc>
              </a:tr>
              <a:tr h="171824">
                <a:tc>
                  <a:txBody>
                    <a:bodyPr wrap="square"/>
                    <a:lstStyle/>
                    <a:p>
                      <a:pPr algn="l"/>
                      <a:r>
                        <a:rPr sz="1050" b="0" i="0">
                          <a:solidFill>
                            <a:srgbClr val="000000"/>
                          </a:solidFill>
                          <a:latin typeface="Calibri"/>
                        </a:rPr>
                        <a:t>Table 60: North America Market Attractiveness Index by Product Type, 2026–2036</a:t>
                      </a:r>
                      <a:endParaRPr sz="1050"/>
                    </a:p>
                  </a:txBody>
                  <a:tcPr marL="9525" marR="9525" marT="9525" marB="0" anchor="ctr"/>
                </a:tc>
              </a:tr>
              <a:tr h="336774">
                <a:tc>
                  <a:txBody>
                    <a:bodyPr wrap="square"/>
                    <a:lstStyle/>
                    <a:p>
                      <a:pPr algn="l"/>
                      <a:r>
                        <a:rPr sz="1050" b="0" i="0">
                          <a:solidFill>
                            <a:srgbClr val="000000"/>
                          </a:solidFill>
                          <a:latin typeface="Calibri"/>
                        </a:rPr>
                        <a:t>Table 61: North America Market Attractiveness Index by Principal Material / Barrier Technology, 2026–2036</a:t>
                      </a:r>
                      <a:endParaRPr sz="1050"/>
                    </a:p>
                  </a:txBody>
                  <a:tcPr marL="9525" marR="9525" marT="9525" marB="0" anchor="ctr"/>
                </a:tc>
              </a:tr>
              <a:tr h="171824">
                <a:tc>
                  <a:txBody>
                    <a:bodyPr wrap="square"/>
                    <a:lstStyle/>
                    <a:p>
                      <a:pPr algn="l"/>
                      <a:r>
                        <a:rPr sz="1050" b="0" i="0">
                          <a:solidFill>
                            <a:srgbClr val="000000"/>
                          </a:solidFill>
                          <a:latin typeface="Calibri"/>
                        </a:rPr>
                        <a:t>Table 62: North America Market Attractiveness Index by Material Structure, 2026–2036</a:t>
                      </a:r>
                      <a:endParaRPr sz="1050"/>
                    </a:p>
                  </a:txBody>
                  <a:tcPr marL="9525" marR="9525" marT="9525" marB="0" anchor="ctr"/>
                </a:tc>
              </a:tr>
              <a:tr h="171824">
                <a:tc>
                  <a:txBody>
                    <a:bodyPr wrap="square"/>
                    <a:lstStyle/>
                    <a:p>
                      <a:pPr algn="l"/>
                      <a:r>
                        <a:rPr sz="1050" b="0" i="0">
                          <a:solidFill>
                            <a:srgbClr val="000000"/>
                          </a:solidFill>
                          <a:latin typeface="Calibri"/>
                        </a:rPr>
                        <a:t>Table 63: North America Market Attractiveness Index by Barrier Level, 2026–2036</a:t>
                      </a:r>
                      <a:endParaRPr sz="1050"/>
                    </a:p>
                  </a:txBody>
                  <a:tcPr marL="9525" marR="9525" marT="9525" marB="0" anchor="ctr"/>
                </a:tc>
              </a:tr>
              <a:tr h="171824">
                <a:tc>
                  <a:txBody>
                    <a:bodyPr wrap="square"/>
                    <a:lstStyle/>
                    <a:p>
                      <a:pPr algn="l"/>
                      <a:r>
                        <a:rPr sz="1050" b="0" i="0">
                          <a:solidFill>
                            <a:srgbClr val="000000"/>
                          </a:solidFill>
                          <a:latin typeface="Calibri"/>
                        </a:rPr>
                        <a:t>Table 64: North America Market Attractiveness Index by Application, 2026–2036</a:t>
                      </a:r>
                      <a:endParaRPr sz="1050"/>
                    </a:p>
                  </a:txBody>
                  <a:tcPr marL="9525" marR="9525" marT="9525" marB="0" anchor="ctr"/>
                </a:tc>
              </a:tr>
              <a:tr h="171824">
                <a:tc>
                  <a:txBody>
                    <a:bodyPr wrap="square"/>
                    <a:lstStyle/>
                    <a:p>
                      <a:pPr algn="l"/>
                      <a:r>
                        <a:rPr sz="1050" b="0" i="0">
                          <a:solidFill>
                            <a:srgbClr val="000000"/>
                          </a:solidFill>
                          <a:latin typeface="Calibri"/>
                        </a:rPr>
                        <a:t>Table 65: North America Market Attractiveness Index by Barrier Level Vs Application, 2026–2036</a:t>
                      </a:r>
                      <a:endParaRPr sz="1050"/>
                    </a:p>
                  </a:txBody>
                  <a:tcPr marL="9525" marR="9525" marT="9525" marB="0" anchor="ctr"/>
                </a:tc>
              </a:tr>
              <a:tr h="336774">
                <a:tc>
                  <a:txBody>
                    <a:bodyPr wrap="square"/>
                    <a:lstStyle/>
                    <a:p>
                      <a:pPr algn="l"/>
                      <a:r>
                        <a:rPr sz="1050" b="0" i="0">
                          <a:solidFill>
                            <a:srgbClr val="000000"/>
                          </a:solidFill>
                          <a:latin typeface="Calibri"/>
                        </a:rPr>
                        <a:t>Table 66: North America Market Value and YoY Growth, Rollstock Films (Product Type), US$ Mn and %, 2021–2036</a:t>
                      </a:r>
                      <a:endParaRPr sz="1050"/>
                    </a:p>
                  </a:txBody>
                  <a:tcPr marL="9525" marR="9525" marT="9525" marB="0" anchor="ctr"/>
                </a:tc>
              </a:tr>
              <a:tr h="336774">
                <a:tc>
                  <a:txBody>
                    <a:bodyPr wrap="square"/>
                    <a:lstStyle/>
                    <a:p>
                      <a:pPr algn="l"/>
                      <a:r>
                        <a:rPr sz="1050" b="0" i="0">
                          <a:solidFill>
                            <a:srgbClr val="000000"/>
                          </a:solidFill>
                          <a:latin typeface="Calibri"/>
                        </a:rPr>
                        <a:t>Table 67: North America Market Value and YoY Growth, PE-Based (Principal Material / Barrier Technology), US$ Mn and %, 2021–2036</a:t>
                      </a:r>
                      <a:endParaRPr sz="1050"/>
                    </a:p>
                  </a:txBody>
                  <a:tcPr marL="9525" marR="9525" marT="9525" marB="0" anchor="ctr"/>
                </a:tc>
              </a:tr>
              <a:tr h="336774">
                <a:tc>
                  <a:txBody>
                    <a:bodyPr wrap="square"/>
                    <a:lstStyle/>
                    <a:p>
                      <a:pPr algn="l"/>
                      <a:r>
                        <a:rPr sz="1050" b="0" i="0">
                          <a:solidFill>
                            <a:srgbClr val="000000"/>
                          </a:solidFill>
                          <a:latin typeface="Calibri"/>
                        </a:rPr>
                        <a:t>Table 68: North America Market Value and YoY Growth, Monolayer Films (Material Structure), US$ Mn and %, 2021–2036</a:t>
                      </a:r>
                      <a:endParaRPr sz="1050"/>
                    </a:p>
                  </a:txBody>
                  <a:tcPr marL="9525" marR="9525" marT="9525" marB="0" anchor="ctr"/>
                </a:tc>
              </a:tr>
              <a:tr h="336774">
                <a:tc>
                  <a:txBody>
                    <a:bodyPr wrap="square"/>
                    <a:lstStyle/>
                    <a:p>
                      <a:pPr algn="l"/>
                      <a:r>
                        <a:rPr sz="1050" b="0" i="0">
                          <a:solidFill>
                            <a:srgbClr val="000000"/>
                          </a:solidFill>
                          <a:latin typeface="Calibri"/>
                        </a:rPr>
                        <a:t>Table 69: North America Market Value and YoY Growth, Low-Barrier Films (Barrier Level), US$ Mn and %, 2021–2036</a:t>
                      </a:r>
                      <a:endParaRPr sz="1050"/>
                    </a:p>
                  </a:txBody>
                  <a:tcPr marL="9525" marR="9525" marT="9525" marB="0" anchor="ctr"/>
                </a:tc>
              </a:tr>
              <a:tr h="336774">
                <a:tc>
                  <a:txBody>
                    <a:bodyPr wrap="square"/>
                    <a:lstStyle/>
                    <a:p>
                      <a:pPr algn="l"/>
                      <a:r>
                        <a:rPr sz="1050" b="0" i="0">
                          <a:solidFill>
                            <a:srgbClr val="000000"/>
                          </a:solidFill>
                          <a:latin typeface="Calibri"/>
                        </a:rPr>
                        <a:t>Table 70: North America Market Value and YoY Growth, Food Packaging (Application), US$ Mn and %, 2021–2036</a:t>
                      </a:r>
                      <a:endParaRPr sz="1050"/>
                    </a:p>
                  </a:txBody>
                  <a:tcPr marL="9525" marR="9525" marT="9525" marB="0" anchor="ctr"/>
                </a:tc>
              </a:tr>
              <a:tr h="336774">
                <a:tc>
                  <a:txBody>
                    <a:bodyPr wrap="square"/>
                    <a:lstStyle/>
                    <a:p>
                      <a:pPr algn="l"/>
                      <a:r>
                        <a:rPr sz="1050" b="0" i="0">
                          <a:solidFill>
                            <a:srgbClr val="000000"/>
                          </a:solidFill>
                          <a:latin typeface="Calibri"/>
                        </a:rPr>
                        <a:t>Table 71: North America Market Value and YoY Growth, Low-Barrier Films (Barrier Level Vs Application), US$ Mn and %, 2021–2036</a:t>
                      </a:r>
                      <a:endParaRPr sz="1050"/>
                    </a:p>
                  </a:txBody>
                  <a:tcPr marL="9525" marR="9525" marT="9525" marB="0" anchor="ctr"/>
                </a:tc>
              </a:tr>
              <a:tr h="336774">
                <a:tc>
                  <a:txBody>
                    <a:bodyPr wrap="square"/>
                    <a:lstStyle/>
                    <a:p>
                      <a:pPr algn="l"/>
                      <a:r>
                        <a:rPr sz="1050" b="0" i="0">
                          <a:solidFill>
                            <a:srgbClr val="000000"/>
                          </a:solidFill>
                          <a:latin typeface="Calibri"/>
                        </a:rPr>
                        <a:t>Table 72: North America Market Value and YoY Growth, Barrier Casings (Product Type), US$ Mn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2"/>
        </p:xfrm>
        <a:graphic>
          <a:graphicData uri="http://schemas.openxmlformats.org/drawingml/2006/table">
            <a:tbl>
              <a:tblPr>
                <a:tableStyleId>{3B4B98B0-60AC-42C2-AFA5-B58CD77FA1E5}</a:tableStyleId>
              </a:tblPr>
              <a:tblGrid>
                <a:gridCol w="5876925"/>
              </a:tblGrid>
              <a:tr h="328194">
                <a:tc>
                  <a:txBody>
                    <a:bodyPr wrap="square"/>
                    <a:lstStyle/>
                    <a:p>
                      <a:pPr algn="l"/>
                      <a:r>
                        <a:rPr sz="1050" b="0" i="0">
                          <a:solidFill>
                            <a:srgbClr val="000000"/>
                          </a:solidFill>
                          <a:latin typeface="Calibri"/>
                        </a:rPr>
                        <a:t>Table 73: North America Market Value and YoY Growth, PP-Based (Principal Material / Barrier Technology), US$ Mn and %, 2021–2036</a:t>
                      </a:r>
                      <a:endParaRPr sz="1050"/>
                    </a:p>
                  </a:txBody>
                  <a:tcPr marL="9525" marR="9525" marT="9525" marB="0" anchor="ctr"/>
                </a:tc>
              </a:tr>
              <a:tr h="328194">
                <a:tc>
                  <a:txBody>
                    <a:bodyPr wrap="square"/>
                    <a:lstStyle/>
                    <a:p>
                      <a:pPr algn="l"/>
                      <a:r>
                        <a:rPr sz="1050" b="0" i="0">
                          <a:solidFill>
                            <a:srgbClr val="000000"/>
                          </a:solidFill>
                          <a:latin typeface="Calibri"/>
                        </a:rPr>
                        <a:t>Table 74: North America Market Value and YoY Growth, Coextruded Multilayer Films (Material Structure), US$ Mn and %, 2021–2036</a:t>
                      </a:r>
                      <a:endParaRPr sz="1050"/>
                    </a:p>
                  </a:txBody>
                  <a:tcPr marL="9525" marR="9525" marT="9525" marB="0" anchor="ctr"/>
                </a:tc>
              </a:tr>
              <a:tr h="328194">
                <a:tc>
                  <a:txBody>
                    <a:bodyPr wrap="square"/>
                    <a:lstStyle/>
                    <a:p>
                      <a:pPr algn="l"/>
                      <a:r>
                        <a:rPr sz="1050" b="0" i="0">
                          <a:solidFill>
                            <a:srgbClr val="000000"/>
                          </a:solidFill>
                          <a:latin typeface="Calibri"/>
                        </a:rPr>
                        <a:t>Table 75: North America Market Value and YoY Growth, Medium-Barrier Films (Barrier Level), US$ Mn and %, 2021–2036</a:t>
                      </a:r>
                      <a:endParaRPr sz="1050"/>
                    </a:p>
                  </a:txBody>
                  <a:tcPr marL="9525" marR="9525" marT="9525" marB="0" anchor="ctr"/>
                </a:tc>
              </a:tr>
              <a:tr h="328194">
                <a:tc>
                  <a:txBody>
                    <a:bodyPr wrap="square"/>
                    <a:lstStyle/>
                    <a:p>
                      <a:pPr algn="l"/>
                      <a:r>
                        <a:rPr sz="1050" b="0" i="0">
                          <a:solidFill>
                            <a:srgbClr val="000000"/>
                          </a:solidFill>
                          <a:latin typeface="Calibri"/>
                        </a:rPr>
                        <a:t>Table 76: North America Market Value and YoY Growth, Non-Food Packaging (Application), US$ Mn and %, 2021–2036</a:t>
                      </a:r>
                      <a:endParaRPr sz="1050"/>
                    </a:p>
                  </a:txBody>
                  <a:tcPr marL="9525" marR="9525" marT="9525" marB="0" anchor="ctr"/>
                </a:tc>
              </a:tr>
              <a:tr h="328194">
                <a:tc>
                  <a:txBody>
                    <a:bodyPr wrap="square"/>
                    <a:lstStyle/>
                    <a:p>
                      <a:pPr algn="l"/>
                      <a:r>
                        <a:rPr sz="1050" b="0" i="0">
                          <a:solidFill>
                            <a:srgbClr val="000000"/>
                          </a:solidFill>
                          <a:latin typeface="Calibri"/>
                        </a:rPr>
                        <a:t>Table 77: North America Market Value and YoY Growth, Medium-Barrier Films (Barrier Level Vs Application), US$ Mn and %, 2021–2036</a:t>
                      </a:r>
                      <a:endParaRPr sz="1050"/>
                    </a:p>
                  </a:txBody>
                  <a:tcPr marL="9525" marR="9525" marT="9525" marB="0" anchor="ctr"/>
                </a:tc>
              </a:tr>
              <a:tr h="328194">
                <a:tc>
                  <a:txBody>
                    <a:bodyPr wrap="square"/>
                    <a:lstStyle/>
                    <a:p>
                      <a:pPr algn="l"/>
                      <a:r>
                        <a:rPr sz="1050" b="0" i="0">
                          <a:solidFill>
                            <a:srgbClr val="000000"/>
                          </a:solidFill>
                          <a:latin typeface="Calibri"/>
                        </a:rPr>
                        <a:t>Table 78: North America Market Value and YoY Growth, Premade Pouches &amp; Bags (Product Type), US$ Mn and %, 2021–2036</a:t>
                      </a:r>
                      <a:endParaRPr sz="1050"/>
                    </a:p>
                  </a:txBody>
                  <a:tcPr marL="9525" marR="9525" marT="9525" marB="0" anchor="ctr"/>
                </a:tc>
              </a:tr>
              <a:tr h="328194">
                <a:tc>
                  <a:txBody>
                    <a:bodyPr wrap="square"/>
                    <a:lstStyle/>
                    <a:p>
                      <a:pPr algn="l"/>
                      <a:r>
                        <a:rPr sz="1050" b="0" i="0">
                          <a:solidFill>
                            <a:srgbClr val="000000"/>
                          </a:solidFill>
                          <a:latin typeface="Calibri"/>
                        </a:rPr>
                        <a:t>Table 79: North America Market Value and YoY Growth, PET-Based (Principal Material / Barrier Technology), US$ Mn and %, 2021–2036</a:t>
                      </a:r>
                      <a:endParaRPr sz="1050"/>
                    </a:p>
                  </a:txBody>
                  <a:tcPr marL="9525" marR="9525" marT="9525" marB="0" anchor="ctr"/>
                </a:tc>
              </a:tr>
              <a:tr h="328194">
                <a:tc>
                  <a:txBody>
                    <a:bodyPr wrap="square"/>
                    <a:lstStyle/>
                    <a:p>
                      <a:pPr algn="l"/>
                      <a:r>
                        <a:rPr sz="1050" b="0" i="0">
                          <a:solidFill>
                            <a:srgbClr val="000000"/>
                          </a:solidFill>
                          <a:latin typeface="Calibri"/>
                        </a:rPr>
                        <a:t>Table 80: North America Market Value and YoY Growth, Laminated Films (Material Structure), US$ Mn and %, 2021–2036</a:t>
                      </a:r>
                      <a:endParaRPr sz="1050"/>
                    </a:p>
                  </a:txBody>
                  <a:tcPr marL="9525" marR="9525" marT="9525" marB="0" anchor="ctr"/>
                </a:tc>
              </a:tr>
              <a:tr h="328194">
                <a:tc>
                  <a:txBody>
                    <a:bodyPr wrap="square"/>
                    <a:lstStyle/>
                    <a:p>
                      <a:pPr algn="l"/>
                      <a:r>
                        <a:rPr sz="1050" b="0" i="0">
                          <a:solidFill>
                            <a:srgbClr val="000000"/>
                          </a:solidFill>
                          <a:latin typeface="Calibri"/>
                        </a:rPr>
                        <a:t>Table 81: North America Market Value and YoY Growth, High-Barrier Films (Barrier Level), US$ Mn and %, 2021–2036</a:t>
                      </a:r>
                      <a:endParaRPr sz="1050"/>
                    </a:p>
                  </a:txBody>
                  <a:tcPr marL="9525" marR="9525" marT="9525" marB="0" anchor="ctr"/>
                </a:tc>
              </a:tr>
              <a:tr h="167446">
                <a:tc>
                  <a:txBody>
                    <a:bodyPr wrap="square"/>
                    <a:lstStyle/>
                    <a:p>
                      <a:pPr algn="l"/>
                      <a:r>
                        <a:rPr sz="1050" b="0" i="0">
                          <a:solidFill>
                            <a:srgbClr val="000000"/>
                          </a:solidFill>
                          <a:latin typeface="Calibri"/>
                        </a:rPr>
                        <a:t>Table 82: North America Market Value by Application by Scenario, US$ Mn, 2036</a:t>
                      </a:r>
                      <a:endParaRPr sz="1050"/>
                    </a:p>
                  </a:txBody>
                  <a:tcPr marL="9525" marR="9525" marT="9525" marB="0" anchor="ctr"/>
                </a:tc>
              </a:tr>
              <a:tr h="328194">
                <a:tc>
                  <a:txBody>
                    <a:bodyPr wrap="square"/>
                    <a:lstStyle/>
                    <a:p>
                      <a:pPr algn="l"/>
                      <a:r>
                        <a:rPr sz="1050" b="0" i="0">
                          <a:solidFill>
                            <a:srgbClr val="000000"/>
                          </a:solidFill>
                          <a:latin typeface="Calibri"/>
                        </a:rPr>
                        <a:t>Table 83: North America Market Value and YoY Growth, High-Barrier Films (Barrier Level Vs Application), US$ Mn and %, 2021–2036</a:t>
                      </a:r>
                      <a:endParaRPr sz="1050"/>
                    </a:p>
                  </a:txBody>
                  <a:tcPr marL="9525" marR="9525" marT="9525" marB="0" anchor="ctr"/>
                </a:tc>
              </a:tr>
              <a:tr h="328194">
                <a:tc>
                  <a:txBody>
                    <a:bodyPr wrap="square"/>
                    <a:lstStyle/>
                    <a:p>
                      <a:pPr algn="l"/>
                      <a:r>
                        <a:rPr sz="1050" b="0" i="0">
                          <a:solidFill>
                            <a:srgbClr val="000000"/>
                          </a:solidFill>
                          <a:latin typeface="Calibri"/>
                        </a:rPr>
                        <a:t>Table 84: North America Market Value and YoY Growth, Sachets &amp; Stick Packs (Product Type), US$ Mn and %, 2021–2036</a:t>
                      </a:r>
                      <a:endParaRPr sz="1050"/>
                    </a:p>
                  </a:txBody>
                  <a:tcPr marL="9525" marR="9525" marT="9525" marB="0" anchor="ctr"/>
                </a:tc>
              </a:tr>
              <a:tr h="328194">
                <a:tc>
                  <a:txBody>
                    <a:bodyPr wrap="square"/>
                    <a:lstStyle/>
                    <a:p>
                      <a:pPr algn="l"/>
                      <a:r>
                        <a:rPr sz="1050" b="0" i="0">
                          <a:solidFill>
                            <a:srgbClr val="000000"/>
                          </a:solidFill>
                          <a:latin typeface="Calibri"/>
                        </a:rPr>
                        <a:t>Table 85: North America Market Value and YoY Growth, PA-Based (Principal Material / Barrier Technology), US$ Mn and %, 2021–2036</a:t>
                      </a:r>
                      <a:endParaRPr sz="1050"/>
                    </a:p>
                  </a:txBody>
                  <a:tcPr marL="9525" marR="9525" marT="9525" marB="0" anchor="ctr"/>
                </a:tc>
              </a:tr>
              <a:tr h="328194">
                <a:tc>
                  <a:txBody>
                    <a:bodyPr wrap="square"/>
                    <a:lstStyle/>
                    <a:p>
                      <a:pPr algn="l"/>
                      <a:r>
                        <a:rPr sz="1050" b="0" i="0">
                          <a:solidFill>
                            <a:srgbClr val="000000"/>
                          </a:solidFill>
                          <a:latin typeface="Calibri"/>
                        </a:rPr>
                        <a:t>Table 86: North America Market Value and YoY Growth, Coated Films (Material Structure), US$ Mn and %, 2021–2036</a:t>
                      </a:r>
                      <a:endParaRPr sz="1050"/>
                    </a:p>
                  </a:txBody>
                  <a:tcPr marL="9525" marR="9525" marT="9525" marB="0" anchor="ctr"/>
                </a:tc>
              </a:tr>
              <a:tr h="328194">
                <a:tc>
                  <a:txBody>
                    <a:bodyPr wrap="square"/>
                    <a:lstStyle/>
                    <a:p>
                      <a:pPr algn="l"/>
                      <a:r>
                        <a:rPr sz="1050" b="0" i="0">
                          <a:solidFill>
                            <a:srgbClr val="000000"/>
                          </a:solidFill>
                          <a:latin typeface="Calibri"/>
                        </a:rPr>
                        <a:t>Table 87: North America Market Value and YoY Growth, Ultra-High-Barrier Films (Barrier Level), US$ Mn and %, 2021–2036</a:t>
                      </a:r>
                      <a:endParaRPr sz="1050"/>
                    </a:p>
                  </a:txBody>
                  <a:tcPr marL="9525" marR="9525" marT="9525" marB="0" anchor="ctr"/>
                </a:tc>
              </a:tr>
              <a:tr h="328194">
                <a:tc>
                  <a:txBody>
                    <a:bodyPr wrap="square"/>
                    <a:lstStyle/>
                    <a:p>
                      <a:pPr algn="l"/>
                      <a:r>
                        <a:rPr sz="1050" b="0" i="0">
                          <a:solidFill>
                            <a:srgbClr val="000000"/>
                          </a:solidFill>
                          <a:latin typeface="Calibri"/>
                        </a:rPr>
                        <a:t>Table 88: North America Market Value and YoY Growth, Ultra-High-Barrier Films (Barrier Level Vs Application), US$ Mn and %, 2021–2036</a:t>
                      </a:r>
                      <a:endParaRPr sz="1050"/>
                    </a:p>
                  </a:txBody>
                  <a:tcPr marL="9525" marR="9525" marT="9525" marB="0" anchor="ctr"/>
                </a:tc>
              </a:tr>
              <a:tr h="167446">
                <a:tc>
                  <a:txBody>
                    <a:bodyPr wrap="square"/>
                    <a:lstStyle/>
                    <a:p>
                      <a:pPr algn="l"/>
                      <a:r>
                        <a:rPr sz="1050" b="0" i="0">
                          <a:solidFill>
                            <a:srgbClr val="000000"/>
                          </a:solidFill>
                          <a:latin typeface="Calibri"/>
                        </a:rPr>
                        <a:t>Table 89: North America Market Value by Product Type by Scenario, US$ Mn, 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(3/5)</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327360">
                <a:tc>
                  <a:txBody>
                    <a:bodyPr wrap="square"/>
                    <a:lstStyle/>
                    <a:p>
                      <a:pPr algn="l"/>
                      <a:r>
                        <a:rPr sz="1050" b="0" i="0">
                          <a:solidFill>
                            <a:srgbClr val="000000"/>
                          </a:solidFill>
                          <a:latin typeface="Calibri"/>
                        </a:rPr>
                        <a:t>Table 90: North America Market Value and YoY Growth, EVOH-Based (Principal Material / Barrier Technology), US$ Mn and %, 2021–2036</a:t>
                      </a:r>
                      <a:endParaRPr sz="1050"/>
                    </a:p>
                  </a:txBody>
                  <a:tcPr marL="9525" marR="9525" marT="9525" marB="0" anchor="ctr"/>
                </a:tc>
              </a:tr>
              <a:tr h="327360">
                <a:tc>
                  <a:txBody>
                    <a:bodyPr wrap="square"/>
                    <a:lstStyle/>
                    <a:p>
                      <a:pPr algn="l"/>
                      <a:r>
                        <a:rPr sz="1050" b="0" i="0">
                          <a:solidFill>
                            <a:srgbClr val="000000"/>
                          </a:solidFill>
                          <a:latin typeface="Calibri"/>
                        </a:rPr>
                        <a:t>Table 91: North America Market Value and YoY Growth, Metallized Films (Material Structure), US$ Mn and %, 2021–2036</a:t>
                      </a:r>
                      <a:endParaRPr sz="1050"/>
                    </a:p>
                  </a:txBody>
                  <a:tcPr marL="9525" marR="9525" marT="9525" marB="0" anchor="ctr"/>
                </a:tc>
              </a:tr>
              <a:tr h="167020">
                <a:tc>
                  <a:txBody>
                    <a:bodyPr wrap="square"/>
                    <a:lstStyle/>
                    <a:p>
                      <a:pPr algn="l"/>
                      <a:r>
                        <a:rPr sz="1050" b="0" i="0">
                          <a:solidFill>
                            <a:srgbClr val="000000"/>
                          </a:solidFill>
                          <a:latin typeface="Calibri"/>
                        </a:rPr>
                        <a:t>Table 92: North America Market Value by Barrier Level by Scenario, US$ Mn, 2036</a:t>
                      </a:r>
                      <a:endParaRPr sz="1050"/>
                    </a:p>
                  </a:txBody>
                  <a:tcPr marL="9525" marR="9525" marT="9525" marB="0" anchor="ctr"/>
                </a:tc>
              </a:tr>
              <a:tr h="167020">
                <a:tc>
                  <a:txBody>
                    <a:bodyPr wrap="square"/>
                    <a:lstStyle/>
                    <a:p>
                      <a:pPr algn="l"/>
                      <a:r>
                        <a:rPr sz="1050" b="0" i="0">
                          <a:solidFill>
                            <a:srgbClr val="000000"/>
                          </a:solidFill>
                          <a:latin typeface="Calibri"/>
                        </a:rPr>
                        <a:t>Table 93: North America Market Value by Barrier Level Vs Application by Scenario, US$ Mn, 2036</a:t>
                      </a:r>
                      <a:endParaRPr sz="1050"/>
                    </a:p>
                  </a:txBody>
                  <a:tcPr marL="9525" marR="9525" marT="9525" marB="0" anchor="ctr"/>
                </a:tc>
              </a:tr>
              <a:tr h="327360">
                <a:tc>
                  <a:txBody>
                    <a:bodyPr wrap="square"/>
                    <a:lstStyle/>
                    <a:p>
                      <a:pPr algn="l"/>
                      <a:r>
                        <a:rPr sz="1050" b="0" i="0">
                          <a:solidFill>
                            <a:srgbClr val="000000"/>
                          </a:solidFill>
                          <a:latin typeface="Calibri"/>
                        </a:rPr>
                        <a:t>Table 94: North America Market Value and YoY Growth, PVDC-Based (Principal Material / Barrier Technology), US$ Mn and %, 2021–2036</a:t>
                      </a:r>
                      <a:endParaRPr sz="1050"/>
                    </a:p>
                  </a:txBody>
                  <a:tcPr marL="9525" marR="9525" marT="9525" marB="0" anchor="ctr"/>
                </a:tc>
              </a:tr>
              <a:tr h="327360">
                <a:tc>
                  <a:txBody>
                    <a:bodyPr wrap="square"/>
                    <a:lstStyle/>
                    <a:p>
                      <a:pPr algn="l"/>
                      <a:r>
                        <a:rPr sz="1050" b="0" i="0">
                          <a:solidFill>
                            <a:srgbClr val="000000"/>
                          </a:solidFill>
                          <a:latin typeface="Calibri"/>
                        </a:rPr>
                        <a:t>Table 95: North America Market Value and YoY Growth, Foil-Laminated Structures (Material Structure), US$ Mn and %, 2021–2036</a:t>
                      </a:r>
                      <a:endParaRPr sz="1050"/>
                    </a:p>
                  </a:txBody>
                  <a:tcPr marL="9525" marR="9525" marT="9525" marB="0" anchor="ctr"/>
                </a:tc>
              </a:tr>
              <a:tr h="327360">
                <a:tc>
                  <a:txBody>
                    <a:bodyPr wrap="square"/>
                    <a:lstStyle/>
                    <a:p>
                      <a:pPr algn="l"/>
                      <a:r>
                        <a:rPr sz="1050" b="0" i="0">
                          <a:solidFill>
                            <a:srgbClr val="000000"/>
                          </a:solidFill>
                          <a:latin typeface="Calibri"/>
                        </a:rPr>
                        <a:t>Table 96: North America Market Value and YoY Growth, PVOH-Based (Principal Material / Barrier Technology), US$ Mn and %, 2021–2036</a:t>
                      </a:r>
                      <a:endParaRPr sz="1050"/>
                    </a:p>
                  </a:txBody>
                  <a:tcPr marL="9525" marR="9525" marT="9525" marB="0" anchor="ctr"/>
                </a:tc>
              </a:tr>
              <a:tr h="327360">
                <a:tc>
                  <a:txBody>
                    <a:bodyPr wrap="square"/>
                    <a:lstStyle/>
                    <a:p>
                      <a:pPr algn="l"/>
                      <a:r>
                        <a:rPr sz="1050" b="0" i="0">
                          <a:solidFill>
                            <a:srgbClr val="000000"/>
                          </a:solidFill>
                          <a:latin typeface="Calibri"/>
                        </a:rPr>
                        <a:t>Table 97: North America Market Value and YoY Growth, Mono-Material Recyclable Structures (Material Structure), US$ Mn and %, 2021–2036</a:t>
                      </a:r>
                      <a:endParaRPr sz="1050"/>
                    </a:p>
                  </a:txBody>
                  <a:tcPr marL="9525" marR="9525" marT="9525" marB="0" anchor="ctr"/>
                </a:tc>
              </a:tr>
              <a:tr h="327360">
                <a:tc>
                  <a:txBody>
                    <a:bodyPr wrap="square"/>
                    <a:lstStyle/>
                    <a:p>
                      <a:pPr algn="l"/>
                      <a:r>
                        <a:rPr sz="1050" b="0" i="0">
                          <a:solidFill>
                            <a:srgbClr val="000000"/>
                          </a:solidFill>
                          <a:latin typeface="Calibri"/>
                        </a:rPr>
                        <a:t>Table 98: North America Market Value and YoY Growth, Metallized Barrier (Principal Material / Barrier Technology), US$ Mn and %, 2021–2036</a:t>
                      </a:r>
                      <a:endParaRPr sz="1050"/>
                    </a:p>
                  </a:txBody>
                  <a:tcPr marL="9525" marR="9525" marT="9525" marB="0" anchor="ctr"/>
                </a:tc>
              </a:tr>
              <a:tr h="167020">
                <a:tc>
                  <a:txBody>
                    <a:bodyPr wrap="square"/>
                    <a:lstStyle/>
                    <a:p>
                      <a:pPr algn="l"/>
                      <a:r>
                        <a:rPr sz="1050" b="0" i="0">
                          <a:solidFill>
                            <a:srgbClr val="000000"/>
                          </a:solidFill>
                          <a:latin typeface="Calibri"/>
                        </a:rPr>
                        <a:t>Table 99: North America Market Value by Material Structure by Scenario, US$ Mn, 2036</a:t>
                      </a:r>
                      <a:endParaRPr sz="1050"/>
                    </a:p>
                  </a:txBody>
                  <a:tcPr marL="9525" marR="9525" marT="9525" marB="0" anchor="ctr"/>
                </a:tc>
              </a:tr>
              <a:tr h="327360">
                <a:tc>
                  <a:txBody>
                    <a:bodyPr wrap="square"/>
                    <a:lstStyle/>
                    <a:p>
                      <a:pPr algn="l"/>
                      <a:r>
                        <a:rPr sz="1050" b="0" i="0">
                          <a:solidFill>
                            <a:srgbClr val="000000"/>
                          </a:solidFill>
                          <a:latin typeface="Calibri"/>
                        </a:rPr>
                        <a:t>Table 100: North America Market Value and YoY Growth, AlOx / SiOx-Coated (Principal Material / Barrier Technology), US$ Mn and %, 2021–2036</a:t>
                      </a:r>
                      <a:endParaRPr sz="1050"/>
                    </a:p>
                  </a:txBody>
                  <a:tcPr marL="9525" marR="9525" marT="9525" marB="0" anchor="ctr"/>
                </a:tc>
              </a:tr>
              <a:tr h="327360">
                <a:tc>
                  <a:txBody>
                    <a:bodyPr wrap="square"/>
                    <a:lstStyle/>
                    <a:p>
                      <a:pPr algn="l"/>
                      <a:r>
                        <a:rPr sz="1050" b="0" i="0">
                          <a:solidFill>
                            <a:srgbClr val="000000"/>
                          </a:solidFill>
                          <a:latin typeface="Calibri"/>
                        </a:rPr>
                        <a:t>Table 101: North America Market Value and YoY Growth, Aluminum Foil-Based (Principal Material / Barrier Technology), US$ Mn and %, 2021–2036</a:t>
                      </a:r>
                      <a:endParaRPr sz="1050"/>
                    </a:p>
                  </a:txBody>
                  <a:tcPr marL="9525" marR="9525" marT="9525" marB="0" anchor="ctr"/>
                </a:tc>
              </a:tr>
              <a:tr h="327360">
                <a:tc>
                  <a:txBody>
                    <a:bodyPr wrap="square"/>
                    <a:lstStyle/>
                    <a:p>
                      <a:pPr algn="l"/>
                      <a:r>
                        <a:rPr sz="1050" b="0" i="0">
                          <a:solidFill>
                            <a:srgbClr val="000000"/>
                          </a:solidFill>
                          <a:latin typeface="Calibri"/>
                        </a:rPr>
                        <a:t>Table 102: North America Market Value and YoY Growth, Other Specialty Barrier Technologies (Principal Material / Barrier Technology), US$ Mn and %, 2021–2036</a:t>
                      </a:r>
                      <a:endParaRPr sz="1050"/>
                    </a:p>
                  </a:txBody>
                  <a:tcPr marL="9525" marR="9525" marT="9525" marB="0" anchor="ctr"/>
                </a:tc>
              </a:tr>
              <a:tr h="327360">
                <a:tc>
                  <a:txBody>
                    <a:bodyPr wrap="square"/>
                    <a:lstStyle/>
                    <a:p>
                      <a:pPr algn="l"/>
                      <a:r>
                        <a:rPr sz="1050" b="0" i="0">
                          <a:solidFill>
                            <a:srgbClr val="000000"/>
                          </a:solidFill>
                          <a:latin typeface="Calibri"/>
                        </a:rPr>
                        <a:t>Table 103: North America Market Value by Principal Material / Barrier Technology by Scenario, US$ Mn, 2036</a:t>
                      </a:r>
                      <a:endParaRPr sz="1050"/>
                    </a:p>
                  </a:txBody>
                  <a:tcPr marL="9525" marR="9525" marT="9525" marB="0" anchor="ctr"/>
                </a:tc>
              </a:tr>
              <a:tr h="327360">
                <a:tc>
                  <a:txBody>
                    <a:bodyPr wrap="square"/>
                    <a:lstStyle/>
                    <a:p>
                      <a:pPr algn="l"/>
                      <a:r>
                        <a:rPr sz="1050" b="0" i="0">
                          <a:solidFill>
                            <a:srgbClr val="000000"/>
                          </a:solidFill>
                          <a:latin typeface="Calibri"/>
                        </a:rPr>
                        <a:t>Table 104: North America Market Value by Product Type and Principal Material / Barrier Technology, US$ Mn, 2026–2036</a:t>
                      </a:r>
                      <a:endParaRPr sz="1050"/>
                    </a:p>
                  </a:txBody>
                  <a:tcPr marL="9525" marR="9525" marT="9525" marB="0" anchor="ctr"/>
                </a:tc>
              </a:tr>
              <a:tr h="167020">
                <a:tc>
                  <a:txBody>
                    <a:bodyPr wrap="square"/>
                    <a:lstStyle/>
                    <a:p>
                      <a:pPr algn="l"/>
                      <a:r>
                        <a:rPr sz="1050" b="0" i="0">
                          <a:solidFill>
                            <a:srgbClr val="000000"/>
                          </a:solidFill>
                          <a:latin typeface="Calibri"/>
                        </a:rPr>
                        <a:t>Table 105: North America Market Value by Product Type and Material Structure, US$ Mn, 2026–2036</a:t>
                      </a:r>
                      <a:endParaRPr sz="1050"/>
                    </a:p>
                  </a:txBody>
                  <a:tcPr marL="9525" marR="9525" marT="9525" marB="0" anchor="ctr"/>
                </a:tc>
              </a:tr>
              <a:tr h="167020">
                <a:tc>
                  <a:txBody>
                    <a:bodyPr wrap="square"/>
                    <a:lstStyle/>
                    <a:p>
                      <a:pPr algn="l"/>
                      <a:r>
                        <a:rPr sz="1050" b="0" i="0">
                          <a:solidFill>
                            <a:srgbClr val="000000"/>
                          </a:solidFill>
                          <a:latin typeface="Calibri"/>
                        </a:rPr>
                        <a:t>Table 106: North America Market Value by Product Type and Barrier Level, US$ Mn, 2026–2036</a:t>
                      </a:r>
                      <a:endParaRPr sz="1050"/>
                    </a:p>
                  </a:txBody>
                  <a:tcPr marL="9525" marR="9525" marT="9525" marB="0" anchor="ctr"/>
                </a:tc>
              </a:tr>
              <a:tr h="167020">
                <a:tc>
                  <a:txBody>
                    <a:bodyPr wrap="square"/>
                    <a:lstStyle/>
                    <a:p>
                      <a:pPr algn="l"/>
                      <a:r>
                        <a:rPr sz="1050" b="0" i="0">
                          <a:solidFill>
                            <a:srgbClr val="000000"/>
                          </a:solidFill>
                          <a:latin typeface="Calibri"/>
                        </a:rPr>
                        <a:t>Table 107: North America Market Value by Product Type and Application, US$ Mn, 2026–2036</a:t>
                      </a:r>
                      <a:endParaRPr sz="1050"/>
                    </a:p>
                  </a:txBody>
                  <a:tcPr marL="9525" marR="9525" marT="9525" marB="0" anchor="ctr"/>
                </a:tc>
              </a:tr>
              <a:tr h="327360">
                <a:tc>
                  <a:txBody>
                    <a:bodyPr wrap="square"/>
                    <a:lstStyle/>
                    <a:p>
                      <a:pPr algn="l"/>
                      <a:r>
                        <a:rPr sz="1050" b="0" i="0">
                          <a:solidFill>
                            <a:srgbClr val="000000"/>
                          </a:solidFill>
                          <a:latin typeface="Calibri"/>
                        </a:rPr>
                        <a:t>Table 108: North America Market Value by Product Type and Barrier Level Vs Application,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327360">
                <a:tc>
                  <a:txBody>
                    <a:bodyPr wrap="square"/>
                    <a:lstStyle/>
                    <a:p>
                      <a:pPr algn="l"/>
                      <a:r>
                        <a:rPr sz="1050" b="0" i="0">
                          <a:solidFill>
                            <a:srgbClr val="000000"/>
                          </a:solidFill>
                          <a:latin typeface="Calibri"/>
                        </a:rPr>
                        <a:t>Table 109: North America Market Value by Principal Material / Barrier Technology and Material Structure, US$ Mn, 2026–2036</a:t>
                      </a:r>
                      <a:endParaRPr sz="1050"/>
                    </a:p>
                  </a:txBody>
                  <a:tcPr marL="9525" marR="9525" marT="9525" marB="0" anchor="ctr"/>
                </a:tc>
              </a:tr>
              <a:tr h="327360">
                <a:tc>
                  <a:txBody>
                    <a:bodyPr wrap="square"/>
                    <a:lstStyle/>
                    <a:p>
                      <a:pPr algn="l"/>
                      <a:r>
                        <a:rPr sz="1050" b="0" i="0">
                          <a:solidFill>
                            <a:srgbClr val="000000"/>
                          </a:solidFill>
                          <a:latin typeface="Calibri"/>
                        </a:rPr>
                        <a:t>Table 110: North America Market Value by Principal Material / Barrier Technology and Barrier Level, US$ Mn, 2026–2036</a:t>
                      </a:r>
                      <a:endParaRPr sz="1050"/>
                    </a:p>
                  </a:txBody>
                  <a:tcPr marL="9525" marR="9525" marT="9525" marB="0" anchor="ctr"/>
                </a:tc>
              </a:tr>
              <a:tr h="327360">
                <a:tc>
                  <a:txBody>
                    <a:bodyPr wrap="square"/>
                    <a:lstStyle/>
                    <a:p>
                      <a:pPr algn="l"/>
                      <a:r>
                        <a:rPr sz="1050" b="0" i="0">
                          <a:solidFill>
                            <a:srgbClr val="000000"/>
                          </a:solidFill>
                          <a:latin typeface="Calibri"/>
                        </a:rPr>
                        <a:t>Table 111: North America Market Value by Principal Material / Barrier Technology and Application, US$ Mn, 2026–2036</a:t>
                      </a:r>
                      <a:endParaRPr sz="1050"/>
                    </a:p>
                  </a:txBody>
                  <a:tcPr marL="9525" marR="9525" marT="9525" marB="0" anchor="ctr"/>
                </a:tc>
              </a:tr>
              <a:tr h="327360">
                <a:tc>
                  <a:txBody>
                    <a:bodyPr wrap="square"/>
                    <a:lstStyle/>
                    <a:p>
                      <a:pPr algn="l"/>
                      <a:r>
                        <a:rPr sz="1050" b="0" i="0">
                          <a:solidFill>
                            <a:srgbClr val="000000"/>
                          </a:solidFill>
                          <a:latin typeface="Calibri"/>
                        </a:rPr>
                        <a:t>Table 112: North America Market Value by Principal Material / Barrier Technology and Barrier Level Vs Application, US$ Mn, 2026–2036</a:t>
                      </a:r>
                      <a:endParaRPr sz="1050"/>
                    </a:p>
                  </a:txBody>
                  <a:tcPr marL="9525" marR="9525" marT="9525" marB="0" anchor="ctr"/>
                </a:tc>
              </a:tr>
              <a:tr h="167020">
                <a:tc>
                  <a:txBody>
                    <a:bodyPr wrap="square"/>
                    <a:lstStyle/>
                    <a:p>
                      <a:pPr algn="l"/>
                      <a:r>
                        <a:rPr sz="1050" b="0" i="0">
                          <a:solidFill>
                            <a:srgbClr val="000000"/>
                          </a:solidFill>
                          <a:latin typeface="Calibri"/>
                        </a:rPr>
                        <a:t>Table 113: North America Market Value by Material Structure and Barrier Level, US$ Mn, 2026–2036</a:t>
                      </a:r>
                      <a:endParaRPr sz="1050"/>
                    </a:p>
                  </a:txBody>
                  <a:tcPr marL="9525" marR="9525" marT="9525" marB="0" anchor="ctr"/>
                </a:tc>
              </a:tr>
              <a:tr h="167020">
                <a:tc>
                  <a:txBody>
                    <a:bodyPr wrap="square"/>
                    <a:lstStyle/>
                    <a:p>
                      <a:pPr algn="l"/>
                      <a:r>
                        <a:rPr sz="1050" b="0" i="0">
                          <a:solidFill>
                            <a:srgbClr val="000000"/>
                          </a:solidFill>
                          <a:latin typeface="Calibri"/>
                        </a:rPr>
                        <a:t>Table 114: North America Market Value by Material Structure and Application, US$ Mn, 2026–2036</a:t>
                      </a:r>
                      <a:endParaRPr sz="1050"/>
                    </a:p>
                  </a:txBody>
                  <a:tcPr marL="9525" marR="9525" marT="9525" marB="0" anchor="ctr"/>
                </a:tc>
              </a:tr>
              <a:tr h="327360">
                <a:tc>
                  <a:txBody>
                    <a:bodyPr wrap="square"/>
                    <a:lstStyle/>
                    <a:p>
                      <a:pPr algn="l"/>
                      <a:r>
                        <a:rPr sz="1050" b="0" i="0">
                          <a:solidFill>
                            <a:srgbClr val="000000"/>
                          </a:solidFill>
                          <a:latin typeface="Calibri"/>
                        </a:rPr>
                        <a:t>Table 115: North America Market Value by Material Structure and Barrier Level Vs Application, US$ Mn, 2026–2036</a:t>
                      </a:r>
                      <a:endParaRPr sz="1050"/>
                    </a:p>
                  </a:txBody>
                  <a:tcPr marL="9525" marR="9525" marT="9525" marB="0" anchor="ctr"/>
                </a:tc>
              </a:tr>
              <a:tr h="167020">
                <a:tc>
                  <a:txBody>
                    <a:bodyPr wrap="square"/>
                    <a:lstStyle/>
                    <a:p>
                      <a:pPr algn="l"/>
                      <a:r>
                        <a:rPr sz="1050" b="0" i="0">
                          <a:solidFill>
                            <a:srgbClr val="000000"/>
                          </a:solidFill>
                          <a:latin typeface="Calibri"/>
                        </a:rPr>
                        <a:t>Table 116: North America Market Value by Barrier Level and Application, US$ Mn, 2026–2036</a:t>
                      </a:r>
                      <a:endParaRPr sz="1050"/>
                    </a:p>
                  </a:txBody>
                  <a:tcPr marL="9525" marR="9525" marT="9525" marB="0" anchor="ctr"/>
                </a:tc>
              </a:tr>
              <a:tr h="327360">
                <a:tc>
                  <a:txBody>
                    <a:bodyPr wrap="square"/>
                    <a:lstStyle/>
                    <a:p>
                      <a:pPr algn="l"/>
                      <a:r>
                        <a:rPr sz="1050" b="0" i="0">
                          <a:solidFill>
                            <a:srgbClr val="000000"/>
                          </a:solidFill>
                          <a:latin typeface="Calibri"/>
                        </a:rPr>
                        <a:t>Table 117: North America Market Value by Barrier Level and Barrier Level Vs Application, US$ Mn, 2026–2036</a:t>
                      </a:r>
                      <a:endParaRPr sz="1050"/>
                    </a:p>
                  </a:txBody>
                  <a:tcPr marL="9525" marR="9525" marT="9525" marB="0" anchor="ctr"/>
                </a:tc>
              </a:tr>
              <a:tr h="327360">
                <a:tc>
                  <a:txBody>
                    <a:bodyPr wrap="square"/>
                    <a:lstStyle/>
                    <a:p>
                      <a:pPr algn="l"/>
                      <a:r>
                        <a:rPr sz="1050" b="0" i="0">
                          <a:solidFill>
                            <a:srgbClr val="000000"/>
                          </a:solidFill>
                          <a:latin typeface="Calibri"/>
                        </a:rPr>
                        <a:t>Table 118: North America Market Value by Application and Barrier Level Vs Application, US$ Mn, 2026–2036</a:t>
                      </a:r>
                      <a:endParaRPr sz="1050"/>
                    </a:p>
                  </a:txBody>
                  <a:tcPr marL="9525" marR="9525" marT="9525" marB="0" anchor="ctr"/>
                </a:tc>
              </a:tr>
              <a:tr h="327360">
                <a:tc>
                  <a:txBody>
                    <a:bodyPr wrap="square"/>
                    <a:lstStyle/>
                    <a:p>
                      <a:pPr algn="l"/>
                      <a:r>
                        <a:rPr sz="1050" b="0" i="0">
                          <a:solidFill>
                            <a:srgbClr val="000000"/>
                          </a:solidFill>
                          <a:latin typeface="Calibri"/>
                        </a:rPr>
                        <a:t>Table 119: North America Market CAGR by Product Type and Principal Material / Barrier Technology, %, 2026–2036</a:t>
                      </a:r>
                      <a:endParaRPr sz="1050"/>
                    </a:p>
                  </a:txBody>
                  <a:tcPr marL="9525" marR="9525" marT="9525" marB="0" anchor="ctr"/>
                </a:tc>
              </a:tr>
              <a:tr h="167020">
                <a:tc>
                  <a:txBody>
                    <a:bodyPr wrap="square"/>
                    <a:lstStyle/>
                    <a:p>
                      <a:pPr algn="l"/>
                      <a:r>
                        <a:rPr sz="1050" b="0" i="0">
                          <a:solidFill>
                            <a:srgbClr val="000000"/>
                          </a:solidFill>
                          <a:latin typeface="Calibri"/>
                        </a:rPr>
                        <a:t>Table 120: North America Market CAGR by Product Type and Material Structure, %, 2026–2036</a:t>
                      </a:r>
                      <a:endParaRPr sz="1050"/>
                    </a:p>
                  </a:txBody>
                  <a:tcPr marL="9525" marR="9525" marT="9525" marB="0" anchor="ctr"/>
                </a:tc>
              </a:tr>
              <a:tr h="167020">
                <a:tc>
                  <a:txBody>
                    <a:bodyPr wrap="square"/>
                    <a:lstStyle/>
                    <a:p>
                      <a:pPr algn="l"/>
                      <a:r>
                        <a:rPr sz="1050" b="0" i="0">
                          <a:solidFill>
                            <a:srgbClr val="000000"/>
                          </a:solidFill>
                          <a:latin typeface="Calibri"/>
                        </a:rPr>
                        <a:t>Table 121: North America Market CAGR by Product Type and Barrier Level, %, 2026–2036</a:t>
                      </a:r>
                      <a:endParaRPr sz="1050"/>
                    </a:p>
                  </a:txBody>
                  <a:tcPr marL="9525" marR="9525" marT="9525" marB="0" anchor="ctr"/>
                </a:tc>
              </a:tr>
              <a:tr h="167020">
                <a:tc>
                  <a:txBody>
                    <a:bodyPr wrap="square"/>
                    <a:lstStyle/>
                    <a:p>
                      <a:pPr algn="l"/>
                      <a:r>
                        <a:rPr sz="1050" b="0" i="0">
                          <a:solidFill>
                            <a:srgbClr val="000000"/>
                          </a:solidFill>
                          <a:latin typeface="Calibri"/>
                        </a:rPr>
                        <a:t>Table 122: North America Market CAGR by Product Type and Application, %, 2026–2036</a:t>
                      </a:r>
                      <a:endParaRPr sz="1050"/>
                    </a:p>
                  </a:txBody>
                  <a:tcPr marL="9525" marR="9525" marT="9525" marB="0" anchor="ctr"/>
                </a:tc>
              </a:tr>
              <a:tr h="327360">
                <a:tc>
                  <a:txBody>
                    <a:bodyPr wrap="square"/>
                    <a:lstStyle/>
                    <a:p>
                      <a:pPr algn="l"/>
                      <a:r>
                        <a:rPr sz="1050" b="0" i="0">
                          <a:solidFill>
                            <a:srgbClr val="000000"/>
                          </a:solidFill>
                          <a:latin typeface="Calibri"/>
                        </a:rPr>
                        <a:t>Table 123: North America Market CAGR by Product Type and Barrier Level Vs Application, %, 2026–2036</a:t>
                      </a:r>
                      <a:endParaRPr sz="1050"/>
                    </a:p>
                  </a:txBody>
                  <a:tcPr marL="9525" marR="9525" marT="9525" marB="0" anchor="ctr"/>
                </a:tc>
              </a:tr>
              <a:tr h="327360">
                <a:tc>
                  <a:txBody>
                    <a:bodyPr wrap="square"/>
                    <a:lstStyle/>
                    <a:p>
                      <a:pPr algn="l"/>
                      <a:r>
                        <a:rPr sz="1050" b="0" i="0">
                          <a:solidFill>
                            <a:srgbClr val="000000"/>
                          </a:solidFill>
                          <a:latin typeface="Calibri"/>
                        </a:rPr>
                        <a:t>Table 124: North America Market CAGR by Principal Material / Barrier Technology and Material Structure, %, 2026–2036</a:t>
                      </a:r>
                      <a:endParaRPr sz="1050"/>
                    </a:p>
                  </a:txBody>
                  <a:tcPr marL="9525" marR="9525" marT="9525" marB="0" anchor="ctr"/>
                </a:tc>
              </a:tr>
              <a:tr h="327360">
                <a:tc>
                  <a:txBody>
                    <a:bodyPr wrap="square"/>
                    <a:lstStyle/>
                    <a:p>
                      <a:pPr algn="l"/>
                      <a:r>
                        <a:rPr sz="1050" b="0" i="0">
                          <a:solidFill>
                            <a:srgbClr val="000000"/>
                          </a:solidFill>
                          <a:latin typeface="Calibri"/>
                        </a:rPr>
                        <a:t>Table 125: North America Market CAGR by Principal Material / Barrier Technology and Barrier Level, %, 2026–2036</a:t>
                      </a:r>
                      <a:endParaRPr sz="1050"/>
                    </a:p>
                  </a:txBody>
                  <a:tcPr marL="9525" marR="9525" marT="9525" marB="0" anchor="ctr"/>
                </a:tc>
              </a:tr>
              <a:tr h="327360">
                <a:tc>
                  <a:txBody>
                    <a:bodyPr wrap="square"/>
                    <a:lstStyle/>
                    <a:p>
                      <a:pPr algn="l"/>
                      <a:r>
                        <a:rPr sz="1050" b="0" i="0">
                          <a:solidFill>
                            <a:srgbClr val="000000"/>
                          </a:solidFill>
                          <a:latin typeface="Calibri"/>
                        </a:rPr>
                        <a:t>Table 126: North America Market CAGR by Principal Material / Barrier Technology and Application, %, 2026–2036</a:t>
                      </a:r>
                      <a:endParaRPr sz="1050"/>
                    </a:p>
                  </a:txBody>
                  <a:tcPr marL="9525" marR="9525" marT="9525" marB="0" anchor="ctr"/>
                </a:tc>
              </a:tr>
              <a:tr h="327360">
                <a:tc>
                  <a:txBody>
                    <a:bodyPr wrap="square"/>
                    <a:lstStyle/>
                    <a:p>
                      <a:pPr algn="l"/>
                      <a:r>
                        <a:rPr sz="1050" b="0" i="0">
                          <a:solidFill>
                            <a:srgbClr val="000000"/>
                          </a:solidFill>
                          <a:latin typeface="Calibri"/>
                        </a:rPr>
                        <a:t>Table 127: North America Market CAGR by Principal Material / Barrier Technology and Barrier Level Vs Application, %,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(4/5)</a:t>
            </a:r>
          </a:p>
        </p:txBody>
      </p:sp>
      <p:graphicFrame>
        <p:nvGraphicFramePr>
          <p:cNvPr id="9" name="FMI Contents Table"/>
          <p:cNvGraphicFramePr>
            <a:graphicFrameLocks noGrp="1"/>
          </p:cNvGraphicFramePr>
          <p:nvPr/>
        </p:nvGraphicFramePr>
        <p:xfrm>
          <a:off x="142875" y="981075"/>
          <a:ext cx="5876925" cy="5257810"/>
        </p:xfrm>
        <a:graphic>
          <a:graphicData uri="http://schemas.openxmlformats.org/drawingml/2006/table">
            <a:tbl>
              <a:tblPr>
                <a:tableStyleId>{3B4B98B0-60AC-42C2-AFA5-B58CD77FA1E5}</a:tableStyleId>
              </a:tblPr>
              <a:tblGrid>
                <a:gridCol w="5876925"/>
              </a:tblGrid>
              <a:tr h="170266">
                <a:tc>
                  <a:txBody>
                    <a:bodyPr wrap="square"/>
                    <a:lstStyle/>
                    <a:p>
                      <a:pPr algn="l"/>
                      <a:r>
                        <a:rPr sz="1050" b="0" i="0">
                          <a:solidFill>
                            <a:srgbClr val="000000"/>
                          </a:solidFill>
                          <a:latin typeface="Calibri"/>
                        </a:rPr>
                        <a:t>Table 128: North America Market CAGR by Material Structure and Barrier Level, %, 2026–2036</a:t>
                      </a:r>
                      <a:endParaRPr sz="1050"/>
                    </a:p>
                  </a:txBody>
                  <a:tcPr marL="9525" marR="9525" marT="9525" marB="0" anchor="ctr"/>
                </a:tc>
              </a:tr>
              <a:tr h="170266">
                <a:tc>
                  <a:txBody>
                    <a:bodyPr wrap="square"/>
                    <a:lstStyle/>
                    <a:p>
                      <a:pPr algn="l"/>
                      <a:r>
                        <a:rPr sz="1050" b="0" i="0">
                          <a:solidFill>
                            <a:srgbClr val="000000"/>
                          </a:solidFill>
                          <a:latin typeface="Calibri"/>
                        </a:rPr>
                        <a:t>Table 129: North America Market CAGR by Material Structure and Application, %, 2026–2036</a:t>
                      </a:r>
                      <a:endParaRPr sz="1050"/>
                    </a:p>
                  </a:txBody>
                  <a:tcPr marL="9525" marR="9525" marT="9525" marB="0" anchor="ctr"/>
                </a:tc>
              </a:tr>
              <a:tr h="333720">
                <a:tc>
                  <a:txBody>
                    <a:bodyPr wrap="square"/>
                    <a:lstStyle/>
                    <a:p>
                      <a:pPr algn="l"/>
                      <a:r>
                        <a:rPr sz="1050" b="0" i="0">
                          <a:solidFill>
                            <a:srgbClr val="000000"/>
                          </a:solidFill>
                          <a:latin typeface="Calibri"/>
                        </a:rPr>
                        <a:t>Table 130: North America Market CAGR by Material Structure and Barrier Level Vs Application, %, 2026–2036</a:t>
                      </a:r>
                      <a:endParaRPr sz="1050"/>
                    </a:p>
                  </a:txBody>
                  <a:tcPr marL="9525" marR="9525" marT="9525" marB="0" anchor="ctr"/>
                </a:tc>
              </a:tr>
              <a:tr h="170266">
                <a:tc>
                  <a:txBody>
                    <a:bodyPr wrap="square"/>
                    <a:lstStyle/>
                    <a:p>
                      <a:pPr algn="l"/>
                      <a:r>
                        <a:rPr sz="1050" b="0" i="0">
                          <a:solidFill>
                            <a:srgbClr val="000000"/>
                          </a:solidFill>
                          <a:latin typeface="Calibri"/>
                        </a:rPr>
                        <a:t>Table 131: North America Market CAGR by Barrier Level and Application, %, 2026–2036</a:t>
                      </a:r>
                      <a:endParaRPr sz="1050"/>
                    </a:p>
                  </a:txBody>
                  <a:tcPr marL="9525" marR="9525" marT="9525" marB="0" anchor="ctr"/>
                </a:tc>
              </a:tr>
              <a:tr h="333720">
                <a:tc>
                  <a:txBody>
                    <a:bodyPr wrap="square"/>
                    <a:lstStyle/>
                    <a:p>
                      <a:pPr algn="l"/>
                      <a:r>
                        <a:rPr sz="1050" b="0" i="0">
                          <a:solidFill>
                            <a:srgbClr val="000000"/>
                          </a:solidFill>
                          <a:latin typeface="Calibri"/>
                        </a:rPr>
                        <a:t>Table 132: North America Market CAGR by Barrier Level and Barrier Level Vs Application, %, 2026–2036</a:t>
                      </a:r>
                      <a:endParaRPr sz="1050"/>
                    </a:p>
                  </a:txBody>
                  <a:tcPr marL="9525" marR="9525" marT="9525" marB="0" anchor="ctr"/>
                </a:tc>
              </a:tr>
              <a:tr h="170266">
                <a:tc>
                  <a:txBody>
                    <a:bodyPr wrap="square"/>
                    <a:lstStyle/>
                    <a:p>
                      <a:pPr algn="l"/>
                      <a:r>
                        <a:rPr sz="1050" b="0" i="0">
                          <a:solidFill>
                            <a:srgbClr val="000000"/>
                          </a:solidFill>
                          <a:latin typeface="Calibri"/>
                        </a:rPr>
                        <a:t>Table 133: North America Market CAGR by Application and Barrier Level Vs Application, %, 2026–2036</a:t>
                      </a:r>
                      <a:endParaRPr sz="1050"/>
                    </a:p>
                  </a:txBody>
                  <a:tcPr marL="9525" marR="9525" marT="9525" marB="0" anchor="ctr"/>
                </a:tc>
              </a:tr>
              <a:tr h="333720">
                <a:tc>
                  <a:txBody>
                    <a:bodyPr wrap="square"/>
                    <a:lstStyle/>
                    <a:p>
                      <a:pPr algn="l"/>
                      <a:r>
                        <a:rPr sz="1050" b="0" i="0">
                          <a:solidFill>
                            <a:srgbClr val="000000"/>
                          </a:solidFill>
                          <a:latin typeface="Calibri"/>
                        </a:rPr>
                        <a:t>Table 134: North America Market Share of Principal Material / Barrier Technology within Product Type, %, 2026 and 2036</a:t>
                      </a:r>
                      <a:endParaRPr sz="1050"/>
                    </a:p>
                  </a:txBody>
                  <a:tcPr marL="9525" marR="9525" marT="9525" marB="0" anchor="ctr"/>
                </a:tc>
              </a:tr>
              <a:tr h="170266">
                <a:tc>
                  <a:txBody>
                    <a:bodyPr wrap="square"/>
                    <a:lstStyle/>
                    <a:p>
                      <a:pPr algn="l"/>
                      <a:r>
                        <a:rPr sz="1050" b="0" i="0">
                          <a:solidFill>
                            <a:srgbClr val="000000"/>
                          </a:solidFill>
                          <a:latin typeface="Calibri"/>
                        </a:rPr>
                        <a:t>Table 135: North America Market Share of Material Structure within Product Type, %, 2026 and 2036</a:t>
                      </a:r>
                      <a:endParaRPr sz="1050"/>
                    </a:p>
                  </a:txBody>
                  <a:tcPr marL="9525" marR="9525" marT="9525" marB="0" anchor="ctr"/>
                </a:tc>
              </a:tr>
              <a:tr h="170266">
                <a:tc>
                  <a:txBody>
                    <a:bodyPr wrap="square"/>
                    <a:lstStyle/>
                    <a:p>
                      <a:pPr algn="l"/>
                      <a:r>
                        <a:rPr sz="1050" b="0" i="0">
                          <a:solidFill>
                            <a:srgbClr val="000000"/>
                          </a:solidFill>
                          <a:latin typeface="Calibri"/>
                        </a:rPr>
                        <a:t>Table 136: North America Market Share of Barrier Level within Product Type, %, 2026 and 2036</a:t>
                      </a:r>
                      <a:endParaRPr sz="1050"/>
                    </a:p>
                  </a:txBody>
                  <a:tcPr marL="9525" marR="9525" marT="9525" marB="0" anchor="ctr"/>
                </a:tc>
              </a:tr>
              <a:tr h="170266">
                <a:tc>
                  <a:txBody>
                    <a:bodyPr wrap="square"/>
                    <a:lstStyle/>
                    <a:p>
                      <a:pPr algn="l"/>
                      <a:r>
                        <a:rPr sz="1050" b="0" i="0">
                          <a:solidFill>
                            <a:srgbClr val="000000"/>
                          </a:solidFill>
                          <a:latin typeface="Calibri"/>
                        </a:rPr>
                        <a:t>Table 137: U.S. Market Value by Product Type, US$ Mn, 2021–2036</a:t>
                      </a:r>
                      <a:endParaRPr sz="1050"/>
                    </a:p>
                  </a:txBody>
                  <a:tcPr marL="9525" marR="9525" marT="9525" marB="0" anchor="ctr"/>
                </a:tc>
              </a:tr>
              <a:tr h="170266">
                <a:tc>
                  <a:txBody>
                    <a:bodyPr wrap="square"/>
                    <a:lstStyle/>
                    <a:p>
                      <a:pPr algn="l"/>
                      <a:r>
                        <a:rPr sz="1050" b="0" i="0">
                          <a:solidFill>
                            <a:srgbClr val="000000"/>
                          </a:solidFill>
                          <a:latin typeface="Calibri"/>
                        </a:rPr>
                        <a:t>Table 138: U.S. Market Historical and Forecast Growth, %, 2021–2036</a:t>
                      </a:r>
                      <a:endParaRPr sz="1050"/>
                    </a:p>
                  </a:txBody>
                  <a:tcPr marL="9525" marR="9525" marT="9525" marB="0" anchor="ctr"/>
                </a:tc>
              </a:tr>
              <a:tr h="170266">
                <a:tc>
                  <a:txBody>
                    <a:bodyPr wrap="square"/>
                    <a:lstStyle/>
                    <a:p>
                      <a:pPr algn="l"/>
                      <a:r>
                        <a:rPr sz="1050" b="0" i="0">
                          <a:solidFill>
                            <a:srgbClr val="000000"/>
                          </a:solidFill>
                          <a:latin typeface="Calibri"/>
                        </a:rPr>
                        <a:t>Table 139: U.S. Market Value by Application, US$ Mn, 2021–2036</a:t>
                      </a:r>
                      <a:endParaRPr sz="1050"/>
                    </a:p>
                  </a:txBody>
                  <a:tcPr marL="9525" marR="9525" marT="9525" marB="0" anchor="ctr"/>
                </a:tc>
              </a:tr>
              <a:tr h="170266">
                <a:tc>
                  <a:txBody>
                    <a:bodyPr wrap="square"/>
                    <a:lstStyle/>
                    <a:p>
                      <a:pPr algn="l"/>
                      <a:r>
                        <a:rPr sz="1050" b="0" i="0">
                          <a:solidFill>
                            <a:srgbClr val="000000"/>
                          </a:solidFill>
                          <a:latin typeface="Calibri"/>
                        </a:rPr>
                        <a:t>Table 140: U.S. Market Share within North America, %, 2025, 2026 and 2036</a:t>
                      </a:r>
                      <a:endParaRPr sz="1050"/>
                    </a:p>
                  </a:txBody>
                  <a:tcPr marL="9525" marR="9525" marT="9525" marB="0" anchor="ctr"/>
                </a:tc>
              </a:tr>
              <a:tr h="170266">
                <a:tc>
                  <a:txBody>
                    <a:bodyPr wrap="square"/>
                    <a:lstStyle/>
                    <a:p>
                      <a:pPr algn="l"/>
                      <a:r>
                        <a:rPr sz="1050" b="0" i="0">
                          <a:solidFill>
                            <a:srgbClr val="000000"/>
                          </a:solidFill>
                          <a:latin typeface="Calibri"/>
                        </a:rPr>
                        <a:t>Table 141: U.S. Market Value by Principal Material / Barrier Technology, US$ Mn, 2021–2036</a:t>
                      </a:r>
                      <a:endParaRPr sz="1050"/>
                    </a:p>
                  </a:txBody>
                  <a:tcPr marL="9525" marR="9525" marT="9525" marB="0" anchor="ctr"/>
                </a:tc>
              </a:tr>
              <a:tr h="170266">
                <a:tc>
                  <a:txBody>
                    <a:bodyPr wrap="square"/>
                    <a:lstStyle/>
                    <a:p>
                      <a:pPr algn="l"/>
                      <a:r>
                        <a:rPr sz="1050" b="0" i="0">
                          <a:solidFill>
                            <a:srgbClr val="000000"/>
                          </a:solidFill>
                          <a:latin typeface="Calibri"/>
                        </a:rPr>
                        <a:t>Table 142: U.S. Market Value by Material Structure, US$ Mn, 2021–2036</a:t>
                      </a:r>
                      <a:endParaRPr sz="1050"/>
                    </a:p>
                  </a:txBody>
                  <a:tcPr marL="9525" marR="9525" marT="9525" marB="0" anchor="ctr"/>
                </a:tc>
              </a:tr>
              <a:tr h="170266">
                <a:tc>
                  <a:txBody>
                    <a:bodyPr wrap="square"/>
                    <a:lstStyle/>
                    <a:p>
                      <a:pPr algn="l"/>
                      <a:r>
                        <a:rPr sz="1050" b="0" i="0">
                          <a:solidFill>
                            <a:srgbClr val="000000"/>
                          </a:solidFill>
                          <a:latin typeface="Calibri"/>
                        </a:rPr>
                        <a:t>Table 143: U.S. Market Value by Barrier Level, US$ Mn, 2021–2036</a:t>
                      </a:r>
                      <a:endParaRPr sz="1050"/>
                    </a:p>
                  </a:txBody>
                  <a:tcPr marL="9525" marR="9525" marT="9525" marB="0" anchor="ctr"/>
                </a:tc>
              </a:tr>
              <a:tr h="170266">
                <a:tc>
                  <a:txBody>
                    <a:bodyPr wrap="square"/>
                    <a:lstStyle/>
                    <a:p>
                      <a:pPr algn="l"/>
                      <a:r>
                        <a:rPr sz="1050" b="0" i="0">
                          <a:solidFill>
                            <a:srgbClr val="000000"/>
                          </a:solidFill>
                          <a:latin typeface="Calibri"/>
                        </a:rPr>
                        <a:t>Table 144: U.S. Market Value by Barrier Level Vs Application, US$ Mn, 2021–2036</a:t>
                      </a:r>
                      <a:endParaRPr sz="1050"/>
                    </a:p>
                  </a:txBody>
                  <a:tcPr marL="9525" marR="9525" marT="9525" marB="0" anchor="ctr"/>
                </a:tc>
              </a:tr>
              <a:tr h="170266">
                <a:tc>
                  <a:txBody>
                    <a:bodyPr wrap="square"/>
                    <a:lstStyle/>
                    <a:p>
                      <a:pPr algn="l"/>
                      <a:r>
                        <a:rPr sz="1050" b="0" i="0">
                          <a:solidFill>
                            <a:srgbClr val="000000"/>
                          </a:solidFill>
                          <a:latin typeface="Calibri"/>
                        </a:rPr>
                        <a:t>Table 145: U.S. Market Volume by Product Type, Thousand MT, 2021–2036</a:t>
                      </a:r>
                      <a:endParaRPr sz="1050"/>
                    </a:p>
                  </a:txBody>
                  <a:tcPr marL="9525" marR="9525" marT="9525" marB="0" anchor="ctr"/>
                </a:tc>
              </a:tr>
              <a:tr h="170266">
                <a:tc>
                  <a:txBody>
                    <a:bodyPr wrap="square"/>
                    <a:lstStyle/>
                    <a:p>
                      <a:pPr algn="l"/>
                      <a:r>
                        <a:rPr sz="1050" b="0" i="0">
                          <a:solidFill>
                            <a:srgbClr val="000000"/>
                          </a:solidFill>
                          <a:latin typeface="Calibri"/>
                        </a:rPr>
                        <a:t>Table 146: U.S. Market Average Selling Price, US$/MT, 2021–2036</a:t>
                      </a:r>
                      <a:endParaRPr sz="1050"/>
                    </a:p>
                  </a:txBody>
                  <a:tcPr marL="9525" marR="9525" marT="9525" marB="0" anchor="ctr"/>
                </a:tc>
              </a:tr>
              <a:tr h="170266">
                <a:tc>
                  <a:txBody>
                    <a:bodyPr wrap="square"/>
                    <a:lstStyle/>
                    <a:p>
                      <a:pPr algn="l"/>
                      <a:r>
                        <a:rPr sz="1050" b="0" i="0">
                          <a:solidFill>
                            <a:srgbClr val="000000"/>
                          </a:solidFill>
                          <a:latin typeface="Calibri"/>
                        </a:rPr>
                        <a:t>Table 147: U.S. Market Leading Suppliers and Brands, 2026</a:t>
                      </a:r>
                      <a:endParaRPr sz="1050"/>
                    </a:p>
                  </a:txBody>
                  <a:tcPr marL="9525" marR="9525" marT="9525" marB="0" anchor="ctr"/>
                </a:tc>
              </a:tr>
              <a:tr h="170266">
                <a:tc>
                  <a:txBody>
                    <a:bodyPr wrap="square"/>
                    <a:lstStyle/>
                    <a:p>
                      <a:pPr algn="l"/>
                      <a:r>
                        <a:rPr sz="1050" b="0" i="0">
                          <a:solidFill>
                            <a:srgbClr val="000000"/>
                          </a:solidFill>
                          <a:latin typeface="Calibri"/>
                        </a:rPr>
                        <a:t>Table 148: U.S. Market Import and Export Indicators, US$ Mn, 2021–2025</a:t>
                      </a:r>
                      <a:endParaRPr sz="1050"/>
                    </a:p>
                  </a:txBody>
                  <a:tcPr marL="9525" marR="9525" marT="9525" marB="0" anchor="ctr"/>
                </a:tc>
              </a:tr>
              <a:tr h="170266">
                <a:tc>
                  <a:txBody>
                    <a:bodyPr wrap="square"/>
                    <a:lstStyle/>
                    <a:p>
                      <a:pPr algn="l"/>
                      <a:r>
                        <a:rPr sz="1050" b="0" i="0">
                          <a:solidFill>
                            <a:srgbClr val="000000"/>
                          </a:solidFill>
                          <a:latin typeface="Calibri"/>
                        </a:rPr>
                        <a:t>Table 149: Canada Market Value by Product Type, US$ Mn, 2021–2036</a:t>
                      </a:r>
                      <a:endParaRPr sz="1050"/>
                    </a:p>
                  </a:txBody>
                  <a:tcPr marL="9525" marR="9525" marT="9525" marB="0" anchor="ctr"/>
                </a:tc>
              </a:tr>
              <a:tr h="170266">
                <a:tc>
                  <a:txBody>
                    <a:bodyPr wrap="square"/>
                    <a:lstStyle/>
                    <a:p>
                      <a:pPr algn="l"/>
                      <a:r>
                        <a:rPr sz="1050" b="0" i="0">
                          <a:solidFill>
                            <a:srgbClr val="000000"/>
                          </a:solidFill>
                          <a:latin typeface="Calibri"/>
                        </a:rPr>
                        <a:t>Table 150: Canada Market Historical and Forecast Growth, %, 2021–2036</a:t>
                      </a:r>
                      <a:endParaRPr sz="1050"/>
                    </a:p>
                  </a:txBody>
                  <a:tcPr marL="9525" marR="9525" marT="9525" marB="0" anchor="ctr"/>
                </a:tc>
              </a:tr>
              <a:tr h="170266">
                <a:tc>
                  <a:txBody>
                    <a:bodyPr wrap="square"/>
                    <a:lstStyle/>
                    <a:p>
                      <a:pPr algn="l"/>
                      <a:r>
                        <a:rPr sz="1050" b="0" i="0">
                          <a:solidFill>
                            <a:srgbClr val="000000"/>
                          </a:solidFill>
                          <a:latin typeface="Calibri"/>
                        </a:rPr>
                        <a:t>Table 151: Canada Market Value by Application, US$ Mn, 2021–2036</a:t>
                      </a:r>
                      <a:endParaRPr sz="1050"/>
                    </a:p>
                  </a:txBody>
                  <a:tcPr marL="9525" marR="9525" marT="9525" marB="0" anchor="ctr"/>
                </a:tc>
              </a:tr>
              <a:tr h="170266">
                <a:tc>
                  <a:txBody>
                    <a:bodyPr wrap="square"/>
                    <a:lstStyle/>
                    <a:p>
                      <a:pPr algn="l"/>
                      <a:r>
                        <a:rPr sz="1050" b="0" i="0">
                          <a:solidFill>
                            <a:srgbClr val="000000"/>
                          </a:solidFill>
                          <a:latin typeface="Calibri"/>
                        </a:rPr>
                        <a:t>Table 152: Canada Market Share within North America, %, 2025, 2026 and 2036</a:t>
                      </a:r>
                      <a:endParaRPr sz="1050"/>
                    </a:p>
                  </a:txBody>
                  <a:tcPr marL="9525" marR="9525" marT="9525" marB="0" anchor="ctr"/>
                </a:tc>
              </a:tr>
              <a:tr h="170266">
                <a:tc>
                  <a:txBody>
                    <a:bodyPr wrap="square"/>
                    <a:lstStyle/>
                    <a:p>
                      <a:pPr algn="l"/>
                      <a:r>
                        <a:rPr sz="1050" b="0" i="0">
                          <a:solidFill>
                            <a:srgbClr val="000000"/>
                          </a:solidFill>
                          <a:latin typeface="Calibri"/>
                        </a:rPr>
                        <a:t>Table 153: Canada Market Value by Principal Material / Barrier Technology, US$ Mn, 2021–2036</a:t>
                      </a:r>
                      <a:endParaRPr sz="1050"/>
                    </a:p>
                  </a:txBody>
                  <a:tcPr marL="9525" marR="9525" marT="9525" marB="0" anchor="ctr"/>
                </a:tc>
              </a:tr>
              <a:tr h="170266">
                <a:tc>
                  <a:txBody>
                    <a:bodyPr wrap="square"/>
                    <a:lstStyle/>
                    <a:p>
                      <a:pPr algn="l"/>
                      <a:r>
                        <a:rPr sz="1050" b="0" i="0">
                          <a:solidFill>
                            <a:srgbClr val="000000"/>
                          </a:solidFill>
                          <a:latin typeface="Calibri"/>
                        </a:rPr>
                        <a:t>Table 154: Canada Market Value by Material Structure, US$ Mn, 2021–2036</a:t>
                      </a:r>
                      <a:endParaRPr sz="1050"/>
                    </a:p>
                  </a:txBody>
                  <a:tcPr marL="9525" marR="9525" marT="9525" marB="0" anchor="ctr"/>
                </a:tc>
              </a:tr>
              <a:tr h="170266">
                <a:tc>
                  <a:txBody>
                    <a:bodyPr wrap="square"/>
                    <a:lstStyle/>
                    <a:p>
                      <a:pPr algn="l"/>
                      <a:r>
                        <a:rPr sz="1050" b="0" i="0">
                          <a:solidFill>
                            <a:srgbClr val="000000"/>
                          </a:solidFill>
                          <a:latin typeface="Calibri"/>
                        </a:rPr>
                        <a:t>Table 155: Canada Market Value by Barrier Level, US$ Mn,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0"/>
        </p:xfrm>
        <a:graphic>
          <a:graphicData uri="http://schemas.openxmlformats.org/drawingml/2006/table">
            <a:tbl>
              <a:tblPr>
                <a:tableStyleId>{3B4B98B0-60AC-42C2-AFA5-B58CD77FA1E5}</a:tableStyleId>
              </a:tblPr>
              <a:tblGrid>
                <a:gridCol w="5876925"/>
              </a:tblGrid>
              <a:tr h="170266">
                <a:tc>
                  <a:txBody>
                    <a:bodyPr wrap="square"/>
                    <a:lstStyle/>
                    <a:p>
                      <a:pPr algn="l"/>
                      <a:r>
                        <a:rPr sz="1050" b="0" i="0">
                          <a:solidFill>
                            <a:srgbClr val="000000"/>
                          </a:solidFill>
                          <a:latin typeface="Calibri"/>
                        </a:rPr>
                        <a:t>Table 156: Canada Market Value by Barrier Level Vs Application, US$ Mn, 2021–2036</a:t>
                      </a:r>
                      <a:endParaRPr sz="1050"/>
                    </a:p>
                  </a:txBody>
                  <a:tcPr marL="9525" marR="9525" marT="9525" marB="0" anchor="ctr"/>
                </a:tc>
              </a:tr>
              <a:tr h="170266">
                <a:tc>
                  <a:txBody>
                    <a:bodyPr wrap="square"/>
                    <a:lstStyle/>
                    <a:p>
                      <a:pPr algn="l"/>
                      <a:r>
                        <a:rPr sz="1050" b="0" i="0">
                          <a:solidFill>
                            <a:srgbClr val="000000"/>
                          </a:solidFill>
                          <a:latin typeface="Calibri"/>
                        </a:rPr>
                        <a:t>Table 157: Canada Market Volume by Product Type, Thousand MT, 2021–2036</a:t>
                      </a:r>
                      <a:endParaRPr sz="1050"/>
                    </a:p>
                  </a:txBody>
                  <a:tcPr marL="9525" marR="9525" marT="9525" marB="0" anchor="ctr"/>
                </a:tc>
              </a:tr>
              <a:tr h="170266">
                <a:tc>
                  <a:txBody>
                    <a:bodyPr wrap="square"/>
                    <a:lstStyle/>
                    <a:p>
                      <a:pPr algn="l"/>
                      <a:r>
                        <a:rPr sz="1050" b="0" i="0">
                          <a:solidFill>
                            <a:srgbClr val="000000"/>
                          </a:solidFill>
                          <a:latin typeface="Calibri"/>
                        </a:rPr>
                        <a:t>Table 158: Canada Market Average Selling Price, US$/MT, 2021–2036</a:t>
                      </a:r>
                      <a:endParaRPr sz="1050"/>
                    </a:p>
                  </a:txBody>
                  <a:tcPr marL="9525" marR="9525" marT="9525" marB="0" anchor="ctr"/>
                </a:tc>
              </a:tr>
              <a:tr h="170266">
                <a:tc>
                  <a:txBody>
                    <a:bodyPr wrap="square"/>
                    <a:lstStyle/>
                    <a:p>
                      <a:pPr algn="l"/>
                      <a:r>
                        <a:rPr sz="1050" b="0" i="0">
                          <a:solidFill>
                            <a:srgbClr val="000000"/>
                          </a:solidFill>
                          <a:latin typeface="Calibri"/>
                        </a:rPr>
                        <a:t>Table 159: Canada Market Leading Suppliers and Brands, 2026</a:t>
                      </a:r>
                      <a:endParaRPr sz="1050"/>
                    </a:p>
                  </a:txBody>
                  <a:tcPr marL="9525" marR="9525" marT="9525" marB="0" anchor="ctr"/>
                </a:tc>
              </a:tr>
              <a:tr h="170266">
                <a:tc>
                  <a:txBody>
                    <a:bodyPr wrap="square"/>
                    <a:lstStyle/>
                    <a:p>
                      <a:pPr algn="l"/>
                      <a:r>
                        <a:rPr sz="1050" b="0" i="0">
                          <a:solidFill>
                            <a:srgbClr val="000000"/>
                          </a:solidFill>
                          <a:latin typeface="Calibri"/>
                        </a:rPr>
                        <a:t>Table 160: Canada Market Import and Export Indicators, US$ Mn, 2021–2025</a:t>
                      </a:r>
                      <a:endParaRPr sz="1050"/>
                    </a:p>
                  </a:txBody>
                  <a:tcPr marL="9525" marR="9525" marT="9525" marB="0" anchor="ctr"/>
                </a:tc>
              </a:tr>
              <a:tr h="170266">
                <a:tc>
                  <a:txBody>
                    <a:bodyPr wrap="square"/>
                    <a:lstStyle/>
                    <a:p>
                      <a:pPr algn="l"/>
                      <a:r>
                        <a:rPr sz="1050" b="0" i="0">
                          <a:solidFill>
                            <a:srgbClr val="000000"/>
                          </a:solidFill>
                          <a:latin typeface="Calibri"/>
                        </a:rPr>
                        <a:t>Table 161: Market Product Price Comparison by Company and Product Type, US$/MT, 2026</a:t>
                      </a:r>
                      <a:endParaRPr sz="1050"/>
                    </a:p>
                  </a:txBody>
                  <a:tcPr marL="9525" marR="9525" marT="9525" marB="0" anchor="ctr"/>
                </a:tc>
              </a:tr>
              <a:tr h="170266">
                <a:tc>
                  <a:txBody>
                    <a:bodyPr wrap="square"/>
                    <a:lstStyle/>
                    <a:p>
                      <a:pPr algn="l"/>
                      <a:r>
                        <a:rPr sz="1050" b="0" i="0">
                          <a:solidFill>
                            <a:srgbClr val="000000"/>
                          </a:solidFill>
                          <a:latin typeface="Calibri"/>
                        </a:rPr>
                        <a:t>Table 162: North America Market Average Selling Price, US$/MT, 2021–2036</a:t>
                      </a:r>
                      <a:endParaRPr sz="1050"/>
                    </a:p>
                  </a:txBody>
                  <a:tcPr marL="9525" marR="9525" marT="9525" marB="0" anchor="ctr"/>
                </a:tc>
              </a:tr>
              <a:tr h="170266">
                <a:tc>
                  <a:txBody>
                    <a:bodyPr wrap="square"/>
                    <a:lstStyle/>
                    <a:p>
                      <a:pPr algn="l"/>
                      <a:r>
                        <a:rPr sz="1050" b="0" i="0">
                          <a:solidFill>
                            <a:srgbClr val="000000"/>
                          </a:solidFill>
                          <a:latin typeface="Calibri"/>
                        </a:rPr>
                        <a:t>Table 163: North America Market Average Selling Price by Product Type, US$/MT, 2021–2036</a:t>
                      </a:r>
                      <a:endParaRPr sz="1050"/>
                    </a:p>
                  </a:txBody>
                  <a:tcPr marL="9525" marR="9525" marT="9525" marB="0" anchor="ctr"/>
                </a:tc>
              </a:tr>
              <a:tr h="333720">
                <a:tc>
                  <a:txBody>
                    <a:bodyPr wrap="square"/>
                    <a:lstStyle/>
                    <a:p>
                      <a:pPr algn="l"/>
                      <a:r>
                        <a:rPr sz="1050" b="0" i="0">
                          <a:solidFill>
                            <a:srgbClr val="000000"/>
                          </a:solidFill>
                          <a:latin typeface="Calibri"/>
                        </a:rPr>
                        <a:t>Table 164: North America Market Average Selling Price by Principal Material / Barrier Technology, US$/MT, 2021–2036</a:t>
                      </a:r>
                      <a:endParaRPr sz="1050"/>
                    </a:p>
                  </a:txBody>
                  <a:tcPr marL="9525" marR="9525" marT="9525" marB="0" anchor="ctr"/>
                </a:tc>
              </a:tr>
              <a:tr h="170266">
                <a:tc>
                  <a:txBody>
                    <a:bodyPr wrap="square"/>
                    <a:lstStyle/>
                    <a:p>
                      <a:pPr algn="l"/>
                      <a:r>
                        <a:rPr sz="1050" b="0" i="0">
                          <a:solidFill>
                            <a:srgbClr val="000000"/>
                          </a:solidFill>
                          <a:latin typeface="Calibri"/>
                        </a:rPr>
                        <a:t>Table 165: North America Market Average Selling Price by Material Structure, US$/MT, 2021–2036</a:t>
                      </a:r>
                      <a:endParaRPr sz="1050"/>
                    </a:p>
                  </a:txBody>
                  <a:tcPr marL="9525" marR="9525" marT="9525" marB="0" anchor="ctr"/>
                </a:tc>
              </a:tr>
              <a:tr h="170266">
                <a:tc>
                  <a:txBody>
                    <a:bodyPr wrap="square"/>
                    <a:lstStyle/>
                    <a:p>
                      <a:pPr algn="l"/>
                      <a:r>
                        <a:rPr sz="1050" b="0" i="0">
                          <a:solidFill>
                            <a:srgbClr val="000000"/>
                          </a:solidFill>
                          <a:latin typeface="Calibri"/>
                        </a:rPr>
                        <a:t>Table 166: North America Market Average Selling Price by Barrier Level, US$/MT, 2021–2036</a:t>
                      </a:r>
                      <a:endParaRPr sz="1050"/>
                    </a:p>
                  </a:txBody>
                  <a:tcPr marL="9525" marR="9525" marT="9525" marB="0" anchor="ctr"/>
                </a:tc>
              </a:tr>
              <a:tr h="170266">
                <a:tc>
                  <a:txBody>
                    <a:bodyPr wrap="square"/>
                    <a:lstStyle/>
                    <a:p>
                      <a:pPr algn="l"/>
                      <a:r>
                        <a:rPr sz="1050" b="0" i="0">
                          <a:solidFill>
                            <a:srgbClr val="000000"/>
                          </a:solidFill>
                          <a:latin typeface="Calibri"/>
                        </a:rPr>
                        <a:t>Table 167: North America Market Average Selling Price by Application, US$/MT, 2021–2036</a:t>
                      </a:r>
                      <a:endParaRPr sz="1050"/>
                    </a:p>
                  </a:txBody>
                  <a:tcPr marL="9525" marR="9525" marT="9525" marB="0" anchor="ctr"/>
                </a:tc>
              </a:tr>
              <a:tr h="333720">
                <a:tc>
                  <a:txBody>
                    <a:bodyPr wrap="square"/>
                    <a:lstStyle/>
                    <a:p>
                      <a:pPr algn="l"/>
                      <a:r>
                        <a:rPr sz="1050" b="0" i="0">
                          <a:solidFill>
                            <a:srgbClr val="000000"/>
                          </a:solidFill>
                          <a:latin typeface="Calibri"/>
                        </a:rPr>
                        <a:t>Table 168: North America Market Average Selling Price by Barrier Level Vs Application, US$/MT, 2021–2036</a:t>
                      </a:r>
                      <a:endParaRPr sz="1050"/>
                    </a:p>
                  </a:txBody>
                  <a:tcPr marL="9525" marR="9525" marT="9525" marB="0" anchor="ctr"/>
                </a:tc>
              </a:tr>
              <a:tr h="170266">
                <a:tc>
                  <a:txBody>
                    <a:bodyPr wrap="square"/>
                    <a:lstStyle/>
                    <a:p>
                      <a:pPr algn="l"/>
                      <a:r>
                        <a:rPr sz="1050" b="0" i="0">
                          <a:solidFill>
                            <a:srgbClr val="000000"/>
                          </a:solidFill>
                          <a:latin typeface="Calibri"/>
                        </a:rPr>
                        <a:t>Table 169: Supplier-to-Customer Relationship Mapping in U.S., 2026</a:t>
                      </a:r>
                      <a:endParaRPr sz="1050"/>
                    </a:p>
                  </a:txBody>
                  <a:tcPr marL="9525" marR="9525" marT="9525" marB="0" anchor="ctr"/>
                </a:tc>
              </a:tr>
              <a:tr h="170266">
                <a:tc>
                  <a:txBody>
                    <a:bodyPr wrap="square"/>
                    <a:lstStyle/>
                    <a:p>
                      <a:pPr algn="l"/>
                      <a:r>
                        <a:rPr sz="1050" b="0" i="0">
                          <a:solidFill>
                            <a:srgbClr val="000000"/>
                          </a:solidFill>
                          <a:latin typeface="Calibri"/>
                        </a:rPr>
                        <a:t>Table 170: North America Market Value Chain Participants by Stage, 2026</a:t>
                      </a:r>
                      <a:endParaRPr sz="1050"/>
                    </a:p>
                  </a:txBody>
                  <a:tcPr marL="9525" marR="9525" marT="9525" marB="0" anchor="ctr"/>
                </a:tc>
              </a:tr>
              <a:tr h="170266">
                <a:tc>
                  <a:txBody>
                    <a:bodyPr wrap="square"/>
                    <a:lstStyle/>
                    <a:p>
                      <a:pPr algn="l"/>
                      <a:r>
                        <a:rPr sz="1050" b="0" i="0">
                          <a:solidFill>
                            <a:srgbClr val="000000"/>
                          </a:solidFill>
                          <a:latin typeface="Calibri"/>
                        </a:rPr>
                        <a:t>Table 171: North America Market Margin Analysis by Value Chain Stage, %, 2026</a:t>
                      </a:r>
                      <a:endParaRPr sz="1050"/>
                    </a:p>
                  </a:txBody>
                  <a:tcPr marL="9525" marR="9525" marT="9525" marB="0" anchor="ctr"/>
                </a:tc>
              </a:tr>
              <a:tr h="170266">
                <a:tc>
                  <a:txBody>
                    <a:bodyPr wrap="square"/>
                    <a:lstStyle/>
                    <a:p>
                      <a:pPr algn="l"/>
                      <a:r>
                        <a:rPr sz="1050" b="0" i="0">
                          <a:solidFill>
                            <a:srgbClr val="000000"/>
                          </a:solidFill>
                          <a:latin typeface="Calibri"/>
                        </a:rPr>
                        <a:t>Table 172: North America Market Cost Structure by Component, %, 2026</a:t>
                      </a:r>
                      <a:endParaRPr sz="1050"/>
                    </a:p>
                  </a:txBody>
                  <a:tcPr marL="9525" marR="9525" marT="9525" marB="0" anchor="ctr"/>
                </a:tc>
              </a:tr>
              <a:tr h="170266">
                <a:tc>
                  <a:txBody>
                    <a:bodyPr wrap="square"/>
                    <a:lstStyle/>
                    <a:p>
                      <a:pPr algn="l"/>
                      <a:r>
                        <a:rPr sz="1050" b="0" i="0">
                          <a:solidFill>
                            <a:srgbClr val="000000"/>
                          </a:solidFill>
                          <a:latin typeface="Calibri"/>
                        </a:rPr>
                        <a:t>Table 173: North America Market Import Value by Leading Country, US$ Mn, 2021–2025</a:t>
                      </a:r>
                      <a:endParaRPr sz="1050"/>
                    </a:p>
                  </a:txBody>
                  <a:tcPr marL="9525" marR="9525" marT="9525" marB="0" anchor="ctr"/>
                </a:tc>
              </a:tr>
              <a:tr h="170266">
                <a:tc>
                  <a:txBody>
                    <a:bodyPr wrap="square"/>
                    <a:lstStyle/>
                    <a:p>
                      <a:pPr algn="l"/>
                      <a:r>
                        <a:rPr sz="1050" b="0" i="0">
                          <a:solidFill>
                            <a:srgbClr val="000000"/>
                          </a:solidFill>
                          <a:latin typeface="Calibri"/>
                        </a:rPr>
                        <a:t>Table 174: North America Market Export Value by Leading Country, US$ Mn, 2021–2025</a:t>
                      </a:r>
                      <a:endParaRPr sz="1050"/>
                    </a:p>
                  </a:txBody>
                  <a:tcPr marL="9525" marR="9525" marT="9525" marB="0" anchor="ctr"/>
                </a:tc>
              </a:tr>
              <a:tr h="170266">
                <a:tc>
                  <a:txBody>
                    <a:bodyPr wrap="square"/>
                    <a:lstStyle/>
                    <a:p>
                      <a:pPr algn="l"/>
                      <a:r>
                        <a:rPr sz="1050" b="0" i="0">
                          <a:solidFill>
                            <a:srgbClr val="000000"/>
                          </a:solidFill>
                          <a:latin typeface="Calibri"/>
                        </a:rPr>
                        <a:t>Table 175: North America Market Trade Flow Summary, US$ Mn, 2025</a:t>
                      </a:r>
                      <a:endParaRPr sz="1050"/>
                    </a:p>
                  </a:txBody>
                  <a:tcPr marL="9525" marR="9525" marT="9525" marB="0" anchor="ctr"/>
                </a:tc>
              </a:tr>
              <a:tr h="170266">
                <a:tc>
                  <a:txBody>
                    <a:bodyPr wrap="square"/>
                    <a:lstStyle/>
                    <a:p>
                      <a:pPr algn="l"/>
                      <a:r>
                        <a:rPr sz="1050" b="0" i="0">
                          <a:solidFill>
                            <a:srgbClr val="000000"/>
                          </a:solidFill>
                          <a:latin typeface="Calibri"/>
                        </a:rPr>
                        <a:t>Table 176: North America Market Pricing Factors and Impact Rating, 2026–2036</a:t>
                      </a:r>
                      <a:endParaRPr sz="1050"/>
                    </a:p>
                  </a:txBody>
                  <a:tcPr marL="9525" marR="9525" marT="9525" marB="0" anchor="ctr"/>
                </a:tc>
              </a:tr>
              <a:tr h="170266">
                <a:tc>
                  <a:txBody>
                    <a:bodyPr wrap="square"/>
                    <a:lstStyle/>
                    <a:p>
                      <a:pPr algn="l"/>
                      <a:r>
                        <a:rPr sz="1050" b="0" i="0">
                          <a:solidFill>
                            <a:srgbClr val="000000"/>
                          </a:solidFill>
                          <a:latin typeface="Calibri"/>
                        </a:rPr>
                        <a:t>Table 177: North America Market Raw Material Price Trend, US$, 2021–2036</a:t>
                      </a:r>
                      <a:endParaRPr sz="1050"/>
                    </a:p>
                  </a:txBody>
                  <a:tcPr marL="9525" marR="9525" marT="9525" marB="0" anchor="ctr"/>
                </a:tc>
              </a:tr>
              <a:tr h="170266">
                <a:tc>
                  <a:txBody>
                    <a:bodyPr wrap="square"/>
                    <a:lstStyle/>
                    <a:p>
                      <a:pPr algn="l"/>
                      <a:r>
                        <a:rPr sz="1050" b="0" i="0">
                          <a:solidFill>
                            <a:srgbClr val="000000"/>
                          </a:solidFill>
                          <a:latin typeface="Calibri"/>
                        </a:rPr>
                        <a:t>Table 178: North America Market Distribution Channel Margin Structure, %, 2026</a:t>
                      </a:r>
                      <a:endParaRPr sz="1050"/>
                    </a:p>
                  </a:txBody>
                  <a:tcPr marL="9525" marR="9525" marT="9525" marB="0" anchor="ctr"/>
                </a:tc>
              </a:tr>
              <a:tr h="170266">
                <a:tc>
                  <a:txBody>
                    <a:bodyPr wrap="square"/>
                    <a:lstStyle/>
                    <a:p>
                      <a:pPr algn="l"/>
                      <a:r>
                        <a:rPr sz="1050" b="0" i="0">
                          <a:solidFill>
                            <a:srgbClr val="000000"/>
                          </a:solidFill>
                          <a:latin typeface="Calibri"/>
                        </a:rPr>
                        <a:t>Table 179: North America Market Regulatory and Tariff Overview by Country, 2026</a:t>
                      </a:r>
                      <a:endParaRPr sz="1050"/>
                    </a:p>
                  </a:txBody>
                  <a:tcPr marL="9525" marR="9525" marT="9525" marB="0" anchor="ctr"/>
                </a:tc>
              </a:tr>
              <a:tr h="333720">
                <a:tc>
                  <a:txBody>
                    <a:bodyPr wrap="square"/>
                    <a:lstStyle/>
                    <a:p>
                      <a:pPr algn="l"/>
                      <a:r>
                        <a:rPr sz="1050" b="0" i="0">
                          <a:solidFill>
                            <a:srgbClr val="000000"/>
                          </a:solidFill>
                          <a:latin typeface="Calibri"/>
                        </a:rPr>
                        <a:t>Table 180: Leading Flexible Plastic Packaging Manufacturers: Product Portfolio and Geographic Presence, 2026</a:t>
                      </a:r>
                      <a:endParaRPr sz="1050"/>
                    </a:p>
                  </a:txBody>
                  <a:tcPr marL="9525" marR="9525" marT="9525" marB="0" anchor="ctr"/>
                </a:tc>
              </a:tr>
              <a:tr h="170266">
                <a:tc>
                  <a:txBody>
                    <a:bodyPr wrap="square"/>
                    <a:lstStyle/>
                    <a:p>
                      <a:pPr algn="l"/>
                      <a:r>
                        <a:rPr sz="1050" b="0" i="0">
                          <a:solidFill>
                            <a:srgbClr val="000000"/>
                          </a:solidFill>
                          <a:latin typeface="Calibri"/>
                        </a:rPr>
                        <a:t>Table 181: Company Revenue from the North America Market, US$ Mn, 2025–2026</a:t>
                      </a:r>
                      <a:endParaRPr sz="1050"/>
                    </a:p>
                  </a:txBody>
                  <a:tcPr marL="9525" marR="9525" marT="9525" marB="0" anchor="ctr"/>
                </a:tc>
              </a:tr>
              <a:tr h="170266">
                <a:tc>
                  <a:txBody>
                    <a:bodyPr wrap="square"/>
                    <a:lstStyle/>
                    <a:p>
                      <a:pPr algn="l"/>
                      <a:r>
                        <a:rPr sz="1050" b="0" i="0">
                          <a:solidFill>
                            <a:srgbClr val="000000"/>
                          </a:solidFill>
                          <a:latin typeface="Calibri"/>
                        </a:rPr>
                        <a:t>Table 182: Company Market Share in the North America Market by Region, %, 2026</a:t>
                      </a:r>
                      <a:endParaRPr sz="1050"/>
                    </a:p>
                  </a:txBody>
                  <a:tcPr marL="9525" marR="9525" marT="9525" marB="0" anchor="ctr"/>
                </a:tc>
              </a:tr>
              <a:tr h="170266">
                <a:tc>
                  <a:txBody>
                    <a:bodyPr wrap="square"/>
                    <a:lstStyle/>
                    <a:p>
                      <a:pPr algn="l"/>
                      <a:r>
                        <a:rPr sz="1050" b="0" i="0">
                          <a:solidFill>
                            <a:srgbClr val="000000"/>
                          </a:solidFill>
                          <a:latin typeface="Calibri"/>
                        </a:rPr>
                        <a:t>Table 183: North America Market Competitive Benchmarking Matrix,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(5/5)</a:t>
            </a:r>
          </a:p>
        </p:txBody>
      </p:sp>
      <p:graphicFrame>
        <p:nvGraphicFramePr>
          <p:cNvPr id="9" name="FMI Contents Table"/>
          <p:cNvGraphicFramePr>
            <a:graphicFrameLocks noGrp="1"/>
          </p:cNvGraphicFramePr>
          <p:nvPr/>
        </p:nvGraphicFramePr>
        <p:xfrm>
          <a:off x="142875" y="981075"/>
          <a:ext cx="5876925" cy="2833696"/>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Table 184: North America Market Mergers, Acquisitions and Partnerships, 2021–2026</a:t>
                      </a:r>
                      <a:endParaRPr sz="1050"/>
                    </a:p>
                  </a:txBody>
                  <a:tcPr marL="9525" marR="9525" marT="9525" marB="0" anchor="ctr"/>
                </a:tc>
              </a:tr>
              <a:tr h="166688">
                <a:tc>
                  <a:txBody>
                    <a:bodyPr wrap="square"/>
                    <a:lstStyle/>
                    <a:p>
                      <a:pPr algn="l"/>
                      <a:r>
                        <a:rPr sz="1050" b="0" i="0">
                          <a:solidFill>
                            <a:srgbClr val="000000"/>
                          </a:solidFill>
                          <a:latin typeface="Calibri"/>
                        </a:rPr>
                        <a:t>Table 185: Company A: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186: Company B: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187: Company C: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188: Company D: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189: Company E: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190: Company F: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191: Company G: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192: Company H: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193: North America Market Value by Scenario, US$ Mn, 2026–2036</a:t>
                      </a:r>
                      <a:endParaRPr sz="1050"/>
                    </a:p>
                  </a:txBody>
                  <a:tcPr marL="9525" marR="9525" marT="9525" marB="0" anchor="ctr"/>
                </a:tc>
              </a:tr>
              <a:tr h="166688">
                <a:tc>
                  <a:txBody>
                    <a:bodyPr wrap="square"/>
                    <a:lstStyle/>
                    <a:p>
                      <a:pPr algn="l"/>
                      <a:r>
                        <a:rPr sz="1050" b="0" i="0">
                          <a:solidFill>
                            <a:srgbClr val="000000"/>
                          </a:solidFill>
                          <a:latin typeface="Calibri"/>
                        </a:rPr>
                        <a:t>Table 194: North America Market Key Trends and Impact Rating, 2026–2036</a:t>
                      </a:r>
                      <a:endParaRPr sz="1050"/>
                    </a:p>
                  </a:txBody>
                  <a:tcPr marL="9525" marR="9525" marT="9525" marB="0" anchor="ctr"/>
                </a:tc>
              </a:tr>
              <a:tr h="166688">
                <a:tc>
                  <a:txBody>
                    <a:bodyPr wrap="square"/>
                    <a:lstStyle/>
                    <a:p>
                      <a:pPr algn="l"/>
                      <a:r>
                        <a:rPr sz="1050" b="0" i="0">
                          <a:solidFill>
                            <a:srgbClr val="000000"/>
                          </a:solidFill>
                          <a:latin typeface="Calibri"/>
                        </a:rPr>
                        <a:t>Table 195: North America Market Opportunity Assessment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Table 196: North America Market Scenario Assumptions, 2026–2036</a:t>
                      </a:r>
                      <a:endParaRPr sz="1050"/>
                    </a:p>
                  </a:txBody>
                  <a:tcPr marL="9525" marR="9525" marT="9525" marB="0" anchor="ctr"/>
                </a:tc>
              </a:tr>
              <a:tr h="166688">
                <a:tc>
                  <a:txBody>
                    <a:bodyPr wrap="square"/>
                    <a:lstStyle/>
                    <a:p>
                      <a:pPr algn="l"/>
                      <a:r>
                        <a:rPr sz="1050" b="0" i="0">
                          <a:solidFill>
                            <a:srgbClr val="000000"/>
                          </a:solidFill>
                          <a:latin typeface="Calibri"/>
                        </a:rPr>
                        <a:t>Table 197: North America Market Risk Register and Mitigation, 2026–2036</a:t>
                      </a:r>
                      <a:endParaRPr sz="1050"/>
                    </a:p>
                  </a:txBody>
                  <a:tcPr marL="9525" marR="9525" marT="9525" marB="0" anchor="ctr"/>
                </a:tc>
              </a:tr>
              <a:tr h="166688">
                <a:tc>
                  <a:txBody>
                    <a:bodyPr wrap="square"/>
                    <a:lstStyle/>
                    <a:p>
                      <a:pPr algn="l"/>
                      <a:r>
                        <a:rPr sz="1050" b="0" i="0">
                          <a:solidFill>
                            <a:srgbClr val="000000"/>
                          </a:solidFill>
                          <a:latin typeface="Calibri"/>
                        </a:rPr>
                        <a:t>Table 198: North America Market Client Opportunity Prioritisation by Product Type, 2026–2036</a:t>
                      </a:r>
                      <a:endParaRPr sz="1050"/>
                    </a:p>
                  </a:txBody>
                  <a:tcPr marL="9525" marR="9525" marT="9525" marB="0" anchor="ctr"/>
                </a:tc>
              </a:tr>
              <a:tr h="166688">
                <a:tc>
                  <a:txBody>
                    <a:bodyPr wrap="square"/>
                    <a:lstStyle/>
                    <a:p>
                      <a:pPr algn="l"/>
                      <a:r>
                        <a:rPr sz="1050" b="0" i="0">
                          <a:solidFill>
                            <a:srgbClr val="000000"/>
                          </a:solidFill>
                          <a:latin typeface="Calibri"/>
                        </a:rPr>
                        <a:t>Table 199: North America Market Customer Purchase Criteria by Product Type, 2026</a:t>
                      </a:r>
                      <a:endParaRPr sz="1050"/>
                    </a:p>
                  </a:txBody>
                  <a:tcPr marL="9525" marR="9525" marT="9525" marB="0" anchor="ctr"/>
                </a:tc>
              </a:tr>
              <a:tr h="166688">
                <a:tc>
                  <a:txBody>
                    <a:bodyPr wrap="square"/>
                    <a:lstStyle/>
                    <a:p>
                      <a:pPr algn="l"/>
                      <a:r>
                        <a:rPr sz="1050" b="0" i="0">
                          <a:solidFill>
                            <a:srgbClr val="000000"/>
                          </a:solidFill>
                          <a:latin typeface="Calibri"/>
                        </a:rPr>
                        <a:t>Table 200: North America Market Strategic Recommendations and Action Plan, 2026–2036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