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charts/chart14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1.xml" ContentType="application/vnd.openxmlformats-officedocument.drawingml.chart+xml"/>
  <Override PartName="/ppt/charts/chart152.xml" ContentType="application/vnd.openxmlformats-officedocument.drawingml.chart+xml"/>
  <Override PartName="/ppt/charts/chart153.xml" ContentType="application/vnd.openxmlformats-officedocument.drawingml.chart+xml"/>
  <Override PartName="/ppt/charts/chart154.xml" ContentType="application/vnd.openxmlformats-officedocument.drawingml.chart+xml"/>
  <Override PartName="/ppt/charts/chart155.xml" ContentType="application/vnd.openxmlformats-officedocument.drawingml.chart+xml"/>
  <Override PartName="/ppt/charts/chart156.xml" ContentType="application/vnd.openxmlformats-officedocument.drawingml.chart+xml"/>
  <Override PartName="/ppt/charts/chart157.xml" ContentType="application/vnd.openxmlformats-officedocument.drawingml.chart+xml"/>
  <Override PartName="/ppt/charts/chart158.xml" ContentType="application/vnd.openxmlformats-officedocument.drawingml.chart+xml"/>
  <Override PartName="/ppt/charts/chart159.xml" ContentType="application/vnd.openxmlformats-officedocument.drawingml.chart+xml"/>
  <Override PartName="/ppt/charts/chart16.xml" ContentType="application/vnd.openxmlformats-officedocument.drawingml.chart+xml"/>
  <Override PartName="/ppt/charts/chart160.xml" ContentType="application/vnd.openxmlformats-officedocument.drawingml.chart+xml"/>
  <Override PartName="/ppt/charts/chart161.xml" ContentType="application/vnd.openxmlformats-officedocument.drawingml.chart+xml"/>
  <Override PartName="/ppt/charts/chart162.xml" ContentType="application/vnd.openxmlformats-officedocument.drawingml.chart+xml"/>
  <Override PartName="/ppt/charts/chart163.xml" ContentType="application/vnd.openxmlformats-officedocument.drawingml.chart+xml"/>
  <Override PartName="/ppt/charts/chart164.xml" ContentType="application/vnd.openxmlformats-officedocument.drawingml.chart+xml"/>
  <Override PartName="/ppt/charts/chart165.xml" ContentType="application/vnd.openxmlformats-officedocument.drawingml.chart+xml"/>
  <Override PartName="/ppt/charts/chart166.xml" ContentType="application/vnd.openxmlformats-officedocument.drawingml.chart+xml"/>
  <Override PartName="/ppt/charts/chart167.xml" ContentType="application/vnd.openxmlformats-officedocument.drawingml.chart+xml"/>
  <Override PartName="/ppt/charts/chart168.xml" ContentType="application/vnd.openxmlformats-officedocument.drawingml.chart+xml"/>
  <Override PartName="/ppt/charts/chart169.xml" ContentType="application/vnd.openxmlformats-officedocument.drawingml.chart+xml"/>
  <Override PartName="/ppt/charts/chart17.xml" ContentType="application/vnd.openxmlformats-officedocument.drawingml.chart+xml"/>
  <Override PartName="/ppt/charts/chart170.xml" ContentType="application/vnd.openxmlformats-officedocument.drawingml.chart+xml"/>
  <Override PartName="/ppt/charts/chart171.xml" ContentType="application/vnd.openxmlformats-officedocument.drawingml.chart+xml"/>
  <Override PartName="/ppt/charts/chart172.xml" ContentType="application/vnd.openxmlformats-officedocument.drawingml.chart+xml"/>
  <Override PartName="/ppt/charts/chart173.xml" ContentType="application/vnd.openxmlformats-officedocument.drawingml.chart+xml"/>
  <Override PartName="/ppt/charts/chart174.xml" ContentType="application/vnd.openxmlformats-officedocument.drawingml.chart+xml"/>
  <Override PartName="/ppt/charts/chart175.xml" ContentType="application/vnd.openxmlformats-officedocument.drawingml.chart+xml"/>
  <Override PartName="/ppt/charts/chart176.xml" ContentType="application/vnd.openxmlformats-officedocument.drawingml.chart+xml"/>
  <Override PartName="/ppt/charts/chart177.xml" ContentType="application/vnd.openxmlformats-officedocument.drawingml.chart+xml"/>
  <Override PartName="/ppt/charts/chart178.xml" ContentType="application/vnd.openxmlformats-officedocument.drawingml.chart+xml"/>
  <Override PartName="/ppt/charts/chart179.xml" ContentType="application/vnd.openxmlformats-officedocument.drawingml.chart+xml"/>
  <Override PartName="/ppt/charts/chart18.xml" ContentType="application/vnd.openxmlformats-officedocument.drawingml.chart+xml"/>
  <Override PartName="/ppt/charts/chart180.xml" ContentType="application/vnd.openxmlformats-officedocument.drawingml.chart+xml"/>
  <Override PartName="/ppt/charts/chart181.xml" ContentType="application/vnd.openxmlformats-officedocument.drawingml.chart+xml"/>
  <Override PartName="/ppt/charts/chart182.xml" ContentType="application/vnd.openxmlformats-officedocument.drawingml.chart+xml"/>
  <Override PartName="/ppt/charts/chart183.xml" ContentType="application/vnd.openxmlformats-officedocument.drawingml.chart+xml"/>
  <Override PartName="/ppt/charts/chart184.xml" ContentType="application/vnd.openxmlformats-officedocument.drawingml.chart+xml"/>
  <Override PartName="/ppt/charts/chart185.xml" ContentType="application/vnd.openxmlformats-officedocument.drawingml.chart+xml"/>
  <Override PartName="/ppt/charts/chart186.xml" ContentType="application/vnd.openxmlformats-officedocument.drawingml.chart+xml"/>
  <Override PartName="/ppt/charts/chart187.xml" ContentType="application/vnd.openxmlformats-officedocument.drawingml.chart+xml"/>
  <Override PartName="/ppt/charts/chart188.xml" ContentType="application/vnd.openxmlformats-officedocument.drawingml.chart+xml"/>
  <Override PartName="/ppt/charts/chart189.xml" ContentType="application/vnd.openxmlformats-officedocument.drawingml.chart+xml"/>
  <Override PartName="/ppt/charts/chart19.xml" ContentType="application/vnd.openxmlformats-officedocument.drawingml.chart+xml"/>
  <Override PartName="/ppt/charts/chart190.xml" ContentType="application/vnd.openxmlformats-officedocument.drawingml.chart+xml"/>
  <Override PartName="/ppt/charts/chart191.xml" ContentType="application/vnd.openxmlformats-officedocument.drawingml.chart+xml"/>
  <Override PartName="/ppt/charts/chart192.xml" ContentType="application/vnd.openxmlformats-officedocument.drawingml.chart+xml"/>
  <Override PartName="/ppt/charts/chart193.xml" ContentType="application/vnd.openxmlformats-officedocument.drawingml.chart+xml"/>
  <Override PartName="/ppt/charts/chart194.xml" ContentType="application/vnd.openxmlformats-officedocument.drawingml.chart+xml"/>
  <Override PartName="/ppt/charts/chart195.xml" ContentType="application/vnd.openxmlformats-officedocument.drawingml.chart+xml"/>
  <Override PartName="/ppt/charts/chart196.xml" ContentType="application/vnd.openxmlformats-officedocument.drawingml.chart+xml"/>
  <Override PartName="/ppt/charts/chart197.xml" ContentType="application/vnd.openxmlformats-officedocument.drawingml.chart+xml"/>
  <Override PartName="/ppt/charts/chart198.xml" ContentType="application/vnd.openxmlformats-officedocument.drawingml.chart+xml"/>
  <Override PartName="/ppt/charts/chart19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00.xml" ContentType="application/vnd.openxmlformats-officedocument.drawingml.chart+xml"/>
  <Override PartName="/ppt/charts/chart201.xml" ContentType="application/vnd.openxmlformats-officedocument.drawingml.chart+xml"/>
  <Override PartName="/ppt/charts/chart202.xml" ContentType="application/vnd.openxmlformats-officedocument.drawingml.chart+xml"/>
  <Override PartName="/ppt/charts/chart203.xml" ContentType="application/vnd.openxmlformats-officedocument.drawingml.chart+xml"/>
  <Override PartName="/ppt/charts/chart204.xml" ContentType="application/vnd.openxmlformats-officedocument.drawingml.chart+xml"/>
  <Override PartName="/ppt/charts/chart205.xml" ContentType="application/vnd.openxmlformats-officedocument.drawingml.chart+xml"/>
  <Override PartName="/ppt/charts/chart206.xml" ContentType="application/vnd.openxmlformats-officedocument.drawingml.chart+xml"/>
  <Override PartName="/ppt/charts/chart207.xml" ContentType="application/vnd.openxmlformats-officedocument.drawingml.chart+xml"/>
  <Override PartName="/ppt/charts/chart208.xml" ContentType="application/vnd.openxmlformats-officedocument.drawingml.chart+xml"/>
  <Override PartName="/ppt/charts/chart209.xml" ContentType="application/vnd.openxmlformats-officedocument.drawingml.chart+xml"/>
  <Override PartName="/ppt/charts/chart21.xml" ContentType="application/vnd.openxmlformats-officedocument.drawingml.chart+xml"/>
  <Override PartName="/ppt/charts/chart210.xml" ContentType="application/vnd.openxmlformats-officedocument.drawingml.chart+xml"/>
  <Override PartName="/ppt/charts/chart211.xml" ContentType="application/vnd.openxmlformats-officedocument.drawingml.chart+xml"/>
  <Override PartName="/ppt/charts/chart212.xml" ContentType="application/vnd.openxmlformats-officedocument.drawingml.chart+xml"/>
  <Override PartName="/ppt/charts/chart213.xml" ContentType="application/vnd.openxmlformats-officedocument.drawingml.chart+xml"/>
  <Override PartName="/ppt/charts/chart214.xml" ContentType="application/vnd.openxmlformats-officedocument.drawingml.chart+xml"/>
  <Override PartName="/ppt/charts/chart215.xml" ContentType="application/vnd.openxmlformats-officedocument.drawingml.chart+xml"/>
  <Override PartName="/ppt/charts/chart216.xml" ContentType="application/vnd.openxmlformats-officedocument.drawingml.chart+xml"/>
  <Override PartName="/ppt/charts/chart217.xml" ContentType="application/vnd.openxmlformats-officedocument.drawingml.chart+xml"/>
  <Override PartName="/ppt/charts/chart218.xml" ContentType="application/vnd.openxmlformats-officedocument.drawingml.chart+xml"/>
  <Override PartName="/ppt/charts/chart219.xml" ContentType="application/vnd.openxmlformats-officedocument.drawingml.chart+xml"/>
  <Override PartName="/ppt/charts/chart22.xml" ContentType="application/vnd.openxmlformats-officedocument.drawingml.chart+xml"/>
  <Override PartName="/ppt/charts/chart220.xml" ContentType="application/vnd.openxmlformats-officedocument.drawingml.chart+xml"/>
  <Override PartName="/ppt/charts/chart221.xml" ContentType="application/vnd.openxmlformats-officedocument.drawingml.chart+xml"/>
  <Override PartName="/ppt/charts/chart222.xml" ContentType="application/vnd.openxmlformats-officedocument.drawingml.chart+xml"/>
  <Override PartName="/ppt/charts/chart223.xml" ContentType="application/vnd.openxmlformats-officedocument.drawingml.chart+xml"/>
  <Override PartName="/ppt/charts/chart224.xml" ContentType="application/vnd.openxmlformats-officedocument.drawingml.chart+xml"/>
  <Override PartName="/ppt/charts/chart225.xml" ContentType="application/vnd.openxmlformats-officedocument.drawingml.chart+xml"/>
  <Override PartName="/ppt/charts/chart226.xml" ContentType="application/vnd.openxmlformats-officedocument.drawingml.chart+xml"/>
  <Override PartName="/ppt/charts/chart227.xml" ContentType="application/vnd.openxmlformats-officedocument.drawingml.chart+xml"/>
  <Override PartName="/ppt/charts/chart228.xml" ContentType="application/vnd.openxmlformats-officedocument.drawingml.chart+xml"/>
  <Override PartName="/ppt/charts/chart229.xml" ContentType="application/vnd.openxmlformats-officedocument.drawingml.chart+xml"/>
  <Override PartName="/ppt/charts/chart23.xml" ContentType="application/vnd.openxmlformats-officedocument.drawingml.chart+xml"/>
  <Override PartName="/ppt/charts/chart230.xml" ContentType="application/vnd.openxmlformats-officedocument.drawingml.chart+xml"/>
  <Override PartName="/ppt/charts/chart231.xml" ContentType="application/vnd.openxmlformats-officedocument.drawingml.chart+xml"/>
  <Override PartName="/ppt/charts/chart232.xml" ContentType="application/vnd.openxmlformats-officedocument.drawingml.chart+xml"/>
  <Override PartName="/ppt/charts/chart233.xml" ContentType="application/vnd.openxmlformats-officedocument.drawingml.chart+xml"/>
  <Override PartName="/ppt/charts/chart234.xml" ContentType="application/vnd.openxmlformats-officedocument.drawingml.chart+xml"/>
  <Override PartName="/ppt/charts/chart235.xml" ContentType="application/vnd.openxmlformats-officedocument.drawingml.chart+xml"/>
  <Override PartName="/ppt/charts/chart236.xml" ContentType="application/vnd.openxmlformats-officedocument.drawingml.chart+xml"/>
  <Override PartName="/ppt/charts/chart237.xml" ContentType="application/vnd.openxmlformats-officedocument.drawingml.chart+xml"/>
  <Override PartName="/ppt/charts/chart238.xml" ContentType="application/vnd.openxmlformats-officedocument.drawingml.chart+xml"/>
  <Override PartName="/ppt/charts/chart239.xml" ContentType="application/vnd.openxmlformats-officedocument.drawingml.chart+xml"/>
  <Override PartName="/ppt/charts/chart24.xml" ContentType="application/vnd.openxmlformats-officedocument.drawingml.chart+xml"/>
  <Override PartName="/ppt/charts/chart240.xml" ContentType="application/vnd.openxmlformats-officedocument.drawingml.chart+xml"/>
  <Override PartName="/ppt/charts/chart241.xml" ContentType="application/vnd.openxmlformats-officedocument.drawingml.chart+xml"/>
  <Override PartName="/ppt/charts/chart242.xml" ContentType="application/vnd.openxmlformats-officedocument.drawingml.chart+xml"/>
  <Override PartName="/ppt/charts/chart243.xml" ContentType="application/vnd.openxmlformats-officedocument.drawingml.chart+xml"/>
  <Override PartName="/ppt/charts/chart244.xml" ContentType="application/vnd.openxmlformats-officedocument.drawingml.chart+xml"/>
  <Override PartName="/ppt/charts/chart245.xml" ContentType="application/vnd.openxmlformats-officedocument.drawingml.chart+xml"/>
  <Override PartName="/ppt/charts/chart246.xml" ContentType="application/vnd.openxmlformats-officedocument.drawingml.chart+xml"/>
  <Override PartName="/ppt/charts/chart247.xml" ContentType="application/vnd.openxmlformats-officedocument.drawingml.chart+xml"/>
  <Override PartName="/ppt/charts/chart248.xml" ContentType="application/vnd.openxmlformats-officedocument.drawingml.chart+xml"/>
  <Override PartName="/ppt/charts/chart249.xml" ContentType="application/vnd.openxmlformats-officedocument.drawingml.chart+xml"/>
  <Override PartName="/ppt/charts/chart25.xml" ContentType="application/vnd.openxmlformats-officedocument.drawingml.chart+xml"/>
  <Override PartName="/ppt/charts/chart250.xml" ContentType="application/vnd.openxmlformats-officedocument.drawingml.chart+xml"/>
  <Override PartName="/ppt/charts/chart251.xml" ContentType="application/vnd.openxmlformats-officedocument.drawingml.chart+xml"/>
  <Override PartName="/ppt/charts/chart252.xml" ContentType="application/vnd.openxmlformats-officedocument.drawingml.chart+xml"/>
  <Override PartName="/ppt/charts/chart253.xml" ContentType="application/vnd.openxmlformats-officedocument.drawingml.chart+xml"/>
  <Override PartName="/ppt/charts/chart254.xml" ContentType="application/vnd.openxmlformats-officedocument.drawingml.chart+xml"/>
  <Override PartName="/ppt/charts/chart255.xml" ContentType="application/vnd.openxmlformats-officedocument.drawingml.chart+xml"/>
  <Override PartName="/ppt/charts/chart256.xml" ContentType="application/vnd.openxmlformats-officedocument.drawingml.chart+xml"/>
  <Override PartName="/ppt/charts/chart257.xml" ContentType="application/vnd.openxmlformats-officedocument.drawingml.chart+xml"/>
  <Override PartName="/ppt/charts/chart258.xml" ContentType="application/vnd.openxmlformats-officedocument.drawingml.chart+xml"/>
  <Override PartName="/ppt/charts/chart259.xml" ContentType="application/vnd.openxmlformats-officedocument.drawingml.chart+xml"/>
  <Override PartName="/ppt/charts/chart26.xml" ContentType="application/vnd.openxmlformats-officedocument.drawingml.chart+xml"/>
  <Override PartName="/ppt/charts/chart260.xml" ContentType="application/vnd.openxmlformats-officedocument.drawingml.chart+xml"/>
  <Override PartName="/ppt/charts/chart261.xml" ContentType="application/vnd.openxmlformats-officedocument.drawingml.chart+xml"/>
  <Override PartName="/ppt/charts/chart262.xml" ContentType="application/vnd.openxmlformats-officedocument.drawingml.chart+xml"/>
  <Override PartName="/ppt/charts/chart263.xml" ContentType="application/vnd.openxmlformats-officedocument.drawingml.chart+xml"/>
  <Override PartName="/ppt/charts/chart264.xml" ContentType="application/vnd.openxmlformats-officedocument.drawingml.chart+xml"/>
  <Override PartName="/ppt/charts/chart265.xml" ContentType="application/vnd.openxmlformats-officedocument.drawingml.chart+xml"/>
  <Override PartName="/ppt/charts/chart266.xml" ContentType="application/vnd.openxmlformats-officedocument.drawingml.chart+xml"/>
  <Override PartName="/ppt/charts/chart267.xml" ContentType="application/vnd.openxmlformats-officedocument.drawingml.chart+xml"/>
  <Override PartName="/ppt/charts/chart268.xml" ContentType="application/vnd.openxmlformats-officedocument.drawingml.chart+xml"/>
  <Override PartName="/ppt/charts/chart269.xml" ContentType="application/vnd.openxmlformats-officedocument.drawingml.chart+xml"/>
  <Override PartName="/ppt/charts/chart27.xml" ContentType="application/vnd.openxmlformats-officedocument.drawingml.chart+xml"/>
  <Override PartName="/ppt/charts/chart270.xml" ContentType="application/vnd.openxmlformats-officedocument.drawingml.chart+xml"/>
  <Override PartName="/ppt/charts/chart271.xml" ContentType="application/vnd.openxmlformats-officedocument.drawingml.chart+xml"/>
  <Override PartName="/ppt/charts/chart272.xml" ContentType="application/vnd.openxmlformats-officedocument.drawingml.chart+xml"/>
  <Override PartName="/ppt/charts/chart273.xml" ContentType="application/vnd.openxmlformats-officedocument.drawingml.chart+xml"/>
  <Override PartName="/ppt/charts/chart274.xml" ContentType="application/vnd.openxmlformats-officedocument.drawingml.chart+xml"/>
  <Override PartName="/ppt/charts/chart275.xml" ContentType="application/vnd.openxmlformats-officedocument.drawingml.chart+xml"/>
  <Override PartName="/ppt/charts/chart276.xml" ContentType="application/vnd.openxmlformats-officedocument.drawingml.chart+xml"/>
  <Override PartName="/ppt/charts/chart277.xml" ContentType="application/vnd.openxmlformats-officedocument.drawingml.chart+xml"/>
  <Override PartName="/ppt/charts/chart278.xml" ContentType="application/vnd.openxmlformats-officedocument.drawingml.chart+xml"/>
  <Override PartName="/ppt/charts/chart279.xml" ContentType="application/vnd.openxmlformats-officedocument.drawingml.chart+xml"/>
  <Override PartName="/ppt/charts/chart28.xml" ContentType="application/vnd.openxmlformats-officedocument.drawingml.chart+xml"/>
  <Override PartName="/ppt/charts/chart280.xml" ContentType="application/vnd.openxmlformats-officedocument.drawingml.chart+xml"/>
  <Override PartName="/ppt/charts/chart281.xml" ContentType="application/vnd.openxmlformats-officedocument.drawingml.chart+xml"/>
  <Override PartName="/ppt/charts/chart282.xml" ContentType="application/vnd.openxmlformats-officedocument.drawingml.chart+xml"/>
  <Override PartName="/ppt/charts/chart283.xml" ContentType="application/vnd.openxmlformats-officedocument.drawingml.chart+xml"/>
  <Override PartName="/ppt/charts/chart284.xml" ContentType="application/vnd.openxmlformats-officedocument.drawingml.chart+xml"/>
  <Override PartName="/ppt/charts/chart285.xml" ContentType="application/vnd.openxmlformats-officedocument.drawingml.chart+xml"/>
  <Override PartName="/ppt/charts/chart286.xml" ContentType="application/vnd.openxmlformats-officedocument.drawingml.chart+xml"/>
  <Override PartName="/ppt/charts/chart287.xml" ContentType="application/vnd.openxmlformats-officedocument.drawingml.chart+xml"/>
  <Override PartName="/ppt/charts/chart288.xml" ContentType="application/vnd.openxmlformats-officedocument.drawingml.chart+xml"/>
  <Override PartName="/ppt/charts/chart289.xml" ContentType="application/vnd.openxmlformats-officedocument.drawingml.chart+xml"/>
  <Override PartName="/ppt/charts/chart29.xml" ContentType="application/vnd.openxmlformats-officedocument.drawingml.chart+xml"/>
  <Override PartName="/ppt/charts/chart290.xml" ContentType="application/vnd.openxmlformats-officedocument.drawingml.chart+xml"/>
  <Override PartName="/ppt/charts/chart291.xml" ContentType="application/vnd.openxmlformats-officedocument.drawingml.chart+xml"/>
  <Override PartName="/ppt/charts/chart292.xml" ContentType="application/vnd.openxmlformats-officedocument.drawingml.chart+xml"/>
  <Override PartName="/ppt/charts/chart293.xml" ContentType="application/vnd.openxmlformats-officedocument.drawingml.chart+xml"/>
  <Override PartName="/ppt/charts/chart294.xml" ContentType="application/vnd.openxmlformats-officedocument.drawingml.chart+xml"/>
  <Override PartName="/ppt/charts/chart295.xml" ContentType="application/vnd.openxmlformats-officedocument.drawingml.chart+xml"/>
  <Override PartName="/ppt/charts/chart296.xml" ContentType="application/vnd.openxmlformats-officedocument.drawingml.chart+xml"/>
  <Override PartName="/ppt/charts/chart297.xml" ContentType="application/vnd.openxmlformats-officedocument.drawingml.chart+xml"/>
  <Override PartName="/ppt/charts/chart298.xml" ContentType="application/vnd.openxmlformats-officedocument.drawingml.chart+xml"/>
  <Override PartName="/ppt/charts/chart29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00.xml" ContentType="application/vnd.openxmlformats-officedocument.drawingml.chart+xml"/>
  <Override PartName="/ppt/charts/chart301.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696" r:id="rId448"/>
    <p:sldId id="690" r:id="rId442"/>
    <p:sldId id="691" r:id="rId443"/>
    <p:sldId id="692" r:id="rId444"/>
    <p:sldId id="693" r:id="rId445"/>
    <p:sldId id="694" r:id="rId446"/>
    <p:sldId id="695" r:id="rId447"/>
    <p:sldId id="706" r:id="rId458"/>
    <p:sldId id="697" r:id="rId449"/>
    <p:sldId id="698" r:id="rId450"/>
    <p:sldId id="699" r:id="rId451"/>
    <p:sldId id="700" r:id="rId452"/>
    <p:sldId id="701" r:id="rId453"/>
    <p:sldId id="702" r:id="rId454"/>
    <p:sldId id="703" r:id="rId455"/>
    <p:sldId id="704" r:id="rId456"/>
    <p:sldId id="705" r:id="rId457"/>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8" r:id="rId270"/>
    <p:sldId id="519" r:id="rId271"/>
    <p:sldId id="520" r:id="rId272"/>
    <p:sldId id="521" r:id="rId273"/>
    <p:sldId id="522" r:id="rId274"/>
    <p:sldId id="523" r:id="rId275"/>
    <p:sldId id="524" r:id="rId276"/>
    <p:sldId id="525" r:id="rId277"/>
    <p:sldId id="526" r:id="rId278"/>
    <p:sldId id="527" r:id="rId279"/>
    <p:sldId id="528" r:id="rId280"/>
    <p:sldId id="529" r:id="rId281"/>
    <p:sldId id="530" r:id="rId282"/>
    <p:sldId id="531" r:id="rId283"/>
    <p:sldId id="532" r:id="rId284"/>
    <p:sldId id="533" r:id="rId285"/>
    <p:sldId id="534" r:id="rId286"/>
    <p:sldId id="535" r:id="rId287"/>
    <p:sldId id="536" r:id="rId288"/>
    <p:sldId id="537" r:id="rId289"/>
    <p:sldId id="538" r:id="rId290"/>
    <p:sldId id="539" r:id="rId291"/>
    <p:sldId id="540" r:id="rId292"/>
    <p:sldId id="541" r:id="rId293"/>
    <p:sldId id="542" r:id="rId294"/>
    <p:sldId id="543" r:id="rId295"/>
    <p:sldId id="544" r:id="rId296"/>
    <p:sldId id="545" r:id="rId297"/>
    <p:sldId id="546" r:id="rId298"/>
    <p:sldId id="547" r:id="rId299"/>
    <p:sldId id="548" r:id="rId300"/>
    <p:sldId id="549" r:id="rId301"/>
    <p:sldId id="550" r:id="rId302"/>
    <p:sldId id="551" r:id="rId303"/>
    <p:sldId id="552" r:id="rId304"/>
    <p:sldId id="553" r:id="rId305"/>
    <p:sldId id="554" r:id="rId306"/>
    <p:sldId id="555" r:id="rId307"/>
    <p:sldId id="556" r:id="rId308"/>
    <p:sldId id="557" r:id="rId309"/>
    <p:sldId id="558" r:id="rId310"/>
    <p:sldId id="559" r:id="rId311"/>
    <p:sldId id="560" r:id="rId312"/>
    <p:sldId id="561" r:id="rId313"/>
    <p:sldId id="562" r:id="rId314"/>
    <p:sldId id="563" r:id="rId315"/>
    <p:sldId id="564" r:id="rId316"/>
    <p:sldId id="565" r:id="rId317"/>
    <p:sldId id="566" r:id="rId318"/>
    <p:sldId id="567" r:id="rId319"/>
    <p:sldId id="568" r:id="rId320"/>
    <p:sldId id="569" r:id="rId321"/>
    <p:sldId id="570" r:id="rId322"/>
    <p:sldId id="571" r:id="rId323"/>
    <p:sldId id="572" r:id="rId324"/>
    <p:sldId id="573" r:id="rId325"/>
    <p:sldId id="574" r:id="rId326"/>
    <p:sldId id="575" r:id="rId327"/>
    <p:sldId id="576" r:id="rId328"/>
    <p:sldId id="577" r:id="rId329"/>
    <p:sldId id="578" r:id="rId330"/>
    <p:sldId id="579" r:id="rId331"/>
    <p:sldId id="580" r:id="rId332"/>
    <p:sldId id="581" r:id="rId333"/>
    <p:sldId id="582" r:id="rId334"/>
    <p:sldId id="583" r:id="rId335"/>
    <p:sldId id="584" r:id="rId336"/>
    <p:sldId id="585" r:id="rId337"/>
    <p:sldId id="586" r:id="rId338"/>
    <p:sldId id="587" r:id="rId339"/>
    <p:sldId id="588" r:id="rId340"/>
    <p:sldId id="589" r:id="rId341"/>
    <p:sldId id="590" r:id="rId342"/>
    <p:sldId id="591" r:id="rId343"/>
    <p:sldId id="592" r:id="rId344"/>
    <p:sldId id="593" r:id="rId345"/>
    <p:sldId id="594" r:id="rId346"/>
    <p:sldId id="595" r:id="rId347"/>
    <p:sldId id="596" r:id="rId348"/>
    <p:sldId id="597" r:id="rId349"/>
    <p:sldId id="598" r:id="rId350"/>
    <p:sldId id="599" r:id="rId351"/>
    <p:sldId id="600" r:id="rId352"/>
    <p:sldId id="601" r:id="rId353"/>
    <p:sldId id="602" r:id="rId354"/>
    <p:sldId id="603" r:id="rId355"/>
    <p:sldId id="604" r:id="rId356"/>
    <p:sldId id="605" r:id="rId357"/>
    <p:sldId id="606" r:id="rId358"/>
    <p:sldId id="607" r:id="rId359"/>
    <p:sldId id="608" r:id="rId360"/>
    <p:sldId id="609" r:id="rId361"/>
    <p:sldId id="610" r:id="rId362"/>
    <p:sldId id="611" r:id="rId363"/>
    <p:sldId id="612" r:id="rId364"/>
    <p:sldId id="613" r:id="rId365"/>
    <p:sldId id="614" r:id="rId366"/>
    <p:sldId id="615" r:id="rId367"/>
    <p:sldId id="616" r:id="rId368"/>
    <p:sldId id="617" r:id="rId369"/>
    <p:sldId id="618" r:id="rId370"/>
    <p:sldId id="619" r:id="rId371"/>
    <p:sldId id="620" r:id="rId372"/>
    <p:sldId id="621" r:id="rId373"/>
    <p:sldId id="622" r:id="rId374"/>
    <p:sldId id="623" r:id="rId375"/>
    <p:sldId id="624" r:id="rId376"/>
    <p:sldId id="625" r:id="rId377"/>
    <p:sldId id="626" r:id="rId378"/>
    <p:sldId id="627" r:id="rId379"/>
    <p:sldId id="628" r:id="rId380"/>
    <p:sldId id="629" r:id="rId381"/>
    <p:sldId id="630" r:id="rId382"/>
    <p:sldId id="631" r:id="rId383"/>
    <p:sldId id="632" r:id="rId384"/>
    <p:sldId id="633" r:id="rId385"/>
    <p:sldId id="634" r:id="rId386"/>
    <p:sldId id="635" r:id="rId387"/>
    <p:sldId id="636" r:id="rId388"/>
    <p:sldId id="637" r:id="rId389"/>
    <p:sldId id="638" r:id="rId390"/>
    <p:sldId id="639" r:id="rId391"/>
    <p:sldId id="640" r:id="rId392"/>
    <p:sldId id="641" r:id="rId393"/>
    <p:sldId id="642" r:id="rId394"/>
    <p:sldId id="643" r:id="rId395"/>
    <p:sldId id="644" r:id="rId396"/>
    <p:sldId id="645" r:id="rId397"/>
    <p:sldId id="646" r:id="rId398"/>
    <p:sldId id="647" r:id="rId399"/>
    <p:sldId id="648" r:id="rId400"/>
    <p:sldId id="649" r:id="rId401"/>
    <p:sldId id="650" r:id="rId402"/>
    <p:sldId id="651" r:id="rId403"/>
    <p:sldId id="652" r:id="rId404"/>
    <p:sldId id="653" r:id="rId405"/>
    <p:sldId id="654" r:id="rId406"/>
    <p:sldId id="655" r:id="rId407"/>
    <p:sldId id="656" r:id="rId408"/>
    <p:sldId id="657" r:id="rId409"/>
    <p:sldId id="658" r:id="rId410"/>
    <p:sldId id="659" r:id="rId411"/>
    <p:sldId id="660" r:id="rId412"/>
    <p:sldId id="661" r:id="rId413"/>
    <p:sldId id="662" r:id="rId414"/>
    <p:sldId id="663" r:id="rId415"/>
    <p:sldId id="664" r:id="rId416"/>
    <p:sldId id="665" r:id="rId417"/>
    <p:sldId id="666" r:id="rId418"/>
    <p:sldId id="667" r:id="rId419"/>
    <p:sldId id="668" r:id="rId420"/>
    <p:sldId id="669" r:id="rId421"/>
    <p:sldId id="670" r:id="rId422"/>
    <p:sldId id="671" r:id="rId423"/>
    <p:sldId id="672" r:id="rId424"/>
    <p:sldId id="673" r:id="rId425"/>
    <p:sldId id="674" r:id="rId426"/>
    <p:sldId id="675" r:id="rId427"/>
    <p:sldId id="676" r:id="rId428"/>
    <p:sldId id="677" r:id="rId429"/>
    <p:sldId id="678" r:id="rId430"/>
    <p:sldId id="679" r:id="rId431"/>
    <p:sldId id="680" r:id="rId432"/>
    <p:sldId id="681" r:id="rId433"/>
    <p:sldId id="682" r:id="rId434"/>
    <p:sldId id="683" r:id="rId435"/>
    <p:sldId id="684" r:id="rId436"/>
    <p:sldId id="685" r:id="rId437"/>
    <p:sldId id="686" r:id="rId438"/>
    <p:sldId id="687" r:id="rId439"/>
    <p:sldId id="688" r:id="rId440"/>
    <p:sldId id="689" r:id="rId441"/>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13.xml"/><Relationship Id="rId21" Type="http://schemas.openxmlformats.org/officeDocument/2006/relationships/slide" Target="slides/slide14.xml"/><Relationship Id="rId22" Type="http://schemas.openxmlformats.org/officeDocument/2006/relationships/slide" Target="slides/slide15.xml"/><Relationship Id="rId23" Type="http://schemas.openxmlformats.org/officeDocument/2006/relationships/slide" Target="slides/slide16.xml"/><Relationship Id="rId24" Type="http://schemas.openxmlformats.org/officeDocument/2006/relationships/slide" Target="slides/slide17.xml"/><Relationship Id="rId25" Type="http://schemas.openxmlformats.org/officeDocument/2006/relationships/slide" Target="slides/slide18.xml"/><Relationship Id="rId26" Type="http://schemas.openxmlformats.org/officeDocument/2006/relationships/slide" Target="slides/slide19.xml"/><Relationship Id="rId27" Type="http://schemas.openxmlformats.org/officeDocument/2006/relationships/slide" Target="slides/slide20.xml"/><Relationship Id="rId28" Type="http://schemas.openxmlformats.org/officeDocument/2006/relationships/slide" Target="slides/slide21.xml"/><Relationship Id="rId29" Type="http://schemas.openxmlformats.org/officeDocument/2006/relationships/slide" Target="slides/slide22.xml"/><Relationship Id="rId30" Type="http://schemas.openxmlformats.org/officeDocument/2006/relationships/slide" Target="slides/slide23.xml"/><Relationship Id="rId31" Type="http://schemas.openxmlformats.org/officeDocument/2006/relationships/slide" Target="slides/slide24.xml"/><Relationship Id="rId32" Type="http://schemas.openxmlformats.org/officeDocument/2006/relationships/slide" Target="slides/slide25.xml"/><Relationship Id="rId33" Type="http://schemas.openxmlformats.org/officeDocument/2006/relationships/slide" Target="slides/slide26.xml"/><Relationship Id="rId34" Type="http://schemas.openxmlformats.org/officeDocument/2006/relationships/slide" Target="slides/slide27.xml"/><Relationship Id="rId35" Type="http://schemas.openxmlformats.org/officeDocument/2006/relationships/slide" Target="slides/slide28.xml"/><Relationship Id="rId36" Type="http://schemas.openxmlformats.org/officeDocument/2006/relationships/slide" Target="slides/slide29.xml"/><Relationship Id="rId37" Type="http://schemas.openxmlformats.org/officeDocument/2006/relationships/slide" Target="slides/slide30.xml"/><Relationship Id="rId38" Type="http://schemas.openxmlformats.org/officeDocument/2006/relationships/slide" Target="slides/slide31.xml"/><Relationship Id="rId39" Type="http://schemas.openxmlformats.org/officeDocument/2006/relationships/slide" Target="slides/slide32.xml"/><Relationship Id="rId40" Type="http://schemas.openxmlformats.org/officeDocument/2006/relationships/slide" Target="slides/slide33.xml"/><Relationship Id="rId41" Type="http://schemas.openxmlformats.org/officeDocument/2006/relationships/slide" Target="slides/slide34.xml"/><Relationship Id="rId42" Type="http://schemas.openxmlformats.org/officeDocument/2006/relationships/slide" Target="slides/slide35.xml"/><Relationship Id="rId43" Type="http://schemas.openxmlformats.org/officeDocument/2006/relationships/slide" Target="slides/slide36.xml"/><Relationship Id="rId44" Type="http://schemas.openxmlformats.org/officeDocument/2006/relationships/slide" Target="slides/slide37.xml"/><Relationship Id="rId45" Type="http://schemas.openxmlformats.org/officeDocument/2006/relationships/slide" Target="slides/slide38.xml"/><Relationship Id="rId46" Type="http://schemas.openxmlformats.org/officeDocument/2006/relationships/slide" Target="slides/slide39.xml"/><Relationship Id="rId47" Type="http://schemas.openxmlformats.org/officeDocument/2006/relationships/slide" Target="slides/slide40.xml"/><Relationship Id="rId48" Type="http://schemas.openxmlformats.org/officeDocument/2006/relationships/slide" Target="slides/slide41.xml"/><Relationship Id="rId49" Type="http://schemas.openxmlformats.org/officeDocument/2006/relationships/slide" Target="slides/slide42.xml"/><Relationship Id="rId50" Type="http://schemas.openxmlformats.org/officeDocument/2006/relationships/slide" Target="slides/slide43.xml"/><Relationship Id="rId51" Type="http://schemas.openxmlformats.org/officeDocument/2006/relationships/slide" Target="slides/slide44.xml"/><Relationship Id="rId52" Type="http://schemas.openxmlformats.org/officeDocument/2006/relationships/slide" Target="slides/slide45.xml"/><Relationship Id="rId53" Type="http://schemas.openxmlformats.org/officeDocument/2006/relationships/slide" Target="slides/slide46.xml"/><Relationship Id="rId54" Type="http://schemas.openxmlformats.org/officeDocument/2006/relationships/slide" Target="slides/slide47.xml"/><Relationship Id="rId55" Type="http://schemas.openxmlformats.org/officeDocument/2006/relationships/slide" Target="slides/slide48.xml"/><Relationship Id="rId56" Type="http://schemas.openxmlformats.org/officeDocument/2006/relationships/slide" Target="slides/slide49.xml"/><Relationship Id="rId57" Type="http://schemas.openxmlformats.org/officeDocument/2006/relationships/slide" Target="slides/slide50.xml"/><Relationship Id="rId58" Type="http://schemas.openxmlformats.org/officeDocument/2006/relationships/slide" Target="slides/slide51.xml"/><Relationship Id="rId59" Type="http://schemas.openxmlformats.org/officeDocument/2006/relationships/slide" Target="slides/slide52.xml"/><Relationship Id="rId60" Type="http://schemas.openxmlformats.org/officeDocument/2006/relationships/slide" Target="slides/slide53.xml"/><Relationship Id="rId61" Type="http://schemas.openxmlformats.org/officeDocument/2006/relationships/slide" Target="slides/slide54.xml"/><Relationship Id="rId62" Type="http://schemas.openxmlformats.org/officeDocument/2006/relationships/slide" Target="slides/slide55.xml"/><Relationship Id="rId63" Type="http://schemas.openxmlformats.org/officeDocument/2006/relationships/slide" Target="slides/slide56.xml"/><Relationship Id="rId64" Type="http://schemas.openxmlformats.org/officeDocument/2006/relationships/slide" Target="slides/slide57.xml"/><Relationship Id="rId65" Type="http://schemas.openxmlformats.org/officeDocument/2006/relationships/slide" Target="slides/slide58.xml"/><Relationship Id="rId66" Type="http://schemas.openxmlformats.org/officeDocument/2006/relationships/slide" Target="slides/slide59.xml"/><Relationship Id="rId67" Type="http://schemas.openxmlformats.org/officeDocument/2006/relationships/slide" Target="slides/slide60.xml"/><Relationship Id="rId68" Type="http://schemas.openxmlformats.org/officeDocument/2006/relationships/slide" Target="slides/slide61.xml"/><Relationship Id="rId69" Type="http://schemas.openxmlformats.org/officeDocument/2006/relationships/slide" Target="slides/slide62.xml"/><Relationship Id="rId70" Type="http://schemas.openxmlformats.org/officeDocument/2006/relationships/slide" Target="slides/slide63.xml"/><Relationship Id="rId71" Type="http://schemas.openxmlformats.org/officeDocument/2006/relationships/slide" Target="slides/slide64.xml"/><Relationship Id="rId72" Type="http://schemas.openxmlformats.org/officeDocument/2006/relationships/slide" Target="slides/slide65.xml"/><Relationship Id="rId73" Type="http://schemas.openxmlformats.org/officeDocument/2006/relationships/slide" Target="slides/slide66.xml"/><Relationship Id="rId74" Type="http://schemas.openxmlformats.org/officeDocument/2006/relationships/slide" Target="slides/slide67.xml"/><Relationship Id="rId75" Type="http://schemas.openxmlformats.org/officeDocument/2006/relationships/slide" Target="slides/slide68.xml"/><Relationship Id="rId76" Type="http://schemas.openxmlformats.org/officeDocument/2006/relationships/slide" Target="slides/slide69.xml"/><Relationship Id="rId77" Type="http://schemas.openxmlformats.org/officeDocument/2006/relationships/slide" Target="slides/slide70.xml"/><Relationship Id="rId78" Type="http://schemas.openxmlformats.org/officeDocument/2006/relationships/slide" Target="slides/slide71.xml"/><Relationship Id="rId79" Type="http://schemas.openxmlformats.org/officeDocument/2006/relationships/slide" Target="slides/slide72.xml"/><Relationship Id="rId80" Type="http://schemas.openxmlformats.org/officeDocument/2006/relationships/slide" Target="slides/slide73.xml"/><Relationship Id="rId81" Type="http://schemas.openxmlformats.org/officeDocument/2006/relationships/slide" Target="slides/slide74.xml"/><Relationship Id="rId82" Type="http://schemas.openxmlformats.org/officeDocument/2006/relationships/slide" Target="slides/slide75.xml"/><Relationship Id="rId83" Type="http://schemas.openxmlformats.org/officeDocument/2006/relationships/slide" Target="slides/slide76.xml"/><Relationship Id="rId84" Type="http://schemas.openxmlformats.org/officeDocument/2006/relationships/slide" Target="slides/slide77.xml"/><Relationship Id="rId85" Type="http://schemas.openxmlformats.org/officeDocument/2006/relationships/slide" Target="slides/slide78.xml"/><Relationship Id="rId86" Type="http://schemas.openxmlformats.org/officeDocument/2006/relationships/slide" Target="slides/slide79.xml"/><Relationship Id="rId87" Type="http://schemas.openxmlformats.org/officeDocument/2006/relationships/slide" Target="slides/slide80.xml"/><Relationship Id="rId88" Type="http://schemas.openxmlformats.org/officeDocument/2006/relationships/slide" Target="slides/slide81.xml"/><Relationship Id="rId89" Type="http://schemas.openxmlformats.org/officeDocument/2006/relationships/slide" Target="slides/slide82.xml"/><Relationship Id="rId90" Type="http://schemas.openxmlformats.org/officeDocument/2006/relationships/slide" Target="slides/slide83.xml"/><Relationship Id="rId91" Type="http://schemas.openxmlformats.org/officeDocument/2006/relationships/slide" Target="slides/slide84.xml"/><Relationship Id="rId92" Type="http://schemas.openxmlformats.org/officeDocument/2006/relationships/slide" Target="slides/slide85.xml"/><Relationship Id="rId93" Type="http://schemas.openxmlformats.org/officeDocument/2006/relationships/slide" Target="slides/slide86.xml"/><Relationship Id="rId94" Type="http://schemas.openxmlformats.org/officeDocument/2006/relationships/slide" Target="slides/slide87.xml"/><Relationship Id="rId95" Type="http://schemas.openxmlformats.org/officeDocument/2006/relationships/slide" Target="slides/slide88.xml"/><Relationship Id="rId96" Type="http://schemas.openxmlformats.org/officeDocument/2006/relationships/slide" Target="slides/slide89.xml"/><Relationship Id="rId97" Type="http://schemas.openxmlformats.org/officeDocument/2006/relationships/slide" Target="slides/slide90.xml"/><Relationship Id="rId98" Type="http://schemas.openxmlformats.org/officeDocument/2006/relationships/slide" Target="slides/slide91.xml"/><Relationship Id="rId99" Type="http://schemas.openxmlformats.org/officeDocument/2006/relationships/slide" Target="slides/slide92.xml"/><Relationship Id="rId100" Type="http://schemas.openxmlformats.org/officeDocument/2006/relationships/slide" Target="slides/slide93.xml"/><Relationship Id="rId101" Type="http://schemas.openxmlformats.org/officeDocument/2006/relationships/slide" Target="slides/slide94.xml"/><Relationship Id="rId102" Type="http://schemas.openxmlformats.org/officeDocument/2006/relationships/slide" Target="slides/slide95.xml"/><Relationship Id="rId103" Type="http://schemas.openxmlformats.org/officeDocument/2006/relationships/slide" Target="slides/slide96.xml"/><Relationship Id="rId104" Type="http://schemas.openxmlformats.org/officeDocument/2006/relationships/slide" Target="slides/slide97.xml"/><Relationship Id="rId105" Type="http://schemas.openxmlformats.org/officeDocument/2006/relationships/slide" Target="slides/slide98.xml"/><Relationship Id="rId106" Type="http://schemas.openxmlformats.org/officeDocument/2006/relationships/slide" Target="slides/slide99.xml"/><Relationship Id="rId107" Type="http://schemas.openxmlformats.org/officeDocument/2006/relationships/slide" Target="slides/slide100.xml"/><Relationship Id="rId108" Type="http://schemas.openxmlformats.org/officeDocument/2006/relationships/slide" Target="slides/slide101.xml"/><Relationship Id="rId109" Type="http://schemas.openxmlformats.org/officeDocument/2006/relationships/slide" Target="slides/slide102.xml"/><Relationship Id="rId110" Type="http://schemas.openxmlformats.org/officeDocument/2006/relationships/slide" Target="slides/slide103.xml"/><Relationship Id="rId111" Type="http://schemas.openxmlformats.org/officeDocument/2006/relationships/slide" Target="slides/slide104.xml"/><Relationship Id="rId112" Type="http://schemas.openxmlformats.org/officeDocument/2006/relationships/slide" Target="slides/slide105.xml"/><Relationship Id="rId113" Type="http://schemas.openxmlformats.org/officeDocument/2006/relationships/slide" Target="slides/slide106.xml"/><Relationship Id="rId114" Type="http://schemas.openxmlformats.org/officeDocument/2006/relationships/slide" Target="slides/slide107.xml"/><Relationship Id="rId115" Type="http://schemas.openxmlformats.org/officeDocument/2006/relationships/slide" Target="slides/slide108.xml"/><Relationship Id="rId116" Type="http://schemas.openxmlformats.org/officeDocument/2006/relationships/slide" Target="slides/slide109.xml"/><Relationship Id="rId117" Type="http://schemas.openxmlformats.org/officeDocument/2006/relationships/slide" Target="slides/slide110.xml"/><Relationship Id="rId118" Type="http://schemas.openxmlformats.org/officeDocument/2006/relationships/slide" Target="slides/slide111.xml"/><Relationship Id="rId119" Type="http://schemas.openxmlformats.org/officeDocument/2006/relationships/slide" Target="slides/slide112.xml"/><Relationship Id="rId120" Type="http://schemas.openxmlformats.org/officeDocument/2006/relationships/slide" Target="slides/slide113.xml"/><Relationship Id="rId121" Type="http://schemas.openxmlformats.org/officeDocument/2006/relationships/slide" Target="slides/slide114.xml"/><Relationship Id="rId122" Type="http://schemas.openxmlformats.org/officeDocument/2006/relationships/slide" Target="slides/slide115.xml"/><Relationship Id="rId123" Type="http://schemas.openxmlformats.org/officeDocument/2006/relationships/slide" Target="slides/slide116.xml"/><Relationship Id="rId124" Type="http://schemas.openxmlformats.org/officeDocument/2006/relationships/slide" Target="slides/slide117.xml"/><Relationship Id="rId125" Type="http://schemas.openxmlformats.org/officeDocument/2006/relationships/slide" Target="slides/slide118.xml"/><Relationship Id="rId126" Type="http://schemas.openxmlformats.org/officeDocument/2006/relationships/slide" Target="slides/slide119.xml"/><Relationship Id="rId127" Type="http://schemas.openxmlformats.org/officeDocument/2006/relationships/slide" Target="slides/slide120.xml"/><Relationship Id="rId128" Type="http://schemas.openxmlformats.org/officeDocument/2006/relationships/slide" Target="slides/slide121.xml"/><Relationship Id="rId129" Type="http://schemas.openxmlformats.org/officeDocument/2006/relationships/slide" Target="slides/slide122.xml"/><Relationship Id="rId130" Type="http://schemas.openxmlformats.org/officeDocument/2006/relationships/slide" Target="slides/slide123.xml"/><Relationship Id="rId131" Type="http://schemas.openxmlformats.org/officeDocument/2006/relationships/slide" Target="slides/slide124.xml"/><Relationship Id="rId132" Type="http://schemas.openxmlformats.org/officeDocument/2006/relationships/slide" Target="slides/slide125.xml"/><Relationship Id="rId133" Type="http://schemas.openxmlformats.org/officeDocument/2006/relationships/slide" Target="slides/slide126.xml"/><Relationship Id="rId134" Type="http://schemas.openxmlformats.org/officeDocument/2006/relationships/slide" Target="slides/slide127.xml"/><Relationship Id="rId135" Type="http://schemas.openxmlformats.org/officeDocument/2006/relationships/slide" Target="slides/slide128.xml"/><Relationship Id="rId136" Type="http://schemas.openxmlformats.org/officeDocument/2006/relationships/slide" Target="slides/slide129.xml"/><Relationship Id="rId137" Type="http://schemas.openxmlformats.org/officeDocument/2006/relationships/slide" Target="slides/slide130.xml"/><Relationship Id="rId138" Type="http://schemas.openxmlformats.org/officeDocument/2006/relationships/slide" Target="slides/slide131.xml"/><Relationship Id="rId139" Type="http://schemas.openxmlformats.org/officeDocument/2006/relationships/slide" Target="slides/slide132.xml"/><Relationship Id="rId140" Type="http://schemas.openxmlformats.org/officeDocument/2006/relationships/slide" Target="slides/slide133.xml"/><Relationship Id="rId141" Type="http://schemas.openxmlformats.org/officeDocument/2006/relationships/slide" Target="slides/slide134.xml"/><Relationship Id="rId142" Type="http://schemas.openxmlformats.org/officeDocument/2006/relationships/slide" Target="slides/slide135.xml"/><Relationship Id="rId143" Type="http://schemas.openxmlformats.org/officeDocument/2006/relationships/slide" Target="slides/slide136.xml"/><Relationship Id="rId144" Type="http://schemas.openxmlformats.org/officeDocument/2006/relationships/slide" Target="slides/slide137.xml"/><Relationship Id="rId145" Type="http://schemas.openxmlformats.org/officeDocument/2006/relationships/slide" Target="slides/slide138.xml"/><Relationship Id="rId146" Type="http://schemas.openxmlformats.org/officeDocument/2006/relationships/slide" Target="slides/slide139.xml"/><Relationship Id="rId147" Type="http://schemas.openxmlformats.org/officeDocument/2006/relationships/slide" Target="slides/slide140.xml"/><Relationship Id="rId148" Type="http://schemas.openxmlformats.org/officeDocument/2006/relationships/slide" Target="slides/slide141.xml"/><Relationship Id="rId149" Type="http://schemas.openxmlformats.org/officeDocument/2006/relationships/slide" Target="slides/slide142.xml"/><Relationship Id="rId150" Type="http://schemas.openxmlformats.org/officeDocument/2006/relationships/slide" Target="slides/slide143.xml"/><Relationship Id="rId151" Type="http://schemas.openxmlformats.org/officeDocument/2006/relationships/slide" Target="slides/slide144.xml"/><Relationship Id="rId152" Type="http://schemas.openxmlformats.org/officeDocument/2006/relationships/slide" Target="slides/slide145.xml"/><Relationship Id="rId153" Type="http://schemas.openxmlformats.org/officeDocument/2006/relationships/slide" Target="slides/slide146.xml"/><Relationship Id="rId154" Type="http://schemas.openxmlformats.org/officeDocument/2006/relationships/slide" Target="slides/slide147.xml"/><Relationship Id="rId155" Type="http://schemas.openxmlformats.org/officeDocument/2006/relationships/slide" Target="slides/slide148.xml"/><Relationship Id="rId156" Type="http://schemas.openxmlformats.org/officeDocument/2006/relationships/slide" Target="slides/slide149.xml"/><Relationship Id="rId157" Type="http://schemas.openxmlformats.org/officeDocument/2006/relationships/slide" Target="slides/slide150.xml"/><Relationship Id="rId158" Type="http://schemas.openxmlformats.org/officeDocument/2006/relationships/slide" Target="slides/slide151.xml"/><Relationship Id="rId159" Type="http://schemas.openxmlformats.org/officeDocument/2006/relationships/slide" Target="slides/slide152.xml"/><Relationship Id="rId160" Type="http://schemas.openxmlformats.org/officeDocument/2006/relationships/slide" Target="slides/slide153.xml"/><Relationship Id="rId161" Type="http://schemas.openxmlformats.org/officeDocument/2006/relationships/slide" Target="slides/slide154.xml"/><Relationship Id="rId162" Type="http://schemas.openxmlformats.org/officeDocument/2006/relationships/slide" Target="slides/slide155.xml"/><Relationship Id="rId163" Type="http://schemas.openxmlformats.org/officeDocument/2006/relationships/slide" Target="slides/slide156.xml"/><Relationship Id="rId164" Type="http://schemas.openxmlformats.org/officeDocument/2006/relationships/slide" Target="slides/slide157.xml"/><Relationship Id="rId165" Type="http://schemas.openxmlformats.org/officeDocument/2006/relationships/slide" Target="slides/slide158.xml"/><Relationship Id="rId166" Type="http://schemas.openxmlformats.org/officeDocument/2006/relationships/slide" Target="slides/slide159.xml"/><Relationship Id="rId167" Type="http://schemas.openxmlformats.org/officeDocument/2006/relationships/slide" Target="slides/slide160.xml"/><Relationship Id="rId168" Type="http://schemas.openxmlformats.org/officeDocument/2006/relationships/slide" Target="slides/slide161.xml"/><Relationship Id="rId169" Type="http://schemas.openxmlformats.org/officeDocument/2006/relationships/slide" Target="slides/slide162.xml"/><Relationship Id="rId170" Type="http://schemas.openxmlformats.org/officeDocument/2006/relationships/slide" Target="slides/slide163.xml"/><Relationship Id="rId171" Type="http://schemas.openxmlformats.org/officeDocument/2006/relationships/slide" Target="slides/slide164.xml"/><Relationship Id="rId172" Type="http://schemas.openxmlformats.org/officeDocument/2006/relationships/slide" Target="slides/slide165.xml"/><Relationship Id="rId173" Type="http://schemas.openxmlformats.org/officeDocument/2006/relationships/slide" Target="slides/slide166.xml"/><Relationship Id="rId174" Type="http://schemas.openxmlformats.org/officeDocument/2006/relationships/slide" Target="slides/slide167.xml"/><Relationship Id="rId175" Type="http://schemas.openxmlformats.org/officeDocument/2006/relationships/slide" Target="slides/slide168.xml"/><Relationship Id="rId176" Type="http://schemas.openxmlformats.org/officeDocument/2006/relationships/slide" Target="slides/slide169.xml"/><Relationship Id="rId177" Type="http://schemas.openxmlformats.org/officeDocument/2006/relationships/slide" Target="slides/slide170.xml"/><Relationship Id="rId178" Type="http://schemas.openxmlformats.org/officeDocument/2006/relationships/slide" Target="slides/slide171.xml"/><Relationship Id="rId179" Type="http://schemas.openxmlformats.org/officeDocument/2006/relationships/slide" Target="slides/slide172.xml"/><Relationship Id="rId180" Type="http://schemas.openxmlformats.org/officeDocument/2006/relationships/slide" Target="slides/slide173.xml"/><Relationship Id="rId181" Type="http://schemas.openxmlformats.org/officeDocument/2006/relationships/slide" Target="slides/slide174.xml"/><Relationship Id="rId182" Type="http://schemas.openxmlformats.org/officeDocument/2006/relationships/slide" Target="slides/slide175.xml"/><Relationship Id="rId183" Type="http://schemas.openxmlformats.org/officeDocument/2006/relationships/slide" Target="slides/slide176.xml"/><Relationship Id="rId184" Type="http://schemas.openxmlformats.org/officeDocument/2006/relationships/slide" Target="slides/slide177.xml"/><Relationship Id="rId185" Type="http://schemas.openxmlformats.org/officeDocument/2006/relationships/slide" Target="slides/slide178.xml"/><Relationship Id="rId186" Type="http://schemas.openxmlformats.org/officeDocument/2006/relationships/slide" Target="slides/slide179.xml"/><Relationship Id="rId187" Type="http://schemas.openxmlformats.org/officeDocument/2006/relationships/slide" Target="slides/slide180.xml"/><Relationship Id="rId188" Type="http://schemas.openxmlformats.org/officeDocument/2006/relationships/slide" Target="slides/slide181.xml"/><Relationship Id="rId189" Type="http://schemas.openxmlformats.org/officeDocument/2006/relationships/slide" Target="slides/slide182.xml"/><Relationship Id="rId190" Type="http://schemas.openxmlformats.org/officeDocument/2006/relationships/slide" Target="slides/slide183.xml"/><Relationship Id="rId191" Type="http://schemas.openxmlformats.org/officeDocument/2006/relationships/slide" Target="slides/slide184.xml"/><Relationship Id="rId192" Type="http://schemas.openxmlformats.org/officeDocument/2006/relationships/slide" Target="slides/slide185.xml"/><Relationship Id="rId193" Type="http://schemas.openxmlformats.org/officeDocument/2006/relationships/slide" Target="slides/slide186.xml"/><Relationship Id="rId194" Type="http://schemas.openxmlformats.org/officeDocument/2006/relationships/slide" Target="slides/slide187.xml"/><Relationship Id="rId195" Type="http://schemas.openxmlformats.org/officeDocument/2006/relationships/slide" Target="slides/slide188.xml"/><Relationship Id="rId196" Type="http://schemas.openxmlformats.org/officeDocument/2006/relationships/slide" Target="slides/slide189.xml"/><Relationship Id="rId197" Type="http://schemas.openxmlformats.org/officeDocument/2006/relationships/slide" Target="slides/slide190.xml"/><Relationship Id="rId198" Type="http://schemas.openxmlformats.org/officeDocument/2006/relationships/slide" Target="slides/slide191.xml"/><Relationship Id="rId199" Type="http://schemas.openxmlformats.org/officeDocument/2006/relationships/slide" Target="slides/slide192.xml"/><Relationship Id="rId200" Type="http://schemas.openxmlformats.org/officeDocument/2006/relationships/slide" Target="slides/slide193.xml"/><Relationship Id="rId201" Type="http://schemas.openxmlformats.org/officeDocument/2006/relationships/slide" Target="slides/slide194.xml"/><Relationship Id="rId202" Type="http://schemas.openxmlformats.org/officeDocument/2006/relationships/slide" Target="slides/slide195.xml"/><Relationship Id="rId203" Type="http://schemas.openxmlformats.org/officeDocument/2006/relationships/slide" Target="slides/slide196.xml"/><Relationship Id="rId204" Type="http://schemas.openxmlformats.org/officeDocument/2006/relationships/slide" Target="slides/slide197.xml"/><Relationship Id="rId205" Type="http://schemas.openxmlformats.org/officeDocument/2006/relationships/slide" Target="slides/slide198.xml"/><Relationship Id="rId206" Type="http://schemas.openxmlformats.org/officeDocument/2006/relationships/slide" Target="slides/slide199.xml"/><Relationship Id="rId207" Type="http://schemas.openxmlformats.org/officeDocument/2006/relationships/slide" Target="slides/slide200.xml"/><Relationship Id="rId208" Type="http://schemas.openxmlformats.org/officeDocument/2006/relationships/slide" Target="slides/slide201.xml"/><Relationship Id="rId209" Type="http://schemas.openxmlformats.org/officeDocument/2006/relationships/slide" Target="slides/slide202.xml"/><Relationship Id="rId210" Type="http://schemas.openxmlformats.org/officeDocument/2006/relationships/slide" Target="slides/slide203.xml"/><Relationship Id="rId211" Type="http://schemas.openxmlformats.org/officeDocument/2006/relationships/slide" Target="slides/slide204.xml"/><Relationship Id="rId212" Type="http://schemas.openxmlformats.org/officeDocument/2006/relationships/slide" Target="slides/slide205.xml"/><Relationship Id="rId213" Type="http://schemas.openxmlformats.org/officeDocument/2006/relationships/slide" Target="slides/slide206.xml"/><Relationship Id="rId214" Type="http://schemas.openxmlformats.org/officeDocument/2006/relationships/slide" Target="slides/slide207.xml"/><Relationship Id="rId215" Type="http://schemas.openxmlformats.org/officeDocument/2006/relationships/slide" Target="slides/slide208.xml"/><Relationship Id="rId216" Type="http://schemas.openxmlformats.org/officeDocument/2006/relationships/slide" Target="slides/slide209.xml"/><Relationship Id="rId217" Type="http://schemas.openxmlformats.org/officeDocument/2006/relationships/slide" Target="slides/slide210.xml"/><Relationship Id="rId218" Type="http://schemas.openxmlformats.org/officeDocument/2006/relationships/slide" Target="slides/slide211.xml"/><Relationship Id="rId219" Type="http://schemas.openxmlformats.org/officeDocument/2006/relationships/slide" Target="slides/slide212.xml"/><Relationship Id="rId220" Type="http://schemas.openxmlformats.org/officeDocument/2006/relationships/slide" Target="slides/slide213.xml"/><Relationship Id="rId221" Type="http://schemas.openxmlformats.org/officeDocument/2006/relationships/slide" Target="slides/slide214.xml"/><Relationship Id="rId222" Type="http://schemas.openxmlformats.org/officeDocument/2006/relationships/slide" Target="slides/slide215.xml"/><Relationship Id="rId223" Type="http://schemas.openxmlformats.org/officeDocument/2006/relationships/slide" Target="slides/slide216.xml"/><Relationship Id="rId224" Type="http://schemas.openxmlformats.org/officeDocument/2006/relationships/slide" Target="slides/slide217.xml"/><Relationship Id="rId225" Type="http://schemas.openxmlformats.org/officeDocument/2006/relationships/slide" Target="slides/slide218.xml"/><Relationship Id="rId226" Type="http://schemas.openxmlformats.org/officeDocument/2006/relationships/slide" Target="slides/slide219.xml"/><Relationship Id="rId227" Type="http://schemas.openxmlformats.org/officeDocument/2006/relationships/slide" Target="slides/slide220.xml"/><Relationship Id="rId228" Type="http://schemas.openxmlformats.org/officeDocument/2006/relationships/slide" Target="slides/slide221.xml"/><Relationship Id="rId229" Type="http://schemas.openxmlformats.org/officeDocument/2006/relationships/slide" Target="slides/slide222.xml"/><Relationship Id="rId230" Type="http://schemas.openxmlformats.org/officeDocument/2006/relationships/slide" Target="slides/slide223.xml"/><Relationship Id="rId231" Type="http://schemas.openxmlformats.org/officeDocument/2006/relationships/slide" Target="slides/slide224.xml"/><Relationship Id="rId232" Type="http://schemas.openxmlformats.org/officeDocument/2006/relationships/slide" Target="slides/slide225.xml"/><Relationship Id="rId233" Type="http://schemas.openxmlformats.org/officeDocument/2006/relationships/slide" Target="slides/slide226.xml"/><Relationship Id="rId234" Type="http://schemas.openxmlformats.org/officeDocument/2006/relationships/slide" Target="slides/slide227.xml"/><Relationship Id="rId235" Type="http://schemas.openxmlformats.org/officeDocument/2006/relationships/slide" Target="slides/slide228.xml"/><Relationship Id="rId236" Type="http://schemas.openxmlformats.org/officeDocument/2006/relationships/slide" Target="slides/slide229.xml"/><Relationship Id="rId237" Type="http://schemas.openxmlformats.org/officeDocument/2006/relationships/slide" Target="slides/slide230.xml"/><Relationship Id="rId238" Type="http://schemas.openxmlformats.org/officeDocument/2006/relationships/slide" Target="slides/slide231.xml"/><Relationship Id="rId239" Type="http://schemas.openxmlformats.org/officeDocument/2006/relationships/slide" Target="slides/slide232.xml"/><Relationship Id="rId240" Type="http://schemas.openxmlformats.org/officeDocument/2006/relationships/slide" Target="slides/slide233.xml"/><Relationship Id="rId241" Type="http://schemas.openxmlformats.org/officeDocument/2006/relationships/slide" Target="slides/slide234.xml"/><Relationship Id="rId242" Type="http://schemas.openxmlformats.org/officeDocument/2006/relationships/slide" Target="slides/slide235.xml"/><Relationship Id="rId243" Type="http://schemas.openxmlformats.org/officeDocument/2006/relationships/slide" Target="slides/slide236.xml"/><Relationship Id="rId244" Type="http://schemas.openxmlformats.org/officeDocument/2006/relationships/slide" Target="slides/slide237.xml"/><Relationship Id="rId245" Type="http://schemas.openxmlformats.org/officeDocument/2006/relationships/slide" Target="slides/slide238.xml"/><Relationship Id="rId246" Type="http://schemas.openxmlformats.org/officeDocument/2006/relationships/slide" Target="slides/slide239.xml"/><Relationship Id="rId247" Type="http://schemas.openxmlformats.org/officeDocument/2006/relationships/slide" Target="slides/slide240.xml"/><Relationship Id="rId248" Type="http://schemas.openxmlformats.org/officeDocument/2006/relationships/slide" Target="slides/slide241.xml"/><Relationship Id="rId249" Type="http://schemas.openxmlformats.org/officeDocument/2006/relationships/slide" Target="slides/slide242.xml"/><Relationship Id="rId250" Type="http://schemas.openxmlformats.org/officeDocument/2006/relationships/slide" Target="slides/slide243.xml"/><Relationship Id="rId251" Type="http://schemas.openxmlformats.org/officeDocument/2006/relationships/slide" Target="slides/slide244.xml"/><Relationship Id="rId252" Type="http://schemas.openxmlformats.org/officeDocument/2006/relationships/slide" Target="slides/slide245.xml"/><Relationship Id="rId253" Type="http://schemas.openxmlformats.org/officeDocument/2006/relationships/slide" Target="slides/slide246.xml"/><Relationship Id="rId254" Type="http://schemas.openxmlformats.org/officeDocument/2006/relationships/slide" Target="slides/slide247.xml"/><Relationship Id="rId255" Type="http://schemas.openxmlformats.org/officeDocument/2006/relationships/slide" Target="slides/slide248.xml"/><Relationship Id="rId256" Type="http://schemas.openxmlformats.org/officeDocument/2006/relationships/slide" Target="slides/slide249.xml"/><Relationship Id="rId257" Type="http://schemas.openxmlformats.org/officeDocument/2006/relationships/slide" Target="slides/slide250.xml"/><Relationship Id="rId258" Type="http://schemas.openxmlformats.org/officeDocument/2006/relationships/slide" Target="slides/slide251.xml"/><Relationship Id="rId259" Type="http://schemas.openxmlformats.org/officeDocument/2006/relationships/slide" Target="slides/slide252.xml"/><Relationship Id="rId260" Type="http://schemas.openxmlformats.org/officeDocument/2006/relationships/slide" Target="slides/slide253.xml"/><Relationship Id="rId261" Type="http://schemas.openxmlformats.org/officeDocument/2006/relationships/slide" Target="slides/slide254.xml"/><Relationship Id="rId262" Type="http://schemas.openxmlformats.org/officeDocument/2006/relationships/slide" Target="slides/slide255.xml"/><Relationship Id="rId263" Type="http://schemas.openxmlformats.org/officeDocument/2006/relationships/slide" Target="slides/slide256.xml"/><Relationship Id="rId264" Type="http://schemas.openxmlformats.org/officeDocument/2006/relationships/slide" Target="slides/slide257.xml"/><Relationship Id="rId265" Type="http://schemas.openxmlformats.org/officeDocument/2006/relationships/slide" Target="slides/slide258.xml"/><Relationship Id="rId266" Type="http://schemas.openxmlformats.org/officeDocument/2006/relationships/slide" Target="slides/slide259.xml"/><Relationship Id="rId267" Type="http://schemas.openxmlformats.org/officeDocument/2006/relationships/slide" Target="slides/slide260.xml"/><Relationship Id="rId268" Type="http://schemas.openxmlformats.org/officeDocument/2006/relationships/slide" Target="slides/slide261.xml"/><Relationship Id="rId269" Type="http://schemas.openxmlformats.org/officeDocument/2006/relationships/slide" Target="slides/slide262.xml"/><Relationship Id="rId270" Type="http://schemas.openxmlformats.org/officeDocument/2006/relationships/slide" Target="slides/slide263.xml"/><Relationship Id="rId271" Type="http://schemas.openxmlformats.org/officeDocument/2006/relationships/slide" Target="slides/slide264.xml"/><Relationship Id="rId272" Type="http://schemas.openxmlformats.org/officeDocument/2006/relationships/slide" Target="slides/slide265.xml"/><Relationship Id="rId273" Type="http://schemas.openxmlformats.org/officeDocument/2006/relationships/slide" Target="slides/slide266.xml"/><Relationship Id="rId274" Type="http://schemas.openxmlformats.org/officeDocument/2006/relationships/slide" Target="slides/slide267.xml"/><Relationship Id="rId275" Type="http://schemas.openxmlformats.org/officeDocument/2006/relationships/slide" Target="slides/slide268.xml"/><Relationship Id="rId276" Type="http://schemas.openxmlformats.org/officeDocument/2006/relationships/slide" Target="slides/slide269.xml"/><Relationship Id="rId277" Type="http://schemas.openxmlformats.org/officeDocument/2006/relationships/slide" Target="slides/slide270.xml"/><Relationship Id="rId278" Type="http://schemas.openxmlformats.org/officeDocument/2006/relationships/slide" Target="slides/slide271.xml"/><Relationship Id="rId279" Type="http://schemas.openxmlformats.org/officeDocument/2006/relationships/slide" Target="slides/slide272.xml"/><Relationship Id="rId280" Type="http://schemas.openxmlformats.org/officeDocument/2006/relationships/slide" Target="slides/slide273.xml"/><Relationship Id="rId281" Type="http://schemas.openxmlformats.org/officeDocument/2006/relationships/slide" Target="slides/slide274.xml"/><Relationship Id="rId282" Type="http://schemas.openxmlformats.org/officeDocument/2006/relationships/slide" Target="slides/slide275.xml"/><Relationship Id="rId283" Type="http://schemas.openxmlformats.org/officeDocument/2006/relationships/slide" Target="slides/slide276.xml"/><Relationship Id="rId284" Type="http://schemas.openxmlformats.org/officeDocument/2006/relationships/slide" Target="slides/slide277.xml"/><Relationship Id="rId285" Type="http://schemas.openxmlformats.org/officeDocument/2006/relationships/slide" Target="slides/slide278.xml"/><Relationship Id="rId286" Type="http://schemas.openxmlformats.org/officeDocument/2006/relationships/slide" Target="slides/slide279.xml"/><Relationship Id="rId287" Type="http://schemas.openxmlformats.org/officeDocument/2006/relationships/slide" Target="slides/slide280.xml"/><Relationship Id="rId288" Type="http://schemas.openxmlformats.org/officeDocument/2006/relationships/slide" Target="slides/slide281.xml"/><Relationship Id="rId289" Type="http://schemas.openxmlformats.org/officeDocument/2006/relationships/slide" Target="slides/slide282.xml"/><Relationship Id="rId290" Type="http://schemas.openxmlformats.org/officeDocument/2006/relationships/slide" Target="slides/slide283.xml"/><Relationship Id="rId291" Type="http://schemas.openxmlformats.org/officeDocument/2006/relationships/slide" Target="slides/slide284.xml"/><Relationship Id="rId292" Type="http://schemas.openxmlformats.org/officeDocument/2006/relationships/slide" Target="slides/slide285.xml"/><Relationship Id="rId293" Type="http://schemas.openxmlformats.org/officeDocument/2006/relationships/slide" Target="slides/slide286.xml"/><Relationship Id="rId294" Type="http://schemas.openxmlformats.org/officeDocument/2006/relationships/slide" Target="slides/slide287.xml"/><Relationship Id="rId295" Type="http://schemas.openxmlformats.org/officeDocument/2006/relationships/slide" Target="slides/slide288.xml"/><Relationship Id="rId296" Type="http://schemas.openxmlformats.org/officeDocument/2006/relationships/slide" Target="slides/slide289.xml"/><Relationship Id="rId297" Type="http://schemas.openxmlformats.org/officeDocument/2006/relationships/slide" Target="slides/slide290.xml"/><Relationship Id="rId298" Type="http://schemas.openxmlformats.org/officeDocument/2006/relationships/slide" Target="slides/slide291.xml"/><Relationship Id="rId299" Type="http://schemas.openxmlformats.org/officeDocument/2006/relationships/slide" Target="slides/slide292.xml"/><Relationship Id="rId300" Type="http://schemas.openxmlformats.org/officeDocument/2006/relationships/slide" Target="slides/slide293.xml"/><Relationship Id="rId301" Type="http://schemas.openxmlformats.org/officeDocument/2006/relationships/slide" Target="slides/slide294.xml"/><Relationship Id="rId302" Type="http://schemas.openxmlformats.org/officeDocument/2006/relationships/slide" Target="slides/slide295.xml"/><Relationship Id="rId303" Type="http://schemas.openxmlformats.org/officeDocument/2006/relationships/slide" Target="slides/slide296.xml"/><Relationship Id="rId304" Type="http://schemas.openxmlformats.org/officeDocument/2006/relationships/slide" Target="slides/slide297.xml"/><Relationship Id="rId305" Type="http://schemas.openxmlformats.org/officeDocument/2006/relationships/slide" Target="slides/slide298.xml"/><Relationship Id="rId306" Type="http://schemas.openxmlformats.org/officeDocument/2006/relationships/slide" Target="slides/slide299.xml"/><Relationship Id="rId307" Type="http://schemas.openxmlformats.org/officeDocument/2006/relationships/slide" Target="slides/slide300.xml"/><Relationship Id="rId308" Type="http://schemas.openxmlformats.org/officeDocument/2006/relationships/slide" Target="slides/slide301.xml"/><Relationship Id="rId309" Type="http://schemas.openxmlformats.org/officeDocument/2006/relationships/slide" Target="slides/slide302.xml"/><Relationship Id="rId310" Type="http://schemas.openxmlformats.org/officeDocument/2006/relationships/slide" Target="slides/slide303.xml"/><Relationship Id="rId311" Type="http://schemas.openxmlformats.org/officeDocument/2006/relationships/slide" Target="slides/slide304.xml"/><Relationship Id="rId312" Type="http://schemas.openxmlformats.org/officeDocument/2006/relationships/slide" Target="slides/slide305.xml"/><Relationship Id="rId313" Type="http://schemas.openxmlformats.org/officeDocument/2006/relationships/slide" Target="slides/slide306.xml"/><Relationship Id="rId314" Type="http://schemas.openxmlformats.org/officeDocument/2006/relationships/slide" Target="slides/slide307.xml"/><Relationship Id="rId315" Type="http://schemas.openxmlformats.org/officeDocument/2006/relationships/slide" Target="slides/slide308.xml"/><Relationship Id="rId316" Type="http://schemas.openxmlformats.org/officeDocument/2006/relationships/slide" Target="slides/slide309.xml"/><Relationship Id="rId317" Type="http://schemas.openxmlformats.org/officeDocument/2006/relationships/slide" Target="slides/slide310.xml"/><Relationship Id="rId318" Type="http://schemas.openxmlformats.org/officeDocument/2006/relationships/slide" Target="slides/slide311.xml"/><Relationship Id="rId319" Type="http://schemas.openxmlformats.org/officeDocument/2006/relationships/slide" Target="slides/slide312.xml"/><Relationship Id="rId320" Type="http://schemas.openxmlformats.org/officeDocument/2006/relationships/slide" Target="slides/slide313.xml"/><Relationship Id="rId321" Type="http://schemas.openxmlformats.org/officeDocument/2006/relationships/slide" Target="slides/slide314.xml"/><Relationship Id="rId322" Type="http://schemas.openxmlformats.org/officeDocument/2006/relationships/slide" Target="slides/slide315.xml"/><Relationship Id="rId323" Type="http://schemas.openxmlformats.org/officeDocument/2006/relationships/slide" Target="slides/slide316.xml"/><Relationship Id="rId324" Type="http://schemas.openxmlformats.org/officeDocument/2006/relationships/slide" Target="slides/slide317.xml"/><Relationship Id="rId325" Type="http://schemas.openxmlformats.org/officeDocument/2006/relationships/slide" Target="slides/slide318.xml"/><Relationship Id="rId326" Type="http://schemas.openxmlformats.org/officeDocument/2006/relationships/slide" Target="slides/slide319.xml"/><Relationship Id="rId327" Type="http://schemas.openxmlformats.org/officeDocument/2006/relationships/slide" Target="slides/slide320.xml"/><Relationship Id="rId328" Type="http://schemas.openxmlformats.org/officeDocument/2006/relationships/slide" Target="slides/slide321.xml"/><Relationship Id="rId329" Type="http://schemas.openxmlformats.org/officeDocument/2006/relationships/slide" Target="slides/slide322.xml"/><Relationship Id="rId330" Type="http://schemas.openxmlformats.org/officeDocument/2006/relationships/slide" Target="slides/slide323.xml"/><Relationship Id="rId331" Type="http://schemas.openxmlformats.org/officeDocument/2006/relationships/slide" Target="slides/slide324.xml"/><Relationship Id="rId332" Type="http://schemas.openxmlformats.org/officeDocument/2006/relationships/slide" Target="slides/slide325.xml"/><Relationship Id="rId333" Type="http://schemas.openxmlformats.org/officeDocument/2006/relationships/slide" Target="slides/slide326.xml"/><Relationship Id="rId334" Type="http://schemas.openxmlformats.org/officeDocument/2006/relationships/slide" Target="slides/slide327.xml"/><Relationship Id="rId335" Type="http://schemas.openxmlformats.org/officeDocument/2006/relationships/slide" Target="slides/slide328.xml"/><Relationship Id="rId336" Type="http://schemas.openxmlformats.org/officeDocument/2006/relationships/slide" Target="slides/slide329.xml"/><Relationship Id="rId337" Type="http://schemas.openxmlformats.org/officeDocument/2006/relationships/slide" Target="slides/slide330.xml"/><Relationship Id="rId338" Type="http://schemas.openxmlformats.org/officeDocument/2006/relationships/slide" Target="slides/slide331.xml"/><Relationship Id="rId339" Type="http://schemas.openxmlformats.org/officeDocument/2006/relationships/slide" Target="slides/slide332.xml"/><Relationship Id="rId340" Type="http://schemas.openxmlformats.org/officeDocument/2006/relationships/slide" Target="slides/slide333.xml"/><Relationship Id="rId341" Type="http://schemas.openxmlformats.org/officeDocument/2006/relationships/slide" Target="slides/slide334.xml"/><Relationship Id="rId342" Type="http://schemas.openxmlformats.org/officeDocument/2006/relationships/slide" Target="slides/slide335.xml"/><Relationship Id="rId343" Type="http://schemas.openxmlformats.org/officeDocument/2006/relationships/slide" Target="slides/slide336.xml"/><Relationship Id="rId344" Type="http://schemas.openxmlformats.org/officeDocument/2006/relationships/slide" Target="slides/slide337.xml"/><Relationship Id="rId345" Type="http://schemas.openxmlformats.org/officeDocument/2006/relationships/slide" Target="slides/slide338.xml"/><Relationship Id="rId346" Type="http://schemas.openxmlformats.org/officeDocument/2006/relationships/slide" Target="slides/slide339.xml"/><Relationship Id="rId347" Type="http://schemas.openxmlformats.org/officeDocument/2006/relationships/slide" Target="slides/slide340.xml"/><Relationship Id="rId348" Type="http://schemas.openxmlformats.org/officeDocument/2006/relationships/slide" Target="slides/slide341.xml"/><Relationship Id="rId349" Type="http://schemas.openxmlformats.org/officeDocument/2006/relationships/slide" Target="slides/slide342.xml"/><Relationship Id="rId350" Type="http://schemas.openxmlformats.org/officeDocument/2006/relationships/slide" Target="slides/slide343.xml"/><Relationship Id="rId351" Type="http://schemas.openxmlformats.org/officeDocument/2006/relationships/slide" Target="slides/slide344.xml"/><Relationship Id="rId352" Type="http://schemas.openxmlformats.org/officeDocument/2006/relationships/slide" Target="slides/slide345.xml"/><Relationship Id="rId353" Type="http://schemas.openxmlformats.org/officeDocument/2006/relationships/slide" Target="slides/slide346.xml"/><Relationship Id="rId354" Type="http://schemas.openxmlformats.org/officeDocument/2006/relationships/slide" Target="slides/slide347.xml"/><Relationship Id="rId355" Type="http://schemas.openxmlformats.org/officeDocument/2006/relationships/slide" Target="slides/slide348.xml"/><Relationship Id="rId356" Type="http://schemas.openxmlformats.org/officeDocument/2006/relationships/slide" Target="slides/slide349.xml"/><Relationship Id="rId357" Type="http://schemas.openxmlformats.org/officeDocument/2006/relationships/slide" Target="slides/slide350.xml"/><Relationship Id="rId358" Type="http://schemas.openxmlformats.org/officeDocument/2006/relationships/slide" Target="slides/slide351.xml"/><Relationship Id="rId359" Type="http://schemas.openxmlformats.org/officeDocument/2006/relationships/slide" Target="slides/slide352.xml"/><Relationship Id="rId360" Type="http://schemas.openxmlformats.org/officeDocument/2006/relationships/slide" Target="slides/slide353.xml"/><Relationship Id="rId361" Type="http://schemas.openxmlformats.org/officeDocument/2006/relationships/slide" Target="slides/slide354.xml"/><Relationship Id="rId362" Type="http://schemas.openxmlformats.org/officeDocument/2006/relationships/slide" Target="slides/slide355.xml"/><Relationship Id="rId363" Type="http://schemas.openxmlformats.org/officeDocument/2006/relationships/slide" Target="slides/slide356.xml"/><Relationship Id="rId364" Type="http://schemas.openxmlformats.org/officeDocument/2006/relationships/slide" Target="slides/slide357.xml"/><Relationship Id="rId365" Type="http://schemas.openxmlformats.org/officeDocument/2006/relationships/slide" Target="slides/slide358.xml"/><Relationship Id="rId366" Type="http://schemas.openxmlformats.org/officeDocument/2006/relationships/slide" Target="slides/slide359.xml"/><Relationship Id="rId367" Type="http://schemas.openxmlformats.org/officeDocument/2006/relationships/slide" Target="slides/slide360.xml"/><Relationship Id="rId368" Type="http://schemas.openxmlformats.org/officeDocument/2006/relationships/slide" Target="slides/slide361.xml"/><Relationship Id="rId369" Type="http://schemas.openxmlformats.org/officeDocument/2006/relationships/slide" Target="slides/slide362.xml"/><Relationship Id="rId370" Type="http://schemas.openxmlformats.org/officeDocument/2006/relationships/slide" Target="slides/slide363.xml"/><Relationship Id="rId371" Type="http://schemas.openxmlformats.org/officeDocument/2006/relationships/slide" Target="slides/slide364.xml"/><Relationship Id="rId372" Type="http://schemas.openxmlformats.org/officeDocument/2006/relationships/slide" Target="slides/slide365.xml"/><Relationship Id="rId373" Type="http://schemas.openxmlformats.org/officeDocument/2006/relationships/slide" Target="slides/slide366.xml"/><Relationship Id="rId374" Type="http://schemas.openxmlformats.org/officeDocument/2006/relationships/slide" Target="slides/slide367.xml"/><Relationship Id="rId375" Type="http://schemas.openxmlformats.org/officeDocument/2006/relationships/slide" Target="slides/slide368.xml"/><Relationship Id="rId376" Type="http://schemas.openxmlformats.org/officeDocument/2006/relationships/slide" Target="slides/slide369.xml"/><Relationship Id="rId377" Type="http://schemas.openxmlformats.org/officeDocument/2006/relationships/slide" Target="slides/slide370.xml"/><Relationship Id="rId378" Type="http://schemas.openxmlformats.org/officeDocument/2006/relationships/slide" Target="slides/slide371.xml"/><Relationship Id="rId379" Type="http://schemas.openxmlformats.org/officeDocument/2006/relationships/slide" Target="slides/slide372.xml"/><Relationship Id="rId380" Type="http://schemas.openxmlformats.org/officeDocument/2006/relationships/slide" Target="slides/slide373.xml"/><Relationship Id="rId381" Type="http://schemas.openxmlformats.org/officeDocument/2006/relationships/slide" Target="slides/slide374.xml"/><Relationship Id="rId382" Type="http://schemas.openxmlformats.org/officeDocument/2006/relationships/slide" Target="slides/slide375.xml"/><Relationship Id="rId383" Type="http://schemas.openxmlformats.org/officeDocument/2006/relationships/slide" Target="slides/slide376.xml"/><Relationship Id="rId384" Type="http://schemas.openxmlformats.org/officeDocument/2006/relationships/slide" Target="slides/slide377.xml"/><Relationship Id="rId385" Type="http://schemas.openxmlformats.org/officeDocument/2006/relationships/slide" Target="slides/slide378.xml"/><Relationship Id="rId386" Type="http://schemas.openxmlformats.org/officeDocument/2006/relationships/slide" Target="slides/slide379.xml"/><Relationship Id="rId387" Type="http://schemas.openxmlformats.org/officeDocument/2006/relationships/slide" Target="slides/slide380.xml"/><Relationship Id="rId388" Type="http://schemas.openxmlformats.org/officeDocument/2006/relationships/slide" Target="slides/slide381.xml"/><Relationship Id="rId389" Type="http://schemas.openxmlformats.org/officeDocument/2006/relationships/slide" Target="slides/slide382.xml"/><Relationship Id="rId390" Type="http://schemas.openxmlformats.org/officeDocument/2006/relationships/slide" Target="slides/slide383.xml"/><Relationship Id="rId391" Type="http://schemas.openxmlformats.org/officeDocument/2006/relationships/slide" Target="slides/slide384.xml"/><Relationship Id="rId392" Type="http://schemas.openxmlformats.org/officeDocument/2006/relationships/slide" Target="slides/slide385.xml"/><Relationship Id="rId393" Type="http://schemas.openxmlformats.org/officeDocument/2006/relationships/slide" Target="slides/slide386.xml"/><Relationship Id="rId394" Type="http://schemas.openxmlformats.org/officeDocument/2006/relationships/slide" Target="slides/slide387.xml"/><Relationship Id="rId395" Type="http://schemas.openxmlformats.org/officeDocument/2006/relationships/slide" Target="slides/slide388.xml"/><Relationship Id="rId396" Type="http://schemas.openxmlformats.org/officeDocument/2006/relationships/slide" Target="slides/slide389.xml"/><Relationship Id="rId397" Type="http://schemas.openxmlformats.org/officeDocument/2006/relationships/slide" Target="slides/slide390.xml"/><Relationship Id="rId398" Type="http://schemas.openxmlformats.org/officeDocument/2006/relationships/slide" Target="slides/slide391.xml"/><Relationship Id="rId399" Type="http://schemas.openxmlformats.org/officeDocument/2006/relationships/slide" Target="slides/slide392.xml"/><Relationship Id="rId400" Type="http://schemas.openxmlformats.org/officeDocument/2006/relationships/slide" Target="slides/slide393.xml"/><Relationship Id="rId401" Type="http://schemas.openxmlformats.org/officeDocument/2006/relationships/slide" Target="slides/slide394.xml"/><Relationship Id="rId402" Type="http://schemas.openxmlformats.org/officeDocument/2006/relationships/slide" Target="slides/slide395.xml"/><Relationship Id="rId403" Type="http://schemas.openxmlformats.org/officeDocument/2006/relationships/slide" Target="slides/slide396.xml"/><Relationship Id="rId404" Type="http://schemas.openxmlformats.org/officeDocument/2006/relationships/slide" Target="slides/slide397.xml"/><Relationship Id="rId405" Type="http://schemas.openxmlformats.org/officeDocument/2006/relationships/slide" Target="slides/slide398.xml"/><Relationship Id="rId406" Type="http://schemas.openxmlformats.org/officeDocument/2006/relationships/slide" Target="slides/slide399.xml"/><Relationship Id="rId407" Type="http://schemas.openxmlformats.org/officeDocument/2006/relationships/slide" Target="slides/slide400.xml"/><Relationship Id="rId408" Type="http://schemas.openxmlformats.org/officeDocument/2006/relationships/slide" Target="slides/slide401.xml"/><Relationship Id="rId409" Type="http://schemas.openxmlformats.org/officeDocument/2006/relationships/slide" Target="slides/slide402.xml"/><Relationship Id="rId410" Type="http://schemas.openxmlformats.org/officeDocument/2006/relationships/slide" Target="slides/slide403.xml"/><Relationship Id="rId411" Type="http://schemas.openxmlformats.org/officeDocument/2006/relationships/slide" Target="slides/slide404.xml"/><Relationship Id="rId412" Type="http://schemas.openxmlformats.org/officeDocument/2006/relationships/slide" Target="slides/slide405.xml"/><Relationship Id="rId413" Type="http://schemas.openxmlformats.org/officeDocument/2006/relationships/slide" Target="slides/slide406.xml"/><Relationship Id="rId414" Type="http://schemas.openxmlformats.org/officeDocument/2006/relationships/slide" Target="slides/slide407.xml"/><Relationship Id="rId415" Type="http://schemas.openxmlformats.org/officeDocument/2006/relationships/slide" Target="slides/slide408.xml"/><Relationship Id="rId416" Type="http://schemas.openxmlformats.org/officeDocument/2006/relationships/slide" Target="slides/slide409.xml"/><Relationship Id="rId417" Type="http://schemas.openxmlformats.org/officeDocument/2006/relationships/slide" Target="slides/slide410.xml"/><Relationship Id="rId418" Type="http://schemas.openxmlformats.org/officeDocument/2006/relationships/slide" Target="slides/slide411.xml"/><Relationship Id="rId419" Type="http://schemas.openxmlformats.org/officeDocument/2006/relationships/slide" Target="slides/slide412.xml"/><Relationship Id="rId420" Type="http://schemas.openxmlformats.org/officeDocument/2006/relationships/slide" Target="slides/slide413.xml"/><Relationship Id="rId421" Type="http://schemas.openxmlformats.org/officeDocument/2006/relationships/slide" Target="slides/slide414.xml"/><Relationship Id="rId422" Type="http://schemas.openxmlformats.org/officeDocument/2006/relationships/slide" Target="slides/slide415.xml"/><Relationship Id="rId423" Type="http://schemas.openxmlformats.org/officeDocument/2006/relationships/slide" Target="slides/slide416.xml"/><Relationship Id="rId424" Type="http://schemas.openxmlformats.org/officeDocument/2006/relationships/slide" Target="slides/slide417.xml"/><Relationship Id="rId425" Type="http://schemas.openxmlformats.org/officeDocument/2006/relationships/slide" Target="slides/slide418.xml"/><Relationship Id="rId426" Type="http://schemas.openxmlformats.org/officeDocument/2006/relationships/slide" Target="slides/slide419.xml"/><Relationship Id="rId427" Type="http://schemas.openxmlformats.org/officeDocument/2006/relationships/slide" Target="slides/slide420.xml"/><Relationship Id="rId428" Type="http://schemas.openxmlformats.org/officeDocument/2006/relationships/slide" Target="slides/slide421.xml"/><Relationship Id="rId429" Type="http://schemas.openxmlformats.org/officeDocument/2006/relationships/slide" Target="slides/slide422.xml"/><Relationship Id="rId430" Type="http://schemas.openxmlformats.org/officeDocument/2006/relationships/slide" Target="slides/slide423.xml"/><Relationship Id="rId431" Type="http://schemas.openxmlformats.org/officeDocument/2006/relationships/slide" Target="slides/slide424.xml"/><Relationship Id="rId432" Type="http://schemas.openxmlformats.org/officeDocument/2006/relationships/slide" Target="slides/slide425.xml"/><Relationship Id="rId433" Type="http://schemas.openxmlformats.org/officeDocument/2006/relationships/slide" Target="slides/slide426.xml"/><Relationship Id="rId434" Type="http://schemas.openxmlformats.org/officeDocument/2006/relationships/slide" Target="slides/slide427.xml"/><Relationship Id="rId435" Type="http://schemas.openxmlformats.org/officeDocument/2006/relationships/slide" Target="slides/slide428.xml"/><Relationship Id="rId436" Type="http://schemas.openxmlformats.org/officeDocument/2006/relationships/slide" Target="slides/slide429.xml"/><Relationship Id="rId437" Type="http://schemas.openxmlformats.org/officeDocument/2006/relationships/slide" Target="slides/slide430.xml"/><Relationship Id="rId438" Type="http://schemas.openxmlformats.org/officeDocument/2006/relationships/slide" Target="slides/slide431.xml"/><Relationship Id="rId439" Type="http://schemas.openxmlformats.org/officeDocument/2006/relationships/slide" Target="slides/slide432.xml"/><Relationship Id="rId440" Type="http://schemas.openxmlformats.org/officeDocument/2006/relationships/slide" Target="slides/slide433.xml"/><Relationship Id="rId441" Type="http://schemas.openxmlformats.org/officeDocument/2006/relationships/slide" Target="slides/slide434.xml"/><Relationship Id="rId442" Type="http://schemas.openxmlformats.org/officeDocument/2006/relationships/slide" Target="slides/slide435.xml"/><Relationship Id="rId443" Type="http://schemas.openxmlformats.org/officeDocument/2006/relationships/slide" Target="slides/slide436.xml"/><Relationship Id="rId444" Type="http://schemas.openxmlformats.org/officeDocument/2006/relationships/slide" Target="slides/slide437.xml"/><Relationship Id="rId445" Type="http://schemas.openxmlformats.org/officeDocument/2006/relationships/slide" Target="slides/slide438.xml"/><Relationship Id="rId446" Type="http://schemas.openxmlformats.org/officeDocument/2006/relationships/slide" Target="slides/slide439.xml"/><Relationship Id="rId447" Type="http://schemas.openxmlformats.org/officeDocument/2006/relationships/slide" Target="slides/slide440.xml"/><Relationship Id="rId448" Type="http://schemas.openxmlformats.org/officeDocument/2006/relationships/slide" Target="slides/slide441.xml"/><Relationship Id="rId449" Type="http://schemas.openxmlformats.org/officeDocument/2006/relationships/slide" Target="slides/slide442.xml"/><Relationship Id="rId450" Type="http://schemas.openxmlformats.org/officeDocument/2006/relationships/slide" Target="slides/slide443.xml"/><Relationship Id="rId451" Type="http://schemas.openxmlformats.org/officeDocument/2006/relationships/slide" Target="slides/slide444.xml"/><Relationship Id="rId452" Type="http://schemas.openxmlformats.org/officeDocument/2006/relationships/slide" Target="slides/slide445.xml"/><Relationship Id="rId453" Type="http://schemas.openxmlformats.org/officeDocument/2006/relationships/slide" Target="slides/slide446.xml"/><Relationship Id="rId454" Type="http://schemas.openxmlformats.org/officeDocument/2006/relationships/slide" Target="slides/slide447.xml"/><Relationship Id="rId455" Type="http://schemas.openxmlformats.org/officeDocument/2006/relationships/slide" Target="slides/slide448.xml"/><Relationship Id="rId456" Type="http://schemas.openxmlformats.org/officeDocument/2006/relationships/slide" Target="slides/slide449.xml"/><Relationship Id="rId457" Type="http://schemas.openxmlformats.org/officeDocument/2006/relationships/slide" Target="slides/slide450.xml"/><Relationship Id="rId458" Type="http://schemas.openxmlformats.org/officeDocument/2006/relationships/slide" Target="slides/slide45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Sheet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Sheet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Sheet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Sheet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Sheet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Sheet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Sheet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Sheet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Sheet14.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Sheet15.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Sheet16.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Sheet17.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Sheet18.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Sheet19.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Sheet20.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Sheet23.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Sheet24.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Sheet25.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Sheet26.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Sheet27.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Sheet28.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Sheet29.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Sheet30.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Sheet31.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Sheet32.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Sheet33.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Sheet34.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Sheet35.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Sheet36.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Sheet37.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Sheet38.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Sheet39.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Sheet40.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Sheet41.xlsx"/></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Sheet42.xlsx"/></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Sheet43.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Sheet44.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Sheet45.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Sheet46.xlsx"/></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Sheet47.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Sheet48.xlsx"/></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Sheet49.xlsx"/></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Sheet50.xlsx"/></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Sheet51.xlsx"/></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Sheet52.xlsx"/></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Sheet53.xlsx"/></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Sheet54.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Sheet55.xlsx"/></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Sheet56.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Sheet57.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Sheet58.xlsx"/></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Sheet59.xlsx"/></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Sheet60.xlsx"/></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Sheet61.xlsx"/></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Sheet62.xlsx"/></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Sheet63.xlsx"/></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Sheet64.xlsx"/></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Sheet65.xlsx"/></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Sheet66.xlsx"/></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Sheet67.xlsx"/></Relationships>
</file>

<file path=ppt/charts/_rels/chart68.xml.rels><?xml version='1.0' encoding='UTF-8' standalone='yes'?>
<Relationships xmlns="http://schemas.openxmlformats.org/package/2006/relationships"><Relationship Id="rId1" Type="http://schemas.openxmlformats.org/officeDocument/2006/relationships/package" Target="../embeddings/Microsoft_Excel_Sheet68.xlsx"/></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Sheet69.xlsx"/></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Sheet70.xlsx"/></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Sheet71.xlsx"/></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Sheet72.xlsx"/></Relationships>
</file>

<file path=ppt/charts/_rels/chart73.xml.rels><?xml version='1.0' encoding='UTF-8' standalone='yes'?>
<Relationships xmlns="http://schemas.openxmlformats.org/package/2006/relationships"><Relationship Id="rId1" Type="http://schemas.openxmlformats.org/officeDocument/2006/relationships/package" Target="../embeddings/Microsoft_Excel_Sheet73.xlsx"/></Relationships>
</file>

<file path=ppt/charts/_rels/chart74.xml.rels><?xml version='1.0' encoding='UTF-8' standalone='yes'?>
<Relationships xmlns="http://schemas.openxmlformats.org/package/2006/relationships"><Relationship Id="rId1" Type="http://schemas.openxmlformats.org/officeDocument/2006/relationships/package" Target="../embeddings/Microsoft_Excel_Sheet74.xlsx"/></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Sheet75.xlsx"/></Relationships>
</file>

<file path=ppt/charts/_rels/chart76.xml.rels><?xml version='1.0' encoding='UTF-8' standalone='yes'?>
<Relationships xmlns="http://schemas.openxmlformats.org/package/2006/relationships"><Relationship Id="rId1" Type="http://schemas.openxmlformats.org/officeDocument/2006/relationships/package" Target="../embeddings/Microsoft_Excel_Sheet76.xlsx"/></Relationships>
</file>

<file path=ppt/charts/_rels/chart77.xml.rels><?xml version='1.0' encoding='UTF-8' standalone='yes'?>
<Relationships xmlns="http://schemas.openxmlformats.org/package/2006/relationships"><Relationship Id="rId1" Type="http://schemas.openxmlformats.org/officeDocument/2006/relationships/package" Target="../embeddings/Microsoft_Excel_Sheet77.xlsx"/></Relationships>
</file>

<file path=ppt/charts/_rels/chart78.xml.rels><?xml version='1.0' encoding='UTF-8' standalone='yes'?>
<Relationships xmlns="http://schemas.openxmlformats.org/package/2006/relationships"><Relationship Id="rId1" Type="http://schemas.openxmlformats.org/officeDocument/2006/relationships/package" Target="../embeddings/Microsoft_Excel_Sheet78.xlsx"/></Relationships>
</file>

<file path=ppt/charts/_rels/chart79.xml.rels><?xml version='1.0' encoding='UTF-8' standalone='yes'?>
<Relationships xmlns="http://schemas.openxmlformats.org/package/2006/relationships"><Relationship Id="rId1" Type="http://schemas.openxmlformats.org/officeDocument/2006/relationships/package" Target="../embeddings/Microsoft_Excel_Sheet79.xlsx"/></Relationships>
</file>

<file path=ppt/charts/_rels/chart80.xml.rels><?xml version='1.0' encoding='UTF-8' standalone='yes'?>
<Relationships xmlns="http://schemas.openxmlformats.org/package/2006/relationships"><Relationship Id="rId1" Type="http://schemas.openxmlformats.org/officeDocument/2006/relationships/package" Target="../embeddings/Microsoft_Excel_Sheet80.xlsx"/></Relationships>
</file>

<file path=ppt/charts/_rels/chart81.xml.rels><?xml version='1.0' encoding='UTF-8' standalone='yes'?>
<Relationships xmlns="http://schemas.openxmlformats.org/package/2006/relationships"><Relationship Id="rId1" Type="http://schemas.openxmlformats.org/officeDocument/2006/relationships/package" Target="../embeddings/Microsoft_Excel_Sheet81.xlsx"/></Relationships>
</file>

<file path=ppt/charts/_rels/chart82.xml.rels><?xml version='1.0' encoding='UTF-8' standalone='yes'?>
<Relationships xmlns="http://schemas.openxmlformats.org/package/2006/relationships"><Relationship Id="rId1" Type="http://schemas.openxmlformats.org/officeDocument/2006/relationships/package" Target="../embeddings/Microsoft_Excel_Sheet82.xlsx"/></Relationships>
</file>

<file path=ppt/charts/_rels/chart83.xml.rels><?xml version='1.0' encoding='UTF-8' standalone='yes'?>
<Relationships xmlns="http://schemas.openxmlformats.org/package/2006/relationships"><Relationship Id="rId1" Type="http://schemas.openxmlformats.org/officeDocument/2006/relationships/package" Target="../embeddings/Microsoft_Excel_Sheet83.xlsx"/></Relationships>
</file>

<file path=ppt/charts/_rels/chart84.xml.rels><?xml version='1.0' encoding='UTF-8' standalone='yes'?>
<Relationships xmlns="http://schemas.openxmlformats.org/package/2006/relationships"><Relationship Id="rId1" Type="http://schemas.openxmlformats.org/officeDocument/2006/relationships/package" Target="../embeddings/Microsoft_Excel_Sheet84.xlsx"/></Relationships>
</file>

<file path=ppt/charts/_rels/chart85.xml.rels><?xml version='1.0' encoding='UTF-8' standalone='yes'?>
<Relationships xmlns="http://schemas.openxmlformats.org/package/2006/relationships"><Relationship Id="rId1" Type="http://schemas.openxmlformats.org/officeDocument/2006/relationships/package" Target="../embeddings/Microsoft_Excel_Sheet85.xlsx"/></Relationships>
</file>

<file path=ppt/charts/_rels/chart86.xml.rels><?xml version='1.0' encoding='UTF-8' standalone='yes'?>
<Relationships xmlns="http://schemas.openxmlformats.org/package/2006/relationships"><Relationship Id="rId1" Type="http://schemas.openxmlformats.org/officeDocument/2006/relationships/package" Target="../embeddings/Microsoft_Excel_Sheet86.xlsx"/></Relationships>
</file>

<file path=ppt/charts/_rels/chart87.xml.rels><?xml version='1.0' encoding='UTF-8' standalone='yes'?>
<Relationships xmlns="http://schemas.openxmlformats.org/package/2006/relationships"><Relationship Id="rId1" Type="http://schemas.openxmlformats.org/officeDocument/2006/relationships/package" Target="../embeddings/Microsoft_Excel_Sheet87.xlsx"/></Relationships>
</file>

<file path=ppt/charts/_rels/chart88.xml.rels><?xml version='1.0' encoding='UTF-8' standalone='yes'?>
<Relationships xmlns="http://schemas.openxmlformats.org/package/2006/relationships"><Relationship Id="rId1" Type="http://schemas.openxmlformats.org/officeDocument/2006/relationships/package" Target="../embeddings/Microsoft_Excel_Sheet88.xlsx"/></Relationships>
</file>

<file path=ppt/charts/_rels/chart89.xml.rels><?xml version='1.0' encoding='UTF-8' standalone='yes'?>
<Relationships xmlns="http://schemas.openxmlformats.org/package/2006/relationships"><Relationship Id="rId1" Type="http://schemas.openxmlformats.org/officeDocument/2006/relationships/package" Target="../embeddings/Microsoft_Excel_Sheet89.xlsx"/></Relationships>
</file>

<file path=ppt/charts/_rels/chart90.xml.rels><?xml version='1.0' encoding='UTF-8' standalone='yes'?>
<Relationships xmlns="http://schemas.openxmlformats.org/package/2006/relationships"><Relationship Id="rId1" Type="http://schemas.openxmlformats.org/officeDocument/2006/relationships/package" Target="../embeddings/Microsoft_Excel_Sheet90.xlsx"/></Relationships>
</file>

<file path=ppt/charts/_rels/chart91.xml.rels><?xml version='1.0' encoding='UTF-8' standalone='yes'?>
<Relationships xmlns="http://schemas.openxmlformats.org/package/2006/relationships"><Relationship Id="rId1" Type="http://schemas.openxmlformats.org/officeDocument/2006/relationships/package" Target="../embeddings/Microsoft_Excel_Sheet91.xlsx"/></Relationships>
</file>

<file path=ppt/charts/_rels/chart92.xml.rels><?xml version='1.0' encoding='UTF-8' standalone='yes'?>
<Relationships xmlns="http://schemas.openxmlformats.org/package/2006/relationships"><Relationship Id="rId1" Type="http://schemas.openxmlformats.org/officeDocument/2006/relationships/package" Target="../embeddings/Microsoft_Excel_Sheet92.xlsx"/></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Excel_Sheet93.xlsx"/></Relationships>
</file>

<file path=ppt/charts/_rels/chart94.xml.rels><?xml version='1.0' encoding='UTF-8' standalone='yes'?>
<Relationships xmlns="http://schemas.openxmlformats.org/package/2006/relationships"><Relationship Id="rId1" Type="http://schemas.openxmlformats.org/officeDocument/2006/relationships/package" Target="../embeddings/Microsoft_Excel_Sheet94.xlsx"/></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Excel_Sheet95.xlsx"/></Relationships>
</file>

<file path=ppt/charts/_rels/chart96.xml.rels><?xml version='1.0' encoding='UTF-8' standalone='yes'?>
<Relationships xmlns="http://schemas.openxmlformats.org/package/2006/relationships"><Relationship Id="rId1" Type="http://schemas.openxmlformats.org/officeDocument/2006/relationships/package" Target="../embeddings/Microsoft_Excel_Sheet96.xlsx"/></Relationships>
</file>

<file path=ppt/charts/_rels/chart97.xml.rels><?xml version='1.0' encoding='UTF-8' standalone='yes'?>
<Relationships xmlns="http://schemas.openxmlformats.org/package/2006/relationships"><Relationship Id="rId1" Type="http://schemas.openxmlformats.org/officeDocument/2006/relationships/package" Target="../embeddings/Microsoft_Excel_Sheet97.xlsx"/></Relationships>
</file>

<file path=ppt/charts/_rels/chart98.xml.rels><?xml version='1.0' encoding='UTF-8' standalone='yes'?>
<Relationships xmlns="http://schemas.openxmlformats.org/package/2006/relationships"><Relationship Id="rId1" Type="http://schemas.openxmlformats.org/officeDocument/2006/relationships/package" Target="../embeddings/Microsoft_Excel_Sheet98.xlsx"/></Relationships>
</file>

<file path=ppt/charts/_rels/chart99.xml.rels><?xml version='1.0' encoding='UTF-8' standalone='yes'?>
<Relationships xmlns="http://schemas.openxmlformats.org/package/2006/relationships"><Relationship Id="rId1" Type="http://schemas.openxmlformats.org/officeDocument/2006/relationships/package" Target="../embeddings/Microsoft_Excel_Sheet99.xlsx"/></Relationships>
</file>

<file path=ppt/charts/_rels/chart100.xml.rels><?xml version='1.0' encoding='UTF-8' standalone='yes'?>
<Relationships xmlns="http://schemas.openxmlformats.org/package/2006/relationships"><Relationship Id="rId1" Type="http://schemas.openxmlformats.org/officeDocument/2006/relationships/package" Target="../embeddings/Microsoft_Excel_Sheet100.xlsx"/></Relationships>
</file>

<file path=ppt/charts/_rels/chart101.xml.rels><?xml version='1.0' encoding='UTF-8' standalone='yes'?>
<Relationships xmlns="http://schemas.openxmlformats.org/package/2006/relationships"><Relationship Id="rId1" Type="http://schemas.openxmlformats.org/officeDocument/2006/relationships/package" Target="../embeddings/Microsoft_Excel_Sheet101.xlsx"/></Relationships>
</file>

<file path=ppt/charts/_rels/chart102.xml.rels><?xml version='1.0' encoding='UTF-8' standalone='yes'?>
<Relationships xmlns="http://schemas.openxmlformats.org/package/2006/relationships"><Relationship Id="rId1" Type="http://schemas.openxmlformats.org/officeDocument/2006/relationships/package" Target="../embeddings/Microsoft_Excel_Sheet102.xlsx"/></Relationships>
</file>

<file path=ppt/charts/_rels/chart103.xml.rels><?xml version='1.0' encoding='UTF-8' standalone='yes'?>
<Relationships xmlns="http://schemas.openxmlformats.org/package/2006/relationships"><Relationship Id="rId1" Type="http://schemas.openxmlformats.org/officeDocument/2006/relationships/package" Target="../embeddings/Microsoft_Excel_Sheet103.xlsx"/></Relationships>
</file>

<file path=ppt/charts/_rels/chart104.xml.rels><?xml version='1.0' encoding='UTF-8' standalone='yes'?>
<Relationships xmlns="http://schemas.openxmlformats.org/package/2006/relationships"><Relationship Id="rId1" Type="http://schemas.openxmlformats.org/officeDocument/2006/relationships/package" Target="../embeddings/Microsoft_Excel_Sheet104.xlsx"/></Relationships>
</file>

<file path=ppt/charts/_rels/chart105.xml.rels><?xml version='1.0' encoding='UTF-8' standalone='yes'?>
<Relationships xmlns="http://schemas.openxmlformats.org/package/2006/relationships"><Relationship Id="rId1" Type="http://schemas.openxmlformats.org/officeDocument/2006/relationships/package" Target="../embeddings/Microsoft_Excel_Sheet105.xlsx"/></Relationships>
</file>

<file path=ppt/charts/_rels/chart106.xml.rels><?xml version='1.0' encoding='UTF-8' standalone='yes'?>
<Relationships xmlns="http://schemas.openxmlformats.org/package/2006/relationships"><Relationship Id="rId1" Type="http://schemas.openxmlformats.org/officeDocument/2006/relationships/package" Target="../embeddings/Microsoft_Excel_Sheet106.xlsx"/></Relationships>
</file>

<file path=ppt/charts/_rels/chart107.xml.rels><?xml version='1.0' encoding='UTF-8' standalone='yes'?>
<Relationships xmlns="http://schemas.openxmlformats.org/package/2006/relationships"><Relationship Id="rId1" Type="http://schemas.openxmlformats.org/officeDocument/2006/relationships/package" Target="../embeddings/Microsoft_Excel_Sheet107.xlsx"/></Relationships>
</file>

<file path=ppt/charts/_rels/chart108.xml.rels><?xml version='1.0' encoding='UTF-8' standalone='yes'?>
<Relationships xmlns="http://schemas.openxmlformats.org/package/2006/relationships"><Relationship Id="rId1" Type="http://schemas.openxmlformats.org/officeDocument/2006/relationships/package" Target="../embeddings/Microsoft_Excel_Sheet108.xlsx"/></Relationships>
</file>

<file path=ppt/charts/_rels/chart109.xml.rels><?xml version='1.0' encoding='UTF-8' standalone='yes'?>
<Relationships xmlns="http://schemas.openxmlformats.org/package/2006/relationships"><Relationship Id="rId1" Type="http://schemas.openxmlformats.org/officeDocument/2006/relationships/package" Target="../embeddings/Microsoft_Excel_Sheet109.xlsx"/></Relationships>
</file>

<file path=ppt/charts/_rels/chart110.xml.rels><?xml version='1.0' encoding='UTF-8' standalone='yes'?>
<Relationships xmlns="http://schemas.openxmlformats.org/package/2006/relationships"><Relationship Id="rId1" Type="http://schemas.openxmlformats.org/officeDocument/2006/relationships/package" Target="../embeddings/Microsoft_Excel_Sheet110.xlsx"/></Relationships>
</file>

<file path=ppt/charts/_rels/chart111.xml.rels><?xml version='1.0' encoding='UTF-8' standalone='yes'?>
<Relationships xmlns="http://schemas.openxmlformats.org/package/2006/relationships"><Relationship Id="rId1" Type="http://schemas.openxmlformats.org/officeDocument/2006/relationships/package" Target="../embeddings/Microsoft_Excel_Sheet111.xlsx"/></Relationships>
</file>

<file path=ppt/charts/_rels/chart112.xml.rels><?xml version='1.0' encoding='UTF-8' standalone='yes'?>
<Relationships xmlns="http://schemas.openxmlformats.org/package/2006/relationships"><Relationship Id="rId1" Type="http://schemas.openxmlformats.org/officeDocument/2006/relationships/package" Target="../embeddings/Microsoft_Excel_Sheet112.xlsx"/></Relationships>
</file>

<file path=ppt/charts/_rels/chart113.xml.rels><?xml version='1.0' encoding='UTF-8' standalone='yes'?>
<Relationships xmlns="http://schemas.openxmlformats.org/package/2006/relationships"><Relationship Id="rId1" Type="http://schemas.openxmlformats.org/officeDocument/2006/relationships/package" Target="../embeddings/Microsoft_Excel_Sheet113.xlsx"/></Relationships>
</file>

<file path=ppt/charts/_rels/chart114.xml.rels><?xml version='1.0' encoding='UTF-8' standalone='yes'?>
<Relationships xmlns="http://schemas.openxmlformats.org/package/2006/relationships"><Relationship Id="rId1" Type="http://schemas.openxmlformats.org/officeDocument/2006/relationships/package" Target="../embeddings/Microsoft_Excel_Sheet114.xlsx"/></Relationships>
</file>

<file path=ppt/charts/_rels/chart115.xml.rels><?xml version='1.0' encoding='UTF-8' standalone='yes'?>
<Relationships xmlns="http://schemas.openxmlformats.org/package/2006/relationships"><Relationship Id="rId1" Type="http://schemas.openxmlformats.org/officeDocument/2006/relationships/package" Target="../embeddings/Microsoft_Excel_Sheet115.xlsx"/></Relationships>
</file>

<file path=ppt/charts/_rels/chart116.xml.rels><?xml version='1.0' encoding='UTF-8' standalone='yes'?>
<Relationships xmlns="http://schemas.openxmlformats.org/package/2006/relationships"><Relationship Id="rId1" Type="http://schemas.openxmlformats.org/officeDocument/2006/relationships/package" Target="../embeddings/Microsoft_Excel_Sheet116.xlsx"/></Relationships>
</file>

<file path=ppt/charts/_rels/chart117.xml.rels><?xml version='1.0' encoding='UTF-8' standalone='yes'?>
<Relationships xmlns="http://schemas.openxmlformats.org/package/2006/relationships"><Relationship Id="rId1" Type="http://schemas.openxmlformats.org/officeDocument/2006/relationships/package" Target="../embeddings/Microsoft_Excel_Sheet117.xlsx"/></Relationships>
</file>

<file path=ppt/charts/_rels/chart118.xml.rels><?xml version='1.0' encoding='UTF-8' standalone='yes'?>
<Relationships xmlns="http://schemas.openxmlformats.org/package/2006/relationships"><Relationship Id="rId1" Type="http://schemas.openxmlformats.org/officeDocument/2006/relationships/package" Target="../embeddings/Microsoft_Excel_Sheet118.xlsx"/></Relationships>
</file>

<file path=ppt/charts/_rels/chart119.xml.rels><?xml version='1.0' encoding='UTF-8' standalone='yes'?>
<Relationships xmlns="http://schemas.openxmlformats.org/package/2006/relationships"><Relationship Id="rId1" Type="http://schemas.openxmlformats.org/officeDocument/2006/relationships/package" Target="../embeddings/Microsoft_Excel_Sheet119.xlsx"/></Relationships>
</file>

<file path=ppt/charts/_rels/chart120.xml.rels><?xml version='1.0' encoding='UTF-8' standalone='yes'?>
<Relationships xmlns="http://schemas.openxmlformats.org/package/2006/relationships"><Relationship Id="rId1" Type="http://schemas.openxmlformats.org/officeDocument/2006/relationships/package" Target="../embeddings/Microsoft_Excel_Sheet120.xlsx"/></Relationships>
</file>

<file path=ppt/charts/_rels/chart121.xml.rels><?xml version='1.0' encoding='UTF-8' standalone='yes'?>
<Relationships xmlns="http://schemas.openxmlformats.org/package/2006/relationships"><Relationship Id="rId1" Type="http://schemas.openxmlformats.org/officeDocument/2006/relationships/package" Target="../embeddings/Microsoft_Excel_Sheet121.xlsx"/></Relationships>
</file>

<file path=ppt/charts/_rels/chart122.xml.rels><?xml version='1.0' encoding='UTF-8' standalone='yes'?>
<Relationships xmlns="http://schemas.openxmlformats.org/package/2006/relationships"><Relationship Id="rId1" Type="http://schemas.openxmlformats.org/officeDocument/2006/relationships/package" Target="../embeddings/Microsoft_Excel_Sheet122.xlsx"/></Relationships>
</file>

<file path=ppt/charts/_rels/chart123.xml.rels><?xml version='1.0' encoding='UTF-8' standalone='yes'?>
<Relationships xmlns="http://schemas.openxmlformats.org/package/2006/relationships"><Relationship Id="rId1" Type="http://schemas.openxmlformats.org/officeDocument/2006/relationships/package" Target="../embeddings/Microsoft_Excel_Sheet123.xlsx"/></Relationships>
</file>

<file path=ppt/charts/_rels/chart124.xml.rels><?xml version='1.0' encoding='UTF-8' standalone='yes'?>
<Relationships xmlns="http://schemas.openxmlformats.org/package/2006/relationships"><Relationship Id="rId1" Type="http://schemas.openxmlformats.org/officeDocument/2006/relationships/package" Target="../embeddings/Microsoft_Excel_Sheet124.xlsx"/></Relationships>
</file>

<file path=ppt/charts/_rels/chart125.xml.rels><?xml version='1.0' encoding='UTF-8' standalone='yes'?>
<Relationships xmlns="http://schemas.openxmlformats.org/package/2006/relationships"><Relationship Id="rId1" Type="http://schemas.openxmlformats.org/officeDocument/2006/relationships/package" Target="../embeddings/Microsoft_Excel_Sheet125.xlsx"/></Relationships>
</file>

<file path=ppt/charts/_rels/chart126.xml.rels><?xml version='1.0' encoding='UTF-8' standalone='yes'?>
<Relationships xmlns="http://schemas.openxmlformats.org/package/2006/relationships"><Relationship Id="rId1" Type="http://schemas.openxmlformats.org/officeDocument/2006/relationships/package" Target="../embeddings/Microsoft_Excel_Sheet126.xlsx"/></Relationships>
</file>

<file path=ppt/charts/_rels/chart127.xml.rels><?xml version='1.0' encoding='UTF-8' standalone='yes'?>
<Relationships xmlns="http://schemas.openxmlformats.org/package/2006/relationships"><Relationship Id="rId1" Type="http://schemas.openxmlformats.org/officeDocument/2006/relationships/package" Target="../embeddings/Microsoft_Excel_Sheet127.xlsx"/></Relationships>
</file>

<file path=ppt/charts/_rels/chart128.xml.rels><?xml version='1.0' encoding='UTF-8' standalone='yes'?>
<Relationships xmlns="http://schemas.openxmlformats.org/package/2006/relationships"><Relationship Id="rId1" Type="http://schemas.openxmlformats.org/officeDocument/2006/relationships/package" Target="../embeddings/Microsoft_Excel_Sheet128.xlsx"/></Relationships>
</file>

<file path=ppt/charts/_rels/chart129.xml.rels><?xml version='1.0' encoding='UTF-8' standalone='yes'?>
<Relationships xmlns="http://schemas.openxmlformats.org/package/2006/relationships"><Relationship Id="rId1" Type="http://schemas.openxmlformats.org/officeDocument/2006/relationships/package" Target="../embeddings/Microsoft_Excel_Sheet129.xlsx"/></Relationships>
</file>

<file path=ppt/charts/_rels/chart130.xml.rels><?xml version='1.0' encoding='UTF-8' standalone='yes'?>
<Relationships xmlns="http://schemas.openxmlformats.org/package/2006/relationships"><Relationship Id="rId1" Type="http://schemas.openxmlformats.org/officeDocument/2006/relationships/package" Target="../embeddings/Microsoft_Excel_Sheet130.xlsx"/></Relationships>
</file>

<file path=ppt/charts/_rels/chart131.xml.rels><?xml version='1.0' encoding='UTF-8' standalone='yes'?>
<Relationships xmlns="http://schemas.openxmlformats.org/package/2006/relationships"><Relationship Id="rId1" Type="http://schemas.openxmlformats.org/officeDocument/2006/relationships/package" Target="../embeddings/Microsoft_Excel_Sheet131.xlsx"/></Relationships>
</file>

<file path=ppt/charts/_rels/chart132.xml.rels><?xml version='1.0' encoding='UTF-8' standalone='yes'?>
<Relationships xmlns="http://schemas.openxmlformats.org/package/2006/relationships"><Relationship Id="rId1" Type="http://schemas.openxmlformats.org/officeDocument/2006/relationships/package" Target="../embeddings/Microsoft_Excel_Sheet132.xlsx"/></Relationships>
</file>

<file path=ppt/charts/_rels/chart133.xml.rels><?xml version='1.0' encoding='UTF-8' standalone='yes'?>
<Relationships xmlns="http://schemas.openxmlformats.org/package/2006/relationships"><Relationship Id="rId1" Type="http://schemas.openxmlformats.org/officeDocument/2006/relationships/package" Target="../embeddings/Microsoft_Excel_Sheet133.xlsx"/></Relationships>
</file>

<file path=ppt/charts/_rels/chart134.xml.rels><?xml version='1.0' encoding='UTF-8' standalone='yes'?>
<Relationships xmlns="http://schemas.openxmlformats.org/package/2006/relationships"><Relationship Id="rId1" Type="http://schemas.openxmlformats.org/officeDocument/2006/relationships/package" Target="../embeddings/Microsoft_Excel_Sheet134.xlsx"/></Relationships>
</file>

<file path=ppt/charts/_rels/chart135.xml.rels><?xml version='1.0' encoding='UTF-8' standalone='yes'?>
<Relationships xmlns="http://schemas.openxmlformats.org/package/2006/relationships"><Relationship Id="rId1" Type="http://schemas.openxmlformats.org/officeDocument/2006/relationships/package" Target="../embeddings/Microsoft_Excel_Sheet135.xlsx"/></Relationships>
</file>

<file path=ppt/charts/_rels/chart136.xml.rels><?xml version='1.0' encoding='UTF-8' standalone='yes'?>
<Relationships xmlns="http://schemas.openxmlformats.org/package/2006/relationships"><Relationship Id="rId1" Type="http://schemas.openxmlformats.org/officeDocument/2006/relationships/package" Target="../embeddings/Microsoft_Excel_Sheet136.xlsx"/></Relationships>
</file>

<file path=ppt/charts/_rels/chart137.xml.rels><?xml version='1.0' encoding='UTF-8' standalone='yes'?>
<Relationships xmlns="http://schemas.openxmlformats.org/package/2006/relationships"><Relationship Id="rId1" Type="http://schemas.openxmlformats.org/officeDocument/2006/relationships/package" Target="../embeddings/Microsoft_Excel_Sheet137.xlsx"/></Relationships>
</file>

<file path=ppt/charts/_rels/chart138.xml.rels><?xml version='1.0' encoding='UTF-8' standalone='yes'?>
<Relationships xmlns="http://schemas.openxmlformats.org/package/2006/relationships"><Relationship Id="rId1" Type="http://schemas.openxmlformats.org/officeDocument/2006/relationships/package" Target="../embeddings/Microsoft_Excel_Sheet138.xlsx"/></Relationships>
</file>

<file path=ppt/charts/_rels/chart139.xml.rels><?xml version='1.0' encoding='UTF-8' standalone='yes'?>
<Relationships xmlns="http://schemas.openxmlformats.org/package/2006/relationships"><Relationship Id="rId1" Type="http://schemas.openxmlformats.org/officeDocument/2006/relationships/package" Target="../embeddings/Microsoft_Excel_Sheet139.xlsx"/></Relationships>
</file>

<file path=ppt/charts/_rels/chart140.xml.rels><?xml version='1.0' encoding='UTF-8' standalone='yes'?>
<Relationships xmlns="http://schemas.openxmlformats.org/package/2006/relationships"><Relationship Id="rId1" Type="http://schemas.openxmlformats.org/officeDocument/2006/relationships/package" Target="../embeddings/Microsoft_Excel_Sheet140.xlsx"/></Relationships>
</file>

<file path=ppt/charts/_rels/chart141.xml.rels><?xml version='1.0' encoding='UTF-8' standalone='yes'?>
<Relationships xmlns="http://schemas.openxmlformats.org/package/2006/relationships"><Relationship Id="rId1" Type="http://schemas.openxmlformats.org/officeDocument/2006/relationships/package" Target="../embeddings/Microsoft_Excel_Sheet141.xlsx"/></Relationships>
</file>

<file path=ppt/charts/_rels/chart142.xml.rels><?xml version='1.0' encoding='UTF-8' standalone='yes'?>
<Relationships xmlns="http://schemas.openxmlformats.org/package/2006/relationships"><Relationship Id="rId1" Type="http://schemas.openxmlformats.org/officeDocument/2006/relationships/package" Target="../embeddings/Microsoft_Excel_Sheet142.xlsx"/></Relationships>
</file>

<file path=ppt/charts/_rels/chart143.xml.rels><?xml version='1.0' encoding='UTF-8' standalone='yes'?>
<Relationships xmlns="http://schemas.openxmlformats.org/package/2006/relationships"><Relationship Id="rId1" Type="http://schemas.openxmlformats.org/officeDocument/2006/relationships/package" Target="../embeddings/Microsoft_Excel_Sheet143.xlsx"/></Relationships>
</file>

<file path=ppt/charts/_rels/chart144.xml.rels><?xml version='1.0' encoding='UTF-8' standalone='yes'?>
<Relationships xmlns="http://schemas.openxmlformats.org/package/2006/relationships"><Relationship Id="rId1" Type="http://schemas.openxmlformats.org/officeDocument/2006/relationships/package" Target="../embeddings/Microsoft_Excel_Sheet144.xlsx"/></Relationships>
</file>

<file path=ppt/charts/_rels/chart145.xml.rels><?xml version='1.0' encoding='UTF-8' standalone='yes'?>
<Relationships xmlns="http://schemas.openxmlformats.org/package/2006/relationships"><Relationship Id="rId1" Type="http://schemas.openxmlformats.org/officeDocument/2006/relationships/package" Target="../embeddings/Microsoft_Excel_Sheet145.xlsx"/></Relationships>
</file>

<file path=ppt/charts/_rels/chart146.xml.rels><?xml version='1.0' encoding='UTF-8' standalone='yes'?>
<Relationships xmlns="http://schemas.openxmlformats.org/package/2006/relationships"><Relationship Id="rId1" Type="http://schemas.openxmlformats.org/officeDocument/2006/relationships/package" Target="../embeddings/Microsoft_Excel_Sheet146.xlsx"/></Relationships>
</file>

<file path=ppt/charts/_rels/chart147.xml.rels><?xml version='1.0' encoding='UTF-8' standalone='yes'?>
<Relationships xmlns="http://schemas.openxmlformats.org/package/2006/relationships"><Relationship Id="rId1" Type="http://schemas.openxmlformats.org/officeDocument/2006/relationships/package" Target="../embeddings/Microsoft_Excel_Sheet147.xlsx"/></Relationships>
</file>

<file path=ppt/charts/_rels/chart148.xml.rels><?xml version='1.0' encoding='UTF-8' standalone='yes'?>
<Relationships xmlns="http://schemas.openxmlformats.org/package/2006/relationships"><Relationship Id="rId1" Type="http://schemas.openxmlformats.org/officeDocument/2006/relationships/package" Target="../embeddings/Microsoft_Excel_Sheet148.xlsx"/></Relationships>
</file>

<file path=ppt/charts/_rels/chart149.xml.rels><?xml version='1.0' encoding='UTF-8' standalone='yes'?>
<Relationships xmlns="http://schemas.openxmlformats.org/package/2006/relationships"><Relationship Id="rId1" Type="http://schemas.openxmlformats.org/officeDocument/2006/relationships/package" Target="../embeddings/Microsoft_Excel_Sheet149.xlsx"/></Relationships>
</file>

<file path=ppt/charts/_rels/chart150.xml.rels><?xml version='1.0' encoding='UTF-8' standalone='yes'?>
<Relationships xmlns="http://schemas.openxmlformats.org/package/2006/relationships"><Relationship Id="rId1" Type="http://schemas.openxmlformats.org/officeDocument/2006/relationships/package" Target="../embeddings/Microsoft_Excel_Sheet150.xlsx"/></Relationships>
</file>

<file path=ppt/charts/_rels/chart151.xml.rels><?xml version='1.0' encoding='UTF-8' standalone='yes'?>
<Relationships xmlns="http://schemas.openxmlformats.org/package/2006/relationships"><Relationship Id="rId1" Type="http://schemas.openxmlformats.org/officeDocument/2006/relationships/package" Target="../embeddings/Microsoft_Excel_Sheet151.xlsx"/></Relationships>
</file>

<file path=ppt/charts/_rels/chart152.xml.rels><?xml version='1.0' encoding='UTF-8' standalone='yes'?>
<Relationships xmlns="http://schemas.openxmlformats.org/package/2006/relationships"><Relationship Id="rId1" Type="http://schemas.openxmlformats.org/officeDocument/2006/relationships/package" Target="../embeddings/Microsoft_Excel_Sheet152.xlsx"/></Relationships>
</file>

<file path=ppt/charts/_rels/chart153.xml.rels><?xml version='1.0' encoding='UTF-8' standalone='yes'?>
<Relationships xmlns="http://schemas.openxmlformats.org/package/2006/relationships"><Relationship Id="rId1" Type="http://schemas.openxmlformats.org/officeDocument/2006/relationships/package" Target="../embeddings/Microsoft_Excel_Sheet153.xlsx"/></Relationships>
</file>

<file path=ppt/charts/_rels/chart154.xml.rels><?xml version='1.0' encoding='UTF-8' standalone='yes'?>
<Relationships xmlns="http://schemas.openxmlformats.org/package/2006/relationships"><Relationship Id="rId1" Type="http://schemas.openxmlformats.org/officeDocument/2006/relationships/package" Target="../embeddings/Microsoft_Excel_Sheet154.xlsx"/></Relationships>
</file>

<file path=ppt/charts/_rels/chart155.xml.rels><?xml version='1.0' encoding='UTF-8' standalone='yes'?>
<Relationships xmlns="http://schemas.openxmlformats.org/package/2006/relationships"><Relationship Id="rId1" Type="http://schemas.openxmlformats.org/officeDocument/2006/relationships/package" Target="../embeddings/Microsoft_Excel_Sheet155.xlsx"/></Relationships>
</file>

<file path=ppt/charts/_rels/chart156.xml.rels><?xml version='1.0' encoding='UTF-8' standalone='yes'?>
<Relationships xmlns="http://schemas.openxmlformats.org/package/2006/relationships"><Relationship Id="rId1" Type="http://schemas.openxmlformats.org/officeDocument/2006/relationships/package" Target="../embeddings/Microsoft_Excel_Sheet156.xlsx"/></Relationships>
</file>

<file path=ppt/charts/_rels/chart157.xml.rels><?xml version='1.0' encoding='UTF-8' standalone='yes'?>
<Relationships xmlns="http://schemas.openxmlformats.org/package/2006/relationships"><Relationship Id="rId1" Type="http://schemas.openxmlformats.org/officeDocument/2006/relationships/package" Target="../embeddings/Microsoft_Excel_Sheet157.xlsx"/></Relationships>
</file>

<file path=ppt/charts/_rels/chart158.xml.rels><?xml version='1.0' encoding='UTF-8' standalone='yes'?>
<Relationships xmlns="http://schemas.openxmlformats.org/package/2006/relationships"><Relationship Id="rId1" Type="http://schemas.openxmlformats.org/officeDocument/2006/relationships/package" Target="../embeddings/Microsoft_Excel_Sheet158.xlsx"/></Relationships>
</file>

<file path=ppt/charts/_rels/chart159.xml.rels><?xml version='1.0' encoding='UTF-8' standalone='yes'?>
<Relationships xmlns="http://schemas.openxmlformats.org/package/2006/relationships"><Relationship Id="rId1" Type="http://schemas.openxmlformats.org/officeDocument/2006/relationships/package" Target="../embeddings/Microsoft_Excel_Sheet159.xlsx"/></Relationships>
</file>

<file path=ppt/charts/_rels/chart160.xml.rels><?xml version='1.0' encoding='UTF-8' standalone='yes'?>
<Relationships xmlns="http://schemas.openxmlformats.org/package/2006/relationships"><Relationship Id="rId1" Type="http://schemas.openxmlformats.org/officeDocument/2006/relationships/package" Target="../embeddings/Microsoft_Excel_Sheet160.xlsx"/></Relationships>
</file>

<file path=ppt/charts/_rels/chart161.xml.rels><?xml version='1.0' encoding='UTF-8' standalone='yes'?>
<Relationships xmlns="http://schemas.openxmlformats.org/package/2006/relationships"><Relationship Id="rId1" Type="http://schemas.openxmlformats.org/officeDocument/2006/relationships/package" Target="../embeddings/Microsoft_Excel_Sheet161.xlsx"/></Relationships>
</file>

<file path=ppt/charts/_rels/chart162.xml.rels><?xml version='1.0' encoding='UTF-8' standalone='yes'?>
<Relationships xmlns="http://schemas.openxmlformats.org/package/2006/relationships"><Relationship Id="rId1" Type="http://schemas.openxmlformats.org/officeDocument/2006/relationships/package" Target="../embeddings/Microsoft_Excel_Sheet162.xlsx"/></Relationships>
</file>

<file path=ppt/charts/_rels/chart163.xml.rels><?xml version='1.0' encoding='UTF-8' standalone='yes'?>
<Relationships xmlns="http://schemas.openxmlformats.org/package/2006/relationships"><Relationship Id="rId1" Type="http://schemas.openxmlformats.org/officeDocument/2006/relationships/package" Target="../embeddings/Microsoft_Excel_Sheet163.xlsx"/></Relationships>
</file>

<file path=ppt/charts/_rels/chart164.xml.rels><?xml version='1.0' encoding='UTF-8' standalone='yes'?>
<Relationships xmlns="http://schemas.openxmlformats.org/package/2006/relationships"><Relationship Id="rId1" Type="http://schemas.openxmlformats.org/officeDocument/2006/relationships/package" Target="../embeddings/Microsoft_Excel_Sheet164.xlsx"/></Relationships>
</file>

<file path=ppt/charts/_rels/chart165.xml.rels><?xml version='1.0' encoding='UTF-8' standalone='yes'?>
<Relationships xmlns="http://schemas.openxmlformats.org/package/2006/relationships"><Relationship Id="rId1" Type="http://schemas.openxmlformats.org/officeDocument/2006/relationships/package" Target="../embeddings/Microsoft_Excel_Sheet165.xlsx"/></Relationships>
</file>

<file path=ppt/charts/_rels/chart166.xml.rels><?xml version='1.0' encoding='UTF-8' standalone='yes'?>
<Relationships xmlns="http://schemas.openxmlformats.org/package/2006/relationships"><Relationship Id="rId1" Type="http://schemas.openxmlformats.org/officeDocument/2006/relationships/package" Target="../embeddings/Microsoft_Excel_Sheet166.xlsx"/></Relationships>
</file>

<file path=ppt/charts/_rels/chart167.xml.rels><?xml version='1.0' encoding='UTF-8' standalone='yes'?>
<Relationships xmlns="http://schemas.openxmlformats.org/package/2006/relationships"><Relationship Id="rId1" Type="http://schemas.openxmlformats.org/officeDocument/2006/relationships/package" Target="../embeddings/Microsoft_Excel_Sheet167.xlsx"/></Relationships>
</file>

<file path=ppt/charts/_rels/chart168.xml.rels><?xml version='1.0' encoding='UTF-8' standalone='yes'?>
<Relationships xmlns="http://schemas.openxmlformats.org/package/2006/relationships"><Relationship Id="rId1" Type="http://schemas.openxmlformats.org/officeDocument/2006/relationships/package" Target="../embeddings/Microsoft_Excel_Sheet168.xlsx"/></Relationships>
</file>

<file path=ppt/charts/_rels/chart169.xml.rels><?xml version='1.0' encoding='UTF-8' standalone='yes'?>
<Relationships xmlns="http://schemas.openxmlformats.org/package/2006/relationships"><Relationship Id="rId1" Type="http://schemas.openxmlformats.org/officeDocument/2006/relationships/package" Target="../embeddings/Microsoft_Excel_Sheet169.xlsx"/></Relationships>
</file>

<file path=ppt/charts/_rels/chart170.xml.rels><?xml version='1.0' encoding='UTF-8' standalone='yes'?>
<Relationships xmlns="http://schemas.openxmlformats.org/package/2006/relationships"><Relationship Id="rId1" Type="http://schemas.openxmlformats.org/officeDocument/2006/relationships/package" Target="../embeddings/Microsoft_Excel_Sheet170.xlsx"/></Relationships>
</file>

<file path=ppt/charts/_rels/chart171.xml.rels><?xml version='1.0' encoding='UTF-8' standalone='yes'?>
<Relationships xmlns="http://schemas.openxmlformats.org/package/2006/relationships"><Relationship Id="rId1" Type="http://schemas.openxmlformats.org/officeDocument/2006/relationships/package" Target="../embeddings/Microsoft_Excel_Sheet171.xlsx"/></Relationships>
</file>

<file path=ppt/charts/_rels/chart172.xml.rels><?xml version='1.0' encoding='UTF-8' standalone='yes'?>
<Relationships xmlns="http://schemas.openxmlformats.org/package/2006/relationships"><Relationship Id="rId1" Type="http://schemas.openxmlformats.org/officeDocument/2006/relationships/package" Target="../embeddings/Microsoft_Excel_Sheet172.xlsx"/></Relationships>
</file>

<file path=ppt/charts/_rels/chart173.xml.rels><?xml version='1.0' encoding='UTF-8' standalone='yes'?>
<Relationships xmlns="http://schemas.openxmlformats.org/package/2006/relationships"><Relationship Id="rId1" Type="http://schemas.openxmlformats.org/officeDocument/2006/relationships/package" Target="../embeddings/Microsoft_Excel_Sheet173.xlsx"/></Relationships>
</file>

<file path=ppt/charts/_rels/chart174.xml.rels><?xml version='1.0' encoding='UTF-8' standalone='yes'?>
<Relationships xmlns="http://schemas.openxmlformats.org/package/2006/relationships"><Relationship Id="rId1" Type="http://schemas.openxmlformats.org/officeDocument/2006/relationships/package" Target="../embeddings/Microsoft_Excel_Sheet174.xlsx"/></Relationships>
</file>

<file path=ppt/charts/_rels/chart175.xml.rels><?xml version='1.0' encoding='UTF-8' standalone='yes'?>
<Relationships xmlns="http://schemas.openxmlformats.org/package/2006/relationships"><Relationship Id="rId1" Type="http://schemas.openxmlformats.org/officeDocument/2006/relationships/package" Target="../embeddings/Microsoft_Excel_Sheet175.xlsx"/></Relationships>
</file>

<file path=ppt/charts/_rels/chart176.xml.rels><?xml version='1.0' encoding='UTF-8' standalone='yes'?>
<Relationships xmlns="http://schemas.openxmlformats.org/package/2006/relationships"><Relationship Id="rId1" Type="http://schemas.openxmlformats.org/officeDocument/2006/relationships/package" Target="../embeddings/Microsoft_Excel_Sheet176.xlsx"/></Relationships>
</file>

<file path=ppt/charts/_rels/chart177.xml.rels><?xml version='1.0' encoding='UTF-8' standalone='yes'?>
<Relationships xmlns="http://schemas.openxmlformats.org/package/2006/relationships"><Relationship Id="rId1" Type="http://schemas.openxmlformats.org/officeDocument/2006/relationships/package" Target="../embeddings/Microsoft_Excel_Sheet177.xlsx"/></Relationships>
</file>

<file path=ppt/charts/_rels/chart178.xml.rels><?xml version='1.0' encoding='UTF-8' standalone='yes'?>
<Relationships xmlns="http://schemas.openxmlformats.org/package/2006/relationships"><Relationship Id="rId1" Type="http://schemas.openxmlformats.org/officeDocument/2006/relationships/package" Target="../embeddings/Microsoft_Excel_Sheet178.xlsx"/></Relationships>
</file>

<file path=ppt/charts/_rels/chart179.xml.rels><?xml version='1.0' encoding='UTF-8' standalone='yes'?>
<Relationships xmlns="http://schemas.openxmlformats.org/package/2006/relationships"><Relationship Id="rId1" Type="http://schemas.openxmlformats.org/officeDocument/2006/relationships/package" Target="../embeddings/Microsoft_Excel_Sheet179.xlsx"/></Relationships>
</file>

<file path=ppt/charts/_rels/chart180.xml.rels><?xml version='1.0' encoding='UTF-8' standalone='yes'?>
<Relationships xmlns="http://schemas.openxmlformats.org/package/2006/relationships"><Relationship Id="rId1" Type="http://schemas.openxmlformats.org/officeDocument/2006/relationships/package" Target="../embeddings/Microsoft_Excel_Sheet180.xlsx"/></Relationships>
</file>

<file path=ppt/charts/_rels/chart181.xml.rels><?xml version='1.0' encoding='UTF-8' standalone='yes'?>
<Relationships xmlns="http://schemas.openxmlformats.org/package/2006/relationships"><Relationship Id="rId1" Type="http://schemas.openxmlformats.org/officeDocument/2006/relationships/package" Target="../embeddings/Microsoft_Excel_Sheet181.xlsx"/></Relationships>
</file>

<file path=ppt/charts/_rels/chart182.xml.rels><?xml version='1.0' encoding='UTF-8' standalone='yes'?>
<Relationships xmlns="http://schemas.openxmlformats.org/package/2006/relationships"><Relationship Id="rId1" Type="http://schemas.openxmlformats.org/officeDocument/2006/relationships/package" Target="../embeddings/Microsoft_Excel_Sheet182.xlsx"/></Relationships>
</file>

<file path=ppt/charts/_rels/chart183.xml.rels><?xml version='1.0' encoding='UTF-8' standalone='yes'?>
<Relationships xmlns="http://schemas.openxmlformats.org/package/2006/relationships"><Relationship Id="rId1" Type="http://schemas.openxmlformats.org/officeDocument/2006/relationships/package" Target="../embeddings/Microsoft_Excel_Sheet183.xlsx"/></Relationships>
</file>

<file path=ppt/charts/_rels/chart184.xml.rels><?xml version='1.0' encoding='UTF-8' standalone='yes'?>
<Relationships xmlns="http://schemas.openxmlformats.org/package/2006/relationships"><Relationship Id="rId1" Type="http://schemas.openxmlformats.org/officeDocument/2006/relationships/package" Target="../embeddings/Microsoft_Excel_Sheet184.xlsx"/></Relationships>
</file>

<file path=ppt/charts/_rels/chart185.xml.rels><?xml version='1.0' encoding='UTF-8' standalone='yes'?>
<Relationships xmlns="http://schemas.openxmlformats.org/package/2006/relationships"><Relationship Id="rId1" Type="http://schemas.openxmlformats.org/officeDocument/2006/relationships/package" Target="../embeddings/Microsoft_Excel_Sheet185.xlsx"/></Relationships>
</file>

<file path=ppt/charts/_rels/chart186.xml.rels><?xml version='1.0' encoding='UTF-8' standalone='yes'?>
<Relationships xmlns="http://schemas.openxmlformats.org/package/2006/relationships"><Relationship Id="rId1" Type="http://schemas.openxmlformats.org/officeDocument/2006/relationships/package" Target="../embeddings/Microsoft_Excel_Sheet186.xlsx"/></Relationships>
</file>

<file path=ppt/charts/_rels/chart187.xml.rels><?xml version='1.0' encoding='UTF-8' standalone='yes'?>
<Relationships xmlns="http://schemas.openxmlformats.org/package/2006/relationships"><Relationship Id="rId1" Type="http://schemas.openxmlformats.org/officeDocument/2006/relationships/package" Target="../embeddings/Microsoft_Excel_Sheet187.xlsx"/></Relationships>
</file>

<file path=ppt/charts/_rels/chart188.xml.rels><?xml version='1.0' encoding='UTF-8' standalone='yes'?>
<Relationships xmlns="http://schemas.openxmlformats.org/package/2006/relationships"><Relationship Id="rId1" Type="http://schemas.openxmlformats.org/officeDocument/2006/relationships/package" Target="../embeddings/Microsoft_Excel_Sheet188.xlsx"/></Relationships>
</file>

<file path=ppt/charts/_rels/chart189.xml.rels><?xml version='1.0' encoding='UTF-8' standalone='yes'?>
<Relationships xmlns="http://schemas.openxmlformats.org/package/2006/relationships"><Relationship Id="rId1" Type="http://schemas.openxmlformats.org/officeDocument/2006/relationships/package" Target="../embeddings/Microsoft_Excel_Sheet189.xlsx"/></Relationships>
</file>

<file path=ppt/charts/_rels/chart190.xml.rels><?xml version='1.0' encoding='UTF-8' standalone='yes'?>
<Relationships xmlns="http://schemas.openxmlformats.org/package/2006/relationships"><Relationship Id="rId1" Type="http://schemas.openxmlformats.org/officeDocument/2006/relationships/package" Target="../embeddings/Microsoft_Excel_Sheet190.xlsx"/></Relationships>
</file>

<file path=ppt/charts/_rels/chart191.xml.rels><?xml version='1.0' encoding='UTF-8' standalone='yes'?>
<Relationships xmlns="http://schemas.openxmlformats.org/package/2006/relationships"><Relationship Id="rId1" Type="http://schemas.openxmlformats.org/officeDocument/2006/relationships/package" Target="../embeddings/Microsoft_Excel_Sheet191.xlsx"/></Relationships>
</file>

<file path=ppt/charts/_rels/chart192.xml.rels><?xml version='1.0' encoding='UTF-8' standalone='yes'?>
<Relationships xmlns="http://schemas.openxmlformats.org/package/2006/relationships"><Relationship Id="rId1" Type="http://schemas.openxmlformats.org/officeDocument/2006/relationships/package" Target="../embeddings/Microsoft_Excel_Sheet192.xlsx"/></Relationships>
</file>

<file path=ppt/charts/_rels/chart193.xml.rels><?xml version='1.0' encoding='UTF-8' standalone='yes'?>
<Relationships xmlns="http://schemas.openxmlformats.org/package/2006/relationships"><Relationship Id="rId1" Type="http://schemas.openxmlformats.org/officeDocument/2006/relationships/package" Target="../embeddings/Microsoft_Excel_Sheet193.xlsx"/></Relationships>
</file>

<file path=ppt/charts/_rels/chart194.xml.rels><?xml version='1.0' encoding='UTF-8' standalone='yes'?>
<Relationships xmlns="http://schemas.openxmlformats.org/package/2006/relationships"><Relationship Id="rId1" Type="http://schemas.openxmlformats.org/officeDocument/2006/relationships/package" Target="../embeddings/Microsoft_Excel_Sheet194.xlsx"/></Relationships>
</file>

<file path=ppt/charts/_rels/chart195.xml.rels><?xml version='1.0' encoding='UTF-8' standalone='yes'?>
<Relationships xmlns="http://schemas.openxmlformats.org/package/2006/relationships"><Relationship Id="rId1" Type="http://schemas.openxmlformats.org/officeDocument/2006/relationships/package" Target="../embeddings/Microsoft_Excel_Sheet195.xlsx"/></Relationships>
</file>

<file path=ppt/charts/_rels/chart196.xml.rels><?xml version='1.0' encoding='UTF-8' standalone='yes'?>
<Relationships xmlns="http://schemas.openxmlformats.org/package/2006/relationships"><Relationship Id="rId1" Type="http://schemas.openxmlformats.org/officeDocument/2006/relationships/package" Target="../embeddings/Microsoft_Excel_Sheet196.xlsx"/></Relationships>
</file>

<file path=ppt/charts/_rels/chart197.xml.rels><?xml version='1.0' encoding='UTF-8' standalone='yes'?>
<Relationships xmlns="http://schemas.openxmlformats.org/package/2006/relationships"><Relationship Id="rId1" Type="http://schemas.openxmlformats.org/officeDocument/2006/relationships/package" Target="../embeddings/Microsoft_Excel_Sheet197.xlsx"/></Relationships>
</file>

<file path=ppt/charts/_rels/chart198.xml.rels><?xml version='1.0' encoding='UTF-8' standalone='yes'?>
<Relationships xmlns="http://schemas.openxmlformats.org/package/2006/relationships"><Relationship Id="rId1" Type="http://schemas.openxmlformats.org/officeDocument/2006/relationships/package" Target="../embeddings/Microsoft_Excel_Sheet198.xlsx"/></Relationships>
</file>

<file path=ppt/charts/_rels/chart199.xml.rels><?xml version='1.0' encoding='UTF-8' standalone='yes'?>
<Relationships xmlns="http://schemas.openxmlformats.org/package/2006/relationships"><Relationship Id="rId1" Type="http://schemas.openxmlformats.org/officeDocument/2006/relationships/package" Target="../embeddings/Microsoft_Excel_Sheet199.xlsx"/></Relationships>
</file>

<file path=ppt/charts/_rels/chart200.xml.rels><?xml version='1.0' encoding='UTF-8' standalone='yes'?>
<Relationships xmlns="http://schemas.openxmlformats.org/package/2006/relationships"><Relationship Id="rId1" Type="http://schemas.openxmlformats.org/officeDocument/2006/relationships/package" Target="../embeddings/Microsoft_Excel_Sheet200.xlsx"/></Relationships>
</file>

<file path=ppt/charts/_rels/chart201.xml.rels><?xml version='1.0' encoding='UTF-8' standalone='yes'?>
<Relationships xmlns="http://schemas.openxmlformats.org/package/2006/relationships"><Relationship Id="rId1" Type="http://schemas.openxmlformats.org/officeDocument/2006/relationships/package" Target="../embeddings/Microsoft_Excel_Sheet201.xlsx"/></Relationships>
</file>

<file path=ppt/charts/_rels/chart202.xml.rels><?xml version='1.0' encoding='UTF-8' standalone='yes'?>
<Relationships xmlns="http://schemas.openxmlformats.org/package/2006/relationships"><Relationship Id="rId1" Type="http://schemas.openxmlformats.org/officeDocument/2006/relationships/package" Target="../embeddings/Microsoft_Excel_Sheet202.xlsx"/></Relationships>
</file>

<file path=ppt/charts/_rels/chart203.xml.rels><?xml version='1.0' encoding='UTF-8' standalone='yes'?>
<Relationships xmlns="http://schemas.openxmlformats.org/package/2006/relationships"><Relationship Id="rId1" Type="http://schemas.openxmlformats.org/officeDocument/2006/relationships/package" Target="../embeddings/Microsoft_Excel_Sheet203.xlsx"/></Relationships>
</file>

<file path=ppt/charts/_rels/chart204.xml.rels><?xml version='1.0' encoding='UTF-8' standalone='yes'?>
<Relationships xmlns="http://schemas.openxmlformats.org/package/2006/relationships"><Relationship Id="rId1" Type="http://schemas.openxmlformats.org/officeDocument/2006/relationships/package" Target="../embeddings/Microsoft_Excel_Sheet204.xlsx"/></Relationships>
</file>

<file path=ppt/charts/_rels/chart205.xml.rels><?xml version='1.0' encoding='UTF-8' standalone='yes'?>
<Relationships xmlns="http://schemas.openxmlformats.org/package/2006/relationships"><Relationship Id="rId1" Type="http://schemas.openxmlformats.org/officeDocument/2006/relationships/package" Target="../embeddings/Microsoft_Excel_Sheet205.xlsx"/></Relationships>
</file>

<file path=ppt/charts/_rels/chart206.xml.rels><?xml version='1.0' encoding='UTF-8' standalone='yes'?>
<Relationships xmlns="http://schemas.openxmlformats.org/package/2006/relationships"><Relationship Id="rId1" Type="http://schemas.openxmlformats.org/officeDocument/2006/relationships/package" Target="../embeddings/Microsoft_Excel_Sheet206.xlsx"/></Relationships>
</file>

<file path=ppt/charts/_rels/chart207.xml.rels><?xml version='1.0' encoding='UTF-8' standalone='yes'?>
<Relationships xmlns="http://schemas.openxmlformats.org/package/2006/relationships"><Relationship Id="rId1" Type="http://schemas.openxmlformats.org/officeDocument/2006/relationships/package" Target="../embeddings/Microsoft_Excel_Sheet207.xlsx"/></Relationships>
</file>

<file path=ppt/charts/_rels/chart208.xml.rels><?xml version='1.0' encoding='UTF-8' standalone='yes'?>
<Relationships xmlns="http://schemas.openxmlformats.org/package/2006/relationships"><Relationship Id="rId1" Type="http://schemas.openxmlformats.org/officeDocument/2006/relationships/package" Target="../embeddings/Microsoft_Excel_Sheet208.xlsx"/></Relationships>
</file>

<file path=ppt/charts/_rels/chart209.xml.rels><?xml version='1.0' encoding='UTF-8' standalone='yes'?>
<Relationships xmlns="http://schemas.openxmlformats.org/package/2006/relationships"><Relationship Id="rId1" Type="http://schemas.openxmlformats.org/officeDocument/2006/relationships/package" Target="../embeddings/Microsoft_Excel_Sheet209.xlsx"/></Relationships>
</file>

<file path=ppt/charts/_rels/chart210.xml.rels><?xml version='1.0' encoding='UTF-8' standalone='yes'?>
<Relationships xmlns="http://schemas.openxmlformats.org/package/2006/relationships"><Relationship Id="rId1" Type="http://schemas.openxmlformats.org/officeDocument/2006/relationships/package" Target="../embeddings/Microsoft_Excel_Sheet210.xlsx"/></Relationships>
</file>

<file path=ppt/charts/_rels/chart211.xml.rels><?xml version='1.0' encoding='UTF-8' standalone='yes'?>
<Relationships xmlns="http://schemas.openxmlformats.org/package/2006/relationships"><Relationship Id="rId1" Type="http://schemas.openxmlformats.org/officeDocument/2006/relationships/package" Target="../embeddings/Microsoft_Excel_Sheet211.xlsx"/></Relationships>
</file>

<file path=ppt/charts/_rels/chart212.xml.rels><?xml version='1.0' encoding='UTF-8' standalone='yes'?>
<Relationships xmlns="http://schemas.openxmlformats.org/package/2006/relationships"><Relationship Id="rId1" Type="http://schemas.openxmlformats.org/officeDocument/2006/relationships/package" Target="../embeddings/Microsoft_Excel_Sheet212.xlsx"/></Relationships>
</file>

<file path=ppt/charts/_rels/chart213.xml.rels><?xml version='1.0' encoding='UTF-8' standalone='yes'?>
<Relationships xmlns="http://schemas.openxmlformats.org/package/2006/relationships"><Relationship Id="rId1" Type="http://schemas.openxmlformats.org/officeDocument/2006/relationships/package" Target="../embeddings/Microsoft_Excel_Sheet213.xlsx"/></Relationships>
</file>

<file path=ppt/charts/_rels/chart214.xml.rels><?xml version='1.0' encoding='UTF-8' standalone='yes'?>
<Relationships xmlns="http://schemas.openxmlformats.org/package/2006/relationships"><Relationship Id="rId1" Type="http://schemas.openxmlformats.org/officeDocument/2006/relationships/package" Target="../embeddings/Microsoft_Excel_Sheet214.xlsx"/></Relationships>
</file>

<file path=ppt/charts/_rels/chart215.xml.rels><?xml version='1.0' encoding='UTF-8' standalone='yes'?>
<Relationships xmlns="http://schemas.openxmlformats.org/package/2006/relationships"><Relationship Id="rId1" Type="http://schemas.openxmlformats.org/officeDocument/2006/relationships/package" Target="../embeddings/Microsoft_Excel_Sheet215.xlsx"/></Relationships>
</file>

<file path=ppt/charts/_rels/chart216.xml.rels><?xml version='1.0' encoding='UTF-8' standalone='yes'?>
<Relationships xmlns="http://schemas.openxmlformats.org/package/2006/relationships"><Relationship Id="rId1" Type="http://schemas.openxmlformats.org/officeDocument/2006/relationships/package" Target="../embeddings/Microsoft_Excel_Sheet216.xlsx"/></Relationships>
</file>

<file path=ppt/charts/_rels/chart217.xml.rels><?xml version='1.0' encoding='UTF-8' standalone='yes'?>
<Relationships xmlns="http://schemas.openxmlformats.org/package/2006/relationships"><Relationship Id="rId1" Type="http://schemas.openxmlformats.org/officeDocument/2006/relationships/package" Target="../embeddings/Microsoft_Excel_Sheet217.xlsx"/></Relationships>
</file>

<file path=ppt/charts/_rels/chart218.xml.rels><?xml version='1.0' encoding='UTF-8' standalone='yes'?>
<Relationships xmlns="http://schemas.openxmlformats.org/package/2006/relationships"><Relationship Id="rId1" Type="http://schemas.openxmlformats.org/officeDocument/2006/relationships/package" Target="../embeddings/Microsoft_Excel_Sheet218.xlsx"/></Relationships>
</file>

<file path=ppt/charts/_rels/chart219.xml.rels><?xml version='1.0' encoding='UTF-8' standalone='yes'?>
<Relationships xmlns="http://schemas.openxmlformats.org/package/2006/relationships"><Relationship Id="rId1" Type="http://schemas.openxmlformats.org/officeDocument/2006/relationships/package" Target="../embeddings/Microsoft_Excel_Sheet219.xlsx"/></Relationships>
</file>

<file path=ppt/charts/_rels/chart220.xml.rels><?xml version='1.0' encoding='UTF-8' standalone='yes'?>
<Relationships xmlns="http://schemas.openxmlformats.org/package/2006/relationships"><Relationship Id="rId1" Type="http://schemas.openxmlformats.org/officeDocument/2006/relationships/package" Target="../embeddings/Microsoft_Excel_Sheet220.xlsx"/></Relationships>
</file>

<file path=ppt/charts/_rels/chart221.xml.rels><?xml version='1.0' encoding='UTF-8' standalone='yes'?>
<Relationships xmlns="http://schemas.openxmlformats.org/package/2006/relationships"><Relationship Id="rId1" Type="http://schemas.openxmlformats.org/officeDocument/2006/relationships/package" Target="../embeddings/Microsoft_Excel_Sheet221.xlsx"/></Relationships>
</file>

<file path=ppt/charts/_rels/chart222.xml.rels><?xml version='1.0' encoding='UTF-8' standalone='yes'?>
<Relationships xmlns="http://schemas.openxmlformats.org/package/2006/relationships"><Relationship Id="rId1" Type="http://schemas.openxmlformats.org/officeDocument/2006/relationships/package" Target="../embeddings/Microsoft_Excel_Sheet222.xlsx"/></Relationships>
</file>

<file path=ppt/charts/_rels/chart223.xml.rels><?xml version='1.0' encoding='UTF-8' standalone='yes'?>
<Relationships xmlns="http://schemas.openxmlformats.org/package/2006/relationships"><Relationship Id="rId1" Type="http://schemas.openxmlformats.org/officeDocument/2006/relationships/package" Target="../embeddings/Microsoft_Excel_Sheet223.xlsx"/></Relationships>
</file>

<file path=ppt/charts/_rels/chart224.xml.rels><?xml version='1.0' encoding='UTF-8' standalone='yes'?>
<Relationships xmlns="http://schemas.openxmlformats.org/package/2006/relationships"><Relationship Id="rId1" Type="http://schemas.openxmlformats.org/officeDocument/2006/relationships/package" Target="../embeddings/Microsoft_Excel_Sheet224.xlsx"/></Relationships>
</file>

<file path=ppt/charts/_rels/chart225.xml.rels><?xml version='1.0' encoding='UTF-8' standalone='yes'?>
<Relationships xmlns="http://schemas.openxmlformats.org/package/2006/relationships"><Relationship Id="rId1" Type="http://schemas.openxmlformats.org/officeDocument/2006/relationships/package" Target="../embeddings/Microsoft_Excel_Sheet225.xlsx"/></Relationships>
</file>

<file path=ppt/charts/_rels/chart226.xml.rels><?xml version='1.0' encoding='UTF-8' standalone='yes'?>
<Relationships xmlns="http://schemas.openxmlformats.org/package/2006/relationships"><Relationship Id="rId1" Type="http://schemas.openxmlformats.org/officeDocument/2006/relationships/package" Target="../embeddings/Microsoft_Excel_Sheet226.xlsx"/></Relationships>
</file>

<file path=ppt/charts/_rels/chart227.xml.rels><?xml version='1.0' encoding='UTF-8' standalone='yes'?>
<Relationships xmlns="http://schemas.openxmlformats.org/package/2006/relationships"><Relationship Id="rId1" Type="http://schemas.openxmlformats.org/officeDocument/2006/relationships/package" Target="../embeddings/Microsoft_Excel_Sheet227.xlsx"/></Relationships>
</file>

<file path=ppt/charts/_rels/chart228.xml.rels><?xml version='1.0' encoding='UTF-8' standalone='yes'?>
<Relationships xmlns="http://schemas.openxmlformats.org/package/2006/relationships"><Relationship Id="rId1" Type="http://schemas.openxmlformats.org/officeDocument/2006/relationships/package" Target="../embeddings/Microsoft_Excel_Sheet228.xlsx"/></Relationships>
</file>

<file path=ppt/charts/_rels/chart229.xml.rels><?xml version='1.0' encoding='UTF-8' standalone='yes'?>
<Relationships xmlns="http://schemas.openxmlformats.org/package/2006/relationships"><Relationship Id="rId1" Type="http://schemas.openxmlformats.org/officeDocument/2006/relationships/package" Target="../embeddings/Microsoft_Excel_Sheet229.xlsx"/></Relationships>
</file>

<file path=ppt/charts/_rels/chart230.xml.rels><?xml version='1.0' encoding='UTF-8' standalone='yes'?>
<Relationships xmlns="http://schemas.openxmlformats.org/package/2006/relationships"><Relationship Id="rId1" Type="http://schemas.openxmlformats.org/officeDocument/2006/relationships/package" Target="../embeddings/Microsoft_Excel_Sheet230.xlsx"/></Relationships>
</file>

<file path=ppt/charts/_rels/chart231.xml.rels><?xml version='1.0' encoding='UTF-8' standalone='yes'?>
<Relationships xmlns="http://schemas.openxmlformats.org/package/2006/relationships"><Relationship Id="rId1" Type="http://schemas.openxmlformats.org/officeDocument/2006/relationships/package" Target="../embeddings/Microsoft_Excel_Sheet231.xlsx"/></Relationships>
</file>

<file path=ppt/charts/_rels/chart232.xml.rels><?xml version='1.0' encoding='UTF-8' standalone='yes'?>
<Relationships xmlns="http://schemas.openxmlformats.org/package/2006/relationships"><Relationship Id="rId1" Type="http://schemas.openxmlformats.org/officeDocument/2006/relationships/package" Target="../embeddings/Microsoft_Excel_Sheet232.xlsx"/></Relationships>
</file>

<file path=ppt/charts/_rels/chart233.xml.rels><?xml version='1.0' encoding='UTF-8' standalone='yes'?>
<Relationships xmlns="http://schemas.openxmlformats.org/package/2006/relationships"><Relationship Id="rId1" Type="http://schemas.openxmlformats.org/officeDocument/2006/relationships/package" Target="../embeddings/Microsoft_Excel_Sheet233.xlsx"/></Relationships>
</file>

<file path=ppt/charts/_rels/chart234.xml.rels><?xml version='1.0' encoding='UTF-8' standalone='yes'?>
<Relationships xmlns="http://schemas.openxmlformats.org/package/2006/relationships"><Relationship Id="rId1" Type="http://schemas.openxmlformats.org/officeDocument/2006/relationships/package" Target="../embeddings/Microsoft_Excel_Sheet234.xlsx"/></Relationships>
</file>

<file path=ppt/charts/_rels/chart235.xml.rels><?xml version='1.0' encoding='UTF-8' standalone='yes'?>
<Relationships xmlns="http://schemas.openxmlformats.org/package/2006/relationships"><Relationship Id="rId1" Type="http://schemas.openxmlformats.org/officeDocument/2006/relationships/package" Target="../embeddings/Microsoft_Excel_Sheet235.xlsx"/></Relationships>
</file>

<file path=ppt/charts/_rels/chart236.xml.rels><?xml version='1.0' encoding='UTF-8' standalone='yes'?>
<Relationships xmlns="http://schemas.openxmlformats.org/package/2006/relationships"><Relationship Id="rId1" Type="http://schemas.openxmlformats.org/officeDocument/2006/relationships/package" Target="../embeddings/Microsoft_Excel_Sheet236.xlsx"/></Relationships>
</file>

<file path=ppt/charts/_rels/chart237.xml.rels><?xml version='1.0' encoding='UTF-8' standalone='yes'?>
<Relationships xmlns="http://schemas.openxmlformats.org/package/2006/relationships"><Relationship Id="rId1" Type="http://schemas.openxmlformats.org/officeDocument/2006/relationships/package" Target="../embeddings/Microsoft_Excel_Sheet237.xlsx"/></Relationships>
</file>

<file path=ppt/charts/_rels/chart238.xml.rels><?xml version='1.0' encoding='UTF-8' standalone='yes'?>
<Relationships xmlns="http://schemas.openxmlformats.org/package/2006/relationships"><Relationship Id="rId1" Type="http://schemas.openxmlformats.org/officeDocument/2006/relationships/package" Target="../embeddings/Microsoft_Excel_Sheet238.xlsx"/></Relationships>
</file>

<file path=ppt/charts/_rels/chart239.xml.rels><?xml version='1.0' encoding='UTF-8' standalone='yes'?>
<Relationships xmlns="http://schemas.openxmlformats.org/package/2006/relationships"><Relationship Id="rId1" Type="http://schemas.openxmlformats.org/officeDocument/2006/relationships/package" Target="../embeddings/Microsoft_Excel_Sheet239.xlsx"/></Relationships>
</file>

<file path=ppt/charts/_rels/chart240.xml.rels><?xml version='1.0' encoding='UTF-8' standalone='yes'?>
<Relationships xmlns="http://schemas.openxmlformats.org/package/2006/relationships"><Relationship Id="rId1" Type="http://schemas.openxmlformats.org/officeDocument/2006/relationships/package" Target="../embeddings/Microsoft_Excel_Sheet240.xlsx"/></Relationships>
</file>

<file path=ppt/charts/_rels/chart241.xml.rels><?xml version='1.0' encoding='UTF-8' standalone='yes'?>
<Relationships xmlns="http://schemas.openxmlformats.org/package/2006/relationships"><Relationship Id="rId1" Type="http://schemas.openxmlformats.org/officeDocument/2006/relationships/package" Target="../embeddings/Microsoft_Excel_Sheet241.xlsx"/></Relationships>
</file>

<file path=ppt/charts/_rels/chart242.xml.rels><?xml version='1.0' encoding='UTF-8' standalone='yes'?>
<Relationships xmlns="http://schemas.openxmlformats.org/package/2006/relationships"><Relationship Id="rId1" Type="http://schemas.openxmlformats.org/officeDocument/2006/relationships/package" Target="../embeddings/Microsoft_Excel_Sheet242.xlsx"/></Relationships>
</file>

<file path=ppt/charts/_rels/chart243.xml.rels><?xml version='1.0' encoding='UTF-8' standalone='yes'?>
<Relationships xmlns="http://schemas.openxmlformats.org/package/2006/relationships"><Relationship Id="rId1" Type="http://schemas.openxmlformats.org/officeDocument/2006/relationships/package" Target="../embeddings/Microsoft_Excel_Sheet243.xlsx"/></Relationships>
</file>

<file path=ppt/charts/_rels/chart244.xml.rels><?xml version='1.0' encoding='UTF-8' standalone='yes'?>
<Relationships xmlns="http://schemas.openxmlformats.org/package/2006/relationships"><Relationship Id="rId1" Type="http://schemas.openxmlformats.org/officeDocument/2006/relationships/package" Target="../embeddings/Microsoft_Excel_Sheet244.xlsx"/></Relationships>
</file>

<file path=ppt/charts/_rels/chart245.xml.rels><?xml version='1.0' encoding='UTF-8' standalone='yes'?>
<Relationships xmlns="http://schemas.openxmlformats.org/package/2006/relationships"><Relationship Id="rId1" Type="http://schemas.openxmlformats.org/officeDocument/2006/relationships/package" Target="../embeddings/Microsoft_Excel_Sheet245.xlsx"/></Relationships>
</file>

<file path=ppt/charts/_rels/chart246.xml.rels><?xml version='1.0' encoding='UTF-8' standalone='yes'?>
<Relationships xmlns="http://schemas.openxmlformats.org/package/2006/relationships"><Relationship Id="rId1" Type="http://schemas.openxmlformats.org/officeDocument/2006/relationships/package" Target="../embeddings/Microsoft_Excel_Sheet246.xlsx"/></Relationships>
</file>

<file path=ppt/charts/_rels/chart247.xml.rels><?xml version='1.0' encoding='UTF-8' standalone='yes'?>
<Relationships xmlns="http://schemas.openxmlformats.org/package/2006/relationships"><Relationship Id="rId1" Type="http://schemas.openxmlformats.org/officeDocument/2006/relationships/package" Target="../embeddings/Microsoft_Excel_Sheet247.xlsx"/></Relationships>
</file>

<file path=ppt/charts/_rels/chart248.xml.rels><?xml version='1.0' encoding='UTF-8' standalone='yes'?>
<Relationships xmlns="http://schemas.openxmlformats.org/package/2006/relationships"><Relationship Id="rId1" Type="http://schemas.openxmlformats.org/officeDocument/2006/relationships/package" Target="../embeddings/Microsoft_Excel_Sheet248.xlsx"/></Relationships>
</file>

<file path=ppt/charts/_rels/chart249.xml.rels><?xml version='1.0' encoding='UTF-8' standalone='yes'?>
<Relationships xmlns="http://schemas.openxmlformats.org/package/2006/relationships"><Relationship Id="rId1" Type="http://schemas.openxmlformats.org/officeDocument/2006/relationships/package" Target="../embeddings/Microsoft_Excel_Sheet249.xlsx"/></Relationships>
</file>

<file path=ppt/charts/_rels/chart250.xml.rels><?xml version='1.0' encoding='UTF-8' standalone='yes'?>
<Relationships xmlns="http://schemas.openxmlformats.org/package/2006/relationships"><Relationship Id="rId1" Type="http://schemas.openxmlformats.org/officeDocument/2006/relationships/package" Target="../embeddings/Microsoft_Excel_Sheet250.xlsx"/></Relationships>
</file>

<file path=ppt/charts/_rels/chart251.xml.rels><?xml version='1.0' encoding='UTF-8' standalone='yes'?>
<Relationships xmlns="http://schemas.openxmlformats.org/package/2006/relationships"><Relationship Id="rId1" Type="http://schemas.openxmlformats.org/officeDocument/2006/relationships/package" Target="../embeddings/Microsoft_Excel_Sheet251.xlsx"/></Relationships>
</file>

<file path=ppt/charts/_rels/chart252.xml.rels><?xml version='1.0' encoding='UTF-8' standalone='yes'?>
<Relationships xmlns="http://schemas.openxmlformats.org/package/2006/relationships"><Relationship Id="rId1" Type="http://schemas.openxmlformats.org/officeDocument/2006/relationships/package" Target="../embeddings/Microsoft_Excel_Sheet252.xlsx"/></Relationships>
</file>

<file path=ppt/charts/_rels/chart253.xml.rels><?xml version='1.0' encoding='UTF-8' standalone='yes'?>
<Relationships xmlns="http://schemas.openxmlformats.org/package/2006/relationships"><Relationship Id="rId1" Type="http://schemas.openxmlformats.org/officeDocument/2006/relationships/package" Target="../embeddings/Microsoft_Excel_Sheet253.xlsx"/></Relationships>
</file>

<file path=ppt/charts/_rels/chart254.xml.rels><?xml version='1.0' encoding='UTF-8' standalone='yes'?>
<Relationships xmlns="http://schemas.openxmlformats.org/package/2006/relationships"><Relationship Id="rId1" Type="http://schemas.openxmlformats.org/officeDocument/2006/relationships/package" Target="../embeddings/Microsoft_Excel_Sheet254.xlsx"/></Relationships>
</file>

<file path=ppt/charts/_rels/chart255.xml.rels><?xml version='1.0' encoding='UTF-8' standalone='yes'?>
<Relationships xmlns="http://schemas.openxmlformats.org/package/2006/relationships"><Relationship Id="rId1" Type="http://schemas.openxmlformats.org/officeDocument/2006/relationships/package" Target="../embeddings/Microsoft_Excel_Sheet255.xlsx"/></Relationships>
</file>

<file path=ppt/charts/_rels/chart256.xml.rels><?xml version='1.0' encoding='UTF-8' standalone='yes'?>
<Relationships xmlns="http://schemas.openxmlformats.org/package/2006/relationships"><Relationship Id="rId1" Type="http://schemas.openxmlformats.org/officeDocument/2006/relationships/package" Target="../embeddings/Microsoft_Excel_Sheet256.xlsx"/></Relationships>
</file>

<file path=ppt/charts/_rels/chart257.xml.rels><?xml version='1.0' encoding='UTF-8' standalone='yes'?>
<Relationships xmlns="http://schemas.openxmlformats.org/package/2006/relationships"><Relationship Id="rId1" Type="http://schemas.openxmlformats.org/officeDocument/2006/relationships/package" Target="../embeddings/Microsoft_Excel_Sheet257.xlsx"/></Relationships>
</file>

<file path=ppt/charts/_rels/chart258.xml.rels><?xml version='1.0' encoding='UTF-8' standalone='yes'?>
<Relationships xmlns="http://schemas.openxmlformats.org/package/2006/relationships"><Relationship Id="rId1" Type="http://schemas.openxmlformats.org/officeDocument/2006/relationships/package" Target="../embeddings/Microsoft_Excel_Sheet258.xlsx"/></Relationships>
</file>

<file path=ppt/charts/_rels/chart259.xml.rels><?xml version='1.0' encoding='UTF-8' standalone='yes'?>
<Relationships xmlns="http://schemas.openxmlformats.org/package/2006/relationships"><Relationship Id="rId1" Type="http://schemas.openxmlformats.org/officeDocument/2006/relationships/package" Target="../embeddings/Microsoft_Excel_Sheet259.xlsx"/></Relationships>
</file>

<file path=ppt/charts/_rels/chart260.xml.rels><?xml version='1.0' encoding='UTF-8' standalone='yes'?>
<Relationships xmlns="http://schemas.openxmlformats.org/package/2006/relationships"><Relationship Id="rId1" Type="http://schemas.openxmlformats.org/officeDocument/2006/relationships/package" Target="../embeddings/Microsoft_Excel_Sheet260.xlsx"/></Relationships>
</file>

<file path=ppt/charts/_rels/chart261.xml.rels><?xml version='1.0' encoding='UTF-8' standalone='yes'?>
<Relationships xmlns="http://schemas.openxmlformats.org/package/2006/relationships"><Relationship Id="rId1" Type="http://schemas.openxmlformats.org/officeDocument/2006/relationships/package" Target="../embeddings/Microsoft_Excel_Sheet261.xlsx"/></Relationships>
</file>

<file path=ppt/charts/_rels/chart262.xml.rels><?xml version='1.0' encoding='UTF-8' standalone='yes'?>
<Relationships xmlns="http://schemas.openxmlformats.org/package/2006/relationships"><Relationship Id="rId1" Type="http://schemas.openxmlformats.org/officeDocument/2006/relationships/package" Target="../embeddings/Microsoft_Excel_Sheet262.xlsx"/></Relationships>
</file>

<file path=ppt/charts/_rels/chart263.xml.rels><?xml version='1.0' encoding='UTF-8' standalone='yes'?>
<Relationships xmlns="http://schemas.openxmlformats.org/package/2006/relationships"><Relationship Id="rId1" Type="http://schemas.openxmlformats.org/officeDocument/2006/relationships/package" Target="../embeddings/Microsoft_Excel_Sheet263.xlsx"/></Relationships>
</file>

<file path=ppt/charts/_rels/chart264.xml.rels><?xml version='1.0' encoding='UTF-8' standalone='yes'?>
<Relationships xmlns="http://schemas.openxmlformats.org/package/2006/relationships"><Relationship Id="rId1" Type="http://schemas.openxmlformats.org/officeDocument/2006/relationships/package" Target="../embeddings/Microsoft_Excel_Sheet264.xlsx"/></Relationships>
</file>

<file path=ppt/charts/_rels/chart265.xml.rels><?xml version='1.0' encoding='UTF-8' standalone='yes'?>
<Relationships xmlns="http://schemas.openxmlformats.org/package/2006/relationships"><Relationship Id="rId1" Type="http://schemas.openxmlformats.org/officeDocument/2006/relationships/package" Target="../embeddings/Microsoft_Excel_Sheet265.xlsx"/></Relationships>
</file>

<file path=ppt/charts/_rels/chart266.xml.rels><?xml version='1.0' encoding='UTF-8' standalone='yes'?>
<Relationships xmlns="http://schemas.openxmlformats.org/package/2006/relationships"><Relationship Id="rId1" Type="http://schemas.openxmlformats.org/officeDocument/2006/relationships/package" Target="../embeddings/Microsoft_Excel_Sheet266.xlsx"/></Relationships>
</file>

<file path=ppt/charts/_rels/chart267.xml.rels><?xml version='1.0' encoding='UTF-8' standalone='yes'?>
<Relationships xmlns="http://schemas.openxmlformats.org/package/2006/relationships"><Relationship Id="rId1" Type="http://schemas.openxmlformats.org/officeDocument/2006/relationships/package" Target="../embeddings/Microsoft_Excel_Sheet267.xlsx"/></Relationships>
</file>

<file path=ppt/charts/_rels/chart268.xml.rels><?xml version='1.0' encoding='UTF-8' standalone='yes'?>
<Relationships xmlns="http://schemas.openxmlformats.org/package/2006/relationships"><Relationship Id="rId1" Type="http://schemas.openxmlformats.org/officeDocument/2006/relationships/package" Target="../embeddings/Microsoft_Excel_Sheet268.xlsx"/></Relationships>
</file>

<file path=ppt/charts/_rels/chart269.xml.rels><?xml version='1.0' encoding='UTF-8' standalone='yes'?>
<Relationships xmlns="http://schemas.openxmlformats.org/package/2006/relationships"><Relationship Id="rId1" Type="http://schemas.openxmlformats.org/officeDocument/2006/relationships/package" Target="../embeddings/Microsoft_Excel_Sheet269.xlsx"/></Relationships>
</file>

<file path=ppt/charts/_rels/chart270.xml.rels><?xml version='1.0' encoding='UTF-8' standalone='yes'?>
<Relationships xmlns="http://schemas.openxmlformats.org/package/2006/relationships"><Relationship Id="rId1" Type="http://schemas.openxmlformats.org/officeDocument/2006/relationships/package" Target="../embeddings/Microsoft_Excel_Sheet270.xlsx"/></Relationships>
</file>

<file path=ppt/charts/_rels/chart271.xml.rels><?xml version='1.0' encoding='UTF-8' standalone='yes'?>
<Relationships xmlns="http://schemas.openxmlformats.org/package/2006/relationships"><Relationship Id="rId1" Type="http://schemas.openxmlformats.org/officeDocument/2006/relationships/package" Target="../embeddings/Microsoft_Excel_Sheet271.xlsx"/></Relationships>
</file>

<file path=ppt/charts/_rels/chart272.xml.rels><?xml version='1.0' encoding='UTF-8' standalone='yes'?>
<Relationships xmlns="http://schemas.openxmlformats.org/package/2006/relationships"><Relationship Id="rId1" Type="http://schemas.openxmlformats.org/officeDocument/2006/relationships/package" Target="../embeddings/Microsoft_Excel_Sheet272.xlsx"/></Relationships>
</file>

<file path=ppt/charts/_rels/chart273.xml.rels><?xml version='1.0' encoding='UTF-8' standalone='yes'?>
<Relationships xmlns="http://schemas.openxmlformats.org/package/2006/relationships"><Relationship Id="rId1" Type="http://schemas.openxmlformats.org/officeDocument/2006/relationships/package" Target="../embeddings/Microsoft_Excel_Sheet273.xlsx"/></Relationships>
</file>

<file path=ppt/charts/_rels/chart274.xml.rels><?xml version='1.0' encoding='UTF-8' standalone='yes'?>
<Relationships xmlns="http://schemas.openxmlformats.org/package/2006/relationships"><Relationship Id="rId1" Type="http://schemas.openxmlformats.org/officeDocument/2006/relationships/package" Target="../embeddings/Microsoft_Excel_Sheet274.xlsx"/></Relationships>
</file>

<file path=ppt/charts/_rels/chart275.xml.rels><?xml version='1.0' encoding='UTF-8' standalone='yes'?>
<Relationships xmlns="http://schemas.openxmlformats.org/package/2006/relationships"><Relationship Id="rId1" Type="http://schemas.openxmlformats.org/officeDocument/2006/relationships/package" Target="../embeddings/Microsoft_Excel_Sheet275.xlsx"/></Relationships>
</file>

<file path=ppt/charts/_rels/chart276.xml.rels><?xml version='1.0' encoding='UTF-8' standalone='yes'?>
<Relationships xmlns="http://schemas.openxmlformats.org/package/2006/relationships"><Relationship Id="rId1" Type="http://schemas.openxmlformats.org/officeDocument/2006/relationships/package" Target="../embeddings/Microsoft_Excel_Sheet276.xlsx"/></Relationships>
</file>

<file path=ppt/charts/_rels/chart277.xml.rels><?xml version='1.0' encoding='UTF-8' standalone='yes'?>
<Relationships xmlns="http://schemas.openxmlformats.org/package/2006/relationships"><Relationship Id="rId1" Type="http://schemas.openxmlformats.org/officeDocument/2006/relationships/package" Target="../embeddings/Microsoft_Excel_Sheet277.xlsx"/></Relationships>
</file>

<file path=ppt/charts/_rels/chart278.xml.rels><?xml version='1.0' encoding='UTF-8' standalone='yes'?>
<Relationships xmlns="http://schemas.openxmlformats.org/package/2006/relationships"><Relationship Id="rId1" Type="http://schemas.openxmlformats.org/officeDocument/2006/relationships/package" Target="../embeddings/Microsoft_Excel_Sheet278.xlsx"/></Relationships>
</file>

<file path=ppt/charts/_rels/chart279.xml.rels><?xml version='1.0' encoding='UTF-8' standalone='yes'?>
<Relationships xmlns="http://schemas.openxmlformats.org/package/2006/relationships"><Relationship Id="rId1" Type="http://schemas.openxmlformats.org/officeDocument/2006/relationships/package" Target="../embeddings/Microsoft_Excel_Sheet279.xlsx"/></Relationships>
</file>

<file path=ppt/charts/_rels/chart280.xml.rels><?xml version='1.0' encoding='UTF-8' standalone='yes'?>
<Relationships xmlns="http://schemas.openxmlformats.org/package/2006/relationships"><Relationship Id="rId1" Type="http://schemas.openxmlformats.org/officeDocument/2006/relationships/package" Target="../embeddings/Microsoft_Excel_Sheet280.xlsx"/></Relationships>
</file>

<file path=ppt/charts/_rels/chart281.xml.rels><?xml version='1.0' encoding='UTF-8' standalone='yes'?>
<Relationships xmlns="http://schemas.openxmlformats.org/package/2006/relationships"><Relationship Id="rId1" Type="http://schemas.openxmlformats.org/officeDocument/2006/relationships/package" Target="../embeddings/Microsoft_Excel_Sheet281.xlsx"/></Relationships>
</file>

<file path=ppt/charts/_rels/chart282.xml.rels><?xml version='1.0' encoding='UTF-8' standalone='yes'?>
<Relationships xmlns="http://schemas.openxmlformats.org/package/2006/relationships"><Relationship Id="rId1" Type="http://schemas.openxmlformats.org/officeDocument/2006/relationships/package" Target="../embeddings/Microsoft_Excel_Sheet282.xlsx"/></Relationships>
</file>

<file path=ppt/charts/_rels/chart283.xml.rels><?xml version='1.0' encoding='UTF-8' standalone='yes'?>
<Relationships xmlns="http://schemas.openxmlformats.org/package/2006/relationships"><Relationship Id="rId1" Type="http://schemas.openxmlformats.org/officeDocument/2006/relationships/package" Target="../embeddings/Microsoft_Excel_Sheet283.xlsx"/></Relationships>
</file>

<file path=ppt/charts/_rels/chart284.xml.rels><?xml version='1.0' encoding='UTF-8' standalone='yes'?>
<Relationships xmlns="http://schemas.openxmlformats.org/package/2006/relationships"><Relationship Id="rId1" Type="http://schemas.openxmlformats.org/officeDocument/2006/relationships/package" Target="../embeddings/Microsoft_Excel_Sheet284.xlsx"/></Relationships>
</file>

<file path=ppt/charts/_rels/chart285.xml.rels><?xml version='1.0' encoding='UTF-8' standalone='yes'?>
<Relationships xmlns="http://schemas.openxmlformats.org/package/2006/relationships"><Relationship Id="rId1" Type="http://schemas.openxmlformats.org/officeDocument/2006/relationships/package" Target="../embeddings/Microsoft_Excel_Sheet285.xlsx"/></Relationships>
</file>

<file path=ppt/charts/_rels/chart286.xml.rels><?xml version='1.0' encoding='UTF-8' standalone='yes'?>
<Relationships xmlns="http://schemas.openxmlformats.org/package/2006/relationships"><Relationship Id="rId1" Type="http://schemas.openxmlformats.org/officeDocument/2006/relationships/package" Target="../embeddings/Microsoft_Excel_Sheet286.xlsx"/></Relationships>
</file>

<file path=ppt/charts/_rels/chart287.xml.rels><?xml version='1.0' encoding='UTF-8' standalone='yes'?>
<Relationships xmlns="http://schemas.openxmlformats.org/package/2006/relationships"><Relationship Id="rId1" Type="http://schemas.openxmlformats.org/officeDocument/2006/relationships/package" Target="../embeddings/Microsoft_Excel_Sheet287.xlsx"/></Relationships>
</file>

<file path=ppt/charts/_rels/chart288.xml.rels><?xml version='1.0' encoding='UTF-8' standalone='yes'?>
<Relationships xmlns="http://schemas.openxmlformats.org/package/2006/relationships"><Relationship Id="rId1" Type="http://schemas.openxmlformats.org/officeDocument/2006/relationships/package" Target="../embeddings/Microsoft_Excel_Sheet288.xlsx"/></Relationships>
</file>

<file path=ppt/charts/_rels/chart289.xml.rels><?xml version='1.0' encoding='UTF-8' standalone='yes'?>
<Relationships xmlns="http://schemas.openxmlformats.org/package/2006/relationships"><Relationship Id="rId1" Type="http://schemas.openxmlformats.org/officeDocument/2006/relationships/package" Target="../embeddings/Microsoft_Excel_Sheet289.xlsx"/></Relationships>
</file>

<file path=ppt/charts/_rels/chart290.xml.rels><?xml version='1.0' encoding='UTF-8' standalone='yes'?>
<Relationships xmlns="http://schemas.openxmlformats.org/package/2006/relationships"><Relationship Id="rId1" Type="http://schemas.openxmlformats.org/officeDocument/2006/relationships/package" Target="../embeddings/Microsoft_Excel_Sheet290.xlsx"/></Relationships>
</file>

<file path=ppt/charts/_rels/chart291.xml.rels><?xml version='1.0' encoding='UTF-8' standalone='yes'?>
<Relationships xmlns="http://schemas.openxmlformats.org/package/2006/relationships"><Relationship Id="rId1" Type="http://schemas.openxmlformats.org/officeDocument/2006/relationships/package" Target="../embeddings/Microsoft_Excel_Sheet291.xlsx"/></Relationships>
</file>

<file path=ppt/charts/_rels/chart292.xml.rels><?xml version='1.0' encoding='UTF-8' standalone='yes'?>
<Relationships xmlns="http://schemas.openxmlformats.org/package/2006/relationships"><Relationship Id="rId1" Type="http://schemas.openxmlformats.org/officeDocument/2006/relationships/package" Target="../embeddings/Microsoft_Excel_Sheet292.xlsx"/></Relationships>
</file>

<file path=ppt/charts/_rels/chart293.xml.rels><?xml version='1.0' encoding='UTF-8' standalone='yes'?>
<Relationships xmlns="http://schemas.openxmlformats.org/package/2006/relationships"><Relationship Id="rId1" Type="http://schemas.openxmlformats.org/officeDocument/2006/relationships/package" Target="../embeddings/Microsoft_Excel_Sheet293.xlsx"/></Relationships>
</file>

<file path=ppt/charts/_rels/chart294.xml.rels><?xml version='1.0' encoding='UTF-8' standalone='yes'?>
<Relationships xmlns="http://schemas.openxmlformats.org/package/2006/relationships"><Relationship Id="rId1" Type="http://schemas.openxmlformats.org/officeDocument/2006/relationships/package" Target="../embeddings/Microsoft_Excel_Sheet294.xlsx"/></Relationships>
</file>

<file path=ppt/charts/_rels/chart295.xml.rels><?xml version='1.0' encoding='UTF-8' standalone='yes'?>
<Relationships xmlns="http://schemas.openxmlformats.org/package/2006/relationships"><Relationship Id="rId1" Type="http://schemas.openxmlformats.org/officeDocument/2006/relationships/package" Target="../embeddings/Microsoft_Excel_Sheet295.xlsx"/></Relationships>
</file>

<file path=ppt/charts/_rels/chart296.xml.rels><?xml version='1.0' encoding='UTF-8' standalone='yes'?>
<Relationships xmlns="http://schemas.openxmlformats.org/package/2006/relationships"><Relationship Id="rId1" Type="http://schemas.openxmlformats.org/officeDocument/2006/relationships/package" Target="../embeddings/Microsoft_Excel_Sheet296.xlsx"/></Relationships>
</file>

<file path=ppt/charts/_rels/chart297.xml.rels><?xml version='1.0' encoding='UTF-8' standalone='yes'?>
<Relationships xmlns="http://schemas.openxmlformats.org/package/2006/relationships"><Relationship Id="rId1" Type="http://schemas.openxmlformats.org/officeDocument/2006/relationships/package" Target="../embeddings/Microsoft_Excel_Sheet297.xlsx"/></Relationships>
</file>

<file path=ppt/charts/_rels/chart298.xml.rels><?xml version='1.0' encoding='UTF-8' standalone='yes'?>
<Relationships xmlns="http://schemas.openxmlformats.org/package/2006/relationships"><Relationship Id="rId1" Type="http://schemas.openxmlformats.org/officeDocument/2006/relationships/package" Target="../embeddings/Microsoft_Excel_Sheet298.xlsx"/></Relationships>
</file>

<file path=ppt/charts/_rels/chart299.xml.rels><?xml version='1.0' encoding='UTF-8' standalone='yes'?>
<Relationships xmlns="http://schemas.openxmlformats.org/package/2006/relationships"><Relationship Id="rId1" Type="http://schemas.openxmlformats.org/officeDocument/2006/relationships/package" Target="../embeddings/Microsoft_Excel_Sheet299.xlsx"/></Relationships>
</file>

<file path=ppt/charts/_rels/chart300.xml.rels><?xml version='1.0' encoding='UTF-8' standalone='yes'?>
<Relationships xmlns="http://schemas.openxmlformats.org/package/2006/relationships"><Relationship Id="rId1" Type="http://schemas.openxmlformats.org/officeDocument/2006/relationships/package" Target="../embeddings/Microsoft_Excel_Sheet300.xlsx"/></Relationships>
</file>

<file path=ppt/charts/_rels/chart301.xml.rels><?xml version='1.0' encoding='UTF-8' standalone='yes'?>
<Relationships xmlns="http://schemas.openxmlformats.org/package/2006/relationships"><Relationship Id="rId1" Type="http://schemas.openxmlformats.org/officeDocument/2006/relationships/package" Target="../embeddings/Microsoft_Excel_Sheet301.xlsx"/></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5.476947830579393</c:v>
                </c:pt>
                <c:pt idx="1">
                  <c:v>6.544044320302689</c:v>
                </c:pt>
                <c:pt idx="2">
                  <c:v>6.187151332763641</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8.63813850279955"/>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4221.77</c:v>
                </c:pt>
                <c:pt idx="2">
                  <c:v>0.0</c:v>
                </c:pt>
                <c:pt idx="3">
                  <c:v>5511.659000000001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4221.77</c:v>
                </c:pt>
                <c:pt idx="1">
                  <c:v>1289.8890000000001</c:v>
                </c:pt>
                <c:pt idx="2">
                  <c:v>5511.659000000001</c:v>
                </c:pt>
                <c:pt idx="3">
                  <c:v>4877.349999999999</c:v>
                </c:pt>
                <c:pt idx="4">
                  <c:v>10389.009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5.8774449571785015</c:v>
                </c:pt>
                <c:pt idx="1">
                  <c:v>7.773247697686525</c:v>
                </c:pt>
                <c:pt idx="2">
                  <c:v>7.137571428962874</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260686960946213"/>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11621.235</c:v>
                </c:pt>
                <c:pt idx="2">
                  <c:v>0.0</c:v>
                </c:pt>
                <c:pt idx="3">
                  <c:v>15462.137999999999</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11621.235</c:v>
                </c:pt>
                <c:pt idx="1">
                  <c:v>3840.9029999999984</c:v>
                </c:pt>
                <c:pt idx="2">
                  <c:v>15462.137999999999</c:v>
                </c:pt>
                <c:pt idx="3">
                  <c:v>17225.176999999996</c:v>
                </c:pt>
                <c:pt idx="4">
                  <c:v>32687.314999999995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11621.235</c:v>
                </c:pt>
                <c:pt idx="1">
                  <c:v>12257.909</c:v>
                </c:pt>
                <c:pt idx="2">
                  <c:v>12944.232</c:v>
                </c:pt>
                <c:pt idx="3">
                  <c:v>13693.331</c:v>
                </c:pt>
                <c:pt idx="4">
                  <c:v>14507.996</c:v>
                </c:pt>
              </c:numCache>
            </c:numRef>
          </c:val>
        </c:ser>
        <c:gapWidth val="50"/>
        <c:axId val="-2068027336"/>
        <c:axId val="-2113994440"/>
      </c:barChart>
      <c:barChart>
        <c:barDir val="col"/>
        <c:grouping val="clustered"/>
        <c:varyColors val="0"/>
        <c:ser>
          <c:idx val="1"/>
          <c:order val="1"/>
          <c:tx>
            <c:strRef>
              <c:f>Sheet1!$C$1</c:f>
              <c:strCache>
                <c:ptCount val="1"/>
                <c:pt idx="0">
                  <c:v>Volume (Thousand MT)</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4221.77</c:v>
                </c:pt>
                <c:pt idx="1">
                  <c:v>4443.354</c:v>
                </c:pt>
                <c:pt idx="2">
                  <c:v>4680.245</c:v>
                </c:pt>
                <c:pt idx="3">
                  <c:v>4934.677</c:v>
                </c:pt>
                <c:pt idx="4">
                  <c:v>5209.458</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7119"/>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7067"/>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15462.137999999999</c:v>
                </c:pt>
                <c:pt idx="1">
                  <c:v>16525.906</c:v>
                </c:pt>
                <c:pt idx="2">
                  <c:v>17714.926</c:v>
                </c:pt>
                <c:pt idx="3">
                  <c:v>19042.889000000003</c:v>
                </c:pt>
                <c:pt idx="4">
                  <c:v>20525.954999999998</c:v>
                </c:pt>
                <c:pt idx="5">
                  <c:v>22168.259000000002</c:v>
                </c:pt>
                <c:pt idx="6">
                  <c:v>23972.173000000003</c:v>
                </c:pt>
                <c:pt idx="7">
                  <c:v>25927.511000000002</c:v>
                </c:pt>
                <c:pt idx="8">
                  <c:v>28035.355</c:v>
                </c:pt>
                <c:pt idx="9">
                  <c:v>30288.418999999998</c:v>
                </c:pt>
                <c:pt idx="10">
                  <c:v>32687.314999999995</c:v>
                </c:pt>
              </c:numCache>
            </c:numRef>
          </c:val>
        </c:ser>
        <c:gapWidth val="50"/>
        <c:axId val="-2068027336"/>
        <c:axId val="-2113994440"/>
      </c:barChart>
      <c:barChart>
        <c:barDir val="col"/>
        <c:grouping val="clustered"/>
        <c:varyColors val="0"/>
        <c:ser>
          <c:idx val="1"/>
          <c:order val="1"/>
          <c:tx>
            <c:strRef>
              <c:f>Sheet1!$C$1</c:f>
              <c:strCache>
                <c:ptCount val="1"/>
                <c:pt idx="0">
                  <c:v>Volume (Thousand MT)</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5511.659000000001</c:v>
                </c:pt>
                <c:pt idx="1">
                  <c:v>5843.569</c:v>
                </c:pt>
                <c:pt idx="2">
                  <c:v>6209.15</c:v>
                </c:pt>
                <c:pt idx="3">
                  <c:v>6611.302000000001</c:v>
                </c:pt>
                <c:pt idx="4">
                  <c:v>7052.88</c:v>
                </c:pt>
                <c:pt idx="5">
                  <c:v>7533.151</c:v>
                </c:pt>
                <c:pt idx="6">
                  <c:v>8050.019</c:v>
                </c:pt>
                <c:pt idx="7">
                  <c:v>8598.155</c:v>
                </c:pt>
                <c:pt idx="8">
                  <c:v>9174.324</c:v>
                </c:pt>
                <c:pt idx="9">
                  <c:v>9771.743</c:v>
                </c:pt>
                <c:pt idx="10">
                  <c:v>10389.009</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38571"/>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5624"/>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Sheet1!$A$2:$A$9</c:f>
              <c:strCache>
                <c:ptCount val="8"/>
                <c:pt idx="0">
                  <c:v>New Zealand</c:v>
                </c:pt>
                <c:pt idx="1">
                  <c:v>Singapore</c:v>
                </c:pt>
                <c:pt idx="2">
                  <c:v>Australia</c:v>
                </c:pt>
                <c:pt idx="3">
                  <c:v>Thailand</c:v>
                </c:pt>
                <c:pt idx="4">
                  <c:v>Malaysia</c:v>
                </c:pt>
                <c:pt idx="5">
                  <c:v>India</c:v>
                </c:pt>
                <c:pt idx="6">
                  <c:v>Indonesia</c:v>
                </c:pt>
                <c:pt idx="7">
                  <c:v>Philippines</c:v>
                </c:pt>
              </c:strCache>
            </c:strRef>
          </c:cat>
          <c:val>
            <c:numRef>
              <c:f>Sheet1!$B$2:$B$9</c:f>
              <c:numCache>
                <c:formatCode>General</c:formatCode>
                <c:ptCount val="8"/>
                <c:pt idx="0">
                  <c:v>76.98329405359962</c:v>
                </c:pt>
                <c:pt idx="1">
                  <c:v>79.52825852399447</c:v>
                </c:pt>
                <c:pt idx="2">
                  <c:v>80.37499016161983</c:v>
                </c:pt>
                <c:pt idx="3">
                  <c:v>94.3024566839999</c:v>
                </c:pt>
                <c:pt idx="4">
                  <c:v>98.23070749513575</c:v>
                </c:pt>
                <c:pt idx="5">
                  <c:v>103.2975148482943</c:v>
                </c:pt>
                <c:pt idx="6">
                  <c:v>112.41044926776426</c:v>
                </c:pt>
                <c:pt idx="7">
                  <c:v>119.65733331137474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Sheet1!$A$2:$A$9</c:f>
              <c:strCache>
                <c:ptCount val="8"/>
                <c:pt idx="0">
                  <c:v>New Zealand</c:v>
                </c:pt>
                <c:pt idx="1">
                  <c:v>Singapore</c:v>
                </c:pt>
                <c:pt idx="2">
                  <c:v>Malaysia</c:v>
                </c:pt>
                <c:pt idx="3">
                  <c:v>Thailand</c:v>
                </c:pt>
                <c:pt idx="4">
                  <c:v>Philippines</c:v>
                </c:pt>
                <c:pt idx="5">
                  <c:v>Australia</c:v>
                </c:pt>
                <c:pt idx="6">
                  <c:v>Indonesia</c:v>
                </c:pt>
                <c:pt idx="7">
                  <c:v>India</c:v>
                </c:pt>
              </c:strCache>
            </c:strRef>
          </c:cat>
          <c:val>
            <c:numRef>
              <c:f>Sheet1!$B$2:$B$9</c:f>
              <c:numCache>
                <c:formatCode>General</c:formatCode>
                <c:ptCount val="8"/>
                <c:pt idx="0">
                  <c:v>2.435649862988347</c:v>
                </c:pt>
                <c:pt idx="1">
                  <c:v>2.546545675553872</c:v>
                </c:pt>
                <c:pt idx="2">
                  <c:v>6.817718041445961</c:v>
                </c:pt>
                <c:pt idx="3">
                  <c:v>8.279235679261818</c:v>
                </c:pt>
                <c:pt idx="4">
                  <c:v>9.127737845596599</c:v>
                </c:pt>
                <c:pt idx="5">
                  <c:v>13.292159494210132</c:v>
                </c:pt>
                <c:pt idx="6">
                  <c:v>14.213595599046677</c:v>
                </c:pt>
                <c:pt idx="7">
                  <c:v>33.07741336997582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tx>
                <c:rich>
                  <a:bodyPr/>
                  <a:lstStyle/>
                  <a:p>
                    <a:pPr>
                      <a:defRPr sz="1100" b="1">
                        <a:solidFill>
                          <a:srgbClr val="FFFFFF"/>
                        </a:solidFill>
                        <a:latin typeface="Calibri"/>
                      </a:defRPr>
                    </a:pPr>
                    <a:r>
                      <a:t>54.1%</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11.1%</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27.8%</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7.0%</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Rollstock Films</c:v>
                </c:pt>
                <c:pt idx="1">
                  <c:v>Barrier Casings</c:v>
                </c:pt>
                <c:pt idx="2">
                  <c:v>Premade Pouches &amp; Bags</c:v>
                </c:pt>
                <c:pt idx="3">
                  <c:v>Sachets &amp; Stick Packs</c:v>
                </c:pt>
              </c:strCache>
            </c:strRef>
          </c:cat>
          <c:val>
            <c:numRef>
              <c:f>Sheet1!$B$2:$B$5</c:f>
              <c:numCache>
                <c:formatCode>General</c:formatCode>
                <c:ptCount val="4"/>
                <c:pt idx="0">
                  <c:v>17692.204999999998</c:v>
                </c:pt>
                <c:pt idx="1">
                  <c:v>3622.333</c:v>
                </c:pt>
                <c:pt idx="2">
                  <c:v>9083.472</c:v>
                </c:pt>
                <c:pt idx="3">
                  <c:v>2289.305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0.10118616030841032</c:v>
                </c:pt>
                <c:pt idx="1">
                  <c:v>0.10416616030841032</c:v>
                </c:pt>
                <c:pt idx="2">
                  <c:v>0.10204616030841032</c:v>
                </c:pt>
                <c:pt idx="3">
                  <c:v>0.10030616030841032</c:v>
                </c:pt>
                <c:pt idx="4">
                  <c:v>0.09730616030841033</c:v>
                </c:pt>
                <c:pt idx="5">
                  <c:v>0.09533616030841031</c:v>
                </c:pt>
                <c:pt idx="6">
                  <c:v>0.09421616030841032</c:v>
                </c:pt>
                <c:pt idx="7">
                  <c:v>0.09335616030841032</c:v>
                </c:pt>
                <c:pt idx="8">
                  <c:v>0.09076616030841031</c:v>
                </c:pt>
                <c:pt idx="9">
                  <c:v>0.08811616030841032</c:v>
                </c:pt>
                <c:pt idx="10">
                  <c:v>0.08709616030841032</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0.06790839082923726</c:v>
                </c:pt>
                <c:pt idx="1">
                  <c:v>0.06891359475201583</c:v>
                </c:pt>
                <c:pt idx="2">
                  <c:v>0.07113455206788469</c:v>
                </c:pt>
                <c:pt idx="3">
                  <c:v>0.07336909322054787</c:v>
                </c:pt>
                <c:pt idx="4">
                  <c:v>0.07577343233313985</c:v>
                </c:pt>
                <c:pt idx="5">
                  <c:v>0.07734236548288208</c:v>
                </c:pt>
                <c:pt idx="6">
                  <c:v>0.0783407774872635</c:v>
                </c:pt>
                <c:pt idx="7">
                  <c:v>0.08049381561916083</c:v>
                </c:pt>
                <c:pt idx="8">
                  <c:v>0.08141072460277642</c:v>
                </c:pt>
                <c:pt idx="9">
                  <c:v>0.08375393644979402</c:v>
                </c:pt>
                <c:pt idx="10">
                  <c:v>0.08474555653577828</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0.04946067386811589</c:v>
                </c:pt>
                <c:pt idx="1">
                  <c:v>0.05151182951059591</c:v>
                </c:pt>
                <c:pt idx="2">
                  <c:v>0.05348409455144208</c:v>
                </c:pt>
                <c:pt idx="3">
                  <c:v>0.05482523477921748</c:v>
                </c:pt>
                <c:pt idx="4">
                  <c:v>0.05621020311901168</c:v>
                </c:pt>
                <c:pt idx="5">
                  <c:v>0.05720071845063665</c:v>
                </c:pt>
                <c:pt idx="6">
                  <c:v>0.058401608719951884</c:v>
                </c:pt>
                <c:pt idx="7">
                  <c:v>0.05942718654119189</c:v>
                </c:pt>
                <c:pt idx="8">
                  <c:v>0.06131179535800046</c:v>
                </c:pt>
                <c:pt idx="9">
                  <c:v>0.06435346633210545</c:v>
                </c:pt>
                <c:pt idx="10">
                  <c:v>0.06623807514891401</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India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34.898911561836464</c:v>
                </c:pt>
                <c:pt idx="1">
                  <c:v>35.90210577351507</c:v>
                </c:pt>
              </c:numCache>
            </c:numRef>
          </c:val>
        </c:ser>
        <c:ser>
          <c:idx val="1"/>
          <c:order val="1"/>
          <c:tx>
            <c:strRef>
              <c:f>Sheet1!$C$1</c:f>
              <c:strCache>
                <c:ptCount val="1"/>
                <c:pt idx="0">
                  <c:v>Indonesia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12.994980277263164</c:v>
                </c:pt>
                <c:pt idx="1">
                  <c:v>14.063410667947252</c:v>
                </c:pt>
              </c:numCache>
            </c:numRef>
          </c:val>
        </c:ser>
        <c:ser>
          <c:idx val="2"/>
          <c:order val="2"/>
          <c:tx>
            <c:strRef>
              <c:f>Sheet1!$D$1</c:f>
              <c:strCache>
                <c:ptCount val="1"/>
                <c:pt idx="0">
                  <c:v>Australia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13.77719485185858</c:v>
                </c:pt>
                <c:pt idx="1">
                  <c:v>11.850283313836767</c:v>
                </c:pt>
              </c:numCache>
            </c:numRef>
          </c:val>
        </c:ser>
        <c:ser>
          <c:idx val="3"/>
          <c:order val="3"/>
          <c:tx>
            <c:strRef>
              <c:f>Sheet1!$E$1</c:f>
              <c:strCache>
                <c:ptCount val="1"/>
                <c:pt idx="0">
                  <c:v>Rest of South Asia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9.043393286848842</c:v>
                </c:pt>
                <c:pt idx="1">
                  <c:v>9.570835870870841</c:v>
                </c:pt>
              </c:numCache>
            </c:numRef>
          </c:val>
        </c:ser>
        <c:ser>
          <c:idx val="4"/>
          <c:order val="4"/>
          <c:tx>
            <c:strRef>
              <c:f>Sheet1!$F$1</c:f>
              <c:strCache>
                <c:ptCount val="1"/>
                <c:pt idx="0">
                  <c:v>Thailand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9.380986741015727</c:v>
                </c:pt>
                <c:pt idx="1">
                  <c:v>8.872674958699141</c:v>
                </c:pt>
              </c:numCache>
            </c:numRef>
          </c:val>
        </c:ser>
        <c:ser>
          <c:idx val="5"/>
          <c:order val="5"/>
          <c:tx>
            <c:strRef>
              <c:f>Sheet1!$G$1</c:f>
              <c:strCache>
                <c:ptCount val="1"/>
                <c:pt idx="0">
                  <c:v>Philippines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7.177294531465028</c:v>
                </c:pt>
                <c:pt idx="1">
                  <c:v>8.11757887590626</c:v>
                </c:pt>
              </c:numCache>
            </c:numRef>
          </c:val>
        </c:ser>
        <c:ser>
          <c:idx val="6"/>
          <c:order val="6"/>
          <c:tx>
            <c:strRef>
              <c:f>Sheet1!$H$1</c:f>
              <c:strCache>
                <c:ptCount val="1"/>
                <c:pt idx="0">
                  <c:v>Malaysia</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7.157899282230631</c:v>
                </c:pt>
                <c:pt idx="1">
                  <c:v>6.967748319401783</c:v>
                </c:pt>
              </c:numCache>
            </c:numRef>
          </c:val>
        </c:ser>
        <c:ser>
          <c:idx val="7"/>
          <c:order val="7"/>
          <c:tx>
            <c:strRef>
              <c:f>Sheet1!$I$1</c:f>
              <c:strCache>
                <c:ptCount val="1"/>
                <c:pt idx="0">
                  <c:v>Singapore</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Sheet1!$I$2:$I$3</c:f>
              <c:numCache>
                <c:formatCode>General</c:formatCode>
                <c:ptCount val="2"/>
                <c:pt idx="0">
                  <c:v>2.877554652782402</c:v>
                </c:pt>
                <c:pt idx="1">
                  <c:v>2.4265355819789933</c:v>
                </c:pt>
              </c:numCache>
            </c:numRef>
          </c:val>
        </c:ser>
        <c:ser>
          <c:idx val="8"/>
          <c:order val="8"/>
          <c:tx>
            <c:strRef>
              <c:f>Sheet1!$J$1</c:f>
              <c:strCache>
                <c:ptCount val="1"/>
                <c:pt idx="0">
                  <c:v>New Zealand</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Sheet1!$J$2:$J$3</c:f>
              <c:numCache>
                <c:formatCode>General</c:formatCode>
                <c:ptCount val="2"/>
                <c:pt idx="0">
                  <c:v>2.691784814699168</c:v>
                </c:pt>
                <c:pt idx="1">
                  <c:v>2.2288266378438983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India</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31.634277767131703</c:v>
                </c:pt>
                <c:pt idx="1">
                  <c:v>32.394768429282124</c:v>
                </c:pt>
              </c:numCache>
            </c:numRef>
          </c:val>
        </c:ser>
        <c:ser>
          <c:idx val="1"/>
          <c:order val="1"/>
          <c:tx>
            <c:strRef>
              <c:f>Sheet1!$C$1</c:f>
              <c:strCache>
                <c:ptCount val="1"/>
                <c:pt idx="0">
                  <c:v>Australia</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17.773297730669736</c:v>
                </c:pt>
                <c:pt idx="1">
                  <c:v>15.411871547112387</c:v>
                </c:pt>
              </c:numCache>
            </c:numRef>
          </c:val>
        </c:ser>
        <c:ser>
          <c:idx val="2"/>
          <c:order val="2"/>
          <c:tx>
            <c:strRef>
              <c:f>Sheet1!$D$1</c:f>
              <c:strCache>
                <c:ptCount val="1"/>
                <c:pt idx="0">
                  <c:v>Indonesia</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12.077468712446576</c:v>
                </c:pt>
                <c:pt idx="1">
                  <c:v>13.203143176489105</c:v>
                </c:pt>
              </c:numCache>
            </c:numRef>
          </c:val>
        </c:ser>
        <c:ser>
          <c:idx val="3"/>
          <c:order val="3"/>
          <c:tx>
            <c:strRef>
              <c:f>Sheet1!$E$1</c:f>
              <c:strCache>
                <c:ptCount val="1"/>
                <c:pt idx="0">
                  <c:v>Rest of South Asia</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8.57585745413361</c:v>
                </c:pt>
                <c:pt idx="1">
                  <c:v>9.436994136716338</c:v>
                </c:pt>
              </c:numCache>
            </c:numRef>
          </c:val>
        </c:ser>
        <c:ser>
          <c:idx val="4"/>
          <c:order val="4"/>
          <c:tx>
            <c:strRef>
              <c:f>Sheet1!$F$1</c:f>
              <c:strCache>
                <c:ptCount val="1"/>
                <c:pt idx="0">
                  <c:v>Thailand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8.965609480033777</c:v>
                </c:pt>
                <c:pt idx="1">
                  <c:v>8.603903379644368</c:v>
                </c:pt>
              </c:numCache>
            </c:numRef>
          </c:val>
        </c:ser>
        <c:ser>
          <c:idx val="5"/>
          <c:order val="5"/>
          <c:tx>
            <c:strRef>
              <c:f>Sheet1!$G$1</c:f>
              <c:strCache>
                <c:ptCount val="1"/>
                <c:pt idx="0">
                  <c:v>Philippines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7.092944902383816</c:v>
                </c:pt>
                <c:pt idx="1">
                  <c:v>8.165194969363498</c:v>
                </c:pt>
              </c:numCache>
            </c:numRef>
          </c:val>
        </c:ser>
        <c:ser>
          <c:idx val="6"/>
          <c:order val="6"/>
          <c:tx>
            <c:strRef>
              <c:f>Sheet1!$H$1</c:f>
              <c:strCache>
                <c:ptCount val="1"/>
                <c:pt idx="0">
                  <c:v>Malaysia</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6.98593512838036</c:v>
                </c:pt>
                <c:pt idx="1">
                  <c:v>6.897284160537505</c:v>
                </c:pt>
              </c:numCache>
            </c:numRef>
          </c:val>
        </c:ser>
        <c:ser>
          <c:idx val="7"/>
          <c:order val="7"/>
          <c:tx>
            <c:strRef>
              <c:f>Sheet1!$I$1</c:f>
              <c:strCache>
                <c:ptCount val="1"/>
                <c:pt idx="0">
                  <c:v>Singapore</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Sheet1!$I$2:$I$3</c:f>
              <c:numCache>
                <c:formatCode>General</c:formatCode>
                <c:ptCount val="2"/>
                <c:pt idx="0">
                  <c:v>3.451941545733097</c:v>
                </c:pt>
                <c:pt idx="1">
                  <c:v>2.974842075588038</c:v>
                </c:pt>
              </c:numCache>
            </c:numRef>
          </c:val>
        </c:ser>
        <c:ser>
          <c:idx val="8"/>
          <c:order val="8"/>
          <c:tx>
            <c:strRef>
              <c:f>Sheet1!$J$1</c:f>
              <c:strCache>
                <c:ptCount val="1"/>
                <c:pt idx="0">
                  <c:v>New Zealand</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Sheet1!$J$2:$J$3</c:f>
              <c:numCache>
                <c:formatCode>General</c:formatCode>
                <c:ptCount val="2"/>
                <c:pt idx="0">
                  <c:v>3.442667279087323</c:v>
                </c:pt>
                <c:pt idx="1">
                  <c:v>2.9119981252666367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India</c:v>
                </c:pt>
              </c:strCache>
            </c:strRef>
          </c:tx>
          <c:spPr>
            <a:solidFill>
              <a:srgbClr val="3D85C6"/>
            </a:solidFill>
            <a:ln>
              <a:noFill/>
            </a:ln>
          </c:spPr>
          <c:dLbls>
            <c:dLbl>
              <c:idx val="0"/>
              <c:tx>
                <c:rich>
                  <a:bodyPr/>
                  <a:lstStyle/>
                  <a:p>
                    <a:r>
                      <a:rPr sz="1100">
                        <a:solidFill>
                          <a:srgbClr val="FFFFFF"/>
                        </a:solidFill>
                        <a:latin typeface="Calibri"/>
                      </a:rPr>
                      <a:t>1,445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1,527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1,614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1,708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1,811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2,047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2,183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2,332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2,496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2,675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2,866</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3,069</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3,281</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3,502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3,730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1445.434</c:v>
                </c:pt>
                <c:pt idx="1">
                  <c:v>1526.598</c:v>
                </c:pt>
                <c:pt idx="2">
                  <c:v>1613.956</c:v>
                </c:pt>
                <c:pt idx="3">
                  <c:v>1708.401</c:v>
                </c:pt>
                <c:pt idx="4">
                  <c:v>1810.862</c:v>
                </c:pt>
                <c:pt idx="5">
                  <c:v>1923.509</c:v>
                </c:pt>
                <c:pt idx="6">
                  <c:v>2046.991</c:v>
                </c:pt>
                <c:pt idx="7">
                  <c:v>2182.894</c:v>
                </c:pt>
                <c:pt idx="8">
                  <c:v>2332.276</c:v>
                </c:pt>
                <c:pt idx="9">
                  <c:v>2496.331</c:v>
                </c:pt>
                <c:pt idx="10">
                  <c:v>2674.626</c:v>
                </c:pt>
                <c:pt idx="11">
                  <c:v>2866.162</c:v>
                </c:pt>
                <c:pt idx="12">
                  <c:v>3068.728</c:v>
                </c:pt>
                <c:pt idx="13">
                  <c:v>3281.396</c:v>
                </c:pt>
                <c:pt idx="14">
                  <c:v>3501.944</c:v>
                </c:pt>
                <c:pt idx="15">
                  <c:v>3729.873</c:v>
                </c:pt>
              </c:numCache>
            </c:numRef>
          </c:val>
        </c:ser>
        <c:ser>
          <c:idx val="1"/>
          <c:order val="1"/>
          <c:tx>
            <c:strRef>
              <c:f>Sheet1!$C$1</c:f>
              <c:strCache>
                <c:ptCount val="1"/>
                <c:pt idx="0">
                  <c:v>Australia</c:v>
                </c:pt>
              </c:strCache>
            </c:strRef>
          </c:tx>
          <c:spPr>
            <a:solidFill>
              <a:srgbClr val="9E7E0A"/>
            </a:solidFill>
            <a:ln>
              <a:noFill/>
            </a:ln>
          </c:spPr>
          <c:dLbls>
            <c:dLbl>
              <c:idx val="1"/>
              <c:tx>
                <c:rich>
                  <a:bodyPr/>
                  <a:lstStyle/>
                  <a:p>
                    <a:r>
                      <a:rPr sz="1100">
                        <a:solidFill>
                          <a:srgbClr val="FFFFFF"/>
                        </a:solidFill>
                        <a:latin typeface="Calibri"/>
                      </a:rPr>
                      <a:t>646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671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698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728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759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794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831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872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915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963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1,013</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1,066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1,120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1,175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1,231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622.228</c:v>
                </c:pt>
                <c:pt idx="1">
                  <c:v>646.062</c:v>
                </c:pt>
                <c:pt idx="2">
                  <c:v>671.437</c:v>
                </c:pt>
                <c:pt idx="3">
                  <c:v>698.493</c:v>
                </c:pt>
                <c:pt idx="4">
                  <c:v>727.58</c:v>
                </c:pt>
                <c:pt idx="5">
                  <c:v>759.352</c:v>
                </c:pt>
                <c:pt idx="6">
                  <c:v>793.843</c:v>
                </c:pt>
                <c:pt idx="7">
                  <c:v>831.178</c:v>
                </c:pt>
                <c:pt idx="8">
                  <c:v>871.553</c:v>
                </c:pt>
                <c:pt idx="9">
                  <c:v>915.436</c:v>
                </c:pt>
                <c:pt idx="10">
                  <c:v>962.796</c:v>
                </c:pt>
                <c:pt idx="11">
                  <c:v>1013.183</c:v>
                </c:pt>
                <c:pt idx="12">
                  <c:v>1065.584</c:v>
                </c:pt>
                <c:pt idx="13">
                  <c:v>1119.761</c:v>
                </c:pt>
                <c:pt idx="14">
                  <c:v>1174.971</c:v>
                </c:pt>
                <c:pt idx="15">
                  <c:v>1231.127</c:v>
                </c:pt>
              </c:numCache>
            </c:numRef>
          </c:val>
        </c:ser>
        <c:ser>
          <c:idx val="2"/>
          <c:order val="2"/>
          <c:tx>
            <c:strRef>
              <c:f>Sheet1!$D$1</c:f>
              <c:strCache>
                <c:ptCount val="1"/>
                <c:pt idx="0">
                  <c:v>Indonesia</c:v>
                </c:pt>
              </c:strCache>
            </c:strRef>
          </c:tx>
          <c:spPr>
            <a:solidFill>
              <a:srgbClr val="008189"/>
            </a:solidFill>
            <a:ln>
              <a:noFill/>
            </a:ln>
          </c:spPr>
          <c:dLbls>
            <c:dLbl>
              <c:idx val="3"/>
              <c:tx>
                <c:rich>
                  <a:bodyPr/>
                  <a:lstStyle/>
                  <a:p>
                    <a:r>
                      <a:rPr sz="1100">
                        <a:solidFill>
                          <a:srgbClr val="FFFFFF"/>
                        </a:solidFill>
                        <a:latin typeface="Calibri"/>
                      </a:rPr>
                      <a:t>635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674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716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764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817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876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942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1,014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1,093</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1,178</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1,268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1,363</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1,461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537.517</c:v>
                </c:pt>
                <c:pt idx="1">
                  <c:v>567.843</c:v>
                </c:pt>
                <c:pt idx="2">
                  <c:v>600.386</c:v>
                </c:pt>
                <c:pt idx="3">
                  <c:v>635.458</c:v>
                </c:pt>
                <c:pt idx="4">
                  <c:v>673.64</c:v>
                </c:pt>
                <c:pt idx="5">
                  <c:v>716.239</c:v>
                </c:pt>
                <c:pt idx="6">
                  <c:v>763.874</c:v>
                </c:pt>
                <c:pt idx="7">
                  <c:v>817.117</c:v>
                </c:pt>
                <c:pt idx="8">
                  <c:v>876.4</c:v>
                </c:pt>
                <c:pt idx="9">
                  <c:v>942.091</c:v>
                </c:pt>
                <c:pt idx="10">
                  <c:v>1014.385</c:v>
                </c:pt>
                <c:pt idx="11">
                  <c:v>1093.209</c:v>
                </c:pt>
                <c:pt idx="12">
                  <c:v>1178.077</c:v>
                </c:pt>
                <c:pt idx="13">
                  <c:v>1268.369</c:v>
                </c:pt>
                <c:pt idx="14">
                  <c:v>1362.761</c:v>
                </c:pt>
                <c:pt idx="15">
                  <c:v>1461.049</c:v>
                </c:pt>
              </c:numCache>
            </c:numRef>
          </c:val>
        </c:ser>
        <c:ser>
          <c:idx val="3"/>
          <c:order val="3"/>
          <c:tx>
            <c:strRef>
              <c:f>Sheet1!$E$1</c:f>
              <c:strCache>
                <c:ptCount val="1"/>
                <c:pt idx="0">
                  <c:v>Thailand</c:v>
                </c:pt>
              </c:strCache>
            </c:strRef>
          </c:tx>
          <c:spPr>
            <a:solidFill>
              <a:srgbClr val="40315E"/>
            </a:solidFill>
            <a:ln>
              <a:noFill/>
            </a:ln>
          </c:spPr>
          <c:dLbls>
            <c:dLbl>
              <c:idx val="9"/>
              <c:tx>
                <c:rich>
                  <a:bodyPr/>
                  <a:lstStyle/>
                  <a:p>
                    <a:r>
                      <a:rPr sz="1100">
                        <a:solidFill>
                          <a:srgbClr val="FFFFFF"/>
                        </a:solidFill>
                        <a:latin typeface="Calibri"/>
                      </a:rPr>
                      <a:t>646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686</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728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774</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822</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871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922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403.075</c:v>
                </c:pt>
                <c:pt idx="1">
                  <c:v>423.512</c:v>
                </c:pt>
                <c:pt idx="2">
                  <c:v>444.882</c:v>
                </c:pt>
                <c:pt idx="3">
                  <c:v>467.399</c:v>
                </c:pt>
                <c:pt idx="4">
                  <c:v>491.226</c:v>
                </c:pt>
                <c:pt idx="5">
                  <c:v>517.048</c:v>
                </c:pt>
                <c:pt idx="6">
                  <c:v>545.057</c:v>
                </c:pt>
                <c:pt idx="7">
                  <c:v>575.64</c:v>
                </c:pt>
                <c:pt idx="8">
                  <c:v>609.131</c:v>
                </c:pt>
                <c:pt idx="9">
                  <c:v>645.796</c:v>
                </c:pt>
                <c:pt idx="10">
                  <c:v>685.565</c:v>
                </c:pt>
                <c:pt idx="11">
                  <c:v>728.453</c:v>
                </c:pt>
                <c:pt idx="12">
                  <c:v>774.003</c:v>
                </c:pt>
                <c:pt idx="13">
                  <c:v>821.761</c:v>
                </c:pt>
                <c:pt idx="14">
                  <c:v>871.05</c:v>
                </c:pt>
                <c:pt idx="15">
                  <c:v>921.783</c:v>
                </c:pt>
              </c:numCache>
            </c:numRef>
          </c:val>
        </c:ser>
        <c:ser>
          <c:idx val="4"/>
          <c:order val="4"/>
          <c:tx>
            <c:strRef>
              <c:f>Sheet1!$F$1</c:f>
              <c:strCache>
                <c:ptCount val="1"/>
                <c:pt idx="0">
                  <c:v>Rest of South Asia</c:v>
                </c:pt>
              </c:strCache>
            </c:strRef>
          </c:tx>
          <c:spPr>
            <a:solidFill>
              <a:srgbClr val="A35313"/>
            </a:solidFill>
            <a:ln>
              <a:noFill/>
            </a:ln>
          </c:spPr>
          <c:dLbls>
            <c:dLbl>
              <c:idx val="9"/>
              <c:tx>
                <c:rich>
                  <a:bodyPr/>
                  <a:lstStyle/>
                  <a:p>
                    <a:r>
                      <a:rPr sz="1100">
                        <a:solidFill>
                          <a:srgbClr val="FFFFFF"/>
                        </a:solidFill>
                        <a:latin typeface="Calibri"/>
                      </a:rPr>
                      <a:t>655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703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755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811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870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931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994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369.304</c:v>
                </c:pt>
                <c:pt idx="1">
                  <c:v>391.339</c:v>
                </c:pt>
                <c:pt idx="2">
                  <c:v>414.987</c:v>
                </c:pt>
                <c:pt idx="3">
                  <c:v>440.434</c:v>
                </c:pt>
                <c:pt idx="4">
                  <c:v>468.008</c:v>
                </c:pt>
                <c:pt idx="5">
                  <c:v>498.441</c:v>
                </c:pt>
                <c:pt idx="6">
                  <c:v>532.022</c:v>
                </c:pt>
                <c:pt idx="7">
                  <c:v>569.133</c:v>
                </c:pt>
                <c:pt idx="8">
                  <c:v>609.99</c:v>
                </c:pt>
                <c:pt idx="9">
                  <c:v>654.712</c:v>
                </c:pt>
                <c:pt idx="10">
                  <c:v>703.218</c:v>
                </c:pt>
                <c:pt idx="11">
                  <c:v>755.409</c:v>
                </c:pt>
                <c:pt idx="12">
                  <c:v>811.013</c:v>
                </c:pt>
                <c:pt idx="13">
                  <c:v>869.685</c:v>
                </c:pt>
                <c:pt idx="14">
                  <c:v>930.816</c:v>
                </c:pt>
                <c:pt idx="15">
                  <c:v>994.315</c:v>
                </c:pt>
              </c:numCache>
            </c:numRef>
          </c:val>
        </c:ser>
        <c:ser>
          <c:idx val="5"/>
          <c:order val="5"/>
          <c:tx>
            <c:strRef>
              <c:f>Sheet1!$G$1</c:f>
              <c:strCache>
                <c:ptCount val="1"/>
                <c:pt idx="0">
                  <c:v>Malaysia</c:v>
                </c:pt>
              </c:strCache>
            </c:strRef>
          </c:tx>
          <c:spPr>
            <a:solidFill>
              <a:srgbClr val="808080"/>
            </a:solidFill>
            <a:ln>
              <a:noFill/>
            </a:ln>
          </c:spPr>
          <c:dLbls>
            <c:dLbl>
              <c:idx val="13"/>
              <c:tx>
                <c:rich>
                  <a:bodyPr/>
                  <a:lstStyle/>
                  <a:p>
                    <a:r>
                      <a:rPr sz="1100">
                        <a:solidFill>
                          <a:srgbClr val="FFFFFF"/>
                        </a:solidFill>
                        <a:latin typeface="Calibri"/>
                      </a:rPr>
                      <a:t>643</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683</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724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302.708</c:v>
                </c:pt>
                <c:pt idx="1">
                  <c:v>319.173</c:v>
                </c:pt>
                <c:pt idx="2">
                  <c:v>336.408</c:v>
                </c:pt>
                <c:pt idx="3">
                  <c:v>354.527</c:v>
                </c:pt>
                <c:pt idx="4">
                  <c:v>373.698</c:v>
                </c:pt>
                <c:pt idx="5">
                  <c:v>394.519</c:v>
                </c:pt>
                <c:pt idx="6">
                  <c:v>417.2</c:v>
                </c:pt>
                <c:pt idx="7">
                  <c:v>442.117</c:v>
                </c:pt>
                <c:pt idx="8">
                  <c:v>469.633</c:v>
                </c:pt>
                <c:pt idx="9">
                  <c:v>499.859</c:v>
                </c:pt>
                <c:pt idx="10">
                  <c:v>532.494</c:v>
                </c:pt>
                <c:pt idx="11">
                  <c:v>567.417</c:v>
                </c:pt>
                <c:pt idx="12">
                  <c:v>604.292</c:v>
                </c:pt>
                <c:pt idx="13">
                  <c:v>642.869</c:v>
                </c:pt>
                <c:pt idx="14">
                  <c:v>682.755</c:v>
                </c:pt>
                <c:pt idx="15">
                  <c:v>723.88</c:v>
                </c:pt>
              </c:numCache>
            </c:numRef>
          </c:val>
        </c:ser>
        <c:ser>
          <c:idx val="6"/>
          <c:order val="6"/>
          <c:tx>
            <c:strRef>
              <c:f>Sheet1!$H$1</c:f>
              <c:strCache>
                <c:ptCount val="1"/>
                <c:pt idx="0">
                  <c:v>Philippines</c:v>
                </c:pt>
              </c:strCache>
            </c:strRef>
          </c:tx>
          <c:spPr>
            <a:solidFill>
              <a:srgbClr val="0E72AE"/>
            </a:solidFill>
            <a:ln>
              <a:noFill/>
            </a:ln>
          </c:spPr>
          <c:dLbls>
            <c:dLbl>
              <c:idx val="11"/>
              <c:tx>
                <c:rich>
                  <a:bodyPr/>
                  <a:lstStyle/>
                  <a:p>
                    <a:r>
                      <a:rPr sz="1100">
                        <a:solidFill>
                          <a:srgbClr val="FFFFFF"/>
                        </a:solidFill>
                        <a:latin typeface="Calibri"/>
                      </a:rPr>
                      <a:t>624</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675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728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785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843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287.102</c:v>
                </c:pt>
                <c:pt idx="1">
                  <c:v>305.09</c:v>
                </c:pt>
                <c:pt idx="2">
                  <c:v>324.614</c:v>
                </c:pt>
                <c:pt idx="3">
                  <c:v>345.987</c:v>
                </c:pt>
                <c:pt idx="4">
                  <c:v>369.434</c:v>
                </c:pt>
                <c:pt idx="5">
                  <c:v>395.588</c:v>
                </c:pt>
                <c:pt idx="6">
                  <c:v>424.691</c:v>
                </c:pt>
                <c:pt idx="7">
                  <c:v>457.141</c:v>
                </c:pt>
                <c:pt idx="8">
                  <c:v>493.18</c:v>
                </c:pt>
                <c:pt idx="9">
                  <c:v>533.065</c:v>
                </c:pt>
                <c:pt idx="10">
                  <c:v>576.799</c:v>
                </c:pt>
                <c:pt idx="11">
                  <c:v>624.138</c:v>
                </c:pt>
                <c:pt idx="12">
                  <c:v>674.759</c:v>
                </c:pt>
                <c:pt idx="13">
                  <c:v>728.463</c:v>
                </c:pt>
                <c:pt idx="14">
                  <c:v>784.749</c:v>
                </c:pt>
                <c:pt idx="15">
                  <c:v>843.336</c:v>
                </c:pt>
              </c:numCache>
            </c:numRef>
          </c:val>
        </c:ser>
        <c:ser>
          <c:idx val="7"/>
          <c:order val="7"/>
          <c:tx>
            <c:strRef>
              <c:f>Sheet1!$I$1</c:f>
              <c:strCache>
                <c:ptCount val="1"/>
                <c:pt idx="0">
                  <c:v>Singapore</c:v>
                </c:pt>
              </c:strCache>
            </c:strRef>
          </c:tx>
          <c:spPr>
            <a:solidFill>
              <a:srgbClr val="A86F00"/>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Sheet1!$I$2:$I$17</c:f>
              <c:numCache>
                <c:formatCode>General</c:formatCode>
                <c:ptCount val="16"/>
                <c:pt idx="0">
                  <c:v>130.78</c:v>
                </c:pt>
                <c:pt idx="1">
                  <c:v>135.722</c:v>
                </c:pt>
                <c:pt idx="2">
                  <c:v>140.933</c:v>
                </c:pt>
                <c:pt idx="3">
                  <c:v>146.443</c:v>
                </c:pt>
                <c:pt idx="4">
                  <c:v>152.278</c:v>
                </c:pt>
                <c:pt idx="5">
                  <c:v>158.601</c:v>
                </c:pt>
                <c:pt idx="6">
                  <c:v>165.452</c:v>
                </c:pt>
                <c:pt idx="7">
                  <c:v>172.916</c:v>
                </c:pt>
                <c:pt idx="8">
                  <c:v>181.02</c:v>
                </c:pt>
                <c:pt idx="9">
                  <c:v>189.78</c:v>
                </c:pt>
                <c:pt idx="10">
                  <c:v>199.162</c:v>
                </c:pt>
                <c:pt idx="11">
                  <c:v>209.085</c:v>
                </c:pt>
                <c:pt idx="12">
                  <c:v>219.452</c:v>
                </c:pt>
                <c:pt idx="13">
                  <c:v>230.162</c:v>
                </c:pt>
                <c:pt idx="14">
                  <c:v>241.064</c:v>
                </c:pt>
                <c:pt idx="15">
                  <c:v>252.093</c:v>
                </c:pt>
              </c:numCache>
            </c:numRef>
          </c:val>
        </c:ser>
        <c:ser>
          <c:idx val="8"/>
          <c:order val="8"/>
          <c:tx>
            <c:strRef>
              <c:f>Sheet1!$J$1</c:f>
              <c:strCache>
                <c:ptCount val="1"/>
                <c:pt idx="0">
                  <c:v>New Zealand</c:v>
                </c:pt>
              </c:strCache>
            </c:strRef>
          </c:tx>
          <c:spPr>
            <a:solidFill>
              <a:srgbClr val="0B2E4A"/>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Sheet1!$J$2:$J$17</c:f>
              <c:numCache>
                <c:formatCode>General</c:formatCode>
                <c:ptCount val="16"/>
                <c:pt idx="0">
                  <c:v>123.622</c:v>
                </c:pt>
                <c:pt idx="1">
                  <c:v>128.015</c:v>
                </c:pt>
                <c:pt idx="2">
                  <c:v>132.642</c:v>
                </c:pt>
                <c:pt idx="3">
                  <c:v>137.535</c:v>
                </c:pt>
                <c:pt idx="4">
                  <c:v>142.732</c:v>
                </c:pt>
                <c:pt idx="5">
                  <c:v>148.362</c:v>
                </c:pt>
                <c:pt idx="6">
                  <c:v>154.439</c:v>
                </c:pt>
                <c:pt idx="7">
                  <c:v>161.014</c:v>
                </c:pt>
                <c:pt idx="8">
                  <c:v>168.119</c:v>
                </c:pt>
                <c:pt idx="9">
                  <c:v>175.81</c:v>
                </c:pt>
                <c:pt idx="10">
                  <c:v>184.106</c:v>
                </c:pt>
                <c:pt idx="11">
                  <c:v>192.963</c:v>
                </c:pt>
                <c:pt idx="12">
                  <c:v>202.247</c:v>
                </c:pt>
                <c:pt idx="13">
                  <c:v>211.858</c:v>
                </c:pt>
                <c:pt idx="14">
                  <c:v>221.633</c:v>
                </c:pt>
                <c:pt idx="15">
                  <c:v>231.553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India</c:v>
                </c:pt>
              </c:strCache>
            </c:strRef>
          </c:tx>
          <c:spPr>
            <a:solidFill>
              <a:srgbClr val="3D85C6"/>
            </a:solidFill>
            <a:ln>
              <a:noFill/>
            </a:ln>
          </c:spPr>
          <c:dLbls>
            <c:dLbl>
              <c:idx val="0"/>
              <c:tx>
                <c:rich>
                  <a:bodyPr/>
                  <a:lstStyle/>
                  <a:p>
                    <a:r>
                      <a:rPr sz="1100">
                        <a:solidFill>
                          <a:srgbClr val="FFFFFF"/>
                        </a:solidFill>
                        <a:latin typeface="Calibri"/>
                      </a:rPr>
                      <a:t>3,595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3,808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4,039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4,293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4,570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4,891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5,248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5,646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6,091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6,586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7,133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7,731</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8,376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9,068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9,806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10,589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3595.329</c:v>
                </c:pt>
                <c:pt idx="1">
                  <c:v>3808.303</c:v>
                </c:pt>
                <c:pt idx="2">
                  <c:v>4039.41</c:v>
                </c:pt>
                <c:pt idx="3">
                  <c:v>4292.991</c:v>
                </c:pt>
                <c:pt idx="4">
                  <c:v>4570.02</c:v>
                </c:pt>
                <c:pt idx="5">
                  <c:v>4891.336</c:v>
                </c:pt>
                <c:pt idx="6">
                  <c:v>5248.204</c:v>
                </c:pt>
                <c:pt idx="7">
                  <c:v>5646.425</c:v>
                </c:pt>
                <c:pt idx="8">
                  <c:v>6090.684</c:v>
                </c:pt>
                <c:pt idx="9">
                  <c:v>6586.205</c:v>
                </c:pt>
                <c:pt idx="10">
                  <c:v>7133.148</c:v>
                </c:pt>
                <c:pt idx="11">
                  <c:v>7731.179</c:v>
                </c:pt>
                <c:pt idx="12">
                  <c:v>8375.832</c:v>
                </c:pt>
                <c:pt idx="13">
                  <c:v>9067.985</c:v>
                </c:pt>
                <c:pt idx="14">
                  <c:v>9805.771</c:v>
                </c:pt>
                <c:pt idx="15">
                  <c:v>10588.98</c:v>
                </c:pt>
              </c:numCache>
            </c:numRef>
          </c:val>
        </c:ser>
        <c:ser>
          <c:idx val="1"/>
          <c:order val="1"/>
          <c:tx>
            <c:strRef>
              <c:f>Sheet1!$C$1</c:f>
              <c:strCache>
                <c:ptCount val="1"/>
                <c:pt idx="0">
                  <c:v>Australia</c:v>
                </c:pt>
              </c:strCache>
            </c:strRef>
          </c:tx>
          <c:spPr>
            <a:solidFill>
              <a:srgbClr val="9E7E0A"/>
            </a:solidFill>
            <a:ln>
              <a:noFill/>
            </a:ln>
          </c:spPr>
          <c:dLbls>
            <c:dLbl>
              <c:idx val="0"/>
              <c:tx>
                <c:rich>
                  <a:bodyPr/>
                  <a:lstStyle/>
                  <a:p>
                    <a:r>
                      <a:rPr sz="1100">
                        <a:solidFill>
                          <a:srgbClr val="FFFFFF"/>
                        </a:solidFill>
                        <a:latin typeface="Calibri"/>
                      </a:rPr>
                      <a:t>2,196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2,288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2,387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2,495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2,611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2,748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2,899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3,065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3,247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3,449</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3,670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3,911</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4,169</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4,443</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4,733</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5,038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2196.025</c:v>
                </c:pt>
                <c:pt idx="1">
                  <c:v>2288.344</c:v>
                </c:pt>
                <c:pt idx="2">
                  <c:v>2387.467</c:v>
                </c:pt>
                <c:pt idx="3">
                  <c:v>2495.102</c:v>
                </c:pt>
                <c:pt idx="4">
                  <c:v>2611.44</c:v>
                </c:pt>
                <c:pt idx="5">
                  <c:v>2748.132</c:v>
                </c:pt>
                <c:pt idx="6">
                  <c:v>2899.082</c:v>
                </c:pt>
                <c:pt idx="7">
                  <c:v>3065.073</c:v>
                </c:pt>
                <c:pt idx="8">
                  <c:v>3247.307</c:v>
                </c:pt>
                <c:pt idx="9">
                  <c:v>3448.607</c:v>
                </c:pt>
                <c:pt idx="10">
                  <c:v>3669.953</c:v>
                </c:pt>
                <c:pt idx="11">
                  <c:v>3910.997</c:v>
                </c:pt>
                <c:pt idx="12">
                  <c:v>4168.61</c:v>
                </c:pt>
                <c:pt idx="13">
                  <c:v>4443.123</c:v>
                </c:pt>
                <c:pt idx="14">
                  <c:v>4732.873</c:v>
                </c:pt>
                <c:pt idx="15">
                  <c:v>5037.727</c:v>
                </c:pt>
              </c:numCache>
            </c:numRef>
          </c:val>
        </c:ser>
        <c:ser>
          <c:idx val="2"/>
          <c:order val="2"/>
          <c:tx>
            <c:strRef>
              <c:f>Sheet1!$D$1</c:f>
              <c:strCache>
                <c:ptCount val="1"/>
                <c:pt idx="0">
                  <c:v>Indonesia</c:v>
                </c:pt>
              </c:strCache>
            </c:strRef>
          </c:tx>
          <c:spPr>
            <a:solidFill>
              <a:srgbClr val="008189"/>
            </a:solidFill>
            <a:ln>
              <a:noFill/>
            </a:ln>
          </c:spPr>
          <c:dLbls>
            <c:dLbl>
              <c:idx val="6"/>
              <c:tx>
                <c:rich>
                  <a:bodyPr/>
                  <a:lstStyle/>
                  <a:p>
                    <a:r>
                      <a:rPr sz="1100">
                        <a:solidFill>
                          <a:srgbClr val="FFFFFF"/>
                        </a:solidFill>
                        <a:latin typeface="Calibri"/>
                      </a:rPr>
                      <a:t>2,011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2,174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2,357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2,564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2,794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3,049</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3,330</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3,635</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3,963</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4,316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1365.697</c:v>
                </c:pt>
                <c:pt idx="1">
                  <c:v>1447.926</c:v>
                </c:pt>
                <c:pt idx="2">
                  <c:v>1536.866</c:v>
                </c:pt>
                <c:pt idx="3">
                  <c:v>1634.166</c:v>
                </c:pt>
                <c:pt idx="4">
                  <c:v>1740.959</c:v>
                </c:pt>
                <c:pt idx="5">
                  <c:v>1867.435</c:v>
                </c:pt>
                <c:pt idx="6">
                  <c:v>2011.006</c:v>
                </c:pt>
                <c:pt idx="7">
                  <c:v>2173.807</c:v>
                </c:pt>
                <c:pt idx="8">
                  <c:v>2357.467</c:v>
                </c:pt>
                <c:pt idx="9">
                  <c:v>2563.833</c:v>
                </c:pt>
                <c:pt idx="10">
                  <c:v>2794.005</c:v>
                </c:pt>
                <c:pt idx="11">
                  <c:v>3049.292</c:v>
                </c:pt>
                <c:pt idx="12">
                  <c:v>3329.548</c:v>
                </c:pt>
                <c:pt idx="13">
                  <c:v>3634.772</c:v>
                </c:pt>
                <c:pt idx="14">
                  <c:v>3963.425</c:v>
                </c:pt>
                <c:pt idx="15">
                  <c:v>4315.753</c:v>
                </c:pt>
              </c:numCache>
            </c:numRef>
          </c:val>
        </c:ser>
        <c:ser>
          <c:idx val="3"/>
          <c:order val="3"/>
          <c:tx>
            <c:strRef>
              <c:f>Sheet1!$E$1</c:f>
              <c:strCache>
                <c:ptCount val="1"/>
                <c:pt idx="0">
                  <c:v>Thailand</c:v>
                </c:pt>
              </c:strCache>
            </c:strRef>
          </c:tx>
          <c:spPr>
            <a:solidFill>
              <a:srgbClr val="40315E"/>
            </a:solidFill>
            <a:ln>
              <a:noFill/>
            </a:ln>
          </c:spPr>
          <c:dLbls>
            <c:dLbl>
              <c:idx val="11"/>
              <c:tx>
                <c:rich>
                  <a:bodyPr/>
                  <a:lstStyle/>
                  <a:p>
                    <a:r>
                      <a:rPr sz="1100">
                        <a:solidFill>
                          <a:srgbClr val="FFFFFF"/>
                        </a:solidFill>
                        <a:latin typeface="Calibri"/>
                      </a:rPr>
                      <a:t>2,090</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2,252</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2,427</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2,614</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2,812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1053.402</c:v>
                </c:pt>
                <c:pt idx="1">
                  <c:v>1110.73</c:v>
                </c:pt>
                <c:pt idx="2">
                  <c:v>1171.3</c:v>
                </c:pt>
                <c:pt idx="3">
                  <c:v>1236.34</c:v>
                </c:pt>
                <c:pt idx="4">
                  <c:v>1305.722</c:v>
                </c:pt>
                <c:pt idx="5">
                  <c:v>1386.275</c:v>
                </c:pt>
                <c:pt idx="6">
                  <c:v>1475.159</c:v>
                </c:pt>
                <c:pt idx="7">
                  <c:v>1573.648</c:v>
                </c:pt>
                <c:pt idx="8">
                  <c:v>1683.189</c:v>
                </c:pt>
                <c:pt idx="9">
                  <c:v>1805.429</c:v>
                </c:pt>
                <c:pt idx="10">
                  <c:v>1940.835</c:v>
                </c:pt>
                <c:pt idx="11">
                  <c:v>2090.05</c:v>
                </c:pt>
                <c:pt idx="12">
                  <c:v>2252.31</c:v>
                </c:pt>
                <c:pt idx="13">
                  <c:v>2427.128</c:v>
                </c:pt>
                <c:pt idx="14">
                  <c:v>2613.782</c:v>
                </c:pt>
                <c:pt idx="15">
                  <c:v>2812.385</c:v>
                </c:pt>
              </c:numCache>
            </c:numRef>
          </c:val>
        </c:ser>
        <c:ser>
          <c:idx val="4"/>
          <c:order val="4"/>
          <c:tx>
            <c:strRef>
              <c:f>Sheet1!$F$1</c:f>
              <c:strCache>
                <c:ptCount val="1"/>
                <c:pt idx="0">
                  <c:v>Rest of South Asia</c:v>
                </c:pt>
              </c:strCache>
            </c:strRef>
          </c:tx>
          <c:spPr>
            <a:solidFill>
              <a:srgbClr val="A35313"/>
            </a:solidFill>
            <a:ln>
              <a:noFill/>
            </a:ln>
          </c:spPr>
          <c:dLbls>
            <c:dLbl>
              <c:idx val="10"/>
              <c:tx>
                <c:rich>
                  <a:bodyPr/>
                  <a:lstStyle/>
                  <a:p>
                    <a:r>
                      <a:rPr sz="1100">
                        <a:solidFill>
                          <a:srgbClr val="FFFFFF"/>
                        </a:solidFill>
                        <a:latin typeface="Calibri"/>
                      </a:rPr>
                      <a:t>1,994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2,177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2,377</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2,595</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2,831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3,085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957.48</c:v>
                </c:pt>
                <c:pt idx="1">
                  <c:v>1017.651</c:v>
                </c:pt>
                <c:pt idx="2">
                  <c:v>1082.97</c:v>
                </c:pt>
                <c:pt idx="3">
                  <c:v>1154.712</c:v>
                </c:pt>
                <c:pt idx="4">
                  <c:v>1233.183</c:v>
                </c:pt>
                <c:pt idx="5">
                  <c:v>1326.011</c:v>
                </c:pt>
                <c:pt idx="6">
                  <c:v>1430.238</c:v>
                </c:pt>
                <c:pt idx="7">
                  <c:v>1547.684</c:v>
                </c:pt>
                <c:pt idx="8">
                  <c:v>1679.966</c:v>
                </c:pt>
                <c:pt idx="9">
                  <c:v>1828.265</c:v>
                </c:pt>
                <c:pt idx="10">
                  <c:v>1993.625</c:v>
                </c:pt>
                <c:pt idx="11">
                  <c:v>2176.629</c:v>
                </c:pt>
                <c:pt idx="12">
                  <c:v>2377.008</c:v>
                </c:pt>
                <c:pt idx="13">
                  <c:v>2595.213</c:v>
                </c:pt>
                <c:pt idx="14">
                  <c:v>2830.914</c:v>
                </c:pt>
                <c:pt idx="15">
                  <c:v>3084.7</c:v>
                </c:pt>
              </c:numCache>
            </c:numRef>
          </c:val>
        </c:ser>
        <c:ser>
          <c:idx val="5"/>
          <c:order val="5"/>
          <c:tx>
            <c:strRef>
              <c:f>Sheet1!$G$1</c:f>
              <c:strCache>
                <c:ptCount val="1"/>
                <c:pt idx="0">
                  <c:v>Malaysia</c:v>
                </c:pt>
              </c:strCache>
            </c:strRef>
          </c:tx>
          <c:spPr>
            <a:solidFill>
              <a:srgbClr val="808080"/>
            </a:solidFill>
            <a:ln>
              <a:noFill/>
            </a:ln>
          </c:spPr>
          <c:dLbls>
            <c:dLbl>
              <c:idx val="14"/>
              <c:tx>
                <c:rich>
                  <a:bodyPr/>
                  <a:lstStyle/>
                  <a:p>
                    <a:r>
                      <a:rPr sz="1100">
                        <a:solidFill>
                          <a:srgbClr val="FFFFFF"/>
                        </a:solidFill>
                        <a:latin typeface="Calibri"/>
                      </a:rPr>
                      <a:t>2,091</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2,255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813.535</c:v>
                </c:pt>
                <c:pt idx="1">
                  <c:v>859.624</c:v>
                </c:pt>
                <c:pt idx="2">
                  <c:v>908.234</c:v>
                </c:pt>
                <c:pt idx="3">
                  <c:v>960.133</c:v>
                </c:pt>
                <c:pt idx="4">
                  <c:v>1015.56</c:v>
                </c:pt>
                <c:pt idx="5">
                  <c:v>1080.175</c:v>
                </c:pt>
                <c:pt idx="6">
                  <c:v>1152.255</c:v>
                </c:pt>
                <c:pt idx="7">
                  <c:v>1233.027</c:v>
                </c:pt>
                <c:pt idx="8">
                  <c:v>1323.912</c:v>
                </c:pt>
                <c:pt idx="9">
                  <c:v>1425.655</c:v>
                </c:pt>
                <c:pt idx="10">
                  <c:v>1537.799</c:v>
                </c:pt>
                <c:pt idx="11">
                  <c:v>1660.78</c:v>
                </c:pt>
                <c:pt idx="12">
                  <c:v>1794.041</c:v>
                </c:pt>
                <c:pt idx="13">
                  <c:v>1937.569</c:v>
                </c:pt>
                <c:pt idx="14">
                  <c:v>2091.009</c:v>
                </c:pt>
                <c:pt idx="15">
                  <c:v>2254.537</c:v>
                </c:pt>
              </c:numCache>
            </c:numRef>
          </c:val>
        </c:ser>
        <c:ser>
          <c:idx val="6"/>
          <c:order val="6"/>
          <c:tx>
            <c:strRef>
              <c:f>Sheet1!$H$1</c:f>
              <c:strCache>
                <c:ptCount val="1"/>
                <c:pt idx="0">
                  <c:v>Philippines</c:v>
                </c:pt>
              </c:strCache>
            </c:strRef>
          </c:tx>
          <c:spPr>
            <a:solidFill>
              <a:srgbClr val="0E72AE"/>
            </a:solidFill>
            <a:ln>
              <a:noFill/>
            </a:ln>
          </c:spPr>
          <c:dLbls>
            <c:dLbl>
              <c:idx val="12"/>
              <c:tx>
                <c:rich>
                  <a:bodyPr/>
                  <a:lstStyle/>
                  <a:p>
                    <a:r>
                      <a:rPr sz="1100">
                        <a:solidFill>
                          <a:srgbClr val="FFFFFF"/>
                        </a:solidFill>
                        <a:latin typeface="Calibri"/>
                      </a:rPr>
                      <a:t>2,034</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2,230</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2,442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2,669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777.485</c:v>
                </c:pt>
                <c:pt idx="1">
                  <c:v>828.637</c:v>
                </c:pt>
                <c:pt idx="2">
                  <c:v>884.607</c:v>
                </c:pt>
                <c:pt idx="3">
                  <c:v>946.848</c:v>
                </c:pt>
                <c:pt idx="4">
                  <c:v>1015.558</c:v>
                </c:pt>
                <c:pt idx="5">
                  <c:v>1096.721</c:v>
                </c:pt>
                <c:pt idx="6">
                  <c:v>1188.188</c:v>
                </c:pt>
                <c:pt idx="7">
                  <c:v>1291.846</c:v>
                </c:pt>
                <c:pt idx="8">
                  <c:v>1409.028</c:v>
                </c:pt>
                <c:pt idx="9">
                  <c:v>1541.459</c:v>
                </c:pt>
                <c:pt idx="10">
                  <c:v>1689.829</c:v>
                </c:pt>
                <c:pt idx="11">
                  <c:v>1854.149</c:v>
                </c:pt>
                <c:pt idx="12">
                  <c:v>2034.134</c:v>
                </c:pt>
                <c:pt idx="13">
                  <c:v>2230.137</c:v>
                </c:pt>
                <c:pt idx="14">
                  <c:v>2441.76</c:v>
                </c:pt>
                <c:pt idx="15">
                  <c:v>2668.983</c:v>
                </c:pt>
              </c:numCache>
            </c:numRef>
          </c:val>
        </c:ser>
        <c:ser>
          <c:idx val="7"/>
          <c:order val="7"/>
          <c:tx>
            <c:strRef>
              <c:f>Sheet1!$I$1</c:f>
              <c:strCache>
                <c:ptCount val="1"/>
                <c:pt idx="0">
                  <c:v>New Zealand</c:v>
                </c:pt>
              </c:strCache>
            </c:strRef>
          </c:tx>
          <c:spPr>
            <a:solidFill>
              <a:srgbClr val="A86F00"/>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Sheet1!$I$2:$I$17</c:f>
              <c:numCache>
                <c:formatCode>General</c:formatCode>
                <c:ptCount val="16"/>
                <c:pt idx="0">
                  <c:v>433.444</c:v>
                </c:pt>
                <c:pt idx="1">
                  <c:v>450.159</c:v>
                </c:pt>
                <c:pt idx="2">
                  <c:v>467.953</c:v>
                </c:pt>
                <c:pt idx="3">
                  <c:v>487.17</c:v>
                </c:pt>
                <c:pt idx="4">
                  <c:v>507.777</c:v>
                </c:pt>
                <c:pt idx="5">
                  <c:v>532.31</c:v>
                </c:pt>
                <c:pt idx="6">
                  <c:v>559.42</c:v>
                </c:pt>
                <c:pt idx="7">
                  <c:v>589.394</c:v>
                </c:pt>
                <c:pt idx="8">
                  <c:v>622.396</c:v>
                </c:pt>
                <c:pt idx="9">
                  <c:v>659.001</c:v>
                </c:pt>
                <c:pt idx="10">
                  <c:v>699.221</c:v>
                </c:pt>
                <c:pt idx="11">
                  <c:v>743.228</c:v>
                </c:pt>
                <c:pt idx="12">
                  <c:v>790.679</c:v>
                </c:pt>
                <c:pt idx="13">
                  <c:v>841.407</c:v>
                </c:pt>
                <c:pt idx="14">
                  <c:v>895.116</c:v>
                </c:pt>
                <c:pt idx="15">
                  <c:v>951.854</c:v>
                </c:pt>
              </c:numCache>
            </c:numRef>
          </c:val>
        </c:ser>
        <c:ser>
          <c:idx val="8"/>
          <c:order val="8"/>
          <c:tx>
            <c:strRef>
              <c:f>Sheet1!$J$1</c:f>
              <c:strCache>
                <c:ptCount val="1"/>
                <c:pt idx="0">
                  <c:v>Singapore</c:v>
                </c:pt>
              </c:strCache>
            </c:strRef>
          </c:tx>
          <c:spPr>
            <a:solidFill>
              <a:srgbClr val="0B2E4A"/>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Sheet1!$J$2:$J$17</c:f>
              <c:numCache>
                <c:formatCode>General</c:formatCode>
                <c:ptCount val="16"/>
                <c:pt idx="0">
                  <c:v>428.837</c:v>
                </c:pt>
                <c:pt idx="1">
                  <c:v>446.533</c:v>
                </c:pt>
                <c:pt idx="2">
                  <c:v>465.425</c:v>
                </c:pt>
                <c:pt idx="3">
                  <c:v>485.872</c:v>
                </c:pt>
                <c:pt idx="4">
                  <c:v>507.782</c:v>
                </c:pt>
                <c:pt idx="5">
                  <c:v>533.744</c:v>
                </c:pt>
                <c:pt idx="6">
                  <c:v>562.353</c:v>
                </c:pt>
                <c:pt idx="7">
                  <c:v>594.022</c:v>
                </c:pt>
                <c:pt idx="8">
                  <c:v>628.942</c:v>
                </c:pt>
                <c:pt idx="9">
                  <c:v>667.499</c:v>
                </c:pt>
                <c:pt idx="10">
                  <c:v>709.843</c:v>
                </c:pt>
                <c:pt idx="11">
                  <c:v>755.863</c:v>
                </c:pt>
                <c:pt idx="12">
                  <c:v>805.351</c:v>
                </c:pt>
                <c:pt idx="13">
                  <c:v>858.023</c:v>
                </c:pt>
                <c:pt idx="14">
                  <c:v>913.767</c:v>
                </c:pt>
                <c:pt idx="15">
                  <c:v>972.396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Rollstock Films</c:v>
                </c:pt>
              </c:strCache>
            </c:strRef>
          </c:tx>
          <c:spPr>
            <a:solidFill>
              <a:srgbClr val="3D85C6"/>
            </a:solidFill>
            <a:ln>
              <a:noFill/>
            </a:ln>
          </c:spPr>
          <c:dLbls>
            <c:dLbl>
              <c:idx val="0"/>
              <c:tx>
                <c:rich>
                  <a:bodyPr/>
                  <a:lstStyle/>
                  <a:p>
                    <a:r>
                      <a:rPr sz="1100">
                        <a:solidFill>
                          <a:srgbClr val="FFFFFF"/>
                        </a:solidFill>
                        <a:latin typeface="Calibri"/>
                      </a:rPr>
                      <a:t>55%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55%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53%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55%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53%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55%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55%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51%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55%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Sheet1!$B$2:$B$10</c:f>
              <c:numCache>
                <c:formatCode>General</c:formatCode>
                <c:ptCount val="9"/>
                <c:pt idx="0">
                  <c:v>54.747901984762336</c:v>
                </c:pt>
                <c:pt idx="1">
                  <c:v>55.23593268586049</c:v>
                </c:pt>
                <c:pt idx="2">
                  <c:v>53.08668697830198</c:v>
                </c:pt>
                <c:pt idx="3">
                  <c:v>54.68001705516626</c:v>
                </c:pt>
                <c:pt idx="4">
                  <c:v>52.64712857796597</c:v>
                </c:pt>
                <c:pt idx="5">
                  <c:v>54.73976245995965</c:v>
                </c:pt>
                <c:pt idx="6">
                  <c:v>55.09201063731434</c:v>
                </c:pt>
                <c:pt idx="7">
                  <c:v>51.15417062843781</c:v>
                </c:pt>
                <c:pt idx="8">
                  <c:v>55.282718448802434</c:v>
                </c:pt>
              </c:numCache>
            </c:numRef>
          </c:val>
        </c:ser>
        <c:ser>
          <c:idx val="1"/>
          <c:order val="1"/>
          <c:tx>
            <c:strRef>
              <c:f>Sheet1!$C$1</c:f>
              <c:strCache>
                <c:ptCount val="1"/>
                <c:pt idx="0">
                  <c:v>Barrier Casings</c:v>
                </c:pt>
              </c:strCache>
            </c:strRef>
          </c:tx>
          <c:spPr>
            <a:solidFill>
              <a:srgbClr val="9E7E0A"/>
            </a:solidFill>
            <a:ln>
              <a:noFill/>
            </a:ln>
          </c:spPr>
          <c:dLbls>
            <c:dLbl>
              <c:idx val="0"/>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Sheet1!$C$2:$C$10</c:f>
              <c:numCache>
                <c:formatCode>General</c:formatCode>
                <c:ptCount val="9"/>
                <c:pt idx="0">
                  <c:v>11.603904808730768</c:v>
                </c:pt>
                <c:pt idx="1">
                  <c:v>10.562260642783393</c:v>
                </c:pt>
                <c:pt idx="2">
                  <c:v>10.757020177535344</c:v>
                </c:pt>
                <c:pt idx="3">
                  <c:v>10.49926826142962</c:v>
                </c:pt>
                <c:pt idx="4">
                  <c:v>11.822092763193686</c:v>
                </c:pt>
                <c:pt idx="5">
                  <c:v>10.524229090599055</c:v>
                </c:pt>
                <c:pt idx="6">
                  <c:v>11.161672672960046</c:v>
                </c:pt>
                <c:pt idx="7">
                  <c:v>10.602493583419518</c:v>
                </c:pt>
                <c:pt idx="8">
                  <c:v>11.459743998005473</c:v>
                </c:pt>
              </c:numCache>
            </c:numRef>
          </c:val>
        </c:ser>
        <c:ser>
          <c:idx val="2"/>
          <c:order val="2"/>
          <c:tx>
            <c:strRef>
              <c:f>Sheet1!$D$1</c:f>
              <c:strCache>
                <c:ptCount val="1"/>
                <c:pt idx="0">
                  <c:v>Premade Pouches &amp; Bags</c:v>
                </c:pt>
              </c:strCache>
            </c:strRef>
          </c:tx>
          <c:spPr>
            <a:solidFill>
              <a:srgbClr val="008189"/>
            </a:solidFill>
            <a:ln>
              <a:noFill/>
            </a:ln>
          </c:spPr>
          <c:dLbls>
            <c:dLbl>
              <c:idx val="0"/>
              <c:tx>
                <c:rich>
                  <a:bodyPr/>
                  <a:lstStyle/>
                  <a:p>
                    <a:r>
                      <a:rPr sz="1100">
                        <a:solidFill>
                          <a:srgbClr val="FFFFFF"/>
                        </a:solidFill>
                        <a:latin typeface="Calibri"/>
                      </a:rPr>
                      <a:t>27%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Sheet1!$D$2:$D$10</c:f>
              <c:numCache>
                <c:formatCode>General</c:formatCode>
                <c:ptCount val="9"/>
                <c:pt idx="0">
                  <c:v>27.26694906350987</c:v>
                </c:pt>
                <c:pt idx="1">
                  <c:v>26.98766757576132</c:v>
                </c:pt>
                <c:pt idx="2">
                  <c:v>28.7438618217399</c:v>
                </c:pt>
                <c:pt idx="3">
                  <c:v>27.90108303303202</c:v>
                </c:pt>
                <c:pt idx="4">
                  <c:v>28.512185556255236</c:v>
                </c:pt>
                <c:pt idx="5">
                  <c:v>27.670007563131726</c:v>
                </c:pt>
                <c:pt idx="6">
                  <c:v>26.551253767884198</c:v>
                </c:pt>
                <c:pt idx="7">
                  <c:v>30.580082695976163</c:v>
                </c:pt>
                <c:pt idx="8">
                  <c:v>26.69709452657385</c:v>
                </c:pt>
              </c:numCache>
            </c:numRef>
          </c:val>
        </c:ser>
        <c:ser>
          <c:idx val="3"/>
          <c:order val="3"/>
          <c:tx>
            <c:strRef>
              <c:f>Sheet1!$E$1</c:f>
              <c:strCache>
                <c:ptCount val="1"/>
                <c:pt idx="0">
                  <c:v>Sachets &amp; Stick Packs</c:v>
                </c:pt>
              </c:strCache>
            </c:strRef>
          </c:tx>
          <c:spPr>
            <a:solidFill>
              <a:srgbClr val="40315E"/>
            </a:solidFill>
            <a:ln>
              <a:noFill/>
            </a:ln>
          </c:spPr>
          <c:dLbls>
            <c:dLbl>
              <c:idx val="1"/>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Sheet1!$E$2:$E$10</c:f>
              <c:numCache>
                <c:formatCode>General</c:formatCode>
                <c:ptCount val="9"/>
                <c:pt idx="0">
                  <c:v>6.381244142997019</c:v>
                </c:pt>
                <c:pt idx="1">
                  <c:v>7.2141390955948</c:v>
                </c:pt>
                <c:pt idx="2">
                  <c:v>7.412431022422786</c:v>
                </c:pt>
                <c:pt idx="3">
                  <c:v>6.919631650372088</c:v>
                </c:pt>
                <c:pt idx="4">
                  <c:v>7.018593102585098</c:v>
                </c:pt>
                <c:pt idx="5">
                  <c:v>7.066000886309565</c:v>
                </c:pt>
                <c:pt idx="6">
                  <c:v>7.195062921841414</c:v>
                </c:pt>
                <c:pt idx="7">
                  <c:v>7.663253092166511</c:v>
                </c:pt>
                <c:pt idx="8">
                  <c:v>6.5604430266182385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Rollstock Films</c:v>
                </c:pt>
              </c:strCache>
            </c:strRef>
          </c:tx>
          <c:spPr>
            <a:solidFill>
              <a:srgbClr val="3D85C6"/>
            </a:solidFill>
          </c:spPr>
          <c:invertIfNegative val="0"/>
          <c:xVal>
            <c:numRef>
              <c:f>Sheet1!$A$2:$A$2</c:f>
              <c:numCache>
                <c:formatCode>General</c:formatCode>
                <c:ptCount val="1"/>
                <c:pt idx="0">
                  <c:v>100.20290313217019</c:v>
                </c:pt>
              </c:numCache>
            </c:numRef>
          </c:xVal>
          <c:yVal>
            <c:numRef>
              <c:f>Sheet1!$B$2:$B$2</c:f>
              <c:numCache>
                <c:formatCode>General</c:formatCode>
                <c:ptCount val="1"/>
                <c:pt idx="0">
                  <c:v>216.18580819806422</c:v>
                </c:pt>
              </c:numCache>
            </c:numRef>
          </c:yVal>
          <c:bubbleSize>
            <c:numRef>
              <c:f>Sheet1!$C$2:$C$2</c:f>
              <c:numCache>
                <c:formatCode>General</c:formatCode>
                <c:ptCount val="1"/>
                <c:pt idx="0">
                  <c:v>17692.204999999998</c:v>
                </c:pt>
              </c:numCache>
            </c:numRef>
          </c:bubbleSize>
          <c:bubble3D val="0"/>
        </c:ser>
        <c:ser>
          <c:idx val="1"/>
          <c:order val="1"/>
          <c:tx>
            <c:strRef>
              <c:f>Sheet1!$B$4</c:f>
              <c:strCache>
                <c:ptCount val="1"/>
                <c:pt idx="0">
                  <c:v>Barrier Casings</c:v>
                </c:pt>
              </c:strCache>
            </c:strRef>
          </c:tx>
          <c:spPr>
            <a:solidFill>
              <a:srgbClr val="9E7E0A"/>
            </a:solidFill>
          </c:spPr>
          <c:invertIfNegative val="0"/>
          <c:xVal>
            <c:numRef>
              <c:f>Sheet1!$A$5:$A$5</c:f>
              <c:numCache>
                <c:formatCode>General</c:formatCode>
                <c:ptCount val="1"/>
                <c:pt idx="0">
                  <c:v>98.62049464365757</c:v>
                </c:pt>
              </c:numCache>
            </c:numRef>
          </c:xVal>
          <c:yVal>
            <c:numRef>
              <c:f>Sheet1!$B$5:$B$5</c:f>
              <c:numCache>
                <c:formatCode>General</c:formatCode>
                <c:ptCount val="1"/>
                <c:pt idx="0">
                  <c:v>44.77054854897816</c:v>
                </c:pt>
              </c:numCache>
            </c:numRef>
          </c:yVal>
          <c:bubbleSize>
            <c:numRef>
              <c:f>Sheet1!$C$5:$C$5</c:f>
              <c:numCache>
                <c:formatCode>General</c:formatCode>
                <c:ptCount val="1"/>
                <c:pt idx="0">
                  <c:v>3622.333</c:v>
                </c:pt>
              </c:numCache>
            </c:numRef>
          </c:bubbleSize>
          <c:bubble3D val="0"/>
        </c:ser>
        <c:ser>
          <c:idx val="2"/>
          <c:order val="2"/>
          <c:tx>
            <c:strRef>
              <c:f>Sheet1!$B$7</c:f>
              <c:strCache>
                <c:ptCount val="1"/>
                <c:pt idx="0">
                  <c:v>Premade Pouches &amp; Bags</c:v>
                </c:pt>
              </c:strCache>
            </c:strRef>
          </c:tx>
          <c:spPr>
            <a:solidFill>
              <a:srgbClr val="008189"/>
            </a:solidFill>
          </c:spPr>
          <c:invertIfNegative val="0"/>
          <c:xVal>
            <c:numRef>
              <c:f>Sheet1!$A$8:$A$8</c:f>
              <c:numCache>
                <c:formatCode>General</c:formatCode>
                <c:ptCount val="1"/>
                <c:pt idx="0">
                  <c:v>100.4324716732023</c:v>
                </c:pt>
              </c:numCache>
            </c:numRef>
          </c:xVal>
          <c:yVal>
            <c:numRef>
              <c:f>Sheet1!$B$8:$B$8</c:f>
              <c:numCache>
                <c:formatCode>General</c:formatCode>
                <c:ptCount val="1"/>
                <c:pt idx="0">
                  <c:v>110.80979874840078</c:v>
                </c:pt>
              </c:numCache>
            </c:numRef>
          </c:yVal>
          <c:bubbleSize>
            <c:numRef>
              <c:f>Sheet1!$C$8:$C$8</c:f>
              <c:numCache>
                <c:formatCode>General</c:formatCode>
                <c:ptCount val="1"/>
                <c:pt idx="0">
                  <c:v>9083.472</c:v>
                </c:pt>
              </c:numCache>
            </c:numRef>
          </c:bubbleSize>
          <c:bubble3D val="0"/>
        </c:ser>
        <c:ser>
          <c:idx val="3"/>
          <c:order val="3"/>
          <c:tx>
            <c:strRef>
              <c:f>Sheet1!$B$10</c:f>
              <c:strCache>
                <c:ptCount val="1"/>
                <c:pt idx="0">
                  <c:v>Sachets &amp; Stick Packs</c:v>
                </c:pt>
              </c:strCache>
            </c:strRef>
          </c:tx>
          <c:spPr>
            <a:solidFill>
              <a:srgbClr val="40315E"/>
            </a:solidFill>
          </c:spPr>
          <c:invertIfNegative val="0"/>
          <c:xVal>
            <c:numRef>
              <c:f>Sheet1!$A$11:$A$11</c:f>
              <c:numCache>
                <c:formatCode>General</c:formatCode>
                <c:ptCount val="1"/>
                <c:pt idx="0">
                  <c:v>98.91957923659204</c:v>
                </c:pt>
              </c:numCache>
            </c:numRef>
          </c:xVal>
          <c:yVal>
            <c:numRef>
              <c:f>Sheet1!$B$11:$B$11</c:f>
              <c:numCache>
                <c:formatCode>General</c:formatCode>
                <c:ptCount val="1"/>
                <c:pt idx="0">
                  <c:v>28.233844504556878</c:v>
                </c:pt>
              </c:numCache>
            </c:numRef>
          </c:yVal>
          <c:bubbleSize>
            <c:numRef>
              <c:f>Sheet1!$C$11:$C$11</c:f>
              <c:numCache>
                <c:formatCode>General</c:formatCode>
                <c:ptCount val="1"/>
                <c:pt idx="0">
                  <c:v>2289.305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7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8356.737000000001</c:v>
                </c:pt>
                <c:pt idx="2">
                  <c:v>9578.553</c:v>
                </c:pt>
                <c:pt idx="3">
                  <c:v>11104.436</c:v>
                </c:pt>
                <c:pt idx="4">
                  <c:v>12969.794</c:v>
                </c:pt>
                <c:pt idx="5">
                  <c:v>15169.911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8356.737000000001</c:v>
                </c:pt>
                <c:pt idx="1">
                  <c:v>1221.815999999999</c:v>
                </c:pt>
                <c:pt idx="2">
                  <c:v>1525.8829999999998</c:v>
                </c:pt>
                <c:pt idx="3">
                  <c:v>1865.3580000000002</c:v>
                </c:pt>
                <c:pt idx="4">
                  <c:v>2200.117</c:v>
                </c:pt>
                <c:pt idx="5">
                  <c:v>2522.293999999998</c:v>
                </c:pt>
                <c:pt idx="6">
                  <c:v>17692.204999999998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1730.621</c:v>
                </c:pt>
                <c:pt idx="2">
                  <c:v>1982.045</c:v>
                </c:pt>
                <c:pt idx="3">
                  <c:v>2293.076</c:v>
                </c:pt>
                <c:pt idx="4">
                  <c:v>2675.074</c:v>
                </c:pt>
                <c:pt idx="5">
                  <c:v>3119.325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1730.621</c:v>
                </c:pt>
                <c:pt idx="1">
                  <c:v>251.42399999999998</c:v>
                </c:pt>
                <c:pt idx="2">
                  <c:v>311.03099999999995</c:v>
                </c:pt>
                <c:pt idx="3">
                  <c:v>381.99800000000005</c:v>
                </c:pt>
                <c:pt idx="4">
                  <c:v>444.25099999999975</c:v>
                </c:pt>
                <c:pt idx="5">
                  <c:v>503.00800000000027</c:v>
                </c:pt>
                <c:pt idx="6">
                  <c:v>3622.333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4283.391</c:v>
                </c:pt>
                <c:pt idx="2">
                  <c:v>4916.215999999999</c:v>
                </c:pt>
                <c:pt idx="3">
                  <c:v>5701.112</c:v>
                </c:pt>
                <c:pt idx="4">
                  <c:v>6661.733</c:v>
                </c:pt>
                <c:pt idx="5">
                  <c:v>7791.2699999999995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4283.391</c:v>
                </c:pt>
                <c:pt idx="1">
                  <c:v>632.8249999999998</c:v>
                </c:pt>
                <c:pt idx="2">
                  <c:v>784.8960000000006</c:v>
                </c:pt>
                <c:pt idx="3">
                  <c:v>960.6210000000001</c:v>
                </c:pt>
                <c:pt idx="4">
                  <c:v>1129.5369999999994</c:v>
                </c:pt>
                <c:pt idx="5">
                  <c:v>1292.2020000000002</c:v>
                </c:pt>
                <c:pt idx="6">
                  <c:v>9083.472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1091.3890000000001</c:v>
                </c:pt>
                <c:pt idx="2">
                  <c:v>1238.112</c:v>
                </c:pt>
                <c:pt idx="3">
                  <c:v>1427.331</c:v>
                </c:pt>
                <c:pt idx="4">
                  <c:v>1665.5720000000001</c:v>
                </c:pt>
                <c:pt idx="5">
                  <c:v>1954.849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1091.3890000000001</c:v>
                </c:pt>
                <c:pt idx="1">
                  <c:v>146.72299999999996</c:v>
                </c:pt>
                <c:pt idx="2">
                  <c:v>189.21899999999982</c:v>
                </c:pt>
                <c:pt idx="3">
                  <c:v>238.2410000000002</c:v>
                </c:pt>
                <c:pt idx="4">
                  <c:v>289.2769999999998</c:v>
                </c:pt>
                <c:pt idx="5">
                  <c:v>334.4559999999999</c:v>
                </c:pt>
                <c:pt idx="6">
                  <c:v>2289.305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Rollstock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53.97862619592496</c:v>
                </c:pt>
                <c:pt idx="1">
                  <c:v>54.046452049516056</c:v>
                </c:pt>
                <c:pt idx="2">
                  <c:v>54.12559887528236</c:v>
                </c:pt>
              </c:numCache>
            </c:numRef>
          </c:val>
        </c:ser>
        <c:ser>
          <c:idx val="1"/>
          <c:order val="1"/>
          <c:tx>
            <c:strRef>
              <c:f>Sheet1!$C$1</c:f>
              <c:strCache>
                <c:ptCount val="1"/>
                <c:pt idx="0">
                  <c:v>Premade Pouches &amp; Bags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27.511594077565764</c:v>
                </c:pt>
                <c:pt idx="1">
                  <c:v>27.702449687100188</c:v>
                </c:pt>
                <c:pt idx="2">
                  <c:v>27.78898175026</c:v>
                </c:pt>
              </c:numCache>
            </c:numRef>
          </c:val>
        </c:ser>
        <c:ser>
          <c:idx val="2"/>
          <c:order val="2"/>
          <c:tx>
            <c:strRef>
              <c:f>Sheet1!$D$1</c:f>
              <c:strCache>
                <c:ptCount val="1"/>
                <c:pt idx="0">
                  <c:v>Barrier Casings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11.183957643056008</c:v>
                </c:pt>
                <c:pt idx="1">
                  <c:v>11.192637137244539</c:v>
                </c:pt>
                <c:pt idx="2">
                  <c:v>11.081769793572828</c:v>
                </c:pt>
              </c:numCache>
            </c:numRef>
          </c:val>
        </c:ser>
        <c:ser>
          <c:idx val="3"/>
          <c:order val="3"/>
          <c:tx>
            <c:strRef>
              <c:f>Sheet1!$E$1</c:f>
              <c:strCache>
                <c:ptCount val="1"/>
                <c:pt idx="0">
                  <c:v>Sachets &amp; Stick Packs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7.3258220834532635</c:v>
                </c:pt>
                <c:pt idx="1">
                  <c:v>7.058461126139219</c:v>
                </c:pt>
                <c:pt idx="2">
                  <c:v>7.003649580884817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PE-Based</c:v>
                </c:pt>
              </c:strCache>
            </c:strRef>
          </c:tx>
          <c:spPr>
            <a:solidFill>
              <a:srgbClr val="3D85C6"/>
            </a:solidFill>
            <a:ln>
              <a:noFill/>
            </a:ln>
          </c:spPr>
          <c:dLbls>
            <c:dLbl>
              <c:idx val="0"/>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Sheet1!$B$2:$B$10</c:f>
              <c:numCache>
                <c:formatCode>General</c:formatCode>
                <c:ptCount val="9"/>
                <c:pt idx="0">
                  <c:v>30.332981388972062</c:v>
                </c:pt>
                <c:pt idx="1">
                  <c:v>31.842582651512352</c:v>
                </c:pt>
                <c:pt idx="2">
                  <c:v>30.70206020218794</c:v>
                </c:pt>
                <c:pt idx="3">
                  <c:v>31.87031774251261</c:v>
                </c:pt>
                <c:pt idx="4">
                  <c:v>30.182378947982247</c:v>
                </c:pt>
                <c:pt idx="5">
                  <c:v>31.847559941790145</c:v>
                </c:pt>
                <c:pt idx="6">
                  <c:v>31.270819083209595</c:v>
                </c:pt>
                <c:pt idx="7">
                  <c:v>31.109943035817544</c:v>
                </c:pt>
                <c:pt idx="8">
                  <c:v>30.365836026306216</c:v>
                </c:pt>
              </c:numCache>
            </c:numRef>
          </c:val>
        </c:ser>
        <c:ser>
          <c:idx val="1"/>
          <c:order val="1"/>
          <c:tx>
            <c:strRef>
              <c:f>Sheet1!$C$1</c:f>
              <c:strCache>
                <c:ptCount val="1"/>
                <c:pt idx="0">
                  <c:v>PP-Based</c:v>
                </c:pt>
              </c:strCache>
            </c:strRef>
          </c:tx>
          <c:spPr>
            <a:solidFill>
              <a:srgbClr val="9E7E0A"/>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Sheet1!$C$2:$C$10</c:f>
              <c:numCache>
                <c:formatCode>General</c:formatCode>
                <c:ptCount val="9"/>
                <c:pt idx="0">
                  <c:v>21.043961527753705</c:v>
                </c:pt>
                <c:pt idx="1">
                  <c:v>19.216759427229235</c:v>
                </c:pt>
                <c:pt idx="2">
                  <c:v>21.18018962660166</c:v>
                </c:pt>
                <c:pt idx="3">
                  <c:v>21.277152175827144</c:v>
                </c:pt>
                <c:pt idx="4">
                  <c:v>21.369897304281846</c:v>
                </c:pt>
                <c:pt idx="5">
                  <c:v>19.224683364773444</c:v>
                </c:pt>
                <c:pt idx="6">
                  <c:v>20.814773416081366</c:v>
                </c:pt>
                <c:pt idx="7">
                  <c:v>20.733199714871407</c:v>
                </c:pt>
                <c:pt idx="8">
                  <c:v>20.310428418075055</c:v>
                </c:pt>
              </c:numCache>
            </c:numRef>
          </c:val>
        </c:ser>
        <c:ser>
          <c:idx val="2"/>
          <c:order val="2"/>
          <c:tx>
            <c:strRef>
              <c:f>Sheet1!$D$1</c:f>
              <c:strCache>
                <c:ptCount val="1"/>
                <c:pt idx="0">
                  <c:v>PET-Based</c:v>
                </c:pt>
              </c:strCache>
            </c:strRef>
          </c:tx>
          <c:spPr>
            <a:solidFill>
              <a:srgbClr val="008189"/>
            </a:solidFill>
            <a:ln>
              <a:noFill/>
            </a:ln>
          </c:spPr>
          <c:dLbls>
            <c:dLbl>
              <c:idx val="0"/>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Sheet1!$D$2:$D$10</c:f>
              <c:numCache>
                <c:formatCode>General</c:formatCode>
                <c:ptCount val="9"/>
                <c:pt idx="0">
                  <c:v>9.412568090728104</c:v>
                </c:pt>
                <c:pt idx="1">
                  <c:v>10.23903841644762</c:v>
                </c:pt>
                <c:pt idx="2">
                  <c:v>9.489269632421038</c:v>
                </c:pt>
                <c:pt idx="3">
                  <c:v>9.540930353673776</c:v>
                </c:pt>
                <c:pt idx="4">
                  <c:v>9.581117243507826</c:v>
                </c:pt>
                <c:pt idx="5">
                  <c:v>10.24121948934435</c:v>
                </c:pt>
                <c:pt idx="6">
                  <c:v>9.446372266061626</c:v>
                </c:pt>
                <c:pt idx="7">
                  <c:v>9.370753913421668</c:v>
                </c:pt>
                <c:pt idx="8">
                  <c:v>10.635104668731515</c:v>
                </c:pt>
              </c:numCache>
            </c:numRef>
          </c:val>
        </c:ser>
        <c:ser>
          <c:idx val="3"/>
          <c:order val="3"/>
          <c:tx>
            <c:strRef>
              <c:f>Sheet1!$E$1</c:f>
              <c:strCache>
                <c:ptCount val="1"/>
                <c:pt idx="0">
                  <c:v>PA-Based</c:v>
                </c:pt>
              </c:strCache>
            </c:strRef>
          </c:tx>
          <c:spPr>
            <a:solidFill>
              <a:srgbClr val="40315E"/>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Sheet1!$E$2:$E$10</c:f>
              <c:numCache>
                <c:formatCode>General</c:formatCode>
                <c:ptCount val="9"/>
                <c:pt idx="0">
                  <c:v>8.395501415656797</c:v>
                </c:pt>
                <c:pt idx="1">
                  <c:v>7.857395546670287</c:v>
                </c:pt>
                <c:pt idx="2">
                  <c:v>8.647588683436414</c:v>
                </c:pt>
                <c:pt idx="3">
                  <c:v>8.49139279538851</c:v>
                </c:pt>
                <c:pt idx="4">
                  <c:v>8.724513633619283</c:v>
                </c:pt>
                <c:pt idx="5">
                  <c:v>7.860794287679745</c:v>
                </c:pt>
                <c:pt idx="6">
                  <c:v>8.497105487062278</c:v>
                </c:pt>
                <c:pt idx="7">
                  <c:v>8.470605890315214</c:v>
                </c:pt>
                <c:pt idx="8">
                  <c:v>8.099742194219102</c:v>
                </c:pt>
              </c:numCache>
            </c:numRef>
          </c:val>
        </c:ser>
        <c:ser>
          <c:idx val="4"/>
          <c:order val="4"/>
          <c:tx>
            <c:strRef>
              <c:f>Sheet1!$F$1</c:f>
              <c:strCache>
                <c:ptCount val="1"/>
                <c:pt idx="0">
                  <c:v>EVOH-Based</c:v>
                </c:pt>
              </c:strCache>
            </c:strRef>
          </c:tx>
          <c:spPr>
            <a:solidFill>
              <a:srgbClr val="A35313"/>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Sheet1!$F$2:$F$10</c:f>
              <c:numCache>
                <c:formatCode>General</c:formatCode>
                <c:ptCount val="9"/>
                <c:pt idx="0">
                  <c:v>7.501982970095236</c:v>
                </c:pt>
                <c:pt idx="1">
                  <c:v>8.363979284159951</c:v>
                </c:pt>
                <c:pt idx="2">
                  <c:v>7.756407526870274</c:v>
                </c:pt>
                <c:pt idx="3">
                  <c:v>7.607648600497943</c:v>
                </c:pt>
                <c:pt idx="4">
                  <c:v>7.830788519072418</c:v>
                </c:pt>
                <c:pt idx="5">
                  <c:v>8.365867550858253</c:v>
                </c:pt>
                <c:pt idx="6">
                  <c:v>7.718909705655006</c:v>
                </c:pt>
                <c:pt idx="7">
                  <c:v>7.664111215236553</c:v>
                </c:pt>
                <c:pt idx="8">
                  <c:v>8.489487041196323</c:v>
                </c:pt>
              </c:numCache>
            </c:numRef>
          </c:val>
        </c:ser>
        <c:ser>
          <c:idx val="5"/>
          <c:order val="5"/>
          <c:tx>
            <c:strRef>
              <c:f>Sheet1!$G$1</c:f>
              <c:strCache>
                <c:ptCount val="1"/>
                <c:pt idx="0">
                  <c:v>PVDC-Based</c:v>
                </c:pt>
              </c:strCache>
            </c:strRef>
          </c:tx>
          <c:spPr>
            <a:solidFill>
              <a:srgbClr val="808080"/>
            </a:solidFill>
            <a:ln>
              <a:noFill/>
            </a:ln>
          </c:spPr>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Sheet1!$G$2:$G$10</c:f>
              <c:numCache>
                <c:formatCode>General</c:formatCode>
                <c:ptCount val="9"/>
                <c:pt idx="0">
                  <c:v>4.963466074139443</c:v>
                </c:pt>
                <c:pt idx="1">
                  <c:v>5.3138844668221585</c:v>
                </c:pt>
                <c:pt idx="2">
                  <c:v>5.236775992931583</c:v>
                </c:pt>
                <c:pt idx="3">
                  <c:v>4.49369329539132</c:v>
                </c:pt>
                <c:pt idx="4">
                  <c:v>5.0469601256726495</c:v>
                </c:pt>
                <c:pt idx="5">
                  <c:v>5.325864646200717</c:v>
                </c:pt>
                <c:pt idx="6">
                  <c:v>4.919281738153628</c:v>
                </c:pt>
                <c:pt idx="7">
                  <c:v>4.887481993367246</c:v>
                </c:pt>
                <c:pt idx="8">
                  <c:v>5.028615128994023</c:v>
                </c:pt>
              </c:numCache>
            </c:numRef>
          </c:val>
        </c:ser>
        <c:ser>
          <c:idx val="6"/>
          <c:order val="6"/>
          <c:tx>
            <c:strRef>
              <c:f>Sheet1!$H$1</c:f>
              <c:strCache>
                <c:ptCount val="1"/>
                <c:pt idx="0">
                  <c:v>PVOH-Based</c:v>
                </c:pt>
              </c:strCache>
            </c:strRef>
          </c:tx>
          <c:spPr>
            <a:solidFill>
              <a:srgbClr val="0E72AE"/>
            </a:solidFill>
            <a:ln>
              <a:noFill/>
            </a:ln>
          </c:spPr>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Sheet1!$H$2:$H$10</c:f>
              <c:numCache>
                <c:formatCode>General</c:formatCode>
                <c:ptCount val="9"/>
                <c:pt idx="0">
                  <c:v>2.1934013058711677</c:v>
                </c:pt>
                <c:pt idx="1">
                  <c:v>2.0365159873138103</c:v>
                </c:pt>
                <c:pt idx="2">
                  <c:v>1.980984113804348</c:v>
                </c:pt>
                <c:pt idx="3">
                  <c:v>1.9907942532460845</c:v>
                </c:pt>
                <c:pt idx="4">
                  <c:v>1.9031526966781942</c:v>
                </c:pt>
                <c:pt idx="5">
                  <c:v>2.0361778986034627</c:v>
                </c:pt>
                <c:pt idx="6">
                  <c:v>1.8769382485369874</c:v>
                </c:pt>
                <c:pt idx="7">
                  <c:v>2.1883281884865937</c:v>
                </c:pt>
                <c:pt idx="8">
                  <c:v>1.8933081272519285</c:v>
                </c:pt>
              </c:numCache>
            </c:numRef>
          </c:val>
        </c:ser>
        <c:ser>
          <c:idx val="7"/>
          <c:order val="7"/>
          <c:tx>
            <c:strRef>
              <c:f>Sheet1!$I$1</c:f>
              <c:strCache>
                <c:ptCount val="1"/>
                <c:pt idx="0">
                  <c:v>Metallized Barrier</c:v>
                </c:pt>
              </c:strCache>
            </c:strRef>
          </c:tx>
          <c:spPr>
            <a:solidFill>
              <a:srgbClr val="A86F00"/>
            </a:solidFill>
            <a:ln>
              <a:noFill/>
            </a:ln>
          </c:spPr>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Sheet1!$I$2:$I$10</c:f>
              <c:numCache>
                <c:formatCode>General</c:formatCode>
                <c:ptCount val="9"/>
                <c:pt idx="0">
                  <c:v>6.260302251918623</c:v>
                </c:pt>
                <c:pt idx="1">
                  <c:v>5.849057379915179</c:v>
                </c:pt>
                <c:pt idx="2">
                  <c:v>5.764201591813126</c:v>
                </c:pt>
                <c:pt idx="3">
                  <c:v>5.653385088338826</c:v>
                </c:pt>
                <c:pt idx="4">
                  <c:v>6.513792914628362</c:v>
                </c:pt>
                <c:pt idx="5">
                  <c:v>5.849870052235208</c:v>
                </c:pt>
                <c:pt idx="6">
                  <c:v>6.344062402102807</c:v>
                </c:pt>
                <c:pt idx="7">
                  <c:v>6.3158444274570655</c:v>
                </c:pt>
                <c:pt idx="8">
                  <c:v>6.336994341003037</c:v>
                </c:pt>
              </c:numCache>
            </c:numRef>
          </c:val>
        </c:ser>
        <c:ser>
          <c:idx val="8"/>
          <c:order val="8"/>
          <c:tx>
            <c:strRef>
              <c:f>Sheet1!$J$1</c:f>
              <c:strCache>
                <c:ptCount val="1"/>
                <c:pt idx="0">
                  <c:v>AlOx / SiOx-Coated</c:v>
                </c:pt>
              </c:strCache>
            </c:strRef>
          </c:tx>
          <c:spPr>
            <a:solidFill>
              <a:srgbClr val="0B2E4A"/>
            </a:solidFill>
            <a:ln>
              <a:noFill/>
            </a:ln>
          </c:spPr>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Sheet1!$J$2:$J$10</c:f>
              <c:numCache>
                <c:formatCode>General</c:formatCode>
                <c:ptCount val="9"/>
                <c:pt idx="0">
                  <c:v>3.283063071581281</c:v>
                </c:pt>
                <c:pt idx="1">
                  <c:v>3.1199223361675696</c:v>
                </c:pt>
                <c:pt idx="2">
                  <c:v>3.0351699861967165</c:v>
                </c:pt>
                <c:pt idx="3">
                  <c:v>2.9772366648744755</c:v>
                </c:pt>
                <c:pt idx="4">
                  <c:v>2.91738047337741</c:v>
                </c:pt>
                <c:pt idx="5">
                  <c:v>3.119621642421745</c:v>
                </c:pt>
                <c:pt idx="6">
                  <c:v>2.8765554647254983</c:v>
                </c:pt>
                <c:pt idx="7">
                  <c:v>3.350340341983597</c:v>
                </c:pt>
                <c:pt idx="8">
                  <c:v>2.82913017392895</c:v>
                </c:pt>
              </c:numCache>
            </c:numRef>
          </c:val>
        </c:ser>
        <c:ser>
          <c:idx val="9"/>
          <c:order val="9"/>
          <c:tx>
            <c:strRef>
              <c:f>Sheet1!$K$1</c:f>
              <c:strCache>
                <c:ptCount val="1"/>
                <c:pt idx="0">
                  <c:v>Aluminum Foil-Based</c:v>
                </c:pt>
              </c:strCache>
            </c:strRef>
          </c:tx>
          <c:spPr>
            <a:solidFill>
              <a:srgbClr val="6C7A89"/>
            </a:solidFill>
            <a:ln>
              <a:noFill/>
            </a:ln>
          </c:spPr>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Sheet1!$K$2:$K$10</c:f>
              <c:numCache>
                <c:formatCode>General</c:formatCode>
                <c:ptCount val="9"/>
                <c:pt idx="0">
                  <c:v>3.251965898167263</c:v>
                </c:pt>
                <c:pt idx="1">
                  <c:v>2.9830439450594204</c:v>
                </c:pt>
                <c:pt idx="2">
                  <c:v>2.9847383230961935</c:v>
                </c:pt>
                <c:pt idx="3">
                  <c:v>3.00237730822766</c:v>
                </c:pt>
                <c:pt idx="4">
                  <c:v>2.824185584766814</c:v>
                </c:pt>
                <c:pt idx="5">
                  <c:v>2.9876801673808906</c:v>
                </c:pt>
                <c:pt idx="6">
                  <c:v>2.935965736678104</c:v>
                </c:pt>
                <c:pt idx="7">
                  <c:v>2.9127818954858014</c:v>
                </c:pt>
                <c:pt idx="8">
                  <c:v>2.855969399882651</c:v>
                </c:pt>
              </c:numCache>
            </c:numRef>
          </c:val>
        </c:ser>
        <c:ser>
          <c:idx val="10"/>
          <c:order val="10"/>
          <c:tx>
            <c:strRef>
              <c:f>Sheet1!$L$1</c:f>
              <c:strCache>
                <c:ptCount val="1"/>
                <c:pt idx="0">
                  <c:v>Other Specialty Barrier Technologies</c:v>
                </c:pt>
              </c:strCache>
            </c:strRef>
          </c:tx>
          <c:spPr>
            <a:solidFill>
              <a:srgbClr val="B2B2B2"/>
            </a:solidFill>
            <a:ln>
              <a:noFill/>
            </a:ln>
          </c:spPr>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Sheet1!$L$2:$L$10</c:f>
              <c:numCache>
                <c:formatCode>General</c:formatCode>
                <c:ptCount val="9"/>
                <c:pt idx="0">
                  <c:v>3.3608060051163258</c:v>
                </c:pt>
                <c:pt idx="1">
                  <c:v>3.1778205587024217</c:v>
                </c:pt>
                <c:pt idx="2">
                  <c:v>3.2226143206406994</c:v>
                </c:pt>
                <c:pt idx="3">
                  <c:v>3.0950717220216677</c:v>
                </c:pt>
                <c:pt idx="4">
                  <c:v>3.1058325564129534</c:v>
                </c:pt>
                <c:pt idx="5">
                  <c:v>3.1406609587120435</c:v>
                </c:pt>
                <c:pt idx="6">
                  <c:v>3.2992164517330926</c:v>
                </c:pt>
                <c:pt idx="7">
                  <c:v>2.996609383557307</c:v>
                </c:pt>
                <c:pt idx="8">
                  <c:v>3.1553844804111892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PE-Based</c:v>
                </c:pt>
              </c:strCache>
            </c:strRef>
          </c:tx>
          <c:spPr>
            <a:solidFill>
              <a:srgbClr val="3D85C6"/>
            </a:solidFill>
          </c:spPr>
          <c:invertIfNegative val="0"/>
          <c:xVal>
            <c:numRef>
              <c:f>Sheet1!$A$2:$A$2</c:f>
              <c:numCache>
                <c:formatCode>General</c:formatCode>
                <c:ptCount val="1"/>
                <c:pt idx="0">
                  <c:v>101.93658524882419</c:v>
                </c:pt>
              </c:numCache>
            </c:numRef>
          </c:xVal>
          <c:yVal>
            <c:numRef>
              <c:f>Sheet1!$B$2:$B$2</c:f>
              <c:numCache>
                <c:formatCode>General</c:formatCode>
                <c:ptCount val="1"/>
                <c:pt idx="0">
                  <c:v>335.3302716176942</c:v>
                </c:pt>
              </c:numCache>
            </c:numRef>
          </c:yVal>
          <c:bubbleSize>
            <c:numRef>
              <c:f>Sheet1!$C$2:$C$2</c:f>
              <c:numCache>
                <c:formatCode>General</c:formatCode>
                <c:ptCount val="1"/>
                <c:pt idx="0">
                  <c:v>10104.649</c:v>
                </c:pt>
              </c:numCache>
            </c:numRef>
          </c:bubbleSize>
          <c:bubble3D val="0"/>
        </c:ser>
        <c:ser>
          <c:idx val="1"/>
          <c:order val="1"/>
          <c:tx>
            <c:strRef>
              <c:f>Sheet1!$B$4</c:f>
              <c:strCache>
                <c:ptCount val="1"/>
                <c:pt idx="0">
                  <c:v>PP-Based</c:v>
                </c:pt>
              </c:strCache>
            </c:strRef>
          </c:tx>
          <c:spPr>
            <a:solidFill>
              <a:srgbClr val="9E7E0A"/>
            </a:solidFill>
          </c:spPr>
          <c:invertIfNegative val="0"/>
          <c:xVal>
            <c:numRef>
              <c:f>Sheet1!$A$5:$A$5</c:f>
              <c:numCache>
                <c:formatCode>General</c:formatCode>
                <c:ptCount val="1"/>
                <c:pt idx="0">
                  <c:v>97.74737336295645</c:v>
                </c:pt>
              </c:numCache>
            </c:numRef>
          </c:xVal>
          <c:yVal>
            <c:numRef>
              <c:f>Sheet1!$B$5:$B$5</c:f>
              <c:numCache>
                <c:formatCode>General</c:formatCode>
                <c:ptCount val="1"/>
                <c:pt idx="0">
                  <c:v>229.85207672134842</c:v>
                </c:pt>
              </c:numCache>
            </c:numRef>
          </c:yVal>
          <c:bubbleSize>
            <c:numRef>
              <c:f>Sheet1!$C$5:$C$5</c:f>
              <c:numCache>
                <c:formatCode>General</c:formatCode>
                <c:ptCount val="1"/>
                <c:pt idx="0">
                  <c:v>6720.06</c:v>
                </c:pt>
              </c:numCache>
            </c:numRef>
          </c:bubbleSize>
          <c:bubble3D val="0"/>
        </c:ser>
        <c:ser>
          <c:idx val="2"/>
          <c:order val="2"/>
          <c:tx>
            <c:strRef>
              <c:f>Sheet1!$B$7</c:f>
              <c:strCache>
                <c:ptCount val="1"/>
                <c:pt idx="0">
                  <c:v>PET-Based</c:v>
                </c:pt>
              </c:strCache>
            </c:strRef>
          </c:tx>
          <c:spPr>
            <a:solidFill>
              <a:srgbClr val="008189"/>
            </a:solidFill>
          </c:spPr>
          <c:invertIfNegative val="0"/>
          <c:xVal>
            <c:numRef>
              <c:f>Sheet1!$A$8:$A$8</c:f>
              <c:numCache>
                <c:formatCode>General</c:formatCode>
                <c:ptCount val="1"/>
                <c:pt idx="0">
                  <c:v>102.04992734336409</c:v>
                </c:pt>
              </c:numCache>
            </c:numRef>
          </c:xVal>
          <c:yVal>
            <c:numRef>
              <c:f>Sheet1!$B$8:$B$8</c:f>
              <c:numCache>
                <c:formatCode>General</c:formatCode>
                <c:ptCount val="1"/>
                <c:pt idx="0">
                  <c:v>107.73302551904695</c:v>
                </c:pt>
              </c:numCache>
            </c:numRef>
          </c:yVal>
          <c:bubbleSize>
            <c:numRef>
              <c:f>Sheet1!$C$8:$C$8</c:f>
              <c:numCache>
                <c:formatCode>General</c:formatCode>
                <c:ptCount val="1"/>
                <c:pt idx="0">
                  <c:v>3249.016</c:v>
                </c:pt>
              </c:numCache>
            </c:numRef>
          </c:bubbleSize>
          <c:bubble3D val="0"/>
        </c:ser>
        <c:ser>
          <c:idx val="3"/>
          <c:order val="3"/>
          <c:tx>
            <c:strRef>
              <c:f>Sheet1!$B$10</c:f>
              <c:strCache>
                <c:ptCount val="1"/>
                <c:pt idx="0">
                  <c:v>PA-Based</c:v>
                </c:pt>
              </c:strCache>
            </c:strRef>
          </c:tx>
          <c:spPr>
            <a:solidFill>
              <a:srgbClr val="40315E"/>
            </a:solidFill>
          </c:spPr>
          <c:invertIfNegative val="0"/>
          <c:xVal>
            <c:numRef>
              <c:f>Sheet1!$A$11:$A$11</c:f>
              <c:numCache>
                <c:formatCode>General</c:formatCode>
                <c:ptCount val="1"/>
                <c:pt idx="0">
                  <c:v>97.76705267032246</c:v>
                </c:pt>
              </c:numCache>
            </c:numRef>
          </c:xVal>
          <c:yVal>
            <c:numRef>
              <c:f>Sheet1!$B$11:$B$11</c:f>
              <c:numCache>
                <c:formatCode>General</c:formatCode>
                <c:ptCount val="1"/>
                <c:pt idx="0">
                  <c:v>92.91474393222619</c:v>
                </c:pt>
              </c:numCache>
            </c:numRef>
          </c:yVal>
          <c:bubbleSize>
            <c:numRef>
              <c:f>Sheet1!$C$11:$C$11</c:f>
              <c:numCache>
                <c:formatCode>General</c:formatCode>
                <c:ptCount val="1"/>
                <c:pt idx="0">
                  <c:v>2716.884</c:v>
                </c:pt>
              </c:numCache>
            </c:numRef>
          </c:bubbleSize>
          <c:bubble3D val="0"/>
        </c:ser>
        <c:ser>
          <c:idx val="4"/>
          <c:order val="4"/>
          <c:tx>
            <c:strRef>
              <c:f>Sheet1!$B$13</c:f>
              <c:strCache>
                <c:ptCount val="1"/>
                <c:pt idx="0">
                  <c:v>EVOH-Based</c:v>
                </c:pt>
              </c:strCache>
            </c:strRef>
          </c:tx>
          <c:spPr>
            <a:solidFill>
              <a:srgbClr val="A35313"/>
            </a:solidFill>
          </c:spPr>
          <c:invertIfNegative val="0"/>
          <c:xVal>
            <c:numRef>
              <c:f>Sheet1!$A$14:$A$14</c:f>
              <c:numCache>
                <c:formatCode>General</c:formatCode>
                <c:ptCount val="1"/>
                <c:pt idx="0">
                  <c:v>102.69515841764705</c:v>
                </c:pt>
              </c:numCache>
            </c:numRef>
          </c:xVal>
          <c:yVal>
            <c:numRef>
              <c:f>Sheet1!$B$14:$B$14</c:f>
              <c:numCache>
                <c:formatCode>General</c:formatCode>
                <c:ptCount val="1"/>
                <c:pt idx="0">
                  <c:v>86.70821504168539</c:v>
                </c:pt>
              </c:numCache>
            </c:numRef>
          </c:yVal>
          <c:bubbleSize>
            <c:numRef>
              <c:f>Sheet1!$C$14:$C$14</c:f>
              <c:numCache>
                <c:formatCode>General</c:formatCode>
                <c:ptCount val="1"/>
                <c:pt idx="0">
                  <c:v>2627.126</c:v>
                </c:pt>
              </c:numCache>
            </c:numRef>
          </c:bubbleSize>
          <c:bubble3D val="0"/>
        </c:ser>
        <c:ser>
          <c:idx val="5"/>
          <c:order val="5"/>
          <c:tx>
            <c:strRef>
              <c:f>Sheet1!$B$16</c:f>
              <c:strCache>
                <c:ptCount val="1"/>
                <c:pt idx="0">
                  <c:v>PVDC-Based</c:v>
                </c:pt>
              </c:strCache>
            </c:strRef>
          </c:tx>
          <c:spPr>
            <a:solidFill>
              <a:srgbClr val="808080"/>
            </a:solidFill>
          </c:spPr>
          <c:invertIfNegative val="0"/>
          <c:xVal>
            <c:numRef>
              <c:f>Sheet1!$A$17:$A$17</c:f>
              <c:numCache>
                <c:formatCode>General</c:formatCode>
                <c:ptCount val="1"/>
                <c:pt idx="0">
                  <c:v>91.4839713660221</c:v>
                </c:pt>
              </c:numCache>
            </c:numRef>
          </c:xVal>
          <c:yVal>
            <c:numRef>
              <c:f>Sheet1!$B$17:$B$17</c:f>
              <c:numCache>
                <c:formatCode>General</c:formatCode>
                <c:ptCount val="1"/>
                <c:pt idx="0">
                  <c:v>58.48736820790037</c:v>
                </c:pt>
              </c:numCache>
            </c:numRef>
          </c:yVal>
          <c:bubbleSize>
            <c:numRef>
              <c:f>Sheet1!$C$17:$C$17</c:f>
              <c:numCache>
                <c:formatCode>General</c:formatCode>
                <c:ptCount val="1"/>
                <c:pt idx="0">
                  <c:v>1634.146</c:v>
                </c:pt>
              </c:numCache>
            </c:numRef>
          </c:bubbleSize>
          <c:bubble3D val="0"/>
        </c:ser>
        <c:ser>
          <c:idx val="6"/>
          <c:order val="6"/>
          <c:tx>
            <c:strRef>
              <c:f>Sheet1!$B$19</c:f>
              <c:strCache>
                <c:ptCount val="1"/>
                <c:pt idx="0">
                  <c:v>PVOH-Based</c:v>
                </c:pt>
              </c:strCache>
            </c:strRef>
          </c:tx>
          <c:spPr>
            <a:solidFill>
              <a:srgbClr val="0E72AE"/>
            </a:solidFill>
          </c:spPr>
          <c:invertIfNegative val="0"/>
          <c:xVal>
            <c:numRef>
              <c:f>Sheet1!$A$20:$A$20</c:f>
              <c:numCache>
                <c:formatCode>General</c:formatCode>
                <c:ptCount val="1"/>
                <c:pt idx="0">
                  <c:v>103.55785125346686</c:v>
                </c:pt>
              </c:numCache>
            </c:numRef>
          </c:xVal>
          <c:yVal>
            <c:numRef>
              <c:f>Sheet1!$B$20:$B$20</c:f>
              <c:numCache>
                <c:formatCode>General</c:formatCode>
                <c:ptCount val="1"/>
                <c:pt idx="0">
                  <c:v>21.206932780378292</c:v>
                </c:pt>
              </c:numCache>
            </c:numRef>
          </c:yVal>
          <c:bubbleSize>
            <c:numRef>
              <c:f>Sheet1!$C$20:$C$20</c:f>
              <c:numCache>
                <c:formatCode>General</c:formatCode>
                <c:ptCount val="1"/>
                <c:pt idx="0">
                  <c:v>646.539</c:v>
                </c:pt>
              </c:numCache>
            </c:numRef>
          </c:bubbleSize>
          <c:bubble3D val="0"/>
        </c:ser>
        <c:ser>
          <c:idx val="7"/>
          <c:order val="7"/>
          <c:tx>
            <c:strRef>
              <c:f>Sheet1!$B$22</c:f>
              <c:strCache>
                <c:ptCount val="1"/>
                <c:pt idx="0">
                  <c:v>Metallized Barrier</c:v>
                </c:pt>
              </c:strCache>
            </c:strRef>
          </c:tx>
          <c:spPr>
            <a:solidFill>
              <a:srgbClr val="A86F00"/>
            </a:solidFill>
          </c:spPr>
          <c:invertIfNegative val="0"/>
          <c:xVal>
            <c:numRef>
              <c:f>Sheet1!$A$23:$A$23</c:f>
              <c:numCache>
                <c:formatCode>General</c:formatCode>
                <c:ptCount val="1"/>
                <c:pt idx="0">
                  <c:v>99.39268335615192</c:v>
                </c:pt>
              </c:numCache>
            </c:numRef>
          </c:xVal>
          <c:yVal>
            <c:numRef>
              <c:f>Sheet1!$B$23:$B$23</c:f>
              <c:numCache>
                <c:formatCode>General</c:formatCode>
                <c:ptCount val="1"/>
                <c:pt idx="0">
                  <c:v>68.40926322150683</c:v>
                </c:pt>
              </c:numCache>
            </c:numRef>
          </c:yVal>
          <c:bubbleSize>
            <c:numRef>
              <c:f>Sheet1!$C$23:$C$23</c:f>
              <c:numCache>
                <c:formatCode>General</c:formatCode>
                <c:ptCount val="1"/>
                <c:pt idx="0">
                  <c:v>2023.945</c:v>
                </c:pt>
              </c:numCache>
            </c:numRef>
          </c:bubbleSize>
          <c:bubble3D val="0"/>
        </c:ser>
        <c:ser>
          <c:idx val="8"/>
          <c:order val="8"/>
          <c:tx>
            <c:strRef>
              <c:f>Sheet1!$B$25</c:f>
              <c:strCache>
                <c:ptCount val="1"/>
                <c:pt idx="0">
                  <c:v>AlOx / SiOx-Coated</c:v>
                </c:pt>
              </c:strCache>
            </c:strRef>
          </c:tx>
          <c:spPr>
            <a:solidFill>
              <a:srgbClr val="0B2E4A"/>
            </a:solidFill>
          </c:spPr>
          <c:invertIfNegative val="0"/>
          <c:xVal>
            <c:numRef>
              <c:f>Sheet1!$A$26:$A$26</c:f>
              <c:numCache>
                <c:formatCode>General</c:formatCode>
                <c:ptCount val="1"/>
                <c:pt idx="0">
                  <c:v>103.12932571974048</c:v>
                </c:pt>
              </c:numCache>
            </c:numRef>
          </c:xVal>
          <c:yVal>
            <c:numRef>
              <c:f>Sheet1!$B$26:$B$26</c:f>
              <c:numCache>
                <c:formatCode>General</c:formatCode>
                <c:ptCount val="1"/>
                <c:pt idx="0">
                  <c:v>32.25250817529298</c:v>
                </c:pt>
              </c:numCache>
            </c:numRef>
          </c:yVal>
          <c:bubbleSize>
            <c:numRef>
              <c:f>Sheet1!$C$26:$C$26</c:f>
              <c:numCache>
                <c:formatCode>General</c:formatCode>
                <c:ptCount val="1"/>
                <c:pt idx="0">
                  <c:v>980.26</c:v>
                </c:pt>
              </c:numCache>
            </c:numRef>
          </c:bubbleSize>
          <c:bubble3D val="0"/>
        </c:ser>
        <c:ser>
          <c:idx val="9"/>
          <c:order val="9"/>
          <c:tx>
            <c:strRef>
              <c:f>Sheet1!$B$28</c:f>
              <c:strCache>
                <c:ptCount val="1"/>
                <c:pt idx="0">
                  <c:v>Aluminum Foil-Based</c:v>
                </c:pt>
              </c:strCache>
            </c:strRef>
          </c:tx>
          <c:spPr>
            <a:solidFill>
              <a:srgbClr val="6C7A89"/>
            </a:solidFill>
          </c:spPr>
          <c:invertIfNegative val="0"/>
          <c:xVal>
            <c:numRef>
              <c:f>Sheet1!$A$29:$A$29</c:f>
              <c:numCache>
                <c:formatCode>General</c:formatCode>
                <c:ptCount val="1"/>
                <c:pt idx="0">
                  <c:v>92.35805400990714</c:v>
                </c:pt>
              </c:numCache>
            </c:numRef>
          </c:xVal>
          <c:yVal>
            <c:numRef>
              <c:f>Sheet1!$B$29:$B$29</c:f>
              <c:numCache>
                <c:formatCode>General</c:formatCode>
                <c:ptCount val="1"/>
                <c:pt idx="0">
                  <c:v>33.95841079405777</c:v>
                </c:pt>
              </c:numCache>
            </c:numRef>
          </c:yVal>
          <c:bubbleSize>
            <c:numRef>
              <c:f>Sheet1!$C$29:$C$29</c:f>
              <c:numCache>
                <c:formatCode>General</c:formatCode>
                <c:ptCount val="1"/>
                <c:pt idx="0">
                  <c:v>954.839</c:v>
                </c:pt>
              </c:numCache>
            </c:numRef>
          </c:bubbleSize>
          <c:bubble3D val="0"/>
        </c:ser>
        <c:ser>
          <c:idx val="10"/>
          <c:order val="10"/>
          <c:tx>
            <c:strRef>
              <c:f>Sheet1!$B$31</c:f>
              <c:strCache>
                <c:ptCount val="1"/>
                <c:pt idx="0">
                  <c:v>Other Specialty Barrier Technologies</c:v>
                </c:pt>
              </c:strCache>
            </c:strRef>
          </c:tx>
          <c:spPr>
            <a:solidFill>
              <a:srgbClr val="B2B2B2"/>
            </a:solidFill>
          </c:spPr>
          <c:invertIfNegative val="0"/>
          <c:xVal>
            <c:numRef>
              <c:f>Sheet1!$A$32:$A$32</c:f>
              <c:numCache>
                <c:formatCode>General</c:formatCode>
                <c:ptCount val="1"/>
                <c:pt idx="0">
                  <c:v>106.18834893459564</c:v>
                </c:pt>
              </c:numCache>
            </c:numRef>
          </c:xVal>
          <c:yVal>
            <c:numRef>
              <c:f>Sheet1!$B$32:$B$32</c:f>
              <c:numCache>
                <c:formatCode>General</c:formatCode>
                <c:ptCount val="1"/>
                <c:pt idx="0">
                  <c:v>33.1471839888626</c:v>
                </c:pt>
              </c:numCache>
            </c:numRef>
          </c:yVal>
          <c:bubbleSize>
            <c:numRef>
              <c:f>Sheet1!$C$32:$C$32</c:f>
              <c:numCache>
                <c:formatCode>General</c:formatCode>
                <c:ptCount val="1"/>
                <c:pt idx="0">
                  <c:v>1029.851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4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4713.566</c:v>
                </c:pt>
                <c:pt idx="2">
                  <c:v>5409.715</c:v>
                </c:pt>
                <c:pt idx="3">
                  <c:v>6297.413</c:v>
                </c:pt>
                <c:pt idx="4">
                  <c:v>7366.275</c:v>
                </c:pt>
                <c:pt idx="5">
                  <c:v>8641.094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4713.566</c:v>
                </c:pt>
                <c:pt idx="1">
                  <c:v>696.1490000000003</c:v>
                </c:pt>
                <c:pt idx="2">
                  <c:v>887.6979999999994</c:v>
                </c:pt>
                <c:pt idx="3">
                  <c:v>1068.862</c:v>
                </c:pt>
                <c:pt idx="4">
                  <c:v>1274.8189999999995</c:v>
                </c:pt>
                <c:pt idx="5">
                  <c:v>1463.5550000000003</c:v>
                </c:pt>
                <c:pt idx="6">
                  <c:v>10104.649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3230.913</c:v>
                </c:pt>
                <c:pt idx="2">
                  <c:v>3689.649</c:v>
                </c:pt>
                <c:pt idx="3">
                  <c:v>4260.207</c:v>
                </c:pt>
                <c:pt idx="4">
                  <c:v>4963.901</c:v>
                </c:pt>
                <c:pt idx="5">
                  <c:v>5784.121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3230.913</c:v>
                </c:pt>
                <c:pt idx="1">
                  <c:v>458.7359999999999</c:v>
                </c:pt>
                <c:pt idx="2">
                  <c:v>570.5580000000004</c:v>
                </c:pt>
                <c:pt idx="3">
                  <c:v>703.6939999999995</c:v>
                </c:pt>
                <c:pt idx="4">
                  <c:v>820.2200000000003</c:v>
                </c:pt>
                <c:pt idx="5">
                  <c:v>935.9390000000003</c:v>
                </c:pt>
                <c:pt idx="6">
                  <c:v>6720.06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1514.348</c:v>
                </c:pt>
                <c:pt idx="2">
                  <c:v>1750.638</c:v>
                </c:pt>
                <c:pt idx="3">
                  <c:v>2040.989</c:v>
                </c:pt>
                <c:pt idx="4">
                  <c:v>2383.925</c:v>
                </c:pt>
                <c:pt idx="5">
                  <c:v>2786.617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1514.348</c:v>
                </c:pt>
                <c:pt idx="1">
                  <c:v>236.28999999999996</c:v>
                </c:pt>
                <c:pt idx="2">
                  <c:v>290.3510000000001</c:v>
                </c:pt>
                <c:pt idx="3">
                  <c:v>342.93600000000015</c:v>
                </c:pt>
                <c:pt idx="4">
                  <c:v>402.692</c:v>
                </c:pt>
                <c:pt idx="5">
                  <c:v>462.3989999999999</c:v>
                </c:pt>
                <c:pt idx="6">
                  <c:v>3249.016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1306.055</c:v>
                </c:pt>
                <c:pt idx="2">
                  <c:v>1491.293</c:v>
                </c:pt>
                <c:pt idx="3">
                  <c:v>1716.537</c:v>
                </c:pt>
                <c:pt idx="4">
                  <c:v>2001.032</c:v>
                </c:pt>
                <c:pt idx="5">
                  <c:v>2335.901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1306.055</c:v>
                </c:pt>
                <c:pt idx="1">
                  <c:v>185.23799999999983</c:v>
                </c:pt>
                <c:pt idx="2">
                  <c:v>225.24400000000014</c:v>
                </c:pt>
                <c:pt idx="3">
                  <c:v>284.4949999999999</c:v>
                </c:pt>
                <c:pt idx="4">
                  <c:v>334.8689999999999</c:v>
                </c:pt>
                <c:pt idx="5">
                  <c:v>380.9830000000002</c:v>
                </c:pt>
                <c:pt idx="6">
                  <c:v>2716.884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1218.813</c:v>
                </c:pt>
                <c:pt idx="2">
                  <c:v>1389.728</c:v>
                </c:pt>
                <c:pt idx="3">
                  <c:v>1604.487</c:v>
                </c:pt>
                <c:pt idx="4">
                  <c:v>1887.027</c:v>
                </c:pt>
                <c:pt idx="5">
                  <c:v>2230.091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1218.813</c:v>
                </c:pt>
                <c:pt idx="1">
                  <c:v>170.91499999999996</c:v>
                </c:pt>
                <c:pt idx="2">
                  <c:v>214.75900000000001</c:v>
                </c:pt>
                <c:pt idx="3">
                  <c:v>282.53999999999996</c:v>
                </c:pt>
                <c:pt idx="4">
                  <c:v>343.06399999999985</c:v>
                </c:pt>
                <c:pt idx="5">
                  <c:v>397.0350000000003</c:v>
                </c:pt>
                <c:pt idx="6">
                  <c:v>2627.126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822.127</c:v>
                </c:pt>
                <c:pt idx="2">
                  <c:v>936.667</c:v>
                </c:pt>
                <c:pt idx="3">
                  <c:v>1073.162</c:v>
                </c:pt>
                <c:pt idx="4">
                  <c:v>1236.641</c:v>
                </c:pt>
                <c:pt idx="5">
                  <c:v>1423.367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822.127</c:v>
                </c:pt>
                <c:pt idx="1">
                  <c:v>114.54000000000008</c:v>
                </c:pt>
                <c:pt idx="2">
                  <c:v>136.495</c:v>
                </c:pt>
                <c:pt idx="3">
                  <c:v>163.47900000000004</c:v>
                </c:pt>
                <c:pt idx="4">
                  <c:v>186.72599999999989</c:v>
                </c:pt>
                <c:pt idx="5">
                  <c:v>210.779</c:v>
                </c:pt>
                <c:pt idx="6">
                  <c:v>1634.146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298.095</c:v>
                </c:pt>
                <c:pt idx="2">
                  <c:v>339.854</c:v>
                </c:pt>
                <c:pt idx="3">
                  <c:v>395.1</c:v>
                </c:pt>
                <c:pt idx="4">
                  <c:v>465.284</c:v>
                </c:pt>
                <c:pt idx="5">
                  <c:v>549.172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298.095</c:v>
                </c:pt>
                <c:pt idx="1">
                  <c:v>41.75899999999996</c:v>
                </c:pt>
                <c:pt idx="2">
                  <c:v>55.24600000000004</c:v>
                </c:pt>
                <c:pt idx="3">
                  <c:v>70.18399999999997</c:v>
                </c:pt>
                <c:pt idx="4">
                  <c:v>83.88800000000003</c:v>
                </c:pt>
                <c:pt idx="5">
                  <c:v>97.36699999999996</c:v>
                </c:pt>
                <c:pt idx="6">
                  <c:v>646.539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961.594</c:v>
                </c:pt>
                <c:pt idx="2">
                  <c:v>1095.203</c:v>
                </c:pt>
                <c:pt idx="3">
                  <c:v>1265.413</c:v>
                </c:pt>
                <c:pt idx="4">
                  <c:v>1480.822</c:v>
                </c:pt>
                <c:pt idx="5">
                  <c:v>1734.195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961.594</c:v>
                </c:pt>
                <c:pt idx="1">
                  <c:v>133.60899999999992</c:v>
                </c:pt>
                <c:pt idx="2">
                  <c:v>170.21000000000004</c:v>
                </c:pt>
                <c:pt idx="3">
                  <c:v>215.40899999999988</c:v>
                </c:pt>
                <c:pt idx="4">
                  <c:v>253.37300000000005</c:v>
                </c:pt>
                <c:pt idx="5">
                  <c:v>289.75</c:v>
                </c:pt>
                <c:pt idx="6">
                  <c:v>2023.945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453.357</c:v>
                </c:pt>
                <c:pt idx="2">
                  <c:v>519.052</c:v>
                </c:pt>
                <c:pt idx="3">
                  <c:v>602.802</c:v>
                </c:pt>
                <c:pt idx="4">
                  <c:v>709.414</c:v>
                </c:pt>
                <c:pt idx="5">
                  <c:v>835.276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453.357</c:v>
                </c:pt>
                <c:pt idx="1">
                  <c:v>65.695</c:v>
                </c:pt>
                <c:pt idx="2">
                  <c:v>83.75</c:v>
                </c:pt>
                <c:pt idx="3">
                  <c:v>106.61199999999997</c:v>
                </c:pt>
                <c:pt idx="4">
                  <c:v>125.86199999999997</c:v>
                </c:pt>
                <c:pt idx="5">
                  <c:v>144.98400000000004</c:v>
                </c:pt>
                <c:pt idx="6">
                  <c:v>980.26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477.336</c:v>
                </c:pt>
                <c:pt idx="2">
                  <c:v>543.797</c:v>
                </c:pt>
                <c:pt idx="3">
                  <c:v>622.922</c:v>
                </c:pt>
                <c:pt idx="4">
                  <c:v>718.651</c:v>
                </c:pt>
                <c:pt idx="5">
                  <c:v>829.512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477.336</c:v>
                </c:pt>
                <c:pt idx="1">
                  <c:v>66.46100000000001</c:v>
                </c:pt>
                <c:pt idx="2">
                  <c:v>79.125</c:v>
                </c:pt>
                <c:pt idx="3">
                  <c:v>95.72899999999993</c:v>
                </c:pt>
                <c:pt idx="4">
                  <c:v>110.86099999999999</c:v>
                </c:pt>
                <c:pt idx="5">
                  <c:v>125.32700000000011</c:v>
                </c:pt>
                <c:pt idx="6">
                  <c:v>954.839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465.933</c:v>
                </c:pt>
                <c:pt idx="2">
                  <c:v>549.33</c:v>
                </c:pt>
                <c:pt idx="3">
                  <c:v>646.921</c:v>
                </c:pt>
                <c:pt idx="4">
                  <c:v>759.195</c:v>
                </c:pt>
                <c:pt idx="5">
                  <c:v>886.009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465.933</c:v>
                </c:pt>
                <c:pt idx="1">
                  <c:v>83.39700000000005</c:v>
                </c:pt>
                <c:pt idx="2">
                  <c:v>97.59100000000001</c:v>
                </c:pt>
                <c:pt idx="3">
                  <c:v>112.274</c:v>
                </c:pt>
                <c:pt idx="4">
                  <c:v>126.81399999999996</c:v>
                </c:pt>
                <c:pt idx="5">
                  <c:v>143.8420000000001</c:v>
                </c:pt>
                <c:pt idx="6">
                  <c:v>1029.851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PE-Based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30.366938657288888</c:v>
                </c:pt>
                <c:pt idx="1">
                  <c:v>30.48457014706311</c:v>
                </c:pt>
                <c:pt idx="2">
                  <c:v>30.913059087294258</c:v>
                </c:pt>
              </c:numCache>
            </c:numRef>
          </c:val>
        </c:ser>
        <c:ser>
          <c:idx val="1"/>
          <c:order val="1"/>
          <c:tx>
            <c:strRef>
              <c:f>Sheet1!$C$1</c:f>
              <c:strCache>
                <c:ptCount val="1"/>
                <c:pt idx="0">
                  <c:v>PP-Based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20.87373853757699</c:v>
                </c:pt>
                <c:pt idx="1">
                  <c:v>20.8956433383044</c:v>
                </c:pt>
                <c:pt idx="2">
                  <c:v>20.558617310721303</c:v>
                </c:pt>
              </c:numCache>
            </c:numRef>
          </c:val>
        </c:ser>
        <c:ser>
          <c:idx val="2"/>
          <c:order val="2"/>
          <c:tx>
            <c:strRef>
              <c:f>Sheet1!$D$1</c:f>
              <c:strCache>
                <c:ptCount val="1"/>
                <c:pt idx="0">
                  <c:v>PET-Based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9.665703315155687</c:v>
                </c:pt>
                <c:pt idx="1">
                  <c:v>9.79391141082245</c:v>
                </c:pt>
                <c:pt idx="2">
                  <c:v>9.939684553472809</c:v>
                </c:pt>
              </c:numCache>
            </c:numRef>
          </c:val>
        </c:ser>
        <c:ser>
          <c:idx val="3"/>
          <c:order val="3"/>
          <c:tx>
            <c:strRef>
              <c:f>Sheet1!$E$1</c:f>
              <c:strCache>
                <c:ptCount val="1"/>
                <c:pt idx="0">
                  <c:v>PA-Based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8.39292109598688</c:v>
                </c:pt>
                <c:pt idx="1">
                  <c:v>8.446794902929653</c:v>
                </c:pt>
                <c:pt idx="2">
                  <c:v>8.311738054961076</c:v>
                </c:pt>
              </c:numCache>
            </c:numRef>
          </c:val>
        </c:ser>
        <c:ser>
          <c:idx val="4"/>
          <c:order val="4"/>
          <c:tx>
            <c:strRef>
              <c:f>Sheet1!$F$1</c:f>
              <c:strCache>
                <c:ptCount val="1"/>
                <c:pt idx="0">
                  <c:v>EVOH-Based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7.7646917702543465</c:v>
                </c:pt>
                <c:pt idx="1">
                  <c:v>7.88256500378958</c:v>
                </c:pt>
                <c:pt idx="2">
                  <c:v>8.037142236980921</c:v>
                </c:pt>
              </c:numCache>
            </c:numRef>
          </c:val>
        </c:ser>
        <c:ser>
          <c:idx val="5"/>
          <c:order val="5"/>
          <c:tx>
            <c:strRef>
              <c:f>Sheet1!$G$1</c:f>
              <c:strCache>
                <c:ptCount val="1"/>
                <c:pt idx="0">
                  <c:v>Metallized Barrier</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6.500110057159163</c:v>
                </c:pt>
                <c:pt idx="1">
                  <c:v>6.219023929227894</c:v>
                </c:pt>
                <c:pt idx="2">
                  <c:v>6.19183619088934</c:v>
                </c:pt>
              </c:numCache>
            </c:numRef>
          </c:val>
        </c:ser>
        <c:ser>
          <c:idx val="6"/>
          <c:order val="6"/>
          <c:tx>
            <c:strRef>
              <c:f>Sheet1!$H$1</c:f>
              <c:strCache>
                <c:ptCount val="1"/>
                <c:pt idx="0">
                  <c:v>PVDC-Based</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5.40612984817275</c:v>
                </c:pt>
                <c:pt idx="1">
                  <c:v>5.317033473445488</c:v>
                </c:pt>
                <c:pt idx="2">
                  <c:v>4.999327720860523</c:v>
                </c:pt>
              </c:numCache>
            </c:numRef>
          </c:val>
        </c:ser>
        <c:ser>
          <c:idx val="7"/>
          <c:order val="7"/>
          <c:tx>
            <c:strRef>
              <c:f>Sheet1!$I$1</c:f>
              <c:strCache>
                <c:ptCount val="1"/>
                <c:pt idx="0">
                  <c:v>Other Specialty Barrier Technologies</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2.83336520028768</c:v>
                </c:pt>
                <c:pt idx="1">
                  <c:v>3.0133803626238724</c:v>
                </c:pt>
                <c:pt idx="2">
                  <c:v>3.15061362488782</c:v>
                </c:pt>
              </c:numCache>
            </c:numRef>
          </c:val>
        </c:ser>
        <c:ser>
          <c:idx val="8"/>
          <c:order val="8"/>
          <c:tx>
            <c:strRef>
              <c:f>Sheet1!$J$1</c:f>
              <c:strCache>
                <c:ptCount val="1"/>
                <c:pt idx="0">
                  <c:v>AlOx / SiOx-Coated</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Sheet1!$J$2:$J$4</c:f>
              <c:numCache>
                <c:formatCode>General</c:formatCode>
                <c:ptCount val="3"/>
                <c:pt idx="0">
                  <c:v>3.0127179265127957</c:v>
                </c:pt>
                <c:pt idx="1">
                  <c:v>2.932046197753907</c:v>
                </c:pt>
                <c:pt idx="2">
                  <c:v>2.9989003379445514</c:v>
                </c:pt>
              </c:numCache>
            </c:numRef>
          </c:val>
        </c:ser>
        <c:ser>
          <c:idx val="9"/>
          <c:order val="9"/>
          <c:tx>
            <c:strRef>
              <c:f>Sheet1!$K$1</c:f>
              <c:strCache>
                <c:ptCount val="1"/>
                <c:pt idx="0">
                  <c:v>Aluminum Foil-Based</c:v>
                </c:pt>
              </c:strCache>
            </c:strRef>
          </c:tx>
          <c:spPr>
            <a:solidFill>
              <a:srgbClr val="6C7A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Sheet1!$K$2:$K$4</c:f>
              <c:numCache>
                <c:formatCode>General</c:formatCode>
                <c:ptCount val="3"/>
                <c:pt idx="0">
                  <c:v>3.139038418811634</c:v>
                </c:pt>
                <c:pt idx="1">
                  <c:v>3.087128254005252</c:v>
                </c:pt>
                <c:pt idx="2">
                  <c:v>2.9211301081168646</c:v>
                </c:pt>
              </c:numCache>
            </c:numRef>
          </c:val>
        </c:ser>
        <c:ser>
          <c:idx val="10"/>
          <c:order val="10"/>
          <c:tx>
            <c:strRef>
              <c:f>Sheet1!$L$1</c:f>
              <c:strCache>
                <c:ptCount val="1"/>
                <c:pt idx="0">
                  <c:v>PVOH-Based</c:v>
                </c:pt>
              </c:strCache>
            </c:strRef>
          </c:tx>
          <c:spPr>
            <a:solidFill>
              <a:srgbClr val="B2B2B2"/>
            </a:solidFill>
            <a:ln>
              <a:noFill/>
            </a:ln>
          </c:spPr>
          <c:dLbls>
            <c:numFmt formatCode="0&quot;%&quot;" sourceLinked="0"/>
            <c:txPr>
              <a:bodyPr rot="0" vert="horz"/>
              <a:lstStyle/>
              <a:p>
                <a:pPr>
                  <a:defRPr sz="1100">
                    <a:solidFill>
                      <a:srgbClr val="2E2E2E"/>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Sheet1!$L$2:$L$4</c:f>
              <c:numCache>
                <c:formatCode>General</c:formatCode>
                <c:ptCount val="3"/>
                <c:pt idx="0">
                  <c:v>2.0446451727931816</c:v>
                </c:pt>
                <c:pt idx="1">
                  <c:v>1.9279029800343899</c:v>
                </c:pt>
                <c:pt idx="2">
                  <c:v>1.9779507738705366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Monolayer Films</c:v>
                </c:pt>
              </c:strCache>
            </c:strRef>
          </c:tx>
          <c:spPr>
            <a:solidFill>
              <a:srgbClr val="3D85C6"/>
            </a:solidFill>
            <a:ln>
              <a:noFill/>
            </a:ln>
          </c:spPr>
          <c:dLbls>
            <c:dLbl>
              <c:idx val="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Sheet1!$B$2:$B$10</c:f>
              <c:numCache>
                <c:formatCode>General</c:formatCode>
                <c:ptCount val="9"/>
                <c:pt idx="0">
                  <c:v>14.887262122132178</c:v>
                </c:pt>
                <c:pt idx="1">
                  <c:v>17.150420199178114</c:v>
                </c:pt>
                <c:pt idx="2">
                  <c:v>17.025188331434936</c:v>
                </c:pt>
                <c:pt idx="3">
                  <c:v>15.975817015013954</c:v>
                </c:pt>
                <c:pt idx="4">
                  <c:v>15.320087640885713</c:v>
                </c:pt>
                <c:pt idx="5">
                  <c:v>17.167698641683145</c:v>
                </c:pt>
                <c:pt idx="6">
                  <c:v>15.013926885991854</c:v>
                </c:pt>
                <c:pt idx="7">
                  <c:v>16.283944610756155</c:v>
                </c:pt>
                <c:pt idx="8">
                  <c:v>15.087295454841646</c:v>
                </c:pt>
              </c:numCache>
            </c:numRef>
          </c:val>
        </c:ser>
        <c:ser>
          <c:idx val="1"/>
          <c:order val="1"/>
          <c:tx>
            <c:strRef>
              <c:f>Sheet1!$C$1</c:f>
              <c:strCache>
                <c:ptCount val="1"/>
                <c:pt idx="0">
                  <c:v>Coextruded Multilayer Films</c:v>
                </c:pt>
              </c:strCache>
            </c:strRef>
          </c:tx>
          <c:spPr>
            <a:solidFill>
              <a:srgbClr val="9E7E0A"/>
            </a:solidFill>
            <a:ln>
              <a:noFill/>
            </a:ln>
          </c:spPr>
          <c:dLbls>
            <c:dLbl>
              <c:idx val="0"/>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Sheet1!$C$2:$C$10</c:f>
              <c:numCache>
                <c:formatCode>General</c:formatCode>
                <c:ptCount val="9"/>
                <c:pt idx="0">
                  <c:v>29.43213980295297</c:v>
                </c:pt>
                <c:pt idx="1">
                  <c:v>28.481194904133705</c:v>
                </c:pt>
                <c:pt idx="2">
                  <c:v>27.96100838487387</c:v>
                </c:pt>
                <c:pt idx="3">
                  <c:v>26.82796150145524</c:v>
                </c:pt>
                <c:pt idx="4">
                  <c:v>29.453531627593087</c:v>
                </c:pt>
                <c:pt idx="5">
                  <c:v>28.51632249489416</c:v>
                </c:pt>
                <c:pt idx="6">
                  <c:v>29.343987016865885</c:v>
                </c:pt>
                <c:pt idx="7">
                  <c:v>26.99396890940342</c:v>
                </c:pt>
                <c:pt idx="8">
                  <c:v>29.8026760268362</c:v>
                </c:pt>
              </c:numCache>
            </c:numRef>
          </c:val>
        </c:ser>
        <c:ser>
          <c:idx val="2"/>
          <c:order val="2"/>
          <c:tx>
            <c:strRef>
              <c:f>Sheet1!$D$1</c:f>
              <c:strCache>
                <c:ptCount val="1"/>
                <c:pt idx="0">
                  <c:v>Laminated Films</c:v>
                </c:pt>
              </c:strCache>
            </c:strRef>
          </c:tx>
          <c:spPr>
            <a:solidFill>
              <a:srgbClr val="008189"/>
            </a:solidFill>
            <a:ln>
              <a:noFill/>
            </a:ln>
          </c:spPr>
          <c:dLbls>
            <c:dLbl>
              <c:idx val="0"/>
              <c:tx>
                <c:rich>
                  <a:bodyPr/>
                  <a:lstStyle/>
                  <a:p>
                    <a:r>
                      <a:rPr sz="1100">
                        <a:solidFill>
                          <a:srgbClr val="FFFFFF"/>
                        </a:solidFill>
                        <a:latin typeface="Calibri"/>
                      </a:rPr>
                      <a:t>26%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Sheet1!$D$2:$D$10</c:f>
              <c:numCache>
                <c:formatCode>General</c:formatCode>
                <c:ptCount val="9"/>
                <c:pt idx="0">
                  <c:v>26.222088681667564</c:v>
                </c:pt>
                <c:pt idx="1">
                  <c:v>24.160527192625224</c:v>
                </c:pt>
                <c:pt idx="2">
                  <c:v>24.92676985419616</c:v>
                </c:pt>
                <c:pt idx="3">
                  <c:v>26.70810315835539</c:v>
                </c:pt>
                <c:pt idx="4">
                  <c:v>25.011431574470933</c:v>
                </c:pt>
                <c:pt idx="5">
                  <c:v>24.181865335364865</c:v>
                </c:pt>
                <c:pt idx="6">
                  <c:v>25.385674296003508</c:v>
                </c:pt>
                <c:pt idx="7">
                  <c:v>26.886261646865083</c:v>
                </c:pt>
                <c:pt idx="8">
                  <c:v>25.28954152533265</c:v>
                </c:pt>
              </c:numCache>
            </c:numRef>
          </c:val>
        </c:ser>
        <c:ser>
          <c:idx val="3"/>
          <c:order val="3"/>
          <c:tx>
            <c:strRef>
              <c:f>Sheet1!$E$1</c:f>
              <c:strCache>
                <c:ptCount val="1"/>
                <c:pt idx="0">
                  <c:v>Coated Films</c:v>
                </c:pt>
              </c:strCache>
            </c:strRef>
          </c:tx>
          <c:spPr>
            <a:solidFill>
              <a:srgbClr val="40315E"/>
            </a:solidFill>
            <a:ln>
              <a:noFill/>
            </a:ln>
          </c:spPr>
          <c:dLbls>
            <c:dLbl>
              <c:idx val="6"/>
              <c:tx>
                <c:rich>
                  <a:bodyPr/>
                  <a:lstStyle/>
                  <a:p>
                    <a:r>
                      <a:rPr sz="1100">
                        <a:solidFill>
                          <a:srgbClr val="FFFFFF"/>
                        </a:solidFill>
                        <a:latin typeface="Calibri"/>
                      </a:rPr>
                      <a:t>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Sheet1!$E$2:$E$10</c:f>
              <c:numCache>
                <c:formatCode>General</c:formatCode>
                <c:ptCount val="9"/>
                <c:pt idx="0">
                  <c:v>6.2789041176482945</c:v>
                </c:pt>
                <c:pt idx="1">
                  <c:v>6.682462700381326</c:v>
                </c:pt>
                <c:pt idx="2">
                  <c:v>6.443454440292815</c:v>
                </c:pt>
                <c:pt idx="3">
                  <c:v>6.866433069662464</c:v>
                </c:pt>
                <c:pt idx="4">
                  <c:v>6.829147919240105</c:v>
                </c:pt>
                <c:pt idx="5">
                  <c:v>6.689240444775829</c:v>
                </c:pt>
                <c:pt idx="6">
                  <c:v>7.023641065649494</c:v>
                </c:pt>
                <c:pt idx="7">
                  <c:v>6.476827157633926</c:v>
                </c:pt>
                <c:pt idx="8">
                  <c:v>6.498131737309593</c:v>
                </c:pt>
              </c:numCache>
            </c:numRef>
          </c:val>
        </c:ser>
        <c:ser>
          <c:idx val="4"/>
          <c:order val="4"/>
          <c:tx>
            <c:strRef>
              <c:f>Sheet1!$F$1</c:f>
              <c:strCache>
                <c:ptCount val="1"/>
                <c:pt idx="0">
                  <c:v>Metallized Films</c:v>
                </c:pt>
              </c:strCache>
            </c:strRef>
          </c:tx>
          <c:spPr>
            <a:solidFill>
              <a:srgbClr val="A35313"/>
            </a:solidFill>
            <a:ln>
              <a:noFill/>
            </a:ln>
          </c:spPr>
          <c:dLbls>
            <c:dLbl>
              <c:idx val="0"/>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Sheet1!$F$2:$F$10</c:f>
              <c:numCache>
                <c:formatCode>General</c:formatCode>
                <c:ptCount val="9"/>
                <c:pt idx="0">
                  <c:v>7.000968635946268</c:v>
                </c:pt>
                <c:pt idx="1">
                  <c:v>7.512268664206764</c:v>
                </c:pt>
                <c:pt idx="2">
                  <c:v>7.179659140506073</c:v>
                </c:pt>
                <c:pt idx="3">
                  <c:v>6.523156377108292</c:v>
                </c:pt>
                <c:pt idx="4">
                  <c:v>6.492956514504056</c:v>
                </c:pt>
                <c:pt idx="5">
                  <c:v>7.528706195091905</c:v>
                </c:pt>
                <c:pt idx="6">
                  <c:v>6.751730231085977</c:v>
                </c:pt>
                <c:pt idx="7">
                  <c:v>7.285524886312859</c:v>
                </c:pt>
                <c:pt idx="8">
                  <c:v>7.22716310217545</c:v>
                </c:pt>
              </c:numCache>
            </c:numRef>
          </c:val>
        </c:ser>
        <c:ser>
          <c:idx val="5"/>
          <c:order val="5"/>
          <c:tx>
            <c:strRef>
              <c:f>Sheet1!$G$1</c:f>
              <c:strCache>
                <c:ptCount val="1"/>
                <c:pt idx="0">
                  <c:v>Foil-Laminated Structures</c:v>
                </c:pt>
              </c:strCache>
            </c:strRef>
          </c:tx>
          <c:spPr>
            <a:solidFill>
              <a:srgbClr val="808080"/>
            </a:solidFill>
            <a:ln>
              <a:noFill/>
            </a:ln>
          </c:spPr>
          <c:dLbls>
            <c:dLbl>
              <c:idx val="0"/>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Sheet1!$G$2:$G$10</c:f>
              <c:numCache>
                <c:formatCode>General</c:formatCode>
                <c:ptCount val="9"/>
                <c:pt idx="0">
                  <c:v>7.334843368835976</c:v>
                </c:pt>
                <c:pt idx="1">
                  <c:v>7.612639295101996</c:v>
                </c:pt>
                <c:pt idx="2">
                  <c:v>7.337385608391261</c:v>
                </c:pt>
                <c:pt idx="3">
                  <c:v>8.009864427812232</c:v>
                </c:pt>
                <c:pt idx="4">
                  <c:v>7.786875628025458</c:v>
                </c:pt>
                <c:pt idx="5">
                  <c:v>7.619314682140889</c:v>
                </c:pt>
                <c:pt idx="6">
                  <c:v>8.00636644404812</c:v>
                </c:pt>
                <c:pt idx="7">
                  <c:v>7.377709281305127</c:v>
                </c:pt>
                <c:pt idx="8">
                  <c:v>7.5863194403390235</c:v>
                </c:pt>
              </c:numCache>
            </c:numRef>
          </c:val>
        </c:ser>
        <c:ser>
          <c:idx val="6"/>
          <c:order val="6"/>
          <c:tx>
            <c:strRef>
              <c:f>Sheet1!$H$1</c:f>
              <c:strCache>
                <c:ptCount val="1"/>
                <c:pt idx="0">
                  <c:v>Mono-Material Recyclable Structures</c:v>
                </c:pt>
              </c:strCache>
            </c:strRef>
          </c:tx>
          <c:spPr>
            <a:solidFill>
              <a:srgbClr val="0E72AE"/>
            </a:solidFill>
            <a:ln>
              <a:noFill/>
            </a:ln>
          </c:spPr>
          <c:dLbls>
            <c:dLbl>
              <c:idx val="0"/>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Sheet1!$H$2:$H$10</c:f>
              <c:numCache>
                <c:formatCode>General</c:formatCode>
                <c:ptCount val="9"/>
                <c:pt idx="0">
                  <c:v>8.843793270816743</c:v>
                </c:pt>
                <c:pt idx="1">
                  <c:v>8.400487044372868</c:v>
                </c:pt>
                <c:pt idx="2">
                  <c:v>9.12653424030488</c:v>
                </c:pt>
                <c:pt idx="3">
                  <c:v>9.088664450592434</c:v>
                </c:pt>
                <c:pt idx="4">
                  <c:v>9.105969095280665</c:v>
                </c:pt>
                <c:pt idx="5">
                  <c:v>8.296852206049211</c:v>
                </c:pt>
                <c:pt idx="6">
                  <c:v>8.474674060355168</c:v>
                </c:pt>
                <c:pt idx="7">
                  <c:v>8.695763507723422</c:v>
                </c:pt>
                <c:pt idx="8">
                  <c:v>8.50887271316544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Monolayer Films</c:v>
                </c:pt>
              </c:strCache>
            </c:strRef>
          </c:tx>
          <c:spPr>
            <a:solidFill>
              <a:srgbClr val="3D85C6"/>
            </a:solidFill>
          </c:spPr>
          <c:invertIfNegative val="0"/>
          <c:xVal>
            <c:numRef>
              <c:f>Sheet1!$A$2:$A$2</c:f>
              <c:numCache>
                <c:formatCode>General</c:formatCode>
                <c:ptCount val="1"/>
                <c:pt idx="0">
                  <c:v>101.99775904528865</c:v>
                </c:pt>
              </c:numCache>
            </c:numRef>
          </c:xVal>
          <c:yVal>
            <c:numRef>
              <c:f>Sheet1!$B$2:$B$2</c:f>
              <c:numCache>
                <c:formatCode>General</c:formatCode>
                <c:ptCount val="1"/>
                <c:pt idx="0">
                  <c:v>108.60600907843406</c:v>
                </c:pt>
              </c:numCache>
            </c:numRef>
          </c:yVal>
          <c:bubbleSize>
            <c:numRef>
              <c:f>Sheet1!$C$2:$C$2</c:f>
              <c:numCache>
                <c:formatCode>General</c:formatCode>
                <c:ptCount val="1"/>
                <c:pt idx="0">
                  <c:v>5145.035</c:v>
                </c:pt>
              </c:numCache>
            </c:numRef>
          </c:bubbleSize>
          <c:bubble3D val="0"/>
        </c:ser>
        <c:ser>
          <c:idx val="1"/>
          <c:order val="1"/>
          <c:tx>
            <c:strRef>
              <c:f>Sheet1!$B$4</c:f>
              <c:strCache>
                <c:ptCount val="1"/>
                <c:pt idx="0">
                  <c:v>Coextruded Multilayer Films</c:v>
                </c:pt>
              </c:strCache>
            </c:strRef>
          </c:tx>
          <c:spPr>
            <a:solidFill>
              <a:srgbClr val="9E7E0A"/>
            </a:solidFill>
          </c:spPr>
          <c:invertIfNegative val="0"/>
          <c:xVal>
            <c:numRef>
              <c:f>Sheet1!$A$5:$A$5</c:f>
              <c:numCache>
                <c:formatCode>General</c:formatCode>
                <c:ptCount val="1"/>
                <c:pt idx="0">
                  <c:v>98.36322051839544</c:v>
                </c:pt>
              </c:numCache>
            </c:numRef>
          </c:xVal>
          <c:yVal>
            <c:numRef>
              <c:f>Sheet1!$B$5:$B$5</c:f>
              <c:numCache>
                <c:formatCode>General</c:formatCode>
                <c:ptCount val="1"/>
                <c:pt idx="0">
                  <c:v>203.5548512113914</c:v>
                </c:pt>
              </c:numCache>
            </c:numRef>
          </c:yVal>
          <c:bubbleSize>
            <c:numRef>
              <c:f>Sheet1!$C$5:$C$5</c:f>
              <c:numCache>
                <c:formatCode>General</c:formatCode>
                <c:ptCount val="1"/>
                <c:pt idx="0">
                  <c:v>9393.612</c:v>
                </c:pt>
              </c:numCache>
            </c:numRef>
          </c:bubbleSize>
          <c:bubble3D val="0"/>
        </c:ser>
        <c:ser>
          <c:idx val="2"/>
          <c:order val="2"/>
          <c:tx>
            <c:strRef>
              <c:f>Sheet1!$B$7</c:f>
              <c:strCache>
                <c:ptCount val="1"/>
                <c:pt idx="0">
                  <c:v>Laminated Films</c:v>
                </c:pt>
              </c:strCache>
            </c:strRef>
          </c:tx>
          <c:spPr>
            <a:solidFill>
              <a:srgbClr val="008189"/>
            </a:solidFill>
          </c:spPr>
          <c:invertIfNegative val="0"/>
          <c:xVal>
            <c:numRef>
              <c:f>Sheet1!$A$8:$A$8</c:f>
              <c:numCache>
                <c:formatCode>General</c:formatCode>
                <c:ptCount val="1"/>
                <c:pt idx="0">
                  <c:v>98.63227475518642</c:v>
                </c:pt>
              </c:numCache>
            </c:numRef>
          </c:xVal>
          <c:yVal>
            <c:numRef>
              <c:f>Sheet1!$B$8:$B$8</c:f>
              <c:numCache>
                <c:formatCode>General</c:formatCode>
                <c:ptCount val="1"/>
                <c:pt idx="0">
                  <c:v>180.30040864982578</c:v>
                </c:pt>
              </c:numCache>
            </c:numRef>
          </c:yVal>
          <c:bubbleSize>
            <c:numRef>
              <c:f>Sheet1!$C$8:$C$8</c:f>
              <c:numCache>
                <c:formatCode>General</c:formatCode>
                <c:ptCount val="1"/>
                <c:pt idx="0">
                  <c:v>8336.65</c:v>
                </c:pt>
              </c:numCache>
            </c:numRef>
          </c:bubbleSize>
          <c:bubble3D val="0"/>
        </c:ser>
        <c:ser>
          <c:idx val="3"/>
          <c:order val="3"/>
          <c:tx>
            <c:strRef>
              <c:f>Sheet1!$B$10</c:f>
              <c:strCache>
                <c:ptCount val="1"/>
                <c:pt idx="0">
                  <c:v>Coated Films</c:v>
                </c:pt>
              </c:strCache>
            </c:strRef>
          </c:tx>
          <c:spPr>
            <a:solidFill>
              <a:srgbClr val="40315E"/>
            </a:solidFill>
          </c:spPr>
          <c:invertIfNegative val="0"/>
          <c:xVal>
            <c:numRef>
              <c:f>Sheet1!$A$11:$A$11</c:f>
              <c:numCache>
                <c:formatCode>General</c:formatCode>
                <c:ptCount val="1"/>
                <c:pt idx="0">
                  <c:v>100.26735252498462</c:v>
                </c:pt>
              </c:numCache>
            </c:numRef>
          </c:xVal>
          <c:yVal>
            <c:numRef>
              <c:f>Sheet1!$B$11:$B$11</c:f>
              <c:numCache>
                <c:formatCode>General</c:formatCode>
                <c:ptCount val="1"/>
                <c:pt idx="0">
                  <c:v>46.36356239997341</c:v>
                </c:pt>
              </c:numCache>
            </c:numRef>
          </c:yVal>
          <c:bubbleSize>
            <c:numRef>
              <c:f>Sheet1!$C$11:$C$11</c:f>
              <c:numCache>
                <c:formatCode>General</c:formatCode>
                <c:ptCount val="1"/>
                <c:pt idx="0">
                  <c:v>2169.179</c:v>
                </c:pt>
              </c:numCache>
            </c:numRef>
          </c:bubbleSize>
          <c:bubble3D val="0"/>
        </c:ser>
        <c:ser>
          <c:idx val="4"/>
          <c:order val="4"/>
          <c:tx>
            <c:strRef>
              <c:f>Sheet1!$B$13</c:f>
              <c:strCache>
                <c:ptCount val="1"/>
                <c:pt idx="0">
                  <c:v>Metallized Films</c:v>
                </c:pt>
              </c:strCache>
            </c:strRef>
          </c:tx>
          <c:spPr>
            <a:solidFill>
              <a:srgbClr val="A35313"/>
            </a:solidFill>
          </c:spPr>
          <c:invertIfNegative val="0"/>
          <c:xVal>
            <c:numRef>
              <c:f>Sheet1!$A$14:$A$14</c:f>
              <c:numCache>
                <c:formatCode>General</c:formatCode>
                <c:ptCount val="1"/>
                <c:pt idx="0">
                  <c:v>95.77276966983167</c:v>
                </c:pt>
              </c:numCache>
            </c:numRef>
          </c:xVal>
          <c:yVal>
            <c:numRef>
              <c:f>Sheet1!$B$14:$B$14</c:f>
              <c:numCache>
                <c:formatCode>General</c:formatCode>
                <c:ptCount val="1"/>
                <c:pt idx="0">
                  <c:v>51.09528837473836</c:v>
                </c:pt>
              </c:numCache>
            </c:numRef>
          </c:yVal>
          <c:bubbleSize>
            <c:numRef>
              <c:f>Sheet1!$C$14:$C$14</c:f>
              <c:numCache>
                <c:formatCode>General</c:formatCode>
                <c:ptCount val="1"/>
                <c:pt idx="0">
                  <c:v>2314.198</c:v>
                </c:pt>
              </c:numCache>
            </c:numRef>
          </c:bubbleSize>
          <c:bubble3D val="0"/>
        </c:ser>
        <c:ser>
          <c:idx val="5"/>
          <c:order val="5"/>
          <c:tx>
            <c:strRef>
              <c:f>Sheet1!$B$16</c:f>
              <c:strCache>
                <c:ptCount val="1"/>
                <c:pt idx="0">
                  <c:v>Foil-Laminated Structures</c:v>
                </c:pt>
              </c:strCache>
            </c:strRef>
          </c:tx>
          <c:spPr>
            <a:solidFill>
              <a:srgbClr val="808080"/>
            </a:solidFill>
          </c:spPr>
          <c:invertIfNegative val="0"/>
          <c:xVal>
            <c:numRef>
              <c:f>Sheet1!$A$17:$A$17</c:f>
              <c:numCache>
                <c:formatCode>General</c:formatCode>
                <c:ptCount val="1"/>
                <c:pt idx="0">
                  <c:v>101.78629505700624</c:v>
                </c:pt>
              </c:numCache>
            </c:numRef>
          </c:xVal>
          <c:yVal>
            <c:numRef>
              <c:f>Sheet1!$B$17:$B$17</c:f>
              <c:numCache>
                <c:formatCode>General</c:formatCode>
                <c:ptCount val="1"/>
                <c:pt idx="0">
                  <c:v>52.801857026499185</c:v>
                </c:pt>
              </c:numCache>
            </c:numRef>
          </c:yVal>
          <c:bubbleSize>
            <c:numRef>
              <c:f>Sheet1!$C$17:$C$17</c:f>
              <c:numCache>
                <c:formatCode>General</c:formatCode>
                <c:ptCount val="1"/>
                <c:pt idx="0">
                  <c:v>2497.596</c:v>
                </c:pt>
              </c:numCache>
            </c:numRef>
          </c:bubbleSize>
          <c:bubble3D val="0"/>
        </c:ser>
        <c:ser>
          <c:idx val="6"/>
          <c:order val="6"/>
          <c:tx>
            <c:strRef>
              <c:f>Sheet1!$B$19</c:f>
              <c:strCache>
                <c:ptCount val="1"/>
                <c:pt idx="0">
                  <c:v>Mono-Material Recyclable Structures</c:v>
                </c:pt>
              </c:strCache>
            </c:strRef>
          </c:tx>
          <c:spPr>
            <a:solidFill>
              <a:srgbClr val="0E72AE"/>
            </a:solidFill>
          </c:spPr>
          <c:invertIfNegative val="0"/>
          <c:xVal>
            <c:numRef>
              <c:f>Sheet1!$A$20:$A$20</c:f>
              <c:numCache>
                <c:formatCode>General</c:formatCode>
                <c:ptCount val="1"/>
                <c:pt idx="0">
                  <c:v>107.90065294824622</c:v>
                </c:pt>
              </c:numCache>
            </c:numRef>
          </c:xVal>
          <c:yVal>
            <c:numRef>
              <c:f>Sheet1!$B$20:$B$20</c:f>
              <c:numCache>
                <c:formatCode>General</c:formatCode>
                <c:ptCount val="1"/>
                <c:pt idx="0">
                  <c:v>57.27802325913791</c:v>
                </c:pt>
              </c:numCache>
            </c:numRef>
          </c:yVal>
          <c:bubbleSize>
            <c:numRef>
              <c:f>Sheet1!$C$20:$C$20</c:f>
              <c:numCache>
                <c:formatCode>General</c:formatCode>
                <c:ptCount val="1"/>
                <c:pt idx="0">
                  <c:v>2831.0460000000003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2398.973</c:v>
                </c:pt>
                <c:pt idx="2">
                  <c:v>2752.026</c:v>
                </c:pt>
                <c:pt idx="3">
                  <c:v>3198.192</c:v>
                </c:pt>
                <c:pt idx="4">
                  <c:v>3750.234</c:v>
                </c:pt>
                <c:pt idx="5">
                  <c:v>4399.549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2398.973</c:v>
                </c:pt>
                <c:pt idx="1">
                  <c:v>353.0529999999999</c:v>
                </c:pt>
                <c:pt idx="2">
                  <c:v>446.16600000000017</c:v>
                </c:pt>
                <c:pt idx="3">
                  <c:v>552.0419999999999</c:v>
                </c:pt>
                <c:pt idx="4">
                  <c:v>649.315</c:v>
                </c:pt>
                <c:pt idx="5">
                  <c:v>745.4859999999999</c:v>
                </c:pt>
                <c:pt idx="6">
                  <c:v>5145.035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4496.276</c:v>
                </c:pt>
                <c:pt idx="2">
                  <c:v>5141.445</c:v>
                </c:pt>
                <c:pt idx="3">
                  <c:v>5935.855</c:v>
                </c:pt>
                <c:pt idx="4">
                  <c:v>6916.609</c:v>
                </c:pt>
                <c:pt idx="5">
                  <c:v>8073.316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4496.276</c:v>
                </c:pt>
                <c:pt idx="1">
                  <c:v>645.1689999999999</c:v>
                </c:pt>
                <c:pt idx="2">
                  <c:v>794.4099999999999</c:v>
                </c:pt>
                <c:pt idx="3">
                  <c:v>980.7540000000008</c:v>
                </c:pt>
                <c:pt idx="4">
                  <c:v>1156.7069999999994</c:v>
                </c:pt>
                <c:pt idx="5">
                  <c:v>1320.2959999999994</c:v>
                </c:pt>
                <c:pt idx="6">
                  <c:v>9393.612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3982.614</c:v>
                </c:pt>
                <c:pt idx="2">
                  <c:v>4572.126</c:v>
                </c:pt>
                <c:pt idx="3">
                  <c:v>5300.394</c:v>
                </c:pt>
                <c:pt idx="4">
                  <c:v>6167.362</c:v>
                </c:pt>
                <c:pt idx="5">
                  <c:v>7181.506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3982.614</c:v>
                </c:pt>
                <c:pt idx="1">
                  <c:v>589.5120000000002</c:v>
                </c:pt>
                <c:pt idx="2">
                  <c:v>728.268</c:v>
                </c:pt>
                <c:pt idx="3">
                  <c:v>866.9679999999998</c:v>
                </c:pt>
                <c:pt idx="4">
                  <c:v>1014.1440000000002</c:v>
                </c:pt>
                <c:pt idx="5">
                  <c:v>1155.1439999999993</c:v>
                </c:pt>
                <c:pt idx="6">
                  <c:v>8336.65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1024.114</c:v>
                </c:pt>
                <c:pt idx="2">
                  <c:v>1163.443</c:v>
                </c:pt>
                <c:pt idx="3">
                  <c:v>1340.279</c:v>
                </c:pt>
                <c:pt idx="4">
                  <c:v>1570.397</c:v>
                </c:pt>
                <c:pt idx="5">
                  <c:v>1848.439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1024.114</c:v>
                </c:pt>
                <c:pt idx="1">
                  <c:v>139.32899999999995</c:v>
                </c:pt>
                <c:pt idx="2">
                  <c:v>176.836</c:v>
                </c:pt>
                <c:pt idx="3">
                  <c:v>230.11799999999994</c:v>
                </c:pt>
                <c:pt idx="4">
                  <c:v>278.04200000000014</c:v>
                </c:pt>
                <c:pt idx="5">
                  <c:v>320.74</c:v>
                </c:pt>
                <c:pt idx="6">
                  <c:v>2169.179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1128.632</c:v>
                </c:pt>
                <c:pt idx="2">
                  <c:v>1292.151</c:v>
                </c:pt>
                <c:pt idx="3">
                  <c:v>1493.397</c:v>
                </c:pt>
                <c:pt idx="4">
                  <c:v>1728.144</c:v>
                </c:pt>
                <c:pt idx="5">
                  <c:v>2001.937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1128.632</c:v>
                </c:pt>
                <c:pt idx="1">
                  <c:v>163.519</c:v>
                </c:pt>
                <c:pt idx="2">
                  <c:v>201.24599999999987</c:v>
                </c:pt>
                <c:pt idx="3">
                  <c:v>234.74700000000007</c:v>
                </c:pt>
                <c:pt idx="4">
                  <c:v>273.7929999999999</c:v>
                </c:pt>
                <c:pt idx="5">
                  <c:v>312.26099999999997</c:v>
                </c:pt>
                <c:pt idx="6">
                  <c:v>2314.198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1166.328</c:v>
                </c:pt>
                <c:pt idx="2">
                  <c:v>1325.961</c:v>
                </c:pt>
                <c:pt idx="3">
                  <c:v>1538.565</c:v>
                </c:pt>
                <c:pt idx="4">
                  <c:v>1806.988</c:v>
                </c:pt>
                <c:pt idx="5">
                  <c:v>2127.059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1166.328</c:v>
                </c:pt>
                <c:pt idx="1">
                  <c:v>159.63300000000004</c:v>
                </c:pt>
                <c:pt idx="2">
                  <c:v>212.60400000000004</c:v>
                </c:pt>
                <c:pt idx="3">
                  <c:v>268.423</c:v>
                </c:pt>
                <c:pt idx="4">
                  <c:v>320.07100000000014</c:v>
                </c:pt>
                <c:pt idx="5">
                  <c:v>370.5369999999998</c:v>
                </c:pt>
                <c:pt idx="6">
                  <c:v>2497.596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1265.201</c:v>
                </c:pt>
                <c:pt idx="2">
                  <c:v>1467.774</c:v>
                </c:pt>
                <c:pt idx="3">
                  <c:v>1719.272</c:v>
                </c:pt>
                <c:pt idx="4">
                  <c:v>2032.433</c:v>
                </c:pt>
                <c:pt idx="5">
                  <c:v>2403.552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1265.201</c:v>
                </c:pt>
                <c:pt idx="1">
                  <c:v>202.57299999999987</c:v>
                </c:pt>
                <c:pt idx="2">
                  <c:v>251.49800000000005</c:v>
                </c:pt>
                <c:pt idx="3">
                  <c:v>313.16100000000006</c:v>
                </c:pt>
                <c:pt idx="4">
                  <c:v>371.11900000000014</c:v>
                </c:pt>
                <c:pt idx="5">
                  <c:v>427.49400000000014</c:v>
                </c:pt>
                <c:pt idx="6">
                  <c:v>2831.0460000000003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Coextruded Multilayer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29.253212632428934</c:v>
                </c:pt>
                <c:pt idx="1">
                  <c:v>29.079264458770194</c:v>
                </c:pt>
                <c:pt idx="2">
                  <c:v>28.737789300290057</c:v>
                </c:pt>
              </c:numCache>
            </c:numRef>
          </c:val>
        </c:ser>
        <c:ser>
          <c:idx val="1"/>
          <c:order val="1"/>
          <c:tx>
            <c:strRef>
              <c:f>Sheet1!$C$1</c:f>
              <c:strCache>
                <c:ptCount val="1"/>
                <c:pt idx="0">
                  <c:v>Laminated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25.631712228814273</c:v>
                </c:pt>
                <c:pt idx="1">
                  <c:v>25.757201235689397</c:v>
                </c:pt>
                <c:pt idx="2">
                  <c:v>25.504235343152676</c:v>
                </c:pt>
              </c:numCache>
            </c:numRef>
          </c:val>
        </c:ser>
        <c:ser>
          <c:idx val="2"/>
          <c:order val="2"/>
          <c:tx>
            <c:strRef>
              <c:f>Sheet1!$D$1</c:f>
              <c:strCache>
                <c:ptCount val="1"/>
                <c:pt idx="0">
                  <c:v>Monolayer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15.304555033015859</c:v>
                </c:pt>
                <c:pt idx="1">
                  <c:v>15.515144154062007</c:v>
                </c:pt>
                <c:pt idx="2">
                  <c:v>15.740157435991382</c:v>
                </c:pt>
              </c:numCache>
            </c:numRef>
          </c:val>
        </c:ser>
        <c:ser>
          <c:idx val="3"/>
          <c:order val="3"/>
          <c:tx>
            <c:strRef>
              <c:f>Sheet1!$E$1</c:f>
              <c:strCache>
                <c:ptCount val="1"/>
                <c:pt idx="0">
                  <c:v>Mono-Material Recyclable Structures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7.875076594712454</c:v>
                </c:pt>
                <c:pt idx="1">
                  <c:v>8.182574751305417</c:v>
                </c:pt>
                <c:pt idx="2">
                  <c:v>8.66099253912435</c:v>
                </c:pt>
              </c:numCache>
            </c:numRef>
          </c:val>
        </c:ser>
        <c:ser>
          <c:idx val="4"/>
          <c:order val="4"/>
          <c:tx>
            <c:strRef>
              <c:f>Sheet1!$F$1</c:f>
              <c:strCache>
                <c:ptCount val="1"/>
                <c:pt idx="0">
                  <c:v>Foil-Laminated Structures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8.014829407516396</c:v>
                </c:pt>
                <c:pt idx="1">
                  <c:v>7.543122432357026</c:v>
                </c:pt>
                <c:pt idx="2">
                  <c:v>7.64087207404854</c:v>
                </c:pt>
              </c:numCache>
            </c:numRef>
          </c:val>
        </c:ser>
        <c:ser>
          <c:idx val="5"/>
          <c:order val="5"/>
          <c:tx>
            <c:strRef>
              <c:f>Sheet1!$G$1</c:f>
              <c:strCache>
                <c:ptCount val="1"/>
                <c:pt idx="0">
                  <c:v>Metallized Films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7.344091629519863</c:v>
                </c:pt>
                <c:pt idx="1">
                  <c:v>7.299326910676908</c:v>
                </c:pt>
                <c:pt idx="2">
                  <c:v>7.079804288611522</c:v>
                </c:pt>
              </c:numCache>
            </c:numRef>
          </c:val>
        </c:ser>
        <c:ser>
          <c:idx val="6"/>
          <c:order val="6"/>
          <c:tx>
            <c:strRef>
              <c:f>Sheet1!$H$1</c:f>
              <c:strCache>
                <c:ptCount val="1"/>
                <c:pt idx="0">
                  <c:v>Coated Films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6.576522473992218</c:v>
                </c:pt>
                <c:pt idx="1">
                  <c:v>6.623366057139059</c:v>
                </c:pt>
                <c:pt idx="2">
                  <c:v>6.636149018781476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Low-Barrier Films</c:v>
                </c:pt>
              </c:strCache>
            </c:strRef>
          </c:tx>
          <c:spPr>
            <a:solidFill>
              <a:srgbClr val="3D85C6"/>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Sheet1!$B$2:$B$10</c:f>
              <c:numCache>
                <c:formatCode>General</c:formatCode>
                <c:ptCount val="9"/>
                <c:pt idx="0">
                  <c:v>20.98744031391336</c:v>
                </c:pt>
                <c:pt idx="1">
                  <c:v>21.760990378405506</c:v>
                </c:pt>
                <c:pt idx="2">
                  <c:v>20.14614093542973</c:v>
                </c:pt>
                <c:pt idx="3">
                  <c:v>20.238083194984757</c:v>
                </c:pt>
                <c:pt idx="4">
                  <c:v>19.698796573015432</c:v>
                </c:pt>
                <c:pt idx="5">
                  <c:v>21.806366907640935</c:v>
                </c:pt>
                <c:pt idx="6">
                  <c:v>21.42282503721252</c:v>
                </c:pt>
                <c:pt idx="7">
                  <c:v>20.087448151230074</c:v>
                </c:pt>
                <c:pt idx="8">
                  <c:v>22.459851889403126</c:v>
                </c:pt>
              </c:numCache>
            </c:numRef>
          </c:val>
        </c:ser>
        <c:ser>
          <c:idx val="1"/>
          <c:order val="1"/>
          <c:tx>
            <c:strRef>
              <c:f>Sheet1!$C$1</c:f>
              <c:strCache>
                <c:ptCount val="1"/>
                <c:pt idx="0">
                  <c:v>Medium-Barrier Films</c:v>
                </c:pt>
              </c:strCache>
            </c:strRef>
          </c:tx>
          <c:spPr>
            <a:solidFill>
              <a:srgbClr val="9E7E0A"/>
            </a:solidFill>
            <a:ln>
              <a:noFill/>
            </a:ln>
          </c:spPr>
          <c:dLbls>
            <c:dLbl>
              <c:idx val="0"/>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Sheet1!$C$2:$C$10</c:f>
              <c:numCache>
                <c:formatCode>General</c:formatCode>
                <c:ptCount val="9"/>
                <c:pt idx="0">
                  <c:v>34.4413802522443</c:v>
                </c:pt>
                <c:pt idx="1">
                  <c:v>30.0623408570171</c:v>
                </c:pt>
                <c:pt idx="2">
                  <c:v>33.17139313810026</c:v>
                </c:pt>
                <c:pt idx="3">
                  <c:v>33.29208166556325</c:v>
                </c:pt>
                <c:pt idx="4">
                  <c:v>32.46706976463038</c:v>
                </c:pt>
                <c:pt idx="5">
                  <c:v>30.12866729341589</c:v>
                </c:pt>
                <c:pt idx="6">
                  <c:v>29.625566992728032</c:v>
                </c:pt>
                <c:pt idx="7">
                  <c:v>32.67437225669984</c:v>
                </c:pt>
                <c:pt idx="8">
                  <c:v>31.55879334542075</c:v>
                </c:pt>
              </c:numCache>
            </c:numRef>
          </c:val>
        </c:ser>
        <c:ser>
          <c:idx val="2"/>
          <c:order val="2"/>
          <c:tx>
            <c:strRef>
              <c:f>Sheet1!$D$1</c:f>
              <c:strCache>
                <c:ptCount val="1"/>
                <c:pt idx="0">
                  <c:v>High-Barrier Films</c:v>
                </c:pt>
              </c:strCache>
            </c:strRef>
          </c:tx>
          <c:spPr>
            <a:solidFill>
              <a:srgbClr val="008189"/>
            </a:solidFill>
            <a:ln>
              <a:noFill/>
            </a:ln>
          </c:spPr>
          <c:dLbls>
            <c:dLbl>
              <c:idx val="0"/>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Sheet1!$D$2:$D$10</c:f>
              <c:numCache>
                <c:formatCode>General</c:formatCode>
                <c:ptCount val="9"/>
                <c:pt idx="0">
                  <c:v>31.293842024257902</c:v>
                </c:pt>
                <c:pt idx="1">
                  <c:v>35.012484625605204</c:v>
                </c:pt>
                <c:pt idx="2">
                  <c:v>33.816093422327256</c:v>
                </c:pt>
                <c:pt idx="3">
                  <c:v>32.805304492385304</c:v>
                </c:pt>
                <c:pt idx="4">
                  <c:v>34.56116427871718</c:v>
                </c:pt>
                <c:pt idx="5">
                  <c:v>35.04554737899957</c:v>
                </c:pt>
                <c:pt idx="6">
                  <c:v>35.65404128874875</c:v>
                </c:pt>
                <c:pt idx="7">
                  <c:v>33.59149203768047</c:v>
                </c:pt>
                <c:pt idx="8">
                  <c:v>31.60416126993925</c:v>
                </c:pt>
              </c:numCache>
            </c:numRef>
          </c:val>
        </c:ser>
        <c:ser>
          <c:idx val="3"/>
          <c:order val="3"/>
          <c:tx>
            <c:strRef>
              <c:f>Sheet1!$E$1</c:f>
              <c:strCache>
                <c:ptCount val="1"/>
                <c:pt idx="0">
                  <c:v>Ultra-High-Barrier Films</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Sheet1!$E$2:$E$10</c:f>
              <c:numCache>
                <c:formatCode>General</c:formatCode>
                <c:ptCount val="9"/>
                <c:pt idx="0">
                  <c:v>13.277337409584444</c:v>
                </c:pt>
                <c:pt idx="1">
                  <c:v>13.16418413897219</c:v>
                </c:pt>
                <c:pt idx="2">
                  <c:v>12.86637250414276</c:v>
                </c:pt>
                <c:pt idx="3">
                  <c:v>13.664530647066695</c:v>
                </c:pt>
                <c:pt idx="4">
                  <c:v>13.27296938363702</c:v>
                </c:pt>
                <c:pt idx="5">
                  <c:v>13.019418419943593</c:v>
                </c:pt>
                <c:pt idx="6">
                  <c:v>13.297566681310693</c:v>
                </c:pt>
                <c:pt idx="7">
                  <c:v>13.646687554389594</c:v>
                </c:pt>
                <c:pt idx="8">
                  <c:v>14.37719349523689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Low-Barrier Films</c:v>
                </c:pt>
              </c:strCache>
            </c:strRef>
          </c:tx>
          <c:spPr>
            <a:solidFill>
              <a:srgbClr val="3D85C6"/>
            </a:solidFill>
          </c:spPr>
          <c:invertIfNegative val="0"/>
          <c:xVal>
            <c:numRef>
              <c:f>Sheet1!$A$2:$A$2</c:f>
              <c:numCache>
                <c:formatCode>General</c:formatCode>
                <c:ptCount val="1"/>
                <c:pt idx="0">
                  <c:v>98.15242173722366</c:v>
                </c:pt>
              </c:numCache>
            </c:numRef>
          </c:xVal>
          <c:yVal>
            <c:numRef>
              <c:f>Sheet1!$B$2:$B$2</c:f>
              <c:numCache>
                <c:formatCode>General</c:formatCode>
                <c:ptCount val="1"/>
                <c:pt idx="0">
                  <c:v>86.15486422382209</c:v>
                </c:pt>
              </c:numCache>
            </c:numRef>
          </c:yVal>
          <c:bubbleSize>
            <c:numRef>
              <c:f>Sheet1!$C$2:$C$2</c:f>
              <c:numCache>
                <c:formatCode>General</c:formatCode>
                <c:ptCount val="1"/>
                <c:pt idx="0">
                  <c:v>6947.169</c:v>
                </c:pt>
              </c:numCache>
            </c:numRef>
          </c:bubbleSize>
          <c:bubble3D val="0"/>
        </c:ser>
        <c:ser>
          <c:idx val="1"/>
          <c:order val="1"/>
          <c:tx>
            <c:strRef>
              <c:f>Sheet1!$B$4</c:f>
              <c:strCache>
                <c:ptCount val="1"/>
                <c:pt idx="0">
                  <c:v>Medium-Barrier Films</c:v>
                </c:pt>
              </c:strCache>
            </c:strRef>
          </c:tx>
          <c:spPr>
            <a:solidFill>
              <a:srgbClr val="9E7E0A"/>
            </a:solidFill>
          </c:spPr>
          <c:invertIfNegative val="0"/>
          <c:xVal>
            <c:numRef>
              <c:f>Sheet1!$A$5:$A$5</c:f>
              <c:numCache>
                <c:formatCode>General</c:formatCode>
                <c:ptCount val="1"/>
                <c:pt idx="0">
                  <c:v>96.06578502350098</c:v>
                </c:pt>
              </c:numCache>
            </c:numRef>
          </c:xVal>
          <c:yVal>
            <c:numRef>
              <c:f>Sheet1!$B$5:$B$5</c:f>
              <c:numCache>
                <c:formatCode>General</c:formatCode>
                <c:ptCount val="1"/>
                <c:pt idx="0">
                  <c:v>130.49946909023836</c:v>
                </c:pt>
              </c:numCache>
            </c:numRef>
          </c:yVal>
          <c:bubbleSize>
            <c:numRef>
              <c:f>Sheet1!$C$5:$C$5</c:f>
              <c:numCache>
                <c:formatCode>General</c:formatCode>
                <c:ptCount val="1"/>
                <c:pt idx="0">
                  <c:v>10365.422</c:v>
                </c:pt>
              </c:numCache>
            </c:numRef>
          </c:bubbleSize>
          <c:bubble3D val="0"/>
        </c:ser>
        <c:ser>
          <c:idx val="2"/>
          <c:order val="2"/>
          <c:tx>
            <c:strRef>
              <c:f>Sheet1!$B$7</c:f>
              <c:strCache>
                <c:ptCount val="1"/>
                <c:pt idx="0">
                  <c:v>High-Barrier Films</c:v>
                </c:pt>
              </c:strCache>
            </c:strRef>
          </c:tx>
          <c:spPr>
            <a:solidFill>
              <a:srgbClr val="008189"/>
            </a:solidFill>
          </c:spPr>
          <c:invertIfNegative val="0"/>
          <c:xVal>
            <c:numRef>
              <c:f>Sheet1!$A$8:$A$8</c:f>
              <c:numCache>
                <c:formatCode>General</c:formatCode>
                <c:ptCount val="1"/>
                <c:pt idx="0">
                  <c:v>104.97370541870939</c:v>
                </c:pt>
              </c:numCache>
            </c:numRef>
          </c:xVal>
          <c:yVal>
            <c:numRef>
              <c:f>Sheet1!$B$8:$B$8</c:f>
              <c:numCache>
                <c:formatCode>General</c:formatCode>
                <c:ptCount val="1"/>
                <c:pt idx="0">
                  <c:v>128.7744812522046</c:v>
                </c:pt>
              </c:numCache>
            </c:numRef>
          </c:yVal>
          <c:bubbleSize>
            <c:numRef>
              <c:f>Sheet1!$C$8:$C$8</c:f>
              <c:numCache>
                <c:formatCode>General</c:formatCode>
                <c:ptCount val="1"/>
                <c:pt idx="0">
                  <c:v>10906.886</c:v>
                </c:pt>
              </c:numCache>
            </c:numRef>
          </c:bubbleSize>
          <c:bubble3D val="0"/>
        </c:ser>
        <c:ser>
          <c:idx val="3"/>
          <c:order val="3"/>
          <c:tx>
            <c:strRef>
              <c:f>Sheet1!$B$10</c:f>
              <c:strCache>
                <c:ptCount val="1"/>
                <c:pt idx="0">
                  <c:v>Ultra-High-Barrier Films</c:v>
                </c:pt>
              </c:strCache>
            </c:strRef>
          </c:tx>
          <c:spPr>
            <a:solidFill>
              <a:srgbClr val="40315E"/>
            </a:solidFill>
          </c:spPr>
          <c:invertIfNegative val="0"/>
          <c:xVal>
            <c:numRef>
              <c:f>Sheet1!$A$11:$A$11</c:f>
              <c:numCache>
                <c:formatCode>General</c:formatCode>
                <c:ptCount val="1"/>
                <c:pt idx="0">
                  <c:v>100.26013654870103</c:v>
                </c:pt>
              </c:numCache>
            </c:numRef>
          </c:xVal>
          <c:yVal>
            <c:numRef>
              <c:f>Sheet1!$B$11:$B$11</c:f>
              <c:numCache>
                <c:formatCode>General</c:formatCode>
                <c:ptCount val="1"/>
                <c:pt idx="0">
                  <c:v>54.57118543373497</c:v>
                </c:pt>
              </c:numCache>
            </c:numRef>
          </c:yVal>
          <c:bubbleSize>
            <c:numRef>
              <c:f>Sheet1!$C$11:$C$11</c:f>
              <c:numCache>
                <c:formatCode>General</c:formatCode>
                <c:ptCount val="1"/>
                <c:pt idx="0">
                  <c:v>4467.838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3330.346</c:v>
                </c:pt>
                <c:pt idx="2">
                  <c:v>3821.564</c:v>
                </c:pt>
                <c:pt idx="3">
                  <c:v>4421.586</c:v>
                </c:pt>
                <c:pt idx="4">
                  <c:v>5143.966</c:v>
                </c:pt>
                <c:pt idx="5">
                  <c:v>5986.371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3330.346</c:v>
                </c:pt>
                <c:pt idx="1">
                  <c:v>491.21799999999985</c:v>
                </c:pt>
                <c:pt idx="2">
                  <c:v>600.0220000000004</c:v>
                </c:pt>
                <c:pt idx="3">
                  <c:v>722.3800000000001</c:v>
                </c:pt>
                <c:pt idx="4">
                  <c:v>842.4049999999997</c:v>
                </c:pt>
                <c:pt idx="5">
                  <c:v>960.7979999999998</c:v>
                </c:pt>
                <c:pt idx="6">
                  <c:v>6947.169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5044.502</c:v>
                </c:pt>
                <c:pt idx="2">
                  <c:v>5649.167</c:v>
                </c:pt>
                <c:pt idx="3">
                  <c:v>6452.505</c:v>
                </c:pt>
                <c:pt idx="4">
                  <c:v>7518.221</c:v>
                </c:pt>
                <c:pt idx="5">
                  <c:v>8840.623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5044.502</c:v>
                </c:pt>
                <c:pt idx="1">
                  <c:v>604.665</c:v>
                </c:pt>
                <c:pt idx="2">
                  <c:v>803.3379999999997</c:v>
                </c:pt>
                <c:pt idx="3">
                  <c:v>1065.7159999999994</c:v>
                </c:pt>
                <c:pt idx="4">
                  <c:v>1322.402</c:v>
                </c:pt>
                <c:pt idx="5">
                  <c:v>1524.799000000001</c:v>
                </c:pt>
                <c:pt idx="6">
                  <c:v>10365.422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4977.822</c:v>
                </c:pt>
                <c:pt idx="2">
                  <c:v>5777.475</c:v>
                </c:pt>
                <c:pt idx="3">
                  <c:v>6762.962</c:v>
                </c:pt>
                <c:pt idx="4">
                  <c:v>7949.41</c:v>
                </c:pt>
                <c:pt idx="5">
                  <c:v>9327.101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4977.822</c:v>
                </c:pt>
                <c:pt idx="1">
                  <c:v>799.6530000000002</c:v>
                </c:pt>
                <c:pt idx="2">
                  <c:v>985.4870000000001</c:v>
                </c:pt>
                <c:pt idx="3">
                  <c:v>1186.4479999999994</c:v>
                </c:pt>
                <c:pt idx="4">
                  <c:v>1377.6910000000007</c:v>
                </c:pt>
                <c:pt idx="5">
                  <c:v>1579.7849999999999</c:v>
                </c:pt>
                <c:pt idx="6">
                  <c:v>10906.886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2109.468</c:v>
                </c:pt>
                <c:pt idx="2">
                  <c:v>2466.719</c:v>
                </c:pt>
                <c:pt idx="3">
                  <c:v>2888.9</c:v>
                </c:pt>
                <c:pt idx="4">
                  <c:v>3360.571</c:v>
                </c:pt>
                <c:pt idx="5">
                  <c:v>3881.261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2109.468</c:v>
                </c:pt>
                <c:pt idx="1">
                  <c:v>357.2510000000002</c:v>
                </c:pt>
                <c:pt idx="2">
                  <c:v>422.18100000000004</c:v>
                </c:pt>
                <c:pt idx="3">
                  <c:v>471.6709999999998</c:v>
                </c:pt>
                <c:pt idx="4">
                  <c:v>520.69</c:v>
                </c:pt>
                <c:pt idx="5">
                  <c:v>586.5769999999998</c:v>
                </c:pt>
                <c:pt idx="6">
                  <c:v>4467.838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High-Barrier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31.062203124229594</c:v>
                </c:pt>
                <c:pt idx="1">
                  <c:v>32.19362031305114</c:v>
                </c:pt>
                <c:pt idx="2">
                  <c:v>33.367335310348984</c:v>
                </c:pt>
              </c:numCache>
            </c:numRef>
          </c:val>
        </c:ser>
        <c:ser>
          <c:idx val="1"/>
          <c:order val="1"/>
          <c:tx>
            <c:strRef>
              <c:f>Sheet1!$C$1</c:f>
              <c:strCache>
                <c:ptCount val="1"/>
                <c:pt idx="0">
                  <c:v>Medium-Barrier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35.06793125996183</c:v>
                </c:pt>
                <c:pt idx="1">
                  <c:v>32.62486727255959</c:v>
                </c:pt>
                <c:pt idx="2">
                  <c:v>31.710839510678685</c:v>
                </c:pt>
              </c:numCache>
            </c:numRef>
          </c:val>
        </c:ser>
        <c:ser>
          <c:idx val="2"/>
          <c:order val="2"/>
          <c:tx>
            <c:strRef>
              <c:f>Sheet1!$D$1</c:f>
              <c:strCache>
                <c:ptCount val="1"/>
                <c:pt idx="0">
                  <c:v>Low-Barrier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20.93145365900503</c:v>
                </c:pt>
                <c:pt idx="1">
                  <c:v>21.53871605595552</c:v>
                </c:pt>
                <c:pt idx="2">
                  <c:v>21.253409770732162</c:v>
                </c:pt>
              </c:numCache>
            </c:numRef>
          </c:val>
        </c:ser>
        <c:ser>
          <c:idx val="3"/>
          <c:order val="3"/>
          <c:tx>
            <c:strRef>
              <c:f>Sheet1!$E$1</c:f>
              <c:strCache>
                <c:ptCount val="1"/>
                <c:pt idx="0">
                  <c:v>Ultra-High-Barrier Films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12.93841195680355</c:v>
                </c:pt>
                <c:pt idx="1">
                  <c:v>13.642796358433742</c:v>
                </c:pt>
                <c:pt idx="2">
                  <c:v>13.668415408240167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Food Packaging</c:v>
                </c:pt>
              </c:strCache>
            </c:strRef>
          </c:tx>
          <c:spPr>
            <a:solidFill>
              <a:srgbClr val="3D85C6"/>
            </a:solidFill>
            <a:ln>
              <a:noFill/>
            </a:ln>
          </c:spPr>
          <c:dLbls>
            <c:dLbl>
              <c:idx val="0"/>
              <c:tx>
                <c:rich>
                  <a:bodyPr/>
                  <a:lstStyle/>
                  <a:p>
                    <a:r>
                      <a:rPr sz="1100">
                        <a:solidFill>
                          <a:srgbClr val="FFFFFF"/>
                        </a:solidFill>
                        <a:latin typeface="Calibri"/>
                      </a:rPr>
                      <a:t>83%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83%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Sheet1!$B$2:$B$10</c:f>
              <c:numCache>
                <c:formatCode>General</c:formatCode>
                <c:ptCount val="9"/>
                <c:pt idx="0">
                  <c:v>82.84495311255718</c:v>
                </c:pt>
                <c:pt idx="1">
                  <c:v>83.06101629377332</c:v>
                </c:pt>
                <c:pt idx="2">
                  <c:v>84.4490770824139</c:v>
                </c:pt>
                <c:pt idx="3">
                  <c:v>83.92024227954991</c:v>
                </c:pt>
                <c:pt idx="4">
                  <c:v>83.2643291039501</c:v>
                </c:pt>
                <c:pt idx="5">
                  <c:v>84.08412487438001</c:v>
                </c:pt>
                <c:pt idx="6">
                  <c:v>83.4532505791572</c:v>
                </c:pt>
                <c:pt idx="7">
                  <c:v>83.58103097269245</c:v>
                </c:pt>
                <c:pt idx="8">
                  <c:v>83.17442125440046</c:v>
                </c:pt>
              </c:numCache>
            </c:numRef>
          </c:val>
        </c:ser>
        <c:ser>
          <c:idx val="1"/>
          <c:order val="1"/>
          <c:tx>
            <c:strRef>
              <c:f>Sheet1!$C$1</c:f>
              <c:strCache>
                <c:ptCount val="1"/>
                <c:pt idx="0">
                  <c:v>Non-Food Packaging</c:v>
                </c:pt>
              </c:strCache>
            </c:strRef>
          </c:tx>
          <c:spPr>
            <a:solidFill>
              <a:srgbClr val="9E7E0A"/>
            </a:solidFill>
            <a:ln>
              <a:noFill/>
            </a:ln>
          </c:spPr>
          <c:dLbls>
            <c:dLbl>
              <c:idx val="0"/>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Sheet1!$C$2:$C$10</c:f>
              <c:numCache>
                <c:formatCode>General</c:formatCode>
                <c:ptCount val="9"/>
                <c:pt idx="0">
                  <c:v>17.155046887442822</c:v>
                </c:pt>
                <c:pt idx="1">
                  <c:v>16.938983706226683</c:v>
                </c:pt>
                <c:pt idx="2">
                  <c:v>15.55092291758611</c:v>
                </c:pt>
                <c:pt idx="3">
                  <c:v>16.079757720450072</c:v>
                </c:pt>
                <c:pt idx="4">
                  <c:v>16.735670896049907</c:v>
                </c:pt>
                <c:pt idx="5">
                  <c:v>15.915875125619996</c:v>
                </c:pt>
                <c:pt idx="6">
                  <c:v>16.5467494208428</c:v>
                </c:pt>
                <c:pt idx="7">
                  <c:v>16.418969027307547</c:v>
                </c:pt>
                <c:pt idx="8">
                  <c:v>16.825578745599554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Food Packaging</c:v>
                </c:pt>
              </c:strCache>
            </c:strRef>
          </c:tx>
          <c:spPr>
            <a:solidFill>
              <a:srgbClr val="3D85C6"/>
            </a:solidFill>
          </c:spPr>
          <c:invertIfNegative val="0"/>
          <c:xVal>
            <c:numRef>
              <c:f>Sheet1!$A$2:$A$2</c:f>
              <c:numCache>
                <c:formatCode>General</c:formatCode>
                <c:ptCount val="1"/>
                <c:pt idx="0">
                  <c:v>100.21056008973501</c:v>
                </c:pt>
              </c:numCache>
            </c:numRef>
          </c:xVal>
          <c:yVal>
            <c:numRef>
              <c:f>Sheet1!$B$2:$B$2</c:f>
              <c:numCache>
                <c:formatCode>General</c:formatCode>
                <c:ptCount val="1"/>
                <c:pt idx="0">
                  <c:v>166.75327174936513</c:v>
                </c:pt>
              </c:numCache>
            </c:numRef>
          </c:yVal>
          <c:bubbleSize>
            <c:numRef>
              <c:f>Sheet1!$C$2:$C$2</c:f>
              <c:numCache>
                <c:formatCode>General</c:formatCode>
                <c:ptCount val="1"/>
                <c:pt idx="0">
                  <c:v>27295.004</c:v>
                </c:pt>
              </c:numCache>
            </c:numRef>
          </c:bubbleSize>
          <c:bubble3D val="0"/>
        </c:ser>
        <c:ser>
          <c:idx val="1"/>
          <c:order val="1"/>
          <c:tx>
            <c:strRef>
              <c:f>Sheet1!$B$4</c:f>
              <c:strCache>
                <c:ptCount val="1"/>
                <c:pt idx="0">
                  <c:v>Non-Food Packaging</c:v>
                </c:pt>
              </c:strCache>
            </c:strRef>
          </c:tx>
          <c:spPr>
            <a:solidFill>
              <a:srgbClr val="9E7E0A"/>
            </a:solidFill>
          </c:spPr>
          <c:invertIfNegative val="0"/>
          <c:xVal>
            <c:numRef>
              <c:f>Sheet1!$A$5:$A$5</c:f>
              <c:numCache>
                <c:formatCode>General</c:formatCode>
                <c:ptCount val="1"/>
                <c:pt idx="0">
                  <c:v>98.9395440287453</c:v>
                </c:pt>
              </c:numCache>
            </c:numRef>
          </c:xVal>
          <c:yVal>
            <c:numRef>
              <c:f>Sheet1!$B$5:$B$5</c:f>
              <c:numCache>
                <c:formatCode>General</c:formatCode>
                <c:ptCount val="1"/>
                <c:pt idx="0">
                  <c:v>33.24672825063489</c:v>
                </c:pt>
              </c:numCache>
            </c:numRef>
          </c:yVal>
          <c:bubbleSize>
            <c:numRef>
              <c:f>Sheet1!$C$5:$C$5</c:f>
              <c:numCache>
                <c:formatCode>General</c:formatCode>
                <c:ptCount val="1"/>
                <c:pt idx="0">
                  <c:v>5392.314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12891.813</c:v>
                </c:pt>
                <c:pt idx="2">
                  <c:v>14766.746</c:v>
                </c:pt>
                <c:pt idx="3">
                  <c:v>17111.453</c:v>
                </c:pt>
                <c:pt idx="4">
                  <c:v>19992.697</c:v>
                </c:pt>
                <c:pt idx="5">
                  <c:v>23395.625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12891.813</c:v>
                </c:pt>
                <c:pt idx="1">
                  <c:v>1874.932999999999</c:v>
                </c:pt>
                <c:pt idx="2">
                  <c:v>2344.707000000002</c:v>
                </c:pt>
                <c:pt idx="3">
                  <c:v>2881.243999999999</c:v>
                </c:pt>
                <c:pt idx="4">
                  <c:v>3402.928</c:v>
                </c:pt>
                <c:pt idx="5">
                  <c:v>3899.379000000001</c:v>
                </c:pt>
                <c:pt idx="6">
                  <c:v>27295.004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2570.328</c:v>
                </c:pt>
                <c:pt idx="2">
                  <c:v>2948.179</c:v>
                </c:pt>
                <c:pt idx="3">
                  <c:v>3414.5</c:v>
                </c:pt>
                <c:pt idx="4">
                  <c:v>3979.471</c:v>
                </c:pt>
                <c:pt idx="5">
                  <c:v>4639.732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2570.328</c:v>
                </c:pt>
                <c:pt idx="1">
                  <c:v>377.8510000000001</c:v>
                </c:pt>
                <c:pt idx="2">
                  <c:v>466.3209999999999</c:v>
                </c:pt>
                <c:pt idx="3">
                  <c:v>564.971</c:v>
                </c:pt>
                <c:pt idx="4">
                  <c:v>660.261</c:v>
                </c:pt>
                <c:pt idx="5">
                  <c:v>752.5820000000003</c:v>
                </c:pt>
                <c:pt idx="6">
                  <c:v>5392.314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Food Packaging</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83.52724706578037</c:v>
                </c:pt>
                <c:pt idx="1">
                  <c:v>83.37663587468256</c:v>
                </c:pt>
                <c:pt idx="2">
                  <c:v>83.50334524233527</c:v>
                </c:pt>
              </c:numCache>
            </c:numRef>
          </c:val>
        </c:ser>
        <c:ser>
          <c:idx val="1"/>
          <c:order val="1"/>
          <c:tx>
            <c:strRef>
              <c:f>Sheet1!$C$1</c:f>
              <c:strCache>
                <c:ptCount val="1"/>
                <c:pt idx="0">
                  <c:v>Non-Food Packaging</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16.47275293421963</c:v>
                </c:pt>
                <c:pt idx="1">
                  <c:v>16.623364125317444</c:v>
                </c:pt>
                <c:pt idx="2">
                  <c:v>16.496654757664732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Low-Barrier Films</c:v>
                </c:pt>
              </c:strCache>
            </c:strRef>
          </c:tx>
          <c:spPr>
            <a:solidFill>
              <a:srgbClr val="3D85C6"/>
            </a:solidFill>
            <a:ln>
              <a:noFill/>
            </a:ln>
          </c:spPr>
          <c:dLbls>
            <c:dLbl>
              <c:idx val="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Sheet1!$B$2:$B$10</c:f>
              <c:numCache>
                <c:formatCode>General</c:formatCode>
                <c:ptCount val="9"/>
                <c:pt idx="0">
                  <c:v>20.98726910946801</c:v>
                </c:pt>
                <c:pt idx="1">
                  <c:v>21.7609679996956</c:v>
                </c:pt>
                <c:pt idx="2">
                  <c:v>20.14618496625255</c:v>
                </c:pt>
                <c:pt idx="3">
                  <c:v>20.238075612292917</c:v>
                </c:pt>
                <c:pt idx="4">
                  <c:v>19.698796573015432</c:v>
                </c:pt>
                <c:pt idx="5">
                  <c:v>21.806385187288754</c:v>
                </c:pt>
                <c:pt idx="6">
                  <c:v>21.422820073345257</c:v>
                </c:pt>
                <c:pt idx="7">
                  <c:v>20.087448151230074</c:v>
                </c:pt>
                <c:pt idx="8">
                  <c:v>22.459852848946877</c:v>
                </c:pt>
              </c:numCache>
            </c:numRef>
          </c:val>
        </c:ser>
        <c:ser>
          <c:idx val="1"/>
          <c:order val="1"/>
          <c:tx>
            <c:strRef>
              <c:f>Sheet1!$C$1</c:f>
              <c:strCache>
                <c:ptCount val="1"/>
                <c:pt idx="0">
                  <c:v>Medium-Barrier Films</c:v>
                </c:pt>
              </c:strCache>
            </c:strRef>
          </c:tx>
          <c:spPr>
            <a:solidFill>
              <a:srgbClr val="9E7E0A"/>
            </a:solidFill>
            <a:ln>
              <a:noFill/>
            </a:ln>
          </c:spPr>
          <c:dLbls>
            <c:dLbl>
              <c:idx val="0"/>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Sheet1!$C$2:$C$10</c:f>
              <c:numCache>
                <c:formatCode>General</c:formatCode>
                <c:ptCount val="9"/>
                <c:pt idx="0">
                  <c:v>34.4413767599789</c:v>
                </c:pt>
                <c:pt idx="1">
                  <c:v>30.062309941309977</c:v>
                </c:pt>
                <c:pt idx="2">
                  <c:v>33.171319572365285</c:v>
                </c:pt>
                <c:pt idx="3">
                  <c:v>33.29203172443147</c:v>
                </c:pt>
                <c:pt idx="4">
                  <c:v>32.46703420762094</c:v>
                </c:pt>
                <c:pt idx="5">
                  <c:v>30.12864775916766</c:v>
                </c:pt>
                <c:pt idx="6">
                  <c:v>29.625606470064437</c:v>
                </c:pt>
                <c:pt idx="7">
                  <c:v>32.67435240648165</c:v>
                </c:pt>
                <c:pt idx="8">
                  <c:v>31.558790867829334</c:v>
                </c:pt>
              </c:numCache>
            </c:numRef>
          </c:val>
        </c:ser>
        <c:ser>
          <c:idx val="2"/>
          <c:order val="2"/>
          <c:tx>
            <c:strRef>
              <c:f>Sheet1!$D$1</c:f>
              <c:strCache>
                <c:ptCount val="1"/>
                <c:pt idx="0">
                  <c:v>High-Barrier Films</c:v>
                </c:pt>
              </c:strCache>
            </c:strRef>
          </c:tx>
          <c:spPr>
            <a:solidFill>
              <a:srgbClr val="008189"/>
            </a:solidFill>
            <a:ln>
              <a:noFill/>
            </a:ln>
          </c:spPr>
          <c:dLbls>
            <c:dLbl>
              <c:idx val="0"/>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Sheet1!$D$2:$D$10</c:f>
              <c:numCache>
                <c:formatCode>General</c:formatCode>
                <c:ptCount val="9"/>
                <c:pt idx="0">
                  <c:v>31.293953509872274</c:v>
                </c:pt>
                <c:pt idx="1">
                  <c:v>35.01244861923679</c:v>
                </c:pt>
                <c:pt idx="2">
                  <c:v>33.81610713666329</c:v>
                </c:pt>
                <c:pt idx="3">
                  <c:v>32.80536713595885</c:v>
                </c:pt>
                <c:pt idx="4">
                  <c:v>34.56119983572662</c:v>
                </c:pt>
                <c:pt idx="5">
                  <c:v>35.04552465683881</c:v>
                </c:pt>
                <c:pt idx="6">
                  <c:v>35.65400985644915</c:v>
                </c:pt>
                <c:pt idx="7">
                  <c:v>33.59149203768047</c:v>
                </c:pt>
                <c:pt idx="8">
                  <c:v>31.604168218987606</c:v>
                </c:pt>
              </c:numCache>
            </c:numRef>
          </c:val>
        </c:ser>
        <c:ser>
          <c:idx val="3"/>
          <c:order val="3"/>
          <c:tx>
            <c:strRef>
              <c:f>Sheet1!$E$1</c:f>
              <c:strCache>
                <c:ptCount val="1"/>
                <c:pt idx="0">
                  <c:v>Ultra-High-Barrier Films</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Sheet1!$A$2:$A$10</c:f>
              <c:strCache>
                <c:ptCount val="9"/>
                <c:pt idx="0">
                  <c:v>New Zealand  ·  952</c:v>
                </c:pt>
                <c:pt idx="1">
                  <c:v>Singapore  ·  972</c:v>
                </c:pt>
                <c:pt idx="2">
                  <c:v>Malaysia  ·  2,255</c:v>
                </c:pt>
                <c:pt idx="3">
                  <c:v>Philippines  ·  2,669</c:v>
                </c:pt>
                <c:pt idx="4">
                  <c:v>Thailand  ·  2,812</c:v>
                </c:pt>
                <c:pt idx="5">
                  <c:v>Rest of South Asia  ·  3,085</c:v>
                </c:pt>
                <c:pt idx="6">
                  <c:v>Indonesia  ·  4,316</c:v>
                </c:pt>
                <c:pt idx="7">
                  <c:v>Australia  ·  5,038</c:v>
                </c:pt>
                <c:pt idx="8">
                  <c:v>India  ·  10,589</c:v>
                </c:pt>
              </c:strCache>
            </c:strRef>
          </c:cat>
          <c:val>
            <c:numRef>
              <c:f>Sheet1!$E$2:$E$10</c:f>
              <c:numCache>
                <c:formatCode>General</c:formatCode>
                <c:ptCount val="9"/>
                <c:pt idx="0">
                  <c:v>13.277400620680815</c:v>
                </c:pt>
                <c:pt idx="1">
                  <c:v>13.164273439757629</c:v>
                </c:pt>
                <c:pt idx="2">
                  <c:v>12.866388324718866</c:v>
                </c:pt>
                <c:pt idx="3">
                  <c:v>13.664525527316762</c:v>
                </c:pt>
                <c:pt idx="4">
                  <c:v>13.27296938363702</c:v>
                </c:pt>
                <c:pt idx="5">
                  <c:v>13.01944239670477</c:v>
                </c:pt>
                <c:pt idx="6">
                  <c:v>13.297563600141157</c:v>
                </c:pt>
                <c:pt idx="7">
                  <c:v>13.646707404607788</c:v>
                </c:pt>
                <c:pt idx="8">
                  <c:v>14.377188064236199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Low-Barrier Films</c:v>
                </c:pt>
              </c:strCache>
            </c:strRef>
          </c:tx>
          <c:spPr>
            <a:solidFill>
              <a:srgbClr val="3D85C6"/>
            </a:solidFill>
          </c:spPr>
          <c:invertIfNegative val="0"/>
          <c:xVal>
            <c:numRef>
              <c:f>Sheet1!$A$2:$A$2</c:f>
              <c:numCache>
                <c:formatCode>General</c:formatCode>
                <c:ptCount val="1"/>
                <c:pt idx="0">
                  <c:v>98.15248324362058</c:v>
                </c:pt>
              </c:numCache>
            </c:numRef>
          </c:xVal>
          <c:yVal>
            <c:numRef>
              <c:f>Sheet1!$B$2:$B$2</c:f>
              <c:numCache>
                <c:formatCode>General</c:formatCode>
                <c:ptCount val="1"/>
                <c:pt idx="0">
                  <c:v>86.15483835417844</c:v>
                </c:pt>
              </c:numCache>
            </c:numRef>
          </c:yVal>
          <c:bubbleSize>
            <c:numRef>
              <c:f>Sheet1!$C$2:$C$2</c:f>
              <c:numCache>
                <c:formatCode>General</c:formatCode>
                <c:ptCount val="1"/>
                <c:pt idx="0">
                  <c:v>6947.17</c:v>
                </c:pt>
              </c:numCache>
            </c:numRef>
          </c:bubbleSize>
          <c:bubble3D val="0"/>
        </c:ser>
        <c:ser>
          <c:idx val="1"/>
          <c:order val="1"/>
          <c:tx>
            <c:strRef>
              <c:f>Sheet1!$B$4</c:f>
              <c:strCache>
                <c:ptCount val="1"/>
                <c:pt idx="0">
                  <c:v>Medium-Barrier Films</c:v>
                </c:pt>
              </c:strCache>
            </c:strRef>
          </c:tx>
          <c:spPr>
            <a:solidFill>
              <a:srgbClr val="9E7E0A"/>
            </a:solidFill>
          </c:spPr>
          <c:invertIfNegative val="0"/>
          <c:xVal>
            <c:numRef>
              <c:f>Sheet1!$A$5:$A$5</c:f>
              <c:numCache>
                <c:formatCode>General</c:formatCode>
                <c:ptCount val="1"/>
                <c:pt idx="0">
                  <c:v>96.06571687230178</c:v>
                </c:pt>
              </c:numCache>
            </c:numRef>
          </c:xVal>
          <c:yVal>
            <c:numRef>
              <c:f>Sheet1!$B$5:$B$5</c:f>
              <c:numCache>
                <c:formatCode>General</c:formatCode>
                <c:ptCount val="1"/>
                <c:pt idx="0">
                  <c:v>130.49952082952564</c:v>
                </c:pt>
              </c:numCache>
            </c:numRef>
          </c:yVal>
          <c:bubbleSize>
            <c:numRef>
              <c:f>Sheet1!$C$5:$C$5</c:f>
              <c:numCache>
                <c:formatCode>General</c:formatCode>
                <c:ptCount val="1"/>
                <c:pt idx="0">
                  <c:v>10365.421</c:v>
                </c:pt>
              </c:numCache>
            </c:numRef>
          </c:bubbleSize>
          <c:bubble3D val="0"/>
        </c:ser>
        <c:ser>
          <c:idx val="2"/>
          <c:order val="2"/>
          <c:tx>
            <c:strRef>
              <c:f>Sheet1!$B$7</c:f>
              <c:strCache>
                <c:ptCount val="1"/>
                <c:pt idx="0">
                  <c:v>High-Barrier Films</c:v>
                </c:pt>
              </c:strCache>
            </c:strRef>
          </c:tx>
          <c:spPr>
            <a:solidFill>
              <a:srgbClr val="008189"/>
            </a:solidFill>
          </c:spPr>
          <c:invertIfNegative val="0"/>
          <c:xVal>
            <c:numRef>
              <c:f>Sheet1!$A$8:$A$8</c:f>
              <c:numCache>
                <c:formatCode>General</c:formatCode>
                <c:ptCount val="1"/>
                <c:pt idx="0">
                  <c:v>104.97371817612915</c:v>
                </c:pt>
              </c:numCache>
            </c:numRef>
          </c:xVal>
          <c:yVal>
            <c:numRef>
              <c:f>Sheet1!$B$8:$B$8</c:f>
              <c:numCache>
                <c:formatCode>General</c:formatCode>
                <c:ptCount val="1"/>
                <c:pt idx="0">
                  <c:v>128.77448125220457</c:v>
                </c:pt>
              </c:numCache>
            </c:numRef>
          </c:yVal>
          <c:bubbleSize>
            <c:numRef>
              <c:f>Sheet1!$C$8:$C$8</c:f>
              <c:numCache>
                <c:formatCode>General</c:formatCode>
                <c:ptCount val="1"/>
                <c:pt idx="0">
                  <c:v>10906.887</c:v>
                </c:pt>
              </c:numCache>
            </c:numRef>
          </c:bubbleSize>
          <c:bubble3D val="0"/>
        </c:ser>
        <c:ser>
          <c:idx val="3"/>
          <c:order val="3"/>
          <c:tx>
            <c:strRef>
              <c:f>Sheet1!$B$10</c:f>
              <c:strCache>
                <c:ptCount val="1"/>
                <c:pt idx="0">
                  <c:v>Ultra-High-Barrier Films</c:v>
                </c:pt>
              </c:strCache>
            </c:strRef>
          </c:tx>
          <c:spPr>
            <a:solidFill>
              <a:srgbClr val="40315E"/>
            </a:solidFill>
          </c:spPr>
          <c:invertIfNegative val="0"/>
          <c:xVal>
            <c:numRef>
              <c:f>Sheet1!$A$11:$A$11</c:f>
              <c:numCache>
                <c:formatCode>General</c:formatCode>
                <c:ptCount val="1"/>
                <c:pt idx="0">
                  <c:v>100.26017124887723</c:v>
                </c:pt>
              </c:numCache>
            </c:numRef>
          </c:xVal>
          <c:yVal>
            <c:numRef>
              <c:f>Sheet1!$B$11:$B$11</c:f>
              <c:numCache>
                <c:formatCode>General</c:formatCode>
                <c:ptCount val="1"/>
                <c:pt idx="0">
                  <c:v>54.57115956409133</c:v>
                </c:pt>
              </c:numCache>
            </c:numRef>
          </c:yVal>
          <c:bubbleSize>
            <c:numRef>
              <c:f>Sheet1!$C$11:$C$11</c:f>
              <c:numCache>
                <c:formatCode>General</c:formatCode>
                <c:ptCount val="1"/>
                <c:pt idx="0">
                  <c:v>4467.837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3330.345</c:v>
                </c:pt>
                <c:pt idx="2">
                  <c:v>3821.565</c:v>
                </c:pt>
                <c:pt idx="3">
                  <c:v>4421.5869999999995</c:v>
                </c:pt>
                <c:pt idx="4">
                  <c:v>5143.967</c:v>
                </c:pt>
                <c:pt idx="5">
                  <c:v>5986.374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3330.345</c:v>
                </c:pt>
                <c:pt idx="1">
                  <c:v>491.22000000000025</c:v>
                </c:pt>
                <c:pt idx="2">
                  <c:v>600.0219999999995</c:v>
                </c:pt>
                <c:pt idx="3">
                  <c:v>722.3800000000001</c:v>
                </c:pt>
                <c:pt idx="4">
                  <c:v>842.4070000000002</c:v>
                </c:pt>
                <c:pt idx="5">
                  <c:v>960.7960000000003</c:v>
                </c:pt>
                <c:pt idx="6">
                  <c:v>6947.17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5044.504</c:v>
                </c:pt>
                <c:pt idx="2">
                  <c:v>5649.166</c:v>
                </c:pt>
                <c:pt idx="3">
                  <c:v>6452.504</c:v>
                </c:pt>
                <c:pt idx="4">
                  <c:v>7518.2210000000005</c:v>
                </c:pt>
                <c:pt idx="5">
                  <c:v>8840.624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5044.504</c:v>
                </c:pt>
                <c:pt idx="1">
                  <c:v>604.6620000000003</c:v>
                </c:pt>
                <c:pt idx="2">
                  <c:v>803.3379999999997</c:v>
                </c:pt>
                <c:pt idx="3">
                  <c:v>1065.7170000000006</c:v>
                </c:pt>
                <c:pt idx="4">
                  <c:v>1322.4029999999993</c:v>
                </c:pt>
                <c:pt idx="5">
                  <c:v>1524.7970000000005</c:v>
                </c:pt>
                <c:pt idx="6">
                  <c:v>10365.421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4977.822</c:v>
                </c:pt>
                <c:pt idx="2">
                  <c:v>5777.475</c:v>
                </c:pt>
                <c:pt idx="3">
                  <c:v>6762.961</c:v>
                </c:pt>
                <c:pt idx="4">
                  <c:v>7949.407</c:v>
                </c:pt>
                <c:pt idx="5">
                  <c:v>9327.102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4977.822</c:v>
                </c:pt>
                <c:pt idx="1">
                  <c:v>799.6530000000002</c:v>
                </c:pt>
                <c:pt idx="2">
                  <c:v>985.4859999999999</c:v>
                </c:pt>
                <c:pt idx="3">
                  <c:v>1186.446</c:v>
                </c:pt>
                <c:pt idx="4">
                  <c:v>1377.6950000000006</c:v>
                </c:pt>
                <c:pt idx="5">
                  <c:v>1579.7849999999999</c:v>
                </c:pt>
                <c:pt idx="6">
                  <c:v>10906.887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2109.467</c:v>
                </c:pt>
                <c:pt idx="2">
                  <c:v>2466.7200000000003</c:v>
                </c:pt>
                <c:pt idx="3">
                  <c:v>2888.897</c:v>
                </c:pt>
                <c:pt idx="4">
                  <c:v>3360.571</c:v>
                </c:pt>
                <c:pt idx="5">
                  <c:v>3881.262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2109.467</c:v>
                </c:pt>
                <c:pt idx="1">
                  <c:v>357.25300000000016</c:v>
                </c:pt>
                <c:pt idx="2">
                  <c:v>422.1769999999997</c:v>
                </c:pt>
                <c:pt idx="3">
                  <c:v>471.674</c:v>
                </c:pt>
                <c:pt idx="4">
                  <c:v>520.6910000000003</c:v>
                </c:pt>
                <c:pt idx="5">
                  <c:v>586.5750000000003</c:v>
                </c:pt>
                <c:pt idx="6">
                  <c:v>4467.837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High-Barrier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31.06220964257075</c:v>
                </c:pt>
                <c:pt idx="1">
                  <c:v>32.19362031305115</c:v>
                </c:pt>
                <c:pt idx="2">
                  <c:v>33.36733836963972</c:v>
                </c:pt>
              </c:numCache>
            </c:numRef>
          </c:val>
        </c:ser>
        <c:ser>
          <c:idx val="1"/>
          <c:order val="1"/>
          <c:tx>
            <c:strRef>
              <c:f>Sheet1!$C$1</c:f>
              <c:strCache>
                <c:ptCount val="1"/>
                <c:pt idx="0">
                  <c:v>Medium-Barrier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35.06792779460569</c:v>
                </c:pt>
                <c:pt idx="1">
                  <c:v>32.62488020738141</c:v>
                </c:pt>
                <c:pt idx="2">
                  <c:v>31.710836451387948</c:v>
                </c:pt>
              </c:numCache>
            </c:numRef>
          </c:val>
        </c:ser>
        <c:ser>
          <c:idx val="2"/>
          <c:order val="2"/>
          <c:tx>
            <c:strRef>
              <c:f>Sheet1!$D$1</c:f>
              <c:strCache>
                <c:ptCount val="1"/>
                <c:pt idx="0">
                  <c:v>Low-Barrier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20.931455059388256</c:v>
                </c:pt>
                <c:pt idx="1">
                  <c:v>21.53870958854461</c:v>
                </c:pt>
                <c:pt idx="2">
                  <c:v>21.2534128300229</c:v>
                </c:pt>
              </c:numCache>
            </c:numRef>
          </c:val>
        </c:ser>
        <c:ser>
          <c:idx val="3"/>
          <c:order val="3"/>
          <c:tx>
            <c:strRef>
              <c:f>Sheet1!$E$1</c:f>
              <c:strCache>
                <c:ptCount val="1"/>
                <c:pt idx="0">
                  <c:v>Ultra-High-Barrier Films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12.938407503435306</c:v>
                </c:pt>
                <c:pt idx="1">
                  <c:v>13.642789891022833</c:v>
                </c:pt>
                <c:pt idx="2">
                  <c:v>13.668412348949433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1445.434</c:v>
                </c:pt>
                <c:pt idx="1">
                  <c:v>1526.598</c:v>
                </c:pt>
                <c:pt idx="2">
                  <c:v>1613.9560000000001</c:v>
                </c:pt>
                <c:pt idx="3">
                  <c:v>1708.401</c:v>
                </c:pt>
                <c:pt idx="4">
                  <c:v>1810.8620000000003</c:v>
                </c:pt>
                <c:pt idx="5">
                  <c:v>1923.509</c:v>
                </c:pt>
                <c:pt idx="6">
                  <c:v>2046.9909999999998</c:v>
                </c:pt>
                <c:pt idx="7">
                  <c:v>2182.8940000000002</c:v>
                </c:pt>
                <c:pt idx="8">
                  <c:v>2332.2760000000003</c:v>
                </c:pt>
                <c:pt idx="9">
                  <c:v>2496.331</c:v>
                </c:pt>
                <c:pt idx="10">
                  <c:v>2674.626</c:v>
                </c:pt>
                <c:pt idx="11">
                  <c:v>2866.162</c:v>
                </c:pt>
                <c:pt idx="12">
                  <c:v>3068.728</c:v>
                </c:pt>
                <c:pt idx="13">
                  <c:v>3281.3959999999997</c:v>
                </c:pt>
                <c:pt idx="14">
                  <c:v>3501.944</c:v>
                </c:pt>
                <c:pt idx="15">
                  <c:v>3729.873</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India</c:v>
                </c:pt>
              </c:strCache>
            </c:strRef>
          </c:cat>
          <c:val>
            <c:numRef>
              <c:f>Sheet1!$B$2:$B$3</c:f>
              <c:numCache>
                <c:formatCode>General</c:formatCode>
                <c:ptCount val="2"/>
                <c:pt idx="0">
                  <c:v>0.06544044320302689</c:v>
                </c:pt>
                <c:pt idx="1">
                  <c:v>0.06846421705541039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242669302480404"/>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1923.509</c:v>
                </c:pt>
                <c:pt idx="2">
                  <c:v>2046.9909999999998</c:v>
                </c:pt>
                <c:pt idx="3">
                  <c:v>2182.8940000000002</c:v>
                </c:pt>
                <c:pt idx="4">
                  <c:v>2332.2760000000003</c:v>
                </c:pt>
                <c:pt idx="5">
                  <c:v>2496.331</c:v>
                </c:pt>
                <c:pt idx="6">
                  <c:v>2674.626</c:v>
                </c:pt>
                <c:pt idx="7">
                  <c:v>2866.162</c:v>
                </c:pt>
                <c:pt idx="8">
                  <c:v>3068.728</c:v>
                </c:pt>
                <c:pt idx="9">
                  <c:v>3281.3959999999997</c:v>
                </c:pt>
                <c:pt idx="10">
                  <c:v>3501.944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1923.509</c:v>
                </c:pt>
                <c:pt idx="1">
                  <c:v>123.48199999999974</c:v>
                </c:pt>
                <c:pt idx="2">
                  <c:v>135.90300000000047</c:v>
                </c:pt>
                <c:pt idx="3">
                  <c:v>149.38200000000006</c:v>
                </c:pt>
                <c:pt idx="4">
                  <c:v>164.05499999999984</c:v>
                </c:pt>
                <c:pt idx="5">
                  <c:v>178.29500000000007</c:v>
                </c:pt>
                <c:pt idx="6">
                  <c:v>191.5359999999996</c:v>
                </c:pt>
                <c:pt idx="7">
                  <c:v>202.56600000000026</c:v>
                </c:pt>
                <c:pt idx="8">
                  <c:v>212.66799999999967</c:v>
                </c:pt>
                <c:pt idx="9">
                  <c:v>220.54800000000023</c:v>
                </c:pt>
                <c:pt idx="10">
                  <c:v>227.9290000000001</c:v>
                </c:pt>
                <c:pt idx="11">
                  <c:v>3729.873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India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34.898911561836464</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65.10108843816354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3595.331</c:v>
                </c:pt>
                <c:pt idx="1">
                  <c:v>3808.3040000000005</c:v>
                </c:pt>
                <c:pt idx="2">
                  <c:v>4039.408</c:v>
                </c:pt>
                <c:pt idx="3">
                  <c:v>4292.9929999999995</c:v>
                </c:pt>
                <c:pt idx="4">
                  <c:v>4570.018</c:v>
                </c:pt>
                <c:pt idx="5">
                  <c:v>4891.337</c:v>
                </c:pt>
                <c:pt idx="6">
                  <c:v>5248.205999999999</c:v>
                </c:pt>
                <c:pt idx="7">
                  <c:v>5646.424999999999</c:v>
                </c:pt>
                <c:pt idx="8">
                  <c:v>6090.686</c:v>
                </c:pt>
                <c:pt idx="9">
                  <c:v>6586.205</c:v>
                </c:pt>
                <c:pt idx="10">
                  <c:v>7133.151</c:v>
                </c:pt>
                <c:pt idx="11">
                  <c:v>7731.179999999999</c:v>
                </c:pt>
                <c:pt idx="12">
                  <c:v>8375.833</c:v>
                </c:pt>
                <c:pt idx="13">
                  <c:v>9067.984</c:v>
                </c:pt>
                <c:pt idx="14">
                  <c:v>9805.770999999999</c:v>
                </c:pt>
                <c:pt idx="15">
                  <c:v>10588.98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India</c:v>
                </c:pt>
              </c:strCache>
            </c:strRef>
          </c:cat>
          <c:val>
            <c:numRef>
              <c:f>Sheet1!$B$2:$B$3</c:f>
              <c:numCache>
                <c:formatCode>General</c:formatCode>
                <c:ptCount val="2"/>
                <c:pt idx="0">
                  <c:v>0.07773247697686525</c:v>
                </c:pt>
                <c:pt idx="1">
                  <c:v>0.08029571694712434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83992178786178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4891.337</c:v>
                </c:pt>
                <c:pt idx="2">
                  <c:v>5248.205999999999</c:v>
                </c:pt>
                <c:pt idx="3">
                  <c:v>5646.424999999999</c:v>
                </c:pt>
                <c:pt idx="4">
                  <c:v>6090.686</c:v>
                </c:pt>
                <c:pt idx="5">
                  <c:v>6586.205</c:v>
                </c:pt>
                <c:pt idx="6">
                  <c:v>7133.151</c:v>
                </c:pt>
                <c:pt idx="7">
                  <c:v>7731.179999999999</c:v>
                </c:pt>
                <c:pt idx="8">
                  <c:v>8375.833</c:v>
                </c:pt>
                <c:pt idx="9">
                  <c:v>9067.984</c:v>
                </c:pt>
                <c:pt idx="10">
                  <c:v>9805.770999999999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4891.337</c:v>
                </c:pt>
                <c:pt idx="1">
                  <c:v>356.8689999999988</c:v>
                </c:pt>
                <c:pt idx="2">
                  <c:v>398.21900000000005</c:v>
                </c:pt>
                <c:pt idx="3">
                  <c:v>444.2610000000004</c:v>
                </c:pt>
                <c:pt idx="4">
                  <c:v>495.51900000000023</c:v>
                </c:pt>
                <c:pt idx="5">
                  <c:v>546.9459999999999</c:v>
                </c:pt>
                <c:pt idx="6">
                  <c:v>598.0289999999995</c:v>
                </c:pt>
                <c:pt idx="7">
                  <c:v>644.6530000000012</c:v>
                </c:pt>
                <c:pt idx="8">
                  <c:v>692.1509999999998</c:v>
                </c:pt>
                <c:pt idx="9">
                  <c:v>737.7869999999984</c:v>
                </c:pt>
                <c:pt idx="10">
                  <c:v>783.2090000000007</c:v>
                </c:pt>
                <c:pt idx="11">
                  <c:v>10588.98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India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31.634284234542193</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68.36571576545781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325.683</c:v>
                </c:pt>
                <c:pt idx="8">
                  <c:v>569.2280000000001</c:v>
                </c:pt>
                <c:pt idx="9">
                  <c:v>1285.193</c:v>
                </c:pt>
                <c:pt idx="10">
                  <c:v>2711.233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633.0522200000005"/>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Other Specialty Barri…</c:v>
                </c:pt>
                <c:pt idx="3">
                  <c:v>Aluminum Foil-Based</c:v>
                </c:pt>
                <c:pt idx="4">
                  <c:v>PVDC-Based</c:v>
                </c:pt>
                <c:pt idx="5">
                  <c:v>Metallized Barrier</c:v>
                </c:pt>
                <c:pt idx="6">
                  <c:v>PA-Based</c:v>
                </c:pt>
                <c:pt idx="7">
                  <c:v>EVOH-Based</c:v>
                </c:pt>
                <c:pt idx="8">
                  <c:v>PET-Based</c:v>
                </c:pt>
                <c:pt idx="9">
                  <c:v>PP-Based</c:v>
                </c:pt>
                <c:pt idx="10">
                  <c:v>PE-Based</c:v>
                </c:pt>
              </c:strCache>
            </c:strRef>
          </c:cat>
          <c:val>
            <c:numRef>
              <c:f>Sheet1!$B$2:$B$12</c:f>
              <c:numCache>
                <c:formatCode>General</c:formatCode>
                <c:ptCount val="11"/>
                <c:pt idx="0">
                  <c:v>89.129</c:v>
                </c:pt>
                <c:pt idx="1">
                  <c:v>134.884</c:v>
                </c:pt>
                <c:pt idx="2">
                  <c:v>146.452</c:v>
                </c:pt>
                <c:pt idx="3">
                  <c:v>147.581</c:v>
                </c:pt>
                <c:pt idx="4">
                  <c:v>264.558</c:v>
                </c:pt>
                <c:pt idx="5">
                  <c:v>309.489</c:v>
                </c:pt>
                <c:pt idx="6">
                  <c:v>402.761</c:v>
                </c:pt>
                <c:pt idx="7">
                  <c:v>408.452</c:v>
                </c:pt>
                <c:pt idx="8">
                  <c:v>512.455</c:v>
                </c:pt>
                <c:pt idx="9">
                  <c:v>1005.289</c:v>
                </c:pt>
                <c:pt idx="10">
                  <c:v>1470.285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970.1819000000003"/>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317.769</c:v>
                </c:pt>
                <c:pt idx="5">
                  <c:v>362.717</c:v>
                </c:pt>
                <c:pt idx="6">
                  <c:v>363.17</c:v>
                </c:pt>
                <c:pt idx="7">
                  <c:v>394.06600000000003</c:v>
                </c:pt>
                <c:pt idx="8">
                  <c:v>722.808</c:v>
                </c:pt>
                <c:pt idx="9">
                  <c:v>1246.277</c:v>
                </c:pt>
                <c:pt idx="10">
                  <c:v>1484.528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989.2675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697.521</c:v>
                </c:pt>
                <c:pt idx="8">
                  <c:v>1125.775</c:v>
                </c:pt>
                <c:pt idx="9">
                  <c:v>1495.847</c:v>
                </c:pt>
                <c:pt idx="10">
                  <c:v>1572.193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106.7386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827.719</c:v>
                </c:pt>
                <c:pt idx="10">
                  <c:v>4063.618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445.2481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697.521</c:v>
                </c:pt>
                <c:pt idx="8">
                  <c:v>1125.7740000000001</c:v>
                </c:pt>
                <c:pt idx="9">
                  <c:v>1495.848</c:v>
                </c:pt>
                <c:pt idx="10">
                  <c:v>1572.194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106.73996"/>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4891.337</c:v>
                </c:pt>
                <c:pt idx="2">
                  <c:v>8033.9800000000005</c:v>
                </c:pt>
                <c:pt idx="3">
                  <c:v>8678.222</c:v>
                </c:pt>
                <c:pt idx="4">
                  <c:v>10219.979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4891.337</c:v>
                </c:pt>
                <c:pt idx="1">
                  <c:v>3142.643</c:v>
                </c:pt>
                <c:pt idx="2">
                  <c:v>644.242</c:v>
                </c:pt>
                <c:pt idx="3">
                  <c:v>1541.7569999999998</c:v>
                </c:pt>
                <c:pt idx="4">
                  <c:v>369.001</c:v>
                </c:pt>
                <c:pt idx="5">
                  <c:v>10588.98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3142.643</c:v>
                </c:pt>
                <c:pt idx="2">
                  <c:v>3786.885</c:v>
                </c:pt>
                <c:pt idx="3">
                  <c:v>5328.642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3142.643</c:v>
                </c:pt>
                <c:pt idx="1">
                  <c:v>644.242</c:v>
                </c:pt>
                <c:pt idx="2">
                  <c:v>1541.7569999999998</c:v>
                </c:pt>
                <c:pt idx="3">
                  <c:v>369.001</c:v>
                </c:pt>
                <c:pt idx="4">
                  <c:v>5697.643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4891.335</c:v>
                </c:pt>
                <c:pt idx="2">
                  <c:v>6636.482</c:v>
                </c:pt>
                <c:pt idx="3">
                  <c:v>7781.86</c:v>
                </c:pt>
                <c:pt idx="4">
                  <c:v>8395.554</c:v>
                </c:pt>
                <c:pt idx="5">
                  <c:v>8850.473</c:v>
                </c:pt>
                <c:pt idx="6">
                  <c:v>9340.971</c:v>
                </c:pt>
                <c:pt idx="7">
                  <c:v>9608.892</c:v>
                </c:pt>
                <c:pt idx="8">
                  <c:v>9720.244999999999</c:v>
                </c:pt>
                <c:pt idx="9">
                  <c:v>10081.778999999999</c:v>
                </c:pt>
                <c:pt idx="10">
                  <c:v>10246.471</c:v>
                </c:pt>
                <c:pt idx="11">
                  <c:v>10401.307999999999</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4891.335</c:v>
                </c:pt>
                <c:pt idx="1">
                  <c:v>1745.1469999999997</c:v>
                </c:pt>
                <c:pt idx="2">
                  <c:v>1145.378</c:v>
                </c:pt>
                <c:pt idx="3">
                  <c:v>613.6939999999998</c:v>
                </c:pt>
                <c:pt idx="4">
                  <c:v>454.9189999999999</c:v>
                </c:pt>
                <c:pt idx="5">
                  <c:v>490.49800000000005</c:v>
                </c:pt>
                <c:pt idx="6">
                  <c:v>267.92100000000005</c:v>
                </c:pt>
                <c:pt idx="7">
                  <c:v>111.353</c:v>
                </c:pt>
                <c:pt idx="8">
                  <c:v>361.53400000000005</c:v>
                </c:pt>
                <c:pt idx="9">
                  <c:v>164.69200000000004</c:v>
                </c:pt>
                <c:pt idx="10">
                  <c:v>154.83700000000002</c:v>
                </c:pt>
                <c:pt idx="11">
                  <c:v>187.671</c:v>
                </c:pt>
                <c:pt idx="12">
                  <c:v>10588.979000000001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1745.1469999999997</c:v>
                </c:pt>
                <c:pt idx="2">
                  <c:v>2890.5249999999996</c:v>
                </c:pt>
                <c:pt idx="3">
                  <c:v>3504.2189999999996</c:v>
                </c:pt>
                <c:pt idx="4">
                  <c:v>3959.1379999999995</c:v>
                </c:pt>
                <c:pt idx="5">
                  <c:v>4449.6359999999995</c:v>
                </c:pt>
                <c:pt idx="6">
                  <c:v>4717.557</c:v>
                </c:pt>
                <c:pt idx="7">
                  <c:v>4828.91</c:v>
                </c:pt>
                <c:pt idx="8">
                  <c:v>5190.4439999999995</c:v>
                </c:pt>
                <c:pt idx="9">
                  <c:v>5355.1359999999995</c:v>
                </c:pt>
                <c:pt idx="10">
                  <c:v>5509.973</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1745.1469999999997</c:v>
                </c:pt>
                <c:pt idx="1">
                  <c:v>1145.378</c:v>
                </c:pt>
                <c:pt idx="2">
                  <c:v>613.6939999999998</c:v>
                </c:pt>
                <c:pt idx="3">
                  <c:v>454.9189999999999</c:v>
                </c:pt>
                <c:pt idx="4">
                  <c:v>490.49800000000005</c:v>
                </c:pt>
                <c:pt idx="5">
                  <c:v>267.92100000000005</c:v>
                </c:pt>
                <c:pt idx="6">
                  <c:v>111.353</c:v>
                </c:pt>
                <c:pt idx="7">
                  <c:v>361.53400000000005</c:v>
                </c:pt>
                <c:pt idx="8">
                  <c:v>164.69200000000004</c:v>
                </c:pt>
                <c:pt idx="9">
                  <c:v>154.83700000000002</c:v>
                </c:pt>
                <c:pt idx="10">
                  <c:v>187.671</c:v>
                </c:pt>
                <c:pt idx="11">
                  <c:v>5697.644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4891.335</c:v>
                </c:pt>
                <c:pt idx="2">
                  <c:v>5766.118</c:v>
                </c:pt>
                <c:pt idx="3">
                  <c:v>7437.39</c:v>
                </c:pt>
                <c:pt idx="4">
                  <c:v>8869.018</c:v>
                </c:pt>
                <c:pt idx="5">
                  <c:v>9239.335</c:v>
                </c:pt>
                <c:pt idx="6">
                  <c:v>9641.901</c:v>
                </c:pt>
                <c:pt idx="7">
                  <c:v>10082.045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4891.335</c:v>
                </c:pt>
                <c:pt idx="1">
                  <c:v>874.7829999999999</c:v>
                </c:pt>
                <c:pt idx="2">
                  <c:v>1671.2720000000002</c:v>
                </c:pt>
                <c:pt idx="3">
                  <c:v>1431.6279999999997</c:v>
                </c:pt>
                <c:pt idx="4">
                  <c:v>370.317</c:v>
                </c:pt>
                <c:pt idx="5">
                  <c:v>402.56600000000003</c:v>
                </c:pt>
                <c:pt idx="6">
                  <c:v>440.14399999999995</c:v>
                </c:pt>
                <c:pt idx="7">
                  <c:v>506.937</c:v>
                </c:pt>
                <c:pt idx="8">
                  <c:v>10588.982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874.7829999999999</c:v>
                </c:pt>
                <c:pt idx="2">
                  <c:v>2546.0550000000003</c:v>
                </c:pt>
                <c:pt idx="3">
                  <c:v>3977.683</c:v>
                </c:pt>
                <c:pt idx="4">
                  <c:v>4348.0</c:v>
                </c:pt>
                <c:pt idx="5">
                  <c:v>4750.566</c:v>
                </c:pt>
                <c:pt idx="6">
                  <c:v>5190.71</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874.7829999999999</c:v>
                </c:pt>
                <c:pt idx="1">
                  <c:v>1671.2720000000002</c:v>
                </c:pt>
                <c:pt idx="2">
                  <c:v>1431.6279999999997</c:v>
                </c:pt>
                <c:pt idx="3">
                  <c:v>370.317</c:v>
                </c:pt>
                <c:pt idx="4">
                  <c:v>402.56600000000003</c:v>
                </c:pt>
                <c:pt idx="5">
                  <c:v>440.14399999999995</c:v>
                </c:pt>
                <c:pt idx="6">
                  <c:v>506.937</c:v>
                </c:pt>
                <c:pt idx="7">
                  <c:v>5697.647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4891.335999999999</c:v>
                </c:pt>
                <c:pt idx="2">
                  <c:v>6143.829999999999</c:v>
                </c:pt>
                <c:pt idx="3">
                  <c:v>7913.390999999999</c:v>
                </c:pt>
                <c:pt idx="4">
                  <c:v>9764.101999999999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4891.335999999999</c:v>
                </c:pt>
                <c:pt idx="1">
                  <c:v>1252.4939999999997</c:v>
                </c:pt>
                <c:pt idx="2">
                  <c:v>1769.561</c:v>
                </c:pt>
                <c:pt idx="3">
                  <c:v>1850.711</c:v>
                </c:pt>
                <c:pt idx="4">
                  <c:v>824.877</c:v>
                </c:pt>
                <c:pt idx="5">
                  <c:v>10588.978999999998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1252.4939999999997</c:v>
                </c:pt>
                <c:pt idx="2">
                  <c:v>3022.0549999999994</c:v>
                </c:pt>
                <c:pt idx="3">
                  <c:v>4872.766</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1252.4939999999997</c:v>
                </c:pt>
                <c:pt idx="1">
                  <c:v>1769.561</c:v>
                </c:pt>
                <c:pt idx="2">
                  <c:v>1850.711</c:v>
                </c:pt>
                <c:pt idx="3">
                  <c:v>824.877</c:v>
                </c:pt>
                <c:pt idx="4">
                  <c:v>5697.643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4891.3369999999995</c:v>
                </c:pt>
                <c:pt idx="2">
                  <c:v>9635.041</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4891.3369999999995</c:v>
                </c:pt>
                <c:pt idx="1">
                  <c:v>4743.704</c:v>
                </c:pt>
                <c:pt idx="2">
                  <c:v>953.9379999999999</c:v>
                </c:pt>
                <c:pt idx="3">
                  <c:v>10588.979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4743.704</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4743.704</c:v>
                </c:pt>
                <c:pt idx="1">
                  <c:v>953.9379999999999</c:v>
                </c:pt>
                <c:pt idx="2">
                  <c:v>5697.642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4891.3369999999995</c:v>
                </c:pt>
                <c:pt idx="2">
                  <c:v>6143.833</c:v>
                </c:pt>
                <c:pt idx="3">
                  <c:v>7913.394</c:v>
                </c:pt>
                <c:pt idx="4">
                  <c:v>9764.106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4891.3369999999995</c:v>
                </c:pt>
                <c:pt idx="1">
                  <c:v>1252.4959999999999</c:v>
                </c:pt>
                <c:pt idx="2">
                  <c:v>1769.5610000000001</c:v>
                </c:pt>
                <c:pt idx="3">
                  <c:v>1850.712</c:v>
                </c:pt>
                <c:pt idx="4">
                  <c:v>824.877</c:v>
                </c:pt>
                <c:pt idx="5">
                  <c:v>10588.982999999998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1252.4959999999999</c:v>
                </c:pt>
                <c:pt idx="2">
                  <c:v>3022.057</c:v>
                </c:pt>
                <c:pt idx="3">
                  <c:v>4872.769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1252.4959999999999</c:v>
                </c:pt>
                <c:pt idx="1">
                  <c:v>1769.5610000000001</c:v>
                </c:pt>
                <c:pt idx="2">
                  <c:v>1850.712</c:v>
                </c:pt>
                <c:pt idx="3">
                  <c:v>824.877</c:v>
                </c:pt>
                <c:pt idx="4">
                  <c:v>5697.646000000001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403.07500000000005</c:v>
                </c:pt>
                <c:pt idx="1">
                  <c:v>423.512</c:v>
                </c:pt>
                <c:pt idx="2">
                  <c:v>444.882</c:v>
                </c:pt>
                <c:pt idx="3">
                  <c:v>467.399</c:v>
                </c:pt>
                <c:pt idx="4">
                  <c:v>491.226</c:v>
                </c:pt>
                <c:pt idx="5">
                  <c:v>517.048</c:v>
                </c:pt>
                <c:pt idx="6">
                  <c:v>545.057</c:v>
                </c:pt>
                <c:pt idx="7">
                  <c:v>575.64</c:v>
                </c:pt>
                <c:pt idx="8">
                  <c:v>609.131</c:v>
                </c:pt>
                <c:pt idx="9">
                  <c:v>645.796</c:v>
                </c:pt>
                <c:pt idx="10">
                  <c:v>685.5649999999999</c:v>
                </c:pt>
                <c:pt idx="11">
                  <c:v>728.453</c:v>
                </c:pt>
                <c:pt idx="12">
                  <c:v>774.0029999999999</c:v>
                </c:pt>
                <c:pt idx="13">
                  <c:v>821.7610000000001</c:v>
                </c:pt>
                <c:pt idx="14">
                  <c:v>871.0500000000001</c:v>
                </c:pt>
                <c:pt idx="15">
                  <c:v>921.783</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Thailand</c:v>
                </c:pt>
              </c:strCache>
            </c:strRef>
          </c:cat>
          <c:val>
            <c:numRef>
              <c:f>Sheet1!$B$2:$B$3</c:f>
              <c:numCache>
                <c:formatCode>General</c:formatCode>
                <c:ptCount val="2"/>
                <c:pt idx="0">
                  <c:v>0.06544044320302689</c:v>
                </c:pt>
                <c:pt idx="1">
                  <c:v>0.05952152259966437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83445983240863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517.048</c:v>
                </c:pt>
                <c:pt idx="2">
                  <c:v>545.057</c:v>
                </c:pt>
                <c:pt idx="3">
                  <c:v>575.64</c:v>
                </c:pt>
                <c:pt idx="4">
                  <c:v>609.131</c:v>
                </c:pt>
                <c:pt idx="5">
                  <c:v>645.796</c:v>
                </c:pt>
                <c:pt idx="6">
                  <c:v>685.5649999999999</c:v>
                </c:pt>
                <c:pt idx="7">
                  <c:v>728.453</c:v>
                </c:pt>
                <c:pt idx="8">
                  <c:v>774.0029999999999</c:v>
                </c:pt>
                <c:pt idx="9">
                  <c:v>821.7610000000001</c:v>
                </c:pt>
                <c:pt idx="10">
                  <c:v>871.0500000000001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517.048</c:v>
                </c:pt>
                <c:pt idx="1">
                  <c:v>28.009000000000015</c:v>
                </c:pt>
                <c:pt idx="2">
                  <c:v>30.58299999999997</c:v>
                </c:pt>
                <c:pt idx="3">
                  <c:v>33.490999999999985</c:v>
                </c:pt>
                <c:pt idx="4">
                  <c:v>36.66500000000008</c:v>
                </c:pt>
                <c:pt idx="5">
                  <c:v>39.76899999999989</c:v>
                </c:pt>
                <c:pt idx="6">
                  <c:v>42.888000000000034</c:v>
                </c:pt>
                <c:pt idx="7">
                  <c:v>45.549999999999955</c:v>
                </c:pt>
                <c:pt idx="8">
                  <c:v>47.75800000000015</c:v>
                </c:pt>
                <c:pt idx="9">
                  <c:v>49.28899999999999</c:v>
                </c:pt>
                <c:pt idx="10">
                  <c:v>50.73299999999995</c:v>
                </c:pt>
                <c:pt idx="11">
                  <c:v>921.783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Thailand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9.380986741015727</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90.61901325898427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1053.403</c:v>
                </c:pt>
                <c:pt idx="1">
                  <c:v>1110.73</c:v>
                </c:pt>
                <c:pt idx="2">
                  <c:v>1171.2990000000002</c:v>
                </c:pt>
                <c:pt idx="3">
                  <c:v>1236.339</c:v>
                </c:pt>
                <c:pt idx="4">
                  <c:v>1305.72</c:v>
                </c:pt>
                <c:pt idx="5">
                  <c:v>1386.274</c:v>
                </c:pt>
                <c:pt idx="6">
                  <c:v>1475.1570000000002</c:v>
                </c:pt>
                <c:pt idx="7">
                  <c:v>1573.649</c:v>
                </c:pt>
                <c:pt idx="8">
                  <c:v>1683.1889999999999</c:v>
                </c:pt>
                <c:pt idx="9">
                  <c:v>1805.4299999999998</c:v>
                </c:pt>
                <c:pt idx="10">
                  <c:v>1940.832</c:v>
                </c:pt>
                <c:pt idx="11">
                  <c:v>2090.046</c:v>
                </c:pt>
                <c:pt idx="12">
                  <c:v>2252.307</c:v>
                </c:pt>
                <c:pt idx="13">
                  <c:v>2427.128</c:v>
                </c:pt>
                <c:pt idx="14">
                  <c:v>2613.78</c:v>
                </c:pt>
                <c:pt idx="15">
                  <c:v>2812.387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Thailand</c:v>
                </c:pt>
              </c:strCache>
            </c:strRef>
          </c:cat>
          <c:val>
            <c:numRef>
              <c:f>Sheet1!$B$2:$B$3</c:f>
              <c:numCache>
                <c:formatCode>General</c:formatCode>
                <c:ptCount val="2"/>
                <c:pt idx="0">
                  <c:v>0.07773247697686525</c:v>
                </c:pt>
                <c:pt idx="1">
                  <c:v>0.07330363543050855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4938843918768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1386.274</c:v>
                </c:pt>
                <c:pt idx="2">
                  <c:v>1475.1570000000002</c:v>
                </c:pt>
                <c:pt idx="3">
                  <c:v>1573.649</c:v>
                </c:pt>
                <c:pt idx="4">
                  <c:v>1683.1889999999999</c:v>
                </c:pt>
                <c:pt idx="5">
                  <c:v>1805.4299999999998</c:v>
                </c:pt>
                <c:pt idx="6">
                  <c:v>1940.832</c:v>
                </c:pt>
                <c:pt idx="7">
                  <c:v>2090.046</c:v>
                </c:pt>
                <c:pt idx="8">
                  <c:v>2252.307</c:v>
                </c:pt>
                <c:pt idx="9">
                  <c:v>2427.128</c:v>
                </c:pt>
                <c:pt idx="10">
                  <c:v>2613.78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1386.274</c:v>
                </c:pt>
                <c:pt idx="1">
                  <c:v>88.88300000000027</c:v>
                </c:pt>
                <c:pt idx="2">
                  <c:v>98.49199999999973</c:v>
                </c:pt>
                <c:pt idx="3">
                  <c:v>109.53999999999996</c:v>
                </c:pt>
                <c:pt idx="4">
                  <c:v>122.24099999999999</c:v>
                </c:pt>
                <c:pt idx="5">
                  <c:v>135.40200000000027</c:v>
                </c:pt>
                <c:pt idx="6">
                  <c:v>149.21399999999971</c:v>
                </c:pt>
                <c:pt idx="7">
                  <c:v>162.26099999999997</c:v>
                </c:pt>
                <c:pt idx="8">
                  <c:v>174.82100000000037</c:v>
                </c:pt>
                <c:pt idx="9">
                  <c:v>186.65200000000004</c:v>
                </c:pt>
                <c:pt idx="10">
                  <c:v>198.60699999999997</c:v>
                </c:pt>
                <c:pt idx="11">
                  <c:v>2812.387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Thailand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8.965603012623284</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91.03439698737671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101.741</c:v>
                </c:pt>
                <c:pt idx="8">
                  <c:v>159.881</c:v>
                </c:pt>
                <c:pt idx="9">
                  <c:v>399.988</c:v>
                </c:pt>
                <c:pt idx="10">
                  <c:v>724.664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971.0497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Other Specialty Barri…</c:v>
                </c:pt>
                <c:pt idx="3">
                  <c:v>Aluminum Foil-Based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26.004</c:v>
                </c:pt>
                <c:pt idx="1">
                  <c:v>39.067</c:v>
                </c:pt>
                <c:pt idx="2">
                  <c:v>41.633</c:v>
                </c:pt>
                <c:pt idx="3">
                  <c:v>41.81</c:v>
                </c:pt>
                <c:pt idx="4">
                  <c:v>74.085</c:v>
                </c:pt>
                <c:pt idx="5">
                  <c:v>91.062</c:v>
                </c:pt>
                <c:pt idx="6">
                  <c:v>107.538</c:v>
                </c:pt>
                <c:pt idx="7">
                  <c:v>123.152</c:v>
                </c:pt>
                <c:pt idx="8">
                  <c:v>131.855</c:v>
                </c:pt>
                <c:pt idx="9">
                  <c:v>303.25</c:v>
                </c:pt>
                <c:pt idx="10">
                  <c:v>406.819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45.1374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Metallized Films</c:v>
                </c:pt>
                <c:pt idx="5">
                  <c:v>Coated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93.014</c:v>
                </c:pt>
                <c:pt idx="5">
                  <c:v>95.253</c:v>
                </c:pt>
                <c:pt idx="6">
                  <c:v>108.076</c:v>
                </c:pt>
                <c:pt idx="7">
                  <c:v>119.023</c:v>
                </c:pt>
                <c:pt idx="8">
                  <c:v>210.279</c:v>
                </c:pt>
                <c:pt idx="9">
                  <c:v>348.666</c:v>
                </c:pt>
                <c:pt idx="10">
                  <c:v>411.965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52.033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183.864</c:v>
                </c:pt>
                <c:pt idx="8">
                  <c:v>272.982</c:v>
                </c:pt>
                <c:pt idx="9">
                  <c:v>463.699</c:v>
                </c:pt>
                <c:pt idx="10">
                  <c:v>465.729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624.0768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233.44899999999998</c:v>
                </c:pt>
                <c:pt idx="10">
                  <c:v>1152.825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544.78550000000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183.865</c:v>
                </c:pt>
                <c:pt idx="8">
                  <c:v>272.98199999999997</c:v>
                </c:pt>
                <c:pt idx="9">
                  <c:v>463.698</c:v>
                </c:pt>
                <c:pt idx="10">
                  <c:v>465.729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624.0768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1386.274</c:v>
                </c:pt>
                <c:pt idx="2">
                  <c:v>2142.251</c:v>
                </c:pt>
                <c:pt idx="3">
                  <c:v>2314.853</c:v>
                </c:pt>
                <c:pt idx="4">
                  <c:v>2716.7380000000003</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1386.274</c:v>
                </c:pt>
                <c:pt idx="1">
                  <c:v>755.9770000000001</c:v>
                </c:pt>
                <c:pt idx="2">
                  <c:v>172.602</c:v>
                </c:pt>
                <c:pt idx="3">
                  <c:v>401.88500000000005</c:v>
                </c:pt>
                <c:pt idx="4">
                  <c:v>95.64899999999999</c:v>
                </c:pt>
                <c:pt idx="5">
                  <c:v>2812.387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755.9770000000001</c:v>
                </c:pt>
                <c:pt idx="2">
                  <c:v>928.5790000000001</c:v>
                </c:pt>
                <c:pt idx="3">
                  <c:v>1330.4640000000002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755.9770000000001</c:v>
                </c:pt>
                <c:pt idx="1">
                  <c:v>172.602</c:v>
                </c:pt>
                <c:pt idx="2">
                  <c:v>401.88500000000005</c:v>
                </c:pt>
                <c:pt idx="3">
                  <c:v>95.64899999999999</c:v>
                </c:pt>
                <c:pt idx="4">
                  <c:v>1426.113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1386.2749999999999</c:v>
                </c:pt>
                <c:pt idx="2">
                  <c:v>1828.301</c:v>
                </c:pt>
                <c:pt idx="3">
                  <c:v>2126.055</c:v>
                </c:pt>
                <c:pt idx="4">
                  <c:v>2263.658</c:v>
                </c:pt>
                <c:pt idx="5">
                  <c:v>2385.873</c:v>
                </c:pt>
                <c:pt idx="6">
                  <c:v>2498.567</c:v>
                </c:pt>
                <c:pt idx="7">
                  <c:v>2566.422</c:v>
                </c:pt>
                <c:pt idx="8">
                  <c:v>2593.942</c:v>
                </c:pt>
                <c:pt idx="9">
                  <c:v>2686.073</c:v>
                </c:pt>
                <c:pt idx="10">
                  <c:v>2729.054</c:v>
                </c:pt>
                <c:pt idx="11">
                  <c:v>2766.6710000000003</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1386.2749999999999</c:v>
                </c:pt>
                <c:pt idx="1">
                  <c:v>442.026</c:v>
                </c:pt>
                <c:pt idx="2">
                  <c:v>297.754</c:v>
                </c:pt>
                <c:pt idx="3">
                  <c:v>137.60300000000004</c:v>
                </c:pt>
                <c:pt idx="4">
                  <c:v>122.21499999999999</c:v>
                </c:pt>
                <c:pt idx="5">
                  <c:v>112.694</c:v>
                </c:pt>
                <c:pt idx="6">
                  <c:v>67.855</c:v>
                </c:pt>
                <c:pt idx="7">
                  <c:v>27.52</c:v>
                </c:pt>
                <c:pt idx="8">
                  <c:v>92.13100000000001</c:v>
                </c:pt>
                <c:pt idx="9">
                  <c:v>42.981</c:v>
                </c:pt>
                <c:pt idx="10">
                  <c:v>37.617000000000004</c:v>
                </c:pt>
                <c:pt idx="11">
                  <c:v>45.714999999999996</c:v>
                </c:pt>
                <c:pt idx="12">
                  <c:v>2812.386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442.026</c:v>
                </c:pt>
                <c:pt idx="2">
                  <c:v>739.78</c:v>
                </c:pt>
                <c:pt idx="3">
                  <c:v>877.383</c:v>
                </c:pt>
                <c:pt idx="4">
                  <c:v>999.5980000000001</c:v>
                </c:pt>
                <c:pt idx="5">
                  <c:v>1112.2920000000001</c:v>
                </c:pt>
                <c:pt idx="6">
                  <c:v>1180.1470000000002</c:v>
                </c:pt>
                <c:pt idx="7">
                  <c:v>1207.6670000000001</c:v>
                </c:pt>
                <c:pt idx="8">
                  <c:v>1299.7980000000002</c:v>
                </c:pt>
                <c:pt idx="9">
                  <c:v>1342.7790000000002</c:v>
                </c:pt>
                <c:pt idx="10">
                  <c:v>1380.3960000000002</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442.026</c:v>
                </c:pt>
                <c:pt idx="1">
                  <c:v>297.754</c:v>
                </c:pt>
                <c:pt idx="2">
                  <c:v>137.60300000000004</c:v>
                </c:pt>
                <c:pt idx="3">
                  <c:v>122.21499999999999</c:v>
                </c:pt>
                <c:pt idx="4">
                  <c:v>112.694</c:v>
                </c:pt>
                <c:pt idx="5">
                  <c:v>67.855</c:v>
                </c:pt>
                <c:pt idx="6">
                  <c:v>27.52</c:v>
                </c:pt>
                <c:pt idx="7">
                  <c:v>92.13100000000001</c:v>
                </c:pt>
                <c:pt idx="8">
                  <c:v>42.981</c:v>
                </c:pt>
                <c:pt idx="9">
                  <c:v>37.617000000000004</c:v>
                </c:pt>
                <c:pt idx="10">
                  <c:v>45.714999999999996</c:v>
                </c:pt>
                <c:pt idx="11">
                  <c:v>1426.1109999999999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1386.2759999999996</c:v>
                </c:pt>
                <c:pt idx="2">
                  <c:v>1606.8569999999995</c:v>
                </c:pt>
                <c:pt idx="3">
                  <c:v>2023.2389999999996</c:v>
                </c:pt>
                <c:pt idx="4">
                  <c:v>2377.9909999999995</c:v>
                </c:pt>
                <c:pt idx="5">
                  <c:v>2474.7999999999997</c:v>
                </c:pt>
                <c:pt idx="6">
                  <c:v>2564.3929999999996</c:v>
                </c:pt>
                <c:pt idx="7">
                  <c:v>2675.3139999999994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1386.2759999999996</c:v>
                </c:pt>
                <c:pt idx="1">
                  <c:v>220.58100000000002</c:v>
                </c:pt>
                <c:pt idx="2">
                  <c:v>416.382</c:v>
                </c:pt>
                <c:pt idx="3">
                  <c:v>354.752</c:v>
                </c:pt>
                <c:pt idx="4">
                  <c:v>96.80900000000001</c:v>
                </c:pt>
                <c:pt idx="5">
                  <c:v>89.593</c:v>
                </c:pt>
                <c:pt idx="6">
                  <c:v>110.92100000000002</c:v>
                </c:pt>
                <c:pt idx="7">
                  <c:v>137.07200000000003</c:v>
                </c:pt>
                <c:pt idx="8">
                  <c:v>2812.3859999999995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220.58100000000002</c:v>
                </c:pt>
                <c:pt idx="2">
                  <c:v>636.963</c:v>
                </c:pt>
                <c:pt idx="3">
                  <c:v>991.7149999999999</c:v>
                </c:pt>
                <c:pt idx="4">
                  <c:v>1088.524</c:v>
                </c:pt>
                <c:pt idx="5">
                  <c:v>1178.117</c:v>
                </c:pt>
                <c:pt idx="6">
                  <c:v>1289.038</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220.58100000000002</c:v>
                </c:pt>
                <c:pt idx="1">
                  <c:v>416.382</c:v>
                </c:pt>
                <c:pt idx="2">
                  <c:v>354.752</c:v>
                </c:pt>
                <c:pt idx="3">
                  <c:v>96.80900000000001</c:v>
                </c:pt>
                <c:pt idx="4">
                  <c:v>89.593</c:v>
                </c:pt>
                <c:pt idx="5">
                  <c:v>110.92100000000002</c:v>
                </c:pt>
                <c:pt idx="6">
                  <c:v>137.07200000000003</c:v>
                </c:pt>
                <c:pt idx="7">
                  <c:v>1426.1100000000001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1386.2740000000001</c:v>
                </c:pt>
                <c:pt idx="2">
                  <c:v>1667.298</c:v>
                </c:pt>
                <c:pt idx="3">
                  <c:v>2114.668</c:v>
                </c:pt>
                <c:pt idx="4">
                  <c:v>2622.962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1386.2740000000001</c:v>
                </c:pt>
                <c:pt idx="1">
                  <c:v>281.02399999999994</c:v>
                </c:pt>
                <c:pt idx="2">
                  <c:v>447.37000000000006</c:v>
                </c:pt>
                <c:pt idx="3">
                  <c:v>508.29400000000004</c:v>
                </c:pt>
                <c:pt idx="4">
                  <c:v>189.42299999999997</c:v>
                </c:pt>
                <c:pt idx="5">
                  <c:v>2812.3849999999998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281.02399999999994</c:v>
                </c:pt>
                <c:pt idx="2">
                  <c:v>728.394</c:v>
                </c:pt>
                <c:pt idx="3">
                  <c:v>1236.688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281.02399999999994</c:v>
                </c:pt>
                <c:pt idx="1">
                  <c:v>447.37000000000006</c:v>
                </c:pt>
                <c:pt idx="2">
                  <c:v>508.29400000000004</c:v>
                </c:pt>
                <c:pt idx="3">
                  <c:v>189.42299999999997</c:v>
                </c:pt>
                <c:pt idx="4">
                  <c:v>1426.111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1386.2740000000001</c:v>
                </c:pt>
                <c:pt idx="2">
                  <c:v>2575.165</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1386.2740000000001</c:v>
                </c:pt>
                <c:pt idx="1">
                  <c:v>1188.8909999999998</c:v>
                </c:pt>
                <c:pt idx="2">
                  <c:v>237.22300000000004</c:v>
                </c:pt>
                <c:pt idx="3">
                  <c:v>2812.388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1188.8909999999998</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1188.8909999999998</c:v>
                </c:pt>
                <c:pt idx="1">
                  <c:v>237.22300000000004</c:v>
                </c:pt>
                <c:pt idx="2">
                  <c:v>1426.1139999999998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1386.2740000000001</c:v>
                </c:pt>
                <c:pt idx="2">
                  <c:v>1667.2980000000002</c:v>
                </c:pt>
                <c:pt idx="3">
                  <c:v>2114.6670000000004</c:v>
                </c:pt>
                <c:pt idx="4">
                  <c:v>2622.9630000000006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1386.2740000000001</c:v>
                </c:pt>
                <c:pt idx="1">
                  <c:v>281.024</c:v>
                </c:pt>
                <c:pt idx="2">
                  <c:v>447.36899999999997</c:v>
                </c:pt>
                <c:pt idx="3">
                  <c:v>508.29600000000005</c:v>
                </c:pt>
                <c:pt idx="4">
                  <c:v>189.42199999999997</c:v>
                </c:pt>
                <c:pt idx="5">
                  <c:v>2812.3849999999998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281.024</c:v>
                </c:pt>
                <c:pt idx="2">
                  <c:v>728.393</c:v>
                </c:pt>
                <c:pt idx="3">
                  <c:v>1236.689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281.024</c:v>
                </c:pt>
                <c:pt idx="1">
                  <c:v>447.36899999999997</c:v>
                </c:pt>
                <c:pt idx="2">
                  <c:v>508.29600000000005</c:v>
                </c:pt>
                <c:pt idx="3">
                  <c:v>189.42199999999997</c:v>
                </c:pt>
                <c:pt idx="4">
                  <c:v>1426.111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302.708</c:v>
                </c:pt>
                <c:pt idx="1">
                  <c:v>319.173</c:v>
                </c:pt>
                <c:pt idx="2">
                  <c:v>336.40799999999996</c:v>
                </c:pt>
                <c:pt idx="3">
                  <c:v>354.52700000000004</c:v>
                </c:pt>
                <c:pt idx="4">
                  <c:v>373.698</c:v>
                </c:pt>
                <c:pt idx="5">
                  <c:v>394.519</c:v>
                </c:pt>
                <c:pt idx="6">
                  <c:v>417.20000000000005</c:v>
                </c:pt>
                <c:pt idx="7">
                  <c:v>442.117</c:v>
                </c:pt>
                <c:pt idx="8">
                  <c:v>469.633</c:v>
                </c:pt>
                <c:pt idx="9">
                  <c:v>499.859</c:v>
                </c:pt>
                <c:pt idx="10">
                  <c:v>532.494</c:v>
                </c:pt>
                <c:pt idx="11">
                  <c:v>567.417</c:v>
                </c:pt>
                <c:pt idx="12">
                  <c:v>604.292</c:v>
                </c:pt>
                <c:pt idx="13">
                  <c:v>642.869</c:v>
                </c:pt>
                <c:pt idx="14">
                  <c:v>682.755</c:v>
                </c:pt>
                <c:pt idx="15">
                  <c:v>723.88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Malaysia</c:v>
                </c:pt>
              </c:strCache>
            </c:strRef>
          </c:cat>
          <c:val>
            <c:numRef>
              <c:f>Sheet1!$B$2:$B$3</c:f>
              <c:numCache>
                <c:formatCode>General</c:formatCode>
                <c:ptCount val="2"/>
                <c:pt idx="0">
                  <c:v>0.06544044320302689</c:v>
                </c:pt>
                <c:pt idx="1">
                  <c:v>0.06257566472908493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83445983240863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394.519</c:v>
                </c:pt>
                <c:pt idx="2">
                  <c:v>417.20000000000005</c:v>
                </c:pt>
                <c:pt idx="3">
                  <c:v>442.117</c:v>
                </c:pt>
                <c:pt idx="4">
                  <c:v>469.633</c:v>
                </c:pt>
                <c:pt idx="5">
                  <c:v>499.859</c:v>
                </c:pt>
                <c:pt idx="6">
                  <c:v>532.494</c:v>
                </c:pt>
                <c:pt idx="7">
                  <c:v>567.417</c:v>
                </c:pt>
                <c:pt idx="8">
                  <c:v>604.292</c:v>
                </c:pt>
                <c:pt idx="9">
                  <c:v>642.869</c:v>
                </c:pt>
                <c:pt idx="10">
                  <c:v>682.755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394.519</c:v>
                </c:pt>
                <c:pt idx="1">
                  <c:v>22.68100000000004</c:v>
                </c:pt>
                <c:pt idx="2">
                  <c:v>24.916999999999973</c:v>
                </c:pt>
                <c:pt idx="3">
                  <c:v>27.515999999999963</c:v>
                </c:pt>
                <c:pt idx="4">
                  <c:v>30.226</c:v>
                </c:pt>
                <c:pt idx="5">
                  <c:v>32.63500000000005</c:v>
                </c:pt>
                <c:pt idx="6">
                  <c:v>34.923</c:v>
                </c:pt>
                <c:pt idx="7">
                  <c:v>36.875</c:v>
                </c:pt>
                <c:pt idx="8">
                  <c:v>38.577</c:v>
                </c:pt>
                <c:pt idx="9">
                  <c:v>39.88599999999997</c:v>
                </c:pt>
                <c:pt idx="10">
                  <c:v>41.125</c:v>
                </c:pt>
                <c:pt idx="11">
                  <c:v>723.88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Malaysia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7.157899282230631</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92.84210071776937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813.5329999999999</c:v>
                </c:pt>
                <c:pt idx="1">
                  <c:v>859.626</c:v>
                </c:pt>
                <c:pt idx="2">
                  <c:v>908.236</c:v>
                </c:pt>
                <c:pt idx="3">
                  <c:v>960.131</c:v>
                </c:pt>
                <c:pt idx="4">
                  <c:v>1015.56</c:v>
                </c:pt>
                <c:pt idx="5">
                  <c:v>1080.173</c:v>
                </c:pt>
                <c:pt idx="6">
                  <c:v>1152.256</c:v>
                </c:pt>
                <c:pt idx="7">
                  <c:v>1233.027</c:v>
                </c:pt>
                <c:pt idx="8">
                  <c:v>1323.9099999999999</c:v>
                </c:pt>
                <c:pt idx="9">
                  <c:v>1425.654</c:v>
                </c:pt>
                <c:pt idx="10">
                  <c:v>1537.796</c:v>
                </c:pt>
                <c:pt idx="11">
                  <c:v>1660.777</c:v>
                </c:pt>
                <c:pt idx="12">
                  <c:v>1794.0410000000002</c:v>
                </c:pt>
                <c:pt idx="13">
                  <c:v>1937.5679999999998</c:v>
                </c:pt>
                <c:pt idx="14">
                  <c:v>2091.0119999999997</c:v>
                </c:pt>
                <c:pt idx="15">
                  <c:v>2254.537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Malaysia</c:v>
                </c:pt>
              </c:strCache>
            </c:strRef>
          </c:cat>
          <c:val>
            <c:numRef>
              <c:f>Sheet1!$B$2:$B$3</c:f>
              <c:numCache>
                <c:formatCode>General</c:formatCode>
                <c:ptCount val="2"/>
                <c:pt idx="0">
                  <c:v>0.07773247697686525</c:v>
                </c:pt>
                <c:pt idx="1">
                  <c:v>0.07635716208786825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4938843918768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1080.173</c:v>
                </c:pt>
                <c:pt idx="2">
                  <c:v>1152.256</c:v>
                </c:pt>
                <c:pt idx="3">
                  <c:v>1233.027</c:v>
                </c:pt>
                <c:pt idx="4">
                  <c:v>1323.9099999999999</c:v>
                </c:pt>
                <c:pt idx="5">
                  <c:v>1425.654</c:v>
                </c:pt>
                <c:pt idx="6">
                  <c:v>1537.796</c:v>
                </c:pt>
                <c:pt idx="7">
                  <c:v>1660.777</c:v>
                </c:pt>
                <c:pt idx="8">
                  <c:v>1794.0410000000002</c:v>
                </c:pt>
                <c:pt idx="9">
                  <c:v>1937.5679999999998</c:v>
                </c:pt>
                <c:pt idx="10">
                  <c:v>2091.0119999999997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1080.173</c:v>
                </c:pt>
                <c:pt idx="1">
                  <c:v>72.08300000000008</c:v>
                </c:pt>
                <c:pt idx="2">
                  <c:v>80.77099999999996</c:v>
                </c:pt>
                <c:pt idx="3">
                  <c:v>90.88299999999981</c:v>
                </c:pt>
                <c:pt idx="4">
                  <c:v>101.74400000000014</c:v>
                </c:pt>
                <c:pt idx="5">
                  <c:v>112.14200000000005</c:v>
                </c:pt>
                <c:pt idx="6">
                  <c:v>122.981</c:v>
                </c:pt>
                <c:pt idx="7">
                  <c:v>133.26400000000012</c:v>
                </c:pt>
                <c:pt idx="8">
                  <c:v>143.5269999999996</c:v>
                </c:pt>
                <c:pt idx="9">
                  <c:v>153.44399999999996</c:v>
                </c:pt>
                <c:pt idx="10">
                  <c:v>163.5250000000001</c:v>
                </c:pt>
                <c:pt idx="11">
                  <c:v>2254.537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Malaysia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6.985922193559377</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93.01407780644062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80.03</c:v>
                </c:pt>
                <c:pt idx="8">
                  <c:v>112.768</c:v>
                </c:pt>
                <c:pt idx="9">
                  <c:v>315.662</c:v>
                </c:pt>
                <c:pt idx="10">
                  <c:v>571.713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766.0954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Other Specialty Barri…</c:v>
                </c:pt>
                <c:pt idx="3">
                  <c:v>Aluminum Foil-Based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20.937</c:v>
                </c:pt>
                <c:pt idx="1">
                  <c:v>31.867</c:v>
                </c:pt>
                <c:pt idx="2">
                  <c:v>33.439</c:v>
                </c:pt>
                <c:pt idx="3">
                  <c:v>33.967</c:v>
                </c:pt>
                <c:pt idx="4">
                  <c:v>59.559</c:v>
                </c:pt>
                <c:pt idx="5">
                  <c:v>62.497</c:v>
                </c:pt>
                <c:pt idx="6">
                  <c:v>80.304</c:v>
                </c:pt>
                <c:pt idx="7">
                  <c:v>93.791</c:v>
                </c:pt>
                <c:pt idx="8">
                  <c:v>101.017</c:v>
                </c:pt>
                <c:pt idx="9">
                  <c:v>232.477</c:v>
                </c:pt>
                <c:pt idx="10">
                  <c:v>330.32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42.628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Foil-Laminated Struct…</c:v>
                </c:pt>
                <c:pt idx="6">
                  <c:v>Metallized Films</c:v>
                </c:pt>
                <c:pt idx="7">
                  <c:v>Mono-Material Recycla…</c:v>
                </c:pt>
                <c:pt idx="8">
                  <c:v>Monolayer Films</c:v>
                </c:pt>
                <c:pt idx="9">
                  <c:v>Laminated Films</c:v>
                </c:pt>
                <c:pt idx="10">
                  <c:v>Coextruded Multilayer…</c:v>
                </c:pt>
              </c:strCache>
            </c:strRef>
          </c:cat>
          <c:val>
            <c:numRef>
              <c:f>Sheet1!$B$2:$B$12</c:f>
              <c:numCache>
                <c:formatCode>General</c:formatCode>
                <c:ptCount val="11"/>
                <c:pt idx="4">
                  <c:v>68.238</c:v>
                </c:pt>
                <c:pt idx="5">
                  <c:v>79.266</c:v>
                </c:pt>
                <c:pt idx="6">
                  <c:v>80.055</c:v>
                </c:pt>
                <c:pt idx="7">
                  <c:v>92.55000000000001</c:v>
                </c:pt>
                <c:pt idx="8">
                  <c:v>181.918</c:v>
                </c:pt>
                <c:pt idx="9">
                  <c:v>273.543</c:v>
                </c:pt>
                <c:pt idx="10">
                  <c:v>304.603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08.168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139.17</c:v>
                </c:pt>
                <c:pt idx="8">
                  <c:v>217.749</c:v>
                </c:pt>
                <c:pt idx="9">
                  <c:v>351.616</c:v>
                </c:pt>
                <c:pt idx="10">
                  <c:v>371.639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97.996260000000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169.391</c:v>
                </c:pt>
                <c:pt idx="10">
                  <c:v>910.783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220.44922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139.17</c:v>
                </c:pt>
                <c:pt idx="8">
                  <c:v>217.749</c:v>
                </c:pt>
                <c:pt idx="9">
                  <c:v>351.615</c:v>
                </c:pt>
                <c:pt idx="10">
                  <c:v>371.637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97.9935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1080.173</c:v>
                </c:pt>
                <c:pt idx="2">
                  <c:v>1705.319</c:v>
                </c:pt>
                <c:pt idx="3">
                  <c:v>1835.072</c:v>
                </c:pt>
                <c:pt idx="4">
                  <c:v>2167.451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1080.173</c:v>
                </c:pt>
                <c:pt idx="1">
                  <c:v>625.146</c:v>
                </c:pt>
                <c:pt idx="2">
                  <c:v>129.753</c:v>
                </c:pt>
                <c:pt idx="3">
                  <c:v>332.37899999999996</c:v>
                </c:pt>
                <c:pt idx="4">
                  <c:v>87.08599999999998</c:v>
                </c:pt>
                <c:pt idx="5">
                  <c:v>2254.537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625.146</c:v>
                </c:pt>
                <c:pt idx="2">
                  <c:v>754.8989999999999</c:v>
                </c:pt>
                <c:pt idx="3">
                  <c:v>1087.2779999999998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625.146</c:v>
                </c:pt>
                <c:pt idx="1">
                  <c:v>129.753</c:v>
                </c:pt>
                <c:pt idx="2">
                  <c:v>332.37899999999996</c:v>
                </c:pt>
                <c:pt idx="3">
                  <c:v>87.08599999999998</c:v>
                </c:pt>
                <c:pt idx="4">
                  <c:v>1174.3639999999998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1080.1750000000002</c:v>
                </c:pt>
                <c:pt idx="2">
                  <c:v>1442.044</c:v>
                </c:pt>
                <c:pt idx="3">
                  <c:v>1687.082</c:v>
                </c:pt>
                <c:pt idx="4">
                  <c:v>1800.0040000000001</c:v>
                </c:pt>
                <c:pt idx="5">
                  <c:v>1901.1760000000002</c:v>
                </c:pt>
                <c:pt idx="6">
                  <c:v>1995.7430000000002</c:v>
                </c:pt>
                <c:pt idx="7">
                  <c:v>2054.2490000000003</c:v>
                </c:pt>
                <c:pt idx="8">
                  <c:v>2077.974</c:v>
                </c:pt>
                <c:pt idx="9">
                  <c:v>2145.433</c:v>
                </c:pt>
                <c:pt idx="10">
                  <c:v>2181.995</c:v>
                </c:pt>
                <c:pt idx="11">
                  <c:v>2215.3199999999997</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1080.1750000000002</c:v>
                </c:pt>
                <c:pt idx="1">
                  <c:v>361.86899999999997</c:v>
                </c:pt>
                <c:pt idx="2">
                  <c:v>245.03799999999998</c:v>
                </c:pt>
                <c:pt idx="3">
                  <c:v>112.922</c:v>
                </c:pt>
                <c:pt idx="4">
                  <c:v>101.172</c:v>
                </c:pt>
                <c:pt idx="5">
                  <c:v>94.56700000000001</c:v>
                </c:pt>
                <c:pt idx="6">
                  <c:v>58.506</c:v>
                </c:pt>
                <c:pt idx="7">
                  <c:v>23.724999999999998</c:v>
                </c:pt>
                <c:pt idx="8">
                  <c:v>67.45899999999999</c:v>
                </c:pt>
                <c:pt idx="9">
                  <c:v>36.562</c:v>
                </c:pt>
                <c:pt idx="10">
                  <c:v>33.325</c:v>
                </c:pt>
                <c:pt idx="11">
                  <c:v>39.216</c:v>
                </c:pt>
                <c:pt idx="12">
                  <c:v>2254.536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361.86899999999997</c:v>
                </c:pt>
                <c:pt idx="2">
                  <c:v>606.9069999999999</c:v>
                </c:pt>
                <c:pt idx="3">
                  <c:v>719.829</c:v>
                </c:pt>
                <c:pt idx="4">
                  <c:v>821.001</c:v>
                </c:pt>
                <c:pt idx="5">
                  <c:v>915.568</c:v>
                </c:pt>
                <c:pt idx="6">
                  <c:v>974.074</c:v>
                </c:pt>
                <c:pt idx="7">
                  <c:v>997.799</c:v>
                </c:pt>
                <c:pt idx="8">
                  <c:v>1065.258</c:v>
                </c:pt>
                <c:pt idx="9">
                  <c:v>1101.82</c:v>
                </c:pt>
                <c:pt idx="10">
                  <c:v>1135.145</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361.86899999999997</c:v>
                </c:pt>
                <c:pt idx="1">
                  <c:v>245.03799999999998</c:v>
                </c:pt>
                <c:pt idx="2">
                  <c:v>112.922</c:v>
                </c:pt>
                <c:pt idx="3">
                  <c:v>101.172</c:v>
                </c:pt>
                <c:pt idx="4">
                  <c:v>94.56700000000001</c:v>
                </c:pt>
                <c:pt idx="5">
                  <c:v>58.506</c:v>
                </c:pt>
                <c:pt idx="6">
                  <c:v>23.724999999999998</c:v>
                </c:pt>
                <c:pt idx="7">
                  <c:v>67.45899999999999</c:v>
                </c:pt>
                <c:pt idx="8">
                  <c:v>36.562</c:v>
                </c:pt>
                <c:pt idx="9">
                  <c:v>33.325</c:v>
                </c:pt>
                <c:pt idx="10">
                  <c:v>39.216</c:v>
                </c:pt>
                <c:pt idx="11">
                  <c:v>1174.3609999999999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1080.1730000000002</c:v>
                </c:pt>
                <c:pt idx="2">
                  <c:v>1282.0940000000003</c:v>
                </c:pt>
                <c:pt idx="3">
                  <c:v>1607.8820000000003</c:v>
                </c:pt>
                <c:pt idx="4">
                  <c:v>1896.3220000000001</c:v>
                </c:pt>
                <c:pt idx="5">
                  <c:v>1973.354</c:v>
                </c:pt>
                <c:pt idx="6">
                  <c:v>2055.167</c:v>
                </c:pt>
                <c:pt idx="7">
                  <c:v>2141.325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1080.1730000000002</c:v>
                </c:pt>
                <c:pt idx="1">
                  <c:v>201.921</c:v>
                </c:pt>
                <c:pt idx="2">
                  <c:v>325.78799999999995</c:v>
                </c:pt>
                <c:pt idx="3">
                  <c:v>288.43999999999994</c:v>
                </c:pt>
                <c:pt idx="4">
                  <c:v>77.03200000000001</c:v>
                </c:pt>
                <c:pt idx="5">
                  <c:v>81.81299999999999</c:v>
                </c:pt>
                <c:pt idx="6">
                  <c:v>86.158</c:v>
                </c:pt>
                <c:pt idx="7">
                  <c:v>113.21099999999998</c:v>
                </c:pt>
                <c:pt idx="8">
                  <c:v>2254.536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201.921</c:v>
                </c:pt>
                <c:pt idx="2">
                  <c:v>527.709</c:v>
                </c:pt>
                <c:pt idx="3">
                  <c:v>816.1489999999999</c:v>
                </c:pt>
                <c:pt idx="4">
                  <c:v>893.1809999999999</c:v>
                </c:pt>
                <c:pt idx="5">
                  <c:v>974.9939999999999</c:v>
                </c:pt>
                <c:pt idx="6">
                  <c:v>1061.1519999999998</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201.921</c:v>
                </c:pt>
                <c:pt idx="1">
                  <c:v>325.78799999999995</c:v>
                </c:pt>
                <c:pt idx="2">
                  <c:v>288.43999999999994</c:v>
                </c:pt>
                <c:pt idx="3">
                  <c:v>77.03200000000001</c:v>
                </c:pt>
                <c:pt idx="4">
                  <c:v>81.81299999999999</c:v>
                </c:pt>
                <c:pt idx="5">
                  <c:v>86.158</c:v>
                </c:pt>
                <c:pt idx="6">
                  <c:v>113.21099999999998</c:v>
                </c:pt>
                <c:pt idx="7">
                  <c:v>1174.3629999999998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1080.174</c:v>
                </c:pt>
                <c:pt idx="2">
                  <c:v>1316.627</c:v>
                </c:pt>
                <c:pt idx="3">
                  <c:v>1692.849</c:v>
                </c:pt>
                <c:pt idx="4">
                  <c:v>2103.629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1080.174</c:v>
                </c:pt>
                <c:pt idx="1">
                  <c:v>236.453</c:v>
                </c:pt>
                <c:pt idx="2">
                  <c:v>376.222</c:v>
                </c:pt>
                <c:pt idx="3">
                  <c:v>410.78</c:v>
                </c:pt>
                <c:pt idx="4">
                  <c:v>150.907</c:v>
                </c:pt>
                <c:pt idx="5">
                  <c:v>2254.536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236.453</c:v>
                </c:pt>
                <c:pt idx="2">
                  <c:v>612.675</c:v>
                </c:pt>
                <c:pt idx="3">
                  <c:v>1023.4549999999999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236.453</c:v>
                </c:pt>
                <c:pt idx="1">
                  <c:v>376.222</c:v>
                </c:pt>
                <c:pt idx="2">
                  <c:v>410.78</c:v>
                </c:pt>
                <c:pt idx="3">
                  <c:v>150.907</c:v>
                </c:pt>
                <c:pt idx="4">
                  <c:v>1174.3619999999999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1080.174</c:v>
                </c:pt>
                <c:pt idx="2">
                  <c:v>2073.325</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1080.174</c:v>
                </c:pt>
                <c:pt idx="1">
                  <c:v>993.151</c:v>
                </c:pt>
                <c:pt idx="2">
                  <c:v>181.21</c:v>
                </c:pt>
                <c:pt idx="3">
                  <c:v>2254.535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993.151</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993.151</c:v>
                </c:pt>
                <c:pt idx="1">
                  <c:v>181.21</c:v>
                </c:pt>
                <c:pt idx="2">
                  <c:v>1174.3609999999999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1080.171</c:v>
                </c:pt>
                <c:pt idx="2">
                  <c:v>1316.626</c:v>
                </c:pt>
                <c:pt idx="3">
                  <c:v>1692.85</c:v>
                </c:pt>
                <c:pt idx="4">
                  <c:v>2103.633</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1080.171</c:v>
                </c:pt>
                <c:pt idx="1">
                  <c:v>236.455</c:v>
                </c:pt>
                <c:pt idx="2">
                  <c:v>376.224</c:v>
                </c:pt>
                <c:pt idx="3">
                  <c:v>410.783</c:v>
                </c:pt>
                <c:pt idx="4">
                  <c:v>150.908</c:v>
                </c:pt>
                <c:pt idx="5">
                  <c:v>2254.541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236.455</c:v>
                </c:pt>
                <c:pt idx="2">
                  <c:v>612.679</c:v>
                </c:pt>
                <c:pt idx="3">
                  <c:v>1023.462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236.455</c:v>
                </c:pt>
                <c:pt idx="1">
                  <c:v>376.224</c:v>
                </c:pt>
                <c:pt idx="2">
                  <c:v>410.783</c:v>
                </c:pt>
                <c:pt idx="3">
                  <c:v>150.908</c:v>
                </c:pt>
                <c:pt idx="4">
                  <c:v>1174.37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537.5169999999999</c:v>
                </c:pt>
                <c:pt idx="1">
                  <c:v>567.843</c:v>
                </c:pt>
                <c:pt idx="2">
                  <c:v>600.386</c:v>
                </c:pt>
                <c:pt idx="3">
                  <c:v>635.4579999999999</c:v>
                </c:pt>
                <c:pt idx="4">
                  <c:v>673.64</c:v>
                </c:pt>
                <c:pt idx="5">
                  <c:v>716.239</c:v>
                </c:pt>
                <c:pt idx="6">
                  <c:v>763.874</c:v>
                </c:pt>
                <c:pt idx="7">
                  <c:v>817.117</c:v>
                </c:pt>
                <c:pt idx="8">
                  <c:v>876.4</c:v>
                </c:pt>
                <c:pt idx="9">
                  <c:v>942.0909999999999</c:v>
                </c:pt>
                <c:pt idx="10">
                  <c:v>1014.385</c:v>
                </c:pt>
                <c:pt idx="11">
                  <c:v>1093.209</c:v>
                </c:pt>
                <c:pt idx="12">
                  <c:v>1178.077</c:v>
                </c:pt>
                <c:pt idx="13">
                  <c:v>1268.3690000000001</c:v>
                </c:pt>
                <c:pt idx="14">
                  <c:v>1362.761</c:v>
                </c:pt>
                <c:pt idx="15">
                  <c:v>1461.049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Indonesia</c:v>
                </c:pt>
              </c:strCache>
            </c:strRef>
          </c:cat>
          <c:val>
            <c:numRef>
              <c:f>Sheet1!$B$2:$B$3</c:f>
              <c:numCache>
                <c:formatCode>General</c:formatCode>
                <c:ptCount val="2"/>
                <c:pt idx="0">
                  <c:v>0.06544044320302689</c:v>
                </c:pt>
                <c:pt idx="1">
                  <c:v>0.0738921842803788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97544487785113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716.239</c:v>
                </c:pt>
                <c:pt idx="2">
                  <c:v>763.874</c:v>
                </c:pt>
                <c:pt idx="3">
                  <c:v>817.117</c:v>
                </c:pt>
                <c:pt idx="4">
                  <c:v>876.4</c:v>
                </c:pt>
                <c:pt idx="5">
                  <c:v>942.0909999999999</c:v>
                </c:pt>
                <c:pt idx="6">
                  <c:v>1014.385</c:v>
                </c:pt>
                <c:pt idx="7">
                  <c:v>1093.209</c:v>
                </c:pt>
                <c:pt idx="8">
                  <c:v>1178.077</c:v>
                </c:pt>
                <c:pt idx="9">
                  <c:v>1268.3690000000001</c:v>
                </c:pt>
                <c:pt idx="10">
                  <c:v>1362.761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716.239</c:v>
                </c:pt>
                <c:pt idx="1">
                  <c:v>47.63499999999999</c:v>
                </c:pt>
                <c:pt idx="2">
                  <c:v>53.24299999999994</c:v>
                </c:pt>
                <c:pt idx="3">
                  <c:v>59.283000000000015</c:v>
                </c:pt>
                <c:pt idx="4">
                  <c:v>65.69099999999992</c:v>
                </c:pt>
                <c:pt idx="5">
                  <c:v>72.2940000000001</c:v>
                </c:pt>
                <c:pt idx="6">
                  <c:v>78.82400000000007</c:v>
                </c:pt>
                <c:pt idx="7">
                  <c:v>84.86799999999994</c:v>
                </c:pt>
                <c:pt idx="8">
                  <c:v>90.29200000000014</c:v>
                </c:pt>
                <c:pt idx="9">
                  <c:v>94.39199999999983</c:v>
                </c:pt>
                <c:pt idx="10">
                  <c:v>98.28800000000001</c:v>
                </c:pt>
                <c:pt idx="11">
                  <c:v>1461.049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Indonesia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12.994980277263164</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87.00501972273683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1365.698</c:v>
                </c:pt>
                <c:pt idx="1">
                  <c:v>1447.9279999999999</c:v>
                </c:pt>
                <c:pt idx="2">
                  <c:v>1536.868</c:v>
                </c:pt>
                <c:pt idx="3">
                  <c:v>1634.1639999999998</c:v>
                </c:pt>
                <c:pt idx="4">
                  <c:v>1740.9579999999999</c:v>
                </c:pt>
                <c:pt idx="5">
                  <c:v>1867.4340000000002</c:v>
                </c:pt>
                <c:pt idx="6">
                  <c:v>2011.0049999999999</c:v>
                </c:pt>
                <c:pt idx="7">
                  <c:v>2173.804</c:v>
                </c:pt>
                <c:pt idx="8">
                  <c:v>2357.466</c:v>
                </c:pt>
                <c:pt idx="9">
                  <c:v>2563.835</c:v>
                </c:pt>
                <c:pt idx="10">
                  <c:v>2794.003</c:v>
                </c:pt>
                <c:pt idx="11">
                  <c:v>3049.2909999999997</c:v>
                </c:pt>
                <c:pt idx="12">
                  <c:v>3329.5469999999996</c:v>
                </c:pt>
                <c:pt idx="13">
                  <c:v>3634.7729999999997</c:v>
                </c:pt>
                <c:pt idx="14">
                  <c:v>3963.4249999999997</c:v>
                </c:pt>
                <c:pt idx="15">
                  <c:v>4315.751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Indonesia</c:v>
                </c:pt>
              </c:strCache>
            </c:strRef>
          </c:cat>
          <c:val>
            <c:numRef>
              <c:f>Sheet1!$B$2:$B$3</c:f>
              <c:numCache>
                <c:formatCode>General</c:formatCode>
                <c:ptCount val="2"/>
                <c:pt idx="0">
                  <c:v>0.07773247697686525</c:v>
                </c:pt>
                <c:pt idx="1">
                  <c:v>0.08737942659665565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796222590548514"/>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1867.4340000000002</c:v>
                </c:pt>
                <c:pt idx="2">
                  <c:v>2011.0049999999999</c:v>
                </c:pt>
                <c:pt idx="3">
                  <c:v>2173.804</c:v>
                </c:pt>
                <c:pt idx="4">
                  <c:v>2357.466</c:v>
                </c:pt>
                <c:pt idx="5">
                  <c:v>2563.835</c:v>
                </c:pt>
                <c:pt idx="6">
                  <c:v>2794.003</c:v>
                </c:pt>
                <c:pt idx="7">
                  <c:v>3049.2909999999997</c:v>
                </c:pt>
                <c:pt idx="8">
                  <c:v>3329.5469999999996</c:v>
                </c:pt>
                <c:pt idx="9">
                  <c:v>3634.7729999999997</c:v>
                </c:pt>
                <c:pt idx="10">
                  <c:v>3963.4249999999997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1867.4340000000002</c:v>
                </c:pt>
                <c:pt idx="1">
                  <c:v>143.57099999999969</c:v>
                </c:pt>
                <c:pt idx="2">
                  <c:v>162.7990000000002</c:v>
                </c:pt>
                <c:pt idx="3">
                  <c:v>183.6619999999998</c:v>
                </c:pt>
                <c:pt idx="4">
                  <c:v>206.36900000000014</c:v>
                </c:pt>
                <c:pt idx="5">
                  <c:v>230.16800000000012</c:v>
                </c:pt>
                <c:pt idx="6">
                  <c:v>255.28799999999956</c:v>
                </c:pt>
                <c:pt idx="7">
                  <c:v>280.25599999999986</c:v>
                </c:pt>
                <c:pt idx="8">
                  <c:v>305.2260000000001</c:v>
                </c:pt>
                <c:pt idx="9">
                  <c:v>328.65200000000004</c:v>
                </c:pt>
                <c:pt idx="10">
                  <c:v>352.3260000000005</c:v>
                </c:pt>
                <c:pt idx="11">
                  <c:v>4315.751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Indonesia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12.077462245036084</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87.92253775496391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129.863</c:v>
                </c:pt>
                <c:pt idx="8">
                  <c:v>209.86</c:v>
                </c:pt>
                <c:pt idx="9">
                  <c:v>493.31600000000003</c:v>
                </c:pt>
                <c:pt idx="10">
                  <c:v>1034.395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386.0893"/>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Aluminum Foil-Based</c:v>
                </c:pt>
                <c:pt idx="3">
                  <c:v>Other Specialty Barri…</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33.866</c:v>
                </c:pt>
                <c:pt idx="1">
                  <c:v>52.471</c:v>
                </c:pt>
                <c:pt idx="2">
                  <c:v>57.29</c:v>
                </c:pt>
                <c:pt idx="3">
                  <c:v>58.867</c:v>
                </c:pt>
                <c:pt idx="4">
                  <c:v>96.164</c:v>
                </c:pt>
                <c:pt idx="5">
                  <c:v>118.908</c:v>
                </c:pt>
                <c:pt idx="6">
                  <c:v>140.415</c:v>
                </c:pt>
                <c:pt idx="7">
                  <c:v>160.439</c:v>
                </c:pt>
                <c:pt idx="8">
                  <c:v>173.728</c:v>
                </c:pt>
                <c:pt idx="9">
                  <c:v>399.923</c:v>
                </c:pt>
                <c:pt idx="10">
                  <c:v>575.364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770.98776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Metallized Films</c:v>
                </c:pt>
                <c:pt idx="5">
                  <c:v>Coated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130.121</c:v>
                </c:pt>
                <c:pt idx="5">
                  <c:v>130.721</c:v>
                </c:pt>
                <c:pt idx="6">
                  <c:v>147.814</c:v>
                </c:pt>
                <c:pt idx="7">
                  <c:v>149.207</c:v>
                </c:pt>
                <c:pt idx="8">
                  <c:v>281.344</c:v>
                </c:pt>
                <c:pt idx="9">
                  <c:v>477.77</c:v>
                </c:pt>
                <c:pt idx="10">
                  <c:v>550.457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737.6123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Medium-Barrier Films</c:v>
                </c:pt>
                <c:pt idx="10">
                  <c:v>High-Barrier Films</c:v>
                </c:pt>
              </c:strCache>
            </c:strRef>
          </c:cat>
          <c:val>
            <c:numRef>
              <c:f>Sheet1!$B$2:$B$12</c:f>
              <c:numCache>
                <c:formatCode>General</c:formatCode>
                <c:ptCount val="11"/>
                <c:pt idx="7">
                  <c:v>250.387</c:v>
                </c:pt>
                <c:pt idx="8">
                  <c:v>407.93</c:v>
                </c:pt>
                <c:pt idx="9">
                  <c:v>565.527</c:v>
                </c:pt>
                <c:pt idx="10">
                  <c:v>643.591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862.41194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312.104</c:v>
                </c:pt>
                <c:pt idx="10">
                  <c:v>1555.329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084.14086"/>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Medium-Barrier Films</c:v>
                </c:pt>
                <c:pt idx="10">
                  <c:v>High-Barrier Films</c:v>
                </c:pt>
              </c:strCache>
            </c:strRef>
          </c:cat>
          <c:val>
            <c:numRef>
              <c:f>Sheet1!$B$2:$B$12</c:f>
              <c:numCache>
                <c:formatCode>General</c:formatCode>
                <c:ptCount val="11"/>
                <c:pt idx="7">
                  <c:v>250.388</c:v>
                </c:pt>
                <c:pt idx="8">
                  <c:v>407.928</c:v>
                </c:pt>
                <c:pt idx="9">
                  <c:v>565.528</c:v>
                </c:pt>
                <c:pt idx="10">
                  <c:v>643.5889999999999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862.409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1867.4340000000002</c:v>
                </c:pt>
                <c:pt idx="2">
                  <c:v>3210.6730000000002</c:v>
                </c:pt>
                <c:pt idx="3">
                  <c:v>3482.523</c:v>
                </c:pt>
                <c:pt idx="4">
                  <c:v>4135.093</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1867.4340000000002</c:v>
                </c:pt>
                <c:pt idx="1">
                  <c:v>1343.239</c:v>
                </c:pt>
                <c:pt idx="2">
                  <c:v>271.84999999999997</c:v>
                </c:pt>
                <c:pt idx="3">
                  <c:v>652.5699999999999</c:v>
                </c:pt>
                <c:pt idx="4">
                  <c:v>180.65800000000002</c:v>
                </c:pt>
                <c:pt idx="5">
                  <c:v>4315.751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1343.239</c:v>
                </c:pt>
                <c:pt idx="2">
                  <c:v>1615.089</c:v>
                </c:pt>
                <c:pt idx="3">
                  <c:v>2267.6589999999997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1343.239</c:v>
                </c:pt>
                <c:pt idx="1">
                  <c:v>271.84999999999997</c:v>
                </c:pt>
                <c:pt idx="2">
                  <c:v>652.5699999999999</c:v>
                </c:pt>
                <c:pt idx="3">
                  <c:v>180.65800000000002</c:v>
                </c:pt>
                <c:pt idx="4">
                  <c:v>2448.3169999999996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1867.4350000000002</c:v>
                </c:pt>
                <c:pt idx="2">
                  <c:v>2641.642</c:v>
                </c:pt>
                <c:pt idx="3">
                  <c:v>3140.033</c:v>
                </c:pt>
                <c:pt idx="4">
                  <c:v>3373.987</c:v>
                </c:pt>
                <c:pt idx="5">
                  <c:v>3580.262</c:v>
                </c:pt>
                <c:pt idx="6">
                  <c:v>3772.976</c:v>
                </c:pt>
                <c:pt idx="7">
                  <c:v>3889.116</c:v>
                </c:pt>
                <c:pt idx="8">
                  <c:v>3936.254</c:v>
                </c:pt>
                <c:pt idx="9">
                  <c:v>4091.14</c:v>
                </c:pt>
                <c:pt idx="10">
                  <c:v>4162.814</c:v>
                </c:pt>
                <c:pt idx="11">
                  <c:v>4232.233</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1867.4350000000002</c:v>
                </c:pt>
                <c:pt idx="1">
                  <c:v>774.2069999999999</c:v>
                </c:pt>
                <c:pt idx="2">
                  <c:v>498.39099999999996</c:v>
                </c:pt>
                <c:pt idx="3">
                  <c:v>233.954</c:v>
                </c:pt>
                <c:pt idx="4">
                  <c:v>206.275</c:v>
                </c:pt>
                <c:pt idx="5">
                  <c:v>192.71400000000003</c:v>
                </c:pt>
                <c:pt idx="6">
                  <c:v>116.14</c:v>
                </c:pt>
                <c:pt idx="7">
                  <c:v>47.138000000000005</c:v>
                </c:pt>
                <c:pt idx="8">
                  <c:v>154.88599999999997</c:v>
                </c:pt>
                <c:pt idx="9">
                  <c:v>71.674</c:v>
                </c:pt>
                <c:pt idx="10">
                  <c:v>69.41900000000001</c:v>
                </c:pt>
                <c:pt idx="11">
                  <c:v>83.519</c:v>
                </c:pt>
                <c:pt idx="12">
                  <c:v>4315.752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774.2069999999999</c:v>
                </c:pt>
                <c:pt idx="2">
                  <c:v>1272.598</c:v>
                </c:pt>
                <c:pt idx="3">
                  <c:v>1506.552</c:v>
                </c:pt>
                <c:pt idx="4">
                  <c:v>1712.827</c:v>
                </c:pt>
                <c:pt idx="5">
                  <c:v>1905.541</c:v>
                </c:pt>
                <c:pt idx="6">
                  <c:v>2021.681</c:v>
                </c:pt>
                <c:pt idx="7">
                  <c:v>2068.819</c:v>
                </c:pt>
                <c:pt idx="8">
                  <c:v>2223.705</c:v>
                </c:pt>
                <c:pt idx="9">
                  <c:v>2295.379</c:v>
                </c:pt>
                <c:pt idx="10">
                  <c:v>2364.798</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774.2069999999999</c:v>
                </c:pt>
                <c:pt idx="1">
                  <c:v>498.39099999999996</c:v>
                </c:pt>
                <c:pt idx="2">
                  <c:v>233.954</c:v>
                </c:pt>
                <c:pt idx="3">
                  <c:v>206.275</c:v>
                </c:pt>
                <c:pt idx="4">
                  <c:v>192.71400000000003</c:v>
                </c:pt>
                <c:pt idx="5">
                  <c:v>116.14</c:v>
                </c:pt>
                <c:pt idx="6">
                  <c:v>47.138000000000005</c:v>
                </c:pt>
                <c:pt idx="7">
                  <c:v>154.88599999999997</c:v>
                </c:pt>
                <c:pt idx="8">
                  <c:v>71.674</c:v>
                </c:pt>
                <c:pt idx="9">
                  <c:v>69.41900000000001</c:v>
                </c:pt>
                <c:pt idx="10">
                  <c:v>83.519</c:v>
                </c:pt>
                <c:pt idx="11">
                  <c:v>2448.317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1867.4340000000002</c:v>
                </c:pt>
                <c:pt idx="2">
                  <c:v>2234.054</c:v>
                </c:pt>
                <c:pt idx="3">
                  <c:v>2950.011</c:v>
                </c:pt>
                <c:pt idx="4">
                  <c:v>3567.824</c:v>
                </c:pt>
                <c:pt idx="5">
                  <c:v>3740.226</c:v>
                </c:pt>
                <c:pt idx="6">
                  <c:v>3901.493</c:v>
                </c:pt>
                <c:pt idx="7">
                  <c:v>4099.214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1867.4340000000002</c:v>
                </c:pt>
                <c:pt idx="1">
                  <c:v>366.62000000000006</c:v>
                </c:pt>
                <c:pt idx="2">
                  <c:v>715.957</c:v>
                </c:pt>
                <c:pt idx="3">
                  <c:v>617.8130000000001</c:v>
                </c:pt>
                <c:pt idx="4">
                  <c:v>172.402</c:v>
                </c:pt>
                <c:pt idx="5">
                  <c:v>161.26699999999997</c:v>
                </c:pt>
                <c:pt idx="6">
                  <c:v>197.72100000000003</c:v>
                </c:pt>
                <c:pt idx="7">
                  <c:v>216.539</c:v>
                </c:pt>
                <c:pt idx="8">
                  <c:v>4315.753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366.62000000000006</c:v>
                </c:pt>
                <c:pt idx="2">
                  <c:v>1082.577</c:v>
                </c:pt>
                <c:pt idx="3">
                  <c:v>1700.39</c:v>
                </c:pt>
                <c:pt idx="4">
                  <c:v>1872.7920000000001</c:v>
                </c:pt>
                <c:pt idx="5">
                  <c:v>2034.0590000000002</c:v>
                </c:pt>
                <c:pt idx="6">
                  <c:v>2231.78</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366.62000000000006</c:v>
                </c:pt>
                <c:pt idx="1">
                  <c:v>715.957</c:v>
                </c:pt>
                <c:pt idx="2">
                  <c:v>617.8130000000001</c:v>
                </c:pt>
                <c:pt idx="3">
                  <c:v>172.402</c:v>
                </c:pt>
                <c:pt idx="4">
                  <c:v>161.26699999999997</c:v>
                </c:pt>
                <c:pt idx="5">
                  <c:v>197.72100000000003</c:v>
                </c:pt>
                <c:pt idx="6">
                  <c:v>216.539</c:v>
                </c:pt>
                <c:pt idx="7">
                  <c:v>2448.3190000000004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1867.4350000000002</c:v>
                </c:pt>
                <c:pt idx="2">
                  <c:v>2384.061</c:v>
                </c:pt>
                <c:pt idx="3">
                  <c:v>3097.1000000000004</c:v>
                </c:pt>
                <c:pt idx="4">
                  <c:v>3992.2490000000003</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1867.4350000000002</c:v>
                </c:pt>
                <c:pt idx="1">
                  <c:v>516.626</c:v>
                </c:pt>
                <c:pt idx="2">
                  <c:v>713.039</c:v>
                </c:pt>
                <c:pt idx="3">
                  <c:v>895.149</c:v>
                </c:pt>
                <c:pt idx="4">
                  <c:v>323.503</c:v>
                </c:pt>
                <c:pt idx="5">
                  <c:v>4315.752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516.626</c:v>
                </c:pt>
                <c:pt idx="2">
                  <c:v>1229.665</c:v>
                </c:pt>
                <c:pt idx="3">
                  <c:v>2124.814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516.626</c:v>
                </c:pt>
                <c:pt idx="1">
                  <c:v>713.039</c:v>
                </c:pt>
                <c:pt idx="2">
                  <c:v>895.149</c:v>
                </c:pt>
                <c:pt idx="3">
                  <c:v>323.503</c:v>
                </c:pt>
                <c:pt idx="4">
                  <c:v>2448.317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1867.433</c:v>
                </c:pt>
                <c:pt idx="2">
                  <c:v>3913.741</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1867.433</c:v>
                </c:pt>
                <c:pt idx="1">
                  <c:v>2046.3080000000002</c:v>
                </c:pt>
                <c:pt idx="2">
                  <c:v>402.013</c:v>
                </c:pt>
                <c:pt idx="3">
                  <c:v>4315.754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2046.3080000000002</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2046.3080000000002</c:v>
                </c:pt>
                <c:pt idx="1">
                  <c:v>402.013</c:v>
                </c:pt>
                <c:pt idx="2">
                  <c:v>2448.3210000000004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1867.433</c:v>
                </c:pt>
                <c:pt idx="2">
                  <c:v>2384.061</c:v>
                </c:pt>
                <c:pt idx="3">
                  <c:v>3097.101</c:v>
                </c:pt>
                <c:pt idx="4">
                  <c:v>3992.251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1867.433</c:v>
                </c:pt>
                <c:pt idx="1">
                  <c:v>516.628</c:v>
                </c:pt>
                <c:pt idx="2">
                  <c:v>713.04</c:v>
                </c:pt>
                <c:pt idx="3">
                  <c:v>895.1500000000001</c:v>
                </c:pt>
                <c:pt idx="4">
                  <c:v>323.50199999999995</c:v>
                </c:pt>
                <c:pt idx="5">
                  <c:v>4315.753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516.628</c:v>
                </c:pt>
                <c:pt idx="2">
                  <c:v>1229.6680000000001</c:v>
                </c:pt>
                <c:pt idx="3">
                  <c:v>2124.818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516.628</c:v>
                </c:pt>
                <c:pt idx="1">
                  <c:v>713.04</c:v>
                </c:pt>
                <c:pt idx="2">
                  <c:v>895.1500000000001</c:v>
                </c:pt>
                <c:pt idx="3">
                  <c:v>323.50199999999995</c:v>
                </c:pt>
                <c:pt idx="4">
                  <c:v>2448.32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130.77999999999997</c:v>
                </c:pt>
                <c:pt idx="1">
                  <c:v>135.722</c:v>
                </c:pt>
                <c:pt idx="2">
                  <c:v>140.933</c:v>
                </c:pt>
                <c:pt idx="3">
                  <c:v>146.443</c:v>
                </c:pt>
                <c:pt idx="4">
                  <c:v>152.27800000000002</c:v>
                </c:pt>
                <c:pt idx="5">
                  <c:v>158.601</c:v>
                </c:pt>
                <c:pt idx="6">
                  <c:v>165.452</c:v>
                </c:pt>
                <c:pt idx="7">
                  <c:v>172.91599999999997</c:v>
                </c:pt>
                <c:pt idx="8">
                  <c:v>181.01999999999998</c:v>
                </c:pt>
                <c:pt idx="9">
                  <c:v>189.78</c:v>
                </c:pt>
                <c:pt idx="10">
                  <c:v>199.162</c:v>
                </c:pt>
                <c:pt idx="11">
                  <c:v>209.08499999999998</c:v>
                </c:pt>
                <c:pt idx="12">
                  <c:v>219.452</c:v>
                </c:pt>
                <c:pt idx="13">
                  <c:v>230.162</c:v>
                </c:pt>
                <c:pt idx="14">
                  <c:v>241.064</c:v>
                </c:pt>
                <c:pt idx="15">
                  <c:v>252.09300000000002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Singapore</c:v>
                </c:pt>
              </c:strCache>
            </c:strRef>
          </c:cat>
          <c:val>
            <c:numRef>
              <c:f>Sheet1!$B$2:$B$3</c:f>
              <c:numCache>
                <c:formatCode>General</c:formatCode>
                <c:ptCount val="2"/>
                <c:pt idx="0">
                  <c:v>0.06544044320302689</c:v>
                </c:pt>
                <c:pt idx="1">
                  <c:v>0.04743115265989939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83445983240863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158.601</c:v>
                </c:pt>
                <c:pt idx="2">
                  <c:v>165.452</c:v>
                </c:pt>
                <c:pt idx="3">
                  <c:v>172.91599999999997</c:v>
                </c:pt>
                <c:pt idx="4">
                  <c:v>181.01999999999998</c:v>
                </c:pt>
                <c:pt idx="5">
                  <c:v>189.78</c:v>
                </c:pt>
                <c:pt idx="6">
                  <c:v>199.162</c:v>
                </c:pt>
                <c:pt idx="7">
                  <c:v>209.08499999999998</c:v>
                </c:pt>
                <c:pt idx="8">
                  <c:v>219.452</c:v>
                </c:pt>
                <c:pt idx="9">
                  <c:v>230.162</c:v>
                </c:pt>
                <c:pt idx="10">
                  <c:v>241.064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158.601</c:v>
                </c:pt>
                <c:pt idx="1">
                  <c:v>6.850999999999999</c:v>
                </c:pt>
                <c:pt idx="2">
                  <c:v>7.46399999999997</c:v>
                </c:pt>
                <c:pt idx="3">
                  <c:v>8.104000000000013</c:v>
                </c:pt>
                <c:pt idx="4">
                  <c:v>8.76000000000002</c:v>
                </c:pt>
                <c:pt idx="5">
                  <c:v>9.382000000000005</c:v>
                </c:pt>
                <c:pt idx="6">
                  <c:v>9.922999999999973</c:v>
                </c:pt>
                <c:pt idx="7">
                  <c:v>10.367000000000019</c:v>
                </c:pt>
                <c:pt idx="8">
                  <c:v>10.710000000000008</c:v>
                </c:pt>
                <c:pt idx="9">
                  <c:v>10.901999999999987</c:v>
                </c:pt>
                <c:pt idx="10">
                  <c:v>11.029000000000025</c:v>
                </c:pt>
                <c:pt idx="11">
                  <c:v>252.09300000000002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Singapore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2.877554652782402</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97.12244534721759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428.835</c:v>
                </c:pt>
                <c:pt idx="1">
                  <c:v>446.533</c:v>
                </c:pt>
                <c:pt idx="2">
                  <c:v>465.42499999999995</c:v>
                </c:pt>
                <c:pt idx="3">
                  <c:v>485.868</c:v>
                </c:pt>
                <c:pt idx="4">
                  <c:v>507.781</c:v>
                </c:pt>
                <c:pt idx="5">
                  <c:v>533.7489999999999</c:v>
                </c:pt>
                <c:pt idx="6">
                  <c:v>562.351</c:v>
                </c:pt>
                <c:pt idx="7">
                  <c:v>594.023</c:v>
                </c:pt>
                <c:pt idx="8">
                  <c:v>628.943</c:v>
                </c:pt>
                <c:pt idx="9">
                  <c:v>667.502</c:v>
                </c:pt>
                <c:pt idx="10">
                  <c:v>709.8420000000001</c:v>
                </c:pt>
                <c:pt idx="11">
                  <c:v>755.862</c:v>
                </c:pt>
                <c:pt idx="12">
                  <c:v>805.355</c:v>
                </c:pt>
                <c:pt idx="13">
                  <c:v>858.0230000000001</c:v>
                </c:pt>
                <c:pt idx="14">
                  <c:v>913.7679999999999</c:v>
                </c:pt>
                <c:pt idx="15">
                  <c:v>972.396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Singapore</c:v>
                </c:pt>
              </c:strCache>
            </c:strRef>
          </c:cat>
          <c:val>
            <c:numRef>
              <c:f>Sheet1!$B$2:$B$3</c:f>
              <c:numCache>
                <c:formatCode>General</c:formatCode>
                <c:ptCount val="2"/>
                <c:pt idx="0">
                  <c:v>0.07773247697686525</c:v>
                </c:pt>
                <c:pt idx="1">
                  <c:v>0.061819285247265876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4938843918768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533.7489999999999</c:v>
                </c:pt>
                <c:pt idx="2">
                  <c:v>562.351</c:v>
                </c:pt>
                <c:pt idx="3">
                  <c:v>594.023</c:v>
                </c:pt>
                <c:pt idx="4">
                  <c:v>628.943</c:v>
                </c:pt>
                <c:pt idx="5">
                  <c:v>667.502</c:v>
                </c:pt>
                <c:pt idx="6">
                  <c:v>709.8420000000001</c:v>
                </c:pt>
                <c:pt idx="7">
                  <c:v>755.862</c:v>
                </c:pt>
                <c:pt idx="8">
                  <c:v>805.355</c:v>
                </c:pt>
                <c:pt idx="9">
                  <c:v>858.0230000000001</c:v>
                </c:pt>
                <c:pt idx="10">
                  <c:v>913.7679999999999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533.7489999999999</c:v>
                </c:pt>
                <c:pt idx="1">
                  <c:v>28.60200000000009</c:v>
                </c:pt>
                <c:pt idx="2">
                  <c:v>31.672000000000025</c:v>
                </c:pt>
                <c:pt idx="3">
                  <c:v>34.91999999999996</c:v>
                </c:pt>
                <c:pt idx="4">
                  <c:v>38.55899999999997</c:v>
                </c:pt>
                <c:pt idx="5">
                  <c:v>42.340000000000146</c:v>
                </c:pt>
                <c:pt idx="6">
                  <c:v>46.01999999999987</c:v>
                </c:pt>
                <c:pt idx="7">
                  <c:v>49.49300000000005</c:v>
                </c:pt>
                <c:pt idx="8">
                  <c:v>52.66800000000012</c:v>
                </c:pt>
                <c:pt idx="9">
                  <c:v>55.74499999999978</c:v>
                </c:pt>
                <c:pt idx="10">
                  <c:v>58.62800000000004</c:v>
                </c:pt>
                <c:pt idx="11">
                  <c:v>972.396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Singapore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3.451973882785557</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96.54802611721445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39.132</c:v>
                </c:pt>
                <c:pt idx="8">
                  <c:v>56.568</c:v>
                </c:pt>
                <c:pt idx="9">
                  <c:v>142.439</c:v>
                </c:pt>
                <c:pt idx="10">
                  <c:v>295.61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96.1174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AlOx / SiOx-Coated</c:v>
                </c:pt>
                <c:pt idx="3">
                  <c:v>Aluminum Foil-Based</c:v>
                </c:pt>
                <c:pt idx="4">
                  <c:v>PVDC-Based</c:v>
                </c:pt>
                <c:pt idx="5">
                  <c:v>Metallized Barrier</c:v>
                </c:pt>
                <c:pt idx="6">
                  <c:v>PA-Based</c:v>
                </c:pt>
                <c:pt idx="7">
                  <c:v>EVOH-Based</c:v>
                </c:pt>
                <c:pt idx="8">
                  <c:v>PET-Based</c:v>
                </c:pt>
                <c:pt idx="9">
                  <c:v>PP-Based</c:v>
                </c:pt>
                <c:pt idx="10">
                  <c:v>PE-Based</c:v>
                </c:pt>
              </c:strCache>
            </c:strRef>
          </c:cat>
          <c:val>
            <c:numRef>
              <c:f>Sheet1!$B$2:$B$12</c:f>
              <c:numCache>
                <c:formatCode>General</c:formatCode>
                <c:ptCount val="11"/>
                <c:pt idx="0">
                  <c:v>10.52</c:v>
                </c:pt>
                <c:pt idx="1">
                  <c:v>16.08</c:v>
                </c:pt>
                <c:pt idx="2">
                  <c:v>16.231</c:v>
                </c:pt>
                <c:pt idx="3">
                  <c:v>16.806</c:v>
                </c:pt>
                <c:pt idx="4">
                  <c:v>30.147</c:v>
                </c:pt>
                <c:pt idx="5">
                  <c:v>31.55</c:v>
                </c:pt>
                <c:pt idx="6">
                  <c:v>42.44</c:v>
                </c:pt>
                <c:pt idx="7">
                  <c:v>43.615</c:v>
                </c:pt>
                <c:pt idx="8">
                  <c:v>54.027</c:v>
                </c:pt>
                <c:pt idx="9">
                  <c:v>104.332</c:v>
                </c:pt>
                <c:pt idx="10">
                  <c:v>167.997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25.11598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Foil-Laminated Struct…</c:v>
                </c:pt>
                <c:pt idx="6">
                  <c:v>Metallized Films</c:v>
                </c:pt>
                <c:pt idx="7">
                  <c:v>Mono-Material Recycla…</c:v>
                </c:pt>
                <c:pt idx="8">
                  <c:v>Monolayer Films</c:v>
                </c:pt>
                <c:pt idx="9">
                  <c:v>Laminated Films</c:v>
                </c:pt>
                <c:pt idx="10">
                  <c:v>Coextruded Multilayer…</c:v>
                </c:pt>
              </c:strCache>
            </c:strRef>
          </c:cat>
          <c:val>
            <c:numRef>
              <c:f>Sheet1!$B$2:$B$12</c:f>
              <c:numCache>
                <c:formatCode>General</c:formatCode>
                <c:ptCount val="11"/>
                <c:pt idx="4">
                  <c:v>35.508</c:v>
                </c:pt>
                <c:pt idx="5">
                  <c:v>40.078</c:v>
                </c:pt>
                <c:pt idx="6">
                  <c:v>41.39</c:v>
                </c:pt>
                <c:pt idx="7">
                  <c:v>42.187</c:v>
                </c:pt>
                <c:pt idx="8">
                  <c:v>90.261</c:v>
                </c:pt>
                <c:pt idx="9">
                  <c:v>129.975</c:v>
                </c:pt>
                <c:pt idx="10">
                  <c:v>154.344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06.8209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Medium-Barrier Films</c:v>
                </c:pt>
                <c:pt idx="10">
                  <c:v>High-Barrier Films</c:v>
                </c:pt>
              </c:strCache>
            </c:strRef>
          </c:cat>
          <c:val>
            <c:numRef>
              <c:f>Sheet1!$B$2:$B$12</c:f>
              <c:numCache>
                <c:formatCode>General</c:formatCode>
                <c:ptCount val="11"/>
                <c:pt idx="7">
                  <c:v>69.659</c:v>
                </c:pt>
                <c:pt idx="8">
                  <c:v>119.133</c:v>
                </c:pt>
                <c:pt idx="9">
                  <c:v>164.733</c:v>
                </c:pt>
                <c:pt idx="10">
                  <c:v>180.22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41.4948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91.007</c:v>
                </c:pt>
                <c:pt idx="10">
                  <c:v>442.738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93.2689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Medium-Barrier Films</c:v>
                </c:pt>
                <c:pt idx="10">
                  <c:v>High-Barrier Films</c:v>
                </c:pt>
              </c:strCache>
            </c:strRef>
          </c:cat>
          <c:val>
            <c:numRef>
              <c:f>Sheet1!$B$2:$B$12</c:f>
              <c:numCache>
                <c:formatCode>General</c:formatCode>
                <c:ptCount val="11"/>
                <c:pt idx="7">
                  <c:v>69.658</c:v>
                </c:pt>
                <c:pt idx="8">
                  <c:v>119.134</c:v>
                </c:pt>
                <c:pt idx="9">
                  <c:v>164.734</c:v>
                </c:pt>
                <c:pt idx="10">
                  <c:v>180.221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41.49614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533.7489999999999</c:v>
                </c:pt>
                <c:pt idx="2">
                  <c:v>775.2509999999999</c:v>
                </c:pt>
                <c:pt idx="3">
                  <c:v>821.3899999999999</c:v>
                </c:pt>
                <c:pt idx="4">
                  <c:v>941.3779999999999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533.7489999999999</c:v>
                </c:pt>
                <c:pt idx="1">
                  <c:v>241.50199999999995</c:v>
                </c:pt>
                <c:pt idx="2">
                  <c:v>46.138999999999996</c:v>
                </c:pt>
                <c:pt idx="3">
                  <c:v>119.98800000000003</c:v>
                </c:pt>
                <c:pt idx="4">
                  <c:v>31.018000000000008</c:v>
                </c:pt>
                <c:pt idx="5">
                  <c:v>972.396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241.50199999999995</c:v>
                </c:pt>
                <c:pt idx="2">
                  <c:v>287.64099999999996</c:v>
                </c:pt>
                <c:pt idx="3">
                  <c:v>407.629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241.50199999999995</c:v>
                </c:pt>
                <c:pt idx="1">
                  <c:v>46.138999999999996</c:v>
                </c:pt>
                <c:pt idx="2">
                  <c:v>119.98800000000003</c:v>
                </c:pt>
                <c:pt idx="3">
                  <c:v>31.018000000000008</c:v>
                </c:pt>
                <c:pt idx="4">
                  <c:v>438.64700000000005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533.745</c:v>
                </c:pt>
                <c:pt idx="2">
                  <c:v>675.384</c:v>
                </c:pt>
                <c:pt idx="3">
                  <c:v>757.915</c:v>
                </c:pt>
                <c:pt idx="4">
                  <c:v>803.452</c:v>
                </c:pt>
                <c:pt idx="5">
                  <c:v>837.417</c:v>
                </c:pt>
                <c:pt idx="6">
                  <c:v>875.133</c:v>
                </c:pt>
                <c:pt idx="7">
                  <c:v>896.658</c:v>
                </c:pt>
                <c:pt idx="8">
                  <c:v>905.941</c:v>
                </c:pt>
                <c:pt idx="9">
                  <c:v>931.267</c:v>
                </c:pt>
                <c:pt idx="10">
                  <c:v>945.374</c:v>
                </c:pt>
                <c:pt idx="11">
                  <c:v>957.575</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533.745</c:v>
                </c:pt>
                <c:pt idx="1">
                  <c:v>141.639</c:v>
                </c:pt>
                <c:pt idx="2">
                  <c:v>82.531</c:v>
                </c:pt>
                <c:pt idx="3">
                  <c:v>45.53699999999999</c:v>
                </c:pt>
                <c:pt idx="4">
                  <c:v>33.965</c:v>
                </c:pt>
                <c:pt idx="5">
                  <c:v>37.716</c:v>
                </c:pt>
                <c:pt idx="6">
                  <c:v>21.525</c:v>
                </c:pt>
                <c:pt idx="7">
                  <c:v>9.283000000000001</c:v>
                </c:pt>
                <c:pt idx="8">
                  <c:v>25.325999999999997</c:v>
                </c:pt>
                <c:pt idx="9">
                  <c:v>14.107</c:v>
                </c:pt>
                <c:pt idx="10">
                  <c:v>12.201</c:v>
                </c:pt>
                <c:pt idx="11">
                  <c:v>14.821000000000002</c:v>
                </c:pt>
                <c:pt idx="12">
                  <c:v>972.396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141.639</c:v>
                </c:pt>
                <c:pt idx="2">
                  <c:v>224.17000000000002</c:v>
                </c:pt>
                <c:pt idx="3">
                  <c:v>269.707</c:v>
                </c:pt>
                <c:pt idx="4">
                  <c:v>303.672</c:v>
                </c:pt>
                <c:pt idx="5">
                  <c:v>341.38800000000003</c:v>
                </c:pt>
                <c:pt idx="6">
                  <c:v>362.913</c:v>
                </c:pt>
                <c:pt idx="7">
                  <c:v>372.196</c:v>
                </c:pt>
                <c:pt idx="8">
                  <c:v>397.52200000000005</c:v>
                </c:pt>
                <c:pt idx="9">
                  <c:v>411.629</c:v>
                </c:pt>
                <c:pt idx="10">
                  <c:v>423.83000000000004</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141.639</c:v>
                </c:pt>
                <c:pt idx="1">
                  <c:v>82.531</c:v>
                </c:pt>
                <c:pt idx="2">
                  <c:v>45.53699999999999</c:v>
                </c:pt>
                <c:pt idx="3">
                  <c:v>33.965</c:v>
                </c:pt>
                <c:pt idx="4">
                  <c:v>37.716</c:v>
                </c:pt>
                <c:pt idx="5">
                  <c:v>21.525</c:v>
                </c:pt>
                <c:pt idx="6">
                  <c:v>9.283000000000001</c:v>
                </c:pt>
                <c:pt idx="7">
                  <c:v>25.325999999999997</c:v>
                </c:pt>
                <c:pt idx="8">
                  <c:v>14.107</c:v>
                </c:pt>
                <c:pt idx="9">
                  <c:v>12.201</c:v>
                </c:pt>
                <c:pt idx="10">
                  <c:v>14.821000000000002</c:v>
                </c:pt>
                <c:pt idx="11">
                  <c:v>438.65100000000007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533.7429999999999</c:v>
                </c:pt>
                <c:pt idx="2">
                  <c:v>610.252</c:v>
                </c:pt>
                <c:pt idx="3">
                  <c:v>732.858</c:v>
                </c:pt>
                <c:pt idx="4">
                  <c:v>837.819</c:v>
                </c:pt>
                <c:pt idx="5">
                  <c:v>867.2909999999999</c:v>
                </c:pt>
                <c:pt idx="6">
                  <c:v>898.9499999999999</c:v>
                </c:pt>
                <c:pt idx="7">
                  <c:v>932.8969999999999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533.7429999999999</c:v>
                </c:pt>
                <c:pt idx="1">
                  <c:v>76.50900000000001</c:v>
                </c:pt>
                <c:pt idx="2">
                  <c:v>122.606</c:v>
                </c:pt>
                <c:pt idx="3">
                  <c:v>104.96099999999998</c:v>
                </c:pt>
                <c:pt idx="4">
                  <c:v>29.472</c:v>
                </c:pt>
                <c:pt idx="5">
                  <c:v>31.659000000000006</c:v>
                </c:pt>
                <c:pt idx="6">
                  <c:v>33.947</c:v>
                </c:pt>
                <c:pt idx="7">
                  <c:v>39.498999999999995</c:v>
                </c:pt>
                <c:pt idx="8">
                  <c:v>972.396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76.50900000000001</c:v>
                </c:pt>
                <c:pt idx="2">
                  <c:v>199.115</c:v>
                </c:pt>
                <c:pt idx="3">
                  <c:v>304.076</c:v>
                </c:pt>
                <c:pt idx="4">
                  <c:v>333.548</c:v>
                </c:pt>
                <c:pt idx="5">
                  <c:v>365.207</c:v>
                </c:pt>
                <c:pt idx="6">
                  <c:v>399.154</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76.50900000000001</c:v>
                </c:pt>
                <c:pt idx="1">
                  <c:v>122.606</c:v>
                </c:pt>
                <c:pt idx="2">
                  <c:v>104.96099999999998</c:v>
                </c:pt>
                <c:pt idx="3">
                  <c:v>29.472</c:v>
                </c:pt>
                <c:pt idx="4">
                  <c:v>31.659000000000006</c:v>
                </c:pt>
                <c:pt idx="5">
                  <c:v>33.947</c:v>
                </c:pt>
                <c:pt idx="6">
                  <c:v>39.498999999999995</c:v>
                </c:pt>
                <c:pt idx="7">
                  <c:v>438.653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533.745</c:v>
                </c:pt>
                <c:pt idx="2">
                  <c:v>626.215</c:v>
                </c:pt>
                <c:pt idx="3">
                  <c:v>753.807</c:v>
                </c:pt>
                <c:pt idx="4">
                  <c:v>914.047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533.745</c:v>
                </c:pt>
                <c:pt idx="1">
                  <c:v>92.47000000000001</c:v>
                </c:pt>
                <c:pt idx="2">
                  <c:v>127.59199999999998</c:v>
                </c:pt>
                <c:pt idx="3">
                  <c:v>160.23999999999998</c:v>
                </c:pt>
                <c:pt idx="4">
                  <c:v>58.349000000000004</c:v>
                </c:pt>
                <c:pt idx="5">
                  <c:v>972.396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92.47000000000001</c:v>
                </c:pt>
                <c:pt idx="2">
                  <c:v>220.062</c:v>
                </c:pt>
                <c:pt idx="3">
                  <c:v>380.302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92.47000000000001</c:v>
                </c:pt>
                <c:pt idx="1">
                  <c:v>127.59199999999998</c:v>
                </c:pt>
                <c:pt idx="2">
                  <c:v>160.23999999999998</c:v>
                </c:pt>
                <c:pt idx="3">
                  <c:v>58.349000000000004</c:v>
                </c:pt>
                <c:pt idx="4">
                  <c:v>438.651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533.745</c:v>
                </c:pt>
                <c:pt idx="2">
                  <c:v>898.6890000000001</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533.745</c:v>
                </c:pt>
                <c:pt idx="1">
                  <c:v>364.944</c:v>
                </c:pt>
                <c:pt idx="2">
                  <c:v>73.707</c:v>
                </c:pt>
                <c:pt idx="3">
                  <c:v>972.396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364.944</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364.944</c:v>
                </c:pt>
                <c:pt idx="1">
                  <c:v>73.707</c:v>
                </c:pt>
                <c:pt idx="2">
                  <c:v>438.651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533.747</c:v>
                </c:pt>
                <c:pt idx="2">
                  <c:v>626.216</c:v>
                </c:pt>
                <c:pt idx="3">
                  <c:v>753.807</c:v>
                </c:pt>
                <c:pt idx="4">
                  <c:v>914.046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533.747</c:v>
                </c:pt>
                <c:pt idx="1">
                  <c:v>92.46900000000001</c:v>
                </c:pt>
                <c:pt idx="2">
                  <c:v>127.59099999999998</c:v>
                </c:pt>
                <c:pt idx="3">
                  <c:v>160.23899999999998</c:v>
                </c:pt>
                <c:pt idx="4">
                  <c:v>58.350999999999985</c:v>
                </c:pt>
                <c:pt idx="5">
                  <c:v>972.3969999999999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92.46900000000001</c:v>
                </c:pt>
                <c:pt idx="2">
                  <c:v>220.06</c:v>
                </c:pt>
                <c:pt idx="3">
                  <c:v>380.299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92.46900000000001</c:v>
                </c:pt>
                <c:pt idx="1">
                  <c:v>127.59099999999998</c:v>
                </c:pt>
                <c:pt idx="2">
                  <c:v>160.23899999999998</c:v>
                </c:pt>
                <c:pt idx="3">
                  <c:v>58.350999999999985</c:v>
                </c:pt>
                <c:pt idx="4">
                  <c:v>438.65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287.10200000000003</c:v>
                </c:pt>
                <c:pt idx="1">
                  <c:v>305.09</c:v>
                </c:pt>
                <c:pt idx="2">
                  <c:v>324.61400000000003</c:v>
                </c:pt>
                <c:pt idx="3">
                  <c:v>345.987</c:v>
                </c:pt>
                <c:pt idx="4">
                  <c:v>369.434</c:v>
                </c:pt>
                <c:pt idx="5">
                  <c:v>395.58799999999997</c:v>
                </c:pt>
                <c:pt idx="6">
                  <c:v>424.691</c:v>
                </c:pt>
                <c:pt idx="7">
                  <c:v>457.1410000000001</c:v>
                </c:pt>
                <c:pt idx="8">
                  <c:v>493.18</c:v>
                </c:pt>
                <c:pt idx="9">
                  <c:v>533.065</c:v>
                </c:pt>
                <c:pt idx="10">
                  <c:v>576.799</c:v>
                </c:pt>
                <c:pt idx="11">
                  <c:v>624.1379999999999</c:v>
                </c:pt>
                <c:pt idx="12">
                  <c:v>674.759</c:v>
                </c:pt>
                <c:pt idx="13">
                  <c:v>728.463</c:v>
                </c:pt>
                <c:pt idx="14">
                  <c:v>784.749</c:v>
                </c:pt>
                <c:pt idx="15">
                  <c:v>843.336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Philippines</c:v>
                </c:pt>
              </c:strCache>
            </c:strRef>
          </c:cat>
          <c:val>
            <c:numRef>
              <c:f>Sheet1!$B$2:$B$3</c:f>
              <c:numCache>
                <c:formatCode>General</c:formatCode>
                <c:ptCount val="2"/>
                <c:pt idx="0">
                  <c:v>0.06544044320302689</c:v>
                </c:pt>
                <c:pt idx="1">
                  <c:v>0.07863809146134315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616142347281327"/>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395.58799999999997</c:v>
                </c:pt>
                <c:pt idx="2">
                  <c:v>424.691</c:v>
                </c:pt>
                <c:pt idx="3">
                  <c:v>457.1410000000001</c:v>
                </c:pt>
                <c:pt idx="4">
                  <c:v>493.18</c:v>
                </c:pt>
                <c:pt idx="5">
                  <c:v>533.065</c:v>
                </c:pt>
                <c:pt idx="6">
                  <c:v>576.799</c:v>
                </c:pt>
                <c:pt idx="7">
                  <c:v>624.1379999999999</c:v>
                </c:pt>
                <c:pt idx="8">
                  <c:v>674.759</c:v>
                </c:pt>
                <c:pt idx="9">
                  <c:v>728.463</c:v>
                </c:pt>
                <c:pt idx="10">
                  <c:v>784.749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395.58799999999997</c:v>
                </c:pt>
                <c:pt idx="1">
                  <c:v>29.10300000000001</c:v>
                </c:pt>
                <c:pt idx="2">
                  <c:v>32.4500000000001</c:v>
                </c:pt>
                <c:pt idx="3">
                  <c:v>36.03899999999993</c:v>
                </c:pt>
                <c:pt idx="4">
                  <c:v>39.88500000000005</c:v>
                </c:pt>
                <c:pt idx="5">
                  <c:v>43.733999999999924</c:v>
                </c:pt>
                <c:pt idx="6">
                  <c:v>47.33899999999994</c:v>
                </c:pt>
                <c:pt idx="7">
                  <c:v>50.621000000000095</c:v>
                </c:pt>
                <c:pt idx="8">
                  <c:v>53.70399999999995</c:v>
                </c:pt>
                <c:pt idx="9">
                  <c:v>56.28600000000006</c:v>
                </c:pt>
                <c:pt idx="10">
                  <c:v>58.58699999999999</c:v>
                </c:pt>
                <c:pt idx="11">
                  <c:v>843.336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Philippines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7.1772945314650265</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92.82270546853498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777.486</c:v>
                </c:pt>
                <c:pt idx="1">
                  <c:v>828.6380000000001</c:v>
                </c:pt>
                <c:pt idx="2">
                  <c:v>884.606</c:v>
                </c:pt>
                <c:pt idx="3">
                  <c:v>946.844</c:v>
                </c:pt>
                <c:pt idx="4">
                  <c:v>1015.5559999999999</c:v>
                </c:pt>
                <c:pt idx="5">
                  <c:v>1096.7169999999999</c:v>
                </c:pt>
                <c:pt idx="6">
                  <c:v>1188.191</c:v>
                </c:pt>
                <c:pt idx="7">
                  <c:v>1291.844</c:v>
                </c:pt>
                <c:pt idx="8">
                  <c:v>1409.025</c:v>
                </c:pt>
                <c:pt idx="9">
                  <c:v>1541.4599999999998</c:v>
                </c:pt>
                <c:pt idx="10">
                  <c:v>1689.827</c:v>
                </c:pt>
                <c:pt idx="11">
                  <c:v>1854.1509999999998</c:v>
                </c:pt>
                <c:pt idx="12">
                  <c:v>2034.1339999999998</c:v>
                </c:pt>
                <c:pt idx="13">
                  <c:v>2230.138</c:v>
                </c:pt>
                <c:pt idx="14">
                  <c:v>2441.7599999999998</c:v>
                </c:pt>
                <c:pt idx="15">
                  <c:v>2668.9860000000003</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Philippines</c:v>
                </c:pt>
              </c:strCache>
            </c:strRef>
          </c:cat>
          <c:val>
            <c:numRef>
              <c:f>Sheet1!$B$2:$B$3</c:f>
              <c:numCache>
                <c:formatCode>General</c:formatCode>
                <c:ptCount val="2"/>
                <c:pt idx="0">
                  <c:v>0.07773247697686525</c:v>
                </c:pt>
                <c:pt idx="1">
                  <c:v>0.0930126090673953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255670222409836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1096.7169999999999</c:v>
                </c:pt>
                <c:pt idx="2">
                  <c:v>1188.191</c:v>
                </c:pt>
                <c:pt idx="3">
                  <c:v>1291.844</c:v>
                </c:pt>
                <c:pt idx="4">
                  <c:v>1409.025</c:v>
                </c:pt>
                <c:pt idx="5">
                  <c:v>1541.4599999999998</c:v>
                </c:pt>
                <c:pt idx="6">
                  <c:v>1689.827</c:v>
                </c:pt>
                <c:pt idx="7">
                  <c:v>1854.1509999999998</c:v>
                </c:pt>
                <c:pt idx="8">
                  <c:v>2034.1339999999998</c:v>
                </c:pt>
                <c:pt idx="9">
                  <c:v>2230.138</c:v>
                </c:pt>
                <c:pt idx="10">
                  <c:v>2441.7599999999998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1096.7169999999999</c:v>
                </c:pt>
                <c:pt idx="1">
                  <c:v>91.47400000000016</c:v>
                </c:pt>
                <c:pt idx="2">
                  <c:v>103.65300000000002</c:v>
                </c:pt>
                <c:pt idx="3">
                  <c:v>117.18100000000004</c:v>
                </c:pt>
                <c:pt idx="4">
                  <c:v>132.43499999999972</c:v>
                </c:pt>
                <c:pt idx="5">
                  <c:v>148.3670000000002</c:v>
                </c:pt>
                <c:pt idx="6">
                  <c:v>164.32399999999984</c:v>
                </c:pt>
                <c:pt idx="7">
                  <c:v>179.98299999999995</c:v>
                </c:pt>
                <c:pt idx="8">
                  <c:v>196.00400000000013</c:v>
                </c:pt>
                <c:pt idx="9">
                  <c:v>211.62199999999984</c:v>
                </c:pt>
                <c:pt idx="10">
                  <c:v>227.22600000000057</c:v>
                </c:pt>
                <c:pt idx="11">
                  <c:v>2668.9860000000003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Philippines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7.092919032741847</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92.90708096725815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78.932</c:v>
                </c:pt>
                <c:pt idx="8">
                  <c:v>114.026</c:v>
                </c:pt>
                <c:pt idx="9">
                  <c:v>303.351</c:v>
                </c:pt>
                <c:pt idx="10">
                  <c:v>600.408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804.5467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Other Specialty Barri…</c:v>
                </c:pt>
                <c:pt idx="3">
                  <c:v>Aluminum Foil-Based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21.589</c:v>
                </c:pt>
                <c:pt idx="1">
                  <c:v>31.841</c:v>
                </c:pt>
                <c:pt idx="2">
                  <c:v>33.105</c:v>
                </c:pt>
                <c:pt idx="3">
                  <c:v>35.348</c:v>
                </c:pt>
                <c:pt idx="4">
                  <c:v>52.736</c:v>
                </c:pt>
                <c:pt idx="5">
                  <c:v>61.278</c:v>
                </c:pt>
                <c:pt idx="6">
                  <c:v>82.035</c:v>
                </c:pt>
                <c:pt idx="7">
                  <c:v>94.774</c:v>
                </c:pt>
                <c:pt idx="8">
                  <c:v>104.125</c:v>
                </c:pt>
                <c:pt idx="9">
                  <c:v>238.691</c:v>
                </c:pt>
                <c:pt idx="10">
                  <c:v>341.2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57.2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Metallized Films</c:v>
                </c:pt>
                <c:pt idx="5">
                  <c:v>Coated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73.773</c:v>
                </c:pt>
                <c:pt idx="5">
                  <c:v>74.915</c:v>
                </c:pt>
                <c:pt idx="6">
                  <c:v>87.871</c:v>
                </c:pt>
                <c:pt idx="7">
                  <c:v>93.995</c:v>
                </c:pt>
                <c:pt idx="8">
                  <c:v>172.755</c:v>
                </c:pt>
                <c:pt idx="9">
                  <c:v>294.879</c:v>
                </c:pt>
                <c:pt idx="10">
                  <c:v>298.532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00.0328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149.772</c:v>
                </c:pt>
                <c:pt idx="8">
                  <c:v>221.538</c:v>
                </c:pt>
                <c:pt idx="9">
                  <c:v>347.912</c:v>
                </c:pt>
                <c:pt idx="10">
                  <c:v>377.498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05.8473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177.024</c:v>
                </c:pt>
                <c:pt idx="10">
                  <c:v>919.698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232.3953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149.772</c:v>
                </c:pt>
                <c:pt idx="8">
                  <c:v>221.539</c:v>
                </c:pt>
                <c:pt idx="9">
                  <c:v>347.91200000000003</c:v>
                </c:pt>
                <c:pt idx="10">
                  <c:v>377.498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05.8473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1096.7169999999999</c:v>
                </c:pt>
                <c:pt idx="2">
                  <c:v>1955.7109999999998</c:v>
                </c:pt>
                <c:pt idx="3">
                  <c:v>2121.9089999999997</c:v>
                </c:pt>
                <c:pt idx="4">
                  <c:v>2563.2339999999995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1096.7169999999999</c:v>
                </c:pt>
                <c:pt idx="1">
                  <c:v>858.994</c:v>
                </c:pt>
                <c:pt idx="2">
                  <c:v>166.19799999999998</c:v>
                </c:pt>
                <c:pt idx="3">
                  <c:v>441.32500000000005</c:v>
                </c:pt>
                <c:pt idx="4">
                  <c:v>105.752</c:v>
                </c:pt>
                <c:pt idx="5">
                  <c:v>2668.9860000000003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858.994</c:v>
                </c:pt>
                <c:pt idx="2">
                  <c:v>1025.192</c:v>
                </c:pt>
                <c:pt idx="3">
                  <c:v>1466.517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858.994</c:v>
                </c:pt>
                <c:pt idx="1">
                  <c:v>166.19799999999998</c:v>
                </c:pt>
                <c:pt idx="2">
                  <c:v>441.32500000000005</c:v>
                </c:pt>
                <c:pt idx="3">
                  <c:v>105.752</c:v>
                </c:pt>
                <c:pt idx="4">
                  <c:v>1572.269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1096.7219999999998</c:v>
                </c:pt>
                <c:pt idx="2">
                  <c:v>1606.1359999999997</c:v>
                </c:pt>
                <c:pt idx="3">
                  <c:v>1935.3289999999997</c:v>
                </c:pt>
                <c:pt idx="4">
                  <c:v>2085.85</c:v>
                </c:pt>
                <c:pt idx="5">
                  <c:v>2217.71</c:v>
                </c:pt>
                <c:pt idx="6">
                  <c:v>2338.722</c:v>
                </c:pt>
                <c:pt idx="7">
                  <c:v>2405.922</c:v>
                </c:pt>
                <c:pt idx="8">
                  <c:v>2437.467</c:v>
                </c:pt>
                <c:pt idx="9">
                  <c:v>2527.077</c:v>
                </c:pt>
                <c:pt idx="10">
                  <c:v>2574.6980000000003</c:v>
                </c:pt>
                <c:pt idx="11">
                  <c:v>2619.483</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1096.7219999999998</c:v>
                </c:pt>
                <c:pt idx="1">
                  <c:v>509.41400000000004</c:v>
                </c:pt>
                <c:pt idx="2">
                  <c:v>329.193</c:v>
                </c:pt>
                <c:pt idx="3">
                  <c:v>150.521</c:v>
                </c:pt>
                <c:pt idx="4">
                  <c:v>131.85999999999999</c:v>
                </c:pt>
                <c:pt idx="5">
                  <c:v>121.012</c:v>
                </c:pt>
                <c:pt idx="6">
                  <c:v>67.20000000000002</c:v>
                </c:pt>
                <c:pt idx="7">
                  <c:v>31.545</c:v>
                </c:pt>
                <c:pt idx="8">
                  <c:v>89.61000000000001</c:v>
                </c:pt>
                <c:pt idx="9">
                  <c:v>47.621</c:v>
                </c:pt>
                <c:pt idx="10">
                  <c:v>44.785</c:v>
                </c:pt>
                <c:pt idx="11">
                  <c:v>49.502</c:v>
                </c:pt>
                <c:pt idx="12">
                  <c:v>2668.9849999999997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509.41400000000004</c:v>
                </c:pt>
                <c:pt idx="2">
                  <c:v>838.607</c:v>
                </c:pt>
                <c:pt idx="3">
                  <c:v>989.1279999999999</c:v>
                </c:pt>
                <c:pt idx="4">
                  <c:v>1120.9879999999998</c:v>
                </c:pt>
                <c:pt idx="5">
                  <c:v>1241.9999999999998</c:v>
                </c:pt>
                <c:pt idx="6">
                  <c:v>1309.1999999999998</c:v>
                </c:pt>
                <c:pt idx="7">
                  <c:v>1340.745</c:v>
                </c:pt>
                <c:pt idx="8">
                  <c:v>1430.355</c:v>
                </c:pt>
                <c:pt idx="9">
                  <c:v>1477.976</c:v>
                </c:pt>
                <c:pt idx="10">
                  <c:v>1522.7610000000002</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509.41400000000004</c:v>
                </c:pt>
                <c:pt idx="1">
                  <c:v>329.193</c:v>
                </c:pt>
                <c:pt idx="2">
                  <c:v>150.521</c:v>
                </c:pt>
                <c:pt idx="3">
                  <c:v>131.85999999999999</c:v>
                </c:pt>
                <c:pt idx="4">
                  <c:v>121.012</c:v>
                </c:pt>
                <c:pt idx="5">
                  <c:v>67.20000000000002</c:v>
                </c:pt>
                <c:pt idx="6">
                  <c:v>31.545</c:v>
                </c:pt>
                <c:pt idx="7">
                  <c:v>89.61000000000001</c:v>
                </c:pt>
                <c:pt idx="8">
                  <c:v>47.621</c:v>
                </c:pt>
                <c:pt idx="9">
                  <c:v>44.785</c:v>
                </c:pt>
                <c:pt idx="10">
                  <c:v>49.502</c:v>
                </c:pt>
                <c:pt idx="11">
                  <c:v>1572.263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1096.7199999999998</c:v>
                </c:pt>
                <c:pt idx="2">
                  <c:v>1350.3569999999997</c:v>
                </c:pt>
                <c:pt idx="3">
                  <c:v>1767.8589999999997</c:v>
                </c:pt>
                <c:pt idx="4">
                  <c:v>2185.8149999999996</c:v>
                </c:pt>
                <c:pt idx="5">
                  <c:v>2294.1639999999998</c:v>
                </c:pt>
                <c:pt idx="6">
                  <c:v>2394.493</c:v>
                </c:pt>
                <c:pt idx="7">
                  <c:v>2520.404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1096.7199999999998</c:v>
                </c:pt>
                <c:pt idx="1">
                  <c:v>253.637</c:v>
                </c:pt>
                <c:pt idx="2">
                  <c:v>417.502</c:v>
                </c:pt>
                <c:pt idx="3">
                  <c:v>417.956</c:v>
                </c:pt>
                <c:pt idx="4">
                  <c:v>108.349</c:v>
                </c:pt>
                <c:pt idx="5">
                  <c:v>100.32900000000001</c:v>
                </c:pt>
                <c:pt idx="6">
                  <c:v>125.91100000000002</c:v>
                </c:pt>
                <c:pt idx="7">
                  <c:v>148.57999999999998</c:v>
                </c:pt>
                <c:pt idx="8">
                  <c:v>2668.984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253.637</c:v>
                </c:pt>
                <c:pt idx="2">
                  <c:v>671.139</c:v>
                </c:pt>
                <c:pt idx="3">
                  <c:v>1089.095</c:v>
                </c:pt>
                <c:pt idx="4">
                  <c:v>1197.444</c:v>
                </c:pt>
                <c:pt idx="5">
                  <c:v>1297.773</c:v>
                </c:pt>
                <c:pt idx="6">
                  <c:v>1423.684</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253.637</c:v>
                </c:pt>
                <c:pt idx="1">
                  <c:v>417.502</c:v>
                </c:pt>
                <c:pt idx="2">
                  <c:v>417.956</c:v>
                </c:pt>
                <c:pt idx="3">
                  <c:v>108.349</c:v>
                </c:pt>
                <c:pt idx="4">
                  <c:v>100.32900000000001</c:v>
                </c:pt>
                <c:pt idx="5">
                  <c:v>125.91100000000002</c:v>
                </c:pt>
                <c:pt idx="6">
                  <c:v>148.57999999999998</c:v>
                </c:pt>
                <c:pt idx="7">
                  <c:v>1572.264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1096.72</c:v>
                </c:pt>
                <c:pt idx="2">
                  <c:v>1415.333</c:v>
                </c:pt>
                <c:pt idx="3">
                  <c:v>1926.395</c:v>
                </c:pt>
                <c:pt idx="4">
                  <c:v>2454.051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1096.72</c:v>
                </c:pt>
                <c:pt idx="1">
                  <c:v>318.61299999999994</c:v>
                </c:pt>
                <c:pt idx="2">
                  <c:v>511.06199999999995</c:v>
                </c:pt>
                <c:pt idx="3">
                  <c:v>527.656</c:v>
                </c:pt>
                <c:pt idx="4">
                  <c:v>214.93200000000002</c:v>
                </c:pt>
                <c:pt idx="5">
                  <c:v>2668.9829999999997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318.61299999999994</c:v>
                </c:pt>
                <c:pt idx="2">
                  <c:v>829.675</c:v>
                </c:pt>
                <c:pt idx="3">
                  <c:v>1357.331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318.61299999999994</c:v>
                </c:pt>
                <c:pt idx="1">
                  <c:v>511.06199999999995</c:v>
                </c:pt>
                <c:pt idx="2">
                  <c:v>527.656</c:v>
                </c:pt>
                <c:pt idx="3">
                  <c:v>214.93200000000002</c:v>
                </c:pt>
                <c:pt idx="4">
                  <c:v>1572.263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1096.722</c:v>
                </c:pt>
                <c:pt idx="2">
                  <c:v>2416.8410000000003</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1096.722</c:v>
                </c:pt>
                <c:pt idx="1">
                  <c:v>1320.1190000000001</c:v>
                </c:pt>
                <c:pt idx="2">
                  <c:v>252.142</c:v>
                </c:pt>
                <c:pt idx="3">
                  <c:v>2668.983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1320.1190000000001</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1320.1190000000001</c:v>
                </c:pt>
                <c:pt idx="1">
                  <c:v>252.142</c:v>
                </c:pt>
                <c:pt idx="2">
                  <c:v>1572.2610000000002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1096.721</c:v>
                </c:pt>
                <c:pt idx="2">
                  <c:v>1415.333</c:v>
                </c:pt>
                <c:pt idx="3">
                  <c:v>1926.394</c:v>
                </c:pt>
                <c:pt idx="4">
                  <c:v>2454.0519999999997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1096.721</c:v>
                </c:pt>
                <c:pt idx="1">
                  <c:v>318.61199999999997</c:v>
                </c:pt>
                <c:pt idx="2">
                  <c:v>511.061</c:v>
                </c:pt>
                <c:pt idx="3">
                  <c:v>527.6579999999999</c:v>
                </c:pt>
                <c:pt idx="4">
                  <c:v>214.93200000000002</c:v>
                </c:pt>
                <c:pt idx="5">
                  <c:v>2668.984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318.61199999999997</c:v>
                </c:pt>
                <c:pt idx="2">
                  <c:v>829.673</c:v>
                </c:pt>
                <c:pt idx="3">
                  <c:v>1357.331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318.61199999999997</c:v>
                </c:pt>
                <c:pt idx="1">
                  <c:v>511.061</c:v>
                </c:pt>
                <c:pt idx="2">
                  <c:v>527.6579999999999</c:v>
                </c:pt>
                <c:pt idx="3">
                  <c:v>214.93200000000002</c:v>
                </c:pt>
                <c:pt idx="4">
                  <c:v>1572.263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622.2280000000001</c:v>
                </c:pt>
                <c:pt idx="1">
                  <c:v>646.062</c:v>
                </c:pt>
                <c:pt idx="2">
                  <c:v>671.4369999999999</c:v>
                </c:pt>
                <c:pt idx="3">
                  <c:v>698.4929999999999</c:v>
                </c:pt>
                <c:pt idx="4">
                  <c:v>727.5799999999999</c:v>
                </c:pt>
                <c:pt idx="5">
                  <c:v>759.352</c:v>
                </c:pt>
                <c:pt idx="6">
                  <c:v>793.843</c:v>
                </c:pt>
                <c:pt idx="7">
                  <c:v>831.178</c:v>
                </c:pt>
                <c:pt idx="8">
                  <c:v>871.553</c:v>
                </c:pt>
                <c:pt idx="9">
                  <c:v>915.436</c:v>
                </c:pt>
                <c:pt idx="10">
                  <c:v>962.796</c:v>
                </c:pt>
                <c:pt idx="11">
                  <c:v>1013.183</c:v>
                </c:pt>
                <c:pt idx="12">
                  <c:v>1065.584</c:v>
                </c:pt>
                <c:pt idx="13">
                  <c:v>1119.761</c:v>
                </c:pt>
                <c:pt idx="14">
                  <c:v>1174.971</c:v>
                </c:pt>
                <c:pt idx="15">
                  <c:v>1231.127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Australia</c:v>
                </c:pt>
              </c:strCache>
            </c:strRef>
          </c:cat>
          <c:val>
            <c:numRef>
              <c:f>Sheet1!$B$2:$B$3</c:f>
              <c:numCache>
                <c:formatCode>General</c:formatCode>
                <c:ptCount val="2"/>
                <c:pt idx="0">
                  <c:v>0.06544044320302689</c:v>
                </c:pt>
                <c:pt idx="1">
                  <c:v>0.04950852703628139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83445983240863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759.352</c:v>
                </c:pt>
                <c:pt idx="2">
                  <c:v>793.843</c:v>
                </c:pt>
                <c:pt idx="3">
                  <c:v>831.178</c:v>
                </c:pt>
                <c:pt idx="4">
                  <c:v>871.553</c:v>
                </c:pt>
                <c:pt idx="5">
                  <c:v>915.436</c:v>
                </c:pt>
                <c:pt idx="6">
                  <c:v>962.796</c:v>
                </c:pt>
                <c:pt idx="7">
                  <c:v>1013.183</c:v>
                </c:pt>
                <c:pt idx="8">
                  <c:v>1065.584</c:v>
                </c:pt>
                <c:pt idx="9">
                  <c:v>1119.761</c:v>
                </c:pt>
                <c:pt idx="10">
                  <c:v>1174.971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759.352</c:v>
                </c:pt>
                <c:pt idx="1">
                  <c:v>34.490999999999985</c:v>
                </c:pt>
                <c:pt idx="2">
                  <c:v>37.335000000000036</c:v>
                </c:pt>
                <c:pt idx="3">
                  <c:v>40.375</c:v>
                </c:pt>
                <c:pt idx="4">
                  <c:v>43.88300000000004</c:v>
                </c:pt>
                <c:pt idx="5">
                  <c:v>47.360000000000014</c:v>
                </c:pt>
                <c:pt idx="6">
                  <c:v>50.386999999999944</c:v>
                </c:pt>
                <c:pt idx="7">
                  <c:v>52.40100000000007</c:v>
                </c:pt>
                <c:pt idx="8">
                  <c:v>54.17699999999991</c:v>
                </c:pt>
                <c:pt idx="9">
                  <c:v>55.210000000000036</c:v>
                </c:pt>
                <c:pt idx="10">
                  <c:v>56.15599999999995</c:v>
                </c:pt>
                <c:pt idx="11">
                  <c:v>1231.127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Australia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13.77719485185858</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86.22280514814142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2196.029</c:v>
                </c:pt>
                <c:pt idx="1">
                  <c:v>2288.341</c:v>
                </c:pt>
                <c:pt idx="2">
                  <c:v>2387.468</c:v>
                </c:pt>
                <c:pt idx="3">
                  <c:v>2495.103</c:v>
                </c:pt>
                <c:pt idx="4">
                  <c:v>2611.439</c:v>
                </c:pt>
                <c:pt idx="5">
                  <c:v>2748.132</c:v>
                </c:pt>
                <c:pt idx="6">
                  <c:v>2899.082</c:v>
                </c:pt>
                <c:pt idx="7">
                  <c:v>3065.071</c:v>
                </c:pt>
                <c:pt idx="8">
                  <c:v>3247.309</c:v>
                </c:pt>
                <c:pt idx="9">
                  <c:v>3448.606</c:v>
                </c:pt>
                <c:pt idx="10">
                  <c:v>3669.9530000000004</c:v>
                </c:pt>
                <c:pt idx="11">
                  <c:v>3910.997</c:v>
                </c:pt>
                <c:pt idx="12">
                  <c:v>4168.609</c:v>
                </c:pt>
                <c:pt idx="13">
                  <c:v>4443.121</c:v>
                </c:pt>
                <c:pt idx="14">
                  <c:v>4732.875000000001</c:v>
                </c:pt>
                <c:pt idx="15">
                  <c:v>5037.73</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Australia</c:v>
                </c:pt>
              </c:strCache>
            </c:strRef>
          </c:cat>
          <c:val>
            <c:numRef>
              <c:f>Sheet1!$B$2:$B$3</c:f>
              <c:numCache>
                <c:formatCode>General</c:formatCode>
                <c:ptCount val="2"/>
                <c:pt idx="0">
                  <c:v>0.07773247697686525</c:v>
                </c:pt>
                <c:pt idx="1">
                  <c:v>0.06247747072253884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4938843918768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2748.132</c:v>
                </c:pt>
                <c:pt idx="2">
                  <c:v>2899.082</c:v>
                </c:pt>
                <c:pt idx="3">
                  <c:v>3065.071</c:v>
                </c:pt>
                <c:pt idx="4">
                  <c:v>3247.309</c:v>
                </c:pt>
                <c:pt idx="5">
                  <c:v>3448.606</c:v>
                </c:pt>
                <c:pt idx="6">
                  <c:v>3669.9530000000004</c:v>
                </c:pt>
                <c:pt idx="7">
                  <c:v>3910.997</c:v>
                </c:pt>
                <c:pt idx="8">
                  <c:v>4168.609</c:v>
                </c:pt>
                <c:pt idx="9">
                  <c:v>4443.121</c:v>
                </c:pt>
                <c:pt idx="10">
                  <c:v>4732.875000000001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2748.132</c:v>
                </c:pt>
                <c:pt idx="1">
                  <c:v>150.94999999999982</c:v>
                </c:pt>
                <c:pt idx="2">
                  <c:v>165.98900000000003</c:v>
                </c:pt>
                <c:pt idx="3">
                  <c:v>182.23800000000028</c:v>
                </c:pt>
                <c:pt idx="4">
                  <c:v>201.29700000000003</c:v>
                </c:pt>
                <c:pt idx="5">
                  <c:v>221.3470000000002</c:v>
                </c:pt>
                <c:pt idx="6">
                  <c:v>241.04399999999941</c:v>
                </c:pt>
                <c:pt idx="7">
                  <c:v>257.61200000000053</c:v>
                </c:pt>
                <c:pt idx="8">
                  <c:v>274.5119999999997</c:v>
                </c:pt>
                <c:pt idx="9">
                  <c:v>289.7540000000008</c:v>
                </c:pt>
                <c:pt idx="10">
                  <c:v>304.85499999999865</c:v>
                </c:pt>
                <c:pt idx="11">
                  <c:v>5037.73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Australia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17.773297730669736</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82.22670226933026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204.043</c:v>
                </c:pt>
                <c:pt idx="8">
                  <c:v>303.51800000000003</c:v>
                </c:pt>
                <c:pt idx="9">
                  <c:v>837.503</c:v>
                </c:pt>
                <c:pt idx="10">
                  <c:v>1403.068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880.1111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Aluminum Foil-Based</c:v>
                </c:pt>
                <c:pt idx="3">
                  <c:v>AlOx / SiOx-Coated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58.115</c:v>
                </c:pt>
                <c:pt idx="1">
                  <c:v>79.011</c:v>
                </c:pt>
                <c:pt idx="2">
                  <c:v>84.201</c:v>
                </c:pt>
                <c:pt idx="3">
                  <c:v>90.017</c:v>
                </c:pt>
                <c:pt idx="4">
                  <c:v>141.548</c:v>
                </c:pt>
                <c:pt idx="5">
                  <c:v>175.227</c:v>
                </c:pt>
                <c:pt idx="6">
                  <c:v>207.484</c:v>
                </c:pt>
                <c:pt idx="7">
                  <c:v>237.677</c:v>
                </c:pt>
                <c:pt idx="8">
                  <c:v>253.587</c:v>
                </c:pt>
                <c:pt idx="9">
                  <c:v>579.037</c:v>
                </c:pt>
                <c:pt idx="10">
                  <c:v>842.229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128.58686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Foil-Laminated Struct…</c:v>
                </c:pt>
                <c:pt idx="6">
                  <c:v>Metallized Films</c:v>
                </c:pt>
                <c:pt idx="7">
                  <c:v>Mono-Material Recycla…</c:v>
                </c:pt>
                <c:pt idx="8">
                  <c:v>Monolayer Films</c:v>
                </c:pt>
                <c:pt idx="9">
                  <c:v>Laminated Films</c:v>
                </c:pt>
                <c:pt idx="10">
                  <c:v>Coextruded Multilayer…</c:v>
                </c:pt>
              </c:strCache>
            </c:strRef>
          </c:cat>
          <c:val>
            <c:numRef>
              <c:f>Sheet1!$B$2:$B$12</c:f>
              <c:numCache>
                <c:formatCode>General</c:formatCode>
                <c:ptCount val="11"/>
                <c:pt idx="4">
                  <c:v>179.114</c:v>
                </c:pt>
                <c:pt idx="5">
                  <c:v>200.267</c:v>
                </c:pt>
                <c:pt idx="6">
                  <c:v>206.496</c:v>
                </c:pt>
                <c:pt idx="7">
                  <c:v>226.164</c:v>
                </c:pt>
                <c:pt idx="8">
                  <c:v>442.143</c:v>
                </c:pt>
                <c:pt idx="9">
                  <c:v>745.7270000000001</c:v>
                </c:pt>
                <c:pt idx="10">
                  <c:v>748.22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002.6148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376.627</c:v>
                </c:pt>
                <c:pt idx="8">
                  <c:v>560.797</c:v>
                </c:pt>
                <c:pt idx="9">
                  <c:v>888.531</c:v>
                </c:pt>
                <c:pt idx="10">
                  <c:v>922.177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235.7171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455.222</c:v>
                </c:pt>
                <c:pt idx="10">
                  <c:v>2292.909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072.4980600000004"/>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376.627</c:v>
                </c:pt>
                <c:pt idx="8">
                  <c:v>560.797</c:v>
                </c:pt>
                <c:pt idx="9">
                  <c:v>888.53</c:v>
                </c:pt>
                <c:pt idx="10">
                  <c:v>922.177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235.7171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2748.132</c:v>
                </c:pt>
                <c:pt idx="2">
                  <c:v>3922.0730000000003</c:v>
                </c:pt>
                <c:pt idx="3">
                  <c:v>4152.68</c:v>
                </c:pt>
                <c:pt idx="4">
                  <c:v>4855.719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2748.132</c:v>
                </c:pt>
                <c:pt idx="1">
                  <c:v>1173.941</c:v>
                </c:pt>
                <c:pt idx="2">
                  <c:v>230.60699999999997</c:v>
                </c:pt>
                <c:pt idx="3">
                  <c:v>703.0389999999999</c:v>
                </c:pt>
                <c:pt idx="4">
                  <c:v>182.01099999999997</c:v>
                </c:pt>
                <c:pt idx="5">
                  <c:v>5037.73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1173.941</c:v>
                </c:pt>
                <c:pt idx="2">
                  <c:v>1404.548</c:v>
                </c:pt>
                <c:pt idx="3">
                  <c:v>2107.587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1173.941</c:v>
                </c:pt>
                <c:pt idx="1">
                  <c:v>230.60699999999997</c:v>
                </c:pt>
                <c:pt idx="2">
                  <c:v>703.0389999999999</c:v>
                </c:pt>
                <c:pt idx="3">
                  <c:v>182.01099999999997</c:v>
                </c:pt>
                <c:pt idx="4">
                  <c:v>2289.598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2748.1330000000003</c:v>
                </c:pt>
                <c:pt idx="2">
                  <c:v>3473.138</c:v>
                </c:pt>
                <c:pt idx="3">
                  <c:v>3938.5829999999996</c:v>
                </c:pt>
                <c:pt idx="4">
                  <c:v>4157.0689999999995</c:v>
                </c:pt>
                <c:pt idx="5">
                  <c:v>4346.1179999999995</c:v>
                </c:pt>
                <c:pt idx="6">
                  <c:v>4524.731</c:v>
                </c:pt>
                <c:pt idx="7">
                  <c:v>4629.401</c:v>
                </c:pt>
                <c:pt idx="8">
                  <c:v>4681.528</c:v>
                </c:pt>
                <c:pt idx="9">
                  <c:v>4824.476000000001</c:v>
                </c:pt>
                <c:pt idx="10">
                  <c:v>4903.240000000001</c:v>
                </c:pt>
                <c:pt idx="11">
                  <c:v>4965.777000000001</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2748.1330000000003</c:v>
                </c:pt>
                <c:pt idx="1">
                  <c:v>725.0049999999999</c:v>
                </c:pt>
                <c:pt idx="2">
                  <c:v>465.44499999999994</c:v>
                </c:pt>
                <c:pt idx="3">
                  <c:v>218.486</c:v>
                </c:pt>
                <c:pt idx="4">
                  <c:v>189.049</c:v>
                </c:pt>
                <c:pt idx="5">
                  <c:v>178.61299999999997</c:v>
                </c:pt>
                <c:pt idx="6">
                  <c:v>104.66999999999999</c:v>
                </c:pt>
                <c:pt idx="7">
                  <c:v>52.127</c:v>
                </c:pt>
                <c:pt idx="8">
                  <c:v>142.948</c:v>
                </c:pt>
                <c:pt idx="9">
                  <c:v>78.76400000000001</c:v>
                </c:pt>
                <c:pt idx="10">
                  <c:v>62.537000000000006</c:v>
                </c:pt>
                <c:pt idx="11">
                  <c:v>71.95000000000002</c:v>
                </c:pt>
                <c:pt idx="12">
                  <c:v>5037.727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725.0049999999999</c:v>
                </c:pt>
                <c:pt idx="2">
                  <c:v>1190.4499999999998</c:v>
                </c:pt>
                <c:pt idx="3">
                  <c:v>1408.9359999999997</c:v>
                </c:pt>
                <c:pt idx="4">
                  <c:v>1597.9849999999997</c:v>
                </c:pt>
                <c:pt idx="5">
                  <c:v>1776.5979999999997</c:v>
                </c:pt>
                <c:pt idx="6">
                  <c:v>1881.2679999999998</c:v>
                </c:pt>
                <c:pt idx="7">
                  <c:v>1933.3949999999998</c:v>
                </c:pt>
                <c:pt idx="8">
                  <c:v>2076.343</c:v>
                </c:pt>
                <c:pt idx="9">
                  <c:v>2155.107</c:v>
                </c:pt>
                <c:pt idx="10">
                  <c:v>2217.644</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725.0049999999999</c:v>
                </c:pt>
                <c:pt idx="1">
                  <c:v>465.44499999999994</c:v>
                </c:pt>
                <c:pt idx="2">
                  <c:v>218.486</c:v>
                </c:pt>
                <c:pt idx="3">
                  <c:v>189.049</c:v>
                </c:pt>
                <c:pt idx="4">
                  <c:v>178.61299999999997</c:v>
                </c:pt>
                <c:pt idx="5">
                  <c:v>104.66999999999999</c:v>
                </c:pt>
                <c:pt idx="6">
                  <c:v>52.127</c:v>
                </c:pt>
                <c:pt idx="7">
                  <c:v>142.948</c:v>
                </c:pt>
                <c:pt idx="8">
                  <c:v>78.76400000000001</c:v>
                </c:pt>
                <c:pt idx="9">
                  <c:v>62.537000000000006</c:v>
                </c:pt>
                <c:pt idx="10">
                  <c:v>71.95000000000002</c:v>
                </c:pt>
                <c:pt idx="11">
                  <c:v>2289.5939999999996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2748.1310000000003</c:v>
                </c:pt>
                <c:pt idx="2">
                  <c:v>3126.329</c:v>
                </c:pt>
                <c:pt idx="3">
                  <c:v>3737.992</c:v>
                </c:pt>
                <c:pt idx="4">
                  <c:v>4346.722</c:v>
                </c:pt>
                <c:pt idx="5">
                  <c:v>4493.893</c:v>
                </c:pt>
                <c:pt idx="6">
                  <c:v>4654.422</c:v>
                </c:pt>
                <c:pt idx="7">
                  <c:v>4825.824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2748.1310000000003</c:v>
                </c:pt>
                <c:pt idx="1">
                  <c:v>378.19800000000004</c:v>
                </c:pt>
                <c:pt idx="2">
                  <c:v>611.663</c:v>
                </c:pt>
                <c:pt idx="3">
                  <c:v>608.73</c:v>
                </c:pt>
                <c:pt idx="4">
                  <c:v>147.17100000000002</c:v>
                </c:pt>
                <c:pt idx="5">
                  <c:v>160.52899999999997</c:v>
                </c:pt>
                <c:pt idx="6">
                  <c:v>171.402</c:v>
                </c:pt>
                <c:pt idx="7">
                  <c:v>211.90500000000003</c:v>
                </c:pt>
                <c:pt idx="8">
                  <c:v>5037.729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378.19800000000004</c:v>
                </c:pt>
                <c:pt idx="2">
                  <c:v>989.8610000000001</c:v>
                </c:pt>
                <c:pt idx="3">
                  <c:v>1598.5910000000001</c:v>
                </c:pt>
                <c:pt idx="4">
                  <c:v>1745.7620000000002</c:v>
                </c:pt>
                <c:pt idx="5">
                  <c:v>1906.2910000000002</c:v>
                </c:pt>
                <c:pt idx="6">
                  <c:v>2077.693</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378.19800000000004</c:v>
                </c:pt>
                <c:pt idx="1">
                  <c:v>611.663</c:v>
                </c:pt>
                <c:pt idx="2">
                  <c:v>608.73</c:v>
                </c:pt>
                <c:pt idx="3">
                  <c:v>147.17100000000002</c:v>
                </c:pt>
                <c:pt idx="4">
                  <c:v>160.52899999999997</c:v>
                </c:pt>
                <c:pt idx="5">
                  <c:v>171.402</c:v>
                </c:pt>
                <c:pt idx="6">
                  <c:v>211.90500000000003</c:v>
                </c:pt>
                <c:pt idx="7">
                  <c:v>2289.5980000000004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2748.132</c:v>
                </c:pt>
                <c:pt idx="2">
                  <c:v>3199.286</c:v>
                </c:pt>
                <c:pt idx="3">
                  <c:v>3923.155</c:v>
                </c:pt>
                <c:pt idx="4">
                  <c:v>4726.872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2748.132</c:v>
                </c:pt>
                <c:pt idx="1">
                  <c:v>451.154</c:v>
                </c:pt>
                <c:pt idx="2">
                  <c:v>723.869</c:v>
                </c:pt>
                <c:pt idx="3">
                  <c:v>803.7170000000001</c:v>
                </c:pt>
                <c:pt idx="4">
                  <c:v>310.85599999999994</c:v>
                </c:pt>
                <c:pt idx="5">
                  <c:v>5037.728000000001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451.154</c:v>
                </c:pt>
                <c:pt idx="2">
                  <c:v>1175.0230000000001</c:v>
                </c:pt>
                <c:pt idx="3">
                  <c:v>1978.7400000000002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451.154</c:v>
                </c:pt>
                <c:pt idx="1">
                  <c:v>723.869</c:v>
                </c:pt>
                <c:pt idx="2">
                  <c:v>803.7170000000001</c:v>
                </c:pt>
                <c:pt idx="3">
                  <c:v>310.85599999999994</c:v>
                </c:pt>
                <c:pt idx="4">
                  <c:v>2289.596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2748.1310000000003</c:v>
                </c:pt>
                <c:pt idx="2">
                  <c:v>4665.807000000001</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2748.1310000000003</c:v>
                </c:pt>
                <c:pt idx="1">
                  <c:v>1917.676</c:v>
                </c:pt>
                <c:pt idx="2">
                  <c:v>371.92100000000005</c:v>
                </c:pt>
                <c:pt idx="3">
                  <c:v>5037.728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1917.676</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1917.676</c:v>
                </c:pt>
                <c:pt idx="1">
                  <c:v>371.92100000000005</c:v>
                </c:pt>
                <c:pt idx="2">
                  <c:v>2289.5969999999998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2748.131</c:v>
                </c:pt>
                <c:pt idx="2">
                  <c:v>3199.285</c:v>
                </c:pt>
                <c:pt idx="3">
                  <c:v>3923.153</c:v>
                </c:pt>
                <c:pt idx="4">
                  <c:v>4726.871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2748.131</c:v>
                </c:pt>
                <c:pt idx="1">
                  <c:v>451.154</c:v>
                </c:pt>
                <c:pt idx="2">
                  <c:v>723.868</c:v>
                </c:pt>
                <c:pt idx="3">
                  <c:v>803.7180000000001</c:v>
                </c:pt>
                <c:pt idx="4">
                  <c:v>310.857</c:v>
                </c:pt>
                <c:pt idx="5">
                  <c:v>5037.728000000001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451.154</c:v>
                </c:pt>
                <c:pt idx="2">
                  <c:v>1175.022</c:v>
                </c:pt>
                <c:pt idx="3">
                  <c:v>1978.74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451.154</c:v>
                </c:pt>
                <c:pt idx="1">
                  <c:v>723.868</c:v>
                </c:pt>
                <c:pt idx="2">
                  <c:v>803.7180000000001</c:v>
                </c:pt>
                <c:pt idx="3">
                  <c:v>310.857</c:v>
                </c:pt>
                <c:pt idx="4">
                  <c:v>2289.597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123.62199999999999</c:v>
                </c:pt>
                <c:pt idx="1">
                  <c:v>128.01500000000001</c:v>
                </c:pt>
                <c:pt idx="2">
                  <c:v>132.642</c:v>
                </c:pt>
                <c:pt idx="3">
                  <c:v>137.535</c:v>
                </c:pt>
                <c:pt idx="4">
                  <c:v>142.732</c:v>
                </c:pt>
                <c:pt idx="5">
                  <c:v>148.36200000000002</c:v>
                </c:pt>
                <c:pt idx="6">
                  <c:v>154.439</c:v>
                </c:pt>
                <c:pt idx="7">
                  <c:v>161.014</c:v>
                </c:pt>
                <c:pt idx="8">
                  <c:v>168.11899999999997</c:v>
                </c:pt>
                <c:pt idx="9">
                  <c:v>175.81</c:v>
                </c:pt>
                <c:pt idx="10">
                  <c:v>184.106</c:v>
                </c:pt>
                <c:pt idx="11">
                  <c:v>192.96300000000002</c:v>
                </c:pt>
                <c:pt idx="12">
                  <c:v>202.247</c:v>
                </c:pt>
                <c:pt idx="13">
                  <c:v>211.858</c:v>
                </c:pt>
                <c:pt idx="14">
                  <c:v>221.633</c:v>
                </c:pt>
                <c:pt idx="15">
                  <c:v>231.553</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New Zealand</c:v>
                </c:pt>
              </c:strCache>
            </c:strRef>
          </c:cat>
          <c:val>
            <c:numRef>
              <c:f>Sheet1!$B$2:$B$3</c:f>
              <c:numCache>
                <c:formatCode>General</c:formatCode>
                <c:ptCount val="2"/>
                <c:pt idx="0">
                  <c:v>0.06544044320302689</c:v>
                </c:pt>
                <c:pt idx="1">
                  <c:v>0.04552103116429351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83445983240863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148.36200000000002</c:v>
                </c:pt>
                <c:pt idx="2">
                  <c:v>154.439</c:v>
                </c:pt>
                <c:pt idx="3">
                  <c:v>161.014</c:v>
                </c:pt>
                <c:pt idx="4">
                  <c:v>168.11899999999997</c:v>
                </c:pt>
                <c:pt idx="5">
                  <c:v>175.81</c:v>
                </c:pt>
                <c:pt idx="6">
                  <c:v>184.106</c:v>
                </c:pt>
                <c:pt idx="7">
                  <c:v>192.96300000000002</c:v>
                </c:pt>
                <c:pt idx="8">
                  <c:v>202.247</c:v>
                </c:pt>
                <c:pt idx="9">
                  <c:v>211.858</c:v>
                </c:pt>
                <c:pt idx="10">
                  <c:v>221.633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148.36200000000002</c:v>
                </c:pt>
                <c:pt idx="1">
                  <c:v>6.07699999999997</c:v>
                </c:pt>
                <c:pt idx="2">
                  <c:v>6.575000000000017</c:v>
                </c:pt>
                <c:pt idx="3">
                  <c:v>7.104999999999961</c:v>
                </c:pt>
                <c:pt idx="4">
                  <c:v>7.691000000000031</c:v>
                </c:pt>
                <c:pt idx="5">
                  <c:v>8.295999999999992</c:v>
                </c:pt>
                <c:pt idx="6">
                  <c:v>8.857000000000028</c:v>
                </c:pt>
                <c:pt idx="7">
                  <c:v>9.283999999999992</c:v>
                </c:pt>
                <c:pt idx="8">
                  <c:v>9.61099999999999</c:v>
                </c:pt>
                <c:pt idx="9">
                  <c:v>9.775000000000006</c:v>
                </c:pt>
                <c:pt idx="10">
                  <c:v>9.919999999999987</c:v>
                </c:pt>
                <c:pt idx="11">
                  <c:v>231.553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New Zealand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2.6917848146991683</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97.30821518530084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433.445</c:v>
                </c:pt>
                <c:pt idx="1">
                  <c:v>450.15999999999997</c:v>
                </c:pt>
                <c:pt idx="2">
                  <c:v>467.95000000000005</c:v>
                </c:pt>
                <c:pt idx="3">
                  <c:v>487.16700000000003</c:v>
                </c:pt>
                <c:pt idx="4">
                  <c:v>507.77599999999995</c:v>
                </c:pt>
                <c:pt idx="5">
                  <c:v>532.3069999999999</c:v>
                </c:pt>
                <c:pt idx="6">
                  <c:v>559.4219999999999</c:v>
                </c:pt>
                <c:pt idx="7">
                  <c:v>589.3939999999999</c:v>
                </c:pt>
                <c:pt idx="8">
                  <c:v>622.3940000000001</c:v>
                </c:pt>
                <c:pt idx="9">
                  <c:v>658.999</c:v>
                </c:pt>
                <c:pt idx="10">
                  <c:v>699.2210000000001</c:v>
                </c:pt>
                <c:pt idx="11">
                  <c:v>743.227</c:v>
                </c:pt>
                <c:pt idx="12">
                  <c:v>790.677</c:v>
                </c:pt>
                <c:pt idx="13">
                  <c:v>841.408</c:v>
                </c:pt>
                <c:pt idx="14">
                  <c:v>895.1150000000001</c:v>
                </c:pt>
                <c:pt idx="15">
                  <c:v>951.8520000000001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New Zealand</c:v>
                </c:pt>
              </c:strCache>
            </c:strRef>
          </c:cat>
          <c:val>
            <c:numRef>
              <c:f>Sheet1!$B$2:$B$3</c:f>
              <c:numCache>
                <c:formatCode>General</c:formatCode>
                <c:ptCount val="2"/>
                <c:pt idx="0">
                  <c:v>0.07773247697686525</c:v>
                </c:pt>
                <c:pt idx="1">
                  <c:v>0.0598410213262468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4938843918768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532.3069999999999</c:v>
                </c:pt>
                <c:pt idx="2">
                  <c:v>559.4219999999999</c:v>
                </c:pt>
                <c:pt idx="3">
                  <c:v>589.3939999999999</c:v>
                </c:pt>
                <c:pt idx="4">
                  <c:v>622.3940000000001</c:v>
                </c:pt>
                <c:pt idx="5">
                  <c:v>658.999</c:v>
                </c:pt>
                <c:pt idx="6">
                  <c:v>699.2210000000001</c:v>
                </c:pt>
                <c:pt idx="7">
                  <c:v>743.227</c:v>
                </c:pt>
                <c:pt idx="8">
                  <c:v>790.677</c:v>
                </c:pt>
                <c:pt idx="9">
                  <c:v>841.408</c:v>
                </c:pt>
                <c:pt idx="10">
                  <c:v>895.1150000000001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532.3069999999999</c:v>
                </c:pt>
                <c:pt idx="1">
                  <c:v>27.11500000000001</c:v>
                </c:pt>
                <c:pt idx="2">
                  <c:v>29.97199999999998</c:v>
                </c:pt>
                <c:pt idx="3">
                  <c:v>33.00000000000023</c:v>
                </c:pt>
                <c:pt idx="4">
                  <c:v>36.604999999999905</c:v>
                </c:pt>
                <c:pt idx="5">
                  <c:v>40.222000000000094</c:v>
                </c:pt>
                <c:pt idx="6">
                  <c:v>44.00599999999986</c:v>
                </c:pt>
                <c:pt idx="7">
                  <c:v>47.450000000000045</c:v>
                </c:pt>
                <c:pt idx="8">
                  <c:v>50.730999999999995</c:v>
                </c:pt>
                <c:pt idx="9">
                  <c:v>53.70700000000011</c:v>
                </c:pt>
                <c:pt idx="10">
                  <c:v>56.736999999999966</c:v>
                </c:pt>
                <c:pt idx="11">
                  <c:v>951.8520000000001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New Zealand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3.442647876855847</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96.55735212314416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35.385999999999996</c:v>
                </c:pt>
                <c:pt idx="8">
                  <c:v>60.698</c:v>
                </c:pt>
                <c:pt idx="9">
                  <c:v>143.186</c:v>
                </c:pt>
                <c:pt idx="10">
                  <c:v>293.037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92.6695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AlOx / SiOx-Coated</c:v>
                </c:pt>
                <c:pt idx="3">
                  <c:v>Aluminum Foil-Based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11.262</c:v>
                </c:pt>
                <c:pt idx="1">
                  <c:v>16.87</c:v>
                </c:pt>
                <c:pt idx="2">
                  <c:v>17.053</c:v>
                </c:pt>
                <c:pt idx="3">
                  <c:v>18.234</c:v>
                </c:pt>
                <c:pt idx="4">
                  <c:v>27.817</c:v>
                </c:pt>
                <c:pt idx="5">
                  <c:v>33.493</c:v>
                </c:pt>
                <c:pt idx="6">
                  <c:v>39.148</c:v>
                </c:pt>
                <c:pt idx="7">
                  <c:v>45.057</c:v>
                </c:pt>
                <c:pt idx="8">
                  <c:v>48.918</c:v>
                </c:pt>
                <c:pt idx="9">
                  <c:v>113.514</c:v>
                </c:pt>
                <c:pt idx="10">
                  <c:v>160.943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15.66362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33.5</c:v>
                </c:pt>
                <c:pt idx="5">
                  <c:v>38.161</c:v>
                </c:pt>
                <c:pt idx="6">
                  <c:v>38.52</c:v>
                </c:pt>
                <c:pt idx="7">
                  <c:v>44.171</c:v>
                </c:pt>
                <c:pt idx="8">
                  <c:v>78.12</c:v>
                </c:pt>
                <c:pt idx="9">
                  <c:v>141.418</c:v>
                </c:pt>
                <c:pt idx="10">
                  <c:v>158.421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12.2841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69.448</c:v>
                </c:pt>
                <c:pt idx="8">
                  <c:v>112.126</c:v>
                </c:pt>
                <c:pt idx="9">
                  <c:v>159.712</c:v>
                </c:pt>
                <c:pt idx="10">
                  <c:v>191.024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55.9721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92.145</c:v>
                </c:pt>
                <c:pt idx="10">
                  <c:v>440.167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89.8237799999999"/>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69.449</c:v>
                </c:pt>
                <c:pt idx="8">
                  <c:v>112.125</c:v>
                </c:pt>
                <c:pt idx="9">
                  <c:v>159.712</c:v>
                </c:pt>
                <c:pt idx="10">
                  <c:v>191.025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55.97350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532.3069999999999</c:v>
                </c:pt>
                <c:pt idx="2">
                  <c:v>760.3889999999999</c:v>
                </c:pt>
                <c:pt idx="3">
                  <c:v>810.1429999999999</c:v>
                </c:pt>
                <c:pt idx="4">
                  <c:v>926.4979999999999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532.3069999999999</c:v>
                </c:pt>
                <c:pt idx="1">
                  <c:v>228.08200000000005</c:v>
                </c:pt>
                <c:pt idx="2">
                  <c:v>49.754</c:v>
                </c:pt>
                <c:pt idx="3">
                  <c:v>116.35499999999999</c:v>
                </c:pt>
                <c:pt idx="4">
                  <c:v>25.354</c:v>
                </c:pt>
                <c:pt idx="5">
                  <c:v>951.8520000000001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228.08200000000005</c:v>
                </c:pt>
                <c:pt idx="2">
                  <c:v>277.83600000000007</c:v>
                </c:pt>
                <c:pt idx="3">
                  <c:v>394.19100000000003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228.08200000000005</c:v>
                </c:pt>
                <c:pt idx="1">
                  <c:v>49.754</c:v>
                </c:pt>
                <c:pt idx="2">
                  <c:v>116.35499999999999</c:v>
                </c:pt>
                <c:pt idx="3">
                  <c:v>25.354</c:v>
                </c:pt>
                <c:pt idx="4">
                  <c:v>419.545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532.3090000000001</c:v>
                </c:pt>
                <c:pt idx="2">
                  <c:v>660.0920000000001</c:v>
                </c:pt>
                <c:pt idx="3">
                  <c:v>746.8860000000001</c:v>
                </c:pt>
                <c:pt idx="4">
                  <c:v>787.5620000000001</c:v>
                </c:pt>
                <c:pt idx="5">
                  <c:v>822.4180000000001</c:v>
                </c:pt>
                <c:pt idx="6">
                  <c:v>854.6780000000001</c:v>
                </c:pt>
                <c:pt idx="7">
                  <c:v>874.1060000000001</c:v>
                </c:pt>
                <c:pt idx="8">
                  <c:v>883.7220000000001</c:v>
                </c:pt>
                <c:pt idx="9">
                  <c:v>909.8180000000001</c:v>
                </c:pt>
                <c:pt idx="10">
                  <c:v>924.0150000000001</c:v>
                </c:pt>
                <c:pt idx="11">
                  <c:v>936.7350000000001</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532.3090000000001</c:v>
                </c:pt>
                <c:pt idx="1">
                  <c:v>127.78299999999999</c:v>
                </c:pt>
                <c:pt idx="2">
                  <c:v>86.794</c:v>
                </c:pt>
                <c:pt idx="3">
                  <c:v>40.675999999999995</c:v>
                </c:pt>
                <c:pt idx="4">
                  <c:v>34.855999999999995</c:v>
                </c:pt>
                <c:pt idx="5">
                  <c:v>32.26</c:v>
                </c:pt>
                <c:pt idx="6">
                  <c:v>19.427999999999997</c:v>
                </c:pt>
                <c:pt idx="7">
                  <c:v>9.616</c:v>
                </c:pt>
                <c:pt idx="8">
                  <c:v>26.095999999999997</c:v>
                </c:pt>
                <c:pt idx="9">
                  <c:v>14.197</c:v>
                </c:pt>
                <c:pt idx="10">
                  <c:v>12.719999999999999</c:v>
                </c:pt>
                <c:pt idx="11">
                  <c:v>15.119999999999997</c:v>
                </c:pt>
                <c:pt idx="12">
                  <c:v>951.8549999999999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127.78299999999999</c:v>
                </c:pt>
                <c:pt idx="2">
                  <c:v>214.577</c:v>
                </c:pt>
                <c:pt idx="3">
                  <c:v>255.253</c:v>
                </c:pt>
                <c:pt idx="4">
                  <c:v>290.109</c:v>
                </c:pt>
                <c:pt idx="5">
                  <c:v>322.36899999999997</c:v>
                </c:pt>
                <c:pt idx="6">
                  <c:v>341.79699999999997</c:v>
                </c:pt>
                <c:pt idx="7">
                  <c:v>351.41299999999995</c:v>
                </c:pt>
                <c:pt idx="8">
                  <c:v>377.50899999999996</c:v>
                </c:pt>
                <c:pt idx="9">
                  <c:v>391.70599999999996</c:v>
                </c:pt>
                <c:pt idx="10">
                  <c:v>404.42599999999993</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127.78299999999999</c:v>
                </c:pt>
                <c:pt idx="1">
                  <c:v>86.794</c:v>
                </c:pt>
                <c:pt idx="2">
                  <c:v>40.675999999999995</c:v>
                </c:pt>
                <c:pt idx="3">
                  <c:v>34.855999999999995</c:v>
                </c:pt>
                <c:pt idx="4">
                  <c:v>32.26</c:v>
                </c:pt>
                <c:pt idx="5">
                  <c:v>19.427999999999997</c:v>
                </c:pt>
                <c:pt idx="6">
                  <c:v>9.616</c:v>
                </c:pt>
                <c:pt idx="7">
                  <c:v>26.095999999999997</c:v>
                </c:pt>
                <c:pt idx="8">
                  <c:v>14.197</c:v>
                </c:pt>
                <c:pt idx="9">
                  <c:v>12.719999999999999</c:v>
                </c:pt>
                <c:pt idx="10">
                  <c:v>15.119999999999997</c:v>
                </c:pt>
                <c:pt idx="11">
                  <c:v>419.54599999999994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532.311</c:v>
                </c:pt>
                <c:pt idx="2">
                  <c:v>595.8960000000001</c:v>
                </c:pt>
                <c:pt idx="3">
                  <c:v>717.6260000000001</c:v>
                </c:pt>
                <c:pt idx="4">
                  <c:v>825.8040000000001</c:v>
                </c:pt>
                <c:pt idx="5">
                  <c:v>852.07</c:v>
                </c:pt>
                <c:pt idx="6">
                  <c:v>880.548</c:v>
                </c:pt>
                <c:pt idx="7">
                  <c:v>911.845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532.311</c:v>
                </c:pt>
                <c:pt idx="1">
                  <c:v>63.58500000000001</c:v>
                </c:pt>
                <c:pt idx="2">
                  <c:v>121.73000000000002</c:v>
                </c:pt>
                <c:pt idx="3">
                  <c:v>108.178</c:v>
                </c:pt>
                <c:pt idx="4">
                  <c:v>26.266</c:v>
                </c:pt>
                <c:pt idx="5">
                  <c:v>28.477999999999994</c:v>
                </c:pt>
                <c:pt idx="6">
                  <c:v>31.29699999999999</c:v>
                </c:pt>
                <c:pt idx="7">
                  <c:v>40.00900000000001</c:v>
                </c:pt>
                <c:pt idx="8">
                  <c:v>951.854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63.58500000000001</c:v>
                </c:pt>
                <c:pt idx="2">
                  <c:v>185.31500000000003</c:v>
                </c:pt>
                <c:pt idx="3">
                  <c:v>293.49300000000005</c:v>
                </c:pt>
                <c:pt idx="4">
                  <c:v>319.75900000000007</c:v>
                </c:pt>
                <c:pt idx="5">
                  <c:v>348.2370000000001</c:v>
                </c:pt>
                <c:pt idx="6">
                  <c:v>379.53400000000005</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63.58500000000001</c:v>
                </c:pt>
                <c:pt idx="1">
                  <c:v>121.73000000000002</c:v>
                </c:pt>
                <c:pt idx="2">
                  <c:v>108.178</c:v>
                </c:pt>
                <c:pt idx="3">
                  <c:v>26.266</c:v>
                </c:pt>
                <c:pt idx="4">
                  <c:v>28.477999999999994</c:v>
                </c:pt>
                <c:pt idx="5">
                  <c:v>31.29699999999999</c:v>
                </c:pt>
                <c:pt idx="6">
                  <c:v>40.00900000000001</c:v>
                </c:pt>
                <c:pt idx="7">
                  <c:v>419.54300000000006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532.31</c:v>
                </c:pt>
                <c:pt idx="2">
                  <c:v>619.954</c:v>
                </c:pt>
                <c:pt idx="3">
                  <c:v>756.762</c:v>
                </c:pt>
                <c:pt idx="4">
                  <c:v>894.922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532.31</c:v>
                </c:pt>
                <c:pt idx="1">
                  <c:v>87.644</c:v>
                </c:pt>
                <c:pt idx="2">
                  <c:v>136.808</c:v>
                </c:pt>
                <c:pt idx="3">
                  <c:v>138.16000000000003</c:v>
                </c:pt>
                <c:pt idx="4">
                  <c:v>56.93300000000001</c:v>
                </c:pt>
                <c:pt idx="5">
                  <c:v>951.8549999999999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87.644</c:v>
                </c:pt>
                <c:pt idx="2">
                  <c:v>224.452</c:v>
                </c:pt>
                <c:pt idx="3">
                  <c:v>362.612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87.644</c:v>
                </c:pt>
                <c:pt idx="1">
                  <c:v>136.808</c:v>
                </c:pt>
                <c:pt idx="2">
                  <c:v>138.16000000000003</c:v>
                </c:pt>
                <c:pt idx="3">
                  <c:v>56.93300000000001</c:v>
                </c:pt>
                <c:pt idx="4">
                  <c:v>419.545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532.312</c:v>
                </c:pt>
                <c:pt idx="2">
                  <c:v>880.7080000000001</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532.312</c:v>
                </c:pt>
                <c:pt idx="1">
                  <c:v>348.396</c:v>
                </c:pt>
                <c:pt idx="2">
                  <c:v>71.146</c:v>
                </c:pt>
                <c:pt idx="3">
                  <c:v>951.854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348.396</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348.396</c:v>
                </c:pt>
                <c:pt idx="1">
                  <c:v>71.146</c:v>
                </c:pt>
                <c:pt idx="2">
                  <c:v>419.54200000000003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532.3109999999999</c:v>
                </c:pt>
                <c:pt idx="2">
                  <c:v>619.9549999999999</c:v>
                </c:pt>
                <c:pt idx="3">
                  <c:v>756.7629999999999</c:v>
                </c:pt>
                <c:pt idx="4">
                  <c:v>894.925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532.3109999999999</c:v>
                </c:pt>
                <c:pt idx="1">
                  <c:v>87.644</c:v>
                </c:pt>
                <c:pt idx="2">
                  <c:v>136.80799999999996</c:v>
                </c:pt>
                <c:pt idx="3">
                  <c:v>138.16200000000003</c:v>
                </c:pt>
                <c:pt idx="4">
                  <c:v>56.93299999999999</c:v>
                </c:pt>
                <c:pt idx="5">
                  <c:v>951.858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87.644</c:v>
                </c:pt>
                <c:pt idx="2">
                  <c:v>224.45199999999997</c:v>
                </c:pt>
                <c:pt idx="3">
                  <c:v>362.61400000000003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87.644</c:v>
                </c:pt>
                <c:pt idx="1">
                  <c:v>136.80799999999996</c:v>
                </c:pt>
                <c:pt idx="2">
                  <c:v>138.16200000000003</c:v>
                </c:pt>
                <c:pt idx="3">
                  <c:v>56.93299999999999</c:v>
                </c:pt>
                <c:pt idx="4">
                  <c:v>419.547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369.304</c:v>
                </c:pt>
                <c:pt idx="1">
                  <c:v>391.33900000000006</c:v>
                </c:pt>
                <c:pt idx="2">
                  <c:v>414.987</c:v>
                </c:pt>
                <c:pt idx="3">
                  <c:v>440.43399999999997</c:v>
                </c:pt>
                <c:pt idx="4">
                  <c:v>468.008</c:v>
                </c:pt>
                <c:pt idx="5">
                  <c:v>498.44100000000003</c:v>
                </c:pt>
                <c:pt idx="6">
                  <c:v>532.022</c:v>
                </c:pt>
                <c:pt idx="7">
                  <c:v>569.133</c:v>
                </c:pt>
                <c:pt idx="8">
                  <c:v>609.99</c:v>
                </c:pt>
                <c:pt idx="9">
                  <c:v>654.712</c:v>
                </c:pt>
                <c:pt idx="10">
                  <c:v>703.2180000000001</c:v>
                </c:pt>
                <c:pt idx="11">
                  <c:v>755.409</c:v>
                </c:pt>
                <c:pt idx="12">
                  <c:v>811.013</c:v>
                </c:pt>
                <c:pt idx="13">
                  <c:v>869.685</c:v>
                </c:pt>
                <c:pt idx="14">
                  <c:v>930.816</c:v>
                </c:pt>
                <c:pt idx="15">
                  <c:v>994.315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Rest of South Asia</c:v>
                </c:pt>
              </c:strCache>
            </c:strRef>
          </c:cat>
          <c:val>
            <c:numRef>
              <c:f>Sheet1!$B$2:$B$3</c:f>
              <c:numCache>
                <c:formatCode>General</c:formatCode>
                <c:ptCount val="2"/>
                <c:pt idx="0">
                  <c:v>0.06544044320302689</c:v>
                </c:pt>
                <c:pt idx="1">
                  <c:v>0.07149715744448448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65211625500540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498.44100000000003</c:v>
                </c:pt>
                <c:pt idx="2">
                  <c:v>532.022</c:v>
                </c:pt>
                <c:pt idx="3">
                  <c:v>569.133</c:v>
                </c:pt>
                <c:pt idx="4">
                  <c:v>609.99</c:v>
                </c:pt>
                <c:pt idx="5">
                  <c:v>654.712</c:v>
                </c:pt>
                <c:pt idx="6">
                  <c:v>703.2180000000001</c:v>
                </c:pt>
                <c:pt idx="7">
                  <c:v>755.409</c:v>
                </c:pt>
                <c:pt idx="8">
                  <c:v>811.013</c:v>
                </c:pt>
                <c:pt idx="9">
                  <c:v>869.685</c:v>
                </c:pt>
                <c:pt idx="10">
                  <c:v>930.816</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498.44100000000003</c:v>
                </c:pt>
                <c:pt idx="1">
                  <c:v>33.58100000000002</c:v>
                </c:pt>
                <c:pt idx="2">
                  <c:v>37.11099999999999</c:v>
                </c:pt>
                <c:pt idx="3">
                  <c:v>40.85699999999997</c:v>
                </c:pt>
                <c:pt idx="4">
                  <c:v>44.72199999999998</c:v>
                </c:pt>
                <c:pt idx="5">
                  <c:v>48.506000000000085</c:v>
                </c:pt>
                <c:pt idx="6">
                  <c:v>52.19099999999992</c:v>
                </c:pt>
                <c:pt idx="7">
                  <c:v>55.60400000000004</c:v>
                </c:pt>
                <c:pt idx="8">
                  <c:v>58.67199999999991</c:v>
                </c:pt>
                <c:pt idx="9">
                  <c:v>61.131000000000085</c:v>
                </c:pt>
                <c:pt idx="10">
                  <c:v>63.499000000000024</c:v>
                </c:pt>
                <c:pt idx="11">
                  <c:v>994.315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South Asia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9.043393286848843</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90.95660671315116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957.4800000000001</c:v>
                </c:pt>
                <c:pt idx="1">
                  <c:v>1017.6500000000001</c:v>
                </c:pt>
                <c:pt idx="2">
                  <c:v>1082.97</c:v>
                </c:pt>
                <c:pt idx="3">
                  <c:v>1154.7119999999998</c:v>
                </c:pt>
                <c:pt idx="4">
                  <c:v>1233.185</c:v>
                </c:pt>
                <c:pt idx="5">
                  <c:v>1326.01</c:v>
                </c:pt>
                <c:pt idx="6">
                  <c:v>1430.238</c:v>
                </c:pt>
                <c:pt idx="7">
                  <c:v>1547.685</c:v>
                </c:pt>
                <c:pt idx="8">
                  <c:v>1679.967</c:v>
                </c:pt>
                <c:pt idx="9">
                  <c:v>1828.2649999999999</c:v>
                </c:pt>
                <c:pt idx="10">
                  <c:v>1993.625</c:v>
                </c:pt>
                <c:pt idx="11">
                  <c:v>2176.6299999999997</c:v>
                </c:pt>
                <c:pt idx="12">
                  <c:v>2377.011</c:v>
                </c:pt>
                <c:pt idx="13">
                  <c:v>2595.2139999999995</c:v>
                </c:pt>
                <c:pt idx="14">
                  <c:v>2830.9139999999998</c:v>
                </c:pt>
                <c:pt idx="15">
                  <c:v>3084.701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South Asia &amp; Pacific</c:v>
                </c:pt>
                <c:pt idx="1">
                  <c:v>Rest of South Asia</c:v>
                </c:pt>
              </c:strCache>
            </c:strRef>
          </c:cat>
          <c:val>
            <c:numRef>
              <c:f>Sheet1!$B$2:$B$3</c:f>
              <c:numCache>
                <c:formatCode>General</c:formatCode>
                <c:ptCount val="2"/>
                <c:pt idx="0">
                  <c:v>0.07773247697686525</c:v>
                </c:pt>
                <c:pt idx="1">
                  <c:v>0.08809453112685993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189276170212609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1326.01</c:v>
                </c:pt>
                <c:pt idx="2">
                  <c:v>1430.238</c:v>
                </c:pt>
                <c:pt idx="3">
                  <c:v>1547.685</c:v>
                </c:pt>
                <c:pt idx="4">
                  <c:v>1679.967</c:v>
                </c:pt>
                <c:pt idx="5">
                  <c:v>1828.2649999999999</c:v>
                </c:pt>
                <c:pt idx="6">
                  <c:v>1993.625</c:v>
                </c:pt>
                <c:pt idx="7">
                  <c:v>2176.6299999999997</c:v>
                </c:pt>
                <c:pt idx="8">
                  <c:v>2377.011</c:v>
                </c:pt>
                <c:pt idx="9">
                  <c:v>2595.2139999999995</c:v>
                </c:pt>
                <c:pt idx="10">
                  <c:v>2830.9139999999998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1326.01</c:v>
                </c:pt>
                <c:pt idx="1">
                  <c:v>104.22800000000007</c:v>
                </c:pt>
                <c:pt idx="2">
                  <c:v>117.44699999999989</c:v>
                </c:pt>
                <c:pt idx="3">
                  <c:v>132.28200000000015</c:v>
                </c:pt>
                <c:pt idx="4">
                  <c:v>148.29799999999977</c:v>
                </c:pt>
                <c:pt idx="5">
                  <c:v>165.36000000000013</c:v>
                </c:pt>
                <c:pt idx="6">
                  <c:v>183.00499999999965</c:v>
                </c:pt>
                <c:pt idx="7">
                  <c:v>200.3810000000003</c:v>
                </c:pt>
                <c:pt idx="8">
                  <c:v>218.20299999999952</c:v>
                </c:pt>
                <c:pt idx="9">
                  <c:v>235.70000000000027</c:v>
                </c:pt>
                <c:pt idx="10">
                  <c:v>253.78700000000026</c:v>
                </c:pt>
                <c:pt idx="11">
                  <c:v>3084.701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South Asia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Sheet1!$B$2:$B$2</c:f>
              <c:numCache>
                <c:formatCode>General</c:formatCode>
                <c:ptCount val="1"/>
                <c:pt idx="0">
                  <c:v>8.575850986723117</c:v>
                </c:pt>
              </c:numCache>
            </c:numRef>
          </c:val>
        </c:ser>
        <c:ser>
          <c:idx val="1"/>
          <c:order val="1"/>
          <c:tx>
            <c:strRef>
              <c:f>Sheet1!$C$1</c:f>
              <c:strCache>
                <c:ptCount val="1"/>
                <c:pt idx="0">
                  <c:v>Rest of South Asia &amp; Pacific</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South Asia &amp; Pacific</c:v>
                </c:pt>
              </c:strCache>
            </c:strRef>
          </c:cat>
          <c:val>
            <c:numRef>
              <c:f>Sheet1!$C$2:$C$2</c:f>
              <c:numCache>
                <c:formatCode>General</c:formatCode>
                <c:ptCount val="1"/>
                <c:pt idx="0">
                  <c:v>91.42414901327689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96.57900000000001</c:v>
                </c:pt>
                <c:pt idx="8">
                  <c:v>144.074</c:v>
                </c:pt>
                <c:pt idx="9">
                  <c:v>362.754</c:v>
                </c:pt>
                <c:pt idx="10">
                  <c:v>722.603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968.288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Other Specialty Barri…</c:v>
                </c:pt>
                <c:pt idx="3">
                  <c:v>Aluminum Foil-Based</c:v>
                </c:pt>
                <c:pt idx="4">
                  <c:v>PVDC-Based</c:v>
                </c:pt>
                <c:pt idx="5">
                  <c:v>Metallized Barrier</c:v>
                </c:pt>
                <c:pt idx="6">
                  <c:v>PA-Based</c:v>
                </c:pt>
                <c:pt idx="7">
                  <c:v>EVOH-Based</c:v>
                </c:pt>
                <c:pt idx="8">
                  <c:v>PET-Based</c:v>
                </c:pt>
                <c:pt idx="9">
                  <c:v>PP-Based</c:v>
                </c:pt>
                <c:pt idx="10">
                  <c:v>PE-Based</c:v>
                </c:pt>
              </c:strCache>
            </c:strRef>
          </c:cat>
          <c:val>
            <c:numRef>
              <c:f>Sheet1!$B$2:$B$12</c:f>
              <c:numCache>
                <c:formatCode>General</c:formatCode>
                <c:ptCount val="11"/>
                <c:pt idx="0">
                  <c:v>26.672</c:v>
                </c:pt>
                <c:pt idx="1">
                  <c:v>39.926</c:v>
                </c:pt>
                <c:pt idx="2">
                  <c:v>40.477</c:v>
                </c:pt>
                <c:pt idx="3">
                  <c:v>42.1</c:v>
                </c:pt>
                <c:pt idx="4">
                  <c:v>75.513</c:v>
                </c:pt>
                <c:pt idx="5">
                  <c:v>78.091</c:v>
                </c:pt>
                <c:pt idx="6">
                  <c:v>105.963</c:v>
                </c:pt>
                <c:pt idx="7">
                  <c:v>109.823</c:v>
                </c:pt>
                <c:pt idx="8">
                  <c:v>134.636</c:v>
                </c:pt>
                <c:pt idx="9">
                  <c:v>254.401</c:v>
                </c:pt>
                <c:pt idx="10">
                  <c:v>418.409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60.668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Foil-Laminated Struct…</c:v>
                </c:pt>
                <c:pt idx="6">
                  <c:v>Metallized Films</c:v>
                </c:pt>
                <c:pt idx="7">
                  <c:v>Mono-Material Recycla…</c:v>
                </c:pt>
                <c:pt idx="8">
                  <c:v>Monolayer Films</c:v>
                </c:pt>
                <c:pt idx="9">
                  <c:v>Laminated Films</c:v>
                </c:pt>
                <c:pt idx="10">
                  <c:v>Coextruded Multilayer…</c:v>
                </c:pt>
              </c:strCache>
            </c:strRef>
          </c:cat>
          <c:val>
            <c:numRef>
              <c:f>Sheet1!$B$2:$B$12</c:f>
              <c:numCache>
                <c:formatCode>General</c:formatCode>
                <c:ptCount val="11"/>
                <c:pt idx="4">
                  <c:v>89.097</c:v>
                </c:pt>
                <c:pt idx="5">
                  <c:v>101.265</c:v>
                </c:pt>
                <c:pt idx="6">
                  <c:v>102.904</c:v>
                </c:pt>
                <c:pt idx="7">
                  <c:v>103.835</c:v>
                </c:pt>
                <c:pt idx="8">
                  <c:v>219.346</c:v>
                </c:pt>
                <c:pt idx="9">
                  <c:v>324.35900000000004</c:v>
                </c:pt>
                <c:pt idx="10">
                  <c:v>385.207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16.1773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Medium-Barrier Films</c:v>
                </c:pt>
                <c:pt idx="10">
                  <c:v>High-Barrier Films</c:v>
                </c:pt>
              </c:strCache>
            </c:strRef>
          </c:cat>
          <c:val>
            <c:numRef>
              <c:f>Sheet1!$B$2:$B$12</c:f>
              <c:numCache>
                <c:formatCode>General</c:formatCode>
                <c:ptCount val="11"/>
                <c:pt idx="7">
                  <c:v>173.019</c:v>
                </c:pt>
                <c:pt idx="8">
                  <c:v>292.316</c:v>
                </c:pt>
                <c:pt idx="9">
                  <c:v>413.983</c:v>
                </c:pt>
                <c:pt idx="10">
                  <c:v>446.694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98.5699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212.268</c:v>
                </c:pt>
                <c:pt idx="10">
                  <c:v>1113.7450000000001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492.4183000000003"/>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Medium-Barrier Films</c:v>
                </c:pt>
                <c:pt idx="10">
                  <c:v>High-Barrier Films</c:v>
                </c:pt>
              </c:strCache>
            </c:strRef>
          </c:cat>
          <c:val>
            <c:numRef>
              <c:f>Sheet1!$B$2:$B$12</c:f>
              <c:numCache>
                <c:formatCode>General</c:formatCode>
                <c:ptCount val="11"/>
                <c:pt idx="7">
                  <c:v>173.017</c:v>
                </c:pt>
                <c:pt idx="8">
                  <c:v>292.314</c:v>
                </c:pt>
                <c:pt idx="9">
                  <c:v>413.982</c:v>
                </c:pt>
                <c:pt idx="10">
                  <c:v>446.693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98.5686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1326.01</c:v>
                </c:pt>
                <c:pt idx="2">
                  <c:v>2291.965</c:v>
                </c:pt>
                <c:pt idx="3">
                  <c:v>2472.532</c:v>
                </c:pt>
                <c:pt idx="4">
                  <c:v>2963.315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1326.01</c:v>
                </c:pt>
                <c:pt idx="1">
                  <c:v>965.955</c:v>
                </c:pt>
                <c:pt idx="2">
                  <c:v>180.56699999999995</c:v>
                </c:pt>
                <c:pt idx="3">
                  <c:v>490.783</c:v>
                </c:pt>
                <c:pt idx="4">
                  <c:v>121.386</c:v>
                </c:pt>
                <c:pt idx="5">
                  <c:v>3084.701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965.955</c:v>
                </c:pt>
                <c:pt idx="2">
                  <c:v>1146.522</c:v>
                </c:pt>
                <c:pt idx="3">
                  <c:v>1637.3049999999998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965.955</c:v>
                </c:pt>
                <c:pt idx="1">
                  <c:v>180.56699999999995</c:v>
                </c:pt>
                <c:pt idx="2">
                  <c:v>490.783</c:v>
                </c:pt>
                <c:pt idx="3">
                  <c:v>121.386</c:v>
                </c:pt>
                <c:pt idx="4">
                  <c:v>1758.6909999999998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1326.0109999999997</c:v>
                </c:pt>
                <c:pt idx="2">
                  <c:v>1890.004</c:v>
                </c:pt>
                <c:pt idx="3">
                  <c:v>2228.627</c:v>
                </c:pt>
                <c:pt idx="4">
                  <c:v>2409.902</c:v>
                </c:pt>
                <c:pt idx="5">
                  <c:v>2546.4210000000003</c:v>
                </c:pt>
                <c:pt idx="6">
                  <c:v>2694.6600000000003</c:v>
                </c:pt>
                <c:pt idx="7">
                  <c:v>2783.434</c:v>
                </c:pt>
                <c:pt idx="8">
                  <c:v>2819.572</c:v>
                </c:pt>
                <c:pt idx="9">
                  <c:v>2921.9320000000002</c:v>
                </c:pt>
                <c:pt idx="10">
                  <c:v>2978.237</c:v>
                </c:pt>
                <c:pt idx="11">
                  <c:v>3028.2980000000002</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1326.0109999999997</c:v>
                </c:pt>
                <c:pt idx="1">
                  <c:v>563.993</c:v>
                </c:pt>
                <c:pt idx="2">
                  <c:v>338.623</c:v>
                </c:pt>
                <c:pt idx="3">
                  <c:v>181.275</c:v>
                </c:pt>
                <c:pt idx="4">
                  <c:v>136.519</c:v>
                </c:pt>
                <c:pt idx="5">
                  <c:v>148.23900000000003</c:v>
                </c:pt>
                <c:pt idx="6">
                  <c:v>88.774</c:v>
                </c:pt>
                <c:pt idx="7">
                  <c:v>36.138000000000005</c:v>
                </c:pt>
                <c:pt idx="8">
                  <c:v>102.36</c:v>
                </c:pt>
                <c:pt idx="9">
                  <c:v>56.30499999999999</c:v>
                </c:pt>
                <c:pt idx="10">
                  <c:v>50.061</c:v>
                </c:pt>
                <c:pt idx="11">
                  <c:v>56.403</c:v>
                </c:pt>
                <c:pt idx="12">
                  <c:v>3084.701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563.993</c:v>
                </c:pt>
                <c:pt idx="2">
                  <c:v>902.616</c:v>
                </c:pt>
                <c:pt idx="3">
                  <c:v>1083.891</c:v>
                </c:pt>
                <c:pt idx="4">
                  <c:v>1220.41</c:v>
                </c:pt>
                <c:pt idx="5">
                  <c:v>1368.6490000000001</c:v>
                </c:pt>
                <c:pt idx="6">
                  <c:v>1457.4230000000002</c:v>
                </c:pt>
                <c:pt idx="7">
                  <c:v>1493.5610000000001</c:v>
                </c:pt>
                <c:pt idx="8">
                  <c:v>1595.921</c:v>
                </c:pt>
                <c:pt idx="9">
                  <c:v>1652.226</c:v>
                </c:pt>
                <c:pt idx="10">
                  <c:v>1702.287</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563.993</c:v>
                </c:pt>
                <c:pt idx="1">
                  <c:v>338.623</c:v>
                </c:pt>
                <c:pt idx="2">
                  <c:v>181.275</c:v>
                </c:pt>
                <c:pt idx="3">
                  <c:v>136.519</c:v>
                </c:pt>
                <c:pt idx="4">
                  <c:v>148.23900000000003</c:v>
                </c:pt>
                <c:pt idx="5">
                  <c:v>88.774</c:v>
                </c:pt>
                <c:pt idx="6">
                  <c:v>36.138000000000005</c:v>
                </c:pt>
                <c:pt idx="7">
                  <c:v>102.36</c:v>
                </c:pt>
                <c:pt idx="8">
                  <c:v>56.30499999999999</c:v>
                </c:pt>
                <c:pt idx="9">
                  <c:v>50.061</c:v>
                </c:pt>
                <c:pt idx="10">
                  <c:v>56.403</c:v>
                </c:pt>
                <c:pt idx="11">
                  <c:v>1758.6899999999998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1326.0130000000001</c:v>
                </c:pt>
                <c:pt idx="2">
                  <c:v>1636.239</c:v>
                </c:pt>
                <c:pt idx="3">
                  <c:v>2130.675</c:v>
                </c:pt>
                <c:pt idx="4">
                  <c:v>2552.254</c:v>
                </c:pt>
                <c:pt idx="5">
                  <c:v>2669.5</c:v>
                </c:pt>
                <c:pt idx="6">
                  <c:v>2798.834</c:v>
                </c:pt>
                <c:pt idx="7">
                  <c:v>2932.602</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1326.0130000000001</c:v>
                </c:pt>
                <c:pt idx="1">
                  <c:v>310.226</c:v>
                </c:pt>
                <c:pt idx="2">
                  <c:v>494.43600000000004</c:v>
                </c:pt>
                <c:pt idx="3">
                  <c:v>421.57899999999995</c:v>
                </c:pt>
                <c:pt idx="4">
                  <c:v>117.246</c:v>
                </c:pt>
                <c:pt idx="5">
                  <c:v>129.334</c:v>
                </c:pt>
                <c:pt idx="6">
                  <c:v>133.76799999999997</c:v>
                </c:pt>
                <c:pt idx="7">
                  <c:v>152.098</c:v>
                </c:pt>
                <c:pt idx="8">
                  <c:v>3084.7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310.226</c:v>
                </c:pt>
                <c:pt idx="2">
                  <c:v>804.662</c:v>
                </c:pt>
                <c:pt idx="3">
                  <c:v>1226.241</c:v>
                </c:pt>
                <c:pt idx="4">
                  <c:v>1343.487</c:v>
                </c:pt>
                <c:pt idx="5">
                  <c:v>1472.8210000000001</c:v>
                </c:pt>
                <c:pt idx="6">
                  <c:v>1606.5890000000002</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310.226</c:v>
                </c:pt>
                <c:pt idx="1">
                  <c:v>494.43600000000004</c:v>
                </c:pt>
                <c:pt idx="2">
                  <c:v>421.57899999999995</c:v>
                </c:pt>
                <c:pt idx="3">
                  <c:v>117.246</c:v>
                </c:pt>
                <c:pt idx="4">
                  <c:v>129.334</c:v>
                </c:pt>
                <c:pt idx="5">
                  <c:v>133.76799999999997</c:v>
                </c:pt>
                <c:pt idx="6">
                  <c:v>152.098</c:v>
                </c:pt>
                <c:pt idx="7">
                  <c:v>1758.6870000000001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1326.012</c:v>
                </c:pt>
                <c:pt idx="2">
                  <c:v>1706.357</c:v>
                </c:pt>
                <c:pt idx="3">
                  <c:v>2221.7529999999997</c:v>
                </c:pt>
                <c:pt idx="4">
                  <c:v>2856.1089999999995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1326.012</c:v>
                </c:pt>
                <c:pt idx="1">
                  <c:v>380.34499999999997</c:v>
                </c:pt>
                <c:pt idx="2">
                  <c:v>515.396</c:v>
                </c:pt>
                <c:pt idx="3">
                  <c:v>634.356</c:v>
                </c:pt>
                <c:pt idx="4">
                  <c:v>228.591</c:v>
                </c:pt>
                <c:pt idx="5">
                  <c:v>3084.7000000000003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380.34499999999997</c:v>
                </c:pt>
                <c:pt idx="2">
                  <c:v>895.741</c:v>
                </c:pt>
                <c:pt idx="3">
                  <c:v>1530.097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380.34499999999997</c:v>
                </c:pt>
                <c:pt idx="1">
                  <c:v>515.396</c:v>
                </c:pt>
                <c:pt idx="2">
                  <c:v>634.356</c:v>
                </c:pt>
                <c:pt idx="3">
                  <c:v>228.591</c:v>
                </c:pt>
                <c:pt idx="4">
                  <c:v>1758.688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1326.0130000000001</c:v>
                </c:pt>
                <c:pt idx="2">
                  <c:v>2806.011</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1326.0130000000001</c:v>
                </c:pt>
                <c:pt idx="1">
                  <c:v>1479.9979999999998</c:v>
                </c:pt>
                <c:pt idx="2">
                  <c:v>278.68899999999996</c:v>
                </c:pt>
                <c:pt idx="3">
                  <c:v>3084.7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1479.9979999999998</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1479.9979999999998</c:v>
                </c:pt>
                <c:pt idx="1">
                  <c:v>278.68899999999996</c:v>
                </c:pt>
                <c:pt idx="2">
                  <c:v>1758.687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1326.006</c:v>
                </c:pt>
                <c:pt idx="2">
                  <c:v>1706.354</c:v>
                </c:pt>
                <c:pt idx="3">
                  <c:v>2221.751</c:v>
                </c:pt>
                <c:pt idx="4">
                  <c:v>2856.108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1326.006</c:v>
                </c:pt>
                <c:pt idx="1">
                  <c:v>380.348</c:v>
                </c:pt>
                <c:pt idx="2">
                  <c:v>515.3969999999999</c:v>
                </c:pt>
                <c:pt idx="3">
                  <c:v>634.357</c:v>
                </c:pt>
                <c:pt idx="4">
                  <c:v>228.594</c:v>
                </c:pt>
                <c:pt idx="5">
                  <c:v>3084.702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380.348</c:v>
                </c:pt>
                <c:pt idx="2">
                  <c:v>895.7449999999999</c:v>
                </c:pt>
                <c:pt idx="3">
                  <c:v>1530.1019999999999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380.348</c:v>
                </c:pt>
                <c:pt idx="1">
                  <c:v>515.3969999999999</c:v>
                </c:pt>
                <c:pt idx="2">
                  <c:v>634.357</c:v>
                </c:pt>
                <c:pt idx="3">
                  <c:v>228.594</c:v>
                </c:pt>
                <c:pt idx="4">
                  <c:v>1758.696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9.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f>Sheet1!$B$1</c:f>
              <c:strCache>
                <c:ptCount val="1"/>
                <c:pt idx="0">
                  <c:v>Barrier Casings</c:v>
                </c:pt>
              </c:strCache>
            </c:strRef>
          </c:tx>
          <c:spPr>
            <a:ln w="25400">
              <a:solidFill>
                <a:srgbClr val="C55A11"/>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3939.0</c:v>
                </c:pt>
                <c:pt idx="1">
                  <c:v>3956.0</c:v>
                </c:pt>
                <c:pt idx="2">
                  <c:v>3975.0</c:v>
                </c:pt>
                <c:pt idx="3">
                  <c:v>3995.0</c:v>
                </c:pt>
                <c:pt idx="4">
                  <c:v>4017.0</c:v>
                </c:pt>
                <c:pt idx="5">
                  <c:v>4041.0</c:v>
                </c:pt>
                <c:pt idx="6">
                  <c:v>4083.0</c:v>
                </c:pt>
                <c:pt idx="7">
                  <c:v>4130.0</c:v>
                </c:pt>
                <c:pt idx="8">
                  <c:v>4178.0</c:v>
                </c:pt>
                <c:pt idx="9">
                  <c:v>4227.0</c:v>
                </c:pt>
                <c:pt idx="10">
                  <c:v>4276.0</c:v>
                </c:pt>
                <c:pt idx="11">
                  <c:v>4323.0</c:v>
                </c:pt>
                <c:pt idx="12">
                  <c:v>4370.0</c:v>
                </c:pt>
                <c:pt idx="13">
                  <c:v>4414.0</c:v>
                </c:pt>
                <c:pt idx="14">
                  <c:v>4456.0</c:v>
                </c:pt>
                <c:pt idx="15">
                  <c:v>4494.0</c:v>
                </c:pt>
              </c:numCache>
            </c:numRef>
          </c:val>
          <c:smooth val="0"/>
        </c:ser>
        <c:ser>
          <c:idx val="1"/>
          <c:order val="1"/>
          <c:tx>
            <c:strRef>
              <c:f>Sheet1!$C$1</c:f>
              <c:strCache>
                <c:ptCount val="1"/>
                <c:pt idx="0">
                  <c:v>Rollstock Films</c:v>
                </c:pt>
              </c:strCache>
            </c:strRef>
          </c:tx>
          <c:spPr>
            <a:ln w="25400">
              <a:solidFill>
                <a:srgbClr val="0B2E4A"/>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2753.0</c:v>
                </c:pt>
                <c:pt idx="1">
                  <c:v>2757.0</c:v>
                </c:pt>
                <c:pt idx="2">
                  <c:v>2765.0</c:v>
                </c:pt>
                <c:pt idx="3">
                  <c:v>2774.0</c:v>
                </c:pt>
                <c:pt idx="4">
                  <c:v>2787.0</c:v>
                </c:pt>
                <c:pt idx="5">
                  <c:v>2802.0</c:v>
                </c:pt>
                <c:pt idx="6">
                  <c:v>2818.0</c:v>
                </c:pt>
                <c:pt idx="7">
                  <c:v>2839.0</c:v>
                </c:pt>
                <c:pt idx="8">
                  <c:v>2866.0</c:v>
                </c:pt>
                <c:pt idx="9">
                  <c:v>2901.0</c:v>
                </c:pt>
                <c:pt idx="10">
                  <c:v>2943.0</c:v>
                </c:pt>
                <c:pt idx="11">
                  <c:v>2988.0</c:v>
                </c:pt>
                <c:pt idx="12">
                  <c:v>3030.0</c:v>
                </c:pt>
                <c:pt idx="13">
                  <c:v>3072.0</c:v>
                </c:pt>
                <c:pt idx="14">
                  <c:v>3110.0</c:v>
                </c:pt>
                <c:pt idx="15">
                  <c:v>3145.0</c:v>
                </c:pt>
              </c:numCache>
            </c:numRef>
          </c:val>
          <c:smooth val="0"/>
        </c:ser>
        <c:ser>
          <c:idx val="2"/>
          <c:order val="2"/>
          <c:tx>
            <c:strRef>
              <c:f>Sheet1!$D$1</c:f>
              <c:strCache>
                <c:ptCount val="1"/>
                <c:pt idx="0">
                  <c:v>Premade Pouches &amp; Bags</c:v>
                </c:pt>
              </c:strCache>
            </c:strRef>
          </c:tx>
          <c:spPr>
            <a:ln w="25400">
              <a:solidFill>
                <a:srgbClr val="7030A0"/>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2548.0</c:v>
                </c:pt>
                <c:pt idx="1">
                  <c:v>2557.0</c:v>
                </c:pt>
                <c:pt idx="2">
                  <c:v>2565.0</c:v>
                </c:pt>
                <c:pt idx="3">
                  <c:v>2575.0</c:v>
                </c:pt>
                <c:pt idx="4">
                  <c:v>2584.0</c:v>
                </c:pt>
                <c:pt idx="5">
                  <c:v>2594.0</c:v>
                </c:pt>
                <c:pt idx="6">
                  <c:v>2638.0</c:v>
                </c:pt>
                <c:pt idx="7">
                  <c:v>2680.0</c:v>
                </c:pt>
                <c:pt idx="8">
                  <c:v>2719.0</c:v>
                </c:pt>
                <c:pt idx="9">
                  <c:v>2755.0</c:v>
                </c:pt>
                <c:pt idx="10">
                  <c:v>2788.0</c:v>
                </c:pt>
                <c:pt idx="11">
                  <c:v>2819.0</c:v>
                </c:pt>
                <c:pt idx="12">
                  <c:v>2845.0</c:v>
                </c:pt>
                <c:pt idx="13">
                  <c:v>2869.0</c:v>
                </c:pt>
                <c:pt idx="14">
                  <c:v>2891.0</c:v>
                </c:pt>
                <c:pt idx="15">
                  <c:v>2911.0</c:v>
                </c:pt>
              </c:numCache>
            </c:numRef>
          </c:val>
          <c:smooth val="0"/>
        </c:ser>
        <c:ser>
          <c:idx val="3"/>
          <c:order val="3"/>
          <c:tx>
            <c:strRef>
              <c:f>Sheet1!$E$1</c:f>
              <c:strCache>
                <c:ptCount val="1"/>
                <c:pt idx="0">
                  <c:v>Sachets &amp; Stick Packs</c:v>
                </c:pt>
              </c:strCache>
            </c:strRef>
          </c:tx>
          <c:spPr>
            <a:ln w="25400">
              <a:solidFill>
                <a:srgbClr val="008189"/>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2378.0</c:v>
                </c:pt>
                <c:pt idx="1">
                  <c:v>2389.0</c:v>
                </c:pt>
                <c:pt idx="2">
                  <c:v>2398.0</c:v>
                </c:pt>
                <c:pt idx="3">
                  <c:v>2407.0</c:v>
                </c:pt>
                <c:pt idx="4">
                  <c:v>2415.0</c:v>
                </c:pt>
                <c:pt idx="5">
                  <c:v>2426.0</c:v>
                </c:pt>
                <c:pt idx="6">
                  <c:v>2434.0</c:v>
                </c:pt>
                <c:pt idx="7">
                  <c:v>2451.0</c:v>
                </c:pt>
                <c:pt idx="8">
                  <c:v>2476.0</c:v>
                </c:pt>
                <c:pt idx="9">
                  <c:v>2506.0</c:v>
                </c:pt>
                <c:pt idx="10">
                  <c:v>2541.0</c:v>
                </c:pt>
                <c:pt idx="11">
                  <c:v>2578.0</c:v>
                </c:pt>
                <c:pt idx="12">
                  <c:v>2618.0</c:v>
                </c:pt>
                <c:pt idx="13">
                  <c:v>2657.0</c:v>
                </c:pt>
                <c:pt idx="14">
                  <c:v>2695.0</c:v>
                </c:pt>
                <c:pt idx="15">
                  <c:v>2732.0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4500.0"/>
          <c:min val="2000.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externalData r:id="rId1">
    <c:autoUpdate val="0"/>
  </c:externalData>
</c:chartSpace>
</file>

<file path=ppt/charts/chart3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f>Sheet1!$B$1</c:f>
              <c:strCache>
                <c:ptCount val="1"/>
                <c:pt idx="0">
                  <c:v>Index</c:v>
                </c:pt>
              </c:strCache>
            </c:strRef>
          </c:tx>
          <c:dPt>
            <c:idx val="0"/>
            <c:spPr>
              <a:solidFill>
                <a:srgbClr val="5B7DB1"/>
              </a:solidFill>
            </c:spPr>
          </c:dPt>
          <c:dPt>
            <c:idx val="1"/>
            <c:spPr>
              <a:solidFill>
                <a:srgbClr val="5B7DB1"/>
              </a:solidFill>
            </c:spPr>
          </c:dPt>
          <c:dPt>
            <c:idx val="2"/>
            <c:spPr>
              <a:solidFill>
                <a:srgbClr val="5B7DB1"/>
              </a:solidFill>
            </c:spPr>
          </c:dPt>
          <c:dPt>
            <c:idx val="3"/>
            <c:spPr>
              <a:solidFill>
                <a:srgbClr val="C55A11"/>
              </a:solidFill>
            </c:spPr>
          </c:dPt>
          <c:cat>
            <c:strRef>
              <c:f>Sheet1!$A$2:$A$5</c:f>
              <c:strCache>
                <c:ptCount val="4"/>
                <c:pt idx="0">
                  <c:v>Sachets &amp; Stick Packs</c:v>
                </c:pt>
                <c:pt idx="1">
                  <c:v>Premade Pouches &amp; Bags</c:v>
                </c:pt>
                <c:pt idx="2">
                  <c:v>Rollstock Films</c:v>
                </c:pt>
                <c:pt idx="3">
                  <c:v>Barrier Casings</c:v>
                </c:pt>
              </c:strCache>
            </c:strRef>
          </c:cat>
          <c:val>
            <c:numRef>
              <c:f>Sheet1!$B$2:$B$5</c:f>
              <c:numCache>
                <c:formatCode>General</c:formatCode>
                <c:ptCount val="4"/>
                <c:pt idx="0">
                  <c:v>86.5</c:v>
                </c:pt>
                <c:pt idx="1">
                  <c:v>92.5</c:v>
                </c:pt>
                <c:pt idx="2">
                  <c:v>99.9</c:v>
                </c:pt>
                <c:pt idx="3">
                  <c:v>144.0</c:v>
                </c:pt>
              </c:numCache>
            </c:numRef>
          </c:val>
        </c:ser>
        <c:dLbls>
          <c:numFmt formatCode="0.0" sourceLinked="0"/>
          <c:txPr>
            <a:bodyPr/>
            <a:lstStyle/>
            <a:p>
              <a:pPr>
                <a:defRPr sz="900" b="1">
                  <a:solidFill>
                    <a:srgbClr val="1F1F1F"/>
                  </a:solidFill>
                </a:defRPr>
              </a:pPr>
            </a:p>
          </c:txPr>
          <c:dLblPos val="outEnd"/>
          <c:showLegendKey val="0"/>
          <c:showVal val="1"/>
          <c:showCatName val="0"/>
          <c:showSerName val="0"/>
          <c:showPercent val="0"/>
          <c:showBubbleSize val="0"/>
          <c:showLeaderLines val="1"/>
        </c:dLbls>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46.0"/>
          <c:min val="83.0"/>
        </c:scaling>
        <c:delete/>
        <c:axPos val="b"/>
        <c:majorTickMark val="out"/>
        <c:minorTickMark val="none"/>
        <c:tickLblPos val="nextTo"/>
        <c:crossAx val="-2068027336"/>
        <c:crosses val="autoZero"/>
      </c:valAx>
    </c:plotArea>
    <c:dispBlanksAs val="gap"/>
  </c:chart>
  <c:txPr>
    <a:bodyPr/>
    <a:lstStyle/>
    <a:p>
      <a:pPr>
        <a:defRPr sz="1800"/>
      </a:pPr>
      <a:endParaRPr lang="en-US"/>
    </a:p>
  </c:txPr>
  <c:externalData r:id="rId1">
    <c:autoUpdate val="0"/>
  </c:externalData>
</c:chartSpace>
</file>

<file path=ppt/charts/chart301.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col"/>
        <c:grouping val="stacked"/>
        <c:ser>
          <c:idx val="0"/>
          <c:order val="0"/>
          <c:tx>
            <c:strRef>
              <c:f>Sheet1!$B$1</c:f>
              <c:strCache>
                <c:ptCount val="1"/>
                <c:pt idx="0">
                  <c:v>Base</c:v>
                </c:pt>
              </c:strCache>
            </c:strRef>
          </c:tx>
          <c:spPr>
            <a:noFill/>
          </c:spPr>
          <c:cat>
            <c:strRef>
              <c:f>Sheet1!$A$2:$A$9</c:f>
              <c:strCache>
                <c:ptCount val="8"/>
                <c:pt idx="0">
                  <c:v>Australia</c:v>
                </c:pt>
                <c:pt idx="1">
                  <c:v>New Zealand</c:v>
                </c:pt>
                <c:pt idx="2">
                  <c:v>Singapore</c:v>
                </c:pt>
                <c:pt idx="3">
                  <c:v>Philippines</c:v>
                </c:pt>
                <c:pt idx="4">
                  <c:v>Malaysia</c:v>
                </c:pt>
                <c:pt idx="5">
                  <c:v>Thailand</c:v>
                </c:pt>
                <c:pt idx="6">
                  <c:v>Indonesia</c:v>
                </c:pt>
                <c:pt idx="7">
                  <c:v>India</c:v>
                </c:pt>
              </c:strCache>
            </c:strRef>
          </c:cat>
          <c:val>
            <c:numRef>
              <c:f>Sheet1!$B$2:$B$9</c:f>
              <c:numCache>
                <c:formatCode>General</c:formatCode>
                <c:ptCount val="8"/>
                <c:pt idx="0">
                  <c:v>111.9</c:v>
                </c:pt>
                <c:pt idx="1">
                  <c:v>109.4</c:v>
                </c:pt>
                <c:pt idx="2">
                  <c:v>103.8</c:v>
                </c:pt>
                <c:pt idx="3">
                  <c:v>85.0</c:v>
                </c:pt>
                <c:pt idx="4">
                  <c:v>84.6</c:v>
                </c:pt>
                <c:pt idx="5">
                  <c:v>82.5</c:v>
                </c:pt>
                <c:pt idx="6">
                  <c:v>79.9</c:v>
                </c:pt>
                <c:pt idx="7">
                  <c:v>77.9</c:v>
                </c:pt>
              </c:numCache>
            </c:numRef>
          </c:val>
        </c:ser>
        <c:ser>
          <c:idx val="1"/>
          <c:order val="1"/>
          <c:tx>
            <c:strRef>
              <c:f>Sheet1!$C$1</c:f>
              <c:strCache>
                <c:ptCount val="1"/>
                <c:pt idx="0">
                  <c:v>Range</c:v>
                </c:pt>
              </c:strCache>
            </c:strRef>
          </c:tx>
          <c:spPr>
            <a:solidFill>
              <a:srgbClr val="008189"/>
            </a:solidFill>
          </c:spPr>
          <c:dPt>
            <c:idx val="3"/>
            <c:spPr>
              <a:solidFill>
                <a:srgbClr val="5B7DB1"/>
              </a:solidFill>
            </c:spPr>
          </c:dPt>
          <c:dPt>
            <c:idx val="4"/>
            <c:spPr>
              <a:solidFill>
                <a:srgbClr val="5B7DB1"/>
              </a:solidFill>
            </c:spPr>
          </c:dPt>
          <c:dPt>
            <c:idx val="5"/>
            <c:spPr>
              <a:solidFill>
                <a:srgbClr val="5B7DB1"/>
              </a:solidFill>
            </c:spPr>
          </c:dPt>
          <c:dPt>
            <c:idx val="6"/>
            <c:spPr>
              <a:solidFill>
                <a:srgbClr val="5B7DB1"/>
              </a:solidFill>
            </c:spPr>
          </c:dPt>
          <c:dPt>
            <c:idx val="7"/>
            <c:spPr>
              <a:solidFill>
                <a:srgbClr val="5B7DB1"/>
              </a:solidFill>
            </c:spPr>
          </c:dPt>
          <c:cat>
            <c:strRef>
              <c:f>Sheet1!$A$2:$A$9</c:f>
              <c:strCache>
                <c:ptCount val="8"/>
                <c:pt idx="0">
                  <c:v>Australia</c:v>
                </c:pt>
                <c:pt idx="1">
                  <c:v>New Zealand</c:v>
                </c:pt>
                <c:pt idx="2">
                  <c:v>Singapore</c:v>
                </c:pt>
                <c:pt idx="3">
                  <c:v>Philippines</c:v>
                </c:pt>
                <c:pt idx="4">
                  <c:v>Malaysia</c:v>
                </c:pt>
                <c:pt idx="5">
                  <c:v>Thailand</c:v>
                </c:pt>
                <c:pt idx="6">
                  <c:v>Indonesia</c:v>
                </c:pt>
                <c:pt idx="7">
                  <c:v>India</c:v>
                </c:pt>
              </c:strCache>
            </c:strRef>
          </c:cat>
          <c:val>
            <c:numRef>
              <c:f>Sheet1!$C$2:$C$9</c:f>
              <c:numCache>
                <c:formatCode>General</c:formatCode>
                <c:ptCount val="8"/>
                <c:pt idx="0">
                  <c:v>75.5</c:v>
                </c:pt>
                <c:pt idx="1">
                  <c:v>75.2</c:v>
                </c:pt>
                <c:pt idx="2">
                  <c:v>68.2</c:v>
                </c:pt>
                <c:pt idx="3">
                  <c:v>58.7</c:v>
                </c:pt>
                <c:pt idx="4">
                  <c:v>56.7</c:v>
                </c:pt>
                <c:pt idx="5">
                  <c:v>55.7</c:v>
                </c:pt>
                <c:pt idx="6">
                  <c:v>53.2</c:v>
                </c:pt>
                <c:pt idx="7">
                  <c:v>52.4</c:v>
                </c:pt>
              </c:numCache>
            </c:numRef>
          </c:val>
        </c:ser>
        <c:gapWidth val="40"/>
        <c:overlap val="100"/>
        <c:axId val="-2068027336"/>
        <c:axId val="-2113994440"/>
      </c:barChart>
      <c:catAx>
        <c:axId val="-2068027336"/>
        <c:scaling>
          <c:orientation val="minMax"/>
        </c:scaling>
        <c:delete val="0"/>
        <c:axPos val="b"/>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90.0"/>
          <c:min val="75.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850">
                <a:solidFill>
                  <a:srgbClr val="59636E"/>
                </a:solidFill>
                <a:latin typeface="Calibri"/>
              </a:defRPr>
            </a:pPr>
          </a:p>
        </c:txPr>
        <c:crossAx val="-2068027336"/>
        <c:crosses val="autoZero"/>
        <c:majorUnit val="10.0"/>
      </c:valAx>
    </c:plotArea>
    <c:dispBlanksAs val="gap"/>
  </c:chart>
  <c:txPr>
    <a:bodyPr/>
    <a:lstStyle/>
    <a:p>
      <a:pPr>
        <a:defRPr sz="1800"/>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8.xm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s>
</file>

<file path=ppt/notesSlides/_rels/notesSlide2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5.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7.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8.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0.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2.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3.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5.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6.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7.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9.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3.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4.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6.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7.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9.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0.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2.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4.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5.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6.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7.xml"/></Relationships>
</file>

<file path=ppt/notesSlides/_rels/notesSlide3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8.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9.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0.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2.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3.xml"/></Relationships>
</file>

<file path=ppt/notesSlides/_rels/notesSlide3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4.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5.xml"/></Relationships>
</file>

<file path=ppt/notesSlides/_rels/notesSlide3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6.xml"/></Relationships>
</file>

<file path=ppt/notesSlides/_rels/notesSlide3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7.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8.xml"/></Relationships>
</file>

<file path=ppt/notesSlides/_rels/notesSlide3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9.xml"/></Relationships>
</file>

<file path=ppt/notesSlides/_rels/notesSlide3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0.xml"/></Relationships>
</file>

<file path=ppt/notesSlides/_rels/notesSlide3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1.xml"/></Relationships>
</file>

<file path=ppt/notesSlides/_rels/notesSlide3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2.xml"/></Relationships>
</file>

<file path=ppt/notesSlides/_rels/notesSlide3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3.xml"/></Relationships>
</file>

<file path=ppt/notesSlides/_rels/notesSlide3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4.xml"/></Relationships>
</file>

<file path=ppt/notesSlides/_rels/notesSlide3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5.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6.xml"/></Relationships>
</file>

<file path=ppt/notesSlides/_rels/notesSlide3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8.xml"/></Relationships>
</file>

<file path=ppt/notesSlides/_rels/notesSlide3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9.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0.xml"/></Relationships>
</file>

<file path=ppt/notesSlides/_rels/notesSlide3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2.xml"/></Relationships>
</file>

<file path=ppt/notesSlides/_rels/notesSlide3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3.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4.xml"/></Relationships>
</file>

<file path=ppt/notesSlides/_rels/notesSlide3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5.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7.xml"/></Relationships>
</file>

<file path=ppt/notesSlides/_rels/notesSlide3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8.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9.xml"/></Relationships>
</file>

<file path=ppt/notesSlides/_rels/notesSlide3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0.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1.xml"/></Relationships>
</file>

<file path=ppt/notesSlides/_rels/notesSlide3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2.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3.xml"/></Relationships>
</file>

<file path=ppt/notesSlides/_rels/notesSlide3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4.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5.xml"/></Relationships>
</file>

<file path=ppt/notesSlides/_rels/notesSlide3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6.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7.xml"/></Relationships>
</file>

<file path=ppt/notesSlides/_rels/notesSlide3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8.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9.xml"/></Relationships>
</file>

<file path=ppt/notesSlides/_rels/notesSlide3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0.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1.xml"/></Relationships>
</file>

<file path=ppt/notesSlides/_rels/notesSlide3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2.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3.xml"/></Relationships>
</file>

<file path=ppt/notesSlides/_rels/notesSlide3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4.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5.xml"/></Relationships>
</file>

<file path=ppt/notesSlides/_rels/notesSlide3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6.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7.xml"/></Relationships>
</file>

<file path=ppt/notesSlides/_rels/notesSlide3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8.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9.xml"/></Relationships>
</file>

<file path=ppt/notesSlides/_rels/notesSlide3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0.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1.xml"/></Relationships>
</file>

<file path=ppt/notesSlides/_rels/notesSlide3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2.xml"/></Relationships>
</file>

<file path=ppt/notesSlides/_rels/notesSlide3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3.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4.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5.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6.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7.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8.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9.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1.xml"/></Relationships>
</file>

<file path=ppt/notesSlides/_rels/notesSlide3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2.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3.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4.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5.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6.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7.xml"/></Relationships>
</file>

<file path=ppt/notesSlides/_rels/notesSlide3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8.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9.xml"/></Relationships>
</file>

<file path=ppt/notesSlides/_rels/notesSlide3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0.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2.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3.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4.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5.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7.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8.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9.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0.xml"/></Relationships>
</file>

<file path=ppt/notesSlides/_rels/notesSlide3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1.xml"/></Relationships>
</file>

<file path=ppt/notesSlides/_rels/notesSlide3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2.xml"/></Relationships>
</file>

<file path=ppt/notesSlides/_rels/notesSlide4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3.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4.xml"/></Relationships>
</file>

<file path=ppt/notesSlides/_rels/notesSlide4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5.xml"/></Relationships>
</file>

<file path=ppt/notesSlides/_rels/notesSlide4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6.xml"/></Relationships>
</file>

<file path=ppt/notesSlides/_rels/notesSlide4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7.xml"/></Relationships>
</file>

<file path=ppt/notesSlides/_rels/notesSlide4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8.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9.xml"/></Relationships>
</file>

<file path=ppt/notesSlides/_rels/notesSlide4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0.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2.xml"/></Relationships>
</file>

<file path=ppt/notesSlides/_rels/notesSlide4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3.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4.xml"/></Relationships>
</file>

<file path=ppt/notesSlides/_rels/notesSlide4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5.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6.xml"/></Relationships>
</file>

<file path=ppt/notesSlides/_rels/notesSlide4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7.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8.xml"/></Relationships>
</file>

<file path=ppt/notesSlides/_rels/notesSlide4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9.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0.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Market Segments</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South Asia &amp; Pacific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South Asia &amp; Pacific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South Asia &amp; Pacific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South Asia &amp; Pacific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South Asia &amp; Pacific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South Asia &amp; Pacific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South Asia &amp; Pacific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South Asia &amp; Pacific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South Asia &amp; Pacific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South Asia &amp; Pacific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South Asia &amp; Pacific Flexible Plastic Packaging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By Principal Material / Barrier Technology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By Principal Material / Barrier Technology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(1/3)</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(2/3)</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(3/3)</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By Material Structure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By Material Structure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By Barrier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By Application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By Barrier Level Vs Application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Country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2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2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2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2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2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2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2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2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2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2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2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2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2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2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2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2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2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2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2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2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2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2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2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2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3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3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3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3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3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3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3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3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3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3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3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3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3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3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3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3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3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3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3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3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3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3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3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3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3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3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3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3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3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3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3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3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3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3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3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3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3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3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3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3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3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3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3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3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3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3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3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3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3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3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3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3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3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South Asia &amp; Pacific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3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South Asia &amp; Pacific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3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3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3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3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3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South Asia &amp; Pacific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3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Price Forecast &amp; Dynamics</a:t>
            </a:r>
          </a:p>
        </p:txBody>
      </p:sp>
      <p:sp>
        <p:nvSpPr>
          <p:cNvPr id="4" name="Slide Number Placeholder 3"/>
          <p:cNvSpPr>
            <a:spLocks noGrp="1"/>
          </p:cNvSpPr>
          <p:nvPr>
            <p:ph type="sldNum" idx="5" sz="quarter"/>
          </p:nvPr>
        </p:nvSpPr>
        <p:spPr/>
      </p:sp>
    </p:spTree>
  </p:cSld>
  <p:clrMapOvr>
    <a:masterClrMapping/>
  </p:clrMapOvr>
</p:notes>
</file>

<file path=ppt/notesSlides/notesSlide3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3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3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3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Dynamics by Geography  (1/2)</a:t>
            </a:r>
          </a:p>
        </p:txBody>
      </p:sp>
      <p:sp>
        <p:nvSpPr>
          <p:cNvPr id="4" name="Slide Number Placeholder 3"/>
          <p:cNvSpPr>
            <a:spLocks noGrp="1"/>
          </p:cNvSpPr>
          <p:nvPr>
            <p:ph type="sldNum" idx="5" sz="quarter"/>
          </p:nvPr>
        </p:nvSpPr>
        <p:spPr/>
      </p:sp>
    </p:spTree>
  </p:cSld>
  <p:clrMapOvr>
    <a:masterClrMapping/>
  </p:clrMapOvr>
</p:notes>
</file>

<file path=ppt/notesSlides/notesSlide3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Dynamics by Geography  (2/2)</a:t>
            </a:r>
          </a:p>
        </p:txBody>
      </p:sp>
      <p:sp>
        <p:nvSpPr>
          <p:cNvPr id="4" name="Slide Number Placeholder 3"/>
          <p:cNvSpPr>
            <a:spLocks noGrp="1"/>
          </p:cNvSpPr>
          <p:nvPr>
            <p:ph type="sldNum" idx="5" sz="quarter"/>
          </p:nvPr>
        </p:nvSpPr>
        <p:spPr/>
      </p:sp>
    </p:spTree>
  </p:cSld>
  <p:clrMapOvr>
    <a:masterClrMapping/>
  </p:clrMapOvr>
</p:notes>
</file>

<file path=ppt/notesSlides/notesSlide3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3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3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3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4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4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4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(1/6)</a:t>
            </a:r>
          </a:p>
        </p:txBody>
      </p:sp>
      <p:sp>
        <p:nvSpPr>
          <p:cNvPr id="4" name="Slide Number Placeholder 3"/>
          <p:cNvSpPr>
            <a:spLocks noGrp="1"/>
          </p:cNvSpPr>
          <p:nvPr>
            <p:ph type="sldNum" idx="5" sz="quarter"/>
          </p:nvPr>
        </p:nvSpPr>
        <p:spPr/>
      </p:sp>
    </p:spTree>
  </p:cSld>
  <p:clrMapOvr>
    <a:masterClrMapping/>
  </p:clrMapOvr>
</p:notes>
</file>

<file path=ppt/notesSlides/notesSlide4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(2/6)</a:t>
            </a:r>
          </a:p>
        </p:txBody>
      </p:sp>
      <p:sp>
        <p:nvSpPr>
          <p:cNvPr id="4" name="Slide Number Placeholder 3"/>
          <p:cNvSpPr>
            <a:spLocks noGrp="1"/>
          </p:cNvSpPr>
          <p:nvPr>
            <p:ph type="sldNum" idx="5" sz="quarter"/>
          </p:nvPr>
        </p:nvSpPr>
        <p:spPr/>
      </p:sp>
    </p:spTree>
  </p:cSld>
  <p:clrMapOvr>
    <a:masterClrMapping/>
  </p:clrMapOvr>
</p:notes>
</file>

<file path=ppt/notesSlides/notesSlide4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(3/6)</a:t>
            </a:r>
          </a:p>
        </p:txBody>
      </p:sp>
      <p:sp>
        <p:nvSpPr>
          <p:cNvPr id="4" name="Slide Number Placeholder 3"/>
          <p:cNvSpPr>
            <a:spLocks noGrp="1"/>
          </p:cNvSpPr>
          <p:nvPr>
            <p:ph type="sldNum" idx="5" sz="quarter"/>
          </p:nvPr>
        </p:nvSpPr>
        <p:spPr/>
      </p:sp>
    </p:spTree>
  </p:cSld>
  <p:clrMapOvr>
    <a:masterClrMapping/>
  </p:clrMapOvr>
</p:notes>
</file>

<file path=ppt/notesSlides/notesSlide4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(4/6)</a:t>
            </a:r>
          </a:p>
        </p:txBody>
      </p:sp>
      <p:sp>
        <p:nvSpPr>
          <p:cNvPr id="4" name="Slide Number Placeholder 3"/>
          <p:cNvSpPr>
            <a:spLocks noGrp="1"/>
          </p:cNvSpPr>
          <p:nvPr>
            <p:ph type="sldNum" idx="5" sz="quarter"/>
          </p:nvPr>
        </p:nvSpPr>
        <p:spPr/>
      </p:sp>
    </p:spTree>
  </p:cSld>
  <p:clrMapOvr>
    <a:masterClrMapping/>
  </p:clrMapOvr>
</p:notes>
</file>

<file path=ppt/notesSlides/notesSlide4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(5/6)</a:t>
            </a:r>
          </a:p>
        </p:txBody>
      </p:sp>
      <p:sp>
        <p:nvSpPr>
          <p:cNvPr id="4" name="Slide Number Placeholder 3"/>
          <p:cNvSpPr>
            <a:spLocks noGrp="1"/>
          </p:cNvSpPr>
          <p:nvPr>
            <p:ph type="sldNum" idx="5" sz="quarter"/>
          </p:nvPr>
        </p:nvSpPr>
        <p:spPr/>
      </p:sp>
    </p:spTree>
  </p:cSld>
  <p:clrMapOvr>
    <a:masterClrMapping/>
  </p:clrMapOvr>
</p:notes>
</file>

<file path=ppt/notesSlides/notesSlide4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(6/6)</a:t>
            </a:r>
          </a:p>
        </p:txBody>
      </p:sp>
      <p:sp>
        <p:nvSpPr>
          <p:cNvPr id="4" name="Slide Number Placeholder 3"/>
          <p:cNvSpPr>
            <a:spLocks noGrp="1"/>
          </p:cNvSpPr>
          <p:nvPr>
            <p:ph type="sldNum" idx="5" sz="quarter"/>
          </p:nvPr>
        </p:nvSpPr>
        <p:spPr/>
      </p:sp>
    </p:spTree>
  </p:cSld>
  <p:clrMapOvr>
    <a:masterClrMapping/>
  </p:clrMapOvr>
</p:notes>
</file>

<file path=ppt/notesSlides/notesSlide4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4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4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4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4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(1/5)</a:t>
            </a:r>
          </a:p>
        </p:txBody>
      </p:sp>
      <p:sp>
        <p:nvSpPr>
          <p:cNvPr id="4" name="Slide Number Placeholder 3"/>
          <p:cNvSpPr>
            <a:spLocks noGrp="1"/>
          </p:cNvSpPr>
          <p:nvPr>
            <p:ph type="sldNum" idx="5" sz="quarter"/>
          </p:nvPr>
        </p:nvSpPr>
        <p:spPr/>
      </p:sp>
    </p:spTree>
  </p:cSld>
  <p:clrMapOvr>
    <a:masterClrMapping/>
  </p:clrMapOvr>
</p:notes>
</file>

<file path=ppt/notesSlides/notesSlide4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(2/5)</a:t>
            </a:r>
          </a:p>
        </p:txBody>
      </p:sp>
      <p:sp>
        <p:nvSpPr>
          <p:cNvPr id="4" name="Slide Number Placeholder 3"/>
          <p:cNvSpPr>
            <a:spLocks noGrp="1"/>
          </p:cNvSpPr>
          <p:nvPr>
            <p:ph type="sldNum" idx="5" sz="quarter"/>
          </p:nvPr>
        </p:nvSpPr>
        <p:spPr/>
      </p:sp>
    </p:spTree>
  </p:cSld>
  <p:clrMapOvr>
    <a:masterClrMapping/>
  </p:clrMapOvr>
</p:notes>
</file>

<file path=ppt/notesSlides/notesSlide4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(3/5)</a:t>
            </a:r>
          </a:p>
        </p:txBody>
      </p:sp>
      <p:sp>
        <p:nvSpPr>
          <p:cNvPr id="4" name="Slide Number Placeholder 3"/>
          <p:cNvSpPr>
            <a:spLocks noGrp="1"/>
          </p:cNvSpPr>
          <p:nvPr>
            <p:ph type="sldNum" idx="5" sz="quarter"/>
          </p:nvPr>
        </p:nvSpPr>
        <p:spPr/>
      </p:sp>
    </p:spTree>
  </p:cSld>
  <p:clrMapOvr>
    <a:masterClrMapping/>
  </p:clrMapOvr>
</p:notes>
</file>

<file path=ppt/notesSlides/notesSlide4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(4/5)</a:t>
            </a:r>
          </a:p>
        </p:txBody>
      </p:sp>
      <p:sp>
        <p:nvSpPr>
          <p:cNvPr id="4" name="Slide Number Placeholder 3"/>
          <p:cNvSpPr>
            <a:spLocks noGrp="1"/>
          </p:cNvSpPr>
          <p:nvPr>
            <p:ph type="sldNum" idx="5" sz="quarter"/>
          </p:nvPr>
        </p:nvSpPr>
        <p:spPr/>
      </p:sp>
    </p:spTree>
  </p:cSld>
  <p:clrMapOvr>
    <a:masterClrMapping/>
  </p:clrMapOvr>
</p:notes>
</file>

<file path=ppt/notesSlides/notesSlide4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(5/5)</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441.xml"/><Relationship Id="rId7" Type="http://schemas.openxmlformats.org/officeDocument/2006/relationships/slide" Target="slide451.xml"/><Relationship Id="rId8" Type="http://schemas.openxmlformats.org/officeDocument/2006/relationships/slide" Target="slide10.xml"/><Relationship Id="rId9" Type="http://schemas.openxmlformats.org/officeDocument/2006/relationships/slide" Target="slide11.xml"/><Relationship Id="rId10" Type="http://schemas.openxmlformats.org/officeDocument/2006/relationships/slide" Target="slide21.xml"/><Relationship Id="rId11" Type="http://schemas.openxmlformats.org/officeDocument/2006/relationships/slide" Target="slide29.xml"/><Relationship Id="rId12" Type="http://schemas.openxmlformats.org/officeDocument/2006/relationships/slide" Target="slide103.xml"/><Relationship Id="rId13" Type="http://schemas.openxmlformats.org/officeDocument/2006/relationships/slide" Target="slide105.xml"/><Relationship Id="rId14" Type="http://schemas.openxmlformats.org/officeDocument/2006/relationships/slide" Target="slide109.xml"/><Relationship Id="rId15" Type="http://schemas.openxmlformats.org/officeDocument/2006/relationships/slide" Target="slide409.xml"/><Relationship Id="rId16" Type="http://schemas.openxmlformats.org/officeDocument/2006/relationships/slide" Target="slide410.xml"/><Relationship Id="rId17" Type="http://schemas.openxmlformats.org/officeDocument/2006/relationships/slide" Target="slide421.xml"/><Relationship Id="rId18" Type="http://schemas.openxmlformats.org/officeDocument/2006/relationships/slide" Target="slide425.xml"/><Relationship Id="rId19" Type="http://schemas.openxmlformats.org/officeDocument/2006/relationships/slide" Target="slide42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9.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0.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18.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chart" Target="../charts/chart19.xml"/><Relationship Id="rId6" Type="http://schemas.openxmlformats.org/officeDocument/2006/relationships/chart" Target="../charts/chart20.xml"/><Relationship Id="rId7" Type="http://schemas.openxmlformats.org/officeDocument/2006/relationships/notesSlide" Target="../notesSlides/notesSlide2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xml"/><Relationship Id="rId4" Type="http://schemas.openxmlformats.org/officeDocument/2006/relationships/notesSlide" Target="../notesSlides/notesSlide30.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xml"/><Relationship Id="rId4" Type="http://schemas.openxmlformats.org/officeDocument/2006/relationships/chart" Target="../charts/chart23.xml"/><Relationship Id="rId5" Type="http://schemas.openxmlformats.org/officeDocument/2006/relationships/notesSlide" Target="../notesSlides/notesSlide3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notesSlide" Target="../notesSlides/notesSlide38.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xml"/><Relationship Id="rId4" Type="http://schemas.openxmlformats.org/officeDocument/2006/relationships/chart" Target="../charts/chart29.xml"/><Relationship Id="rId5" Type="http://schemas.openxmlformats.org/officeDocument/2006/relationships/chart" Target="../charts/chart30.xml"/><Relationship Id="rId6" Type="http://schemas.openxmlformats.org/officeDocument/2006/relationships/chart" Target="../charts/chart31.xml"/><Relationship Id="rId7" Type="http://schemas.openxmlformats.org/officeDocument/2006/relationships/notesSlide" Target="../notesSlides/notesSlide39.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xml"/><Relationship Id="rId4" Type="http://schemas.openxmlformats.org/officeDocument/2006/relationships/chart" Target="../charts/chart33.xml"/><Relationship Id="rId5" Type="http://schemas.openxmlformats.org/officeDocument/2006/relationships/chart" Target="../charts/chart34.xml"/><Relationship Id="rId6" Type="http://schemas.openxmlformats.org/officeDocument/2006/relationships/notesSlide" Target="../notesSlides/notesSlide4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xml"/><Relationship Id="rId4" Type="http://schemas.openxmlformats.org/officeDocument/2006/relationships/notesSlide" Target="../notesSlides/notesSlide4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xml"/><Relationship Id="rId4" Type="http://schemas.openxmlformats.org/officeDocument/2006/relationships/chart" Target="../charts/chart37.xml"/><Relationship Id="rId5" Type="http://schemas.openxmlformats.org/officeDocument/2006/relationships/notesSlide" Target="../notesSlides/notesSlide4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xml"/><Relationship Id="rId4" Type="http://schemas.openxmlformats.org/officeDocument/2006/relationships/chart" Target="../charts/chart39.xml"/><Relationship Id="rId5" Type="http://schemas.openxmlformats.org/officeDocument/2006/relationships/chart" Target="../charts/chart40.xml"/><Relationship Id="rId6" Type="http://schemas.openxmlformats.org/officeDocument/2006/relationships/chart" Target="../charts/chart41.xml"/><Relationship Id="rId7" Type="http://schemas.openxmlformats.org/officeDocument/2006/relationships/notesSlide" Target="../notesSlides/notesSlide4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xml"/><Relationship Id="rId4" Type="http://schemas.openxmlformats.org/officeDocument/2006/relationships/chart" Target="../charts/chart43.xml"/><Relationship Id="rId5" Type="http://schemas.openxmlformats.org/officeDocument/2006/relationships/chart" Target="../charts/chart44.xml"/><Relationship Id="rId6" Type="http://schemas.openxmlformats.org/officeDocument/2006/relationships/notesSlide" Target="../notesSlides/notesSlide5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xml"/><Relationship Id="rId4" Type="http://schemas.openxmlformats.org/officeDocument/2006/relationships/notesSlide" Target="../notesSlides/notesSlide5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xml"/><Relationship Id="rId4" Type="http://schemas.openxmlformats.org/officeDocument/2006/relationships/chart" Target="../charts/chart47.xml"/><Relationship Id="rId5" Type="http://schemas.openxmlformats.org/officeDocument/2006/relationships/notesSlide" Target="../notesSlides/notesSlide6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xml"/><Relationship Id="rId4" Type="http://schemas.openxmlformats.org/officeDocument/2006/relationships/chart" Target="../charts/chart49.xml"/><Relationship Id="rId5" Type="http://schemas.openxmlformats.org/officeDocument/2006/relationships/chart" Target="../charts/chart50.xml"/><Relationship Id="rId6" Type="http://schemas.openxmlformats.org/officeDocument/2006/relationships/chart" Target="../charts/chart51.xml"/><Relationship Id="rId7" Type="http://schemas.openxmlformats.org/officeDocument/2006/relationships/notesSlide" Target="../notesSlides/notesSlide6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xml"/><Relationship Id="rId4" Type="http://schemas.openxmlformats.org/officeDocument/2006/relationships/notesSlide" Target="../notesSlides/notesSlide65.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xml"/><Relationship Id="rId4" Type="http://schemas.openxmlformats.org/officeDocument/2006/relationships/chart" Target="../charts/chart54.xml"/><Relationship Id="rId5" Type="http://schemas.openxmlformats.org/officeDocument/2006/relationships/notesSlide" Target="../notesSlides/notesSlide69.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xml"/><Relationship Id="rId4" Type="http://schemas.openxmlformats.org/officeDocument/2006/relationships/chart" Target="../charts/chart56.xml"/><Relationship Id="rId5" Type="http://schemas.openxmlformats.org/officeDocument/2006/relationships/notesSlide" Target="../notesSlides/notesSlide70.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7.xml"/><Relationship Id="rId4" Type="http://schemas.openxmlformats.org/officeDocument/2006/relationships/notesSlide" Target="../notesSlides/notesSlide75.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6.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chart" Target="../charts/chart59.xml"/><Relationship Id="rId5" Type="http://schemas.openxmlformats.org/officeDocument/2006/relationships/notesSlide" Target="../notesSlides/notesSlide8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0.xml"/><Relationship Id="rId4" Type="http://schemas.openxmlformats.org/officeDocument/2006/relationships/chart" Target="../charts/chart61.xml"/><Relationship Id="rId5" Type="http://schemas.openxmlformats.org/officeDocument/2006/relationships/chart" Target="../charts/chart62.xml"/><Relationship Id="rId6" Type="http://schemas.openxmlformats.org/officeDocument/2006/relationships/chart" Target="../charts/chart63.xml"/><Relationship Id="rId7" Type="http://schemas.openxmlformats.org/officeDocument/2006/relationships/notesSlide" Target="../notesSlides/notesSlide8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xml"/><Relationship Id="rId4" Type="http://schemas.openxmlformats.org/officeDocument/2006/relationships/notesSlide" Target="../notesSlides/notesSlide85.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xml"/><Relationship Id="rId4" Type="http://schemas.openxmlformats.org/officeDocument/2006/relationships/chart" Target="../charts/chart66.xml"/><Relationship Id="rId5" Type="http://schemas.openxmlformats.org/officeDocument/2006/relationships/chart" Target="../charts/chart67.xml"/><Relationship Id="rId6" Type="http://schemas.openxmlformats.org/officeDocument/2006/relationships/chart" Target="../charts/chart68.xml"/><Relationship Id="rId7" Type="http://schemas.openxmlformats.org/officeDocument/2006/relationships/notesSlide" Target="../notesSlides/notesSlide9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9.xml"/><Relationship Id="rId4" Type="http://schemas.openxmlformats.org/officeDocument/2006/relationships/chart" Target="../charts/chart70.xml"/><Relationship Id="rId5" Type="http://schemas.openxmlformats.org/officeDocument/2006/relationships/chart" Target="../charts/chart71.xml"/><Relationship Id="rId6" Type="http://schemas.openxmlformats.org/officeDocument/2006/relationships/chart" Target="../charts/chart72.xml"/><Relationship Id="rId7" Type="http://schemas.openxmlformats.org/officeDocument/2006/relationships/notesSlide" Target="../notesSlides/notesSlide9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xml"/><Relationship Id="rId4" Type="http://schemas.openxmlformats.org/officeDocument/2006/relationships/chart" Target="../charts/chart74.xml"/><Relationship Id="rId5" Type="http://schemas.openxmlformats.org/officeDocument/2006/relationships/chart" Target="../charts/chart75.xml"/><Relationship Id="rId6" Type="http://schemas.openxmlformats.org/officeDocument/2006/relationships/chart" Target="../charts/chart76.xml"/><Relationship Id="rId7" Type="http://schemas.openxmlformats.org/officeDocument/2006/relationships/chart" Target="../charts/chart77.xml"/><Relationship Id="rId8" Type="http://schemas.openxmlformats.org/officeDocument/2006/relationships/chart" Target="../charts/chart78.xml"/><Relationship Id="rId9" Type="http://schemas.openxmlformats.org/officeDocument/2006/relationships/notesSlide" Target="../notesSlides/notesSlide93.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xml"/><Relationship Id="rId4" Type="http://schemas.openxmlformats.org/officeDocument/2006/relationships/chart" Target="../charts/chart80.xml"/><Relationship Id="rId5" Type="http://schemas.openxmlformats.org/officeDocument/2006/relationships/notesSlide" Target="../notesSlides/notesSlide9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xml"/><Relationship Id="rId4" Type="http://schemas.openxmlformats.org/officeDocument/2006/relationships/notesSlide" Target="../notesSlides/notesSlide99.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notesSlide" Target="../notesSlides/notesSlide10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3.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3.xml"/><Relationship Id="rId4" Type="http://schemas.openxmlformats.org/officeDocument/2006/relationships/chart" Target="../charts/chart84.xml"/><Relationship Id="rId5" Type="http://schemas.openxmlformats.org/officeDocument/2006/relationships/notesSlide" Target="../notesSlides/notesSlide105.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xml"/><Relationship Id="rId4" Type="http://schemas.openxmlformats.org/officeDocument/2006/relationships/chart" Target="../charts/chart86.xml"/><Relationship Id="rId5" Type="http://schemas.openxmlformats.org/officeDocument/2006/relationships/notesSlide" Target="../notesSlides/notesSlide11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xml"/><Relationship Id="rId4" Type="http://schemas.openxmlformats.org/officeDocument/2006/relationships/chart" Target="../charts/chart88.xml"/><Relationship Id="rId5" Type="http://schemas.openxmlformats.org/officeDocument/2006/relationships/notesSlide" Target="../notesSlides/notesSlide11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9.xml"/><Relationship Id="rId4" Type="http://schemas.openxmlformats.org/officeDocument/2006/relationships/chart" Target="../charts/chart90.xml"/><Relationship Id="rId5" Type="http://schemas.openxmlformats.org/officeDocument/2006/relationships/notesSlide" Target="../notesSlides/notesSlide118.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9.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xml"/><Relationship Id="rId4" Type="http://schemas.openxmlformats.org/officeDocument/2006/relationships/chart" Target="../charts/chart92.xml"/><Relationship Id="rId5" Type="http://schemas.openxmlformats.org/officeDocument/2006/relationships/chart" Target="../charts/chart93.xml"/><Relationship Id="rId6" Type="http://schemas.openxmlformats.org/officeDocument/2006/relationships/chart" Target="../charts/chart94.xml"/><Relationship Id="rId7" Type="http://schemas.openxmlformats.org/officeDocument/2006/relationships/notesSlide" Target="../notesSlides/notesSlide123.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5.xml"/><Relationship Id="rId4" Type="http://schemas.openxmlformats.org/officeDocument/2006/relationships/chart" Target="../charts/chart96.xml"/><Relationship Id="rId5" Type="http://schemas.openxmlformats.org/officeDocument/2006/relationships/chart" Target="../charts/chart97.xml"/><Relationship Id="rId6" Type="http://schemas.openxmlformats.org/officeDocument/2006/relationships/chart" Target="../charts/chart98.xml"/><Relationship Id="rId7" Type="http://schemas.openxmlformats.org/officeDocument/2006/relationships/notesSlide" Target="../notesSlides/notesSlide124.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chart" Target="../charts/chart100.xml"/><Relationship Id="rId5" Type="http://schemas.openxmlformats.org/officeDocument/2006/relationships/chart" Target="../charts/chart101.xml"/><Relationship Id="rId6" Type="http://schemas.openxmlformats.org/officeDocument/2006/relationships/chart" Target="../charts/chart102.xml"/><Relationship Id="rId7" Type="http://schemas.openxmlformats.org/officeDocument/2006/relationships/chart" Target="../charts/chart103.xml"/><Relationship Id="rId8" Type="http://schemas.openxmlformats.org/officeDocument/2006/relationships/chart" Target="../charts/chart104.xml"/><Relationship Id="rId9" Type="http://schemas.openxmlformats.org/officeDocument/2006/relationships/notesSlide" Target="../notesSlides/notesSlide125.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chart" Target="../charts/chart106.xml"/><Relationship Id="rId5" Type="http://schemas.openxmlformats.org/officeDocument/2006/relationships/notesSlide" Target="../notesSlides/notesSlide12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xml"/><Relationship Id="rId4" Type="http://schemas.openxmlformats.org/officeDocument/2006/relationships/notesSlide" Target="../notesSlides/notesSlide131.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xml"/><Relationship Id="rId4" Type="http://schemas.openxmlformats.org/officeDocument/2006/relationships/notesSlide" Target="../notesSlides/notesSlide13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9.xml"/><Relationship Id="rId4" Type="http://schemas.openxmlformats.org/officeDocument/2006/relationships/chart" Target="../charts/chart110.xml"/><Relationship Id="rId5" Type="http://schemas.openxmlformats.org/officeDocument/2006/relationships/notesSlide" Target="../notesSlides/notesSlide13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8.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xml"/><Relationship Id="rId4" Type="http://schemas.openxmlformats.org/officeDocument/2006/relationships/chart" Target="../charts/chart112.xml"/><Relationship Id="rId5" Type="http://schemas.openxmlformats.org/officeDocument/2006/relationships/notesSlide" Target="../notesSlides/notesSlide14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3.xml"/><Relationship Id="rId4" Type="http://schemas.openxmlformats.org/officeDocument/2006/relationships/chart" Target="../charts/chart114.xml"/><Relationship Id="rId5" Type="http://schemas.openxmlformats.org/officeDocument/2006/relationships/notesSlide" Target="../notesSlides/notesSlide145.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6.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xml"/><Relationship Id="rId4" Type="http://schemas.openxmlformats.org/officeDocument/2006/relationships/chart" Target="../charts/chart116.xml"/><Relationship Id="rId5" Type="http://schemas.openxmlformats.org/officeDocument/2006/relationships/notesSlide" Target="../notesSlides/notesSlide150.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xml"/><Relationship Id="rId4" Type="http://schemas.openxmlformats.org/officeDocument/2006/relationships/chart" Target="../charts/chart118.xml"/><Relationship Id="rId5" Type="http://schemas.openxmlformats.org/officeDocument/2006/relationships/chart" Target="../charts/chart119.xml"/><Relationship Id="rId6" Type="http://schemas.openxmlformats.org/officeDocument/2006/relationships/chart" Target="../charts/chart120.xml"/><Relationship Id="rId7" Type="http://schemas.openxmlformats.org/officeDocument/2006/relationships/notesSlide" Target="../notesSlides/notesSlide155.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1.xml"/><Relationship Id="rId4" Type="http://schemas.openxmlformats.org/officeDocument/2006/relationships/chart" Target="../charts/chart122.xml"/><Relationship Id="rId5" Type="http://schemas.openxmlformats.org/officeDocument/2006/relationships/chart" Target="../charts/chart123.xml"/><Relationship Id="rId6" Type="http://schemas.openxmlformats.org/officeDocument/2006/relationships/chart" Target="../charts/chart124.xml"/><Relationship Id="rId7" Type="http://schemas.openxmlformats.org/officeDocument/2006/relationships/notesSlide" Target="../notesSlides/notesSlide156.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xml"/><Relationship Id="rId4" Type="http://schemas.openxmlformats.org/officeDocument/2006/relationships/chart" Target="../charts/chart126.xml"/><Relationship Id="rId5" Type="http://schemas.openxmlformats.org/officeDocument/2006/relationships/chart" Target="../charts/chart127.xml"/><Relationship Id="rId6" Type="http://schemas.openxmlformats.org/officeDocument/2006/relationships/chart" Target="../charts/chart128.xml"/><Relationship Id="rId7" Type="http://schemas.openxmlformats.org/officeDocument/2006/relationships/chart" Target="../charts/chart129.xml"/><Relationship Id="rId8" Type="http://schemas.openxmlformats.org/officeDocument/2006/relationships/chart" Target="../charts/chart130.xml"/><Relationship Id="rId9" Type="http://schemas.openxmlformats.org/officeDocument/2006/relationships/notesSlide" Target="../notesSlides/notesSlide157.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xml"/><Relationship Id="rId4" Type="http://schemas.openxmlformats.org/officeDocument/2006/relationships/chart" Target="../charts/chart132.xml"/><Relationship Id="rId5" Type="http://schemas.openxmlformats.org/officeDocument/2006/relationships/notesSlide" Target="../notesSlides/notesSlide158.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9.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xml"/><Relationship Id="rId4" Type="http://schemas.openxmlformats.org/officeDocument/2006/relationships/notesSlide" Target="../notesSlides/notesSlide16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xml"/><Relationship Id="rId4" Type="http://schemas.openxmlformats.org/officeDocument/2006/relationships/notesSlide" Target="../notesSlides/notesSlide164.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xml"/><Relationship Id="rId4" Type="http://schemas.openxmlformats.org/officeDocument/2006/relationships/chart" Target="../charts/chart136.xml"/><Relationship Id="rId5" Type="http://schemas.openxmlformats.org/officeDocument/2006/relationships/notesSlide" Target="../notesSlides/notesSlide169.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xml"/><Relationship Id="rId4" Type="http://schemas.openxmlformats.org/officeDocument/2006/relationships/chart" Target="../charts/chart138.xml"/><Relationship Id="rId5" Type="http://schemas.openxmlformats.org/officeDocument/2006/relationships/notesSlide" Target="../notesSlides/notesSlide174.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5.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6.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xml"/><Relationship Id="rId4" Type="http://schemas.openxmlformats.org/officeDocument/2006/relationships/chart" Target="../charts/chart140.xml"/><Relationship Id="rId5" Type="http://schemas.openxmlformats.org/officeDocument/2006/relationships/notesSlide" Target="../notesSlides/notesSlide177.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8.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9.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0.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1.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1.xml"/><Relationship Id="rId4" Type="http://schemas.openxmlformats.org/officeDocument/2006/relationships/chart" Target="../charts/chart142.xml"/><Relationship Id="rId5" Type="http://schemas.openxmlformats.org/officeDocument/2006/relationships/notesSlide" Target="../notesSlides/notesSlide18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3.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4.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6.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xml"/><Relationship Id="rId4" Type="http://schemas.openxmlformats.org/officeDocument/2006/relationships/chart" Target="../charts/chart144.xml"/><Relationship Id="rId5" Type="http://schemas.openxmlformats.org/officeDocument/2006/relationships/chart" Target="../charts/chart145.xml"/><Relationship Id="rId6" Type="http://schemas.openxmlformats.org/officeDocument/2006/relationships/chart" Target="../charts/chart146.xml"/><Relationship Id="rId7" Type="http://schemas.openxmlformats.org/officeDocument/2006/relationships/notesSlide" Target="../notesSlides/notesSlide18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7.xml"/><Relationship Id="rId4" Type="http://schemas.openxmlformats.org/officeDocument/2006/relationships/chart" Target="../charts/chart148.xml"/><Relationship Id="rId5" Type="http://schemas.openxmlformats.org/officeDocument/2006/relationships/chart" Target="../charts/chart149.xml"/><Relationship Id="rId6" Type="http://schemas.openxmlformats.org/officeDocument/2006/relationships/chart" Target="../charts/chart150.xml"/><Relationship Id="rId7" Type="http://schemas.openxmlformats.org/officeDocument/2006/relationships/notesSlide" Target="../notesSlides/notes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xml"/><Relationship Id="rId4" Type="http://schemas.openxmlformats.org/officeDocument/2006/relationships/chart" Target="../charts/chart152.xml"/><Relationship Id="rId5" Type="http://schemas.openxmlformats.org/officeDocument/2006/relationships/chart" Target="../charts/chart153.xml"/><Relationship Id="rId6" Type="http://schemas.openxmlformats.org/officeDocument/2006/relationships/chart" Target="../charts/chart154.xml"/><Relationship Id="rId7" Type="http://schemas.openxmlformats.org/officeDocument/2006/relationships/chart" Target="../charts/chart155.xml"/><Relationship Id="rId8" Type="http://schemas.openxmlformats.org/officeDocument/2006/relationships/chart" Target="../charts/chart156.xml"/><Relationship Id="rId9" Type="http://schemas.openxmlformats.org/officeDocument/2006/relationships/notesSlide" Target="../notesSlides/notesSlide189.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xml"/><Relationship Id="rId4" Type="http://schemas.openxmlformats.org/officeDocument/2006/relationships/chart" Target="../charts/chart158.xml"/><Relationship Id="rId5" Type="http://schemas.openxmlformats.org/officeDocument/2006/relationships/notesSlide" Target="../notesSlides/notesSlide190.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1.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3.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4.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xml"/><Relationship Id="rId4" Type="http://schemas.openxmlformats.org/officeDocument/2006/relationships/notesSlide" Target="../notesSlides/notesSlide195.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0.xml"/><Relationship Id="rId4" Type="http://schemas.openxmlformats.org/officeDocument/2006/relationships/notesSlide" Target="../notesSlides/notesSlide196.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9.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0.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1.xml"/><Relationship Id="rId4" Type="http://schemas.openxmlformats.org/officeDocument/2006/relationships/chart" Target="../charts/chart162.xml"/><Relationship Id="rId5" Type="http://schemas.openxmlformats.org/officeDocument/2006/relationships/notesSlide" Target="../notesSlides/notesSlide201.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2.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3.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4.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3.xml"/><Relationship Id="rId4" Type="http://schemas.openxmlformats.org/officeDocument/2006/relationships/chart" Target="../charts/chart164.xml"/><Relationship Id="rId5" Type="http://schemas.openxmlformats.org/officeDocument/2006/relationships/notesSlide" Target="../notesSlides/notesSlide206.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7.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8.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5.xml"/><Relationship Id="rId4" Type="http://schemas.openxmlformats.org/officeDocument/2006/relationships/chart" Target="../charts/chart166.xml"/><Relationship Id="rId5" Type="http://schemas.openxmlformats.org/officeDocument/2006/relationships/notesSlide" Target="../notesSlides/notesSlide20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0.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1.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2.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3.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7.xml"/><Relationship Id="rId4" Type="http://schemas.openxmlformats.org/officeDocument/2006/relationships/chart" Target="../charts/chart168.xml"/><Relationship Id="rId5" Type="http://schemas.openxmlformats.org/officeDocument/2006/relationships/notesSlide" Target="../notesSlides/notesSlide214.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5.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6.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7.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8.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9.xml"/><Relationship Id="rId4" Type="http://schemas.openxmlformats.org/officeDocument/2006/relationships/chart" Target="../charts/chart170.xml"/><Relationship Id="rId5" Type="http://schemas.openxmlformats.org/officeDocument/2006/relationships/chart" Target="../charts/chart171.xml"/><Relationship Id="rId6" Type="http://schemas.openxmlformats.org/officeDocument/2006/relationships/chart" Target="../charts/chart172.xml"/><Relationship Id="rId7" Type="http://schemas.openxmlformats.org/officeDocument/2006/relationships/notesSlide" Target="../notesSlides/notesSlide219.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3.xml"/><Relationship Id="rId4" Type="http://schemas.openxmlformats.org/officeDocument/2006/relationships/chart" Target="../charts/chart174.xml"/><Relationship Id="rId5" Type="http://schemas.openxmlformats.org/officeDocument/2006/relationships/chart" Target="../charts/chart175.xml"/><Relationship Id="rId6" Type="http://schemas.openxmlformats.org/officeDocument/2006/relationships/chart" Target="../charts/chart176.xml"/><Relationship Id="rId7" Type="http://schemas.openxmlformats.org/officeDocument/2006/relationships/notesSlide" Target="../notesSlides/notesSlide220.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7.xml"/><Relationship Id="rId4" Type="http://schemas.openxmlformats.org/officeDocument/2006/relationships/chart" Target="../charts/chart178.xml"/><Relationship Id="rId5" Type="http://schemas.openxmlformats.org/officeDocument/2006/relationships/chart" Target="../charts/chart179.xml"/><Relationship Id="rId6" Type="http://schemas.openxmlformats.org/officeDocument/2006/relationships/chart" Target="../charts/chart180.xml"/><Relationship Id="rId7" Type="http://schemas.openxmlformats.org/officeDocument/2006/relationships/chart" Target="../charts/chart181.xml"/><Relationship Id="rId8" Type="http://schemas.openxmlformats.org/officeDocument/2006/relationships/chart" Target="../charts/chart182.xml"/><Relationship Id="rId9" Type="http://schemas.openxmlformats.org/officeDocument/2006/relationships/notesSlide" Target="../notesSlides/notesSlide221.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3.xml"/><Relationship Id="rId4" Type="http://schemas.openxmlformats.org/officeDocument/2006/relationships/chart" Target="../charts/chart184.xml"/><Relationship Id="rId5" Type="http://schemas.openxmlformats.org/officeDocument/2006/relationships/notesSlide" Target="../notesSlides/notesSlide22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3.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4.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5.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6.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5.xml"/><Relationship Id="rId4" Type="http://schemas.openxmlformats.org/officeDocument/2006/relationships/notesSlide" Target="../notesSlides/notesSlide22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6.xml"/><Relationship Id="rId4" Type="http://schemas.openxmlformats.org/officeDocument/2006/relationships/notesSlide" Target="../notesSlides/notesSlide228.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9.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0.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1.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7.xml"/><Relationship Id="rId4" Type="http://schemas.openxmlformats.org/officeDocument/2006/relationships/chart" Target="../charts/chart188.xml"/><Relationship Id="rId5" Type="http://schemas.openxmlformats.org/officeDocument/2006/relationships/notesSlide" Target="../notesSlides/notesSlide233.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4.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5.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6.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9.xml"/><Relationship Id="rId4" Type="http://schemas.openxmlformats.org/officeDocument/2006/relationships/chart" Target="../charts/chart190.xml"/><Relationship Id="rId5" Type="http://schemas.openxmlformats.org/officeDocument/2006/relationships/notesSlide" Target="../notesSlides/notesSlide238.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0.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1.xml"/><Relationship Id="rId4" Type="http://schemas.openxmlformats.org/officeDocument/2006/relationships/chart" Target="../charts/chart192.xml"/><Relationship Id="rId5" Type="http://schemas.openxmlformats.org/officeDocument/2006/relationships/notesSlide" Target="../notesSlides/notesSlide241.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2.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3.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4.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5.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3.xml"/><Relationship Id="rId4" Type="http://schemas.openxmlformats.org/officeDocument/2006/relationships/chart" Target="../charts/chart194.xml"/><Relationship Id="rId5" Type="http://schemas.openxmlformats.org/officeDocument/2006/relationships/notesSlide" Target="../notesSlides/notesSlide246.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7.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8.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9.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0.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5.xml"/><Relationship Id="rId4" Type="http://schemas.openxmlformats.org/officeDocument/2006/relationships/chart" Target="../charts/chart196.xml"/><Relationship Id="rId5" Type="http://schemas.openxmlformats.org/officeDocument/2006/relationships/chart" Target="../charts/chart197.xml"/><Relationship Id="rId6" Type="http://schemas.openxmlformats.org/officeDocument/2006/relationships/chart" Target="../charts/chart198.xml"/><Relationship Id="rId7" Type="http://schemas.openxmlformats.org/officeDocument/2006/relationships/notesSlide" Target="../notesSlides/notesSlide251.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9.xml"/><Relationship Id="rId4" Type="http://schemas.openxmlformats.org/officeDocument/2006/relationships/chart" Target="../charts/chart200.xml"/><Relationship Id="rId5" Type="http://schemas.openxmlformats.org/officeDocument/2006/relationships/chart" Target="../charts/chart201.xml"/><Relationship Id="rId6" Type="http://schemas.openxmlformats.org/officeDocument/2006/relationships/chart" Target="../charts/chart202.xml"/><Relationship Id="rId7" Type="http://schemas.openxmlformats.org/officeDocument/2006/relationships/notesSlide" Target="../notesSlides/notesSlide252.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3.xml"/><Relationship Id="rId4" Type="http://schemas.openxmlformats.org/officeDocument/2006/relationships/chart" Target="../charts/chart204.xml"/><Relationship Id="rId5" Type="http://schemas.openxmlformats.org/officeDocument/2006/relationships/chart" Target="../charts/chart205.xml"/><Relationship Id="rId6" Type="http://schemas.openxmlformats.org/officeDocument/2006/relationships/chart" Target="../charts/chart206.xml"/><Relationship Id="rId7" Type="http://schemas.openxmlformats.org/officeDocument/2006/relationships/chart" Target="../charts/chart207.xml"/><Relationship Id="rId8" Type="http://schemas.openxmlformats.org/officeDocument/2006/relationships/chart" Target="../charts/chart208.xml"/><Relationship Id="rId9" Type="http://schemas.openxmlformats.org/officeDocument/2006/relationships/notesSlide" Target="../notesSlides/notesSlide253.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9.xml"/><Relationship Id="rId4" Type="http://schemas.openxmlformats.org/officeDocument/2006/relationships/chart" Target="../charts/chart210.xml"/><Relationship Id="rId5" Type="http://schemas.openxmlformats.org/officeDocument/2006/relationships/notesSlide" Target="../notesSlides/notesSlide254.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5.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6.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8.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1.xml"/><Relationship Id="rId4" Type="http://schemas.openxmlformats.org/officeDocument/2006/relationships/notesSlide" Target="../notesSlides/notesSlide259.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2.xml"/><Relationship Id="rId4" Type="http://schemas.openxmlformats.org/officeDocument/2006/relationships/notesSlide" Target="../notesSlides/notesSlide26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1.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2.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3.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4.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3.xml"/><Relationship Id="rId4" Type="http://schemas.openxmlformats.org/officeDocument/2006/relationships/chart" Target="../charts/chart214.xml"/><Relationship Id="rId5" Type="http://schemas.openxmlformats.org/officeDocument/2006/relationships/notesSlide" Target="../notesSlides/notesSlide265.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6.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7.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9.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5.xml"/><Relationship Id="rId4" Type="http://schemas.openxmlformats.org/officeDocument/2006/relationships/chart" Target="../charts/chart216.xml"/><Relationship Id="rId5" Type="http://schemas.openxmlformats.org/officeDocument/2006/relationships/notesSlide" Target="../notesSlides/notesSlide270.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1.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2.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7.xml"/><Relationship Id="rId4" Type="http://schemas.openxmlformats.org/officeDocument/2006/relationships/chart" Target="../charts/chart218.xml"/><Relationship Id="rId5" Type="http://schemas.openxmlformats.org/officeDocument/2006/relationships/notesSlide" Target="../notesSlides/notesSlide273.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4.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5.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6.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7.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9.xml"/><Relationship Id="rId4" Type="http://schemas.openxmlformats.org/officeDocument/2006/relationships/chart" Target="../charts/chart220.xml"/><Relationship Id="rId5" Type="http://schemas.openxmlformats.org/officeDocument/2006/relationships/notesSlide" Target="../notesSlides/notesSlide278.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0.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1.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2.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1.xml"/><Relationship Id="rId4" Type="http://schemas.openxmlformats.org/officeDocument/2006/relationships/chart" Target="../charts/chart222.xml"/><Relationship Id="rId5" Type="http://schemas.openxmlformats.org/officeDocument/2006/relationships/chart" Target="../charts/chart223.xml"/><Relationship Id="rId6" Type="http://schemas.openxmlformats.org/officeDocument/2006/relationships/chart" Target="../charts/chart224.xml"/><Relationship Id="rId7" Type="http://schemas.openxmlformats.org/officeDocument/2006/relationships/notesSlide" Target="../notesSlides/notesSlide283.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5.xml"/><Relationship Id="rId4" Type="http://schemas.openxmlformats.org/officeDocument/2006/relationships/chart" Target="../charts/chart226.xml"/><Relationship Id="rId5" Type="http://schemas.openxmlformats.org/officeDocument/2006/relationships/chart" Target="../charts/chart227.xml"/><Relationship Id="rId6" Type="http://schemas.openxmlformats.org/officeDocument/2006/relationships/chart" Target="../charts/chart228.xml"/><Relationship Id="rId7" Type="http://schemas.openxmlformats.org/officeDocument/2006/relationships/notesSlide" Target="../notesSlides/notesSlide284.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9.xml"/><Relationship Id="rId4" Type="http://schemas.openxmlformats.org/officeDocument/2006/relationships/chart" Target="../charts/chart230.xml"/><Relationship Id="rId5" Type="http://schemas.openxmlformats.org/officeDocument/2006/relationships/chart" Target="../charts/chart231.xml"/><Relationship Id="rId6" Type="http://schemas.openxmlformats.org/officeDocument/2006/relationships/chart" Target="../charts/chart232.xml"/><Relationship Id="rId7" Type="http://schemas.openxmlformats.org/officeDocument/2006/relationships/chart" Target="../charts/chart233.xml"/><Relationship Id="rId8" Type="http://schemas.openxmlformats.org/officeDocument/2006/relationships/chart" Target="../charts/chart234.xml"/><Relationship Id="rId9" Type="http://schemas.openxmlformats.org/officeDocument/2006/relationships/notesSlide" Target="../notesSlides/notesSlide285.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5.xml"/><Relationship Id="rId4" Type="http://schemas.openxmlformats.org/officeDocument/2006/relationships/chart" Target="../charts/chart236.xml"/><Relationship Id="rId5" Type="http://schemas.openxmlformats.org/officeDocument/2006/relationships/notesSlide" Target="../notesSlides/notesSlide286.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7.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8.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9.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0.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7.xml"/><Relationship Id="rId4" Type="http://schemas.openxmlformats.org/officeDocument/2006/relationships/notesSlide" Target="../notesSlides/notesSlide291.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8.xml"/><Relationship Id="rId4" Type="http://schemas.openxmlformats.org/officeDocument/2006/relationships/notesSlide" Target="../notesSlides/notesSlide292.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3.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4.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5.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6.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9.xml"/><Relationship Id="rId4" Type="http://schemas.openxmlformats.org/officeDocument/2006/relationships/chart" Target="../charts/chart240.xml"/><Relationship Id="rId5" Type="http://schemas.openxmlformats.org/officeDocument/2006/relationships/notesSlide" Target="../notesSlides/notesSlide297.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8.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9.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1.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1.xml"/><Relationship Id="rId4" Type="http://schemas.openxmlformats.org/officeDocument/2006/relationships/chart" Target="../charts/chart242.xml"/><Relationship Id="rId5" Type="http://schemas.openxmlformats.org/officeDocument/2006/relationships/notesSlide" Target="../notesSlides/notesSlide302.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3.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4.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3.xml"/><Relationship Id="rId4" Type="http://schemas.openxmlformats.org/officeDocument/2006/relationships/chart" Target="../charts/chart244.xml"/><Relationship Id="rId5" Type="http://schemas.openxmlformats.org/officeDocument/2006/relationships/notesSlide" Target="../notesSlides/notesSlide305.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6.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7.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8.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9.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5.xml"/><Relationship Id="rId4" Type="http://schemas.openxmlformats.org/officeDocument/2006/relationships/chart" Target="../charts/chart246.xml"/><Relationship Id="rId5" Type="http://schemas.openxmlformats.org/officeDocument/2006/relationships/notesSlide" Target="../notesSlides/notesSlide310.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1.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2.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3.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4.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7.xml"/><Relationship Id="rId4" Type="http://schemas.openxmlformats.org/officeDocument/2006/relationships/chart" Target="../charts/chart248.xml"/><Relationship Id="rId5" Type="http://schemas.openxmlformats.org/officeDocument/2006/relationships/chart" Target="../charts/chart249.xml"/><Relationship Id="rId6" Type="http://schemas.openxmlformats.org/officeDocument/2006/relationships/chart" Target="../charts/chart250.xml"/><Relationship Id="rId7" Type="http://schemas.openxmlformats.org/officeDocument/2006/relationships/notesSlide" Target="../notesSlides/notesSlide315.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1.xml"/><Relationship Id="rId4" Type="http://schemas.openxmlformats.org/officeDocument/2006/relationships/chart" Target="../charts/chart252.xml"/><Relationship Id="rId5" Type="http://schemas.openxmlformats.org/officeDocument/2006/relationships/chart" Target="../charts/chart253.xml"/><Relationship Id="rId6" Type="http://schemas.openxmlformats.org/officeDocument/2006/relationships/chart" Target="../charts/chart254.xml"/><Relationship Id="rId7" Type="http://schemas.openxmlformats.org/officeDocument/2006/relationships/notesSlide" Target="../notesSlides/notesSlide316.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5.xml"/><Relationship Id="rId4" Type="http://schemas.openxmlformats.org/officeDocument/2006/relationships/chart" Target="../charts/chart256.xml"/><Relationship Id="rId5" Type="http://schemas.openxmlformats.org/officeDocument/2006/relationships/chart" Target="../charts/chart257.xml"/><Relationship Id="rId6" Type="http://schemas.openxmlformats.org/officeDocument/2006/relationships/chart" Target="../charts/chart258.xml"/><Relationship Id="rId7" Type="http://schemas.openxmlformats.org/officeDocument/2006/relationships/chart" Target="../charts/chart259.xml"/><Relationship Id="rId8" Type="http://schemas.openxmlformats.org/officeDocument/2006/relationships/chart" Target="../charts/chart260.xml"/><Relationship Id="rId9" Type="http://schemas.openxmlformats.org/officeDocument/2006/relationships/notesSlide" Target="../notesSlides/notesSlide317.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1.xml"/><Relationship Id="rId4" Type="http://schemas.openxmlformats.org/officeDocument/2006/relationships/chart" Target="../charts/chart262.xml"/><Relationship Id="rId5" Type="http://schemas.openxmlformats.org/officeDocument/2006/relationships/notesSlide" Target="../notesSlides/notesSlide318.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9.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0.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1.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2.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3.xml"/><Relationship Id="rId4" Type="http://schemas.openxmlformats.org/officeDocument/2006/relationships/notesSlide" Target="../notesSlides/notesSlide323.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4.xml"/><Relationship Id="rId4" Type="http://schemas.openxmlformats.org/officeDocument/2006/relationships/notesSlide" Target="../notesSlides/notesSlide324.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5.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6.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7.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8.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5.xml"/><Relationship Id="rId4" Type="http://schemas.openxmlformats.org/officeDocument/2006/relationships/chart" Target="../charts/chart266.xml"/><Relationship Id="rId5" Type="http://schemas.openxmlformats.org/officeDocument/2006/relationships/notesSlide" Target="../notesSlides/notesSlide329.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0.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1.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2.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3.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7.xml"/><Relationship Id="rId4" Type="http://schemas.openxmlformats.org/officeDocument/2006/relationships/chart" Target="../charts/chart268.xml"/><Relationship Id="rId5" Type="http://schemas.openxmlformats.org/officeDocument/2006/relationships/notesSlide" Target="../notesSlides/notesSlide334.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5.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6.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9.xml"/><Relationship Id="rId4" Type="http://schemas.openxmlformats.org/officeDocument/2006/relationships/chart" Target="../charts/chart270.xml"/><Relationship Id="rId5" Type="http://schemas.openxmlformats.org/officeDocument/2006/relationships/notesSlide" Target="../notesSlides/notesSlide337.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8.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9.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0.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1.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1.xml"/><Relationship Id="rId4" Type="http://schemas.openxmlformats.org/officeDocument/2006/relationships/chart" Target="../charts/chart272.xml"/><Relationship Id="rId5" Type="http://schemas.openxmlformats.org/officeDocument/2006/relationships/notesSlide" Target="../notesSlides/notesSlide342.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3.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5.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6.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3.xml"/><Relationship Id="rId4" Type="http://schemas.openxmlformats.org/officeDocument/2006/relationships/chart" Target="../charts/chart274.xml"/><Relationship Id="rId5" Type="http://schemas.openxmlformats.org/officeDocument/2006/relationships/chart" Target="../charts/chart275.xml"/><Relationship Id="rId6" Type="http://schemas.openxmlformats.org/officeDocument/2006/relationships/chart" Target="../charts/chart276.xml"/><Relationship Id="rId7" Type="http://schemas.openxmlformats.org/officeDocument/2006/relationships/notesSlide" Target="../notesSlides/notesSlide347.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7.xml"/><Relationship Id="rId4" Type="http://schemas.openxmlformats.org/officeDocument/2006/relationships/chart" Target="../charts/chart278.xml"/><Relationship Id="rId5" Type="http://schemas.openxmlformats.org/officeDocument/2006/relationships/chart" Target="../charts/chart279.xml"/><Relationship Id="rId6" Type="http://schemas.openxmlformats.org/officeDocument/2006/relationships/chart" Target="../charts/chart280.xml"/><Relationship Id="rId7" Type="http://schemas.openxmlformats.org/officeDocument/2006/relationships/notesSlide" Target="../notesSlides/notesSlide348.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1.xml"/><Relationship Id="rId4" Type="http://schemas.openxmlformats.org/officeDocument/2006/relationships/chart" Target="../charts/chart282.xml"/><Relationship Id="rId5" Type="http://schemas.openxmlformats.org/officeDocument/2006/relationships/chart" Target="../charts/chart283.xml"/><Relationship Id="rId6" Type="http://schemas.openxmlformats.org/officeDocument/2006/relationships/chart" Target="../charts/chart284.xml"/><Relationship Id="rId7" Type="http://schemas.openxmlformats.org/officeDocument/2006/relationships/chart" Target="../charts/chart285.xml"/><Relationship Id="rId8" Type="http://schemas.openxmlformats.org/officeDocument/2006/relationships/chart" Target="../charts/chart286.xml"/><Relationship Id="rId9" Type="http://schemas.openxmlformats.org/officeDocument/2006/relationships/notesSlide" Target="../notesSlides/notesSlide349.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7.xml"/><Relationship Id="rId4" Type="http://schemas.openxmlformats.org/officeDocument/2006/relationships/chart" Target="../charts/chart288.xml"/><Relationship Id="rId5" Type="http://schemas.openxmlformats.org/officeDocument/2006/relationships/notesSlide" Target="../notesSlides/notesSlide350.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1.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2.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3.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9.xml"/><Relationship Id="rId4" Type="http://schemas.openxmlformats.org/officeDocument/2006/relationships/notesSlide" Target="../notesSlides/notesSlide355.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0.xml"/><Relationship Id="rId4" Type="http://schemas.openxmlformats.org/officeDocument/2006/relationships/notesSlide" Target="../notesSlides/notesSlide356.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7.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8.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9.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1.xml"/><Relationship Id="rId4" Type="http://schemas.openxmlformats.org/officeDocument/2006/relationships/chart" Target="../charts/chart292.xml"/><Relationship Id="rId5" Type="http://schemas.openxmlformats.org/officeDocument/2006/relationships/notesSlide" Target="../notesSlides/notesSlide361.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2.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3.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4.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5.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3.xml"/><Relationship Id="rId4" Type="http://schemas.openxmlformats.org/officeDocument/2006/relationships/chart" Target="../charts/chart294.xml"/><Relationship Id="rId5" Type="http://schemas.openxmlformats.org/officeDocument/2006/relationships/notesSlide" Target="../notesSlides/notesSlide366.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7.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8.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5.xml"/><Relationship Id="rId4" Type="http://schemas.openxmlformats.org/officeDocument/2006/relationships/chart" Target="../charts/chart296.xml"/><Relationship Id="rId5" Type="http://schemas.openxmlformats.org/officeDocument/2006/relationships/notesSlide" Target="../notesSlides/notesSlide369.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1.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2.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3.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7.xml"/><Relationship Id="rId4" Type="http://schemas.openxmlformats.org/officeDocument/2006/relationships/chart" Target="../charts/chart298.xml"/><Relationship Id="rId5" Type="http://schemas.openxmlformats.org/officeDocument/2006/relationships/notesSlide" Target="../notesSlides/notesSlide374.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5.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6.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7.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8.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9.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0.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9.xml"/><Relationship Id="rId4" Type="http://schemas.openxmlformats.org/officeDocument/2006/relationships/chart" Target="../charts/chart300.xml"/><Relationship Id="rId5" Type="http://schemas.openxmlformats.org/officeDocument/2006/relationships/notesSlide" Target="../notesSlides/notesSlide381.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1.xml"/><Relationship Id="rId4" Type="http://schemas.openxmlformats.org/officeDocument/2006/relationships/notesSlide" Target="../notesSlides/notesSlide382.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3.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5.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6.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7.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8.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9.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0.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1.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2.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3.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4.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5.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6.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7.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8.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9.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0.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1.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3.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4.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5.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6.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7.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8.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9.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0.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1.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2.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4.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5.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South Asia &amp; Pacific Flexible Plastic Packaging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(Thousand MT) Analysis and Forecast, 2021–2036</a:t>
            </a:r>
          </a:p>
          <a:p>
            <a:pPr algn="l"/>
            <a:r>
              <a:rPr sz="1100" b="0">
                <a:solidFill>
                  <a:srgbClr val="8FCBE6"/>
                </a:solidFill>
                <a:latin typeface="Calibri"/>
              </a:rPr>
              <a:t>Region focus: South Asia &amp; Pacific   ·   Country focus: India   ·   Generated 08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71915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228502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869138"/>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3453257"/>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403737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South Asia &amp; Pacific Market Outlook</a:t>
            </a:r>
          </a:p>
        </p:txBody>
      </p:sp>
      <p:sp>
        <p:nvSpPr>
          <p:cNvPr id="16" name="Rounded Rectangle 15">
            <a:hlinkClick action="ppaction://hlinksldjump" r:id="rId9"/>
          </p:cNvPr>
          <p:cNvSpPr/>
          <p:nvPr/>
        </p:nvSpPr>
        <p:spPr>
          <a:xfrm>
            <a:off x="314325" y="460324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South Asia &amp; Pacific Overview</a:t>
            </a:r>
          </a:p>
        </p:txBody>
      </p:sp>
      <p:sp>
        <p:nvSpPr>
          <p:cNvPr id="17" name="Rounded Rectangle 16">
            <a:hlinkClick action="ppaction://hlinksldjump" r:id="rId10"/>
          </p:cNvPr>
          <p:cNvSpPr/>
          <p:nvPr/>
        </p:nvSpPr>
        <p:spPr>
          <a:xfrm>
            <a:off x="314325" y="5187358"/>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South Asia &amp; Pacific Market Analysis By Country</a:t>
            </a:r>
          </a:p>
        </p:txBody>
      </p:sp>
      <p:sp>
        <p:nvSpPr>
          <p:cNvPr id="18" name="Rounded Rectangle 17">
            <a:hlinkClick action="ppaction://hlinksldjump" r:id="rId11"/>
          </p:cNvPr>
          <p:cNvSpPr/>
          <p:nvPr/>
        </p:nvSpPr>
        <p:spPr>
          <a:xfrm>
            <a:off x="314325" y="5771476"/>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South Asia &amp; Pacific Market Analysis By Segments</a:t>
            </a:r>
          </a:p>
        </p:txBody>
      </p:sp>
      <p:sp>
        <p:nvSpPr>
          <p:cNvPr id="19" name="Rounded Rectangle 18">
            <a:hlinkClick action="ppaction://hlinksldjump" r:id="rId12"/>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Country Market Outlook</a:t>
            </a:r>
          </a:p>
        </p:txBody>
      </p:sp>
      <p:sp>
        <p:nvSpPr>
          <p:cNvPr id="20" name="Rounded Rectangle 19">
            <a:hlinkClick action="ppaction://hlinksldjump" r:id="rId13"/>
          </p:cNvPr>
          <p:cNvSpPr/>
          <p:nvPr/>
        </p:nvSpPr>
        <p:spPr>
          <a:xfrm>
            <a:off x="6391275" y="1700902"/>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Flexible Plastic Packaging Market Overview (Volume &amp; Value)</a:t>
            </a:r>
          </a:p>
        </p:txBody>
      </p:sp>
      <p:sp>
        <p:nvSpPr>
          <p:cNvPr id="21" name="Rounded Rectangle 20">
            <a:hlinkClick action="ppaction://hlinksldjump" r:id="rId14"/>
          </p:cNvPr>
          <p:cNvSpPr/>
          <p:nvPr/>
        </p:nvSpPr>
        <p:spPr>
          <a:xfrm>
            <a:off x="6391275" y="228502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Segment Overview (Volume &amp; Value)</a:t>
            </a:r>
          </a:p>
        </p:txBody>
      </p:sp>
      <p:sp>
        <p:nvSpPr>
          <p:cNvPr id="22" name="Rounded Rectangle 21">
            <a:hlinkClick action="ppaction://hlinksldjump" r:id="rId15"/>
          </p:cNvPr>
          <p:cNvSpPr/>
          <p:nvPr/>
        </p:nvSpPr>
        <p:spPr>
          <a:xfrm>
            <a:off x="6219825" y="2869138"/>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23" name="Rounded Rectangle 22">
            <a:hlinkClick action="ppaction://hlinksldjump" r:id="rId16"/>
          </p:cNvPr>
          <p:cNvSpPr/>
          <p:nvPr/>
        </p:nvSpPr>
        <p:spPr>
          <a:xfrm>
            <a:off x="6391275" y="3435003"/>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Flexible Plastic Packaging Market Pricing Analysis</a:t>
            </a:r>
          </a:p>
        </p:txBody>
      </p:sp>
      <p:sp>
        <p:nvSpPr>
          <p:cNvPr id="24" name="Rounded Rectangle 23">
            <a:hlinkClick action="ppaction://hlinksldjump" r:id="rId17"/>
          </p:cNvPr>
          <p:cNvSpPr/>
          <p:nvPr/>
        </p:nvSpPr>
        <p:spPr>
          <a:xfrm>
            <a:off x="6391275" y="4019121"/>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Supply Chain Analysis</a:t>
            </a:r>
          </a:p>
        </p:txBody>
      </p:sp>
      <p:sp>
        <p:nvSpPr>
          <p:cNvPr id="25" name="Rounded Rectangle 24">
            <a:hlinkClick action="ppaction://hlinksldjump" r:id="rId18"/>
          </p:cNvPr>
          <p:cNvSpPr/>
          <p:nvPr/>
        </p:nvSpPr>
        <p:spPr>
          <a:xfrm>
            <a:off x="6219825" y="4603240"/>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26" name="Rounded Rectangle 25">
            <a:hlinkClick action="ppaction://hlinksldjump" r:id="rId19"/>
          </p:cNvPr>
          <p:cNvSpPr/>
          <p:nvPr/>
        </p:nvSpPr>
        <p:spPr>
          <a:xfrm>
            <a:off x="6391275" y="5169104"/>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Market Dynamics &amp; Forces</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Flexible Plastic Packaging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Flexible Plastic Packaging demand, the evidence behind each and what it implies for the South Asia &amp;…</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gridCol w="5000625"/>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Flexible Plastic Packaging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South Asia &amp; Pacific demand expands at a 6.6% forecast CAGR (2026–2036), accelerating from 4.5% across 2021–2025.</a:t>
                      </a:r>
                    </a:p>
                  </a:txBody>
                  <a:tcPr marL="70000" marR="70000" marT="45000" marB="45000" anchor="ctr">
                    <a:solidFill>
                      <a:srgbClr val="FFFFFF"/>
                    </a:solidFill>
                  </a:tcPr>
                </a:tc>
                <a:tc>
                  <a:txBody>
                    <a:bodyPr wrap="square"/>
                    <a:lstStyle/>
                    <a:p>
                      <a:pPr algn="l"/>
                      <a:r>
                        <a:rPr sz="1100" b="0">
                          <a:solidFill>
                            <a:srgbClr val="2E2E2E"/>
                          </a:solidFill>
                          <a:latin typeface="Calibri"/>
                        </a:rPr>
                        <a:t>127,346 → 240,208 US$ Mn  ·  CAGR 6.6%</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product type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Rollstock Films leads Product Type, at 53.6% of 2036 value, within a mix of 4 tracked categories.</a:t>
                      </a:r>
                    </a:p>
                  </a:txBody>
                  <a:tcPr marL="70000" marR="70000" marT="45000" marB="45000" anchor="ctr">
                    <a:solidFill>
                      <a:srgbClr val="F6F9FC"/>
                    </a:solidFill>
                  </a:tcPr>
                </a:tc>
                <a:tc>
                  <a:txBody>
                    <a:bodyPr wrap="square"/>
                    <a:lstStyle/>
                    <a:p>
                      <a:pPr algn="l"/>
                      <a:r>
                        <a:rPr sz="1100" b="0">
                          <a:solidFill>
                            <a:srgbClr val="2E2E2E"/>
                          </a:solidFill>
                          <a:latin typeface="Calibri"/>
                        </a:rPr>
                        <a:t>Lead: Rollstock Films  ·  53.6% share (2036)</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Food Packaging is the fastest-growing part of Application, at a 6.6% forecast CAGR outpacing the wider market.</a:t>
                      </a:r>
                    </a:p>
                  </a:txBody>
                  <a:tcPr marL="70000" marR="70000" marT="45000" marB="45000" anchor="ctr">
                    <a:solidFill>
                      <a:srgbClr val="FFFFFF"/>
                    </a:solidFill>
                  </a:tcPr>
                </a:tc>
                <a:tc>
                  <a:txBody>
                    <a:bodyPr wrap="square"/>
                    <a:lstStyle/>
                    <a:p>
                      <a:pPr algn="l"/>
                      <a:r>
                        <a:rPr sz="1100" b="0">
                          <a:solidFill>
                            <a:srgbClr val="2E2E2E"/>
                          </a:solidFill>
                          <a:latin typeface="Calibri"/>
                        </a:rPr>
                        <a:t>Fastest: Food Packaging  ·  6.6% F-CAGR</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Flexible Plastic Packaging demand?</a:t>
                      </a:r>
                    </a:p>
                  </a:txBody>
                  <a:tcPr marL="70000" marR="70000" marT="45000" marB="45000" anchor="ctr">
                    <a:solidFill>
                      <a:srgbClr val="F6F9FC"/>
                    </a:solidFill>
                  </a:tcPr>
                </a:tc>
                <a:tc>
                  <a:txBody>
                    <a:bodyPr wrap="square"/>
                    <a:lstStyle/>
                    <a:p>
                      <a:pPr algn="l"/>
                      <a:r>
                        <a:rPr sz="1100" b="0">
                          <a:solidFill>
                            <a:srgbClr val="2E2E2E"/>
                          </a:solidFill>
                          <a:latin typeface="Calibri"/>
                        </a:rPr>
                        <a:t>East Asia is the largest regional market (26.5% of 2036 value), while Middle East &amp; Africa grows fastest at 8.3%.</a:t>
                      </a:r>
                    </a:p>
                  </a:txBody>
                  <a:tcPr marL="70000" marR="70000" marT="45000" marB="45000" anchor="ctr">
                    <a:solidFill>
                      <a:srgbClr val="F6F9FC"/>
                    </a:solidFill>
                  </a:tcPr>
                </a:tc>
                <a:tc>
                  <a:txBody>
                    <a:bodyPr wrap="square"/>
                    <a:lstStyle/>
                    <a:p>
                      <a:pPr algn="l"/>
                      <a:r>
                        <a:rPr sz="1100" b="0">
                          <a:solidFill>
                            <a:srgbClr val="2E2E2E"/>
                          </a:solidFill>
                          <a:latin typeface="Calibri"/>
                        </a:rPr>
                        <a:t>Largest: East Asia (26.5%)  ·  Fastest: Middle East &amp; Africa (8.3%)</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An incremental 112,862 US$ Mn of demand is added between 2026 and 2036, front-loaded in the leading categories and regions above.</a:t>
                      </a:r>
                    </a:p>
                  </a:txBody>
                  <a:tcPr marL="70000" marR="70000" marT="45000" marB="45000" anchor="ctr">
                    <a:solidFill>
                      <a:srgbClr val="FFFFFF"/>
                    </a:solidFill>
                  </a:tcPr>
                </a:tc>
                <a:tc>
                  <a:txBody>
                    <a:bodyPr wrap="square"/>
                    <a:lstStyle/>
                    <a:p>
                      <a:pPr algn="l"/>
                      <a:r>
                        <a:rPr sz="1100" b="0">
                          <a:solidFill>
                            <a:srgbClr val="2E2E2E"/>
                          </a:solidFill>
                          <a:latin typeface="Calibri"/>
                        </a:rPr>
                        <a:t>$ opportunity 112,862 US$ Mn (2026–2036)  ·  44,547 by 2031</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South Asia &amp; Pacific market broken into 9 countries and the countries assessed under each</a:t>
            </a:r>
          </a:p>
        </p:txBody>
      </p:sp>
      <p:cxnSp>
        <p:nvCxnSpPr>
          <p:cNvPr id="10" name="Connector 9"/>
          <p:cNvCxnSpPr/>
          <p:nvPr/>
        </p:nvCxnSpPr>
        <p:spPr>
          <a:xfrm>
            <a:off x="6096000" y="1682648"/>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846931"/>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152775"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75048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309730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45325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380007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1468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49371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484966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19648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54330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58901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153025" y="624607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71628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488617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9163050" y="524211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16330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5" name="Rounded Rectangle 54"/>
          <p:cNvSpPr/>
          <p:nvPr/>
        </p:nvSpPr>
        <p:spPr>
          <a:xfrm>
            <a:off x="4667250" y="1080276"/>
            <a:ext cx="2857500" cy="602372"/>
          </a:xfrm>
          <a:prstGeom prst="roundRect">
            <a:avLst>
              <a:gd name="adj" fmla="val 10606"/>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Flexible Plastic Packaging Market</a:t>
            </a:r>
          </a:p>
        </p:txBody>
      </p:sp>
      <p:sp>
        <p:nvSpPr>
          <p:cNvPr id="56" name="Rounded Rectangle 55"/>
          <p:cNvSpPr/>
          <p:nvPr/>
        </p:nvSpPr>
        <p:spPr>
          <a:xfrm>
            <a:off x="1428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7" name="Rounded Rectangle 56"/>
          <p:cNvSpPr/>
          <p:nvPr/>
        </p:nvSpPr>
        <p:spPr>
          <a:xfrm>
            <a:off x="2762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8" name="Rounded Rectangle 57"/>
          <p:cNvSpPr/>
          <p:nvPr/>
        </p:nvSpPr>
        <p:spPr>
          <a:xfrm>
            <a:off x="27622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59" name="Rounded Rectangle 58"/>
          <p:cNvSpPr/>
          <p:nvPr/>
        </p:nvSpPr>
        <p:spPr>
          <a:xfrm>
            <a:off x="214312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60" name="Rounded Rectangle 59"/>
          <p:cNvSpPr/>
          <p:nvPr/>
        </p:nvSpPr>
        <p:spPr>
          <a:xfrm>
            <a:off x="227647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1" name="Rounded Rectangle 60"/>
          <p:cNvSpPr/>
          <p:nvPr/>
        </p:nvSpPr>
        <p:spPr>
          <a:xfrm>
            <a:off x="227647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2" name="Rounded Rectangle 61"/>
          <p:cNvSpPr/>
          <p:nvPr/>
        </p:nvSpPr>
        <p:spPr>
          <a:xfrm>
            <a:off x="2276475"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Colombia</a:t>
            </a:r>
          </a:p>
        </p:txBody>
      </p:sp>
      <p:sp>
        <p:nvSpPr>
          <p:cNvPr id="63" name="Rounded Rectangle 62"/>
          <p:cNvSpPr/>
          <p:nvPr/>
        </p:nvSpPr>
        <p:spPr>
          <a:xfrm>
            <a:off x="2276475"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Latin America</a:t>
            </a:r>
          </a:p>
        </p:txBody>
      </p:sp>
      <p:sp>
        <p:nvSpPr>
          <p:cNvPr id="64" name="Rounded Rectangle 63"/>
          <p:cNvSpPr/>
          <p:nvPr/>
        </p:nvSpPr>
        <p:spPr>
          <a:xfrm>
            <a:off x="41433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5" name="Rounded Rectangle 64"/>
          <p:cNvSpPr/>
          <p:nvPr/>
        </p:nvSpPr>
        <p:spPr>
          <a:xfrm>
            <a:off x="42767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6" name="Rounded Rectangle 65"/>
          <p:cNvSpPr/>
          <p:nvPr/>
        </p:nvSpPr>
        <p:spPr>
          <a:xfrm>
            <a:off x="4276725" y="281437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7" name="Rounded Rectangle 66"/>
          <p:cNvSpPr/>
          <p:nvPr/>
        </p:nvSpPr>
        <p:spPr>
          <a:xfrm>
            <a:off x="4276725" y="317032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8" name="Rounded Rectangle 67"/>
          <p:cNvSpPr/>
          <p:nvPr/>
        </p:nvSpPr>
        <p:spPr>
          <a:xfrm>
            <a:off x="4276725" y="35171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69" name="Rounded Rectangle 68"/>
          <p:cNvSpPr/>
          <p:nvPr/>
        </p:nvSpPr>
        <p:spPr>
          <a:xfrm>
            <a:off x="4276725" y="386396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70" name="Rounded Rectangle 69"/>
          <p:cNvSpPr/>
          <p:nvPr/>
        </p:nvSpPr>
        <p:spPr>
          <a:xfrm>
            <a:off x="4276725" y="421078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71" name="Rounded Rectangle 70"/>
          <p:cNvSpPr/>
          <p:nvPr/>
        </p:nvSpPr>
        <p:spPr>
          <a:xfrm>
            <a:off x="4276725" y="456673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2" name="Rounded Rectangle 71"/>
          <p:cNvSpPr/>
          <p:nvPr/>
        </p:nvSpPr>
        <p:spPr>
          <a:xfrm>
            <a:off x="4276725" y="491355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a:t>
            </a:r>
          </a:p>
        </p:txBody>
      </p:sp>
      <p:sp>
        <p:nvSpPr>
          <p:cNvPr id="73" name="Rounded Rectangle 72"/>
          <p:cNvSpPr/>
          <p:nvPr/>
        </p:nvSpPr>
        <p:spPr>
          <a:xfrm>
            <a:off x="4276725" y="526037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4" name="Rounded Rectangle 73"/>
          <p:cNvSpPr/>
          <p:nvPr/>
        </p:nvSpPr>
        <p:spPr>
          <a:xfrm>
            <a:off x="4276725" y="560719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5" name="Rounded Rectangle 74"/>
          <p:cNvSpPr/>
          <p:nvPr/>
        </p:nvSpPr>
        <p:spPr>
          <a:xfrm>
            <a:off x="4276725" y="59631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6" name="Rounded Rectangle 75"/>
          <p:cNvSpPr/>
          <p:nvPr/>
        </p:nvSpPr>
        <p:spPr>
          <a:xfrm>
            <a:off x="4276725" y="630996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7" name="Rounded Rectangle 76"/>
          <p:cNvSpPr/>
          <p:nvPr/>
        </p:nvSpPr>
        <p:spPr>
          <a:xfrm>
            <a:off x="61531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8" name="Rounded Rectangle 77"/>
          <p:cNvSpPr/>
          <p:nvPr/>
        </p:nvSpPr>
        <p:spPr>
          <a:xfrm>
            <a:off x="62865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79" name="Rounded Rectangle 78"/>
          <p:cNvSpPr/>
          <p:nvPr/>
        </p:nvSpPr>
        <p:spPr>
          <a:xfrm>
            <a:off x="62865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80" name="Rounded Rectangle 79"/>
          <p:cNvSpPr/>
          <p:nvPr/>
        </p:nvSpPr>
        <p:spPr>
          <a:xfrm>
            <a:off x="62865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81" name="Rounded Rectangle 80"/>
          <p:cNvSpPr/>
          <p:nvPr/>
        </p:nvSpPr>
        <p:spPr>
          <a:xfrm>
            <a:off x="815340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2" name="Rounded Rectangle 81"/>
          <p:cNvSpPr/>
          <p:nvPr/>
        </p:nvSpPr>
        <p:spPr>
          <a:xfrm>
            <a:off x="828675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3" name="Rounded Rectangle 82"/>
          <p:cNvSpPr/>
          <p:nvPr/>
        </p:nvSpPr>
        <p:spPr>
          <a:xfrm>
            <a:off x="828675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4" name="Rounded Rectangle 83"/>
          <p:cNvSpPr/>
          <p:nvPr/>
        </p:nvSpPr>
        <p:spPr>
          <a:xfrm>
            <a:off x="828675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5" name="Rounded Rectangle 84"/>
          <p:cNvSpPr/>
          <p:nvPr/>
        </p:nvSpPr>
        <p:spPr>
          <a:xfrm>
            <a:off x="828675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6" name="Rounded Rectangle 85"/>
          <p:cNvSpPr/>
          <p:nvPr/>
        </p:nvSpPr>
        <p:spPr>
          <a:xfrm>
            <a:off x="828675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7" name="Rounded Rectangle 86"/>
          <p:cNvSpPr/>
          <p:nvPr/>
        </p:nvSpPr>
        <p:spPr>
          <a:xfrm>
            <a:off x="828675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8" name="Rounded Rectangle 87"/>
          <p:cNvSpPr/>
          <p:nvPr/>
        </p:nvSpPr>
        <p:spPr>
          <a:xfrm>
            <a:off x="828675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89" name="Rounded Rectangle 88"/>
          <p:cNvSpPr/>
          <p:nvPr/>
        </p:nvSpPr>
        <p:spPr>
          <a:xfrm>
            <a:off x="8286750" y="495918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90" name="Rounded Rectangle 89"/>
          <p:cNvSpPr/>
          <p:nvPr/>
        </p:nvSpPr>
        <p:spPr>
          <a:xfrm>
            <a:off x="8286750" y="531513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Asia</a:t>
            </a:r>
          </a:p>
        </p:txBody>
      </p:sp>
      <p:sp>
        <p:nvSpPr>
          <p:cNvPr id="91" name="Rounded Rectangle 90"/>
          <p:cNvSpPr/>
          <p:nvPr/>
        </p:nvSpPr>
        <p:spPr>
          <a:xfrm>
            <a:off x="101536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2" name="Rounded Rectangle 91"/>
          <p:cNvSpPr/>
          <p:nvPr/>
        </p:nvSpPr>
        <p:spPr>
          <a:xfrm>
            <a:off x="102870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3" name="Rounded Rectangle 92"/>
          <p:cNvSpPr/>
          <p:nvPr/>
        </p:nvSpPr>
        <p:spPr>
          <a:xfrm>
            <a:off x="102870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4" name="Rounded Rectangle 93"/>
          <p:cNvSpPr/>
          <p:nvPr/>
        </p:nvSpPr>
        <p:spPr>
          <a:xfrm>
            <a:off x="102870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5" name="Rounded Rectangle 94"/>
          <p:cNvSpPr/>
          <p:nvPr/>
        </p:nvSpPr>
        <p:spPr>
          <a:xfrm>
            <a:off x="1028700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6" name="Rounded Rectangle 95"/>
          <p:cNvSpPr/>
          <p:nvPr/>
        </p:nvSpPr>
        <p:spPr>
          <a:xfrm>
            <a:off x="1028700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GCC</a:t>
            </a:r>
          </a:p>
        </p:txBody>
      </p:sp>
      <p:sp>
        <p:nvSpPr>
          <p:cNvPr id="97" name="Rounded Rectangle 96"/>
          <p:cNvSpPr/>
          <p:nvPr/>
        </p:nvSpPr>
        <p:spPr>
          <a:xfrm>
            <a:off x="1028700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98" name="Rounded Rectangle 97"/>
          <p:cNvSpPr/>
          <p:nvPr/>
        </p:nvSpPr>
        <p:spPr>
          <a:xfrm>
            <a:off x="1028700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MEA</a:t>
            </a:r>
          </a:p>
        </p:txBody>
      </p:sp>
      <p:sp>
        <p:nvSpPr>
          <p:cNvPr id="99" name="TextBox 9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6 axes and the sub-segments sized under each</a:t>
            </a:r>
          </a:p>
        </p:txBody>
      </p:sp>
      <p:sp>
        <p:nvSpPr>
          <p:cNvPr id="10" name="Rectangle 9"/>
          <p:cNvSpPr/>
          <p:nvPr/>
        </p:nvSpPr>
        <p:spPr>
          <a:xfrm>
            <a:off x="142875" y="1028700"/>
            <a:ext cx="2876550" cy="377190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Type</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Rollstock Films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Lidding &amp; Tray-Sealing Films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Thermoforming Films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3714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5619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Vacuum Skin Packaging Films</a:t>
            </a:r>
          </a:p>
        </p:txBody>
      </p:sp>
      <p:cxnSp>
        <p:nvCxnSpPr>
          <p:cNvPr id="24" name="Connector 23"/>
          <p:cNvCxnSpPr/>
          <p:nvPr/>
        </p:nvCxnSpPr>
        <p:spPr>
          <a:xfrm>
            <a:off x="1524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HFFS / Flow-Pack Films</a:t>
            </a:r>
          </a:p>
        </p:txBody>
      </p:sp>
      <p:cxnSp>
        <p:nvCxnSpPr>
          <p:cNvPr id="27" name="Connector 26"/>
          <p:cNvCxnSpPr/>
          <p:nvPr/>
        </p:nvCxnSpPr>
        <p:spPr>
          <a:xfrm>
            <a:off x="1524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VFFS Rollstock Films</a:t>
            </a:r>
          </a:p>
        </p:txBody>
      </p:sp>
      <p:cxnSp>
        <p:nvCxnSpPr>
          <p:cNvPr id="30" name="Connector 29"/>
          <p:cNvCxnSpPr/>
          <p:nvPr/>
        </p:nvCxnSpPr>
        <p:spPr>
          <a:xfrm>
            <a:off x="1524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3714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5619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&amp; Overwrap Films</a:t>
            </a:r>
          </a:p>
        </p:txBody>
      </p:sp>
      <p:cxnSp>
        <p:nvCxnSpPr>
          <p:cNvPr id="33" name="Connector 32"/>
          <p:cNvCxnSpPr/>
          <p:nvPr/>
        </p:nvCxnSpPr>
        <p:spPr>
          <a:xfrm>
            <a:off x="1524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2000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3905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Barrier Casings</a:t>
            </a:r>
          </a:p>
        </p:txBody>
      </p:sp>
      <p:cxnSp>
        <p:nvCxnSpPr>
          <p:cNvPr id="36" name="Connector 35"/>
          <p:cNvCxnSpPr/>
          <p:nvPr/>
        </p:nvCxnSpPr>
        <p:spPr>
          <a:xfrm>
            <a:off x="1524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Non-Shrink Casings</a:t>
            </a:r>
          </a:p>
        </p:txBody>
      </p:sp>
      <p:cxnSp>
        <p:nvCxnSpPr>
          <p:cNvPr id="39" name="Connector 38"/>
          <p:cNvCxnSpPr/>
          <p:nvPr/>
        </p:nvCxnSpPr>
        <p:spPr>
          <a:xfrm>
            <a:off x="1524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3714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5619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Casings</a:t>
            </a:r>
          </a:p>
        </p:txBody>
      </p:sp>
      <p:cxnSp>
        <p:nvCxnSpPr>
          <p:cNvPr id="42" name="Connector 41"/>
          <p:cNvCxnSpPr/>
          <p:nvPr/>
        </p:nvCxnSpPr>
        <p:spPr>
          <a:xfrm>
            <a:off x="1524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3714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5619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Casings</a:t>
            </a:r>
          </a:p>
        </p:txBody>
      </p:sp>
      <p:cxnSp>
        <p:nvCxnSpPr>
          <p:cNvPr id="45" name="Connector 44"/>
          <p:cNvCxnSpPr/>
          <p:nvPr/>
        </p:nvCxnSpPr>
        <p:spPr>
          <a:xfrm>
            <a:off x="1524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20002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390525" y="32061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Premade Pouches &amp; Bags</a:t>
            </a:r>
          </a:p>
        </p:txBody>
      </p:sp>
      <p:cxnSp>
        <p:nvCxnSpPr>
          <p:cNvPr id="48" name="Connector 47"/>
          <p:cNvCxnSpPr/>
          <p:nvPr/>
        </p:nvCxnSpPr>
        <p:spPr>
          <a:xfrm>
            <a:off x="1524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714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561975" y="33832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Vacuum Pouches</a:t>
            </a:r>
          </a:p>
        </p:txBody>
      </p:sp>
      <p:cxnSp>
        <p:nvCxnSpPr>
          <p:cNvPr id="51" name="Connector 50"/>
          <p:cNvCxnSpPr/>
          <p:nvPr/>
        </p:nvCxnSpPr>
        <p:spPr>
          <a:xfrm>
            <a:off x="1524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3714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3" name="TextBox 52"/>
          <p:cNvSpPr txBox="1"/>
          <p:nvPr/>
        </p:nvSpPr>
        <p:spPr>
          <a:xfrm>
            <a:off x="5619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Bags</a:t>
            </a:r>
          </a:p>
        </p:txBody>
      </p:sp>
      <p:cxnSp>
        <p:nvCxnSpPr>
          <p:cNvPr id="54" name="Connector 53"/>
          <p:cNvCxnSpPr/>
          <p:nvPr/>
        </p:nvCxnSpPr>
        <p:spPr>
          <a:xfrm>
            <a:off x="1524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5" name="TextBox 54"/>
          <p:cNvSpPr txBox="1"/>
          <p:nvPr/>
        </p:nvSpPr>
        <p:spPr>
          <a:xfrm>
            <a:off x="3714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6" name="TextBox 55"/>
          <p:cNvSpPr txBox="1"/>
          <p:nvPr/>
        </p:nvSpPr>
        <p:spPr>
          <a:xfrm>
            <a:off x="5619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Stand-Up Pouches</a:t>
            </a:r>
          </a:p>
        </p:txBody>
      </p:sp>
      <p:cxnSp>
        <p:nvCxnSpPr>
          <p:cNvPr id="57" name="Connector 56"/>
          <p:cNvCxnSpPr/>
          <p:nvPr/>
        </p:nvCxnSpPr>
        <p:spPr>
          <a:xfrm>
            <a:off x="1524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3714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9" name="TextBox 58"/>
          <p:cNvSpPr txBox="1"/>
          <p:nvPr/>
        </p:nvSpPr>
        <p:spPr>
          <a:xfrm>
            <a:off x="561975" y="39147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Flat Pouches</a:t>
            </a:r>
          </a:p>
        </p:txBody>
      </p:sp>
      <p:cxnSp>
        <p:nvCxnSpPr>
          <p:cNvPr id="60" name="Connector 59"/>
          <p:cNvCxnSpPr/>
          <p:nvPr/>
        </p:nvCxnSpPr>
        <p:spPr>
          <a:xfrm>
            <a:off x="152400" y="40919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71475" y="40919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2" name="TextBox 61"/>
          <p:cNvSpPr txBox="1"/>
          <p:nvPr/>
        </p:nvSpPr>
        <p:spPr>
          <a:xfrm>
            <a:off x="561975" y="40919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Retort Pouches</a:t>
            </a:r>
          </a:p>
        </p:txBody>
      </p:sp>
      <p:cxnSp>
        <p:nvCxnSpPr>
          <p:cNvPr id="63" name="Connector 62"/>
          <p:cNvCxnSpPr/>
          <p:nvPr/>
        </p:nvCxnSpPr>
        <p:spPr>
          <a:xfrm>
            <a:off x="152400" y="42691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4" name="TextBox 63"/>
          <p:cNvSpPr txBox="1"/>
          <p:nvPr/>
        </p:nvSpPr>
        <p:spPr>
          <a:xfrm>
            <a:off x="200025" y="42691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5" name="TextBox 64"/>
          <p:cNvSpPr txBox="1"/>
          <p:nvPr/>
        </p:nvSpPr>
        <p:spPr>
          <a:xfrm>
            <a:off x="390525" y="426910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Sachets &amp; Stick Packs</a:t>
            </a:r>
          </a:p>
        </p:txBody>
      </p:sp>
      <p:cxnSp>
        <p:nvCxnSpPr>
          <p:cNvPr id="66" name="Connector 65"/>
          <p:cNvCxnSpPr/>
          <p:nvPr/>
        </p:nvCxnSpPr>
        <p:spPr>
          <a:xfrm>
            <a:off x="152400" y="44462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7" name="TextBox 66"/>
          <p:cNvSpPr txBox="1"/>
          <p:nvPr/>
        </p:nvSpPr>
        <p:spPr>
          <a:xfrm>
            <a:off x="371475" y="44462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61975" y="44462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Sachets</a:t>
            </a:r>
          </a:p>
        </p:txBody>
      </p:sp>
      <p:cxnSp>
        <p:nvCxnSpPr>
          <p:cNvPr id="69" name="Connector 68"/>
          <p:cNvCxnSpPr/>
          <p:nvPr/>
        </p:nvCxnSpPr>
        <p:spPr>
          <a:xfrm>
            <a:off x="152400" y="46234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371475" y="46234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61975" y="46234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Stick Packs</a:t>
            </a:r>
          </a:p>
        </p:txBody>
      </p:sp>
      <p:sp>
        <p:nvSpPr>
          <p:cNvPr id="72" name="Rectangle 71"/>
          <p:cNvSpPr/>
          <p:nvPr/>
        </p:nvSpPr>
        <p:spPr>
          <a:xfrm>
            <a:off x="3152775" y="1028700"/>
            <a:ext cx="2876550" cy="23602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3152775" y="1028700"/>
            <a:ext cx="2876550" cy="41148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228975" y="1028700"/>
            <a:ext cx="2724150" cy="411480"/>
          </a:xfrm>
          <a:prstGeom prst="rect">
            <a:avLst/>
          </a:prstGeom>
          <a:noFill/>
        </p:spPr>
        <p:txBody>
          <a:bodyPr wrap="square" lIns="28575" rIns="28575" tIns="9525" bIns="9525" anchor="t">
            <a:spAutoFit/>
          </a:bodyPr>
          <a:lstStyle/>
          <a:p>
            <a:pPr algn="l">
              <a:lnSpc>
                <a:spcPct val="100000"/>
              </a:lnSpc>
            </a:pPr>
            <a:r>
              <a:rPr sz="1100" b="1">
                <a:solidFill>
                  <a:srgbClr val="FFFFFF"/>
                </a:solidFill>
                <a:latin typeface="Calibri"/>
              </a:rPr>
              <a:t>By Principal Material / Barrier Technology</a:t>
            </a:r>
          </a:p>
        </p:txBody>
      </p:sp>
      <p:sp>
        <p:nvSpPr>
          <p:cNvPr id="75" name="TextBox 74"/>
          <p:cNvSpPr txBox="1"/>
          <p:nvPr/>
        </p:nvSpPr>
        <p:spPr>
          <a:xfrm>
            <a:off x="3209925" y="1440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6" name="TextBox 75"/>
          <p:cNvSpPr txBox="1"/>
          <p:nvPr/>
        </p:nvSpPr>
        <p:spPr>
          <a:xfrm>
            <a:off x="3400425" y="144018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cxnSp>
        <p:nvCxnSpPr>
          <p:cNvPr id="77" name="Connector 76"/>
          <p:cNvCxnSpPr/>
          <p:nvPr/>
        </p:nvCxnSpPr>
        <p:spPr>
          <a:xfrm>
            <a:off x="3162300" y="1617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3209925" y="1617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3400425" y="161734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cxnSp>
        <p:nvCxnSpPr>
          <p:cNvPr id="80" name="Connector 79"/>
          <p:cNvCxnSpPr/>
          <p:nvPr/>
        </p:nvCxnSpPr>
        <p:spPr>
          <a:xfrm>
            <a:off x="3162300" y="1794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3209925" y="1794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2" name="TextBox 81"/>
          <p:cNvSpPr txBox="1"/>
          <p:nvPr/>
        </p:nvSpPr>
        <p:spPr>
          <a:xfrm>
            <a:off x="3400425" y="179451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cxnSp>
        <p:nvCxnSpPr>
          <p:cNvPr id="83" name="Connector 82"/>
          <p:cNvCxnSpPr/>
          <p:nvPr/>
        </p:nvCxnSpPr>
        <p:spPr>
          <a:xfrm>
            <a:off x="3162300" y="1971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3209925" y="1971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5" name="TextBox 84"/>
          <p:cNvSpPr txBox="1"/>
          <p:nvPr/>
        </p:nvSpPr>
        <p:spPr>
          <a:xfrm>
            <a:off x="3400425" y="197167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cxnSp>
        <p:nvCxnSpPr>
          <p:cNvPr id="86" name="Connector 85"/>
          <p:cNvCxnSpPr/>
          <p:nvPr/>
        </p:nvCxnSpPr>
        <p:spPr>
          <a:xfrm>
            <a:off x="3162300" y="2148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3209925" y="2148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8" name="TextBox 87"/>
          <p:cNvSpPr txBox="1"/>
          <p:nvPr/>
        </p:nvSpPr>
        <p:spPr>
          <a:xfrm>
            <a:off x="3400425" y="214884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cxnSp>
        <p:nvCxnSpPr>
          <p:cNvPr id="89" name="Connector 88"/>
          <p:cNvCxnSpPr/>
          <p:nvPr/>
        </p:nvCxnSpPr>
        <p:spPr>
          <a:xfrm>
            <a:off x="3162300" y="2326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3209925" y="2326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1" name="TextBox 90"/>
          <p:cNvSpPr txBox="1"/>
          <p:nvPr/>
        </p:nvSpPr>
        <p:spPr>
          <a:xfrm>
            <a:off x="3400425" y="232600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cxnSp>
        <p:nvCxnSpPr>
          <p:cNvPr id="92" name="Connector 91"/>
          <p:cNvCxnSpPr/>
          <p:nvPr/>
        </p:nvCxnSpPr>
        <p:spPr>
          <a:xfrm>
            <a:off x="3162300" y="2503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3" name="TextBox 92"/>
          <p:cNvSpPr txBox="1"/>
          <p:nvPr/>
        </p:nvSpPr>
        <p:spPr>
          <a:xfrm>
            <a:off x="3209925" y="2503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4" name="TextBox 93"/>
          <p:cNvSpPr txBox="1"/>
          <p:nvPr/>
        </p:nvSpPr>
        <p:spPr>
          <a:xfrm>
            <a:off x="3400425" y="250317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cxnSp>
        <p:nvCxnSpPr>
          <p:cNvPr id="95" name="Connector 94"/>
          <p:cNvCxnSpPr/>
          <p:nvPr/>
        </p:nvCxnSpPr>
        <p:spPr>
          <a:xfrm>
            <a:off x="3162300" y="2680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3209925" y="2680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7" name="TextBox 96"/>
          <p:cNvSpPr txBox="1"/>
          <p:nvPr/>
        </p:nvSpPr>
        <p:spPr>
          <a:xfrm>
            <a:off x="3400425" y="268033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cxnSp>
        <p:nvCxnSpPr>
          <p:cNvPr id="98" name="Connector 97"/>
          <p:cNvCxnSpPr/>
          <p:nvPr/>
        </p:nvCxnSpPr>
        <p:spPr>
          <a:xfrm>
            <a:off x="3162300" y="2857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3209925" y="2857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3400425" y="28575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cxnSp>
        <p:nvCxnSpPr>
          <p:cNvPr id="101" name="Connector 100"/>
          <p:cNvCxnSpPr/>
          <p:nvPr/>
        </p:nvCxnSpPr>
        <p:spPr>
          <a:xfrm>
            <a:off x="3162300" y="30346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3209925" y="30346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3" name="TextBox 102"/>
          <p:cNvSpPr txBox="1"/>
          <p:nvPr/>
        </p:nvSpPr>
        <p:spPr>
          <a:xfrm>
            <a:off x="3400425" y="30346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cxnSp>
        <p:nvCxnSpPr>
          <p:cNvPr id="104" name="Connector 103"/>
          <p:cNvCxnSpPr/>
          <p:nvPr/>
        </p:nvCxnSpPr>
        <p:spPr>
          <a:xfrm>
            <a:off x="3162300" y="32118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3209925" y="32118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3400425" y="32118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07" name="Rectangle 106"/>
          <p:cNvSpPr/>
          <p:nvPr/>
        </p:nvSpPr>
        <p:spPr>
          <a:xfrm>
            <a:off x="3152775" y="3503295"/>
            <a:ext cx="2876550" cy="235458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3152775" y="350329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3228975" y="350329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Barrier Level Vs Application</a:t>
            </a:r>
          </a:p>
        </p:txBody>
      </p:sp>
      <p:sp>
        <p:nvSpPr>
          <p:cNvPr id="110" name="TextBox 109"/>
          <p:cNvSpPr txBox="1"/>
          <p:nvPr/>
        </p:nvSpPr>
        <p:spPr>
          <a:xfrm>
            <a:off x="3209925" y="37318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1" name="TextBox 110"/>
          <p:cNvSpPr txBox="1"/>
          <p:nvPr/>
        </p:nvSpPr>
        <p:spPr>
          <a:xfrm>
            <a:off x="3400425" y="37318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Low-Barrier Films</a:t>
            </a:r>
          </a:p>
        </p:txBody>
      </p:sp>
      <p:cxnSp>
        <p:nvCxnSpPr>
          <p:cNvPr id="112" name="Connector 111"/>
          <p:cNvCxnSpPr/>
          <p:nvPr/>
        </p:nvCxnSpPr>
        <p:spPr>
          <a:xfrm>
            <a:off x="3162300" y="39090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3" name="TextBox 112"/>
          <p:cNvSpPr txBox="1"/>
          <p:nvPr/>
        </p:nvSpPr>
        <p:spPr>
          <a:xfrm>
            <a:off x="3381375" y="39090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4" name="TextBox 113"/>
          <p:cNvSpPr txBox="1"/>
          <p:nvPr/>
        </p:nvSpPr>
        <p:spPr>
          <a:xfrm>
            <a:off x="3571875" y="39090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15" name="Connector 114"/>
          <p:cNvCxnSpPr/>
          <p:nvPr/>
        </p:nvCxnSpPr>
        <p:spPr>
          <a:xfrm>
            <a:off x="3162300" y="40862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3381375" y="40862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3571875" y="40862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18" name="Connector 117"/>
          <p:cNvCxnSpPr/>
          <p:nvPr/>
        </p:nvCxnSpPr>
        <p:spPr>
          <a:xfrm>
            <a:off x="3162300" y="42633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9" name="TextBox 118"/>
          <p:cNvSpPr txBox="1"/>
          <p:nvPr/>
        </p:nvSpPr>
        <p:spPr>
          <a:xfrm>
            <a:off x="3209925" y="42633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0" name="TextBox 119"/>
          <p:cNvSpPr txBox="1"/>
          <p:nvPr/>
        </p:nvSpPr>
        <p:spPr>
          <a:xfrm>
            <a:off x="3400425" y="42633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Medium-Barrier Films</a:t>
            </a:r>
          </a:p>
        </p:txBody>
      </p:sp>
      <p:cxnSp>
        <p:nvCxnSpPr>
          <p:cNvPr id="121" name="Connector 120"/>
          <p:cNvCxnSpPr/>
          <p:nvPr/>
        </p:nvCxnSpPr>
        <p:spPr>
          <a:xfrm>
            <a:off x="3162300" y="44405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2" name="TextBox 121"/>
          <p:cNvSpPr txBox="1"/>
          <p:nvPr/>
        </p:nvSpPr>
        <p:spPr>
          <a:xfrm>
            <a:off x="3381375" y="44405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3" name="TextBox 122"/>
          <p:cNvSpPr txBox="1"/>
          <p:nvPr/>
        </p:nvSpPr>
        <p:spPr>
          <a:xfrm>
            <a:off x="3571875" y="44405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24" name="Connector 123"/>
          <p:cNvCxnSpPr/>
          <p:nvPr/>
        </p:nvCxnSpPr>
        <p:spPr>
          <a:xfrm>
            <a:off x="3162300" y="46177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5" name="TextBox 124"/>
          <p:cNvSpPr txBox="1"/>
          <p:nvPr/>
        </p:nvSpPr>
        <p:spPr>
          <a:xfrm>
            <a:off x="3381375" y="46177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6" name="TextBox 125"/>
          <p:cNvSpPr txBox="1"/>
          <p:nvPr/>
        </p:nvSpPr>
        <p:spPr>
          <a:xfrm>
            <a:off x="3571875" y="46177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27" name="Connector 126"/>
          <p:cNvCxnSpPr/>
          <p:nvPr/>
        </p:nvCxnSpPr>
        <p:spPr>
          <a:xfrm>
            <a:off x="3162300" y="47948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8" name="TextBox 127"/>
          <p:cNvSpPr txBox="1"/>
          <p:nvPr/>
        </p:nvSpPr>
        <p:spPr>
          <a:xfrm>
            <a:off x="3209925" y="47948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9" name="TextBox 128"/>
          <p:cNvSpPr txBox="1"/>
          <p:nvPr/>
        </p:nvSpPr>
        <p:spPr>
          <a:xfrm>
            <a:off x="3400425" y="47948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High-Barrier Films</a:t>
            </a:r>
          </a:p>
        </p:txBody>
      </p:sp>
      <p:cxnSp>
        <p:nvCxnSpPr>
          <p:cNvPr id="130" name="Connector 129"/>
          <p:cNvCxnSpPr/>
          <p:nvPr/>
        </p:nvCxnSpPr>
        <p:spPr>
          <a:xfrm>
            <a:off x="3162300" y="49720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3381375" y="49720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2" name="TextBox 131"/>
          <p:cNvSpPr txBox="1"/>
          <p:nvPr/>
        </p:nvSpPr>
        <p:spPr>
          <a:xfrm>
            <a:off x="3571875" y="49720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33" name="Connector 132"/>
          <p:cNvCxnSpPr/>
          <p:nvPr/>
        </p:nvCxnSpPr>
        <p:spPr>
          <a:xfrm>
            <a:off x="3162300" y="51492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4" name="TextBox 133"/>
          <p:cNvSpPr txBox="1"/>
          <p:nvPr/>
        </p:nvSpPr>
        <p:spPr>
          <a:xfrm>
            <a:off x="3381375" y="51492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5" name="TextBox 134"/>
          <p:cNvSpPr txBox="1"/>
          <p:nvPr/>
        </p:nvSpPr>
        <p:spPr>
          <a:xfrm>
            <a:off x="3571875" y="51492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36" name="Connector 135"/>
          <p:cNvCxnSpPr/>
          <p:nvPr/>
        </p:nvCxnSpPr>
        <p:spPr>
          <a:xfrm>
            <a:off x="3162300" y="53263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7" name="TextBox 136"/>
          <p:cNvSpPr txBox="1"/>
          <p:nvPr/>
        </p:nvSpPr>
        <p:spPr>
          <a:xfrm>
            <a:off x="3209925" y="53263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8" name="TextBox 137"/>
          <p:cNvSpPr txBox="1"/>
          <p:nvPr/>
        </p:nvSpPr>
        <p:spPr>
          <a:xfrm>
            <a:off x="3400425" y="53263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Ultra-High-Barrier Films</a:t>
            </a:r>
          </a:p>
        </p:txBody>
      </p:sp>
      <p:cxnSp>
        <p:nvCxnSpPr>
          <p:cNvPr id="139" name="Connector 138"/>
          <p:cNvCxnSpPr/>
          <p:nvPr/>
        </p:nvCxnSpPr>
        <p:spPr>
          <a:xfrm>
            <a:off x="3162300" y="55035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0" name="TextBox 139"/>
          <p:cNvSpPr txBox="1"/>
          <p:nvPr/>
        </p:nvSpPr>
        <p:spPr>
          <a:xfrm>
            <a:off x="3381375" y="55035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1" name="TextBox 140"/>
          <p:cNvSpPr txBox="1"/>
          <p:nvPr/>
        </p:nvSpPr>
        <p:spPr>
          <a:xfrm>
            <a:off x="3571875" y="55035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42" name="Connector 141"/>
          <p:cNvCxnSpPr/>
          <p:nvPr/>
        </p:nvCxnSpPr>
        <p:spPr>
          <a:xfrm>
            <a:off x="3162300" y="56807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3" name="TextBox 142"/>
          <p:cNvSpPr txBox="1"/>
          <p:nvPr/>
        </p:nvSpPr>
        <p:spPr>
          <a:xfrm>
            <a:off x="3381375" y="56807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4" name="TextBox 143"/>
          <p:cNvSpPr txBox="1"/>
          <p:nvPr/>
        </p:nvSpPr>
        <p:spPr>
          <a:xfrm>
            <a:off x="3571875" y="56807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45" name="Rectangle 144"/>
          <p:cNvSpPr/>
          <p:nvPr/>
        </p:nvSpPr>
        <p:spPr>
          <a:xfrm>
            <a:off x="6162675" y="1028700"/>
            <a:ext cx="2876550" cy="306324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Material Structure</a:t>
            </a:r>
          </a:p>
        </p:txBody>
      </p:sp>
      <p:sp>
        <p:nvSpPr>
          <p:cNvPr id="148" name="TextBox 147"/>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9" name="TextBox 148"/>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Monolayer Films</a:t>
            </a:r>
          </a:p>
        </p:txBody>
      </p:sp>
      <p:cxnSp>
        <p:nvCxnSpPr>
          <p:cNvPr id="150" name="Connector 149"/>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1" name="TextBox 150"/>
          <p:cNvSpPr txBox="1"/>
          <p:nvPr/>
        </p:nvSpPr>
        <p:spPr>
          <a:xfrm>
            <a:off x="62198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2" name="TextBox 151"/>
          <p:cNvSpPr txBox="1"/>
          <p:nvPr/>
        </p:nvSpPr>
        <p:spPr>
          <a:xfrm>
            <a:off x="6410325" y="143446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Coextruded Multilayer Films</a:t>
            </a:r>
          </a:p>
        </p:txBody>
      </p:sp>
      <p:cxnSp>
        <p:nvCxnSpPr>
          <p:cNvPr id="153" name="Connector 152"/>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4" name="TextBox 153"/>
          <p:cNvSpPr txBox="1"/>
          <p:nvPr/>
        </p:nvSpPr>
        <p:spPr>
          <a:xfrm>
            <a:off x="63912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5" name="TextBox 154"/>
          <p:cNvSpPr txBox="1"/>
          <p:nvPr/>
        </p:nvSpPr>
        <p:spPr>
          <a:xfrm>
            <a:off x="65817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3–5 Layer</a:t>
            </a:r>
          </a:p>
        </p:txBody>
      </p:sp>
      <p:cxnSp>
        <p:nvCxnSpPr>
          <p:cNvPr id="156" name="Connector 155"/>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7" name="TextBox 156"/>
          <p:cNvSpPr txBox="1"/>
          <p:nvPr/>
        </p:nvSpPr>
        <p:spPr>
          <a:xfrm>
            <a:off x="63912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8" name="TextBox 157"/>
          <p:cNvSpPr txBox="1"/>
          <p:nvPr/>
        </p:nvSpPr>
        <p:spPr>
          <a:xfrm>
            <a:off x="65817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7 Layer</a:t>
            </a:r>
          </a:p>
        </p:txBody>
      </p:sp>
      <p:cxnSp>
        <p:nvCxnSpPr>
          <p:cNvPr id="159" name="Connector 158"/>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63912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1" name="TextBox 160"/>
          <p:cNvSpPr txBox="1"/>
          <p:nvPr/>
        </p:nvSpPr>
        <p:spPr>
          <a:xfrm>
            <a:off x="65817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9 Layer and Above</a:t>
            </a:r>
          </a:p>
        </p:txBody>
      </p:sp>
      <p:cxnSp>
        <p:nvCxnSpPr>
          <p:cNvPr id="162" name="Connector 161"/>
          <p:cNvCxnSpPr/>
          <p:nvPr/>
        </p:nvCxnSpPr>
        <p:spPr>
          <a:xfrm>
            <a:off x="61722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3" name="TextBox 162"/>
          <p:cNvSpPr txBox="1"/>
          <p:nvPr/>
        </p:nvSpPr>
        <p:spPr>
          <a:xfrm>
            <a:off x="621982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4" name="TextBox 163"/>
          <p:cNvSpPr txBox="1"/>
          <p:nvPr/>
        </p:nvSpPr>
        <p:spPr>
          <a:xfrm>
            <a:off x="6410325" y="214312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Laminated Films</a:t>
            </a:r>
          </a:p>
        </p:txBody>
      </p:sp>
      <p:cxnSp>
        <p:nvCxnSpPr>
          <p:cNvPr id="165" name="Connector 164"/>
          <p:cNvCxnSpPr/>
          <p:nvPr/>
        </p:nvCxnSpPr>
        <p:spPr>
          <a:xfrm>
            <a:off x="61722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6" name="TextBox 165"/>
          <p:cNvSpPr txBox="1"/>
          <p:nvPr/>
        </p:nvSpPr>
        <p:spPr>
          <a:xfrm>
            <a:off x="63912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7" name="TextBox 166"/>
          <p:cNvSpPr txBox="1"/>
          <p:nvPr/>
        </p:nvSpPr>
        <p:spPr>
          <a:xfrm>
            <a:off x="65817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Duplex</a:t>
            </a:r>
          </a:p>
        </p:txBody>
      </p:sp>
      <p:cxnSp>
        <p:nvCxnSpPr>
          <p:cNvPr id="168" name="Connector 167"/>
          <p:cNvCxnSpPr/>
          <p:nvPr/>
        </p:nvCxnSpPr>
        <p:spPr>
          <a:xfrm>
            <a:off x="61722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9" name="TextBox 168"/>
          <p:cNvSpPr txBox="1"/>
          <p:nvPr/>
        </p:nvSpPr>
        <p:spPr>
          <a:xfrm>
            <a:off x="63912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0" name="TextBox 169"/>
          <p:cNvSpPr txBox="1"/>
          <p:nvPr/>
        </p:nvSpPr>
        <p:spPr>
          <a:xfrm>
            <a:off x="65817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Triplex</a:t>
            </a:r>
          </a:p>
        </p:txBody>
      </p:sp>
      <p:cxnSp>
        <p:nvCxnSpPr>
          <p:cNvPr id="171" name="Connector 170"/>
          <p:cNvCxnSpPr/>
          <p:nvPr/>
        </p:nvCxnSpPr>
        <p:spPr>
          <a:xfrm>
            <a:off x="61722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2" name="TextBox 171"/>
          <p:cNvSpPr txBox="1"/>
          <p:nvPr/>
        </p:nvSpPr>
        <p:spPr>
          <a:xfrm>
            <a:off x="63912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3" name="TextBox 172"/>
          <p:cNvSpPr txBox="1"/>
          <p:nvPr/>
        </p:nvSpPr>
        <p:spPr>
          <a:xfrm>
            <a:off x="65817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Multi-Ply</a:t>
            </a:r>
          </a:p>
        </p:txBody>
      </p:sp>
      <p:cxnSp>
        <p:nvCxnSpPr>
          <p:cNvPr id="174" name="Connector 173"/>
          <p:cNvCxnSpPr/>
          <p:nvPr/>
        </p:nvCxnSpPr>
        <p:spPr>
          <a:xfrm>
            <a:off x="61722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5" name="TextBox 174"/>
          <p:cNvSpPr txBox="1"/>
          <p:nvPr/>
        </p:nvSpPr>
        <p:spPr>
          <a:xfrm>
            <a:off x="621982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6" name="TextBox 175"/>
          <p:cNvSpPr txBox="1"/>
          <p:nvPr/>
        </p:nvSpPr>
        <p:spPr>
          <a:xfrm>
            <a:off x="6410325" y="28517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Coated Films</a:t>
            </a:r>
          </a:p>
        </p:txBody>
      </p:sp>
      <p:cxnSp>
        <p:nvCxnSpPr>
          <p:cNvPr id="177" name="Connector 176"/>
          <p:cNvCxnSpPr/>
          <p:nvPr/>
        </p:nvCxnSpPr>
        <p:spPr>
          <a:xfrm>
            <a:off x="61722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8" name="TextBox 177"/>
          <p:cNvSpPr txBox="1"/>
          <p:nvPr/>
        </p:nvSpPr>
        <p:spPr>
          <a:xfrm>
            <a:off x="621982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9" name="TextBox 178"/>
          <p:cNvSpPr txBox="1"/>
          <p:nvPr/>
        </p:nvSpPr>
        <p:spPr>
          <a:xfrm>
            <a:off x="6410325" y="30289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Metallized Films</a:t>
            </a:r>
          </a:p>
        </p:txBody>
      </p:sp>
      <p:cxnSp>
        <p:nvCxnSpPr>
          <p:cNvPr id="180" name="Connector 179"/>
          <p:cNvCxnSpPr/>
          <p:nvPr/>
        </p:nvCxnSpPr>
        <p:spPr>
          <a:xfrm>
            <a:off x="61722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1" name="TextBox 180"/>
          <p:cNvSpPr txBox="1"/>
          <p:nvPr/>
        </p:nvSpPr>
        <p:spPr>
          <a:xfrm>
            <a:off x="621982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2" name="TextBox 181"/>
          <p:cNvSpPr txBox="1"/>
          <p:nvPr/>
        </p:nvSpPr>
        <p:spPr>
          <a:xfrm>
            <a:off x="6410325" y="32061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Foil-Laminated Structures</a:t>
            </a:r>
          </a:p>
        </p:txBody>
      </p:sp>
      <p:cxnSp>
        <p:nvCxnSpPr>
          <p:cNvPr id="183" name="Connector 182"/>
          <p:cNvCxnSpPr/>
          <p:nvPr/>
        </p:nvCxnSpPr>
        <p:spPr>
          <a:xfrm>
            <a:off x="61722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4" name="TextBox 183"/>
          <p:cNvSpPr txBox="1"/>
          <p:nvPr/>
        </p:nvSpPr>
        <p:spPr>
          <a:xfrm>
            <a:off x="621982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5" name="TextBox 184"/>
          <p:cNvSpPr txBox="1"/>
          <p:nvPr/>
        </p:nvSpPr>
        <p:spPr>
          <a:xfrm>
            <a:off x="6410325" y="33832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Mono-Material Recyclable Structures</a:t>
            </a:r>
          </a:p>
        </p:txBody>
      </p:sp>
      <p:cxnSp>
        <p:nvCxnSpPr>
          <p:cNvPr id="186" name="Connector 185"/>
          <p:cNvCxnSpPr/>
          <p:nvPr/>
        </p:nvCxnSpPr>
        <p:spPr>
          <a:xfrm>
            <a:off x="61722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7" name="TextBox 186"/>
          <p:cNvSpPr txBox="1"/>
          <p:nvPr/>
        </p:nvSpPr>
        <p:spPr>
          <a:xfrm>
            <a:off x="63912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8" name="TextBox 187"/>
          <p:cNvSpPr txBox="1"/>
          <p:nvPr/>
        </p:nvSpPr>
        <p:spPr>
          <a:xfrm>
            <a:off x="65817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cxnSp>
        <p:nvCxnSpPr>
          <p:cNvPr id="189" name="Connector 188"/>
          <p:cNvCxnSpPr/>
          <p:nvPr/>
        </p:nvCxnSpPr>
        <p:spPr>
          <a:xfrm>
            <a:off x="61722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0" name="TextBox 189"/>
          <p:cNvSpPr txBox="1"/>
          <p:nvPr/>
        </p:nvSpPr>
        <p:spPr>
          <a:xfrm>
            <a:off x="63912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1" name="TextBox 190"/>
          <p:cNvSpPr txBox="1"/>
          <p:nvPr/>
        </p:nvSpPr>
        <p:spPr>
          <a:xfrm>
            <a:off x="65817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cxnSp>
        <p:nvCxnSpPr>
          <p:cNvPr id="192" name="Connector 191"/>
          <p:cNvCxnSpPr/>
          <p:nvPr/>
        </p:nvCxnSpPr>
        <p:spPr>
          <a:xfrm>
            <a:off x="61722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3" name="TextBox 192"/>
          <p:cNvSpPr txBox="1"/>
          <p:nvPr/>
        </p:nvSpPr>
        <p:spPr>
          <a:xfrm>
            <a:off x="63912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4" name="TextBox 193"/>
          <p:cNvSpPr txBox="1"/>
          <p:nvPr/>
        </p:nvSpPr>
        <p:spPr>
          <a:xfrm>
            <a:off x="6581775" y="39147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195" name="Rectangle 194"/>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TextBox 196"/>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Barrier Level</a:t>
            </a:r>
          </a:p>
        </p:txBody>
      </p:sp>
      <p:sp>
        <p:nvSpPr>
          <p:cNvPr id="198" name="TextBox 197"/>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9" name="TextBox 198"/>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cxnSp>
        <p:nvCxnSpPr>
          <p:cNvPr id="200" name="Connector 199"/>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1" name="TextBox 200"/>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2" name="TextBox 201"/>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cxnSp>
        <p:nvCxnSpPr>
          <p:cNvPr id="203" name="Connector 202"/>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4" name="TextBox 203"/>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5" name="TextBox 204"/>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cxnSp>
        <p:nvCxnSpPr>
          <p:cNvPr id="206" name="Connector 205"/>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7" name="TextBox 206"/>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8" name="TextBox 207"/>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209" name="Rectangle 208"/>
          <p:cNvSpPr/>
          <p:nvPr/>
        </p:nvSpPr>
        <p:spPr>
          <a:xfrm>
            <a:off x="9172575" y="2080260"/>
            <a:ext cx="2876550" cy="341757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91725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92487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Application</a:t>
            </a:r>
          </a:p>
        </p:txBody>
      </p:sp>
      <p:sp>
        <p:nvSpPr>
          <p:cNvPr id="212" name="TextBox 211"/>
          <p:cNvSpPr txBox="1"/>
          <p:nvPr/>
        </p:nvSpPr>
        <p:spPr>
          <a:xfrm>
            <a:off x="92297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3" name="TextBox 212"/>
          <p:cNvSpPr txBox="1"/>
          <p:nvPr/>
        </p:nvSpPr>
        <p:spPr>
          <a:xfrm>
            <a:off x="9420225" y="23088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Food Packaging</a:t>
            </a:r>
          </a:p>
        </p:txBody>
      </p:sp>
      <p:cxnSp>
        <p:nvCxnSpPr>
          <p:cNvPr id="214" name="Connector 213"/>
          <p:cNvCxnSpPr/>
          <p:nvPr/>
        </p:nvCxnSpPr>
        <p:spPr>
          <a:xfrm>
            <a:off x="91821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5" name="TextBox 214"/>
          <p:cNvSpPr txBox="1"/>
          <p:nvPr/>
        </p:nvSpPr>
        <p:spPr>
          <a:xfrm>
            <a:off x="940117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6" name="TextBox 215"/>
          <p:cNvSpPr txBox="1"/>
          <p:nvPr/>
        </p:nvSpPr>
        <p:spPr>
          <a:xfrm>
            <a:off x="9591675" y="24860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Meat and Processed Meat</a:t>
            </a:r>
          </a:p>
        </p:txBody>
      </p:sp>
      <p:cxnSp>
        <p:nvCxnSpPr>
          <p:cNvPr id="217" name="Connector 216"/>
          <p:cNvCxnSpPr/>
          <p:nvPr/>
        </p:nvCxnSpPr>
        <p:spPr>
          <a:xfrm>
            <a:off x="91821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8" name="TextBox 217"/>
          <p:cNvSpPr txBox="1"/>
          <p:nvPr/>
        </p:nvSpPr>
        <p:spPr>
          <a:xfrm>
            <a:off x="940117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9" name="TextBox 218"/>
          <p:cNvSpPr txBox="1"/>
          <p:nvPr/>
        </p:nvSpPr>
        <p:spPr>
          <a:xfrm>
            <a:off x="9591675" y="26631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Poultry</a:t>
            </a:r>
          </a:p>
        </p:txBody>
      </p:sp>
      <p:cxnSp>
        <p:nvCxnSpPr>
          <p:cNvPr id="220" name="Connector 219"/>
          <p:cNvCxnSpPr/>
          <p:nvPr/>
        </p:nvCxnSpPr>
        <p:spPr>
          <a:xfrm>
            <a:off x="91821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1" name="TextBox 220"/>
          <p:cNvSpPr txBox="1"/>
          <p:nvPr/>
        </p:nvSpPr>
        <p:spPr>
          <a:xfrm>
            <a:off x="940117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2" name="TextBox 221"/>
          <p:cNvSpPr txBox="1"/>
          <p:nvPr/>
        </p:nvSpPr>
        <p:spPr>
          <a:xfrm>
            <a:off x="9591675" y="28403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Fish and Seafood</a:t>
            </a:r>
          </a:p>
        </p:txBody>
      </p:sp>
      <p:cxnSp>
        <p:nvCxnSpPr>
          <p:cNvPr id="223" name="Connector 222"/>
          <p:cNvCxnSpPr/>
          <p:nvPr/>
        </p:nvCxnSpPr>
        <p:spPr>
          <a:xfrm>
            <a:off x="91821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4" name="TextBox 223"/>
          <p:cNvSpPr txBox="1"/>
          <p:nvPr/>
        </p:nvSpPr>
        <p:spPr>
          <a:xfrm>
            <a:off x="940117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5" name="TextBox 224"/>
          <p:cNvSpPr txBox="1"/>
          <p:nvPr/>
        </p:nvSpPr>
        <p:spPr>
          <a:xfrm>
            <a:off x="9591675" y="30175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Dairy and Cheese</a:t>
            </a:r>
          </a:p>
        </p:txBody>
      </p:sp>
      <p:cxnSp>
        <p:nvCxnSpPr>
          <p:cNvPr id="226" name="Connector 225"/>
          <p:cNvCxnSpPr/>
          <p:nvPr/>
        </p:nvCxnSpPr>
        <p:spPr>
          <a:xfrm>
            <a:off x="91821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7" name="TextBox 226"/>
          <p:cNvSpPr txBox="1"/>
          <p:nvPr/>
        </p:nvSpPr>
        <p:spPr>
          <a:xfrm>
            <a:off x="940117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8" name="TextBox 227"/>
          <p:cNvSpPr txBox="1"/>
          <p:nvPr/>
        </p:nvSpPr>
        <p:spPr>
          <a:xfrm>
            <a:off x="9591675" y="31946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Ready Meals and Prepared Foods</a:t>
            </a:r>
          </a:p>
        </p:txBody>
      </p:sp>
      <p:cxnSp>
        <p:nvCxnSpPr>
          <p:cNvPr id="229" name="Connector 228"/>
          <p:cNvCxnSpPr/>
          <p:nvPr/>
        </p:nvCxnSpPr>
        <p:spPr>
          <a:xfrm>
            <a:off x="91821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0" name="TextBox 229"/>
          <p:cNvSpPr txBox="1"/>
          <p:nvPr/>
        </p:nvSpPr>
        <p:spPr>
          <a:xfrm>
            <a:off x="940117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1" name="TextBox 230"/>
          <p:cNvSpPr txBox="1"/>
          <p:nvPr/>
        </p:nvSpPr>
        <p:spPr>
          <a:xfrm>
            <a:off x="9591675" y="33718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Bakery, Confectionery and Snacks</a:t>
            </a:r>
          </a:p>
        </p:txBody>
      </p:sp>
      <p:cxnSp>
        <p:nvCxnSpPr>
          <p:cNvPr id="232" name="Connector 231"/>
          <p:cNvCxnSpPr/>
          <p:nvPr/>
        </p:nvCxnSpPr>
        <p:spPr>
          <a:xfrm>
            <a:off x="9182100" y="35490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3" name="TextBox 232"/>
          <p:cNvSpPr txBox="1"/>
          <p:nvPr/>
        </p:nvSpPr>
        <p:spPr>
          <a:xfrm>
            <a:off x="940117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4" name="TextBox 233"/>
          <p:cNvSpPr txBox="1"/>
          <p:nvPr/>
        </p:nvSpPr>
        <p:spPr>
          <a:xfrm>
            <a:off x="9591675" y="35490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Dry Foods and Powders</a:t>
            </a:r>
          </a:p>
        </p:txBody>
      </p:sp>
      <p:cxnSp>
        <p:nvCxnSpPr>
          <p:cNvPr id="235" name="Connector 234"/>
          <p:cNvCxnSpPr/>
          <p:nvPr/>
        </p:nvCxnSpPr>
        <p:spPr>
          <a:xfrm>
            <a:off x="9182100" y="37261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6" name="TextBox 235"/>
          <p:cNvSpPr txBox="1"/>
          <p:nvPr/>
        </p:nvSpPr>
        <p:spPr>
          <a:xfrm>
            <a:off x="9401175" y="3726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7" name="TextBox 236"/>
          <p:cNvSpPr txBox="1"/>
          <p:nvPr/>
        </p:nvSpPr>
        <p:spPr>
          <a:xfrm>
            <a:off x="9591675" y="37261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Pet Food</a:t>
            </a:r>
          </a:p>
        </p:txBody>
      </p:sp>
      <p:cxnSp>
        <p:nvCxnSpPr>
          <p:cNvPr id="238" name="Connector 237"/>
          <p:cNvCxnSpPr/>
          <p:nvPr/>
        </p:nvCxnSpPr>
        <p:spPr>
          <a:xfrm>
            <a:off x="91821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9" name="TextBox 238"/>
          <p:cNvSpPr txBox="1"/>
          <p:nvPr/>
        </p:nvSpPr>
        <p:spPr>
          <a:xfrm>
            <a:off x="94011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0" name="TextBox 239"/>
          <p:cNvSpPr txBox="1"/>
          <p:nvPr/>
        </p:nvSpPr>
        <p:spPr>
          <a:xfrm>
            <a:off x="9591675" y="3903345"/>
            <a:ext cx="2419350" cy="531495"/>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Other Food Products (Fresh Produce, Plant-Based Foods, Condiments and Dressings, Foodservice Products)</a:t>
            </a:r>
          </a:p>
        </p:txBody>
      </p:sp>
      <p:cxnSp>
        <p:nvCxnSpPr>
          <p:cNvPr id="241" name="Connector 240"/>
          <p:cNvCxnSpPr/>
          <p:nvPr/>
        </p:nvCxnSpPr>
        <p:spPr>
          <a:xfrm>
            <a:off x="91821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2" name="TextBox 241"/>
          <p:cNvSpPr txBox="1"/>
          <p:nvPr/>
        </p:nvSpPr>
        <p:spPr>
          <a:xfrm>
            <a:off x="922972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3" name="TextBox 242"/>
          <p:cNvSpPr txBox="1"/>
          <p:nvPr/>
        </p:nvSpPr>
        <p:spPr>
          <a:xfrm>
            <a:off x="9420225" y="443484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Non-Food Packaging</a:t>
            </a:r>
          </a:p>
        </p:txBody>
      </p:sp>
      <p:cxnSp>
        <p:nvCxnSpPr>
          <p:cNvPr id="244" name="Connector 243"/>
          <p:cNvCxnSpPr/>
          <p:nvPr/>
        </p:nvCxnSpPr>
        <p:spPr>
          <a:xfrm>
            <a:off x="91821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5" name="TextBox 244"/>
          <p:cNvSpPr txBox="1"/>
          <p:nvPr/>
        </p:nvSpPr>
        <p:spPr>
          <a:xfrm>
            <a:off x="94011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6" name="TextBox 245"/>
          <p:cNvSpPr txBox="1"/>
          <p:nvPr/>
        </p:nvSpPr>
        <p:spPr>
          <a:xfrm>
            <a:off x="95916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Pharmaceutical and Healthcare</a:t>
            </a:r>
          </a:p>
        </p:txBody>
      </p:sp>
      <p:cxnSp>
        <p:nvCxnSpPr>
          <p:cNvPr id="247" name="Connector 246"/>
          <p:cNvCxnSpPr/>
          <p:nvPr/>
        </p:nvCxnSpPr>
        <p:spPr>
          <a:xfrm>
            <a:off x="91821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8" name="TextBox 247"/>
          <p:cNvSpPr txBox="1"/>
          <p:nvPr/>
        </p:nvSpPr>
        <p:spPr>
          <a:xfrm>
            <a:off x="940117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9" name="TextBox 248"/>
          <p:cNvSpPr txBox="1"/>
          <p:nvPr/>
        </p:nvSpPr>
        <p:spPr>
          <a:xfrm>
            <a:off x="9591675" y="47891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Personal Care and Cosmetics</a:t>
            </a:r>
          </a:p>
        </p:txBody>
      </p:sp>
      <p:cxnSp>
        <p:nvCxnSpPr>
          <p:cNvPr id="250" name="Connector 249"/>
          <p:cNvCxnSpPr/>
          <p:nvPr/>
        </p:nvCxnSpPr>
        <p:spPr>
          <a:xfrm>
            <a:off x="91821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1" name="TextBox 250"/>
          <p:cNvSpPr txBox="1"/>
          <p:nvPr/>
        </p:nvSpPr>
        <p:spPr>
          <a:xfrm>
            <a:off x="94011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2" name="TextBox 251"/>
          <p:cNvSpPr txBox="1"/>
          <p:nvPr/>
        </p:nvSpPr>
        <p:spPr>
          <a:xfrm>
            <a:off x="95916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Household Care</a:t>
            </a:r>
          </a:p>
        </p:txBody>
      </p:sp>
      <p:cxnSp>
        <p:nvCxnSpPr>
          <p:cNvPr id="253" name="Connector 252"/>
          <p:cNvCxnSpPr/>
          <p:nvPr/>
        </p:nvCxnSpPr>
        <p:spPr>
          <a:xfrm>
            <a:off x="9182100" y="5143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4" name="TextBox 253"/>
          <p:cNvSpPr txBox="1"/>
          <p:nvPr/>
        </p:nvSpPr>
        <p:spPr>
          <a:xfrm>
            <a:off x="9401175" y="5143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5" name="TextBox 254"/>
          <p:cNvSpPr txBox="1"/>
          <p:nvPr/>
        </p:nvSpPr>
        <p:spPr>
          <a:xfrm>
            <a:off x="9591675" y="51435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Chemicals and Agrochemicals</a:t>
            </a:r>
          </a:p>
        </p:txBody>
      </p:sp>
      <p:cxnSp>
        <p:nvCxnSpPr>
          <p:cNvPr id="256" name="Connector 255"/>
          <p:cNvCxnSpPr/>
          <p:nvPr/>
        </p:nvCxnSpPr>
        <p:spPr>
          <a:xfrm>
            <a:off x="9182100" y="53206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7" name="TextBox 256"/>
          <p:cNvSpPr txBox="1"/>
          <p:nvPr/>
        </p:nvSpPr>
        <p:spPr>
          <a:xfrm>
            <a:off x="9401175" y="53206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8" name="TextBox 257"/>
          <p:cNvSpPr txBox="1"/>
          <p:nvPr/>
        </p:nvSpPr>
        <p:spPr>
          <a:xfrm>
            <a:off x="9591675" y="53206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Electronics and Technical Products</a:t>
            </a:r>
          </a:p>
        </p:txBody>
      </p:sp>
      <p:sp>
        <p:nvSpPr>
          <p:cNvPr id="259" name="TextBox 2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Flexible Plastic Packaging Market profiled and benchmarked in the Competition Assessment section.</a:t>
            </a:r>
          </a:p>
        </p:txBody>
      </p:sp>
      <p:sp>
        <p:nvSpPr>
          <p:cNvPr id="11" name="Rectangle 10"/>
          <p:cNvSpPr/>
          <p:nvPr/>
        </p:nvSpPr>
        <p:spPr>
          <a:xfrm>
            <a:off x="142875"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A</a:t>
            </a:r>
          </a:p>
        </p:txBody>
      </p:sp>
      <p:sp>
        <p:nvSpPr>
          <p:cNvPr id="16" name="Rectangle 15"/>
          <p:cNvSpPr/>
          <p:nvPr/>
        </p:nvSpPr>
        <p:spPr>
          <a:xfrm>
            <a:off x="152400"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B</a:t>
            </a:r>
          </a:p>
        </p:txBody>
      </p:sp>
      <p:cxnSp>
        <p:nvCxnSpPr>
          <p:cNvPr id="20" name="Connector 19"/>
          <p:cNvCxnSpPr/>
          <p:nvPr/>
        </p:nvCxnSpPr>
        <p:spPr>
          <a:xfrm>
            <a:off x="152400"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C</a:t>
            </a:r>
          </a:p>
        </p:txBody>
      </p:sp>
      <p:sp>
        <p:nvSpPr>
          <p:cNvPr id="23" name="Rectangle 22"/>
          <p:cNvSpPr/>
          <p:nvPr/>
        </p:nvSpPr>
        <p:spPr>
          <a:xfrm>
            <a:off x="152400"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D</a:t>
            </a:r>
          </a:p>
        </p:txBody>
      </p:sp>
      <p:sp>
        <p:nvSpPr>
          <p:cNvPr id="27" name="Rectangle 26"/>
          <p:cNvSpPr/>
          <p:nvPr/>
        </p:nvSpPr>
        <p:spPr>
          <a:xfrm>
            <a:off x="6191250"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191250"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191250"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30" name="TextBox 29"/>
          <p:cNvSpPr txBox="1"/>
          <p:nvPr/>
        </p:nvSpPr>
        <p:spPr>
          <a:xfrm>
            <a:off x="6381750"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1" name="TextBox 30"/>
          <p:cNvSpPr txBox="1"/>
          <p:nvPr/>
        </p:nvSpPr>
        <p:spPr>
          <a:xfrm>
            <a:off x="6629400"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E</a:t>
            </a:r>
          </a:p>
        </p:txBody>
      </p:sp>
      <p:sp>
        <p:nvSpPr>
          <p:cNvPr id="32" name="Rectangle 31"/>
          <p:cNvSpPr/>
          <p:nvPr/>
        </p:nvSpPr>
        <p:spPr>
          <a:xfrm>
            <a:off x="6200775"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3" name="Connector 32"/>
          <p:cNvCxnSpPr/>
          <p:nvPr/>
        </p:nvCxnSpPr>
        <p:spPr>
          <a:xfrm>
            <a:off x="6200775"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6381750"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5" name="TextBox 34"/>
          <p:cNvSpPr txBox="1"/>
          <p:nvPr/>
        </p:nvSpPr>
        <p:spPr>
          <a:xfrm>
            <a:off x="6629400"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F</a:t>
            </a:r>
          </a:p>
        </p:txBody>
      </p:sp>
      <p:cxnSp>
        <p:nvCxnSpPr>
          <p:cNvPr id="36" name="Connector 35"/>
          <p:cNvCxnSpPr/>
          <p:nvPr/>
        </p:nvCxnSpPr>
        <p:spPr>
          <a:xfrm>
            <a:off x="6200775"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6381750"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8" name="TextBox 37"/>
          <p:cNvSpPr txBox="1"/>
          <p:nvPr/>
        </p:nvSpPr>
        <p:spPr>
          <a:xfrm>
            <a:off x="6629400"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G</a:t>
            </a:r>
          </a:p>
        </p:txBody>
      </p:sp>
      <p:sp>
        <p:nvSpPr>
          <p:cNvPr id="39" name="Rectangle 38"/>
          <p:cNvSpPr/>
          <p:nvPr/>
        </p:nvSpPr>
        <p:spPr>
          <a:xfrm>
            <a:off x="6200775"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0" name="Connector 39"/>
          <p:cNvCxnSpPr/>
          <p:nvPr/>
        </p:nvCxnSpPr>
        <p:spPr>
          <a:xfrm>
            <a:off x="6200775"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6381750"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2" name="TextBox 41"/>
          <p:cNvSpPr txBox="1"/>
          <p:nvPr/>
        </p:nvSpPr>
        <p:spPr>
          <a:xfrm>
            <a:off x="6629400"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H</a:t>
            </a:r>
          </a:p>
        </p:txBody>
      </p:sp>
      <p:sp>
        <p:nvSpPr>
          <p:cNvPr id="43" name="TextBox 42"/>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94500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2249805"/>
            <a:ext cx="7239000" cy="971550"/>
          </a:xfrm>
          <a:prstGeom prst="rect">
            <a:avLst/>
          </a:prstGeom>
          <a:noFill/>
        </p:spPr>
        <p:txBody>
          <a:bodyPr wrap="square" lIns="0" rIns="0" tIns="0">
            <a:spAutoFit/>
          </a:bodyPr>
          <a:lstStyle/>
          <a:p>
            <a:r>
              <a:rPr sz="3000" b="1" cap="all" spc="400">
                <a:solidFill>
                  <a:srgbClr val="FFFFFF"/>
                </a:solidFill>
                <a:latin typeface="Calibri"/>
              </a:rPr>
              <a:t>South Asia &amp; Pacific Market Outlook</a:t>
            </a:r>
          </a:p>
        </p:txBody>
      </p:sp>
      <p:sp>
        <p:nvSpPr>
          <p:cNvPr id="7" name="TextBox 6"/>
          <p:cNvSpPr txBox="1"/>
          <p:nvPr/>
        </p:nvSpPr>
        <p:spPr>
          <a:xfrm>
            <a:off x="914400" y="3411855"/>
            <a:ext cx="7124700" cy="29298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South Asia &amp; Pacific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South Asia &amp; Pacific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South Asia &amp; Pacific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Principal Material / Barrier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Material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Barrier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Application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Barrier Level Vs Application</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South Asia &amp; Pacific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Summary, By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South Asia &amp; Pacific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(THOUSAND MT)</a:t>
            </a:r>
          </a:p>
          <a:p>
            <a:pPr algn="ctr">
              <a:lnSpc>
                <a:spcPct val="95000"/>
              </a:lnSpc>
            </a:pPr>
            <a:r>
              <a:rPr sz="1500" b="1">
                <a:solidFill>
                  <a:srgbClr val="0E72AE"/>
                </a:solidFill>
                <a:latin typeface="Calibri"/>
              </a:rPr>
              <a:t>5,512</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10,389</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5.4%</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6.5%</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(Thousand MT)</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South Asia &amp; Pacific flexible plastic packaging market is projected to register 2.0X increase in volume by the end of forecast period, 2036. South Asia &amp; Pacific flexible plastic packaging market volume stood at 5,209 Thousand MT in 2025 and is expected to reach 10,389 Thousand MT by 2036 end, at a CAGR of 6.5%.</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'Philippines' leads regional growth at 7.9%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'Rollstock Films' within Product Type.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(US$/MT)</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2,061</a:t>
            </a:r>
          </a:p>
        </p:txBody>
      </p:sp>
      <p:sp>
        <p:nvSpPr>
          <p:cNvPr id="25" name="FMI Scale tick"/>
          <p:cNvSpPr txBox="1"/>
          <p:nvPr/>
        </p:nvSpPr>
        <p:spPr>
          <a:xfrm>
            <a:off x="219075" y="2328265"/>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3,436</a:t>
            </a:r>
          </a:p>
        </p:txBody>
      </p:sp>
      <p:sp>
        <p:nvSpPr>
          <p:cNvPr id="26" name="FMI Scale tick"/>
          <p:cNvSpPr txBox="1"/>
          <p:nvPr/>
        </p:nvSpPr>
        <p:spPr>
          <a:xfrm>
            <a:off x="219075" y="138627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4,811</a:t>
            </a:r>
          </a:p>
        </p:txBody>
      </p:sp>
      <p:cxnSp>
        <p:nvCxnSpPr>
          <p:cNvPr id="27" name="Connector 26"/>
          <p:cNvCxnSpPr/>
          <p:nvPr/>
        </p:nvCxnSpPr>
        <p:spPr>
          <a:xfrm flipV="1">
            <a:off x="1533525" y="2593955"/>
            <a:ext cx="0" cy="26913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402080" y="286309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402080" y="259395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314450" y="2704750"/>
            <a:ext cx="438150" cy="139495"/>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314450" y="2787825"/>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441555"/>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2,862</a:t>
            </a:r>
          </a:p>
        </p:txBody>
      </p:sp>
      <p:cxnSp>
        <p:nvCxnSpPr>
          <p:cNvPr id="33" name="Connector 32"/>
          <p:cNvCxnSpPr/>
          <p:nvPr/>
        </p:nvCxnSpPr>
        <p:spPr>
          <a:xfrm flipV="1">
            <a:off x="3286125" y="1670329"/>
            <a:ext cx="0" cy="37992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3154680" y="205025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31546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067050" y="1809406"/>
            <a:ext cx="438150" cy="197054"/>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067050" y="191822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409825" y="15179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4,132</a:t>
            </a:r>
          </a:p>
        </p:txBody>
      </p:sp>
      <p:cxnSp>
        <p:nvCxnSpPr>
          <p:cNvPr id="39" name="Connector 38"/>
          <p:cNvCxnSpPr/>
          <p:nvPr/>
        </p:nvCxnSpPr>
        <p:spPr>
          <a:xfrm flipV="1">
            <a:off x="5038725" y="2754554"/>
            <a:ext cx="0" cy="248841"/>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4907280" y="300339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4907280" y="275455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4819650" y="2856280"/>
            <a:ext cx="438150" cy="12965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4819650" y="293300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4162425" y="2602154"/>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2,651</a:t>
            </a:r>
          </a:p>
        </p:txBody>
      </p:sp>
      <p:cxnSp>
        <p:nvCxnSpPr>
          <p:cNvPr id="45" name="Connector 44"/>
          <p:cNvCxnSpPr/>
          <p:nvPr/>
        </p:nvCxnSpPr>
        <p:spPr>
          <a:xfrm flipV="1">
            <a:off x="6791325" y="2877143"/>
            <a:ext cx="0" cy="24240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6598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659880" y="287714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6572250" y="2973838"/>
            <a:ext cx="438150" cy="126997"/>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6572250" y="3048270"/>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5915025" y="2724743"/>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2,482</a:t>
            </a:r>
          </a:p>
        </p:txBody>
      </p:sp>
      <p:sp>
        <p:nvSpPr>
          <p:cNvPr id="51" name="TextBox 50"/>
          <p:cNvSpPr txBox="1"/>
          <p:nvPr/>
        </p:nvSpPr>
        <p:spPr>
          <a:xfrm>
            <a:off x="6572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Rollstock Films</a:t>
            </a:r>
          </a:p>
        </p:txBody>
      </p:sp>
      <p:sp>
        <p:nvSpPr>
          <p:cNvPr id="52" name="TextBox 51"/>
          <p:cNvSpPr txBox="1"/>
          <p:nvPr/>
        </p:nvSpPr>
        <p:spPr>
          <a:xfrm>
            <a:off x="24098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Barrier Casings</a:t>
            </a:r>
          </a:p>
        </p:txBody>
      </p:sp>
      <p:sp>
        <p:nvSpPr>
          <p:cNvPr id="53" name="TextBox 52"/>
          <p:cNvSpPr txBox="1"/>
          <p:nvPr/>
        </p:nvSpPr>
        <p:spPr>
          <a:xfrm>
            <a:off x="41624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Premade Pouches &amp; Bags</a:t>
            </a:r>
          </a:p>
        </p:txBody>
      </p:sp>
      <p:sp>
        <p:nvSpPr>
          <p:cNvPr id="54" name="TextBox 53"/>
          <p:cNvSpPr txBox="1"/>
          <p:nvPr/>
        </p:nvSpPr>
        <p:spPr>
          <a:xfrm>
            <a:off x="59150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Sachets &amp; Stick Packs</a:t>
            </a:r>
          </a:p>
        </p:txBody>
      </p:sp>
      <p:sp>
        <p:nvSpPr>
          <p:cNvPr id="55" name="Rounded Rectangle 54"/>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South Asia &amp; Pacific  ·  2026–2036</a:t>
            </a:r>
          </a:p>
        </p:txBody>
      </p:sp>
      <p:cxnSp>
        <p:nvCxnSpPr>
          <p:cNvPr id="57" name="Connector 56"/>
          <p:cNvCxnSpPr/>
          <p:nvPr/>
        </p:nvCxnSpPr>
        <p:spPr>
          <a:xfrm>
            <a:off x="619125" y="431803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619125" y="472890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619125" y="555064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619125" y="596152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619125" y="4318031"/>
            <a:ext cx="0" cy="16434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590550" y="431803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590550" y="472890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6" name="Connector 65"/>
          <p:cNvCxnSpPr/>
          <p:nvPr/>
        </p:nvCxnSpPr>
        <p:spPr>
          <a:xfrm>
            <a:off x="590550" y="555064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a:off x="590550" y="596152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8" name="FMI Scale tick"/>
          <p:cNvSpPr txBox="1"/>
          <p:nvPr/>
        </p:nvSpPr>
        <p:spPr>
          <a:xfrm>
            <a:off x="219075" y="4251356"/>
            <a:ext cx="361950" cy="133350"/>
          </a:xfrm>
          <a:prstGeom prst="rect">
            <a:avLst/>
          </a:prstGeom>
          <a:noFill/>
        </p:spPr>
        <p:txBody>
          <a:bodyPr wrap="none" lIns="0" rIns="0" tIns="0" bIns="0" anchor="ctr">
            <a:spAutoFit/>
          </a:bodyPr>
          <a:lstStyle/>
          <a:p>
            <a:pPr algn="r"/>
            <a:r>
              <a:rPr sz="1100" b="0">
                <a:solidFill>
                  <a:srgbClr val="6C7A89"/>
                </a:solidFill>
                <a:latin typeface="Calibri"/>
              </a:rPr>
              <a:t>+34%</a:t>
            </a:r>
          </a:p>
        </p:txBody>
      </p:sp>
      <p:sp>
        <p:nvSpPr>
          <p:cNvPr id="69" name="FMI Scale tick"/>
          <p:cNvSpPr txBox="1"/>
          <p:nvPr/>
        </p:nvSpPr>
        <p:spPr>
          <a:xfrm>
            <a:off x="219075" y="4662228"/>
            <a:ext cx="361950" cy="133350"/>
          </a:xfrm>
          <a:prstGeom prst="rect">
            <a:avLst/>
          </a:prstGeom>
          <a:noFill/>
        </p:spPr>
        <p:txBody>
          <a:bodyPr wrap="none" lIns="0" rIns="0" tIns="0" bIns="0" anchor="ctr">
            <a:spAutoFit/>
          </a:bodyPr>
          <a:lstStyle/>
          <a:p>
            <a:pPr algn="r"/>
            <a:r>
              <a:rPr sz="1100" b="0">
                <a:solidFill>
                  <a:srgbClr val="6C7A89"/>
                </a:solidFill>
                <a:latin typeface="Calibri"/>
              </a:rPr>
              <a:t>+17%</a:t>
            </a:r>
          </a:p>
        </p:txBody>
      </p:sp>
      <p:sp>
        <p:nvSpPr>
          <p:cNvPr id="70" name="FMI Scale tick"/>
          <p:cNvSpPr txBox="1"/>
          <p:nvPr/>
        </p:nvSpPr>
        <p:spPr>
          <a:xfrm>
            <a:off x="219075" y="507310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South Asia &amp; Pacific</a:t>
            </a:r>
          </a:p>
        </p:txBody>
      </p:sp>
      <p:sp>
        <p:nvSpPr>
          <p:cNvPr id="71" name="FMI Scale tick"/>
          <p:cNvSpPr txBox="1"/>
          <p:nvPr/>
        </p:nvSpPr>
        <p:spPr>
          <a:xfrm>
            <a:off x="219075" y="5483973"/>
            <a:ext cx="361950" cy="133350"/>
          </a:xfrm>
          <a:prstGeom prst="rect">
            <a:avLst/>
          </a:prstGeom>
          <a:noFill/>
        </p:spPr>
        <p:txBody>
          <a:bodyPr wrap="none" lIns="0" rIns="0" tIns="0" bIns="0" anchor="ctr">
            <a:spAutoFit/>
          </a:bodyPr>
          <a:lstStyle/>
          <a:p>
            <a:pPr algn="r"/>
            <a:r>
              <a:rPr sz="1100" b="0">
                <a:solidFill>
                  <a:srgbClr val="6C7A89"/>
                </a:solidFill>
                <a:latin typeface="Calibri"/>
              </a:rPr>
              <a:t>-17%</a:t>
            </a:r>
          </a:p>
        </p:txBody>
      </p:sp>
      <p:sp>
        <p:nvSpPr>
          <p:cNvPr id="72" name="FMI Scale tick"/>
          <p:cNvSpPr txBox="1"/>
          <p:nvPr/>
        </p:nvSpPr>
        <p:spPr>
          <a:xfrm>
            <a:off x="219075" y="5894846"/>
            <a:ext cx="361950" cy="133350"/>
          </a:xfrm>
          <a:prstGeom prst="rect">
            <a:avLst/>
          </a:prstGeom>
          <a:noFill/>
        </p:spPr>
        <p:txBody>
          <a:bodyPr wrap="none" lIns="0" rIns="0" tIns="0" bIns="0" anchor="ctr">
            <a:spAutoFit/>
          </a:bodyPr>
          <a:lstStyle/>
          <a:p>
            <a:pPr algn="r"/>
            <a:r>
              <a:rPr sz="1100" b="0">
                <a:solidFill>
                  <a:srgbClr val="6C7A89"/>
                </a:solidFill>
                <a:latin typeface="Calibri"/>
              </a:rPr>
              <a:t>-34%</a:t>
            </a:r>
          </a:p>
        </p:txBody>
      </p:sp>
      <p:cxnSp>
        <p:nvCxnSpPr>
          <p:cNvPr id="73" name="Connector 72"/>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782108" y="5139776"/>
            <a:ext cx="457200" cy="230640"/>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MI Data Label"/>
          <p:cNvSpPr txBox="1"/>
          <p:nvPr/>
        </p:nvSpPr>
        <p:spPr>
          <a:xfrm>
            <a:off x="619125" y="5379941"/>
            <a:ext cx="783167" cy="133350"/>
          </a:xfrm>
          <a:prstGeom prst="rect">
            <a:avLst/>
          </a:prstGeom>
          <a:noFill/>
        </p:spPr>
        <p:txBody>
          <a:bodyPr wrap="square" lIns="28575" rIns="28575" tIns="9525" bIns="9525">
            <a:spAutoFit/>
          </a:bodyPr>
          <a:lstStyle/>
          <a:p>
            <a:pPr algn="ctr"/>
            <a:r>
              <a:rPr sz="1100" b="1">
                <a:solidFill>
                  <a:srgbClr val="2E2E2E"/>
                </a:solidFill>
                <a:latin typeface="Calibri"/>
              </a:rPr>
              <a:t>-9.5%</a:t>
            </a:r>
          </a:p>
        </p:txBody>
      </p:sp>
      <p:sp>
        <p:nvSpPr>
          <p:cNvPr id="76" name="Rectangle 75"/>
          <p:cNvSpPr/>
          <p:nvPr/>
        </p:nvSpPr>
        <p:spPr>
          <a:xfrm>
            <a:off x="1565275" y="5139776"/>
            <a:ext cx="457200" cy="90939"/>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MI Data Label"/>
          <p:cNvSpPr txBox="1"/>
          <p:nvPr/>
        </p:nvSpPr>
        <p:spPr>
          <a:xfrm>
            <a:off x="1402292" y="5240240"/>
            <a:ext cx="783167" cy="133350"/>
          </a:xfrm>
          <a:prstGeom prst="rect">
            <a:avLst/>
          </a:prstGeom>
          <a:noFill/>
        </p:spPr>
        <p:txBody>
          <a:bodyPr wrap="square" lIns="28575" rIns="28575" tIns="9525" bIns="9525">
            <a:spAutoFit/>
          </a:bodyPr>
          <a:lstStyle/>
          <a:p>
            <a:pPr algn="ctr"/>
            <a:r>
              <a:rPr sz="1100" b="1">
                <a:solidFill>
                  <a:srgbClr val="2E2E2E"/>
                </a:solidFill>
                <a:latin typeface="Calibri"/>
              </a:rPr>
              <a:t>-3.7%</a:t>
            </a:r>
          </a:p>
        </p:txBody>
      </p:sp>
      <p:sp>
        <p:nvSpPr>
          <p:cNvPr id="78" name="Rectangle 77"/>
          <p:cNvSpPr/>
          <p:nvPr/>
        </p:nvSpPr>
        <p:spPr>
          <a:xfrm>
            <a:off x="2348442" y="5139776"/>
            <a:ext cx="457200" cy="42124"/>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MI Data Label"/>
          <p:cNvSpPr txBox="1"/>
          <p:nvPr/>
        </p:nvSpPr>
        <p:spPr>
          <a:xfrm>
            <a:off x="2185458" y="5191424"/>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-1.7%</a:t>
            </a:r>
          </a:p>
        </p:txBody>
      </p:sp>
      <p:sp>
        <p:nvSpPr>
          <p:cNvPr id="80" name="Rectangle 79"/>
          <p:cNvSpPr/>
          <p:nvPr/>
        </p:nvSpPr>
        <p:spPr>
          <a:xfrm>
            <a:off x="3131608" y="5139776"/>
            <a:ext cx="457200" cy="154237"/>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FMI Data Label"/>
          <p:cNvSpPr txBox="1"/>
          <p:nvPr/>
        </p:nvSpPr>
        <p:spPr>
          <a:xfrm>
            <a:off x="2968625" y="5303538"/>
            <a:ext cx="783167" cy="133350"/>
          </a:xfrm>
          <a:prstGeom prst="rect">
            <a:avLst/>
          </a:prstGeom>
          <a:noFill/>
        </p:spPr>
        <p:txBody>
          <a:bodyPr wrap="square" lIns="28575" rIns="28575" tIns="9525" bIns="9525">
            <a:spAutoFit/>
          </a:bodyPr>
          <a:lstStyle/>
          <a:p>
            <a:pPr algn="ctr"/>
            <a:r>
              <a:rPr sz="1100" b="1">
                <a:solidFill>
                  <a:srgbClr val="2E2E2E"/>
                </a:solidFill>
                <a:latin typeface="Calibri"/>
              </a:rPr>
              <a:t>-6.3%</a:t>
            </a:r>
          </a:p>
        </p:txBody>
      </p:sp>
      <p:sp>
        <p:nvSpPr>
          <p:cNvPr id="82" name="Rectangle 81"/>
          <p:cNvSpPr/>
          <p:nvPr/>
        </p:nvSpPr>
        <p:spPr>
          <a:xfrm>
            <a:off x="3914775" y="4625018"/>
            <a:ext cx="457200" cy="51475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FMI Data Label"/>
          <p:cNvSpPr txBox="1"/>
          <p:nvPr/>
        </p:nvSpPr>
        <p:spPr>
          <a:xfrm>
            <a:off x="3751792" y="4482143"/>
            <a:ext cx="783167" cy="133350"/>
          </a:xfrm>
          <a:prstGeom prst="rect">
            <a:avLst/>
          </a:prstGeom>
          <a:noFill/>
        </p:spPr>
        <p:txBody>
          <a:bodyPr wrap="square" lIns="28575" rIns="28575" tIns="9525" bIns="9525">
            <a:spAutoFit/>
          </a:bodyPr>
          <a:lstStyle/>
          <a:p>
            <a:pPr algn="ctr"/>
            <a:r>
              <a:rPr sz="1100" b="1">
                <a:solidFill>
                  <a:srgbClr val="2E2E2E"/>
                </a:solidFill>
                <a:latin typeface="Calibri"/>
              </a:rPr>
              <a:t>+21.1%</a:t>
            </a:r>
          </a:p>
        </p:txBody>
      </p:sp>
      <p:sp>
        <p:nvSpPr>
          <p:cNvPr id="84" name="FMI Data Label"/>
          <p:cNvSpPr txBox="1"/>
          <p:nvPr/>
        </p:nvSpPr>
        <p:spPr>
          <a:xfrm>
            <a:off x="4534958" y="5151329"/>
            <a:ext cx="783167" cy="133350"/>
          </a:xfrm>
          <a:prstGeom prst="rect">
            <a:avLst/>
          </a:prstGeom>
          <a:noFill/>
        </p:spPr>
        <p:txBody>
          <a:bodyPr wrap="square" lIns="28575" rIns="28575" tIns="9525" bIns="9525">
            <a:spAutoFit/>
          </a:bodyPr>
          <a:lstStyle/>
          <a:p>
            <a:pPr algn="ctr"/>
            <a:r>
              <a:rPr sz="1100" b="1">
                <a:solidFill>
                  <a:srgbClr val="2E2E2E"/>
                </a:solidFill>
                <a:latin typeface="Calibri"/>
              </a:rPr>
              <a:t>-0.1%</a:t>
            </a:r>
          </a:p>
        </p:txBody>
      </p:sp>
      <p:sp>
        <p:nvSpPr>
          <p:cNvPr id="85" name="Rectangle 84"/>
          <p:cNvSpPr/>
          <p:nvPr/>
        </p:nvSpPr>
        <p:spPr>
          <a:xfrm>
            <a:off x="5481108" y="4423458"/>
            <a:ext cx="457200" cy="71631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FMI Data Label"/>
          <p:cNvSpPr txBox="1"/>
          <p:nvPr/>
        </p:nvSpPr>
        <p:spPr>
          <a:xfrm>
            <a:off x="5318125" y="4280583"/>
            <a:ext cx="783167" cy="133350"/>
          </a:xfrm>
          <a:prstGeom prst="rect">
            <a:avLst/>
          </a:prstGeom>
          <a:noFill/>
        </p:spPr>
        <p:txBody>
          <a:bodyPr wrap="square" lIns="28575" rIns="28575" tIns="9525" bIns="9525">
            <a:spAutoFit/>
          </a:bodyPr>
          <a:lstStyle/>
          <a:p>
            <a:pPr algn="ctr"/>
            <a:r>
              <a:rPr sz="1100" b="1">
                <a:solidFill>
                  <a:srgbClr val="2E2E2E"/>
                </a:solidFill>
                <a:latin typeface="Calibri"/>
              </a:rPr>
              <a:t>+29.4%</a:t>
            </a:r>
          </a:p>
        </p:txBody>
      </p:sp>
      <p:sp>
        <p:nvSpPr>
          <p:cNvPr id="87" name="Rectangle 86"/>
          <p:cNvSpPr/>
          <p:nvPr/>
        </p:nvSpPr>
        <p:spPr>
          <a:xfrm>
            <a:off x="6264275" y="4432143"/>
            <a:ext cx="457200" cy="70763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FMI Data Label"/>
          <p:cNvSpPr txBox="1"/>
          <p:nvPr/>
        </p:nvSpPr>
        <p:spPr>
          <a:xfrm>
            <a:off x="6101292" y="4289268"/>
            <a:ext cx="783167" cy="133350"/>
          </a:xfrm>
          <a:prstGeom prst="rect">
            <a:avLst/>
          </a:prstGeom>
          <a:noFill/>
        </p:spPr>
        <p:txBody>
          <a:bodyPr wrap="square" lIns="28575" rIns="28575" tIns="9525" bIns="9525">
            <a:spAutoFit/>
          </a:bodyPr>
          <a:lstStyle/>
          <a:p>
            <a:pPr algn="ctr"/>
            <a:r>
              <a:rPr sz="1100" b="1">
                <a:solidFill>
                  <a:srgbClr val="2E2E2E"/>
                </a:solidFill>
                <a:latin typeface="Calibri"/>
              </a:rPr>
              <a:t>+29.0%</a:t>
            </a:r>
          </a:p>
        </p:txBody>
      </p:sp>
      <p:sp>
        <p:nvSpPr>
          <p:cNvPr id="89" name="Rectangle 88"/>
          <p:cNvSpPr/>
          <p:nvPr/>
        </p:nvSpPr>
        <p:spPr>
          <a:xfrm>
            <a:off x="7047442" y="5139776"/>
            <a:ext cx="457200" cy="76399"/>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FMI Data Label"/>
          <p:cNvSpPr txBox="1"/>
          <p:nvPr/>
        </p:nvSpPr>
        <p:spPr>
          <a:xfrm>
            <a:off x="6884458" y="5225700"/>
            <a:ext cx="783167" cy="133350"/>
          </a:xfrm>
          <a:prstGeom prst="rect">
            <a:avLst/>
          </a:prstGeom>
          <a:noFill/>
        </p:spPr>
        <p:txBody>
          <a:bodyPr wrap="square" lIns="28575" rIns="28575" tIns="9525" bIns="9525">
            <a:spAutoFit/>
          </a:bodyPr>
          <a:lstStyle/>
          <a:p>
            <a:pPr algn="ctr"/>
            <a:r>
              <a:rPr sz="1100" b="1">
                <a:solidFill>
                  <a:srgbClr val="2E2E2E"/>
                </a:solidFill>
                <a:latin typeface="Calibri"/>
              </a:rPr>
              <a:t>-3.1%</a:t>
            </a:r>
          </a:p>
        </p:txBody>
      </p:sp>
      <p:sp>
        <p:nvSpPr>
          <p:cNvPr id="91" name="TextBox 90"/>
          <p:cNvSpPr txBox="1"/>
          <p:nvPr/>
        </p:nvSpPr>
        <p:spPr>
          <a:xfrm>
            <a:off x="619125"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India</a:t>
            </a:r>
          </a:p>
        </p:txBody>
      </p:sp>
      <p:sp>
        <p:nvSpPr>
          <p:cNvPr id="92" name="TextBox 91"/>
          <p:cNvSpPr txBox="1"/>
          <p:nvPr/>
        </p:nvSpPr>
        <p:spPr>
          <a:xfrm>
            <a:off x="1402292"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Thailand</a:t>
            </a:r>
          </a:p>
        </p:txBody>
      </p:sp>
      <p:sp>
        <p:nvSpPr>
          <p:cNvPr id="93" name="TextBox 92"/>
          <p:cNvSpPr txBox="1"/>
          <p:nvPr/>
        </p:nvSpPr>
        <p:spPr>
          <a:xfrm>
            <a:off x="2185458"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Malaysia</a:t>
            </a:r>
          </a:p>
        </p:txBody>
      </p:sp>
      <p:sp>
        <p:nvSpPr>
          <p:cNvPr id="94" name="TextBox 93"/>
          <p:cNvSpPr txBox="1"/>
          <p:nvPr/>
        </p:nvSpPr>
        <p:spPr>
          <a:xfrm>
            <a:off x="2968625"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Indonesia</a:t>
            </a:r>
          </a:p>
        </p:txBody>
      </p:sp>
      <p:sp>
        <p:nvSpPr>
          <p:cNvPr id="95" name="TextBox 94"/>
          <p:cNvSpPr txBox="1"/>
          <p:nvPr/>
        </p:nvSpPr>
        <p:spPr>
          <a:xfrm>
            <a:off x="3751792"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Singapore</a:t>
            </a:r>
          </a:p>
        </p:txBody>
      </p:sp>
      <p:sp>
        <p:nvSpPr>
          <p:cNvPr id="96" name="TextBox 95"/>
          <p:cNvSpPr txBox="1"/>
          <p:nvPr/>
        </p:nvSpPr>
        <p:spPr>
          <a:xfrm>
            <a:off x="4534958"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Philippines</a:t>
            </a:r>
          </a:p>
        </p:txBody>
      </p:sp>
      <p:sp>
        <p:nvSpPr>
          <p:cNvPr id="97" name="TextBox 96"/>
          <p:cNvSpPr txBox="1"/>
          <p:nvPr/>
        </p:nvSpPr>
        <p:spPr>
          <a:xfrm>
            <a:off x="5318125"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Australia</a:t>
            </a:r>
          </a:p>
        </p:txBody>
      </p:sp>
      <p:sp>
        <p:nvSpPr>
          <p:cNvPr id="98" name="TextBox 97"/>
          <p:cNvSpPr txBox="1"/>
          <p:nvPr/>
        </p:nvSpPr>
        <p:spPr>
          <a:xfrm>
            <a:off x="6101292"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New Zealand</a:t>
            </a:r>
          </a:p>
        </p:txBody>
      </p:sp>
      <p:sp>
        <p:nvSpPr>
          <p:cNvPr id="99" name="TextBox 98"/>
          <p:cNvSpPr txBox="1"/>
          <p:nvPr/>
        </p:nvSpPr>
        <p:spPr>
          <a:xfrm>
            <a:off x="6884458"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Rest of South Asia</a:t>
            </a:r>
          </a:p>
        </p:txBody>
      </p:sp>
      <p:sp>
        <p:nvSpPr>
          <p:cNvPr id="100" name="Rounded Rectangle 99"/>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02" name="Rectangle 101"/>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Barrier casings segment is expected to command the highest average price of US$ 4,494 per MT in 2036. Average selling price of flexible plastic packaging is estimated at US$ 2,785 per MT in 2025 and is projected to increase to US$ 3,146 per MT by 2036. Australia is the highest-priced country, while India is the most price-competitive market.</a:t>
            </a:r>
          </a:p>
          <a:p>
            <a:pPr algn="l">
              <a:lnSpc>
                <a:spcPct val="110000"/>
              </a:lnSpc>
              <a:spcBef>
                <a:spcPts val="0"/>
              </a:spcBef>
              <a:spcAft>
                <a:spcPts val="500"/>
              </a:spcAft>
            </a:pPr>
            <a:r>
              <a:rPr sz="1150" b="0">
                <a:solidFill>
                  <a:srgbClr val="2E2E2E"/>
                </a:solidFill>
                <a:latin typeface="Calibri"/>
              </a:rPr>
              <a:t>Against the South Asia &amp; Pacific price of 2,978 US$/MT, 3 of 9 countries price above and 6 below. 'Australia' is the dearest at +29.4% versus South Asia &amp; Pacific, 'India' the cheapest at -9.5% pointing to premiumisation headroom in the lower-priced countries.</a:t>
            </a:r>
          </a:p>
          <a:p>
            <a:pPr algn="l">
              <a:lnSpc>
                <a:spcPct val="110000"/>
              </a:lnSpc>
              <a:spcBef>
                <a:spcPts val="0"/>
              </a:spcBef>
              <a:spcAft>
                <a:spcPts val="500"/>
              </a:spcAft>
            </a:pPr>
            <a:r>
              <a:rPr sz="1150" b="0">
                <a:solidFill>
                  <a:srgbClr val="2E2E2E"/>
                </a:solidFill>
                <a:latin typeface="Calibri"/>
              </a:rPr>
              <a:t>South Asia &amp; Pacific's average price rises from US$2,805 to US$3,146 per MT, as value grows at 7.8% against 6.5% for volume. The gap reflects a mix shift toward pouches, higher-barrier and recyclable films as modern retail, e-commerce and branded food expand in India, Indonesia and the Philippines. Large local converting capacity and cost-sensitive buyers keep absolute prices below mature markets.</a:t>
            </a:r>
          </a:p>
        </p:txBody>
      </p:sp>
      <p:sp>
        <p:nvSpPr>
          <p:cNvPr id="104" name="TextBox 1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South Asia &amp; Pacific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15,462</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32,687</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5.7%</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7.8%</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3141719"/>
          </a:xfrm>
          <a:prstGeom prst="roundRect">
            <a:avLst>
              <a:gd name="adj" fmla="val 24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655944"/>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Flexible plastic packaging market value in South Asia &amp; Pacific is expected to increase 2.3X between 2025 and 2036. In 2025, the flexible plastic packaging market in South Asia &amp; Pacific was valued at US$ 14,508 Mn and is estimated to account for US$ 15,462 Mn by the end of 2026, reflecting a Y-o-Y growth rate of 6.6%.</a:t>
            </a:r>
          </a:p>
          <a:p>
            <a:pPr algn="l">
              <a:lnSpc>
                <a:spcPct val="100000"/>
              </a:lnSpc>
              <a:spcBef>
                <a:spcPts val="0"/>
              </a:spcBef>
              <a:spcAft>
                <a:spcPts val="300"/>
              </a:spcAft>
            </a:pPr>
            <a:r>
              <a:rPr sz="1100" b="0">
                <a:solidFill>
                  <a:srgbClr val="2E2E2E"/>
                </a:solidFill>
                <a:latin typeface="Calibri"/>
              </a:rPr>
              <a:t>The market in South Asia &amp; Pacific is expected to account for US$ 32,687 Mn by 2036 at a CAGR of 7.8% over the forecast period. South Asia &amp; Pacific is expected to create an incremental opportunity of US$ 18,179 Mn for the overall flexible plastic packaging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US$ 954.1 Mn.</a:t>
            </a:r>
          </a:p>
        </p:txBody>
      </p:sp>
      <p:sp>
        <p:nvSpPr>
          <p:cNvPr id="25" name="Rounded Rectangle 24"/>
          <p:cNvSpPr/>
          <p:nvPr/>
        </p:nvSpPr>
        <p:spPr>
          <a:xfrm>
            <a:off x="7915275" y="4824367"/>
            <a:ext cx="4133850" cy="1732019"/>
          </a:xfrm>
          <a:prstGeom prst="roundRect">
            <a:avLst>
              <a:gd name="adj" fmla="val 43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910092"/>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514821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233942"/>
            <a:ext cx="3867150" cy="124624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'Philippines' leads regional growth at 9.3%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'Rollstock Films' within Product Type.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South Asia &amp; Pacific market and the incremental $ opportunity it creates…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4695825" cy="2400300"/>
          </a:xfrm>
          <a:prstGeom prst="roundRect">
            <a:avLst>
              <a:gd name="adj" fmla="val 317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Market, 2021–2025 (Historical)</a:t>
            </a:r>
          </a:p>
        </p:txBody>
      </p:sp>
      <p:graphicFrame>
        <p:nvGraphicFramePr>
          <p:cNvPr id="13" name="Chart 12"/>
          <p:cNvGraphicFramePr>
            <a:graphicFrameLocks noGrp="1"/>
          </p:cNvGraphicFramePr>
          <p:nvPr/>
        </p:nvGraphicFramePr>
        <p:xfrm>
          <a:off x="238125" y="1266825"/>
          <a:ext cx="4505325" cy="2057400"/>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400300"/>
          </a:xfrm>
          <a:prstGeom prst="roundRect">
            <a:avLst>
              <a:gd name="adj" fmla="val 317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Market, 2026–2036 (Forecast)</a:t>
            </a:r>
          </a:p>
        </p:txBody>
      </p:sp>
      <p:graphicFrame>
        <p:nvGraphicFramePr>
          <p:cNvPr id="16" name="Chart 15"/>
          <p:cNvGraphicFramePr>
            <a:graphicFrameLocks noGrp="1"/>
          </p:cNvGraphicFramePr>
          <p:nvPr/>
        </p:nvGraphicFramePr>
        <p:xfrm>
          <a:off x="5086350" y="1266825"/>
          <a:ext cx="6858000" cy="20574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514725"/>
            <a:ext cx="2514600" cy="5619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5.7%</a:t>
            </a:r>
          </a:p>
        </p:txBody>
      </p:sp>
      <p:sp>
        <p:nvSpPr>
          <p:cNvPr id="18" name="Rounded Rectangle 17"/>
          <p:cNvSpPr/>
          <p:nvPr/>
        </p:nvSpPr>
        <p:spPr>
          <a:xfrm>
            <a:off x="2809875" y="3514725"/>
            <a:ext cx="2514600" cy="5619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7.8%</a:t>
            </a:r>
          </a:p>
        </p:txBody>
      </p:sp>
      <p:sp>
        <p:nvSpPr>
          <p:cNvPr id="19" name="Rounded Rectangle 18"/>
          <p:cNvSpPr/>
          <p:nvPr/>
        </p:nvSpPr>
        <p:spPr>
          <a:xfrm>
            <a:off x="5476875" y="3514725"/>
            <a:ext cx="3200400" cy="5619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6,706 US$ Mn</a:t>
            </a:r>
          </a:p>
        </p:txBody>
      </p:sp>
      <p:sp>
        <p:nvSpPr>
          <p:cNvPr id="20" name="Rounded Rectangle 19"/>
          <p:cNvSpPr/>
          <p:nvPr/>
        </p:nvSpPr>
        <p:spPr>
          <a:xfrm>
            <a:off x="8829675" y="3514725"/>
            <a:ext cx="3200400" cy="5619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17,225 US$ Mn</a:t>
            </a:r>
          </a:p>
        </p:txBody>
      </p:sp>
      <p:sp>
        <p:nvSpPr>
          <p:cNvPr id="21" name="Rounded Rectangle 20"/>
          <p:cNvSpPr/>
          <p:nvPr/>
        </p:nvSpPr>
        <p:spPr>
          <a:xfrm>
            <a:off x="142875" y="4210050"/>
            <a:ext cx="11906250" cy="2400300"/>
          </a:xfrm>
          <a:prstGeom prst="roundRect">
            <a:avLst>
              <a:gd name="adj" fmla="val 317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295775"/>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Volume &amp; Value Analysis</a:t>
            </a:r>
          </a:p>
        </p:txBody>
      </p:sp>
      <p:sp>
        <p:nvSpPr>
          <p:cNvPr id="23" name="Rectangle 22"/>
          <p:cNvSpPr/>
          <p:nvPr/>
        </p:nvSpPr>
        <p:spPr>
          <a:xfrm>
            <a:off x="276225" y="4533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619625"/>
            <a:ext cx="11639550" cy="19145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Flexible plastic packaging market value in South Asia &amp; Pacific is expected to increase 2.3X between 2025 and 2036. In 2025, the flexible plastic packaging market in South Asia &amp; Pacific was valued at US$ 14,508 Mn and is estimated to account for US$ 15,462 Mn by the end of 2026, reflecting a Y-o-Y growth rate of 6.6%. The market in South Asia &amp; Pacific is expected to account for US$ 32,687 Mn by 2036 at a CAGR of 7.8% over the forecast period. South Asia &amp; Pacific is expected to create an incremental opportunity of US$ 18,179 Mn for the overall flexible plastic packaging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US$ 954.1 Mn. South Asia &amp; Pacific flexible plastic packaging market is projected to register 2.0X increase in volume by the end of forecast period, 2036. South Asia &amp; Pacific flexible plastic packaging market volume stood at 5,209 Thousand MT in 2025 and is expected to reach 10,389 Thousand MT by 2036 end, at a CAGR of 6.5%. Value is projected to grow faster than volume over the forecast period, owing to an increase in average selling price.</a:t>
            </a:r>
          </a:p>
          <a:p>
            <a:pPr algn="l">
              <a:lnSpc>
                <a:spcPct val="100000"/>
              </a:lnSpc>
              <a:spcBef>
                <a:spcPts val="0"/>
              </a:spcBef>
              <a:spcAft>
                <a:spcPts val="300"/>
              </a:spcAft>
            </a:pPr>
            <a:r>
              <a:rPr sz="1100" b="0">
                <a:solidFill>
                  <a:srgbClr val="2E2E2E"/>
                </a:solidFill>
                <a:latin typeface="Calibri"/>
              </a:rPr>
              <a:t>South Asia &amp; Pacific grows 7.8% in value and 6.5% in volume, up from 5.7% and 5.4% in 2021-25, as rising incomes, urbanisation, organised retail and fast-growing food delivery in India, Indonesia and the Philippines raise packaged-food use. Value outpaces volume as average price rises from US$2,805 to US$3,146 per MT with the move to barrier pouches and laminates.</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4" cy="2132065"/>
        </p:xfrm>
        <a:graphic>
          <a:graphicData uri="http://schemas.openxmlformats.org/drawingml/2006/table">
            <a:tbl>
              <a:tblPr>
                <a:tableStyleId>{5C22544A-7EE6-4342-B048-85BDC9FD1C3A}</a:tableStyleId>
              </a:tblPr>
              <a:tblGrid>
                <a:gridCol w="1050389"/>
                <a:gridCol w="957676"/>
                <a:gridCol w="653608"/>
                <a:gridCol w="125310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39600">
                <a:tc>
                  <a:txBody>
                    <a:bodyPr wrap="none"/>
                    <a:lstStyle/>
                    <a:p>
                      <a:pPr algn="l"/>
                      <a:r>
                        <a:rPr sz="1100" b="1">
                          <a:solidFill>
                            <a:srgbClr val="2E2E2E"/>
                          </a:solidFill>
                          <a:latin typeface="Calibri"/>
                        </a:rPr>
                        <a:t>Philippines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r>
              <a:tr h="239600">
                <a:tc>
                  <a:txBody>
                    <a:bodyPr wrap="none"/>
                    <a:lstStyle/>
                    <a:p>
                      <a:pPr algn="l"/>
                      <a:r>
                        <a:rPr sz="1100" b="1">
                          <a:solidFill>
                            <a:srgbClr val="2E2E2E"/>
                          </a:solidFill>
                          <a:latin typeface="Calibri"/>
                        </a:rPr>
                        <a:t>Indonesia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5F8FA"/>
                    </a:solidFill>
                  </a:tcPr>
                </a:tc>
              </a:tr>
              <a:tr h="239600">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5,698</a:t>
                      </a:r>
                      <a:endParaRPr sz="1100"/>
                    </a:p>
                  </a:txBody>
                  <a:tcPr marL="47625" marR="38100" marT="19050" marB="19050" anchor="ctr">
                    <a:solidFill>
                      <a:srgbClr val="FFFFFF"/>
                    </a:solidFill>
                  </a:tcPr>
                </a:tc>
              </a:tr>
              <a:tr h="239600">
                <a:tc>
                  <a:txBody>
                    <a:bodyPr wrap="none"/>
                    <a:lstStyle/>
                    <a:p>
                      <a:pPr algn="l"/>
                      <a:r>
                        <a:rPr sz="1100" b="1">
                          <a:solidFill>
                            <a:srgbClr val="2E2E2E"/>
                          </a:solidFill>
                          <a:latin typeface="Calibri"/>
                        </a:rPr>
                        <a:t>Malaysia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r>
              <a:tr h="239600">
                <a:tc>
                  <a:txBody>
                    <a:bodyPr wrap="none"/>
                    <a:lstStyle/>
                    <a:p>
                      <a:pPr algn="l"/>
                      <a:r>
                        <a:rPr sz="1100" b="1">
                          <a:solidFill>
                            <a:srgbClr val="2E2E2E"/>
                          </a:solidFill>
                          <a:latin typeface="Calibri"/>
                        </a:rPr>
                        <a:t>Thailand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r>
              <a:tr h="239600">
                <a:tc>
                  <a:txBody>
                    <a:bodyPr wrap="none"/>
                    <a:lstStyle/>
                    <a:p>
                      <a:pPr algn="l"/>
                      <a:r>
                        <a:rPr sz="1100" b="1">
                          <a:solidFill>
                            <a:srgbClr val="2E2E2E"/>
                          </a:solidFill>
                          <a:latin typeface="Calibri"/>
                        </a:rPr>
                        <a:t>Australia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5F8FA"/>
                    </a:solidFill>
                  </a:tcPr>
                </a:tc>
              </a:tr>
              <a:tr h="239600">
                <a:tc>
                  <a:txBody>
                    <a:bodyPr wrap="none"/>
                    <a:lstStyle/>
                    <a:p>
                      <a:pPr algn="l"/>
                      <a:r>
                        <a:rPr sz="1100" b="1">
                          <a:solidFill>
                            <a:srgbClr val="2E2E2E"/>
                          </a:solidFill>
                          <a:latin typeface="Calibri"/>
                        </a:rPr>
                        <a:t>Singapore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438.6</a:t>
                      </a:r>
                      <a:endParaRPr sz="1100"/>
                    </a:p>
                  </a:txBody>
                  <a:tcPr marL="47625" marR="38100" marT="19050" marB="19050" anchor="ctr">
                    <a:solidFill>
                      <a:srgbClr val="FFFFFF"/>
                    </a:solidFill>
                  </a:tcPr>
                </a:tc>
              </a:tr>
              <a:tr h="239600">
                <a:tc>
                  <a:txBody>
                    <a:bodyPr wrap="none"/>
                    <a:lstStyle/>
                    <a:p>
                      <a:pPr algn="l"/>
                      <a:r>
                        <a:rPr sz="1100" b="1">
                          <a:solidFill>
                            <a:srgbClr val="2E2E2E"/>
                          </a:solidFill>
                          <a:latin typeface="Calibri"/>
                        </a:rPr>
                        <a:t>New Zealand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419.5</a:t>
                      </a:r>
                      <a:endParaRPr sz="1100"/>
                    </a:p>
                  </a:txBody>
                  <a:tcPr marL="47625" marR="38100" marT="19050" marB="19050" anchor="ctr">
                    <a:solidFill>
                      <a:srgbClr val="F5F8FA"/>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2536554" cy="2420658"/>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10,589</a:t>
            </a:r>
          </a:p>
        </p:txBody>
      </p:sp>
      <p:sp>
        <p:nvSpPr>
          <p:cNvPr id="19" name="Rectangle 18"/>
          <p:cNvSpPr/>
          <p:nvPr/>
        </p:nvSpPr>
        <p:spPr>
          <a:xfrm>
            <a:off x="6746604" y="1293011"/>
            <a:ext cx="1206771" cy="2420658"/>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Australia</a:t>
            </a:r>
          </a:p>
          <a:p>
            <a:pPr algn="ctr"/>
            <a:r>
              <a:rPr sz="1100" b="0">
                <a:solidFill>
                  <a:srgbClr val="FFFFFF"/>
                </a:solidFill>
                <a:latin typeface="Calibri"/>
              </a:rPr>
              <a:t>5,038</a:t>
            </a:r>
          </a:p>
        </p:txBody>
      </p:sp>
      <p:sp>
        <p:nvSpPr>
          <p:cNvPr id="20" name="Rectangle 19"/>
          <p:cNvSpPr/>
          <p:nvPr/>
        </p:nvSpPr>
        <p:spPr>
          <a:xfrm>
            <a:off x="4210050" y="3713669"/>
            <a:ext cx="1155936" cy="2164940"/>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Indonesia</a:t>
            </a:r>
          </a:p>
          <a:p>
            <a:pPr algn="ctr"/>
            <a:r>
              <a:rPr sz="1100" b="0">
                <a:solidFill>
                  <a:srgbClr val="FFFFFF"/>
                </a:solidFill>
                <a:latin typeface="Calibri"/>
              </a:rPr>
              <a:t>4,316</a:t>
            </a:r>
          </a:p>
        </p:txBody>
      </p:sp>
      <p:sp>
        <p:nvSpPr>
          <p:cNvPr id="21" name="Rectangle 20"/>
          <p:cNvSpPr/>
          <p:nvPr/>
        </p:nvSpPr>
        <p:spPr>
          <a:xfrm>
            <a:off x="5365986" y="3713669"/>
            <a:ext cx="1468138" cy="1110789"/>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Thailand</a:t>
            </a:r>
          </a:p>
          <a:p>
            <a:pPr algn="ctr"/>
            <a:r>
              <a:rPr sz="1100" b="0">
                <a:solidFill>
                  <a:srgbClr val="FFFFFF"/>
                </a:solidFill>
                <a:latin typeface="Calibri"/>
              </a:rPr>
              <a:t>2,812</a:t>
            </a:r>
          </a:p>
        </p:txBody>
      </p:sp>
      <p:sp>
        <p:nvSpPr>
          <p:cNvPr id="22" name="Rectangle 21"/>
          <p:cNvSpPr/>
          <p:nvPr/>
        </p:nvSpPr>
        <p:spPr>
          <a:xfrm>
            <a:off x="5365986" y="4824458"/>
            <a:ext cx="1468138" cy="1054151"/>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Philippines</a:t>
            </a:r>
          </a:p>
          <a:p>
            <a:pPr algn="ctr"/>
            <a:r>
              <a:rPr sz="1100" b="0">
                <a:solidFill>
                  <a:srgbClr val="FFFFFF"/>
                </a:solidFill>
                <a:latin typeface="Calibri"/>
              </a:rPr>
              <a:t>2,669</a:t>
            </a:r>
          </a:p>
        </p:txBody>
      </p:sp>
      <p:sp>
        <p:nvSpPr>
          <p:cNvPr id="23" name="Rectangle 22"/>
          <p:cNvSpPr/>
          <p:nvPr/>
        </p:nvSpPr>
        <p:spPr>
          <a:xfrm>
            <a:off x="6834124" y="3713669"/>
            <a:ext cx="1119251" cy="1168028"/>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Malaysia</a:t>
            </a:r>
          </a:p>
          <a:p>
            <a:pPr algn="ctr"/>
            <a:r>
              <a:rPr sz="1100" b="0">
                <a:solidFill>
                  <a:srgbClr val="FFFFFF"/>
                </a:solidFill>
                <a:latin typeface="Calibri"/>
              </a:rPr>
              <a:t>2,255</a:t>
            </a:r>
          </a:p>
        </p:txBody>
      </p:sp>
      <p:sp>
        <p:nvSpPr>
          <p:cNvPr id="24" name="Rectangle 23"/>
          <p:cNvSpPr/>
          <p:nvPr/>
        </p:nvSpPr>
        <p:spPr>
          <a:xfrm>
            <a:off x="6834124" y="4881697"/>
            <a:ext cx="565600" cy="996912"/>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Singapore</a:t>
            </a:r>
          </a:p>
          <a:p>
            <a:pPr algn="ctr"/>
            <a:r>
              <a:rPr sz="1100" b="0">
                <a:solidFill>
                  <a:srgbClr val="FFFFFF"/>
                </a:solidFill>
                <a:latin typeface="Calibri"/>
              </a:rPr>
              <a:t>972</a:t>
            </a:r>
          </a:p>
        </p:txBody>
      </p:sp>
      <p:sp>
        <p:nvSpPr>
          <p:cNvPr id="25" name="Rectangle 24"/>
          <p:cNvSpPr/>
          <p:nvPr/>
        </p:nvSpPr>
        <p:spPr>
          <a:xfrm>
            <a:off x="7399724" y="4881697"/>
            <a:ext cx="553651" cy="996912"/>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New Zealand</a:t>
            </a:r>
          </a:p>
          <a:p>
            <a:pPr algn="ctr"/>
            <a:r>
              <a:rPr sz="1100" b="0">
                <a:solidFill>
                  <a:srgbClr val="FFFFFF"/>
                </a:solidFill>
                <a:latin typeface="Calibri"/>
              </a:rPr>
              <a:t>952</a:t>
            </a:r>
          </a:p>
        </p:txBody>
      </p:sp>
      <p:sp>
        <p:nvSpPr>
          <p:cNvPr id="26" name="Rounded Rectangle 25"/>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8" name="Chart 27"/>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9" name="Rounded Rectangle 28"/>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0" name="Table 29"/>
          <p:cNvGraphicFramePr>
            <a:graphicFrameLocks noGrp="1"/>
          </p:cNvGraphicFramePr>
          <p:nvPr/>
        </p:nvGraphicFramePr>
        <p:xfrm>
          <a:off x="8096250" y="3547710"/>
          <a:ext cx="3914776" cy="2159449"/>
        </p:xfrm>
        <a:graphic>
          <a:graphicData uri="http://schemas.openxmlformats.org/drawingml/2006/table">
            <a:tbl>
              <a:tblPr>
                <a:tableStyleId>{5C22544A-7EE6-4342-B048-85BDC9FD1C3A}</a:tableStyleId>
              </a:tblPr>
              <a:tblGrid>
                <a:gridCol w="990308"/>
                <a:gridCol w="1126820"/>
                <a:gridCol w="616223"/>
                <a:gridCol w="1181425"/>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43023">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5,698</a:t>
                      </a:r>
                      <a:endParaRPr sz="1100"/>
                    </a:p>
                  </a:txBody>
                  <a:tcPr marL="47625" marR="38100" marT="19050" marB="19050" anchor="ctr">
                    <a:solidFill>
                      <a:srgbClr val="FFFFFF"/>
                    </a:solidFill>
                  </a:tcPr>
                </a:tc>
              </a:tr>
              <a:tr h="243023">
                <a:tc>
                  <a:txBody>
                    <a:bodyPr wrap="none"/>
                    <a:lstStyle/>
                    <a:p>
                      <a:pPr algn="l"/>
                      <a:r>
                        <a:rPr sz="1100" b="1">
                          <a:solidFill>
                            <a:srgbClr val="2E2E2E"/>
                          </a:solidFill>
                          <a:latin typeface="Calibri"/>
                        </a:rPr>
                        <a:t>Indonesia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5F8FA"/>
                    </a:solidFill>
                  </a:tcPr>
                </a:tc>
              </a:tr>
              <a:tr h="243023">
                <a:tc>
                  <a:txBody>
                    <a:bodyPr wrap="none"/>
                    <a:lstStyle/>
                    <a:p>
                      <a:pPr algn="l"/>
                      <a:r>
                        <a:rPr sz="1100" b="1">
                          <a:solidFill>
                            <a:srgbClr val="2E2E2E"/>
                          </a:solidFill>
                          <a:latin typeface="Calibri"/>
                        </a:rPr>
                        <a:t>Australia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FFFFF"/>
                    </a:solidFill>
                  </a:tcPr>
                </a:tc>
              </a:tr>
              <a:tr h="243023">
                <a:tc>
                  <a:txBody>
                    <a:bodyPr wrap="none"/>
                    <a:lstStyle/>
                    <a:p>
                      <a:pPr algn="l"/>
                      <a:r>
                        <a:rPr sz="1100" b="1">
                          <a:solidFill>
                            <a:srgbClr val="2E2E2E"/>
                          </a:solidFill>
                          <a:latin typeface="Calibri"/>
                        </a:rPr>
                        <a:t>Philippines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r>
              <a:tr h="243023">
                <a:tc>
                  <a:txBody>
                    <a:bodyPr wrap="none"/>
                    <a:lstStyle/>
                    <a:p>
                      <a:pPr algn="l"/>
                      <a:r>
                        <a:rPr sz="1100" b="1">
                          <a:solidFill>
                            <a:srgbClr val="2E2E2E"/>
                          </a:solidFill>
                          <a:latin typeface="Calibri"/>
                        </a:rPr>
                        <a:t>Thailand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r>
              <a:tr h="243023">
                <a:tc>
                  <a:txBody>
                    <a:bodyPr wrap="none"/>
                    <a:lstStyle/>
                    <a:p>
                      <a:pPr algn="l"/>
                      <a:r>
                        <a:rPr sz="1100" b="1">
                          <a:solidFill>
                            <a:srgbClr val="2E2E2E"/>
                          </a:solidFill>
                          <a:latin typeface="Calibri"/>
                        </a:rPr>
                        <a:t>Malaysia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r>
              <a:tr h="243023">
                <a:tc>
                  <a:txBody>
                    <a:bodyPr wrap="none"/>
                    <a:lstStyle/>
                    <a:p>
                      <a:pPr algn="l"/>
                      <a:r>
                        <a:rPr sz="1100" b="1">
                          <a:solidFill>
                            <a:srgbClr val="2E2E2E"/>
                          </a:solidFill>
                          <a:latin typeface="Calibri"/>
                        </a:rPr>
                        <a:t>Singapore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438.6</a:t>
                      </a:r>
                      <a:endParaRPr sz="1100"/>
                    </a:p>
                  </a:txBody>
                  <a:tcPr marL="47625" marR="38100" marT="19050" marB="19050" anchor="ctr">
                    <a:solidFill>
                      <a:srgbClr val="FFFFFF"/>
                    </a:solidFill>
                  </a:tcPr>
                </a:tc>
              </a:tr>
              <a:tr h="243023">
                <a:tc>
                  <a:txBody>
                    <a:bodyPr wrap="none"/>
                    <a:lstStyle/>
                    <a:p>
                      <a:pPr algn="l"/>
                      <a:r>
                        <a:rPr sz="1100" b="1">
                          <a:solidFill>
                            <a:srgbClr val="2E2E2E"/>
                          </a:solidFill>
                          <a:latin typeface="Calibri"/>
                        </a:rPr>
                        <a:t>New Zealand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419.5</a:t>
                      </a:r>
                      <a:endParaRPr sz="1100"/>
                    </a:p>
                  </a:txBody>
                  <a:tcPr marL="47625" marR="38100" marT="19050" marB="19050" anchor="ctr">
                    <a:solidFill>
                      <a:srgbClr val="F5F8FA"/>
                    </a:solidFill>
                  </a:tcPr>
                </a:tc>
              </a:tr>
            </a:tbl>
          </a:graphicData>
        </a:graphic>
      </p:graphicFrame>
      <p:sp>
        <p:nvSpPr>
          <p:cNvPr id="31" name="TextBox 30"/>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2" name="Rounded Rectangle 31"/>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India flexible plastic packaging market is projected to register 2.1X higher value than Australia in 2036. Philippines posts the highest CAGR Index (120), growing at 9.3% against the South Asia &amp; Pacific benchmark, while India offers the largest absolute opportunity 5,698 US$ Mn of incremental market between 2026 and 2036 (33% of the South Asia &amp; Pacific increment).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flexible plastic packaging market is expected to witness 2.3X increase in revenue by 2036 end. Global flexible plastic packaging market accounted for US$ 14,508 Mn in 2025, which is expected to increase to US$ 32,687 Mn in 2036 at a CAGR of 7.8%.</a:t>
            </a:r>
          </a:p>
          <a:p>
            <a:pPr algn="l">
              <a:lnSpc>
                <a:spcPct val="110000"/>
              </a:lnSpc>
              <a:spcBef>
                <a:spcPts val="0"/>
              </a:spcBef>
              <a:spcAft>
                <a:spcPts val="500"/>
              </a:spcAft>
            </a:pPr>
            <a:r>
              <a:rPr sz="1150" b="0">
                <a:solidFill>
                  <a:srgbClr val="2E2E2E"/>
                </a:solidFill>
                <a:latin typeface="Calibri"/>
              </a:rPr>
              <a:t>The global flexible plastic packaging market has been analysed on the basis of product type, principal material / barrier technology, material structure and barrier level across the globe. India is expected to remain the largest market for flexible plastic packaging, while demand in Philippines is projected to increase at the highest CAGR of 9.3%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consolidated: the leading product type category 'Rollstock Films' holds 54.1%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9 countries and 6 segmentation lenses (4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India is the largest country market at 32.4%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'Premade Pouches &amp; Bags' (7.8%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Philippines (9.3%).</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Food Packaging within application (7.8%).</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'Barrier Casings' (7.7%).</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7.8%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'Rollstock Films'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'Premade Pouches &amp; Bags'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Philippines outpacing the South Asia &amp; Pacific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4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'Premade Pouches &amp; Bags' and Philippines.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India and Philippines.</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2026 size 15,462 US$ Mn; 2036 32,687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Forecast CAGR 7.8% (2026–2036).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Lead category 'Rollstock Films' 54.1% of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Lead country India 32.4%.</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Incremental opportunity 17,225 US$ Mn.</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Investment is flowing toward the fastest-growing tier 'Premade Pouches &amp; Bags' (7.8%).</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Philippines (9.3%) is a priority country for new capacity.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Scale players anchor around 'Rollstock Films' (54.1% share).</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aligns with the migration to 'Premade Pouches &amp; Bags' and adjacent premium tiers.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targets product type categories gaining share to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7.8% forecast CAGR.</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'Rollstock Films' with targeted growth in 'Premade Pouches &amp; Bags', pursuing the 7.8% CAGR trajectory to 2036.</a:t>
            </a:r>
          </a:p>
        </p:txBody>
      </p:sp>
      <p:sp>
        <p:nvSpPr>
          <p:cNvPr id="14" name="Rounded Rectangle 13"/>
          <p:cNvSpPr/>
          <p:nvPr/>
        </p:nvSpPr>
        <p:spPr>
          <a:xfrm>
            <a:off x="6172200"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'Premade Pouches &amp; Bags' tier and Food Packaging within application.</a:t>
            </a:r>
          </a:p>
        </p:txBody>
      </p:sp>
      <p:sp>
        <p:nvSpPr>
          <p:cNvPr id="18" name="Rounded Rectangle 17"/>
          <p:cNvSpPr/>
          <p:nvPr/>
        </p:nvSpPr>
        <p:spPr>
          <a:xfrm>
            <a:off x="142875"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'Premade Pouches &amp; Bags' (7.8%); 'Rollstock Films' anchors 54.1% of value.</a:t>
            </a:r>
          </a:p>
        </p:txBody>
      </p:sp>
      <p:sp>
        <p:nvSpPr>
          <p:cNvPr id="22" name="Rounded Rectangle 21"/>
          <p:cNvSpPr/>
          <p:nvPr/>
        </p:nvSpPr>
        <p:spPr>
          <a:xfrm>
            <a:off x="6172200"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India (32.4%); capture upside in Philippines (9.3%).</a:t>
            </a:r>
          </a:p>
        </p:txBody>
      </p:sp>
      <p:sp>
        <p:nvSpPr>
          <p:cNvPr id="26" name="Rounded Rectangle 25"/>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Flexible Plastic Packaging adds 17,225 US$ Mn of demand to 2036 a 2.1× expansion.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'Rollstock Films' as the value anchor of the portfolio.</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39,685 US$ Mn</a:t>
            </a:r>
          </a:p>
          <a:p>
            <a:pPr algn="ctr">
              <a:lnSpc>
                <a:spcPct val="95000"/>
              </a:lnSpc>
            </a:pPr>
            <a:r>
              <a:rPr sz="1100" b="0">
                <a:solidFill>
                  <a:srgbClr val="6C7A89"/>
                </a:solidFill>
                <a:latin typeface="Calibri"/>
              </a:rPr>
              <a:t>CAGR 9.5%</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32,687 US$ Mn</a:t>
            </a:r>
          </a:p>
          <a:p>
            <a:pPr algn="ctr">
              <a:lnSpc>
                <a:spcPct val="95000"/>
              </a:lnSpc>
            </a:pPr>
            <a:r>
              <a:rPr sz="1100" b="0">
                <a:solidFill>
                  <a:srgbClr val="6C7A89"/>
                </a:solidFill>
                <a:latin typeface="Calibri"/>
              </a:rPr>
              <a:t>CAGR 7.8%</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26,829 US$ Mn</a:t>
            </a:r>
          </a:p>
          <a:p>
            <a:pPr algn="ctr">
              <a:lnSpc>
                <a:spcPct val="95000"/>
              </a:lnSpc>
            </a:pPr>
            <a:r>
              <a:rPr sz="1100" b="0">
                <a:solidFill>
                  <a:srgbClr val="6C7A89"/>
                </a:solidFill>
                <a:latin typeface="Calibri"/>
              </a:rPr>
              <a:t>CAGR 5.8%</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Flexible Plastic Packaging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683745"/>
            <a:ext cx="635826" cy="621555"/>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155874"/>
            <a:ext cx="635826" cy="1149426"/>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904902"/>
            <a:ext cx="635826" cy="1400398"/>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605088"/>
            <a:ext cx="635826" cy="1700212"/>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3022524"/>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917749"/>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5.8%</a:t>
            </a:r>
          </a:p>
        </p:txBody>
      </p:sp>
      <p:cxnSp>
        <p:nvCxnSpPr>
          <p:cNvPr id="22" name="Connector 21"/>
          <p:cNvCxnSpPr/>
          <p:nvPr/>
        </p:nvCxnSpPr>
        <p:spPr>
          <a:xfrm>
            <a:off x="1456468" y="2765349"/>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660574"/>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7.8%</a:t>
            </a:r>
          </a:p>
        </p:txBody>
      </p:sp>
      <p:cxnSp>
        <p:nvCxnSpPr>
          <p:cNvPr id="24" name="Connector 23"/>
          <p:cNvCxnSpPr/>
          <p:nvPr/>
        </p:nvCxnSpPr>
        <p:spPr>
          <a:xfrm>
            <a:off x="1456468" y="2471738"/>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66962"/>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9.5%</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Flexible Plastic Packaging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39,685 US$ Mn by 2036 at 9.5%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32,687 US$ Mn at 7.8%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26,829 US$ Mn at 5.8%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±25% across the 2026–2036 horizon.</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South Asia &amp; Pacific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South Asia &amp; Pacific Flexible Plastic Packaging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9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South Asia &amp; Pacific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0096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0096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India</a:t>
            </a:r>
          </a:p>
        </p:txBody>
      </p:sp>
      <p:sp>
        <p:nvSpPr>
          <p:cNvPr id="23" name="Rectangle 22"/>
          <p:cNvSpPr/>
          <p:nvPr/>
        </p:nvSpPr>
        <p:spPr>
          <a:xfrm>
            <a:off x="186690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4,891</a:t>
            </a:r>
          </a:p>
        </p:txBody>
      </p:sp>
      <p:sp>
        <p:nvSpPr>
          <p:cNvPr id="24" name="Rectangle 23"/>
          <p:cNvSpPr/>
          <p:nvPr/>
        </p:nvSpPr>
        <p:spPr>
          <a:xfrm>
            <a:off x="186690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10,589</a:t>
            </a:r>
          </a:p>
        </p:txBody>
      </p:sp>
      <p:sp>
        <p:nvSpPr>
          <p:cNvPr id="25" name="Rectangle 24"/>
          <p:cNvSpPr/>
          <p:nvPr/>
        </p:nvSpPr>
        <p:spPr>
          <a:xfrm>
            <a:off x="186690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8.0%</a:t>
            </a:r>
          </a:p>
        </p:txBody>
      </p:sp>
      <p:sp>
        <p:nvSpPr>
          <p:cNvPr id="26" name="Oval 25"/>
          <p:cNvSpPr/>
          <p:nvPr/>
        </p:nvSpPr>
        <p:spPr>
          <a:xfrm>
            <a:off x="220980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2990850" y="1773916"/>
            <a:ext cx="10096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2990850" y="1992961"/>
            <a:ext cx="10096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02895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Australia</a:t>
            </a:r>
          </a:p>
        </p:txBody>
      </p:sp>
      <p:sp>
        <p:nvSpPr>
          <p:cNvPr id="30" name="Rectangle 29"/>
          <p:cNvSpPr/>
          <p:nvPr/>
        </p:nvSpPr>
        <p:spPr>
          <a:xfrm>
            <a:off x="299085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2,748</a:t>
            </a:r>
          </a:p>
        </p:txBody>
      </p:sp>
      <p:sp>
        <p:nvSpPr>
          <p:cNvPr id="31" name="Rectangle 30"/>
          <p:cNvSpPr/>
          <p:nvPr/>
        </p:nvSpPr>
        <p:spPr>
          <a:xfrm>
            <a:off x="299085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5,038</a:t>
            </a:r>
          </a:p>
        </p:txBody>
      </p:sp>
      <p:sp>
        <p:nvSpPr>
          <p:cNvPr id="32" name="Rectangle 31"/>
          <p:cNvSpPr/>
          <p:nvPr/>
        </p:nvSpPr>
        <p:spPr>
          <a:xfrm>
            <a:off x="299085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6.2%</a:t>
            </a:r>
          </a:p>
        </p:txBody>
      </p:sp>
      <p:sp>
        <p:nvSpPr>
          <p:cNvPr id="33" name="Oval 32"/>
          <p:cNvSpPr/>
          <p:nvPr/>
        </p:nvSpPr>
        <p:spPr>
          <a:xfrm>
            <a:off x="333375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4114800" y="1773916"/>
            <a:ext cx="10096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4114800" y="1992961"/>
            <a:ext cx="10096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15290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Indonesia</a:t>
            </a:r>
          </a:p>
        </p:txBody>
      </p:sp>
      <p:sp>
        <p:nvSpPr>
          <p:cNvPr id="37" name="Rectangle 36"/>
          <p:cNvSpPr/>
          <p:nvPr/>
        </p:nvSpPr>
        <p:spPr>
          <a:xfrm>
            <a:off x="411480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1,867</a:t>
            </a:r>
          </a:p>
        </p:txBody>
      </p:sp>
      <p:sp>
        <p:nvSpPr>
          <p:cNvPr id="38" name="Rectangle 37"/>
          <p:cNvSpPr/>
          <p:nvPr/>
        </p:nvSpPr>
        <p:spPr>
          <a:xfrm>
            <a:off x="411480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4,316</a:t>
            </a:r>
          </a:p>
        </p:txBody>
      </p:sp>
      <p:sp>
        <p:nvSpPr>
          <p:cNvPr id="39" name="Rectangle 38"/>
          <p:cNvSpPr/>
          <p:nvPr/>
        </p:nvSpPr>
        <p:spPr>
          <a:xfrm>
            <a:off x="411480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8.7%</a:t>
            </a:r>
          </a:p>
        </p:txBody>
      </p:sp>
      <p:sp>
        <p:nvSpPr>
          <p:cNvPr id="40" name="Oval 39"/>
          <p:cNvSpPr/>
          <p:nvPr/>
        </p:nvSpPr>
        <p:spPr>
          <a:xfrm>
            <a:off x="44577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5238750" y="1773916"/>
            <a:ext cx="100965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5238750" y="1992961"/>
            <a:ext cx="100965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527685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Thailand</a:t>
            </a:r>
          </a:p>
        </p:txBody>
      </p:sp>
      <p:sp>
        <p:nvSpPr>
          <p:cNvPr id="44" name="Rectangle 43"/>
          <p:cNvSpPr/>
          <p:nvPr/>
        </p:nvSpPr>
        <p:spPr>
          <a:xfrm>
            <a:off x="523875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1,386</a:t>
            </a:r>
          </a:p>
        </p:txBody>
      </p:sp>
      <p:sp>
        <p:nvSpPr>
          <p:cNvPr id="45" name="Rectangle 44"/>
          <p:cNvSpPr/>
          <p:nvPr/>
        </p:nvSpPr>
        <p:spPr>
          <a:xfrm>
            <a:off x="523875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2,812</a:t>
            </a:r>
          </a:p>
        </p:txBody>
      </p:sp>
      <p:sp>
        <p:nvSpPr>
          <p:cNvPr id="46" name="Rectangle 45"/>
          <p:cNvSpPr/>
          <p:nvPr/>
        </p:nvSpPr>
        <p:spPr>
          <a:xfrm>
            <a:off x="523875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7.3%</a:t>
            </a:r>
          </a:p>
        </p:txBody>
      </p:sp>
      <p:sp>
        <p:nvSpPr>
          <p:cNvPr id="47" name="Oval 46"/>
          <p:cNvSpPr/>
          <p:nvPr/>
        </p:nvSpPr>
        <p:spPr>
          <a:xfrm>
            <a:off x="558165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6362700" y="1773916"/>
            <a:ext cx="10096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6362700" y="1992961"/>
            <a:ext cx="10096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640080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Rest of South Asia</a:t>
            </a:r>
          </a:p>
        </p:txBody>
      </p:sp>
      <p:sp>
        <p:nvSpPr>
          <p:cNvPr id="51" name="Rectangle 50"/>
          <p:cNvSpPr/>
          <p:nvPr/>
        </p:nvSpPr>
        <p:spPr>
          <a:xfrm>
            <a:off x="636270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1,326</a:t>
            </a:r>
          </a:p>
        </p:txBody>
      </p:sp>
      <p:sp>
        <p:nvSpPr>
          <p:cNvPr id="52" name="Rectangle 51"/>
          <p:cNvSpPr/>
          <p:nvPr/>
        </p:nvSpPr>
        <p:spPr>
          <a:xfrm>
            <a:off x="636270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3,085</a:t>
            </a:r>
          </a:p>
        </p:txBody>
      </p:sp>
      <p:sp>
        <p:nvSpPr>
          <p:cNvPr id="53" name="Rectangle 52"/>
          <p:cNvSpPr/>
          <p:nvPr/>
        </p:nvSpPr>
        <p:spPr>
          <a:xfrm>
            <a:off x="636270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8.8%</a:t>
            </a:r>
          </a:p>
        </p:txBody>
      </p:sp>
      <p:sp>
        <p:nvSpPr>
          <p:cNvPr id="54" name="Oval 53"/>
          <p:cNvSpPr/>
          <p:nvPr/>
        </p:nvSpPr>
        <p:spPr>
          <a:xfrm>
            <a:off x="670560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7486650" y="1773916"/>
            <a:ext cx="10096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7486650" y="1992961"/>
            <a:ext cx="10096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752475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Philippines</a:t>
            </a:r>
          </a:p>
        </p:txBody>
      </p:sp>
      <p:sp>
        <p:nvSpPr>
          <p:cNvPr id="58" name="Rectangle 57"/>
          <p:cNvSpPr/>
          <p:nvPr/>
        </p:nvSpPr>
        <p:spPr>
          <a:xfrm>
            <a:off x="748665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1,097</a:t>
            </a:r>
          </a:p>
        </p:txBody>
      </p:sp>
      <p:sp>
        <p:nvSpPr>
          <p:cNvPr id="59" name="Rectangle 58"/>
          <p:cNvSpPr/>
          <p:nvPr/>
        </p:nvSpPr>
        <p:spPr>
          <a:xfrm>
            <a:off x="748665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2,669</a:t>
            </a:r>
          </a:p>
        </p:txBody>
      </p:sp>
      <p:sp>
        <p:nvSpPr>
          <p:cNvPr id="60" name="Rectangle 59"/>
          <p:cNvSpPr/>
          <p:nvPr/>
        </p:nvSpPr>
        <p:spPr>
          <a:xfrm>
            <a:off x="748665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9.3%</a:t>
            </a:r>
          </a:p>
        </p:txBody>
      </p:sp>
      <p:sp>
        <p:nvSpPr>
          <p:cNvPr id="61" name="Oval 60"/>
          <p:cNvSpPr/>
          <p:nvPr/>
        </p:nvSpPr>
        <p:spPr>
          <a:xfrm>
            <a:off x="782955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8610600" y="1773916"/>
            <a:ext cx="10096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8610600" y="1992961"/>
            <a:ext cx="10096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64870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Malaysia</a:t>
            </a:r>
          </a:p>
        </p:txBody>
      </p:sp>
      <p:sp>
        <p:nvSpPr>
          <p:cNvPr id="65" name="Rectangle 64"/>
          <p:cNvSpPr/>
          <p:nvPr/>
        </p:nvSpPr>
        <p:spPr>
          <a:xfrm>
            <a:off x="861060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1,080</a:t>
            </a:r>
          </a:p>
        </p:txBody>
      </p:sp>
      <p:sp>
        <p:nvSpPr>
          <p:cNvPr id="66" name="Rectangle 65"/>
          <p:cNvSpPr/>
          <p:nvPr/>
        </p:nvSpPr>
        <p:spPr>
          <a:xfrm>
            <a:off x="861060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2,255</a:t>
            </a:r>
          </a:p>
        </p:txBody>
      </p:sp>
      <p:sp>
        <p:nvSpPr>
          <p:cNvPr id="67" name="Rectangle 66"/>
          <p:cNvSpPr/>
          <p:nvPr/>
        </p:nvSpPr>
        <p:spPr>
          <a:xfrm>
            <a:off x="861060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7.6%</a:t>
            </a:r>
          </a:p>
        </p:txBody>
      </p:sp>
      <p:sp>
        <p:nvSpPr>
          <p:cNvPr id="68" name="Oval 67"/>
          <p:cNvSpPr/>
          <p:nvPr/>
        </p:nvSpPr>
        <p:spPr>
          <a:xfrm>
            <a:off x="895350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9734550" y="1773916"/>
            <a:ext cx="10096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9734550" y="1992961"/>
            <a:ext cx="10096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977265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Singapore</a:t>
            </a:r>
          </a:p>
        </p:txBody>
      </p:sp>
      <p:sp>
        <p:nvSpPr>
          <p:cNvPr id="72" name="Rectangle 71"/>
          <p:cNvSpPr/>
          <p:nvPr/>
        </p:nvSpPr>
        <p:spPr>
          <a:xfrm>
            <a:off x="973455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533.7</a:t>
            </a:r>
          </a:p>
        </p:txBody>
      </p:sp>
      <p:sp>
        <p:nvSpPr>
          <p:cNvPr id="73" name="Rectangle 72"/>
          <p:cNvSpPr/>
          <p:nvPr/>
        </p:nvSpPr>
        <p:spPr>
          <a:xfrm>
            <a:off x="973455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972.4</a:t>
            </a:r>
          </a:p>
        </p:txBody>
      </p:sp>
      <p:sp>
        <p:nvSpPr>
          <p:cNvPr id="74" name="Rectangle 73"/>
          <p:cNvSpPr/>
          <p:nvPr/>
        </p:nvSpPr>
        <p:spPr>
          <a:xfrm>
            <a:off x="973455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6.2%</a:t>
            </a:r>
          </a:p>
        </p:txBody>
      </p:sp>
      <p:sp>
        <p:nvSpPr>
          <p:cNvPr id="75" name="Oval 74"/>
          <p:cNvSpPr/>
          <p:nvPr/>
        </p:nvSpPr>
        <p:spPr>
          <a:xfrm>
            <a:off x="100774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76" name="Rounded Rectangle 75"/>
          <p:cNvSpPr/>
          <p:nvPr/>
        </p:nvSpPr>
        <p:spPr>
          <a:xfrm>
            <a:off x="10858500" y="1773916"/>
            <a:ext cx="10096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0858500" y="1992961"/>
            <a:ext cx="10096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10896600" y="1773916"/>
            <a:ext cx="933450" cy="438089"/>
          </a:xfrm>
          <a:prstGeom prst="rect">
            <a:avLst/>
          </a:prstGeom>
          <a:noFill/>
        </p:spPr>
        <p:txBody>
          <a:bodyPr wrap="square" lIns="28575" rIns="28575" tIns="9525" bIns="9525" anchor="ctr">
            <a:spAutoFit/>
          </a:bodyPr>
          <a:lstStyle/>
          <a:p>
            <a:pPr algn="ctr"/>
            <a:r>
              <a:rPr sz="1100" b="1">
                <a:solidFill>
                  <a:srgbClr val="FFFFFF"/>
                </a:solidFill>
                <a:latin typeface="Calibri"/>
              </a:rPr>
              <a:t>New Zealand</a:t>
            </a:r>
          </a:p>
        </p:txBody>
      </p:sp>
      <p:sp>
        <p:nvSpPr>
          <p:cNvPr id="79" name="Rectangle 78"/>
          <p:cNvSpPr/>
          <p:nvPr/>
        </p:nvSpPr>
        <p:spPr>
          <a:xfrm>
            <a:off x="10858500" y="22302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532.3</a:t>
            </a:r>
          </a:p>
        </p:txBody>
      </p:sp>
      <p:sp>
        <p:nvSpPr>
          <p:cNvPr id="80" name="Rectangle 79"/>
          <p:cNvSpPr/>
          <p:nvPr/>
        </p:nvSpPr>
        <p:spPr>
          <a:xfrm>
            <a:off x="10858500" y="2723109"/>
            <a:ext cx="10096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951.9</a:t>
            </a:r>
          </a:p>
        </p:txBody>
      </p:sp>
      <p:sp>
        <p:nvSpPr>
          <p:cNvPr id="81" name="Rectangle 80"/>
          <p:cNvSpPr/>
          <p:nvPr/>
        </p:nvSpPr>
        <p:spPr>
          <a:xfrm>
            <a:off x="10858500" y="3215959"/>
            <a:ext cx="10096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6.0%</a:t>
            </a:r>
          </a:p>
        </p:txBody>
      </p:sp>
      <p:sp>
        <p:nvSpPr>
          <p:cNvPr id="82" name="Oval 81"/>
          <p:cNvSpPr/>
          <p:nvPr/>
        </p:nvSpPr>
        <p:spPr>
          <a:xfrm>
            <a:off x="112014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9</a:t>
            </a:r>
          </a:p>
        </p:txBody>
      </p:sp>
      <p:sp>
        <p:nvSpPr>
          <p:cNvPr id="83" name="Rounded Rectangle 82"/>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85" name="Rectangle 84"/>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India flexible plastic packaging market is projected to register 2.1X higher value than Australia in 2036. Among flexible plastic packaging by country, Philippines is expected to witness the highest CAGR of 9.3% over the forecast period.</a:t>
            </a:r>
          </a:p>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In terms of value share by country, India is expected to dominate the market, gaining 117 BPS and accounting for 35.8% share by 2036. Australia is expected to lose 242 BPS over the forecast period to account for 17.0% share by 2036.</a:t>
            </a:r>
          </a:p>
        </p:txBody>
      </p:sp>
      <p:sp>
        <p:nvSpPr>
          <p:cNvPr id="87" name="Rounded Rectangle 86"/>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89" name="Rectangle 88"/>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India: </a:t>
            </a:r>
            <a:r>
              <a:rPr sz="1100" b="0">
                <a:solidFill>
                  <a:srgbClr val="2E2E2E"/>
                </a:solidFill>
                <a:latin typeface="Calibri"/>
              </a:rPr>
              <a:t>32% of 2026 value · 8.0% CAGR leads the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Australia: </a:t>
            </a:r>
            <a:r>
              <a:rPr sz="1100" b="0">
                <a:solidFill>
                  <a:srgbClr val="2E2E2E"/>
                </a:solidFill>
                <a:latin typeface="Calibri"/>
              </a:rPr>
              <a:t>18% of 2026 value · 6.2% CAGR a smaller market.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Indonesia: </a:t>
            </a:r>
            <a:r>
              <a:rPr sz="1100" b="0">
                <a:solidFill>
                  <a:srgbClr val="2E2E2E"/>
                </a:solidFill>
                <a:latin typeface="Calibri"/>
              </a:rPr>
              <a:t>12% of 2026 value · 8.7% CAGR a smaller market.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Thailand: </a:t>
            </a:r>
            <a:r>
              <a:rPr sz="1100" b="0">
                <a:solidFill>
                  <a:srgbClr val="2E2E2E"/>
                </a:solidFill>
                <a:latin typeface="Calibri"/>
              </a:rPr>
              <a:t>9% of 2026 value · 7.3% CAGR a smaller market.</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Rest of South Asia: </a:t>
            </a:r>
            <a:r>
              <a:rPr sz="1100" b="0">
                <a:solidFill>
                  <a:srgbClr val="2E2E2E"/>
                </a:solidFill>
                <a:latin typeface="Calibri"/>
              </a:rPr>
              <a:t>9% of 2026 value · 8.8% CAGR a smaller market.</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Philippines: </a:t>
            </a:r>
            <a:r>
              <a:rPr sz="1100" b="0">
                <a:solidFill>
                  <a:srgbClr val="2E2E2E"/>
                </a:solidFill>
                <a:latin typeface="Calibri"/>
              </a:rPr>
              <a:t>7% of 2026 value · 9.3% CAGR grows fastest.</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Malaysia: </a:t>
            </a:r>
            <a:r>
              <a:rPr sz="1100" b="0">
                <a:solidFill>
                  <a:srgbClr val="2E2E2E"/>
                </a:solidFill>
                <a:latin typeface="Calibri"/>
              </a:rPr>
              <a:t>7% of 2026 value · 7.6% CAGR a smaller market.</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Singapore: </a:t>
            </a:r>
            <a:r>
              <a:rPr sz="1100" b="0">
                <a:solidFill>
                  <a:srgbClr val="2E2E2E"/>
                </a:solidFill>
                <a:latin typeface="Calibri"/>
              </a:rPr>
              <a:t>3% of 2026 value · 6.2% CAGR a smaller market.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New Zealand: </a:t>
            </a:r>
            <a:r>
              <a:rPr sz="1100" b="0">
                <a:solidFill>
                  <a:srgbClr val="2E2E2E"/>
                </a:solidFill>
                <a:latin typeface="Calibri"/>
              </a:rPr>
              <a:t>3% of 2026 value · 6.0% CAGR a smaller market.</a:t>
            </a:r>
          </a:p>
        </p:txBody>
      </p:sp>
      <p:sp>
        <p:nvSpPr>
          <p:cNvPr id="91" name="Rounded Rectangle 90"/>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93" name="Rectangle 92"/>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TextBox 93"/>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95" name="Rectangle 94"/>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South Asia &amp; Pacific market is projected to grow at a CAGR of 7.8% from 2026 to 2036.</a:t>
            </a:r>
          </a:p>
        </p:txBody>
      </p:sp>
      <p:sp>
        <p:nvSpPr>
          <p:cNvPr id="97" name="TextBox 96"/>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98" name="TextBox 9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Analysis, By Country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02954"/>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49819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42199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New Zealand</a:t>
            </a:r>
          </a:p>
        </p:txBody>
      </p:sp>
      <p:sp>
        <p:nvSpPr>
          <p:cNvPr id="19" name="BPS Value 1"/>
          <p:cNvSpPr txBox="1"/>
          <p:nvPr/>
        </p:nvSpPr>
        <p:spPr>
          <a:xfrm>
            <a:off x="6305550" y="1483904"/>
            <a:ext cx="514350" cy="123825"/>
          </a:xfrm>
          <a:prstGeom prst="rect">
            <a:avLst/>
          </a:prstGeom>
          <a:noFill/>
        </p:spPr>
        <p:txBody>
          <a:bodyPr wrap="none" lIns="0" rIns="0" tIns="0" bIns="0" anchor="ctr">
            <a:spAutoFit/>
          </a:bodyPr>
          <a:lstStyle/>
          <a:p>
            <a:pPr algn="r"/>
            <a:r>
              <a:rPr sz="900" b="1">
                <a:solidFill>
                  <a:srgbClr val="E44D3A"/>
                </a:solidFill>
                <a:latin typeface="Calibri"/>
              </a:rPr>
              <a:t>-46</a:t>
            </a:r>
          </a:p>
        </p:txBody>
      </p:sp>
      <p:sp>
        <p:nvSpPr>
          <p:cNvPr id="20" name="FMI Legend Chip"/>
          <p:cNvSpPr/>
          <p:nvPr/>
        </p:nvSpPr>
        <p:spPr>
          <a:xfrm>
            <a:off x="4551045" y="1626779"/>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162201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54581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Singapore</a:t>
            </a:r>
          </a:p>
        </p:txBody>
      </p:sp>
      <p:sp>
        <p:nvSpPr>
          <p:cNvPr id="23" name="BPS Value 2"/>
          <p:cNvSpPr txBox="1"/>
          <p:nvPr/>
        </p:nvSpPr>
        <p:spPr>
          <a:xfrm>
            <a:off x="6305550" y="1607729"/>
            <a:ext cx="514350" cy="123825"/>
          </a:xfrm>
          <a:prstGeom prst="rect">
            <a:avLst/>
          </a:prstGeom>
          <a:noFill/>
        </p:spPr>
        <p:txBody>
          <a:bodyPr wrap="none" lIns="0" rIns="0" tIns="0" bIns="0" anchor="ctr">
            <a:spAutoFit/>
          </a:bodyPr>
          <a:lstStyle/>
          <a:p>
            <a:pPr algn="r"/>
            <a:r>
              <a:rPr sz="900" b="1">
                <a:solidFill>
                  <a:srgbClr val="E44D3A"/>
                </a:solidFill>
                <a:latin typeface="Calibri"/>
              </a:rPr>
              <a:t>-45</a:t>
            </a:r>
          </a:p>
        </p:txBody>
      </p:sp>
      <p:sp>
        <p:nvSpPr>
          <p:cNvPr id="24" name="FMI Legend Chip"/>
          <p:cNvSpPr/>
          <p:nvPr/>
        </p:nvSpPr>
        <p:spPr>
          <a:xfrm>
            <a:off x="4551045" y="1760563"/>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175580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167960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Malaysia</a:t>
            </a:r>
          </a:p>
        </p:txBody>
      </p:sp>
      <p:sp>
        <p:nvSpPr>
          <p:cNvPr id="27" name="BPS Value 3"/>
          <p:cNvSpPr txBox="1"/>
          <p:nvPr/>
        </p:nvSpPr>
        <p:spPr>
          <a:xfrm>
            <a:off x="6305550" y="1741513"/>
            <a:ext cx="514350" cy="123825"/>
          </a:xfrm>
          <a:prstGeom prst="rect">
            <a:avLst/>
          </a:prstGeom>
          <a:noFill/>
        </p:spPr>
        <p:txBody>
          <a:bodyPr wrap="none" lIns="0" rIns="0" tIns="0" bIns="0" anchor="ctr">
            <a:spAutoFit/>
          </a:bodyPr>
          <a:lstStyle/>
          <a:p>
            <a:pPr algn="r"/>
            <a:r>
              <a:rPr sz="900" b="1">
                <a:solidFill>
                  <a:srgbClr val="E44D3A"/>
                </a:solidFill>
                <a:latin typeface="Calibri"/>
              </a:rPr>
              <a:t>-19</a:t>
            </a:r>
          </a:p>
        </p:txBody>
      </p:sp>
      <p:sp>
        <p:nvSpPr>
          <p:cNvPr id="28" name="FMI Legend Chip"/>
          <p:cNvSpPr/>
          <p:nvPr/>
        </p:nvSpPr>
        <p:spPr>
          <a:xfrm>
            <a:off x="4551045" y="203716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203240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195620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Philippines</a:t>
            </a:r>
          </a:p>
        </p:txBody>
      </p:sp>
      <p:sp>
        <p:nvSpPr>
          <p:cNvPr id="31" name="BPS Value 4"/>
          <p:cNvSpPr txBox="1"/>
          <p:nvPr/>
        </p:nvSpPr>
        <p:spPr>
          <a:xfrm>
            <a:off x="6305550" y="2018112"/>
            <a:ext cx="514350" cy="123825"/>
          </a:xfrm>
          <a:prstGeom prst="rect">
            <a:avLst/>
          </a:prstGeom>
          <a:noFill/>
        </p:spPr>
        <p:txBody>
          <a:bodyPr wrap="none" lIns="0" rIns="0" tIns="0" bIns="0" anchor="ctr">
            <a:spAutoFit/>
          </a:bodyPr>
          <a:lstStyle/>
          <a:p>
            <a:pPr algn="r"/>
            <a:r>
              <a:rPr sz="900" b="1">
                <a:solidFill>
                  <a:srgbClr val="2E7D32"/>
                </a:solidFill>
                <a:latin typeface="Calibri"/>
              </a:rPr>
              <a:t>+94</a:t>
            </a:r>
          </a:p>
        </p:txBody>
      </p:sp>
      <p:sp>
        <p:nvSpPr>
          <p:cNvPr id="32" name="FMI Legend Chip"/>
          <p:cNvSpPr/>
          <p:nvPr/>
        </p:nvSpPr>
        <p:spPr>
          <a:xfrm>
            <a:off x="4551045" y="234868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4712970" y="234392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226772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Thailand</a:t>
            </a:r>
          </a:p>
        </p:txBody>
      </p:sp>
      <p:sp>
        <p:nvSpPr>
          <p:cNvPr id="35" name="BPS Value 5"/>
          <p:cNvSpPr txBox="1"/>
          <p:nvPr/>
        </p:nvSpPr>
        <p:spPr>
          <a:xfrm>
            <a:off x="6305550" y="2329639"/>
            <a:ext cx="514350" cy="123825"/>
          </a:xfrm>
          <a:prstGeom prst="rect">
            <a:avLst/>
          </a:prstGeom>
          <a:noFill/>
        </p:spPr>
        <p:txBody>
          <a:bodyPr wrap="none" lIns="0" rIns="0" tIns="0" bIns="0" anchor="ctr">
            <a:spAutoFit/>
          </a:bodyPr>
          <a:lstStyle/>
          <a:p>
            <a:pPr algn="r"/>
            <a:r>
              <a:rPr sz="900" b="1">
                <a:solidFill>
                  <a:srgbClr val="E44D3A"/>
                </a:solidFill>
                <a:latin typeface="Calibri"/>
              </a:rPr>
              <a:t>-51</a:t>
            </a:r>
          </a:p>
        </p:txBody>
      </p:sp>
      <p:sp>
        <p:nvSpPr>
          <p:cNvPr id="36" name="FMI Legend Chip"/>
          <p:cNvSpPr/>
          <p:nvPr/>
        </p:nvSpPr>
        <p:spPr>
          <a:xfrm>
            <a:off x="4551045" y="268686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2970" y="268210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260590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Rest of South Asia</a:t>
            </a:r>
          </a:p>
        </p:txBody>
      </p:sp>
      <p:sp>
        <p:nvSpPr>
          <p:cNvPr id="39" name="BPS Value 6"/>
          <p:cNvSpPr txBox="1"/>
          <p:nvPr/>
        </p:nvSpPr>
        <p:spPr>
          <a:xfrm>
            <a:off x="6305550" y="2667813"/>
            <a:ext cx="514350" cy="123825"/>
          </a:xfrm>
          <a:prstGeom prst="rect">
            <a:avLst/>
          </a:prstGeom>
          <a:noFill/>
        </p:spPr>
        <p:txBody>
          <a:bodyPr wrap="none" lIns="0" rIns="0" tIns="0" bIns="0" anchor="ctr">
            <a:spAutoFit/>
          </a:bodyPr>
          <a:lstStyle/>
          <a:p>
            <a:pPr algn="r"/>
            <a:r>
              <a:rPr sz="900" b="1">
                <a:solidFill>
                  <a:srgbClr val="2E7D32"/>
                </a:solidFill>
                <a:latin typeface="Calibri"/>
              </a:rPr>
              <a:t>+53</a:t>
            </a:r>
          </a:p>
        </p:txBody>
      </p:sp>
      <p:sp>
        <p:nvSpPr>
          <p:cNvPr id="40" name="FMI Legend Chip"/>
          <p:cNvSpPr/>
          <p:nvPr/>
        </p:nvSpPr>
        <p:spPr>
          <a:xfrm>
            <a:off x="4551045" y="307963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4712970" y="30748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299867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Australia</a:t>
            </a:r>
          </a:p>
        </p:txBody>
      </p:sp>
      <p:sp>
        <p:nvSpPr>
          <p:cNvPr id="43" name="BPS Value 7"/>
          <p:cNvSpPr txBox="1"/>
          <p:nvPr/>
        </p:nvSpPr>
        <p:spPr>
          <a:xfrm>
            <a:off x="6305550" y="3060582"/>
            <a:ext cx="514350" cy="123825"/>
          </a:xfrm>
          <a:prstGeom prst="rect">
            <a:avLst/>
          </a:prstGeom>
          <a:noFill/>
        </p:spPr>
        <p:txBody>
          <a:bodyPr wrap="none" lIns="0" rIns="0" tIns="0" bIns="0" anchor="ctr">
            <a:spAutoFit/>
          </a:bodyPr>
          <a:lstStyle/>
          <a:p>
            <a:pPr algn="r"/>
            <a:r>
              <a:rPr sz="900" b="1">
                <a:solidFill>
                  <a:srgbClr val="E44D3A"/>
                </a:solidFill>
                <a:latin typeface="Calibri"/>
              </a:rPr>
              <a:t>-193</a:t>
            </a:r>
          </a:p>
        </p:txBody>
      </p:sp>
      <p:sp>
        <p:nvSpPr>
          <p:cNvPr id="44" name="FMI Legend Chip"/>
          <p:cNvSpPr/>
          <p:nvPr/>
        </p:nvSpPr>
        <p:spPr>
          <a:xfrm>
            <a:off x="4551045" y="355477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a:off x="4712970" y="355001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4855845" y="347381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Indonesia</a:t>
            </a:r>
          </a:p>
        </p:txBody>
      </p:sp>
      <p:sp>
        <p:nvSpPr>
          <p:cNvPr id="47" name="BPS Value 8"/>
          <p:cNvSpPr txBox="1"/>
          <p:nvPr/>
        </p:nvSpPr>
        <p:spPr>
          <a:xfrm>
            <a:off x="6305550" y="3535726"/>
            <a:ext cx="514350" cy="123825"/>
          </a:xfrm>
          <a:prstGeom prst="rect">
            <a:avLst/>
          </a:prstGeom>
          <a:noFill/>
        </p:spPr>
        <p:txBody>
          <a:bodyPr wrap="none" lIns="0" rIns="0" tIns="0" bIns="0" anchor="ctr">
            <a:spAutoFit/>
          </a:bodyPr>
          <a:lstStyle/>
          <a:p>
            <a:pPr algn="r"/>
            <a:r>
              <a:rPr sz="900" b="1">
                <a:solidFill>
                  <a:srgbClr val="2E7D32"/>
                </a:solidFill>
                <a:latin typeface="Calibri"/>
              </a:rPr>
              <a:t>+107</a:t>
            </a:r>
          </a:p>
        </p:txBody>
      </p:sp>
      <p:sp>
        <p:nvSpPr>
          <p:cNvPr id="48" name="FMI Legend Chip"/>
          <p:cNvSpPr/>
          <p:nvPr/>
        </p:nvSpPr>
        <p:spPr>
          <a:xfrm>
            <a:off x="4551045" y="447092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a:off x="4712970" y="446616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4855845" y="438996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India</a:t>
            </a:r>
          </a:p>
        </p:txBody>
      </p:sp>
      <p:sp>
        <p:nvSpPr>
          <p:cNvPr id="51" name="BPS Value 9"/>
          <p:cNvSpPr txBox="1"/>
          <p:nvPr/>
        </p:nvSpPr>
        <p:spPr>
          <a:xfrm>
            <a:off x="6305550" y="4451875"/>
            <a:ext cx="514350" cy="123825"/>
          </a:xfrm>
          <a:prstGeom prst="rect">
            <a:avLst/>
          </a:prstGeom>
          <a:noFill/>
        </p:spPr>
        <p:txBody>
          <a:bodyPr wrap="none" lIns="0" rIns="0" tIns="0" bIns="0" anchor="ctr">
            <a:spAutoFit/>
          </a:bodyPr>
          <a:lstStyle/>
          <a:p>
            <a:pPr algn="r"/>
            <a:r>
              <a:rPr sz="900" b="1">
                <a:solidFill>
                  <a:srgbClr val="2E7D32"/>
                </a:solidFill>
                <a:latin typeface="Calibri"/>
              </a:rPr>
              <a:t>+100</a:t>
            </a:r>
          </a:p>
        </p:txBody>
      </p:sp>
      <p:sp>
        <p:nvSpPr>
          <p:cNvPr id="52" name="Rounded Rectangle 51"/>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54" name="Rectangle 53"/>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India flexible plastic packaging market is projected to register 2.6X higher volume than Indonesia in 2036. Among flexible plastic packaging by country, Philippines is expected to witness the highest CAGR of 7.9% over the forecast period.</a:t>
            </a:r>
          </a:p>
          <a:p>
            <a:pPr algn="l">
              <a:lnSpc>
                <a:spcPct val="110000"/>
              </a:lnSpc>
              <a:spcBef>
                <a:spcPts val="0"/>
              </a:spcBef>
              <a:spcAft>
                <a:spcPts val="500"/>
              </a:spcAft>
            </a:pPr>
            <a:r>
              <a:rPr sz="1150" b="0">
                <a:solidFill>
                  <a:srgbClr val="2E2E2E"/>
                </a:solidFill>
                <a:latin typeface="Calibri"/>
              </a:rPr>
              <a:t>In terms of volume share by country, India is expected to dominate the market, gaining 133 BPS and accounting for 39.7% share by 2036. Australia is expected to lose 204 BPS over the forecast period to account for 13.1% share by 2036.</a:t>
            </a:r>
          </a:p>
          <a:p>
            <a:pPr algn="l">
              <a:lnSpc>
                <a:spcPct val="110000"/>
              </a:lnSpc>
              <a:spcBef>
                <a:spcPts val="0"/>
              </a:spcBef>
              <a:spcAft>
                <a:spcPts val="500"/>
              </a:spcAft>
            </a:pPr>
            <a:r>
              <a:rPr sz="1150" b="0">
                <a:solidFill>
                  <a:srgbClr val="2E2E2E"/>
                </a:solidFill>
                <a:latin typeface="Calibri"/>
              </a:rPr>
              <a:t>The Philippines grows fastest at 7.9% in volume against 6.5% for the region because a young population, rising incomes, expanding modern retail and a strong sachet and small-pack culture in food, beverage and personal care add packaged consumption. Indonesia follows at 7.4% and gains the most share, up 107 BPS. Australia and Singapore grow slowest as mature, high-income markets.</a:t>
            </a:r>
          </a:p>
        </p:txBody>
      </p:sp>
      <p:sp>
        <p:nvSpPr>
          <p:cNvPr id="56" name="Rounded Rectangle 55"/>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(THOUSAND MT)</a:t>
            </a:r>
          </a:p>
          <a:p>
            <a:pPr algn="ctr">
              <a:lnSpc>
                <a:spcPct val="95000"/>
              </a:lnSpc>
            </a:pPr>
            <a:r>
              <a:rPr sz="2000" b="1">
                <a:solidFill>
                  <a:srgbClr val="0E72AE"/>
                </a:solidFill>
                <a:latin typeface="Calibri"/>
              </a:rPr>
              <a:t>5,512</a:t>
            </a:r>
          </a:p>
        </p:txBody>
      </p:sp>
      <p:sp>
        <p:nvSpPr>
          <p:cNvPr id="57" name="Rounded Rectangle 56"/>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(THOUSAND MT)</a:t>
            </a:r>
          </a:p>
          <a:p>
            <a:pPr algn="ctr">
              <a:lnSpc>
                <a:spcPct val="95000"/>
              </a:lnSpc>
            </a:pPr>
            <a:r>
              <a:rPr sz="2000" b="1">
                <a:solidFill>
                  <a:srgbClr val="0E72AE"/>
                </a:solidFill>
                <a:latin typeface="Calibri"/>
              </a:rPr>
              <a:t>10,389</a:t>
            </a:r>
          </a:p>
        </p:txBody>
      </p:sp>
      <p:sp>
        <p:nvSpPr>
          <p:cNvPr id="58" name="Rounded Rectangle 57"/>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6.5%</a:t>
            </a:r>
          </a:p>
        </p:txBody>
      </p:sp>
      <p:sp>
        <p:nvSpPr>
          <p:cNvPr id="59" name="TextBox 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15481"/>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1071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434518"/>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New Zealand</a:t>
            </a:r>
          </a:p>
        </p:txBody>
      </p:sp>
      <p:sp>
        <p:nvSpPr>
          <p:cNvPr id="19" name="BPS Value 1"/>
          <p:cNvSpPr txBox="1"/>
          <p:nvPr/>
        </p:nvSpPr>
        <p:spPr>
          <a:xfrm>
            <a:off x="6305550" y="1496431"/>
            <a:ext cx="514350" cy="123825"/>
          </a:xfrm>
          <a:prstGeom prst="rect">
            <a:avLst/>
          </a:prstGeom>
          <a:noFill/>
        </p:spPr>
        <p:txBody>
          <a:bodyPr wrap="none" lIns="0" rIns="0" tIns="0" bIns="0" anchor="ctr">
            <a:spAutoFit/>
          </a:bodyPr>
          <a:lstStyle/>
          <a:p>
            <a:pPr algn="r"/>
            <a:r>
              <a:rPr sz="900" b="1">
                <a:solidFill>
                  <a:srgbClr val="E44D3A"/>
                </a:solidFill>
                <a:latin typeface="Calibri"/>
              </a:rPr>
              <a:t>-53</a:t>
            </a:r>
          </a:p>
        </p:txBody>
      </p:sp>
      <p:sp>
        <p:nvSpPr>
          <p:cNvPr id="20" name="FMI Legend Chip"/>
          <p:cNvSpPr/>
          <p:nvPr/>
        </p:nvSpPr>
        <p:spPr>
          <a:xfrm>
            <a:off x="4551045" y="1639306"/>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163454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55834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Singapore</a:t>
            </a:r>
          </a:p>
        </p:txBody>
      </p:sp>
      <p:sp>
        <p:nvSpPr>
          <p:cNvPr id="23" name="BPS Value 2"/>
          <p:cNvSpPr txBox="1"/>
          <p:nvPr/>
        </p:nvSpPr>
        <p:spPr>
          <a:xfrm>
            <a:off x="6305550" y="1620256"/>
            <a:ext cx="514350" cy="123825"/>
          </a:xfrm>
          <a:prstGeom prst="rect">
            <a:avLst/>
          </a:prstGeom>
          <a:noFill/>
        </p:spPr>
        <p:txBody>
          <a:bodyPr wrap="none" lIns="0" rIns="0" tIns="0" bIns="0" anchor="ctr">
            <a:spAutoFit/>
          </a:bodyPr>
          <a:lstStyle/>
          <a:p>
            <a:pPr algn="r"/>
            <a:r>
              <a:rPr sz="900" b="1">
                <a:solidFill>
                  <a:srgbClr val="E44D3A"/>
                </a:solidFill>
                <a:latin typeface="Calibri"/>
              </a:rPr>
              <a:t>-48</a:t>
            </a:r>
          </a:p>
        </p:txBody>
      </p:sp>
      <p:sp>
        <p:nvSpPr>
          <p:cNvPr id="24" name="FMI Legend Chip"/>
          <p:cNvSpPr/>
          <p:nvPr/>
        </p:nvSpPr>
        <p:spPr>
          <a:xfrm>
            <a:off x="4551045" y="1804431"/>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179966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172346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Malaysia</a:t>
            </a:r>
          </a:p>
        </p:txBody>
      </p:sp>
      <p:sp>
        <p:nvSpPr>
          <p:cNvPr id="27" name="BPS Value 3"/>
          <p:cNvSpPr txBox="1"/>
          <p:nvPr/>
        </p:nvSpPr>
        <p:spPr>
          <a:xfrm>
            <a:off x="6305550" y="1785381"/>
            <a:ext cx="514350" cy="123825"/>
          </a:xfrm>
          <a:prstGeom prst="rect">
            <a:avLst/>
          </a:prstGeom>
          <a:noFill/>
        </p:spPr>
        <p:txBody>
          <a:bodyPr wrap="none" lIns="0" rIns="0" tIns="0" bIns="0" anchor="ctr">
            <a:spAutoFit/>
          </a:bodyPr>
          <a:lstStyle/>
          <a:p>
            <a:pPr algn="r"/>
            <a:r>
              <a:rPr sz="900" b="1">
                <a:solidFill>
                  <a:srgbClr val="E44D3A"/>
                </a:solidFill>
                <a:latin typeface="Calibri"/>
              </a:rPr>
              <a:t>-9</a:t>
            </a:r>
          </a:p>
        </p:txBody>
      </p:sp>
      <p:sp>
        <p:nvSpPr>
          <p:cNvPr id="28" name="FMI Legend Chip"/>
          <p:cNvSpPr/>
          <p:nvPr/>
        </p:nvSpPr>
        <p:spPr>
          <a:xfrm>
            <a:off x="4551045" y="2080611"/>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207584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199964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Philippines</a:t>
            </a:r>
          </a:p>
        </p:txBody>
      </p:sp>
      <p:sp>
        <p:nvSpPr>
          <p:cNvPr id="31" name="BPS Value 4"/>
          <p:cNvSpPr txBox="1"/>
          <p:nvPr/>
        </p:nvSpPr>
        <p:spPr>
          <a:xfrm>
            <a:off x="6305550" y="2061561"/>
            <a:ext cx="514350" cy="123825"/>
          </a:xfrm>
          <a:prstGeom prst="rect">
            <a:avLst/>
          </a:prstGeom>
          <a:noFill/>
        </p:spPr>
        <p:txBody>
          <a:bodyPr wrap="none" lIns="0" rIns="0" tIns="0" bIns="0" anchor="ctr">
            <a:spAutoFit/>
          </a:bodyPr>
          <a:lstStyle/>
          <a:p>
            <a:pPr algn="r"/>
            <a:r>
              <a:rPr sz="900" b="1">
                <a:solidFill>
                  <a:srgbClr val="2E7D32"/>
                </a:solidFill>
                <a:latin typeface="Calibri"/>
              </a:rPr>
              <a:t>+107</a:t>
            </a:r>
          </a:p>
        </p:txBody>
      </p:sp>
      <p:sp>
        <p:nvSpPr>
          <p:cNvPr id="32" name="FMI Legend Chip"/>
          <p:cNvSpPr/>
          <p:nvPr/>
        </p:nvSpPr>
        <p:spPr>
          <a:xfrm>
            <a:off x="4551045" y="2388083"/>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4712970" y="238332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230712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Thailand</a:t>
            </a:r>
          </a:p>
        </p:txBody>
      </p:sp>
      <p:sp>
        <p:nvSpPr>
          <p:cNvPr id="35" name="BPS Value 5"/>
          <p:cNvSpPr txBox="1"/>
          <p:nvPr/>
        </p:nvSpPr>
        <p:spPr>
          <a:xfrm>
            <a:off x="6305550" y="2369033"/>
            <a:ext cx="514350" cy="123825"/>
          </a:xfrm>
          <a:prstGeom prst="rect">
            <a:avLst/>
          </a:prstGeom>
          <a:noFill/>
        </p:spPr>
        <p:txBody>
          <a:bodyPr wrap="none" lIns="0" rIns="0" tIns="0" bIns="0" anchor="ctr">
            <a:spAutoFit/>
          </a:bodyPr>
          <a:lstStyle/>
          <a:p>
            <a:pPr algn="r"/>
            <a:r>
              <a:rPr sz="900" b="1">
                <a:solidFill>
                  <a:srgbClr val="E44D3A"/>
                </a:solidFill>
                <a:latin typeface="Calibri"/>
              </a:rPr>
              <a:t>-36</a:t>
            </a:r>
          </a:p>
        </p:txBody>
      </p:sp>
      <p:sp>
        <p:nvSpPr>
          <p:cNvPr id="36" name="FMI Legend Chip"/>
          <p:cNvSpPr/>
          <p:nvPr/>
        </p:nvSpPr>
        <p:spPr>
          <a:xfrm>
            <a:off x="4551045" y="2718874"/>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2970" y="271411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263791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Rest of South Asia</a:t>
            </a:r>
          </a:p>
        </p:txBody>
      </p:sp>
      <p:sp>
        <p:nvSpPr>
          <p:cNvPr id="39" name="BPS Value 6"/>
          <p:cNvSpPr txBox="1"/>
          <p:nvPr/>
        </p:nvSpPr>
        <p:spPr>
          <a:xfrm>
            <a:off x="6305550" y="2699824"/>
            <a:ext cx="514350" cy="123825"/>
          </a:xfrm>
          <a:prstGeom prst="rect">
            <a:avLst/>
          </a:prstGeom>
          <a:noFill/>
        </p:spPr>
        <p:txBody>
          <a:bodyPr wrap="none" lIns="0" rIns="0" tIns="0" bIns="0" anchor="ctr">
            <a:spAutoFit/>
          </a:bodyPr>
          <a:lstStyle/>
          <a:p>
            <a:pPr algn="r"/>
            <a:r>
              <a:rPr sz="900" b="1">
                <a:solidFill>
                  <a:srgbClr val="2E7D32"/>
                </a:solidFill>
                <a:latin typeface="Calibri"/>
              </a:rPr>
              <a:t>+86</a:t>
            </a:r>
          </a:p>
        </p:txBody>
      </p:sp>
      <p:sp>
        <p:nvSpPr>
          <p:cNvPr id="40" name="FMI Legend Chip"/>
          <p:cNvSpPr/>
          <p:nvPr/>
        </p:nvSpPr>
        <p:spPr>
          <a:xfrm>
            <a:off x="4551045" y="313399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a:off x="4712970" y="312923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305303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Indonesia</a:t>
            </a:r>
          </a:p>
        </p:txBody>
      </p:sp>
      <p:sp>
        <p:nvSpPr>
          <p:cNvPr id="43" name="BPS Value 7"/>
          <p:cNvSpPr txBox="1"/>
          <p:nvPr/>
        </p:nvSpPr>
        <p:spPr>
          <a:xfrm>
            <a:off x="6305550" y="3114945"/>
            <a:ext cx="514350" cy="123825"/>
          </a:xfrm>
          <a:prstGeom prst="rect">
            <a:avLst/>
          </a:prstGeom>
          <a:noFill/>
        </p:spPr>
        <p:txBody>
          <a:bodyPr wrap="none" lIns="0" rIns="0" tIns="0" bIns="0" anchor="ctr">
            <a:spAutoFit/>
          </a:bodyPr>
          <a:lstStyle/>
          <a:p>
            <a:pPr algn="r"/>
            <a:r>
              <a:rPr sz="900" b="1">
                <a:solidFill>
                  <a:srgbClr val="2E7D32"/>
                </a:solidFill>
                <a:latin typeface="Calibri"/>
              </a:rPr>
              <a:t>+113</a:t>
            </a:r>
          </a:p>
        </p:txBody>
      </p:sp>
      <p:sp>
        <p:nvSpPr>
          <p:cNvPr id="44" name="FMI Legend Chip"/>
          <p:cNvSpPr/>
          <p:nvPr/>
        </p:nvSpPr>
        <p:spPr>
          <a:xfrm>
            <a:off x="4551045" y="365867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rot="10800000">
            <a:off x="4712970" y="36539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4855845" y="357770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Australia</a:t>
            </a:r>
          </a:p>
        </p:txBody>
      </p:sp>
      <p:sp>
        <p:nvSpPr>
          <p:cNvPr id="47" name="BPS Value 8"/>
          <p:cNvSpPr txBox="1"/>
          <p:nvPr/>
        </p:nvSpPr>
        <p:spPr>
          <a:xfrm>
            <a:off x="6305550" y="3639620"/>
            <a:ext cx="514350" cy="123825"/>
          </a:xfrm>
          <a:prstGeom prst="rect">
            <a:avLst/>
          </a:prstGeom>
          <a:noFill/>
        </p:spPr>
        <p:txBody>
          <a:bodyPr wrap="none" lIns="0" rIns="0" tIns="0" bIns="0" anchor="ctr">
            <a:spAutoFit/>
          </a:bodyPr>
          <a:lstStyle/>
          <a:p>
            <a:pPr algn="r"/>
            <a:r>
              <a:rPr sz="900" b="1">
                <a:solidFill>
                  <a:srgbClr val="E44D3A"/>
                </a:solidFill>
                <a:latin typeface="Calibri"/>
              </a:rPr>
              <a:t>-236</a:t>
            </a:r>
          </a:p>
        </p:txBody>
      </p:sp>
      <p:sp>
        <p:nvSpPr>
          <p:cNvPr id="48" name="FMI Legend Chip"/>
          <p:cNvSpPr/>
          <p:nvPr/>
        </p:nvSpPr>
        <p:spPr>
          <a:xfrm>
            <a:off x="4551045" y="453523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a:off x="4712970" y="453047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4855845" y="445427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India</a:t>
            </a:r>
          </a:p>
        </p:txBody>
      </p:sp>
      <p:sp>
        <p:nvSpPr>
          <p:cNvPr id="51" name="BPS Value 9"/>
          <p:cNvSpPr txBox="1"/>
          <p:nvPr/>
        </p:nvSpPr>
        <p:spPr>
          <a:xfrm>
            <a:off x="6305550" y="4516184"/>
            <a:ext cx="514350" cy="123825"/>
          </a:xfrm>
          <a:prstGeom prst="rect">
            <a:avLst/>
          </a:prstGeom>
          <a:noFill/>
        </p:spPr>
        <p:txBody>
          <a:bodyPr wrap="none" lIns="0" rIns="0" tIns="0" bIns="0" anchor="ctr">
            <a:spAutoFit/>
          </a:bodyPr>
          <a:lstStyle/>
          <a:p>
            <a:pPr algn="r"/>
            <a:r>
              <a:rPr sz="900" b="1">
                <a:solidFill>
                  <a:srgbClr val="2E7D32"/>
                </a:solidFill>
                <a:latin typeface="Calibri"/>
              </a:rPr>
              <a:t>+76</a:t>
            </a:r>
          </a:p>
        </p:txBody>
      </p:sp>
      <p:sp>
        <p:nvSpPr>
          <p:cNvPr id="52" name="Rounded Rectangle 51"/>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54" name="Rectangle 53"/>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India flexible plastic packaging market is projected to register 2.1X higher value than Australia in 2036. Among flexible plastic packaging by country, Philippines is expected to witness the highest CAGR of 9.3% over the forecast period.</a:t>
            </a:r>
          </a:p>
          <a:p>
            <a:pPr algn="l">
              <a:lnSpc>
                <a:spcPct val="110000"/>
              </a:lnSpc>
              <a:spcBef>
                <a:spcPts val="0"/>
              </a:spcBef>
              <a:spcAft>
                <a:spcPts val="500"/>
              </a:spcAft>
            </a:pPr>
            <a:r>
              <a:rPr sz="1150" b="0">
                <a:solidFill>
                  <a:srgbClr val="2E2E2E"/>
                </a:solidFill>
                <a:latin typeface="Calibri"/>
              </a:rPr>
              <a:t>In terms of value share by country, India is expected to dominate the market, gaining 117 BPS and accounting for 35.8% share by 2036. Australia is expected to lose 242 BPS over the forecast period to account for 17.0% share by 2036.</a:t>
            </a:r>
          </a:p>
          <a:p>
            <a:pPr algn="l">
              <a:lnSpc>
                <a:spcPct val="110000"/>
              </a:lnSpc>
              <a:spcBef>
                <a:spcPts val="0"/>
              </a:spcBef>
              <a:spcAft>
                <a:spcPts val="500"/>
              </a:spcAft>
            </a:pPr>
            <a:r>
              <a:rPr sz="1150" b="0">
                <a:solidFill>
                  <a:srgbClr val="2E2E2E"/>
                </a:solidFill>
                <a:latin typeface="Calibri"/>
              </a:rPr>
              <a:t>The Philippines grows fastest at 9.3% because rising incomes, a young population, sachet-led consumption and expanding modern retail and e-commerce lift packaged-food demand from a small base. Indonesia at 8.7% and Rest of South Asia at 8.8% follow the same drivers, India at 8.0% is large and diversifying, and Australia and New Zealand at 6.2% and 6.0% are mature.</a:t>
            </a:r>
          </a:p>
        </p:txBody>
      </p:sp>
      <p:sp>
        <p:nvSpPr>
          <p:cNvPr id="56" name="Rounded Rectangle 55"/>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15,462</a:t>
            </a:r>
          </a:p>
        </p:txBody>
      </p:sp>
      <p:sp>
        <p:nvSpPr>
          <p:cNvPr id="57" name="Rounded Rectangle 56"/>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32,687</a:t>
            </a:r>
          </a:p>
        </p:txBody>
      </p:sp>
      <p:sp>
        <p:nvSpPr>
          <p:cNvPr id="58" name="Rounded Rectangle 57"/>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7.8%</a:t>
            </a:r>
          </a:p>
        </p:txBody>
      </p:sp>
      <p:sp>
        <p:nvSpPr>
          <p:cNvPr id="59" name="TextBox 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Share Analysis, By Country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Market Size, By Country (Thousand MT)</a:t>
            </a:r>
          </a:p>
        </p:txBody>
      </p:sp>
      <p:graphicFrame>
        <p:nvGraphicFramePr>
          <p:cNvPr id="13" name="Table 12"/>
          <p:cNvGraphicFramePr>
            <a:graphicFrameLocks noGrp="1"/>
          </p:cNvGraphicFramePr>
          <p:nvPr/>
        </p:nvGraphicFramePr>
        <p:xfrm>
          <a:off x="152400" y="1238250"/>
          <a:ext cx="11887195" cy="2371725"/>
        </p:xfrm>
        <a:graphic>
          <a:graphicData uri="http://schemas.openxmlformats.org/drawingml/2006/table">
            <a:tbl>
              <a:tblPr>
                <a:tableStyleId>{5C22544A-7EE6-4342-B048-85BDC9FD1C3A}</a:tableStyleId>
              </a:tblPr>
              <a:tblGrid>
                <a:gridCol w="1338151"/>
                <a:gridCol w="620532"/>
                <a:gridCol w="620532"/>
                <a:gridCol w="620532"/>
                <a:gridCol w="620532"/>
                <a:gridCol w="620532"/>
                <a:gridCol w="620532"/>
                <a:gridCol w="620532"/>
                <a:gridCol w="620532"/>
                <a:gridCol w="620532"/>
                <a:gridCol w="620532"/>
                <a:gridCol w="620532"/>
                <a:gridCol w="620532"/>
                <a:gridCol w="620532"/>
                <a:gridCol w="620532"/>
                <a:gridCol w="620532"/>
                <a:gridCol w="620532"/>
                <a:gridCol w="620532"/>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46">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Malaysia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Indonesia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Singapore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Philippines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Australia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New Zealand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Rest of South Asia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619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952875"/>
            <a:ext cx="11906250" cy="2676525"/>
          </a:xfrm>
          <a:prstGeom prst="roundRect">
            <a:avLst>
              <a:gd name="adj" fmla="val 2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03860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Volume Share Read-out, By Country</a:t>
            </a:r>
          </a:p>
        </p:txBody>
      </p:sp>
      <p:sp>
        <p:nvSpPr>
          <p:cNvPr id="17" name="Rectangle 16"/>
          <p:cNvSpPr/>
          <p:nvPr/>
        </p:nvSpPr>
        <p:spPr>
          <a:xfrm>
            <a:off x="276225" y="4276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362450"/>
            <a:ext cx="11639550" cy="21907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India flexible plastic packaging market is projected to register 2.6X higher volume than Indonesia in 2036. Among flexible plastic packaging by country, Philippines is expected to witness the highest CAGR of 7.9% over the forecast period.</a:t>
            </a:r>
          </a:p>
          <a:p>
            <a:pPr algn="l">
              <a:lnSpc>
                <a:spcPct val="110000"/>
              </a:lnSpc>
              <a:spcBef>
                <a:spcPts val="0"/>
              </a:spcBef>
              <a:spcAft>
                <a:spcPts val="500"/>
              </a:spcAft>
            </a:pPr>
            <a:r>
              <a:rPr sz="1150" b="0">
                <a:solidFill>
                  <a:srgbClr val="2E2E2E"/>
                </a:solidFill>
                <a:latin typeface="Calibri"/>
              </a:rPr>
              <a:t>In terms of volume share by country, India is expected to dominate the market, gaining 133 BPS and accounting for 39.7% share by 2036. Australia is expected to lose 204 BPS over the forecast period to account for 13.1% share by 2036.</a:t>
            </a:r>
          </a:p>
          <a:p>
            <a:pPr algn="l">
              <a:lnSpc>
                <a:spcPct val="110000"/>
              </a:lnSpc>
              <a:spcBef>
                <a:spcPts val="0"/>
              </a:spcBef>
              <a:spcAft>
                <a:spcPts val="500"/>
              </a:spcAft>
            </a:pPr>
            <a:r>
              <a:rPr sz="1150" b="0">
                <a:solidFill>
                  <a:srgbClr val="2E2E2E"/>
                </a:solidFill>
                <a:latin typeface="Calibri"/>
              </a:rPr>
              <a:t>Indonesia gains 107 BPS and the Philippines 94 BPS because they grow at 7.4% and 7.9%, driven by young populations, rising incomes, sachet-led consumption and expanding modern retail and food delivery. India, at 6.8%, also gains 100 BPS on scale. Australia loses 193 BPS as a mature market growing at 5.0%, as do Singapore and New Zealand.</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Market Size, By Country (US$ Mn)</a:t>
            </a:r>
          </a:p>
        </p:txBody>
      </p:sp>
      <p:graphicFrame>
        <p:nvGraphicFramePr>
          <p:cNvPr id="13" name="Table 12"/>
          <p:cNvGraphicFramePr>
            <a:graphicFrameLocks noGrp="1"/>
          </p:cNvGraphicFramePr>
          <p:nvPr/>
        </p:nvGraphicFramePr>
        <p:xfrm>
          <a:off x="152400" y="1238250"/>
          <a:ext cx="11887195" cy="2371725"/>
        </p:xfrm>
        <a:graphic>
          <a:graphicData uri="http://schemas.openxmlformats.org/drawingml/2006/table">
            <a:tbl>
              <a:tblPr>
                <a:tableStyleId>{5C22544A-7EE6-4342-B048-85BDC9FD1C3A}</a:tableStyleId>
              </a:tblPr>
              <a:tblGrid>
                <a:gridCol w="1338151"/>
                <a:gridCol w="620532"/>
                <a:gridCol w="620532"/>
                <a:gridCol w="620532"/>
                <a:gridCol w="620532"/>
                <a:gridCol w="620532"/>
                <a:gridCol w="620532"/>
                <a:gridCol w="620532"/>
                <a:gridCol w="620532"/>
                <a:gridCol w="620532"/>
                <a:gridCol w="620532"/>
                <a:gridCol w="620532"/>
                <a:gridCol w="620532"/>
                <a:gridCol w="620532"/>
                <a:gridCol w="620532"/>
                <a:gridCol w="620532"/>
                <a:gridCol w="620532"/>
                <a:gridCol w="620532"/>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46">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Malaysia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Indonesia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Singapore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Philippines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Australia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New Zealand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Rest of South Asia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619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952875"/>
            <a:ext cx="11906250" cy="2676525"/>
          </a:xfrm>
          <a:prstGeom prst="roundRect">
            <a:avLst>
              <a:gd name="adj" fmla="val 2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03860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Share Read-out, By Country</a:t>
            </a:r>
          </a:p>
        </p:txBody>
      </p:sp>
      <p:sp>
        <p:nvSpPr>
          <p:cNvPr id="17" name="Rectangle 16"/>
          <p:cNvSpPr/>
          <p:nvPr/>
        </p:nvSpPr>
        <p:spPr>
          <a:xfrm>
            <a:off x="276225" y="4276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362450"/>
            <a:ext cx="11639550" cy="21907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India flexible plastic packaging market is projected to register 2.1X higher value than Australia in 2036. Among flexible plastic packaging by country, Philippines is expected to witness the highest CAGR of 9.3% over the forecast period.</a:t>
            </a:r>
          </a:p>
          <a:p>
            <a:pPr algn="l">
              <a:lnSpc>
                <a:spcPct val="110000"/>
              </a:lnSpc>
              <a:spcBef>
                <a:spcPts val="0"/>
              </a:spcBef>
              <a:spcAft>
                <a:spcPts val="500"/>
              </a:spcAft>
            </a:pPr>
            <a:r>
              <a:rPr sz="1150" b="0">
                <a:solidFill>
                  <a:srgbClr val="2E2E2E"/>
                </a:solidFill>
                <a:latin typeface="Calibri"/>
              </a:rPr>
              <a:t>In terms of value share by country, India is expected to dominate the market, gaining 117 BPS and accounting for 35.8% share by 2036. Australia is expected to lose 242 BPS over the forecast period to account for 17.0% share by 2036.</a:t>
            </a:r>
          </a:p>
          <a:p>
            <a:pPr algn="l">
              <a:lnSpc>
                <a:spcPct val="110000"/>
              </a:lnSpc>
              <a:spcBef>
                <a:spcPts val="0"/>
              </a:spcBef>
              <a:spcAft>
                <a:spcPts val="500"/>
              </a:spcAft>
            </a:pPr>
            <a:r>
              <a:rPr sz="1150" b="0">
                <a:solidFill>
                  <a:srgbClr val="2E2E2E"/>
                </a:solidFill>
                <a:latin typeface="Calibri"/>
              </a:rPr>
              <a:t>Indonesia gains 113 BPS of share, and the Philippines 107 BPS, because populous, urbanising markets with rising incomes shift quickly to packaged food, modern retail and sachets and pouches, growing at 8.7% and 9.3%. Australia loses 236 BPS as a mature, high-income market growing 6.2%, slower than India at 8.0% and the 7.8% regional rate.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By Country (Thousand MT)</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r>
              <a:rPr sz="850" b="1">
                <a:solidFill>
                  <a:srgbClr val="6C7A89"/>
                </a:solidFill>
                <a:latin typeface="Calibri"/>
              </a:rPr>
              <a:t>By segment</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India</a:t>
            </a:r>
          </a:p>
          <a:p>
            <a:pPr>
              <a:spcBef>
                <a:spcPts val="500"/>
              </a:spcBef>
            </a:pPr>
            <a:r>
              <a:rPr sz="900">
                <a:solidFill>
                  <a:srgbClr val="008189"/>
                </a:solidFill>
                <a:latin typeface="Calibri"/>
              </a:rPr>
              <a:t>■  </a:t>
            </a:r>
            <a:r>
              <a:rPr sz="750">
                <a:solidFill>
                  <a:srgbClr val="2E2E2E"/>
                </a:solidFill>
                <a:latin typeface="Calibri"/>
              </a:rPr>
              <a:t>   Indonesia</a:t>
            </a:r>
          </a:p>
          <a:p>
            <a:pPr>
              <a:spcBef>
                <a:spcPts val="500"/>
              </a:spcBef>
            </a:pPr>
            <a:r>
              <a:rPr sz="900">
                <a:solidFill>
                  <a:srgbClr val="9E7E0A"/>
                </a:solidFill>
                <a:latin typeface="Calibri"/>
              </a:rPr>
              <a:t>■  </a:t>
            </a:r>
            <a:r>
              <a:rPr sz="750">
                <a:solidFill>
                  <a:srgbClr val="2E2E2E"/>
                </a:solidFill>
                <a:latin typeface="Calibri"/>
              </a:rPr>
              <a:t>   Australia</a:t>
            </a:r>
          </a:p>
          <a:p>
            <a:pPr>
              <a:spcBef>
                <a:spcPts val="500"/>
              </a:spcBef>
            </a:pPr>
            <a:r>
              <a:rPr sz="900">
                <a:solidFill>
                  <a:srgbClr val="A35313"/>
                </a:solidFill>
                <a:latin typeface="Calibri"/>
              </a:rPr>
              <a:t>■  </a:t>
            </a:r>
            <a:r>
              <a:rPr sz="750">
                <a:solidFill>
                  <a:srgbClr val="2E2E2E"/>
                </a:solidFill>
                <a:latin typeface="Calibri"/>
              </a:rPr>
              <a:t>   Rest of South Asia</a:t>
            </a:r>
          </a:p>
          <a:p>
            <a:pPr>
              <a:spcBef>
                <a:spcPts val="500"/>
              </a:spcBef>
            </a:pPr>
            <a:r>
              <a:rPr sz="900">
                <a:solidFill>
                  <a:srgbClr val="40315E"/>
                </a:solidFill>
                <a:latin typeface="Calibri"/>
              </a:rPr>
              <a:t>■  </a:t>
            </a:r>
            <a:r>
              <a:rPr sz="750">
                <a:solidFill>
                  <a:srgbClr val="2E2E2E"/>
                </a:solidFill>
                <a:latin typeface="Calibri"/>
              </a:rPr>
              <a:t>   Thailand</a:t>
            </a:r>
          </a:p>
          <a:p>
            <a:pPr>
              <a:spcBef>
                <a:spcPts val="500"/>
              </a:spcBef>
            </a:pPr>
            <a:r>
              <a:rPr sz="900">
                <a:solidFill>
                  <a:srgbClr val="0E72AE"/>
                </a:solidFill>
                <a:latin typeface="Calibri"/>
              </a:rPr>
              <a:t>■  </a:t>
            </a:r>
            <a:r>
              <a:rPr sz="750">
                <a:solidFill>
                  <a:srgbClr val="2E2E2E"/>
                </a:solidFill>
                <a:latin typeface="Calibri"/>
              </a:rPr>
              <a:t>   Philippines</a:t>
            </a:r>
          </a:p>
          <a:p>
            <a:pPr>
              <a:spcBef>
                <a:spcPts val="500"/>
              </a:spcBef>
            </a:pPr>
            <a:r>
              <a:rPr sz="900">
                <a:solidFill>
                  <a:srgbClr val="808080"/>
                </a:solidFill>
                <a:latin typeface="Calibri"/>
              </a:rPr>
              <a:t>■  </a:t>
            </a:r>
            <a:r>
              <a:rPr sz="750">
                <a:solidFill>
                  <a:srgbClr val="2E2E2E"/>
                </a:solidFill>
                <a:latin typeface="Calibri"/>
              </a:rPr>
              <a:t>   Malaysia</a:t>
            </a:r>
          </a:p>
          <a:p>
            <a:pPr>
              <a:spcBef>
                <a:spcPts val="500"/>
              </a:spcBef>
            </a:pPr>
            <a:r>
              <a:rPr sz="900">
                <a:solidFill>
                  <a:srgbClr val="A86F00"/>
                </a:solidFill>
                <a:latin typeface="Calibri"/>
              </a:rPr>
              <a:t>■  </a:t>
            </a:r>
            <a:r>
              <a:rPr sz="750">
                <a:solidFill>
                  <a:srgbClr val="2E2E2E"/>
                </a:solidFill>
                <a:latin typeface="Calibri"/>
              </a:rPr>
              <a:t>   Singapore</a:t>
            </a:r>
          </a:p>
          <a:p>
            <a:pPr>
              <a:spcBef>
                <a:spcPts val="500"/>
              </a:spcBef>
            </a:pPr>
            <a:r>
              <a:rPr sz="900">
                <a:solidFill>
                  <a:srgbClr val="0B2E4A"/>
                </a:solidFill>
                <a:latin typeface="Calibri"/>
              </a:rPr>
              <a:t>■  </a:t>
            </a:r>
            <a:r>
              <a:rPr sz="750">
                <a:solidFill>
                  <a:srgbClr val="2E2E2E"/>
                </a:solidFill>
                <a:latin typeface="Calibri"/>
              </a:rPr>
              <a:t>   New Zealand</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Country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r>
              <a:rPr sz="850" b="1">
                <a:solidFill>
                  <a:srgbClr val="6C7A89"/>
                </a:solidFill>
                <a:latin typeface="Calibri"/>
              </a:rPr>
              <a:t>By segment</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India</a:t>
            </a:r>
          </a:p>
          <a:p>
            <a:pPr>
              <a:spcBef>
                <a:spcPts val="500"/>
              </a:spcBef>
            </a:pPr>
            <a:r>
              <a:rPr sz="900">
                <a:solidFill>
                  <a:srgbClr val="9E7E0A"/>
                </a:solidFill>
                <a:latin typeface="Calibri"/>
              </a:rPr>
              <a:t>■  </a:t>
            </a:r>
            <a:r>
              <a:rPr sz="750">
                <a:solidFill>
                  <a:srgbClr val="2E2E2E"/>
                </a:solidFill>
                <a:latin typeface="Calibri"/>
              </a:rPr>
              <a:t>   Australia</a:t>
            </a:r>
          </a:p>
          <a:p>
            <a:pPr>
              <a:spcBef>
                <a:spcPts val="500"/>
              </a:spcBef>
            </a:pPr>
            <a:r>
              <a:rPr sz="900">
                <a:solidFill>
                  <a:srgbClr val="008189"/>
                </a:solidFill>
                <a:latin typeface="Calibri"/>
              </a:rPr>
              <a:t>■  </a:t>
            </a:r>
            <a:r>
              <a:rPr sz="750">
                <a:solidFill>
                  <a:srgbClr val="2E2E2E"/>
                </a:solidFill>
                <a:latin typeface="Calibri"/>
              </a:rPr>
              <a:t>   Indonesia</a:t>
            </a:r>
          </a:p>
          <a:p>
            <a:pPr>
              <a:spcBef>
                <a:spcPts val="500"/>
              </a:spcBef>
            </a:pPr>
            <a:r>
              <a:rPr sz="900">
                <a:solidFill>
                  <a:srgbClr val="A35313"/>
                </a:solidFill>
                <a:latin typeface="Calibri"/>
              </a:rPr>
              <a:t>■  </a:t>
            </a:r>
            <a:r>
              <a:rPr sz="750">
                <a:solidFill>
                  <a:srgbClr val="2E2E2E"/>
                </a:solidFill>
                <a:latin typeface="Calibri"/>
              </a:rPr>
              <a:t>   Rest of South Asia</a:t>
            </a:r>
          </a:p>
          <a:p>
            <a:pPr>
              <a:spcBef>
                <a:spcPts val="500"/>
              </a:spcBef>
            </a:pPr>
            <a:r>
              <a:rPr sz="900">
                <a:solidFill>
                  <a:srgbClr val="40315E"/>
                </a:solidFill>
                <a:latin typeface="Calibri"/>
              </a:rPr>
              <a:t>■  </a:t>
            </a:r>
            <a:r>
              <a:rPr sz="750">
                <a:solidFill>
                  <a:srgbClr val="2E2E2E"/>
                </a:solidFill>
                <a:latin typeface="Calibri"/>
              </a:rPr>
              <a:t>   Thailand</a:t>
            </a:r>
          </a:p>
          <a:p>
            <a:pPr>
              <a:spcBef>
                <a:spcPts val="500"/>
              </a:spcBef>
            </a:pPr>
            <a:r>
              <a:rPr sz="900">
                <a:solidFill>
                  <a:srgbClr val="0E72AE"/>
                </a:solidFill>
                <a:latin typeface="Calibri"/>
              </a:rPr>
              <a:t>■  </a:t>
            </a:r>
            <a:r>
              <a:rPr sz="750">
                <a:solidFill>
                  <a:srgbClr val="2E2E2E"/>
                </a:solidFill>
                <a:latin typeface="Calibri"/>
              </a:rPr>
              <a:t>   Philippines</a:t>
            </a:r>
          </a:p>
          <a:p>
            <a:pPr>
              <a:spcBef>
                <a:spcPts val="500"/>
              </a:spcBef>
            </a:pPr>
            <a:r>
              <a:rPr sz="900">
                <a:solidFill>
                  <a:srgbClr val="808080"/>
                </a:solidFill>
                <a:latin typeface="Calibri"/>
              </a:rPr>
              <a:t>■  </a:t>
            </a:r>
            <a:r>
              <a:rPr sz="750">
                <a:solidFill>
                  <a:srgbClr val="2E2E2E"/>
                </a:solidFill>
                <a:latin typeface="Calibri"/>
              </a:rPr>
              <a:t>   Malaysia</a:t>
            </a:r>
          </a:p>
          <a:p>
            <a:pPr>
              <a:spcBef>
                <a:spcPts val="500"/>
              </a:spcBef>
            </a:pPr>
            <a:r>
              <a:rPr sz="900">
                <a:solidFill>
                  <a:srgbClr val="0B2E4A"/>
                </a:solidFill>
                <a:latin typeface="Calibri"/>
              </a:rPr>
              <a:t>■  </a:t>
            </a:r>
            <a:r>
              <a:rPr sz="750">
                <a:solidFill>
                  <a:srgbClr val="2E2E2E"/>
                </a:solidFill>
                <a:latin typeface="Calibri"/>
              </a:rPr>
              <a:t>   Singapore</a:t>
            </a:r>
          </a:p>
          <a:p>
            <a:pPr>
              <a:spcBef>
                <a:spcPts val="500"/>
              </a:spcBef>
            </a:pPr>
            <a:r>
              <a:rPr sz="900">
                <a:solidFill>
                  <a:srgbClr val="A86F00"/>
                </a:solidFill>
                <a:latin typeface="Calibri"/>
              </a:rPr>
              <a:t>■  </a:t>
            </a:r>
            <a:r>
              <a:rPr sz="750">
                <a:solidFill>
                  <a:srgbClr val="2E2E2E"/>
                </a:solidFill>
                <a:latin typeface="Calibri"/>
              </a:rPr>
              <a:t>   New Zealand</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Top 8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South Asia &amp; Pacific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market by country  ·  2036 (US$ Mn)  ·  tile size = market value</a:t>
            </a:r>
          </a:p>
        </p:txBody>
      </p:sp>
      <p:sp>
        <p:nvSpPr>
          <p:cNvPr id="13" name="Rectangle 12"/>
          <p:cNvSpPr/>
          <p:nvPr/>
        </p:nvSpPr>
        <p:spPr>
          <a:xfrm>
            <a:off x="238125" y="1266825"/>
            <a:ext cx="4190773"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10,589</a:t>
            </a:r>
          </a:p>
        </p:txBody>
      </p:sp>
      <p:sp>
        <p:nvSpPr>
          <p:cNvPr id="14" name="Rectangle 13"/>
          <p:cNvSpPr/>
          <p:nvPr/>
        </p:nvSpPr>
        <p:spPr>
          <a:xfrm>
            <a:off x="4428898" y="1266825"/>
            <a:ext cx="3701802" cy="2857469"/>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Australia</a:t>
            </a:r>
          </a:p>
          <a:p>
            <a:pPr algn="ctr"/>
            <a:r>
              <a:rPr sz="1100" b="0">
                <a:solidFill>
                  <a:srgbClr val="FFFFFF"/>
                </a:solidFill>
                <a:latin typeface="Calibri"/>
              </a:rPr>
              <a:t>5,038</a:t>
            </a:r>
          </a:p>
        </p:txBody>
      </p:sp>
      <p:sp>
        <p:nvSpPr>
          <p:cNvPr id="15" name="Rectangle 14"/>
          <p:cNvSpPr/>
          <p:nvPr/>
        </p:nvSpPr>
        <p:spPr>
          <a:xfrm>
            <a:off x="4428898" y="4124294"/>
            <a:ext cx="3701802" cy="2447956"/>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Indonesia</a:t>
            </a:r>
          </a:p>
          <a:p>
            <a:pPr algn="ctr"/>
            <a:r>
              <a:rPr sz="1100" b="0">
                <a:solidFill>
                  <a:srgbClr val="FFFFFF"/>
                </a:solidFill>
                <a:latin typeface="Calibri"/>
              </a:rPr>
              <a:t>4,316</a:t>
            </a:r>
          </a:p>
        </p:txBody>
      </p:sp>
      <p:sp>
        <p:nvSpPr>
          <p:cNvPr id="16" name="Rectangle 15"/>
          <p:cNvSpPr/>
          <p:nvPr/>
        </p:nvSpPr>
        <p:spPr>
          <a:xfrm>
            <a:off x="8130701" y="1266825"/>
            <a:ext cx="1961598" cy="3010406"/>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Thailand</a:t>
            </a:r>
          </a:p>
          <a:p>
            <a:pPr algn="ctr"/>
            <a:r>
              <a:rPr sz="1100" b="0">
                <a:solidFill>
                  <a:srgbClr val="FFFFFF"/>
                </a:solidFill>
                <a:latin typeface="Calibri"/>
              </a:rPr>
              <a:t>2,812</a:t>
            </a:r>
          </a:p>
        </p:txBody>
      </p:sp>
      <p:sp>
        <p:nvSpPr>
          <p:cNvPr id="17" name="Rectangle 16"/>
          <p:cNvSpPr/>
          <p:nvPr/>
        </p:nvSpPr>
        <p:spPr>
          <a:xfrm>
            <a:off x="10092298" y="1266825"/>
            <a:ext cx="1861577" cy="3010406"/>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Philippines</a:t>
            </a:r>
          </a:p>
          <a:p>
            <a:pPr algn="ctr"/>
            <a:r>
              <a:rPr sz="1100" b="0">
                <a:solidFill>
                  <a:srgbClr val="FFFFFF"/>
                </a:solidFill>
                <a:latin typeface="Calibri"/>
              </a:rPr>
              <a:t>2,669</a:t>
            </a:r>
          </a:p>
        </p:txBody>
      </p:sp>
      <p:sp>
        <p:nvSpPr>
          <p:cNvPr id="18" name="Rectangle 17"/>
          <p:cNvSpPr/>
          <p:nvPr/>
        </p:nvSpPr>
        <p:spPr>
          <a:xfrm>
            <a:off x="8130701" y="4277231"/>
            <a:ext cx="2062677" cy="2295019"/>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Malaysia</a:t>
            </a:r>
          </a:p>
          <a:p>
            <a:pPr algn="ctr"/>
            <a:r>
              <a:rPr sz="1100" b="0">
                <a:solidFill>
                  <a:srgbClr val="FFFFFF"/>
                </a:solidFill>
                <a:latin typeface="Calibri"/>
              </a:rPr>
              <a:t>2,255</a:t>
            </a:r>
          </a:p>
        </p:txBody>
      </p:sp>
      <p:sp>
        <p:nvSpPr>
          <p:cNvPr id="19" name="Rectangle 18"/>
          <p:cNvSpPr/>
          <p:nvPr/>
        </p:nvSpPr>
        <p:spPr>
          <a:xfrm>
            <a:off x="10193378" y="4277231"/>
            <a:ext cx="1760497" cy="1159760"/>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Singapore</a:t>
            </a:r>
          </a:p>
          <a:p>
            <a:pPr algn="ctr"/>
            <a:r>
              <a:rPr sz="1100" b="0">
                <a:solidFill>
                  <a:srgbClr val="FFFFFF"/>
                </a:solidFill>
                <a:latin typeface="Calibri"/>
              </a:rPr>
              <a:t>972</a:t>
            </a:r>
          </a:p>
        </p:txBody>
      </p:sp>
      <p:sp>
        <p:nvSpPr>
          <p:cNvPr id="20" name="Rectangle 19"/>
          <p:cNvSpPr/>
          <p:nvPr/>
        </p:nvSpPr>
        <p:spPr>
          <a:xfrm>
            <a:off x="10193378" y="5436990"/>
            <a:ext cx="1760497" cy="1135260"/>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New Zealand</a:t>
            </a:r>
          </a:p>
          <a:p>
            <a:pPr algn="ctr"/>
            <a:r>
              <a:rPr sz="1100" b="0">
                <a:solidFill>
                  <a:srgbClr val="FFFFFF"/>
                </a:solidFill>
                <a:latin typeface="Calibri"/>
              </a:rPr>
              <a:t>952</a:t>
            </a:r>
          </a:p>
        </p:txBody>
      </p:sp>
      <p:sp>
        <p:nvSpPr>
          <p:cNvPr id="21" name="TextBox 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South Asia &amp; Pacific Market Analysis By Segments</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Principal Material / Barrier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Application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Vs Application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Rollstock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8,357</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17,692</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7.8%</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Premade Pouches &amp; Bags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4,283</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9,083</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7.8%</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Barrier Casings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1,731</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3,622</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7.7%</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Sachets &amp; Stick Packs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1,091</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2,289</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7.7%</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product type, premade pouches &amp; bags segment is expected to witness the highest CAGR of 7.8% over the forecast period. In terms of value share by product type, the rollstock films segment is expected to dominate the market, maintaining its share and accounting for 54.1%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Rollstock films segment is projected to register 1.9X higher value than premade pouches &amp; bags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Rollstock Films: </a:t>
            </a:r>
            <a:r>
              <a:rPr sz="1100" b="0">
                <a:solidFill>
                  <a:srgbClr val="2E2E2E"/>
                </a:solidFill>
                <a:latin typeface="Calibri"/>
              </a:rPr>
              <a:t>54% of 2026 value · 7.8%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Premade Pouches &amp; Bags: </a:t>
            </a:r>
            <a:r>
              <a:rPr sz="1100" b="0">
                <a:solidFill>
                  <a:srgbClr val="2E2E2E"/>
                </a:solidFill>
                <a:latin typeface="Calibri"/>
              </a:rPr>
              <a:t>28% of 2026 value · 7.8%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Barrier Casings: </a:t>
            </a:r>
            <a:r>
              <a:rPr sz="1100" b="0">
                <a:solidFill>
                  <a:srgbClr val="2E2E2E"/>
                </a:solidFill>
                <a:latin typeface="Calibri"/>
              </a:rPr>
              <a:t>11% of 2026 value · 7.7%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Sachets &amp; Stick Packs: </a:t>
            </a:r>
            <a:r>
              <a:rPr sz="1100" b="0">
                <a:solidFill>
                  <a:srgbClr val="2E2E2E"/>
                </a:solidFill>
                <a:latin typeface="Calibri"/>
              </a:rPr>
              <a:t>7% of 2026 value · 7.7%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Type segment is projected to grow at a CAGR of 7.8%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Rollstock films followed by premade pouches &amp; bags are expected to be the two most attractive product type segments in the South Asia &amp; Pacific flexible plastic packaging market in terms of value over the forecast period. Rollstock films and premade pouches &amp; bags exhibit a CAGR index of 100 and 100 and a market share index of 216 and 111 respectively, against the segment average of 100. The sachets &amp; stick packs segment is expected to be less attractive as compared to other segments over the forecast period, owing to its lower CAGR and incremental opportunity. Rollstock Films and Premade Pouches &amp; Bags both rank at the top, growing at 7.8% in line with the region. Rollstock Films hold 54.0% share, serving packaged snacks, dairy, staples and frozen food on expanding form-fill-seal lines. Premade Pouches &amp; Bags, at 27.7%, benefit from e-commerce, retail modernisation and rising incomes. Barrier Casings and Sachets &amp; Stick Packs grow at 7.7% from smaller bases.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Rollstock Films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Barrier Casings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Premade Pouches &amp; Bags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Sachets &amp; Stick Packs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Volume Analysis, By Product Type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By Product Type (Thousand MT)</a:t>
            </a:r>
          </a:p>
        </p:txBody>
      </p:sp>
      <p:graphicFrame>
        <p:nvGraphicFramePr>
          <p:cNvPr id="13" name="Table 12"/>
          <p:cNvGraphicFramePr>
            <a:graphicFrameLocks noGrp="1"/>
          </p:cNvGraphicFramePr>
          <p:nvPr/>
        </p:nvGraphicFramePr>
        <p:xfrm>
          <a:off x="152400" y="1238250"/>
          <a:ext cx="11887205" cy="3448050"/>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Volume Analysis, By Product Type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By Product Type (Thousand MT)</a:t>
            </a:r>
          </a:p>
        </p:txBody>
      </p:sp>
      <p:graphicFrame>
        <p:nvGraphicFramePr>
          <p:cNvPr id="12" name="Table 11"/>
          <p:cNvGraphicFramePr>
            <a:graphicFrameLocks noGrp="1"/>
          </p:cNvGraphicFramePr>
          <p:nvPr/>
        </p:nvGraphicFramePr>
        <p:xfrm>
          <a:off x="152400" y="1238250"/>
          <a:ext cx="11887207" cy="1514475"/>
        </p:xfrm>
        <a:graphic>
          <a:graphicData uri="http://schemas.openxmlformats.org/drawingml/2006/table">
            <a:tbl>
              <a:tblPr>
                <a:tableStyleId>{5C22544A-7EE6-4342-B048-85BDC9FD1C3A}</a:tableStyleId>
              </a:tblPr>
              <a:tblGrid>
                <a:gridCol w="1522732"/>
                <a:gridCol w="609675"/>
                <a:gridCol w="609675"/>
                <a:gridCol w="609675"/>
                <a:gridCol w="609675"/>
                <a:gridCol w="609675"/>
                <a:gridCol w="609675"/>
                <a:gridCol w="609675"/>
                <a:gridCol w="609675"/>
                <a:gridCol w="609675"/>
                <a:gridCol w="609675"/>
                <a:gridCol w="609675"/>
                <a:gridCol w="609675"/>
                <a:gridCol w="609675"/>
                <a:gridCol w="609675"/>
                <a:gridCol w="609675"/>
                <a:gridCol w="609675"/>
                <a:gridCol w="609675"/>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Flat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Retort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Sachets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Volume Analysis, By Product Type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Rollstock films segment is projected to register 1.8X higher volume than premade pouches &amp; bags segment in 2036. Among flexible plastic packaging by product type, premade pouches &amp; bags segment is expected to witness the highest CAGR of 6.6% over the forecast period.</a:t>
            </a:r>
          </a:p>
          <a:p>
            <a:pPr algn="l">
              <a:lnSpc>
                <a:spcPct val="110000"/>
              </a:lnSpc>
              <a:spcBef>
                <a:spcPts val="0"/>
              </a:spcBef>
              <a:spcAft>
                <a:spcPts val="500"/>
              </a:spcAft>
            </a:pPr>
            <a:r>
              <a:rPr sz="1150" b="0">
                <a:solidFill>
                  <a:srgbClr val="2E2E2E"/>
                </a:solidFill>
                <a:latin typeface="Calibri"/>
              </a:rPr>
              <a:t>In terms of volume share by product type, the rollstock films segment is expected to dominate the market, maintaining its share and accounting for 54.1% share by 2036.</a:t>
            </a:r>
          </a:p>
          <a:p>
            <a:pPr algn="l">
              <a:lnSpc>
                <a:spcPct val="110000"/>
              </a:lnSpc>
              <a:spcBef>
                <a:spcPts val="0"/>
              </a:spcBef>
              <a:spcAft>
                <a:spcPts val="500"/>
              </a:spcAft>
            </a:pPr>
            <a:r>
              <a:rPr sz="1150" b="0">
                <a:solidFill>
                  <a:srgbClr val="2E2E2E"/>
                </a:solidFill>
                <a:latin typeface="Calibri"/>
              </a:rPr>
              <a:t>Sachets &amp; Stick Packs lose 10 BPS despite strong regional sachet culture because the market is graduating toward larger pouches and rollstock as modern retail and food processing expand, so their growth of 6.4% trails the market. Rollstock Films and Premade Pouches &amp; Bags grow at 6.6% on packaged food, e-commerce and food delivery, with shares broadly steady.</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Product Type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Product Type (US$ Mn)</a:t>
            </a:r>
          </a:p>
        </p:txBody>
      </p:sp>
      <p:graphicFrame>
        <p:nvGraphicFramePr>
          <p:cNvPr id="13" name="Table 12"/>
          <p:cNvGraphicFramePr>
            <a:graphicFrameLocks noGrp="1"/>
          </p:cNvGraphicFramePr>
          <p:nvPr/>
        </p:nvGraphicFramePr>
        <p:xfrm>
          <a:off x="152400" y="1238250"/>
          <a:ext cx="11887205" cy="3448050"/>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Product Type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Product Type (US$ Mn)</a:t>
            </a:r>
          </a:p>
        </p:txBody>
      </p:sp>
      <p:graphicFrame>
        <p:nvGraphicFramePr>
          <p:cNvPr id="12" name="Table 11"/>
          <p:cNvGraphicFramePr>
            <a:graphicFrameLocks noGrp="1"/>
          </p:cNvGraphicFramePr>
          <p:nvPr/>
        </p:nvGraphicFramePr>
        <p:xfrm>
          <a:off x="152400" y="1238250"/>
          <a:ext cx="11887207" cy="1514475"/>
        </p:xfrm>
        <a:graphic>
          <a:graphicData uri="http://schemas.openxmlformats.org/drawingml/2006/table">
            <a:tbl>
              <a:tblPr>
                <a:tableStyleId>{5C22544A-7EE6-4342-B048-85BDC9FD1C3A}</a:tableStyleId>
              </a:tblPr>
              <a:tblGrid>
                <a:gridCol w="1522732"/>
                <a:gridCol w="609675"/>
                <a:gridCol w="609675"/>
                <a:gridCol w="609675"/>
                <a:gridCol w="609675"/>
                <a:gridCol w="609675"/>
                <a:gridCol w="609675"/>
                <a:gridCol w="609675"/>
                <a:gridCol w="609675"/>
                <a:gridCol w="609675"/>
                <a:gridCol w="609675"/>
                <a:gridCol w="609675"/>
                <a:gridCol w="609675"/>
                <a:gridCol w="609675"/>
                <a:gridCol w="609675"/>
                <a:gridCol w="609675"/>
                <a:gridCol w="609675"/>
                <a:gridCol w="609675"/>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Flat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Retort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Sachets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Product Type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Rollstock films segment is projected to register 1.9X higher value than premade pouches &amp; bags segment in 2036. Among flexible plastic packaging by product type, premade pouches &amp; bags segment is expected to witness the highest CAGR of 7.8% over the forecast period.</a:t>
            </a:r>
          </a:p>
          <a:p>
            <a:pPr algn="l">
              <a:lnSpc>
                <a:spcPct val="110000"/>
              </a:lnSpc>
              <a:spcBef>
                <a:spcPts val="0"/>
              </a:spcBef>
              <a:spcAft>
                <a:spcPts val="500"/>
              </a:spcAft>
            </a:pPr>
            <a:r>
              <a:rPr sz="1150" b="0">
                <a:solidFill>
                  <a:srgbClr val="2E2E2E"/>
                </a:solidFill>
                <a:latin typeface="Calibri"/>
              </a:rPr>
              <a:t>In terms of value share by product type, the rollstock films segment is expected to dominate the market, maintaining its share and accounting for 54.1% share by 2036. The barrier casings segment is expected to lose 11 BPS over the forecast period to account for 11.1% share by 2036.</a:t>
            </a:r>
          </a:p>
          <a:p>
            <a:pPr algn="l">
              <a:lnSpc>
                <a:spcPct val="110000"/>
              </a:lnSpc>
              <a:spcBef>
                <a:spcPts val="0"/>
              </a:spcBef>
              <a:spcAft>
                <a:spcPts val="500"/>
              </a:spcAft>
            </a:pPr>
            <a:r>
              <a:rPr sz="1150" b="0">
                <a:solidFill>
                  <a:srgbClr val="2E2E2E"/>
                </a:solidFill>
                <a:latin typeface="Calibri"/>
              </a:rPr>
              <a:t>Premade Pouches &amp; Bags gains 9 BPS of value share because stand-up and zip-closure pouches deliver the convenience, shelf impact and e-commerce durability that brand owners want. Its 7.8% CAGR compares with a 7.8% market rate, while Barrier Casings loses 11 BPS at 7.7% as processed-meat casings are a mature, slower-moving use. In South Asia &amp; Pacific, rising incomes, organised retail and packaged-food penetration drive the mix.</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3137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2661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5041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Sachets &amp; Stick Packs</a:t>
            </a:r>
          </a:p>
        </p:txBody>
      </p:sp>
      <p:sp>
        <p:nvSpPr>
          <p:cNvPr id="19" name="BPS Value 1"/>
          <p:cNvSpPr txBox="1"/>
          <p:nvPr/>
        </p:nvSpPr>
        <p:spPr>
          <a:xfrm>
            <a:off x="6896100" y="1812323"/>
            <a:ext cx="514350" cy="123825"/>
          </a:xfrm>
          <a:prstGeom prst="rect">
            <a:avLst/>
          </a:prstGeom>
          <a:noFill/>
        </p:spPr>
        <p:txBody>
          <a:bodyPr wrap="none" lIns="0" rIns="0" tIns="0" bIns="0" anchor="ctr">
            <a:spAutoFit/>
          </a:bodyPr>
          <a:lstStyle/>
          <a:p>
            <a:pPr algn="r"/>
            <a:r>
              <a:rPr sz="900" b="1">
                <a:solidFill>
                  <a:srgbClr val="E44D3A"/>
                </a:solidFill>
                <a:latin typeface="Calibri"/>
              </a:rPr>
              <a:t>-5</a:t>
            </a:r>
          </a:p>
        </p:txBody>
      </p:sp>
      <p:sp>
        <p:nvSpPr>
          <p:cNvPr id="20" name="FMI Legend Chip"/>
          <p:cNvSpPr/>
          <p:nvPr/>
        </p:nvSpPr>
        <p:spPr>
          <a:xfrm>
            <a:off x="4928997" y="224484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24007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16387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Barrier Casings</a:t>
            </a:r>
          </a:p>
        </p:txBody>
      </p:sp>
      <p:sp>
        <p:nvSpPr>
          <p:cNvPr id="23" name="BPS Value 2"/>
          <p:cNvSpPr txBox="1"/>
          <p:nvPr/>
        </p:nvSpPr>
        <p:spPr>
          <a:xfrm>
            <a:off x="6896100" y="2225790"/>
            <a:ext cx="514350" cy="123825"/>
          </a:xfrm>
          <a:prstGeom prst="rect">
            <a:avLst/>
          </a:prstGeom>
          <a:noFill/>
        </p:spPr>
        <p:txBody>
          <a:bodyPr wrap="none" lIns="0" rIns="0" tIns="0" bIns="0" anchor="ctr">
            <a:spAutoFit/>
          </a:bodyPr>
          <a:lstStyle/>
          <a:p>
            <a:pPr algn="r"/>
            <a:r>
              <a:rPr sz="900" b="1">
                <a:solidFill>
                  <a:srgbClr val="E44D3A"/>
                </a:solidFill>
                <a:latin typeface="Calibri"/>
              </a:rPr>
              <a:t>-11</a:t>
            </a:r>
          </a:p>
        </p:txBody>
      </p:sp>
      <p:sp>
        <p:nvSpPr>
          <p:cNvPr id="24" name="FMI Legend Chip"/>
          <p:cNvSpPr/>
          <p:nvPr/>
        </p:nvSpPr>
        <p:spPr>
          <a:xfrm>
            <a:off x="4928997" y="313350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12873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0525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Premade Pouches &amp; Bags</a:t>
            </a:r>
          </a:p>
        </p:txBody>
      </p:sp>
      <p:sp>
        <p:nvSpPr>
          <p:cNvPr id="27" name="BPS Value 3"/>
          <p:cNvSpPr txBox="1"/>
          <p:nvPr/>
        </p:nvSpPr>
        <p:spPr>
          <a:xfrm>
            <a:off x="6896100" y="3114450"/>
            <a:ext cx="514350" cy="123825"/>
          </a:xfrm>
          <a:prstGeom prst="rect">
            <a:avLst/>
          </a:prstGeom>
          <a:noFill/>
        </p:spPr>
        <p:txBody>
          <a:bodyPr wrap="none" lIns="0" rIns="0" tIns="0" bIns="0" anchor="ctr">
            <a:spAutoFit/>
          </a:bodyPr>
          <a:lstStyle/>
          <a:p>
            <a:pPr algn="r"/>
            <a:r>
              <a:rPr sz="900" b="1">
                <a:solidFill>
                  <a:srgbClr val="2E7D32"/>
                </a:solidFill>
                <a:latin typeface="Calibri"/>
              </a:rPr>
              <a:t>+9</a:t>
            </a:r>
          </a:p>
        </p:txBody>
      </p:sp>
      <p:sp>
        <p:nvSpPr>
          <p:cNvPr id="28" name="FMI Legend Chip"/>
          <p:cNvSpPr/>
          <p:nvPr/>
        </p:nvSpPr>
        <p:spPr>
          <a:xfrm>
            <a:off x="4928997" y="500622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00146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92526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Rollstock Films</a:t>
            </a:r>
          </a:p>
        </p:txBody>
      </p:sp>
      <p:sp>
        <p:nvSpPr>
          <p:cNvPr id="31" name="BPS Value 4"/>
          <p:cNvSpPr txBox="1"/>
          <p:nvPr/>
        </p:nvSpPr>
        <p:spPr>
          <a:xfrm>
            <a:off x="6896100" y="4987173"/>
            <a:ext cx="514350" cy="123825"/>
          </a:xfrm>
          <a:prstGeom prst="rect">
            <a:avLst/>
          </a:prstGeom>
          <a:noFill/>
        </p:spPr>
        <p:txBody>
          <a:bodyPr wrap="none" lIns="0" rIns="0" tIns="0" bIns="0" anchor="ctr">
            <a:spAutoFit/>
          </a:bodyPr>
          <a:lstStyle/>
          <a:p>
            <a:pPr algn="r"/>
            <a:r>
              <a:rPr sz="900" b="1">
                <a:solidFill>
                  <a:srgbClr val="2E7D32"/>
                </a:solidFill>
                <a:latin typeface="Calibri"/>
              </a:rPr>
              <a:t>+8</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Product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product type, premade pouches &amp; bags segment is expected to witness the highest CAGR of 7.8% over the forecast period. In terms of value share by product type, the rollstock films segment is expected to dominate the market, maintaining its share and accounting for 54.1% share by 2036.</a:t>
            </a:r>
          </a:p>
          <a:p>
            <a:pPr algn="l">
              <a:lnSpc>
                <a:spcPct val="110000"/>
              </a:lnSpc>
              <a:spcBef>
                <a:spcPts val="0"/>
              </a:spcBef>
              <a:spcAft>
                <a:spcPts val="500"/>
              </a:spcAft>
            </a:pPr>
            <a:r>
              <a:rPr sz="1150" b="0">
                <a:solidFill>
                  <a:srgbClr val="2E2E2E"/>
                </a:solidFill>
                <a:latin typeface="Calibri"/>
              </a:rPr>
              <a:t>The barrier casings segment is expected to lose 11 BPS over the forecast period to account for 11.1% share by 2036.</a:t>
            </a:r>
          </a:p>
          <a:p>
            <a:pPr algn="l">
              <a:lnSpc>
                <a:spcPct val="110000"/>
              </a:lnSpc>
              <a:spcBef>
                <a:spcPts val="0"/>
              </a:spcBef>
              <a:spcAft>
                <a:spcPts val="500"/>
              </a:spcAft>
            </a:pPr>
            <a:r>
              <a:rPr sz="1150" b="0">
                <a:solidFill>
                  <a:srgbClr val="2E2E2E"/>
                </a:solidFill>
                <a:latin typeface="Calibri"/>
              </a:rPr>
              <a:t>Premade Pouches &amp; Bags grow fastest at 7.8%, just ahead of the 7.7% of Barrier Casings and Sachets &amp; Stick Packs, because rising incomes, retail modernisation and e-commerce favour stand-up and zipper formats for food, pet food and personal care. The growth rates are tightly clustered, showing that regional expansion rests mostly on overall packaged food consumption rather than any single format.</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Volume, By Product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Volume, By Product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YoY Heatmap, By Product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Rollstock Films</a:t>
            </a:r>
          </a:p>
        </p:txBody>
      </p:sp>
      <p:sp>
        <p:nvSpPr>
          <p:cNvPr id="28" name="Rectangle 27"/>
          <p:cNvSpPr/>
          <p:nvPr/>
        </p:nvSpPr>
        <p:spPr>
          <a:xfrm>
            <a:off x="1857375" y="1409700"/>
            <a:ext cx="643890" cy="258128"/>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258128"/>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25812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258128"/>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258128"/>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258128"/>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258128"/>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258128"/>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258128"/>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258128"/>
          </a:xfrm>
          <a:prstGeom prst="rect">
            <a:avLst/>
          </a:prstGeom>
          <a:solidFill>
            <a:srgbClr val="16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258128"/>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258128"/>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66782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Lidding &amp; Tray-Sealing Films</a:t>
            </a:r>
          </a:p>
        </p:txBody>
      </p:sp>
      <p:sp>
        <p:nvSpPr>
          <p:cNvPr id="44" name="Rectangle 43"/>
          <p:cNvSpPr/>
          <p:nvPr/>
        </p:nvSpPr>
        <p:spPr>
          <a:xfrm>
            <a:off x="1857375" y="1667828"/>
            <a:ext cx="643890" cy="258128"/>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667828"/>
            <a:ext cx="643890" cy="258128"/>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667828"/>
            <a:ext cx="643890" cy="258128"/>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667828"/>
            <a:ext cx="643890" cy="258128"/>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667828"/>
            <a:ext cx="643890" cy="25812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667828"/>
            <a:ext cx="643890" cy="258128"/>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667828"/>
            <a:ext cx="643890" cy="258128"/>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667828"/>
            <a:ext cx="643890" cy="258128"/>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667828"/>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667828"/>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667828"/>
            <a:ext cx="643890" cy="258128"/>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667828"/>
            <a:ext cx="643890" cy="25812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667828"/>
            <a:ext cx="643890" cy="25812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667828"/>
            <a:ext cx="643890" cy="258128"/>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667828"/>
            <a:ext cx="643890" cy="258128"/>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192595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Thermoforming Films</a:t>
            </a:r>
          </a:p>
        </p:txBody>
      </p:sp>
      <p:sp>
        <p:nvSpPr>
          <p:cNvPr id="60" name="Rectangle 59"/>
          <p:cNvSpPr/>
          <p:nvPr/>
        </p:nvSpPr>
        <p:spPr>
          <a:xfrm>
            <a:off x="1857375" y="1925955"/>
            <a:ext cx="643890" cy="25812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1925955"/>
            <a:ext cx="643890" cy="258128"/>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1925955"/>
            <a:ext cx="643890" cy="258128"/>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1925955"/>
            <a:ext cx="643890" cy="25812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1925955"/>
            <a:ext cx="643890" cy="258128"/>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1925955"/>
            <a:ext cx="643890" cy="258128"/>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1925955"/>
            <a:ext cx="643890" cy="258128"/>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1925955"/>
            <a:ext cx="643890" cy="258128"/>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1925955"/>
            <a:ext cx="643890" cy="25812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1925955"/>
            <a:ext cx="643890" cy="258128"/>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1925955"/>
            <a:ext cx="643890" cy="258128"/>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1925955"/>
            <a:ext cx="643890" cy="25812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1925955"/>
            <a:ext cx="643890" cy="258128"/>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1925955"/>
            <a:ext cx="643890" cy="258128"/>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1925955"/>
            <a:ext cx="643890" cy="258128"/>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18408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Skin Packaging Films</a:t>
            </a:r>
          </a:p>
        </p:txBody>
      </p:sp>
      <p:sp>
        <p:nvSpPr>
          <p:cNvPr id="76" name="Rectangle 75"/>
          <p:cNvSpPr/>
          <p:nvPr/>
        </p:nvSpPr>
        <p:spPr>
          <a:xfrm>
            <a:off x="1857375" y="2184082"/>
            <a:ext cx="643890" cy="25812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184082"/>
            <a:ext cx="643890" cy="258128"/>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184082"/>
            <a:ext cx="643890" cy="25812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184082"/>
            <a:ext cx="643890" cy="258128"/>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184082"/>
            <a:ext cx="643890" cy="25812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184082"/>
            <a:ext cx="643890" cy="258128"/>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184082"/>
            <a:ext cx="643890" cy="258128"/>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184082"/>
            <a:ext cx="643890" cy="258128"/>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184082"/>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184082"/>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184082"/>
            <a:ext cx="643890" cy="258128"/>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184082"/>
            <a:ext cx="643890" cy="258128"/>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184082"/>
            <a:ext cx="643890" cy="258128"/>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184082"/>
            <a:ext cx="643890" cy="258128"/>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184082"/>
            <a:ext cx="643890" cy="25812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44221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HFFS / Flow-Pack Films</a:t>
            </a:r>
          </a:p>
        </p:txBody>
      </p:sp>
      <p:sp>
        <p:nvSpPr>
          <p:cNvPr id="92" name="Rectangle 91"/>
          <p:cNvSpPr/>
          <p:nvPr/>
        </p:nvSpPr>
        <p:spPr>
          <a:xfrm>
            <a:off x="1857375" y="2442210"/>
            <a:ext cx="643890" cy="258128"/>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442210"/>
            <a:ext cx="643890" cy="258128"/>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442210"/>
            <a:ext cx="643890" cy="25812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442210"/>
            <a:ext cx="643890" cy="258128"/>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442210"/>
            <a:ext cx="643890" cy="25812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442210"/>
            <a:ext cx="643890" cy="258128"/>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442210"/>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442210"/>
            <a:ext cx="643890" cy="258128"/>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442210"/>
            <a:ext cx="643890" cy="258128"/>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442210"/>
            <a:ext cx="643890" cy="258128"/>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442210"/>
            <a:ext cx="643890" cy="258128"/>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442210"/>
            <a:ext cx="643890" cy="258128"/>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442210"/>
            <a:ext cx="643890" cy="258128"/>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442210"/>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442210"/>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270033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VFFS Rollstock Films</a:t>
            </a:r>
          </a:p>
        </p:txBody>
      </p:sp>
      <p:sp>
        <p:nvSpPr>
          <p:cNvPr id="108" name="Rectangle 107"/>
          <p:cNvSpPr/>
          <p:nvPr/>
        </p:nvSpPr>
        <p:spPr>
          <a:xfrm>
            <a:off x="1857375" y="2700338"/>
            <a:ext cx="643890" cy="258128"/>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2700338"/>
            <a:ext cx="643890" cy="258128"/>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2700338"/>
            <a:ext cx="643890" cy="25812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2700338"/>
            <a:ext cx="643890" cy="25812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2700338"/>
            <a:ext cx="643890" cy="258128"/>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2700338"/>
            <a:ext cx="643890" cy="25812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2700338"/>
            <a:ext cx="643890" cy="25812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2700338"/>
            <a:ext cx="643890" cy="258128"/>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2700338"/>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2700338"/>
            <a:ext cx="643890" cy="258128"/>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2700338"/>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2700338"/>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2700338"/>
            <a:ext cx="643890" cy="258128"/>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2700338"/>
            <a:ext cx="643890" cy="258128"/>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2700338"/>
            <a:ext cx="643890" cy="258128"/>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295846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&amp; Overwrap Films</a:t>
            </a:r>
          </a:p>
        </p:txBody>
      </p:sp>
      <p:sp>
        <p:nvSpPr>
          <p:cNvPr id="124" name="Rectangle 123"/>
          <p:cNvSpPr/>
          <p:nvPr/>
        </p:nvSpPr>
        <p:spPr>
          <a:xfrm>
            <a:off x="1857375" y="2958465"/>
            <a:ext cx="643890" cy="25812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2958465"/>
            <a:ext cx="643890" cy="258128"/>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2958465"/>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2958465"/>
            <a:ext cx="643890" cy="258128"/>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2958465"/>
            <a:ext cx="643890" cy="258128"/>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2958465"/>
            <a:ext cx="643890" cy="258128"/>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2958465"/>
            <a:ext cx="643890" cy="25812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2958465"/>
            <a:ext cx="643890" cy="258128"/>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2958465"/>
            <a:ext cx="643890" cy="258128"/>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2958465"/>
            <a:ext cx="643890" cy="258128"/>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2958465"/>
            <a:ext cx="643890" cy="258128"/>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2958465"/>
            <a:ext cx="643890" cy="258128"/>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2958465"/>
            <a:ext cx="643890" cy="258128"/>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2958465"/>
            <a:ext cx="643890" cy="258128"/>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2958465"/>
            <a:ext cx="643890" cy="25812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216593"/>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Barrier Casings</a:t>
            </a:r>
          </a:p>
        </p:txBody>
      </p:sp>
      <p:sp>
        <p:nvSpPr>
          <p:cNvPr id="140" name="Rectangle 139"/>
          <p:cNvSpPr/>
          <p:nvPr/>
        </p:nvSpPr>
        <p:spPr>
          <a:xfrm>
            <a:off x="1857375" y="3216593"/>
            <a:ext cx="643890" cy="258128"/>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216593"/>
            <a:ext cx="643890" cy="258128"/>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216593"/>
            <a:ext cx="643890" cy="258128"/>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216593"/>
            <a:ext cx="643890" cy="25812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216593"/>
            <a:ext cx="643890" cy="258128"/>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216593"/>
            <a:ext cx="643890" cy="258128"/>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216593"/>
            <a:ext cx="643890" cy="258128"/>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216593"/>
            <a:ext cx="643890" cy="25812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216593"/>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216593"/>
            <a:ext cx="643890" cy="258128"/>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216593"/>
            <a:ext cx="643890" cy="258128"/>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216593"/>
            <a:ext cx="643890" cy="258128"/>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216593"/>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216593"/>
            <a:ext cx="643890" cy="258128"/>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216593"/>
            <a:ext cx="643890" cy="258128"/>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47472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Non-Shrink Casings</a:t>
            </a:r>
          </a:p>
        </p:txBody>
      </p:sp>
      <p:sp>
        <p:nvSpPr>
          <p:cNvPr id="156" name="Rectangle 155"/>
          <p:cNvSpPr/>
          <p:nvPr/>
        </p:nvSpPr>
        <p:spPr>
          <a:xfrm>
            <a:off x="1857375" y="3474720"/>
            <a:ext cx="643890" cy="25812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474720"/>
            <a:ext cx="643890" cy="258128"/>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474720"/>
            <a:ext cx="643890" cy="258128"/>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474720"/>
            <a:ext cx="643890" cy="258128"/>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474720"/>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474720"/>
            <a:ext cx="643890" cy="258128"/>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474720"/>
            <a:ext cx="643890" cy="258128"/>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474720"/>
            <a:ext cx="643890" cy="258128"/>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474720"/>
            <a:ext cx="643890" cy="258128"/>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474720"/>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474720"/>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474720"/>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474720"/>
            <a:ext cx="643890" cy="258128"/>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474720"/>
            <a:ext cx="643890" cy="258128"/>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474720"/>
            <a:ext cx="643890" cy="258128"/>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373284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Casings</a:t>
            </a:r>
          </a:p>
        </p:txBody>
      </p:sp>
      <p:sp>
        <p:nvSpPr>
          <p:cNvPr id="172" name="Rectangle 171"/>
          <p:cNvSpPr/>
          <p:nvPr/>
        </p:nvSpPr>
        <p:spPr>
          <a:xfrm>
            <a:off x="1857375" y="3732848"/>
            <a:ext cx="643890" cy="25812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3732848"/>
            <a:ext cx="643890" cy="25812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3732848"/>
            <a:ext cx="643890" cy="258128"/>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3732848"/>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3732848"/>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3732848"/>
            <a:ext cx="643890" cy="25812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3732848"/>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3732848"/>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3732848"/>
            <a:ext cx="643890" cy="258128"/>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3732848"/>
            <a:ext cx="643890" cy="258128"/>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3732848"/>
            <a:ext cx="643890" cy="258128"/>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3732848"/>
            <a:ext cx="643890" cy="258128"/>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3732848"/>
            <a:ext cx="643890" cy="258128"/>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3732848"/>
            <a:ext cx="643890" cy="258128"/>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3732848"/>
            <a:ext cx="643890" cy="258128"/>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399097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Other Specialty Casings</a:t>
            </a:r>
          </a:p>
        </p:txBody>
      </p:sp>
      <p:sp>
        <p:nvSpPr>
          <p:cNvPr id="188" name="Rectangle 187"/>
          <p:cNvSpPr/>
          <p:nvPr/>
        </p:nvSpPr>
        <p:spPr>
          <a:xfrm>
            <a:off x="1857375" y="3990975"/>
            <a:ext cx="643890" cy="258128"/>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3990975"/>
            <a:ext cx="643890" cy="258128"/>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3990975"/>
            <a:ext cx="643890" cy="25812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3990975"/>
            <a:ext cx="643890" cy="258128"/>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3990975"/>
            <a:ext cx="643890" cy="258128"/>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3990975"/>
            <a:ext cx="643890" cy="258128"/>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3990975"/>
            <a:ext cx="643890" cy="258128"/>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3990975"/>
            <a:ext cx="643890" cy="258128"/>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3990975"/>
            <a:ext cx="643890" cy="258128"/>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3990975"/>
            <a:ext cx="643890" cy="258128"/>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3990975"/>
            <a:ext cx="643890" cy="258128"/>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3990975"/>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3990975"/>
            <a:ext cx="643890" cy="258128"/>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3990975"/>
            <a:ext cx="643890" cy="258128"/>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3990975"/>
            <a:ext cx="643890" cy="258128"/>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24910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Premade Pouches &amp; Bags</a:t>
            </a:r>
          </a:p>
        </p:txBody>
      </p:sp>
      <p:sp>
        <p:nvSpPr>
          <p:cNvPr id="204" name="Rectangle 203"/>
          <p:cNvSpPr/>
          <p:nvPr/>
        </p:nvSpPr>
        <p:spPr>
          <a:xfrm>
            <a:off x="1857375" y="4249102"/>
            <a:ext cx="643890" cy="258128"/>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249102"/>
            <a:ext cx="643890" cy="25812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249102"/>
            <a:ext cx="643890" cy="25812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249102"/>
            <a:ext cx="643890" cy="258128"/>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249102"/>
            <a:ext cx="643890" cy="258128"/>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249102"/>
            <a:ext cx="643890" cy="25812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249102"/>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249102"/>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249102"/>
            <a:ext cx="643890" cy="258128"/>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249102"/>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249102"/>
            <a:ext cx="643890" cy="258128"/>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249102"/>
            <a:ext cx="643890" cy="258128"/>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249102"/>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249102"/>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249102"/>
            <a:ext cx="643890" cy="258128"/>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450723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Pouches</a:t>
            </a:r>
          </a:p>
        </p:txBody>
      </p:sp>
      <p:sp>
        <p:nvSpPr>
          <p:cNvPr id="220" name="Rectangle 219"/>
          <p:cNvSpPr/>
          <p:nvPr/>
        </p:nvSpPr>
        <p:spPr>
          <a:xfrm>
            <a:off x="1857375" y="4507230"/>
            <a:ext cx="643890" cy="258128"/>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4507230"/>
            <a:ext cx="643890" cy="25812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4507230"/>
            <a:ext cx="643890" cy="258128"/>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4507230"/>
            <a:ext cx="643890" cy="258128"/>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4507230"/>
            <a:ext cx="643890" cy="258128"/>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4507230"/>
            <a:ext cx="643890" cy="258128"/>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4507230"/>
            <a:ext cx="643890" cy="258128"/>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4507230"/>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4507230"/>
            <a:ext cx="643890" cy="258128"/>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4507230"/>
            <a:ext cx="643890" cy="258128"/>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4507230"/>
            <a:ext cx="643890" cy="258128"/>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4507230"/>
            <a:ext cx="643890" cy="258128"/>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4507230"/>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4507230"/>
            <a:ext cx="643890" cy="258128"/>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4507230"/>
            <a:ext cx="643890" cy="258128"/>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476535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Bags</a:t>
            </a:r>
          </a:p>
        </p:txBody>
      </p:sp>
      <p:sp>
        <p:nvSpPr>
          <p:cNvPr id="236" name="Rectangle 235"/>
          <p:cNvSpPr/>
          <p:nvPr/>
        </p:nvSpPr>
        <p:spPr>
          <a:xfrm>
            <a:off x="1857375" y="4765358"/>
            <a:ext cx="643890" cy="258128"/>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4765358"/>
            <a:ext cx="643890" cy="258128"/>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4765358"/>
            <a:ext cx="643890" cy="258128"/>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4765358"/>
            <a:ext cx="643890" cy="258128"/>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4765358"/>
            <a:ext cx="643890" cy="258128"/>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4765358"/>
            <a:ext cx="643890" cy="25812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4765358"/>
            <a:ext cx="643890" cy="258128"/>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4765358"/>
            <a:ext cx="643890" cy="258128"/>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4765358"/>
            <a:ext cx="643890" cy="258128"/>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4765358"/>
            <a:ext cx="643890" cy="258128"/>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4765358"/>
            <a:ext cx="643890" cy="258128"/>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4765358"/>
            <a:ext cx="643890" cy="258128"/>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4765358"/>
            <a:ext cx="643890" cy="258128"/>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4765358"/>
            <a:ext cx="643890" cy="258128"/>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4765358"/>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02348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Stand-Up Pouches</a:t>
            </a:r>
          </a:p>
        </p:txBody>
      </p:sp>
      <p:sp>
        <p:nvSpPr>
          <p:cNvPr id="252" name="Rectangle 251"/>
          <p:cNvSpPr/>
          <p:nvPr/>
        </p:nvSpPr>
        <p:spPr>
          <a:xfrm>
            <a:off x="1857375" y="5023485"/>
            <a:ext cx="643890" cy="258128"/>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023485"/>
            <a:ext cx="643890" cy="258128"/>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023485"/>
            <a:ext cx="643890" cy="258128"/>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023485"/>
            <a:ext cx="643890" cy="258128"/>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023485"/>
            <a:ext cx="643890" cy="25812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023485"/>
            <a:ext cx="643890" cy="258128"/>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023485"/>
            <a:ext cx="643890" cy="258128"/>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023485"/>
            <a:ext cx="643890" cy="258128"/>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023485"/>
            <a:ext cx="643890" cy="258128"/>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023485"/>
            <a:ext cx="643890" cy="258128"/>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023485"/>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023485"/>
            <a:ext cx="643890" cy="258128"/>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023485"/>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023485"/>
            <a:ext cx="643890" cy="258128"/>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023485"/>
            <a:ext cx="643890" cy="25812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528161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Flat Pouches</a:t>
            </a:r>
          </a:p>
        </p:txBody>
      </p:sp>
      <p:sp>
        <p:nvSpPr>
          <p:cNvPr id="268" name="Rectangle 267"/>
          <p:cNvSpPr/>
          <p:nvPr/>
        </p:nvSpPr>
        <p:spPr>
          <a:xfrm>
            <a:off x="1857375" y="5281612"/>
            <a:ext cx="643890" cy="258128"/>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5281612"/>
            <a:ext cx="643890" cy="258128"/>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5281612"/>
            <a:ext cx="643890" cy="258128"/>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5281612"/>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5281612"/>
            <a:ext cx="643890" cy="258128"/>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5281612"/>
            <a:ext cx="643890" cy="258128"/>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5281612"/>
            <a:ext cx="643890" cy="258128"/>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5281612"/>
            <a:ext cx="643890" cy="258128"/>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5281612"/>
            <a:ext cx="643890" cy="258128"/>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5281612"/>
            <a:ext cx="643890" cy="258128"/>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5281612"/>
            <a:ext cx="643890" cy="258128"/>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5281612"/>
            <a:ext cx="643890" cy="258128"/>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5281612"/>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5281612"/>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5281612"/>
            <a:ext cx="643890" cy="25812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238125" y="553974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Retort Pouches</a:t>
            </a:r>
          </a:p>
        </p:txBody>
      </p:sp>
      <p:sp>
        <p:nvSpPr>
          <p:cNvPr id="284" name="Rectangle 283"/>
          <p:cNvSpPr/>
          <p:nvPr/>
        </p:nvSpPr>
        <p:spPr>
          <a:xfrm>
            <a:off x="1857375" y="5539740"/>
            <a:ext cx="643890" cy="258128"/>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2501265" y="5539740"/>
            <a:ext cx="643890" cy="258128"/>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3145155" y="5539740"/>
            <a:ext cx="643890" cy="258128"/>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3789045" y="5539740"/>
            <a:ext cx="643890" cy="258128"/>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4432935" y="5539740"/>
            <a:ext cx="643890" cy="258128"/>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5076825" y="5539740"/>
            <a:ext cx="643890" cy="25812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5720715" y="5539740"/>
            <a:ext cx="643890" cy="258128"/>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6364605" y="5539740"/>
            <a:ext cx="643890" cy="258128"/>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7008495" y="5539740"/>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7652385" y="5539740"/>
            <a:ext cx="643890" cy="258128"/>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8296275" y="5539740"/>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8940165" y="5539740"/>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9584055" y="5539740"/>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0227945" y="5539740"/>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0871835" y="5539740"/>
            <a:ext cx="643890" cy="258128"/>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238125" y="579786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Sachets &amp; Stick Packs</a:t>
            </a:r>
          </a:p>
        </p:txBody>
      </p:sp>
      <p:sp>
        <p:nvSpPr>
          <p:cNvPr id="300" name="Rectangle 299"/>
          <p:cNvSpPr/>
          <p:nvPr/>
        </p:nvSpPr>
        <p:spPr>
          <a:xfrm>
            <a:off x="1857375" y="5797868"/>
            <a:ext cx="643890" cy="258128"/>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2501265" y="5797868"/>
            <a:ext cx="643890" cy="25812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3145155" y="5797868"/>
            <a:ext cx="643890" cy="258128"/>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3789045" y="5797868"/>
            <a:ext cx="643890" cy="258128"/>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4432935" y="5797868"/>
            <a:ext cx="643890" cy="258128"/>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5076825" y="5797868"/>
            <a:ext cx="643890" cy="258128"/>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5720715" y="5797868"/>
            <a:ext cx="643890" cy="258128"/>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6364605" y="5797868"/>
            <a:ext cx="643890" cy="258128"/>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7008495" y="5797868"/>
            <a:ext cx="643890" cy="25812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7652385" y="5797868"/>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8296275" y="5797868"/>
            <a:ext cx="643890" cy="258128"/>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8940165" y="5797868"/>
            <a:ext cx="643890" cy="258128"/>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9584055" y="5797868"/>
            <a:ext cx="643890" cy="258128"/>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0227945" y="5797868"/>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0871835" y="5797868"/>
            <a:ext cx="643890" cy="258128"/>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238125" y="605599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Sachets</a:t>
            </a:r>
          </a:p>
        </p:txBody>
      </p:sp>
      <p:sp>
        <p:nvSpPr>
          <p:cNvPr id="316" name="Rectangle 315"/>
          <p:cNvSpPr/>
          <p:nvPr/>
        </p:nvSpPr>
        <p:spPr>
          <a:xfrm>
            <a:off x="1857375" y="6055995"/>
            <a:ext cx="643890" cy="258128"/>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2501265" y="6055995"/>
            <a:ext cx="643890" cy="258128"/>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3145155" y="6055995"/>
            <a:ext cx="643890" cy="258128"/>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3789045" y="6055995"/>
            <a:ext cx="643890" cy="25812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4432935" y="6055995"/>
            <a:ext cx="643890" cy="258128"/>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5076825" y="6055995"/>
            <a:ext cx="643890" cy="258128"/>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5720715" y="6055995"/>
            <a:ext cx="643890" cy="258128"/>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6364605" y="6055995"/>
            <a:ext cx="643890" cy="258128"/>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Rectangle 323"/>
          <p:cNvSpPr/>
          <p:nvPr/>
        </p:nvSpPr>
        <p:spPr>
          <a:xfrm>
            <a:off x="7008495" y="6055995"/>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Rectangle 324"/>
          <p:cNvSpPr/>
          <p:nvPr/>
        </p:nvSpPr>
        <p:spPr>
          <a:xfrm>
            <a:off x="7652385" y="6055995"/>
            <a:ext cx="643890" cy="258128"/>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6" name="Rectangle 325"/>
          <p:cNvSpPr/>
          <p:nvPr/>
        </p:nvSpPr>
        <p:spPr>
          <a:xfrm>
            <a:off x="8296275" y="6055995"/>
            <a:ext cx="643890" cy="258128"/>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Rectangle 326"/>
          <p:cNvSpPr/>
          <p:nvPr/>
        </p:nvSpPr>
        <p:spPr>
          <a:xfrm>
            <a:off x="8940165" y="6055995"/>
            <a:ext cx="643890" cy="258128"/>
          </a:xfrm>
          <a:prstGeom prst="rect">
            <a:avLst/>
          </a:prstGeom>
          <a:solidFill>
            <a:srgbClr val="0D67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8" name="Rectangle 327"/>
          <p:cNvSpPr/>
          <p:nvPr/>
        </p:nvSpPr>
        <p:spPr>
          <a:xfrm>
            <a:off x="9584055" y="6055995"/>
            <a:ext cx="643890" cy="258128"/>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Rectangle 328"/>
          <p:cNvSpPr/>
          <p:nvPr/>
        </p:nvSpPr>
        <p:spPr>
          <a:xfrm>
            <a:off x="10227945" y="6055995"/>
            <a:ext cx="643890" cy="258128"/>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Rectangle 329"/>
          <p:cNvSpPr/>
          <p:nvPr/>
        </p:nvSpPr>
        <p:spPr>
          <a:xfrm>
            <a:off x="10871835" y="6055995"/>
            <a:ext cx="643890" cy="25812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238125" y="631412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Stick Packs</a:t>
            </a:r>
          </a:p>
        </p:txBody>
      </p:sp>
      <p:sp>
        <p:nvSpPr>
          <p:cNvPr id="332" name="Rectangle 331"/>
          <p:cNvSpPr/>
          <p:nvPr/>
        </p:nvSpPr>
        <p:spPr>
          <a:xfrm>
            <a:off x="1857375" y="6314122"/>
            <a:ext cx="643890" cy="25812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Rectangle 332"/>
          <p:cNvSpPr/>
          <p:nvPr/>
        </p:nvSpPr>
        <p:spPr>
          <a:xfrm>
            <a:off x="2501265" y="6314122"/>
            <a:ext cx="643890" cy="258128"/>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Rectangle 333"/>
          <p:cNvSpPr/>
          <p:nvPr/>
        </p:nvSpPr>
        <p:spPr>
          <a:xfrm>
            <a:off x="3145155" y="6314122"/>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5" name="Rectangle 334"/>
          <p:cNvSpPr/>
          <p:nvPr/>
        </p:nvSpPr>
        <p:spPr>
          <a:xfrm>
            <a:off x="3789045" y="6314122"/>
            <a:ext cx="643890" cy="258128"/>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Rectangle 335"/>
          <p:cNvSpPr/>
          <p:nvPr/>
        </p:nvSpPr>
        <p:spPr>
          <a:xfrm>
            <a:off x="4432935" y="6314122"/>
            <a:ext cx="643890" cy="258128"/>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7" name="Rectangle 336"/>
          <p:cNvSpPr/>
          <p:nvPr/>
        </p:nvSpPr>
        <p:spPr>
          <a:xfrm>
            <a:off x="5076825" y="6314122"/>
            <a:ext cx="643890" cy="258128"/>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Rectangle 337"/>
          <p:cNvSpPr/>
          <p:nvPr/>
        </p:nvSpPr>
        <p:spPr>
          <a:xfrm>
            <a:off x="5720715" y="6314122"/>
            <a:ext cx="643890" cy="25812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Rectangle 338"/>
          <p:cNvSpPr/>
          <p:nvPr/>
        </p:nvSpPr>
        <p:spPr>
          <a:xfrm>
            <a:off x="6364605" y="6314122"/>
            <a:ext cx="643890" cy="258128"/>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0" name="Rectangle 339"/>
          <p:cNvSpPr/>
          <p:nvPr/>
        </p:nvSpPr>
        <p:spPr>
          <a:xfrm>
            <a:off x="7008495" y="6314122"/>
            <a:ext cx="643890" cy="258128"/>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1" name="Rectangle 340"/>
          <p:cNvSpPr/>
          <p:nvPr/>
        </p:nvSpPr>
        <p:spPr>
          <a:xfrm>
            <a:off x="7652385" y="6314122"/>
            <a:ext cx="643890" cy="25812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2" name="Rectangle 341"/>
          <p:cNvSpPr/>
          <p:nvPr/>
        </p:nvSpPr>
        <p:spPr>
          <a:xfrm>
            <a:off x="8296275" y="6314122"/>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3" name="Rectangle 342"/>
          <p:cNvSpPr/>
          <p:nvPr/>
        </p:nvSpPr>
        <p:spPr>
          <a:xfrm>
            <a:off x="8940165" y="6314122"/>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4" name="Rectangle 343"/>
          <p:cNvSpPr/>
          <p:nvPr/>
        </p:nvSpPr>
        <p:spPr>
          <a:xfrm>
            <a:off x="9584055" y="6314122"/>
            <a:ext cx="643890" cy="258128"/>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5" name="Rectangle 344"/>
          <p:cNvSpPr/>
          <p:nvPr/>
        </p:nvSpPr>
        <p:spPr>
          <a:xfrm>
            <a:off x="10227945" y="6314122"/>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6" name="Rectangle 345"/>
          <p:cNvSpPr/>
          <p:nvPr/>
        </p:nvSpPr>
        <p:spPr>
          <a:xfrm>
            <a:off x="10871835" y="6314122"/>
            <a:ext cx="643890" cy="258128"/>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7" name="Rectangle 34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8" name="Rectangle 34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9" name="Rectangle 34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0" name="Rectangle 34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1" name="Rectangle 35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2" name="Rectangle 35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3" name="Rectangle 35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4" name="Rectangle 35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5" name="Rectangle 35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6" name="Rectangle 35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7" name="Rectangle 35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8" name="Rectangle 35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9" name="Rectangle 35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0" name="Rectangle 35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1" name="Rectangle 36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2" name="Rectangle 36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3" name="Rectangle 36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4" name="Rectangle 36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5" name="Rectangle 36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6" name="Rectangle 36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7" name="Rectangle 36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8" name="Rectangle 36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9" name="Rectangle 36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0" name="Rectangle 36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1" name="Rectangle 37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2" name="Rectangle 37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3" name="Rectangle 37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4" name="Rectangle 37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5" name="Rectangle 37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6" name="Rectangle 37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7" name="Rectangle 37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8" name="Rectangle 37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9" name="Rectangle 37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0" name="Rectangle 37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1" name="Rectangle 38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2" name="Rectangle 38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3" name="Rectangle 38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4" name="Rectangle 38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5" name="Rectangle 38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6" name="Rectangle 38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7" name="Rectangle 38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8" name="TextBox 38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89" name="TextBox 38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90" name="TextBox 38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91" name="TextBox 3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Product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Product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Product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Rollstock Films</a:t>
            </a:r>
          </a:p>
        </p:txBody>
      </p:sp>
      <p:sp>
        <p:nvSpPr>
          <p:cNvPr id="28" name="Rectangle 27"/>
          <p:cNvSpPr/>
          <p:nvPr/>
        </p:nvSpPr>
        <p:spPr>
          <a:xfrm>
            <a:off x="1857375" y="1409700"/>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258128"/>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258128"/>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258128"/>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25812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25812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258128"/>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258128"/>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258128"/>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258128"/>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66782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Lidding &amp; Tray-Sealing Films</a:t>
            </a:r>
          </a:p>
        </p:txBody>
      </p:sp>
      <p:sp>
        <p:nvSpPr>
          <p:cNvPr id="44" name="Rectangle 43"/>
          <p:cNvSpPr/>
          <p:nvPr/>
        </p:nvSpPr>
        <p:spPr>
          <a:xfrm>
            <a:off x="1857375" y="1667828"/>
            <a:ext cx="643890" cy="258128"/>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667828"/>
            <a:ext cx="643890" cy="258128"/>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667828"/>
            <a:ext cx="643890" cy="25812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667828"/>
            <a:ext cx="643890" cy="258128"/>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667828"/>
            <a:ext cx="643890" cy="258128"/>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667828"/>
            <a:ext cx="643890" cy="258128"/>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667828"/>
            <a:ext cx="643890" cy="258128"/>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667828"/>
            <a:ext cx="643890" cy="258128"/>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667828"/>
            <a:ext cx="643890" cy="258128"/>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667828"/>
            <a:ext cx="643890" cy="258128"/>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667828"/>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667828"/>
            <a:ext cx="643890" cy="258128"/>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667828"/>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667828"/>
            <a:ext cx="643890" cy="258128"/>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667828"/>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192595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Thermoforming Films</a:t>
            </a:r>
          </a:p>
        </p:txBody>
      </p:sp>
      <p:sp>
        <p:nvSpPr>
          <p:cNvPr id="60" name="Rectangle 59"/>
          <p:cNvSpPr/>
          <p:nvPr/>
        </p:nvSpPr>
        <p:spPr>
          <a:xfrm>
            <a:off x="1857375" y="1925955"/>
            <a:ext cx="643890" cy="258128"/>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1925955"/>
            <a:ext cx="643890" cy="258128"/>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1925955"/>
            <a:ext cx="643890" cy="258128"/>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1925955"/>
            <a:ext cx="643890" cy="258128"/>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1925955"/>
            <a:ext cx="643890" cy="258128"/>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1925955"/>
            <a:ext cx="643890" cy="258128"/>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1925955"/>
            <a:ext cx="643890" cy="258128"/>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1925955"/>
            <a:ext cx="643890" cy="25812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1925955"/>
            <a:ext cx="643890" cy="25812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1925955"/>
            <a:ext cx="643890" cy="258128"/>
          </a:xfrm>
          <a:prstGeom prst="rect">
            <a:avLst/>
          </a:prstGeom>
          <a:solidFill>
            <a:srgbClr val="0D61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1925955"/>
            <a:ext cx="643890" cy="258128"/>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1925955"/>
            <a:ext cx="643890" cy="25812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1925955"/>
            <a:ext cx="643890" cy="25812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1925955"/>
            <a:ext cx="643890" cy="258128"/>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1925955"/>
            <a:ext cx="643890" cy="258128"/>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18408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Skin Packaging Films</a:t>
            </a:r>
          </a:p>
        </p:txBody>
      </p:sp>
      <p:sp>
        <p:nvSpPr>
          <p:cNvPr id="76" name="Rectangle 75"/>
          <p:cNvSpPr/>
          <p:nvPr/>
        </p:nvSpPr>
        <p:spPr>
          <a:xfrm>
            <a:off x="1857375" y="2184082"/>
            <a:ext cx="643890" cy="258128"/>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184082"/>
            <a:ext cx="643890" cy="258128"/>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184082"/>
            <a:ext cx="643890" cy="258128"/>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184082"/>
            <a:ext cx="643890" cy="258128"/>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184082"/>
            <a:ext cx="643890" cy="258128"/>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184082"/>
            <a:ext cx="643890" cy="258128"/>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184082"/>
            <a:ext cx="643890" cy="258128"/>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184082"/>
            <a:ext cx="643890" cy="258128"/>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184082"/>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184082"/>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184082"/>
            <a:ext cx="643890" cy="258128"/>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184082"/>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184082"/>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184082"/>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184082"/>
            <a:ext cx="643890" cy="258128"/>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44221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HFFS / Flow-Pack Films</a:t>
            </a:r>
          </a:p>
        </p:txBody>
      </p:sp>
      <p:sp>
        <p:nvSpPr>
          <p:cNvPr id="92" name="Rectangle 91"/>
          <p:cNvSpPr/>
          <p:nvPr/>
        </p:nvSpPr>
        <p:spPr>
          <a:xfrm>
            <a:off x="1857375" y="2442210"/>
            <a:ext cx="643890" cy="258128"/>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442210"/>
            <a:ext cx="643890" cy="258128"/>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442210"/>
            <a:ext cx="643890" cy="258128"/>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442210"/>
            <a:ext cx="643890" cy="258128"/>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442210"/>
            <a:ext cx="643890" cy="258128"/>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442210"/>
            <a:ext cx="643890" cy="258128"/>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442210"/>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442210"/>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442210"/>
            <a:ext cx="643890" cy="258128"/>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442210"/>
            <a:ext cx="643890" cy="258128"/>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442210"/>
            <a:ext cx="643890" cy="258128"/>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442210"/>
            <a:ext cx="643890" cy="258128"/>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442210"/>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442210"/>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442210"/>
            <a:ext cx="643890" cy="258128"/>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270033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VFFS Rollstock Films</a:t>
            </a:r>
          </a:p>
        </p:txBody>
      </p:sp>
      <p:sp>
        <p:nvSpPr>
          <p:cNvPr id="108" name="Rectangle 107"/>
          <p:cNvSpPr/>
          <p:nvPr/>
        </p:nvSpPr>
        <p:spPr>
          <a:xfrm>
            <a:off x="1857375" y="2700338"/>
            <a:ext cx="643890" cy="258128"/>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2700338"/>
            <a:ext cx="643890" cy="258128"/>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2700338"/>
            <a:ext cx="643890" cy="258128"/>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2700338"/>
            <a:ext cx="643890" cy="258128"/>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2700338"/>
            <a:ext cx="643890" cy="258128"/>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2700338"/>
            <a:ext cx="643890" cy="258128"/>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2700338"/>
            <a:ext cx="643890" cy="258128"/>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2700338"/>
            <a:ext cx="643890" cy="258128"/>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2700338"/>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2700338"/>
            <a:ext cx="643890" cy="258128"/>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2700338"/>
            <a:ext cx="643890" cy="25812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2700338"/>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2700338"/>
            <a:ext cx="643890" cy="258128"/>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2700338"/>
            <a:ext cx="643890" cy="258128"/>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2700338"/>
            <a:ext cx="643890" cy="258128"/>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295846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&amp; Overwrap Films</a:t>
            </a:r>
          </a:p>
        </p:txBody>
      </p:sp>
      <p:sp>
        <p:nvSpPr>
          <p:cNvPr id="124" name="Rectangle 123"/>
          <p:cNvSpPr/>
          <p:nvPr/>
        </p:nvSpPr>
        <p:spPr>
          <a:xfrm>
            <a:off x="1857375" y="2958465"/>
            <a:ext cx="643890" cy="258128"/>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2958465"/>
            <a:ext cx="643890" cy="258128"/>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2958465"/>
            <a:ext cx="643890" cy="258128"/>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2958465"/>
            <a:ext cx="643890" cy="258128"/>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2958465"/>
            <a:ext cx="643890" cy="258128"/>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2958465"/>
            <a:ext cx="643890" cy="25812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2958465"/>
            <a:ext cx="643890" cy="258128"/>
          </a:xfrm>
          <a:prstGeom prst="rect">
            <a:avLst/>
          </a:prstGeom>
          <a:solidFill>
            <a:srgbClr val="65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2958465"/>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2958465"/>
            <a:ext cx="643890" cy="258128"/>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2958465"/>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2958465"/>
            <a:ext cx="643890" cy="258128"/>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2958465"/>
            <a:ext cx="643890" cy="258128"/>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2958465"/>
            <a:ext cx="643890" cy="258128"/>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2958465"/>
            <a:ext cx="643890" cy="258128"/>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2958465"/>
            <a:ext cx="643890" cy="258128"/>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216593"/>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Barrier Casings</a:t>
            </a:r>
          </a:p>
        </p:txBody>
      </p:sp>
      <p:sp>
        <p:nvSpPr>
          <p:cNvPr id="140" name="Rectangle 139"/>
          <p:cNvSpPr/>
          <p:nvPr/>
        </p:nvSpPr>
        <p:spPr>
          <a:xfrm>
            <a:off x="1857375" y="3216593"/>
            <a:ext cx="643890" cy="258128"/>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216593"/>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216593"/>
            <a:ext cx="643890" cy="258128"/>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216593"/>
            <a:ext cx="643890" cy="258128"/>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216593"/>
            <a:ext cx="643890" cy="258128"/>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216593"/>
            <a:ext cx="643890" cy="25812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216593"/>
            <a:ext cx="643890" cy="258128"/>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216593"/>
            <a:ext cx="643890" cy="258128"/>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216593"/>
            <a:ext cx="643890" cy="258128"/>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216593"/>
            <a:ext cx="643890" cy="258128"/>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216593"/>
            <a:ext cx="643890" cy="258128"/>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216593"/>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216593"/>
            <a:ext cx="643890" cy="258128"/>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216593"/>
            <a:ext cx="643890" cy="258128"/>
          </a:xfrm>
          <a:prstGeom prst="rect">
            <a:avLst/>
          </a:prstGeom>
          <a:solidFill>
            <a:srgbClr val="2E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216593"/>
            <a:ext cx="643890" cy="258128"/>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47472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Non-Shrink Casings</a:t>
            </a:r>
          </a:p>
        </p:txBody>
      </p:sp>
      <p:sp>
        <p:nvSpPr>
          <p:cNvPr id="156" name="Rectangle 155"/>
          <p:cNvSpPr/>
          <p:nvPr/>
        </p:nvSpPr>
        <p:spPr>
          <a:xfrm>
            <a:off x="1857375" y="3474720"/>
            <a:ext cx="643890" cy="25812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474720"/>
            <a:ext cx="643890" cy="25812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474720"/>
            <a:ext cx="643890" cy="25812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474720"/>
            <a:ext cx="643890" cy="258128"/>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474720"/>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474720"/>
            <a:ext cx="643890" cy="258128"/>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474720"/>
            <a:ext cx="643890" cy="258128"/>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474720"/>
            <a:ext cx="643890" cy="258128"/>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474720"/>
            <a:ext cx="643890" cy="258128"/>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474720"/>
            <a:ext cx="643890" cy="258128"/>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474720"/>
            <a:ext cx="643890" cy="258128"/>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474720"/>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474720"/>
            <a:ext cx="643890" cy="258128"/>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474720"/>
            <a:ext cx="643890" cy="258128"/>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474720"/>
            <a:ext cx="643890" cy="25812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373284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Casings</a:t>
            </a:r>
          </a:p>
        </p:txBody>
      </p:sp>
      <p:sp>
        <p:nvSpPr>
          <p:cNvPr id="172" name="Rectangle 171"/>
          <p:cNvSpPr/>
          <p:nvPr/>
        </p:nvSpPr>
        <p:spPr>
          <a:xfrm>
            <a:off x="1857375" y="3732848"/>
            <a:ext cx="643890" cy="258128"/>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3732848"/>
            <a:ext cx="643890" cy="25812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3732848"/>
            <a:ext cx="643890" cy="258128"/>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3732848"/>
            <a:ext cx="643890" cy="258128"/>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3732848"/>
            <a:ext cx="643890" cy="258128"/>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3732848"/>
            <a:ext cx="643890" cy="258128"/>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3732848"/>
            <a:ext cx="643890" cy="25812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3732848"/>
            <a:ext cx="643890" cy="258128"/>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3732848"/>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3732848"/>
            <a:ext cx="643890" cy="258128"/>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3732848"/>
            <a:ext cx="643890" cy="258128"/>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3732848"/>
            <a:ext cx="643890" cy="258128"/>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3732848"/>
            <a:ext cx="643890" cy="258128"/>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3732848"/>
            <a:ext cx="643890" cy="258128"/>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3732848"/>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399097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Other Specialty Casings</a:t>
            </a:r>
          </a:p>
        </p:txBody>
      </p:sp>
      <p:sp>
        <p:nvSpPr>
          <p:cNvPr id="188" name="Rectangle 187"/>
          <p:cNvSpPr/>
          <p:nvPr/>
        </p:nvSpPr>
        <p:spPr>
          <a:xfrm>
            <a:off x="1857375" y="3990975"/>
            <a:ext cx="643890" cy="258128"/>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3990975"/>
            <a:ext cx="643890" cy="258128"/>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3990975"/>
            <a:ext cx="643890" cy="25812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3990975"/>
            <a:ext cx="643890" cy="25812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3990975"/>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3990975"/>
            <a:ext cx="643890" cy="258128"/>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3990975"/>
            <a:ext cx="643890" cy="258128"/>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3990975"/>
            <a:ext cx="643890" cy="258128"/>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3990975"/>
            <a:ext cx="643890" cy="258128"/>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3990975"/>
            <a:ext cx="643890" cy="258128"/>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3990975"/>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3990975"/>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3990975"/>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3990975"/>
            <a:ext cx="643890" cy="258128"/>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3990975"/>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24910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Premade Pouches &amp; Bags</a:t>
            </a:r>
          </a:p>
        </p:txBody>
      </p:sp>
      <p:sp>
        <p:nvSpPr>
          <p:cNvPr id="204" name="Rectangle 203"/>
          <p:cNvSpPr/>
          <p:nvPr/>
        </p:nvSpPr>
        <p:spPr>
          <a:xfrm>
            <a:off x="1857375" y="4249102"/>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249102"/>
            <a:ext cx="643890" cy="258128"/>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249102"/>
            <a:ext cx="643890" cy="258128"/>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249102"/>
            <a:ext cx="643890" cy="258128"/>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249102"/>
            <a:ext cx="643890" cy="258128"/>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249102"/>
            <a:ext cx="643890" cy="258128"/>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249102"/>
            <a:ext cx="643890" cy="25812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249102"/>
            <a:ext cx="643890" cy="258128"/>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249102"/>
            <a:ext cx="643890" cy="258128"/>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249102"/>
            <a:ext cx="643890" cy="258128"/>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249102"/>
            <a:ext cx="643890" cy="258128"/>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249102"/>
            <a:ext cx="643890" cy="258128"/>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249102"/>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249102"/>
            <a:ext cx="643890" cy="258128"/>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249102"/>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450723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Pouches</a:t>
            </a:r>
          </a:p>
        </p:txBody>
      </p:sp>
      <p:sp>
        <p:nvSpPr>
          <p:cNvPr id="220" name="Rectangle 219"/>
          <p:cNvSpPr/>
          <p:nvPr/>
        </p:nvSpPr>
        <p:spPr>
          <a:xfrm>
            <a:off x="1857375" y="4507230"/>
            <a:ext cx="643890" cy="258128"/>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4507230"/>
            <a:ext cx="643890" cy="258128"/>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4507230"/>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4507230"/>
            <a:ext cx="643890" cy="25812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4507230"/>
            <a:ext cx="643890" cy="258128"/>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4507230"/>
            <a:ext cx="643890" cy="258128"/>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4507230"/>
            <a:ext cx="643890" cy="25812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4507230"/>
            <a:ext cx="643890" cy="258128"/>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4507230"/>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4507230"/>
            <a:ext cx="643890" cy="258128"/>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4507230"/>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4507230"/>
            <a:ext cx="643890" cy="25812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4507230"/>
            <a:ext cx="643890" cy="258128"/>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4507230"/>
            <a:ext cx="643890" cy="25812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4507230"/>
            <a:ext cx="643890" cy="258128"/>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476535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Bags</a:t>
            </a:r>
          </a:p>
        </p:txBody>
      </p:sp>
      <p:sp>
        <p:nvSpPr>
          <p:cNvPr id="236" name="Rectangle 235"/>
          <p:cNvSpPr/>
          <p:nvPr/>
        </p:nvSpPr>
        <p:spPr>
          <a:xfrm>
            <a:off x="1857375" y="4765358"/>
            <a:ext cx="643890" cy="258128"/>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4765358"/>
            <a:ext cx="643890" cy="258128"/>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4765358"/>
            <a:ext cx="643890" cy="258128"/>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4765358"/>
            <a:ext cx="643890" cy="258128"/>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4765358"/>
            <a:ext cx="643890" cy="258128"/>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4765358"/>
            <a:ext cx="643890" cy="258128"/>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4765358"/>
            <a:ext cx="643890" cy="258128"/>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4765358"/>
            <a:ext cx="643890" cy="25812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4765358"/>
            <a:ext cx="643890" cy="258128"/>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4765358"/>
            <a:ext cx="643890" cy="258128"/>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4765358"/>
            <a:ext cx="643890" cy="258128"/>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4765358"/>
            <a:ext cx="643890" cy="258128"/>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4765358"/>
            <a:ext cx="643890" cy="258128"/>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4765358"/>
            <a:ext cx="643890" cy="258128"/>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4765358"/>
            <a:ext cx="643890" cy="258128"/>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02348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Stand-Up Pouches</a:t>
            </a:r>
          </a:p>
        </p:txBody>
      </p:sp>
      <p:sp>
        <p:nvSpPr>
          <p:cNvPr id="252" name="Rectangle 251"/>
          <p:cNvSpPr/>
          <p:nvPr/>
        </p:nvSpPr>
        <p:spPr>
          <a:xfrm>
            <a:off x="1857375" y="5023485"/>
            <a:ext cx="643890" cy="258128"/>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023485"/>
            <a:ext cx="643890" cy="258128"/>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023485"/>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023485"/>
            <a:ext cx="643890" cy="258128"/>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023485"/>
            <a:ext cx="643890" cy="258128"/>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023485"/>
            <a:ext cx="643890" cy="258128"/>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023485"/>
            <a:ext cx="643890" cy="258128"/>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023485"/>
            <a:ext cx="643890" cy="25812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023485"/>
            <a:ext cx="643890" cy="25812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023485"/>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023485"/>
            <a:ext cx="643890" cy="25812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023485"/>
            <a:ext cx="643890" cy="258128"/>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023485"/>
            <a:ext cx="643890" cy="258128"/>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023485"/>
            <a:ext cx="643890" cy="258128"/>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023485"/>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528161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Flat Pouches</a:t>
            </a:r>
          </a:p>
        </p:txBody>
      </p:sp>
      <p:sp>
        <p:nvSpPr>
          <p:cNvPr id="268" name="Rectangle 267"/>
          <p:cNvSpPr/>
          <p:nvPr/>
        </p:nvSpPr>
        <p:spPr>
          <a:xfrm>
            <a:off x="1857375" y="5281612"/>
            <a:ext cx="643890" cy="258128"/>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5281612"/>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5281612"/>
            <a:ext cx="643890" cy="258128"/>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5281612"/>
            <a:ext cx="643890" cy="258128"/>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5281612"/>
            <a:ext cx="643890" cy="25812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5281612"/>
            <a:ext cx="643890" cy="258128"/>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5281612"/>
            <a:ext cx="643890" cy="258128"/>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5281612"/>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5281612"/>
            <a:ext cx="643890" cy="258128"/>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5281612"/>
            <a:ext cx="643890" cy="258128"/>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5281612"/>
            <a:ext cx="643890" cy="25812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5281612"/>
            <a:ext cx="643890" cy="258128"/>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5281612"/>
            <a:ext cx="643890" cy="258128"/>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5281612"/>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5281612"/>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238125" y="553974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Retort Pouches</a:t>
            </a:r>
          </a:p>
        </p:txBody>
      </p:sp>
      <p:sp>
        <p:nvSpPr>
          <p:cNvPr id="284" name="Rectangle 283"/>
          <p:cNvSpPr/>
          <p:nvPr/>
        </p:nvSpPr>
        <p:spPr>
          <a:xfrm>
            <a:off x="1857375" y="5539740"/>
            <a:ext cx="643890" cy="258128"/>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2501265" y="5539740"/>
            <a:ext cx="643890" cy="258128"/>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3145155" y="5539740"/>
            <a:ext cx="643890" cy="258128"/>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3789045" y="5539740"/>
            <a:ext cx="643890" cy="258128"/>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4432935" y="5539740"/>
            <a:ext cx="643890" cy="258128"/>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5076825" y="5539740"/>
            <a:ext cx="643890" cy="258128"/>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5720715" y="5539740"/>
            <a:ext cx="643890" cy="258128"/>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6364605" y="5539740"/>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7008495" y="5539740"/>
            <a:ext cx="643890" cy="258128"/>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7652385" y="5539740"/>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8296275" y="5539740"/>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8940165" y="5539740"/>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9584055" y="5539740"/>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0227945" y="5539740"/>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0871835" y="5539740"/>
            <a:ext cx="643890" cy="258128"/>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238125" y="579786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Sachets &amp; Stick Packs</a:t>
            </a:r>
          </a:p>
        </p:txBody>
      </p:sp>
      <p:sp>
        <p:nvSpPr>
          <p:cNvPr id="300" name="Rectangle 299"/>
          <p:cNvSpPr/>
          <p:nvPr/>
        </p:nvSpPr>
        <p:spPr>
          <a:xfrm>
            <a:off x="1857375" y="5797868"/>
            <a:ext cx="643890" cy="25812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2501265" y="5797868"/>
            <a:ext cx="643890" cy="258128"/>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3145155" y="5797868"/>
            <a:ext cx="643890" cy="258128"/>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3789045" y="5797868"/>
            <a:ext cx="643890" cy="25812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4432935" y="5797868"/>
            <a:ext cx="643890" cy="258128"/>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5076825" y="5797868"/>
            <a:ext cx="643890" cy="258128"/>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5720715" y="5797868"/>
            <a:ext cx="643890" cy="258128"/>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6364605" y="5797868"/>
            <a:ext cx="643890" cy="258128"/>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7008495" y="5797868"/>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7652385" y="5797868"/>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8296275" y="5797868"/>
            <a:ext cx="643890" cy="258128"/>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8940165" y="5797868"/>
            <a:ext cx="643890" cy="25812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9584055" y="5797868"/>
            <a:ext cx="643890" cy="258128"/>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0227945" y="5797868"/>
            <a:ext cx="643890" cy="258128"/>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0871835" y="5797868"/>
            <a:ext cx="643890" cy="258128"/>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238125" y="605599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Sachets</a:t>
            </a:r>
          </a:p>
        </p:txBody>
      </p:sp>
      <p:sp>
        <p:nvSpPr>
          <p:cNvPr id="316" name="Rectangle 315"/>
          <p:cNvSpPr/>
          <p:nvPr/>
        </p:nvSpPr>
        <p:spPr>
          <a:xfrm>
            <a:off x="1857375" y="6055995"/>
            <a:ext cx="643890" cy="258128"/>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2501265" y="6055995"/>
            <a:ext cx="643890" cy="25812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3145155" y="6055995"/>
            <a:ext cx="643890" cy="258128"/>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3789045" y="6055995"/>
            <a:ext cx="643890" cy="258128"/>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4432935" y="6055995"/>
            <a:ext cx="643890" cy="25812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5076825" y="6055995"/>
            <a:ext cx="643890" cy="258128"/>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5720715" y="6055995"/>
            <a:ext cx="643890" cy="258128"/>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6364605" y="6055995"/>
            <a:ext cx="643890" cy="25812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Rectangle 323"/>
          <p:cNvSpPr/>
          <p:nvPr/>
        </p:nvSpPr>
        <p:spPr>
          <a:xfrm>
            <a:off x="7008495" y="6055995"/>
            <a:ext cx="643890" cy="25812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Rectangle 324"/>
          <p:cNvSpPr/>
          <p:nvPr/>
        </p:nvSpPr>
        <p:spPr>
          <a:xfrm>
            <a:off x="7652385" y="6055995"/>
            <a:ext cx="643890" cy="258128"/>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6" name="Rectangle 325"/>
          <p:cNvSpPr/>
          <p:nvPr/>
        </p:nvSpPr>
        <p:spPr>
          <a:xfrm>
            <a:off x="8296275" y="6055995"/>
            <a:ext cx="643890" cy="258128"/>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Rectangle 326"/>
          <p:cNvSpPr/>
          <p:nvPr/>
        </p:nvSpPr>
        <p:spPr>
          <a:xfrm>
            <a:off x="8940165" y="6055995"/>
            <a:ext cx="643890" cy="25812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8" name="Rectangle 327"/>
          <p:cNvSpPr/>
          <p:nvPr/>
        </p:nvSpPr>
        <p:spPr>
          <a:xfrm>
            <a:off x="9584055" y="6055995"/>
            <a:ext cx="643890" cy="258128"/>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Rectangle 328"/>
          <p:cNvSpPr/>
          <p:nvPr/>
        </p:nvSpPr>
        <p:spPr>
          <a:xfrm>
            <a:off x="10227945" y="6055995"/>
            <a:ext cx="643890" cy="258128"/>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Rectangle 329"/>
          <p:cNvSpPr/>
          <p:nvPr/>
        </p:nvSpPr>
        <p:spPr>
          <a:xfrm>
            <a:off x="10871835" y="6055995"/>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238125" y="631412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Stick Packs</a:t>
            </a:r>
          </a:p>
        </p:txBody>
      </p:sp>
      <p:sp>
        <p:nvSpPr>
          <p:cNvPr id="332" name="Rectangle 331"/>
          <p:cNvSpPr/>
          <p:nvPr/>
        </p:nvSpPr>
        <p:spPr>
          <a:xfrm>
            <a:off x="1857375" y="6314122"/>
            <a:ext cx="643890" cy="258128"/>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Rectangle 332"/>
          <p:cNvSpPr/>
          <p:nvPr/>
        </p:nvSpPr>
        <p:spPr>
          <a:xfrm>
            <a:off x="2501265" y="6314122"/>
            <a:ext cx="643890" cy="258128"/>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Rectangle 333"/>
          <p:cNvSpPr/>
          <p:nvPr/>
        </p:nvSpPr>
        <p:spPr>
          <a:xfrm>
            <a:off x="3145155" y="6314122"/>
            <a:ext cx="643890" cy="258128"/>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5" name="Rectangle 334"/>
          <p:cNvSpPr/>
          <p:nvPr/>
        </p:nvSpPr>
        <p:spPr>
          <a:xfrm>
            <a:off x="3789045" y="6314122"/>
            <a:ext cx="643890" cy="258128"/>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Rectangle 335"/>
          <p:cNvSpPr/>
          <p:nvPr/>
        </p:nvSpPr>
        <p:spPr>
          <a:xfrm>
            <a:off x="4432935" y="6314122"/>
            <a:ext cx="643890" cy="258128"/>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7" name="Rectangle 336"/>
          <p:cNvSpPr/>
          <p:nvPr/>
        </p:nvSpPr>
        <p:spPr>
          <a:xfrm>
            <a:off x="5076825" y="6314122"/>
            <a:ext cx="643890" cy="25812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Rectangle 337"/>
          <p:cNvSpPr/>
          <p:nvPr/>
        </p:nvSpPr>
        <p:spPr>
          <a:xfrm>
            <a:off x="5720715" y="6314122"/>
            <a:ext cx="643890" cy="258128"/>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Rectangle 338"/>
          <p:cNvSpPr/>
          <p:nvPr/>
        </p:nvSpPr>
        <p:spPr>
          <a:xfrm>
            <a:off x="6364605" y="6314122"/>
            <a:ext cx="643890" cy="258128"/>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0" name="Rectangle 339"/>
          <p:cNvSpPr/>
          <p:nvPr/>
        </p:nvSpPr>
        <p:spPr>
          <a:xfrm>
            <a:off x="7008495" y="6314122"/>
            <a:ext cx="643890" cy="258128"/>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1" name="Rectangle 340"/>
          <p:cNvSpPr/>
          <p:nvPr/>
        </p:nvSpPr>
        <p:spPr>
          <a:xfrm>
            <a:off x="7652385" y="6314122"/>
            <a:ext cx="643890" cy="258128"/>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2" name="Rectangle 341"/>
          <p:cNvSpPr/>
          <p:nvPr/>
        </p:nvSpPr>
        <p:spPr>
          <a:xfrm>
            <a:off x="8296275" y="6314122"/>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3" name="Rectangle 342"/>
          <p:cNvSpPr/>
          <p:nvPr/>
        </p:nvSpPr>
        <p:spPr>
          <a:xfrm>
            <a:off x="8940165" y="6314122"/>
            <a:ext cx="643890" cy="258128"/>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4" name="Rectangle 343"/>
          <p:cNvSpPr/>
          <p:nvPr/>
        </p:nvSpPr>
        <p:spPr>
          <a:xfrm>
            <a:off x="9584055" y="6314122"/>
            <a:ext cx="643890" cy="258128"/>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5" name="Rectangle 344"/>
          <p:cNvSpPr/>
          <p:nvPr/>
        </p:nvSpPr>
        <p:spPr>
          <a:xfrm>
            <a:off x="10227945" y="6314122"/>
            <a:ext cx="643890" cy="258128"/>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6" name="Rectangle 345"/>
          <p:cNvSpPr/>
          <p:nvPr/>
        </p:nvSpPr>
        <p:spPr>
          <a:xfrm>
            <a:off x="10871835" y="6314122"/>
            <a:ext cx="643890" cy="258128"/>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7" name="Rectangle 34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8" name="Rectangle 34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9" name="Rectangle 34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0" name="Rectangle 34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1" name="Rectangle 35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2" name="Rectangle 35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3" name="Rectangle 35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4" name="Rectangle 35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5" name="Rectangle 35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6" name="Rectangle 35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7" name="Rectangle 35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8" name="Rectangle 35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9" name="Rectangle 35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0" name="Rectangle 35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1" name="Rectangle 36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2" name="Rectangle 36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3" name="Rectangle 36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4" name="Rectangle 36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5" name="Rectangle 36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6" name="Rectangle 36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7" name="Rectangle 36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8" name="Rectangle 36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9" name="Rectangle 36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0" name="Rectangle 36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1" name="Rectangle 37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2" name="Rectangle 37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3" name="Rectangle 37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4" name="Rectangle 37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5" name="Rectangle 37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6" name="Rectangle 37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7" name="Rectangle 37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8" name="Rectangle 37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9" name="Rectangle 37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0" name="Rectangle 37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1" name="Rectangle 38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2" name="Rectangle 38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3" name="Rectangle 38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4" name="Rectangle 38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5" name="Rectangle 38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6" name="Rectangle 38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7" name="Rectangle 38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8" name="TextBox 38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389" name="TextBox 38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90" name="TextBox 38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91" name="TextBox 3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Principal Material / Barrier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Principal Material / Barrier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Principal Material / Barrier Technology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11 sub-segments of Principal Material / Barrier Technology…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Principal Material / Barrier Technology segment categorizes the market by principal material / barrier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PE-Based</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4,714</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10,105</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7.9%</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PP-Based</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3,231</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6,720</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7.6%</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PET-Based</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1,514</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3,249</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7.9%</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PA-Based</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1,306</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2,717</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7.6%</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EVOH-Based</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1,219</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2,627</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8.0%</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Metallized Barrier</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961.6</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2,024</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7.7%</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Among flexible plastic packaging by principal material / barrier technology, other specialty barrier technologies segment is expected to witness the highest CAGR of 8.3% over the forecast period. In terms of value share by principal material / barrier technology, the pe-based segment is expected to dominate the market, gaining 43 BPS and accounting for 30.9% share by 2036.</a:t>
            </a:r>
          </a:p>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Pe-based segment is projected to register 1.5X higher value than pp-based segment in 2036.</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PE-Based: </a:t>
            </a:r>
            <a:r>
              <a:rPr sz="1100" b="0">
                <a:solidFill>
                  <a:srgbClr val="2E2E2E"/>
                </a:solidFill>
                <a:latin typeface="Calibri"/>
              </a:rPr>
              <a:t>30% of 2026 value · 7.9%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PP-Based: </a:t>
            </a:r>
            <a:r>
              <a:rPr sz="1100" b="0">
                <a:solidFill>
                  <a:srgbClr val="2E2E2E"/>
                </a:solidFill>
                <a:latin typeface="Calibri"/>
              </a:rPr>
              <a:t>21% of 2026 value · 7.6%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PET-Based: </a:t>
            </a:r>
            <a:r>
              <a:rPr sz="1100" b="0">
                <a:solidFill>
                  <a:srgbClr val="2E2E2E"/>
                </a:solidFill>
                <a:latin typeface="Calibri"/>
              </a:rPr>
              <a:t>10% of 2026 value · 7.9%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PA-Based: </a:t>
            </a:r>
            <a:r>
              <a:rPr sz="1100" b="0">
                <a:solidFill>
                  <a:srgbClr val="2E2E2E"/>
                </a:solidFill>
                <a:latin typeface="Calibri"/>
              </a:rPr>
              <a:t>8% of 2026 value · 7.6%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EVOH-Based: </a:t>
            </a:r>
            <a:r>
              <a:rPr sz="1100" b="0">
                <a:solidFill>
                  <a:srgbClr val="2E2E2E"/>
                </a:solidFill>
                <a:latin typeface="Calibri"/>
              </a:rPr>
              <a:t>8% of 2026 value · 8.0%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Metallized Barrier: </a:t>
            </a:r>
            <a:r>
              <a:rPr sz="1100" b="0">
                <a:solidFill>
                  <a:srgbClr val="2E2E2E"/>
                </a:solidFill>
                <a:latin typeface="Calibri"/>
              </a:rPr>
              <a:t>6% of 2026 value · 7.7% CAGR serves a niche.</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Principal Material / Barrier Technology split shows how demand is distributed across principal material / barrier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Principal Material / Barrier Technology segment is projected to grow at a CAGR of 7.8% from 2026 to 2036.</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Principal Material / Barrier Technology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11 sub-segments of Principal Material / Barrier Technology…</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Principal Material / Barrier Technology segment categorizes the market by principal material / barrier technology.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90881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90881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PVDC-Based</a:t>
            </a:r>
          </a:p>
        </p:txBody>
      </p:sp>
      <p:sp>
        <p:nvSpPr>
          <p:cNvPr id="22" name="Rectangle 21"/>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822.1</a:t>
            </a:r>
          </a:p>
        </p:txBody>
      </p:sp>
      <p:sp>
        <p:nvSpPr>
          <p:cNvPr id="23" name="Rectangle 22"/>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1,634</a:t>
            </a:r>
          </a:p>
        </p:txBody>
      </p:sp>
      <p:sp>
        <p:nvSpPr>
          <p:cNvPr id="24" name="Rectangle 23"/>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7.1%</a:t>
            </a:r>
          </a:p>
        </p:txBody>
      </p:sp>
      <p:sp>
        <p:nvSpPr>
          <p:cNvPr id="25" name="Oval 24"/>
          <p:cNvSpPr/>
          <p:nvPr/>
        </p:nvSpPr>
        <p:spPr>
          <a:xfrm>
            <a:off x="265938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26" name="Rounded Rectangle 25"/>
          <p:cNvSpPr/>
          <p:nvPr/>
        </p:nvSpPr>
        <p:spPr>
          <a:xfrm>
            <a:off x="389001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89001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Aluminum Foil-Based</a:t>
            </a:r>
          </a:p>
        </p:txBody>
      </p:sp>
      <p:sp>
        <p:nvSpPr>
          <p:cNvPr id="29" name="Rectangle 28"/>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477.3</a:t>
            </a:r>
          </a:p>
        </p:txBody>
      </p:sp>
      <p:sp>
        <p:nvSpPr>
          <p:cNvPr id="30" name="Rectangle 29"/>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954.8</a:t>
            </a:r>
          </a:p>
        </p:txBody>
      </p:sp>
      <p:sp>
        <p:nvSpPr>
          <p:cNvPr id="31" name="Rectangle 30"/>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7.2%</a:t>
            </a:r>
          </a:p>
        </p:txBody>
      </p:sp>
      <p:sp>
        <p:nvSpPr>
          <p:cNvPr id="32" name="Oval 31"/>
          <p:cNvSpPr/>
          <p:nvPr/>
        </p:nvSpPr>
        <p:spPr>
          <a:xfrm>
            <a:off x="468249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33" name="Rounded Rectangle 32"/>
          <p:cNvSpPr/>
          <p:nvPr/>
        </p:nvSpPr>
        <p:spPr>
          <a:xfrm>
            <a:off x="591312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12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Specialty Barrier Technolog…</a:t>
            </a:r>
          </a:p>
        </p:txBody>
      </p:sp>
      <p:sp>
        <p:nvSpPr>
          <p:cNvPr id="36" name="Rectangle 35"/>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465.9</a:t>
            </a:r>
          </a:p>
        </p:txBody>
      </p:sp>
      <p:sp>
        <p:nvSpPr>
          <p:cNvPr id="37" name="Rectangle 36"/>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1,030</a:t>
            </a:r>
          </a:p>
        </p:txBody>
      </p:sp>
      <p:sp>
        <p:nvSpPr>
          <p:cNvPr id="38" name="Rectangle 37"/>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8.3%</a:t>
            </a:r>
          </a:p>
        </p:txBody>
      </p:sp>
      <p:sp>
        <p:nvSpPr>
          <p:cNvPr id="39" name="Oval 38"/>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9</a:t>
            </a:r>
          </a:p>
        </p:txBody>
      </p:sp>
      <p:sp>
        <p:nvSpPr>
          <p:cNvPr id="40" name="Rounded Rectangle 39"/>
          <p:cNvSpPr/>
          <p:nvPr/>
        </p:nvSpPr>
        <p:spPr>
          <a:xfrm>
            <a:off x="793623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93623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AlOx / SiOx-Coated</a:t>
            </a:r>
          </a:p>
        </p:txBody>
      </p:sp>
      <p:sp>
        <p:nvSpPr>
          <p:cNvPr id="43" name="Rectangle 42"/>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453.4</a:t>
            </a:r>
          </a:p>
        </p:txBody>
      </p:sp>
      <p:sp>
        <p:nvSpPr>
          <p:cNvPr id="44" name="Rectangle 43"/>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980.3</a:t>
            </a:r>
          </a:p>
        </p:txBody>
      </p:sp>
      <p:sp>
        <p:nvSpPr>
          <p:cNvPr id="45" name="Rectangle 44"/>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8.0%</a:t>
            </a:r>
          </a:p>
        </p:txBody>
      </p:sp>
      <p:sp>
        <p:nvSpPr>
          <p:cNvPr id="46" name="Oval 45"/>
          <p:cNvSpPr/>
          <p:nvPr/>
        </p:nvSpPr>
        <p:spPr>
          <a:xfrm>
            <a:off x="872871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10</a:t>
            </a:r>
          </a:p>
        </p:txBody>
      </p:sp>
      <p:sp>
        <p:nvSpPr>
          <p:cNvPr id="47" name="Rounded Rectangle 46"/>
          <p:cNvSpPr/>
          <p:nvPr/>
        </p:nvSpPr>
        <p:spPr>
          <a:xfrm>
            <a:off x="995934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995934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PVOH-Based</a:t>
            </a:r>
          </a:p>
        </p:txBody>
      </p:sp>
      <p:sp>
        <p:nvSpPr>
          <p:cNvPr id="50" name="Rectangle 49"/>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298.1</a:t>
            </a:r>
          </a:p>
        </p:txBody>
      </p:sp>
      <p:sp>
        <p:nvSpPr>
          <p:cNvPr id="51" name="Rectangle 50"/>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646.5</a:t>
            </a:r>
          </a:p>
        </p:txBody>
      </p:sp>
      <p:sp>
        <p:nvSpPr>
          <p:cNvPr id="52" name="Rectangle 51"/>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8.0%</a:t>
            </a:r>
          </a:p>
        </p:txBody>
      </p:sp>
      <p:sp>
        <p:nvSpPr>
          <p:cNvPr id="53" name="Oval 52"/>
          <p:cNvSpPr/>
          <p:nvPr/>
        </p:nvSpPr>
        <p:spPr>
          <a:xfrm>
            <a:off x="1075182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11</a:t>
            </a:r>
          </a:p>
        </p:txBody>
      </p:sp>
      <p:sp>
        <p:nvSpPr>
          <p:cNvPr id="54" name="Rounded Rectangle 53"/>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6" name="Rectangle 55"/>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PVDC-Based: </a:t>
            </a:r>
            <a:r>
              <a:rPr sz="1100" b="0">
                <a:solidFill>
                  <a:srgbClr val="2E2E2E"/>
                </a:solidFill>
                <a:latin typeface="Calibri"/>
              </a:rPr>
              <a:t>5% of 2026 value · 7.1%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Aluminum Foil-Based: </a:t>
            </a:r>
            <a:r>
              <a:rPr sz="1100" b="0">
                <a:solidFill>
                  <a:srgbClr val="2E2E2E"/>
                </a:solidFill>
                <a:latin typeface="Calibri"/>
              </a:rPr>
              <a:t>3% of 2026 value · 7.2% CAGR serves a niche.</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Other Specialty Barrier Technologies: </a:t>
            </a:r>
            <a:r>
              <a:rPr sz="1100" b="0">
                <a:solidFill>
                  <a:srgbClr val="2E2E2E"/>
                </a:solidFill>
                <a:latin typeface="Calibri"/>
              </a:rPr>
              <a:t>3% of 2026 value · 8.3%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AlOx / SiOx-Coated: </a:t>
            </a:r>
            <a:r>
              <a:rPr sz="1100" b="0">
                <a:solidFill>
                  <a:srgbClr val="2E2E2E"/>
                </a:solidFill>
                <a:latin typeface="Calibri"/>
              </a:rPr>
              <a:t>3% of 2026 value · 8.0%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PVOH-Based: </a:t>
            </a:r>
            <a:r>
              <a:rPr sz="1100" b="0">
                <a:solidFill>
                  <a:srgbClr val="2E2E2E"/>
                </a:solidFill>
                <a:latin typeface="Calibri"/>
              </a:rPr>
              <a:t>2% of 2026 value · 8.0% CAGR serves a niche.</a:t>
            </a:r>
          </a:p>
        </p:txBody>
      </p:sp>
      <p:sp>
        <p:nvSpPr>
          <p:cNvPr id="58" name="TextBox 5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9" name="TextBox 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Principal Material / Barrier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Principal Material / Barrier Technology mix within each country and the attractiveness of each sub-segment on growth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Principal Material / Barrier Technology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Pe-based followed by pp-based are expected to be the two most attractive principal material / barrier technology segments in the South Asia &amp; Pacific flexible plastic packaging market in terms of value over the forecast period. PE-Based and PP-Based exhibit a CAGR index of 102 and 98 and a market share index of 335 and 230 respectively, against the segment average of 100. The pvoh-based segment is expected to be less attractive as compared to other segments over the forecast period, owing to its lower CAGR and incremental opportunity. PE-Based ranks most attractive on scale, holding 30.5% of value and growing at 7.9%, above the 7.8% market, because mono-PE suits recyclable food, protein and e-commerce packs. Other Specialty Barrier Technologies lead growth at 8.3% but from only 3.0%, and rising incomes, organised retail expansion and fast-growing packaged-food consumption support both.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Principal Material / Barrier Technology (1/3)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PE-Based</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PP-Based</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PET-Based</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PA-Based</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Principal Material / Barrier Technology (2/3)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EVOH-Based</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PVDC-Based</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PVOH-Based</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Metallized Barrier</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Principal Material / Barrier Technology (3/3)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AlOx / SiOx-Coated</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Aluminum Foil-Based</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Other Specialty Barrier Technologies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South Asia &amp; Pacific Absolute $ Opportunity Analysis, By Principal Material / Barrier Technology</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By 2036, pe-based segment is anticipated to witness an increase of 2.1X in terms of value as compared to 2026. The PE-Based segment is expected to create an incremental opportunity of US$ 5,391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The PP-Based segment is expected to create an incremental opportunity of US$ 3,489 Mn for the overall flexible plastic packaging market from 2026 to 2036. The PET-Based segment is expected to create an incremental opportunity of US$ 1,735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PE-Based adds the most absolute value because it holds the largest base at about 30% and grows at 7.9%, helped by low cost, mono-material recyclable design and surging demand for packaged food, e-commerce and dairy. EVOH-Based and PET-Based also grow at 8.0% and 7.9% on barrier needs for ready meals. PP-Based and PVDC-Based lose share as buyers switch away from older builds.</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Volume Analysis, By Principal Material / Barrier Technology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Principal Material / Barrier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Volume Analysis, By Principal Material / Barrier Technology</a:t>
            </a:r>
          </a:p>
        </p:txBody>
      </p:sp>
      <p:sp>
        <p:nvSpPr>
          <p:cNvPr id="17" name="Rectangle 16"/>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Pe-based segment is projected to register 1.5X higher volume than pp-based segment in 2036. Among flexible plastic packaging by principal material / barrier technology, other specialty barrier technologies segment is expected to witness the highest CAGR of 7.0% over the forecast period.</a:t>
            </a:r>
          </a:p>
          <a:p>
            <a:pPr algn="l">
              <a:lnSpc>
                <a:spcPct val="110000"/>
              </a:lnSpc>
              <a:spcBef>
                <a:spcPts val="0"/>
              </a:spcBef>
              <a:spcAft>
                <a:spcPts val="500"/>
              </a:spcAft>
            </a:pPr>
            <a:r>
              <a:rPr sz="1150" b="0">
                <a:solidFill>
                  <a:srgbClr val="2E2E2E"/>
                </a:solidFill>
                <a:latin typeface="Calibri"/>
              </a:rPr>
              <a:t>In terms of volume share by principal material / barrier technology, the pe-based segment is expected to dominate the market, gaining 42 BPS and accounting for 30.9% share by 2036. The pp-based segment is expected to lose 33 BPS over the forecast period to account for 20.6% share by 2036.</a:t>
            </a:r>
          </a:p>
          <a:p>
            <a:pPr algn="l">
              <a:lnSpc>
                <a:spcPct val="110000"/>
              </a:lnSpc>
              <a:spcBef>
                <a:spcPts val="0"/>
              </a:spcBef>
              <a:spcAft>
                <a:spcPts val="500"/>
              </a:spcAft>
            </a:pPr>
            <a:r>
              <a:rPr sz="1150" b="0">
                <a:solidFill>
                  <a:srgbClr val="2E2E2E"/>
                </a:solidFill>
                <a:latin typeface="Calibri"/>
              </a:rPr>
              <a:t>PE-Based gains 42 BPS of volume share because PE combines low resin cost, strong sealability and straightforward mono-material recycling, which suits lightweight stand-up and lidding formats. Its 6.7% CAGR compares with a 6.5% market rate, while PP-Based loses 33 BPS at 6.4% as PE is displacing PP in mono-material pouch and lidding redesigns. In South Asia &amp; Pacific, rising incomes, organised retail and packaged-food penetration drive the mix.</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Principal Material / Barrier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Principal Material / Barrier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Principal Material / Barrier Technology (US$ Mn)</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Principal Material / Barrier Technology</a:t>
            </a:r>
          </a:p>
        </p:txBody>
      </p:sp>
      <p:sp>
        <p:nvSpPr>
          <p:cNvPr id="17" name="Rectangle 16"/>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Pe-based segment is projected to register 1.5X higher value than pp-based segment in 2036. Among flexible plastic packaging by principal material / barrier technology, other specialty barrier technologies segment is expected to witness the highest CAGR of 8.3% over the forecast period.</a:t>
            </a:r>
          </a:p>
          <a:p>
            <a:pPr algn="l">
              <a:lnSpc>
                <a:spcPct val="110000"/>
              </a:lnSpc>
              <a:spcBef>
                <a:spcPts val="0"/>
              </a:spcBef>
              <a:spcAft>
                <a:spcPts val="500"/>
              </a:spcAft>
            </a:pPr>
            <a:r>
              <a:rPr sz="1150" b="0">
                <a:solidFill>
                  <a:srgbClr val="2E2E2E"/>
                </a:solidFill>
                <a:latin typeface="Calibri"/>
              </a:rPr>
              <a:t>In terms of value share by principal material / barrier technology, the pe-based segment is expected to dominate the market, gaining 43 BPS and accounting for 30.9% share by 2036. The pp-based segment is expected to lose 34 BPS over the forecast period to account for 20.6% share by 2036.</a:t>
            </a:r>
          </a:p>
          <a:p>
            <a:pPr algn="l">
              <a:lnSpc>
                <a:spcPct val="110000"/>
              </a:lnSpc>
              <a:spcBef>
                <a:spcPts val="0"/>
              </a:spcBef>
              <a:spcAft>
                <a:spcPts val="500"/>
              </a:spcAft>
            </a:pPr>
            <a:r>
              <a:rPr sz="1150" b="0">
                <a:solidFill>
                  <a:srgbClr val="2E2E2E"/>
                </a:solidFill>
                <a:latin typeface="Calibri"/>
              </a:rPr>
              <a:t>PE-Based gains 43 BPS and grows at 7.9% because polyethylene is low-cost, easy to seal and well suited to the staples, dairy, frozen food and snack packs that are expanding rapidly. PP-Based loses 34 BPS at 7.6% as PE and specialty barriers take applications. PVDC-Based loses 32 BPS at 7.1% as brands avoid chlorinated barriers, and foil-based structures also lose ground.</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Principal Material / Barrier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Principal Material / Barrier Technology in 2021, 2026 and 2036, highlighting share shifts in basis…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Principal Material / Barrier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3318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5684" y="18331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903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PE-Based</a:t>
            </a:r>
          </a:p>
        </p:txBody>
      </p:sp>
      <p:sp>
        <p:nvSpPr>
          <p:cNvPr id="19" name="BPS Value 1"/>
          <p:cNvSpPr txBox="1"/>
          <p:nvPr/>
        </p:nvSpPr>
        <p:spPr>
          <a:xfrm>
            <a:off x="6896100" y="1790319"/>
            <a:ext cx="514350" cy="171450"/>
          </a:xfrm>
          <a:prstGeom prst="rect">
            <a:avLst/>
          </a:prstGeom>
          <a:noFill/>
        </p:spPr>
        <p:txBody>
          <a:bodyPr wrap="none" lIns="0" rIns="0" tIns="0" bIns="0" anchor="ctr">
            <a:spAutoFit/>
          </a:bodyPr>
          <a:lstStyle/>
          <a:p>
            <a:pPr algn="r"/>
            <a:r>
              <a:rPr sz="900" b="1">
                <a:solidFill>
                  <a:srgbClr val="2E7D32"/>
                </a:solidFill>
                <a:latin typeface="Calibri"/>
              </a:rPr>
              <a:t>+43</a:t>
            </a:r>
          </a:p>
        </p:txBody>
      </p:sp>
      <p:sp>
        <p:nvSpPr>
          <p:cNvPr id="20" name="FMI Legend Chip"/>
          <p:cNvSpPr/>
          <p:nvPr/>
        </p:nvSpPr>
        <p:spPr>
          <a:xfrm>
            <a:off x="4928997" y="200463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5684" y="20046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9617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EVOH-Based</a:t>
            </a:r>
          </a:p>
        </p:txBody>
      </p:sp>
      <p:sp>
        <p:nvSpPr>
          <p:cNvPr id="23" name="BPS Value 2"/>
          <p:cNvSpPr txBox="1"/>
          <p:nvPr/>
        </p:nvSpPr>
        <p:spPr>
          <a:xfrm>
            <a:off x="6896100" y="1961769"/>
            <a:ext cx="514350" cy="171450"/>
          </a:xfrm>
          <a:prstGeom prst="rect">
            <a:avLst/>
          </a:prstGeom>
          <a:noFill/>
        </p:spPr>
        <p:txBody>
          <a:bodyPr wrap="none" lIns="0" rIns="0" tIns="0" bIns="0" anchor="ctr">
            <a:spAutoFit/>
          </a:bodyPr>
          <a:lstStyle/>
          <a:p>
            <a:pPr algn="r"/>
            <a:r>
              <a:rPr sz="900" b="1">
                <a:solidFill>
                  <a:srgbClr val="2E7D32"/>
                </a:solidFill>
                <a:latin typeface="Calibri"/>
              </a:rPr>
              <a:t>+15</a:t>
            </a:r>
          </a:p>
        </p:txBody>
      </p:sp>
      <p:sp>
        <p:nvSpPr>
          <p:cNvPr id="24" name="FMI Legend Chip"/>
          <p:cNvSpPr/>
          <p:nvPr/>
        </p:nvSpPr>
        <p:spPr>
          <a:xfrm>
            <a:off x="4928997" y="217608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5684" y="21760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1332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PET-Based</a:t>
            </a:r>
          </a:p>
        </p:txBody>
      </p:sp>
      <p:sp>
        <p:nvSpPr>
          <p:cNvPr id="27" name="BPS Value 3"/>
          <p:cNvSpPr txBox="1"/>
          <p:nvPr/>
        </p:nvSpPr>
        <p:spPr>
          <a:xfrm>
            <a:off x="6896100" y="2133219"/>
            <a:ext cx="514350" cy="171450"/>
          </a:xfrm>
          <a:prstGeom prst="rect">
            <a:avLst/>
          </a:prstGeom>
          <a:noFill/>
        </p:spPr>
        <p:txBody>
          <a:bodyPr wrap="none" lIns="0" rIns="0" tIns="0" bIns="0" anchor="ctr">
            <a:spAutoFit/>
          </a:bodyPr>
          <a:lstStyle/>
          <a:p>
            <a:pPr algn="r"/>
            <a:r>
              <a:rPr sz="900" b="1">
                <a:solidFill>
                  <a:srgbClr val="2E7D32"/>
                </a:solidFill>
                <a:latin typeface="Calibri"/>
              </a:rPr>
              <a:t>+15</a:t>
            </a:r>
          </a:p>
        </p:txBody>
      </p:sp>
      <p:sp>
        <p:nvSpPr>
          <p:cNvPr id="28" name="FMI Legend Chip"/>
          <p:cNvSpPr/>
          <p:nvPr/>
        </p:nvSpPr>
        <p:spPr>
          <a:xfrm>
            <a:off x="4928997" y="2347532"/>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5684" y="23475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304669"/>
            <a:ext cx="2178844" cy="171450"/>
          </a:xfrm>
          <a:prstGeom prst="rect">
            <a:avLst/>
          </a:prstGeom>
          <a:noFill/>
        </p:spPr>
        <p:txBody>
          <a:bodyPr wrap="none" lIns="19050" rIns="19050" tIns="0" bIns="0" anchor="ctr">
            <a:spAutoFit/>
          </a:bodyPr>
          <a:lstStyle/>
          <a:p>
            <a:pPr algn="l"/>
            <a:r>
              <a:rPr sz="900" b="0">
                <a:solidFill>
                  <a:srgbClr val="2E2E2E"/>
                </a:solidFill>
                <a:latin typeface="Calibri"/>
              </a:rPr>
              <a:t>Other Specialty Barrier Technologies</a:t>
            </a:r>
          </a:p>
        </p:txBody>
      </p:sp>
      <p:sp>
        <p:nvSpPr>
          <p:cNvPr id="31" name="BPS Value 4"/>
          <p:cNvSpPr txBox="1"/>
          <p:nvPr/>
        </p:nvSpPr>
        <p:spPr>
          <a:xfrm>
            <a:off x="6896100" y="2304669"/>
            <a:ext cx="514350" cy="171450"/>
          </a:xfrm>
          <a:prstGeom prst="rect">
            <a:avLst/>
          </a:prstGeom>
          <a:noFill/>
        </p:spPr>
        <p:txBody>
          <a:bodyPr wrap="none" lIns="0" rIns="0" tIns="0" bIns="0" anchor="ctr">
            <a:spAutoFit/>
          </a:bodyPr>
          <a:lstStyle/>
          <a:p>
            <a:pPr algn="r"/>
            <a:r>
              <a:rPr sz="900" b="1">
                <a:solidFill>
                  <a:srgbClr val="2E7D32"/>
                </a:solidFill>
                <a:latin typeface="Calibri"/>
              </a:rPr>
              <a:t>+14</a:t>
            </a:r>
          </a:p>
        </p:txBody>
      </p:sp>
      <p:sp>
        <p:nvSpPr>
          <p:cNvPr id="32" name="FMI Legend Chip"/>
          <p:cNvSpPr/>
          <p:nvPr/>
        </p:nvSpPr>
        <p:spPr>
          <a:xfrm>
            <a:off x="4928997" y="2518982"/>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5684" y="25189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24761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AlOx / SiOx-Coated</a:t>
            </a:r>
          </a:p>
        </p:txBody>
      </p:sp>
      <p:sp>
        <p:nvSpPr>
          <p:cNvPr id="35" name="BPS Value 5"/>
          <p:cNvSpPr txBox="1"/>
          <p:nvPr/>
        </p:nvSpPr>
        <p:spPr>
          <a:xfrm>
            <a:off x="6896100" y="2476119"/>
            <a:ext cx="514350" cy="171450"/>
          </a:xfrm>
          <a:prstGeom prst="rect">
            <a:avLst/>
          </a:prstGeom>
          <a:noFill/>
        </p:spPr>
        <p:txBody>
          <a:bodyPr wrap="none" lIns="0" rIns="0" tIns="0" bIns="0" anchor="ctr">
            <a:spAutoFit/>
          </a:bodyPr>
          <a:lstStyle/>
          <a:p>
            <a:pPr algn="r"/>
            <a:r>
              <a:rPr sz="900" b="1">
                <a:solidFill>
                  <a:srgbClr val="2E7D32"/>
                </a:solidFill>
                <a:latin typeface="Calibri"/>
              </a:rPr>
              <a:t>+7</a:t>
            </a:r>
          </a:p>
        </p:txBody>
      </p:sp>
      <p:sp>
        <p:nvSpPr>
          <p:cNvPr id="36" name="FMI Legend Chip"/>
          <p:cNvSpPr/>
          <p:nvPr/>
        </p:nvSpPr>
        <p:spPr>
          <a:xfrm>
            <a:off x="4928997" y="2690432"/>
            <a:ext cx="85725" cy="85725"/>
          </a:xfrm>
          <a:prstGeom prst="rect">
            <a:avLst/>
          </a:prstGeom>
          <a:solidFill>
            <a:srgbClr val="B2B2B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5684" y="26904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26475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PVOH-Based</a:t>
            </a:r>
          </a:p>
        </p:txBody>
      </p:sp>
      <p:sp>
        <p:nvSpPr>
          <p:cNvPr id="39" name="BPS Value 6"/>
          <p:cNvSpPr txBox="1"/>
          <p:nvPr/>
        </p:nvSpPr>
        <p:spPr>
          <a:xfrm>
            <a:off x="6896100" y="2647569"/>
            <a:ext cx="514350" cy="171450"/>
          </a:xfrm>
          <a:prstGeom prst="rect">
            <a:avLst/>
          </a:prstGeom>
          <a:noFill/>
        </p:spPr>
        <p:txBody>
          <a:bodyPr wrap="none" lIns="0" rIns="0" tIns="0" bIns="0" anchor="ctr">
            <a:spAutoFit/>
          </a:bodyPr>
          <a:lstStyle/>
          <a:p>
            <a:pPr algn="r"/>
            <a:r>
              <a:rPr sz="900" b="1">
                <a:solidFill>
                  <a:srgbClr val="2E7D32"/>
                </a:solidFill>
                <a:latin typeface="Calibri"/>
              </a:rPr>
              <a:t>+5</a:t>
            </a:r>
          </a:p>
        </p:txBody>
      </p:sp>
      <p:sp>
        <p:nvSpPr>
          <p:cNvPr id="40" name="FMI Legend Chip"/>
          <p:cNvSpPr/>
          <p:nvPr/>
        </p:nvSpPr>
        <p:spPr>
          <a:xfrm>
            <a:off x="4928997" y="286188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5684" y="28618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28190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Metallized Barrier</a:t>
            </a:r>
          </a:p>
        </p:txBody>
      </p:sp>
      <p:sp>
        <p:nvSpPr>
          <p:cNvPr id="43" name="BPS Value 7"/>
          <p:cNvSpPr txBox="1"/>
          <p:nvPr/>
        </p:nvSpPr>
        <p:spPr>
          <a:xfrm>
            <a:off x="6896100" y="2819019"/>
            <a:ext cx="514350" cy="171450"/>
          </a:xfrm>
          <a:prstGeom prst="rect">
            <a:avLst/>
          </a:prstGeom>
          <a:noFill/>
        </p:spPr>
        <p:txBody>
          <a:bodyPr wrap="none" lIns="0" rIns="0" tIns="0" bIns="0" anchor="ctr">
            <a:spAutoFit/>
          </a:bodyPr>
          <a:lstStyle/>
          <a:p>
            <a:pPr algn="r"/>
            <a:r>
              <a:rPr sz="900" b="1">
                <a:solidFill>
                  <a:srgbClr val="E44D3A"/>
                </a:solidFill>
                <a:latin typeface="Calibri"/>
              </a:rPr>
              <a:t>-3</a:t>
            </a:r>
          </a:p>
        </p:txBody>
      </p:sp>
      <p:sp>
        <p:nvSpPr>
          <p:cNvPr id="44" name="FMI Legend Chip"/>
          <p:cNvSpPr/>
          <p:nvPr/>
        </p:nvSpPr>
        <p:spPr>
          <a:xfrm>
            <a:off x="4928997" y="303333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rot="10800000">
            <a:off x="5095684" y="303333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29904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PA-Based</a:t>
            </a:r>
          </a:p>
        </p:txBody>
      </p:sp>
      <p:sp>
        <p:nvSpPr>
          <p:cNvPr id="47" name="BPS Value 8"/>
          <p:cNvSpPr txBox="1"/>
          <p:nvPr/>
        </p:nvSpPr>
        <p:spPr>
          <a:xfrm>
            <a:off x="6896100" y="2990469"/>
            <a:ext cx="514350" cy="171450"/>
          </a:xfrm>
          <a:prstGeom prst="rect">
            <a:avLst/>
          </a:prstGeom>
          <a:noFill/>
        </p:spPr>
        <p:txBody>
          <a:bodyPr wrap="none" lIns="0" rIns="0" tIns="0" bIns="0" anchor="ctr">
            <a:spAutoFit/>
          </a:bodyPr>
          <a:lstStyle/>
          <a:p>
            <a:pPr algn="r"/>
            <a:r>
              <a:rPr sz="900" b="1">
                <a:solidFill>
                  <a:srgbClr val="E44D3A"/>
                </a:solidFill>
                <a:latin typeface="Calibri"/>
              </a:rPr>
              <a:t>-14</a:t>
            </a:r>
          </a:p>
        </p:txBody>
      </p:sp>
      <p:sp>
        <p:nvSpPr>
          <p:cNvPr id="48" name="FMI Legend Chip"/>
          <p:cNvSpPr/>
          <p:nvPr/>
        </p:nvSpPr>
        <p:spPr>
          <a:xfrm>
            <a:off x="4928997" y="3204782"/>
            <a:ext cx="85725" cy="85725"/>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rot="10800000">
            <a:off x="5095684" y="32047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5233797" y="31619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Aluminum Foil-Based</a:t>
            </a:r>
          </a:p>
        </p:txBody>
      </p:sp>
      <p:sp>
        <p:nvSpPr>
          <p:cNvPr id="51" name="BPS Value 9"/>
          <p:cNvSpPr txBox="1"/>
          <p:nvPr/>
        </p:nvSpPr>
        <p:spPr>
          <a:xfrm>
            <a:off x="6896100" y="3161919"/>
            <a:ext cx="514350" cy="171450"/>
          </a:xfrm>
          <a:prstGeom prst="rect">
            <a:avLst/>
          </a:prstGeom>
          <a:noFill/>
        </p:spPr>
        <p:txBody>
          <a:bodyPr wrap="none" lIns="0" rIns="0" tIns="0" bIns="0" anchor="ctr">
            <a:spAutoFit/>
          </a:bodyPr>
          <a:lstStyle/>
          <a:p>
            <a:pPr algn="r"/>
            <a:r>
              <a:rPr sz="900" b="1">
                <a:solidFill>
                  <a:srgbClr val="E44D3A"/>
                </a:solidFill>
                <a:latin typeface="Calibri"/>
              </a:rPr>
              <a:t>-17</a:t>
            </a:r>
          </a:p>
        </p:txBody>
      </p:sp>
      <p:sp>
        <p:nvSpPr>
          <p:cNvPr id="52" name="FMI Legend Chip"/>
          <p:cNvSpPr/>
          <p:nvPr/>
        </p:nvSpPr>
        <p:spPr>
          <a:xfrm>
            <a:off x="4928997" y="337623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Isosceles Triangle 52"/>
          <p:cNvSpPr/>
          <p:nvPr/>
        </p:nvSpPr>
        <p:spPr>
          <a:xfrm rot="10800000">
            <a:off x="5095684" y="337623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BPS Name 10"/>
          <p:cNvSpPr txBox="1"/>
          <p:nvPr/>
        </p:nvSpPr>
        <p:spPr>
          <a:xfrm>
            <a:off x="5233797" y="33333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PVDC-Based</a:t>
            </a:r>
          </a:p>
        </p:txBody>
      </p:sp>
      <p:sp>
        <p:nvSpPr>
          <p:cNvPr id="55" name="BPS Value 10"/>
          <p:cNvSpPr txBox="1"/>
          <p:nvPr/>
        </p:nvSpPr>
        <p:spPr>
          <a:xfrm>
            <a:off x="6896100" y="3333369"/>
            <a:ext cx="514350" cy="171450"/>
          </a:xfrm>
          <a:prstGeom prst="rect">
            <a:avLst/>
          </a:prstGeom>
          <a:noFill/>
        </p:spPr>
        <p:txBody>
          <a:bodyPr wrap="none" lIns="0" rIns="0" tIns="0" bIns="0" anchor="ctr">
            <a:spAutoFit/>
          </a:bodyPr>
          <a:lstStyle/>
          <a:p>
            <a:pPr algn="r"/>
            <a:r>
              <a:rPr sz="900" b="1">
                <a:solidFill>
                  <a:srgbClr val="E44D3A"/>
                </a:solidFill>
                <a:latin typeface="Calibri"/>
              </a:rPr>
              <a:t>-32</a:t>
            </a:r>
          </a:p>
        </p:txBody>
      </p:sp>
      <p:sp>
        <p:nvSpPr>
          <p:cNvPr id="56" name="FMI Legend Chip"/>
          <p:cNvSpPr/>
          <p:nvPr/>
        </p:nvSpPr>
        <p:spPr>
          <a:xfrm>
            <a:off x="4928997" y="354768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Isosceles Triangle 56"/>
          <p:cNvSpPr/>
          <p:nvPr/>
        </p:nvSpPr>
        <p:spPr>
          <a:xfrm rot="10800000">
            <a:off x="5095684" y="35476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BPS Name 11"/>
          <p:cNvSpPr txBox="1"/>
          <p:nvPr/>
        </p:nvSpPr>
        <p:spPr>
          <a:xfrm>
            <a:off x="5233797" y="35048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PP-Based</a:t>
            </a:r>
          </a:p>
        </p:txBody>
      </p:sp>
      <p:sp>
        <p:nvSpPr>
          <p:cNvPr id="59" name="BPS Value 11"/>
          <p:cNvSpPr txBox="1"/>
          <p:nvPr/>
        </p:nvSpPr>
        <p:spPr>
          <a:xfrm>
            <a:off x="6896100" y="3504819"/>
            <a:ext cx="514350" cy="171450"/>
          </a:xfrm>
          <a:prstGeom prst="rect">
            <a:avLst/>
          </a:prstGeom>
          <a:noFill/>
        </p:spPr>
        <p:txBody>
          <a:bodyPr wrap="none" lIns="0" rIns="0" tIns="0" bIns="0" anchor="ctr">
            <a:spAutoFit/>
          </a:bodyPr>
          <a:lstStyle/>
          <a:p>
            <a:pPr algn="r"/>
            <a:r>
              <a:rPr sz="900" b="1">
                <a:solidFill>
                  <a:srgbClr val="E44D3A"/>
                </a:solidFill>
                <a:latin typeface="Calibri"/>
              </a:rPr>
              <a:t>-34</a:t>
            </a:r>
          </a:p>
        </p:txBody>
      </p:sp>
      <p:sp>
        <p:nvSpPr>
          <p:cNvPr id="60" name="Rounded Rectangle 5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Principal Material / Barrier Technology</a:t>
            </a:r>
          </a:p>
        </p:txBody>
      </p:sp>
      <p:sp>
        <p:nvSpPr>
          <p:cNvPr id="62" name="Rectangle 6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principal material / barrier technology, other specialty barrier technologies segment is expected to witness the highest CAGR of 8.3% over the forecast period. In terms of value share by principal material / barrier technology, the pe-based segment is expected to dominate the market, gaining 43 BPS and accounting for 30.9% share by 2036.</a:t>
            </a:r>
          </a:p>
          <a:p>
            <a:pPr algn="l">
              <a:lnSpc>
                <a:spcPct val="110000"/>
              </a:lnSpc>
              <a:spcBef>
                <a:spcPts val="0"/>
              </a:spcBef>
              <a:spcAft>
                <a:spcPts val="500"/>
              </a:spcAft>
            </a:pPr>
            <a:r>
              <a:rPr sz="1150" b="0">
                <a:solidFill>
                  <a:srgbClr val="2E2E2E"/>
                </a:solidFill>
                <a:latin typeface="Calibri"/>
              </a:rPr>
              <a:t>The pp-based segment is expected to lose 34 BPS over the forecast period to account for 20.6% share by 2036.</a:t>
            </a:r>
          </a:p>
          <a:p>
            <a:pPr algn="l">
              <a:lnSpc>
                <a:spcPct val="110000"/>
              </a:lnSpc>
              <a:spcBef>
                <a:spcPts val="0"/>
              </a:spcBef>
              <a:spcAft>
                <a:spcPts val="500"/>
              </a:spcAft>
            </a:pPr>
            <a:r>
              <a:rPr sz="1150" b="0">
                <a:solidFill>
                  <a:srgbClr val="2E2E2E"/>
                </a:solidFill>
                <a:latin typeface="Calibri"/>
              </a:rPr>
              <a:t>Other Specialty Barrier Technologies grow fastest at 8.3% against the 7.8% market because new coatings, bio-based and recyclable-barrier solutions are replacing PVDC and foil in applications needing high oxygen and moisture protection. Small starting size amplifies growth, while demand is helped by rising incomes, organised retail expansion and fast-growing packaged-food consumption.</a:t>
            </a:r>
          </a:p>
        </p:txBody>
      </p:sp>
      <p:sp>
        <p:nvSpPr>
          <p:cNvPr id="64" name="TextBox 6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Volume, By Principal Material / Barrier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Principal Material / Barrier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YoY Growth,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2457450"/>
          </a:xfrm>
          <a:prstGeom prst="roundRect">
            <a:avLst>
              <a:gd name="adj" fmla="val 31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YoY Heatmap, By Principal Material / Barrier Technology (%)  ·  light = lower, dark = higher growth</a:t>
            </a:r>
          </a:p>
        </p:txBody>
      </p:sp>
      <p:sp>
        <p:nvSpPr>
          <p:cNvPr id="17" name="TextBox 16"/>
          <p:cNvSpPr txBox="1"/>
          <p:nvPr/>
        </p:nvSpPr>
        <p:spPr>
          <a:xfrm>
            <a:off x="18573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60057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sp>
        <p:nvSpPr>
          <p:cNvPr id="33" name="Rectangle 32"/>
          <p:cNvSpPr/>
          <p:nvPr/>
        </p:nvSpPr>
        <p:spPr>
          <a:xfrm>
            <a:off x="1857375" y="4600575"/>
            <a:ext cx="643890" cy="17924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600575"/>
            <a:ext cx="643890" cy="179243"/>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600575"/>
            <a:ext cx="643890" cy="179243"/>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600575"/>
            <a:ext cx="643890" cy="179243"/>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600575"/>
            <a:ext cx="643890" cy="179243"/>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600575"/>
            <a:ext cx="643890" cy="179243"/>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600575"/>
            <a:ext cx="643890" cy="179243"/>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600575"/>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600575"/>
            <a:ext cx="643890" cy="17924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600575"/>
            <a:ext cx="643890" cy="17924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600575"/>
            <a:ext cx="643890" cy="17924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600575"/>
            <a:ext cx="643890" cy="17924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600575"/>
            <a:ext cx="643890" cy="179243"/>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600575"/>
            <a:ext cx="643890" cy="179243"/>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600575"/>
            <a:ext cx="643890" cy="179243"/>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77981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sp>
        <p:nvSpPr>
          <p:cNvPr id="49" name="Rectangle 48"/>
          <p:cNvSpPr/>
          <p:nvPr/>
        </p:nvSpPr>
        <p:spPr>
          <a:xfrm>
            <a:off x="1857375" y="4779818"/>
            <a:ext cx="643890" cy="179243"/>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779818"/>
            <a:ext cx="643890" cy="179243"/>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779818"/>
            <a:ext cx="643890" cy="179243"/>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779818"/>
            <a:ext cx="643890" cy="179243"/>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779818"/>
            <a:ext cx="643890" cy="179243"/>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779818"/>
            <a:ext cx="643890" cy="179243"/>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779818"/>
            <a:ext cx="643890" cy="179243"/>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779818"/>
            <a:ext cx="643890" cy="179243"/>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779818"/>
            <a:ext cx="643890" cy="179243"/>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779818"/>
            <a:ext cx="643890" cy="179243"/>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779818"/>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779818"/>
            <a:ext cx="643890" cy="179243"/>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779818"/>
            <a:ext cx="643890" cy="179243"/>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779818"/>
            <a:ext cx="643890" cy="179243"/>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779818"/>
            <a:ext cx="643890" cy="179243"/>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5906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65" name="Rectangle 64"/>
          <p:cNvSpPr/>
          <p:nvPr/>
        </p:nvSpPr>
        <p:spPr>
          <a:xfrm>
            <a:off x="1857375" y="4959061"/>
            <a:ext cx="643890" cy="179243"/>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59061"/>
            <a:ext cx="643890" cy="179243"/>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59061"/>
            <a:ext cx="643890" cy="179243"/>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59061"/>
            <a:ext cx="643890" cy="17924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59061"/>
            <a:ext cx="643890" cy="179243"/>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59061"/>
            <a:ext cx="643890" cy="17924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59061"/>
            <a:ext cx="643890" cy="179243"/>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59061"/>
            <a:ext cx="643890" cy="17924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59061"/>
            <a:ext cx="643890" cy="179243"/>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59061"/>
            <a:ext cx="643890" cy="179243"/>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59061"/>
            <a:ext cx="643890" cy="179243"/>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59061"/>
            <a:ext cx="643890" cy="179243"/>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59061"/>
            <a:ext cx="643890" cy="179243"/>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59061"/>
            <a:ext cx="643890" cy="17924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59061"/>
            <a:ext cx="643890" cy="179243"/>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3830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sp>
        <p:nvSpPr>
          <p:cNvPr id="81" name="Rectangle 80"/>
          <p:cNvSpPr/>
          <p:nvPr/>
        </p:nvSpPr>
        <p:spPr>
          <a:xfrm>
            <a:off x="1857375" y="5138305"/>
            <a:ext cx="643890" cy="179243"/>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38305"/>
            <a:ext cx="643890" cy="179243"/>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38305"/>
            <a:ext cx="643890" cy="179243"/>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38305"/>
            <a:ext cx="643890" cy="179243"/>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38305"/>
            <a:ext cx="643890" cy="17924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38305"/>
            <a:ext cx="643890" cy="179243"/>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38305"/>
            <a:ext cx="643890" cy="17924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38305"/>
            <a:ext cx="643890" cy="179243"/>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38305"/>
            <a:ext cx="643890" cy="179243"/>
          </a:xfrm>
          <a:prstGeom prst="rect">
            <a:avLst/>
          </a:prstGeom>
          <a:solidFill>
            <a:srgbClr val="4F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38305"/>
            <a:ext cx="643890" cy="179243"/>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38305"/>
            <a:ext cx="643890" cy="179243"/>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38305"/>
            <a:ext cx="643890" cy="179243"/>
          </a:xfrm>
          <a:prstGeom prst="rect">
            <a:avLst/>
          </a:prstGeom>
          <a:solidFill>
            <a:srgbClr val="2E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38305"/>
            <a:ext cx="643890" cy="179243"/>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38305"/>
            <a:ext cx="643890" cy="179243"/>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38305"/>
            <a:ext cx="643890" cy="179243"/>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1754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sp>
        <p:nvSpPr>
          <p:cNvPr id="97" name="Rectangle 96"/>
          <p:cNvSpPr/>
          <p:nvPr/>
        </p:nvSpPr>
        <p:spPr>
          <a:xfrm>
            <a:off x="1857375" y="5317548"/>
            <a:ext cx="643890" cy="179243"/>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317548"/>
            <a:ext cx="643890" cy="179243"/>
          </a:xfrm>
          <a:prstGeom prst="rect">
            <a:avLst/>
          </a:prstGeom>
          <a:solidFill>
            <a:srgbClr val="93BE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317548"/>
            <a:ext cx="643890" cy="179243"/>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317548"/>
            <a:ext cx="643890" cy="179243"/>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317548"/>
            <a:ext cx="643890" cy="179243"/>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317548"/>
            <a:ext cx="643890" cy="179243"/>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317548"/>
            <a:ext cx="643890" cy="179243"/>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317548"/>
            <a:ext cx="643890" cy="179243"/>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317548"/>
            <a:ext cx="643890" cy="179243"/>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317548"/>
            <a:ext cx="643890" cy="179243"/>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317548"/>
            <a:ext cx="643890" cy="179243"/>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317548"/>
            <a:ext cx="643890" cy="179243"/>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317548"/>
            <a:ext cx="643890" cy="179243"/>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317548"/>
            <a:ext cx="643890" cy="179243"/>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317548"/>
            <a:ext cx="643890" cy="17924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49679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sp>
        <p:nvSpPr>
          <p:cNvPr id="113" name="Rectangle 112"/>
          <p:cNvSpPr/>
          <p:nvPr/>
        </p:nvSpPr>
        <p:spPr>
          <a:xfrm>
            <a:off x="1857375" y="5496791"/>
            <a:ext cx="643890" cy="17924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496791"/>
            <a:ext cx="643890" cy="179243"/>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496791"/>
            <a:ext cx="643890" cy="179243"/>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496791"/>
            <a:ext cx="643890" cy="179243"/>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496791"/>
            <a:ext cx="643890" cy="179243"/>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496791"/>
            <a:ext cx="643890" cy="179243"/>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496791"/>
            <a:ext cx="643890" cy="179243"/>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496791"/>
            <a:ext cx="643890" cy="179243"/>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496791"/>
            <a:ext cx="643890" cy="179243"/>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496791"/>
            <a:ext cx="643890" cy="179243"/>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496791"/>
            <a:ext cx="643890" cy="179243"/>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496791"/>
            <a:ext cx="643890" cy="179243"/>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496791"/>
            <a:ext cx="643890" cy="17924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496791"/>
            <a:ext cx="643890" cy="179243"/>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496791"/>
            <a:ext cx="643890" cy="17924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67603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sp>
        <p:nvSpPr>
          <p:cNvPr id="129" name="Rectangle 128"/>
          <p:cNvSpPr/>
          <p:nvPr/>
        </p:nvSpPr>
        <p:spPr>
          <a:xfrm>
            <a:off x="1857375" y="5676034"/>
            <a:ext cx="643890" cy="179243"/>
          </a:xfrm>
          <a:prstGeom prst="rect">
            <a:avLst/>
          </a:prstGeom>
          <a:solidFill>
            <a:srgbClr val="FE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676034"/>
            <a:ext cx="643890" cy="179243"/>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676034"/>
            <a:ext cx="643890" cy="179243"/>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676034"/>
            <a:ext cx="643890" cy="179243"/>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676034"/>
            <a:ext cx="643890" cy="179243"/>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676034"/>
            <a:ext cx="643890" cy="17924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676034"/>
            <a:ext cx="643890" cy="179243"/>
          </a:xfrm>
          <a:prstGeom prst="rect">
            <a:avLst/>
          </a:prstGeom>
          <a:solidFill>
            <a:srgbClr val="67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676034"/>
            <a:ext cx="643890" cy="179243"/>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676034"/>
            <a:ext cx="643890" cy="179243"/>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676034"/>
            <a:ext cx="643890" cy="179243"/>
          </a:xfrm>
          <a:prstGeom prst="rect">
            <a:avLst/>
          </a:prstGeom>
          <a:solidFill>
            <a:srgbClr val="0D67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676034"/>
            <a:ext cx="643890" cy="179243"/>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676034"/>
            <a:ext cx="643890" cy="179243"/>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676034"/>
            <a:ext cx="643890" cy="179243"/>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676034"/>
            <a:ext cx="643890" cy="179243"/>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676034"/>
            <a:ext cx="643890" cy="179243"/>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585527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sp>
        <p:nvSpPr>
          <p:cNvPr id="145" name="Rectangle 144"/>
          <p:cNvSpPr/>
          <p:nvPr/>
        </p:nvSpPr>
        <p:spPr>
          <a:xfrm>
            <a:off x="1857375" y="5855277"/>
            <a:ext cx="643890" cy="17924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5855277"/>
            <a:ext cx="643890" cy="179243"/>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5855277"/>
            <a:ext cx="643890" cy="179243"/>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5855277"/>
            <a:ext cx="643890" cy="179243"/>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5855277"/>
            <a:ext cx="643890" cy="179243"/>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5855277"/>
            <a:ext cx="643890" cy="179243"/>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5855277"/>
            <a:ext cx="643890" cy="179243"/>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5855277"/>
            <a:ext cx="643890" cy="179243"/>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5855277"/>
            <a:ext cx="643890" cy="179243"/>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5855277"/>
            <a:ext cx="643890" cy="17924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5855277"/>
            <a:ext cx="643890" cy="179243"/>
          </a:xfrm>
          <a:prstGeom prst="rect">
            <a:avLst/>
          </a:prstGeom>
          <a:solidFill>
            <a:srgbClr val="16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5855277"/>
            <a:ext cx="643890" cy="17924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5855277"/>
            <a:ext cx="643890" cy="179243"/>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5855277"/>
            <a:ext cx="643890" cy="179243"/>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5855277"/>
            <a:ext cx="643890" cy="179243"/>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238125" y="6034520"/>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sp>
        <p:nvSpPr>
          <p:cNvPr id="161" name="Rectangle 160"/>
          <p:cNvSpPr/>
          <p:nvPr/>
        </p:nvSpPr>
        <p:spPr>
          <a:xfrm>
            <a:off x="1857375" y="6034520"/>
            <a:ext cx="643890" cy="179243"/>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2501265" y="6034520"/>
            <a:ext cx="643890" cy="179243"/>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3145155" y="6034520"/>
            <a:ext cx="643890" cy="17924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3789045" y="6034520"/>
            <a:ext cx="643890" cy="179243"/>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4432935" y="6034520"/>
            <a:ext cx="643890" cy="17924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5076825" y="6034520"/>
            <a:ext cx="643890" cy="179243"/>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5720715" y="6034520"/>
            <a:ext cx="643890" cy="179243"/>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6364605" y="6034520"/>
            <a:ext cx="643890" cy="179243"/>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7008495" y="6034520"/>
            <a:ext cx="643890" cy="179243"/>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7652385" y="6034520"/>
            <a:ext cx="643890" cy="179243"/>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8296275" y="6034520"/>
            <a:ext cx="643890" cy="179243"/>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8940165" y="6034520"/>
            <a:ext cx="643890" cy="179243"/>
          </a:xfrm>
          <a:prstGeom prst="rect">
            <a:avLst/>
          </a:prstGeom>
          <a:solidFill>
            <a:srgbClr val="0E67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9584055" y="6034520"/>
            <a:ext cx="643890" cy="179243"/>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0227945" y="6034520"/>
            <a:ext cx="643890" cy="17924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0871835" y="6034520"/>
            <a:ext cx="643890" cy="179243"/>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238125" y="621376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sp>
        <p:nvSpPr>
          <p:cNvPr id="177" name="Rectangle 176"/>
          <p:cNvSpPr/>
          <p:nvPr/>
        </p:nvSpPr>
        <p:spPr>
          <a:xfrm>
            <a:off x="1857375" y="6213764"/>
            <a:ext cx="643890" cy="179243"/>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2501265" y="6213764"/>
            <a:ext cx="643890" cy="179243"/>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3145155" y="6213764"/>
            <a:ext cx="643890" cy="179243"/>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3789045" y="6213764"/>
            <a:ext cx="643890" cy="179243"/>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4432935" y="6213764"/>
            <a:ext cx="643890" cy="179243"/>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5076825" y="6213764"/>
            <a:ext cx="643890" cy="179243"/>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5720715" y="6213764"/>
            <a:ext cx="643890" cy="179243"/>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6364605" y="6213764"/>
            <a:ext cx="643890" cy="179243"/>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7008495" y="6213764"/>
            <a:ext cx="643890" cy="179243"/>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7652385" y="6213764"/>
            <a:ext cx="643890" cy="179243"/>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8296275" y="6213764"/>
            <a:ext cx="643890" cy="179243"/>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8940165" y="6213764"/>
            <a:ext cx="643890" cy="179243"/>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9584055" y="6213764"/>
            <a:ext cx="643890" cy="179243"/>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0227945" y="6213764"/>
            <a:ext cx="643890" cy="179243"/>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0871835" y="6213764"/>
            <a:ext cx="643890" cy="179243"/>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238125" y="639300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93" name="Rectangle 192"/>
          <p:cNvSpPr/>
          <p:nvPr/>
        </p:nvSpPr>
        <p:spPr>
          <a:xfrm>
            <a:off x="1857375" y="6393007"/>
            <a:ext cx="643890" cy="179243"/>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2501265" y="6393007"/>
            <a:ext cx="643890" cy="179243"/>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3145155" y="6393007"/>
            <a:ext cx="643890" cy="179243"/>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3789045" y="6393007"/>
            <a:ext cx="643890" cy="179243"/>
          </a:xfrm>
          <a:prstGeom prst="rect">
            <a:avLst/>
          </a:prstGeom>
          <a:solidFill>
            <a:srgbClr val="0E6C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4432935" y="6393007"/>
            <a:ext cx="643890" cy="179243"/>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5076825" y="6393007"/>
            <a:ext cx="643890" cy="17924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5720715" y="6393007"/>
            <a:ext cx="643890" cy="179243"/>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364605" y="6393007"/>
            <a:ext cx="643890" cy="179243"/>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7008495" y="6393007"/>
            <a:ext cx="643890" cy="179243"/>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7652385" y="6393007"/>
            <a:ext cx="643890" cy="179243"/>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8296275" y="6393007"/>
            <a:ext cx="643890" cy="179243"/>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8940165" y="6393007"/>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9584055" y="6393007"/>
            <a:ext cx="643890" cy="179243"/>
          </a:xfrm>
          <a:prstGeom prst="rect">
            <a:avLst/>
          </a:prstGeom>
          <a:solidFill>
            <a:srgbClr val="3C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10227945" y="6393007"/>
            <a:ext cx="643890" cy="179243"/>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10871835" y="6393007"/>
            <a:ext cx="643890" cy="179243"/>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11572875" y="4638675"/>
            <a:ext cx="104775" cy="55007"/>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11572875" y="4686062"/>
            <a:ext cx="104775" cy="55007"/>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11572875" y="4733449"/>
            <a:ext cx="104775" cy="55007"/>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11572875" y="4780836"/>
            <a:ext cx="104775" cy="55007"/>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11572875" y="4828222"/>
            <a:ext cx="104775" cy="55007"/>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11572875" y="4875609"/>
            <a:ext cx="104775" cy="55007"/>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11572875" y="4922996"/>
            <a:ext cx="104775" cy="55007"/>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1572875" y="4970383"/>
            <a:ext cx="104775" cy="55007"/>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11572875" y="5017770"/>
            <a:ext cx="104775" cy="55007"/>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1572875" y="5065157"/>
            <a:ext cx="104775" cy="55007"/>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1572875" y="5112544"/>
            <a:ext cx="104775" cy="55007"/>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5159931"/>
            <a:ext cx="104775" cy="55007"/>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5207318"/>
            <a:ext cx="104775" cy="55007"/>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5254704"/>
            <a:ext cx="104775" cy="55007"/>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5302091"/>
            <a:ext cx="104775" cy="55007"/>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5349478"/>
            <a:ext cx="104775" cy="55007"/>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5396865"/>
            <a:ext cx="104775" cy="55007"/>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5444252"/>
            <a:ext cx="104775" cy="55007"/>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5491639"/>
            <a:ext cx="104775" cy="55007"/>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5539026"/>
            <a:ext cx="104775" cy="55007"/>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5586412"/>
            <a:ext cx="104775" cy="55007"/>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5633799"/>
            <a:ext cx="104775" cy="55007"/>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5681186"/>
            <a:ext cx="104775" cy="55007"/>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5728573"/>
            <a:ext cx="104775" cy="55007"/>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5775960"/>
            <a:ext cx="104775" cy="55007"/>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5823347"/>
            <a:ext cx="104775" cy="55007"/>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5870734"/>
            <a:ext cx="104775" cy="55007"/>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5918121"/>
            <a:ext cx="104775" cy="55007"/>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5965508"/>
            <a:ext cx="104775" cy="55007"/>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6012894"/>
            <a:ext cx="104775" cy="55007"/>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6060281"/>
            <a:ext cx="104775" cy="55007"/>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6107668"/>
            <a:ext cx="104775" cy="55007"/>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6155055"/>
            <a:ext cx="104775" cy="55007"/>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6202442"/>
            <a:ext cx="104775" cy="55007"/>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6249829"/>
            <a:ext cx="104775" cy="55007"/>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6297216"/>
            <a:ext cx="104775" cy="55007"/>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6344602"/>
            <a:ext cx="104775" cy="55007"/>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6391989"/>
            <a:ext cx="104775" cy="55007"/>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6439376"/>
            <a:ext cx="104775" cy="55007"/>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6486763"/>
            <a:ext cx="104775" cy="55007"/>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4638675"/>
            <a:ext cx="104775" cy="18954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1687175" y="45720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250" name="TextBox 249"/>
          <p:cNvSpPr txBox="1"/>
          <p:nvPr/>
        </p:nvSpPr>
        <p:spPr>
          <a:xfrm>
            <a:off x="11687175" y="55197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51" name="TextBox 25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52" name="TextBox 2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Principal Material / Barrier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Principal Material / Barrier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2457450"/>
          </a:xfrm>
          <a:prstGeom prst="roundRect">
            <a:avLst>
              <a:gd name="adj" fmla="val 31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Principal Material / Barrier Technology (%)  ·  light = lower, dark = higher growth</a:t>
            </a:r>
          </a:p>
        </p:txBody>
      </p:sp>
      <p:sp>
        <p:nvSpPr>
          <p:cNvPr id="17" name="TextBox 16"/>
          <p:cNvSpPr txBox="1"/>
          <p:nvPr/>
        </p:nvSpPr>
        <p:spPr>
          <a:xfrm>
            <a:off x="18573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60057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sp>
        <p:nvSpPr>
          <p:cNvPr id="33" name="Rectangle 32"/>
          <p:cNvSpPr/>
          <p:nvPr/>
        </p:nvSpPr>
        <p:spPr>
          <a:xfrm>
            <a:off x="1857375" y="4600575"/>
            <a:ext cx="643890" cy="179243"/>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600575"/>
            <a:ext cx="643890" cy="179243"/>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600575"/>
            <a:ext cx="643890" cy="17924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600575"/>
            <a:ext cx="643890" cy="179243"/>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600575"/>
            <a:ext cx="643890" cy="179243"/>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600575"/>
            <a:ext cx="643890" cy="179243"/>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600575"/>
            <a:ext cx="643890" cy="17924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600575"/>
            <a:ext cx="643890" cy="179243"/>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600575"/>
            <a:ext cx="643890" cy="179243"/>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600575"/>
            <a:ext cx="643890" cy="179243"/>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600575"/>
            <a:ext cx="643890" cy="179243"/>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600575"/>
            <a:ext cx="643890" cy="179243"/>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600575"/>
            <a:ext cx="643890" cy="179243"/>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600575"/>
            <a:ext cx="643890" cy="179243"/>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600575"/>
            <a:ext cx="643890" cy="179243"/>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77981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sp>
        <p:nvSpPr>
          <p:cNvPr id="49" name="Rectangle 48"/>
          <p:cNvSpPr/>
          <p:nvPr/>
        </p:nvSpPr>
        <p:spPr>
          <a:xfrm>
            <a:off x="1857375" y="4779818"/>
            <a:ext cx="643890" cy="179243"/>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779818"/>
            <a:ext cx="643890" cy="179243"/>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779818"/>
            <a:ext cx="643890" cy="179243"/>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779818"/>
            <a:ext cx="643890" cy="17924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779818"/>
            <a:ext cx="643890" cy="17924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779818"/>
            <a:ext cx="643890" cy="179243"/>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779818"/>
            <a:ext cx="643890" cy="179243"/>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779818"/>
            <a:ext cx="643890" cy="179243"/>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779818"/>
            <a:ext cx="643890" cy="179243"/>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779818"/>
            <a:ext cx="643890" cy="17924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779818"/>
            <a:ext cx="643890" cy="179243"/>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779818"/>
            <a:ext cx="643890" cy="179243"/>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779818"/>
            <a:ext cx="643890" cy="179243"/>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779818"/>
            <a:ext cx="643890" cy="17924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779818"/>
            <a:ext cx="643890" cy="17924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5906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65" name="Rectangle 64"/>
          <p:cNvSpPr/>
          <p:nvPr/>
        </p:nvSpPr>
        <p:spPr>
          <a:xfrm>
            <a:off x="1857375" y="4959061"/>
            <a:ext cx="643890" cy="179243"/>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59061"/>
            <a:ext cx="643890" cy="17924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59061"/>
            <a:ext cx="643890" cy="179243"/>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59061"/>
            <a:ext cx="643890" cy="179243"/>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59061"/>
            <a:ext cx="643890" cy="179243"/>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59061"/>
            <a:ext cx="643890" cy="17924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59061"/>
            <a:ext cx="643890" cy="179243"/>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59061"/>
            <a:ext cx="643890" cy="179243"/>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59061"/>
            <a:ext cx="643890" cy="179243"/>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59061"/>
            <a:ext cx="643890" cy="179243"/>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59061"/>
            <a:ext cx="643890" cy="179243"/>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59061"/>
            <a:ext cx="643890" cy="179243"/>
          </a:xfrm>
          <a:prstGeom prst="rect">
            <a:avLst/>
          </a:prstGeom>
          <a:solidFill>
            <a:srgbClr val="0E6C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59061"/>
            <a:ext cx="643890" cy="179243"/>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59061"/>
            <a:ext cx="643890" cy="179243"/>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59061"/>
            <a:ext cx="643890" cy="179243"/>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3830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sp>
        <p:nvSpPr>
          <p:cNvPr id="81" name="Rectangle 80"/>
          <p:cNvSpPr/>
          <p:nvPr/>
        </p:nvSpPr>
        <p:spPr>
          <a:xfrm>
            <a:off x="1857375" y="5138305"/>
            <a:ext cx="643890" cy="179243"/>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38305"/>
            <a:ext cx="643890" cy="179243"/>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38305"/>
            <a:ext cx="643890" cy="179243"/>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38305"/>
            <a:ext cx="643890" cy="179243"/>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38305"/>
            <a:ext cx="643890" cy="179243"/>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38305"/>
            <a:ext cx="643890" cy="179243"/>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38305"/>
            <a:ext cx="643890" cy="179243"/>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38305"/>
            <a:ext cx="643890" cy="179243"/>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38305"/>
            <a:ext cx="643890" cy="179243"/>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38305"/>
            <a:ext cx="643890" cy="17924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38305"/>
            <a:ext cx="643890" cy="179243"/>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38305"/>
            <a:ext cx="643890" cy="179243"/>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38305"/>
            <a:ext cx="643890" cy="179243"/>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38305"/>
            <a:ext cx="643890" cy="179243"/>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38305"/>
            <a:ext cx="643890" cy="179243"/>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1754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sp>
        <p:nvSpPr>
          <p:cNvPr id="97" name="Rectangle 96"/>
          <p:cNvSpPr/>
          <p:nvPr/>
        </p:nvSpPr>
        <p:spPr>
          <a:xfrm>
            <a:off x="1857375" y="5317548"/>
            <a:ext cx="643890" cy="179243"/>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317548"/>
            <a:ext cx="643890" cy="179243"/>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317548"/>
            <a:ext cx="643890" cy="179243"/>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317548"/>
            <a:ext cx="643890" cy="179243"/>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317548"/>
            <a:ext cx="643890" cy="179243"/>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317548"/>
            <a:ext cx="643890" cy="179243"/>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317548"/>
            <a:ext cx="643890" cy="179243"/>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317548"/>
            <a:ext cx="643890" cy="179243"/>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317548"/>
            <a:ext cx="643890" cy="179243"/>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317548"/>
            <a:ext cx="643890" cy="179243"/>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317548"/>
            <a:ext cx="643890" cy="179243"/>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317548"/>
            <a:ext cx="643890" cy="17924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317548"/>
            <a:ext cx="643890" cy="179243"/>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317548"/>
            <a:ext cx="643890" cy="179243"/>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317548"/>
            <a:ext cx="643890" cy="179243"/>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49679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sp>
        <p:nvSpPr>
          <p:cNvPr id="113" name="Rectangle 112"/>
          <p:cNvSpPr/>
          <p:nvPr/>
        </p:nvSpPr>
        <p:spPr>
          <a:xfrm>
            <a:off x="1857375" y="5496791"/>
            <a:ext cx="643890" cy="179243"/>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496791"/>
            <a:ext cx="643890" cy="17924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496791"/>
            <a:ext cx="643890" cy="179243"/>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496791"/>
            <a:ext cx="643890" cy="179243"/>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496791"/>
            <a:ext cx="643890" cy="17924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496791"/>
            <a:ext cx="643890" cy="179243"/>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496791"/>
            <a:ext cx="643890" cy="179243"/>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496791"/>
            <a:ext cx="643890" cy="179243"/>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496791"/>
            <a:ext cx="643890" cy="179243"/>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496791"/>
            <a:ext cx="643890" cy="179243"/>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496791"/>
            <a:ext cx="643890" cy="179243"/>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496791"/>
            <a:ext cx="643890" cy="179243"/>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496791"/>
            <a:ext cx="643890" cy="17924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496791"/>
            <a:ext cx="643890" cy="179243"/>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496791"/>
            <a:ext cx="643890" cy="179243"/>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67603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sp>
        <p:nvSpPr>
          <p:cNvPr id="129" name="Rectangle 128"/>
          <p:cNvSpPr/>
          <p:nvPr/>
        </p:nvSpPr>
        <p:spPr>
          <a:xfrm>
            <a:off x="1857375" y="5676034"/>
            <a:ext cx="643890" cy="17924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676034"/>
            <a:ext cx="643890" cy="179243"/>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676034"/>
            <a:ext cx="643890" cy="179243"/>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676034"/>
            <a:ext cx="643890" cy="179243"/>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676034"/>
            <a:ext cx="643890" cy="179243"/>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676034"/>
            <a:ext cx="643890" cy="179243"/>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676034"/>
            <a:ext cx="643890" cy="179243"/>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676034"/>
            <a:ext cx="643890" cy="179243"/>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676034"/>
            <a:ext cx="643890" cy="179243"/>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676034"/>
            <a:ext cx="643890" cy="179243"/>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676034"/>
            <a:ext cx="643890" cy="179243"/>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676034"/>
            <a:ext cx="643890" cy="179243"/>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676034"/>
            <a:ext cx="643890" cy="179243"/>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676034"/>
            <a:ext cx="643890" cy="179243"/>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676034"/>
            <a:ext cx="643890" cy="179243"/>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585527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sp>
        <p:nvSpPr>
          <p:cNvPr id="145" name="Rectangle 144"/>
          <p:cNvSpPr/>
          <p:nvPr/>
        </p:nvSpPr>
        <p:spPr>
          <a:xfrm>
            <a:off x="1857375" y="5855277"/>
            <a:ext cx="643890" cy="179243"/>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5855277"/>
            <a:ext cx="643890" cy="179243"/>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5855277"/>
            <a:ext cx="643890" cy="179243"/>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5855277"/>
            <a:ext cx="643890" cy="179243"/>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5855277"/>
            <a:ext cx="643890" cy="17924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5855277"/>
            <a:ext cx="643890" cy="179243"/>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5855277"/>
            <a:ext cx="643890" cy="179243"/>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5855277"/>
            <a:ext cx="643890" cy="179243"/>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5855277"/>
            <a:ext cx="643890" cy="179243"/>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5855277"/>
            <a:ext cx="643890" cy="179243"/>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5855277"/>
            <a:ext cx="643890" cy="179243"/>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5855277"/>
            <a:ext cx="643890" cy="179243"/>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5855277"/>
            <a:ext cx="643890" cy="179243"/>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5855277"/>
            <a:ext cx="643890" cy="179243"/>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5855277"/>
            <a:ext cx="643890" cy="179243"/>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238125" y="6034520"/>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sp>
        <p:nvSpPr>
          <p:cNvPr id="161" name="Rectangle 160"/>
          <p:cNvSpPr/>
          <p:nvPr/>
        </p:nvSpPr>
        <p:spPr>
          <a:xfrm>
            <a:off x="1857375" y="6034520"/>
            <a:ext cx="643890" cy="17924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2501265" y="6034520"/>
            <a:ext cx="643890" cy="179243"/>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3145155" y="6034520"/>
            <a:ext cx="643890" cy="179243"/>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3789045" y="6034520"/>
            <a:ext cx="643890" cy="179243"/>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4432935" y="6034520"/>
            <a:ext cx="643890" cy="179243"/>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5076825" y="6034520"/>
            <a:ext cx="643890" cy="179243"/>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5720715" y="6034520"/>
            <a:ext cx="643890" cy="179243"/>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6364605" y="6034520"/>
            <a:ext cx="643890" cy="179243"/>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7008495" y="6034520"/>
            <a:ext cx="643890" cy="179243"/>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7652385" y="6034520"/>
            <a:ext cx="643890" cy="179243"/>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8296275" y="6034520"/>
            <a:ext cx="643890" cy="179243"/>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8940165" y="6034520"/>
            <a:ext cx="643890" cy="179243"/>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9584055" y="6034520"/>
            <a:ext cx="643890" cy="179243"/>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0227945" y="6034520"/>
            <a:ext cx="643890" cy="179243"/>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0871835" y="6034520"/>
            <a:ext cx="643890" cy="179243"/>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238125" y="621376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sp>
        <p:nvSpPr>
          <p:cNvPr id="177" name="Rectangle 176"/>
          <p:cNvSpPr/>
          <p:nvPr/>
        </p:nvSpPr>
        <p:spPr>
          <a:xfrm>
            <a:off x="1857375" y="6213764"/>
            <a:ext cx="643890" cy="179243"/>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2501265" y="6213764"/>
            <a:ext cx="643890" cy="179243"/>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3145155" y="6213764"/>
            <a:ext cx="643890" cy="179243"/>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3789045" y="6213764"/>
            <a:ext cx="643890" cy="179243"/>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4432935" y="6213764"/>
            <a:ext cx="643890" cy="179243"/>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5076825" y="6213764"/>
            <a:ext cx="643890" cy="17924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5720715" y="6213764"/>
            <a:ext cx="643890" cy="179243"/>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6364605" y="6213764"/>
            <a:ext cx="643890" cy="179243"/>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7008495" y="6213764"/>
            <a:ext cx="643890" cy="179243"/>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7652385" y="6213764"/>
            <a:ext cx="643890" cy="17924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8296275" y="6213764"/>
            <a:ext cx="643890" cy="179243"/>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8940165" y="6213764"/>
            <a:ext cx="643890" cy="179243"/>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9584055" y="6213764"/>
            <a:ext cx="643890" cy="179243"/>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0227945" y="6213764"/>
            <a:ext cx="643890" cy="17924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0871835" y="6213764"/>
            <a:ext cx="643890" cy="179243"/>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238125" y="639300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93" name="Rectangle 192"/>
          <p:cNvSpPr/>
          <p:nvPr/>
        </p:nvSpPr>
        <p:spPr>
          <a:xfrm>
            <a:off x="1857375" y="6393007"/>
            <a:ext cx="643890" cy="179243"/>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2501265" y="6393007"/>
            <a:ext cx="643890" cy="179243"/>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3145155" y="6393007"/>
            <a:ext cx="643890" cy="179243"/>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3789045" y="6393007"/>
            <a:ext cx="643890" cy="179243"/>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4432935" y="6393007"/>
            <a:ext cx="643890" cy="179243"/>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5076825" y="6393007"/>
            <a:ext cx="643890" cy="179243"/>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5720715" y="6393007"/>
            <a:ext cx="643890" cy="179243"/>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364605" y="6393007"/>
            <a:ext cx="643890" cy="179243"/>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7008495" y="6393007"/>
            <a:ext cx="643890" cy="179243"/>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7652385" y="6393007"/>
            <a:ext cx="643890" cy="179243"/>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8296275" y="6393007"/>
            <a:ext cx="643890" cy="179243"/>
          </a:xfrm>
          <a:prstGeom prst="rect">
            <a:avLst/>
          </a:prstGeom>
          <a:solidFill>
            <a:srgbClr val="0D5D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8940165" y="6393007"/>
            <a:ext cx="643890" cy="179243"/>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9584055" y="6393007"/>
            <a:ext cx="643890" cy="179243"/>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10227945" y="6393007"/>
            <a:ext cx="643890" cy="17924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10871835" y="6393007"/>
            <a:ext cx="643890" cy="179243"/>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11572875" y="4638675"/>
            <a:ext cx="104775" cy="55007"/>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11572875" y="4686062"/>
            <a:ext cx="104775" cy="55007"/>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11572875" y="4733449"/>
            <a:ext cx="104775" cy="55007"/>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11572875" y="4780836"/>
            <a:ext cx="104775" cy="55007"/>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11572875" y="4828222"/>
            <a:ext cx="104775" cy="55007"/>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11572875" y="4875609"/>
            <a:ext cx="104775" cy="55007"/>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11572875" y="4922996"/>
            <a:ext cx="104775" cy="55007"/>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1572875" y="4970383"/>
            <a:ext cx="104775" cy="55007"/>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11572875" y="5017770"/>
            <a:ext cx="104775" cy="55007"/>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1572875" y="5065157"/>
            <a:ext cx="104775" cy="55007"/>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1572875" y="5112544"/>
            <a:ext cx="104775" cy="55007"/>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5159931"/>
            <a:ext cx="104775" cy="55007"/>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5207318"/>
            <a:ext cx="104775" cy="55007"/>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5254704"/>
            <a:ext cx="104775" cy="55007"/>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5302091"/>
            <a:ext cx="104775" cy="55007"/>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5349478"/>
            <a:ext cx="104775" cy="55007"/>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5396865"/>
            <a:ext cx="104775" cy="55007"/>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5444252"/>
            <a:ext cx="104775" cy="55007"/>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5491639"/>
            <a:ext cx="104775" cy="55007"/>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5539026"/>
            <a:ext cx="104775" cy="55007"/>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5586412"/>
            <a:ext cx="104775" cy="55007"/>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5633799"/>
            <a:ext cx="104775" cy="55007"/>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5681186"/>
            <a:ext cx="104775" cy="55007"/>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5728573"/>
            <a:ext cx="104775" cy="55007"/>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5775960"/>
            <a:ext cx="104775" cy="55007"/>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5823347"/>
            <a:ext cx="104775" cy="55007"/>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5870734"/>
            <a:ext cx="104775" cy="55007"/>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5918121"/>
            <a:ext cx="104775" cy="55007"/>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5965508"/>
            <a:ext cx="104775" cy="55007"/>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6012894"/>
            <a:ext cx="104775" cy="55007"/>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6060281"/>
            <a:ext cx="104775" cy="55007"/>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6107668"/>
            <a:ext cx="104775" cy="55007"/>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6155055"/>
            <a:ext cx="104775" cy="55007"/>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6202442"/>
            <a:ext cx="104775" cy="55007"/>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6249829"/>
            <a:ext cx="104775" cy="55007"/>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6297216"/>
            <a:ext cx="104775" cy="55007"/>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6344602"/>
            <a:ext cx="104775" cy="55007"/>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6391989"/>
            <a:ext cx="104775" cy="55007"/>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6439376"/>
            <a:ext cx="104775" cy="55007"/>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6486763"/>
            <a:ext cx="104775" cy="55007"/>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4638675"/>
            <a:ext cx="104775" cy="18954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1687175" y="4572000"/>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250" name="TextBox 249"/>
          <p:cNvSpPr txBox="1"/>
          <p:nvPr/>
        </p:nvSpPr>
        <p:spPr>
          <a:xfrm>
            <a:off x="11687175" y="55197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51" name="TextBox 25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52" name="TextBox 2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Material Structure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Structure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Structure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Material Structure,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Structure segment categorizes the market by material structure.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Coextruded Multilayer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4,496</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9,394</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7.6%</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Laminated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3,983</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8,337</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7.7%</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Monolayer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2,399</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5,145</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7.9%</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Mono-Material Recyclable Structur…</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1,265</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2,831</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8.4%</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material structure, mono-material recyclable structures segment is expected to witness the highest CAGR of 8.4% over the forecast period. In terms of value share by material structure, the coextruded multilayer films segment is expected to dominate the market, losing 34 BPS and accounting for 28.7%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Coextruded multilayer films segment is projected to register 1.1X higher value than laminated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Coextruded Multilayer Films: </a:t>
            </a:r>
            <a:r>
              <a:rPr sz="1100" b="0">
                <a:solidFill>
                  <a:srgbClr val="2E2E2E"/>
                </a:solidFill>
                <a:latin typeface="Calibri"/>
              </a:rPr>
              <a:t>29% of 2026 value · 7.6%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Laminated Films: </a:t>
            </a:r>
            <a:r>
              <a:rPr sz="1100" b="0">
                <a:solidFill>
                  <a:srgbClr val="2E2E2E"/>
                </a:solidFill>
                <a:latin typeface="Calibri"/>
              </a:rPr>
              <a:t>26% of 2026 value · 7.7%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Monolayer Films: </a:t>
            </a:r>
            <a:r>
              <a:rPr sz="1100" b="0">
                <a:solidFill>
                  <a:srgbClr val="2E2E2E"/>
                </a:solidFill>
                <a:latin typeface="Calibri"/>
              </a:rPr>
              <a:t>16% of 2026 value · 7.9%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Mono-Material Recyclable Structures: </a:t>
            </a:r>
            <a:r>
              <a:rPr sz="1100" b="0">
                <a:solidFill>
                  <a:srgbClr val="2E2E2E"/>
                </a:solidFill>
                <a:latin typeface="Calibri"/>
              </a:rPr>
              <a:t>8% of 2026 value · 8.4%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Structure split shows how demand is distributed across material structure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Material Structure segment is projected to grow at a CAGR of 7.8%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Structure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Material Structure,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Structure segment categorizes the market by material structure.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Foil-Laminated Structures</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1,166</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2,498</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7.9%</a:t>
            </a:r>
          </a:p>
        </p:txBody>
      </p:sp>
      <p:sp>
        <p:nvSpPr>
          <p:cNvPr id="25" name="Oval 24"/>
          <p:cNvSpPr/>
          <p:nvPr/>
        </p:nvSpPr>
        <p:spPr>
          <a:xfrm>
            <a:off x="333375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523875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Metallized Films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1,129</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2,314</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7.4%</a:t>
            </a:r>
          </a:p>
        </p:txBody>
      </p:sp>
      <p:sp>
        <p:nvSpPr>
          <p:cNvPr id="32" name="Oval 31"/>
          <p:cNvSpPr/>
          <p:nvPr/>
        </p:nvSpPr>
        <p:spPr>
          <a:xfrm>
            <a:off x="670560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8610600" y="1773916"/>
            <a:ext cx="32575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Coated Films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1,024</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2,169</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7.8%</a:t>
            </a:r>
          </a:p>
        </p:txBody>
      </p:sp>
      <p:sp>
        <p:nvSpPr>
          <p:cNvPr id="39" name="Oval 38"/>
          <p:cNvSpPr/>
          <p:nvPr/>
        </p:nvSpPr>
        <p:spPr>
          <a:xfrm>
            <a:off x="1007745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Foil-Laminated Structures: </a:t>
            </a:r>
            <a:r>
              <a:rPr sz="1100" b="0">
                <a:solidFill>
                  <a:srgbClr val="2E2E2E"/>
                </a:solidFill>
                <a:latin typeface="Calibri"/>
              </a:rPr>
              <a:t>8% of 2026 value · 7.9%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Metallized Films: </a:t>
            </a:r>
            <a:r>
              <a:rPr sz="1100" b="0">
                <a:solidFill>
                  <a:srgbClr val="2E2E2E"/>
                </a:solidFill>
                <a:latin typeface="Calibri"/>
              </a:rPr>
              <a:t>7% of 2026 value · 7.4%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Coated Films: </a:t>
            </a:r>
            <a:r>
              <a:rPr sz="1100" b="0">
                <a:solidFill>
                  <a:srgbClr val="2E2E2E"/>
                </a:solidFill>
                <a:latin typeface="Calibri"/>
              </a:rPr>
              <a:t>7% of 2026 value · 7.8%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Material Structure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Material Structure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Material Structure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Coextruded multilayer films followed by laminated films are expected to be the two most attractive material structure segments in the South Asia &amp; Pacific flexible plastic packaging market in terms of value over the forecast period. Coextruded multilayer films and laminated films exhibit a CAGR index of 98 and 99 and a market share index of 204 and 180 respectively, against the segment average of 100. The coated films segment is expected to be less attractive as compared to other segments over the forecast period, owing to its lower CAGR and incremental opportunity. Mono-Material Recyclable Structures rank most attractive because they grow fastest at 8.4% and gain 48 BPS, as extended producer responsibility rules in India and Australia and brand owner recyclability goals spur redesign. Coextruded Multilayer Films and Laminated Films remain attractive on scale, at roughly 29% and 26% of value, but grow slower at 7.6% and 7.7%.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Structure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Monolayer Films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Coextruded Multilayer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Laminated Films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Coated Films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Structure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Metallized Films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Foil-Laminated Structures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Mono-Material Recyclable Structures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South Asia &amp; Pacific Absolute $ Opportunity Analysis, By Material Structure</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By 2036, coextruded multilayer films segment is anticipated to witness an increase of 2.1X in terms of value as compared to 2026. The coextruded multilayer films segment is expected to create an incremental opportunity of US$ 4,897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The laminated films segment is expected to create an incremental opportunity of US$ 4,354 Mn for the overall flexible plastic packaging market from 2026 to 2036. The monolayer films segment is expected to create an incremental opportunity of US$ 2,746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Coextruded Multilayer Films and Laminated Films add the most absolute value over 2026-2036 because size multiplies growth. Coextruded Multilayer Films: coextruded films are the standard structure for fresh and shelf-stable food needing barrier and seal strength. For Laminated Films, laminates remain the default for demanding snack, coffee and retort packs. They compound at 7.6% and 7.7% against a 7.8% market. In South Asia &amp; Pacific, rising incomes, organised retail and packaged-food penetration drive the mix.</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Volume Analysis, By Material Structure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By Material Structure (Thousand MT)</a:t>
            </a:r>
          </a:p>
        </p:txBody>
      </p:sp>
      <p:graphicFrame>
        <p:nvGraphicFramePr>
          <p:cNvPr id="13" name="Table 12"/>
          <p:cNvGraphicFramePr>
            <a:graphicFrameLocks noGrp="1"/>
          </p:cNvGraphicFramePr>
          <p:nvPr/>
        </p:nvGraphicFramePr>
        <p:xfrm>
          <a:off x="152400" y="1238250"/>
          <a:ext cx="11887208" cy="2590803"/>
        </p:xfrm>
        <a:graphic>
          <a:graphicData uri="http://schemas.openxmlformats.org/drawingml/2006/table">
            <a:tbl>
              <a:tblPr>
                <a:tableStyleId>{5C22544A-7EE6-4342-B048-85BDC9FD1C3A}</a:tableStyleId>
              </a:tblPr>
              <a:tblGrid>
                <a:gridCol w="1914770"/>
                <a:gridCol w="586614"/>
                <a:gridCol w="586614"/>
                <a:gridCol w="586614"/>
                <a:gridCol w="586614"/>
                <a:gridCol w="586614"/>
                <a:gridCol w="586614"/>
                <a:gridCol w="586614"/>
                <a:gridCol w="586614"/>
                <a:gridCol w="586614"/>
                <a:gridCol w="586614"/>
                <a:gridCol w="586614"/>
                <a:gridCol w="586614"/>
                <a:gridCol w="586614"/>
                <a:gridCol w="586614"/>
                <a:gridCol w="586614"/>
                <a:gridCol w="586614"/>
                <a:gridCol w="586614"/>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Volume Analysis, By Material Structure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Structure,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By Material Structure (Thousand MT)</a:t>
            </a:r>
          </a:p>
        </p:txBody>
      </p:sp>
      <p:graphicFrame>
        <p:nvGraphicFramePr>
          <p:cNvPr id="12" name="Table 11"/>
          <p:cNvGraphicFramePr>
            <a:graphicFrameLocks noGrp="1"/>
          </p:cNvGraphicFramePr>
          <p:nvPr/>
        </p:nvGraphicFramePr>
        <p:xfrm>
          <a:off x="152400" y="1238250"/>
          <a:ext cx="11887208" cy="1514475"/>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Volume Analysis, By Material Structure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Coextruded multilayer films segment is projected to register 1.1X higher volume than laminated films segment in 2036. Among flexible plastic packaging by material structure, mono-material recyclable structures segment is expected to witness the highest CAGR of 7.2% over the forecast period.</a:t>
            </a:r>
          </a:p>
          <a:p>
            <a:pPr algn="l">
              <a:lnSpc>
                <a:spcPct val="110000"/>
              </a:lnSpc>
              <a:spcBef>
                <a:spcPts val="0"/>
              </a:spcBef>
              <a:spcAft>
                <a:spcPts val="500"/>
              </a:spcAft>
            </a:pPr>
            <a:r>
              <a:rPr sz="1150" b="0">
                <a:solidFill>
                  <a:srgbClr val="2E2E2E"/>
                </a:solidFill>
                <a:latin typeface="Calibri"/>
              </a:rPr>
              <a:t>In terms of volume share by material structure, the coextruded multilayer films segment is expected to dominate the market, losing 35 BPS and accounting for 28.8% share by 2036.</a:t>
            </a:r>
          </a:p>
          <a:p>
            <a:pPr algn="l">
              <a:lnSpc>
                <a:spcPct val="110000"/>
              </a:lnSpc>
              <a:spcBef>
                <a:spcPts val="0"/>
              </a:spcBef>
              <a:spcAft>
                <a:spcPts val="500"/>
              </a:spcAft>
            </a:pPr>
            <a:r>
              <a:rPr sz="1150" b="0">
                <a:solidFill>
                  <a:srgbClr val="2E2E2E"/>
                </a:solidFill>
                <a:latin typeface="Calibri"/>
              </a:rPr>
              <a:t>Mono-Material Recyclable Structures gain 48 BPS in volume and grow at 7.2% against 6.5% overall because multinational brands and emerging EPR policies in India and Southeast Asia push single-polymer designs. Coextruded Multilayer Films lose 35 BPS at 6.4% growth as simpler recyclable structures are adopted. Laminated and Metallized Films also slip as recycling pressure builds.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Material Structure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Material Structure (US$ Mn)</a:t>
            </a:r>
          </a:p>
        </p:txBody>
      </p:sp>
      <p:graphicFrame>
        <p:nvGraphicFramePr>
          <p:cNvPr id="13" name="Table 12"/>
          <p:cNvGraphicFramePr>
            <a:graphicFrameLocks noGrp="1"/>
          </p:cNvGraphicFramePr>
          <p:nvPr/>
        </p:nvGraphicFramePr>
        <p:xfrm>
          <a:off x="152400" y="1238250"/>
          <a:ext cx="11887208" cy="2590803"/>
        </p:xfrm>
        <a:graphic>
          <a:graphicData uri="http://schemas.openxmlformats.org/drawingml/2006/table">
            <a:tbl>
              <a:tblPr>
                <a:tableStyleId>{5C22544A-7EE6-4342-B048-85BDC9FD1C3A}</a:tableStyleId>
              </a:tblPr>
              <a:tblGrid>
                <a:gridCol w="1914770"/>
                <a:gridCol w="586614"/>
                <a:gridCol w="586614"/>
                <a:gridCol w="586614"/>
                <a:gridCol w="586614"/>
                <a:gridCol w="586614"/>
                <a:gridCol w="586614"/>
                <a:gridCol w="586614"/>
                <a:gridCol w="586614"/>
                <a:gridCol w="586614"/>
                <a:gridCol w="586614"/>
                <a:gridCol w="586614"/>
                <a:gridCol w="586614"/>
                <a:gridCol w="586614"/>
                <a:gridCol w="586614"/>
                <a:gridCol w="586614"/>
                <a:gridCol w="586614"/>
                <a:gridCol w="586614"/>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Material Structure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Structure,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Material Structure (US$ Mn)</a:t>
            </a:r>
          </a:p>
        </p:txBody>
      </p:sp>
      <p:graphicFrame>
        <p:nvGraphicFramePr>
          <p:cNvPr id="12" name="Table 11"/>
          <p:cNvGraphicFramePr>
            <a:graphicFrameLocks noGrp="1"/>
          </p:cNvGraphicFramePr>
          <p:nvPr/>
        </p:nvGraphicFramePr>
        <p:xfrm>
          <a:off x="152400" y="1238250"/>
          <a:ext cx="11887208" cy="1514475"/>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Material Structure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Coextruded multilayer films segment is projected to register 1.1X higher value than laminated films segment in 2036. Among flexible plastic packaging by material structure, mono-material recyclable structures segment is expected to witness the highest CAGR of 8.4% over the forecast period.</a:t>
            </a:r>
          </a:p>
          <a:p>
            <a:pPr algn="l">
              <a:lnSpc>
                <a:spcPct val="110000"/>
              </a:lnSpc>
              <a:spcBef>
                <a:spcPts val="0"/>
              </a:spcBef>
              <a:spcAft>
                <a:spcPts val="500"/>
              </a:spcAft>
            </a:pPr>
            <a:r>
              <a:rPr sz="1150" b="0">
                <a:solidFill>
                  <a:srgbClr val="2E2E2E"/>
                </a:solidFill>
                <a:latin typeface="Calibri"/>
              </a:rPr>
              <a:t>In terms of value share by material structure, the coextruded multilayer films segment is expected to dominate the market, losing 34 BPS and accounting for 28.7% share by 2036.</a:t>
            </a:r>
          </a:p>
          <a:p>
            <a:pPr algn="l">
              <a:lnSpc>
                <a:spcPct val="110000"/>
              </a:lnSpc>
              <a:spcBef>
                <a:spcPts val="0"/>
              </a:spcBef>
              <a:spcAft>
                <a:spcPts val="500"/>
              </a:spcAft>
            </a:pPr>
            <a:r>
              <a:rPr sz="1150" b="0">
                <a:solidFill>
                  <a:srgbClr val="2E2E2E"/>
                </a:solidFill>
                <a:latin typeface="Calibri"/>
              </a:rPr>
              <a:t>Mono-Material Recyclable Structures gain 48 BPS of value share at 8.4% growth as brand owners redesign packs for recycling, helped by rising incomes, organised retail expansion and fast-growing packaged-food consumption. Coextruded Multilayer Films lose 34 BPS at 7.6% because multi-resin barrier layers are hard to recycle, though their size keeps them the largest structure.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Material Structure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Material Structure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2297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1820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4200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Coated Films</a:t>
            </a:r>
          </a:p>
        </p:txBody>
      </p:sp>
      <p:sp>
        <p:nvSpPr>
          <p:cNvPr id="19" name="BPS Value 1"/>
          <p:cNvSpPr txBox="1"/>
          <p:nvPr/>
        </p:nvSpPr>
        <p:spPr>
          <a:xfrm>
            <a:off x="6896100" y="1803922"/>
            <a:ext cx="514350" cy="123825"/>
          </a:xfrm>
          <a:prstGeom prst="rect">
            <a:avLst/>
          </a:prstGeom>
          <a:noFill/>
        </p:spPr>
        <p:txBody>
          <a:bodyPr wrap="none" lIns="0" rIns="0" tIns="0" bIns="0" anchor="ctr">
            <a:spAutoFit/>
          </a:bodyPr>
          <a:lstStyle/>
          <a:p>
            <a:pPr algn="r"/>
            <a:r>
              <a:rPr sz="900" b="1">
                <a:solidFill>
                  <a:srgbClr val="2E7D32"/>
                </a:solidFill>
                <a:latin typeface="Calibri"/>
              </a:rPr>
              <a:t>+1</a:t>
            </a:r>
          </a:p>
        </p:txBody>
      </p:sp>
      <p:sp>
        <p:nvSpPr>
          <p:cNvPr id="20" name="FMI Legend Chip"/>
          <p:cNvSpPr/>
          <p:nvPr/>
        </p:nvSpPr>
        <p:spPr>
          <a:xfrm>
            <a:off x="4928997" y="2136544"/>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3178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5558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Metallized Films</a:t>
            </a:r>
          </a:p>
        </p:txBody>
      </p:sp>
      <p:sp>
        <p:nvSpPr>
          <p:cNvPr id="23" name="BPS Value 2"/>
          <p:cNvSpPr txBox="1"/>
          <p:nvPr/>
        </p:nvSpPr>
        <p:spPr>
          <a:xfrm>
            <a:off x="6896100" y="2117494"/>
            <a:ext cx="514350" cy="123825"/>
          </a:xfrm>
          <a:prstGeom prst="rect">
            <a:avLst/>
          </a:prstGeom>
          <a:noFill/>
        </p:spPr>
        <p:txBody>
          <a:bodyPr wrap="none" lIns="0" rIns="0" tIns="0" bIns="0" anchor="ctr">
            <a:spAutoFit/>
          </a:bodyPr>
          <a:lstStyle/>
          <a:p>
            <a:pPr algn="r"/>
            <a:r>
              <a:rPr sz="900" b="1">
                <a:solidFill>
                  <a:srgbClr val="E44D3A"/>
                </a:solidFill>
                <a:latin typeface="Calibri"/>
              </a:rPr>
              <a:t>-22</a:t>
            </a:r>
          </a:p>
        </p:txBody>
      </p:sp>
      <p:sp>
        <p:nvSpPr>
          <p:cNvPr id="24" name="FMI Legend Chip"/>
          <p:cNvSpPr/>
          <p:nvPr/>
        </p:nvSpPr>
        <p:spPr>
          <a:xfrm>
            <a:off x="4928997" y="2473087"/>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246832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3921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Foil-Laminated Structures</a:t>
            </a:r>
          </a:p>
        </p:txBody>
      </p:sp>
      <p:sp>
        <p:nvSpPr>
          <p:cNvPr id="27" name="BPS Value 3"/>
          <p:cNvSpPr txBox="1"/>
          <p:nvPr/>
        </p:nvSpPr>
        <p:spPr>
          <a:xfrm>
            <a:off x="6896100" y="2454037"/>
            <a:ext cx="514350" cy="123825"/>
          </a:xfrm>
          <a:prstGeom prst="rect">
            <a:avLst/>
          </a:prstGeom>
          <a:noFill/>
        </p:spPr>
        <p:txBody>
          <a:bodyPr wrap="none" lIns="0" rIns="0" tIns="0" bIns="0" anchor="ctr">
            <a:spAutoFit/>
          </a:bodyPr>
          <a:lstStyle/>
          <a:p>
            <a:pPr algn="r"/>
            <a:r>
              <a:rPr sz="900" b="1">
                <a:solidFill>
                  <a:srgbClr val="2E7D32"/>
                </a:solidFill>
                <a:latin typeface="Calibri"/>
              </a:rPr>
              <a:t>+10</a:t>
            </a:r>
          </a:p>
        </p:txBody>
      </p:sp>
      <p:sp>
        <p:nvSpPr>
          <p:cNvPr id="28" name="FMI Legend Chip"/>
          <p:cNvSpPr/>
          <p:nvPr/>
        </p:nvSpPr>
        <p:spPr>
          <a:xfrm>
            <a:off x="4928997" y="284577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284101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76481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Mono-Material Recyclable Structures</a:t>
            </a:r>
          </a:p>
        </p:txBody>
      </p:sp>
      <p:sp>
        <p:nvSpPr>
          <p:cNvPr id="31" name="BPS Value 4"/>
          <p:cNvSpPr txBox="1"/>
          <p:nvPr/>
        </p:nvSpPr>
        <p:spPr>
          <a:xfrm>
            <a:off x="6896100" y="2826729"/>
            <a:ext cx="514350" cy="123825"/>
          </a:xfrm>
          <a:prstGeom prst="rect">
            <a:avLst/>
          </a:prstGeom>
          <a:noFill/>
        </p:spPr>
        <p:txBody>
          <a:bodyPr wrap="none" lIns="0" rIns="0" tIns="0" bIns="0" anchor="ctr">
            <a:spAutoFit/>
          </a:bodyPr>
          <a:lstStyle/>
          <a:p>
            <a:pPr algn="r"/>
            <a:r>
              <a:rPr sz="900" b="1">
                <a:solidFill>
                  <a:srgbClr val="2E7D32"/>
                </a:solidFill>
                <a:latin typeface="Calibri"/>
              </a:rPr>
              <a:t>+48</a:t>
            </a:r>
          </a:p>
        </p:txBody>
      </p:sp>
      <p:sp>
        <p:nvSpPr>
          <p:cNvPr id="32" name="FMI Legend Chip"/>
          <p:cNvSpPr/>
          <p:nvPr/>
        </p:nvSpPr>
        <p:spPr>
          <a:xfrm>
            <a:off x="4928997" y="340363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39887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32267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Monolayer Films</a:t>
            </a:r>
          </a:p>
        </p:txBody>
      </p:sp>
      <p:sp>
        <p:nvSpPr>
          <p:cNvPr id="35" name="BPS Value 5"/>
          <p:cNvSpPr txBox="1"/>
          <p:nvPr/>
        </p:nvSpPr>
        <p:spPr>
          <a:xfrm>
            <a:off x="6896100" y="3384585"/>
            <a:ext cx="514350" cy="123825"/>
          </a:xfrm>
          <a:prstGeom prst="rect">
            <a:avLst/>
          </a:prstGeom>
          <a:noFill/>
        </p:spPr>
        <p:txBody>
          <a:bodyPr wrap="none" lIns="0" rIns="0" tIns="0" bIns="0" anchor="ctr">
            <a:spAutoFit/>
          </a:bodyPr>
          <a:lstStyle/>
          <a:p>
            <a:pPr algn="r"/>
            <a:r>
              <a:rPr sz="900" b="1">
                <a:solidFill>
                  <a:srgbClr val="2E7D32"/>
                </a:solidFill>
                <a:latin typeface="Calibri"/>
              </a:rPr>
              <a:t>+23</a:t>
            </a:r>
          </a:p>
        </p:txBody>
      </p:sp>
      <p:sp>
        <p:nvSpPr>
          <p:cNvPr id="36" name="FMI Legend Chip"/>
          <p:cNvSpPr/>
          <p:nvPr/>
        </p:nvSpPr>
        <p:spPr>
          <a:xfrm>
            <a:off x="4928997" y="434656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5090922" y="434179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26559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Laminated Films</a:t>
            </a:r>
          </a:p>
        </p:txBody>
      </p:sp>
      <p:sp>
        <p:nvSpPr>
          <p:cNvPr id="39" name="BPS Value 6"/>
          <p:cNvSpPr txBox="1"/>
          <p:nvPr/>
        </p:nvSpPr>
        <p:spPr>
          <a:xfrm>
            <a:off x="6896100" y="4327511"/>
            <a:ext cx="514350" cy="123825"/>
          </a:xfrm>
          <a:prstGeom prst="rect">
            <a:avLst/>
          </a:prstGeom>
          <a:noFill/>
        </p:spPr>
        <p:txBody>
          <a:bodyPr wrap="none" lIns="0" rIns="0" tIns="0" bIns="0" anchor="ctr">
            <a:spAutoFit/>
          </a:bodyPr>
          <a:lstStyle/>
          <a:p>
            <a:pPr algn="r"/>
            <a:r>
              <a:rPr sz="900" b="1">
                <a:solidFill>
                  <a:srgbClr val="E44D3A"/>
                </a:solidFill>
                <a:latin typeface="Calibri"/>
              </a:rPr>
              <a:t>-25</a:t>
            </a:r>
          </a:p>
        </p:txBody>
      </p:sp>
      <p:sp>
        <p:nvSpPr>
          <p:cNvPr id="40" name="FMI Legend Chip"/>
          <p:cNvSpPr/>
          <p:nvPr/>
        </p:nvSpPr>
        <p:spPr>
          <a:xfrm>
            <a:off x="4928997" y="558663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558187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50567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Coextruded Multilayer Films</a:t>
            </a:r>
          </a:p>
        </p:txBody>
      </p:sp>
      <p:sp>
        <p:nvSpPr>
          <p:cNvPr id="43" name="BPS Value 7"/>
          <p:cNvSpPr txBox="1"/>
          <p:nvPr/>
        </p:nvSpPr>
        <p:spPr>
          <a:xfrm>
            <a:off x="6896100" y="5567587"/>
            <a:ext cx="514350" cy="123825"/>
          </a:xfrm>
          <a:prstGeom prst="rect">
            <a:avLst/>
          </a:prstGeom>
          <a:noFill/>
        </p:spPr>
        <p:txBody>
          <a:bodyPr wrap="none" lIns="0" rIns="0" tIns="0" bIns="0" anchor="ctr">
            <a:spAutoFit/>
          </a:bodyPr>
          <a:lstStyle/>
          <a:p>
            <a:pPr algn="r"/>
            <a:r>
              <a:rPr sz="900" b="1">
                <a:solidFill>
                  <a:srgbClr val="E44D3A"/>
                </a:solidFill>
                <a:latin typeface="Calibri"/>
              </a:rPr>
              <a:t>-34</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Material Structure</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material structure, mono-material recyclable structures segment is expected to witness the highest CAGR of 8.4% over the forecast period.</a:t>
            </a:r>
          </a:p>
          <a:p>
            <a:pPr algn="l">
              <a:lnSpc>
                <a:spcPct val="110000"/>
              </a:lnSpc>
              <a:spcBef>
                <a:spcPts val="0"/>
              </a:spcBef>
              <a:spcAft>
                <a:spcPts val="500"/>
              </a:spcAft>
            </a:pPr>
            <a:r>
              <a:rPr sz="1150" b="0">
                <a:solidFill>
                  <a:srgbClr val="2E2E2E"/>
                </a:solidFill>
                <a:latin typeface="Calibri"/>
              </a:rPr>
              <a:t>In terms of value share by material structure, the coextruded multilayer films segment is expected to dominate the market, losing 34 BPS and accounting for 28.7% share by 2036.</a:t>
            </a:r>
          </a:p>
          <a:p>
            <a:pPr algn="l">
              <a:lnSpc>
                <a:spcPct val="110000"/>
              </a:lnSpc>
              <a:spcBef>
                <a:spcPts val="0"/>
              </a:spcBef>
              <a:spcAft>
                <a:spcPts val="500"/>
              </a:spcAft>
            </a:pPr>
            <a:r>
              <a:rPr sz="1150" b="0">
                <a:solidFill>
                  <a:srgbClr val="2E2E2E"/>
                </a:solidFill>
                <a:latin typeface="Calibri"/>
              </a:rPr>
              <a:t>Mono-Material Recyclable Structures grow fastest at 8.4% because extended producer responsibility rules in India and Australia, plastic waste regulation across Southeast Asia and multinational brand owner commitments push demand for recyclable alternatives to multilayer laminates. Growing local converting capacity makes these films easier to source. Coextruded Multilayer Films, at 7.6%, grow slower as they face substitution.</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Volume, By Material Structure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YoY Growth,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Volume, By Material Structure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Structure,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YoY Heatmap, By Material Structure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Monolayer Films</a:t>
            </a:r>
          </a:p>
        </p:txBody>
      </p:sp>
      <p:sp>
        <p:nvSpPr>
          <p:cNvPr id="28" name="Rectangle 27"/>
          <p:cNvSpPr/>
          <p:nvPr/>
        </p:nvSpPr>
        <p:spPr>
          <a:xfrm>
            <a:off x="1857375" y="1409700"/>
            <a:ext cx="643890" cy="322659"/>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Coextruded Multilayer Films</a:t>
            </a:r>
          </a:p>
        </p:txBody>
      </p:sp>
      <p:sp>
        <p:nvSpPr>
          <p:cNvPr id="44" name="Rectangle 43"/>
          <p:cNvSpPr/>
          <p:nvPr/>
        </p:nvSpPr>
        <p:spPr>
          <a:xfrm>
            <a:off x="1857375" y="1732359"/>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3–5 Layer</a:t>
            </a:r>
          </a:p>
        </p:txBody>
      </p:sp>
      <p:sp>
        <p:nvSpPr>
          <p:cNvPr id="60" name="Rectangle 59"/>
          <p:cNvSpPr/>
          <p:nvPr/>
        </p:nvSpPr>
        <p:spPr>
          <a:xfrm>
            <a:off x="1857375" y="2055019"/>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7 Layer</a:t>
            </a:r>
          </a:p>
        </p:txBody>
      </p:sp>
      <p:sp>
        <p:nvSpPr>
          <p:cNvPr id="76" name="Rectangle 75"/>
          <p:cNvSpPr/>
          <p:nvPr/>
        </p:nvSpPr>
        <p:spPr>
          <a:xfrm>
            <a:off x="1857375" y="2377678"/>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9 Layer and Above</a:t>
            </a:r>
          </a:p>
        </p:txBody>
      </p:sp>
      <p:sp>
        <p:nvSpPr>
          <p:cNvPr id="92" name="Rectangle 91"/>
          <p:cNvSpPr/>
          <p:nvPr/>
        </p:nvSpPr>
        <p:spPr>
          <a:xfrm>
            <a:off x="1857375" y="2700338"/>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Laminated Films</a:t>
            </a:r>
          </a:p>
        </p:txBody>
      </p:sp>
      <p:sp>
        <p:nvSpPr>
          <p:cNvPr id="108" name="Rectangle 107"/>
          <p:cNvSpPr/>
          <p:nvPr/>
        </p:nvSpPr>
        <p:spPr>
          <a:xfrm>
            <a:off x="1857375" y="3022997"/>
            <a:ext cx="643890" cy="322659"/>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Duplex</a:t>
            </a:r>
          </a:p>
        </p:txBody>
      </p:sp>
      <p:sp>
        <p:nvSpPr>
          <p:cNvPr id="124" name="Rectangle 123"/>
          <p:cNvSpPr/>
          <p:nvPr/>
        </p:nvSpPr>
        <p:spPr>
          <a:xfrm>
            <a:off x="1857375" y="3345656"/>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Triplex</a:t>
            </a:r>
          </a:p>
        </p:txBody>
      </p:sp>
      <p:sp>
        <p:nvSpPr>
          <p:cNvPr id="140" name="Rectangle 139"/>
          <p:cNvSpPr/>
          <p:nvPr/>
        </p:nvSpPr>
        <p:spPr>
          <a:xfrm>
            <a:off x="1857375" y="3668316"/>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1E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Multi-Ply</a:t>
            </a:r>
          </a:p>
        </p:txBody>
      </p:sp>
      <p:sp>
        <p:nvSpPr>
          <p:cNvPr id="156" name="Rectangle 155"/>
          <p:cNvSpPr/>
          <p:nvPr/>
        </p:nvSpPr>
        <p:spPr>
          <a:xfrm>
            <a:off x="1857375" y="3990975"/>
            <a:ext cx="643890" cy="322659"/>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Coated Films</a:t>
            </a:r>
          </a:p>
        </p:txBody>
      </p:sp>
      <p:sp>
        <p:nvSpPr>
          <p:cNvPr id="172" name="Rectangle 171"/>
          <p:cNvSpPr/>
          <p:nvPr/>
        </p:nvSpPr>
        <p:spPr>
          <a:xfrm>
            <a:off x="1857375" y="4313634"/>
            <a:ext cx="643890" cy="322659"/>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0E6E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Metallized Films</a:t>
            </a:r>
          </a:p>
        </p:txBody>
      </p:sp>
      <p:sp>
        <p:nvSpPr>
          <p:cNvPr id="188" name="Rectangle 187"/>
          <p:cNvSpPr/>
          <p:nvPr/>
        </p:nvSpPr>
        <p:spPr>
          <a:xfrm>
            <a:off x="1857375" y="4636294"/>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Foil-Laminated Structures</a:t>
            </a:r>
          </a:p>
        </p:txBody>
      </p:sp>
      <p:sp>
        <p:nvSpPr>
          <p:cNvPr id="204" name="Rectangle 203"/>
          <p:cNvSpPr/>
          <p:nvPr/>
        </p:nvSpPr>
        <p:spPr>
          <a:xfrm>
            <a:off x="1857375" y="4958953"/>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Mono-Material Recyclable Structures</a:t>
            </a:r>
          </a:p>
        </p:txBody>
      </p:sp>
      <p:sp>
        <p:nvSpPr>
          <p:cNvPr id="220" name="Rectangle 219"/>
          <p:cNvSpPr/>
          <p:nvPr/>
        </p:nvSpPr>
        <p:spPr>
          <a:xfrm>
            <a:off x="1857375" y="5281612"/>
            <a:ext cx="643890" cy="322659"/>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0D61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PE-Based</a:t>
            </a:r>
          </a:p>
        </p:txBody>
      </p:sp>
      <p:sp>
        <p:nvSpPr>
          <p:cNvPr id="236" name="Rectangle 235"/>
          <p:cNvSpPr/>
          <p:nvPr/>
        </p:nvSpPr>
        <p:spPr>
          <a:xfrm>
            <a:off x="1857375" y="5604272"/>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PP-Based</a:t>
            </a:r>
          </a:p>
        </p:txBody>
      </p:sp>
      <p:sp>
        <p:nvSpPr>
          <p:cNvPr id="252" name="Rectangle 251"/>
          <p:cNvSpPr/>
          <p:nvPr/>
        </p:nvSpPr>
        <p:spPr>
          <a:xfrm>
            <a:off x="1857375" y="5926931"/>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PET-Based</a:t>
            </a:r>
          </a:p>
        </p:txBody>
      </p:sp>
      <p:sp>
        <p:nvSpPr>
          <p:cNvPr id="268" name="Rectangle 267"/>
          <p:cNvSpPr/>
          <p:nvPr/>
        </p:nvSpPr>
        <p:spPr>
          <a:xfrm>
            <a:off x="1857375" y="6249591"/>
            <a:ext cx="643890" cy="322659"/>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Material Structure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Material Structure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Structure,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Material Structure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Monolayer Films</a:t>
            </a:r>
          </a:p>
        </p:txBody>
      </p:sp>
      <p:sp>
        <p:nvSpPr>
          <p:cNvPr id="28" name="Rectangle 27"/>
          <p:cNvSpPr/>
          <p:nvPr/>
        </p:nvSpPr>
        <p:spPr>
          <a:xfrm>
            <a:off x="1857375" y="1409700"/>
            <a:ext cx="643890" cy="322659"/>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16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Coextruded Multilayer Films</a:t>
            </a:r>
          </a:p>
        </p:txBody>
      </p:sp>
      <p:sp>
        <p:nvSpPr>
          <p:cNvPr id="44" name="Rectangle 43"/>
          <p:cNvSpPr/>
          <p:nvPr/>
        </p:nvSpPr>
        <p:spPr>
          <a:xfrm>
            <a:off x="1857375" y="1732359"/>
            <a:ext cx="643890" cy="322659"/>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3–5 Layer</a:t>
            </a:r>
          </a:p>
        </p:txBody>
      </p:sp>
      <p:sp>
        <p:nvSpPr>
          <p:cNvPr id="60" name="Rectangle 59"/>
          <p:cNvSpPr/>
          <p:nvPr/>
        </p:nvSpPr>
        <p:spPr>
          <a:xfrm>
            <a:off x="1857375" y="2055019"/>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7 Layer</a:t>
            </a:r>
          </a:p>
        </p:txBody>
      </p:sp>
      <p:sp>
        <p:nvSpPr>
          <p:cNvPr id="76" name="Rectangle 75"/>
          <p:cNvSpPr/>
          <p:nvPr/>
        </p:nvSpPr>
        <p:spPr>
          <a:xfrm>
            <a:off x="1857375" y="2377678"/>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9 Layer and Above</a:t>
            </a:r>
          </a:p>
        </p:txBody>
      </p:sp>
      <p:sp>
        <p:nvSpPr>
          <p:cNvPr id="92" name="Rectangle 91"/>
          <p:cNvSpPr/>
          <p:nvPr/>
        </p:nvSpPr>
        <p:spPr>
          <a:xfrm>
            <a:off x="1857375" y="2700338"/>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Laminated Films</a:t>
            </a:r>
          </a:p>
        </p:txBody>
      </p:sp>
      <p:sp>
        <p:nvSpPr>
          <p:cNvPr id="108" name="Rectangle 107"/>
          <p:cNvSpPr/>
          <p:nvPr/>
        </p:nvSpPr>
        <p:spPr>
          <a:xfrm>
            <a:off x="1857375" y="3022997"/>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Duplex</a:t>
            </a:r>
          </a:p>
        </p:txBody>
      </p:sp>
      <p:sp>
        <p:nvSpPr>
          <p:cNvPr id="124" name="Rectangle 123"/>
          <p:cNvSpPr/>
          <p:nvPr/>
        </p:nvSpPr>
        <p:spPr>
          <a:xfrm>
            <a:off x="1857375" y="3345656"/>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Triplex</a:t>
            </a:r>
          </a:p>
        </p:txBody>
      </p:sp>
      <p:sp>
        <p:nvSpPr>
          <p:cNvPr id="140" name="Rectangle 139"/>
          <p:cNvSpPr/>
          <p:nvPr/>
        </p:nvSpPr>
        <p:spPr>
          <a:xfrm>
            <a:off x="1857375" y="3668316"/>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Multi-Ply</a:t>
            </a:r>
          </a:p>
        </p:txBody>
      </p:sp>
      <p:sp>
        <p:nvSpPr>
          <p:cNvPr id="156" name="Rectangle 155"/>
          <p:cNvSpPr/>
          <p:nvPr/>
        </p:nvSpPr>
        <p:spPr>
          <a:xfrm>
            <a:off x="1857375" y="3990975"/>
            <a:ext cx="643890" cy="322659"/>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Coated Films</a:t>
            </a:r>
          </a:p>
        </p:txBody>
      </p:sp>
      <p:sp>
        <p:nvSpPr>
          <p:cNvPr id="172" name="Rectangle 171"/>
          <p:cNvSpPr/>
          <p:nvPr/>
        </p:nvSpPr>
        <p:spPr>
          <a:xfrm>
            <a:off x="1857375" y="4313634"/>
            <a:ext cx="643890" cy="322659"/>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0D63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Metallized Films</a:t>
            </a:r>
          </a:p>
        </p:txBody>
      </p:sp>
      <p:sp>
        <p:nvSpPr>
          <p:cNvPr id="188" name="Rectangle 187"/>
          <p:cNvSpPr/>
          <p:nvPr/>
        </p:nvSpPr>
        <p:spPr>
          <a:xfrm>
            <a:off x="1857375" y="4636294"/>
            <a:ext cx="643890" cy="322659"/>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Foil-Laminated Structures</a:t>
            </a:r>
          </a:p>
        </p:txBody>
      </p:sp>
      <p:sp>
        <p:nvSpPr>
          <p:cNvPr id="204" name="Rectangle 203"/>
          <p:cNvSpPr/>
          <p:nvPr/>
        </p:nvSpPr>
        <p:spPr>
          <a:xfrm>
            <a:off x="1857375" y="4958953"/>
            <a:ext cx="643890" cy="322659"/>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Mono-Material Recyclable Structures</a:t>
            </a:r>
          </a:p>
        </p:txBody>
      </p:sp>
      <p:sp>
        <p:nvSpPr>
          <p:cNvPr id="220" name="Rectangle 219"/>
          <p:cNvSpPr/>
          <p:nvPr/>
        </p:nvSpPr>
        <p:spPr>
          <a:xfrm>
            <a:off x="1857375" y="5281612"/>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PE-Based</a:t>
            </a:r>
          </a:p>
        </p:txBody>
      </p:sp>
      <p:sp>
        <p:nvSpPr>
          <p:cNvPr id="236" name="Rectangle 235"/>
          <p:cNvSpPr/>
          <p:nvPr/>
        </p:nvSpPr>
        <p:spPr>
          <a:xfrm>
            <a:off x="1857375" y="5604272"/>
            <a:ext cx="643890" cy="322659"/>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PP-Based</a:t>
            </a:r>
          </a:p>
        </p:txBody>
      </p:sp>
      <p:sp>
        <p:nvSpPr>
          <p:cNvPr id="252" name="Rectangle 251"/>
          <p:cNvSpPr/>
          <p:nvPr/>
        </p:nvSpPr>
        <p:spPr>
          <a:xfrm>
            <a:off x="1857375" y="5926931"/>
            <a:ext cx="643890" cy="322659"/>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0E70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PET-Based</a:t>
            </a:r>
          </a:p>
        </p:txBody>
      </p:sp>
      <p:sp>
        <p:nvSpPr>
          <p:cNvPr id="268" name="Rectangle 267"/>
          <p:cNvSpPr/>
          <p:nvPr/>
        </p:nvSpPr>
        <p:spPr>
          <a:xfrm>
            <a:off x="1857375" y="6249591"/>
            <a:ext cx="643890" cy="322659"/>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0C4C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0D52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Barrier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Barrier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Barrier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Barrier Level segment categorizes the market by barrier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Medium-Barrier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5,045</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10,365</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7.5%</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High-Barrier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4,978</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10,907</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8.2%</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Low-Barrier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3,330</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6,947</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7.6%</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Ultra-High-Barrier Films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2,109</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4,468</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7.8%</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barrier level, high-barrier films segment is expected to witness the highest CAGR of 8.2% over the forecast period. In terms of value share by barrier level, the high-barrier films segment is expected to dominate the market, gaining 117 BPS and accounting for 33.4%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High-barrier films segment is projected to register 1.1X higher value than medium-barrier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Medium-Barrier Films: </a:t>
            </a:r>
            <a:r>
              <a:rPr sz="1100" b="0">
                <a:solidFill>
                  <a:srgbClr val="2E2E2E"/>
                </a:solidFill>
                <a:latin typeface="Calibri"/>
              </a:rPr>
              <a:t>33% of 2026 value · 7.5%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High-Barrier Films: </a:t>
            </a:r>
            <a:r>
              <a:rPr sz="1100" b="0">
                <a:solidFill>
                  <a:srgbClr val="2E2E2E"/>
                </a:solidFill>
                <a:latin typeface="Calibri"/>
              </a:rPr>
              <a:t>32% of 2026 value · 8.2%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Low-Barrier Films: </a:t>
            </a:r>
            <a:r>
              <a:rPr sz="1100" b="0">
                <a:solidFill>
                  <a:srgbClr val="2E2E2E"/>
                </a:solidFill>
                <a:latin typeface="Calibri"/>
              </a:rPr>
              <a:t>22% of 2026 value · 7.6%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Ultra-High-Barrier Films: </a:t>
            </a:r>
            <a:r>
              <a:rPr sz="1100" b="0">
                <a:solidFill>
                  <a:srgbClr val="2E2E2E"/>
                </a:solidFill>
                <a:latin typeface="Calibri"/>
              </a:rPr>
              <a:t>14% of 2026 value · 7.8%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Barrier Level split shows how demand is distributed across barrier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Barrier Level segment is projected to grow at a CAGR of 7.8%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Barrier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Barrier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Barrier Level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High-barrier films followed by medium-barrier films are expected to be the two most attractive barrier level segments in the South Asia &amp; Pacific flexible plastic packaging market in terms of value over the forecast period. High-Barrier films and Medium-Barrier films exhibit a CAGR index of 105 and 96 and a market share index of 129 and 130 respectively, against the segment average of 100. The ultra-high-barrier films segment is expected to be less attractive as compared to other segments over the forecast period, owing to its lower CAGR and incremental opportunity. High-Barrier Films and Medium-Barrier Films rank as the most attractive because they pair scale with growth. High-barrier grades combine a large base with shelf-life-driven demand from protein, ready meals and delivered food, with 32.2% of 2026 value growing at 8.2%. For Medium-Barrier Films, medium-barrier films retain a large installed base in fresh produce, bakery and dairy, at 32.6% share and 7.5% CAGR.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Barrier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Low-Barrier Films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Medium-Barrier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High-Barrier Films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Ultra-High-Barrier Films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Volume Analysis, By Barrier Level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Barrier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Volume Analysis, By Barrier Level</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High-barrier films segment is projected to register 1.1X higher volume than medium-barrier films segment in 2036. Among flexible plastic packaging by barrier level, high-barrier films segment is expected to witness the highest CAGR of 6.9% over the forecast period.</a:t>
            </a:r>
          </a:p>
          <a:p>
            <a:pPr algn="l">
              <a:lnSpc>
                <a:spcPct val="110000"/>
              </a:lnSpc>
              <a:spcBef>
                <a:spcPts val="0"/>
              </a:spcBef>
              <a:spcAft>
                <a:spcPts val="500"/>
              </a:spcAft>
            </a:pPr>
            <a:r>
              <a:rPr sz="1150" b="0">
                <a:solidFill>
                  <a:srgbClr val="2E2E2E"/>
                </a:solidFill>
                <a:latin typeface="Calibri"/>
              </a:rPr>
              <a:t>In terms of volume share by barrier level, the high-barrier films segment is expected to dominate the market, gaining 115 BPS and accounting for 33.3% share by 2036. The medium-barrier films segment is expected to lose 89 BPS over the forecast period to account for 31.6% share by 2036.</a:t>
            </a:r>
          </a:p>
          <a:p>
            <a:pPr algn="l">
              <a:lnSpc>
                <a:spcPct val="110000"/>
              </a:lnSpc>
              <a:spcBef>
                <a:spcPts val="0"/>
              </a:spcBef>
              <a:spcAft>
                <a:spcPts val="500"/>
              </a:spcAft>
            </a:pPr>
            <a:r>
              <a:rPr sz="1150" b="0">
                <a:solidFill>
                  <a:srgbClr val="2E2E2E"/>
                </a:solidFill>
                <a:latin typeface="Calibri"/>
              </a:rPr>
              <a:t>High-Barrier Films add 115 BPS of volume share at 6.9% growth because fresh protein, cheese, snacks and ready meals need longer shelf life and lower food waste, and brands keep upgrading packs, supported by rising incomes, organised retail expansion and fast-growing packaged-food consumption. Medium-Barrier Films lose 89 BPS at 6.2%, as those applications trade up to higher barrier and ultra-high-barrier films take the premium niches.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Barrier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Barrier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Barrier Level (US$ Mn)</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Barrier Level</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High-barrier films segment is projected to register 1.1X higher value than medium-barrier films segment in 2036. Among flexible plastic packaging by barrier level, high-barrier films segment is expected to witness the highest CAGR of 8.2% over the forecast period.</a:t>
            </a:r>
          </a:p>
          <a:p>
            <a:pPr algn="l">
              <a:lnSpc>
                <a:spcPct val="110000"/>
              </a:lnSpc>
              <a:spcBef>
                <a:spcPts val="0"/>
              </a:spcBef>
              <a:spcAft>
                <a:spcPts val="500"/>
              </a:spcAft>
            </a:pPr>
            <a:r>
              <a:rPr sz="1150" b="0">
                <a:solidFill>
                  <a:srgbClr val="2E2E2E"/>
                </a:solidFill>
                <a:latin typeface="Calibri"/>
              </a:rPr>
              <a:t>In terms of value share by barrier level, the high-barrier films segment is expected to dominate the market, gaining 117 BPS and accounting for 33.4% share by 2036. The medium-barrier films segment is expected to lose 91 BPS over the forecast period to account for 31.7% share by 2036.</a:t>
            </a:r>
          </a:p>
          <a:p>
            <a:pPr algn="l">
              <a:lnSpc>
                <a:spcPct val="110000"/>
              </a:lnSpc>
              <a:spcBef>
                <a:spcPts val="0"/>
              </a:spcBef>
              <a:spcAft>
                <a:spcPts val="500"/>
              </a:spcAft>
            </a:pPr>
            <a:r>
              <a:rPr sz="1150" b="0">
                <a:solidFill>
                  <a:srgbClr val="2E2E2E"/>
                </a:solidFill>
                <a:latin typeface="Calibri"/>
              </a:rPr>
              <a:t>High-Barrier Films gain 117 BPS and grow fastest at 8.2% because rising incomes, modern retail, dairy, snack and ready-meal production and long, warm supply chains in South Asia &amp; Pacific need better moisture and oxygen protection. Medium-Barrier Films lose 91 BPS and grow at 7.5% as processors upgrade packaging to cut spoilage and extend shelf life.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Barrier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Barrier Level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8374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789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027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Ultra-High-Barrier Films</a:t>
            </a:r>
          </a:p>
        </p:txBody>
      </p:sp>
      <p:sp>
        <p:nvSpPr>
          <p:cNvPr id="19" name="BPS Value 1"/>
          <p:cNvSpPr txBox="1"/>
          <p:nvPr/>
        </p:nvSpPr>
        <p:spPr>
          <a:xfrm>
            <a:off x="6896100" y="1964693"/>
            <a:ext cx="514350" cy="123825"/>
          </a:xfrm>
          <a:prstGeom prst="rect">
            <a:avLst/>
          </a:prstGeom>
          <a:noFill/>
        </p:spPr>
        <p:txBody>
          <a:bodyPr wrap="none" lIns="0" rIns="0" tIns="0" bIns="0" anchor="ctr">
            <a:spAutoFit/>
          </a:bodyPr>
          <a:lstStyle/>
          <a:p>
            <a:pPr algn="r"/>
            <a:r>
              <a:rPr sz="900" b="1">
                <a:solidFill>
                  <a:srgbClr val="2E7D32"/>
                </a:solidFill>
                <a:latin typeface="Calibri"/>
              </a:rPr>
              <a:t>+3</a:t>
            </a:r>
          </a:p>
        </p:txBody>
      </p:sp>
      <p:sp>
        <p:nvSpPr>
          <p:cNvPr id="20" name="FMI Legend Chip"/>
          <p:cNvSpPr/>
          <p:nvPr/>
        </p:nvSpPr>
        <p:spPr>
          <a:xfrm>
            <a:off x="4928997" y="278212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77735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0115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Low-Barrier Films</a:t>
            </a:r>
          </a:p>
        </p:txBody>
      </p:sp>
      <p:sp>
        <p:nvSpPr>
          <p:cNvPr id="23" name="BPS Value 2"/>
          <p:cNvSpPr txBox="1"/>
          <p:nvPr/>
        </p:nvSpPr>
        <p:spPr>
          <a:xfrm>
            <a:off x="6896100" y="2763072"/>
            <a:ext cx="514350" cy="123825"/>
          </a:xfrm>
          <a:prstGeom prst="rect">
            <a:avLst/>
          </a:prstGeom>
          <a:noFill/>
        </p:spPr>
        <p:txBody>
          <a:bodyPr wrap="none" lIns="0" rIns="0" tIns="0" bIns="0" anchor="ctr">
            <a:spAutoFit/>
          </a:bodyPr>
          <a:lstStyle/>
          <a:p>
            <a:pPr algn="r"/>
            <a:r>
              <a:rPr sz="900" b="1">
                <a:solidFill>
                  <a:srgbClr val="E44D3A"/>
                </a:solidFill>
                <a:latin typeface="Calibri"/>
              </a:rPr>
              <a:t>-29</a:t>
            </a:r>
          </a:p>
        </p:txBody>
      </p:sp>
      <p:sp>
        <p:nvSpPr>
          <p:cNvPr id="24" name="FMI Legend Chip"/>
          <p:cNvSpPr/>
          <p:nvPr/>
        </p:nvSpPr>
        <p:spPr>
          <a:xfrm>
            <a:off x="4928997" y="399298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8822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9120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Medium-Barrier Films</a:t>
            </a:r>
          </a:p>
        </p:txBody>
      </p:sp>
      <p:sp>
        <p:nvSpPr>
          <p:cNvPr id="27" name="BPS Value 3"/>
          <p:cNvSpPr txBox="1"/>
          <p:nvPr/>
        </p:nvSpPr>
        <p:spPr>
          <a:xfrm>
            <a:off x="6896100" y="3973936"/>
            <a:ext cx="514350" cy="123825"/>
          </a:xfrm>
          <a:prstGeom prst="rect">
            <a:avLst/>
          </a:prstGeom>
          <a:noFill/>
        </p:spPr>
        <p:txBody>
          <a:bodyPr wrap="none" lIns="0" rIns="0" tIns="0" bIns="0" anchor="ctr">
            <a:spAutoFit/>
          </a:bodyPr>
          <a:lstStyle/>
          <a:p>
            <a:pPr algn="r"/>
            <a:r>
              <a:rPr sz="900" b="1">
                <a:solidFill>
                  <a:srgbClr val="E44D3A"/>
                </a:solidFill>
                <a:latin typeface="Calibri"/>
              </a:rPr>
              <a:t>-91</a:t>
            </a:r>
          </a:p>
        </p:txBody>
      </p:sp>
      <p:sp>
        <p:nvSpPr>
          <p:cNvPr id="28" name="FMI Legend Chip"/>
          <p:cNvSpPr/>
          <p:nvPr/>
        </p:nvSpPr>
        <p:spPr>
          <a:xfrm>
            <a:off x="4928997" y="548079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47603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39983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High-Barrier Films</a:t>
            </a:r>
          </a:p>
        </p:txBody>
      </p:sp>
      <p:sp>
        <p:nvSpPr>
          <p:cNvPr id="31" name="BPS Value 4"/>
          <p:cNvSpPr txBox="1"/>
          <p:nvPr/>
        </p:nvSpPr>
        <p:spPr>
          <a:xfrm>
            <a:off x="6896100" y="5461747"/>
            <a:ext cx="514350" cy="123825"/>
          </a:xfrm>
          <a:prstGeom prst="rect">
            <a:avLst/>
          </a:prstGeom>
          <a:noFill/>
        </p:spPr>
        <p:txBody>
          <a:bodyPr wrap="none" lIns="0" rIns="0" tIns="0" bIns="0" anchor="ctr">
            <a:spAutoFit/>
          </a:bodyPr>
          <a:lstStyle/>
          <a:p>
            <a:pPr algn="r"/>
            <a:r>
              <a:rPr sz="900" b="1">
                <a:solidFill>
                  <a:srgbClr val="2E7D32"/>
                </a:solidFill>
                <a:latin typeface="Calibri"/>
              </a:rPr>
              <a:t>+117</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Barrier Level</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barrier level, high-barrier films segment is expected to witness the highest CAGR of 8.2% over the forecast period. In terms of value share by barrier level, the high-barrier films segment is expected to dominate the market, gaining 117 BPS and accounting for 33.4% share by 2036.</a:t>
            </a:r>
          </a:p>
          <a:p>
            <a:pPr algn="l">
              <a:lnSpc>
                <a:spcPct val="110000"/>
              </a:lnSpc>
              <a:spcBef>
                <a:spcPts val="0"/>
              </a:spcBef>
              <a:spcAft>
                <a:spcPts val="500"/>
              </a:spcAft>
            </a:pPr>
            <a:r>
              <a:rPr sz="1150" b="0">
                <a:solidFill>
                  <a:srgbClr val="2E2E2E"/>
                </a:solidFill>
                <a:latin typeface="Calibri"/>
              </a:rPr>
              <a:t>The medium-barrier films segment is expected to lose 91 BPS over the forecast period to account for 31.7% share by 2036.</a:t>
            </a:r>
          </a:p>
          <a:p>
            <a:pPr algn="l">
              <a:lnSpc>
                <a:spcPct val="110000"/>
              </a:lnSpc>
              <a:spcBef>
                <a:spcPts val="0"/>
              </a:spcBef>
              <a:spcAft>
                <a:spcPts val="500"/>
              </a:spcAft>
            </a:pPr>
            <a:r>
              <a:rPr sz="1150" b="0">
                <a:solidFill>
                  <a:srgbClr val="2E2E2E"/>
                </a:solidFill>
                <a:latin typeface="Calibri"/>
              </a:rPr>
              <a:t>High-Barrier Films grows fastest at a 8.2% CAGR against 7.8% for the market because protein, ready meals and e-commerce-delivered food need longer shelf life and lower spoilage. The slowest part, Medium-Barrier Films, grows at 7.5% as demand polarises between cost-led low-barrier grades and performance-led high-barrier grades. In South Asia &amp; Pacific, rising incomes, organised retail and packaged-food penetration drive the mix.</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Volume, By Barrier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YoY Growth,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YoY Heatmap, By Barrier Level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33" name="Rectangle 32"/>
          <p:cNvSpPr/>
          <p:nvPr/>
        </p:nvSpPr>
        <p:spPr>
          <a:xfrm>
            <a:off x="1857375" y="3086100"/>
            <a:ext cx="643890" cy="871538"/>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49" name="Rectangle 48"/>
          <p:cNvSpPr/>
          <p:nvPr/>
        </p:nvSpPr>
        <p:spPr>
          <a:xfrm>
            <a:off x="1857375" y="3957638"/>
            <a:ext cx="643890" cy="871538"/>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65" name="Rectangle 64"/>
          <p:cNvSpPr/>
          <p:nvPr/>
        </p:nvSpPr>
        <p:spPr>
          <a:xfrm>
            <a:off x="1857375" y="4829175"/>
            <a:ext cx="643890" cy="87153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81" name="Rectangle 80"/>
          <p:cNvSpPr/>
          <p:nvPr/>
        </p:nvSpPr>
        <p:spPr>
          <a:xfrm>
            <a:off x="1857375" y="5700712"/>
            <a:ext cx="643890" cy="871538"/>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Barrier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Barrier Level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33" name="Rectangle 32"/>
          <p:cNvSpPr/>
          <p:nvPr/>
        </p:nvSpPr>
        <p:spPr>
          <a:xfrm>
            <a:off x="1857375" y="3086100"/>
            <a:ext cx="643890" cy="871538"/>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1A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49" name="Rectangle 48"/>
          <p:cNvSpPr/>
          <p:nvPr/>
        </p:nvSpPr>
        <p:spPr>
          <a:xfrm>
            <a:off x="1857375" y="3957638"/>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65" name="Rectangle 64"/>
          <p:cNvSpPr/>
          <p:nvPr/>
        </p:nvSpPr>
        <p:spPr>
          <a:xfrm>
            <a:off x="1857375" y="4829175"/>
            <a:ext cx="643890" cy="871538"/>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0B32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81" name="Rectangle 80"/>
          <p:cNvSpPr/>
          <p:nvPr/>
        </p:nvSpPr>
        <p:spPr>
          <a:xfrm>
            <a:off x="1857375" y="5700712"/>
            <a:ext cx="643890" cy="871538"/>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Application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Application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Application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Application,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Application segment categorizes the market by application.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Food Packaging</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12,892</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27,295</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7.8%</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Non-Food Packaging</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2,570</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5,392</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7.7%</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application, food packaging segment is expected to witness the highest CAGR of 7.8% over the forecast period. In terms of value share by application, the food packaging segment is expected to dominate the market, gaining 13 BPS and accounting for 83.5%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Food packaging segment is projected to register 5.1X higher value than non-food packaging segment in 2036.</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Food Packaging: </a:t>
            </a:r>
            <a:r>
              <a:rPr sz="1100" b="0">
                <a:solidFill>
                  <a:srgbClr val="2E2E2E"/>
                </a:solidFill>
                <a:latin typeface="Calibri"/>
              </a:rPr>
              <a:t>83% of 2026 value · 7.8%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Non-Food Packaging: </a:t>
            </a:r>
            <a:r>
              <a:rPr sz="1100" b="0">
                <a:solidFill>
                  <a:srgbClr val="2E2E2E"/>
                </a:solidFill>
                <a:latin typeface="Calibri"/>
              </a:rPr>
              <a:t>17% of 2026 value · 7.7% CAGR serves a niche.</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Application split shows how demand is distributed across application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Application segment is projected to grow at a CAGR of 7.8%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Application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Application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276725"/>
          </a:xfrm>
          <a:prstGeom prst="roundRect">
            <a:avLst>
              <a:gd name="adj" fmla="val 17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762375"/>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276725"/>
          </a:xfrm>
          <a:prstGeom prst="roundRect">
            <a:avLst>
              <a:gd name="adj" fmla="val 17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Application · Bubble size represents 2036 value</a:t>
            </a:r>
          </a:p>
        </p:txBody>
      </p:sp>
      <p:graphicFrame>
        <p:nvGraphicFramePr>
          <p:cNvPr id="16" name="Chart 15"/>
          <p:cNvGraphicFramePr>
            <a:graphicFrameLocks noGrp="1"/>
          </p:cNvGraphicFramePr>
          <p:nvPr/>
        </p:nvGraphicFramePr>
        <p:xfrm>
          <a:off x="6734175" y="1266825"/>
          <a:ext cx="5210175" cy="3933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91150"/>
            <a:ext cx="11906250" cy="1228725"/>
          </a:xfrm>
          <a:prstGeom prst="roundRect">
            <a:avLst>
              <a:gd name="adj" fmla="val 62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Food packaging followed by non-food packaging are expected to be the two most attractive application segments in the South Asia &amp; Pacific flexible plastic packaging market in terms of value over the forecast period. Food packaging and Non-Food packaging exhibit a CAGR index of 100 and 99 and a market share index of 167 and 33 respectively, against the segment average of 100. Food Packaging ranks most attractive because it holds 83.4% of the market and grows at 7.8%, fractionally above Non-Food at 7.7%. Rising incomes, urbanisation, modern retail, quick commerce and growth in packaged snacks, dairy and ready meals expand food use rapidly. Hot and humid climates make shelf life and barrier performance essential. Non-Food Packaging is much smaller at 16.6%.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Application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Food Packaging</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Non-Food Packaging</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Volume Analysis, By Application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By Application (Thousand MT)</a:t>
            </a:r>
          </a:p>
        </p:txBody>
      </p:sp>
      <p:graphicFrame>
        <p:nvGraphicFramePr>
          <p:cNvPr id="13" name="Table 12"/>
          <p:cNvGraphicFramePr>
            <a:graphicFrameLocks noGrp="1"/>
          </p:cNvGraphicFramePr>
          <p:nvPr/>
        </p:nvGraphicFramePr>
        <p:xfrm>
          <a:off x="152400" y="1238250"/>
          <a:ext cx="11887193" cy="2857498"/>
        </p:xfrm>
        <a:graphic>
          <a:graphicData uri="http://schemas.openxmlformats.org/drawingml/2006/table">
            <a:tbl>
              <a:tblPr>
                <a:tableStyleId>{5C22544A-7EE6-4342-B048-85BDC9FD1C3A}</a:tableStyleId>
              </a:tblPr>
              <a:tblGrid>
                <a:gridCol w="2284301"/>
                <a:gridCol w="564876"/>
                <a:gridCol w="564876"/>
                <a:gridCol w="564876"/>
                <a:gridCol w="564876"/>
                <a:gridCol w="564876"/>
                <a:gridCol w="564876"/>
                <a:gridCol w="564876"/>
                <a:gridCol w="564876"/>
                <a:gridCol w="564876"/>
                <a:gridCol w="564876"/>
                <a:gridCol w="564876"/>
                <a:gridCol w="564876"/>
                <a:gridCol w="564876"/>
                <a:gridCol w="564876"/>
                <a:gridCol w="564876"/>
                <a:gridCol w="564876"/>
                <a:gridCol w="564876"/>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40203">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1052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Volume Analysis, By Application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Application,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By Application (Thousand MT)</a:t>
            </a:r>
          </a:p>
        </p:txBody>
      </p:sp>
      <p:graphicFrame>
        <p:nvGraphicFramePr>
          <p:cNvPr id="12" name="Table 11"/>
          <p:cNvGraphicFramePr>
            <a:graphicFrameLocks noGrp="1"/>
          </p:cNvGraphicFramePr>
          <p:nvPr/>
        </p:nvGraphicFramePr>
        <p:xfrm>
          <a:off x="152400" y="1238250"/>
          <a:ext cx="11887203" cy="1514475"/>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Household 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Volume Analysis, By Application</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Food packaging segment is projected to register 5.1X higher volume than non-food packaging segment in 2036. Among flexible plastic packaging by application, food packaging segment is expected to witness the highest CAGR of 6.6% over the forecast period.</a:t>
            </a:r>
          </a:p>
          <a:p>
            <a:pPr algn="l">
              <a:lnSpc>
                <a:spcPct val="110000"/>
              </a:lnSpc>
              <a:spcBef>
                <a:spcPts val="0"/>
              </a:spcBef>
              <a:spcAft>
                <a:spcPts val="500"/>
              </a:spcAft>
            </a:pPr>
            <a:r>
              <a:rPr sz="1150" b="0">
                <a:solidFill>
                  <a:srgbClr val="2E2E2E"/>
                </a:solidFill>
                <a:latin typeface="Calibri"/>
              </a:rPr>
              <a:t>In terms of volume share by application, the food packaging segment is expected to dominate the market, gaining 12 BPS and accounting for 83.5% share by 2036. The non-food packaging segment is expected to lose 12 BPS over the forecast period to account for 16.5% share by 2036.</a:t>
            </a:r>
          </a:p>
          <a:p>
            <a:pPr algn="l">
              <a:lnSpc>
                <a:spcPct val="110000"/>
              </a:lnSpc>
              <a:spcBef>
                <a:spcPts val="0"/>
              </a:spcBef>
              <a:spcAft>
                <a:spcPts val="500"/>
              </a:spcAft>
            </a:pPr>
            <a:r>
              <a:rPr sz="1150" b="0">
                <a:solidFill>
                  <a:srgbClr val="2E2E2E"/>
                </a:solidFill>
                <a:latin typeface="Calibri"/>
              </a:rPr>
              <a:t>Food Packaging gains 12 BPS at 6.6% growth because rising incomes, urbanisation, expanding modern retail and food delivery across India, Indonesia and the Philippines are lifting packaged food consumption. Non-Food Packaging, at 6.5%, grows nearly as fast on personal care and household demand but lacks the same structural shift, so it cedes 12 BPS.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Application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Application (US$ Mn)</a:t>
            </a:r>
          </a:p>
        </p:txBody>
      </p:sp>
      <p:graphicFrame>
        <p:nvGraphicFramePr>
          <p:cNvPr id="13" name="Table 12"/>
          <p:cNvGraphicFramePr>
            <a:graphicFrameLocks noGrp="1"/>
          </p:cNvGraphicFramePr>
          <p:nvPr/>
        </p:nvGraphicFramePr>
        <p:xfrm>
          <a:off x="152400" y="1238250"/>
          <a:ext cx="11887193" cy="2857498"/>
        </p:xfrm>
        <a:graphic>
          <a:graphicData uri="http://schemas.openxmlformats.org/drawingml/2006/table">
            <a:tbl>
              <a:tblPr>
                <a:tableStyleId>{5C22544A-7EE6-4342-B048-85BDC9FD1C3A}</a:tableStyleId>
              </a:tblPr>
              <a:tblGrid>
                <a:gridCol w="2284301"/>
                <a:gridCol w="564876"/>
                <a:gridCol w="564876"/>
                <a:gridCol w="564876"/>
                <a:gridCol w="564876"/>
                <a:gridCol w="564876"/>
                <a:gridCol w="564876"/>
                <a:gridCol w="564876"/>
                <a:gridCol w="564876"/>
                <a:gridCol w="564876"/>
                <a:gridCol w="564876"/>
                <a:gridCol w="564876"/>
                <a:gridCol w="564876"/>
                <a:gridCol w="564876"/>
                <a:gridCol w="564876"/>
                <a:gridCol w="564876"/>
                <a:gridCol w="564876"/>
                <a:gridCol w="564876"/>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40203">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1052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Application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Application,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Application (US$ Mn)</a:t>
            </a:r>
          </a:p>
        </p:txBody>
      </p:sp>
      <p:graphicFrame>
        <p:nvGraphicFramePr>
          <p:cNvPr id="12" name="Table 11"/>
          <p:cNvGraphicFramePr>
            <a:graphicFrameLocks noGrp="1"/>
          </p:cNvGraphicFramePr>
          <p:nvPr/>
        </p:nvGraphicFramePr>
        <p:xfrm>
          <a:off x="152400" y="1238250"/>
          <a:ext cx="11887203" cy="1514475"/>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Household 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Application</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Food packaging segment is projected to register 5.1X higher value than non-food packaging segment in 2036. Among flexible plastic packaging by application, food packaging segment is expected to witness the highest CAGR of 7.8% over the forecast period.</a:t>
            </a:r>
          </a:p>
          <a:p>
            <a:pPr algn="l">
              <a:lnSpc>
                <a:spcPct val="110000"/>
              </a:lnSpc>
              <a:spcBef>
                <a:spcPts val="0"/>
              </a:spcBef>
              <a:spcAft>
                <a:spcPts val="500"/>
              </a:spcAft>
            </a:pPr>
            <a:r>
              <a:rPr sz="1150" b="0">
                <a:solidFill>
                  <a:srgbClr val="2E2E2E"/>
                </a:solidFill>
                <a:latin typeface="Calibri"/>
              </a:rPr>
              <a:t>In terms of value share by application, the food packaging segment is expected to dominate the market, gaining 13 BPS and accounting for 83.5% share by 2036. The non-food packaging segment is expected to lose 13 BPS over the forecast period to account for 16.5% share by 2036.</a:t>
            </a:r>
          </a:p>
          <a:p>
            <a:pPr algn="l">
              <a:lnSpc>
                <a:spcPct val="110000"/>
              </a:lnSpc>
              <a:spcBef>
                <a:spcPts val="0"/>
              </a:spcBef>
              <a:spcAft>
                <a:spcPts val="500"/>
              </a:spcAft>
            </a:pPr>
            <a:r>
              <a:rPr sz="1150" b="0">
                <a:solidFill>
                  <a:srgbClr val="2E2E2E"/>
                </a:solidFill>
                <a:latin typeface="Calibri"/>
              </a:rPr>
              <a:t>Food Packaging gains 13 BPS of value share because processed, frozen and delivered food keeps expanding faster than industrial and household uses. Its 7.8% CAGR compares with a 7.8% market rate, while Non-Food Packaging loses 13 BPS at 7.7% as industrial and household uses grow more slowly than food. In South Asia &amp; Pacific, rising incomes, organised retail and packaged-food penetration drive the mix.</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Application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Application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4840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4363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6743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Non-Food Packaging</a:t>
            </a:r>
          </a:p>
        </p:txBody>
      </p:sp>
      <p:sp>
        <p:nvSpPr>
          <p:cNvPr id="19" name="BPS Value 1"/>
          <p:cNvSpPr txBox="1"/>
          <p:nvPr/>
        </p:nvSpPr>
        <p:spPr>
          <a:xfrm>
            <a:off x="6896100" y="2029351"/>
            <a:ext cx="514350" cy="123825"/>
          </a:xfrm>
          <a:prstGeom prst="rect">
            <a:avLst/>
          </a:prstGeom>
          <a:noFill/>
        </p:spPr>
        <p:txBody>
          <a:bodyPr wrap="none" lIns="0" rIns="0" tIns="0" bIns="0" anchor="ctr">
            <a:spAutoFit/>
          </a:bodyPr>
          <a:lstStyle/>
          <a:p>
            <a:pPr algn="r"/>
            <a:r>
              <a:rPr sz="900" b="1">
                <a:solidFill>
                  <a:srgbClr val="E44D3A"/>
                </a:solidFill>
                <a:latin typeface="Calibri"/>
              </a:rPr>
              <a:t>-13</a:t>
            </a:r>
          </a:p>
        </p:txBody>
      </p:sp>
      <p:sp>
        <p:nvSpPr>
          <p:cNvPr id="20" name="FMI Legend Chip"/>
          <p:cNvSpPr/>
          <p:nvPr/>
        </p:nvSpPr>
        <p:spPr>
          <a:xfrm>
            <a:off x="4928997" y="433459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32982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2536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 Packaging</a:t>
            </a:r>
          </a:p>
        </p:txBody>
      </p:sp>
      <p:sp>
        <p:nvSpPr>
          <p:cNvPr id="23" name="BPS Value 2"/>
          <p:cNvSpPr txBox="1"/>
          <p:nvPr/>
        </p:nvSpPr>
        <p:spPr>
          <a:xfrm>
            <a:off x="6896100" y="4315542"/>
            <a:ext cx="514350" cy="123825"/>
          </a:xfrm>
          <a:prstGeom prst="rect">
            <a:avLst/>
          </a:prstGeom>
          <a:noFill/>
        </p:spPr>
        <p:txBody>
          <a:bodyPr wrap="none" lIns="0" rIns="0" tIns="0" bIns="0" anchor="ctr">
            <a:spAutoFit/>
          </a:bodyPr>
          <a:lstStyle/>
          <a:p>
            <a:pPr algn="r"/>
            <a:r>
              <a:rPr sz="900" b="1">
                <a:solidFill>
                  <a:srgbClr val="2E7D32"/>
                </a:solidFill>
                <a:latin typeface="Calibri"/>
              </a:rPr>
              <a:t>+13</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Application</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application, food packaging segment is expected to witness the highest CAGR of 7.8% over the forecast period. In terms of value share by application, the food packaging segment is expected to dominate the market, gaining 13 BPS and accounting for 83.5% share by 2036.</a:t>
            </a:r>
          </a:p>
          <a:p>
            <a:pPr algn="l">
              <a:lnSpc>
                <a:spcPct val="110000"/>
              </a:lnSpc>
              <a:spcBef>
                <a:spcPts val="0"/>
              </a:spcBef>
              <a:spcAft>
                <a:spcPts val="500"/>
              </a:spcAft>
            </a:pPr>
            <a:r>
              <a:rPr sz="1150" b="0">
                <a:solidFill>
                  <a:srgbClr val="2E2E2E"/>
                </a:solidFill>
                <a:latin typeface="Calibri"/>
              </a:rPr>
              <a:t>The non-food packaging segment is expected to lose 13 BPS over the forecast period to account for 16.5% share by 2036.</a:t>
            </a:r>
          </a:p>
          <a:p>
            <a:pPr algn="l">
              <a:lnSpc>
                <a:spcPct val="110000"/>
              </a:lnSpc>
              <a:spcBef>
                <a:spcPts val="0"/>
              </a:spcBef>
              <a:spcAft>
                <a:spcPts val="500"/>
              </a:spcAft>
            </a:pPr>
            <a:r>
              <a:rPr sz="1150" b="0">
                <a:solidFill>
                  <a:srgbClr val="2E2E2E"/>
                </a:solidFill>
                <a:latin typeface="Calibri"/>
              </a:rPr>
              <a:t>Food Packaging grows slightly faster at 7.8% against 7.7% for Non-Food Packaging because urbanisation, rising incomes, quick commerce and the spread of modern retail move consumers toward packaged snacks, dairy and ready meals. Warm climates and long distribution chains make barrier protection essential for food. Non-food segments such as personal care and household goods also grow strongly, which is why the gap is small.</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Volume, By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YoY Growth,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Volume, By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YoY Heatmap, By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sp>
        <p:nvSpPr>
          <p:cNvPr id="28" name="Rectangle 27"/>
          <p:cNvSpPr/>
          <p:nvPr/>
        </p:nvSpPr>
        <p:spPr>
          <a:xfrm>
            <a:off x="1857375" y="1409700"/>
            <a:ext cx="643890" cy="322659"/>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65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Meat and Processed Meat</a:t>
            </a:r>
          </a:p>
        </p:txBody>
      </p:sp>
      <p:sp>
        <p:nvSpPr>
          <p:cNvPr id="44" name="Rectangle 43"/>
          <p:cNvSpPr/>
          <p:nvPr/>
        </p:nvSpPr>
        <p:spPr>
          <a:xfrm>
            <a:off x="1857375" y="1732359"/>
            <a:ext cx="643890" cy="322659"/>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Poultry</a:t>
            </a:r>
          </a:p>
        </p:txBody>
      </p:sp>
      <p:sp>
        <p:nvSpPr>
          <p:cNvPr id="60" name="Rectangle 59"/>
          <p:cNvSpPr/>
          <p:nvPr/>
        </p:nvSpPr>
        <p:spPr>
          <a:xfrm>
            <a:off x="1857375" y="2055019"/>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E9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65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Fish and Seafood</a:t>
            </a:r>
          </a:p>
        </p:txBody>
      </p:sp>
      <p:sp>
        <p:nvSpPr>
          <p:cNvPr id="76" name="Rectangle 75"/>
          <p:cNvSpPr/>
          <p:nvPr/>
        </p:nvSpPr>
        <p:spPr>
          <a:xfrm>
            <a:off x="1857375" y="2377678"/>
            <a:ext cx="643890" cy="322659"/>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Dairy and Cheese</a:t>
            </a:r>
          </a:p>
        </p:txBody>
      </p:sp>
      <p:sp>
        <p:nvSpPr>
          <p:cNvPr id="92" name="Rectangle 91"/>
          <p:cNvSpPr/>
          <p:nvPr/>
        </p:nvSpPr>
        <p:spPr>
          <a:xfrm>
            <a:off x="1857375" y="2700338"/>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Ready Meals and Prepared Foods</a:t>
            </a:r>
          </a:p>
        </p:txBody>
      </p:sp>
      <p:sp>
        <p:nvSpPr>
          <p:cNvPr id="108" name="Rectangle 107"/>
          <p:cNvSpPr/>
          <p:nvPr/>
        </p:nvSpPr>
        <p:spPr>
          <a:xfrm>
            <a:off x="1857375" y="3022997"/>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Bakery, Confectionery and Snacks</a:t>
            </a:r>
          </a:p>
        </p:txBody>
      </p:sp>
      <p:sp>
        <p:nvSpPr>
          <p:cNvPr id="124" name="Rectangle 123"/>
          <p:cNvSpPr/>
          <p:nvPr/>
        </p:nvSpPr>
        <p:spPr>
          <a:xfrm>
            <a:off x="1857375" y="3345656"/>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Dry Foods and Powders</a:t>
            </a:r>
          </a:p>
        </p:txBody>
      </p:sp>
      <p:sp>
        <p:nvSpPr>
          <p:cNvPr id="140" name="Rectangle 139"/>
          <p:cNvSpPr/>
          <p:nvPr/>
        </p:nvSpPr>
        <p:spPr>
          <a:xfrm>
            <a:off x="1857375" y="3668316"/>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 Food</a:t>
            </a:r>
          </a:p>
        </p:txBody>
      </p:sp>
      <p:sp>
        <p:nvSpPr>
          <p:cNvPr id="156" name="Rectangle 155"/>
          <p:cNvSpPr/>
          <p:nvPr/>
        </p:nvSpPr>
        <p:spPr>
          <a:xfrm>
            <a:off x="1857375" y="3990975"/>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0E6E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Other Food Products (Fresh Produce, Plant-Based Foods, Condiments and Dressings, Foodservice Products)</a:t>
            </a:r>
          </a:p>
        </p:txBody>
      </p:sp>
      <p:sp>
        <p:nvSpPr>
          <p:cNvPr id="172" name="Rectangle 171"/>
          <p:cNvSpPr/>
          <p:nvPr/>
        </p:nvSpPr>
        <p:spPr>
          <a:xfrm>
            <a:off x="1857375" y="4313634"/>
            <a:ext cx="643890" cy="322659"/>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88" name="Rectangle 187"/>
          <p:cNvSpPr/>
          <p:nvPr/>
        </p:nvSpPr>
        <p:spPr>
          <a:xfrm>
            <a:off x="1857375" y="4636294"/>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73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Pharmaceutical and Healthcare</a:t>
            </a:r>
          </a:p>
        </p:txBody>
      </p:sp>
      <p:sp>
        <p:nvSpPr>
          <p:cNvPr id="204" name="Rectangle 203"/>
          <p:cNvSpPr/>
          <p:nvPr/>
        </p:nvSpPr>
        <p:spPr>
          <a:xfrm>
            <a:off x="1857375" y="4958953"/>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Personal Care and Cosmetics</a:t>
            </a:r>
          </a:p>
        </p:txBody>
      </p:sp>
      <p:sp>
        <p:nvSpPr>
          <p:cNvPr id="220" name="Rectangle 219"/>
          <p:cNvSpPr/>
          <p:nvPr/>
        </p:nvSpPr>
        <p:spPr>
          <a:xfrm>
            <a:off x="1857375" y="5281612"/>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Household Care</a:t>
            </a:r>
          </a:p>
        </p:txBody>
      </p:sp>
      <p:sp>
        <p:nvSpPr>
          <p:cNvPr id="236" name="Rectangle 235"/>
          <p:cNvSpPr/>
          <p:nvPr/>
        </p:nvSpPr>
        <p:spPr>
          <a:xfrm>
            <a:off x="1857375" y="5604272"/>
            <a:ext cx="643890" cy="322659"/>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Chemicals and Agrochemicals</a:t>
            </a:r>
          </a:p>
        </p:txBody>
      </p:sp>
      <p:sp>
        <p:nvSpPr>
          <p:cNvPr id="252" name="Rectangle 251"/>
          <p:cNvSpPr/>
          <p:nvPr/>
        </p:nvSpPr>
        <p:spPr>
          <a:xfrm>
            <a:off x="1857375" y="5926931"/>
            <a:ext cx="643890" cy="322659"/>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Electronics and Technical Products</a:t>
            </a:r>
          </a:p>
        </p:txBody>
      </p:sp>
      <p:sp>
        <p:nvSpPr>
          <p:cNvPr id="268" name="Rectangle 267"/>
          <p:cNvSpPr/>
          <p:nvPr/>
        </p:nvSpPr>
        <p:spPr>
          <a:xfrm>
            <a:off x="1857375" y="6249591"/>
            <a:ext cx="643890" cy="322659"/>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sp>
        <p:nvSpPr>
          <p:cNvPr id="28" name="Rectangle 27"/>
          <p:cNvSpPr/>
          <p:nvPr/>
        </p:nvSpPr>
        <p:spPr>
          <a:xfrm>
            <a:off x="1857375" y="1409700"/>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Meat and Processed Meat</a:t>
            </a:r>
          </a:p>
        </p:txBody>
      </p:sp>
      <p:sp>
        <p:nvSpPr>
          <p:cNvPr id="44" name="Rectangle 43"/>
          <p:cNvSpPr/>
          <p:nvPr/>
        </p:nvSpPr>
        <p:spPr>
          <a:xfrm>
            <a:off x="1857375" y="1732359"/>
            <a:ext cx="643890" cy="322659"/>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0D50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Poultry</a:t>
            </a:r>
          </a:p>
        </p:txBody>
      </p:sp>
      <p:sp>
        <p:nvSpPr>
          <p:cNvPr id="60" name="Rectangle 59"/>
          <p:cNvSpPr/>
          <p:nvPr/>
        </p:nvSpPr>
        <p:spPr>
          <a:xfrm>
            <a:off x="1857375" y="2055019"/>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23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Fish and Seafood</a:t>
            </a:r>
          </a:p>
        </p:txBody>
      </p:sp>
      <p:sp>
        <p:nvSpPr>
          <p:cNvPr id="76" name="Rectangle 75"/>
          <p:cNvSpPr/>
          <p:nvPr/>
        </p:nvSpPr>
        <p:spPr>
          <a:xfrm>
            <a:off x="1857375" y="2377678"/>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Dairy and Cheese</a:t>
            </a:r>
          </a:p>
        </p:txBody>
      </p:sp>
      <p:sp>
        <p:nvSpPr>
          <p:cNvPr id="92" name="Rectangle 91"/>
          <p:cNvSpPr/>
          <p:nvPr/>
        </p:nvSpPr>
        <p:spPr>
          <a:xfrm>
            <a:off x="1857375" y="2700338"/>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Ready Meals and Prepared Foods</a:t>
            </a:r>
          </a:p>
        </p:txBody>
      </p:sp>
      <p:sp>
        <p:nvSpPr>
          <p:cNvPr id="108" name="Rectangle 107"/>
          <p:cNvSpPr/>
          <p:nvPr/>
        </p:nvSpPr>
        <p:spPr>
          <a:xfrm>
            <a:off x="1857375" y="3022997"/>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Bakery, Confectionery and Snacks</a:t>
            </a:r>
          </a:p>
        </p:txBody>
      </p:sp>
      <p:sp>
        <p:nvSpPr>
          <p:cNvPr id="124" name="Rectangle 123"/>
          <p:cNvSpPr/>
          <p:nvPr/>
        </p:nvSpPr>
        <p:spPr>
          <a:xfrm>
            <a:off x="1857375" y="3345656"/>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Dry Foods and Powders</a:t>
            </a:r>
          </a:p>
        </p:txBody>
      </p:sp>
      <p:sp>
        <p:nvSpPr>
          <p:cNvPr id="140" name="Rectangle 139"/>
          <p:cNvSpPr/>
          <p:nvPr/>
        </p:nvSpPr>
        <p:spPr>
          <a:xfrm>
            <a:off x="1857375" y="3668316"/>
            <a:ext cx="643890" cy="322659"/>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 Food</a:t>
            </a:r>
          </a:p>
        </p:txBody>
      </p:sp>
      <p:sp>
        <p:nvSpPr>
          <p:cNvPr id="156" name="Rectangle 155"/>
          <p:cNvSpPr/>
          <p:nvPr/>
        </p:nvSpPr>
        <p:spPr>
          <a:xfrm>
            <a:off x="1857375" y="3990975"/>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0B2E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0D50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Other Food Products (Fresh Produce, Plant-Based Foods, Condiments and Dressings, Foodservice Products)</a:t>
            </a:r>
          </a:p>
        </p:txBody>
      </p:sp>
      <p:sp>
        <p:nvSpPr>
          <p:cNvPr id="172" name="Rectangle 171"/>
          <p:cNvSpPr/>
          <p:nvPr/>
        </p:nvSpPr>
        <p:spPr>
          <a:xfrm>
            <a:off x="1857375" y="4313634"/>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88" name="Rectangle 187"/>
          <p:cNvSpPr/>
          <p:nvPr/>
        </p:nvSpPr>
        <p:spPr>
          <a:xfrm>
            <a:off x="1857375" y="4636294"/>
            <a:ext cx="643890" cy="322659"/>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Pharmaceutical and Healthcare</a:t>
            </a:r>
          </a:p>
        </p:txBody>
      </p:sp>
      <p:sp>
        <p:nvSpPr>
          <p:cNvPr id="204" name="Rectangle 203"/>
          <p:cNvSpPr/>
          <p:nvPr/>
        </p:nvSpPr>
        <p:spPr>
          <a:xfrm>
            <a:off x="1857375" y="4958953"/>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Personal Care and Cosmetics</a:t>
            </a:r>
          </a:p>
        </p:txBody>
      </p:sp>
      <p:sp>
        <p:nvSpPr>
          <p:cNvPr id="220" name="Rectangle 219"/>
          <p:cNvSpPr/>
          <p:nvPr/>
        </p:nvSpPr>
        <p:spPr>
          <a:xfrm>
            <a:off x="1857375" y="5281612"/>
            <a:ext cx="643890" cy="322659"/>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1E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Household Care</a:t>
            </a:r>
          </a:p>
        </p:txBody>
      </p:sp>
      <p:sp>
        <p:nvSpPr>
          <p:cNvPr id="236" name="Rectangle 235"/>
          <p:cNvSpPr/>
          <p:nvPr/>
        </p:nvSpPr>
        <p:spPr>
          <a:xfrm>
            <a:off x="1857375" y="5604272"/>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Chemicals and Agrochemicals</a:t>
            </a:r>
          </a:p>
        </p:txBody>
      </p:sp>
      <p:sp>
        <p:nvSpPr>
          <p:cNvPr id="252" name="Rectangle 251"/>
          <p:cNvSpPr/>
          <p:nvPr/>
        </p:nvSpPr>
        <p:spPr>
          <a:xfrm>
            <a:off x="1857375" y="5926931"/>
            <a:ext cx="643890" cy="322659"/>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Electronics and Technical Products</a:t>
            </a:r>
          </a:p>
        </p:txBody>
      </p:sp>
      <p:sp>
        <p:nvSpPr>
          <p:cNvPr id="268" name="Rectangle 267"/>
          <p:cNvSpPr/>
          <p:nvPr/>
        </p:nvSpPr>
        <p:spPr>
          <a:xfrm>
            <a:off x="1857375" y="6249591"/>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2E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9%</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Barrier Level Vs Application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Vs Application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Barrier Level Vs Application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Barrier Level Vs Application,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Barrier Level Vs Application segment categorizes the market by barrier level vs application.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Medium-Barrier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5,045</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10,365</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7.5%</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High-Barrier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4,978</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10,907</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8.2%</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Low-Barrier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3,330</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6,947</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7.6%</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Ultra-High-Barrier Films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2,109</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4,468</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7.8%</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barrier level vs application, high-barrier films segment is expected to witness the highest CAGR of 8.2% over the forecast period. In terms of value share by barrier level vs application, the high-barrier films segment is expected to dominate the market, gaining 117 BPS and accounting for 33.4%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High-barrier films segment is projected to register 1.1X higher value than medium-barrier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Medium-Barrier Films: </a:t>
            </a:r>
            <a:r>
              <a:rPr sz="1100" b="0">
                <a:solidFill>
                  <a:srgbClr val="2E2E2E"/>
                </a:solidFill>
                <a:latin typeface="Calibri"/>
              </a:rPr>
              <a:t>33% of 2026 value · 7.5%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High-Barrier Films: </a:t>
            </a:r>
            <a:r>
              <a:rPr sz="1100" b="0">
                <a:solidFill>
                  <a:srgbClr val="2E2E2E"/>
                </a:solidFill>
                <a:latin typeface="Calibri"/>
              </a:rPr>
              <a:t>32% of 2026 value · 8.2%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Low-Barrier Films: </a:t>
            </a:r>
            <a:r>
              <a:rPr sz="1100" b="0">
                <a:solidFill>
                  <a:srgbClr val="2E2E2E"/>
                </a:solidFill>
                <a:latin typeface="Calibri"/>
              </a:rPr>
              <a:t>22% of 2026 value · 7.6%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Ultra-High-Barrier Films: </a:t>
            </a:r>
            <a:r>
              <a:rPr sz="1100" b="0">
                <a:solidFill>
                  <a:srgbClr val="2E2E2E"/>
                </a:solidFill>
                <a:latin typeface="Calibri"/>
              </a:rPr>
              <a:t>14% of 2026 value · 7.8%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Barrier Level Vs Application split shows how demand is distributed across barrier level vs application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Barrier Level Vs Application segment is projected to grow at a CAGR of 7.8%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Structure &amp; Attractiveness, By Barrier Level Vs Application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Barrier Level Vs Application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Barrier Level Vs Application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High-barrier films followed by medium-barrier films are expected to be the two most attractive barrier level vs application segments in the South Asia &amp; Pacific flexible plastic packaging market in terms of value over the forecast period. High-Barrier films and Medium-Barrier films exhibit a CAGR index of 105 and 96 and a market share index of 129 and 130 respectively, against the segment average of 100. The ultra-high-barrier films segment is expected to be less attractive as compared to other segments over the forecast period, owing to its lower CAGR and incremental opportunity. High-Barrier Films rank most attractive because they combine a 32.2% share with the fastest growth at 8.2%, ahead of the 7.8% market. Longer shelf life for protein, cheese, snacks and ready meals drives upgrades, helped by rising incomes, organised retail expansion and fast-growing packaged-food consumption, while Medium-Barrier Films at 7.5% grow slowest despite their size.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Absolute $ Opportunity Analysis, By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Barrier Level Vs Application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Low-Barrier Films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Medium-Barrier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High-Barrier Films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Incremental $ Opportunity (US$ Mn), 2026-2036, By Ultra-High-Barrier Films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Volume Analysis, By Barrier Level Vs Application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Barrier Level Vs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Volume Analysis, By Barrier Level Vs Application</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High-barrier films segment is projected to register 1.1X higher volume than medium-barrier films segment in 2036. Among flexible plastic packaging by barrier level vs application, high-barrier films segment is expected to witness the highest CAGR of 6.9% over the forecast period.</a:t>
            </a:r>
          </a:p>
          <a:p>
            <a:pPr algn="l">
              <a:lnSpc>
                <a:spcPct val="110000"/>
              </a:lnSpc>
              <a:spcBef>
                <a:spcPts val="0"/>
              </a:spcBef>
              <a:spcAft>
                <a:spcPts val="500"/>
              </a:spcAft>
            </a:pPr>
            <a:r>
              <a:rPr sz="1100" b="0">
                <a:solidFill>
                  <a:srgbClr val="2E2E2E"/>
                </a:solidFill>
                <a:latin typeface="Calibri"/>
              </a:rPr>
              <a:t>In terms of volume share by barrier level vs application, the high-barrier films segment is expected to dominate the market, gaining 115 BPS and accounting for 33.3% share by 2036. The medium-barrier films segment is expected to lose 89 BPS over the forecast period to account for 31.6% share by 2036.</a:t>
            </a:r>
          </a:p>
          <a:p>
            <a:pPr algn="l">
              <a:lnSpc>
                <a:spcPct val="110000"/>
              </a:lnSpc>
              <a:spcBef>
                <a:spcPts val="0"/>
              </a:spcBef>
              <a:spcAft>
                <a:spcPts val="500"/>
              </a:spcAft>
            </a:pPr>
            <a:r>
              <a:rPr sz="1100" b="0">
                <a:solidFill>
                  <a:srgbClr val="2E2E2E"/>
                </a:solidFill>
                <a:latin typeface="Calibri"/>
              </a:rPr>
              <a:t>High-Barrier Films gains 115 BPS of volume share because protein, ready meals and e-commerce-delivered food need longer shelf life and lower spoilage, which pulls demand up from medium-barrier grades. Its 6.9% CAGR compares with a 6.5% market rate, while Medium-Barrier Films loses 89 BPS at 6.2% as demand polarises between cost-led low-barrier grades and performance-led high-barrier grades. In South Asia &amp; Pacific, rising incomes, organised retail and packaged-food penetration drive the mix.</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Analysis, By Barrier Level Vs Application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Barrier Level Vs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By Barrier Level Vs Application (US$ Mn)</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Value Analysis, By Barrier Level Vs Application</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High-barrier films segment is projected to register 1.1X higher value than medium-barrier films segment in 2036. Among flexible plastic packaging by barrier level vs application, high-barrier films segment is expected to witness the highest CAGR of 8.2% over the forecast period.</a:t>
            </a:r>
          </a:p>
          <a:p>
            <a:pPr algn="l">
              <a:lnSpc>
                <a:spcPct val="110000"/>
              </a:lnSpc>
              <a:spcBef>
                <a:spcPts val="0"/>
              </a:spcBef>
              <a:spcAft>
                <a:spcPts val="500"/>
              </a:spcAft>
            </a:pPr>
            <a:r>
              <a:rPr sz="1100" b="0">
                <a:solidFill>
                  <a:srgbClr val="2E2E2E"/>
                </a:solidFill>
                <a:latin typeface="Calibri"/>
              </a:rPr>
              <a:t>In terms of value share by barrier level vs application, the high-barrier films segment is expected to dominate the market, gaining 117 BPS and accounting for 33.4% share by 2036. The medium-barrier films segment is expected to lose 91 BPS over the forecast period to account for 31.7% share by 2036.</a:t>
            </a:r>
          </a:p>
          <a:p>
            <a:pPr algn="l">
              <a:lnSpc>
                <a:spcPct val="110000"/>
              </a:lnSpc>
              <a:spcBef>
                <a:spcPts val="0"/>
              </a:spcBef>
              <a:spcAft>
                <a:spcPts val="500"/>
              </a:spcAft>
            </a:pPr>
            <a:r>
              <a:rPr sz="1100" b="0">
                <a:solidFill>
                  <a:srgbClr val="2E2E2E"/>
                </a:solidFill>
                <a:latin typeface="Calibri"/>
              </a:rPr>
              <a:t>High-Barrier Films gain 117 BPS and grow at 8.2% because rising packaged food, dairy and ready-meal consumption, long supply chains and warm, humid conditions require stronger oxygen and moisture protection. Medium-Barrier Films lose 91 BPS at 7.5% as converters and brands upgrade. Low-Barrier Films slip 29 BPS at 7.6%, while Ultra-High-Barrier Films hold steady.</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Market Value &amp; Share Shift, By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Barrier Level Vs Application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Composition, By Barrier Level Vs Application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8374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789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027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Ultra-High-Barrier Films</a:t>
            </a:r>
          </a:p>
        </p:txBody>
      </p:sp>
      <p:sp>
        <p:nvSpPr>
          <p:cNvPr id="19" name="BPS Value 1"/>
          <p:cNvSpPr txBox="1"/>
          <p:nvPr/>
        </p:nvSpPr>
        <p:spPr>
          <a:xfrm>
            <a:off x="6896100" y="1964692"/>
            <a:ext cx="514350" cy="123825"/>
          </a:xfrm>
          <a:prstGeom prst="rect">
            <a:avLst/>
          </a:prstGeom>
          <a:noFill/>
        </p:spPr>
        <p:txBody>
          <a:bodyPr wrap="none" lIns="0" rIns="0" tIns="0" bIns="0" anchor="ctr">
            <a:spAutoFit/>
          </a:bodyPr>
          <a:lstStyle/>
          <a:p>
            <a:pPr algn="r"/>
            <a:r>
              <a:rPr sz="900" b="1">
                <a:solidFill>
                  <a:srgbClr val="2E7D32"/>
                </a:solidFill>
                <a:latin typeface="Calibri"/>
              </a:rPr>
              <a:t>+3</a:t>
            </a:r>
          </a:p>
        </p:txBody>
      </p:sp>
      <p:sp>
        <p:nvSpPr>
          <p:cNvPr id="20" name="FMI Legend Chip"/>
          <p:cNvSpPr/>
          <p:nvPr/>
        </p:nvSpPr>
        <p:spPr>
          <a:xfrm>
            <a:off x="4928997" y="278212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77735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0115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Low-Barrier Films</a:t>
            </a:r>
          </a:p>
        </p:txBody>
      </p:sp>
      <p:sp>
        <p:nvSpPr>
          <p:cNvPr id="23" name="BPS Value 2"/>
          <p:cNvSpPr txBox="1"/>
          <p:nvPr/>
        </p:nvSpPr>
        <p:spPr>
          <a:xfrm>
            <a:off x="6896100" y="2763072"/>
            <a:ext cx="514350" cy="123825"/>
          </a:xfrm>
          <a:prstGeom prst="rect">
            <a:avLst/>
          </a:prstGeom>
          <a:noFill/>
        </p:spPr>
        <p:txBody>
          <a:bodyPr wrap="none" lIns="0" rIns="0" tIns="0" bIns="0" anchor="ctr">
            <a:spAutoFit/>
          </a:bodyPr>
          <a:lstStyle/>
          <a:p>
            <a:pPr algn="r"/>
            <a:r>
              <a:rPr sz="900" b="1">
                <a:solidFill>
                  <a:srgbClr val="E44D3A"/>
                </a:solidFill>
                <a:latin typeface="Calibri"/>
              </a:rPr>
              <a:t>-29</a:t>
            </a:r>
          </a:p>
        </p:txBody>
      </p:sp>
      <p:sp>
        <p:nvSpPr>
          <p:cNvPr id="24" name="FMI Legend Chip"/>
          <p:cNvSpPr/>
          <p:nvPr/>
        </p:nvSpPr>
        <p:spPr>
          <a:xfrm>
            <a:off x="4928997" y="399298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8822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9120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Medium-Barrier Films</a:t>
            </a:r>
          </a:p>
        </p:txBody>
      </p:sp>
      <p:sp>
        <p:nvSpPr>
          <p:cNvPr id="27" name="BPS Value 3"/>
          <p:cNvSpPr txBox="1"/>
          <p:nvPr/>
        </p:nvSpPr>
        <p:spPr>
          <a:xfrm>
            <a:off x="6896100" y="3973936"/>
            <a:ext cx="514350" cy="123825"/>
          </a:xfrm>
          <a:prstGeom prst="rect">
            <a:avLst/>
          </a:prstGeom>
          <a:noFill/>
        </p:spPr>
        <p:txBody>
          <a:bodyPr wrap="none" lIns="0" rIns="0" tIns="0" bIns="0" anchor="ctr">
            <a:spAutoFit/>
          </a:bodyPr>
          <a:lstStyle/>
          <a:p>
            <a:pPr algn="r"/>
            <a:r>
              <a:rPr sz="900" b="1">
                <a:solidFill>
                  <a:srgbClr val="E44D3A"/>
                </a:solidFill>
                <a:latin typeface="Calibri"/>
              </a:rPr>
              <a:t>-91</a:t>
            </a:r>
          </a:p>
        </p:txBody>
      </p:sp>
      <p:sp>
        <p:nvSpPr>
          <p:cNvPr id="28" name="FMI Legend Chip"/>
          <p:cNvSpPr/>
          <p:nvPr/>
        </p:nvSpPr>
        <p:spPr>
          <a:xfrm>
            <a:off x="4928997" y="548079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47603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39983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High-Barrier Films</a:t>
            </a:r>
          </a:p>
        </p:txBody>
      </p:sp>
      <p:sp>
        <p:nvSpPr>
          <p:cNvPr id="31" name="BPS Value 4"/>
          <p:cNvSpPr txBox="1"/>
          <p:nvPr/>
        </p:nvSpPr>
        <p:spPr>
          <a:xfrm>
            <a:off x="6896100" y="5461747"/>
            <a:ext cx="514350" cy="123825"/>
          </a:xfrm>
          <a:prstGeom prst="rect">
            <a:avLst/>
          </a:prstGeom>
          <a:noFill/>
        </p:spPr>
        <p:txBody>
          <a:bodyPr wrap="none" lIns="0" rIns="0" tIns="0" bIns="0" anchor="ctr">
            <a:spAutoFit/>
          </a:bodyPr>
          <a:lstStyle/>
          <a:p>
            <a:pPr algn="r"/>
            <a:r>
              <a:rPr sz="900" b="1">
                <a:solidFill>
                  <a:srgbClr val="2E7D32"/>
                </a:solidFill>
                <a:latin typeface="Calibri"/>
              </a:rPr>
              <a:t>+117</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South Asia &amp; Pacific Read-out, By Barrier Level Vs Application</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barrier level vs application, high-barrier films segment is expected to witness the highest CAGR of 8.2% over the forecast period. In terms of value share by barrier level vs application, the high-barrier films segment is expected to dominate the market, gaining 117 BPS and accounting for 33.4% share by 2036.</a:t>
            </a:r>
          </a:p>
          <a:p>
            <a:pPr algn="l">
              <a:lnSpc>
                <a:spcPct val="110000"/>
              </a:lnSpc>
              <a:spcBef>
                <a:spcPts val="0"/>
              </a:spcBef>
              <a:spcAft>
                <a:spcPts val="500"/>
              </a:spcAft>
            </a:pPr>
            <a:r>
              <a:rPr sz="1150" b="0">
                <a:solidFill>
                  <a:srgbClr val="2E2E2E"/>
                </a:solidFill>
                <a:latin typeface="Calibri"/>
              </a:rPr>
              <a:t>The medium-barrier films segment is expected to lose 91 BPS over the forecast period to account for 31.7% share by 2036.</a:t>
            </a:r>
          </a:p>
          <a:p>
            <a:pPr algn="l">
              <a:lnSpc>
                <a:spcPct val="110000"/>
              </a:lnSpc>
              <a:spcBef>
                <a:spcPts val="0"/>
              </a:spcBef>
              <a:spcAft>
                <a:spcPts val="500"/>
              </a:spcAft>
            </a:pPr>
            <a:r>
              <a:rPr sz="1150" b="0">
                <a:solidFill>
                  <a:srgbClr val="2E2E2E"/>
                </a:solidFill>
                <a:latin typeface="Calibri"/>
              </a:rPr>
              <a:t>High-Barrier Films grow fastest at 8.2% against the 7.8% market because fresh protein, cheese, snacks and ready meals need longer shelf life and less food waste, and brand owners keep upgrading packs. Demand is reinforced by rising incomes, organised retail expansion and fast-growing packaged-food consumption, while Medium-Barrier Films at 7.5% lose share to the trade-up.</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Volume, By Barrier Level Vs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Vs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YoY Growth,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Volume, By Barrier Level Vs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Vs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Volume YoY Heatmap, By Barrier Level Vs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28" name="Rectangle 27"/>
          <p:cNvSpPr/>
          <p:nvPr/>
        </p:nvSpPr>
        <p:spPr>
          <a:xfrm>
            <a:off x="1857375" y="1409700"/>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a:t>
            </a:r>
          </a:p>
        </p:txBody>
      </p:sp>
      <p:sp>
        <p:nvSpPr>
          <p:cNvPr id="44" name="Rectangle 43"/>
          <p:cNvSpPr/>
          <p:nvPr/>
        </p:nvSpPr>
        <p:spPr>
          <a:xfrm>
            <a:off x="1857375" y="1839912"/>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a:t>
            </a:r>
          </a:p>
        </p:txBody>
      </p:sp>
      <p:sp>
        <p:nvSpPr>
          <p:cNvPr id="60" name="Rectangle 59"/>
          <p:cNvSpPr/>
          <p:nvPr/>
        </p:nvSpPr>
        <p:spPr>
          <a:xfrm>
            <a:off x="1857375" y="2270125"/>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76" name="Rectangle 75"/>
          <p:cNvSpPr/>
          <p:nvPr/>
        </p:nvSpPr>
        <p:spPr>
          <a:xfrm>
            <a:off x="1857375" y="2700338"/>
            <a:ext cx="643890" cy="430212"/>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92" name="Rectangle 91"/>
          <p:cNvSpPr/>
          <p:nvPr/>
        </p:nvSpPr>
        <p:spPr>
          <a:xfrm>
            <a:off x="1857375" y="3130550"/>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D52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08" name="Rectangle 107"/>
          <p:cNvSpPr/>
          <p:nvPr/>
        </p:nvSpPr>
        <p:spPr>
          <a:xfrm>
            <a:off x="185737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124" name="Rectangle 123"/>
          <p:cNvSpPr/>
          <p:nvPr/>
        </p:nvSpPr>
        <p:spPr>
          <a:xfrm>
            <a:off x="1857375" y="3990975"/>
            <a:ext cx="643890" cy="430212"/>
          </a:xfrm>
          <a:prstGeom prst="rect">
            <a:avLst/>
          </a:prstGeom>
          <a:solidFill>
            <a:srgbClr val="65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15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40" name="Rectangle 139"/>
          <p:cNvSpPr/>
          <p:nvPr/>
        </p:nvSpPr>
        <p:spPr>
          <a:xfrm>
            <a:off x="1857375" y="4421188"/>
            <a:ext cx="643890" cy="430212"/>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56" name="Rectangle 155"/>
          <p:cNvSpPr/>
          <p:nvPr/>
        </p:nvSpPr>
        <p:spPr>
          <a:xfrm>
            <a:off x="1857375" y="4851400"/>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172" name="Rectangle 171"/>
          <p:cNvSpPr/>
          <p:nvPr/>
        </p:nvSpPr>
        <p:spPr>
          <a:xfrm>
            <a:off x="1857375" y="5281612"/>
            <a:ext cx="643890" cy="430212"/>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88" name="Rectangle 187"/>
          <p:cNvSpPr/>
          <p:nvPr/>
        </p:nvSpPr>
        <p:spPr>
          <a:xfrm>
            <a:off x="1857375" y="5711825"/>
            <a:ext cx="643890" cy="43021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0C41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204" name="Rectangle 203"/>
          <p:cNvSpPr/>
          <p:nvPr/>
        </p:nvSpPr>
        <p:spPr>
          <a:xfrm>
            <a:off x="1857375" y="6142037"/>
            <a:ext cx="643890" cy="430212"/>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Barrier Level Vs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Vs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Growth,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South Asia &amp; Pacific Market Value, By Barrier Level Vs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Vs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 Value YoY Heatmap, By Barrier Level Vs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28" name="Rectangle 27"/>
          <p:cNvSpPr/>
          <p:nvPr/>
        </p:nvSpPr>
        <p:spPr>
          <a:xfrm>
            <a:off x="1857375" y="1409700"/>
            <a:ext cx="643890" cy="430212"/>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a:t>
            </a:r>
          </a:p>
        </p:txBody>
      </p:sp>
      <p:sp>
        <p:nvSpPr>
          <p:cNvPr id="44" name="Rectangle 43"/>
          <p:cNvSpPr/>
          <p:nvPr/>
        </p:nvSpPr>
        <p:spPr>
          <a:xfrm>
            <a:off x="1857375" y="1839912"/>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E67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E68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a:t>
            </a:r>
          </a:p>
        </p:txBody>
      </p:sp>
      <p:sp>
        <p:nvSpPr>
          <p:cNvPr id="60" name="Rectangle 59"/>
          <p:cNvSpPr/>
          <p:nvPr/>
        </p:nvSpPr>
        <p:spPr>
          <a:xfrm>
            <a:off x="1857375" y="2270125"/>
            <a:ext cx="643890" cy="430212"/>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76" name="Rectangle 75"/>
          <p:cNvSpPr/>
          <p:nvPr/>
        </p:nvSpPr>
        <p:spPr>
          <a:xfrm>
            <a:off x="1857375" y="2700338"/>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92" name="Rectangle 91"/>
          <p:cNvSpPr/>
          <p:nvPr/>
        </p:nvSpPr>
        <p:spPr>
          <a:xfrm>
            <a:off x="1857375" y="3130550"/>
            <a:ext cx="643890" cy="43021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08" name="Rectangle 107"/>
          <p:cNvSpPr/>
          <p:nvPr/>
        </p:nvSpPr>
        <p:spPr>
          <a:xfrm>
            <a:off x="185737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124" name="Rectangle 123"/>
          <p:cNvSpPr/>
          <p:nvPr/>
        </p:nvSpPr>
        <p:spPr>
          <a:xfrm>
            <a:off x="1857375" y="399097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40" name="Rectangle 139"/>
          <p:cNvSpPr/>
          <p:nvPr/>
        </p:nvSpPr>
        <p:spPr>
          <a:xfrm>
            <a:off x="1857375" y="4421188"/>
            <a:ext cx="643890" cy="430212"/>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56" name="Rectangle 155"/>
          <p:cNvSpPr/>
          <p:nvPr/>
        </p:nvSpPr>
        <p:spPr>
          <a:xfrm>
            <a:off x="1857375" y="4851400"/>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172" name="Rectangle 171"/>
          <p:cNvSpPr/>
          <p:nvPr/>
        </p:nvSpPr>
        <p:spPr>
          <a:xfrm>
            <a:off x="1857375" y="5281612"/>
            <a:ext cx="643890" cy="430212"/>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88" name="Rectangle 187"/>
          <p:cNvSpPr/>
          <p:nvPr/>
        </p:nvSpPr>
        <p:spPr>
          <a:xfrm>
            <a:off x="1857375" y="5711825"/>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204" name="Rectangle 203"/>
          <p:cNvSpPr/>
          <p:nvPr/>
        </p:nvSpPr>
        <p:spPr>
          <a:xfrm>
            <a:off x="1857375" y="6142037"/>
            <a:ext cx="643890" cy="43021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0C49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37045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2675255"/>
            <a:ext cx="7239000" cy="514350"/>
          </a:xfrm>
          <a:prstGeom prst="rect">
            <a:avLst/>
          </a:prstGeom>
          <a:noFill/>
        </p:spPr>
        <p:txBody>
          <a:bodyPr wrap="square" lIns="0" rIns="0" tIns="0">
            <a:spAutoFit/>
          </a:bodyPr>
          <a:lstStyle/>
          <a:p>
            <a:r>
              <a:rPr sz="3000" b="1" cap="all" spc="400">
                <a:solidFill>
                  <a:srgbClr val="FFFFFF"/>
                </a:solidFill>
                <a:latin typeface="Calibri"/>
              </a:rPr>
              <a:t>Country Market Outlook</a:t>
            </a:r>
          </a:p>
        </p:txBody>
      </p:sp>
      <p:sp>
        <p:nvSpPr>
          <p:cNvPr id="7" name="TextBox 6"/>
          <p:cNvSpPr txBox="1"/>
          <p:nvPr/>
        </p:nvSpPr>
        <p:spPr>
          <a:xfrm>
            <a:off x="914400" y="3380105"/>
            <a:ext cx="7124700" cy="25361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Overview (Volume &amp; Value)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Segment Overview (Volume &amp; Value)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Principal Material / Barrier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Material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Barrier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Application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Barrier Level Vs Application</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India</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Segments (Value)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India market in volume: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1,811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3,730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5.8%</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+30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India's flexible plastic packaging market expands at 6.8% CAGR through 2036, outpacing the South Asia &amp; Pacific benchmark of 6.5% by 30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India holds 34.9% of the South Asia &amp; Pacific flexible plastic packaging market in 2026; by 2036 that share moves to 35.9%.</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1,806 Thousand MT between 2026 and 2036 the India market grows to 1.9×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India market in value: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4,570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10,589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6.2%</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8.0%</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+26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India's flexible plastic packaging market expands at 8.0% CAGR through 2036, outpacing the South Asia &amp; Pacific benchmark of 7.8% by 26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India holds 31.6% of the South Asia &amp; Pacific flexible plastic packaging market in 2026; by 2036 that share moves to 32.4%.</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India is expected to account for US$ 10,589 Mn by 2036 at a CAGR of 8.0% over the forecast period. India is expected to create an incremental opportunity of US$ 6,019 Mn for the overall flexible plastic packaging market from 2025 to 2036. India grows at 8.0% in value and 6.8% in volume because rising incomes, urbanisation, rapid modern retail and e-commerce growth, a large dairy and snack industry and a pharma manufacturing base all lift flexible packaging demand. Average price rises from US$2,543 to US$2,839 per MT, still among the lowest in the region, with value ahead of volume as barrier and pouch formats gain mix.</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India's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4,891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2,711 US$ Mn (55% share), ahead of 'Premade Pouches &amp; Bags' (1,285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1,470 US$ Mn (30% share), ahead of 'PP-Based' (1,005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1,485 US$ Mn (30% share), ahead of 'Laminated Films' (1,246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1,572 US$ Mn (32% share), ahead of 'High-Barrier Films' (1,496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4,064 US$ Mn (83% share), ahead of 'Non-Food Packaging' (827.7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1,572 US$ Mn (32% share), ahead of 'High-Barrier Films' (1,496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Segment Overview (Volume &amp; Value)</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Principal Material / Barrier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Material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Barrier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Application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Barrier Level Vs Application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India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India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Principal Material / Barrier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India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India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Material Structure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India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India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Barrier Level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India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Application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India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India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Barrier Level Vs Application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India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India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India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India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India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Thailand</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Thailand market in volume: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491.2</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921.8</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-59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Thailand's flexible plastic packaging market expands at 6.0% CAGR through 2036, trailing the South Asia &amp; Pacific benchmark of 6.5% by 59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Thailand holds 9.4% of the South Asia &amp; Pacific flexible plastic packaging market in 2026; by 2036 that share moves to 8.9%.</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404.7 Thousand MT between 2026 and 2036 the Thailand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Thailand market in value: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1,306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2,812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5.5%</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7.3%</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-44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Thailand's flexible plastic packaging market expands at 7.3% CAGR through 2036, trailing the South Asia &amp; Pacific benchmark of 7.8% by 44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Thailand holds 9.0% of the South Asia &amp; Pacific flexible plastic packaging market in 2026; by 2036 that share moves to 8.6%.</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Thailand is expected to account for US$ 2,812 Mn by 2036 at a CAGR of 7.3% over the forecast period. Thailand is expected to create an incremental opportunity of US$ 1,507 Mn for the overall flexible plastic packaging market from 2025 to 2036. Thailand grows 7.3% in value and 6.0% in volume because its large processed-food and export industry, growing modern retail and tourism-linked food service all need flexible packs for shelf life and transport. Value outpaces volume as average price rises from US$2,681 to US$3,051 per MT with greater use of barrier films and retort and stand-up pouches.</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Thailand's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1,386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724.7 US$ Mn (52% share), ahead of 'Premade Pouches &amp; Bags' (400.0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406.8 US$ Mn (29% share), ahead of 'PP-Based' (303.2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412.0 US$ Mn (30% share), ahead of 'Laminated Films' (348.7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465.7 US$ Mn (34% share), ahead of 'High-Barrier Films' (463.7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1,153 US$ Mn (83% share), ahead of 'Non-Food Packaging' (233.4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465.7 US$ Mn (34% share), ahead of 'High-Barrier Films' (463.7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Thailand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Thailand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Thailand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Thailand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Thailand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Thailand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Thailand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Thailand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Thailand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Thailand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Thailand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Thailand</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Thailand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Thailand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Thailand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Malaysia</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Malaysia market in volume: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373.7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723.9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5.4%</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-29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Malaysia's flexible plastic packaging market expands at 6.3% CAGR through 2036, trailing the South Asia &amp; Pacific benchmark of 6.5% by 29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Malaysia holds 7.2% of the South Asia &amp; Pacific flexible plastic packaging market in 2026; by 2036 that share moves to 7.0%.</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329.4 Thousand MT between 2026 and 2036 the Malaysia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Malaysia market in value: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1,016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2,255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5.7%</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7.6%</a:t>
            </a:r>
          </a:p>
        </p:txBody>
      </p:sp>
      <p:sp>
        <p:nvSpPr>
          <p:cNvPr id="15" name="Rounded Rectangle 14"/>
          <p:cNvSpPr/>
          <p:nvPr/>
        </p:nvSpPr>
        <p:spPr>
          <a:xfrm>
            <a:off x="142875" y="16573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(US$ Mn), 2021–2036</a:t>
            </a:r>
          </a:p>
        </p:txBody>
      </p:sp>
      <p:graphicFrame>
        <p:nvGraphicFramePr>
          <p:cNvPr id="17" name="Chart 16"/>
          <p:cNvGraphicFramePr>
            <a:graphicFrameLocks noGrp="1"/>
          </p:cNvGraphicFramePr>
          <p:nvPr/>
        </p:nvGraphicFramePr>
        <p:xfrm>
          <a:off x="238125" y="1943100"/>
          <a:ext cx="4505325" cy="1162050"/>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162050"/>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-14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361950"/>
          </a:xfrm>
          <a:prstGeom prst="rect">
            <a:avLst/>
          </a:prstGeom>
          <a:noFill/>
        </p:spPr>
        <p:txBody>
          <a:bodyPr wrap="square" lIns="28575" rIns="28575" tIns="9525" bIns="9525" anchor="t">
            <a:spAutoFit/>
          </a:bodyPr>
          <a:lstStyle/>
          <a:p>
            <a:pPr algn="l"/>
            <a:r>
              <a:rPr sz="1100" b="0">
                <a:solidFill>
                  <a:srgbClr val="2E2E2E"/>
                </a:solidFill>
                <a:latin typeface="Calibri"/>
              </a:rPr>
              <a:t>Malaysia's flexible plastic packaging market expands at 7.6% CAGR through 2036, trailing the South Asia &amp; Pacific benchmark of 7.8% by 14 BPS.</a:t>
            </a:r>
          </a:p>
        </p:txBody>
      </p:sp>
      <p:sp>
        <p:nvSpPr>
          <p:cNvPr id="23" name="Rounded Rectangle 22"/>
          <p:cNvSpPr/>
          <p:nvPr/>
        </p:nvSpPr>
        <p:spPr>
          <a:xfrm>
            <a:off x="142875" y="32956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3528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581400"/>
          <a:ext cx="4505325" cy="1162050"/>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2956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3528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Market Share, 2026</a:t>
            </a:r>
          </a:p>
        </p:txBody>
      </p:sp>
      <p:graphicFrame>
        <p:nvGraphicFramePr>
          <p:cNvPr id="28" name="Chart 27"/>
          <p:cNvGraphicFramePr>
            <a:graphicFrameLocks noGrp="1"/>
          </p:cNvGraphicFramePr>
          <p:nvPr/>
        </p:nvGraphicFramePr>
        <p:xfrm>
          <a:off x="5086350" y="3581400"/>
          <a:ext cx="6858000" cy="1162050"/>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Malaysia holds 7.0% of the South Asia &amp; Pacific flexible plastic packaging market in 2026; by 2036 that share moves to 6.9%.</a:t>
            </a:r>
          </a:p>
        </p:txBody>
      </p:sp>
      <p:sp>
        <p:nvSpPr>
          <p:cNvPr id="30" name="Rounded Rectangle 29"/>
          <p:cNvSpPr/>
          <p:nvPr/>
        </p:nvSpPr>
        <p:spPr>
          <a:xfrm>
            <a:off x="6172200"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Malaysia is expected to account for US$ 2,255 Mn by 2036 at a CAGR of 7.6% over the forecast period. Malaysia is expected to create an incremental opportunity of US$ 1,239 Mn for the overall flexible plastic packaging market from 2025 to 2036. Malaysia's value grows at 7.6% and volume at 6.3% because it is a food-processing and export hub, with strong halal food, snack, beverage and frozen-food sectors that need pouches and barrier films. Rising incomes and modern retail broaden domestic demand, and local converting capacity serves regional supply chains. Average price rises from US$ 2,738 to US$ 3,115 per MT as the mix moves toward barrier formats.</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Malaysia's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1,080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571.7 US$ Mn (53% share), ahead of 'Premade Pouches &amp; Bags' (315.7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330.3 US$ Mn (31% share), ahead of 'PP-Based' (232.5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304.6 US$ Mn (28% share), ahead of 'Laminated Films' (273.5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371.6 US$ Mn (34% share), ahead of 'High-Barrier Films' (351.6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910.8 US$ Mn (84% share), ahead of 'Non-Food Packaging' (169.4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371.6 US$ Mn (34% share), ahead of 'High-Barrier Films' (351.6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Malaysia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Malaysia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4524385"/>
        </p:xfrm>
        <a:graphic>
          <a:graphicData uri="http://schemas.openxmlformats.org/drawingml/2006/table">
            <a:tbl>
              <a:tblPr>
                <a:tableStyleId>{5C22544A-7EE6-4342-B048-85BDC9FD1C3A}</a:tableStyleId>
              </a:tblPr>
              <a:tblGrid>
                <a:gridCol w="2015655"/>
                <a:gridCol w="658103"/>
                <a:gridCol w="658103"/>
                <a:gridCol w="658103"/>
                <a:gridCol w="658103"/>
                <a:gridCol w="658103"/>
                <a:gridCol w="658103"/>
                <a:gridCol w="658103"/>
                <a:gridCol w="658103"/>
                <a:gridCol w="658103"/>
                <a:gridCol w="658103"/>
                <a:gridCol w="658103"/>
                <a:gridCol w="658103"/>
                <a:gridCol w="658103"/>
                <a:gridCol w="658103"/>
                <a:gridCol w="65810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Malaysia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Malaysia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Malaysia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Malaysia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Malaysia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Malaysia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Malaysia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Malaysia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Malaysia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Malaysia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Malaysia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Malaysia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Malaysia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Indonesia</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Indonesia market in volume: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673.6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1,461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5.8%</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7.4%</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+85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Indonesia's flexible plastic packaging market expands at 7.4% CAGR through 2036, outpacing the South Asia &amp; Pacific benchmark of 6.5% by 85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Indonesia holds 13.0% of the South Asia &amp; Pacific flexible plastic packaging market in 2026; by 2036 that share moves to 14.1%.</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744.8 Thousand MT between 2026 and 2036 the Indonesia market grows to 2.0×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Indonesia market in value: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1,741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4,316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6.3%</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8.7%</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+96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Indonesia's flexible plastic packaging market expands at 8.7% CAGR through 2036, outpacing the South Asia &amp; Pacific benchmark of 7.8% by 96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Indonesia holds 12.1% of the South Asia &amp; Pacific flexible plastic packaging market in 2026; by 2036 that share moves to 13.2%.</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Indonesia is expected to account for US$ 4,316 Mn by 2036 at a CAGR of 8.7% over the forecast period. Indonesia is expected to create an incremental opportunity of US$ 2,575 Mn for the overall flexible plastic packaging market from 2025 to 2036. Indonesia grows fastest in its region at 8.7% in value and 7.4% in volume, from 6.3% value growth in 2021-25, as a large young population, rising incomes, sachet-led consumption, modern retail and e-commerce expand packaged-food demand. The value-volume gap reflects the shift towards pouches and barrier films, with the average price rising from US$2,607 to US$2,954 per MT.</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Indonesia's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1,867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1,034 US$ Mn (55% share), ahead of 'Premade Pouches &amp; Bags' (493.3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575.4 US$ Mn (31% share), ahead of 'PP-Based' (399.9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550.5 US$ Mn (29% share), ahead of 'Laminated Films' (477.8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'High-Barrier Films' leads at 643.6 US$ Mn (34% share), ahead of 'Medium-Barrier Films' (565.5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1,555 US$ Mn (83% share), ahead of 'Non-Food Packaging' (312.1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'High-Barrier Films' leads at 643.6 US$ Mn (34% share), ahead of 'Medium-Barrier Films' (565.5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Indonesia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Indonesia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4524385"/>
        </p:xfrm>
        <a:graphic>
          <a:graphicData uri="http://schemas.openxmlformats.org/drawingml/2006/table">
            <a:tbl>
              <a:tblPr>
                <a:tableStyleId>{5C22544A-7EE6-4342-B048-85BDC9FD1C3A}</a:tableStyleId>
              </a:tblPr>
              <a:tblGrid>
                <a:gridCol w="2015655"/>
                <a:gridCol w="658103"/>
                <a:gridCol w="658103"/>
                <a:gridCol w="658103"/>
                <a:gridCol w="658103"/>
                <a:gridCol w="658103"/>
                <a:gridCol w="658103"/>
                <a:gridCol w="658103"/>
                <a:gridCol w="658103"/>
                <a:gridCol w="658103"/>
                <a:gridCol w="658103"/>
                <a:gridCol w="658103"/>
                <a:gridCol w="658103"/>
                <a:gridCol w="658103"/>
                <a:gridCol w="658103"/>
                <a:gridCol w="65810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Principal Material / Barrier Technology: growth contribution, share variance and absolute…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Principal Material / Barrier Technology: growth contribution, share variance and absolute…</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Indonesia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Indonesia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6" cy="1295400"/>
        </p:xfrm>
        <a:graphic>
          <a:graphicData uri="http://schemas.openxmlformats.org/drawingml/2006/table">
            <a:tbl>
              <a:tblPr>
                <a:tableStyleId>{5C22544A-7EE6-4342-B048-85BDC9FD1C3A}</a:tableStyleId>
              </a:tblPr>
              <a:tblGrid>
                <a:gridCol w="2580446"/>
                <a:gridCol w="599634"/>
                <a:gridCol w="599634"/>
                <a:gridCol w="599634"/>
                <a:gridCol w="599634"/>
                <a:gridCol w="599634"/>
                <a:gridCol w="599634"/>
                <a:gridCol w="599634"/>
                <a:gridCol w="599634"/>
                <a:gridCol w="599634"/>
                <a:gridCol w="599634"/>
                <a:gridCol w="677694"/>
                <a:gridCol w="677694"/>
                <a:gridCol w="677694"/>
                <a:gridCol w="677694"/>
                <a:gridCol w="599634"/>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Indonesia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Indonesia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3" cy="3667121"/>
        </p:xfrm>
        <a:graphic>
          <a:graphicData uri="http://schemas.openxmlformats.org/drawingml/2006/table">
            <a:tbl>
              <a:tblPr>
                <a:tableStyleId>{5C22544A-7EE6-4342-B048-85BDC9FD1C3A}</a:tableStyleId>
              </a:tblPr>
              <a:tblGrid>
                <a:gridCol w="2508595"/>
                <a:gridCol w="604264"/>
                <a:gridCol w="604264"/>
                <a:gridCol w="604264"/>
                <a:gridCol w="604264"/>
                <a:gridCol w="604264"/>
                <a:gridCol w="604264"/>
                <a:gridCol w="604264"/>
                <a:gridCol w="604264"/>
                <a:gridCol w="604264"/>
                <a:gridCol w="604264"/>
                <a:gridCol w="604264"/>
                <a:gridCol w="682926"/>
                <a:gridCol w="682926"/>
                <a:gridCol w="682926"/>
                <a:gridCol w="68292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Indonesia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Indonesia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Indonesia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285074"/>
                <a:gridCol w="640142"/>
                <a:gridCol w="640142"/>
                <a:gridCol w="640142"/>
                <a:gridCol w="640142"/>
                <a:gridCol w="640142"/>
                <a:gridCol w="640142"/>
                <a:gridCol w="640142"/>
                <a:gridCol w="640142"/>
                <a:gridCol w="640142"/>
                <a:gridCol w="640142"/>
                <a:gridCol w="640142"/>
                <a:gridCol w="640142"/>
                <a:gridCol w="640142"/>
                <a:gridCol w="640142"/>
                <a:gridCol w="64014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Indonesia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Indonesia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Indonesia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Indonesia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Indonesia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Indonesia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Singapore</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Singapore market in volume: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152.3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252.1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3.9%</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4.7%</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-180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Singapore's flexible plastic packaging market expands at 4.7% CAGR through 2036, trailing the South Asia &amp; Pacific benchmark of 6.5% by 180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Singapore holds 2.9% of the South Asia &amp; Pacific flexible plastic packaging market in 2026; by 2036 that share moves to 2.4%.</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93.5 Thousand MT between 2026 and 2036 the Singapore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Singapore market in value: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507.8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972.4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4.3%</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6.2%</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-159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Singapore's flexible plastic packaging market expands at 6.2% CAGR through 2036, trailing the South Asia &amp; Pacific benchmark of 7.8% by 159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Singapore holds 3.5% of the South Asia &amp; Pacific flexible plastic packaging market in 2026; by 2036 that share moves to 3.0%.</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Singapore is expected to account for US$ 972.4 Mn by 2036 at a CAGR of 6.2% over the forecast period. Singapore is expected to create an incremental opportunity of US$ 464.6 Mn for the overall flexible plastic packaging market from 2025 to 2036. Singapore grows at 6.2% in value and 4.7% in volume, slower than its regional peers, because it is a small, highly developed market that relies on imports and demand growth is steady rather than rapid. Growth centres on pharma, food service and premium packaged food. Average price rises from US$3,365 to US$3,857 per MT, reflecting high-specification, higher-barrier formats.</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Singapore's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533.7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295.6 US$ Mn (55% share), ahead of 'Premade Pouches &amp; Bags' (142.4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168.0 US$ Mn (31% share), ahead of 'PP-Based' (104.3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154.3 US$ Mn (29% share), ahead of 'Laminated Films' (130.0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'High-Barrier Films' leads at 180.2 US$ Mn (34% share), ahead of 'Medium-Barrier Films' (164.7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442.7 US$ Mn (83% share), ahead of 'Non-Food Packaging' (91.0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'High-Barrier Films' leads at 180.2 US$ Mn (34% share), ahead of 'Medium-Barrier Films' (164.7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Singapore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Singapore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Principal Material / Barrier Technology: growth contribution, share variance and absolute…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Principal Material / Barrier Technology: growth contribution, share variance and absolute…</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Singapore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Singapore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Singapore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Singapore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Singapore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Singapore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Singapore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Singapore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Singapore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Singapore</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Singapore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Singapore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Singapore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Philippines</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Philippines market in volume: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369.4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843.3</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+132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Philippines's flexible plastic packaging market expands at 7.9% CAGR through 2036, outpacing the South Asia &amp; Pacific benchmark of 6.5% by 132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Philippines holds 7.2% of the South Asia &amp; Pacific flexible plastic packaging market in 2026; by 2036 that share moves to 8.1%.</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447.7 Thousand MT between 2026 and 2036 the Philippines market grows to 2.1×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Philippines market in value: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1,016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2,669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6.9%</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9.3%</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+153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Philippines's flexible plastic packaging market expands at 9.3% CAGR through 2036, outpacing the South Asia &amp; Pacific benchmark of 7.8% by 153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Philippines holds 7.1% of the South Asia &amp; Pacific flexible plastic packaging market in 2026; by 2036 that share moves to 8.2%.</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the Philippines is expected to account for US$ 2,669 Mn by 2036 at a CAGR of 9.3% over the forecast period. The Philippines is expected to create an incremental opportunity of US$ 1,653 Mn for the overall flexible plastic packaging market from 2025 to 2036. The Philippines grows 9.3% in value and 7.9% in volume, the fastest in South Asia &amp; Pacific, because a young, urbanising population with rising incomes buys more packaged food, with sachets and small packs suiting its retail. Value outpaces volume as average price rises from US$2,772 to US$3,165 per MT with a move to higher-barrier pouches.</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Philippines's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1,097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600.4 US$ Mn (55% share), ahead of 'Premade Pouches &amp; Bags' (303.4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341.2 US$ Mn (31% share), ahead of 'PP-Based' (238.7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298.5 US$ Mn (27% share), ahead of 'Laminated Films' (294.9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377.5 US$ Mn (34% share), ahead of 'High-Barrier Films' (347.9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919.7 US$ Mn (84% share), ahead of 'Non-Food Packaging' (177.0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377.5 US$ Mn (34% share), ahead of 'High-Barrier Films' (347.9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Philippines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Philippines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4524385"/>
        </p:xfrm>
        <a:graphic>
          <a:graphicData uri="http://schemas.openxmlformats.org/drawingml/2006/table">
            <a:tbl>
              <a:tblPr>
                <a:tableStyleId>{5C22544A-7EE6-4342-B048-85BDC9FD1C3A}</a:tableStyleId>
              </a:tblPr>
              <a:tblGrid>
                <a:gridCol w="2015655"/>
                <a:gridCol w="658103"/>
                <a:gridCol w="658103"/>
                <a:gridCol w="658103"/>
                <a:gridCol w="658103"/>
                <a:gridCol w="658103"/>
                <a:gridCol w="658103"/>
                <a:gridCol w="658103"/>
                <a:gridCol w="658103"/>
                <a:gridCol w="658103"/>
                <a:gridCol w="658103"/>
                <a:gridCol w="658103"/>
                <a:gridCol w="658103"/>
                <a:gridCol w="658103"/>
                <a:gridCol w="658103"/>
                <a:gridCol w="65810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Principal Material / Barrier Technology: growth contribution, share variance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Principal Material / Barrier Technology: growth contribution, share variance and…</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Philippines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Philippines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8" cy="2590803"/>
        </p:xfrm>
        <a:graphic>
          <a:graphicData uri="http://schemas.openxmlformats.org/drawingml/2006/table">
            <a:tbl>
              <a:tblPr>
                <a:tableStyleId>{5C22544A-7EE6-4342-B048-85BDC9FD1C3A}</a:tableStyleId>
              </a:tblPr>
              <a:tblGrid>
                <a:gridCol w="2546995"/>
                <a:gridCol w="668909"/>
                <a:gridCol w="668909"/>
                <a:gridCol w="668909"/>
                <a:gridCol w="668909"/>
                <a:gridCol w="668909"/>
                <a:gridCol w="668909"/>
                <a:gridCol w="591861"/>
                <a:gridCol w="591861"/>
                <a:gridCol w="591861"/>
                <a:gridCol w="591861"/>
                <a:gridCol w="591861"/>
                <a:gridCol w="591861"/>
                <a:gridCol w="591861"/>
                <a:gridCol w="591861"/>
                <a:gridCol w="59186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2114550"/>
          </a:xfrm>
          <a:prstGeom prst="roundRect">
            <a:avLst>
              <a:gd name="adj" fmla="val 36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196" cy="1647825"/>
        </p:xfrm>
        <a:graphic>
          <a:graphicData uri="http://schemas.openxmlformats.org/drawingml/2006/table">
            <a:tbl>
              <a:tblPr>
                <a:tableStyleId>{5C22544A-7EE6-4342-B048-85BDC9FD1C3A}</a:tableStyleId>
              </a:tblPr>
              <a:tblGrid>
                <a:gridCol w="2498414"/>
                <a:gridCol w="580572"/>
                <a:gridCol w="580572"/>
                <a:gridCol w="580572"/>
                <a:gridCol w="580572"/>
                <a:gridCol w="580572"/>
                <a:gridCol w="580572"/>
                <a:gridCol w="656150"/>
                <a:gridCol w="656150"/>
                <a:gridCol w="656150"/>
                <a:gridCol w="656150"/>
                <a:gridCol w="656150"/>
                <a:gridCol w="656150"/>
                <a:gridCol w="656150"/>
                <a:gridCol w="656150"/>
                <a:gridCol w="65615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38760">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r>
              <a:tr h="238760">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38760">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38760">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r>
              <a:tr h="238760">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38760">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086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volume and value growth by Principal Material / Barrier Technology, highlighting acceleration and…</a:t>
            </a:r>
          </a:p>
        </p:txBody>
      </p:sp>
      <p:sp>
        <p:nvSpPr>
          <p:cNvPr id="10" name="Rounded Rectangle 9"/>
          <p:cNvSpPr/>
          <p:nvPr/>
        </p:nvSpPr>
        <p:spPr>
          <a:xfrm>
            <a:off x="142875" y="981075"/>
            <a:ext cx="11906250" cy="1895475"/>
          </a:xfrm>
          <a:prstGeom prst="roundRect">
            <a:avLst>
              <a:gd name="adj" fmla="val 40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3" cy="1428752"/>
        </p:xfrm>
        <a:graphic>
          <a:graphicData uri="http://schemas.openxmlformats.org/drawingml/2006/table">
            <a:tbl>
              <a:tblPr>
                <a:tableStyleId>{5C22544A-7EE6-4342-B048-85BDC9FD1C3A}</a:tableStyleId>
              </a:tblPr>
              <a:tblGrid>
                <a:gridCol w="2305098"/>
                <a:gridCol w="638807"/>
                <a:gridCol w="638807"/>
                <a:gridCol w="638807"/>
                <a:gridCol w="638807"/>
                <a:gridCol w="638807"/>
                <a:gridCol w="638807"/>
                <a:gridCol w="638807"/>
                <a:gridCol w="638807"/>
                <a:gridCol w="638807"/>
                <a:gridCol w="638807"/>
                <a:gridCol w="638807"/>
                <a:gridCol w="638807"/>
                <a:gridCol w="638807"/>
                <a:gridCol w="638807"/>
                <a:gridCol w="638807"/>
              </a:tblGrid>
              <a:tr h="349377">
                <a:tc>
                  <a:txBody>
                    <a:bodyPr wrap="square"/>
                    <a:lstStyle/>
                    <a:p>
                      <a:pPr algn="l">
                        <a:lnSpc>
                          <a:spcPct val="90000"/>
                        </a:lnSpc>
                      </a:pPr>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87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r>
              <a:tr h="21587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11.1%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r>
              <a:tr h="21587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87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87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676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Philippines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Philippines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3" cy="3667121"/>
        </p:xfrm>
        <a:graphic>
          <a:graphicData uri="http://schemas.openxmlformats.org/drawingml/2006/table">
            <a:tbl>
              <a:tblPr>
                <a:tableStyleId>{5C22544A-7EE6-4342-B048-85BDC9FD1C3A}</a:tableStyleId>
              </a:tblPr>
              <a:tblGrid>
                <a:gridCol w="2428251"/>
                <a:gridCol w="584911"/>
                <a:gridCol w="584911"/>
                <a:gridCol w="584911"/>
                <a:gridCol w="584911"/>
                <a:gridCol w="584911"/>
                <a:gridCol w="584911"/>
                <a:gridCol w="661054"/>
                <a:gridCol w="661054"/>
                <a:gridCol w="661054"/>
                <a:gridCol w="661054"/>
                <a:gridCol w="661054"/>
                <a:gridCol w="661054"/>
                <a:gridCol w="661054"/>
                <a:gridCol w="661054"/>
                <a:gridCol w="661054"/>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Philippines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197" cy="1076325"/>
        </p:xfrm>
        <a:graphic>
          <a:graphicData uri="http://schemas.openxmlformats.org/drawingml/2006/table">
            <a:tbl>
              <a:tblPr>
                <a:tableStyleId>{5C22544A-7EE6-4342-B048-85BDC9FD1C3A}</a:tableStyleId>
              </a:tblPr>
              <a:tblGrid>
                <a:gridCol w="1631997"/>
                <a:gridCol w="683680"/>
                <a:gridCol w="683680"/>
                <a:gridCol w="683680"/>
                <a:gridCol w="683680"/>
                <a:gridCol w="683680"/>
                <a:gridCol w="683680"/>
                <a:gridCol w="683680"/>
                <a:gridCol w="683680"/>
                <a:gridCol w="683680"/>
                <a:gridCol w="683680"/>
                <a:gridCol w="683680"/>
                <a:gridCol w="683680"/>
                <a:gridCol w="683680"/>
                <a:gridCol w="683680"/>
                <a:gridCol w="683680"/>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Philippines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Philippines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285074"/>
                <a:gridCol w="640142"/>
                <a:gridCol w="640142"/>
                <a:gridCol w="640142"/>
                <a:gridCol w="640142"/>
                <a:gridCol w="640142"/>
                <a:gridCol w="640142"/>
                <a:gridCol w="640142"/>
                <a:gridCol w="640142"/>
                <a:gridCol w="640142"/>
                <a:gridCol w="640142"/>
                <a:gridCol w="640142"/>
                <a:gridCol w="640142"/>
                <a:gridCol w="640142"/>
                <a:gridCol w="640142"/>
                <a:gridCol w="64014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segmental analysis by Barrier Level Vs Application: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Philippines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Philippines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Philippines</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193" cy="1724024"/>
        </p:xfrm>
        <a:graphic>
          <a:graphicData uri="http://schemas.openxmlformats.org/drawingml/2006/table">
            <a:tbl>
              <a:tblPr>
                <a:tableStyleId>{5C22544A-7EE6-4342-B048-85BDC9FD1C3A}</a:tableStyleId>
              </a:tblPr>
              <a:tblGrid>
                <a:gridCol w="1842713"/>
                <a:gridCol w="669632"/>
                <a:gridCol w="669632"/>
                <a:gridCol w="669632"/>
                <a:gridCol w="669632"/>
                <a:gridCol w="669632"/>
                <a:gridCol w="669632"/>
                <a:gridCol w="669632"/>
                <a:gridCol w="669632"/>
                <a:gridCol w="669632"/>
                <a:gridCol w="669632"/>
                <a:gridCol w="669632"/>
                <a:gridCol w="669632"/>
                <a:gridCol w="669632"/>
                <a:gridCol w="669632"/>
                <a:gridCol w="669632"/>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Philippines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Philippines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Philippines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1295400"/>
        </p:xfrm>
        <a:graphic>
          <a:graphicData uri="http://schemas.openxmlformats.org/drawingml/2006/table">
            <a:tbl>
              <a:tblPr>
                <a:tableStyleId>{5C22544A-7EE6-4342-B048-85BDC9FD1C3A}</a:tableStyleId>
              </a:tblPr>
              <a:tblGrid>
                <a:gridCol w="1842713"/>
                <a:gridCol w="669632"/>
                <a:gridCol w="669632"/>
                <a:gridCol w="669632"/>
                <a:gridCol w="669632"/>
                <a:gridCol w="669632"/>
                <a:gridCol w="669632"/>
                <a:gridCol w="669632"/>
                <a:gridCol w="669632"/>
                <a:gridCol w="669632"/>
                <a:gridCol w="669632"/>
                <a:gridCol w="669632"/>
                <a:gridCol w="669632"/>
                <a:gridCol w="669632"/>
                <a:gridCol w="669632"/>
                <a:gridCol w="669632"/>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Australia</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Australia market in volume: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727.6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1,231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4.0%</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-159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Australia's flexible plastic packaging market expands at 5.0% CAGR through 2036, trailing the South Asia &amp; Pacific benchmark of 6.5% by 159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Australia holds 13.8% of the South Asia &amp; Pacific flexible plastic packaging market in 2026; by 2036 that share moves to 11.9%.</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471.8 Thousand MT between 2026 and 2036 the Australia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Australia market in value: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2,611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5,038</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4.4%</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6.2%</a:t>
            </a:r>
          </a:p>
        </p:txBody>
      </p:sp>
      <p:sp>
        <p:nvSpPr>
          <p:cNvPr id="15" name="Rounded Rectangle 14"/>
          <p:cNvSpPr/>
          <p:nvPr/>
        </p:nvSpPr>
        <p:spPr>
          <a:xfrm>
            <a:off x="142875" y="16573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(US$ Mn), 2021–2036</a:t>
            </a:r>
          </a:p>
        </p:txBody>
      </p:sp>
      <p:graphicFrame>
        <p:nvGraphicFramePr>
          <p:cNvPr id="17" name="Chart 16"/>
          <p:cNvGraphicFramePr>
            <a:graphicFrameLocks noGrp="1"/>
          </p:cNvGraphicFramePr>
          <p:nvPr/>
        </p:nvGraphicFramePr>
        <p:xfrm>
          <a:off x="238125" y="1943100"/>
          <a:ext cx="4505325" cy="1162050"/>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162050"/>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-153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361950"/>
          </a:xfrm>
          <a:prstGeom prst="rect">
            <a:avLst/>
          </a:prstGeom>
          <a:noFill/>
        </p:spPr>
        <p:txBody>
          <a:bodyPr wrap="square" lIns="28575" rIns="28575" tIns="9525" bIns="9525" anchor="t">
            <a:spAutoFit/>
          </a:bodyPr>
          <a:lstStyle/>
          <a:p>
            <a:pPr algn="l"/>
            <a:r>
              <a:rPr sz="1100" b="0">
                <a:solidFill>
                  <a:srgbClr val="2E2E2E"/>
                </a:solidFill>
                <a:latin typeface="Calibri"/>
              </a:rPr>
              <a:t>Australia's flexible plastic packaging market expands at 6.2% CAGR through 2036, trailing the South Asia &amp; Pacific benchmark of 7.8% by 153 BPS.</a:t>
            </a:r>
          </a:p>
        </p:txBody>
      </p:sp>
      <p:sp>
        <p:nvSpPr>
          <p:cNvPr id="23" name="Rounded Rectangle 22"/>
          <p:cNvSpPr/>
          <p:nvPr/>
        </p:nvSpPr>
        <p:spPr>
          <a:xfrm>
            <a:off x="142875" y="32956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3528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581400"/>
          <a:ext cx="4505325" cy="1162050"/>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2956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3528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Market Share, 2026</a:t>
            </a:r>
          </a:p>
        </p:txBody>
      </p:sp>
      <p:graphicFrame>
        <p:nvGraphicFramePr>
          <p:cNvPr id="28" name="Chart 27"/>
          <p:cNvGraphicFramePr>
            <a:graphicFrameLocks noGrp="1"/>
          </p:cNvGraphicFramePr>
          <p:nvPr/>
        </p:nvGraphicFramePr>
        <p:xfrm>
          <a:off x="5086350" y="3581400"/>
          <a:ext cx="6858000" cy="1162050"/>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Australia holds 17.8% of the South Asia &amp; Pacific flexible plastic packaging market in 2026; by 2036 that share moves to 15.4%.</a:t>
            </a:r>
          </a:p>
        </p:txBody>
      </p:sp>
      <p:sp>
        <p:nvSpPr>
          <p:cNvPr id="30" name="Rounded Rectangle 29"/>
          <p:cNvSpPr/>
          <p:nvPr/>
        </p:nvSpPr>
        <p:spPr>
          <a:xfrm>
            <a:off x="6172200"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Australia is expected to account for US$ 5,038 Mn by 2036 at a CAGR of 6.2% over the forecast period. Australia is expected to create an incremental opportunity of US$ 2,426 Mn for the overall flexible plastic packaging market from 2025 to 2036. Australia grows at 6.2% in value and 5.0% in volume, below the 7.8% pace of South Asia &amp; Pacific, because it is a mature, high-income market with stable population growth and an established food sector. Stringent food-safety and recycling rules, high labour costs and imports keep average price high, rising from US$ 3,619 to US$ 4,092 per MT as premium barrier and recyclable packs gain ground.</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Australia's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2,748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1,403 US$ Mn (51% share), ahead of 'Premade Pouches &amp; Bags' (837.5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842.2 US$ Mn (31% share), ahead of 'PP-Based' (579.0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748.2 US$ Mn (27% share), ahead of 'Laminated Films' (745.7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922.2 US$ Mn (34% share), ahead of 'High-Barrier Films' (888.5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2,293 US$ Mn (83% share), ahead of 'Non-Food Packaging' (455.2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922.2 US$ Mn (34% share), ahead of 'High-Barrier Films' (888.5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Australia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Australia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Principal Material / Barrier Technology: growth contribution, share variance and absolute…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Principal Material / Barrier Technology: growth contribution, share variance and absolute…</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Australia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Australia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Australia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Australia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Australia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Australia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Australia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Australia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871.6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Australia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3,449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Australia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Australia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Australia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Australia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New Zealand</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New Zealand market in volume: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142.7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231.6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3.7%</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4.6%</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-199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New Zealand's flexible plastic packaging market expands at 4.6% CAGR through 2036, trailing the South Asia &amp; Pacific benchmark of 6.5% by 199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New Zealand holds 2.7% of the South Asia &amp; Pacific flexible plastic packaging market in 2026; by 2036 that share moves to 2.2%.</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83.2 Thousand MT between 2026 and 2036 the New Zealand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New Zealand market in value: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507.8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951.9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4.0%</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6.0%</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-179 BPS</a:t>
            </a:r>
          </a:p>
          <a:p>
            <a:pPr algn="ctr"/>
            <a:r>
              <a:rPr sz="1100" b="0">
                <a:solidFill>
                  <a:srgbClr val="6C7A89"/>
                </a:solidFill>
                <a:latin typeface="Calibri"/>
              </a:rPr>
              <a:t>vs South Asia &amp; Pacific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New Zealand's flexible plastic packaging market expands at 6.0% CAGR through 2036, trailing the South Asia &amp; Pacific benchmark of 7.8% by 179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New Zealand holds 3.4% of the South Asia &amp; Pacific flexible plastic packaging market in 2026; by 2036 that share moves to 2.9%.</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New Zealand is expected to account for US$ 951.9 Mn by 2036 at a CAGR of 6.0% over the forecast period. New Zealand is expected to create an incremental opportunity of US$ 444.1 Mn for the overall flexible plastic packaging market from 2025 to 2036. New Zealand grows at 6.0% in value and 4.6% in volume, a moderate pace for a small, mature population, with demand anchored by export dairy, meat and produce that need high-barrier, long-shelf-life packaging. Value outpaces volume as the average price rises from US$3,588 to US$4,111 per MT on barrier-film mix and import-dependent resin and converting costs.</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New Zealand's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532.3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293.0 US$ Mn (55% share), ahead of 'Premade Pouches &amp; Bags' (143.2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160.9 US$ Mn (30% share), ahead of 'PP-Based' (113.5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158.4 US$ Mn (30% share), ahead of 'Laminated Films' (141.4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191.0 US$ Mn (36% share), ahead of 'High-Barrier Films' (159.7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440.2 US$ Mn (83% share), ahead of 'Non-Food Packaging' (92.1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191.0 US$ Mn (36% share), ahead of 'High-Barrier Films' (159.7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New Zealand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New Zealand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Principal Material / Barrier Technology: growth contribution, share variance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Principal Material / Barrier Technology: growth contribution, share variance and…</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New Zealand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New Zealand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New Zealand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New Zealand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New Zealand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New Zealand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New Zealand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segmental analysis by Barrier Level Vs Application: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New Zealand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New Zealand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895.1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New Zealand</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New Zealand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New Zealand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New Zealand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Rest of South Asia</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South Asia market in volume: size, growth, YoY momentum and gap to the South Asia &amp; Pacific…</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468.0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994.3</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7.1%</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+61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South Asia's flexible plastic packaging market expands at 7.1% CAGR through 2036, outpacing the South Asia &amp; Pacific benchmark of 6.5% by 61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South Asia holds 9.0% of the South Asia &amp; Pacific flexible plastic packaging market in 2026; by 2036 that share moves to 9.6%.</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495.9 Thousand MT between 2026 and 2036 the Rest of South Asia market grows to 2.0×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South Asia market in value: size, growth, YoY momentum and gap to the South Asia &amp; Pacific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1,233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3,085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6.5%</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8.8%</a:t>
            </a:r>
          </a:p>
        </p:txBody>
      </p:sp>
      <p:sp>
        <p:nvSpPr>
          <p:cNvPr id="15" name="Rounded Rectangle 14"/>
          <p:cNvSpPr/>
          <p:nvPr/>
        </p:nvSpPr>
        <p:spPr>
          <a:xfrm>
            <a:off x="142875" y="16573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(US$ Mn), 2021–2036</a:t>
            </a:r>
          </a:p>
        </p:txBody>
      </p:sp>
      <p:graphicFrame>
        <p:nvGraphicFramePr>
          <p:cNvPr id="17" name="Chart 16"/>
          <p:cNvGraphicFramePr>
            <a:graphicFrameLocks noGrp="1"/>
          </p:cNvGraphicFramePr>
          <p:nvPr/>
        </p:nvGraphicFramePr>
        <p:xfrm>
          <a:off x="238125" y="1943100"/>
          <a:ext cx="4505325" cy="1162050"/>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162050"/>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+104 BPS</a:t>
            </a:r>
          </a:p>
          <a:p>
            <a:pPr algn="ctr"/>
            <a:r>
              <a:rPr sz="1100" b="0">
                <a:solidFill>
                  <a:srgbClr val="6C7A89"/>
                </a:solidFill>
                <a:latin typeface="Calibri"/>
              </a:rPr>
              <a:t>vs South Asia &amp; Pacific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361950"/>
          </a:xfrm>
          <a:prstGeom prst="rect">
            <a:avLst/>
          </a:prstGeom>
          <a:noFill/>
        </p:spPr>
        <p:txBody>
          <a:bodyPr wrap="square" lIns="28575" rIns="28575" tIns="9525" bIns="9525" anchor="t">
            <a:spAutoFit/>
          </a:bodyPr>
          <a:lstStyle/>
          <a:p>
            <a:pPr algn="l"/>
            <a:r>
              <a:rPr sz="1100" b="0">
                <a:solidFill>
                  <a:srgbClr val="2E2E2E"/>
                </a:solidFill>
                <a:latin typeface="Calibri"/>
              </a:rPr>
              <a:t>Rest of South Asia's flexible plastic packaging market expands at 8.8% CAGR through 2036, outpacing the South Asia &amp; Pacific benchmark of 7.8% by 104 BPS.</a:t>
            </a:r>
          </a:p>
        </p:txBody>
      </p:sp>
      <p:sp>
        <p:nvSpPr>
          <p:cNvPr id="23" name="Rounded Rectangle 22"/>
          <p:cNvSpPr/>
          <p:nvPr/>
        </p:nvSpPr>
        <p:spPr>
          <a:xfrm>
            <a:off x="142875" y="32956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3528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581400"/>
          <a:ext cx="4505325" cy="1162050"/>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2956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3528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Market Share, 2026</a:t>
            </a:r>
          </a:p>
        </p:txBody>
      </p:sp>
      <p:graphicFrame>
        <p:nvGraphicFramePr>
          <p:cNvPr id="28" name="Chart 27"/>
          <p:cNvGraphicFramePr>
            <a:graphicFrameLocks noGrp="1"/>
          </p:cNvGraphicFramePr>
          <p:nvPr/>
        </p:nvGraphicFramePr>
        <p:xfrm>
          <a:off x="5086350" y="3581400"/>
          <a:ext cx="6858000" cy="1162050"/>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South Asia holds 8.6% of the South Asia &amp; Pacific flexible plastic packaging market in 2026; by 2036 that share moves to 9.4%.</a:t>
            </a:r>
          </a:p>
        </p:txBody>
      </p:sp>
      <p:sp>
        <p:nvSpPr>
          <p:cNvPr id="30" name="Rounded Rectangle 29"/>
          <p:cNvSpPr/>
          <p:nvPr/>
        </p:nvSpPr>
        <p:spPr>
          <a:xfrm>
            <a:off x="6172200"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Rest of South Asia is expected to account for US$ 3,085 Mn by 2036 at a CAGR of 8.8% over the forecast period. Rest of South Asia is expected to create an incremental opportunity of US$ 1,852 Mn for the overall flexible plastic packaging market from 2025 to 2036. Rest of South Asia grows at 8.8% in value and 7.1% in volume, the fastest in its region, because low per-capita packaged food consumption, rising incomes, urbanisation and growing modern retail create catch-up demand from a small base. Local converting capacity is also expanding. Average price rises from US$2,660 to US$3,102 per MT as pouches and barrier films gain mix.</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South Asia's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1,326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722.6 US$ Mn (54% share), ahead of 'Premade Pouches &amp; Bags' (362.8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418.4 US$ Mn (32% share), ahead of 'PP-Based' (254.4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385.2 US$ Mn (29% share), ahead of 'Laminated Films' (324.4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'High-Barrier Films' leads at 446.7 US$ Mn (34% share), ahead of 'Medium-Barrier Films' (414.0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1,114 US$ Mn (84% share), ahead of 'Non-Food Packaging' (212.3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'High-Barrier Films' leads at 446.7 US$ Mn (34% share), ahead of 'Medium-Barrier Films' (414.0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South Asia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South Asia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0" cy="4524385"/>
        </p:xfrm>
        <a:graphic>
          <a:graphicData uri="http://schemas.openxmlformats.org/drawingml/2006/table">
            <a:tbl>
              <a:tblPr>
                <a:tableStyleId>{5C22544A-7EE6-4342-B048-85BDC9FD1C3A}</a:tableStyleId>
              </a:tblPr>
              <a:tblGrid>
                <a:gridCol w="2015655"/>
                <a:gridCol w="658103"/>
                <a:gridCol w="658103"/>
                <a:gridCol w="658103"/>
                <a:gridCol w="658103"/>
                <a:gridCol w="658103"/>
                <a:gridCol w="658103"/>
                <a:gridCol w="658103"/>
                <a:gridCol w="658103"/>
                <a:gridCol w="658103"/>
                <a:gridCol w="658103"/>
                <a:gridCol w="658103"/>
                <a:gridCol w="658103"/>
                <a:gridCol w="658103"/>
                <a:gridCol w="658103"/>
                <a:gridCol w="65810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Principal Material / Barrier Technology: growth contribution, share variance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Principal Material / Barrier Technology: growth contribution, share variance and…</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South Asia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South Asia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volume and value growth by Principal Material / Barrier Technology, highlighting…</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196" cy="1514475"/>
        </p:xfrm>
        <a:graphic>
          <a:graphicData uri="http://schemas.openxmlformats.org/drawingml/2006/table">
            <a:tbl>
              <a:tblPr>
                <a:tableStyleId>{5C22544A-7EE6-4342-B048-85BDC9FD1C3A}</a:tableStyleId>
              </a:tblPr>
              <a:tblGrid>
                <a:gridCol w="2580446"/>
                <a:gridCol w="599634"/>
                <a:gridCol w="599634"/>
                <a:gridCol w="599634"/>
                <a:gridCol w="599634"/>
                <a:gridCol w="599634"/>
                <a:gridCol w="599634"/>
                <a:gridCol w="599634"/>
                <a:gridCol w="599634"/>
                <a:gridCol w="599634"/>
                <a:gridCol w="599634"/>
                <a:gridCol w="599634"/>
                <a:gridCol w="677694"/>
                <a:gridCol w="677694"/>
                <a:gridCol w="677694"/>
                <a:gridCol w="677694"/>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volume and value growth by Principal Material / Barrier Technology, highlighting…</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8" cy="1295400"/>
        </p:xfrm>
        <a:graphic>
          <a:graphicData uri="http://schemas.openxmlformats.org/drawingml/2006/table">
            <a:tbl>
              <a:tblPr>
                <a:tableStyleId>{5C22544A-7EE6-4342-B048-85BDC9FD1C3A}</a:tableStyleId>
              </a:tblPr>
              <a:tblGrid>
                <a:gridCol w="2546995"/>
                <a:gridCol w="591861"/>
                <a:gridCol w="591861"/>
                <a:gridCol w="668909"/>
                <a:gridCol w="668909"/>
                <a:gridCol w="668909"/>
                <a:gridCol w="668909"/>
                <a:gridCol w="668909"/>
                <a:gridCol w="591861"/>
                <a:gridCol w="591861"/>
                <a:gridCol w="591861"/>
                <a:gridCol w="591861"/>
                <a:gridCol w="591861"/>
                <a:gridCol w="668909"/>
                <a:gridCol w="591861"/>
                <a:gridCol w="59186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South Asia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South Asia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492104"/>
                <a:gridCol w="600291"/>
                <a:gridCol w="600291"/>
                <a:gridCol w="600291"/>
                <a:gridCol w="600291"/>
                <a:gridCol w="600291"/>
                <a:gridCol w="600291"/>
                <a:gridCol w="600291"/>
                <a:gridCol w="600291"/>
                <a:gridCol w="600291"/>
                <a:gridCol w="600291"/>
                <a:gridCol w="678437"/>
                <a:gridCol w="678437"/>
                <a:gridCol w="678437"/>
                <a:gridCol w="678437"/>
                <a:gridCol w="678437"/>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11.0%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South Asia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South Asia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South Asia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285074"/>
                <a:gridCol w="640142"/>
                <a:gridCol w="640142"/>
                <a:gridCol w="640142"/>
                <a:gridCol w="640142"/>
                <a:gridCol w="640142"/>
                <a:gridCol w="640142"/>
                <a:gridCol w="640142"/>
                <a:gridCol w="640142"/>
                <a:gridCol w="640142"/>
                <a:gridCol w="640142"/>
                <a:gridCol w="640142"/>
                <a:gridCol w="640142"/>
                <a:gridCol w="640142"/>
                <a:gridCol w="640142"/>
                <a:gridCol w="64014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segmental analysis by Barrier Level Vs Application: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South Asia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South Asia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volume and value growth by Barrier Level Vs Application,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South Asia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South Asia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South Asia year-on-year volume and value growth by Barrier Level Vs Application,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South Asia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3" cy="1295400"/>
        </p:xfrm>
        <a:graphic>
          <a:graphicData uri="http://schemas.openxmlformats.org/drawingml/2006/table">
            <a:tbl>
              <a:tblPr>
                <a:tableStyleId>{5C22544A-7EE6-4342-B048-85BDC9FD1C3A}</a:tableStyleId>
              </a:tblPr>
              <a:tblGrid>
                <a:gridCol w="1842713"/>
                <a:gridCol w="669632"/>
                <a:gridCol w="669632"/>
                <a:gridCol w="669632"/>
                <a:gridCol w="669632"/>
                <a:gridCol w="669632"/>
                <a:gridCol w="669632"/>
                <a:gridCol w="669632"/>
                <a:gridCol w="669632"/>
                <a:gridCol w="669632"/>
                <a:gridCol w="669632"/>
                <a:gridCol w="669632"/>
                <a:gridCol w="669632"/>
                <a:gridCol w="669632"/>
                <a:gridCol w="669632"/>
                <a:gridCol w="669632"/>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9.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41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South Asia &amp; Pacific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Product Pricing &amp;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111919" y="3471051"/>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2060.9</a:t>
            </a:r>
          </a:p>
        </p:txBody>
      </p:sp>
      <p:sp>
        <p:nvSpPr>
          <p:cNvPr id="14" name="TextBox 13"/>
          <p:cNvSpPr txBox="1"/>
          <p:nvPr/>
        </p:nvSpPr>
        <p:spPr>
          <a:xfrm>
            <a:off x="111919" y="2561000"/>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3436.0</a:t>
            </a:r>
          </a:p>
        </p:txBody>
      </p:sp>
      <p:sp>
        <p:nvSpPr>
          <p:cNvPr id="15" name="TextBox 14"/>
          <p:cNvSpPr txBox="1"/>
          <p:nvPr/>
        </p:nvSpPr>
        <p:spPr>
          <a:xfrm>
            <a:off x="111919" y="1650949"/>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4811.2</a:t>
            </a:r>
          </a:p>
        </p:txBody>
      </p:sp>
      <p:cxnSp>
        <p:nvCxnSpPr>
          <p:cNvPr id="16" name="Connector 15"/>
          <p:cNvCxnSpPr/>
          <p:nvPr/>
        </p:nvCxnSpPr>
        <p:spPr>
          <a:xfrm>
            <a:off x="1533525" y="2819941"/>
            <a:ext cx="0" cy="260012"/>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1314450" y="2819941"/>
            <a:ext cx="438150" cy="260012"/>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2667541"/>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3145.5</a:t>
            </a:r>
          </a:p>
        </p:txBody>
      </p:sp>
      <p:sp>
        <p:nvSpPr>
          <p:cNvPr id="19" name="TextBox 18"/>
          <p:cNvSpPr txBox="1"/>
          <p:nvPr/>
        </p:nvSpPr>
        <p:spPr>
          <a:xfrm>
            <a:off x="6572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Rollstock Films</a:t>
            </a:r>
          </a:p>
        </p:txBody>
      </p:sp>
      <p:cxnSp>
        <p:nvCxnSpPr>
          <p:cNvPr id="20" name="Connector 19"/>
          <p:cNvCxnSpPr/>
          <p:nvPr/>
        </p:nvCxnSpPr>
        <p:spPr>
          <a:xfrm>
            <a:off x="3286125" y="1927636"/>
            <a:ext cx="0" cy="367041"/>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3067050" y="1927636"/>
            <a:ext cx="438150" cy="367042"/>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409825" y="177523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4493.8</a:t>
            </a:r>
          </a:p>
        </p:txBody>
      </p:sp>
      <p:sp>
        <p:nvSpPr>
          <p:cNvPr id="23" name="TextBox 22"/>
          <p:cNvSpPr txBox="1"/>
          <p:nvPr/>
        </p:nvSpPr>
        <p:spPr>
          <a:xfrm>
            <a:off x="24098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Barrier Casings</a:t>
            </a:r>
          </a:p>
        </p:txBody>
      </p:sp>
      <p:cxnSp>
        <p:nvCxnSpPr>
          <p:cNvPr id="24" name="Connector 23"/>
          <p:cNvCxnSpPr/>
          <p:nvPr/>
        </p:nvCxnSpPr>
        <p:spPr>
          <a:xfrm>
            <a:off x="5038725" y="2975094"/>
            <a:ext cx="0" cy="240403"/>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4819650" y="2975094"/>
            <a:ext cx="438150" cy="240403"/>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4162425" y="2822694"/>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2911.0</a:t>
            </a:r>
          </a:p>
        </p:txBody>
      </p:sp>
      <p:sp>
        <p:nvSpPr>
          <p:cNvPr id="27" name="TextBox 26"/>
          <p:cNvSpPr txBox="1"/>
          <p:nvPr/>
        </p:nvSpPr>
        <p:spPr>
          <a:xfrm>
            <a:off x="41624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Premade Pouches &amp; Bags</a:t>
            </a:r>
          </a:p>
        </p:txBody>
      </p:sp>
      <p:cxnSp>
        <p:nvCxnSpPr>
          <p:cNvPr id="28" name="Connector 27"/>
          <p:cNvCxnSpPr/>
          <p:nvPr/>
        </p:nvCxnSpPr>
        <p:spPr>
          <a:xfrm>
            <a:off x="6791325" y="3093525"/>
            <a:ext cx="0" cy="234189"/>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6572250" y="3093525"/>
            <a:ext cx="438150" cy="234189"/>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5915025" y="2941125"/>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2732.1</a:t>
            </a:r>
          </a:p>
        </p:txBody>
      </p:sp>
      <p:sp>
        <p:nvSpPr>
          <p:cNvPr id="31" name="TextBox 30"/>
          <p:cNvSpPr txBox="1"/>
          <p:nvPr/>
        </p:nvSpPr>
        <p:spPr>
          <a:xfrm>
            <a:off x="59150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Sachets &amp; Stick Packs</a:t>
            </a:r>
          </a:p>
        </p:txBody>
      </p:sp>
      <p:sp>
        <p:nvSpPr>
          <p:cNvPr id="32" name="Rounded Rectangle 31"/>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a:t>
            </a:r>
          </a:p>
        </p:txBody>
      </p:sp>
      <p:cxnSp>
        <p:nvCxnSpPr>
          <p:cNvPr id="34" name="Connector 33"/>
          <p:cNvCxnSpPr/>
          <p:nvPr/>
        </p:nvCxnSpPr>
        <p:spPr>
          <a:xfrm>
            <a:off x="619125" y="451912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619125" y="488420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619125" y="52492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619125" y="561438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619125" y="59794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619125" y="4519120"/>
            <a:ext cx="0" cy="1460356"/>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590550" y="451912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590550" y="488420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590550" y="52492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590550" y="561438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590550" y="59794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45" name="FMI Scale tick"/>
          <p:cNvSpPr txBox="1"/>
          <p:nvPr/>
        </p:nvSpPr>
        <p:spPr>
          <a:xfrm>
            <a:off x="219075" y="4452445"/>
            <a:ext cx="361950" cy="133350"/>
          </a:xfrm>
          <a:prstGeom prst="rect">
            <a:avLst/>
          </a:prstGeom>
          <a:noFill/>
        </p:spPr>
        <p:txBody>
          <a:bodyPr wrap="none" lIns="0" rIns="0" tIns="0" bIns="0" anchor="ctr">
            <a:spAutoFit/>
          </a:bodyPr>
          <a:lstStyle/>
          <a:p>
            <a:pPr algn="r"/>
            <a:r>
              <a:rPr sz="1100" b="0">
                <a:solidFill>
                  <a:srgbClr val="6C7A89"/>
                </a:solidFill>
                <a:latin typeface="Calibri"/>
              </a:rPr>
              <a:t>+19%</a:t>
            </a:r>
          </a:p>
        </p:txBody>
      </p:sp>
      <p:sp>
        <p:nvSpPr>
          <p:cNvPr id="46" name="FMI Scale tick"/>
          <p:cNvSpPr txBox="1"/>
          <p:nvPr/>
        </p:nvSpPr>
        <p:spPr>
          <a:xfrm>
            <a:off x="219075" y="4817534"/>
            <a:ext cx="361950" cy="13335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7" name="FMI Scale tick"/>
          <p:cNvSpPr txBox="1"/>
          <p:nvPr/>
        </p:nvSpPr>
        <p:spPr>
          <a:xfrm>
            <a:off x="219075" y="518262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tick"/>
          <p:cNvSpPr txBox="1"/>
          <p:nvPr/>
        </p:nvSpPr>
        <p:spPr>
          <a:xfrm>
            <a:off x="219075" y="5547712"/>
            <a:ext cx="361950" cy="13335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9" name="FMI Scale tick"/>
          <p:cNvSpPr txBox="1"/>
          <p:nvPr/>
        </p:nvSpPr>
        <p:spPr>
          <a:xfrm>
            <a:off x="219075" y="5912801"/>
            <a:ext cx="361950" cy="133350"/>
          </a:xfrm>
          <a:prstGeom prst="rect">
            <a:avLst/>
          </a:prstGeom>
          <a:noFill/>
        </p:spPr>
        <p:txBody>
          <a:bodyPr wrap="none" lIns="0" rIns="0" tIns="0" bIns="0" anchor="ctr">
            <a:spAutoFit/>
          </a:bodyPr>
          <a:lstStyle/>
          <a:p>
            <a:pPr algn="r"/>
            <a:r>
              <a:rPr sz="1100" b="0">
                <a:solidFill>
                  <a:srgbClr val="6C7A89"/>
                </a:solidFill>
                <a:latin typeface="Calibri"/>
              </a:rPr>
              <a:t>-19%</a:t>
            </a:r>
          </a:p>
        </p:txBody>
      </p:sp>
      <p:cxnSp>
        <p:nvCxnSpPr>
          <p:cNvPr id="50" name="Connector 49"/>
          <p:cNvCxnSpPr/>
          <p:nvPr/>
        </p:nvCxnSpPr>
        <p:spPr>
          <a:xfrm>
            <a:off x="619125" y="524929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782108" y="4804241"/>
            <a:ext cx="457200" cy="44505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MI Data Label"/>
          <p:cNvSpPr txBox="1"/>
          <p:nvPr/>
        </p:nvSpPr>
        <p:spPr>
          <a:xfrm>
            <a:off x="619125" y="4661366"/>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+11.6%</a:t>
            </a:r>
          </a:p>
        </p:txBody>
      </p:sp>
      <p:sp>
        <p:nvSpPr>
          <p:cNvPr id="53" name="Rectangle 52"/>
          <p:cNvSpPr/>
          <p:nvPr/>
        </p:nvSpPr>
        <p:spPr>
          <a:xfrm>
            <a:off x="1565275" y="4721882"/>
            <a:ext cx="457200" cy="52741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MI Data Label"/>
          <p:cNvSpPr txBox="1"/>
          <p:nvPr/>
        </p:nvSpPr>
        <p:spPr>
          <a:xfrm>
            <a:off x="1402292" y="4579007"/>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+13.8%</a:t>
            </a:r>
          </a:p>
        </p:txBody>
      </p:sp>
      <p:sp>
        <p:nvSpPr>
          <p:cNvPr id="55" name="Rectangle 54"/>
          <p:cNvSpPr/>
          <p:nvPr/>
        </p:nvSpPr>
        <p:spPr>
          <a:xfrm>
            <a:off x="2348442" y="4723514"/>
            <a:ext cx="457200" cy="52578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MI Data Label"/>
          <p:cNvSpPr txBox="1"/>
          <p:nvPr/>
        </p:nvSpPr>
        <p:spPr>
          <a:xfrm>
            <a:off x="2185458" y="4580639"/>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+13.8%</a:t>
            </a:r>
          </a:p>
        </p:txBody>
      </p:sp>
      <p:sp>
        <p:nvSpPr>
          <p:cNvPr id="57" name="Rectangle 56"/>
          <p:cNvSpPr/>
          <p:nvPr/>
        </p:nvSpPr>
        <p:spPr>
          <a:xfrm>
            <a:off x="3131608" y="4741105"/>
            <a:ext cx="457200" cy="50819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FMI Data Label"/>
          <p:cNvSpPr txBox="1"/>
          <p:nvPr/>
        </p:nvSpPr>
        <p:spPr>
          <a:xfrm>
            <a:off x="2968625" y="4598230"/>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+13.3%</a:t>
            </a:r>
          </a:p>
        </p:txBody>
      </p:sp>
      <p:sp>
        <p:nvSpPr>
          <p:cNvPr id="59" name="Rectangle 58"/>
          <p:cNvSpPr/>
          <p:nvPr/>
        </p:nvSpPr>
        <p:spPr>
          <a:xfrm>
            <a:off x="3914775" y="4690438"/>
            <a:ext cx="457200" cy="55886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FMI Data Label"/>
          <p:cNvSpPr txBox="1"/>
          <p:nvPr/>
        </p:nvSpPr>
        <p:spPr>
          <a:xfrm>
            <a:off x="3751792" y="4547563"/>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+14.6%</a:t>
            </a:r>
          </a:p>
        </p:txBody>
      </p:sp>
      <p:sp>
        <p:nvSpPr>
          <p:cNvPr id="61" name="Rectangle 60"/>
          <p:cNvSpPr/>
          <p:nvPr/>
        </p:nvSpPr>
        <p:spPr>
          <a:xfrm>
            <a:off x="4697942" y="4708192"/>
            <a:ext cx="457200" cy="54110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MI Data Label"/>
          <p:cNvSpPr txBox="1"/>
          <p:nvPr/>
        </p:nvSpPr>
        <p:spPr>
          <a:xfrm>
            <a:off x="4534958" y="4565317"/>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+14.2%</a:t>
            </a:r>
          </a:p>
        </p:txBody>
      </p:sp>
      <p:sp>
        <p:nvSpPr>
          <p:cNvPr id="63" name="Rectangle 62"/>
          <p:cNvSpPr/>
          <p:nvPr/>
        </p:nvSpPr>
        <p:spPr>
          <a:xfrm>
            <a:off x="5481108" y="4749742"/>
            <a:ext cx="457200" cy="49955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FMI Data Label"/>
          <p:cNvSpPr txBox="1"/>
          <p:nvPr/>
        </p:nvSpPr>
        <p:spPr>
          <a:xfrm>
            <a:off x="5318125" y="4606867"/>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+13.1%</a:t>
            </a:r>
          </a:p>
        </p:txBody>
      </p:sp>
      <p:sp>
        <p:nvSpPr>
          <p:cNvPr id="65" name="Rectangle 64"/>
          <p:cNvSpPr/>
          <p:nvPr/>
        </p:nvSpPr>
        <p:spPr>
          <a:xfrm>
            <a:off x="6264275" y="4692227"/>
            <a:ext cx="457200" cy="55707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FMI Data Label"/>
          <p:cNvSpPr txBox="1"/>
          <p:nvPr/>
        </p:nvSpPr>
        <p:spPr>
          <a:xfrm>
            <a:off x="6101292" y="4549352"/>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+14.6%</a:t>
            </a:r>
          </a:p>
        </p:txBody>
      </p:sp>
      <p:sp>
        <p:nvSpPr>
          <p:cNvPr id="67" name="Rectangle 66"/>
          <p:cNvSpPr/>
          <p:nvPr/>
        </p:nvSpPr>
        <p:spPr>
          <a:xfrm>
            <a:off x="7047442" y="4614107"/>
            <a:ext cx="457200" cy="6351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FMI Data Label"/>
          <p:cNvSpPr txBox="1"/>
          <p:nvPr/>
        </p:nvSpPr>
        <p:spPr>
          <a:xfrm>
            <a:off x="6884458" y="4471232"/>
            <a:ext cx="783167" cy="133350"/>
          </a:xfrm>
          <a:prstGeom prst="rect">
            <a:avLst/>
          </a:prstGeom>
          <a:noFill/>
        </p:spPr>
        <p:txBody>
          <a:bodyPr wrap="square" lIns="28575" rIns="28575" tIns="9525" bIns="9525">
            <a:spAutoFit/>
          </a:bodyPr>
          <a:lstStyle/>
          <a:p>
            <a:pPr algn="ctr"/>
            <a:r>
              <a:rPr sz="1100" b="1">
                <a:solidFill>
                  <a:srgbClr val="2E2E2E"/>
                </a:solidFill>
                <a:latin typeface="Calibri"/>
              </a:rPr>
              <a:t>+16.6%</a:t>
            </a:r>
          </a:p>
        </p:txBody>
      </p:sp>
      <p:sp>
        <p:nvSpPr>
          <p:cNvPr id="69" name="TextBox 68"/>
          <p:cNvSpPr txBox="1"/>
          <p:nvPr/>
        </p:nvSpPr>
        <p:spPr>
          <a:xfrm>
            <a:off x="619125"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India</a:t>
            </a:r>
          </a:p>
        </p:txBody>
      </p:sp>
      <p:sp>
        <p:nvSpPr>
          <p:cNvPr id="70" name="TextBox 69"/>
          <p:cNvSpPr txBox="1"/>
          <p:nvPr/>
        </p:nvSpPr>
        <p:spPr>
          <a:xfrm>
            <a:off x="1402292"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Thailand</a:t>
            </a:r>
          </a:p>
        </p:txBody>
      </p:sp>
      <p:sp>
        <p:nvSpPr>
          <p:cNvPr id="71" name="TextBox 70"/>
          <p:cNvSpPr txBox="1"/>
          <p:nvPr/>
        </p:nvSpPr>
        <p:spPr>
          <a:xfrm>
            <a:off x="2185458"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Malaysia</a:t>
            </a:r>
          </a:p>
        </p:txBody>
      </p:sp>
      <p:sp>
        <p:nvSpPr>
          <p:cNvPr id="72" name="TextBox 71"/>
          <p:cNvSpPr txBox="1"/>
          <p:nvPr/>
        </p:nvSpPr>
        <p:spPr>
          <a:xfrm>
            <a:off x="2968625"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Indonesia</a:t>
            </a:r>
          </a:p>
        </p:txBody>
      </p:sp>
      <p:sp>
        <p:nvSpPr>
          <p:cNvPr id="73" name="TextBox 72"/>
          <p:cNvSpPr txBox="1"/>
          <p:nvPr/>
        </p:nvSpPr>
        <p:spPr>
          <a:xfrm>
            <a:off x="3751792"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Singapore</a:t>
            </a:r>
          </a:p>
        </p:txBody>
      </p:sp>
      <p:sp>
        <p:nvSpPr>
          <p:cNvPr id="74" name="TextBox 73"/>
          <p:cNvSpPr txBox="1"/>
          <p:nvPr/>
        </p:nvSpPr>
        <p:spPr>
          <a:xfrm>
            <a:off x="4534958"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Philippines</a:t>
            </a:r>
          </a:p>
        </p:txBody>
      </p:sp>
      <p:sp>
        <p:nvSpPr>
          <p:cNvPr id="75" name="TextBox 74"/>
          <p:cNvSpPr txBox="1"/>
          <p:nvPr/>
        </p:nvSpPr>
        <p:spPr>
          <a:xfrm>
            <a:off x="5318125"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Australia</a:t>
            </a:r>
          </a:p>
        </p:txBody>
      </p:sp>
      <p:sp>
        <p:nvSpPr>
          <p:cNvPr id="76" name="TextBox 75"/>
          <p:cNvSpPr txBox="1"/>
          <p:nvPr/>
        </p:nvSpPr>
        <p:spPr>
          <a:xfrm>
            <a:off x="6101292"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New Zealand</a:t>
            </a:r>
          </a:p>
        </p:txBody>
      </p:sp>
      <p:sp>
        <p:nvSpPr>
          <p:cNvPr id="77" name="TextBox 76"/>
          <p:cNvSpPr txBox="1"/>
          <p:nvPr/>
        </p:nvSpPr>
        <p:spPr>
          <a:xfrm>
            <a:off x="6884458" y="6135380"/>
            <a:ext cx="783167" cy="247650"/>
          </a:xfrm>
          <a:prstGeom prst="rect">
            <a:avLst/>
          </a:prstGeom>
          <a:noFill/>
        </p:spPr>
        <p:txBody>
          <a:bodyPr wrap="square" lIns="28575" rIns="28575" tIns="9525" bIns="9525">
            <a:spAutoFit/>
          </a:bodyPr>
          <a:lstStyle/>
          <a:p>
            <a:pPr algn="ctr"/>
            <a:r>
              <a:rPr sz="1100" b="0">
                <a:solidFill>
                  <a:srgbClr val="2E2E2E"/>
                </a:solidFill>
                <a:latin typeface="Calibri"/>
              </a:rPr>
              <a:t>Rest of South Asia</a:t>
            </a:r>
          </a:p>
        </p:txBody>
      </p:sp>
      <p:sp>
        <p:nvSpPr>
          <p:cNvPr id="78" name="Rounded Rectangle 77"/>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80" name="Rectangle 79"/>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chart shows South Asia &amp; Pacific average pricing of key product type types in USD, harmonised across regions. Each candlestick spans the minimum-to-maximum observed price within the base year, giving a clear read of price range and market dispersion.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Wider bodies mark a larger gap between opening and closing price levels 'Sachets &amp; Stick Packs' shows the most movement (+14.9%) and 'Barrier Casings' the least (+14.1%) variability stakeholders should monitor when planning procurement or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lower chart indexes country-level price movement to the base year, applied consistently across the horizon to strip out year-on-year inflationary volatility and reveal structural price shifts.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Country price indices diverge by up to 16.6% between 2026 and 2036: higher-priced countries start higher and grow steadily, while lower-priced countries start lower and converge, reflecting catch-up growth.</a:t>
            </a:r>
          </a:p>
        </p:txBody>
      </p:sp>
      <p:sp>
        <p:nvSpPr>
          <p:cNvPr id="82" name="TextBox 8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Pricing Assessment: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(US$/MT) by product type,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Barrier Casings command the highest 2026 price point at US$ 4,041/MT, a 66.5% premium over Sachets &amp; Stick Packs.</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Product Type, 2021 to 2036 (US$/MT)</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Index vs South Asia &amp; Pacific Average (= 100)</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88"/>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307848">
                <a:tc>
                  <a:txBody>
                    <a:bodyPr wrap="square"/>
                    <a:lstStyle/>
                    <a:p>
                      <a:pPr algn="l"/>
                      <a:r>
                        <a:rPr sz="850" b="1">
                          <a:solidFill>
                            <a:srgbClr val="FFFFFF"/>
                          </a:solidFill>
                          <a:latin typeface="Calibri"/>
                        </a:rPr>
                        <a:t>Product Type</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307848">
                <a:tc>
                  <a:txBody>
                    <a:bodyPr wrap="square"/>
                    <a:lstStyle/>
                    <a:p>
                      <a:pPr algn="l"/>
                      <a:r>
                        <a:rPr sz="850" b="1">
                          <a:solidFill>
                            <a:srgbClr val="1F1F1F"/>
                          </a:solidFill>
                          <a:latin typeface="Calibri"/>
                        </a:rPr>
                        <a:t>Barrier Casings</a:t>
                      </a:r>
                    </a:p>
                  </a:txBody>
                  <a:tcPr marL="36576" marR="36576" marT="9144" marB="9144" anchor="ctr">
                    <a:solidFill>
                      <a:srgbClr val="FFFFFF"/>
                    </a:solidFill>
                  </a:tcPr>
                </a:tc>
                <a:tc>
                  <a:txBody>
                    <a:bodyPr wrap="square"/>
                    <a:lstStyle/>
                    <a:p>
                      <a:pPr algn="ctr"/>
                      <a:r>
                        <a:rPr sz="850" b="0">
                          <a:solidFill>
                            <a:srgbClr val="1F1F1F"/>
                          </a:solidFill>
                          <a:latin typeface="Calibri"/>
                        </a:rPr>
                        <a:t>3,939</a:t>
                      </a:r>
                    </a:p>
                  </a:txBody>
                  <a:tcPr marL="36576" marR="36576" marT="9144" marB="9144" anchor="ctr">
                    <a:solidFill>
                      <a:srgbClr val="FFFFFF"/>
                    </a:solidFill>
                  </a:tcPr>
                </a:tc>
                <a:tc>
                  <a:txBody>
                    <a:bodyPr wrap="square"/>
                    <a:lstStyle/>
                    <a:p>
                      <a:pPr algn="ctr"/>
                      <a:r>
                        <a:rPr sz="850" b="0">
                          <a:solidFill>
                            <a:srgbClr val="1F1F1F"/>
                          </a:solidFill>
                          <a:latin typeface="Calibri"/>
                        </a:rPr>
                        <a:t>4,041</a:t>
                      </a:r>
                    </a:p>
                  </a:txBody>
                  <a:tcPr marL="36576" marR="36576" marT="9144" marB="9144" anchor="ctr">
                    <a:solidFill>
                      <a:srgbClr val="FFFFFF"/>
                    </a:solidFill>
                  </a:tcPr>
                </a:tc>
                <a:tc>
                  <a:txBody>
                    <a:bodyPr wrap="square"/>
                    <a:lstStyle/>
                    <a:p>
                      <a:pPr algn="ctr"/>
                      <a:r>
                        <a:rPr sz="850" b="0">
                          <a:solidFill>
                            <a:srgbClr val="1F1F1F"/>
                          </a:solidFill>
                          <a:latin typeface="Calibri"/>
                        </a:rPr>
                        <a:t>4,494</a:t>
                      </a:r>
                    </a:p>
                  </a:txBody>
                  <a:tcPr marL="36576" marR="36576" marT="9144" marB="9144" anchor="ctr">
                    <a:solidFill>
                      <a:srgbClr val="FFFFFF"/>
                    </a:solidFill>
                  </a:tcPr>
                </a:tc>
                <a:tc>
                  <a:txBody>
                    <a:bodyPr wrap="square"/>
                    <a:lstStyle/>
                    <a:p>
                      <a:pPr algn="ctr"/>
                      <a:r>
                        <a:rPr sz="850" b="0">
                          <a:solidFill>
                            <a:srgbClr val="1F1F1F"/>
                          </a:solidFill>
                          <a:latin typeface="Calibri"/>
                        </a:rPr>
                        <a:t>1.07%</a:t>
                      </a:r>
                    </a:p>
                  </a:txBody>
                  <a:tcPr marL="36576" marR="36576" marT="9144" marB="9144" anchor="ctr">
                    <a:solidFill>
                      <a:srgbClr val="FFFFFF"/>
                    </a:solidFill>
                  </a:tcPr>
                </a:tc>
                <a:tc>
                  <a:txBody>
                    <a:bodyPr wrap="square"/>
                    <a:lstStyle/>
                    <a:p>
                      <a:pPr algn="ctr"/>
                      <a:r>
                        <a:rPr sz="850" b="0">
                          <a:solidFill>
                            <a:srgbClr val="1F1F1F"/>
                          </a:solidFill>
                          <a:latin typeface="Calibri"/>
                        </a:rPr>
                        <a:t>144.0</a:t>
                      </a:r>
                    </a:p>
                  </a:txBody>
                  <a:tcPr marL="36576" marR="36576" marT="9144" marB="9144" anchor="ctr">
                    <a:solidFill>
                      <a:srgbClr val="F4B183"/>
                    </a:solidFill>
                  </a:tcPr>
                </a:tc>
              </a:tr>
              <a:tr h="307848">
                <a:tc>
                  <a:txBody>
                    <a:bodyPr wrap="square"/>
                    <a:lstStyle/>
                    <a:p>
                      <a:pPr algn="l"/>
                      <a:r>
                        <a:rPr sz="850" b="1">
                          <a:solidFill>
                            <a:srgbClr val="1F1F1F"/>
                          </a:solidFill>
                          <a:latin typeface="Calibri"/>
                        </a:rPr>
                        <a:t>Rollstock Films</a:t>
                      </a:r>
                    </a:p>
                  </a:txBody>
                  <a:tcPr marL="36576" marR="36576" marT="9144" marB="9144" anchor="ctr">
                    <a:solidFill>
                      <a:srgbClr val="F3F6F9"/>
                    </a:solidFill>
                  </a:tcPr>
                </a:tc>
                <a:tc>
                  <a:txBody>
                    <a:bodyPr wrap="square"/>
                    <a:lstStyle/>
                    <a:p>
                      <a:pPr algn="ctr"/>
                      <a:r>
                        <a:rPr sz="850" b="0">
                          <a:solidFill>
                            <a:srgbClr val="1F1F1F"/>
                          </a:solidFill>
                          <a:latin typeface="Calibri"/>
                        </a:rPr>
                        <a:t>2,753</a:t>
                      </a:r>
                    </a:p>
                  </a:txBody>
                  <a:tcPr marL="36576" marR="36576" marT="9144" marB="9144" anchor="ctr">
                    <a:solidFill>
                      <a:srgbClr val="F3F6F9"/>
                    </a:solidFill>
                  </a:tcPr>
                </a:tc>
                <a:tc>
                  <a:txBody>
                    <a:bodyPr wrap="square"/>
                    <a:lstStyle/>
                    <a:p>
                      <a:pPr algn="ctr"/>
                      <a:r>
                        <a:rPr sz="850" b="0">
                          <a:solidFill>
                            <a:srgbClr val="1F1F1F"/>
                          </a:solidFill>
                          <a:latin typeface="Calibri"/>
                        </a:rPr>
                        <a:t>2,802</a:t>
                      </a:r>
                    </a:p>
                  </a:txBody>
                  <a:tcPr marL="36576" marR="36576" marT="9144" marB="9144" anchor="ctr">
                    <a:solidFill>
                      <a:srgbClr val="F3F6F9"/>
                    </a:solidFill>
                  </a:tcPr>
                </a:tc>
                <a:tc>
                  <a:txBody>
                    <a:bodyPr wrap="square"/>
                    <a:lstStyle/>
                    <a:p>
                      <a:pPr algn="ctr"/>
                      <a:r>
                        <a:rPr sz="850" b="0">
                          <a:solidFill>
                            <a:srgbClr val="1F1F1F"/>
                          </a:solidFill>
                          <a:latin typeface="Calibri"/>
                        </a:rPr>
                        <a:t>3,145</a:t>
                      </a:r>
                    </a:p>
                  </a:txBody>
                  <a:tcPr marL="36576" marR="36576" marT="9144" marB="9144" anchor="ctr">
                    <a:solidFill>
                      <a:srgbClr val="F3F6F9"/>
                    </a:solidFill>
                  </a:tcPr>
                </a:tc>
                <a:tc>
                  <a:txBody>
                    <a:bodyPr wrap="square"/>
                    <a:lstStyle/>
                    <a:p>
                      <a:pPr algn="ctr"/>
                      <a:r>
                        <a:rPr sz="850" b="0">
                          <a:solidFill>
                            <a:srgbClr val="1F1F1F"/>
                          </a:solidFill>
                          <a:latin typeface="Calibri"/>
                        </a:rPr>
                        <a:t>1.16%</a:t>
                      </a:r>
                    </a:p>
                  </a:txBody>
                  <a:tcPr marL="36576" marR="36576" marT="9144" marB="9144" anchor="ctr">
                    <a:solidFill>
                      <a:srgbClr val="F3F6F9"/>
                    </a:solidFill>
                  </a:tcPr>
                </a:tc>
                <a:tc>
                  <a:txBody>
                    <a:bodyPr wrap="square"/>
                    <a:lstStyle/>
                    <a:p>
                      <a:pPr algn="ctr"/>
                      <a:r>
                        <a:rPr sz="850" b="0">
                          <a:solidFill>
                            <a:srgbClr val="1F1F1F"/>
                          </a:solidFill>
                          <a:latin typeface="Calibri"/>
                        </a:rPr>
                        <a:t>99.9</a:t>
                      </a:r>
                    </a:p>
                  </a:txBody>
                  <a:tcPr marL="36576" marR="36576" marT="9144" marB="9144" anchor="ctr">
                    <a:solidFill>
                      <a:srgbClr val="F7F7F7"/>
                    </a:solidFill>
                  </a:tcPr>
                </a:tc>
              </a:tr>
              <a:tr h="307848">
                <a:tc>
                  <a:txBody>
                    <a:bodyPr wrap="square"/>
                    <a:lstStyle/>
                    <a:p>
                      <a:pPr algn="l"/>
                      <a:r>
                        <a:rPr sz="850" b="1">
                          <a:solidFill>
                            <a:srgbClr val="1F1F1F"/>
                          </a:solidFill>
                          <a:latin typeface="Calibri"/>
                        </a:rPr>
                        <a:t>Premade Pouches &amp; Bags</a:t>
                      </a:r>
                    </a:p>
                  </a:txBody>
                  <a:tcPr marL="36576" marR="36576" marT="9144" marB="9144" anchor="ctr">
                    <a:solidFill>
                      <a:srgbClr val="FFFFFF"/>
                    </a:solidFill>
                  </a:tcPr>
                </a:tc>
                <a:tc>
                  <a:txBody>
                    <a:bodyPr wrap="square"/>
                    <a:lstStyle/>
                    <a:p>
                      <a:pPr algn="ctr"/>
                      <a:r>
                        <a:rPr sz="850" b="0">
                          <a:solidFill>
                            <a:srgbClr val="1F1F1F"/>
                          </a:solidFill>
                          <a:latin typeface="Calibri"/>
                        </a:rPr>
                        <a:t>2,548</a:t>
                      </a:r>
                    </a:p>
                  </a:txBody>
                  <a:tcPr marL="36576" marR="36576" marT="9144" marB="9144" anchor="ctr">
                    <a:solidFill>
                      <a:srgbClr val="FFFFFF"/>
                    </a:solidFill>
                  </a:tcPr>
                </a:tc>
                <a:tc>
                  <a:txBody>
                    <a:bodyPr wrap="square"/>
                    <a:lstStyle/>
                    <a:p>
                      <a:pPr algn="ctr"/>
                      <a:r>
                        <a:rPr sz="850" b="0">
                          <a:solidFill>
                            <a:srgbClr val="1F1F1F"/>
                          </a:solidFill>
                          <a:latin typeface="Calibri"/>
                        </a:rPr>
                        <a:t>2,594</a:t>
                      </a:r>
                    </a:p>
                  </a:txBody>
                  <a:tcPr marL="36576" marR="36576" marT="9144" marB="9144" anchor="ctr">
                    <a:solidFill>
                      <a:srgbClr val="FFFFFF"/>
                    </a:solidFill>
                  </a:tcPr>
                </a:tc>
                <a:tc>
                  <a:txBody>
                    <a:bodyPr wrap="square"/>
                    <a:lstStyle/>
                    <a:p>
                      <a:pPr algn="ctr"/>
                      <a:r>
                        <a:rPr sz="850" b="0">
                          <a:solidFill>
                            <a:srgbClr val="1F1F1F"/>
                          </a:solidFill>
                          <a:latin typeface="Calibri"/>
                        </a:rPr>
                        <a:t>2,911</a:t>
                      </a:r>
                    </a:p>
                  </a:txBody>
                  <a:tcPr marL="36576" marR="36576" marT="9144" marB="9144" anchor="ctr">
                    <a:solidFill>
                      <a:srgbClr val="FFFFFF"/>
                    </a:solidFill>
                  </a:tcPr>
                </a:tc>
                <a:tc>
                  <a:txBody>
                    <a:bodyPr wrap="square"/>
                    <a:lstStyle/>
                    <a:p>
                      <a:pPr algn="ctr"/>
                      <a:r>
                        <a:rPr sz="850" b="0">
                          <a:solidFill>
                            <a:srgbClr val="1F1F1F"/>
                          </a:solidFill>
                          <a:latin typeface="Calibri"/>
                        </a:rPr>
                        <a:t>1.16%</a:t>
                      </a:r>
                    </a:p>
                  </a:txBody>
                  <a:tcPr marL="36576" marR="36576" marT="9144" marB="9144" anchor="ctr">
                    <a:solidFill>
                      <a:srgbClr val="FFFFFF"/>
                    </a:solidFill>
                  </a:tcPr>
                </a:tc>
                <a:tc>
                  <a:txBody>
                    <a:bodyPr wrap="square"/>
                    <a:lstStyle/>
                    <a:p>
                      <a:pPr algn="ctr"/>
                      <a:r>
                        <a:rPr sz="850" b="0">
                          <a:solidFill>
                            <a:srgbClr val="1F1F1F"/>
                          </a:solidFill>
                          <a:latin typeface="Calibri"/>
                        </a:rPr>
                        <a:t>92.5</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Sachets &amp; Stick Packs</a:t>
                      </a:r>
                    </a:p>
                  </a:txBody>
                  <a:tcPr marL="36576" marR="36576" marT="9144" marB="9144" anchor="ctr">
                    <a:solidFill>
                      <a:srgbClr val="F3F6F9"/>
                    </a:solidFill>
                  </a:tcPr>
                </a:tc>
                <a:tc>
                  <a:txBody>
                    <a:bodyPr wrap="square"/>
                    <a:lstStyle/>
                    <a:p>
                      <a:pPr algn="ctr"/>
                      <a:r>
                        <a:rPr sz="850" b="0">
                          <a:solidFill>
                            <a:srgbClr val="1F1F1F"/>
                          </a:solidFill>
                          <a:latin typeface="Calibri"/>
                        </a:rPr>
                        <a:t>2,378</a:t>
                      </a:r>
                    </a:p>
                  </a:txBody>
                  <a:tcPr marL="36576" marR="36576" marT="9144" marB="9144" anchor="ctr">
                    <a:solidFill>
                      <a:srgbClr val="F3F6F9"/>
                    </a:solidFill>
                  </a:tcPr>
                </a:tc>
                <a:tc>
                  <a:txBody>
                    <a:bodyPr wrap="square"/>
                    <a:lstStyle/>
                    <a:p>
                      <a:pPr algn="ctr"/>
                      <a:r>
                        <a:rPr sz="850" b="0">
                          <a:solidFill>
                            <a:srgbClr val="1F1F1F"/>
                          </a:solidFill>
                          <a:latin typeface="Calibri"/>
                        </a:rPr>
                        <a:t>2,426</a:t>
                      </a:r>
                    </a:p>
                  </a:txBody>
                  <a:tcPr marL="36576" marR="36576" marT="9144" marB="9144" anchor="ctr">
                    <a:solidFill>
                      <a:srgbClr val="F3F6F9"/>
                    </a:solidFill>
                  </a:tcPr>
                </a:tc>
                <a:tc>
                  <a:txBody>
                    <a:bodyPr wrap="square"/>
                    <a:lstStyle/>
                    <a:p>
                      <a:pPr algn="ctr"/>
                      <a:r>
                        <a:rPr sz="850" b="0">
                          <a:solidFill>
                            <a:srgbClr val="1F1F1F"/>
                          </a:solidFill>
                          <a:latin typeface="Calibri"/>
                        </a:rPr>
                        <a:t>2,732</a:t>
                      </a:r>
                    </a:p>
                  </a:txBody>
                  <a:tcPr marL="36576" marR="36576" marT="9144" marB="9144" anchor="ctr">
                    <a:solidFill>
                      <a:srgbClr val="F3F6F9"/>
                    </a:solidFill>
                  </a:tcPr>
                </a:tc>
                <a:tc>
                  <a:txBody>
                    <a:bodyPr wrap="square"/>
                    <a:lstStyle/>
                    <a:p>
                      <a:pPr algn="ctr"/>
                      <a:r>
                        <a:rPr sz="850" b="0">
                          <a:solidFill>
                            <a:srgbClr val="1F1F1F"/>
                          </a:solidFill>
                          <a:latin typeface="Calibri"/>
                        </a:rPr>
                        <a:t>1.19%</a:t>
                      </a:r>
                    </a:p>
                  </a:txBody>
                  <a:tcPr marL="36576" marR="36576" marT="9144" marB="9144" anchor="ctr">
                    <a:solidFill>
                      <a:srgbClr val="F3F6F9"/>
                    </a:solidFill>
                  </a:tcPr>
                </a:tc>
                <a:tc>
                  <a:txBody>
                    <a:bodyPr wrap="square"/>
                    <a:lstStyle/>
                    <a:p>
                      <a:pPr algn="ctr"/>
                      <a:r>
                        <a:rPr sz="850" b="0">
                          <a:solidFill>
                            <a:srgbClr val="1F1F1F"/>
                          </a:solidFill>
                          <a:latin typeface="Calibri"/>
                        </a:rPr>
                        <a:t>86.5</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South Asia &amp; Pacific Average</a:t>
                      </a:r>
                    </a:p>
                  </a:txBody>
                  <a:tcPr marL="36576" marR="36576" marT="9144" marB="9144" anchor="ctr">
                    <a:solidFill>
                      <a:srgbClr val="F3F6F9"/>
                    </a:solidFill>
                  </a:tcPr>
                </a:tc>
                <a:tc>
                  <a:txBody>
                    <a:bodyPr wrap="square"/>
                    <a:lstStyle/>
                    <a:p>
                      <a:pPr algn="ctr"/>
                      <a:r>
                        <a:rPr sz="850" b="0">
                          <a:solidFill>
                            <a:srgbClr val="1F1F1F"/>
                          </a:solidFill>
                          <a:latin typeface="Calibri"/>
                        </a:rPr>
                        <a:t>2,753</a:t>
                      </a:r>
                    </a:p>
                  </a:txBody>
                  <a:tcPr marL="36576" marR="36576" marT="9144" marB="9144" anchor="ctr">
                    <a:solidFill>
                      <a:srgbClr val="F3F6F9"/>
                    </a:solidFill>
                  </a:tcPr>
                </a:tc>
                <a:tc>
                  <a:txBody>
                    <a:bodyPr wrap="square"/>
                    <a:lstStyle/>
                    <a:p>
                      <a:pPr algn="ctr"/>
                      <a:r>
                        <a:rPr sz="850" b="0">
                          <a:solidFill>
                            <a:srgbClr val="1F1F1F"/>
                          </a:solidFill>
                          <a:latin typeface="Calibri"/>
                        </a:rPr>
                        <a:t>2,805</a:t>
                      </a:r>
                    </a:p>
                  </a:txBody>
                  <a:tcPr marL="36576" marR="36576" marT="9144" marB="9144" anchor="ctr">
                    <a:solidFill>
                      <a:srgbClr val="F3F6F9"/>
                    </a:solidFill>
                  </a:tcPr>
                </a:tc>
                <a:tc>
                  <a:txBody>
                    <a:bodyPr wrap="square"/>
                    <a:lstStyle/>
                    <a:p>
                      <a:pPr algn="ctr"/>
                      <a:r>
                        <a:rPr sz="850" b="0">
                          <a:solidFill>
                            <a:srgbClr val="1F1F1F"/>
                          </a:solidFill>
                          <a:latin typeface="Calibri"/>
                        </a:rPr>
                        <a:t>3,146</a:t>
                      </a:r>
                    </a:p>
                  </a:txBody>
                  <a:tcPr marL="36576" marR="36576" marT="9144" marB="9144" anchor="ctr">
                    <a:solidFill>
                      <a:srgbClr val="F3F6F9"/>
                    </a:solidFill>
                  </a:tcPr>
                </a:tc>
                <a:tc>
                  <a:txBody>
                    <a:bodyPr wrap="square"/>
                    <a:lstStyle/>
                    <a:p>
                      <a:pPr algn="ctr"/>
                      <a:r>
                        <a:rPr sz="850" b="0">
                          <a:solidFill>
                            <a:srgbClr val="1F1F1F"/>
                          </a:solidFill>
                          <a:latin typeface="Calibri"/>
                        </a:rPr>
                        <a:t>1.15%</a:t>
                      </a:r>
                    </a:p>
                  </a:txBody>
                  <a:tcPr marL="36576" marR="36576" marT="9144" marB="9144" anchor="ctr">
                    <a:solidFill>
                      <a:srgbClr val="F3F6F9"/>
                    </a:solidFill>
                  </a:tcPr>
                </a:tc>
                <a:tc>
                  <a:txBody>
                    <a:bodyPr wrap="square"/>
                    <a:lstStyle/>
                    <a:p>
                      <a:pPr algn="ctr"/>
                      <a:r>
                        <a:rPr sz="850" b="0">
                          <a:solidFill>
                            <a:srgbClr val="1F1F1F"/>
                          </a:solidFill>
                          <a:latin typeface="Calibri"/>
                        </a:rPr>
                        <a:t>100.0</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Barrier Casings sit at the top of the 2026 price ladder at an index of 144.0, while Sachets &amp; Stick Packs trade at 86.5, which keeps the full product type spread within 66.5%.</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Sachets &amp; Stick Packs post the fastest price growth at a 1.19% CAGR between 2026 and 2036, compared with 1.07% for Barrier Casings.</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The South Asia &amp; Pacific average price rises from US$ 2,805/MT in 2026 to US$ 3,146/MT in 2036, and the gap between the highest and lowest priced product type moves from 65.6% in 2021 to 64.5% in 2036.</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(MT).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Pricing Assessment: Country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average price and price range across product types, 2026 (US$/MT)</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Australia is the most premium South Asia &amp; Pacific market at US$ 3,619/MT in 2026, +29.0% above the regional average, while India is the lowest priced.</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Range Across Product Types by Country (US$/MT),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r:id="rId3"/>
          </a:graphicData>
        </a:graphic>
      </p:graphicFrame>
      <p:sp>
        <p:nvSpPr>
          <p:cNvPr id="14" name="TextBox 13"/>
          <p:cNvSpPr txBox="1"/>
          <p:nvPr/>
        </p:nvSpPr>
        <p:spPr>
          <a:xfrm>
            <a:off x="384048" y="1804035"/>
            <a:ext cx="722376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the lowest to highest product type price in each country, read on the price index axis (South Asia &amp; Pacific average = 100). Teal = above South Asia &amp; Pacific average, blue = below.</a:t>
            </a: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2"/>
        </p:xfrm>
        <a:graphic>
          <a:graphicData uri="http://schemas.openxmlformats.org/drawingml/2006/table">
            <a:tbl>
              <a:tblPr firstRow="1" bandRow="1">
                <a:tableStyleId>{5C22544A-7EE6-4342-B048-85BDC9FD1C3A}</a:tableStyleId>
              </a:tblPr>
              <a:tblGrid>
                <a:gridCol w="1417320"/>
                <a:gridCol w="786384"/>
                <a:gridCol w="658368"/>
                <a:gridCol w="914400"/>
              </a:tblGrid>
              <a:tr h="343408">
                <a:tc>
                  <a:txBody>
                    <a:bodyPr wrap="square"/>
                    <a:lstStyle/>
                    <a:p>
                      <a:pPr algn="l"/>
                      <a:r>
                        <a:rPr sz="900" b="1">
                          <a:solidFill>
                            <a:srgbClr val="FFFFFF"/>
                          </a:solidFill>
                          <a:latin typeface="Calibri"/>
                        </a:rPr>
                        <a:t>Country</a:t>
                      </a:r>
                    </a:p>
                  </a:txBody>
                  <a:tcPr marL="36576" marR="36576" marT="9144" marB="9144" anchor="ctr">
                    <a:solidFill>
                      <a:srgbClr val="0B2E4A"/>
                    </a:solidFill>
                  </a:tcPr>
                </a:tc>
                <a:tc>
                  <a:txBody>
                    <a:bodyPr wrap="square"/>
                    <a:lstStyle/>
                    <a:p>
                      <a:pPr algn="ctr"/>
                      <a:r>
                        <a:rPr sz="900" b="1">
                          <a:solidFill>
                            <a:srgbClr val="FFFFFF"/>
                          </a:solidFill>
                          <a:latin typeface="Calibri"/>
                        </a:rPr>
                        <a:t>Avg. 2026</a:t>
                      </a:r>
                    </a:p>
                  </a:txBody>
                  <a:tcPr marL="36576" marR="36576" marT="9144" marB="9144" anchor="ctr">
                    <a:solidFill>
                      <a:srgbClr val="0B2E4A"/>
                    </a:solidFill>
                  </a:tcPr>
                </a:tc>
                <a:tc>
                  <a:txBody>
                    <a:bodyPr wrap="square"/>
                    <a:lstStyle/>
                    <a:p>
                      <a:pPr algn="ctr"/>
                      <a:r>
                        <a:rPr sz="900" b="1">
                          <a:solidFill>
                            <a:srgbClr val="FFFFFF"/>
                          </a:solidFill>
                          <a:latin typeface="Calibri"/>
                        </a:rPr>
                        <a:t>Index</a:t>
                      </a:r>
                    </a:p>
                  </a:txBody>
                  <a:tcPr marL="36576" marR="36576" marT="9144" marB="9144" anchor="ctr">
                    <a:solidFill>
                      <a:srgbClr val="0B2E4A"/>
                    </a:solidFill>
                  </a:tcPr>
                </a:tc>
                <a:tc>
                  <a:txBody>
                    <a:bodyPr wrap="square"/>
                    <a:lstStyle/>
                    <a:p>
                      <a:pPr algn="ctr"/>
                      <a:r>
                        <a:rPr sz="900" b="1">
                          <a:solidFill>
                            <a:srgbClr val="FFFFFF"/>
                          </a:solidFill>
                          <a:latin typeface="Calibri"/>
                        </a:rPr>
                        <a:t>CAGR 2026 to 2036</a:t>
                      </a:r>
                    </a:p>
                  </a:txBody>
                  <a:tcPr marL="36576" marR="36576" marT="9144" marB="9144" anchor="ctr">
                    <a:solidFill>
                      <a:srgbClr val="0B2E4A"/>
                    </a:solidFill>
                  </a:tcPr>
                </a:tc>
              </a:tr>
              <a:tr h="343408">
                <a:tc>
                  <a:txBody>
                    <a:bodyPr wrap="square"/>
                    <a:lstStyle/>
                    <a:p>
                      <a:pPr algn="l"/>
                      <a:r>
                        <a:rPr sz="900" b="1">
                          <a:solidFill>
                            <a:srgbClr val="1F1F1F"/>
                          </a:solidFill>
                          <a:latin typeface="Calibri"/>
                        </a:rPr>
                        <a:t>Australia</a:t>
                      </a:r>
                    </a:p>
                  </a:txBody>
                  <a:tcPr marL="36576" marR="36576" marT="9144" marB="9144" anchor="ctr">
                    <a:solidFill>
                      <a:srgbClr val="FFFFFF"/>
                    </a:solidFill>
                  </a:tcPr>
                </a:tc>
                <a:tc>
                  <a:txBody>
                    <a:bodyPr wrap="square"/>
                    <a:lstStyle/>
                    <a:p>
                      <a:pPr algn="ctr"/>
                      <a:r>
                        <a:rPr sz="900" b="0">
                          <a:solidFill>
                            <a:srgbClr val="1F1F1F"/>
                          </a:solidFill>
                          <a:latin typeface="Calibri"/>
                        </a:rPr>
                        <a:t>3,619</a:t>
                      </a:r>
                    </a:p>
                  </a:txBody>
                  <a:tcPr marL="36576" marR="36576" marT="9144" marB="9144" anchor="ctr">
                    <a:solidFill>
                      <a:srgbClr val="FFFFFF"/>
                    </a:solidFill>
                  </a:tcPr>
                </a:tc>
                <a:tc>
                  <a:txBody>
                    <a:bodyPr wrap="square"/>
                    <a:lstStyle/>
                    <a:p>
                      <a:pPr algn="ctr"/>
                      <a:r>
                        <a:rPr sz="900" b="0">
                          <a:solidFill>
                            <a:srgbClr val="1F1F1F"/>
                          </a:solidFill>
                          <a:latin typeface="Calibri"/>
                        </a:rPr>
                        <a:t>129.0</a:t>
                      </a:r>
                    </a:p>
                  </a:txBody>
                  <a:tcPr marL="36576" marR="36576" marT="9144" marB="9144" anchor="ctr">
                    <a:solidFill>
                      <a:srgbClr val="F4B183"/>
                    </a:solidFill>
                  </a:tcPr>
                </a:tc>
                <a:tc>
                  <a:txBody>
                    <a:bodyPr wrap="square"/>
                    <a:lstStyle/>
                    <a:p>
                      <a:pPr algn="ctr"/>
                      <a:r>
                        <a:rPr sz="900" b="0">
                          <a:solidFill>
                            <a:srgbClr val="1F1F1F"/>
                          </a:solidFill>
                          <a:latin typeface="Calibri"/>
                        </a:rPr>
                        <a:t>1.24%</a:t>
                      </a:r>
                    </a:p>
                  </a:txBody>
                  <a:tcPr marL="36576" marR="36576" marT="9144" marB="9144" anchor="ctr">
                    <a:solidFill>
                      <a:srgbClr val="FFFFFF"/>
                    </a:solidFill>
                  </a:tcPr>
                </a:tc>
              </a:tr>
              <a:tr h="343408">
                <a:tc>
                  <a:txBody>
                    <a:bodyPr wrap="square"/>
                    <a:lstStyle/>
                    <a:p>
                      <a:pPr algn="l"/>
                      <a:r>
                        <a:rPr sz="900" b="1">
                          <a:solidFill>
                            <a:srgbClr val="1F1F1F"/>
                          </a:solidFill>
                          <a:latin typeface="Calibri"/>
                        </a:rPr>
                        <a:t>New Zealand</a:t>
                      </a:r>
                    </a:p>
                  </a:txBody>
                  <a:tcPr marL="36576" marR="36576" marT="9144" marB="9144" anchor="ctr">
                    <a:solidFill>
                      <a:srgbClr val="F3F6F9"/>
                    </a:solidFill>
                  </a:tcPr>
                </a:tc>
                <a:tc>
                  <a:txBody>
                    <a:bodyPr wrap="square"/>
                    <a:lstStyle/>
                    <a:p>
                      <a:pPr algn="ctr"/>
                      <a:r>
                        <a:rPr sz="900" b="0">
                          <a:solidFill>
                            <a:srgbClr val="1F1F1F"/>
                          </a:solidFill>
                          <a:latin typeface="Calibri"/>
                        </a:rPr>
                        <a:t>3,588</a:t>
                      </a:r>
                    </a:p>
                  </a:txBody>
                  <a:tcPr marL="36576" marR="36576" marT="9144" marB="9144" anchor="ctr">
                    <a:solidFill>
                      <a:srgbClr val="F3F6F9"/>
                    </a:solidFill>
                  </a:tcPr>
                </a:tc>
                <a:tc>
                  <a:txBody>
                    <a:bodyPr wrap="square"/>
                    <a:lstStyle/>
                    <a:p>
                      <a:pPr algn="ctr"/>
                      <a:r>
                        <a:rPr sz="900" b="0">
                          <a:solidFill>
                            <a:srgbClr val="1F1F1F"/>
                          </a:solidFill>
                          <a:latin typeface="Calibri"/>
                        </a:rPr>
                        <a:t>127.9</a:t>
                      </a:r>
                    </a:p>
                  </a:txBody>
                  <a:tcPr marL="36576" marR="36576" marT="9144" marB="9144" anchor="ctr">
                    <a:solidFill>
                      <a:srgbClr val="F4B183"/>
                    </a:solidFill>
                  </a:tcPr>
                </a:tc>
                <a:tc>
                  <a:txBody>
                    <a:bodyPr wrap="square"/>
                    <a:lstStyle/>
                    <a:p>
                      <a:pPr algn="ctr"/>
                      <a:r>
                        <a:rPr sz="900" b="0">
                          <a:solidFill>
                            <a:srgbClr val="1F1F1F"/>
                          </a:solidFill>
                          <a:latin typeface="Calibri"/>
                        </a:rPr>
                        <a:t>1.37%</a:t>
                      </a:r>
                    </a:p>
                  </a:txBody>
                  <a:tcPr marL="36576" marR="36576" marT="9144" marB="9144" anchor="ctr">
                    <a:solidFill>
                      <a:srgbClr val="F3F6F9"/>
                    </a:solidFill>
                  </a:tcPr>
                </a:tc>
              </a:tr>
              <a:tr h="343408">
                <a:tc>
                  <a:txBody>
                    <a:bodyPr wrap="square"/>
                    <a:lstStyle/>
                    <a:p>
                      <a:pPr algn="l"/>
                      <a:r>
                        <a:rPr sz="900" b="1">
                          <a:solidFill>
                            <a:srgbClr val="1F1F1F"/>
                          </a:solidFill>
                          <a:latin typeface="Calibri"/>
                        </a:rPr>
                        <a:t>Singapore</a:t>
                      </a:r>
                    </a:p>
                  </a:txBody>
                  <a:tcPr marL="36576" marR="36576" marT="9144" marB="9144" anchor="ctr">
                    <a:solidFill>
                      <a:srgbClr val="FFFFFF"/>
                    </a:solidFill>
                  </a:tcPr>
                </a:tc>
                <a:tc>
                  <a:txBody>
                    <a:bodyPr wrap="square"/>
                    <a:lstStyle/>
                    <a:p>
                      <a:pPr algn="ctr"/>
                      <a:r>
                        <a:rPr sz="900" b="0">
                          <a:solidFill>
                            <a:srgbClr val="1F1F1F"/>
                          </a:solidFill>
                          <a:latin typeface="Calibri"/>
                        </a:rPr>
                        <a:t>3,365</a:t>
                      </a:r>
                    </a:p>
                  </a:txBody>
                  <a:tcPr marL="36576" marR="36576" marT="9144" marB="9144" anchor="ctr">
                    <a:solidFill>
                      <a:srgbClr val="FFFFFF"/>
                    </a:solidFill>
                  </a:tcPr>
                </a:tc>
                <a:tc>
                  <a:txBody>
                    <a:bodyPr wrap="square"/>
                    <a:lstStyle/>
                    <a:p>
                      <a:pPr algn="ctr"/>
                      <a:r>
                        <a:rPr sz="900" b="0">
                          <a:solidFill>
                            <a:srgbClr val="1F1F1F"/>
                          </a:solidFill>
                          <a:latin typeface="Calibri"/>
                        </a:rPr>
                        <a:t>120.0</a:t>
                      </a:r>
                    </a:p>
                  </a:txBody>
                  <a:tcPr marL="36576" marR="36576" marT="9144" marB="9144" anchor="ctr">
                    <a:solidFill>
                      <a:srgbClr val="F4B183"/>
                    </a:solidFill>
                  </a:tcPr>
                </a:tc>
                <a:tc>
                  <a:txBody>
                    <a:bodyPr wrap="square"/>
                    <a:lstStyle/>
                    <a:p>
                      <a:pPr algn="ctr"/>
                      <a:r>
                        <a:rPr sz="900" b="0">
                          <a:solidFill>
                            <a:srgbClr val="1F1F1F"/>
                          </a:solidFill>
                          <a:latin typeface="Calibri"/>
                        </a:rPr>
                        <a:t>1.37%</a:t>
                      </a:r>
                    </a:p>
                  </a:txBody>
                  <a:tcPr marL="36576" marR="36576" marT="9144" marB="9144" anchor="ctr">
                    <a:solidFill>
                      <a:srgbClr val="FFFFFF"/>
                    </a:solidFill>
                  </a:tcPr>
                </a:tc>
              </a:tr>
              <a:tr h="343408">
                <a:tc>
                  <a:txBody>
                    <a:bodyPr wrap="square"/>
                    <a:lstStyle/>
                    <a:p>
                      <a:pPr algn="l"/>
                      <a:r>
                        <a:rPr sz="900" b="1">
                          <a:solidFill>
                            <a:srgbClr val="1F1F1F"/>
                          </a:solidFill>
                          <a:latin typeface="Calibri"/>
                        </a:rPr>
                        <a:t>Philippines</a:t>
                      </a:r>
                    </a:p>
                  </a:txBody>
                  <a:tcPr marL="36576" marR="36576" marT="9144" marB="9144" anchor="ctr">
                    <a:solidFill>
                      <a:srgbClr val="F3F6F9"/>
                    </a:solidFill>
                  </a:tcPr>
                </a:tc>
                <a:tc>
                  <a:txBody>
                    <a:bodyPr wrap="square"/>
                    <a:lstStyle/>
                    <a:p>
                      <a:pPr algn="ctr"/>
                      <a:r>
                        <a:rPr sz="900" b="0">
                          <a:solidFill>
                            <a:srgbClr val="1F1F1F"/>
                          </a:solidFill>
                          <a:latin typeface="Calibri"/>
                        </a:rPr>
                        <a:t>2,772</a:t>
                      </a:r>
                    </a:p>
                  </a:txBody>
                  <a:tcPr marL="36576" marR="36576" marT="9144" marB="9144" anchor="ctr">
                    <a:solidFill>
                      <a:srgbClr val="F3F6F9"/>
                    </a:solidFill>
                  </a:tcPr>
                </a:tc>
                <a:tc>
                  <a:txBody>
                    <a:bodyPr wrap="square"/>
                    <a:lstStyle/>
                    <a:p>
                      <a:pPr algn="ctr"/>
                      <a:r>
                        <a:rPr sz="900" b="0">
                          <a:solidFill>
                            <a:srgbClr val="1F1F1F"/>
                          </a:solidFill>
                          <a:latin typeface="Calibri"/>
                        </a:rPr>
                        <a:t>98.8</a:t>
                      </a:r>
                    </a:p>
                  </a:txBody>
                  <a:tcPr marL="36576" marR="36576" marT="9144" marB="9144" anchor="ctr">
                    <a:solidFill>
                      <a:srgbClr val="D9E6F2"/>
                    </a:solidFill>
                  </a:tcPr>
                </a:tc>
                <a:tc>
                  <a:txBody>
                    <a:bodyPr wrap="square"/>
                    <a:lstStyle/>
                    <a:p>
                      <a:pPr algn="ctr"/>
                      <a:r>
                        <a:rPr sz="900" b="0">
                          <a:solidFill>
                            <a:srgbClr val="1F1F1F"/>
                          </a:solidFill>
                          <a:latin typeface="Calibri"/>
                        </a:rPr>
                        <a:t>1.33%</a:t>
                      </a:r>
                    </a:p>
                  </a:txBody>
                  <a:tcPr marL="36576" marR="36576" marT="9144" marB="9144" anchor="ctr">
                    <a:solidFill>
                      <a:srgbClr val="F3F6F9"/>
                    </a:solidFill>
                  </a:tcPr>
                </a:tc>
              </a:tr>
              <a:tr h="343408">
                <a:tc>
                  <a:txBody>
                    <a:bodyPr wrap="square"/>
                    <a:lstStyle/>
                    <a:p>
                      <a:pPr algn="l"/>
                      <a:r>
                        <a:rPr sz="900" b="1">
                          <a:solidFill>
                            <a:srgbClr val="1F1F1F"/>
                          </a:solidFill>
                          <a:latin typeface="Calibri"/>
                        </a:rPr>
                        <a:t>Malaysia</a:t>
                      </a:r>
                    </a:p>
                  </a:txBody>
                  <a:tcPr marL="36576" marR="36576" marT="9144" marB="9144" anchor="ctr">
                    <a:solidFill>
                      <a:srgbClr val="FFFFFF"/>
                    </a:solidFill>
                  </a:tcPr>
                </a:tc>
                <a:tc>
                  <a:txBody>
                    <a:bodyPr wrap="square"/>
                    <a:lstStyle/>
                    <a:p>
                      <a:pPr algn="ctr"/>
                      <a:r>
                        <a:rPr sz="900" b="0">
                          <a:solidFill>
                            <a:srgbClr val="1F1F1F"/>
                          </a:solidFill>
                          <a:latin typeface="Calibri"/>
                        </a:rPr>
                        <a:t>2,738</a:t>
                      </a:r>
                    </a:p>
                  </a:txBody>
                  <a:tcPr marL="36576" marR="36576" marT="9144" marB="9144" anchor="ctr">
                    <a:solidFill>
                      <a:srgbClr val="FFFFFF"/>
                    </a:solidFill>
                  </a:tcPr>
                </a:tc>
                <a:tc>
                  <a:txBody>
                    <a:bodyPr wrap="square"/>
                    <a:lstStyle/>
                    <a:p>
                      <a:pPr algn="ctr"/>
                      <a:r>
                        <a:rPr sz="900" b="0">
                          <a:solidFill>
                            <a:srgbClr val="1F1F1F"/>
                          </a:solidFill>
                          <a:latin typeface="Calibri"/>
                        </a:rPr>
                        <a:t>97.6</a:t>
                      </a:r>
                    </a:p>
                  </a:txBody>
                  <a:tcPr marL="36576" marR="36576" marT="9144" marB="9144" anchor="ctr">
                    <a:solidFill>
                      <a:srgbClr val="D9E6F2"/>
                    </a:solidFill>
                  </a:tcPr>
                </a:tc>
                <a:tc>
                  <a:txBody>
                    <a:bodyPr wrap="square"/>
                    <a:lstStyle/>
                    <a:p>
                      <a:pPr algn="ctr"/>
                      <a:r>
                        <a:rPr sz="900" b="0">
                          <a:solidFill>
                            <a:srgbClr val="1F1F1F"/>
                          </a:solidFill>
                          <a:latin typeface="Calibri"/>
                        </a:rPr>
                        <a:t>1.30%</a:t>
                      </a:r>
                    </a:p>
                  </a:txBody>
                  <a:tcPr marL="36576" marR="36576" marT="9144" marB="9144" anchor="ctr">
                    <a:solidFill>
                      <a:srgbClr val="FFFFFF"/>
                    </a:solidFill>
                  </a:tcPr>
                </a:tc>
              </a:tr>
              <a:tr h="343408">
                <a:tc>
                  <a:txBody>
                    <a:bodyPr wrap="square"/>
                    <a:lstStyle/>
                    <a:p>
                      <a:pPr algn="l"/>
                      <a:r>
                        <a:rPr sz="900" b="1">
                          <a:solidFill>
                            <a:srgbClr val="1F1F1F"/>
                          </a:solidFill>
                          <a:latin typeface="Calibri"/>
                        </a:rPr>
                        <a:t>Thailand</a:t>
                      </a:r>
                    </a:p>
                  </a:txBody>
                  <a:tcPr marL="36576" marR="36576" marT="9144" marB="9144" anchor="ctr">
                    <a:solidFill>
                      <a:srgbClr val="F3F6F9"/>
                    </a:solidFill>
                  </a:tcPr>
                </a:tc>
                <a:tc>
                  <a:txBody>
                    <a:bodyPr wrap="square"/>
                    <a:lstStyle/>
                    <a:p>
                      <a:pPr algn="ctr"/>
                      <a:r>
                        <a:rPr sz="900" b="0">
                          <a:solidFill>
                            <a:srgbClr val="1F1F1F"/>
                          </a:solidFill>
                          <a:latin typeface="Calibri"/>
                        </a:rPr>
                        <a:t>2,681</a:t>
                      </a:r>
                    </a:p>
                  </a:txBody>
                  <a:tcPr marL="36576" marR="36576" marT="9144" marB="9144" anchor="ctr">
                    <a:solidFill>
                      <a:srgbClr val="F3F6F9"/>
                    </a:solidFill>
                  </a:tcPr>
                </a:tc>
                <a:tc>
                  <a:txBody>
                    <a:bodyPr wrap="square"/>
                    <a:lstStyle/>
                    <a:p>
                      <a:pPr algn="ctr"/>
                      <a:r>
                        <a:rPr sz="900" b="0">
                          <a:solidFill>
                            <a:srgbClr val="1F1F1F"/>
                          </a:solidFill>
                          <a:latin typeface="Calibri"/>
                        </a:rPr>
                        <a:t>95.6</a:t>
                      </a:r>
                    </a:p>
                  </a:txBody>
                  <a:tcPr marL="36576" marR="36576" marT="9144" marB="9144" anchor="ctr">
                    <a:solidFill>
                      <a:srgbClr val="9DC0E0"/>
                    </a:solidFill>
                  </a:tcPr>
                </a:tc>
                <a:tc>
                  <a:txBody>
                    <a:bodyPr wrap="square"/>
                    <a:lstStyle/>
                    <a:p>
                      <a:pPr algn="ctr"/>
                      <a:r>
                        <a:rPr sz="900" b="0">
                          <a:solidFill>
                            <a:srgbClr val="1F1F1F"/>
                          </a:solidFill>
                          <a:latin typeface="Calibri"/>
                        </a:rPr>
                        <a:t>1.30%</a:t>
                      </a:r>
                    </a:p>
                  </a:txBody>
                  <a:tcPr marL="36576" marR="36576" marT="9144" marB="9144" anchor="ctr">
                    <a:solidFill>
                      <a:srgbClr val="F3F6F9"/>
                    </a:solidFill>
                  </a:tcPr>
                </a:tc>
              </a:tr>
              <a:tr h="343408">
                <a:tc>
                  <a:txBody>
                    <a:bodyPr wrap="square"/>
                    <a:lstStyle/>
                    <a:p>
                      <a:pPr algn="l"/>
                      <a:r>
                        <a:rPr sz="900" b="1">
                          <a:solidFill>
                            <a:srgbClr val="1F1F1F"/>
                          </a:solidFill>
                          <a:latin typeface="Calibri"/>
                        </a:rPr>
                        <a:t>Indonesia</a:t>
                      </a:r>
                    </a:p>
                  </a:txBody>
                  <a:tcPr marL="36576" marR="36576" marT="9144" marB="9144" anchor="ctr">
                    <a:solidFill>
                      <a:srgbClr val="FFFFFF"/>
                    </a:solidFill>
                  </a:tcPr>
                </a:tc>
                <a:tc>
                  <a:txBody>
                    <a:bodyPr wrap="square"/>
                    <a:lstStyle/>
                    <a:p>
                      <a:pPr algn="ctr"/>
                      <a:r>
                        <a:rPr sz="900" b="0">
                          <a:solidFill>
                            <a:srgbClr val="1F1F1F"/>
                          </a:solidFill>
                          <a:latin typeface="Calibri"/>
                        </a:rPr>
                        <a:t>2,607</a:t>
                      </a:r>
                    </a:p>
                  </a:txBody>
                  <a:tcPr marL="36576" marR="36576" marT="9144" marB="9144" anchor="ctr">
                    <a:solidFill>
                      <a:srgbClr val="FFFFFF"/>
                    </a:solidFill>
                  </a:tcPr>
                </a:tc>
                <a:tc>
                  <a:txBody>
                    <a:bodyPr wrap="square"/>
                    <a:lstStyle/>
                    <a:p>
                      <a:pPr algn="ctr"/>
                      <a:r>
                        <a:rPr sz="900" b="0">
                          <a:solidFill>
                            <a:srgbClr val="1F1F1F"/>
                          </a:solidFill>
                          <a:latin typeface="Calibri"/>
                        </a:rPr>
                        <a:t>92.9</a:t>
                      </a:r>
                    </a:p>
                  </a:txBody>
                  <a:tcPr marL="36576" marR="36576" marT="9144" marB="9144" anchor="ctr">
                    <a:solidFill>
                      <a:srgbClr val="9DC0E0"/>
                    </a:solidFill>
                  </a:tcPr>
                </a:tc>
                <a:tc>
                  <a:txBody>
                    <a:bodyPr wrap="square"/>
                    <a:lstStyle/>
                    <a:p>
                      <a:pPr algn="ctr"/>
                      <a:r>
                        <a:rPr sz="900" b="0">
                          <a:solidFill>
                            <a:srgbClr val="1F1F1F"/>
                          </a:solidFill>
                          <a:latin typeface="Calibri"/>
                        </a:rPr>
                        <a:t>1.26%</a:t>
                      </a:r>
                    </a:p>
                  </a:txBody>
                  <a:tcPr marL="36576" marR="36576" marT="9144" marB="9144" anchor="ctr">
                    <a:solidFill>
                      <a:srgbClr val="FFFFFF"/>
                    </a:solidFill>
                  </a:tcPr>
                </a:tc>
              </a:tr>
              <a:tr h="343408">
                <a:tc>
                  <a:txBody>
                    <a:bodyPr wrap="square"/>
                    <a:lstStyle/>
                    <a:p>
                      <a:pPr algn="l"/>
                      <a:r>
                        <a:rPr sz="900" b="1">
                          <a:solidFill>
                            <a:srgbClr val="1F1F1F"/>
                          </a:solidFill>
                          <a:latin typeface="Calibri"/>
                        </a:rPr>
                        <a:t>India</a:t>
                      </a:r>
                    </a:p>
                  </a:txBody>
                  <a:tcPr marL="36576" marR="36576" marT="9144" marB="9144" anchor="ctr">
                    <a:solidFill>
                      <a:srgbClr val="F3F6F9"/>
                    </a:solidFill>
                  </a:tcPr>
                </a:tc>
                <a:tc>
                  <a:txBody>
                    <a:bodyPr wrap="square"/>
                    <a:lstStyle/>
                    <a:p>
                      <a:pPr algn="ctr"/>
                      <a:r>
                        <a:rPr sz="900" b="0">
                          <a:solidFill>
                            <a:srgbClr val="1F1F1F"/>
                          </a:solidFill>
                          <a:latin typeface="Calibri"/>
                        </a:rPr>
                        <a:t>2,543</a:t>
                      </a:r>
                    </a:p>
                  </a:txBody>
                  <a:tcPr marL="36576" marR="36576" marT="9144" marB="9144" anchor="ctr">
                    <a:solidFill>
                      <a:srgbClr val="F3F6F9"/>
                    </a:solidFill>
                  </a:tcPr>
                </a:tc>
                <a:tc>
                  <a:txBody>
                    <a:bodyPr wrap="square"/>
                    <a:lstStyle/>
                    <a:p>
                      <a:pPr algn="ctr"/>
                      <a:r>
                        <a:rPr sz="900" b="0">
                          <a:solidFill>
                            <a:srgbClr val="1F1F1F"/>
                          </a:solidFill>
                          <a:latin typeface="Calibri"/>
                        </a:rPr>
                        <a:t>90.6</a:t>
                      </a:r>
                    </a:p>
                  </a:txBody>
                  <a:tcPr marL="36576" marR="36576" marT="9144" marB="9144" anchor="ctr">
                    <a:solidFill>
                      <a:srgbClr val="9DC0E0"/>
                    </a:solidFill>
                  </a:tcPr>
                </a:tc>
                <a:tc>
                  <a:txBody>
                    <a:bodyPr wrap="square"/>
                    <a:lstStyle/>
                    <a:p>
                      <a:pPr algn="ctr"/>
                      <a:r>
                        <a:rPr sz="900" b="0">
                          <a:solidFill>
                            <a:srgbClr val="1F1F1F"/>
                          </a:solidFill>
                          <a:latin typeface="Calibri"/>
                        </a:rPr>
                        <a:t>1.11%</a:t>
                      </a:r>
                    </a:p>
                  </a:txBody>
                  <a:tcPr marL="36576" marR="36576" marT="9144" marB="9144" anchor="ctr">
                    <a:solidFill>
                      <a:srgbClr val="F3F6F9"/>
                    </a:solidFill>
                  </a:tcPr>
                </a:tc>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19" name="Oval 1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Country Spread</a:t>
            </a:r>
          </a:p>
        </p:txBody>
      </p:sp>
      <p:sp>
        <p:nvSpPr>
          <p:cNvPr id="21" name="TextBox 2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Average prices across the ranked countries differ by 42.3% in 2026, from US$ 2,543/MT in India to US$ 3,619/MT in Australia.</a:t>
            </a: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3" name="Oval 2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Singapore records the fastest average price growth at a 1.37% CAGR between 2026 and 2036, against 1.15% for South Asia &amp; Pacific as a whole.</a:t>
            </a: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7" name="Oval 2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Philippines shows the widest gap between its cheapest and most expensive product type at 69.1%, so product mix shifts move its average price the most.</a:t>
            </a:r>
          </a:p>
        </p:txBody>
      </p:sp>
      <p:sp>
        <p:nvSpPr>
          <p:cNvPr id="30" name="TextBox 2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Range = lowest to highest product type price in each country;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country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(US$/MT).</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1,755</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2,541</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3,328</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4,115</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4,901</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5,688</a:t>
            </a:r>
          </a:p>
        </p:txBody>
      </p:sp>
      <p:sp>
        <p:nvSpPr>
          <p:cNvPr id="25" name="TextBox 24"/>
          <p:cNvSpPr txBox="1"/>
          <p:nvPr/>
        </p:nvSpPr>
        <p:spPr>
          <a:xfrm>
            <a:off x="238125" y="2082752"/>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India</a:t>
            </a:r>
          </a:p>
        </p:txBody>
      </p:sp>
      <p:sp>
        <p:nvSpPr>
          <p:cNvPr id="26" name="Rectangle 25"/>
          <p:cNvSpPr/>
          <p:nvPr/>
        </p:nvSpPr>
        <p:spPr>
          <a:xfrm>
            <a:off x="2045494" y="2043000"/>
            <a:ext cx="2336961" cy="250956"/>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2767983" y="2106565"/>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2565359"/>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Thailand</a:t>
            </a:r>
          </a:p>
        </p:txBody>
      </p:sp>
      <p:sp>
        <p:nvSpPr>
          <p:cNvPr id="29" name="Rectangle 28"/>
          <p:cNvSpPr/>
          <p:nvPr/>
        </p:nvSpPr>
        <p:spPr>
          <a:xfrm>
            <a:off x="2250995" y="2525606"/>
            <a:ext cx="2482222" cy="250956"/>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018051" y="2589172"/>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047966"/>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Malaysia</a:t>
            </a:r>
          </a:p>
        </p:txBody>
      </p:sp>
      <p:sp>
        <p:nvSpPr>
          <p:cNvPr id="32" name="Rectangle 31"/>
          <p:cNvSpPr/>
          <p:nvPr/>
        </p:nvSpPr>
        <p:spPr>
          <a:xfrm>
            <a:off x="2345373" y="3008213"/>
            <a:ext cx="2529117" cy="250956"/>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3128134" y="3071778"/>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38125" y="3530573"/>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Indonesia</a:t>
            </a:r>
          </a:p>
        </p:txBody>
      </p:sp>
      <p:sp>
        <p:nvSpPr>
          <p:cNvPr id="35" name="Rectangle 34"/>
          <p:cNvSpPr/>
          <p:nvPr/>
        </p:nvSpPr>
        <p:spPr>
          <a:xfrm>
            <a:off x="2136959" y="3490820"/>
            <a:ext cx="2370906" cy="250956"/>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874440" y="3554385"/>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38125" y="4013180"/>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Singapore</a:t>
            </a:r>
          </a:p>
        </p:txBody>
      </p:sp>
      <p:sp>
        <p:nvSpPr>
          <p:cNvPr id="38" name="Rectangle 37"/>
          <p:cNvSpPr/>
          <p:nvPr/>
        </p:nvSpPr>
        <p:spPr>
          <a:xfrm>
            <a:off x="3200667" y="3973427"/>
            <a:ext cx="3040222" cy="250956"/>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4161365" y="4036992"/>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38125" y="4495786"/>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Philippines</a:t>
            </a:r>
          </a:p>
        </p:txBody>
      </p:sp>
      <p:sp>
        <p:nvSpPr>
          <p:cNvPr id="41" name="Rectangle 40"/>
          <p:cNvSpPr/>
          <p:nvPr/>
        </p:nvSpPr>
        <p:spPr>
          <a:xfrm>
            <a:off x="2360563" y="4456034"/>
            <a:ext cx="2616855" cy="250956"/>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3180689" y="4519599"/>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4978393"/>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Australia</a:t>
            </a:r>
          </a:p>
        </p:txBody>
      </p:sp>
      <p:sp>
        <p:nvSpPr>
          <p:cNvPr id="44" name="Rectangle 43"/>
          <p:cNvSpPr/>
          <p:nvPr/>
        </p:nvSpPr>
        <p:spPr>
          <a:xfrm>
            <a:off x="3561030" y="4938640"/>
            <a:ext cx="3366026" cy="250956"/>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4616857" y="5002206"/>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38125" y="5461000"/>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New Zealand</a:t>
            </a:r>
          </a:p>
        </p:txBody>
      </p:sp>
      <p:sp>
        <p:nvSpPr>
          <p:cNvPr id="47" name="Rectangle 46"/>
          <p:cNvSpPr/>
          <p:nvPr/>
        </p:nvSpPr>
        <p:spPr>
          <a:xfrm>
            <a:off x="3448806" y="5421247"/>
            <a:ext cx="3350394" cy="250956"/>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4520296" y="5484812"/>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38125" y="5943607"/>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Rest of South Asia</a:t>
            </a:r>
          </a:p>
        </p:txBody>
      </p:sp>
      <p:sp>
        <p:nvSpPr>
          <p:cNvPr id="50" name="Rectangle 49"/>
          <p:cNvSpPr/>
          <p:nvPr/>
        </p:nvSpPr>
        <p:spPr>
          <a:xfrm>
            <a:off x="2218467" y="5903854"/>
            <a:ext cx="2495358" cy="250956"/>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2989946" y="5967419"/>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54" name="Rectangle 53"/>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56" name="Rounded Rectangle 55"/>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58" name="Rectangle 57"/>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048625" y="1727149"/>
            <a:ext cx="3867150" cy="343877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Barrier casings segment is expected to command the highest average price of US$ 4,494 per MT in 2036. Average selling price of flexible plastic packaging is estimated at US$ 2,785 per MT in 2025 and is projected to increase to US$ 3,146 per MT by 2036. Australia is the highest-priced country, while India is the most price-competitive market.</a:t>
            </a:r>
          </a:p>
          <a:p>
            <a:pPr algn="l">
              <a:lnSpc>
                <a:spcPct val="100000"/>
              </a:lnSpc>
              <a:spcBef>
                <a:spcPts val="0"/>
              </a:spcBef>
              <a:spcAft>
                <a:spcPts val="300"/>
              </a:spcAft>
            </a:pPr>
            <a:r>
              <a:rPr sz="1100" b="0">
                <a:solidFill>
                  <a:srgbClr val="2E2E2E"/>
                </a:solidFill>
                <a:latin typeface="Calibri"/>
              </a:rPr>
              <a:t>The orange dot is each region's average selling price; the blue band is its full low-to-high price range, all derived as Value ÷ Volume. Narrow bands point to commoditised, price-led competition; wider bands flag premiumisation headroom to trade buyers up the mix.</a:t>
            </a:r>
          </a:p>
          <a:p>
            <a:pPr algn="l">
              <a:lnSpc>
                <a:spcPct val="100000"/>
              </a:lnSpc>
              <a:spcBef>
                <a:spcPts val="0"/>
              </a:spcBef>
              <a:spcAft>
                <a:spcPts val="300"/>
              </a:spcAft>
            </a:pPr>
            <a:r>
              <a:rPr sz="1100" b="0">
                <a:solidFill>
                  <a:srgbClr val="2E2E2E"/>
                </a:solidFill>
                <a:latin typeface="Calibri"/>
              </a:rPr>
              <a:t>South Asia &amp; Pacific is priced lower, at US$2,805 per MT in 2026 rising to US$3,146 in 2036, because abundant local converting capacity, price-sensitive buyers and a larger share of commodity PE and PP films and sachets keep the mix basic. Value grows 7.8% against 6.5% in volume as demand gradually shifts toward barrier pouches and laminates.</a:t>
            </a:r>
          </a:p>
        </p:txBody>
      </p:sp>
      <p:sp>
        <p:nvSpPr>
          <p:cNvPr id="60" name="Rounded Rectangle 59"/>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61" name="TextBox 6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Flexible Plastic Packaging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702945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838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295650"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943225"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581275"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219325"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866900"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657600"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657600"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657600"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657600"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657600"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657600"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48814"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863547"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863547"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48814"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95550"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624262"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400412"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790397"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969802"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566730"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624262"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958991"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637533"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458128"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125309"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686175"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686175"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686175"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686175"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686175"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3000375"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Input Cost  13.0%</a:t>
            </a:r>
          </a:p>
        </p:txBody>
      </p:sp>
      <p:sp>
        <p:nvSpPr>
          <p:cNvPr id="46" name="TextBox 45"/>
          <p:cNvSpPr txBox="1"/>
          <p:nvPr/>
        </p:nvSpPr>
        <p:spPr>
          <a:xfrm>
            <a:off x="4232331"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Labor &amp; Production Costs  10.1%</a:t>
            </a:r>
          </a:p>
        </p:txBody>
      </p:sp>
      <p:sp>
        <p:nvSpPr>
          <p:cNvPr id="47" name="TextBox 46"/>
          <p:cNvSpPr txBox="1"/>
          <p:nvPr/>
        </p:nvSpPr>
        <p:spPr>
          <a:xfrm>
            <a:off x="4993722"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Technology &amp; Innovation  9.4%</a:t>
            </a:r>
          </a:p>
        </p:txBody>
      </p:sp>
      <p:sp>
        <p:nvSpPr>
          <p:cNvPr id="48" name="TextBox 47"/>
          <p:cNvSpPr txBox="1"/>
          <p:nvPr/>
        </p:nvSpPr>
        <p:spPr>
          <a:xfrm>
            <a:off x="4993722"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Supply Chain &amp; Logistics  10.9%</a:t>
            </a:r>
          </a:p>
        </p:txBody>
      </p:sp>
      <p:sp>
        <p:nvSpPr>
          <p:cNvPr id="49" name="TextBox 48"/>
          <p:cNvSpPr txBox="1"/>
          <p:nvPr/>
        </p:nvSpPr>
        <p:spPr>
          <a:xfrm>
            <a:off x="4232331"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Demand &amp; Market Conditions  12.3%</a:t>
            </a:r>
          </a:p>
        </p:txBody>
      </p:sp>
      <p:sp>
        <p:nvSpPr>
          <p:cNvPr id="50" name="TextBox 49"/>
          <p:cNvSpPr txBox="1"/>
          <p:nvPr/>
        </p:nvSpPr>
        <p:spPr>
          <a:xfrm>
            <a:off x="3000375"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Competitive Landscape  11.6%</a:t>
            </a:r>
          </a:p>
        </p:txBody>
      </p:sp>
      <p:sp>
        <p:nvSpPr>
          <p:cNvPr id="51" name="TextBox 50"/>
          <p:cNvSpPr txBox="1"/>
          <p:nvPr/>
        </p:nvSpPr>
        <p:spPr>
          <a:xfrm>
            <a:off x="1768419"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Regulatory &amp; Compliance Costs  8.7%</a:t>
            </a:r>
          </a:p>
        </p:txBody>
      </p:sp>
      <p:sp>
        <p:nvSpPr>
          <p:cNvPr id="52" name="TextBox 51"/>
          <p:cNvSpPr txBox="1"/>
          <p:nvPr/>
        </p:nvSpPr>
        <p:spPr>
          <a:xfrm>
            <a:off x="1007028"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Currency &amp; Trade Dynamics  8.0%</a:t>
            </a:r>
          </a:p>
        </p:txBody>
      </p:sp>
      <p:sp>
        <p:nvSpPr>
          <p:cNvPr id="53" name="TextBox 52"/>
          <p:cNvSpPr txBox="1"/>
          <p:nvPr/>
        </p:nvSpPr>
        <p:spPr>
          <a:xfrm>
            <a:off x="1007028"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Brand &amp; Value Perception  9.4%</a:t>
            </a:r>
          </a:p>
        </p:txBody>
      </p:sp>
      <p:sp>
        <p:nvSpPr>
          <p:cNvPr id="54" name="TextBox 53"/>
          <p:cNvSpPr txBox="1"/>
          <p:nvPr/>
        </p:nvSpPr>
        <p:spPr>
          <a:xfrm>
            <a:off x="1768419"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Aftermarket &amp; Service Costs  6.5%</a:t>
            </a:r>
          </a:p>
        </p:txBody>
      </p:sp>
      <p:sp>
        <p:nvSpPr>
          <p:cNvPr id="55" name="Rounded Rectangle 54"/>
          <p:cNvSpPr/>
          <p:nvPr/>
        </p:nvSpPr>
        <p:spPr>
          <a:xfrm>
            <a:off x="7248525" y="1354081"/>
            <a:ext cx="4800600" cy="3479443"/>
          </a:xfrm>
          <a:prstGeom prst="roundRect">
            <a:avLst>
              <a:gd name="adj" fmla="val 21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381875" y="1439806"/>
            <a:ext cx="453390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381875" y="1677931"/>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381875" y="1763656"/>
            <a:ext cx="4533900" cy="2993668"/>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Flexible Plastic Packaging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Flexible Plastic Packaging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248525" y="4943046"/>
            <a:ext cx="4800600" cy="1686354"/>
          </a:xfrm>
          <a:prstGeom prst="roundRect">
            <a:avLst>
              <a:gd name="adj" fmla="val 45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381875" y="5028771"/>
            <a:ext cx="453390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381875" y="5266896"/>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381875" y="5352621"/>
            <a:ext cx="4533900" cy="1200579"/>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Input Cost 9.0 / 10  ·  dominant cost pressure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&amp; Market Conditions 8.5 / 10  ·  major cost pressure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Landscape 8.0 / 10  ·  key pricing lever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Supply Chain &amp; Logistics 7.5 / 10  ·  key pricing lever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Labor &amp; Production Costs 7.0 / 10  ·  supporting factor</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114675"/>
          </a:xfrm>
          <a:prstGeom prst="roundRect">
            <a:avLst>
              <a:gd name="adj" fmla="val 24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809875"/>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15265">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59461">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210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581525"/>
            <a:ext cx="11906250" cy="1962150"/>
          </a:xfrm>
          <a:prstGeom prst="roundRect">
            <a:avLst>
              <a:gd name="adj" fmla="val 388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66725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4905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991100"/>
            <a:ext cx="11639550" cy="1476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Input Cost and Demand &amp; Market Conditions carry the heaviest weight on selling prices (9.0 and 8.5 / 10).</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8 of 10 factors exert upward pressure on price; the rest pull prices down chiefly Technology &amp; Innovation and the Competitive Landscape.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Cost-side factors set the price floor; demand, brand and competitive forces determine how much of that cost can be passed through.</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Aftermarket &amp; Service Costs exerts the least pressure a second-order effect to monitor rather than actively manage.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(US$/MT)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(US$/MT)</a:t>
            </a:r>
          </a:p>
        </p:txBody>
      </p:sp>
      <p:graphicFrame>
        <p:nvGraphicFramePr>
          <p:cNvPr id="13" name="Table 12"/>
          <p:cNvGraphicFramePr>
            <a:graphicFrameLocks noGrp="1"/>
          </p:cNvGraphicFramePr>
          <p:nvPr/>
        </p:nvGraphicFramePr>
        <p:xfrm>
          <a:off x="152400" y="1574749"/>
          <a:ext cx="5886451" cy="2271333"/>
        </p:xfrm>
        <a:graphic>
          <a:graphicData uri="http://schemas.openxmlformats.org/drawingml/2006/table">
            <a:tbl>
              <a:tblPr>
                <a:tableStyleId>{5C22544A-7EE6-4342-B048-85BDC9FD1C3A}</a:tableStyleId>
              </a:tblPr>
              <a:tblGrid>
                <a:gridCol w="1257927"/>
                <a:gridCol w="1157131"/>
                <a:gridCol w="1157131"/>
                <a:gridCol w="1157131"/>
                <a:gridCol w="1157131"/>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Total Margin (%)</a:t>
                      </a:r>
                      <a:endParaRPr sz="1100"/>
                    </a:p>
                  </a:txBody>
                  <a:tcPr marL="47625" marR="38100" marT="19050" marB="19050" anchor="ctr">
                    <a:solidFill>
                      <a:srgbClr val="E0E8EF"/>
                    </a:solidFill>
                  </a:tcPr>
                </a:tc>
              </a:tr>
              <a:tr h="228452">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28452">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28452">
                <a:tc>
                  <a:txBody>
                    <a:bodyPr wrap="none"/>
                    <a:lstStyle/>
                    <a:p>
                      <a:pPr algn="l"/>
                      <a:r>
                        <a:rPr sz="1100" b="1">
                          <a:solidFill>
                            <a:srgbClr val="2E2E2E"/>
                          </a:solidFill>
                          <a:latin typeface="Calibri"/>
                        </a:rPr>
                        <a:t>Malaysia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28452">
                <a:tc>
                  <a:txBody>
                    <a:bodyPr wrap="none"/>
                    <a:lstStyle/>
                    <a:p>
                      <a:pPr algn="l"/>
                      <a:r>
                        <a:rPr sz="1100" b="1">
                          <a:solidFill>
                            <a:srgbClr val="2E2E2E"/>
                          </a:solidFill>
                          <a:latin typeface="Calibri"/>
                        </a:rPr>
                        <a:t>Indonesia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28452">
                <a:tc>
                  <a:txBody>
                    <a:bodyPr wrap="none"/>
                    <a:lstStyle/>
                    <a:p>
                      <a:pPr algn="l"/>
                      <a:r>
                        <a:rPr sz="1100" b="1">
                          <a:solidFill>
                            <a:srgbClr val="2E2E2E"/>
                          </a:solidFill>
                          <a:latin typeface="Calibri"/>
                        </a:rPr>
                        <a:t>Singapore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28452">
                <a:tc>
                  <a:txBody>
                    <a:bodyPr wrap="none"/>
                    <a:lstStyle/>
                    <a:p>
                      <a:pPr algn="l"/>
                      <a:r>
                        <a:rPr sz="1100" b="1">
                          <a:solidFill>
                            <a:srgbClr val="2E2E2E"/>
                          </a:solidFill>
                          <a:latin typeface="Calibri"/>
                        </a:rPr>
                        <a:t>Philippines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28452">
                <a:tc>
                  <a:txBody>
                    <a:bodyPr wrap="none"/>
                    <a:lstStyle/>
                    <a:p>
                      <a:pPr algn="l"/>
                      <a:r>
                        <a:rPr sz="1100" b="1">
                          <a:solidFill>
                            <a:srgbClr val="2E2E2E"/>
                          </a:solidFill>
                          <a:latin typeface="Calibri"/>
                        </a:rPr>
                        <a:t>Australia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28452">
                <a:tc>
                  <a:txBody>
                    <a:bodyPr wrap="none"/>
                    <a:lstStyle/>
                    <a:p>
                      <a:pPr algn="l"/>
                      <a:r>
                        <a:rPr sz="1100" b="1">
                          <a:solidFill>
                            <a:srgbClr val="2E2E2E"/>
                          </a:solidFill>
                          <a:latin typeface="Calibri"/>
                        </a:rPr>
                        <a:t>New Zealand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28452">
                <a:tc>
                  <a:txBody>
                    <a:bodyPr wrap="none"/>
                    <a:lstStyle/>
                    <a:p>
                      <a:pPr algn="l"/>
                      <a:r>
                        <a:rPr sz="1100" b="1">
                          <a:solidFill>
                            <a:srgbClr val="2E2E2E"/>
                          </a:solidFill>
                          <a:latin typeface="Calibri"/>
                        </a:rPr>
                        <a:t>Rest of South Asia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(US$/MT)</a:t>
            </a:r>
          </a:p>
        </p:txBody>
      </p:sp>
      <p:graphicFrame>
        <p:nvGraphicFramePr>
          <p:cNvPr id="17" name="Table 16"/>
          <p:cNvGraphicFramePr>
            <a:graphicFrameLocks noGrp="1"/>
          </p:cNvGraphicFramePr>
          <p:nvPr/>
        </p:nvGraphicFramePr>
        <p:xfrm>
          <a:off x="6210300" y="1574749"/>
          <a:ext cx="5829298" cy="2271333"/>
        </p:xfrm>
        <a:graphic>
          <a:graphicData uri="http://schemas.openxmlformats.org/drawingml/2006/table">
            <a:tbl>
              <a:tblPr>
                <a:tableStyleId>{5C22544A-7EE6-4342-B048-85BDC9FD1C3A}</a:tableStyleId>
              </a:tblPr>
              <a:tblGrid>
                <a:gridCol w="1894526"/>
                <a:gridCol w="983693"/>
                <a:gridCol w="983693"/>
                <a:gridCol w="983693"/>
                <a:gridCol w="983693"/>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8452">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2,838.97</a:t>
                      </a:r>
                      <a:endParaRPr sz="1100"/>
                    </a:p>
                  </a:txBody>
                  <a:tcPr marL="47625" marR="38100" marT="19050" marB="19050" anchor="ctr">
                    <a:solidFill>
                      <a:srgbClr val="FFFFFF"/>
                    </a:solidFill>
                  </a:tcPr>
                </a:tc>
              </a:tr>
              <a:tr h="228452">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3,051.03</a:t>
                      </a:r>
                      <a:endParaRPr sz="1100"/>
                    </a:p>
                  </a:txBody>
                  <a:tcPr marL="47625" marR="38100" marT="19050" marB="19050" anchor="ctr">
                    <a:solidFill>
                      <a:srgbClr val="F5F8FA"/>
                    </a:solidFill>
                  </a:tcPr>
                </a:tc>
              </a:tr>
              <a:tr h="228452">
                <a:tc>
                  <a:txBody>
                    <a:bodyPr wrap="none"/>
                    <a:lstStyle/>
                    <a:p>
                      <a:pPr algn="l"/>
                      <a:r>
                        <a:rPr sz="1100" b="1">
                          <a:solidFill>
                            <a:srgbClr val="2E2E2E"/>
                          </a:solidFill>
                          <a:latin typeface="Calibri"/>
                        </a:rPr>
                        <a:t>Malaysia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3,114.52</a:t>
                      </a:r>
                      <a:endParaRPr sz="1100"/>
                    </a:p>
                  </a:txBody>
                  <a:tcPr marL="47625" marR="38100" marT="19050" marB="19050" anchor="ctr">
                    <a:solidFill>
                      <a:srgbClr val="FFFFFF"/>
                    </a:solidFill>
                  </a:tcPr>
                </a:tc>
              </a:tr>
              <a:tr h="228452">
                <a:tc>
                  <a:txBody>
                    <a:bodyPr wrap="none"/>
                    <a:lstStyle/>
                    <a:p>
                      <a:pPr algn="l"/>
                      <a:r>
                        <a:rPr sz="1100" b="1">
                          <a:solidFill>
                            <a:srgbClr val="2E2E2E"/>
                          </a:solidFill>
                          <a:latin typeface="Calibri"/>
                        </a:rPr>
                        <a:t>Indonesia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2,953.87</a:t>
                      </a:r>
                      <a:endParaRPr sz="1100"/>
                    </a:p>
                  </a:txBody>
                  <a:tcPr marL="47625" marR="38100" marT="19050" marB="19050" anchor="ctr">
                    <a:solidFill>
                      <a:srgbClr val="F5F8FA"/>
                    </a:solidFill>
                  </a:tcPr>
                </a:tc>
              </a:tr>
              <a:tr h="228452">
                <a:tc>
                  <a:txBody>
                    <a:bodyPr wrap="none"/>
                    <a:lstStyle/>
                    <a:p>
                      <a:pPr algn="l"/>
                      <a:r>
                        <a:rPr sz="1100" b="1">
                          <a:solidFill>
                            <a:srgbClr val="2E2E2E"/>
                          </a:solidFill>
                          <a:latin typeface="Calibri"/>
                        </a:rPr>
                        <a:t>Singapore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3,857.29</a:t>
                      </a:r>
                      <a:endParaRPr sz="1100"/>
                    </a:p>
                  </a:txBody>
                  <a:tcPr marL="47625" marR="38100" marT="19050" marB="19050" anchor="ctr">
                    <a:solidFill>
                      <a:srgbClr val="FFFFFF"/>
                    </a:solidFill>
                  </a:tcPr>
                </a:tc>
              </a:tr>
              <a:tr h="228452">
                <a:tc>
                  <a:txBody>
                    <a:bodyPr wrap="none"/>
                    <a:lstStyle/>
                    <a:p>
                      <a:pPr algn="l"/>
                      <a:r>
                        <a:rPr sz="1100" b="1">
                          <a:solidFill>
                            <a:srgbClr val="2E2E2E"/>
                          </a:solidFill>
                          <a:latin typeface="Calibri"/>
                        </a:rPr>
                        <a:t>Philippines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3,164.79</a:t>
                      </a:r>
                      <a:endParaRPr sz="1100"/>
                    </a:p>
                  </a:txBody>
                  <a:tcPr marL="47625" marR="38100" marT="19050" marB="19050" anchor="ctr">
                    <a:solidFill>
                      <a:srgbClr val="F5F8FA"/>
                    </a:solidFill>
                  </a:tcPr>
                </a:tc>
              </a:tr>
              <a:tr h="228452">
                <a:tc>
                  <a:txBody>
                    <a:bodyPr wrap="none"/>
                    <a:lstStyle/>
                    <a:p>
                      <a:pPr algn="l"/>
                      <a:r>
                        <a:rPr sz="1100" b="1">
                          <a:solidFill>
                            <a:srgbClr val="2E2E2E"/>
                          </a:solidFill>
                          <a:latin typeface="Calibri"/>
                        </a:rPr>
                        <a:t>Australia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4,091.96</a:t>
                      </a:r>
                      <a:endParaRPr sz="1100"/>
                    </a:p>
                  </a:txBody>
                  <a:tcPr marL="47625" marR="38100" marT="19050" marB="19050" anchor="ctr">
                    <a:solidFill>
                      <a:srgbClr val="FFFFFF"/>
                    </a:solidFill>
                  </a:tcPr>
                </a:tc>
              </a:tr>
              <a:tr h="228452">
                <a:tc>
                  <a:txBody>
                    <a:bodyPr wrap="none"/>
                    <a:lstStyle/>
                    <a:p>
                      <a:pPr algn="l"/>
                      <a:r>
                        <a:rPr sz="1100" b="1">
                          <a:solidFill>
                            <a:srgbClr val="2E2E2E"/>
                          </a:solidFill>
                          <a:latin typeface="Calibri"/>
                        </a:rPr>
                        <a:t>New Zealand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4,110.74</a:t>
                      </a:r>
                      <a:endParaRPr sz="1100"/>
                    </a:p>
                  </a:txBody>
                  <a:tcPr marL="47625" marR="38100" marT="19050" marB="19050" anchor="ctr">
                    <a:solidFill>
                      <a:srgbClr val="F5F8FA"/>
                    </a:solidFill>
                  </a:tcPr>
                </a:tc>
              </a:tr>
              <a:tr h="228452">
                <a:tc>
                  <a:txBody>
                    <a:bodyPr wrap="none"/>
                    <a:lstStyle/>
                    <a:p>
                      <a:pPr algn="l"/>
                      <a:r>
                        <a:rPr sz="1100" b="1">
                          <a:solidFill>
                            <a:srgbClr val="2E2E2E"/>
                          </a:solidFill>
                          <a:latin typeface="Calibri"/>
                        </a:rPr>
                        <a:t>Rest of South Asia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3,102.34</a:t>
                      </a:r>
                      <a:endParaRPr sz="1100"/>
                    </a:p>
                  </a:txBody>
                  <a:tcPr marL="47625" marR="38100" marT="19050" marB="19050" anchor="ctr">
                    <a:solidFill>
                      <a:srgbClr val="FFFFFF"/>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South Asia &amp; Pacific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country and sub-segment against the weighted average price of each country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product type type and region (US$/MT).</a:t>
            </a:r>
          </a:p>
        </p:txBody>
      </p:sp>
      <p:sp>
        <p:nvSpPr>
          <p:cNvPr id="11" name="Rounded Rectangle 10"/>
          <p:cNvSpPr/>
          <p:nvPr/>
        </p:nvSpPr>
        <p:spPr>
          <a:xfrm>
            <a:off x="142875" y="1314450"/>
            <a:ext cx="11906250" cy="3086100"/>
          </a:xfrm>
          <a:prstGeom prst="roundRect">
            <a:avLst>
              <a:gd name="adj" fmla="val 2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Product Type (US$/MT)</a:t>
            </a:r>
          </a:p>
        </p:txBody>
      </p:sp>
      <p:graphicFrame>
        <p:nvGraphicFramePr>
          <p:cNvPr id="13" name="Table 12"/>
          <p:cNvGraphicFramePr>
            <a:graphicFrameLocks noGrp="1"/>
          </p:cNvGraphicFramePr>
          <p:nvPr/>
        </p:nvGraphicFramePr>
        <p:xfrm>
          <a:off x="152400" y="1571625"/>
          <a:ext cx="11887198" cy="2619372"/>
        </p:xfrm>
        <a:graphic>
          <a:graphicData uri="http://schemas.openxmlformats.org/drawingml/2006/table">
            <a:tbl>
              <a:tblPr>
                <a:tableStyleId>{5C22544A-7EE6-4342-B048-85BDC9FD1C3A}</a:tableStyleId>
              </a:tblPr>
              <a:tblGrid>
                <a:gridCol w="1518438"/>
                <a:gridCol w="2073752"/>
                <a:gridCol w="2073752"/>
                <a:gridCol w="2073752"/>
                <a:gridCol w="2073752"/>
                <a:gridCol w="2073752"/>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Rollstock Films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Barrier Casings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Premade Pouches &amp; Bags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Sachets &amp; Stick Packs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Weighted Avg</a:t>
                      </a:r>
                      <a:endParaRPr sz="1100"/>
                    </a:p>
                  </a:txBody>
                  <a:tcPr marL="47625" marR="38100" marT="19050" marB="19050" anchor="ctr">
                    <a:solidFill>
                      <a:srgbClr val="E0E8EF"/>
                    </a:solidFill>
                  </a:tcPr>
                </a:tc>
              </a:tr>
              <a:tr h="267123">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2,511.20–2,561.93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3,619.39–3,692.51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2,313.82–2,360.56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2,163.03–2,206.73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2,542.92</a:t>
                      </a:r>
                      <a:endParaRPr sz="1100"/>
                    </a:p>
                  </a:txBody>
                  <a:tcPr marL="47625" marR="38100" marT="19050" marB="19050" anchor="ctr">
                    <a:solidFill>
                      <a:srgbClr val="FFFFFF"/>
                    </a:solidFill>
                  </a:tcPr>
                </a:tc>
              </a:tr>
              <a:tr h="267123">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2,661.08–2,714.84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3,837.98–3,915.52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2,440.63–2,489.94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2,291.10–2,337.38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2,681.13</a:t>
                      </a:r>
                      <a:endParaRPr sz="1100"/>
                    </a:p>
                  </a:txBody>
                  <a:tcPr marL="47625" marR="38100" marT="19050" marB="19050" anchor="ctr">
                    <a:solidFill>
                      <a:srgbClr val="F5F8FA"/>
                    </a:solidFill>
                  </a:tcPr>
                </a:tc>
              </a:tr>
              <a:tr h="267123">
                <a:tc>
                  <a:txBody>
                    <a:bodyPr wrap="none"/>
                    <a:lstStyle/>
                    <a:p>
                      <a:pPr algn="l"/>
                      <a:r>
                        <a:rPr sz="1100" b="1">
                          <a:solidFill>
                            <a:srgbClr val="2E2E2E"/>
                          </a:solidFill>
                          <a:latin typeface="Calibri"/>
                        </a:rPr>
                        <a:t>Malaysia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2,729.85–2,785.00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3,926.02–4,005.33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2,499.42–2,549.92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2,349.91–2,397.39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2,737.95</a:t>
                      </a:r>
                      <a:endParaRPr sz="1100"/>
                    </a:p>
                  </a:txBody>
                  <a:tcPr marL="47625" marR="38100" marT="19050" marB="19050" anchor="ctr">
                    <a:solidFill>
                      <a:srgbClr val="FFFFFF"/>
                    </a:solidFill>
                  </a:tcPr>
                </a:tc>
              </a:tr>
              <a:tr h="267123">
                <a:tc>
                  <a:txBody>
                    <a:bodyPr wrap="none"/>
                    <a:lstStyle/>
                    <a:p>
                      <a:pPr algn="l"/>
                      <a:r>
                        <a:rPr sz="1100" b="1">
                          <a:solidFill>
                            <a:srgbClr val="2E2E2E"/>
                          </a:solidFill>
                          <a:latin typeface="Calibri"/>
                        </a:rPr>
                        <a:t>Indonesia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2,585.92–2,638.16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3,697.55–3,772.24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2,369.32–2,417.18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2,220.03–2,264.88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2,607.28</a:t>
                      </a:r>
                      <a:endParaRPr sz="1100"/>
                    </a:p>
                  </a:txBody>
                  <a:tcPr marL="47625" marR="38100" marT="19050" marB="19050" anchor="ctr">
                    <a:solidFill>
                      <a:srgbClr val="F5F8FA"/>
                    </a:solidFill>
                  </a:tcPr>
                </a:tc>
              </a:tr>
              <a:tr h="267123">
                <a:tc>
                  <a:txBody>
                    <a:bodyPr wrap="none"/>
                    <a:lstStyle/>
                    <a:p>
                      <a:pPr algn="l"/>
                      <a:r>
                        <a:rPr sz="1100" b="1">
                          <a:solidFill>
                            <a:srgbClr val="2E2E2E"/>
                          </a:solidFill>
                          <a:latin typeface="Calibri"/>
                        </a:rPr>
                        <a:t>Singapore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3,336.42–3,403.82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4,777.54–4,874.06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3,083.90–3,146.21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2,882.92–2,941.16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3,365.33</a:t>
                      </a:r>
                      <a:endParaRPr sz="1100"/>
                    </a:p>
                  </a:txBody>
                  <a:tcPr marL="47625" marR="38100" marT="19050" marB="19050" anchor="ctr">
                    <a:solidFill>
                      <a:srgbClr val="FFFFFF"/>
                    </a:solidFill>
                  </a:tcPr>
                </a:tc>
              </a:tr>
              <a:tr h="267123">
                <a:tc>
                  <a:txBody>
                    <a:bodyPr wrap="none"/>
                    <a:lstStyle/>
                    <a:p>
                      <a:pPr algn="l"/>
                      <a:r>
                        <a:rPr sz="1100" b="1">
                          <a:solidFill>
                            <a:srgbClr val="2E2E2E"/>
                          </a:solidFill>
                          <a:latin typeface="Calibri"/>
                        </a:rPr>
                        <a:t>Philippines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2,761.48–2,817.27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3,990.16–4,070.77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2,525.18–2,576.20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2,359.38–2,407.04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2,772.38</a:t>
                      </a:r>
                      <a:endParaRPr sz="1100"/>
                    </a:p>
                  </a:txBody>
                  <a:tcPr marL="47625" marR="38100" marT="19050" marB="19050" anchor="ctr">
                    <a:solidFill>
                      <a:srgbClr val="F5F8FA"/>
                    </a:solidFill>
                  </a:tcPr>
                </a:tc>
              </a:tr>
              <a:tr h="267123">
                <a:tc>
                  <a:txBody>
                    <a:bodyPr wrap="none"/>
                    <a:lstStyle/>
                    <a:p>
                      <a:pPr algn="l"/>
                      <a:r>
                        <a:rPr sz="1100" b="1">
                          <a:solidFill>
                            <a:srgbClr val="2E2E2E"/>
                          </a:solidFill>
                          <a:latin typeface="Calibri"/>
                        </a:rPr>
                        <a:t>Australia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3,606.63–3,679.50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5,205.15–5,310.30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3,296.93–3,363.53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3,107.49–3,170.27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3,619.05</a:t>
                      </a:r>
                      <a:endParaRPr sz="1100"/>
                    </a:p>
                  </a:txBody>
                  <a:tcPr marL="47625" marR="38100" marT="19050" marB="19050" anchor="ctr">
                    <a:solidFill>
                      <a:srgbClr val="FFFFFF"/>
                    </a:solidFill>
                  </a:tcPr>
                </a:tc>
              </a:tr>
              <a:tr h="267123">
                <a:tc>
                  <a:txBody>
                    <a:bodyPr wrap="none"/>
                    <a:lstStyle/>
                    <a:p>
                      <a:pPr algn="l"/>
                      <a:r>
                        <a:rPr sz="1100" b="1">
                          <a:solidFill>
                            <a:srgbClr val="2E2E2E"/>
                          </a:solidFill>
                          <a:latin typeface="Calibri"/>
                        </a:rPr>
                        <a:t>New Zealand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3,556.75–3,628.61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5,125.47–5,229.02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3,255.72–3,321.49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3,037.56–3,098.92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3,587.91</a:t>
                      </a:r>
                      <a:endParaRPr sz="1100"/>
                    </a:p>
                  </a:txBody>
                  <a:tcPr marL="47625" marR="38100" marT="19050" marB="19050" anchor="ctr">
                    <a:solidFill>
                      <a:srgbClr val="F5F8FA"/>
                    </a:solidFill>
                  </a:tcPr>
                </a:tc>
              </a:tr>
              <a:tr h="267123">
                <a:tc>
                  <a:txBody>
                    <a:bodyPr wrap="none"/>
                    <a:lstStyle/>
                    <a:p>
                      <a:pPr algn="l"/>
                      <a:r>
                        <a:rPr sz="1100" b="1">
                          <a:solidFill>
                            <a:srgbClr val="2E2E2E"/>
                          </a:solidFill>
                          <a:latin typeface="Calibri"/>
                        </a:rPr>
                        <a:t>Rest of South Asia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2,641.80–2,695.17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3,825.90–3,903.19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2,422.21–2,471.14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2,270.83–2,316.70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2,660.32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200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552950"/>
            <a:ext cx="119062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962525"/>
            <a:ext cx="116395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On a weighted-average basis 'Australia' is the highest-priced region (~3,619.05 US$/MT) and 'India' the most competitive (~2,542.92 US$/MT).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Price ranges are benchmarked per product type type at 2026, derived as Value ÷ Volume with a ±1% observed trading band.</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Cross-region price dispersion of ~1.42× reflects differences in mix, logistics and channel structure.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Benchmarks support price-corridor setting and margin-defence decisions across geographies.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Price Forecast &amp; Dynamics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product type type and the structural factors shaping it (US$/MT).</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Type (US$/MT)</a:t>
            </a:r>
          </a:p>
        </p:txBody>
      </p:sp>
      <p:graphicFrame>
        <p:nvGraphicFramePr>
          <p:cNvPr id="13" name="Table 12"/>
          <p:cNvGraphicFramePr>
            <a:graphicFrameLocks noGrp="1"/>
          </p:cNvGraphicFramePr>
          <p:nvPr/>
        </p:nvGraphicFramePr>
        <p:xfrm>
          <a:off x="152400" y="1574749"/>
          <a:ext cx="11887200" cy="1504673"/>
        </p:xfrm>
        <a:graphic>
          <a:graphicData uri="http://schemas.openxmlformats.org/drawingml/2006/table">
            <a:tbl>
              <a:tblPr>
                <a:tableStyleId>{5C22544A-7EE6-4342-B048-85BDC9FD1C3A}</a:tableStyleId>
              </a:tblPr>
              <a:tblGrid>
                <a:gridCol w="3622896"/>
                <a:gridCol w="1377384"/>
                <a:gridCol w="1377384"/>
                <a:gridCol w="1377384"/>
                <a:gridCol w="1377384"/>
                <a:gridCol w="1377384"/>
                <a:gridCol w="1377384"/>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322352">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3,495.65</a:t>
                      </a:r>
                      <a:endParaRPr sz="1100"/>
                    </a:p>
                  </a:txBody>
                  <a:tcPr marL="47625" marR="38100" marT="19050" marB="19050" anchor="ctr">
                    <a:solidFill>
                      <a:srgbClr val="FFFFFF"/>
                    </a:solidFill>
                  </a:tcPr>
                </a:tc>
              </a:tr>
              <a:tr h="322352">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5,078.83</a:t>
                      </a:r>
                      <a:endParaRPr sz="1100"/>
                    </a:p>
                  </a:txBody>
                  <a:tcPr marL="47625" marR="38100" marT="19050" marB="19050" anchor="ctr">
                    <a:solidFill>
                      <a:srgbClr val="F5F8FA"/>
                    </a:solidFill>
                  </a:tcPr>
                </a:tc>
              </a:tr>
              <a:tr h="322352">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3,248.16</a:t>
                      </a:r>
                      <a:endParaRPr sz="1100"/>
                    </a:p>
                  </a:txBody>
                  <a:tcPr marL="47625" marR="38100" marT="19050" marB="19050" anchor="ctr">
                    <a:solidFill>
                      <a:srgbClr val="FFFFFF"/>
                    </a:solidFill>
                  </a:tcPr>
                </a:tc>
              </a:tr>
              <a:tr h="322352">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3,014.94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691165"/>
        </p:xfrm>
        <a:graphic>
          <a:graphicData uri="http://schemas.openxmlformats.org/drawingml/2006/table">
            <a:tbl>
              <a:tblPr>
                <a:tableStyleId>{5C22544A-7EE6-4342-B048-85BDC9FD1C3A}</a:tableStyleId>
              </a:tblPr>
              <a:tblGrid>
                <a:gridCol w="2867491"/>
                <a:gridCol w="1509479"/>
                <a:gridCol w="1509479"/>
              </a:tblGrid>
              <a:tr h="215265">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759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5636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Average product type price is projected to rise from ~3,280.75 to ~3,709.40 US$/MT by 2036 a +1.2%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'Premade Pouches &amp; Bags' shows the strongest forecast price appreciation (+13.8%) over the horizon.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Upward pressure is led by input cost and demand &amp; market conditions; efficiency and competitive intensity work the other way.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Net outlook: modest, structural price appreciation mix and geography will determine realised pricing.</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0.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42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5–10%</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20–40%</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5–25%</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10–35%</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10–20%</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Flexible Plastic Packaging Market value chain runs from raw-material suppliers through manufacturers, distributors and retailers to end users.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'Manufacturers / Processors' captures the largest value addition (20–40%), reflecting processing and scale advantages.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Forward and backward integration is common some suppliers process, and some large end users produce their own input.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Percentages show each stage's indicative share of value added along the chain.</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Flexible Plastic Packaging Market Operating Margin by Region &amp; Node</a:t>
            </a:r>
          </a:p>
        </p:txBody>
      </p:sp>
      <p:graphicFrame>
        <p:nvGraphicFramePr>
          <p:cNvPr id="12" name="Table 11"/>
          <p:cNvGraphicFramePr>
            <a:graphicFrameLocks noGrp="1"/>
          </p:cNvGraphicFramePr>
          <p:nvPr/>
        </p:nvGraphicFramePr>
        <p:xfrm>
          <a:off x="152400" y="1238250"/>
          <a:ext cx="11887202" cy="2800353"/>
        </p:xfrm>
        <a:graphic>
          <a:graphicData uri="http://schemas.openxmlformats.org/drawingml/2006/table">
            <a:tbl>
              <a:tblPr>
                <a:tableStyleId>{5C22544A-7EE6-4342-B048-85BDC9FD1C3A}</a:tableStyleId>
              </a:tblPr>
              <a:tblGrid>
                <a:gridCol w="1208402"/>
                <a:gridCol w="2669700"/>
                <a:gridCol w="2669700"/>
                <a:gridCol w="2669700"/>
                <a:gridCol w="2669700"/>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Flexible Plastic Packaging Market Buyers / End-User Assessment</a:t>
            </a:r>
          </a:p>
        </p:txBody>
      </p:sp>
      <p:graphicFrame>
        <p:nvGraphicFramePr>
          <p:cNvPr id="12" name="Table 11"/>
          <p:cNvGraphicFramePr>
            <a:graphicFrameLocks noGrp="1"/>
          </p:cNvGraphicFramePr>
          <p:nvPr/>
        </p:nvGraphicFramePr>
        <p:xfrm>
          <a:off x="152400" y="1238250"/>
          <a:ext cx="11887200" cy="2371725"/>
        </p:xfrm>
        <a:graphic>
          <a:graphicData uri="http://schemas.openxmlformats.org/drawingml/2006/table">
            <a:tbl>
              <a:tblPr>
                <a:tableStyleId>{5C22544A-7EE6-4342-B048-85BDC9FD1C3A}</a:tableStyleId>
              </a:tblPr>
              <a:tblGrid>
                <a:gridCol w="938673"/>
                <a:gridCol w="1486675"/>
                <a:gridCol w="1065550"/>
                <a:gridCol w="1130339"/>
                <a:gridCol w="1605454"/>
                <a:gridCol w="1397591"/>
                <a:gridCol w="1405647"/>
                <a:gridCol w="1351699"/>
                <a:gridCol w="1505572"/>
              </a:tblGrid>
              <a:tr h="215265">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Avg Price (US$/MT)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15646">
                <a:tc>
                  <a:txBody>
                    <a:bodyPr wrap="none"/>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2,390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6,520,131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6,090,395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5,082,738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4,504,817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3,877,502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3,200,791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2,474,686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1,699,186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619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952875"/>
            <a:ext cx="11906250" cy="2676525"/>
          </a:xfrm>
          <a:prstGeom prst="roundRect">
            <a:avLst>
              <a:gd name="adj" fmla="val 2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0386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276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362450"/>
            <a:ext cx="11639550" cy="2190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42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Dynamics by Country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country of the South Asia &amp; Pacific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180975" y="876300"/>
            <a:ext cx="8572500" cy="228600"/>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Country  ·  ranked by 2036 value</a:t>
            </a:r>
          </a:p>
        </p:txBody>
      </p:sp>
      <p:sp>
        <p:nvSpPr>
          <p:cNvPr id="12" name="Rectangle 11"/>
          <p:cNvSpPr/>
          <p:nvPr/>
        </p:nvSpPr>
        <p:spPr>
          <a:xfrm>
            <a:off x="142875" y="1123950"/>
            <a:ext cx="11906250" cy="266700"/>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00025" y="1123950"/>
            <a:ext cx="1428750" cy="266700"/>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TextBox 13"/>
          <p:cNvSpPr txBox="1"/>
          <p:nvPr/>
        </p:nvSpPr>
        <p:spPr>
          <a:xfrm>
            <a:off x="1724025" y="1123950"/>
            <a:ext cx="3714750" cy="266700"/>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5" name="TextBox 14"/>
          <p:cNvSpPr txBox="1"/>
          <p:nvPr/>
        </p:nvSpPr>
        <p:spPr>
          <a:xfrm>
            <a:off x="5534025" y="1123950"/>
            <a:ext cx="2762250" cy="266700"/>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6" name="TextBox 15"/>
          <p:cNvSpPr txBox="1"/>
          <p:nvPr/>
        </p:nvSpPr>
        <p:spPr>
          <a:xfrm>
            <a:off x="8391525" y="1123950"/>
            <a:ext cx="3619500" cy="266700"/>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7" name="Rectangle 16"/>
          <p:cNvSpPr/>
          <p:nvPr/>
        </p:nvSpPr>
        <p:spPr>
          <a:xfrm>
            <a:off x="142875" y="1390650"/>
            <a:ext cx="11906250" cy="5334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00025" y="13906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India</a:t>
            </a:r>
          </a:p>
        </p:txBody>
      </p:sp>
      <p:sp>
        <p:nvSpPr>
          <p:cNvPr id="19" name="TextBox 18"/>
          <p:cNvSpPr txBox="1"/>
          <p:nvPr/>
        </p:nvSpPr>
        <p:spPr>
          <a:xfrm>
            <a:off x="1724025" y="14192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(32.4% share), Above-market pace (8.0%), Rollstock Films demand, Accelerating vs history.</a:t>
            </a:r>
          </a:p>
        </p:txBody>
      </p:sp>
      <p:sp>
        <p:nvSpPr>
          <p:cNvPr id="20" name="TextBox 19"/>
          <p:cNvSpPr txBox="1"/>
          <p:nvPr/>
        </p:nvSpPr>
        <p:spPr>
          <a:xfrm>
            <a:off x="5534025" y="14192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(1.1%).</a:t>
            </a:r>
          </a:p>
        </p:txBody>
      </p:sp>
      <p:sp>
        <p:nvSpPr>
          <p:cNvPr id="21" name="TextBox 20"/>
          <p:cNvSpPr txBox="1"/>
          <p:nvPr/>
        </p:nvSpPr>
        <p:spPr>
          <a:xfrm>
            <a:off x="8391525" y="14192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(8.2%), 5,698 US$ Mn headroom.</a:t>
            </a:r>
          </a:p>
        </p:txBody>
      </p:sp>
      <p:sp>
        <p:nvSpPr>
          <p:cNvPr id="22" name="Rectangle 21"/>
          <p:cNvSpPr/>
          <p:nvPr/>
        </p:nvSpPr>
        <p:spPr>
          <a:xfrm>
            <a:off x="142875" y="1924050"/>
            <a:ext cx="11906250" cy="533400"/>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00025" y="19240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Australia</a:t>
            </a:r>
          </a:p>
        </p:txBody>
      </p:sp>
      <p:sp>
        <p:nvSpPr>
          <p:cNvPr id="24" name="TextBox 23"/>
          <p:cNvSpPr txBox="1"/>
          <p:nvPr/>
        </p:nvSpPr>
        <p:spPr>
          <a:xfrm>
            <a:off x="1724025" y="19526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(15.4% share), Installed demand (6.2% CAGR), Rollstock Films demand, Accelerating vs history.</a:t>
            </a:r>
          </a:p>
        </p:txBody>
      </p:sp>
      <p:sp>
        <p:nvSpPr>
          <p:cNvPr id="25" name="TextBox 24"/>
          <p:cNvSpPr txBox="1"/>
          <p:nvPr/>
        </p:nvSpPr>
        <p:spPr>
          <a:xfrm>
            <a:off x="5534025" y="19526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153 BPS, Rising realisation (1.2%).</a:t>
            </a:r>
          </a:p>
        </p:txBody>
      </p:sp>
      <p:sp>
        <p:nvSpPr>
          <p:cNvPr id="26" name="TextBox 25"/>
          <p:cNvSpPr txBox="1"/>
          <p:nvPr/>
        </p:nvSpPr>
        <p:spPr>
          <a:xfrm>
            <a:off x="8391525" y="19526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Sachets &amp; Stick Packs (6.6%), 2,290 US$ Mn headroom.</a:t>
            </a:r>
          </a:p>
        </p:txBody>
      </p:sp>
      <p:sp>
        <p:nvSpPr>
          <p:cNvPr id="27" name="Rectangle 26"/>
          <p:cNvSpPr/>
          <p:nvPr/>
        </p:nvSpPr>
        <p:spPr>
          <a:xfrm>
            <a:off x="142875" y="2457450"/>
            <a:ext cx="11906250" cy="5334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00025" y="24574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Indonesia</a:t>
            </a:r>
          </a:p>
        </p:txBody>
      </p:sp>
      <p:sp>
        <p:nvSpPr>
          <p:cNvPr id="29" name="TextBox 28"/>
          <p:cNvSpPr txBox="1"/>
          <p:nvPr/>
        </p:nvSpPr>
        <p:spPr>
          <a:xfrm>
            <a:off x="1724025" y="24860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(13.2% share), Above-market pace (8.7%), Rollstock Films demand, Accelerating vs history.</a:t>
            </a:r>
          </a:p>
        </p:txBody>
      </p:sp>
      <p:sp>
        <p:nvSpPr>
          <p:cNvPr id="30" name="TextBox 29"/>
          <p:cNvSpPr txBox="1"/>
          <p:nvPr/>
        </p:nvSpPr>
        <p:spPr>
          <a:xfrm>
            <a:off x="5534025" y="24860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(1.3%).</a:t>
            </a:r>
          </a:p>
        </p:txBody>
      </p:sp>
      <p:sp>
        <p:nvSpPr>
          <p:cNvPr id="31" name="TextBox 30"/>
          <p:cNvSpPr txBox="1"/>
          <p:nvPr/>
        </p:nvSpPr>
        <p:spPr>
          <a:xfrm>
            <a:off x="8391525" y="24860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Sachets &amp; Stick Packs (9.1%), 2,448 US$ Mn headroom.</a:t>
            </a:r>
          </a:p>
        </p:txBody>
      </p:sp>
      <p:sp>
        <p:nvSpPr>
          <p:cNvPr id="32" name="Rectangle 31"/>
          <p:cNvSpPr/>
          <p:nvPr/>
        </p:nvSpPr>
        <p:spPr>
          <a:xfrm>
            <a:off x="142875" y="2990850"/>
            <a:ext cx="11906250" cy="533400"/>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00025" y="29908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Rest of South Asia</a:t>
            </a:r>
          </a:p>
        </p:txBody>
      </p:sp>
      <p:sp>
        <p:nvSpPr>
          <p:cNvPr id="34" name="TextBox 33"/>
          <p:cNvSpPr txBox="1"/>
          <p:nvPr/>
        </p:nvSpPr>
        <p:spPr>
          <a:xfrm>
            <a:off x="1724025" y="30194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Above-market pace (8.8%), Rollstock Films demand, Accelerating vs history.</a:t>
            </a:r>
          </a:p>
        </p:txBody>
      </p:sp>
      <p:sp>
        <p:nvSpPr>
          <p:cNvPr id="35" name="TextBox 34"/>
          <p:cNvSpPr txBox="1"/>
          <p:nvPr/>
        </p:nvSpPr>
        <p:spPr>
          <a:xfrm>
            <a:off x="5534025" y="30194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(1.5%).</a:t>
            </a:r>
          </a:p>
        </p:txBody>
      </p:sp>
      <p:sp>
        <p:nvSpPr>
          <p:cNvPr id="36" name="TextBox 35"/>
          <p:cNvSpPr txBox="1"/>
          <p:nvPr/>
        </p:nvSpPr>
        <p:spPr>
          <a:xfrm>
            <a:off x="8391525" y="30194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(8.9%), 1,759 US$ Mn headroom.</a:t>
            </a:r>
          </a:p>
        </p:txBody>
      </p:sp>
      <p:sp>
        <p:nvSpPr>
          <p:cNvPr id="37" name="Rectangle 36"/>
          <p:cNvSpPr/>
          <p:nvPr/>
        </p:nvSpPr>
        <p:spPr>
          <a:xfrm>
            <a:off x="142875" y="3524250"/>
            <a:ext cx="11906250" cy="5334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00025" y="35242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Thailand</a:t>
            </a:r>
          </a:p>
        </p:txBody>
      </p:sp>
      <p:sp>
        <p:nvSpPr>
          <p:cNvPr id="39" name="TextBox 38"/>
          <p:cNvSpPr txBox="1"/>
          <p:nvPr/>
        </p:nvSpPr>
        <p:spPr>
          <a:xfrm>
            <a:off x="1724025" y="35528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Installed demand (7.3% CAGR), Rollstock Films demand, Accelerating vs history.</a:t>
            </a:r>
          </a:p>
        </p:txBody>
      </p:sp>
      <p:sp>
        <p:nvSpPr>
          <p:cNvPr id="40" name="TextBox 39"/>
          <p:cNvSpPr txBox="1"/>
          <p:nvPr/>
        </p:nvSpPr>
        <p:spPr>
          <a:xfrm>
            <a:off x="5534025" y="35528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44 BPS, Rising realisation (1.3%).</a:t>
            </a:r>
          </a:p>
        </p:txBody>
      </p:sp>
      <p:sp>
        <p:nvSpPr>
          <p:cNvPr id="41" name="TextBox 40"/>
          <p:cNvSpPr txBox="1"/>
          <p:nvPr/>
        </p:nvSpPr>
        <p:spPr>
          <a:xfrm>
            <a:off x="8391525" y="35528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Barrier Casings (7.6%), Mix shift to Rollstock Films, 1,426 US$ Mn headroom.</a:t>
            </a:r>
          </a:p>
        </p:txBody>
      </p:sp>
      <p:sp>
        <p:nvSpPr>
          <p:cNvPr id="42" name="Rectangle 41"/>
          <p:cNvSpPr/>
          <p:nvPr/>
        </p:nvSpPr>
        <p:spPr>
          <a:xfrm>
            <a:off x="142875" y="4057650"/>
            <a:ext cx="11906250" cy="533400"/>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00025" y="40576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Philippines</a:t>
            </a:r>
          </a:p>
        </p:txBody>
      </p:sp>
      <p:sp>
        <p:nvSpPr>
          <p:cNvPr id="44" name="TextBox 43"/>
          <p:cNvSpPr txBox="1"/>
          <p:nvPr/>
        </p:nvSpPr>
        <p:spPr>
          <a:xfrm>
            <a:off x="1724025" y="40862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Above-market pace (9.3%), Rollstock Films demand, Accelerating vs history.</a:t>
            </a:r>
          </a:p>
        </p:txBody>
      </p:sp>
      <p:sp>
        <p:nvSpPr>
          <p:cNvPr id="45" name="TextBox 44"/>
          <p:cNvSpPr txBox="1"/>
          <p:nvPr/>
        </p:nvSpPr>
        <p:spPr>
          <a:xfrm>
            <a:off x="5534025" y="40862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(1.3%).</a:t>
            </a:r>
          </a:p>
        </p:txBody>
      </p:sp>
      <p:sp>
        <p:nvSpPr>
          <p:cNvPr id="46" name="TextBox 45"/>
          <p:cNvSpPr txBox="1"/>
          <p:nvPr/>
        </p:nvSpPr>
        <p:spPr>
          <a:xfrm>
            <a:off x="8391525" y="40862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Barrier Casings (9.4%), Mix shift to Premade Pouches &amp; Bags, 1,572 US$ Mn headroom.</a:t>
            </a:r>
          </a:p>
        </p:txBody>
      </p:sp>
      <p:sp>
        <p:nvSpPr>
          <p:cNvPr id="47" name="Rectangle 46"/>
          <p:cNvSpPr/>
          <p:nvPr/>
        </p:nvSpPr>
        <p:spPr>
          <a:xfrm>
            <a:off x="142875" y="4591050"/>
            <a:ext cx="11906250" cy="5334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00025" y="45910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Malaysia</a:t>
            </a:r>
          </a:p>
        </p:txBody>
      </p:sp>
      <p:sp>
        <p:nvSpPr>
          <p:cNvPr id="49" name="TextBox 48"/>
          <p:cNvSpPr txBox="1"/>
          <p:nvPr/>
        </p:nvSpPr>
        <p:spPr>
          <a:xfrm>
            <a:off x="1724025" y="46196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Installed demand (7.6% CAGR), Rollstock Films demand, Accelerating vs history.</a:t>
            </a:r>
          </a:p>
        </p:txBody>
      </p:sp>
      <p:sp>
        <p:nvSpPr>
          <p:cNvPr id="50" name="TextBox 49"/>
          <p:cNvSpPr txBox="1"/>
          <p:nvPr/>
        </p:nvSpPr>
        <p:spPr>
          <a:xfrm>
            <a:off x="5534025" y="46196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14 BPS, Rising realisation (1.3%).</a:t>
            </a:r>
          </a:p>
        </p:txBody>
      </p:sp>
      <p:sp>
        <p:nvSpPr>
          <p:cNvPr id="51" name="TextBox 50"/>
          <p:cNvSpPr txBox="1"/>
          <p:nvPr/>
        </p:nvSpPr>
        <p:spPr>
          <a:xfrm>
            <a:off x="8391525" y="46196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Barrier Casings (8.0%), 1,174 US$ Mn headroom.</a:t>
            </a:r>
          </a:p>
        </p:txBody>
      </p:sp>
      <p:sp>
        <p:nvSpPr>
          <p:cNvPr id="52" name="Rectangle 51"/>
          <p:cNvSpPr/>
          <p:nvPr/>
        </p:nvSpPr>
        <p:spPr>
          <a:xfrm>
            <a:off x="142875" y="5124450"/>
            <a:ext cx="11906250" cy="533400"/>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00025" y="51244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Singapore</a:t>
            </a:r>
          </a:p>
        </p:txBody>
      </p:sp>
      <p:sp>
        <p:nvSpPr>
          <p:cNvPr id="54" name="TextBox 53"/>
          <p:cNvSpPr txBox="1"/>
          <p:nvPr/>
        </p:nvSpPr>
        <p:spPr>
          <a:xfrm>
            <a:off x="1724025" y="51530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Installed demand (6.2% CAGR), Rollstock Films demand, Accelerating vs history.</a:t>
            </a:r>
          </a:p>
        </p:txBody>
      </p:sp>
      <p:sp>
        <p:nvSpPr>
          <p:cNvPr id="55" name="TextBox 54"/>
          <p:cNvSpPr txBox="1"/>
          <p:nvPr/>
        </p:nvSpPr>
        <p:spPr>
          <a:xfrm>
            <a:off x="5534025" y="51530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159 BPS, Sub-scale base, Rising realisation (1.4%).</a:t>
            </a:r>
          </a:p>
        </p:txBody>
      </p:sp>
      <p:sp>
        <p:nvSpPr>
          <p:cNvPr id="56" name="TextBox 55"/>
          <p:cNvSpPr txBox="1"/>
          <p:nvPr/>
        </p:nvSpPr>
        <p:spPr>
          <a:xfrm>
            <a:off x="8391525" y="51530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(6.3%), 438.7 US$ Mn headroom.</a:t>
            </a:r>
          </a:p>
        </p:txBody>
      </p:sp>
      <p:sp>
        <p:nvSpPr>
          <p:cNvPr id="57" name="Rectangle 56"/>
          <p:cNvSpPr/>
          <p:nvPr/>
        </p:nvSpPr>
        <p:spPr>
          <a:xfrm>
            <a:off x="142875" y="5657850"/>
            <a:ext cx="11906250" cy="5334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200025" y="56578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New Zealand</a:t>
            </a:r>
          </a:p>
        </p:txBody>
      </p:sp>
      <p:sp>
        <p:nvSpPr>
          <p:cNvPr id="59" name="TextBox 58"/>
          <p:cNvSpPr txBox="1"/>
          <p:nvPr/>
        </p:nvSpPr>
        <p:spPr>
          <a:xfrm>
            <a:off x="1724025" y="56864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Installed demand (6.0% CAGR), Rollstock Films demand, Accelerating vs history.</a:t>
            </a:r>
          </a:p>
        </p:txBody>
      </p:sp>
      <p:sp>
        <p:nvSpPr>
          <p:cNvPr id="60" name="TextBox 59"/>
          <p:cNvSpPr txBox="1"/>
          <p:nvPr/>
        </p:nvSpPr>
        <p:spPr>
          <a:xfrm>
            <a:off x="5534025" y="56864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179 BPS, Sub-scale base, Rising realisation (1.4%).</a:t>
            </a:r>
          </a:p>
        </p:txBody>
      </p:sp>
      <p:sp>
        <p:nvSpPr>
          <p:cNvPr id="61" name="TextBox 60"/>
          <p:cNvSpPr txBox="1"/>
          <p:nvPr/>
        </p:nvSpPr>
        <p:spPr>
          <a:xfrm>
            <a:off x="8391525" y="56864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Barrier Casings (6.2%), Mix shift to Premade Pouches &amp; Bags, 419.5 US$ Mn headroom.</a:t>
            </a:r>
          </a:p>
        </p:txBody>
      </p:sp>
      <p:cxnSp>
        <p:nvCxnSpPr>
          <p:cNvPr id="62" name="Connector 61"/>
          <p:cNvCxnSpPr/>
          <p:nvPr/>
        </p:nvCxnSpPr>
        <p:spPr>
          <a:xfrm>
            <a:off x="142875" y="6191250"/>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200025" y="6210300"/>
            <a:ext cx="3810000" cy="190500"/>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64" name="TextBox 6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Dynamics by Country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country of the South Asia &amp; Pacific market</a:t>
            </a:r>
          </a:p>
        </p:txBody>
      </p:sp>
      <p:sp>
        <p:nvSpPr>
          <p:cNvPr id="10" name="Rounded Rectangle 9"/>
          <p:cNvSpPr/>
          <p:nvPr/>
        </p:nvSpPr>
        <p:spPr>
          <a:xfrm>
            <a:off x="142875" y="876300"/>
            <a:ext cx="11906250" cy="1038225"/>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914400"/>
            <a:ext cx="3810000" cy="228600"/>
          </a:xfrm>
          <a:prstGeom prst="rect">
            <a:avLst/>
          </a:prstGeom>
          <a:noFill/>
        </p:spPr>
        <p:txBody>
          <a:bodyPr wrap="square" lIns="28575" rIns="28575" tIns="9525" bIns="9525" anchor="ctr">
            <a:spAutoFit/>
          </a:bodyPr>
          <a:lstStyle/>
          <a:p>
            <a:pPr algn="l"/>
            <a:r>
              <a:rPr sz="1200" b="1">
                <a:solidFill>
                  <a:srgbClr val="0B2E4A"/>
                </a:solidFill>
                <a:latin typeface="Calibri"/>
              </a:rPr>
              <a:t>KEY TAKEAWAY</a:t>
            </a:r>
          </a:p>
        </p:txBody>
      </p:sp>
      <p:cxnSp>
        <p:nvCxnSpPr>
          <p:cNvPr id="12" name="Connector 11"/>
          <p:cNvCxnSpPr/>
          <p:nvPr/>
        </p:nvCxnSpPr>
        <p:spPr>
          <a:xfrm>
            <a:off x="276225" y="1162050"/>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276225" y="1219200"/>
            <a:ext cx="11525250" cy="61912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India, Australia, Indonesia anchor scale with a combined 61.0% of South Asia &amp; Pacific value in 2036, while 'Philippines' offers the steepest upside at 9.3% CAGR against a market pace of 7.8%. 4 of 9 countries grow at or above that pace, so entry logic has to differ by country scale defence in the leaders, mix and premiumisation in the mid-tier, and availability-led expansion in the fastest movers.</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South Asia &amp; Pacific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Oval 10"/>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3729314" y="1835594"/>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flipV="1">
            <a:off x="2900764" y="2468721"/>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flipV="1">
            <a:off x="2440953" y="3383617"/>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440953" y="3891345"/>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2900764" y="3891345"/>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a:off x="3729314" y="3891345"/>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38400" y="2020341"/>
            <a:ext cx="2324100" cy="3130509"/>
          </a:xfrm>
          <a:custGeom>
            <a:avLst/>
            <a:gdLst/>
            <a:ahLst/>
            <a:cxnLst/>
            <a:rect l="l" t="t" r="r" b="b"/>
            <a:pathLst>
              <a:path w="244" h="343">
                <a:moveTo>
                  <a:pt x="244" y="0"/>
                </a:moveTo>
                <a:lnTo>
                  <a:pt x="169" y="49"/>
                </a:lnTo>
                <a:lnTo>
                  <a:pt x="49" y="49"/>
                </a:lnTo>
                <a:lnTo>
                  <a:pt x="86" y="169"/>
                </a:lnTo>
                <a:lnTo>
                  <a:pt x="0" y="261"/>
                </a:lnTo>
                <a:lnTo>
                  <a:pt x="119" y="305"/>
                </a:lnTo>
                <a:lnTo>
                  <a:pt x="230" y="233"/>
                </a:lnTo>
                <a:lnTo>
                  <a:pt x="244" y="343"/>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400300" y="128106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Production Scale-up  14.9%</a:t>
            </a:r>
          </a:p>
        </p:txBody>
      </p:sp>
      <p:sp>
        <p:nvSpPr>
          <p:cNvPr id="32" name="Oval 31"/>
          <p:cNvSpPr/>
          <p:nvPr/>
        </p:nvSpPr>
        <p:spPr>
          <a:xfrm>
            <a:off x="3681689" y="178996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1385456" y="151968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Input Cost Pressure  12.6%</a:t>
            </a:r>
          </a:p>
        </p:txBody>
      </p:sp>
      <p:sp>
        <p:nvSpPr>
          <p:cNvPr id="34" name="Oval 33"/>
          <p:cNvSpPr/>
          <p:nvPr/>
        </p:nvSpPr>
        <p:spPr>
          <a:xfrm>
            <a:off x="2853139" y="242308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10507" y="227040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Capacity Add  18.3%</a:t>
            </a:r>
          </a:p>
        </p:txBody>
      </p:sp>
      <p:sp>
        <p:nvSpPr>
          <p:cNvPr id="36" name="Oval 35"/>
          <p:cNvSpPr/>
          <p:nvPr/>
        </p:nvSpPr>
        <p:spPr>
          <a:xfrm>
            <a:off x="2393328" y="3337982"/>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4946" y="323653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Supply Concentration  11.8%</a:t>
            </a:r>
          </a:p>
        </p:txBody>
      </p:sp>
      <p:sp>
        <p:nvSpPr>
          <p:cNvPr id="38" name="Oval 37"/>
          <p:cNvSpPr/>
          <p:nvPr/>
        </p:nvSpPr>
        <p:spPr>
          <a:xfrm>
            <a:off x="2393328" y="435344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4946" y="4308858"/>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Geographic Spread  18.3%</a:t>
            </a:r>
          </a:p>
        </p:txBody>
      </p:sp>
      <p:sp>
        <p:nvSpPr>
          <p:cNvPr id="40" name="Oval 39"/>
          <p:cNvSpPr/>
          <p:nvPr/>
        </p:nvSpPr>
        <p:spPr>
          <a:xfrm>
            <a:off x="2853139" y="526833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510507" y="527498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Portfolio Breadth  11.7%</a:t>
            </a:r>
          </a:p>
        </p:txBody>
      </p:sp>
      <p:sp>
        <p:nvSpPr>
          <p:cNvPr id="42" name="Oval 41"/>
          <p:cNvSpPr/>
          <p:nvPr/>
        </p:nvSpPr>
        <p:spPr>
          <a:xfrm>
            <a:off x="3681689" y="590146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385456" y="602571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Route Depth  2.3%</a:t>
            </a:r>
          </a:p>
        </p:txBody>
      </p:sp>
      <p:sp>
        <p:nvSpPr>
          <p:cNvPr id="44" name="Oval 43"/>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400300" y="6264326"/>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Value Realisation  10.1%</a:t>
            </a:r>
          </a:p>
        </p:txBody>
      </p:sp>
      <p:sp>
        <p:nvSpPr>
          <p:cNvPr id="46" name="Rectangle 45"/>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4286250" y="3818331"/>
            <a:ext cx="419100" cy="14603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1"/>
          <p:cNvSpPr txBox="1"/>
          <p:nvPr/>
        </p:nvSpPr>
        <p:spPr>
          <a:xfrm>
            <a:off x="4286250" y="3590159"/>
            <a:ext cx="419100" cy="14603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9" name="FMI Scale 2"/>
          <p:cNvSpPr txBox="1"/>
          <p:nvPr/>
        </p:nvSpPr>
        <p:spPr>
          <a:xfrm>
            <a:off x="4286250" y="3361988"/>
            <a:ext cx="419100" cy="146030"/>
          </a:xfrm>
          <a:prstGeom prst="rect">
            <a:avLst/>
          </a:prstGeom>
          <a:noFill/>
        </p:spPr>
        <p:txBody>
          <a:bodyPr wrap="none" lIns="0" rIns="0" tIns="0" bIns="0" anchor="ctr">
            <a:spAutoFit/>
          </a:bodyPr>
          <a:lstStyle/>
          <a:p>
            <a:pPr algn="r"/>
            <a:r>
              <a:rPr sz="1100" b="0">
                <a:solidFill>
                  <a:srgbClr val="6C7A89"/>
                </a:solidFill>
                <a:latin typeface="Calibri"/>
              </a:rPr>
              <a:t>20%</a:t>
            </a:r>
          </a:p>
        </p:txBody>
      </p:sp>
      <p:sp>
        <p:nvSpPr>
          <p:cNvPr id="50" name="FMI Scale 3"/>
          <p:cNvSpPr txBox="1"/>
          <p:nvPr/>
        </p:nvSpPr>
        <p:spPr>
          <a:xfrm>
            <a:off x="4286250" y="3133817"/>
            <a:ext cx="419100" cy="146030"/>
          </a:xfrm>
          <a:prstGeom prst="rect">
            <a:avLst/>
          </a:prstGeom>
          <a:noFill/>
        </p:spPr>
        <p:txBody>
          <a:bodyPr wrap="none" lIns="0" rIns="0" tIns="0" bIns="0" anchor="ctr">
            <a:spAutoFit/>
          </a:bodyPr>
          <a:lstStyle/>
          <a:p>
            <a:pPr algn="r"/>
            <a:r>
              <a:rPr sz="1100" b="0">
                <a:solidFill>
                  <a:srgbClr val="6C7A89"/>
                </a:solidFill>
                <a:latin typeface="Calibri"/>
              </a:rPr>
              <a:t>30%</a:t>
            </a:r>
          </a:p>
        </p:txBody>
      </p:sp>
      <p:sp>
        <p:nvSpPr>
          <p:cNvPr id="51" name="FMI Scale 4"/>
          <p:cNvSpPr txBox="1"/>
          <p:nvPr/>
        </p:nvSpPr>
        <p:spPr>
          <a:xfrm>
            <a:off x="4286250" y="2905646"/>
            <a:ext cx="419100" cy="146030"/>
          </a:xfrm>
          <a:prstGeom prst="rect">
            <a:avLst/>
          </a:prstGeom>
          <a:noFill/>
        </p:spPr>
        <p:txBody>
          <a:bodyPr wrap="none" lIns="0" rIns="0" tIns="0" bIns="0" anchor="ctr">
            <a:spAutoFit/>
          </a:bodyPr>
          <a:lstStyle/>
          <a:p>
            <a:pPr algn="r"/>
            <a:r>
              <a:rPr sz="1100" b="0">
                <a:solidFill>
                  <a:srgbClr val="6C7A89"/>
                </a:solidFill>
                <a:latin typeface="Calibri"/>
              </a:rPr>
              <a:t>40%</a:t>
            </a:r>
          </a:p>
        </p:txBody>
      </p:sp>
      <p:sp>
        <p:nvSpPr>
          <p:cNvPr id="52" name="FMI Scale 5"/>
          <p:cNvSpPr txBox="1"/>
          <p:nvPr/>
        </p:nvSpPr>
        <p:spPr>
          <a:xfrm>
            <a:off x="4286250" y="2677474"/>
            <a:ext cx="419100" cy="14603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53" name="FMI Scale 6"/>
          <p:cNvSpPr txBox="1"/>
          <p:nvPr/>
        </p:nvSpPr>
        <p:spPr>
          <a:xfrm>
            <a:off x="4286250" y="2449303"/>
            <a:ext cx="419100" cy="146030"/>
          </a:xfrm>
          <a:prstGeom prst="rect">
            <a:avLst/>
          </a:prstGeom>
          <a:noFill/>
        </p:spPr>
        <p:txBody>
          <a:bodyPr wrap="none" lIns="0" rIns="0" tIns="0" bIns="0" anchor="ctr">
            <a:spAutoFit/>
          </a:bodyPr>
          <a:lstStyle/>
          <a:p>
            <a:pPr algn="r"/>
            <a:r>
              <a:rPr sz="1100" b="0">
                <a:solidFill>
                  <a:srgbClr val="6C7A89"/>
                </a:solidFill>
                <a:latin typeface="Calibri"/>
              </a:rPr>
              <a:t>60%</a:t>
            </a:r>
          </a:p>
        </p:txBody>
      </p:sp>
      <p:sp>
        <p:nvSpPr>
          <p:cNvPr id="54" name="FMI Scale 7"/>
          <p:cNvSpPr txBox="1"/>
          <p:nvPr/>
        </p:nvSpPr>
        <p:spPr>
          <a:xfrm>
            <a:off x="4286250" y="2221132"/>
            <a:ext cx="419100" cy="14603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55" name="FMI Scale 8"/>
          <p:cNvSpPr txBox="1"/>
          <p:nvPr/>
        </p:nvSpPr>
        <p:spPr>
          <a:xfrm>
            <a:off x="4286250" y="1992961"/>
            <a:ext cx="419100" cy="146030"/>
          </a:xfrm>
          <a:prstGeom prst="rect">
            <a:avLst/>
          </a:prstGeom>
          <a:noFill/>
        </p:spPr>
        <p:txBody>
          <a:bodyPr wrap="none" lIns="0" rIns="0" tIns="0" bIns="0" anchor="ctr">
            <a:spAutoFit/>
          </a:bodyPr>
          <a:lstStyle/>
          <a:p>
            <a:pPr algn="r"/>
            <a:r>
              <a:rPr sz="1100" b="0">
                <a:solidFill>
                  <a:srgbClr val="6C7A89"/>
                </a:solidFill>
                <a:latin typeface="Calibri"/>
              </a:rPr>
              <a:t>80%</a:t>
            </a:r>
          </a:p>
        </p:txBody>
      </p:sp>
      <p:sp>
        <p:nvSpPr>
          <p:cNvPr id="56" name="FMI Scale 9"/>
          <p:cNvSpPr txBox="1"/>
          <p:nvPr/>
        </p:nvSpPr>
        <p:spPr>
          <a:xfrm>
            <a:off x="4286250" y="1764790"/>
            <a:ext cx="419100" cy="146030"/>
          </a:xfrm>
          <a:prstGeom prst="rect">
            <a:avLst/>
          </a:prstGeom>
          <a:noFill/>
        </p:spPr>
        <p:txBody>
          <a:bodyPr wrap="none" lIns="0" rIns="0" tIns="0" bIns="0" anchor="ctr">
            <a:spAutoFit/>
          </a:bodyPr>
          <a:lstStyle/>
          <a:p>
            <a:pPr algn="r"/>
            <a:r>
              <a:rPr sz="1100" b="0">
                <a:solidFill>
                  <a:srgbClr val="6C7A89"/>
                </a:solidFill>
                <a:latin typeface="Calibri"/>
              </a:rPr>
              <a:t>90%</a:t>
            </a:r>
          </a:p>
        </p:txBody>
      </p:sp>
      <p:sp>
        <p:nvSpPr>
          <p:cNvPr id="57" name="FMI Scale 10"/>
          <p:cNvSpPr txBox="1"/>
          <p:nvPr/>
        </p:nvSpPr>
        <p:spPr>
          <a:xfrm>
            <a:off x="4286250" y="1536618"/>
            <a:ext cx="419100" cy="146030"/>
          </a:xfrm>
          <a:prstGeom prst="rect">
            <a:avLst/>
          </a:prstGeom>
          <a:noFill/>
        </p:spPr>
        <p:txBody>
          <a:bodyPr wrap="none" lIns="0" rIns="0" tIns="0" bIns="0" anchor="ctr">
            <a:spAutoFit/>
          </a:bodyPr>
          <a:lstStyle/>
          <a:p>
            <a:pPr algn="r"/>
            <a:r>
              <a:rPr sz="1100" b="0">
                <a:solidFill>
                  <a:srgbClr val="6C7A89"/>
                </a:solidFill>
                <a:latin typeface="Calibri"/>
              </a:rPr>
              <a:t>100%</a:t>
            </a:r>
          </a:p>
        </p:txBody>
      </p:sp>
      <p:cxnSp>
        <p:nvCxnSpPr>
          <p:cNvPr id="58" name="Connector 57"/>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972050" y="1080276"/>
            <a:ext cx="7077075" cy="219044"/>
          </a:xfrm>
          <a:prstGeom prst="rect">
            <a:avLst/>
          </a:prstGeom>
          <a:noFill/>
        </p:spPr>
        <p:txBody>
          <a:bodyPr wrap="square" lIns="28575" rIns="28575" tIns="9525" bIns="9525" anchor="ctr">
            <a:spAutoFit/>
          </a:bodyPr>
          <a:lstStyle/>
          <a:p>
            <a:pPr algn="l"/>
            <a:r>
              <a:rPr sz="1200" b="1">
                <a:solidFill>
                  <a:srgbClr val="0B2E4A"/>
                </a:solidFill>
                <a:latin typeface="Calibri"/>
              </a:rPr>
              <a:t>Economic and Supply-side Factors</a:t>
            </a:r>
          </a:p>
        </p:txBody>
      </p:sp>
      <p:cxnSp>
        <p:nvCxnSpPr>
          <p:cNvPr id="60" name="Connector 59"/>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4972050" y="142709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Supply-side conditions are led by Capacity Add (10.0/10), Geographic Spread (10.0/10), Production Scale-up (8.2/10) on a 0-10 scale scored from the south asia &amp; pacific dataset itself.</a:t>
            </a:r>
          </a:p>
        </p:txBody>
      </p:sp>
      <p:sp>
        <p:nvSpPr>
          <p:cNvPr id="62" name="TextBox 61"/>
          <p:cNvSpPr txBox="1"/>
          <p:nvPr/>
        </p:nvSpPr>
        <p:spPr>
          <a:xfrm>
            <a:off x="4972050" y="1883439"/>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Volume expands at 6.5% CAGR (2026–2036) while average realisation moves 1.2% a year the balance of those two sets the cost-pass-through picture.</a:t>
            </a:r>
          </a:p>
        </p:txBody>
      </p:sp>
      <p:sp>
        <p:nvSpPr>
          <p:cNvPr id="63" name="TextBox 62"/>
          <p:cNvSpPr txBox="1"/>
          <p:nvPr/>
        </p:nvSpPr>
        <p:spPr>
          <a:xfrm>
            <a:off x="4972050" y="2339781"/>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Supply is dispersed: 'India' holds 32.4% of 2036 value across 9 countries.</a:t>
            </a:r>
          </a:p>
        </p:txBody>
      </p:sp>
      <p:sp>
        <p:nvSpPr>
          <p:cNvPr id="64" name="TextBox 63"/>
          <p:cNvSpPr txBox="1"/>
          <p:nvPr/>
        </p:nvSpPr>
        <p:spPr>
          <a:xfrm>
            <a:off x="4972050" y="261358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Portfolio breadth spans 4 product type lines and 2 application routes, giving producers focused reformulation and channel latitude.</a:t>
            </a:r>
          </a:p>
        </p:txBody>
      </p:sp>
      <p:sp>
        <p:nvSpPr>
          <p:cNvPr id="65" name="TextBox 64"/>
          <p:cNvSpPr txBox="1"/>
          <p:nvPr/>
        </p:nvSpPr>
        <p:spPr>
          <a:xfrm>
            <a:off x="4972050" y="3069929"/>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Capacity added between 2026 and 2036 is worth 17,225 US$ Mn, a 2.1× expansion on the 2026 base.</a:t>
            </a:r>
          </a:p>
        </p:txBody>
      </p:sp>
      <p:sp>
        <p:nvSpPr>
          <p:cNvPr id="66" name="TextBox 65"/>
          <p:cNvSpPr txBox="1"/>
          <p:nvPr/>
        </p:nvSpPr>
        <p:spPr>
          <a:xfrm>
            <a:off x="4972050" y="3343734"/>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South Asia &amp; Pacific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Oval 10"/>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1835594"/>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V="1">
            <a:off x="7429500" y="2468721"/>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V="1">
            <a:off x="7429500" y="3383617"/>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7429500" y="3891345"/>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7429500" y="3891345"/>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7429500" y="2120737"/>
            <a:ext cx="1600200" cy="3449949"/>
          </a:xfrm>
          <a:custGeom>
            <a:avLst/>
            <a:gdLst/>
            <a:ahLst/>
            <a:cxnLst/>
            <a:rect l="l" t="t" r="r" b="b"/>
            <a:pathLst>
              <a:path w="168" h="378">
                <a:moveTo>
                  <a:pt x="0" y="0"/>
                </a:moveTo>
                <a:lnTo>
                  <a:pt x="76" y="35"/>
                </a:lnTo>
                <a:lnTo>
                  <a:pt x="24" y="175"/>
                </a:lnTo>
                <a:lnTo>
                  <a:pt x="123" y="166"/>
                </a:lnTo>
                <a:lnTo>
                  <a:pt x="168" y="232"/>
                </a:lnTo>
                <a:lnTo>
                  <a:pt x="139" y="305"/>
                </a:lnTo>
                <a:lnTo>
                  <a:pt x="89" y="378"/>
                </a:lnTo>
                <a:lnTo>
                  <a:pt x="0" y="249"/>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505700" y="128106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Demand Growth  17.1%</a:t>
            </a:r>
          </a:p>
        </p:txBody>
      </p:sp>
      <p:sp>
        <p:nvSpPr>
          <p:cNvPr id="32" name="Oval 31"/>
          <p:cNvSpPr/>
          <p:nvPr/>
        </p:nvSpPr>
        <p:spPr>
          <a:xfrm>
            <a:off x="8415061" y="178996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8520544" y="151968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Premiumisation  15.5%</a:t>
            </a:r>
          </a:p>
        </p:txBody>
      </p:sp>
      <p:sp>
        <p:nvSpPr>
          <p:cNvPr id="34" name="Oval 33"/>
          <p:cNvSpPr/>
          <p:nvPr/>
        </p:nvSpPr>
        <p:spPr>
          <a:xfrm>
            <a:off x="9243611" y="242308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9395493" y="2270405"/>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App. Breadth  2.7%</a:t>
            </a:r>
          </a:p>
        </p:txBody>
      </p:sp>
      <p:sp>
        <p:nvSpPr>
          <p:cNvPr id="36" name="Oval 35"/>
          <p:cNvSpPr/>
          <p:nvPr/>
        </p:nvSpPr>
        <p:spPr>
          <a:xfrm>
            <a:off x="9703422" y="3337982"/>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9881054" y="3236535"/>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Emerging Pull  11.1%</a:t>
            </a:r>
          </a:p>
        </p:txBody>
      </p:sp>
      <p:sp>
        <p:nvSpPr>
          <p:cNvPr id="38" name="Oval 37"/>
          <p:cNvSpPr/>
          <p:nvPr/>
        </p:nvSpPr>
        <p:spPr>
          <a:xfrm>
            <a:off x="9703422" y="435344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1054" y="4308858"/>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Volume Momentum  15.2%</a:t>
            </a:r>
          </a:p>
        </p:txBody>
      </p:sp>
      <p:sp>
        <p:nvSpPr>
          <p:cNvPr id="40" name="Oval 39"/>
          <p:cNvSpPr/>
          <p:nvPr/>
        </p:nvSpPr>
        <p:spPr>
          <a:xfrm>
            <a:off x="9243611" y="526833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9395493" y="527498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Category Maturity  15.7%</a:t>
            </a:r>
          </a:p>
        </p:txBody>
      </p:sp>
      <p:sp>
        <p:nvSpPr>
          <p:cNvPr id="42" name="Oval 41"/>
          <p:cNvSpPr/>
          <p:nvPr/>
        </p:nvSpPr>
        <p:spPr>
          <a:xfrm>
            <a:off x="8415061" y="590146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520544" y="602571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Adoption Depth  18.0%</a:t>
            </a:r>
          </a:p>
        </p:txBody>
      </p:sp>
      <p:sp>
        <p:nvSpPr>
          <p:cNvPr id="44" name="Oval 43"/>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505700" y="6264326"/>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Consumer Reach  4.8%</a:t>
            </a:r>
          </a:p>
        </p:txBody>
      </p:sp>
      <p:sp>
        <p:nvSpPr>
          <p:cNvPr id="46" name="Rectangle 45"/>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7486650" y="3818331"/>
            <a:ext cx="419100" cy="14603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48" name="FMI Scale 1"/>
          <p:cNvSpPr txBox="1"/>
          <p:nvPr/>
        </p:nvSpPr>
        <p:spPr>
          <a:xfrm>
            <a:off x="7486650" y="3590159"/>
            <a:ext cx="419100" cy="14603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9" name="FMI Scale 2"/>
          <p:cNvSpPr txBox="1"/>
          <p:nvPr/>
        </p:nvSpPr>
        <p:spPr>
          <a:xfrm>
            <a:off x="7486650" y="3361988"/>
            <a:ext cx="419100" cy="146030"/>
          </a:xfrm>
          <a:prstGeom prst="rect">
            <a:avLst/>
          </a:prstGeom>
          <a:noFill/>
        </p:spPr>
        <p:txBody>
          <a:bodyPr wrap="none" lIns="0" rIns="0" tIns="0" bIns="0" anchor="ctr">
            <a:spAutoFit/>
          </a:bodyPr>
          <a:lstStyle/>
          <a:p>
            <a:pPr algn="l"/>
            <a:r>
              <a:rPr sz="1100" b="0">
                <a:solidFill>
                  <a:srgbClr val="6C7A89"/>
                </a:solidFill>
                <a:latin typeface="Calibri"/>
              </a:rPr>
              <a:t>20%</a:t>
            </a:r>
          </a:p>
        </p:txBody>
      </p:sp>
      <p:sp>
        <p:nvSpPr>
          <p:cNvPr id="50" name="FMI Scale 3"/>
          <p:cNvSpPr txBox="1"/>
          <p:nvPr/>
        </p:nvSpPr>
        <p:spPr>
          <a:xfrm>
            <a:off x="7486650" y="3133817"/>
            <a:ext cx="419100" cy="146030"/>
          </a:xfrm>
          <a:prstGeom prst="rect">
            <a:avLst/>
          </a:prstGeom>
          <a:noFill/>
        </p:spPr>
        <p:txBody>
          <a:bodyPr wrap="none" lIns="0" rIns="0" tIns="0" bIns="0" anchor="ctr">
            <a:spAutoFit/>
          </a:bodyPr>
          <a:lstStyle/>
          <a:p>
            <a:pPr algn="l"/>
            <a:r>
              <a:rPr sz="1100" b="0">
                <a:solidFill>
                  <a:srgbClr val="6C7A89"/>
                </a:solidFill>
                <a:latin typeface="Calibri"/>
              </a:rPr>
              <a:t>30%</a:t>
            </a:r>
          </a:p>
        </p:txBody>
      </p:sp>
      <p:sp>
        <p:nvSpPr>
          <p:cNvPr id="51" name="FMI Scale 4"/>
          <p:cNvSpPr txBox="1"/>
          <p:nvPr/>
        </p:nvSpPr>
        <p:spPr>
          <a:xfrm>
            <a:off x="7486650" y="2905646"/>
            <a:ext cx="419100" cy="146030"/>
          </a:xfrm>
          <a:prstGeom prst="rect">
            <a:avLst/>
          </a:prstGeom>
          <a:noFill/>
        </p:spPr>
        <p:txBody>
          <a:bodyPr wrap="none" lIns="0" rIns="0" tIns="0" bIns="0" anchor="ctr">
            <a:spAutoFit/>
          </a:bodyPr>
          <a:lstStyle/>
          <a:p>
            <a:pPr algn="l"/>
            <a:r>
              <a:rPr sz="1100" b="0">
                <a:solidFill>
                  <a:srgbClr val="6C7A89"/>
                </a:solidFill>
                <a:latin typeface="Calibri"/>
              </a:rPr>
              <a:t>40%</a:t>
            </a:r>
          </a:p>
        </p:txBody>
      </p:sp>
      <p:sp>
        <p:nvSpPr>
          <p:cNvPr id="52" name="FMI Scale 5"/>
          <p:cNvSpPr txBox="1"/>
          <p:nvPr/>
        </p:nvSpPr>
        <p:spPr>
          <a:xfrm>
            <a:off x="7486650" y="2677474"/>
            <a:ext cx="419100" cy="146030"/>
          </a:xfrm>
          <a:prstGeom prst="rect">
            <a:avLst/>
          </a:prstGeom>
          <a:noFill/>
        </p:spPr>
        <p:txBody>
          <a:bodyPr wrap="none" lIns="0" rIns="0" tIns="0" bIns="0" anchor="ctr">
            <a:spAutoFit/>
          </a:bodyPr>
          <a:lstStyle/>
          <a:p>
            <a:pPr algn="l"/>
            <a:r>
              <a:rPr sz="1100" b="0">
                <a:solidFill>
                  <a:srgbClr val="6C7A89"/>
                </a:solidFill>
                <a:latin typeface="Calibri"/>
              </a:rPr>
              <a:t>50%</a:t>
            </a:r>
          </a:p>
        </p:txBody>
      </p:sp>
      <p:sp>
        <p:nvSpPr>
          <p:cNvPr id="53" name="FMI Scale 6"/>
          <p:cNvSpPr txBox="1"/>
          <p:nvPr/>
        </p:nvSpPr>
        <p:spPr>
          <a:xfrm>
            <a:off x="7486650" y="2449303"/>
            <a:ext cx="419100" cy="146030"/>
          </a:xfrm>
          <a:prstGeom prst="rect">
            <a:avLst/>
          </a:prstGeom>
          <a:noFill/>
        </p:spPr>
        <p:txBody>
          <a:bodyPr wrap="none" lIns="0" rIns="0" tIns="0" bIns="0" anchor="ctr">
            <a:spAutoFit/>
          </a:bodyPr>
          <a:lstStyle/>
          <a:p>
            <a:pPr algn="l"/>
            <a:r>
              <a:rPr sz="1100" b="0">
                <a:solidFill>
                  <a:srgbClr val="6C7A89"/>
                </a:solidFill>
                <a:latin typeface="Calibri"/>
              </a:rPr>
              <a:t>60%</a:t>
            </a:r>
          </a:p>
        </p:txBody>
      </p:sp>
      <p:sp>
        <p:nvSpPr>
          <p:cNvPr id="54" name="FMI Scale 7"/>
          <p:cNvSpPr txBox="1"/>
          <p:nvPr/>
        </p:nvSpPr>
        <p:spPr>
          <a:xfrm>
            <a:off x="7486650" y="2221132"/>
            <a:ext cx="419100" cy="146030"/>
          </a:xfrm>
          <a:prstGeom prst="rect">
            <a:avLst/>
          </a:prstGeom>
          <a:noFill/>
        </p:spPr>
        <p:txBody>
          <a:bodyPr wrap="none" lIns="0" rIns="0" tIns="0" bIns="0" anchor="ctr">
            <a:spAutoFit/>
          </a:bodyPr>
          <a:lstStyle/>
          <a:p>
            <a:pPr algn="l"/>
            <a:r>
              <a:rPr sz="1100" b="0">
                <a:solidFill>
                  <a:srgbClr val="6C7A89"/>
                </a:solidFill>
                <a:latin typeface="Calibri"/>
              </a:rPr>
              <a:t>70%</a:t>
            </a:r>
          </a:p>
        </p:txBody>
      </p:sp>
      <p:sp>
        <p:nvSpPr>
          <p:cNvPr id="55" name="FMI Scale 8"/>
          <p:cNvSpPr txBox="1"/>
          <p:nvPr/>
        </p:nvSpPr>
        <p:spPr>
          <a:xfrm>
            <a:off x="7486650" y="1992961"/>
            <a:ext cx="419100" cy="146030"/>
          </a:xfrm>
          <a:prstGeom prst="rect">
            <a:avLst/>
          </a:prstGeom>
          <a:noFill/>
        </p:spPr>
        <p:txBody>
          <a:bodyPr wrap="none" lIns="0" rIns="0" tIns="0" bIns="0" anchor="ctr">
            <a:spAutoFit/>
          </a:bodyPr>
          <a:lstStyle/>
          <a:p>
            <a:pPr algn="l"/>
            <a:r>
              <a:rPr sz="1100" b="0">
                <a:solidFill>
                  <a:srgbClr val="6C7A89"/>
                </a:solidFill>
                <a:latin typeface="Calibri"/>
              </a:rPr>
              <a:t>80%</a:t>
            </a:r>
          </a:p>
        </p:txBody>
      </p:sp>
      <p:sp>
        <p:nvSpPr>
          <p:cNvPr id="56" name="FMI Scale 9"/>
          <p:cNvSpPr txBox="1"/>
          <p:nvPr/>
        </p:nvSpPr>
        <p:spPr>
          <a:xfrm>
            <a:off x="7486650" y="1764790"/>
            <a:ext cx="419100" cy="146030"/>
          </a:xfrm>
          <a:prstGeom prst="rect">
            <a:avLst/>
          </a:prstGeom>
          <a:noFill/>
        </p:spPr>
        <p:txBody>
          <a:bodyPr wrap="none" lIns="0" rIns="0" tIns="0" bIns="0" anchor="ctr">
            <a:spAutoFit/>
          </a:bodyPr>
          <a:lstStyle/>
          <a:p>
            <a:pPr algn="l"/>
            <a:r>
              <a:rPr sz="1100" b="0">
                <a:solidFill>
                  <a:srgbClr val="6C7A89"/>
                </a:solidFill>
                <a:latin typeface="Calibri"/>
              </a:rPr>
              <a:t>90%</a:t>
            </a:r>
          </a:p>
        </p:txBody>
      </p:sp>
      <p:sp>
        <p:nvSpPr>
          <p:cNvPr id="57" name="FMI Scale 10"/>
          <p:cNvSpPr txBox="1"/>
          <p:nvPr/>
        </p:nvSpPr>
        <p:spPr>
          <a:xfrm>
            <a:off x="7486650" y="1536618"/>
            <a:ext cx="419100" cy="146030"/>
          </a:xfrm>
          <a:prstGeom prst="rect">
            <a:avLst/>
          </a:prstGeom>
          <a:noFill/>
        </p:spPr>
        <p:txBody>
          <a:bodyPr wrap="none" lIns="0" rIns="0" tIns="0" bIns="0" anchor="ctr">
            <a:spAutoFit/>
          </a:bodyPr>
          <a:lstStyle/>
          <a:p>
            <a:pPr algn="l"/>
            <a:r>
              <a:rPr sz="1100" b="0">
                <a:solidFill>
                  <a:srgbClr val="6C7A89"/>
                </a:solidFill>
                <a:latin typeface="Calibri"/>
              </a:rPr>
              <a:t>100%</a:t>
            </a:r>
          </a:p>
        </p:txBody>
      </p:sp>
      <p:cxnSp>
        <p:nvCxnSpPr>
          <p:cNvPr id="58" name="Connector 57"/>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180975" y="1080276"/>
            <a:ext cx="7038975" cy="219044"/>
          </a:xfrm>
          <a:prstGeom prst="rect">
            <a:avLst/>
          </a:prstGeom>
          <a:noFill/>
        </p:spPr>
        <p:txBody>
          <a:bodyPr wrap="square" lIns="28575" rIns="28575" tIns="9525" bIns="9525" anchor="ctr">
            <a:spAutoFit/>
          </a:bodyPr>
          <a:lstStyle/>
          <a:p>
            <a:pPr algn="l"/>
            <a:r>
              <a:rPr sz="1200" b="1">
                <a:solidFill>
                  <a:srgbClr val="0B2E4A"/>
                </a:solidFill>
                <a:latin typeface="Calibri"/>
              </a:rPr>
              <a:t>Demand-side Factors</a:t>
            </a:r>
          </a:p>
        </p:txBody>
      </p:sp>
      <p:cxnSp>
        <p:nvCxnSpPr>
          <p:cNvPr id="60" name="Connector 59"/>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80975" y="142709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Demand-side conditions are led by Adoption Depth (8.2/10), Demand Growth (7.8/10), Category Maturity (7.1/10) on a 0-10 scale scored from the south asia &amp; pacific dataset itself.</a:t>
            </a:r>
          </a:p>
        </p:txBody>
      </p:sp>
      <p:sp>
        <p:nvSpPr>
          <p:cNvPr id="62" name="TextBox 61"/>
          <p:cNvSpPr txBox="1"/>
          <p:nvPr/>
        </p:nvSpPr>
        <p:spPr>
          <a:xfrm>
            <a:off x="180975" y="1883439"/>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Value grows at 7.8% against volume at 6.5% a premiumising market through 2036.</a:t>
            </a:r>
          </a:p>
        </p:txBody>
      </p:sp>
      <p:sp>
        <p:nvSpPr>
          <p:cNvPr id="63" name="TextBox 62"/>
          <p:cNvSpPr txBox="1"/>
          <p:nvPr/>
        </p:nvSpPr>
        <p:spPr>
          <a:xfrm>
            <a:off x="180975" y="2157244"/>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'Rollstock Films' carries 54.1% of product type demand while 'Premade Pouches &amp; Bags' compounds fastest at 7.8%.</a:t>
            </a:r>
          </a:p>
        </p:txBody>
      </p:sp>
      <p:sp>
        <p:nvSpPr>
          <p:cNvPr id="64" name="TextBox 63"/>
          <p:cNvSpPr txBox="1"/>
          <p:nvPr/>
        </p:nvSpPr>
        <p:spPr>
          <a:xfrm>
            <a:off x="180975" y="261358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Pull is strongest in 'Philippines' (9.3% CAGR, +153 BPS versus the market), with 4 of 9 countries at or above pace.</a:t>
            </a:r>
          </a:p>
        </p:txBody>
      </p:sp>
      <p:sp>
        <p:nvSpPr>
          <p:cNvPr id="65" name="TextBox 64"/>
          <p:cNvSpPr txBox="1"/>
          <p:nvPr/>
        </p:nvSpPr>
        <p:spPr>
          <a:xfrm>
            <a:off x="180975" y="3069929"/>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Reach runs through 2 application routes, led by 'Food Packaging' at 83.5% and with 'Food Packaging' growing fastest at 7.8%.</a:t>
            </a:r>
          </a:p>
        </p:txBody>
      </p:sp>
      <p:sp>
        <p:nvSpPr>
          <p:cNvPr id="66" name="TextBox 65"/>
          <p:cNvSpPr txBox="1"/>
          <p:nvPr/>
        </p:nvSpPr>
        <p:spPr>
          <a:xfrm>
            <a:off x="180975" y="3526271"/>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South Asia &amp; Pacific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Restraints</a:t>
            </a:r>
          </a:p>
        </p:txBody>
      </p:sp>
      <p:sp>
        <p:nvSpPr>
          <p:cNvPr id="13" name="Rectangle 12"/>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Barrier Casings Lags the Category and Dilutes Blended Growth</a:t>
            </a:r>
          </a:p>
        </p:txBody>
      </p:sp>
      <p:sp>
        <p:nvSpPr>
          <p:cNvPr id="15" name="TextBox 14"/>
          <p:cNvSpPr txBox="1"/>
          <p:nvPr/>
        </p:nvSpPr>
        <p:spPr>
          <a:xfrm>
            <a:off x="161925" y="1700902"/>
            <a:ext cx="9439275"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'Barrier Casings' grows at only 7.7% CAGR against the market's 7.8%, a -11 BPS gap, and 'Barrier Casings' surrenders 11 BPS of product type share between 2026 and 2036. Because these lines still carry meaningful volume, the drag is absorbed by the whole category: blended growth sits below what the leading lines achieve on their own. Rationalising or repositioning the lagging end of a 4-line portfolio is therefore a precondition for realising the headline forecast.</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Uneven Country Performance Caps the Blended Rate</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'New Zealand' grows at just 6.0% CAGR -179 BPS against the market and 5 of 9 countries sit below the market pace altogether. Demand is therefore not uniformly available: suppliers carrying a broad geographic footprint fund presence in slow countries out of returns earned in the fast ones. With 'India' at 32.4% of value, a shortfall in a single leading country is difficult to offset elsewhere in the forecast window.</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Concentration Risk Limits Pricing and Sourcing Flexibility</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The market is concentrated: 'India' accounts for 32.4% of 2036 value and the leading product type line for 54.1% of its segment. Average realisation moves 1.2% a year, so cost movements cannot be passed on evenly across 9 countries. The practical constraint is the same in either case commercial terms set for the market as a whole underserve part of it, and margin is lost in the mismatch rather than in the headline growth rate.</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South Asia &amp; Pacific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ounded Rectangle 10"/>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Opportunities</a:t>
            </a:r>
          </a:p>
        </p:txBody>
      </p:sp>
      <p:sp>
        <p:nvSpPr>
          <p:cNvPr id="13" name="Rectangle 12"/>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India Carries the Largest Absolute Opportunity</a:t>
            </a:r>
          </a:p>
        </p:txBody>
      </p:sp>
      <p:sp>
        <p:nvSpPr>
          <p:cNvPr id="15" name="TextBox 14"/>
          <p:cNvSpPr txBox="1"/>
          <p:nvPr/>
        </p:nvSpPr>
        <p:spPr>
          <a:xfrm>
            <a:off x="161925" y="170090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'India' adds 5,698 US$ Mn between 2026 and 2036 the single largest absolute increment of any geography in the dataset. Capturing it is a question of scale execution rather than market creation: demand already exists and grows at 7.8% at the market level. Prioritising supply, channel coverage and service levels there converts the largest share of the 17,225 US$ Mn the whole market adds over the forecast period.</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Philippines Offers Under-penetrated, Above-pace Headroom</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'Philippines' compounds at 9.3% CAGR from a below-median base one of 2 geographies in the dataset combining above-median growth with below-median size. That profile is where share is cheapest to buy: competitive intensity is lower than in the 32.4%-share leaders, while growth runs +153 BPS ahead of the market. Early distribution and reference accounts established here compound through 2036.</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Food Packaging Opens the Fastest Route to Market</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'Food Packaging' grows at 7.8% CAGR, the fastest of 2 application routes, and adds 14,403 US$ Mn over the forecast period while 'Food Packaging' still carries 83.5% of demand today. Pairing the incumbent route for volume with the fastest route for growth and leading with 'Premade Pouches &amp; Bags' at 7.8% is the highest-yield combination the dataset supports.</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South Asia &amp; Pacific Flexible Plastic Packaging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South Asia &amp; Pacific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Rectangle 10"/>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1428750" cy="292059"/>
          </a:xfrm>
          <a:prstGeom prst="rect">
            <a:avLst/>
          </a:prstGeom>
          <a:noFill/>
        </p:spPr>
        <p:txBody>
          <a:bodyPr wrap="square" lIns="28575" rIns="28575" tIns="9525" bIns="9525" anchor="ctr">
            <a:spAutoFit/>
          </a:bodyPr>
          <a:lstStyle/>
          <a:p>
            <a:pPr algn="ctr"/>
            <a:r>
              <a:rPr sz="1150" b="1">
                <a:solidFill>
                  <a:srgbClr val="FFFFFF"/>
                </a:solidFill>
                <a:latin typeface="Calibri"/>
              </a:rPr>
              <a:t>Year</a:t>
            </a:r>
          </a:p>
        </p:txBody>
      </p:sp>
      <p:sp>
        <p:nvSpPr>
          <p:cNvPr id="13" name="TextBox 12"/>
          <p:cNvSpPr txBox="1"/>
          <p:nvPr/>
        </p:nvSpPr>
        <p:spPr>
          <a:xfrm>
            <a:off x="1714500" y="1025515"/>
            <a:ext cx="10239375" cy="292059"/>
          </a:xfrm>
          <a:prstGeom prst="rect">
            <a:avLst/>
          </a:prstGeom>
          <a:noFill/>
        </p:spPr>
        <p:txBody>
          <a:bodyPr wrap="square" lIns="28575" rIns="28575" tIns="9525" bIns="9525" anchor="ctr">
            <a:spAutoFit/>
          </a:bodyPr>
          <a:lstStyle/>
          <a:p>
            <a:pPr algn="ctr"/>
            <a:r>
              <a:rPr sz="1150" b="1">
                <a:solidFill>
                  <a:srgbClr val="FFFFFF"/>
                </a:solidFill>
                <a:latin typeface="Calibri"/>
              </a:rPr>
              <a:t>Recent Development</a:t>
            </a:r>
          </a:p>
        </p:txBody>
      </p:sp>
      <p:sp>
        <p:nvSpPr>
          <p:cNvPr id="14" name="Rectangle 13"/>
          <p:cNvSpPr/>
          <p:nvPr/>
        </p:nvSpPr>
        <p:spPr>
          <a:xfrm>
            <a:off x="142875" y="1317574"/>
            <a:ext cx="11906250" cy="1296013"/>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142875" y="1317574"/>
            <a:ext cx="1428750" cy="1296013"/>
          </a:xfrm>
          <a:prstGeom prst="rect">
            <a:avLst/>
          </a:prstGeom>
          <a:noFill/>
        </p:spPr>
        <p:txBody>
          <a:bodyPr wrap="square" lIns="28575" rIns="28575" tIns="9525" bIns="9525" anchor="ctr">
            <a:spAutoFit/>
          </a:bodyPr>
          <a:lstStyle/>
          <a:p>
            <a:pPr algn="ctr"/>
            <a:r>
              <a:rPr sz="1250" b="1">
                <a:solidFill>
                  <a:srgbClr val="0B2E4A"/>
                </a:solidFill>
                <a:latin typeface="Calibri"/>
              </a:rPr>
              <a:t>2025</a:t>
            </a:r>
          </a:p>
        </p:txBody>
      </p:sp>
      <p:cxnSp>
        <p:nvCxnSpPr>
          <p:cNvPr id="16" name="Connector 15"/>
          <p:cNvCxnSpPr/>
          <p:nvPr/>
        </p:nvCxnSpPr>
        <p:spPr>
          <a:xfrm>
            <a:off x="1571625" y="1317574"/>
            <a:ext cx="0" cy="1296013"/>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714500" y="1668957"/>
            <a:ext cx="102108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Strongest historical expansion on record: South Asia &amp; Pacific value rose +5.9% year on year to 14,508 US$ Mn, the steepest single-year move of the 2021–2025 period. Demand for 'Rollstock Films' 54.1% of product type value by 2036 set the pace, and the 2 application routes tracked here all carried volume through the year.</a:t>
            </a:r>
          </a:p>
        </p:txBody>
      </p:sp>
      <p:sp>
        <p:nvSpPr>
          <p:cNvPr id="18" name="Rectangle 17"/>
          <p:cNvSpPr/>
          <p:nvPr/>
        </p:nvSpPr>
        <p:spPr>
          <a:xfrm>
            <a:off x="142875" y="2613586"/>
            <a:ext cx="11906250" cy="985700"/>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42875" y="26135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2026</a:t>
            </a:r>
          </a:p>
        </p:txBody>
      </p:sp>
      <p:cxnSp>
        <p:nvCxnSpPr>
          <p:cNvPr id="20" name="Connector 19"/>
          <p:cNvCxnSpPr/>
          <p:nvPr/>
        </p:nvCxnSpPr>
        <p:spPr>
          <a:xfrm>
            <a:off x="1571625" y="26135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714500" y="2905646"/>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Base year for the forecast: the south asia &amp; pacific market is estimated at 15,462 US$ Mn, having compounded at 5.7% across 2021–2025. 'India' holds 32.4% of value across 9 countries, and the forecast is built from 6 segment breakdowns covering 4 product type lines.</a:t>
            </a:r>
          </a:p>
        </p:txBody>
      </p:sp>
      <p:sp>
        <p:nvSpPr>
          <p:cNvPr id="22" name="Rectangle 21"/>
          <p:cNvSpPr/>
          <p:nvPr/>
        </p:nvSpPr>
        <p:spPr>
          <a:xfrm>
            <a:off x="142875" y="3599286"/>
            <a:ext cx="11906250" cy="985700"/>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42875" y="35992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2032</a:t>
            </a:r>
          </a:p>
        </p:txBody>
      </p:sp>
      <p:cxnSp>
        <p:nvCxnSpPr>
          <p:cNvPr id="24" name="Connector 23"/>
          <p:cNvCxnSpPr/>
          <p:nvPr/>
        </p:nvCxnSpPr>
        <p:spPr>
          <a:xfrm>
            <a:off x="1571625" y="35992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1714500" y="3891345"/>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The market passes 23,193 US$ Mn one and a half times the 2026 base reaching 23,972 US$ Mn. Growth by this point is led by 'Premade Pouches &amp; Bags' at 7.8% CAGR and by 'Philippines' among countries at 9.3%, with 4 of 9 countries running at or above the market rate.</a:t>
            </a:r>
          </a:p>
        </p:txBody>
      </p:sp>
      <p:sp>
        <p:nvSpPr>
          <p:cNvPr id="26" name="Rectangle 25"/>
          <p:cNvSpPr/>
          <p:nvPr/>
        </p:nvSpPr>
        <p:spPr>
          <a:xfrm>
            <a:off x="142875" y="4584986"/>
            <a:ext cx="11906250" cy="985700"/>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42875" y="45849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2031</a:t>
            </a:r>
          </a:p>
        </p:txBody>
      </p:sp>
      <p:cxnSp>
        <p:nvCxnSpPr>
          <p:cNvPr id="28" name="Connector 27"/>
          <p:cNvCxnSpPr/>
          <p:nvPr/>
        </p:nvCxnSpPr>
        <p:spPr>
          <a:xfrm>
            <a:off x="1571625" y="45849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714500" y="4877045"/>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Mid-horizon checkpoint: value reaches 22,168 US$ Mn, 1.43× the 2026 base. Average realisation stands at 2942.76 US$/MT, and mix has moved +9 BPS toward 'Premade Pouches &amp; Bags' while 'Barrier Casings' gives up 11 BPS.</a:t>
            </a:r>
          </a:p>
        </p:txBody>
      </p:sp>
      <p:sp>
        <p:nvSpPr>
          <p:cNvPr id="30" name="Rectangle 29"/>
          <p:cNvSpPr/>
          <p:nvPr/>
        </p:nvSpPr>
        <p:spPr>
          <a:xfrm>
            <a:off x="142875" y="5570686"/>
            <a:ext cx="11906250" cy="985700"/>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142875" y="5570686"/>
            <a:ext cx="1428750" cy="985700"/>
          </a:xfrm>
          <a:prstGeom prst="rect">
            <a:avLst/>
          </a:prstGeom>
          <a:noFill/>
        </p:spPr>
        <p:txBody>
          <a:bodyPr wrap="square" lIns="28575" rIns="28575" tIns="9525" bIns="9525" anchor="ctr">
            <a:spAutoFit/>
          </a:bodyPr>
          <a:lstStyle/>
          <a:p>
            <a:pPr algn="ctr"/>
            <a:r>
              <a:rPr sz="1250" b="1">
                <a:solidFill>
                  <a:srgbClr val="0B2E4A"/>
                </a:solidFill>
                <a:latin typeface="Calibri"/>
              </a:rPr>
              <a:t>2036</a:t>
            </a:r>
          </a:p>
        </p:txBody>
      </p:sp>
      <p:cxnSp>
        <p:nvCxnSpPr>
          <p:cNvPr id="32" name="Connector 31"/>
          <p:cNvCxnSpPr/>
          <p:nvPr/>
        </p:nvCxnSpPr>
        <p:spPr>
          <a:xfrm>
            <a:off x="1571625" y="5570686"/>
            <a:ext cx="0" cy="98570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714500" y="5862745"/>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Forecast outcome: the south asia &amp; pacific market reaches 32,687 US$ Mn, a 2.1× expansion on 2026 and 17,225 US$ Mn of incremental value at 7.8% CAGR. Volume compounds at 6.5% over the same window, leaving realisation 1.2% a year the gap between the two is the premiumisation the forecast assumes.</a:t>
            </a:r>
          </a:p>
        </p:txBody>
      </p:sp>
      <p:sp>
        <p:nvSpPr>
          <p:cNvPr id="34" name="TextBox 3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South Asia &amp; Pacific Flexible Plastic Packaging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South Asia &amp; Pacific</a:t>
            </a:r>
          </a:p>
        </p:txBody>
      </p:sp>
      <p:sp>
        <p:nvSpPr>
          <p:cNvPr id="11" name="TextBox 10"/>
          <p:cNvSpPr txBox="1"/>
          <p:nvPr/>
        </p:nvSpPr>
        <p:spPr>
          <a:xfrm>
            <a:off x="142875" y="989007"/>
            <a:ext cx="11906250" cy="328567"/>
          </a:xfrm>
          <a:prstGeom prst="rect">
            <a:avLst/>
          </a:prstGeom>
          <a:noFill/>
        </p:spPr>
        <p:txBody>
          <a:bodyPr wrap="square" lIns="28575" rIns="28575" tIns="9525" bIns="9525" anchor="ctr">
            <a:spAutoFit/>
          </a:bodyPr>
          <a:lstStyle/>
          <a:p>
            <a:pPr algn="l">
              <a:lnSpc>
                <a:spcPct val="115000"/>
              </a:lnSpc>
            </a:pPr>
            <a:r>
              <a:rPr sz="1100" b="0">
                <a:solidFill>
                  <a:srgbClr val="6C7A89"/>
                </a:solidFill>
                <a:latin typeface="Calibri"/>
              </a:rPr>
              <a:t>Supplier power, buyer power, competitive intensity, substitution and entry barriers scored from the south asia &amp; pacific dataset 4 product type lines, 2 application routes and 9 countries at 7.8% CAGR.</a:t>
            </a:r>
          </a:p>
        </p:txBody>
      </p:sp>
      <p:sp>
        <p:nvSpPr>
          <p:cNvPr id="12" name="Oval 11"/>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047750" y="1664394"/>
            <a:ext cx="571500" cy="401581"/>
          </a:xfrm>
          <a:prstGeom prst="rect">
            <a:avLst/>
          </a:prstGeom>
          <a:noFill/>
        </p:spPr>
        <p:txBody>
          <a:bodyPr wrap="none" lIns="0" rIns="0" tIns="0" bIns="0" anchor="ctr">
            <a:spAutoFit/>
          </a:bodyPr>
          <a:lstStyle/>
          <a:p>
            <a:pPr algn="ctr"/>
            <a:r>
              <a:rPr sz="3400" b="1">
                <a:solidFill>
                  <a:srgbClr val="8A6A00"/>
                </a:solidFill>
                <a:latin typeface="Calibri"/>
              </a:rPr>
              <a:t>$</a:t>
            </a:r>
          </a:p>
        </p:txBody>
      </p:sp>
      <p:sp>
        <p:nvSpPr>
          <p:cNvPr id="14" name="TextBox 13"/>
          <p:cNvSpPr txBox="1"/>
          <p:nvPr/>
        </p:nvSpPr>
        <p:spPr>
          <a:xfrm>
            <a:off x="219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Suppliers</a:t>
            </a:r>
          </a:p>
        </p:txBody>
      </p:sp>
      <p:sp>
        <p:nvSpPr>
          <p:cNvPr id="15" name="TextBox 14"/>
          <p:cNvSpPr txBox="1"/>
          <p:nvPr/>
        </p:nvSpPr>
        <p:spPr>
          <a:xfrm>
            <a:off x="247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to high. 'India' supplies 32.4% of 2036 value across 9 countries, concentrating upstream leverage.</a:t>
            </a:r>
          </a:p>
        </p:txBody>
      </p:sp>
      <p:sp>
        <p:nvSpPr>
          <p:cNvPr id="16" name="TextBox 15"/>
          <p:cNvSpPr txBox="1"/>
          <p:nvPr/>
        </p:nvSpPr>
        <p:spPr>
          <a:xfrm>
            <a:off x="247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Average realisation moves 1.2% a year (2026–2036), indicating input costs are being passed through.</a:t>
            </a:r>
          </a:p>
        </p:txBody>
      </p:sp>
      <p:sp>
        <p:nvSpPr>
          <p:cNvPr id="17" name="TextBox 16"/>
          <p:cNvSpPr txBox="1"/>
          <p:nvPr/>
        </p:nvSpPr>
        <p:spPr>
          <a:xfrm>
            <a:off x="247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Buyers can rebalance across 4 product type lines, which caps supplier leverage in commodity grades.</a:t>
            </a:r>
          </a:p>
        </p:txBody>
      </p:sp>
      <p:sp>
        <p:nvSpPr>
          <p:cNvPr id="18" name="Oval 17"/>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Oval 20"/>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6003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Buyers</a:t>
            </a:r>
          </a:p>
        </p:txBody>
      </p:sp>
      <p:sp>
        <p:nvSpPr>
          <p:cNvPr id="24" name="TextBox 23"/>
          <p:cNvSpPr txBox="1"/>
          <p:nvPr/>
        </p:nvSpPr>
        <p:spPr>
          <a:xfrm>
            <a:off x="262890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low. Demand routes through 2 application channels led by 'Food Packaging' at 83.5%, giving large buyers scale.</a:t>
            </a:r>
          </a:p>
        </p:txBody>
      </p:sp>
      <p:sp>
        <p:nvSpPr>
          <p:cNvPr id="25" name="TextBox 24"/>
          <p:cNvSpPr txBox="1"/>
          <p:nvPr/>
        </p:nvSpPr>
        <p:spPr>
          <a:xfrm>
            <a:off x="262890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Price sensitivity tracks realisation moving 1.2% a year against volume growth of 6.5%.</a:t>
            </a:r>
          </a:p>
        </p:txBody>
      </p:sp>
      <p:sp>
        <p:nvSpPr>
          <p:cNvPr id="26" name="TextBox 25"/>
          <p:cNvSpPr txBox="1"/>
          <p:nvPr/>
        </p:nvSpPr>
        <p:spPr>
          <a:xfrm>
            <a:off x="26289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Switching is easiest where 4 comparable product type lines compete for the same demand.</a:t>
            </a:r>
          </a:p>
        </p:txBody>
      </p:sp>
      <p:sp>
        <p:nvSpPr>
          <p:cNvPr id="27" name="Oval 26"/>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Oval 27"/>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9815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Intensity of Competition</a:t>
            </a:r>
          </a:p>
        </p:txBody>
      </p:sp>
      <p:sp>
        <p:nvSpPr>
          <p:cNvPr id="35" name="TextBox 34"/>
          <p:cNvSpPr txBox="1"/>
          <p:nvPr/>
        </p:nvSpPr>
        <p:spPr>
          <a:xfrm>
            <a:off x="5010150" y="2796123"/>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4 product type lines compete inside the segment; the leader holds 54.1%.</a:t>
            </a:r>
          </a:p>
        </p:txBody>
      </p:sp>
      <p:sp>
        <p:nvSpPr>
          <p:cNvPr id="36" name="TextBox 35"/>
          <p:cNvSpPr txBox="1"/>
          <p:nvPr/>
        </p:nvSpPr>
        <p:spPr>
          <a:xfrm>
            <a:off x="5010150" y="3480637"/>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Growth is unevenly distributed 'Premade Pouches &amp; Bags' at 7.8% against 'Barrier Casings' at 7.7%.</a:t>
            </a:r>
          </a:p>
        </p:txBody>
      </p:sp>
      <p:sp>
        <p:nvSpPr>
          <p:cNvPr id="37" name="TextBox 36"/>
          <p:cNvSpPr txBox="1"/>
          <p:nvPr/>
        </p:nvSpPr>
        <p:spPr>
          <a:xfrm>
            <a:off x="501015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4 of 9 countries grow at or above the 7.8% market pace, keeping share contested.</a:t>
            </a:r>
          </a:p>
        </p:txBody>
      </p:sp>
      <p:sp>
        <p:nvSpPr>
          <p:cNvPr id="38" name="Oval 37"/>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ounded Rectangle 38"/>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ounded Rectangle 39"/>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ounded Rectangle 40"/>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3628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Substitutes</a:t>
            </a:r>
          </a:p>
        </p:txBody>
      </p:sp>
      <p:sp>
        <p:nvSpPr>
          <p:cNvPr id="43" name="TextBox 42"/>
          <p:cNvSpPr txBox="1"/>
          <p:nvPr/>
        </p:nvSpPr>
        <p:spPr>
          <a:xfrm>
            <a:off x="73914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low. 'Barrier Casings' loses 11 BPS of share to 'Premade Pouches &amp; Bags' (+9 BPS) by 2036 substitution is visible inside the mix.</a:t>
            </a:r>
          </a:p>
        </p:txBody>
      </p:sp>
      <p:sp>
        <p:nvSpPr>
          <p:cNvPr id="44" name="TextBox 43"/>
          <p:cNvSpPr txBox="1"/>
          <p:nvPr/>
        </p:nvSpPr>
        <p:spPr>
          <a:xfrm>
            <a:off x="7391400" y="3854838"/>
            <a:ext cx="21717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The slowest line grows at 7.7%, -11 BPS against the market.</a:t>
            </a:r>
          </a:p>
        </p:txBody>
      </p:sp>
      <p:sp>
        <p:nvSpPr>
          <p:cNvPr id="45" name="TextBox 44"/>
          <p:cNvSpPr txBox="1"/>
          <p:nvPr/>
        </p:nvSpPr>
        <p:spPr>
          <a:xfrm>
            <a:off x="73914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Realisation moving 1.2% a year widens the price gap substitutes must close.</a:t>
            </a:r>
          </a:p>
        </p:txBody>
      </p:sp>
      <p:sp>
        <p:nvSpPr>
          <p:cNvPr id="46" name="Oval 45"/>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744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New Entrants</a:t>
            </a:r>
          </a:p>
        </p:txBody>
      </p:sp>
      <p:sp>
        <p:nvSpPr>
          <p:cNvPr id="54" name="TextBox 53"/>
          <p:cNvSpPr txBox="1"/>
          <p:nvPr/>
        </p:nvSpPr>
        <p:spPr>
          <a:xfrm>
            <a:off x="9772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high. The market grows at 7.8% CAGR and adds 17,225 US$ Mn by 2036, attracting entry.</a:t>
            </a:r>
          </a:p>
        </p:txBody>
      </p:sp>
      <p:sp>
        <p:nvSpPr>
          <p:cNvPr id="55" name="TextBox 54"/>
          <p:cNvSpPr txBox="1"/>
          <p:nvPr/>
        </p:nvSpPr>
        <p:spPr>
          <a:xfrm>
            <a:off x="9772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Demand spreads over 9 countries with no single one above 32.4%, so regional entry is feasible.</a:t>
            </a:r>
          </a:p>
        </p:txBody>
      </p:sp>
      <p:sp>
        <p:nvSpPr>
          <p:cNvPr id="56" name="TextBox 55"/>
          <p:cNvSpPr txBox="1"/>
          <p:nvPr/>
        </p:nvSpPr>
        <p:spPr>
          <a:xfrm>
            <a:off x="9772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Incumbent scale in 'India' and 'Rollstock Films' (54.1% of segment) remains the principal barrier.</a:t>
            </a:r>
          </a:p>
        </p:txBody>
      </p:sp>
      <p:sp>
        <p:nvSpPr>
          <p:cNvPr id="57" name="TextBox 5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1">
                          <a:solidFill>
                            <a:srgbClr val="000000"/>
                          </a:solidFill>
                          <a:latin typeface="Calibri"/>
                        </a:rPr>
                        <a:t>1.1.1.1.</a:t>
                      </a:r>
                      <a:r>
                        <a:rPr sz="700" b="0" i="1">
                          <a:solidFill>
                            <a:srgbClr val="000000"/>
                          </a:solidFill>
                          <a:latin typeface="Times New Roman"/>
                        </a:rPr>
                        <a:t>    </a:t>
                      </a:r>
                      <a:r>
                        <a:rPr sz="1100" b="0" i="1">
                          <a:solidFill>
                            <a:srgbClr val="000000"/>
                          </a:solidFill>
                          <a:latin typeface="Calibri"/>
                        </a:rPr>
                        <a:t>Key Supply Trends</a:t>
                      </a:r>
                      <a:endParaRPr sz="1100"/>
                    </a:p>
                  </a:txBody>
                  <a:tcPr marL="10287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0" i="1">
                          <a:solidFill>
                            <a:srgbClr val="000000"/>
                          </a:solidFill>
                          <a:latin typeface="Calibri"/>
                        </a:rPr>
                        <a:t>2.2.1.1.</a:t>
                      </a:r>
                      <a:r>
                        <a:rPr sz="700" b="0" i="1">
                          <a:solidFill>
                            <a:srgbClr val="000000"/>
                          </a:solidFill>
                          <a:latin typeface="Times New Roman"/>
                        </a:rPr>
                        <a:t>    </a:t>
                      </a:r>
                      <a:r>
                        <a:rPr sz="1100" b="0" i="1">
                          <a:solidFill>
                            <a:srgbClr val="000000"/>
                          </a:solidFill>
                          <a:latin typeface="Calibri"/>
                        </a:rPr>
                        <a:t>Global Market Size (Value &amp; Volume) 2021–2036</a:t>
                      </a:r>
                      <a:endParaRPr sz="1100"/>
                    </a:p>
                  </a:txBody>
                  <a:tcPr marL="1028700"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2.5.</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2.6.</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Product Type</a:t>
                      </a:r>
                      <a:endParaRPr sz="1100"/>
                    </a:p>
                  </a:txBody>
                  <a:tcPr marL="171450" marR="9525" marT="9525" marB="0" anchor="ctr"/>
                </a:tc>
              </a:tr>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Flat Polybags</a:t>
                      </a:r>
                      <a:endParaRPr sz="1100"/>
                    </a:p>
                  </a:txBody>
                  <a:tcPr marL="771525" marR="9525" marT="9525" marB="0" anchor="ctr"/>
                </a:tc>
              </a:tr>
              <a:tr h="175260">
                <a:tc>
                  <a:txBody>
                    <a:bodyPr wrap="square"/>
                    <a:lstStyle/>
                    <a:p>
                      <a:pPr algn="l"/>
                      <a:r>
                        <a:rPr sz="1100" b="0" i="1">
                          <a:solidFill>
                            <a:srgbClr val="000000"/>
                          </a:solidFill>
                          <a:latin typeface="Calibri"/>
                        </a:rPr>
                        <a:t>3.5.1.1.</a:t>
                      </a:r>
                      <a:r>
                        <a:rPr sz="700" b="0" i="1">
                          <a:solidFill>
                            <a:srgbClr val="000000"/>
                          </a:solidFill>
                          <a:latin typeface="Times New Roman"/>
                        </a:rPr>
                        <a:t>    </a:t>
                      </a:r>
                      <a:r>
                        <a:rPr sz="1100" b="0" i="1">
                          <a:solidFill>
                            <a:srgbClr val="000000"/>
                          </a:solidFill>
                          <a:latin typeface="Calibri"/>
                        </a:rPr>
                        <a:t>Standard Flat Bags</a:t>
                      </a:r>
                      <a:endParaRPr sz="1100"/>
                    </a:p>
                  </a:txBody>
                  <a:tcPr marL="1028700" marR="9525" marT="9525" marB="0" anchor="ctr"/>
                </a:tc>
              </a:tr>
              <a:tr h="175260">
                <a:tc>
                  <a:txBody>
                    <a:bodyPr wrap="square"/>
                    <a:lstStyle/>
                    <a:p>
                      <a:pPr algn="l"/>
                      <a:r>
                        <a:rPr sz="1100" b="0" i="1">
                          <a:solidFill>
                            <a:srgbClr val="000000"/>
                          </a:solidFill>
                          <a:latin typeface="Calibri"/>
                        </a:rPr>
                        <a:t>3.5.1.2.</a:t>
                      </a:r>
                      <a:r>
                        <a:rPr sz="700" b="0" i="1">
                          <a:solidFill>
                            <a:srgbClr val="000000"/>
                          </a:solidFill>
                          <a:latin typeface="Times New Roman"/>
                        </a:rPr>
                        <a:t>    </a:t>
                      </a:r>
                      <a:r>
                        <a:rPr sz="1100" b="0" i="1">
                          <a:solidFill>
                            <a:srgbClr val="000000"/>
                          </a:solidFill>
                          <a:latin typeface="Calibri"/>
                        </a:rPr>
                        <a:t>Lay Flat Tubing</a:t>
                      </a:r>
                      <a:endParaRPr sz="1100"/>
                    </a:p>
                  </a:txBody>
                  <a:tcPr marL="1028700" marR="9525" marT="9525" marB="0" anchor="ctr"/>
                </a:tc>
              </a:tr>
              <a:tr h="175260">
                <a:tc>
                  <a:txBody>
                    <a:bodyPr wrap="square"/>
                    <a:lstStyle/>
                    <a:p>
                      <a:pPr algn="l"/>
                      <a:r>
                        <a:rPr sz="1100" b="0" i="1">
                          <a:solidFill>
                            <a:srgbClr val="000000"/>
                          </a:solidFill>
                          <a:latin typeface="Calibri"/>
                        </a:rPr>
                        <a:t>3.5.1.3.</a:t>
                      </a:r>
                      <a:r>
                        <a:rPr sz="700" b="0" i="1">
                          <a:solidFill>
                            <a:srgbClr val="000000"/>
                          </a:solidFill>
                          <a:latin typeface="Times New Roman"/>
                        </a:rPr>
                        <a:t>    </a:t>
                      </a:r>
                      <a:r>
                        <a:rPr sz="1100" b="0" i="1">
                          <a:solidFill>
                            <a:srgbClr val="000000"/>
                          </a:solidFill>
                          <a:latin typeface="Calibri"/>
                        </a:rPr>
                        <a:t>Flat Poly Sleeves</a:t>
                      </a:r>
                      <a:endParaRPr sz="1100"/>
                    </a:p>
                  </a:txBody>
                  <a:tcPr marL="1028700" marR="9525" marT="9525" marB="0" anchor="ctr"/>
                </a:tc>
              </a:tr>
              <a:tr h="175260">
                <a:tc>
                  <a:txBody>
                    <a:bodyPr wrap="square"/>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Gusseted Polybags</a:t>
                      </a:r>
                      <a:endParaRPr sz="1100"/>
                    </a:p>
                  </a:txBody>
                  <a:tcPr marL="771525" marR="9525" marT="9525" marB="0" anchor="ctr"/>
                </a:tc>
              </a:tr>
              <a:tr h="175260">
                <a:tc>
                  <a:txBody>
                    <a:bodyPr wrap="square"/>
                    <a:lstStyle/>
                    <a:p>
                      <a:pPr algn="l"/>
                      <a:r>
                        <a:rPr sz="1100" b="0" i="1">
                          <a:solidFill>
                            <a:srgbClr val="000000"/>
                          </a:solidFill>
                          <a:latin typeface="Calibri"/>
                        </a:rPr>
                        <a:t>3.5.2.1.</a:t>
                      </a:r>
                      <a:r>
                        <a:rPr sz="700" b="0" i="1">
                          <a:solidFill>
                            <a:srgbClr val="000000"/>
                          </a:solidFill>
                          <a:latin typeface="Times New Roman"/>
                        </a:rPr>
                        <a:t>    </a:t>
                      </a:r>
                      <a:r>
                        <a:rPr sz="1100" b="0" i="1">
                          <a:solidFill>
                            <a:srgbClr val="000000"/>
                          </a:solidFill>
                          <a:latin typeface="Calibri"/>
                        </a:rPr>
                        <a:t>Side Gusset Bags</a:t>
                      </a:r>
                      <a:endParaRPr sz="1100"/>
                    </a:p>
                  </a:txBody>
                  <a:tcPr marL="1028700" marR="9525" marT="9525" marB="0" anchor="ctr"/>
                </a:tc>
              </a:tr>
              <a:tr h="175260">
                <a:tc>
                  <a:txBody>
                    <a:bodyPr wrap="square"/>
                    <a:lstStyle/>
                    <a:p>
                      <a:pPr algn="l"/>
                      <a:r>
                        <a:rPr sz="1100" b="0" i="1">
                          <a:solidFill>
                            <a:srgbClr val="000000"/>
                          </a:solidFill>
                          <a:latin typeface="Calibri"/>
                        </a:rPr>
                        <a:t>3.5.2.2.</a:t>
                      </a:r>
                      <a:r>
                        <a:rPr sz="700" b="0" i="1">
                          <a:solidFill>
                            <a:srgbClr val="000000"/>
                          </a:solidFill>
                          <a:latin typeface="Times New Roman"/>
                        </a:rPr>
                        <a:t>    </a:t>
                      </a:r>
                      <a:r>
                        <a:rPr sz="1100" b="0" i="1">
                          <a:solidFill>
                            <a:srgbClr val="000000"/>
                          </a:solidFill>
                          <a:latin typeface="Calibri"/>
                        </a:rPr>
                        <a:t>Bottom Gusset Bags</a:t>
                      </a:r>
                      <a:endParaRPr sz="1100"/>
                    </a:p>
                  </a:txBody>
                  <a:tcPr marL="1028700" marR="9525" marT="9525" marB="0" anchor="ctr"/>
                </a:tc>
              </a:tr>
              <a:tr h="175260">
                <a:tc>
                  <a:txBody>
                    <a:bodyPr wrap="square"/>
                    <a:lstStyle/>
                    <a:p>
                      <a:pPr algn="l"/>
                      <a:r>
                        <a:rPr sz="1100" b="0" i="1">
                          <a:solidFill>
                            <a:srgbClr val="000000"/>
                          </a:solidFill>
                          <a:latin typeface="Calibri"/>
                        </a:rPr>
                        <a:t>3.5.2.3.</a:t>
                      </a:r>
                      <a:r>
                        <a:rPr sz="700" b="0" i="1">
                          <a:solidFill>
                            <a:srgbClr val="000000"/>
                          </a:solidFill>
                          <a:latin typeface="Times New Roman"/>
                        </a:rPr>
                        <a:t>    </a:t>
                      </a:r>
                      <a:r>
                        <a:rPr sz="1100" b="0" i="1">
                          <a:solidFill>
                            <a:srgbClr val="000000"/>
                          </a:solidFill>
                          <a:latin typeface="Calibri"/>
                        </a:rPr>
                        <a:t>Quad Seal Bags</a:t>
                      </a:r>
                      <a:endParaRPr sz="1100"/>
                    </a:p>
                  </a:txBody>
                  <a:tcPr marL="1028700" marR="9525" marT="9525" marB="0" anchor="ctr"/>
                </a:tc>
              </a:tr>
              <a:tr h="175260">
                <a:tc>
                  <a:txBody>
                    <a:bodyPr wrap="square"/>
                    <a:lstStyle/>
                    <a:p>
                      <a:pPr algn="l"/>
                      <a:r>
                        <a:rPr sz="1100" b="0" i="0">
                          <a:solidFill>
                            <a:srgbClr val="000000"/>
                          </a:solidFill>
                          <a:latin typeface="Calibri"/>
                        </a:rPr>
                        <a:t>3.5.3.</a:t>
                      </a:r>
                      <a:r>
                        <a:rPr sz="700" b="0" i="0">
                          <a:solidFill>
                            <a:srgbClr val="000000"/>
                          </a:solidFill>
                          <a:latin typeface="Times New Roman"/>
                        </a:rPr>
                        <a:t>   </a:t>
                      </a:r>
                      <a:r>
                        <a:rPr sz="1100" b="0" i="0">
                          <a:solidFill>
                            <a:srgbClr val="000000"/>
                          </a:solidFill>
                          <a:latin typeface="Calibri"/>
                        </a:rPr>
                        <a:t>Resealable Polybags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3.5.3.1.</a:t>
                      </a:r>
                      <a:r>
                        <a:rPr sz="700" b="0" i="1">
                          <a:solidFill>
                            <a:srgbClr val="000000"/>
                          </a:solidFill>
                          <a:latin typeface="Times New Roman"/>
                        </a:rPr>
                        <a:t>    </a:t>
                      </a:r>
                      <a:r>
                        <a:rPr sz="1100" b="0" i="1">
                          <a:solidFill>
                            <a:srgbClr val="000000"/>
                          </a:solidFill>
                          <a:latin typeface="Calibri"/>
                        </a:rPr>
                        <a:t>Zip Lock Bags</a:t>
                      </a:r>
                      <a:endParaRPr sz="1100"/>
                    </a:p>
                  </a:txBody>
                  <a:tcPr marL="1028700" marR="9525" marT="9525" marB="0" anchor="ctr"/>
                </a:tc>
              </a:tr>
              <a:tr h="175260">
                <a:tc>
                  <a:txBody>
                    <a:bodyPr wrap="square"/>
                    <a:lstStyle/>
                    <a:p>
                      <a:pPr algn="l"/>
                      <a:r>
                        <a:rPr sz="1100" b="0" i="1">
                          <a:solidFill>
                            <a:srgbClr val="000000"/>
                          </a:solidFill>
                          <a:latin typeface="Calibri"/>
                        </a:rPr>
                        <a:t>3.5.3.2.</a:t>
                      </a:r>
                      <a:r>
                        <a:rPr sz="700" b="0" i="1">
                          <a:solidFill>
                            <a:srgbClr val="000000"/>
                          </a:solidFill>
                          <a:latin typeface="Times New Roman"/>
                        </a:rPr>
                        <a:t>    </a:t>
                      </a:r>
                      <a:r>
                        <a:rPr sz="1100" b="0" i="1">
                          <a:solidFill>
                            <a:srgbClr val="000000"/>
                          </a:solidFill>
                          <a:latin typeface="Calibri"/>
                        </a:rPr>
                        <a:t>Slider Zip Bags</a:t>
                      </a:r>
                      <a:endParaRPr sz="1100"/>
                    </a:p>
                  </a:txBody>
                  <a:tcPr marL="1028700" marR="9525" marT="9525" marB="0" anchor="ctr"/>
                </a:tc>
              </a:tr>
              <a:tr h="175260">
                <a:tc>
                  <a:txBody>
                    <a:bodyPr wrap="square"/>
                    <a:lstStyle/>
                    <a:p>
                      <a:pPr algn="l"/>
                      <a:r>
                        <a:rPr sz="1100" b="0" i="1">
                          <a:solidFill>
                            <a:srgbClr val="000000"/>
                          </a:solidFill>
                          <a:latin typeface="Calibri"/>
                        </a:rPr>
                        <a:t>3.5.3.3.</a:t>
                      </a:r>
                      <a:r>
                        <a:rPr sz="700" b="0" i="1">
                          <a:solidFill>
                            <a:srgbClr val="000000"/>
                          </a:solidFill>
                          <a:latin typeface="Times New Roman"/>
                        </a:rPr>
                        <a:t>    </a:t>
                      </a:r>
                      <a:r>
                        <a:rPr sz="1100" b="0" i="1">
                          <a:solidFill>
                            <a:srgbClr val="000000"/>
                          </a:solidFill>
                          <a:latin typeface="Calibri"/>
                        </a:rPr>
                        <a:t>Press-to-Close Bags</a:t>
                      </a:r>
                      <a:endParaRPr sz="1100"/>
                    </a:p>
                  </a:txBody>
                  <a:tcPr marL="1028700" marR="9525" marT="9525" marB="0" anchor="ctr"/>
                </a:tc>
              </a:tr>
              <a:tr h="175260">
                <a:tc>
                  <a:txBody>
                    <a:bodyPr wrap="square"/>
                    <a:lstStyle/>
                    <a:p>
                      <a:pPr algn="l"/>
                      <a:r>
                        <a:rPr sz="1100" b="0" i="1">
                          <a:solidFill>
                            <a:srgbClr val="000000"/>
                          </a:solidFill>
                          <a:latin typeface="Calibri"/>
                        </a:rPr>
                        <a:t>3.5.3.4.</a:t>
                      </a:r>
                      <a:r>
                        <a:rPr sz="700" b="0" i="1">
                          <a:solidFill>
                            <a:srgbClr val="000000"/>
                          </a:solidFill>
                          <a:latin typeface="Times New Roman"/>
                        </a:rPr>
                        <a:t>    </a:t>
                      </a:r>
                      <a:r>
                        <a:rPr sz="1100" b="0" i="1">
                          <a:solidFill>
                            <a:srgbClr val="000000"/>
                          </a:solidFill>
                          <a:latin typeface="Calibri"/>
                        </a:rPr>
                        <a:t>Double Zip Bags</a:t>
                      </a:r>
                      <a:endParaRPr sz="1100"/>
                    </a:p>
                  </a:txBody>
                  <a:tcPr marL="1028700" marR="9525" marT="9525" marB="0" anchor="ctr"/>
                </a:tc>
              </a:tr>
              <a:tr h="175260">
                <a:tc>
                  <a:txBody>
                    <a:bodyPr wrap="square"/>
                    <a:lstStyle/>
                    <a:p>
                      <a:pPr algn="l"/>
                      <a:r>
                        <a:rPr sz="1100" b="0" i="0">
                          <a:solidFill>
                            <a:srgbClr val="000000"/>
                          </a:solidFill>
                          <a:latin typeface="Calibri"/>
                        </a:rPr>
                        <a:t>3.5.4.</a:t>
                      </a:r>
                      <a:r>
                        <a:rPr sz="700" b="0" i="0">
                          <a:solidFill>
                            <a:srgbClr val="000000"/>
                          </a:solidFill>
                          <a:latin typeface="Times New Roman"/>
                        </a:rPr>
                        <a:t>   </a:t>
                      </a:r>
                      <a:r>
                        <a:rPr sz="1100" b="0" i="0">
                          <a:solidFill>
                            <a:srgbClr val="000000"/>
                          </a:solidFill>
                          <a:latin typeface="Calibri"/>
                        </a:rPr>
                        <a:t>Industrial Polybags</a:t>
                      </a:r>
                      <a:endParaRPr sz="1100"/>
                    </a:p>
                  </a:txBody>
                  <a:tcPr marL="771525" marR="9525" marT="9525" marB="0" anchor="ctr"/>
                </a:tc>
              </a:tr>
              <a:tr h="175260">
                <a:tc>
                  <a:txBody>
                    <a:bodyPr wrap="square"/>
                    <a:lstStyle/>
                    <a:p>
                      <a:pPr algn="l"/>
                      <a:r>
                        <a:rPr sz="1100" b="0" i="1">
                          <a:solidFill>
                            <a:srgbClr val="000000"/>
                          </a:solidFill>
                          <a:latin typeface="Calibri"/>
                        </a:rPr>
                        <a:t>3.5.4.1.</a:t>
                      </a:r>
                      <a:r>
                        <a:rPr sz="700" b="0" i="1">
                          <a:solidFill>
                            <a:srgbClr val="000000"/>
                          </a:solidFill>
                          <a:latin typeface="Times New Roman"/>
                        </a:rPr>
                        <a:t>    </a:t>
                      </a:r>
                      <a:r>
                        <a:rPr sz="1100" b="0" i="1">
                          <a:solidFill>
                            <a:srgbClr val="000000"/>
                          </a:solidFill>
                          <a:latin typeface="Calibri"/>
                        </a:rPr>
                        <a:t>Heavy-Duty Bags</a:t>
                      </a:r>
                      <a:endParaRPr sz="1100"/>
                    </a:p>
                  </a:txBody>
                  <a:tcPr marL="1028700" marR="9525" marT="9525" marB="0" anchor="ctr"/>
                </a:tc>
              </a:tr>
              <a:tr h="175260">
                <a:tc>
                  <a:txBody>
                    <a:bodyPr wrap="square"/>
                    <a:lstStyle/>
                    <a:p>
                      <a:pPr algn="l"/>
                      <a:r>
                        <a:rPr sz="1100" b="0" i="1">
                          <a:solidFill>
                            <a:srgbClr val="000000"/>
                          </a:solidFill>
                          <a:latin typeface="Calibri"/>
                        </a:rPr>
                        <a:t>3.5.4.2.</a:t>
                      </a:r>
                      <a:r>
                        <a:rPr sz="700" b="0" i="1">
                          <a:solidFill>
                            <a:srgbClr val="000000"/>
                          </a:solidFill>
                          <a:latin typeface="Times New Roman"/>
                        </a:rPr>
                        <a:t>    </a:t>
                      </a:r>
                      <a:r>
                        <a:rPr sz="1100" b="0" i="1">
                          <a:solidFill>
                            <a:srgbClr val="000000"/>
                          </a:solidFill>
                          <a:latin typeface="Calibri"/>
                        </a:rPr>
                        <a:t>FIBC Liners</a:t>
                      </a:r>
                      <a:endParaRPr sz="1100"/>
                    </a:p>
                  </a:txBody>
                  <a:tcPr marL="1028700" marR="9525" marT="9525" marB="0" anchor="ctr"/>
                </a:tc>
              </a:tr>
              <a:tr h="175260">
                <a:tc>
                  <a:txBody>
                    <a:bodyPr wrap="square"/>
                    <a:lstStyle/>
                    <a:p>
                      <a:pPr algn="l"/>
                      <a:r>
                        <a:rPr sz="1100" b="0" i="1">
                          <a:solidFill>
                            <a:srgbClr val="000000"/>
                          </a:solidFill>
                          <a:latin typeface="Calibri"/>
                        </a:rPr>
                        <a:t>3.5.4.3.</a:t>
                      </a:r>
                      <a:r>
                        <a:rPr sz="700" b="0" i="1">
                          <a:solidFill>
                            <a:srgbClr val="000000"/>
                          </a:solidFill>
                          <a:latin typeface="Times New Roman"/>
                        </a:rPr>
                        <a:t>    </a:t>
                      </a:r>
                      <a:r>
                        <a:rPr sz="1100" b="0" i="1">
                          <a:solidFill>
                            <a:srgbClr val="000000"/>
                          </a:solidFill>
                          <a:latin typeface="Calibri"/>
                        </a:rPr>
                        <a:t>Machinery Parts Bags</a:t>
                      </a:r>
                      <a:endParaRPr sz="1100"/>
                    </a:p>
                  </a:txBody>
                  <a:tcPr marL="1028700" marR="9525" marT="9525" marB="0" anchor="ctr"/>
                </a:tc>
              </a:tr>
              <a:tr h="175260">
                <a:tc>
                  <a:txBody>
                    <a:bodyPr wrap="square"/>
                    <a:lstStyle/>
                    <a:p>
                      <a:pPr algn="l"/>
                      <a:r>
                        <a:rPr sz="1100" b="0" i="1">
                          <a:solidFill>
                            <a:srgbClr val="000000"/>
                          </a:solidFill>
                          <a:latin typeface="Calibri"/>
                        </a:rPr>
                        <a:t>3.5.4.4.</a:t>
                      </a:r>
                      <a:r>
                        <a:rPr sz="700" b="0" i="1">
                          <a:solidFill>
                            <a:srgbClr val="000000"/>
                          </a:solidFill>
                          <a:latin typeface="Times New Roman"/>
                        </a:rPr>
                        <a:t>    </a:t>
                      </a:r>
                      <a:r>
                        <a:rPr sz="1100" b="0" i="1">
                          <a:solidFill>
                            <a:srgbClr val="000000"/>
                          </a:solidFill>
                          <a:latin typeface="Calibri"/>
                        </a:rPr>
                        <a:t>Chemical Packaging Bags</a:t>
                      </a:r>
                      <a:endParaRPr sz="1100"/>
                    </a:p>
                  </a:txBody>
                  <a:tcPr marL="1028700" marR="9525" marT="9525" marB="0" anchor="ctr"/>
                </a:tc>
              </a:tr>
              <a:tr h="175260">
                <a:tc>
                  <a:txBody>
                    <a:bodyPr wrap="square"/>
                    <a:lstStyle/>
                    <a:p>
                      <a:pPr algn="l"/>
                      <a:r>
                        <a:rPr sz="1100" b="0" i="0">
                          <a:solidFill>
                            <a:srgbClr val="000000"/>
                          </a:solidFill>
                          <a:latin typeface="Calibri"/>
                        </a:rPr>
                        <a:t>3.5.5.</a:t>
                      </a:r>
                      <a:r>
                        <a:rPr sz="700" b="0" i="0">
                          <a:solidFill>
                            <a:srgbClr val="000000"/>
                          </a:solidFill>
                          <a:latin typeface="Times New Roman"/>
                        </a:rPr>
                        <a:t>   </a:t>
                      </a:r>
                      <a:r>
                        <a:rPr sz="1100" b="0" i="0">
                          <a:solidFill>
                            <a:srgbClr val="000000"/>
                          </a:solidFill>
                          <a:latin typeface="Calibri"/>
                        </a:rPr>
                        <a:t>Protective Polybags</a:t>
                      </a:r>
                      <a:endParaRPr sz="1100"/>
                    </a:p>
                  </a:txBody>
                  <a:tcPr marL="771525" marR="9525" marT="9525" marB="0" anchor="ctr"/>
                </a:tc>
              </a:tr>
              <a:tr h="175260">
                <a:tc>
                  <a:txBody>
                    <a:bodyPr wrap="square"/>
                    <a:lstStyle/>
                    <a:p>
                      <a:pPr algn="l"/>
                      <a:r>
                        <a:rPr sz="1100" b="0" i="1">
                          <a:solidFill>
                            <a:srgbClr val="000000"/>
                          </a:solidFill>
                          <a:latin typeface="Calibri"/>
                        </a:rPr>
                        <a:t>3.5.5.1.</a:t>
                      </a:r>
                      <a:r>
                        <a:rPr sz="700" b="0" i="1">
                          <a:solidFill>
                            <a:srgbClr val="000000"/>
                          </a:solidFill>
                          <a:latin typeface="Times New Roman"/>
                        </a:rPr>
                        <a:t>    </a:t>
                      </a:r>
                      <a:r>
                        <a:rPr sz="1100" b="0" i="1">
                          <a:solidFill>
                            <a:srgbClr val="000000"/>
                          </a:solidFill>
                          <a:latin typeface="Calibri"/>
                        </a:rPr>
                        <a:t>Bubble Poly Mailers</a:t>
                      </a:r>
                      <a:endParaRPr sz="1100"/>
                    </a:p>
                  </a:txBody>
                  <a:tcPr marL="1028700" marR="9525" marT="9525" marB="0" anchor="ctr"/>
                </a:tc>
              </a:tr>
              <a:tr h="175260">
                <a:tc>
                  <a:txBody>
                    <a:bodyPr wrap="square"/>
                    <a:lstStyle/>
                    <a:p>
                      <a:pPr algn="l"/>
                      <a:r>
                        <a:rPr sz="1100" b="0" i="1">
                          <a:solidFill>
                            <a:srgbClr val="000000"/>
                          </a:solidFill>
                          <a:latin typeface="Calibri"/>
                        </a:rPr>
                        <a:t>3.5.5.2.</a:t>
                      </a:r>
                      <a:r>
                        <a:rPr sz="700" b="0" i="1">
                          <a:solidFill>
                            <a:srgbClr val="000000"/>
                          </a:solidFill>
                          <a:latin typeface="Times New Roman"/>
                        </a:rPr>
                        <a:t>    </a:t>
                      </a:r>
                      <a:r>
                        <a:rPr sz="1100" b="0" i="1">
                          <a:solidFill>
                            <a:srgbClr val="000000"/>
                          </a:solidFill>
                          <a:latin typeface="Calibri"/>
                        </a:rPr>
                        <a:t>Anti-Static (ESD) Bags</a:t>
                      </a:r>
                      <a:endParaRPr sz="1100"/>
                    </a:p>
                  </a:txBody>
                  <a:tcPr marL="1028700" marR="9525" marT="9525" marB="0" anchor="ctr"/>
                </a:tc>
              </a:tr>
              <a:tr h="175260">
                <a:tc>
                  <a:txBody>
                    <a:bodyPr wrap="square"/>
                    <a:lstStyle/>
                    <a:p>
                      <a:pPr algn="l"/>
                      <a:r>
                        <a:rPr sz="1100" b="0" i="1">
                          <a:solidFill>
                            <a:srgbClr val="000000"/>
                          </a:solidFill>
                          <a:latin typeface="Calibri"/>
                        </a:rPr>
                        <a:t>3.5.5.3.</a:t>
                      </a:r>
                      <a:r>
                        <a:rPr sz="700" b="0" i="1">
                          <a:solidFill>
                            <a:srgbClr val="000000"/>
                          </a:solidFill>
                          <a:latin typeface="Times New Roman"/>
                        </a:rPr>
                        <a:t>    </a:t>
                      </a:r>
                      <a:r>
                        <a:rPr sz="1100" b="0" i="1">
                          <a:solidFill>
                            <a:srgbClr val="000000"/>
                          </a:solidFill>
                          <a:latin typeface="Calibri"/>
                        </a:rPr>
                        <a:t>Vacuum Bags</a:t>
                      </a:r>
                      <a:endParaRPr sz="1100"/>
                    </a:p>
                  </a:txBody>
                  <a:tcPr marL="1028700" marR="9525" marT="9525" marB="0" anchor="ctr"/>
                </a:tc>
              </a:tr>
              <a:tr h="175260">
                <a:tc>
                  <a:txBody>
                    <a:bodyPr wrap="square"/>
                    <a:lstStyle/>
                    <a:p>
                      <a:pPr algn="l"/>
                      <a:r>
                        <a:rPr sz="1100" b="0" i="1">
                          <a:solidFill>
                            <a:srgbClr val="000000"/>
                          </a:solidFill>
                          <a:latin typeface="Calibri"/>
                        </a:rPr>
                        <a:t>3.5.5.4.</a:t>
                      </a:r>
                      <a:r>
                        <a:rPr sz="700" b="0" i="1">
                          <a:solidFill>
                            <a:srgbClr val="000000"/>
                          </a:solidFill>
                          <a:latin typeface="Times New Roman"/>
                        </a:rPr>
                        <a:t>    </a:t>
                      </a:r>
                      <a:r>
                        <a:rPr sz="1100" b="0" i="1">
                          <a:solidFill>
                            <a:srgbClr val="000000"/>
                          </a:solidFill>
                          <a:latin typeface="Calibri"/>
                        </a:rPr>
                        <a:t>Cushion Packaging Bags</a:t>
                      </a:r>
                      <a:endParaRPr sz="1100"/>
                    </a:p>
                  </a:txBody>
                  <a:tcPr marL="1028700" marR="9525" marT="9525" marB="0" anchor="ctr"/>
                </a:tc>
              </a:tr>
              <a:tr h="175260">
                <a:tc>
                  <a:txBody>
                    <a:bodyPr wrap="square"/>
                    <a:lstStyle/>
                    <a:p>
                      <a:pPr algn="l"/>
                      <a:r>
                        <a:rPr sz="1100" b="0" i="0">
                          <a:solidFill>
                            <a:srgbClr val="000000"/>
                          </a:solidFill>
                          <a:latin typeface="Calibri"/>
                        </a:rPr>
                        <a:t>3.5.6.</a:t>
                      </a:r>
                      <a:r>
                        <a:rPr sz="700" b="0" i="0">
                          <a:solidFill>
                            <a:srgbClr val="000000"/>
                          </a:solidFill>
                          <a:latin typeface="Times New Roman"/>
                        </a:rPr>
                        <a:t>   </a:t>
                      </a:r>
                      <a:r>
                        <a:rPr sz="1100" b="0" i="0">
                          <a:solidFill>
                            <a:srgbClr val="000000"/>
                          </a:solidFill>
                          <a:latin typeface="Calibri"/>
                        </a:rPr>
                        <a:t>Retail &amp; Merchandise Bags</a:t>
                      </a:r>
                      <a:endParaRPr sz="1100"/>
                    </a:p>
                  </a:txBody>
                  <a:tcPr marL="771525" marR="9525" marT="9525" marB="0" anchor="ctr"/>
                </a:tc>
              </a:tr>
              <a:tr h="175260">
                <a:tc>
                  <a:txBody>
                    <a:bodyPr wrap="square"/>
                    <a:lstStyle/>
                    <a:p>
                      <a:pPr algn="l"/>
                      <a:r>
                        <a:rPr sz="1100" b="0" i="1">
                          <a:solidFill>
                            <a:srgbClr val="000000"/>
                          </a:solidFill>
                          <a:latin typeface="Calibri"/>
                        </a:rPr>
                        <a:t>3.5.6.1.</a:t>
                      </a:r>
                      <a:r>
                        <a:rPr sz="700" b="0" i="1">
                          <a:solidFill>
                            <a:srgbClr val="000000"/>
                          </a:solidFill>
                          <a:latin typeface="Times New Roman"/>
                        </a:rPr>
                        <a:t>    </a:t>
                      </a:r>
                      <a:r>
                        <a:rPr sz="1100" b="0" i="1">
                          <a:solidFill>
                            <a:srgbClr val="000000"/>
                          </a:solidFill>
                          <a:latin typeface="Calibri"/>
                        </a:rPr>
                        <a:t>T-Shirt Bags</a:t>
                      </a:r>
                      <a:endParaRPr sz="1100"/>
                    </a:p>
                  </a:txBody>
                  <a:tcPr marL="1028700" marR="9525" marT="9525" marB="0" anchor="ctr"/>
                </a:tc>
              </a:tr>
              <a:tr h="175260">
                <a:tc>
                  <a:txBody>
                    <a:bodyPr wrap="square"/>
                    <a:lstStyle/>
                    <a:p>
                      <a:pPr algn="l"/>
                      <a:r>
                        <a:rPr sz="1100" b="0" i="1">
                          <a:solidFill>
                            <a:srgbClr val="000000"/>
                          </a:solidFill>
                          <a:latin typeface="Calibri"/>
                        </a:rPr>
                        <a:t>3.5.6.2.</a:t>
                      </a:r>
                      <a:r>
                        <a:rPr sz="700" b="0" i="1">
                          <a:solidFill>
                            <a:srgbClr val="000000"/>
                          </a:solidFill>
                          <a:latin typeface="Times New Roman"/>
                        </a:rPr>
                        <a:t>    </a:t>
                      </a:r>
                      <a:r>
                        <a:rPr sz="1100" b="0" i="1">
                          <a:solidFill>
                            <a:srgbClr val="000000"/>
                          </a:solidFill>
                          <a:latin typeface="Calibri"/>
                        </a:rPr>
                        <a:t>Merchandise Bags</a:t>
                      </a:r>
                      <a:endParaRPr sz="1100"/>
                    </a:p>
                  </a:txBody>
                  <a:tcPr marL="1028700" marR="9525" marT="9525" marB="0" anchor="ctr"/>
                </a:tc>
              </a:tr>
              <a:tr h="175260">
                <a:tc>
                  <a:txBody>
                    <a:bodyPr wrap="square"/>
                    <a:lstStyle/>
                    <a:p>
                      <a:pPr algn="l"/>
                      <a:r>
                        <a:rPr sz="1100" b="0" i="1">
                          <a:solidFill>
                            <a:srgbClr val="000000"/>
                          </a:solidFill>
                          <a:latin typeface="Calibri"/>
                        </a:rPr>
                        <a:t>3.5.6.3.</a:t>
                      </a:r>
                      <a:r>
                        <a:rPr sz="700" b="0" i="1">
                          <a:solidFill>
                            <a:srgbClr val="000000"/>
                          </a:solidFill>
                          <a:latin typeface="Times New Roman"/>
                        </a:rPr>
                        <a:t>    </a:t>
                      </a:r>
                      <a:r>
                        <a:rPr sz="1100" b="0" i="1">
                          <a:solidFill>
                            <a:srgbClr val="000000"/>
                          </a:solidFill>
                          <a:latin typeface="Calibri"/>
                        </a:rPr>
                        <a:t>Die-Cut Handle Bags</a:t>
                      </a:r>
                      <a:endParaRPr sz="1100"/>
                    </a:p>
                  </a:txBody>
                  <a:tcPr marL="1028700" marR="9525" marT="9525" marB="0" anchor="ctr"/>
                </a:tc>
              </a:tr>
              <a:tr h="175260">
                <a:tc>
                  <a:txBody>
                    <a:bodyPr wrap="square"/>
                    <a:lstStyle/>
                    <a:p>
                      <a:pPr algn="l"/>
                      <a:r>
                        <a:rPr sz="1100" b="0" i="1">
                          <a:solidFill>
                            <a:srgbClr val="000000"/>
                          </a:solidFill>
                          <a:latin typeface="Calibri"/>
                        </a:rPr>
                        <a:t>3.5.6.4.</a:t>
                      </a:r>
                      <a:r>
                        <a:rPr sz="700" b="0" i="1">
                          <a:solidFill>
                            <a:srgbClr val="000000"/>
                          </a:solidFill>
                          <a:latin typeface="Times New Roman"/>
                        </a:rPr>
                        <a:t>    </a:t>
                      </a:r>
                      <a:r>
                        <a:rPr sz="1100" b="0" i="1">
                          <a:solidFill>
                            <a:srgbClr val="000000"/>
                          </a:solidFill>
                          <a:latin typeface="Calibri"/>
                        </a:rPr>
                        <a:t>Patch Handle Bags</a:t>
                      </a:r>
                      <a:endParaRPr sz="1100"/>
                    </a:p>
                  </a:txBody>
                  <a:tcPr marL="1028700" marR="9525" marT="9525" marB="0" anchor="ctr"/>
                </a:tc>
              </a:tr>
              <a:tr h="175260">
                <a:tc>
                  <a:txBody>
                    <a:bodyPr wrap="square"/>
                    <a:lstStyle/>
                    <a:p>
                      <a:pPr algn="l"/>
                      <a:r>
                        <a:rPr sz="1100" b="0" i="1">
                          <a:solidFill>
                            <a:srgbClr val="000000"/>
                          </a:solidFill>
                          <a:latin typeface="Calibri"/>
                        </a:rPr>
                        <a:t>3.5.6.5.</a:t>
                      </a:r>
                      <a:r>
                        <a:rPr sz="700" b="0" i="1">
                          <a:solidFill>
                            <a:srgbClr val="000000"/>
                          </a:solidFill>
                          <a:latin typeface="Times New Roman"/>
                        </a:rPr>
                        <a:t>    </a:t>
                      </a:r>
                      <a:r>
                        <a:rPr sz="1100" b="0" i="1">
                          <a:solidFill>
                            <a:srgbClr val="000000"/>
                          </a:solidFill>
                          <a:latin typeface="Calibri"/>
                        </a:rPr>
                        <a:t>D-Cut Bags</a:t>
                      </a:r>
                      <a:endParaRPr sz="1100"/>
                    </a:p>
                  </a:txBody>
                  <a:tcPr marL="1028700" marR="9525" marT="9525" marB="0" anchor="ctr"/>
                </a:tc>
              </a:tr>
              <a:tr h="175260">
                <a:tc>
                  <a:txBody>
                    <a:bodyPr wrap="square"/>
                    <a:lstStyle/>
                    <a:p>
                      <a:pPr algn="l"/>
                      <a:r>
                        <a:rPr sz="1100" b="0" i="0">
                          <a:solidFill>
                            <a:srgbClr val="000000"/>
                          </a:solidFill>
                          <a:latin typeface="Calibri"/>
                        </a:rPr>
                        <a:t>3.5.7.</a:t>
                      </a:r>
                      <a:r>
                        <a:rPr sz="700" b="0" i="0">
                          <a:solidFill>
                            <a:srgbClr val="000000"/>
                          </a:solidFill>
                          <a:latin typeface="Times New Roman"/>
                        </a:rPr>
                        <a:t>   </a:t>
                      </a:r>
                      <a:r>
                        <a:rPr sz="1100" b="0" i="0">
                          <a:solidFill>
                            <a:srgbClr val="000000"/>
                          </a:solidFill>
                          <a:latin typeface="Calibri"/>
                        </a:rPr>
                        <a:t>E-commerce Polybags</a:t>
                      </a:r>
                      <a:endParaRPr sz="1100"/>
                    </a:p>
                  </a:txBody>
                  <a:tcPr marL="771525" marR="9525" marT="9525" marB="0" anchor="ctr"/>
                </a:tc>
              </a:tr>
              <a:tr h="175260">
                <a:tc>
                  <a:txBody>
                    <a:bodyPr wrap="square"/>
                    <a:lstStyle/>
                    <a:p>
                      <a:pPr algn="l"/>
                      <a:r>
                        <a:rPr sz="1100" b="0" i="1">
                          <a:solidFill>
                            <a:srgbClr val="000000"/>
                          </a:solidFill>
                          <a:latin typeface="Calibri"/>
                        </a:rPr>
                        <a:t>3.5.7.1.</a:t>
                      </a:r>
                      <a:r>
                        <a:rPr sz="700" b="0" i="1">
                          <a:solidFill>
                            <a:srgbClr val="000000"/>
                          </a:solidFill>
                          <a:latin typeface="Times New Roman"/>
                        </a:rPr>
                        <a:t>    </a:t>
                      </a:r>
                      <a:r>
                        <a:rPr sz="1100" b="0" i="1">
                          <a:solidFill>
                            <a:srgbClr val="000000"/>
                          </a:solidFill>
                          <a:latin typeface="Calibri"/>
                        </a:rPr>
                        <a:t>Courier Mailers</a:t>
                      </a:r>
                      <a:endParaRPr sz="1100"/>
                    </a:p>
                  </a:txBody>
                  <a:tcPr marL="1028700" marR="9525" marT="9525" marB="0" anchor="ctr"/>
                </a:tc>
              </a:tr>
              <a:tr h="175260">
                <a:tc>
                  <a:txBody>
                    <a:bodyPr wrap="square"/>
                    <a:lstStyle/>
                    <a:p>
                      <a:pPr algn="l"/>
                      <a:r>
                        <a:rPr sz="1100" b="0" i="1">
                          <a:solidFill>
                            <a:srgbClr val="000000"/>
                          </a:solidFill>
                          <a:latin typeface="Calibri"/>
                        </a:rPr>
                        <a:t>3.5.7.2.</a:t>
                      </a:r>
                      <a:r>
                        <a:rPr sz="700" b="0" i="1">
                          <a:solidFill>
                            <a:srgbClr val="000000"/>
                          </a:solidFill>
                          <a:latin typeface="Times New Roman"/>
                        </a:rPr>
                        <a:t>    </a:t>
                      </a:r>
                      <a:r>
                        <a:rPr sz="1100" b="0" i="1">
                          <a:solidFill>
                            <a:srgbClr val="000000"/>
                          </a:solidFill>
                          <a:latin typeface="Calibri"/>
                        </a:rPr>
                        <a:t>Tamper-Evident Mailers</a:t>
                      </a:r>
                      <a:endParaRPr sz="1100"/>
                    </a:p>
                  </a:txBody>
                  <a:tcPr marL="1028700" marR="9525" marT="9525" marB="0" anchor="ctr"/>
                </a:tc>
              </a:tr>
              <a:tr h="175260">
                <a:tc>
                  <a:txBody>
                    <a:bodyPr wrap="square"/>
                    <a:lstStyle/>
                    <a:p>
                      <a:pPr algn="l"/>
                      <a:r>
                        <a:rPr sz="1100" b="0" i="1">
                          <a:solidFill>
                            <a:srgbClr val="000000"/>
                          </a:solidFill>
                          <a:latin typeface="Calibri"/>
                        </a:rPr>
                        <a:t>3.5.7.3.</a:t>
                      </a:r>
                      <a:r>
                        <a:rPr sz="700" b="0" i="1">
                          <a:solidFill>
                            <a:srgbClr val="000000"/>
                          </a:solidFill>
                          <a:latin typeface="Times New Roman"/>
                        </a:rPr>
                        <a:t>    </a:t>
                      </a:r>
                      <a:r>
                        <a:rPr sz="1100" b="0" i="1">
                          <a:solidFill>
                            <a:srgbClr val="000000"/>
                          </a:solidFill>
                          <a:latin typeface="Calibri"/>
                        </a:rPr>
                        <a:t>Return Mailers</a:t>
                      </a:r>
                      <a:endParaRPr sz="1100"/>
                    </a:p>
                  </a:txBody>
                  <a:tcPr marL="1028700" marR="9525" marT="9525" marB="0" anchor="ctr"/>
                </a:tc>
              </a:tr>
              <a:tr h="175260">
                <a:tc>
                  <a:txBody>
                    <a:bodyPr wrap="square"/>
                    <a:lstStyle/>
                    <a:p>
                      <a:pPr algn="l"/>
                      <a:r>
                        <a:rPr sz="1100" b="0" i="1">
                          <a:solidFill>
                            <a:srgbClr val="000000"/>
                          </a:solidFill>
                          <a:latin typeface="Calibri"/>
                        </a:rPr>
                        <a:t>3.5.7.4.</a:t>
                      </a:r>
                      <a:r>
                        <a:rPr sz="700" b="0" i="1">
                          <a:solidFill>
                            <a:srgbClr val="000000"/>
                          </a:solidFill>
                          <a:latin typeface="Times New Roman"/>
                        </a:rPr>
                        <a:t>    </a:t>
                      </a:r>
                      <a:r>
                        <a:rPr sz="1100" b="0" i="1">
                          <a:solidFill>
                            <a:srgbClr val="000000"/>
                          </a:solidFill>
                          <a:latin typeface="Calibri"/>
                        </a:rPr>
                        <a:t>Security Mailers</a:t>
                      </a:r>
                      <a:endParaRPr sz="1100"/>
                    </a:p>
                  </a:txBody>
                  <a:tcPr marL="1028700" marR="9525" marT="9525" marB="0" anchor="ctr"/>
                </a:tc>
              </a:tr>
              <a:tr h="175260">
                <a:tc>
                  <a:txBody>
                    <a:bodyPr wrap="square"/>
                    <a:lstStyle/>
                    <a:p>
                      <a:pPr algn="l"/>
                      <a:r>
                        <a:rPr sz="1100" b="0" i="0">
                          <a:solidFill>
                            <a:srgbClr val="000000"/>
                          </a:solidFill>
                          <a:latin typeface="Calibri"/>
                        </a:rPr>
                        <a:t>3.5.8.</a:t>
                      </a:r>
                      <a:r>
                        <a:rPr sz="700" b="0" i="0">
                          <a:solidFill>
                            <a:srgbClr val="000000"/>
                          </a:solidFill>
                          <a:latin typeface="Times New Roman"/>
                        </a:rPr>
                        <a:t>   </a:t>
                      </a:r>
                      <a:r>
                        <a:rPr sz="1100" b="0" i="0">
                          <a:solidFill>
                            <a:srgbClr val="000000"/>
                          </a:solidFill>
                          <a:latin typeface="Calibri"/>
                        </a:rPr>
                        <a:t>Specialty Polybags</a:t>
                      </a:r>
                      <a:endParaRPr sz="1100"/>
                    </a:p>
                  </a:txBody>
                  <a:tcPr marL="771525" marR="9525" marT="9525" marB="0" anchor="ctr"/>
                </a:tc>
              </a:tr>
              <a:tr h="175260">
                <a:tc>
                  <a:txBody>
                    <a:bodyPr wrap="square"/>
                    <a:lstStyle/>
                    <a:p>
                      <a:pPr algn="l"/>
                      <a:r>
                        <a:rPr sz="1100" b="0" i="1">
                          <a:solidFill>
                            <a:srgbClr val="000000"/>
                          </a:solidFill>
                          <a:latin typeface="Calibri"/>
                        </a:rPr>
                        <a:t>3.5.8.1.</a:t>
                      </a:r>
                      <a:r>
                        <a:rPr sz="700" b="0" i="1">
                          <a:solidFill>
                            <a:srgbClr val="000000"/>
                          </a:solidFill>
                          <a:latin typeface="Times New Roman"/>
                        </a:rPr>
                        <a:t>    </a:t>
                      </a:r>
                      <a:r>
                        <a:rPr sz="1100" b="0" i="1">
                          <a:solidFill>
                            <a:srgbClr val="000000"/>
                          </a:solidFill>
                          <a:latin typeface="Calibri"/>
                        </a:rPr>
                        <a:t>Wicketed Bags</a:t>
                      </a:r>
                      <a:endParaRPr sz="1100"/>
                    </a:p>
                  </a:txBody>
                  <a:tcPr marL="1028700" marR="9525" marT="9525" marB="0" anchor="ctr"/>
                </a:tc>
              </a:tr>
              <a:tr h="175260">
                <a:tc>
                  <a:txBody>
                    <a:bodyPr wrap="square"/>
                    <a:lstStyle/>
                    <a:p>
                      <a:pPr algn="l"/>
                      <a:r>
                        <a:rPr sz="1100" b="0" i="1">
                          <a:solidFill>
                            <a:srgbClr val="000000"/>
                          </a:solidFill>
                          <a:latin typeface="Calibri"/>
                        </a:rPr>
                        <a:t>3.5.8.2.</a:t>
                      </a:r>
                      <a:r>
                        <a:rPr sz="700" b="0" i="1">
                          <a:solidFill>
                            <a:srgbClr val="000000"/>
                          </a:solidFill>
                          <a:latin typeface="Times New Roman"/>
                        </a:rPr>
                        <a:t>    </a:t>
                      </a:r>
                      <a:r>
                        <a:rPr sz="1100" b="0" i="1">
                          <a:solidFill>
                            <a:srgbClr val="000000"/>
                          </a:solidFill>
                          <a:latin typeface="Calibri"/>
                        </a:rPr>
                        <a:t>Header Bags</a:t>
                      </a:r>
                      <a:endParaRPr sz="1100"/>
                    </a:p>
                  </a:txBody>
                  <a:tcPr marL="1028700" marR="9525" marT="9525" marB="0" anchor="ctr"/>
                </a:tc>
              </a:tr>
              <a:tr h="175260">
                <a:tc>
                  <a:txBody>
                    <a:bodyPr wrap="square"/>
                    <a:lstStyle/>
                    <a:p>
                      <a:pPr algn="l"/>
                      <a:r>
                        <a:rPr sz="1100" b="0" i="1">
                          <a:solidFill>
                            <a:srgbClr val="000000"/>
                          </a:solidFill>
                          <a:latin typeface="Calibri"/>
                        </a:rPr>
                        <a:t>3.5.8.3.</a:t>
                      </a:r>
                      <a:r>
                        <a:rPr sz="700" b="0" i="1">
                          <a:solidFill>
                            <a:srgbClr val="000000"/>
                          </a:solidFill>
                          <a:latin typeface="Times New Roman"/>
                        </a:rPr>
                        <a:t>    </a:t>
                      </a:r>
                      <a:r>
                        <a:rPr sz="1100" b="0" i="1">
                          <a:solidFill>
                            <a:srgbClr val="000000"/>
                          </a:solidFill>
                          <a:latin typeface="Calibri"/>
                        </a:rPr>
                        <a:t>Perforated Bags</a:t>
                      </a:r>
                      <a:endParaRPr sz="1100"/>
                    </a:p>
                  </a:txBody>
                  <a:tcPr marL="1028700" marR="9525" marT="9525" marB="0" anchor="ctr"/>
                </a:tc>
              </a:tr>
              <a:tr h="175260">
                <a:tc>
                  <a:txBody>
                    <a:bodyPr wrap="square"/>
                    <a:lstStyle/>
                    <a:p>
                      <a:pPr algn="l"/>
                      <a:r>
                        <a:rPr sz="1100" b="0" i="1">
                          <a:solidFill>
                            <a:srgbClr val="000000"/>
                          </a:solidFill>
                          <a:latin typeface="Calibri"/>
                        </a:rPr>
                        <a:t>3.5.8.4.</a:t>
                      </a:r>
                      <a:r>
                        <a:rPr sz="700" b="0" i="1">
                          <a:solidFill>
                            <a:srgbClr val="000000"/>
                          </a:solidFill>
                          <a:latin typeface="Times New Roman"/>
                        </a:rPr>
                        <a:t>    </a:t>
                      </a:r>
                      <a:r>
                        <a:rPr sz="1100" b="0" i="1">
                          <a:solidFill>
                            <a:srgbClr val="000000"/>
                          </a:solidFill>
                          <a:latin typeface="Calibri"/>
                        </a:rPr>
                        <a:t>Drawstring Bags</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3.5.8.5.</a:t>
                      </a:r>
                      <a:r>
                        <a:rPr sz="700" b="0" i="1">
                          <a:solidFill>
                            <a:srgbClr val="000000"/>
                          </a:solidFill>
                          <a:latin typeface="Times New Roman"/>
                        </a:rPr>
                        <a:t>    </a:t>
                      </a:r>
                      <a:r>
                        <a:rPr sz="1100" b="0" i="1">
                          <a:solidFill>
                            <a:srgbClr val="000000"/>
                          </a:solidFill>
                          <a:latin typeface="Calibri"/>
                        </a:rPr>
                        <a:t>Custom Printed Bags</a:t>
                      </a:r>
                      <a:endParaRPr sz="1100"/>
                    </a:p>
                  </a:txBody>
                  <a:tcPr marL="1028700"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Material</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Polyethylene (PE)</a:t>
                      </a:r>
                      <a:endParaRPr sz="1100"/>
                    </a:p>
                  </a:txBody>
                  <a:tcPr marL="771525" marR="9525" marT="9525" marB="0" anchor="ctr"/>
                </a:tc>
              </a:tr>
              <a:tr h="175260">
                <a:tc>
                  <a:txBody>
                    <a:bodyPr wrap="square"/>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Low-Density Polyethylene (LDPE)</a:t>
                      </a:r>
                      <a:endParaRPr sz="1100"/>
                    </a:p>
                  </a:txBody>
                  <a:tcPr marL="771525" marR="9525" marT="9525" marB="0" anchor="ctr"/>
                </a:tc>
              </a:tr>
              <a:tr h="175260">
                <a:tc>
                  <a:txBody>
                    <a:bodyPr wrap="square"/>
                    <a:lstStyle/>
                    <a:p>
                      <a:pPr algn="l"/>
                      <a:r>
                        <a:rPr sz="1100" b="0" i="0">
                          <a:solidFill>
                            <a:srgbClr val="000000"/>
                          </a:solidFill>
                          <a:latin typeface="Calibri"/>
                        </a:rPr>
                        <a:t>4.5.3.</a:t>
                      </a:r>
                      <a:r>
                        <a:rPr sz="700" b="0" i="0">
                          <a:solidFill>
                            <a:srgbClr val="000000"/>
                          </a:solidFill>
                          <a:latin typeface="Times New Roman"/>
                        </a:rPr>
                        <a:t>   </a:t>
                      </a:r>
                      <a:r>
                        <a:rPr sz="1100" b="0" i="0">
                          <a:solidFill>
                            <a:srgbClr val="000000"/>
                          </a:solidFill>
                          <a:latin typeface="Calibri"/>
                        </a:rPr>
                        <a:t>Linear Low-Density Polyethylene (LLDPE)</a:t>
                      </a:r>
                      <a:endParaRPr sz="1100"/>
                    </a:p>
                  </a:txBody>
                  <a:tcPr marL="771525" marR="9525" marT="9525" marB="0" anchor="ctr"/>
                </a:tc>
              </a:tr>
              <a:tr h="175260">
                <a:tc>
                  <a:txBody>
                    <a:bodyPr wrap="square"/>
                    <a:lstStyle/>
                    <a:p>
                      <a:pPr algn="l"/>
                      <a:r>
                        <a:rPr sz="1100" b="0" i="0">
                          <a:solidFill>
                            <a:srgbClr val="000000"/>
                          </a:solidFill>
                          <a:latin typeface="Calibri"/>
                        </a:rPr>
                        <a:t>4.5.4.</a:t>
                      </a:r>
                      <a:r>
                        <a:rPr sz="700" b="0" i="0">
                          <a:solidFill>
                            <a:srgbClr val="000000"/>
                          </a:solidFill>
                          <a:latin typeface="Times New Roman"/>
                        </a:rPr>
                        <a:t>   </a:t>
                      </a:r>
                      <a:r>
                        <a:rPr sz="1100" b="0" i="0">
                          <a:solidFill>
                            <a:srgbClr val="000000"/>
                          </a:solidFill>
                          <a:latin typeface="Calibri"/>
                        </a:rPr>
                        <a:t>High-Density Polyethylene (HDPE)</a:t>
                      </a:r>
                      <a:endParaRPr sz="1100"/>
                    </a:p>
                  </a:txBody>
                  <a:tcPr marL="771525" marR="9525" marT="9525" marB="0" anchor="ctr"/>
                </a:tc>
              </a:tr>
              <a:tr h="175260">
                <a:tc>
                  <a:txBody>
                    <a:bodyPr wrap="square"/>
                    <a:lstStyle/>
                    <a:p>
                      <a:pPr algn="l"/>
                      <a:r>
                        <a:rPr sz="1100" b="0" i="0">
                          <a:solidFill>
                            <a:srgbClr val="000000"/>
                          </a:solidFill>
                          <a:latin typeface="Calibri"/>
                        </a:rPr>
                        <a:t>4.5.5.</a:t>
                      </a:r>
                      <a:r>
                        <a:rPr sz="700" b="0" i="0">
                          <a:solidFill>
                            <a:srgbClr val="000000"/>
                          </a:solidFill>
                          <a:latin typeface="Times New Roman"/>
                        </a:rPr>
                        <a:t>   </a:t>
                      </a:r>
                      <a:r>
                        <a:rPr sz="1100" b="0" i="0">
                          <a:solidFill>
                            <a:srgbClr val="000000"/>
                          </a:solidFill>
                          <a:latin typeface="Calibri"/>
                        </a:rPr>
                        <a:t>Medium-Density Polyethylene (MDPE)</a:t>
                      </a:r>
                      <a:endParaRPr sz="1100"/>
                    </a:p>
                  </a:txBody>
                  <a:tcPr marL="771525" marR="9525" marT="9525" marB="0" anchor="ctr"/>
                </a:tc>
              </a:tr>
              <a:tr h="175260">
                <a:tc>
                  <a:txBody>
                    <a:bodyPr wrap="square"/>
                    <a:lstStyle/>
                    <a:p>
                      <a:pPr algn="l"/>
                      <a:r>
                        <a:rPr sz="1100" b="0" i="0">
                          <a:solidFill>
                            <a:srgbClr val="000000"/>
                          </a:solidFill>
                          <a:latin typeface="Calibri"/>
                        </a:rPr>
                        <a:t>4.5.6.</a:t>
                      </a:r>
                      <a:r>
                        <a:rPr sz="700" b="0" i="0">
                          <a:solidFill>
                            <a:srgbClr val="000000"/>
                          </a:solidFill>
                          <a:latin typeface="Times New Roman"/>
                        </a:rPr>
                        <a:t>   </a:t>
                      </a:r>
                      <a:r>
                        <a:rPr sz="1100" b="0" i="0">
                          <a:solidFill>
                            <a:srgbClr val="000000"/>
                          </a:solidFill>
                          <a:latin typeface="Calibri"/>
                        </a:rPr>
                        <a:t>Polypropylene (PP)</a:t>
                      </a:r>
                      <a:endParaRPr sz="1100"/>
                    </a:p>
                  </a:txBody>
                  <a:tcPr marL="771525" marR="9525" marT="9525" marB="0" anchor="ctr"/>
                </a:tc>
              </a:tr>
              <a:tr h="175260">
                <a:tc>
                  <a:txBody>
                    <a:bodyPr wrap="square"/>
                    <a:lstStyle/>
                    <a:p>
                      <a:pPr algn="l"/>
                      <a:r>
                        <a:rPr sz="1100" b="0" i="1">
                          <a:solidFill>
                            <a:srgbClr val="000000"/>
                          </a:solidFill>
                          <a:latin typeface="Calibri"/>
                        </a:rPr>
                        <a:t>4.5.6.1.</a:t>
                      </a:r>
                      <a:r>
                        <a:rPr sz="700" b="0" i="1">
                          <a:solidFill>
                            <a:srgbClr val="000000"/>
                          </a:solidFill>
                          <a:latin typeface="Times New Roman"/>
                        </a:rPr>
                        <a:t>    </a:t>
                      </a:r>
                      <a:r>
                        <a:rPr sz="1100" b="0" i="1">
                          <a:solidFill>
                            <a:srgbClr val="000000"/>
                          </a:solidFill>
                          <a:latin typeface="Calibri"/>
                        </a:rPr>
                        <a:t>Cast Polypropylene (CPP)</a:t>
                      </a:r>
                      <a:endParaRPr sz="1100"/>
                    </a:p>
                  </a:txBody>
                  <a:tcPr marL="1028700" marR="9525" marT="9525" marB="0" anchor="ctr"/>
                </a:tc>
              </a:tr>
              <a:tr h="175260">
                <a:tc>
                  <a:txBody>
                    <a:bodyPr wrap="square"/>
                    <a:lstStyle/>
                    <a:p>
                      <a:pPr algn="l"/>
                      <a:r>
                        <a:rPr sz="1100" b="0" i="1">
                          <a:solidFill>
                            <a:srgbClr val="000000"/>
                          </a:solidFill>
                          <a:latin typeface="Calibri"/>
                        </a:rPr>
                        <a:t>4.5.6.2.</a:t>
                      </a:r>
                      <a:r>
                        <a:rPr sz="700" b="0" i="1">
                          <a:solidFill>
                            <a:srgbClr val="000000"/>
                          </a:solidFill>
                          <a:latin typeface="Times New Roman"/>
                        </a:rPr>
                        <a:t>    </a:t>
                      </a:r>
                      <a:r>
                        <a:rPr sz="1100" b="0" i="1">
                          <a:solidFill>
                            <a:srgbClr val="000000"/>
                          </a:solidFill>
                          <a:latin typeface="Calibri"/>
                        </a:rPr>
                        <a:t>Biaxially Oriented Polypropylene (BOPP)</a:t>
                      </a:r>
                      <a:endParaRPr sz="1100"/>
                    </a:p>
                  </a:txBody>
                  <a:tcPr marL="1028700" marR="9525" marT="9525" marB="0" anchor="ctr"/>
                </a:tc>
              </a:tr>
              <a:tr h="175260">
                <a:tc>
                  <a:txBody>
                    <a:bodyPr wrap="square"/>
                    <a:lstStyle/>
                    <a:p>
                      <a:pPr algn="l"/>
                      <a:r>
                        <a:rPr sz="1100" b="0" i="1">
                          <a:solidFill>
                            <a:srgbClr val="000000"/>
                          </a:solidFill>
                          <a:latin typeface="Calibri"/>
                        </a:rPr>
                        <a:t>4.5.6.3.</a:t>
                      </a:r>
                      <a:r>
                        <a:rPr sz="700" b="0" i="1">
                          <a:solidFill>
                            <a:srgbClr val="000000"/>
                          </a:solidFill>
                          <a:latin typeface="Times New Roman"/>
                        </a:rPr>
                        <a:t>    </a:t>
                      </a:r>
                      <a:r>
                        <a:rPr sz="1100" b="0" i="1">
                          <a:solidFill>
                            <a:srgbClr val="000000"/>
                          </a:solidFill>
                          <a:latin typeface="Calibri"/>
                        </a:rPr>
                        <a:t>Oriented Polypropylene (OPP)</a:t>
                      </a:r>
                      <a:endParaRPr sz="1100"/>
                    </a:p>
                  </a:txBody>
                  <a:tcPr marL="1028700" marR="9525" marT="9525" marB="0" anchor="ctr"/>
                </a:tc>
              </a:tr>
              <a:tr h="175260">
                <a:tc>
                  <a:txBody>
                    <a:bodyPr wrap="square"/>
                    <a:lstStyle/>
                    <a:p>
                      <a:pPr algn="l"/>
                      <a:r>
                        <a:rPr sz="1100" b="0" i="0">
                          <a:solidFill>
                            <a:srgbClr val="000000"/>
                          </a:solidFill>
                          <a:latin typeface="Calibri"/>
                        </a:rPr>
                        <a:t>4.5.7.</a:t>
                      </a:r>
                      <a:r>
                        <a:rPr sz="700" b="0" i="0">
                          <a:solidFill>
                            <a:srgbClr val="000000"/>
                          </a:solidFill>
                          <a:latin typeface="Times New Roman"/>
                        </a:rPr>
                        <a:t>   </a:t>
                      </a:r>
                      <a:r>
                        <a:rPr sz="1100" b="0" i="0">
                          <a:solidFill>
                            <a:srgbClr val="000000"/>
                          </a:solidFill>
                          <a:latin typeface="Calibri"/>
                        </a:rPr>
                        <a:t>Recycled Plastics</a:t>
                      </a:r>
                      <a:endParaRPr sz="1100"/>
                    </a:p>
                  </a:txBody>
                  <a:tcPr marL="771525" marR="9525" marT="9525" marB="0" anchor="ctr"/>
                </a:tc>
              </a:tr>
              <a:tr h="175260">
                <a:tc>
                  <a:txBody>
                    <a:bodyPr wrap="square"/>
                    <a:lstStyle/>
                    <a:p>
                      <a:pPr algn="l"/>
                      <a:r>
                        <a:rPr sz="1100" b="0" i="1">
                          <a:solidFill>
                            <a:srgbClr val="000000"/>
                          </a:solidFill>
                          <a:latin typeface="Calibri"/>
                        </a:rPr>
                        <a:t>4.5.7.1.</a:t>
                      </a:r>
                      <a:r>
                        <a:rPr sz="700" b="0" i="1">
                          <a:solidFill>
                            <a:srgbClr val="000000"/>
                          </a:solidFill>
                          <a:latin typeface="Times New Roman"/>
                        </a:rPr>
                        <a:t>    </a:t>
                      </a:r>
                      <a:r>
                        <a:rPr sz="1100" b="0" i="1">
                          <a:solidFill>
                            <a:srgbClr val="000000"/>
                          </a:solidFill>
                          <a:latin typeface="Calibri"/>
                        </a:rPr>
                        <a:t>Post-Consumer Recycled (PCR)</a:t>
                      </a:r>
                      <a:endParaRPr sz="1100"/>
                    </a:p>
                  </a:txBody>
                  <a:tcPr marL="1028700" marR="9525" marT="9525" marB="0" anchor="ctr"/>
                </a:tc>
              </a:tr>
              <a:tr h="175260">
                <a:tc>
                  <a:txBody>
                    <a:bodyPr wrap="square"/>
                    <a:lstStyle/>
                    <a:p>
                      <a:pPr algn="l"/>
                      <a:r>
                        <a:rPr sz="1100" b="0" i="1">
                          <a:solidFill>
                            <a:srgbClr val="000000"/>
                          </a:solidFill>
                          <a:latin typeface="Calibri"/>
                        </a:rPr>
                        <a:t>4.5.7.2.</a:t>
                      </a:r>
                      <a:r>
                        <a:rPr sz="700" b="0" i="1">
                          <a:solidFill>
                            <a:srgbClr val="000000"/>
                          </a:solidFill>
                          <a:latin typeface="Times New Roman"/>
                        </a:rPr>
                        <a:t>    </a:t>
                      </a:r>
                      <a:r>
                        <a:rPr sz="1100" b="0" i="1">
                          <a:solidFill>
                            <a:srgbClr val="000000"/>
                          </a:solidFill>
                          <a:latin typeface="Calibri"/>
                        </a:rPr>
                        <a:t>Post-Industrial Recycled (PIR)</a:t>
                      </a:r>
                      <a:endParaRPr sz="1100"/>
                    </a:p>
                  </a:txBody>
                  <a:tcPr marL="1028700" marR="9525" marT="9525" marB="0" anchor="ctr"/>
                </a:tc>
              </a:tr>
              <a:tr h="175260">
                <a:tc>
                  <a:txBody>
                    <a:bodyPr wrap="square"/>
                    <a:lstStyle/>
                    <a:p>
                      <a:pPr algn="l"/>
                      <a:r>
                        <a:rPr sz="1100" b="0" i="1">
                          <a:solidFill>
                            <a:srgbClr val="000000"/>
                          </a:solidFill>
                          <a:latin typeface="Calibri"/>
                        </a:rPr>
                        <a:t>4.5.7.3.</a:t>
                      </a:r>
                      <a:r>
                        <a:rPr sz="700" b="0" i="1">
                          <a:solidFill>
                            <a:srgbClr val="000000"/>
                          </a:solidFill>
                          <a:latin typeface="Times New Roman"/>
                        </a:rPr>
                        <a:t>    </a:t>
                      </a:r>
                      <a:r>
                        <a:rPr sz="1100" b="0" i="1">
                          <a:solidFill>
                            <a:srgbClr val="000000"/>
                          </a:solidFill>
                          <a:latin typeface="Calibri"/>
                        </a:rPr>
                        <a:t>Mixed Recycled Resin</a:t>
                      </a:r>
                      <a:endParaRPr sz="1100"/>
                    </a:p>
                  </a:txBody>
                  <a:tcPr marL="1028700" marR="9525" marT="9525" marB="0" anchor="ctr"/>
                </a:tc>
              </a:tr>
              <a:tr h="175260">
                <a:tc>
                  <a:txBody>
                    <a:bodyPr wrap="square"/>
                    <a:lstStyle/>
                    <a:p>
                      <a:pPr algn="l"/>
                      <a:r>
                        <a:rPr sz="1100" b="0" i="0">
                          <a:solidFill>
                            <a:srgbClr val="000000"/>
                          </a:solidFill>
                          <a:latin typeface="Calibri"/>
                        </a:rPr>
                        <a:t>4.5.8.</a:t>
                      </a:r>
                      <a:r>
                        <a:rPr sz="700" b="0" i="0">
                          <a:solidFill>
                            <a:srgbClr val="000000"/>
                          </a:solidFill>
                          <a:latin typeface="Times New Roman"/>
                        </a:rPr>
                        <a:t>   </a:t>
                      </a:r>
                      <a:r>
                        <a:rPr sz="1100" b="0" i="0">
                          <a:solidFill>
                            <a:srgbClr val="000000"/>
                          </a:solidFill>
                          <a:latin typeface="Calibri"/>
                        </a:rPr>
                        <a:t>Bio-Based Materials</a:t>
                      </a:r>
                      <a:endParaRPr sz="1100"/>
                    </a:p>
                  </a:txBody>
                  <a:tcPr marL="771525" marR="9525" marT="9525" marB="0" anchor="ctr"/>
                </a:tc>
              </a:tr>
              <a:tr h="175260">
                <a:tc>
                  <a:txBody>
                    <a:bodyPr wrap="square"/>
                    <a:lstStyle/>
                    <a:p>
                      <a:pPr algn="l"/>
                      <a:r>
                        <a:rPr sz="1100" b="0" i="1">
                          <a:solidFill>
                            <a:srgbClr val="000000"/>
                          </a:solidFill>
                          <a:latin typeface="Calibri"/>
                        </a:rPr>
                        <a:t>4.5.8.1.</a:t>
                      </a:r>
                      <a:r>
                        <a:rPr sz="700" b="0" i="1">
                          <a:solidFill>
                            <a:srgbClr val="000000"/>
                          </a:solidFill>
                          <a:latin typeface="Times New Roman"/>
                        </a:rPr>
                        <a:t>    </a:t>
                      </a:r>
                      <a:r>
                        <a:rPr sz="1100" b="0" i="1">
                          <a:solidFill>
                            <a:srgbClr val="000000"/>
                          </a:solidFill>
                          <a:latin typeface="Calibri"/>
                        </a:rPr>
                        <a:t>PLA</a:t>
                      </a:r>
                      <a:endParaRPr sz="1100"/>
                    </a:p>
                  </a:txBody>
                  <a:tcPr marL="1028700" marR="9525" marT="9525" marB="0" anchor="ctr"/>
                </a:tc>
              </a:tr>
              <a:tr h="175260">
                <a:tc>
                  <a:txBody>
                    <a:bodyPr wrap="square"/>
                    <a:lstStyle/>
                    <a:p>
                      <a:pPr algn="l"/>
                      <a:r>
                        <a:rPr sz="1100" b="0" i="1">
                          <a:solidFill>
                            <a:srgbClr val="000000"/>
                          </a:solidFill>
                          <a:latin typeface="Calibri"/>
                        </a:rPr>
                        <a:t>4.5.8.2.</a:t>
                      </a:r>
                      <a:r>
                        <a:rPr sz="700" b="0" i="1">
                          <a:solidFill>
                            <a:srgbClr val="000000"/>
                          </a:solidFill>
                          <a:latin typeface="Times New Roman"/>
                        </a:rPr>
                        <a:t>    </a:t>
                      </a:r>
                      <a:r>
                        <a:rPr sz="1100" b="0" i="1">
                          <a:solidFill>
                            <a:srgbClr val="000000"/>
                          </a:solidFill>
                          <a:latin typeface="Calibri"/>
                        </a:rPr>
                        <a:t>PHA</a:t>
                      </a:r>
                      <a:endParaRPr sz="1100"/>
                    </a:p>
                  </a:txBody>
                  <a:tcPr marL="1028700" marR="9525" marT="9525" marB="0" anchor="ctr"/>
                </a:tc>
              </a:tr>
              <a:tr h="175260">
                <a:tc>
                  <a:txBody>
                    <a:bodyPr wrap="square"/>
                    <a:lstStyle/>
                    <a:p>
                      <a:pPr algn="l"/>
                      <a:r>
                        <a:rPr sz="1100" b="0" i="1">
                          <a:solidFill>
                            <a:srgbClr val="000000"/>
                          </a:solidFill>
                          <a:latin typeface="Calibri"/>
                        </a:rPr>
                        <a:t>4.5.8.3.</a:t>
                      </a:r>
                      <a:r>
                        <a:rPr sz="700" b="0" i="1">
                          <a:solidFill>
                            <a:srgbClr val="000000"/>
                          </a:solidFill>
                          <a:latin typeface="Times New Roman"/>
                        </a:rPr>
                        <a:t>    </a:t>
                      </a:r>
                      <a:r>
                        <a:rPr sz="1100" b="0" i="1">
                          <a:solidFill>
                            <a:srgbClr val="000000"/>
                          </a:solidFill>
                          <a:latin typeface="Calibri"/>
                        </a:rPr>
                        <a:t>Starch Blend</a:t>
                      </a:r>
                      <a:endParaRPr sz="1100"/>
                    </a:p>
                  </a:txBody>
                  <a:tcPr marL="1028700" marR="9525" marT="9525" marB="0" anchor="ctr"/>
                </a:tc>
              </a:tr>
              <a:tr h="175260">
                <a:tc>
                  <a:txBody>
                    <a:bodyPr wrap="square"/>
                    <a:lstStyle/>
                    <a:p>
                      <a:pPr algn="l"/>
                      <a:r>
                        <a:rPr sz="1100" b="0" i="1">
                          <a:solidFill>
                            <a:srgbClr val="000000"/>
                          </a:solidFill>
                          <a:latin typeface="Calibri"/>
                        </a:rPr>
                        <a:t>4.5.8.4.</a:t>
                      </a:r>
                      <a:r>
                        <a:rPr sz="700" b="0" i="1">
                          <a:solidFill>
                            <a:srgbClr val="000000"/>
                          </a:solidFill>
                          <a:latin typeface="Times New Roman"/>
                        </a:rPr>
                        <a:t>    </a:t>
                      </a:r>
                      <a:r>
                        <a:rPr sz="1100" b="0" i="1">
                          <a:solidFill>
                            <a:srgbClr val="000000"/>
                          </a:solidFill>
                          <a:latin typeface="Calibri"/>
                        </a:rPr>
                        <a:t>PBAT Blend</a:t>
                      </a:r>
                      <a:endParaRPr sz="1100"/>
                    </a:p>
                  </a:txBody>
                  <a:tcPr marL="1028700" marR="9525" marT="9525" marB="0" anchor="ctr"/>
                </a:tc>
              </a:tr>
              <a:tr h="175260">
                <a:tc>
                  <a:txBody>
                    <a:bodyPr wrap="square"/>
                    <a:lstStyle/>
                    <a:p>
                      <a:pPr algn="l"/>
                      <a:r>
                        <a:rPr sz="1100" b="0" i="1">
                          <a:solidFill>
                            <a:srgbClr val="000000"/>
                          </a:solidFill>
                          <a:latin typeface="Calibri"/>
                        </a:rPr>
                        <a:t>4.5.8.5.</a:t>
                      </a:r>
                      <a:r>
                        <a:rPr sz="700" b="0" i="1">
                          <a:solidFill>
                            <a:srgbClr val="000000"/>
                          </a:solidFill>
                          <a:latin typeface="Times New Roman"/>
                        </a:rPr>
                        <a:t>    </a:t>
                      </a:r>
                      <a:r>
                        <a:rPr sz="1100" b="0" i="1">
                          <a:solidFill>
                            <a:srgbClr val="000000"/>
                          </a:solidFill>
                          <a:latin typeface="Calibri"/>
                        </a:rPr>
                        <a:t>Cellulose-Based Films</a:t>
                      </a:r>
                      <a:endParaRPr sz="1100"/>
                    </a:p>
                  </a:txBody>
                  <a:tcPr marL="1028700" marR="9525" marT="9525" marB="0" anchor="ctr"/>
                </a:tc>
              </a:tr>
              <a:tr h="175260">
                <a:tc>
                  <a:txBody>
                    <a:bodyPr wrap="square"/>
                    <a:lstStyle/>
                    <a:p>
                      <a:pPr algn="l"/>
                      <a:r>
                        <a:rPr sz="1100" b="0" i="0">
                          <a:solidFill>
                            <a:srgbClr val="000000"/>
                          </a:solidFill>
                          <a:latin typeface="Calibri"/>
                        </a:rPr>
                        <a:t>4.5.9.</a:t>
                      </a:r>
                      <a:r>
                        <a:rPr sz="700" b="0" i="0">
                          <a:solidFill>
                            <a:srgbClr val="000000"/>
                          </a:solidFill>
                          <a:latin typeface="Times New Roman"/>
                        </a:rPr>
                        <a:t>   </a:t>
                      </a:r>
                      <a:r>
                        <a:rPr sz="1100" b="0" i="0">
                          <a:solidFill>
                            <a:srgbClr val="000000"/>
                          </a:solidFill>
                          <a:latin typeface="Calibri"/>
                        </a:rPr>
                        <a:t>Specialty Materials</a:t>
                      </a:r>
                      <a:endParaRPr sz="1100"/>
                    </a:p>
                  </a:txBody>
                  <a:tcPr marL="771525" marR="9525" marT="9525" marB="0" anchor="ctr"/>
                </a:tc>
              </a:tr>
              <a:tr h="175260">
                <a:tc>
                  <a:txBody>
                    <a:bodyPr wrap="square"/>
                    <a:lstStyle/>
                    <a:p>
                      <a:pPr algn="l"/>
                      <a:r>
                        <a:rPr sz="1100" b="0" i="1">
                          <a:solidFill>
                            <a:srgbClr val="000000"/>
                          </a:solidFill>
                          <a:latin typeface="Calibri"/>
                        </a:rPr>
                        <a:t>4.5.9.1.</a:t>
                      </a:r>
                      <a:r>
                        <a:rPr sz="700" b="0" i="1">
                          <a:solidFill>
                            <a:srgbClr val="000000"/>
                          </a:solidFill>
                          <a:latin typeface="Times New Roman"/>
                        </a:rPr>
                        <a:t>    </a:t>
                      </a:r>
                      <a:r>
                        <a:rPr sz="1100" b="0" i="1">
                          <a:solidFill>
                            <a:srgbClr val="000000"/>
                          </a:solidFill>
                          <a:latin typeface="Calibri"/>
                        </a:rPr>
                        <a:t>EVA</a:t>
                      </a:r>
                      <a:endParaRPr sz="1100"/>
                    </a:p>
                  </a:txBody>
                  <a:tcPr marL="1028700" marR="9525" marT="9525" marB="0" anchor="ctr"/>
                </a:tc>
              </a:tr>
              <a:tr h="175260">
                <a:tc>
                  <a:txBody>
                    <a:bodyPr wrap="square"/>
                    <a:lstStyle/>
                    <a:p>
                      <a:pPr algn="l"/>
                      <a:r>
                        <a:rPr sz="1100" b="0" i="1">
                          <a:solidFill>
                            <a:srgbClr val="000000"/>
                          </a:solidFill>
                          <a:latin typeface="Calibri"/>
                        </a:rPr>
                        <a:t>4.5.9.2.</a:t>
                      </a:r>
                      <a:r>
                        <a:rPr sz="700" b="0" i="1">
                          <a:solidFill>
                            <a:srgbClr val="000000"/>
                          </a:solidFill>
                          <a:latin typeface="Times New Roman"/>
                        </a:rPr>
                        <a:t>    </a:t>
                      </a:r>
                      <a:r>
                        <a:rPr sz="1100" b="0" i="1">
                          <a:solidFill>
                            <a:srgbClr val="000000"/>
                          </a:solidFill>
                          <a:latin typeface="Calibri"/>
                        </a:rPr>
                        <a:t>Coextruded Multilayer Films</a:t>
                      </a:r>
                      <a:endParaRPr sz="1100"/>
                    </a:p>
                  </a:txBody>
                  <a:tcPr marL="1028700" marR="9525" marT="9525" marB="0" anchor="ctr"/>
                </a:tc>
              </a:tr>
              <a:tr h="175260">
                <a:tc>
                  <a:txBody>
                    <a:bodyPr wrap="square"/>
                    <a:lstStyle/>
                    <a:p>
                      <a:pPr algn="l"/>
                      <a:r>
                        <a:rPr sz="1100" b="0" i="1">
                          <a:solidFill>
                            <a:srgbClr val="000000"/>
                          </a:solidFill>
                          <a:latin typeface="Calibri"/>
                        </a:rPr>
                        <a:t>4.5.9.3.</a:t>
                      </a:r>
                      <a:r>
                        <a:rPr sz="700" b="0" i="1">
                          <a:solidFill>
                            <a:srgbClr val="000000"/>
                          </a:solidFill>
                          <a:latin typeface="Times New Roman"/>
                        </a:rPr>
                        <a:t>    </a:t>
                      </a:r>
                      <a:r>
                        <a:rPr sz="1100" b="0" i="1">
                          <a:solidFill>
                            <a:srgbClr val="000000"/>
                          </a:solidFill>
                          <a:latin typeface="Calibri"/>
                        </a:rPr>
                        <a:t>Barrier Films</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4.5.9.4.</a:t>
                      </a:r>
                      <a:r>
                        <a:rPr sz="700" b="0" i="1">
                          <a:solidFill>
                            <a:srgbClr val="000000"/>
                          </a:solidFill>
                          <a:latin typeface="Times New Roman"/>
                        </a:rPr>
                        <a:t>    </a:t>
                      </a:r>
                      <a:r>
                        <a:rPr sz="1100" b="0" i="1">
                          <a:solidFill>
                            <a:srgbClr val="000000"/>
                          </a:solidFill>
                          <a:latin typeface="Calibri"/>
                        </a:rPr>
                        <a:t>Conductive Polymers</a:t>
                      </a:r>
                      <a:endParaRPr sz="1100"/>
                    </a:p>
                  </a:txBody>
                  <a:tcPr marL="1028700"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End-Use Industry</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Food &amp; Beverage</a:t>
                      </a:r>
                      <a:endParaRPr sz="1100"/>
                    </a:p>
                  </a:txBody>
                  <a:tcPr marL="771525" marR="9525" marT="9525" marB="0" anchor="ctr"/>
                </a:tc>
              </a:tr>
              <a:tr h="175260">
                <a:tc>
                  <a:txBody>
                    <a:bodyPr wrap="square"/>
                    <a:lstStyle/>
                    <a:p>
                      <a:pPr algn="l"/>
                      <a:r>
                        <a:rPr sz="1100" b="0" i="1">
                          <a:solidFill>
                            <a:srgbClr val="000000"/>
                          </a:solidFill>
                          <a:latin typeface="Calibri"/>
                        </a:rPr>
                        <a:t>5.5.1.1.</a:t>
                      </a:r>
                      <a:r>
                        <a:rPr sz="700" b="0" i="1">
                          <a:solidFill>
                            <a:srgbClr val="000000"/>
                          </a:solidFill>
                          <a:latin typeface="Times New Roman"/>
                        </a:rPr>
                        <a:t>    </a:t>
                      </a:r>
                      <a:r>
                        <a:rPr sz="1100" b="0" i="1">
                          <a:solidFill>
                            <a:srgbClr val="000000"/>
                          </a:solidFill>
                          <a:latin typeface="Calibri"/>
                        </a:rPr>
                        <a:t>Fresh Produce</a:t>
                      </a:r>
                      <a:endParaRPr sz="1100"/>
                    </a:p>
                  </a:txBody>
                  <a:tcPr marL="1028700" marR="9525" marT="9525" marB="0" anchor="ctr"/>
                </a:tc>
              </a:tr>
              <a:tr h="175260">
                <a:tc>
                  <a:txBody>
                    <a:bodyPr wrap="square"/>
                    <a:lstStyle/>
                    <a:p>
                      <a:pPr algn="l"/>
                      <a:r>
                        <a:rPr sz="1100" b="0" i="1">
                          <a:solidFill>
                            <a:srgbClr val="000000"/>
                          </a:solidFill>
                          <a:latin typeface="Calibri"/>
                        </a:rPr>
                        <a:t>5.5.1.2.</a:t>
                      </a:r>
                      <a:r>
                        <a:rPr sz="700" b="0" i="1">
                          <a:solidFill>
                            <a:srgbClr val="000000"/>
                          </a:solidFill>
                          <a:latin typeface="Times New Roman"/>
                        </a:rPr>
                        <a:t>    </a:t>
                      </a:r>
                      <a:r>
                        <a:rPr sz="1100" b="0" i="1">
                          <a:solidFill>
                            <a:srgbClr val="000000"/>
                          </a:solidFill>
                          <a:latin typeface="Calibri"/>
                        </a:rPr>
                        <a:t>Frozen Food</a:t>
                      </a:r>
                      <a:endParaRPr sz="1100"/>
                    </a:p>
                  </a:txBody>
                  <a:tcPr marL="1028700" marR="9525" marT="9525" marB="0" anchor="ctr"/>
                </a:tc>
              </a:tr>
              <a:tr h="175260">
                <a:tc>
                  <a:txBody>
                    <a:bodyPr wrap="square"/>
                    <a:lstStyle/>
                    <a:p>
                      <a:pPr algn="l"/>
                      <a:r>
                        <a:rPr sz="1100" b="0" i="1">
                          <a:solidFill>
                            <a:srgbClr val="000000"/>
                          </a:solidFill>
                          <a:latin typeface="Calibri"/>
                        </a:rPr>
                        <a:t>5.5.1.3.</a:t>
                      </a:r>
                      <a:r>
                        <a:rPr sz="700" b="0" i="1">
                          <a:solidFill>
                            <a:srgbClr val="000000"/>
                          </a:solidFill>
                          <a:latin typeface="Times New Roman"/>
                        </a:rPr>
                        <a:t>    </a:t>
                      </a:r>
                      <a:r>
                        <a:rPr sz="1100" b="0" i="1">
                          <a:solidFill>
                            <a:srgbClr val="000000"/>
                          </a:solidFill>
                          <a:latin typeface="Calibri"/>
                        </a:rPr>
                        <a:t>Dairy Products</a:t>
                      </a:r>
                      <a:endParaRPr sz="1100"/>
                    </a:p>
                  </a:txBody>
                  <a:tcPr marL="1028700" marR="9525" marT="9525" marB="0" anchor="ctr"/>
                </a:tc>
              </a:tr>
              <a:tr h="175260">
                <a:tc>
                  <a:txBody>
                    <a:bodyPr wrap="square"/>
                    <a:lstStyle/>
                    <a:p>
                      <a:pPr algn="l"/>
                      <a:r>
                        <a:rPr sz="1100" b="0" i="1">
                          <a:solidFill>
                            <a:srgbClr val="000000"/>
                          </a:solidFill>
                          <a:latin typeface="Calibri"/>
                        </a:rPr>
                        <a:t>5.5.1.4.</a:t>
                      </a:r>
                      <a:r>
                        <a:rPr sz="700" b="0" i="1">
                          <a:solidFill>
                            <a:srgbClr val="000000"/>
                          </a:solidFill>
                          <a:latin typeface="Times New Roman"/>
                        </a:rPr>
                        <a:t>    </a:t>
                      </a:r>
                      <a:r>
                        <a:rPr sz="1100" b="0" i="1">
                          <a:solidFill>
                            <a:srgbClr val="000000"/>
                          </a:solidFill>
                          <a:latin typeface="Calibri"/>
                        </a:rPr>
                        <a:t>Bakery</a:t>
                      </a:r>
                      <a:endParaRPr sz="1100"/>
                    </a:p>
                  </a:txBody>
                  <a:tcPr marL="1028700" marR="9525" marT="9525" marB="0" anchor="ctr"/>
                </a:tc>
              </a:tr>
              <a:tr h="175260">
                <a:tc>
                  <a:txBody>
                    <a:bodyPr wrap="square"/>
                    <a:lstStyle/>
                    <a:p>
                      <a:pPr algn="l"/>
                      <a:r>
                        <a:rPr sz="1100" b="0" i="1">
                          <a:solidFill>
                            <a:srgbClr val="000000"/>
                          </a:solidFill>
                          <a:latin typeface="Calibri"/>
                        </a:rPr>
                        <a:t>5.5.1.5.</a:t>
                      </a:r>
                      <a:r>
                        <a:rPr sz="700" b="0" i="1">
                          <a:solidFill>
                            <a:srgbClr val="000000"/>
                          </a:solidFill>
                          <a:latin typeface="Times New Roman"/>
                        </a:rPr>
                        <a:t>    </a:t>
                      </a:r>
                      <a:r>
                        <a:rPr sz="1100" b="0" i="1">
                          <a:solidFill>
                            <a:srgbClr val="000000"/>
                          </a:solidFill>
                          <a:latin typeface="Calibri"/>
                        </a:rPr>
                        <a:t>Meat &amp; Poultry</a:t>
                      </a:r>
                      <a:endParaRPr sz="1100"/>
                    </a:p>
                  </a:txBody>
                  <a:tcPr marL="1028700" marR="9525" marT="9525" marB="0" anchor="ctr"/>
                </a:tc>
              </a:tr>
              <a:tr h="175260">
                <a:tc>
                  <a:txBody>
                    <a:bodyPr wrap="square"/>
                    <a:lstStyle/>
                    <a:p>
                      <a:pPr algn="l"/>
                      <a:r>
                        <a:rPr sz="1100" b="0" i="1">
                          <a:solidFill>
                            <a:srgbClr val="000000"/>
                          </a:solidFill>
                          <a:latin typeface="Calibri"/>
                        </a:rPr>
                        <a:t>5.5.1.6.</a:t>
                      </a:r>
                      <a:r>
                        <a:rPr sz="700" b="0" i="1">
                          <a:solidFill>
                            <a:srgbClr val="000000"/>
                          </a:solidFill>
                          <a:latin typeface="Times New Roman"/>
                        </a:rPr>
                        <a:t>    </a:t>
                      </a:r>
                      <a:r>
                        <a:rPr sz="1100" b="0" i="1">
                          <a:solidFill>
                            <a:srgbClr val="000000"/>
                          </a:solidFill>
                          <a:latin typeface="Calibri"/>
                        </a:rPr>
                        <a:t>Seafood</a:t>
                      </a:r>
                      <a:endParaRPr sz="1100"/>
                    </a:p>
                  </a:txBody>
                  <a:tcPr marL="1028700" marR="9525" marT="9525" marB="0" anchor="ctr"/>
                </a:tc>
              </a:tr>
              <a:tr h="175260">
                <a:tc>
                  <a:txBody>
                    <a:bodyPr wrap="square"/>
                    <a:lstStyle/>
                    <a:p>
                      <a:pPr algn="l"/>
                      <a:r>
                        <a:rPr sz="1100" b="0" i="1">
                          <a:solidFill>
                            <a:srgbClr val="000000"/>
                          </a:solidFill>
                          <a:latin typeface="Calibri"/>
                        </a:rPr>
                        <a:t>5.5.1.7.</a:t>
                      </a:r>
                      <a:r>
                        <a:rPr sz="700" b="0" i="1">
                          <a:solidFill>
                            <a:srgbClr val="000000"/>
                          </a:solidFill>
                          <a:latin typeface="Times New Roman"/>
                        </a:rPr>
                        <a:t>    </a:t>
                      </a:r>
                      <a:r>
                        <a:rPr sz="1100" b="0" i="1">
                          <a:solidFill>
                            <a:srgbClr val="000000"/>
                          </a:solidFill>
                          <a:latin typeface="Calibri"/>
                        </a:rPr>
                        <a:t>Snacks &amp; Confectionery</a:t>
                      </a:r>
                      <a:endParaRPr sz="1100"/>
                    </a:p>
                  </a:txBody>
                  <a:tcPr marL="1028700" marR="9525" marT="9525" marB="0" anchor="ctr"/>
                </a:tc>
              </a:tr>
              <a:tr h="175260">
                <a:tc>
                  <a:txBody>
                    <a:bodyPr wrap="square"/>
                    <a:lstStyle/>
                    <a:p>
                      <a:pPr algn="l"/>
                      <a:r>
                        <a:rPr sz="1100" b="0" i="1">
                          <a:solidFill>
                            <a:srgbClr val="000000"/>
                          </a:solidFill>
                          <a:latin typeface="Calibri"/>
                        </a:rPr>
                        <a:t>5.5.1.8.</a:t>
                      </a:r>
                      <a:r>
                        <a:rPr sz="700" b="0" i="1">
                          <a:solidFill>
                            <a:srgbClr val="000000"/>
                          </a:solidFill>
                          <a:latin typeface="Times New Roman"/>
                        </a:rPr>
                        <a:t>    </a:t>
                      </a:r>
                      <a:r>
                        <a:rPr sz="1100" b="0" i="1">
                          <a:solidFill>
                            <a:srgbClr val="000000"/>
                          </a:solidFill>
                          <a:latin typeface="Calibri"/>
                        </a:rPr>
                        <a:t>Beverage Packaging</a:t>
                      </a:r>
                      <a:endParaRPr sz="1100"/>
                    </a:p>
                  </a:txBody>
                  <a:tcPr marL="1028700" marR="9525" marT="9525" marB="0" anchor="ctr"/>
                </a:tc>
              </a:tr>
              <a:tr h="175260">
                <a:tc>
                  <a:txBody>
                    <a:bodyPr wrap="square"/>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Retail &amp; Consumer Goods</a:t>
                      </a:r>
                      <a:endParaRPr sz="1100"/>
                    </a:p>
                  </a:txBody>
                  <a:tcPr marL="771525" marR="9525" marT="9525" marB="0" anchor="ctr"/>
                </a:tc>
              </a:tr>
              <a:tr h="175260">
                <a:tc>
                  <a:txBody>
                    <a:bodyPr wrap="square"/>
                    <a:lstStyle/>
                    <a:p>
                      <a:pPr algn="l"/>
                      <a:r>
                        <a:rPr sz="1100" b="0" i="1">
                          <a:solidFill>
                            <a:srgbClr val="000000"/>
                          </a:solidFill>
                          <a:latin typeface="Calibri"/>
                        </a:rPr>
                        <a:t>5.5.2.1.</a:t>
                      </a:r>
                      <a:r>
                        <a:rPr sz="700" b="0" i="1">
                          <a:solidFill>
                            <a:srgbClr val="000000"/>
                          </a:solidFill>
                          <a:latin typeface="Times New Roman"/>
                        </a:rPr>
                        <a:t>    </a:t>
                      </a:r>
                      <a:r>
                        <a:rPr sz="1100" b="0" i="1">
                          <a:solidFill>
                            <a:srgbClr val="000000"/>
                          </a:solidFill>
                          <a:latin typeface="Calibri"/>
                        </a:rPr>
                        <a:t>Apparel</a:t>
                      </a:r>
                      <a:endParaRPr sz="1100"/>
                    </a:p>
                  </a:txBody>
                  <a:tcPr marL="1028700" marR="9525" marT="9525" marB="0" anchor="ctr"/>
                </a:tc>
              </a:tr>
              <a:tr h="175260">
                <a:tc>
                  <a:txBody>
                    <a:bodyPr wrap="square"/>
                    <a:lstStyle/>
                    <a:p>
                      <a:pPr algn="l"/>
                      <a:r>
                        <a:rPr sz="1100" b="0" i="1">
                          <a:solidFill>
                            <a:srgbClr val="000000"/>
                          </a:solidFill>
                          <a:latin typeface="Calibri"/>
                        </a:rPr>
                        <a:t>5.5.2.2.</a:t>
                      </a:r>
                      <a:r>
                        <a:rPr sz="700" b="0" i="1">
                          <a:solidFill>
                            <a:srgbClr val="000000"/>
                          </a:solidFill>
                          <a:latin typeface="Times New Roman"/>
                        </a:rPr>
                        <a:t>    </a:t>
                      </a:r>
                      <a:r>
                        <a:rPr sz="1100" b="0" i="1">
                          <a:solidFill>
                            <a:srgbClr val="000000"/>
                          </a:solidFill>
                          <a:latin typeface="Calibri"/>
                        </a:rPr>
                        <a:t>Footwear</a:t>
                      </a:r>
                      <a:endParaRPr sz="1100"/>
                    </a:p>
                  </a:txBody>
                  <a:tcPr marL="1028700" marR="9525" marT="9525" marB="0" anchor="ctr"/>
                </a:tc>
              </a:tr>
              <a:tr h="175260">
                <a:tc>
                  <a:txBody>
                    <a:bodyPr wrap="square"/>
                    <a:lstStyle/>
                    <a:p>
                      <a:pPr algn="l"/>
                      <a:r>
                        <a:rPr sz="1100" b="0" i="1">
                          <a:solidFill>
                            <a:srgbClr val="000000"/>
                          </a:solidFill>
                          <a:latin typeface="Calibri"/>
                        </a:rPr>
                        <a:t>5.5.2.3.</a:t>
                      </a:r>
                      <a:r>
                        <a:rPr sz="700" b="0" i="1">
                          <a:solidFill>
                            <a:srgbClr val="000000"/>
                          </a:solidFill>
                          <a:latin typeface="Times New Roman"/>
                        </a:rPr>
                        <a:t>    </a:t>
                      </a:r>
                      <a:r>
                        <a:rPr sz="1100" b="0" i="1">
                          <a:solidFill>
                            <a:srgbClr val="000000"/>
                          </a:solidFill>
                          <a:latin typeface="Calibri"/>
                        </a:rPr>
                        <a:t>Toys</a:t>
                      </a:r>
                      <a:endParaRPr sz="1100"/>
                    </a:p>
                  </a:txBody>
                  <a:tcPr marL="1028700" marR="9525" marT="9525" marB="0" anchor="ctr"/>
                </a:tc>
              </a:tr>
              <a:tr h="175260">
                <a:tc>
                  <a:txBody>
                    <a:bodyPr wrap="square"/>
                    <a:lstStyle/>
                    <a:p>
                      <a:pPr algn="l"/>
                      <a:r>
                        <a:rPr sz="1100" b="0" i="1">
                          <a:solidFill>
                            <a:srgbClr val="000000"/>
                          </a:solidFill>
                          <a:latin typeface="Calibri"/>
                        </a:rPr>
                        <a:t>5.5.2.4.</a:t>
                      </a:r>
                      <a:r>
                        <a:rPr sz="700" b="0" i="1">
                          <a:solidFill>
                            <a:srgbClr val="000000"/>
                          </a:solidFill>
                          <a:latin typeface="Times New Roman"/>
                        </a:rPr>
                        <a:t>    </a:t>
                      </a:r>
                      <a:r>
                        <a:rPr sz="1100" b="0" i="1">
                          <a:solidFill>
                            <a:srgbClr val="000000"/>
                          </a:solidFill>
                          <a:latin typeface="Calibri"/>
                        </a:rPr>
                        <a:t>Home Care</a:t>
                      </a:r>
                      <a:endParaRPr sz="1100"/>
                    </a:p>
                  </a:txBody>
                  <a:tcPr marL="1028700" marR="9525" marT="9525" marB="0" anchor="ctr"/>
                </a:tc>
              </a:tr>
              <a:tr h="175260">
                <a:tc>
                  <a:txBody>
                    <a:bodyPr wrap="square"/>
                    <a:lstStyle/>
                    <a:p>
                      <a:pPr algn="l"/>
                      <a:r>
                        <a:rPr sz="1100" b="0" i="1">
                          <a:solidFill>
                            <a:srgbClr val="000000"/>
                          </a:solidFill>
                          <a:latin typeface="Calibri"/>
                        </a:rPr>
                        <a:t>5.5.2.5.</a:t>
                      </a:r>
                      <a:r>
                        <a:rPr sz="700" b="0" i="1">
                          <a:solidFill>
                            <a:srgbClr val="000000"/>
                          </a:solidFill>
                          <a:latin typeface="Times New Roman"/>
                        </a:rPr>
                        <a:t>    </a:t>
                      </a:r>
                      <a:r>
                        <a:rPr sz="1100" b="0" i="1">
                          <a:solidFill>
                            <a:srgbClr val="000000"/>
                          </a:solidFill>
                          <a:latin typeface="Calibri"/>
                        </a:rPr>
                        <a:t>Household Goods</a:t>
                      </a:r>
                      <a:endParaRPr sz="1100"/>
                    </a:p>
                  </a:txBody>
                  <a:tcPr marL="1028700" marR="9525" marT="9525" marB="0" anchor="ctr"/>
                </a:tc>
              </a:tr>
              <a:tr h="175260">
                <a:tc>
                  <a:txBody>
                    <a:bodyPr wrap="square"/>
                    <a:lstStyle/>
                    <a:p>
                      <a:pPr algn="l"/>
                      <a:r>
                        <a:rPr sz="1100" b="0" i="1">
                          <a:solidFill>
                            <a:srgbClr val="000000"/>
                          </a:solidFill>
                          <a:latin typeface="Calibri"/>
                        </a:rPr>
                        <a:t>5.5.2.6.</a:t>
                      </a:r>
                      <a:r>
                        <a:rPr sz="700" b="0" i="1">
                          <a:solidFill>
                            <a:srgbClr val="000000"/>
                          </a:solidFill>
                          <a:latin typeface="Times New Roman"/>
                        </a:rPr>
                        <a:t>    </a:t>
                      </a:r>
                      <a:r>
                        <a:rPr sz="1100" b="0" i="1">
                          <a:solidFill>
                            <a:srgbClr val="000000"/>
                          </a:solidFill>
                          <a:latin typeface="Calibri"/>
                        </a:rPr>
                        <a:t>Stationery</a:t>
                      </a:r>
                      <a:endParaRPr sz="1100"/>
                    </a:p>
                  </a:txBody>
                  <a:tcPr marL="1028700" marR="9525" marT="9525" marB="0" anchor="ctr"/>
                </a:tc>
              </a:tr>
              <a:tr h="175260">
                <a:tc>
                  <a:txBody>
                    <a:bodyPr wrap="square"/>
                    <a:lstStyle/>
                    <a:p>
                      <a:pPr algn="l"/>
                      <a:r>
                        <a:rPr sz="1100" b="0" i="0">
                          <a:solidFill>
                            <a:srgbClr val="000000"/>
                          </a:solidFill>
                          <a:latin typeface="Calibri"/>
                        </a:rPr>
                        <a:t>5.5.3.</a:t>
                      </a:r>
                      <a:r>
                        <a:rPr sz="700" b="0" i="0">
                          <a:solidFill>
                            <a:srgbClr val="000000"/>
                          </a:solidFill>
                          <a:latin typeface="Times New Roman"/>
                        </a:rPr>
                        <a:t>   </a:t>
                      </a:r>
                      <a:r>
                        <a:rPr sz="1100" b="0" i="0">
                          <a:solidFill>
                            <a:srgbClr val="000000"/>
                          </a:solidFill>
                          <a:latin typeface="Calibri"/>
                        </a:rPr>
                        <a:t>Healthcare</a:t>
                      </a:r>
                      <a:endParaRPr sz="1100"/>
                    </a:p>
                  </a:txBody>
                  <a:tcPr marL="771525" marR="9525" marT="9525" marB="0" anchor="ctr"/>
                </a:tc>
              </a:tr>
              <a:tr h="175260">
                <a:tc>
                  <a:txBody>
                    <a:bodyPr wrap="square"/>
                    <a:lstStyle/>
                    <a:p>
                      <a:pPr algn="l"/>
                      <a:r>
                        <a:rPr sz="1100" b="0" i="1">
                          <a:solidFill>
                            <a:srgbClr val="000000"/>
                          </a:solidFill>
                          <a:latin typeface="Calibri"/>
                        </a:rPr>
                        <a:t>5.5.3.1.</a:t>
                      </a:r>
                      <a:r>
                        <a:rPr sz="700" b="0" i="1">
                          <a:solidFill>
                            <a:srgbClr val="000000"/>
                          </a:solidFill>
                          <a:latin typeface="Times New Roman"/>
                        </a:rPr>
                        <a:t>    </a:t>
                      </a:r>
                      <a:r>
                        <a:rPr sz="1100" b="0" i="1">
                          <a:solidFill>
                            <a:srgbClr val="000000"/>
                          </a:solidFill>
                          <a:latin typeface="Calibri"/>
                        </a:rPr>
                        <a:t>Pharmaceuticals</a:t>
                      </a:r>
                      <a:endParaRPr sz="1100"/>
                    </a:p>
                  </a:txBody>
                  <a:tcPr marL="1028700" marR="9525" marT="9525" marB="0" anchor="ctr"/>
                </a:tc>
              </a:tr>
              <a:tr h="175260">
                <a:tc>
                  <a:txBody>
                    <a:bodyPr wrap="square"/>
                    <a:lstStyle/>
                    <a:p>
                      <a:pPr algn="l"/>
                      <a:r>
                        <a:rPr sz="1100" b="0" i="1">
                          <a:solidFill>
                            <a:srgbClr val="000000"/>
                          </a:solidFill>
                          <a:latin typeface="Calibri"/>
                        </a:rPr>
                        <a:t>5.5.3.2.</a:t>
                      </a:r>
                      <a:r>
                        <a:rPr sz="700" b="0" i="1">
                          <a:solidFill>
                            <a:srgbClr val="000000"/>
                          </a:solidFill>
                          <a:latin typeface="Times New Roman"/>
                        </a:rPr>
                        <a:t>    </a:t>
                      </a:r>
                      <a:r>
                        <a:rPr sz="1100" b="0" i="1">
                          <a:solidFill>
                            <a:srgbClr val="000000"/>
                          </a:solidFill>
                          <a:latin typeface="Calibri"/>
                        </a:rPr>
                        <a:t>Medical Devices</a:t>
                      </a:r>
                      <a:endParaRPr sz="1100"/>
                    </a:p>
                  </a:txBody>
                  <a:tcPr marL="1028700" marR="9525" marT="9525" marB="0" anchor="ctr"/>
                </a:tc>
              </a:tr>
              <a:tr h="175260">
                <a:tc>
                  <a:txBody>
                    <a:bodyPr wrap="square"/>
                    <a:lstStyle/>
                    <a:p>
                      <a:pPr algn="l"/>
                      <a:r>
                        <a:rPr sz="1100" b="0" i="1">
                          <a:solidFill>
                            <a:srgbClr val="000000"/>
                          </a:solidFill>
                          <a:latin typeface="Calibri"/>
                        </a:rPr>
                        <a:t>5.5.3.3.</a:t>
                      </a:r>
                      <a:r>
                        <a:rPr sz="700" b="0" i="1">
                          <a:solidFill>
                            <a:srgbClr val="000000"/>
                          </a:solidFill>
                          <a:latin typeface="Times New Roman"/>
                        </a:rPr>
                        <a:t>    </a:t>
                      </a:r>
                      <a:r>
                        <a:rPr sz="1100" b="0" i="1">
                          <a:solidFill>
                            <a:srgbClr val="000000"/>
                          </a:solidFill>
                          <a:latin typeface="Calibri"/>
                        </a:rPr>
                        <a:t>Surgical Products</a:t>
                      </a:r>
                      <a:endParaRPr sz="1100"/>
                    </a:p>
                  </a:txBody>
                  <a:tcPr marL="1028700" marR="9525" marT="9525" marB="0" anchor="ctr"/>
                </a:tc>
              </a:tr>
              <a:tr h="175260">
                <a:tc>
                  <a:txBody>
                    <a:bodyPr wrap="square"/>
                    <a:lstStyle/>
                    <a:p>
                      <a:pPr algn="l"/>
                      <a:r>
                        <a:rPr sz="1100" b="0" i="1">
                          <a:solidFill>
                            <a:srgbClr val="000000"/>
                          </a:solidFill>
                          <a:latin typeface="Calibri"/>
                        </a:rPr>
                        <a:t>5.5.3.4.</a:t>
                      </a:r>
                      <a:r>
                        <a:rPr sz="700" b="0" i="1">
                          <a:solidFill>
                            <a:srgbClr val="000000"/>
                          </a:solidFill>
                          <a:latin typeface="Times New Roman"/>
                        </a:rPr>
                        <a:t>    </a:t>
                      </a:r>
                      <a:r>
                        <a:rPr sz="1100" b="0" i="1">
                          <a:solidFill>
                            <a:srgbClr val="000000"/>
                          </a:solidFill>
                          <a:latin typeface="Calibri"/>
                        </a:rPr>
                        <a:t>Diagnostic Kits</a:t>
                      </a:r>
                      <a:endParaRPr sz="1100"/>
                    </a:p>
                  </a:txBody>
                  <a:tcPr marL="1028700" marR="9525" marT="9525" marB="0" anchor="ctr"/>
                </a:tc>
              </a:tr>
              <a:tr h="175260">
                <a:tc>
                  <a:txBody>
                    <a:bodyPr wrap="square"/>
                    <a:lstStyle/>
                    <a:p>
                      <a:pPr algn="l"/>
                      <a:r>
                        <a:rPr sz="1100" b="0" i="1">
                          <a:solidFill>
                            <a:srgbClr val="000000"/>
                          </a:solidFill>
                          <a:latin typeface="Calibri"/>
                        </a:rPr>
                        <a:t>5.5.3.5.</a:t>
                      </a:r>
                      <a:r>
                        <a:rPr sz="700" b="0" i="1">
                          <a:solidFill>
                            <a:srgbClr val="000000"/>
                          </a:solidFill>
                          <a:latin typeface="Times New Roman"/>
                        </a:rPr>
                        <a:t>    </a:t>
                      </a:r>
                      <a:r>
                        <a:rPr sz="1100" b="0" i="1">
                          <a:solidFill>
                            <a:srgbClr val="000000"/>
                          </a:solidFill>
                          <a:latin typeface="Calibri"/>
                        </a:rPr>
                        <a:t>Laboratory Supplies</a:t>
                      </a:r>
                      <a:endParaRPr sz="1100"/>
                    </a:p>
                  </a:txBody>
                  <a:tcPr marL="1028700" marR="9525" marT="9525" marB="0" anchor="ctr"/>
                </a:tc>
              </a:tr>
              <a:tr h="175260">
                <a:tc>
                  <a:txBody>
                    <a:bodyPr wrap="square"/>
                    <a:lstStyle/>
                    <a:p>
                      <a:pPr algn="l"/>
                      <a:r>
                        <a:rPr sz="1100" b="0" i="0">
                          <a:solidFill>
                            <a:srgbClr val="000000"/>
                          </a:solidFill>
                          <a:latin typeface="Calibri"/>
                        </a:rPr>
                        <a:t>5.5.4.</a:t>
                      </a:r>
                      <a:r>
                        <a:rPr sz="700" b="0" i="0">
                          <a:solidFill>
                            <a:srgbClr val="000000"/>
                          </a:solidFill>
                          <a:latin typeface="Times New Roman"/>
                        </a:rPr>
                        <a:t>   </a:t>
                      </a:r>
                      <a:r>
                        <a:rPr sz="1100" b="0" i="0">
                          <a:solidFill>
                            <a:srgbClr val="000000"/>
                          </a:solidFill>
                          <a:latin typeface="Calibri"/>
                        </a:rPr>
                        <a:t>E-commerce &amp; Logistics</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5.5.4.1.</a:t>
                      </a:r>
                      <a:r>
                        <a:rPr sz="700" b="0" i="1">
                          <a:solidFill>
                            <a:srgbClr val="000000"/>
                          </a:solidFill>
                          <a:latin typeface="Times New Roman"/>
                        </a:rPr>
                        <a:t>    </a:t>
                      </a:r>
                      <a:r>
                        <a:rPr sz="1100" b="0" i="1">
                          <a:solidFill>
                            <a:srgbClr val="000000"/>
                          </a:solidFill>
                          <a:latin typeface="Calibri"/>
                        </a:rPr>
                        <a:t>Courier Packaging</a:t>
                      </a:r>
                      <a:endParaRPr sz="1100"/>
                    </a:p>
                  </a:txBody>
                  <a:tcPr marL="1028700" marR="9525" marT="9525" marB="0" anchor="ctr"/>
                </a:tc>
              </a:tr>
              <a:tr h="175260">
                <a:tc>
                  <a:txBody>
                    <a:bodyPr wrap="square"/>
                    <a:lstStyle/>
                    <a:p>
                      <a:pPr algn="l"/>
                      <a:r>
                        <a:rPr sz="1100" b="0" i="1">
                          <a:solidFill>
                            <a:srgbClr val="000000"/>
                          </a:solidFill>
                          <a:latin typeface="Calibri"/>
                        </a:rPr>
                        <a:t>5.5.4.2.</a:t>
                      </a:r>
                      <a:r>
                        <a:rPr sz="700" b="0" i="1">
                          <a:solidFill>
                            <a:srgbClr val="000000"/>
                          </a:solidFill>
                          <a:latin typeface="Times New Roman"/>
                        </a:rPr>
                        <a:t>    </a:t>
                      </a:r>
                      <a:r>
                        <a:rPr sz="1100" b="0" i="1">
                          <a:solidFill>
                            <a:srgbClr val="000000"/>
                          </a:solidFill>
                          <a:latin typeface="Calibri"/>
                        </a:rPr>
                        <a:t>Fulfillment Centers</a:t>
                      </a:r>
                      <a:endParaRPr sz="1100"/>
                    </a:p>
                  </a:txBody>
                  <a:tcPr marL="1028700" marR="9525" marT="9525" marB="0" anchor="ctr"/>
                </a:tc>
              </a:tr>
              <a:tr h="175260">
                <a:tc>
                  <a:txBody>
                    <a:bodyPr wrap="square"/>
                    <a:lstStyle/>
                    <a:p>
                      <a:pPr algn="l"/>
                      <a:r>
                        <a:rPr sz="1100" b="0" i="1">
                          <a:solidFill>
                            <a:srgbClr val="000000"/>
                          </a:solidFill>
                          <a:latin typeface="Calibri"/>
                        </a:rPr>
                        <a:t>5.5.4.3.</a:t>
                      </a:r>
                      <a:r>
                        <a:rPr sz="700" b="0" i="1">
                          <a:solidFill>
                            <a:srgbClr val="000000"/>
                          </a:solidFill>
                          <a:latin typeface="Times New Roman"/>
                        </a:rPr>
                        <a:t>    </a:t>
                      </a:r>
                      <a:r>
                        <a:rPr sz="1100" b="0" i="1">
                          <a:solidFill>
                            <a:srgbClr val="000000"/>
                          </a:solidFill>
                          <a:latin typeface="Calibri"/>
                        </a:rPr>
                        <a:t>Return Packaging</a:t>
                      </a:r>
                      <a:endParaRPr sz="1100"/>
                    </a:p>
                  </a:txBody>
                  <a:tcPr marL="1028700" marR="9525" marT="9525" marB="0" anchor="ctr"/>
                </a:tc>
              </a:tr>
              <a:tr h="175260">
                <a:tc>
                  <a:txBody>
                    <a:bodyPr wrap="square"/>
                    <a:lstStyle/>
                    <a:p>
                      <a:pPr algn="l"/>
                      <a:r>
                        <a:rPr sz="1100" b="0" i="1">
                          <a:solidFill>
                            <a:srgbClr val="000000"/>
                          </a:solidFill>
                          <a:latin typeface="Calibri"/>
                        </a:rPr>
                        <a:t>5.5.4.4.</a:t>
                      </a:r>
                      <a:r>
                        <a:rPr sz="700" b="0" i="1">
                          <a:solidFill>
                            <a:srgbClr val="000000"/>
                          </a:solidFill>
                          <a:latin typeface="Times New Roman"/>
                        </a:rPr>
                        <a:t>    </a:t>
                      </a:r>
                      <a:r>
                        <a:rPr sz="1100" b="0" i="1">
                          <a:solidFill>
                            <a:srgbClr val="000000"/>
                          </a:solidFill>
                          <a:latin typeface="Calibri"/>
                        </a:rPr>
                        <a:t>Warehouse Packaging</a:t>
                      </a:r>
                      <a:endParaRPr sz="1100"/>
                    </a:p>
                  </a:txBody>
                  <a:tcPr marL="1028700" marR="9525" marT="9525" marB="0" anchor="ctr"/>
                </a:tc>
              </a:tr>
              <a:tr h="175260">
                <a:tc>
                  <a:txBody>
                    <a:bodyPr wrap="square"/>
                    <a:lstStyle/>
                    <a:p>
                      <a:pPr algn="l"/>
                      <a:r>
                        <a:rPr sz="1100" b="0" i="0">
                          <a:solidFill>
                            <a:srgbClr val="000000"/>
                          </a:solidFill>
                          <a:latin typeface="Calibri"/>
                        </a:rPr>
                        <a:t>5.5.5.</a:t>
                      </a:r>
                      <a:r>
                        <a:rPr sz="700" b="0" i="0">
                          <a:solidFill>
                            <a:srgbClr val="000000"/>
                          </a:solidFill>
                          <a:latin typeface="Times New Roman"/>
                        </a:rPr>
                        <a:t>   </a:t>
                      </a:r>
                      <a:r>
                        <a:rPr sz="1100" b="0" i="0">
                          <a:solidFill>
                            <a:srgbClr val="000000"/>
                          </a:solidFill>
                          <a:latin typeface="Calibri"/>
                        </a:rPr>
                        <a:t>Industrial</a:t>
                      </a:r>
                      <a:endParaRPr sz="1100"/>
                    </a:p>
                  </a:txBody>
                  <a:tcPr marL="771525" marR="9525" marT="9525" marB="0" anchor="ctr"/>
                </a:tc>
              </a:tr>
              <a:tr h="175260">
                <a:tc>
                  <a:txBody>
                    <a:bodyPr wrap="square"/>
                    <a:lstStyle/>
                    <a:p>
                      <a:pPr algn="l"/>
                      <a:r>
                        <a:rPr sz="1100" b="0" i="1">
                          <a:solidFill>
                            <a:srgbClr val="000000"/>
                          </a:solidFill>
                          <a:latin typeface="Calibri"/>
                        </a:rPr>
                        <a:t>5.5.5.1.</a:t>
                      </a:r>
                      <a:r>
                        <a:rPr sz="700" b="0" i="1">
                          <a:solidFill>
                            <a:srgbClr val="000000"/>
                          </a:solidFill>
                          <a:latin typeface="Times New Roman"/>
                        </a:rPr>
                        <a:t>    </a:t>
                      </a:r>
                      <a:r>
                        <a:rPr sz="1100" b="0" i="1">
                          <a:solidFill>
                            <a:srgbClr val="000000"/>
                          </a:solidFill>
                          <a:latin typeface="Calibri"/>
                        </a:rPr>
                        <a:t>Automotive Components</a:t>
                      </a:r>
                      <a:endParaRPr sz="1100"/>
                    </a:p>
                  </a:txBody>
                  <a:tcPr marL="1028700" marR="9525" marT="9525" marB="0" anchor="ctr"/>
                </a:tc>
              </a:tr>
              <a:tr h="175260">
                <a:tc>
                  <a:txBody>
                    <a:bodyPr wrap="square"/>
                    <a:lstStyle/>
                    <a:p>
                      <a:pPr algn="l"/>
                      <a:r>
                        <a:rPr sz="1100" b="0" i="1">
                          <a:solidFill>
                            <a:srgbClr val="000000"/>
                          </a:solidFill>
                          <a:latin typeface="Calibri"/>
                        </a:rPr>
                        <a:t>5.5.5.2.</a:t>
                      </a:r>
                      <a:r>
                        <a:rPr sz="700" b="0" i="1">
                          <a:solidFill>
                            <a:srgbClr val="000000"/>
                          </a:solidFill>
                          <a:latin typeface="Times New Roman"/>
                        </a:rPr>
                        <a:t>    </a:t>
                      </a:r>
                      <a:r>
                        <a:rPr sz="1100" b="0" i="1">
                          <a:solidFill>
                            <a:srgbClr val="000000"/>
                          </a:solidFill>
                          <a:latin typeface="Calibri"/>
                        </a:rPr>
                        <a:t>Chemicals</a:t>
                      </a:r>
                      <a:endParaRPr sz="1100"/>
                    </a:p>
                  </a:txBody>
                  <a:tcPr marL="1028700" marR="9525" marT="9525" marB="0" anchor="ctr"/>
                </a:tc>
              </a:tr>
              <a:tr h="175260">
                <a:tc>
                  <a:txBody>
                    <a:bodyPr wrap="square"/>
                    <a:lstStyle/>
                    <a:p>
                      <a:pPr algn="l"/>
                      <a:r>
                        <a:rPr sz="1100" b="0" i="1">
                          <a:solidFill>
                            <a:srgbClr val="000000"/>
                          </a:solidFill>
                          <a:latin typeface="Calibri"/>
                        </a:rPr>
                        <a:t>5.5.5.3.</a:t>
                      </a:r>
                      <a:r>
                        <a:rPr sz="700" b="0" i="1">
                          <a:solidFill>
                            <a:srgbClr val="000000"/>
                          </a:solidFill>
                          <a:latin typeface="Times New Roman"/>
                        </a:rPr>
                        <a:t>    </a:t>
                      </a:r>
                      <a:r>
                        <a:rPr sz="1100" b="0" i="1">
                          <a:solidFill>
                            <a:srgbClr val="000000"/>
                          </a:solidFill>
                          <a:latin typeface="Calibri"/>
                        </a:rPr>
                        <a:t>Machinery Parts</a:t>
                      </a:r>
                      <a:endParaRPr sz="1100"/>
                    </a:p>
                  </a:txBody>
                  <a:tcPr marL="1028700" marR="9525" marT="9525" marB="0" anchor="ctr"/>
                </a:tc>
              </a:tr>
              <a:tr h="175260">
                <a:tc>
                  <a:txBody>
                    <a:bodyPr wrap="square"/>
                    <a:lstStyle/>
                    <a:p>
                      <a:pPr algn="l"/>
                      <a:r>
                        <a:rPr sz="1100" b="0" i="1">
                          <a:solidFill>
                            <a:srgbClr val="000000"/>
                          </a:solidFill>
                          <a:latin typeface="Calibri"/>
                        </a:rPr>
                        <a:t>5.5.5.4.</a:t>
                      </a:r>
                      <a:r>
                        <a:rPr sz="700" b="0" i="1">
                          <a:solidFill>
                            <a:srgbClr val="000000"/>
                          </a:solidFill>
                          <a:latin typeface="Times New Roman"/>
                        </a:rPr>
                        <a:t>    </a:t>
                      </a:r>
                      <a:r>
                        <a:rPr sz="1100" b="0" i="1">
                          <a:solidFill>
                            <a:srgbClr val="000000"/>
                          </a:solidFill>
                          <a:latin typeface="Calibri"/>
                        </a:rPr>
                        <a:t>Hardware</a:t>
                      </a:r>
                      <a:endParaRPr sz="1100"/>
                    </a:p>
                  </a:txBody>
                  <a:tcPr marL="1028700" marR="9525" marT="9525" marB="0" anchor="ctr"/>
                </a:tc>
              </a:tr>
              <a:tr h="175260">
                <a:tc>
                  <a:txBody>
                    <a:bodyPr wrap="square"/>
                    <a:lstStyle/>
                    <a:p>
                      <a:pPr algn="l"/>
                      <a:r>
                        <a:rPr sz="1100" b="0" i="1">
                          <a:solidFill>
                            <a:srgbClr val="000000"/>
                          </a:solidFill>
                          <a:latin typeface="Calibri"/>
                        </a:rPr>
                        <a:t>5.5.5.5.</a:t>
                      </a:r>
                      <a:r>
                        <a:rPr sz="700" b="0" i="1">
                          <a:solidFill>
                            <a:srgbClr val="000000"/>
                          </a:solidFill>
                          <a:latin typeface="Times New Roman"/>
                        </a:rPr>
                        <a:t>    </a:t>
                      </a:r>
                      <a:r>
                        <a:rPr sz="1100" b="0" i="1">
                          <a:solidFill>
                            <a:srgbClr val="000000"/>
                          </a:solidFill>
                          <a:latin typeface="Calibri"/>
                        </a:rPr>
                        <a:t>Electrical Components</a:t>
                      </a:r>
                      <a:endParaRPr sz="1100"/>
                    </a:p>
                  </a:txBody>
                  <a:tcPr marL="1028700" marR="9525" marT="9525" marB="0" anchor="ctr"/>
                </a:tc>
              </a:tr>
              <a:tr h="175260">
                <a:tc>
                  <a:txBody>
                    <a:bodyPr wrap="square"/>
                    <a:lstStyle/>
                    <a:p>
                      <a:pPr algn="l"/>
                      <a:r>
                        <a:rPr sz="1100" b="0" i="0">
                          <a:solidFill>
                            <a:srgbClr val="000000"/>
                          </a:solidFill>
                          <a:latin typeface="Calibri"/>
                        </a:rPr>
                        <a:t>5.5.6.</a:t>
                      </a:r>
                      <a:r>
                        <a:rPr sz="700" b="0" i="0">
                          <a:solidFill>
                            <a:srgbClr val="000000"/>
                          </a:solidFill>
                          <a:latin typeface="Times New Roman"/>
                        </a:rPr>
                        <a:t>   </a:t>
                      </a:r>
                      <a:r>
                        <a:rPr sz="1100" b="0" i="0">
                          <a:solidFill>
                            <a:srgbClr val="000000"/>
                          </a:solidFill>
                          <a:latin typeface="Calibri"/>
                        </a:rPr>
                        <a:t>Agriculture</a:t>
                      </a:r>
                      <a:endParaRPr sz="1100"/>
                    </a:p>
                  </a:txBody>
                  <a:tcPr marL="771525" marR="9525" marT="9525" marB="0" anchor="ctr"/>
                </a:tc>
              </a:tr>
              <a:tr h="175260">
                <a:tc>
                  <a:txBody>
                    <a:bodyPr wrap="square"/>
                    <a:lstStyle/>
                    <a:p>
                      <a:pPr algn="l"/>
                      <a:r>
                        <a:rPr sz="1100" b="0" i="1">
                          <a:solidFill>
                            <a:srgbClr val="000000"/>
                          </a:solidFill>
                          <a:latin typeface="Calibri"/>
                        </a:rPr>
                        <a:t>5.5.6.1.</a:t>
                      </a:r>
                      <a:r>
                        <a:rPr sz="700" b="0" i="1">
                          <a:solidFill>
                            <a:srgbClr val="000000"/>
                          </a:solidFill>
                          <a:latin typeface="Times New Roman"/>
                        </a:rPr>
                        <a:t>    </a:t>
                      </a:r>
                      <a:r>
                        <a:rPr sz="1100" b="0" i="1">
                          <a:solidFill>
                            <a:srgbClr val="000000"/>
                          </a:solidFill>
                          <a:latin typeface="Calibri"/>
                        </a:rPr>
                        <a:t>Seeds</a:t>
                      </a:r>
                      <a:endParaRPr sz="1100"/>
                    </a:p>
                  </a:txBody>
                  <a:tcPr marL="1028700" marR="9525" marT="9525" marB="0" anchor="ctr"/>
                </a:tc>
              </a:tr>
              <a:tr h="175260">
                <a:tc>
                  <a:txBody>
                    <a:bodyPr wrap="square"/>
                    <a:lstStyle/>
                    <a:p>
                      <a:pPr algn="l"/>
                      <a:r>
                        <a:rPr sz="1100" b="0" i="1">
                          <a:solidFill>
                            <a:srgbClr val="000000"/>
                          </a:solidFill>
                          <a:latin typeface="Calibri"/>
                        </a:rPr>
                        <a:t>5.5.6.2.</a:t>
                      </a:r>
                      <a:r>
                        <a:rPr sz="700" b="0" i="1">
                          <a:solidFill>
                            <a:srgbClr val="000000"/>
                          </a:solidFill>
                          <a:latin typeface="Times New Roman"/>
                        </a:rPr>
                        <a:t>    </a:t>
                      </a:r>
                      <a:r>
                        <a:rPr sz="1100" b="0" i="1">
                          <a:solidFill>
                            <a:srgbClr val="000000"/>
                          </a:solidFill>
                          <a:latin typeface="Calibri"/>
                        </a:rPr>
                        <a:t>Fertilizers</a:t>
                      </a:r>
                      <a:endParaRPr sz="1100"/>
                    </a:p>
                  </a:txBody>
                  <a:tcPr marL="1028700" marR="9525" marT="9525" marB="0" anchor="ctr"/>
                </a:tc>
              </a:tr>
              <a:tr h="175260">
                <a:tc>
                  <a:txBody>
                    <a:bodyPr wrap="square"/>
                    <a:lstStyle/>
                    <a:p>
                      <a:pPr algn="l"/>
                      <a:r>
                        <a:rPr sz="1100" b="0" i="1">
                          <a:solidFill>
                            <a:srgbClr val="000000"/>
                          </a:solidFill>
                          <a:latin typeface="Calibri"/>
                        </a:rPr>
                        <a:t>5.5.6.3.</a:t>
                      </a:r>
                      <a:r>
                        <a:rPr sz="700" b="0" i="1">
                          <a:solidFill>
                            <a:srgbClr val="000000"/>
                          </a:solidFill>
                          <a:latin typeface="Times New Roman"/>
                        </a:rPr>
                        <a:t>    </a:t>
                      </a:r>
                      <a:r>
                        <a:rPr sz="1100" b="0" i="1">
                          <a:solidFill>
                            <a:srgbClr val="000000"/>
                          </a:solidFill>
                          <a:latin typeface="Calibri"/>
                        </a:rPr>
                        <a:t>Animal Feed</a:t>
                      </a:r>
                      <a:endParaRPr sz="1100"/>
                    </a:p>
                  </a:txBody>
                  <a:tcPr marL="1028700" marR="9525" marT="9525" marB="0" anchor="ctr"/>
                </a:tc>
              </a:tr>
              <a:tr h="175260">
                <a:tc>
                  <a:txBody>
                    <a:bodyPr wrap="square"/>
                    <a:lstStyle/>
                    <a:p>
                      <a:pPr algn="l"/>
                      <a:r>
                        <a:rPr sz="1100" b="0" i="1">
                          <a:solidFill>
                            <a:srgbClr val="000000"/>
                          </a:solidFill>
                          <a:latin typeface="Calibri"/>
                        </a:rPr>
                        <a:t>5.5.6.4.</a:t>
                      </a:r>
                      <a:r>
                        <a:rPr sz="700" b="0" i="1">
                          <a:solidFill>
                            <a:srgbClr val="000000"/>
                          </a:solidFill>
                          <a:latin typeface="Times New Roman"/>
                        </a:rPr>
                        <a:t>    </a:t>
                      </a:r>
                      <a:r>
                        <a:rPr sz="1100" b="0" i="1">
                          <a:solidFill>
                            <a:srgbClr val="000000"/>
                          </a:solidFill>
                          <a:latin typeface="Calibri"/>
                        </a:rPr>
                        <a:t>Produce Packaging</a:t>
                      </a:r>
                      <a:endParaRPr sz="1100"/>
                    </a:p>
                  </a:txBody>
                  <a:tcPr marL="1028700" marR="9525" marT="9525" marB="0" anchor="ctr"/>
                </a:tc>
              </a:tr>
              <a:tr h="175260">
                <a:tc>
                  <a:txBody>
                    <a:bodyPr wrap="square"/>
                    <a:lstStyle/>
                    <a:p>
                      <a:pPr algn="l"/>
                      <a:r>
                        <a:rPr sz="1100" b="0" i="0">
                          <a:solidFill>
                            <a:srgbClr val="000000"/>
                          </a:solidFill>
                          <a:latin typeface="Calibri"/>
                        </a:rPr>
                        <a:t>5.5.7.</a:t>
                      </a:r>
                      <a:r>
                        <a:rPr sz="700" b="0" i="0">
                          <a:solidFill>
                            <a:srgbClr val="000000"/>
                          </a:solidFill>
                          <a:latin typeface="Times New Roman"/>
                        </a:rPr>
                        <a:t>   </a:t>
                      </a:r>
                      <a:r>
                        <a:rPr sz="1100" b="0" i="0">
                          <a:solidFill>
                            <a:srgbClr val="000000"/>
                          </a:solidFill>
                          <a:latin typeface="Calibri"/>
                        </a:rPr>
                        <a:t>Electronics</a:t>
                      </a:r>
                      <a:endParaRPr sz="1100"/>
                    </a:p>
                  </a:txBody>
                  <a:tcPr marL="771525" marR="9525" marT="9525" marB="0" anchor="ctr"/>
                </a:tc>
              </a:tr>
              <a:tr h="175260">
                <a:tc>
                  <a:txBody>
                    <a:bodyPr wrap="square"/>
                    <a:lstStyle/>
                    <a:p>
                      <a:pPr algn="l"/>
                      <a:r>
                        <a:rPr sz="1100" b="0" i="1">
                          <a:solidFill>
                            <a:srgbClr val="000000"/>
                          </a:solidFill>
                          <a:latin typeface="Calibri"/>
                        </a:rPr>
                        <a:t>5.5.7.1.</a:t>
                      </a:r>
                      <a:r>
                        <a:rPr sz="700" b="0" i="1">
                          <a:solidFill>
                            <a:srgbClr val="000000"/>
                          </a:solidFill>
                          <a:latin typeface="Times New Roman"/>
                        </a:rPr>
                        <a:t>    </a:t>
                      </a:r>
                      <a:r>
                        <a:rPr sz="1100" b="0" i="1">
                          <a:solidFill>
                            <a:srgbClr val="000000"/>
                          </a:solidFill>
                          <a:latin typeface="Calibri"/>
                        </a:rPr>
                        <a:t>Semiconductors</a:t>
                      </a:r>
                      <a:endParaRPr sz="1100"/>
                    </a:p>
                  </a:txBody>
                  <a:tcPr marL="1028700" marR="9525" marT="9525" marB="0" anchor="ctr"/>
                </a:tc>
              </a:tr>
              <a:tr h="175260">
                <a:tc>
                  <a:txBody>
                    <a:bodyPr wrap="square"/>
                    <a:lstStyle/>
                    <a:p>
                      <a:pPr algn="l"/>
                      <a:r>
                        <a:rPr sz="1100" b="0" i="1">
                          <a:solidFill>
                            <a:srgbClr val="000000"/>
                          </a:solidFill>
                          <a:latin typeface="Calibri"/>
                        </a:rPr>
                        <a:t>5.5.7.2.</a:t>
                      </a:r>
                      <a:r>
                        <a:rPr sz="700" b="0" i="1">
                          <a:solidFill>
                            <a:srgbClr val="000000"/>
                          </a:solidFill>
                          <a:latin typeface="Times New Roman"/>
                        </a:rPr>
                        <a:t>    </a:t>
                      </a:r>
                      <a:r>
                        <a:rPr sz="1100" b="0" i="1">
                          <a:solidFill>
                            <a:srgbClr val="000000"/>
                          </a:solidFill>
                          <a:latin typeface="Calibri"/>
                        </a:rPr>
                        <a:t>Consumer Electronics</a:t>
                      </a:r>
                      <a:endParaRPr sz="1100"/>
                    </a:p>
                  </a:txBody>
                  <a:tcPr marL="1028700" marR="9525" marT="9525" marB="0" anchor="ctr"/>
                </a:tc>
              </a:tr>
              <a:tr h="175260">
                <a:tc>
                  <a:txBody>
                    <a:bodyPr wrap="square"/>
                    <a:lstStyle/>
                    <a:p>
                      <a:pPr algn="l"/>
                      <a:r>
                        <a:rPr sz="1100" b="0" i="1">
                          <a:solidFill>
                            <a:srgbClr val="000000"/>
                          </a:solidFill>
                          <a:latin typeface="Calibri"/>
                        </a:rPr>
                        <a:t>5.5.7.3.</a:t>
                      </a:r>
                      <a:r>
                        <a:rPr sz="700" b="0" i="1">
                          <a:solidFill>
                            <a:srgbClr val="000000"/>
                          </a:solidFill>
                          <a:latin typeface="Times New Roman"/>
                        </a:rPr>
                        <a:t>    </a:t>
                      </a:r>
                      <a:r>
                        <a:rPr sz="1100" b="0" i="1">
                          <a:solidFill>
                            <a:srgbClr val="000000"/>
                          </a:solidFill>
                          <a:latin typeface="Calibri"/>
                        </a:rPr>
                        <a:t>Electronic Components</a:t>
                      </a:r>
                      <a:endParaRPr sz="1100"/>
                    </a:p>
                  </a:txBody>
                  <a:tcPr marL="1028700" marR="9525" marT="9525" marB="0" anchor="ctr"/>
                </a:tc>
              </a:tr>
              <a:tr h="175260">
                <a:tc>
                  <a:txBody>
                    <a:bodyPr wrap="square"/>
                    <a:lstStyle/>
                    <a:p>
                      <a:pPr algn="l"/>
                      <a:r>
                        <a:rPr sz="1100" b="0" i="1">
                          <a:solidFill>
                            <a:srgbClr val="000000"/>
                          </a:solidFill>
                          <a:latin typeface="Calibri"/>
                        </a:rPr>
                        <a:t>5.5.7.4.</a:t>
                      </a:r>
                      <a:r>
                        <a:rPr sz="700" b="0" i="1">
                          <a:solidFill>
                            <a:srgbClr val="000000"/>
                          </a:solidFill>
                          <a:latin typeface="Times New Roman"/>
                        </a:rPr>
                        <a:t>    </a:t>
                      </a:r>
                      <a:r>
                        <a:rPr sz="1100" b="0" i="1">
                          <a:solidFill>
                            <a:srgbClr val="000000"/>
                          </a:solidFill>
                          <a:latin typeface="Calibri"/>
                        </a:rPr>
                        <a:t>PCB Packaging</a:t>
                      </a:r>
                      <a:endParaRPr sz="1100"/>
                    </a:p>
                  </a:txBody>
                  <a:tcPr marL="1028700" marR="9525" marT="9525" marB="0" anchor="ctr"/>
                </a:tc>
              </a:tr>
              <a:tr h="175260">
                <a:tc>
                  <a:txBody>
                    <a:bodyPr wrap="square"/>
                    <a:lstStyle/>
                    <a:p>
                      <a:pPr algn="l"/>
                      <a:r>
                        <a:rPr sz="1100" b="0" i="0">
                          <a:solidFill>
                            <a:srgbClr val="000000"/>
                          </a:solidFill>
                          <a:latin typeface="Calibri"/>
                        </a:rPr>
                        <a:t>5.5.8.</a:t>
                      </a:r>
                      <a:r>
                        <a:rPr sz="700" b="0" i="0">
                          <a:solidFill>
                            <a:srgbClr val="000000"/>
                          </a:solidFill>
                          <a:latin typeface="Times New Roman"/>
                        </a:rPr>
                        <a:t>   </a:t>
                      </a:r>
                      <a:r>
                        <a:rPr sz="1100" b="0" i="0">
                          <a:solidFill>
                            <a:srgbClr val="000000"/>
                          </a:solidFill>
                          <a:latin typeface="Calibri"/>
                        </a:rPr>
                        <a:t>Personal Care &amp; Cosmetics</a:t>
                      </a:r>
                      <a:endParaRPr sz="1100"/>
                    </a:p>
                  </a:txBody>
                  <a:tcPr marL="771525" marR="9525" marT="9525" marB="0" anchor="ctr"/>
                </a:tc>
              </a:tr>
              <a:tr h="175260">
                <a:tc>
                  <a:txBody>
                    <a:bodyPr wrap="square"/>
                    <a:lstStyle/>
                    <a:p>
                      <a:pPr algn="l"/>
                      <a:r>
                        <a:rPr sz="1100" b="0" i="1">
                          <a:solidFill>
                            <a:srgbClr val="000000"/>
                          </a:solidFill>
                          <a:latin typeface="Calibri"/>
                        </a:rPr>
                        <a:t>5.5.8.1.</a:t>
                      </a:r>
                      <a:r>
                        <a:rPr sz="700" b="0" i="1">
                          <a:solidFill>
                            <a:srgbClr val="000000"/>
                          </a:solidFill>
                          <a:latin typeface="Times New Roman"/>
                        </a:rPr>
                        <a:t>    </a:t>
                      </a:r>
                      <a:r>
                        <a:rPr sz="1100" b="0" i="1">
                          <a:solidFill>
                            <a:srgbClr val="000000"/>
                          </a:solidFill>
                          <a:latin typeface="Calibri"/>
                        </a:rPr>
                        <a:t>Cosmetic Products</a:t>
                      </a:r>
                      <a:endParaRPr sz="1100"/>
                    </a:p>
                  </a:txBody>
                  <a:tcPr marL="1028700" marR="9525" marT="9525" marB="0" anchor="ctr"/>
                </a:tc>
              </a:tr>
              <a:tr h="175260">
                <a:tc>
                  <a:txBody>
                    <a:bodyPr wrap="square"/>
                    <a:lstStyle/>
                    <a:p>
                      <a:pPr algn="l"/>
                      <a:r>
                        <a:rPr sz="1100" b="0" i="1">
                          <a:solidFill>
                            <a:srgbClr val="000000"/>
                          </a:solidFill>
                          <a:latin typeface="Calibri"/>
                        </a:rPr>
                        <a:t>5.5.8.2.</a:t>
                      </a:r>
                      <a:r>
                        <a:rPr sz="700" b="0" i="1">
                          <a:solidFill>
                            <a:srgbClr val="000000"/>
                          </a:solidFill>
                          <a:latin typeface="Times New Roman"/>
                        </a:rPr>
                        <a:t>    </a:t>
                      </a:r>
                      <a:r>
                        <a:rPr sz="1100" b="0" i="1">
                          <a:solidFill>
                            <a:srgbClr val="000000"/>
                          </a:solidFill>
                          <a:latin typeface="Calibri"/>
                        </a:rPr>
                        <a:t>Toiletries</a:t>
                      </a:r>
                      <a:endParaRPr sz="1100"/>
                    </a:p>
                  </a:txBody>
                  <a:tcPr marL="1028700" marR="9525" marT="9525" marB="0" anchor="ctr"/>
                </a:tc>
              </a:tr>
              <a:tr h="175260">
                <a:tc>
                  <a:txBody>
                    <a:bodyPr wrap="square"/>
                    <a:lstStyle/>
                    <a:p>
                      <a:pPr algn="l"/>
                      <a:r>
                        <a:rPr sz="1100" b="0" i="1">
                          <a:solidFill>
                            <a:srgbClr val="000000"/>
                          </a:solidFill>
                          <a:latin typeface="Calibri"/>
                        </a:rPr>
                        <a:t>5.5.8.3.</a:t>
                      </a:r>
                      <a:r>
                        <a:rPr sz="700" b="0" i="1">
                          <a:solidFill>
                            <a:srgbClr val="000000"/>
                          </a:solidFill>
                          <a:latin typeface="Times New Roman"/>
                        </a:rPr>
                        <a:t>    </a:t>
                      </a:r>
                      <a:r>
                        <a:rPr sz="1100" b="0" i="1">
                          <a:solidFill>
                            <a:srgbClr val="000000"/>
                          </a:solidFill>
                          <a:latin typeface="Calibri"/>
                        </a:rPr>
                        <a:t>Beauty Products</a:t>
                      </a:r>
                      <a:endParaRPr sz="1100"/>
                    </a:p>
                  </a:txBody>
                  <a:tcPr marL="1028700"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6.5.1.1.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6.5.1.2.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r h="175260">
                <a:tc>
                  <a:txBody>
                    <a:bodyPr wrap="square"/>
                    <a:lstStyle/>
                    <a:p>
                      <a:pPr algn="l"/>
                      <a:r>
                        <a:rPr sz="1100" b="0" i="1">
                          <a:solidFill>
                            <a:srgbClr val="000000"/>
                          </a:solidFill>
                          <a:latin typeface="Calibri"/>
                        </a:rPr>
                        <a:t>6.5.2.1.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6.5.2.2.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6.5.2.3.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6.5.3.1.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6.5.3.2.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6.5.3.3.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tr>
              <a:tr h="175260">
                <a:tc>
                  <a:txBody>
                    <a:bodyPr wrap="square"/>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6.5.4.1.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6.5.4.2.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6.5.4.3.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6.5.4.4.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r h="175260">
                <a:tc>
                  <a:txBody>
                    <a:bodyPr wrap="square"/>
                    <a:lstStyle/>
                    <a:p>
                      <a:pPr algn="l"/>
                      <a:r>
                        <a:rPr sz="1100" b="0" i="1">
                          <a:solidFill>
                            <a:srgbClr val="000000"/>
                          </a:solidFill>
                          <a:latin typeface="Calibri"/>
                        </a:rPr>
                        <a:t>6.5.4.5.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6.5.4.6.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6.5.4.7.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6.5.4.8.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r h="175260">
                <a:tc>
                  <a:txBody>
                    <a:bodyPr wrap="square"/>
                    <a:lstStyle/>
                    <a:p>
                      <a:pPr algn="l"/>
                      <a:r>
                        <a:rPr sz="1100" b="0" i="1">
                          <a:solidFill>
                            <a:srgbClr val="000000"/>
                          </a:solidFill>
                          <a:latin typeface="Calibri"/>
                        </a:rPr>
                        <a:t>6.5.4.9.</a:t>
                      </a:r>
                      <a:r>
                        <a:rPr sz="700" b="0" i="1">
                          <a:solidFill>
                            <a:srgbClr val="000000"/>
                          </a:solidFill>
                          <a:latin typeface="Times New Roman"/>
                        </a:rPr>
                        <a:t>    </a:t>
                      </a:r>
                      <a:r>
                        <a:rPr sz="1100" b="0" i="1">
                          <a:solidFill>
                            <a:srgbClr val="000000"/>
                          </a:solidFill>
                          <a:latin typeface="Calibri"/>
                        </a:rPr>
                        <a:t>Rest of South East Asia</a:t>
                      </a:r>
                      <a:endParaRPr sz="1100"/>
                    </a:p>
                  </a:txBody>
                  <a:tcPr marL="1028700" marR="9525" marT="9525" marB="0" anchor="ctr"/>
                </a:tc>
              </a:tr>
              <a:tr h="175260">
                <a:tc>
                  <a:txBody>
                    <a:bodyPr wrap="square"/>
                    <a:lstStyle/>
                    <a:p>
                      <a:pPr algn="l"/>
                      <a:r>
                        <a:rPr sz="1100" b="0" i="0">
                          <a:solidFill>
                            <a:srgbClr val="000000"/>
                          </a:solidFill>
                          <a:latin typeface="Calibri"/>
                        </a:rPr>
                        <a:t>6.5.5.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6.5.5.1.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6.5.5.2.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6.5.5.3.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6.5.5.4.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6.5.5.5.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6.5.5.6.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6.5.5.7.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6.5.5.8.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6.5.5.9.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6.5.5.10.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6.5.5.11.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6.5.5.12.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r h="175260">
                <a:tc>
                  <a:txBody>
                    <a:bodyPr wrap="square"/>
                    <a:lstStyle/>
                    <a:p>
                      <a:pPr algn="l"/>
                      <a:r>
                        <a:rPr sz="1100" b="0" i="0">
                          <a:solidFill>
                            <a:srgbClr val="000000"/>
                          </a:solidFill>
                          <a:latin typeface="Calibri"/>
                        </a:rPr>
                        <a:t>6.5.6.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6.5.6.1.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6.5.6.2.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6.5.6.3.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6.5.6.4.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6.5.6.5.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6.5.6.6.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6.5.6.7.</a:t>
                      </a:r>
                      <a:r>
                        <a:rPr sz="700" b="0" i="1">
                          <a:solidFill>
                            <a:srgbClr val="000000"/>
                          </a:solidFill>
                          <a:latin typeface="Times New Roman"/>
                        </a:rPr>
                        <a:t>    </a:t>
                      </a:r>
                      <a:r>
                        <a:rPr sz="1100" b="0" i="1">
                          <a:solidFill>
                            <a:srgbClr val="000000"/>
                          </a:solidFill>
                          <a:latin typeface="Calibri"/>
                        </a:rPr>
                        <a:t>Rest if MEA</a:t>
                      </a:r>
                      <a:endParaRPr sz="1100"/>
                    </a:p>
                  </a:txBody>
                  <a:tcPr marL="1028700" marR="9525" marT="9525" marB="0" anchor="ctr"/>
                </a:tc>
              </a:tr>
              <a:tr h="350520">
                <a:tc>
                  <a:txBody>
                    <a:bodyPr wrap="square"/>
                    <a:lstStyle/>
                    <a:p>
                      <a:pPr algn="l"/>
                      <a:r>
                        <a:rPr sz="1100" b="0" i="1">
                          <a:solidFill>
                            <a:srgbClr val="EE0000"/>
                          </a:solidFill>
                          <a:latin typeface="Calibri"/>
                        </a:rPr>
                        <a:t>Note: Value &amp; Volume (US$ Mn / UNITS)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Product Type × End-Use Industry</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End-Use Industry × Material</a:t>
                      </a:r>
                      <a:endParaRPr sz="1100"/>
                    </a:p>
                  </a:txBody>
                  <a:tcPr marL="428625" marR="9525" marT="9525" marB="0" anchor="ctr"/>
                </a:tc>
              </a:tr>
              <a:tr h="175260">
                <a:tc>
                  <a:txBody>
                    <a:bodyPr wrap="square"/>
                    <a:lstStyle/>
                    <a:p>
                      <a:pPr algn="l"/>
                      <a:r>
                        <a:rPr sz="1100" b="0" i="1">
                          <a:solidFill>
                            <a:srgbClr val="EE0000"/>
                          </a:solidFill>
                          <a:latin typeface="Calibri"/>
                        </a:rPr>
                        <a:t>Note: Cross Sectional Assessment shall be provided on custom request</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8.4.1.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8.4.2.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8.4.3.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9.4.1.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9.4.2.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9.4.3.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10.4.1.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10.4.2.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10.4.3.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11.4.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11.4.1.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11.4.2.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11.4.3.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12.4.1.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12.4.2.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12.4.3.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13.4.1.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13.4.2.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13.4.3.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Regional Price Assessment</a:t>
                      </a:r>
                      <a:endParaRPr sz="1100"/>
                    </a:p>
                  </a:txBody>
                  <a:tcPr marL="428625" marR="9525" marT="9525" marB="0" anchor="ctr"/>
                </a:tc>
              </a:tr>
              <a:tr h="175260">
                <a:tc>
                  <a:txBody>
                    <a:bodyPr wrap="square"/>
                    <a:lstStyle/>
                    <a:p>
                      <a:pPr algn="l"/>
                      <a:r>
                        <a:rPr sz="1100" b="0" i="0">
                          <a:solidFill>
                            <a:srgbClr val="000000"/>
                          </a:solidFill>
                          <a:latin typeface="Calibri"/>
                        </a:rPr>
                        <a:t>14.1.1.</a:t>
                      </a:r>
                      <a:r>
                        <a:rPr sz="700" b="0" i="0">
                          <a:solidFill>
                            <a:srgbClr val="000000"/>
                          </a:solidFill>
                          <a:latin typeface="Times New Roman"/>
                        </a:rPr>
                        <a:t> </a:t>
                      </a:r>
                      <a:r>
                        <a:rPr sz="1100" b="0" i="0">
                          <a:solidFill>
                            <a:srgbClr val="000000"/>
                          </a:solidFill>
                          <a:latin typeface="Calibri"/>
                        </a:rPr>
                        <a:t>Manufacturer Level Pricing</a:t>
                      </a:r>
                      <a:endParaRPr sz="1100"/>
                    </a:p>
                  </a:txBody>
                  <a:tcPr marL="771525" marR="9525" marT="9525" marB="0" anchor="ctr"/>
                </a:tc>
              </a:tr>
              <a:tr h="175260">
                <a:tc>
                  <a:txBody>
                    <a:bodyPr wrap="square"/>
                    <a:lstStyle/>
                    <a:p>
                      <a:pPr algn="l"/>
                      <a:r>
                        <a:rPr sz="1100" b="0" i="0">
                          <a:solidFill>
                            <a:srgbClr val="000000"/>
                          </a:solidFill>
                          <a:latin typeface="Calibri"/>
                        </a:rPr>
                        <a:t>14.1.2.</a:t>
                      </a:r>
                      <a:r>
                        <a:rPr sz="700" b="0" i="0">
                          <a:solidFill>
                            <a:srgbClr val="000000"/>
                          </a:solidFill>
                          <a:latin typeface="Times New Roman"/>
                        </a:rPr>
                        <a:t> </a:t>
                      </a:r>
                      <a:r>
                        <a:rPr sz="1100" b="0" i="0">
                          <a:solidFill>
                            <a:srgbClr val="000000"/>
                          </a:solidFill>
                          <a:latin typeface="Calibri"/>
                        </a:rPr>
                        <a:t>Distributor Level Pricing</a:t>
                      </a:r>
                      <a:endParaRPr sz="1100"/>
                    </a:p>
                  </a:txBody>
                  <a:tcPr marL="771525" marR="9525" marT="9525" marB="0" anchor="ctr"/>
                </a:tc>
              </a:tr>
              <a:tr h="175260">
                <a:tc>
                  <a:txBody>
                    <a:bodyPr wrap="square"/>
                    <a:lstStyle/>
                    <a:p>
                      <a:pPr algn="l"/>
                      <a:r>
                        <a:rPr sz="1100" b="0" i="0">
                          <a:solidFill>
                            <a:srgbClr val="000000"/>
                          </a:solidFill>
                          <a:latin typeface="Calibri"/>
                        </a:rPr>
                        <a:t>14.1.3.</a:t>
                      </a:r>
                      <a:r>
                        <a:rPr sz="700" b="0" i="0">
                          <a:solidFill>
                            <a:srgbClr val="000000"/>
                          </a:solidFill>
                          <a:latin typeface="Times New Roman"/>
                        </a:rPr>
                        <a:t> </a:t>
                      </a:r>
                      <a:r>
                        <a:rPr sz="1100" b="0" i="0">
                          <a:solidFill>
                            <a:srgbClr val="000000"/>
                          </a:solidFill>
                          <a:latin typeface="Calibri"/>
                        </a:rPr>
                        <a:t>Retail Pricing (where applicable)</a:t>
                      </a:r>
                      <a:endParaRPr sz="1100"/>
                    </a:p>
                  </a:txBody>
                  <a:tcPr marL="7715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Segment-wise Price Comparison (Product Type vs Material)</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Country-wise Price Comparison (Product Type)</a:t>
                      </a:r>
                      <a:endParaRPr sz="1100"/>
                    </a:p>
                  </a:txBody>
                  <a:tcPr marL="428625" marR="9525" marT="9525" marB="0" anchor="ctr"/>
                </a:tc>
              </a:tr>
              <a:tr h="175260">
                <a:tc>
                  <a:txBody>
                    <a:bodyPr wrap="square"/>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14.5.</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14.6.</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1" i="0">
                          <a:solidFill>
                            <a:srgbClr val="000000"/>
                          </a:solidFill>
                          <a:latin typeface="Calibri"/>
                        </a:rPr>
                        <a:t>Section 4: Market Dynamics</a:t>
                      </a:r>
                      <a:endParaRPr sz="1100"/>
                    </a:p>
                  </a:txBody>
                  <a:tcPr marL="95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15.1.1.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15.1.2.</a:t>
                      </a:r>
                      <a:r>
                        <a:rPr sz="700" b="0" i="0">
                          <a:solidFill>
                            <a:srgbClr val="000000"/>
                          </a:solidFill>
                          <a:latin typeface="Times New Roman"/>
                        </a:rPr>
                        <a:t> </a:t>
                      </a:r>
                      <a:r>
                        <a:rPr sz="1100" b="0" i="0">
                          <a:solidFill>
                            <a:srgbClr val="000000"/>
                          </a:solidFill>
                          <a:latin typeface="Calibri"/>
                        </a:rPr>
                        <a:t>Technology Collaboration</a:t>
                      </a:r>
                      <a:endParaRPr sz="1100"/>
                    </a:p>
                  </a:txBody>
                  <a:tcPr marL="771525" marR="9525" marT="9525" marB="0" anchor="ctr"/>
                </a:tc>
              </a:tr>
              <a:tr h="175260">
                <a:tc>
                  <a:txBody>
                    <a:bodyPr wrap="square"/>
                    <a:lstStyle/>
                    <a:p>
                      <a:pPr algn="l"/>
                      <a:r>
                        <a:rPr sz="1100" b="0" i="0">
                          <a:solidFill>
                            <a:srgbClr val="000000"/>
                          </a:solidFill>
                          <a:latin typeface="Calibri"/>
                        </a:rPr>
                        <a:t>15.1.3.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Stakeholder Perspectives – Manufacturer, Customer &amp; Distributor Insights</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Stakeholder Insights</a:t>
                      </a:r>
                      <a:endParaRPr sz="1100"/>
                    </a:p>
                  </a:txBody>
                  <a:tcPr marL="428625" marR="9525" marT="9525" marB="0" anchor="ctr"/>
                </a:tc>
              </a:tr>
              <a:tr h="175260">
                <a:tc>
                  <a:txBody>
                    <a:bodyPr wrap="square"/>
                    <a:lstStyle/>
                    <a:p>
                      <a:pPr algn="l"/>
                      <a:r>
                        <a:rPr sz="1100" b="0" i="0">
                          <a:solidFill>
                            <a:srgbClr val="000000"/>
                          </a:solidFill>
                          <a:latin typeface="Calibri"/>
                        </a:rPr>
                        <a:t>16.1.1.</a:t>
                      </a:r>
                      <a:r>
                        <a:rPr sz="700" b="0" i="0">
                          <a:solidFill>
                            <a:srgbClr val="000000"/>
                          </a:solidFill>
                          <a:latin typeface="Times New Roman"/>
                        </a:rPr>
                        <a:t> </a:t>
                      </a:r>
                      <a:r>
                        <a:rPr sz="1100" b="0" i="0">
                          <a:solidFill>
                            <a:srgbClr val="000000"/>
                          </a:solidFill>
                          <a:latin typeface="Calibri"/>
                        </a:rPr>
                        <a:t>Manufacturers</a:t>
                      </a:r>
                      <a:endParaRPr sz="1100"/>
                    </a:p>
                  </a:txBody>
                  <a:tcPr marL="771525" marR="9525" marT="9525" marB="0" anchor="ctr"/>
                </a:tc>
              </a:tr>
              <a:tr h="175260">
                <a:tc>
                  <a:txBody>
                    <a:bodyPr wrap="square"/>
                    <a:lstStyle/>
                    <a:p>
                      <a:pPr algn="l"/>
                      <a:r>
                        <a:rPr sz="1100" b="0" i="0">
                          <a:solidFill>
                            <a:srgbClr val="000000"/>
                          </a:solidFill>
                          <a:latin typeface="Calibri"/>
                        </a:rPr>
                        <a:t>16.1.2.</a:t>
                      </a:r>
                      <a:r>
                        <a:rPr sz="700" b="0" i="0">
                          <a:solidFill>
                            <a:srgbClr val="000000"/>
                          </a:solidFill>
                          <a:latin typeface="Times New Roman"/>
                        </a:rPr>
                        <a:t> </a:t>
                      </a:r>
                      <a:r>
                        <a:rPr sz="1100" b="0" i="0">
                          <a:solidFill>
                            <a:srgbClr val="000000"/>
                          </a:solidFill>
                          <a:latin typeface="Calibri"/>
                        </a:rPr>
                        <a:t>Customers</a:t>
                      </a:r>
                      <a:endParaRPr sz="1100"/>
                    </a:p>
                  </a:txBody>
                  <a:tcPr marL="771525" marR="9525" marT="9525" marB="0" anchor="ctr"/>
                </a:tc>
              </a:tr>
              <a:tr h="175260">
                <a:tc>
                  <a:txBody>
                    <a:bodyPr wrap="square"/>
                    <a:lstStyle/>
                    <a:p>
                      <a:pPr algn="l"/>
                      <a:r>
                        <a:rPr sz="1100" b="0" i="0">
                          <a:solidFill>
                            <a:srgbClr val="000000"/>
                          </a:solidFill>
                          <a:latin typeface="Calibri"/>
                        </a:rPr>
                        <a:t>16.1.3.</a:t>
                      </a:r>
                      <a:r>
                        <a:rPr sz="700" b="0" i="0">
                          <a:solidFill>
                            <a:srgbClr val="000000"/>
                          </a:solidFill>
                          <a:latin typeface="Times New Roman"/>
                        </a:rPr>
                        <a:t> </a:t>
                      </a:r>
                      <a:r>
                        <a:rPr sz="1100" b="0" i="0">
                          <a:solidFill>
                            <a:srgbClr val="000000"/>
                          </a:solidFill>
                          <a:latin typeface="Calibri"/>
                        </a:rPr>
                        <a:t>Distributors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16.2.1.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r h="175260">
                <a:tc>
                  <a:txBody>
                    <a:bodyPr wrap="square"/>
                    <a:lstStyle/>
                    <a:p>
                      <a:pPr algn="l"/>
                      <a:r>
                        <a:rPr sz="1100" b="0" i="0">
                          <a:solidFill>
                            <a:srgbClr val="000000"/>
                          </a:solidFill>
                          <a:latin typeface="Calibri"/>
                        </a:rPr>
                        <a:t>16.2.2.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16.2.3.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16.5.</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16.6.</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70C0"/>
                          </a:solidFill>
                          <a:latin typeface="Calibri"/>
                        </a:rPr>
                        <a:t>16.7.</a:t>
                      </a:r>
                      <a:r>
                        <a:rPr sz="700" b="0" i="0">
                          <a:solidFill>
                            <a:srgbClr val="0070C0"/>
                          </a:solidFill>
                          <a:latin typeface="Times New Roman"/>
                        </a:rPr>
                        <a:t>  </a:t>
                      </a:r>
                      <a:r>
                        <a:rPr sz="1100" b="0" i="0">
                          <a:solidFill>
                            <a:srgbClr val="0070C0"/>
                          </a:solidFill>
                          <a:latin typeface="Calibri"/>
                        </a:rPr>
                        <a:t>Regional Macro-&amp; Micro Economic Indicators</a:t>
                      </a:r>
                      <a:endParaRPr sz="1100"/>
                    </a:p>
                  </a:txBody>
                  <a:tcPr marL="428625" marR="9525" marT="9525" marB="0" anchor="ctr"/>
                </a:tc>
              </a:tr>
              <a:tr h="175260">
                <a:tc>
                  <a:txBody>
                    <a:bodyPr wrap="square"/>
                    <a:lstStyle/>
                    <a:p>
                      <a:pPr algn="l"/>
                      <a:r>
                        <a:rPr sz="1100" b="0" i="0">
                          <a:solidFill>
                            <a:srgbClr val="0070C0"/>
                          </a:solidFill>
                          <a:latin typeface="Calibri"/>
                        </a:rPr>
                        <a:t>16.8.</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16.9.</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Regulations</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Certifications and Certifying Agency Overview</a:t>
                      </a:r>
                      <a:endParaRPr sz="1100"/>
                    </a:p>
                  </a:txBody>
                  <a:tcPr marL="4286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Import/Export Policies</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Formula Requirements</a:t>
                      </a:r>
                      <a:endParaRPr sz="1100"/>
                    </a:p>
                  </a:txBody>
                  <a:tcPr marL="428625" marR="9525" marT="9525" marB="0" anchor="ctr"/>
                </a:tc>
              </a:tr>
              <a:tr h="175260">
                <a:tc>
                  <a:txBody>
                    <a:bodyPr wrap="square"/>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Standards as per institutions</a:t>
                      </a:r>
                      <a:endParaRPr sz="1100"/>
                    </a:p>
                  </a:txBody>
                  <a:tcPr marL="428625" marR="9525" marT="9525" marB="0" anchor="ctr"/>
                </a:tc>
              </a:tr>
              <a:tr h="175260">
                <a:tc>
                  <a:txBody>
                    <a:bodyPr wrap="square"/>
                    <a:lstStyle/>
                    <a:p>
                      <a:pPr algn="l"/>
                      <a:r>
                        <a:rPr sz="1100" b="0" i="0">
                          <a:solidFill>
                            <a:srgbClr val="000000"/>
                          </a:solidFill>
                          <a:latin typeface="Calibri"/>
                        </a:rPr>
                        <a:t>17.4.1.</a:t>
                      </a:r>
                      <a:r>
                        <a:rPr sz="700" b="0" i="0">
                          <a:solidFill>
                            <a:srgbClr val="000000"/>
                          </a:solidFill>
                          <a:latin typeface="Times New Roman"/>
                        </a:rPr>
                        <a:t> </a:t>
                      </a:r>
                      <a:r>
                        <a:rPr sz="1100" b="0" i="0">
                          <a:solidFill>
                            <a:srgbClr val="000000"/>
                          </a:solidFill>
                          <a:latin typeface="Calibri"/>
                        </a:rPr>
                        <a:t>FDA</a:t>
                      </a:r>
                      <a:endParaRPr sz="1100"/>
                    </a:p>
                  </a:txBody>
                  <a:tcPr marL="771525" marR="9525" marT="9525" marB="0" anchor="ctr"/>
                </a:tc>
              </a:tr>
              <a:tr h="175260">
                <a:tc>
                  <a:txBody>
                    <a:bodyPr wrap="square"/>
                    <a:lstStyle/>
                    <a:p>
                      <a:pPr algn="l"/>
                      <a:r>
                        <a:rPr sz="1100" b="0" i="0">
                          <a:solidFill>
                            <a:srgbClr val="000000"/>
                          </a:solidFill>
                          <a:latin typeface="Calibri"/>
                        </a:rPr>
                        <a:t>17.4.2.</a:t>
                      </a:r>
                      <a:r>
                        <a:rPr sz="700" b="0" i="0">
                          <a:solidFill>
                            <a:srgbClr val="000000"/>
                          </a:solidFill>
                          <a:latin typeface="Times New Roman"/>
                        </a:rPr>
                        <a:t> </a:t>
                      </a:r>
                      <a:r>
                        <a:rPr sz="1100" b="0" i="0">
                          <a:solidFill>
                            <a:srgbClr val="000000"/>
                          </a:solidFill>
                          <a:latin typeface="Calibri"/>
                        </a:rPr>
                        <a:t>USDA</a:t>
                      </a:r>
                      <a:endParaRPr sz="1100"/>
                    </a:p>
                  </a:txBody>
                  <a:tcPr marL="771525" marR="9525" marT="9525" marB="0" anchor="ctr"/>
                </a:tc>
              </a:tr>
              <a:tr h="175260">
                <a:tc>
                  <a:txBody>
                    <a:bodyPr wrap="square"/>
                    <a:lstStyle/>
                    <a:p>
                      <a:pPr algn="l"/>
                      <a:r>
                        <a:rPr sz="1100" b="0" i="0">
                          <a:solidFill>
                            <a:srgbClr val="000000"/>
                          </a:solidFill>
                          <a:latin typeface="Calibri"/>
                        </a:rPr>
                        <a:t>17.4.3.</a:t>
                      </a:r>
                      <a:r>
                        <a:rPr sz="700" b="0" i="0">
                          <a:solidFill>
                            <a:srgbClr val="000000"/>
                          </a:solidFill>
                          <a:latin typeface="Times New Roman"/>
                        </a:rPr>
                        <a:t> </a:t>
                      </a:r>
                      <a:r>
                        <a:rPr sz="1100" b="0" i="0">
                          <a:solidFill>
                            <a:srgbClr val="000000"/>
                          </a:solidFill>
                          <a:latin typeface="Calibri"/>
                        </a:rPr>
                        <a:t>FASSAI</a:t>
                      </a:r>
                      <a:endParaRPr sz="1100"/>
                    </a:p>
                  </a:txBody>
                  <a:tcPr marL="771525" marR="9525" marT="9525" marB="0" anchor="ctr"/>
                </a:tc>
              </a:tr>
              <a:tr h="175260">
                <a:tc>
                  <a:txBody>
                    <a:bodyPr wrap="square"/>
                    <a:lstStyle/>
                    <a:p>
                      <a:pPr algn="l"/>
                      <a:r>
                        <a:rPr sz="1100" b="0" i="0">
                          <a:solidFill>
                            <a:srgbClr val="000000"/>
                          </a:solidFill>
                          <a:latin typeface="Calibri"/>
                        </a:rPr>
                        <a:t>17.4.4.</a:t>
                      </a:r>
                      <a:r>
                        <a:rPr sz="700" b="0" i="0">
                          <a:solidFill>
                            <a:srgbClr val="000000"/>
                          </a:solidFill>
                          <a:latin typeface="Times New Roman"/>
                        </a:rPr>
                        <a:t> </a:t>
                      </a:r>
                      <a:r>
                        <a:rPr sz="1100" b="0" i="0">
                          <a:solidFill>
                            <a:srgbClr val="000000"/>
                          </a:solidFill>
                          <a:latin typeface="Calibri"/>
                        </a:rPr>
                        <a:t>EU Commissions</a:t>
                      </a:r>
                      <a:endParaRPr sz="1100"/>
                    </a:p>
                  </a:txBody>
                  <a:tcPr marL="771525" marR="9525" marT="9525" marB="0" anchor="ctr"/>
                </a:tc>
              </a:tr>
              <a:tr h="175260">
                <a:tc>
                  <a:txBody>
                    <a:bodyPr wrap="square"/>
                    <a:lstStyle/>
                    <a:p>
                      <a:pPr algn="l"/>
                      <a:r>
                        <a:rPr sz="1100" b="1" i="0">
                          <a:solidFill>
                            <a:srgbClr val="000000"/>
                          </a:solidFill>
                          <a:latin typeface="Calibri"/>
                        </a:rPr>
                        <a:t>Section 5: Production and Trade Outlook</a:t>
                      </a:r>
                      <a:endParaRPr sz="1100"/>
                    </a:p>
                  </a:txBody>
                  <a:tcPr marL="9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Global Market- Production and Trade Analysis</a:t>
                      </a:r>
                      <a:endParaRPr sz="1100"/>
                    </a:p>
                  </a:txBody>
                  <a:tcPr marL="171450" marR="9525" marT="9525" marB="0" anchor="ctr"/>
                </a:tc>
              </a:tr>
              <a:tr h="17526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Production Volume (UNITS), (2021-2026) by Region/ Country</a:t>
                      </a:r>
                      <a:endParaRPr sz="1100"/>
                    </a:p>
                  </a:txBody>
                  <a:tcPr marL="428625" marR="9525" marT="9525" marB="0" anchor="ctr"/>
                </a:tc>
              </a:tr>
              <a:tr h="17526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Exports: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18.3.</a:t>
                      </a:r>
                      <a:r>
                        <a:rPr sz="700" b="0" i="0">
                          <a:solidFill>
                            <a:srgbClr val="0070C0"/>
                          </a:solidFill>
                          <a:latin typeface="Times New Roman"/>
                        </a:rPr>
                        <a:t>  </a:t>
                      </a:r>
                      <a:r>
                        <a:rPr sz="1100" b="0" i="0">
                          <a:solidFill>
                            <a:srgbClr val="0070C0"/>
                          </a:solidFill>
                          <a:latin typeface="Calibri"/>
                        </a:rPr>
                        <a:t>Imports: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18.4.</a:t>
                      </a:r>
                      <a:r>
                        <a:rPr sz="700" b="0" i="0">
                          <a:solidFill>
                            <a:srgbClr val="0070C0"/>
                          </a:solidFill>
                          <a:latin typeface="Times New Roman"/>
                        </a:rPr>
                        <a:t>  </a:t>
                      </a:r>
                      <a:r>
                        <a:rPr sz="1100" b="0" i="0">
                          <a:solidFill>
                            <a:srgbClr val="0070C0"/>
                          </a:solidFill>
                          <a:latin typeface="Calibri"/>
                        </a:rPr>
                        <a:t>Global Supply-Demand Overview (Prod., Sales, Import, Export)</a:t>
                      </a:r>
                      <a:endParaRPr sz="1100"/>
                    </a:p>
                  </a:txBody>
                  <a:tcPr marL="4286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19.1.1.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19.1.2.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19.3.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19.3.1.</a:t>
                      </a:r>
                      <a:r>
                        <a:rPr sz="700" b="0" i="0">
                          <a:solidFill>
                            <a:srgbClr val="000000"/>
                          </a:solidFill>
                          <a:latin typeface="Times New Roman"/>
                        </a:rPr>
                        <a:t> </a:t>
                      </a:r>
                      <a:r>
                        <a:rPr sz="1100" b="0" i="0">
                          <a:solidFill>
                            <a:srgbClr val="000000"/>
                          </a:solidFill>
                          <a:latin typeface="Calibri"/>
                        </a:rPr>
                        <a:t>Product Manufacturers/ Key Brands</a:t>
                      </a:r>
                      <a:endParaRPr sz="1100"/>
                    </a:p>
                  </a:txBody>
                  <a:tcPr marL="771525" marR="9525" marT="9525" marB="0" anchor="ctr"/>
                </a:tc>
              </a:tr>
              <a:tr h="175260">
                <a:tc>
                  <a:txBody>
                    <a:bodyPr wrap="square"/>
                    <a:lstStyle/>
                    <a:p>
                      <a:pPr algn="l"/>
                      <a:r>
                        <a:rPr sz="1100" b="0" i="0">
                          <a:solidFill>
                            <a:srgbClr val="000000"/>
                          </a:solidFill>
                          <a:latin typeface="Calibri"/>
                        </a:rPr>
                        <a:t>19.3.2.</a:t>
                      </a:r>
                      <a:r>
                        <a:rPr sz="700" b="0" i="0">
                          <a:solidFill>
                            <a:srgbClr val="000000"/>
                          </a:solidFill>
                          <a:latin typeface="Times New Roman"/>
                        </a:rPr>
                        <a:t> </a:t>
                      </a:r>
                      <a:r>
                        <a:rPr sz="1100" b="0" i="0">
                          <a:solidFill>
                            <a:srgbClr val="000000"/>
                          </a:solidFill>
                          <a:latin typeface="Calibri"/>
                        </a:rPr>
                        <a:t>Distributors/Suppliers</a:t>
                      </a:r>
                      <a:endParaRPr sz="1100"/>
                    </a:p>
                  </a:txBody>
                  <a:tcPr marL="771525" marR="9525" marT="9525" marB="0" anchor="ctr"/>
                </a:tc>
              </a:tr>
              <a:tr h="175260">
                <a:tc>
                  <a:txBody>
                    <a:bodyPr wrap="square"/>
                    <a:lstStyle/>
                    <a:p>
                      <a:pPr algn="l"/>
                      <a:r>
                        <a:rPr sz="1100" b="0" i="0">
                          <a:solidFill>
                            <a:srgbClr val="000000"/>
                          </a:solidFill>
                          <a:latin typeface="Calibri"/>
                        </a:rPr>
                        <a:t>19.3.3.</a:t>
                      </a:r>
                      <a:r>
                        <a:rPr sz="700" b="0" i="0">
                          <a:solidFill>
                            <a:srgbClr val="000000"/>
                          </a:solidFill>
                          <a:latin typeface="Times New Roman"/>
                        </a:rPr>
                        <a:t> </a:t>
                      </a:r>
                      <a:r>
                        <a:rPr sz="1100" b="0" i="0">
                          <a:solidFill>
                            <a:srgbClr val="000000"/>
                          </a:solidFill>
                          <a:latin typeface="Calibri"/>
                        </a:rPr>
                        <a:t>End Users</a:t>
                      </a:r>
                      <a:endParaRPr sz="1100"/>
                    </a:p>
                  </a:txBody>
                  <a:tcPr marL="771525" marR="9525" marT="9525" marB="0" anchor="ctr"/>
                </a:tc>
              </a:tr>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7: Competition Assessment</a:t>
                      </a:r>
                      <a:endParaRPr sz="1100"/>
                    </a:p>
                  </a:txBody>
                  <a:tcPr marL="95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Company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By Region</a:t>
                      </a:r>
                      <a:endParaRPr sz="1100"/>
                    </a:p>
                  </a:txBody>
                  <a:tcPr marL="428625" marR="9525" marT="9525" marB="0" anchor="ctr"/>
                </a:tc>
              </a:tr>
              <a:tr h="17526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By End Use Application/ Sales Channel</a:t>
                      </a:r>
                      <a:endParaRPr sz="1100"/>
                    </a:p>
                  </a:txBody>
                  <a:tcPr marL="4286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Company Share Breakdown (2026)</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Company Profile- MNCs</a:t>
                      </a:r>
                      <a:endParaRPr sz="1100"/>
                    </a:p>
                  </a:txBody>
                  <a:tcPr marL="171450" marR="9525" marT="9525" marB="0" anchor="ctr"/>
                </a:tc>
              </a:tr>
              <a:tr h="175260">
                <a:tc>
                  <a:txBody>
                    <a:bodyPr wrap="square"/>
                    <a:lstStyle/>
                    <a:p>
                      <a:pPr algn="l"/>
                      <a:r>
                        <a:rPr sz="1100" b="0" i="0">
                          <a:solidFill>
                            <a:srgbClr val="0070C0"/>
                          </a:solidFill>
                          <a:latin typeface="Calibri"/>
                        </a:rPr>
                        <a:t>23.1.</a:t>
                      </a:r>
                      <a:r>
                        <a:rPr sz="700" b="0" i="0">
                          <a:solidFill>
                            <a:srgbClr val="0070C0"/>
                          </a:solidFill>
                          <a:latin typeface="Times New Roman"/>
                        </a:rPr>
                        <a:t>  </a:t>
                      </a:r>
                      <a:r>
                        <a:rPr sz="1100" b="0" i="0">
                          <a:solidFill>
                            <a:srgbClr val="0070C0"/>
                          </a:solidFill>
                          <a:latin typeface="Calibri"/>
                        </a:rPr>
                        <a:t>Amcor plc</a:t>
                      </a:r>
                      <a:endParaRPr sz="1100"/>
                    </a:p>
                  </a:txBody>
                  <a:tcPr marL="428625" marR="9525" marT="9525" marB="0" anchor="ctr"/>
                </a:tc>
              </a:tr>
              <a:tr h="175260">
                <a:tc>
                  <a:txBody>
                    <a:bodyPr wrap="square"/>
                    <a:lstStyle/>
                    <a:p>
                      <a:pPr algn="l"/>
                      <a:r>
                        <a:rPr sz="1100" b="0" i="0">
                          <a:solidFill>
                            <a:srgbClr val="000000"/>
                          </a:solidFill>
                          <a:latin typeface="Calibri"/>
                        </a:rPr>
                        <a:t>23.1.1.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23.1.2.</a:t>
                      </a:r>
                      <a:r>
                        <a:rPr sz="700" b="0" i="0">
                          <a:solidFill>
                            <a:srgbClr val="000000"/>
                          </a:solidFill>
                          <a:latin typeface="Times New Roman"/>
                        </a:rPr>
                        <a:t> </a:t>
                      </a:r>
                      <a:r>
                        <a:rPr sz="1100" b="0" i="0">
                          <a:solidFill>
                            <a:srgbClr val="000000"/>
                          </a:solidFill>
                          <a:latin typeface="Calibri"/>
                        </a:rPr>
                        <a:t>Apparent Production Volume (UNITS)</a:t>
                      </a:r>
                      <a:endParaRPr sz="1100"/>
                    </a:p>
                  </a:txBody>
                  <a:tcPr marL="771525" marR="9525" marT="9525" marB="0" anchor="ctr"/>
                </a:tc>
              </a:tr>
              <a:tr h="175260">
                <a:tc>
                  <a:txBody>
                    <a:bodyPr wrap="square"/>
                    <a:lstStyle/>
                    <a:p>
                      <a:pPr algn="l"/>
                      <a:r>
                        <a:rPr sz="1100" b="0" i="0">
                          <a:solidFill>
                            <a:srgbClr val="000000"/>
                          </a:solidFill>
                          <a:latin typeface="Calibri"/>
                        </a:rPr>
                        <a:t>23.1.3.</a:t>
                      </a:r>
                      <a:r>
                        <a:rPr sz="700" b="0" i="0">
                          <a:solidFill>
                            <a:srgbClr val="000000"/>
                          </a:solidFill>
                          <a:latin typeface="Times New Roman"/>
                        </a:rPr>
                        <a:t> </a:t>
                      </a:r>
                      <a:r>
                        <a:rPr sz="1100" b="0" i="0">
                          <a:solidFill>
                            <a:srgbClr val="000000"/>
                          </a:solidFill>
                          <a:latin typeface="Calibri"/>
                        </a:rPr>
                        <a:t>Pricing Analysis (USD Per Unit) By Product Type</a:t>
                      </a:r>
                      <a:endParaRPr sz="1100"/>
                    </a:p>
                  </a:txBody>
                  <a:tcPr marL="771525" marR="9525" marT="9525" marB="0" anchor="ctr"/>
                </a:tc>
              </a:tr>
              <a:tr h="175260">
                <a:tc>
                  <a:txBody>
                    <a:bodyPr wrap="square"/>
                    <a:lstStyle/>
                    <a:p>
                      <a:pPr algn="l"/>
                      <a:r>
                        <a:rPr sz="1100" b="0" i="0">
                          <a:solidFill>
                            <a:srgbClr val="000000"/>
                          </a:solidFill>
                          <a:latin typeface="Calibri"/>
                        </a:rPr>
                        <a:t>23.1.4.</a:t>
                      </a:r>
                      <a:r>
                        <a:rPr sz="700" b="0" i="0">
                          <a:solidFill>
                            <a:srgbClr val="000000"/>
                          </a:solidFill>
                          <a:latin typeface="Times New Roman"/>
                        </a:rPr>
                        <a:t> </a:t>
                      </a:r>
                      <a:r>
                        <a:rPr sz="1100" b="0" i="0">
                          <a:solidFill>
                            <a:srgbClr val="000000"/>
                          </a:solidFill>
                          <a:latin typeface="Calibri"/>
                        </a:rPr>
                        <a:t>Revenue (USD Mn) and Market Share by Market Segments</a:t>
                      </a:r>
                      <a:endParaRPr sz="1100"/>
                    </a:p>
                  </a:txBody>
                  <a:tcPr marL="771525" marR="9525" marT="9525" marB="0" anchor="ctr"/>
                </a:tc>
              </a:tr>
              <a:tr h="175260">
                <a:tc>
                  <a:txBody>
                    <a:bodyPr wrap="square"/>
                    <a:lstStyle/>
                    <a:p>
                      <a:pPr algn="l"/>
                      <a:r>
                        <a:rPr sz="1100" b="0" i="1">
                          <a:solidFill>
                            <a:srgbClr val="000000"/>
                          </a:solidFill>
                          <a:latin typeface="Calibri"/>
                        </a:rPr>
                        <a:t>23.1.4.1.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23.1.4.2.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23.1.4.3.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23.1.5.</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23.1.6.</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23.1.6.1.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r h="175260">
                <a:tc>
                  <a:txBody>
                    <a:bodyPr wrap="square"/>
                    <a:lstStyle/>
                    <a:p>
                      <a:pPr algn="l"/>
                      <a:r>
                        <a:rPr sz="1100" b="0" i="1">
                          <a:solidFill>
                            <a:srgbClr val="000000"/>
                          </a:solidFill>
                          <a:latin typeface="Calibri"/>
                        </a:rPr>
                        <a:t>23.1.6.2.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403098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23.1.6.3.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23.1.6.4.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23.1.7.</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23.1.8.</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r h="175260">
                <a:tc>
                  <a:txBody>
                    <a:bodyPr wrap="square"/>
                    <a:lstStyle/>
                    <a:p>
                      <a:pPr algn="l"/>
                      <a:r>
                        <a:rPr sz="1100" b="0" i="0">
                          <a:solidFill>
                            <a:srgbClr val="0070C0"/>
                          </a:solidFill>
                          <a:latin typeface="Calibri"/>
                        </a:rPr>
                        <a:t>23.2.</a:t>
                      </a:r>
                      <a:r>
                        <a:rPr sz="700" b="0" i="0">
                          <a:solidFill>
                            <a:srgbClr val="0070C0"/>
                          </a:solidFill>
                          <a:latin typeface="Times New Roman"/>
                        </a:rPr>
                        <a:t>  </a:t>
                      </a:r>
                      <a:r>
                        <a:rPr sz="1100" b="0" i="0">
                          <a:solidFill>
                            <a:srgbClr val="0070C0"/>
                          </a:solidFill>
                          <a:latin typeface="Calibri"/>
                        </a:rPr>
                        <a:t>Sealed Air Corporation</a:t>
                      </a:r>
                      <a:endParaRPr sz="1100"/>
                    </a:p>
                  </a:txBody>
                  <a:tcPr marL="428625" marR="9525" marT="9525" marB="0" anchor="ctr"/>
                </a:tc>
              </a:tr>
              <a:tr h="175260">
                <a:tc>
                  <a:txBody>
                    <a:bodyPr wrap="square"/>
                    <a:lstStyle/>
                    <a:p>
                      <a:pPr algn="l"/>
                      <a:r>
                        <a:rPr sz="1100" b="0" i="0">
                          <a:solidFill>
                            <a:srgbClr val="0070C0"/>
                          </a:solidFill>
                          <a:latin typeface="Calibri"/>
                        </a:rPr>
                        <a:t>23.3.</a:t>
                      </a:r>
                      <a:r>
                        <a:rPr sz="700" b="0" i="0">
                          <a:solidFill>
                            <a:srgbClr val="0070C0"/>
                          </a:solidFill>
                          <a:latin typeface="Times New Roman"/>
                        </a:rPr>
                        <a:t>  </a:t>
                      </a:r>
                      <a:r>
                        <a:rPr sz="1100" b="0" i="0">
                          <a:solidFill>
                            <a:srgbClr val="0070C0"/>
                          </a:solidFill>
                          <a:latin typeface="Calibri"/>
                        </a:rPr>
                        <a:t>Inteplast Group</a:t>
                      </a:r>
                      <a:endParaRPr sz="1100"/>
                    </a:p>
                  </a:txBody>
                  <a:tcPr marL="428625" marR="9525" marT="9525" marB="0" anchor="ctr"/>
                </a:tc>
              </a:tr>
              <a:tr h="175260">
                <a:tc>
                  <a:txBody>
                    <a:bodyPr wrap="square"/>
                    <a:lstStyle/>
                    <a:p>
                      <a:pPr algn="l"/>
                      <a:r>
                        <a:rPr sz="1100" b="0" i="0">
                          <a:solidFill>
                            <a:srgbClr val="0070C0"/>
                          </a:solidFill>
                          <a:latin typeface="Calibri"/>
                        </a:rPr>
                        <a:t>23.4.</a:t>
                      </a:r>
                      <a:r>
                        <a:rPr sz="700" b="0" i="0">
                          <a:solidFill>
                            <a:srgbClr val="0070C0"/>
                          </a:solidFill>
                          <a:latin typeface="Times New Roman"/>
                        </a:rPr>
                        <a:t>  </a:t>
                      </a:r>
                      <a:r>
                        <a:rPr sz="1100" b="0" i="0">
                          <a:solidFill>
                            <a:srgbClr val="0070C0"/>
                          </a:solidFill>
                          <a:latin typeface="Calibri"/>
                        </a:rPr>
                        <a:t>Novolex</a:t>
                      </a:r>
                      <a:endParaRPr sz="1100"/>
                    </a:p>
                  </a:txBody>
                  <a:tcPr marL="428625" marR="9525" marT="9525" marB="0" anchor="ctr"/>
                </a:tc>
              </a:tr>
              <a:tr h="175260">
                <a:tc>
                  <a:txBody>
                    <a:bodyPr wrap="square"/>
                    <a:lstStyle/>
                    <a:p>
                      <a:pPr algn="l"/>
                      <a:r>
                        <a:rPr sz="1100" b="0" i="0">
                          <a:solidFill>
                            <a:srgbClr val="0070C0"/>
                          </a:solidFill>
                          <a:latin typeface="Calibri"/>
                        </a:rPr>
                        <a:t>23.5.</a:t>
                      </a:r>
                      <a:r>
                        <a:rPr sz="700" b="0" i="0">
                          <a:solidFill>
                            <a:srgbClr val="0070C0"/>
                          </a:solidFill>
                          <a:latin typeface="Times New Roman"/>
                        </a:rPr>
                        <a:t>  </a:t>
                      </a:r>
                      <a:r>
                        <a:rPr sz="1100" b="0" i="0">
                          <a:solidFill>
                            <a:srgbClr val="0070C0"/>
                          </a:solidFill>
                          <a:latin typeface="Calibri"/>
                        </a:rPr>
                        <a:t>Coveris</a:t>
                      </a:r>
                      <a:endParaRPr sz="1100"/>
                    </a:p>
                  </a:txBody>
                  <a:tcPr marL="428625" marR="9525" marT="9525" marB="0" anchor="ctr"/>
                </a:tc>
              </a:tr>
              <a:tr h="175260">
                <a:tc>
                  <a:txBody>
                    <a:bodyPr wrap="square"/>
                    <a:lstStyle/>
                    <a:p>
                      <a:pPr algn="l"/>
                      <a:r>
                        <a:rPr sz="1100" b="0" i="0">
                          <a:solidFill>
                            <a:srgbClr val="0070C0"/>
                          </a:solidFill>
                          <a:latin typeface="Calibri"/>
                        </a:rPr>
                        <a:t>23.6.</a:t>
                      </a:r>
                      <a:r>
                        <a:rPr sz="700" b="0" i="0">
                          <a:solidFill>
                            <a:srgbClr val="0070C0"/>
                          </a:solidFill>
                          <a:latin typeface="Times New Roman"/>
                        </a:rPr>
                        <a:t>  </a:t>
                      </a:r>
                      <a:r>
                        <a:rPr sz="1100" b="0" i="0">
                          <a:solidFill>
                            <a:srgbClr val="0070C0"/>
                          </a:solidFill>
                          <a:latin typeface="Calibri"/>
                        </a:rPr>
                        <a:t>Printpack</a:t>
                      </a:r>
                      <a:endParaRPr sz="1100"/>
                    </a:p>
                  </a:txBody>
                  <a:tcPr marL="428625" marR="9525" marT="9525" marB="0" anchor="ctr"/>
                </a:tc>
              </a:tr>
              <a:tr h="175260">
                <a:tc>
                  <a:txBody>
                    <a:bodyPr wrap="square"/>
                    <a:lstStyle/>
                    <a:p>
                      <a:pPr algn="l"/>
                      <a:r>
                        <a:rPr sz="1100" b="0" i="0">
                          <a:solidFill>
                            <a:srgbClr val="0070C0"/>
                          </a:solidFill>
                          <a:latin typeface="Calibri"/>
                        </a:rPr>
                        <a:t>23.7.</a:t>
                      </a:r>
                      <a:r>
                        <a:rPr sz="700" b="0" i="0">
                          <a:solidFill>
                            <a:srgbClr val="0070C0"/>
                          </a:solidFill>
                          <a:latin typeface="Times New Roman"/>
                        </a:rPr>
                        <a:t>  </a:t>
                      </a:r>
                      <a:r>
                        <a:rPr sz="1100" b="0" i="0">
                          <a:solidFill>
                            <a:srgbClr val="0070C0"/>
                          </a:solidFill>
                          <a:latin typeface="Calibri"/>
                        </a:rPr>
                        <a:t>Winpak Ltd.</a:t>
                      </a:r>
                      <a:endParaRPr sz="1100"/>
                    </a:p>
                  </a:txBody>
                  <a:tcPr marL="428625" marR="9525" marT="9525" marB="0" anchor="ctr"/>
                </a:tc>
              </a:tr>
              <a:tr h="175260">
                <a:tc>
                  <a:txBody>
                    <a:bodyPr wrap="square"/>
                    <a:lstStyle/>
                    <a:p>
                      <a:pPr algn="l"/>
                      <a:r>
                        <a:rPr sz="1100" b="0" i="0">
                          <a:solidFill>
                            <a:srgbClr val="0070C0"/>
                          </a:solidFill>
                          <a:latin typeface="Calibri"/>
                        </a:rPr>
                        <a:t>23.8.</a:t>
                      </a:r>
                      <a:r>
                        <a:rPr sz="700" b="0" i="0">
                          <a:solidFill>
                            <a:srgbClr val="0070C0"/>
                          </a:solidFill>
                          <a:latin typeface="Times New Roman"/>
                        </a:rPr>
                        <a:t>  </a:t>
                      </a:r>
                      <a:r>
                        <a:rPr sz="1100" b="0" i="0">
                          <a:solidFill>
                            <a:srgbClr val="0070C0"/>
                          </a:solidFill>
                          <a:latin typeface="Calibri"/>
                        </a:rPr>
                        <a:t>Huhtamaki</a:t>
                      </a:r>
                      <a:endParaRPr sz="1100"/>
                    </a:p>
                  </a:txBody>
                  <a:tcPr marL="428625" marR="9525" marT="9525" marB="0" anchor="ctr"/>
                </a:tc>
              </a:tr>
              <a:tr h="175260">
                <a:tc>
                  <a:txBody>
                    <a:bodyPr wrap="square"/>
                    <a:lstStyle/>
                    <a:p>
                      <a:pPr algn="l"/>
                      <a:r>
                        <a:rPr sz="1100" b="0" i="0">
                          <a:solidFill>
                            <a:srgbClr val="0070C0"/>
                          </a:solidFill>
                          <a:latin typeface="Calibri"/>
                        </a:rPr>
                        <a:t>23.9.</a:t>
                      </a:r>
                      <a:r>
                        <a:rPr sz="700" b="0" i="0">
                          <a:solidFill>
                            <a:srgbClr val="0070C0"/>
                          </a:solidFill>
                          <a:latin typeface="Times New Roman"/>
                        </a:rPr>
                        <a:t>  </a:t>
                      </a:r>
                      <a:r>
                        <a:rPr sz="1100" b="0" i="0">
                          <a:solidFill>
                            <a:srgbClr val="0070C0"/>
                          </a:solidFill>
                          <a:latin typeface="Calibri"/>
                        </a:rPr>
                        <a:t>Berry Global Group</a:t>
                      </a:r>
                      <a:endParaRPr sz="1100"/>
                    </a:p>
                  </a:txBody>
                  <a:tcPr marL="428625" marR="9525" marT="9525" marB="0" anchor="ctr"/>
                </a:tc>
              </a:tr>
              <a:tr h="175260">
                <a:tc>
                  <a:txBody>
                    <a:bodyPr wrap="square"/>
                    <a:lstStyle/>
                    <a:p>
                      <a:pPr algn="l"/>
                      <a:r>
                        <a:rPr sz="1100" b="0" i="0">
                          <a:solidFill>
                            <a:srgbClr val="0070C0"/>
                          </a:solidFill>
                          <a:latin typeface="Calibri"/>
                        </a:rPr>
                        <a:t>23.10.</a:t>
                      </a:r>
                      <a:r>
                        <a:rPr sz="700" b="0" i="0">
                          <a:solidFill>
                            <a:srgbClr val="0070C0"/>
                          </a:solidFill>
                          <a:latin typeface="Times New Roman"/>
                        </a:rPr>
                        <a:t> </a:t>
                      </a:r>
                      <a:r>
                        <a:rPr sz="1100" b="0" i="0">
                          <a:solidFill>
                            <a:srgbClr val="0070C0"/>
                          </a:solidFill>
                          <a:latin typeface="Calibri"/>
                        </a:rPr>
                        <a:t>Mondi Group</a:t>
                      </a:r>
                      <a:endParaRPr sz="1100"/>
                    </a:p>
                  </a:txBody>
                  <a:tcPr marL="428625" marR="9525" marT="9525" marB="0" anchor="ctr"/>
                </a:tc>
              </a:tr>
              <a:tr h="175260">
                <a:tc>
                  <a:txBody>
                    <a:bodyPr wrap="square"/>
                    <a:lstStyle/>
                    <a:p>
                      <a:pPr algn="l"/>
                      <a:r>
                        <a:rPr sz="1100" b="0" i="0">
                          <a:solidFill>
                            <a:srgbClr val="0070C0"/>
                          </a:solidFill>
                          <a:latin typeface="Calibri"/>
                        </a:rPr>
                        <a:t>23.11.</a:t>
                      </a:r>
                      <a:r>
                        <a:rPr sz="700" b="0" i="0">
                          <a:solidFill>
                            <a:srgbClr val="0070C0"/>
                          </a:solidFill>
                          <a:latin typeface="Times New Roman"/>
                        </a:rPr>
                        <a:t> </a:t>
                      </a:r>
                      <a:r>
                        <a:rPr sz="1100" b="0" i="0">
                          <a:solidFill>
                            <a:srgbClr val="0070C0"/>
                          </a:solidFill>
                          <a:latin typeface="Calibri"/>
                        </a:rPr>
                        <a:t>Pactiv Evergreen</a:t>
                      </a:r>
                      <a:endParaRPr sz="1100"/>
                    </a:p>
                  </a:txBody>
                  <a:tcPr marL="428625" marR="9525" marT="9525" marB="0" anchor="ctr"/>
                </a:tc>
              </a:tr>
              <a:tr h="175260">
                <a:tc>
                  <a:txBody>
                    <a:bodyPr wrap="square"/>
                    <a:lstStyle/>
                    <a:p>
                      <a:pPr algn="l"/>
                      <a:r>
                        <a:rPr sz="1100" b="0" i="0">
                          <a:solidFill>
                            <a:srgbClr val="0070C0"/>
                          </a:solidFill>
                          <a:latin typeface="Calibri"/>
                        </a:rPr>
                        <a:t>23.12.</a:t>
                      </a:r>
                      <a:r>
                        <a:rPr sz="700" b="0" i="0">
                          <a:solidFill>
                            <a:srgbClr val="0070C0"/>
                          </a:solidFill>
                          <a:latin typeface="Times New Roman"/>
                        </a:rPr>
                        <a:t> </a:t>
                      </a:r>
                      <a:r>
                        <a:rPr sz="1100" b="0" i="0">
                          <a:solidFill>
                            <a:srgbClr val="0070C0"/>
                          </a:solidFill>
                          <a:latin typeface="Calibri"/>
                        </a:rPr>
                        <a:t>Sonoco Products Company</a:t>
                      </a:r>
                      <a:endParaRPr sz="1100"/>
                    </a:p>
                  </a:txBody>
                  <a:tcPr marL="428625" marR="9525" marT="9525" marB="0" anchor="ctr"/>
                </a:tc>
              </a:tr>
              <a:tr h="175260">
                <a:tc>
                  <a:txBody>
                    <a:bodyPr wrap="square"/>
                    <a:lstStyle/>
                    <a:p>
                      <a:pPr algn="l"/>
                      <a:r>
                        <a:rPr sz="1100" b="0" i="0">
                          <a:solidFill>
                            <a:srgbClr val="0070C0"/>
                          </a:solidFill>
                          <a:latin typeface="Calibri"/>
                        </a:rPr>
                        <a:t>23.13.</a:t>
                      </a:r>
                      <a:r>
                        <a:rPr sz="700" b="0" i="0">
                          <a:solidFill>
                            <a:srgbClr val="0070C0"/>
                          </a:solidFill>
                          <a:latin typeface="Times New Roman"/>
                        </a:rPr>
                        <a:t> </a:t>
                      </a:r>
                      <a:r>
                        <a:rPr sz="1100" b="0" i="0">
                          <a:solidFill>
                            <a:srgbClr val="0070C0"/>
                          </a:solidFill>
                          <a:latin typeface="Calibri"/>
                        </a:rPr>
                        <a:t>A-Pac Manufacturing Co., Inc.</a:t>
                      </a:r>
                      <a:endParaRPr sz="1100"/>
                    </a:p>
                  </a:txBody>
                  <a:tcPr marL="428625" marR="9525" marT="9525" marB="0" anchor="ctr"/>
                </a:tc>
              </a:tr>
              <a:tr h="175260">
                <a:tc>
                  <a:txBody>
                    <a:bodyPr wrap="square"/>
                    <a:lstStyle/>
                    <a:p>
                      <a:pPr algn="l"/>
                      <a:r>
                        <a:rPr sz="1100" b="0" i="0">
                          <a:solidFill>
                            <a:srgbClr val="0070C0"/>
                          </a:solidFill>
                          <a:latin typeface="Calibri"/>
                        </a:rPr>
                        <a:t>23.14.</a:t>
                      </a:r>
                      <a:r>
                        <a:rPr sz="700" b="0" i="0">
                          <a:solidFill>
                            <a:srgbClr val="0070C0"/>
                          </a:solidFill>
                          <a:latin typeface="Times New Roman"/>
                        </a:rPr>
                        <a:t> </a:t>
                      </a:r>
                      <a:r>
                        <a:rPr sz="1100" b="0" i="0">
                          <a:solidFill>
                            <a:srgbClr val="0070C0"/>
                          </a:solidFill>
                          <a:latin typeface="Calibri"/>
                        </a:rPr>
                        <a:t>PPC Flex</a:t>
                      </a:r>
                      <a:endParaRPr sz="1100"/>
                    </a:p>
                  </a:txBody>
                  <a:tcPr marL="428625" marR="9525" marT="9525" marB="0" anchor="ctr"/>
                </a:tc>
              </a:tr>
              <a:tr h="175260">
                <a:tc>
                  <a:txBody>
                    <a:bodyPr wrap="square"/>
                    <a:lstStyle/>
                    <a:p>
                      <a:pPr algn="l"/>
                      <a:r>
                        <a:rPr sz="1100" b="0" i="0">
                          <a:solidFill>
                            <a:srgbClr val="0070C0"/>
                          </a:solidFill>
                          <a:latin typeface="Calibri"/>
                        </a:rPr>
                        <a:t>23.15.</a:t>
                      </a:r>
                      <a:r>
                        <a:rPr sz="700" b="0" i="0">
                          <a:solidFill>
                            <a:srgbClr val="0070C0"/>
                          </a:solidFill>
                          <a:latin typeface="Times New Roman"/>
                        </a:rPr>
                        <a:t> </a:t>
                      </a:r>
                      <a:r>
                        <a:rPr sz="1100" b="0" i="0">
                          <a:solidFill>
                            <a:srgbClr val="0070C0"/>
                          </a:solidFill>
                          <a:latin typeface="Calibri"/>
                        </a:rPr>
                        <a:t>Arihant Packers</a:t>
                      </a:r>
                      <a:endParaRPr sz="1100"/>
                    </a:p>
                  </a:txBody>
                  <a:tcPr marL="428625" marR="9525" marT="9525" marB="0" anchor="ctr"/>
                </a:tc>
              </a:tr>
              <a:tr h="175260">
                <a:tc>
                  <a:txBody>
                    <a:bodyPr wrap="square"/>
                    <a:lstStyle/>
                    <a:p>
                      <a:pPr algn="l"/>
                      <a:r>
                        <a:rPr sz="1100" b="0" i="0">
                          <a:solidFill>
                            <a:srgbClr val="0070C0"/>
                          </a:solidFill>
                          <a:latin typeface="Calibri"/>
                        </a:rPr>
                        <a:t>23.16.</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EE0000"/>
                          </a:solidFill>
                          <a:latin typeface="Calibri"/>
                        </a:rPr>
                        <a:t>ADD SECTIONS AS PER STORY LINE</a:t>
                      </a:r>
                      <a:endParaRPr sz="1100"/>
                    </a:p>
                  </a:txBody>
                  <a:tcPr marL="9525"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Figure 1: South Asia &amp; Pacific Market Value and YoY Growth, US$ Mn and %, 2021–2036</a:t>
                      </a:r>
                      <a:endParaRPr sz="1050"/>
                    </a:p>
                  </a:txBody>
                  <a:tcPr marL="9525" marR="9525" marT="9525" marB="0" anchor="ctr"/>
                </a:tc>
              </a:tr>
              <a:tr h="170045">
                <a:tc>
                  <a:txBody>
                    <a:bodyPr wrap="square"/>
                    <a:lstStyle/>
                    <a:p>
                      <a:pPr algn="l"/>
                      <a:r>
                        <a:rPr sz="1050" b="0" i="0">
                          <a:solidFill>
                            <a:srgbClr val="000000"/>
                          </a:solidFill>
                          <a:latin typeface="Calibri"/>
                        </a:rPr>
                        <a:t>Figure 2: South Asia &amp; Pacific Market Value Snapshot, US$ Mn, 2026 and 2036</a:t>
                      </a:r>
                      <a:endParaRPr sz="1050"/>
                    </a:p>
                  </a:txBody>
                  <a:tcPr marL="9525" marR="9525" marT="9525" marB="0" anchor="ctr"/>
                </a:tc>
              </a:tr>
              <a:tr h="170045">
                <a:tc>
                  <a:txBody>
                    <a:bodyPr wrap="square"/>
                    <a:lstStyle/>
                    <a:p>
                      <a:pPr algn="l"/>
                      <a:r>
                        <a:rPr sz="1050" b="0" i="0">
                          <a:solidFill>
                            <a:srgbClr val="000000"/>
                          </a:solidFill>
                          <a:latin typeface="Calibri"/>
                        </a:rPr>
                        <a:t>Figure 3: South Asia &amp; Pacific Market Taxonomy by Segment, 2026</a:t>
                      </a:r>
                      <a:endParaRPr sz="1050"/>
                    </a:p>
                  </a:txBody>
                  <a:tcPr marL="9525" marR="9525" marT="9525" marB="0" anchor="ctr"/>
                </a:tc>
              </a:tr>
              <a:tr h="170045">
                <a:tc>
                  <a:txBody>
                    <a:bodyPr wrap="square"/>
                    <a:lstStyle/>
                    <a:p>
                      <a:pPr algn="l"/>
                      <a:r>
                        <a:rPr sz="1050" b="0" i="0">
                          <a:solidFill>
                            <a:srgbClr val="000000"/>
                          </a:solidFill>
                          <a:latin typeface="Calibri"/>
                        </a:rPr>
                        <a:t>Figure 4: South Asia &amp; Pacific Market Share by Product Type, %, 2026</a:t>
                      </a:r>
                      <a:endParaRPr sz="1050"/>
                    </a:p>
                  </a:txBody>
                  <a:tcPr marL="9525" marR="9525" marT="9525" marB="0" anchor="ctr"/>
                </a:tc>
              </a:tr>
              <a:tr h="170045">
                <a:tc>
                  <a:txBody>
                    <a:bodyPr wrap="square"/>
                    <a:lstStyle/>
                    <a:p>
                      <a:pPr algn="l"/>
                      <a:r>
                        <a:rPr sz="1050" b="0" i="0">
                          <a:solidFill>
                            <a:srgbClr val="000000"/>
                          </a:solidFill>
                          <a:latin typeface="Calibri"/>
                        </a:rPr>
                        <a:t>Figure 5: South Asia &amp; Pacific Market Share by Principal Material / Barrier Technology, %, 2026</a:t>
                      </a:r>
                      <a:endParaRPr sz="1050"/>
                    </a:p>
                  </a:txBody>
                  <a:tcPr marL="9525" marR="9525" marT="9525" marB="0" anchor="ctr"/>
                </a:tc>
              </a:tr>
              <a:tr h="170045">
                <a:tc>
                  <a:txBody>
                    <a:bodyPr wrap="square"/>
                    <a:lstStyle/>
                    <a:p>
                      <a:pPr algn="l"/>
                      <a:r>
                        <a:rPr sz="1050" b="0" i="0">
                          <a:solidFill>
                            <a:srgbClr val="000000"/>
                          </a:solidFill>
                          <a:latin typeface="Calibri"/>
                        </a:rPr>
                        <a:t>Figure 6: South Asia &amp; Pacific Market Share by Material Structure, %, 2026</a:t>
                      </a:r>
                      <a:endParaRPr sz="1050"/>
                    </a:p>
                  </a:txBody>
                  <a:tcPr marL="9525" marR="9525" marT="9525" marB="0" anchor="ctr"/>
                </a:tc>
              </a:tr>
              <a:tr h="170045">
                <a:tc>
                  <a:txBody>
                    <a:bodyPr wrap="square"/>
                    <a:lstStyle/>
                    <a:p>
                      <a:pPr algn="l"/>
                      <a:r>
                        <a:rPr sz="1050" b="0" i="0">
                          <a:solidFill>
                            <a:srgbClr val="000000"/>
                          </a:solidFill>
                          <a:latin typeface="Calibri"/>
                        </a:rPr>
                        <a:t>Figure 7: South Asia &amp; Pacific Market Share by Barrier Level, %, 2026</a:t>
                      </a:r>
                      <a:endParaRPr sz="1050"/>
                    </a:p>
                  </a:txBody>
                  <a:tcPr marL="9525" marR="9525" marT="9525" marB="0" anchor="ctr"/>
                </a:tc>
              </a:tr>
              <a:tr h="170045">
                <a:tc>
                  <a:txBody>
                    <a:bodyPr wrap="square"/>
                    <a:lstStyle/>
                    <a:p>
                      <a:pPr algn="l"/>
                      <a:r>
                        <a:rPr sz="1050" b="0" i="0">
                          <a:solidFill>
                            <a:srgbClr val="000000"/>
                          </a:solidFill>
                          <a:latin typeface="Calibri"/>
                        </a:rPr>
                        <a:t>Figure 8: South Asia &amp; Pacific Market Share by Application, %, 2026</a:t>
                      </a:r>
                      <a:endParaRPr sz="1050"/>
                    </a:p>
                  </a:txBody>
                  <a:tcPr marL="9525" marR="9525" marT="9525" marB="0" anchor="ctr"/>
                </a:tc>
              </a:tr>
              <a:tr h="170045">
                <a:tc>
                  <a:txBody>
                    <a:bodyPr wrap="square"/>
                    <a:lstStyle/>
                    <a:p>
                      <a:pPr algn="l"/>
                      <a:r>
                        <a:rPr sz="1050" b="0" i="0">
                          <a:solidFill>
                            <a:srgbClr val="000000"/>
                          </a:solidFill>
                          <a:latin typeface="Calibri"/>
                        </a:rPr>
                        <a:t>Figure 9: South Asia &amp; Pacific Market Share by Barrier Level Vs Application, %, 2026</a:t>
                      </a:r>
                      <a:endParaRPr sz="1050"/>
                    </a:p>
                  </a:txBody>
                  <a:tcPr marL="9525" marR="9525" marT="9525" marB="0" anchor="ctr"/>
                </a:tc>
              </a:tr>
              <a:tr h="170045">
                <a:tc>
                  <a:txBody>
                    <a:bodyPr wrap="square"/>
                    <a:lstStyle/>
                    <a:p>
                      <a:pPr algn="l"/>
                      <a:r>
                        <a:rPr sz="1050" b="0" i="0">
                          <a:solidFill>
                            <a:srgbClr val="000000"/>
                          </a:solidFill>
                          <a:latin typeface="Calibri"/>
                        </a:rPr>
                        <a:t>Figure 10: South Asia &amp; Pacific Market Incremental $ Opportunity, US$ Mn, 2026–2036</a:t>
                      </a:r>
                      <a:endParaRPr sz="1050"/>
                    </a:p>
                  </a:txBody>
                  <a:tcPr marL="9525" marR="9525" marT="9525" marB="0" anchor="ctr"/>
                </a:tc>
              </a:tr>
              <a:tr h="170045">
                <a:tc>
                  <a:txBody>
                    <a:bodyPr wrap="square"/>
                    <a:lstStyle/>
                    <a:p>
                      <a:pPr algn="l"/>
                      <a:r>
                        <a:rPr sz="1050" b="0" i="0">
                          <a:solidFill>
                            <a:srgbClr val="000000"/>
                          </a:solidFill>
                          <a:latin typeface="Calibri"/>
                        </a:rPr>
                        <a:t>Figure 11: South Asia &amp; Pacific Market Historical Value, US$ Mn, 2021–2025</a:t>
                      </a:r>
                      <a:endParaRPr sz="1050"/>
                    </a:p>
                  </a:txBody>
                  <a:tcPr marL="9525" marR="9525" marT="9525" marB="0" anchor="ctr"/>
                </a:tc>
              </a:tr>
              <a:tr h="170045">
                <a:tc>
                  <a:txBody>
                    <a:bodyPr wrap="square"/>
                    <a:lstStyle/>
                    <a:p>
                      <a:pPr algn="l"/>
                      <a:r>
                        <a:rPr sz="1050" b="0" i="0">
                          <a:solidFill>
                            <a:srgbClr val="000000"/>
                          </a:solidFill>
                          <a:latin typeface="Calibri"/>
                        </a:rPr>
                        <a:t>Figure 12: South Asia &amp; Pacific Market Forecast Value, US$ Mn, 2026–2036</a:t>
                      </a:r>
                      <a:endParaRPr sz="1050"/>
                    </a:p>
                  </a:txBody>
                  <a:tcPr marL="9525" marR="9525" marT="9525" marB="0" anchor="ctr"/>
                </a:tc>
              </a:tr>
              <a:tr h="170045">
                <a:tc>
                  <a:txBody>
                    <a:bodyPr wrap="square"/>
                    <a:lstStyle/>
                    <a:p>
                      <a:pPr algn="l"/>
                      <a:r>
                        <a:rPr sz="1050" b="0" i="0">
                          <a:solidFill>
                            <a:srgbClr val="000000"/>
                          </a:solidFill>
                          <a:latin typeface="Calibri"/>
                        </a:rPr>
                        <a:t>Figure 13: South Asia &amp; Pacific Market YoY Growth, %, 2021–2036</a:t>
                      </a:r>
                      <a:endParaRPr sz="1050"/>
                    </a:p>
                  </a:txBody>
                  <a:tcPr marL="9525" marR="9525" marT="9525" marB="0" anchor="ctr"/>
                </a:tc>
              </a:tr>
              <a:tr h="170045">
                <a:tc>
                  <a:txBody>
                    <a:bodyPr wrap="square"/>
                    <a:lstStyle/>
                    <a:p>
                      <a:pPr algn="l"/>
                      <a:r>
                        <a:rPr sz="1050" b="0" i="0">
                          <a:solidFill>
                            <a:srgbClr val="000000"/>
                          </a:solidFill>
                          <a:latin typeface="Calibri"/>
                        </a:rPr>
                        <a:t>Figure 14: South Asia &amp; Pacific Market Volume and YoY Growth, Thousand MT and %, 2021–2036</a:t>
                      </a:r>
                      <a:endParaRPr sz="1050"/>
                    </a:p>
                  </a:txBody>
                  <a:tcPr marL="9525" marR="9525" marT="9525" marB="0" anchor="ctr"/>
                </a:tc>
              </a:tr>
              <a:tr h="170045">
                <a:tc>
                  <a:txBody>
                    <a:bodyPr wrap="square"/>
                    <a:lstStyle/>
                    <a:p>
                      <a:pPr algn="l"/>
                      <a:r>
                        <a:rPr sz="1050" b="0" i="0">
                          <a:solidFill>
                            <a:srgbClr val="000000"/>
                          </a:solidFill>
                          <a:latin typeface="Calibri"/>
                        </a:rPr>
                        <a:t>Figure 15: South Asia &amp; Pacific Market Volume vs Value CAGR Comparison, %, 2026–2036</a:t>
                      </a:r>
                      <a:endParaRPr sz="1050"/>
                    </a:p>
                  </a:txBody>
                  <a:tcPr marL="9525" marR="9525" marT="9525" marB="0" anchor="ctr"/>
                </a:tc>
              </a:tr>
              <a:tr h="170045">
                <a:tc>
                  <a:txBody>
                    <a:bodyPr wrap="square"/>
                    <a:lstStyle/>
                    <a:p>
                      <a:pPr algn="l"/>
                      <a:r>
                        <a:rPr sz="1050" b="0" i="0">
                          <a:solidFill>
                            <a:srgbClr val="000000"/>
                          </a:solidFill>
                          <a:latin typeface="Calibri"/>
                        </a:rPr>
                        <a:t>Figure 16: South Asia &amp; Pacific Market Average Selling Price, US$/MT, 2021–2036</a:t>
                      </a:r>
                      <a:endParaRPr sz="1050"/>
                    </a:p>
                  </a:txBody>
                  <a:tcPr marL="9525" marR="9525" marT="9525" marB="0" anchor="ctr"/>
                </a:tc>
              </a:tr>
              <a:tr h="170045">
                <a:tc>
                  <a:txBody>
                    <a:bodyPr wrap="square"/>
                    <a:lstStyle/>
                    <a:p>
                      <a:pPr algn="l"/>
                      <a:r>
                        <a:rPr sz="1050" b="0" i="0">
                          <a:solidFill>
                            <a:srgbClr val="000000"/>
                          </a:solidFill>
                          <a:latin typeface="Calibri"/>
                        </a:rPr>
                        <a:t>Figure 17: South Asia &amp; Pacific Market Absolute $ Opportunity, US$ Mn, 2026–2036</a:t>
                      </a:r>
                      <a:endParaRPr sz="1050"/>
                    </a:p>
                  </a:txBody>
                  <a:tcPr marL="9525" marR="9525" marT="9525" marB="0" anchor="ctr"/>
                </a:tc>
              </a:tr>
              <a:tr h="170045">
                <a:tc>
                  <a:txBody>
                    <a:bodyPr wrap="square"/>
                    <a:lstStyle/>
                    <a:p>
                      <a:pPr algn="l"/>
                      <a:r>
                        <a:rPr sz="1050" b="0" i="0">
                          <a:solidFill>
                            <a:srgbClr val="000000"/>
                          </a:solidFill>
                          <a:latin typeface="Calibri"/>
                        </a:rPr>
                        <a:t>Figure 18: South Asia &amp; Pacific Market Incremental Opportunity by Year, US$ Mn, 2026–2036</a:t>
                      </a:r>
                      <a:endParaRPr sz="1050"/>
                    </a:p>
                  </a:txBody>
                  <a:tcPr marL="9525" marR="9525" marT="9525" marB="0" anchor="ctr"/>
                </a:tc>
              </a:tr>
              <a:tr h="170045">
                <a:tc>
                  <a:txBody>
                    <a:bodyPr wrap="square"/>
                    <a:lstStyle/>
                    <a:p>
                      <a:pPr algn="l"/>
                      <a:r>
                        <a:rPr sz="1050" b="0" i="0">
                          <a:solidFill>
                            <a:srgbClr val="000000"/>
                          </a:solidFill>
                          <a:latin typeface="Calibri"/>
                        </a:rPr>
                        <a:t>Figure 19: South Asia &amp; Pacific Market Historical vs Forecast CAGR, %, 2021–2036</a:t>
                      </a:r>
                      <a:endParaRPr sz="1050"/>
                    </a:p>
                  </a:txBody>
                  <a:tcPr marL="9525" marR="9525" marT="9525" marB="0" anchor="ctr"/>
                </a:tc>
              </a:tr>
              <a:tr h="333289">
                <a:tc>
                  <a:txBody>
                    <a:bodyPr wrap="square"/>
                    <a:lstStyle/>
                    <a:p>
                      <a:pPr algn="l"/>
                      <a:r>
                        <a:rPr sz="1050" b="0" i="0">
                          <a:solidFill>
                            <a:srgbClr val="000000"/>
                          </a:solidFill>
                          <a:latin typeface="Calibri"/>
                        </a:rPr>
                        <a:t>Figure 20: South Asia &amp; Pacific Market Value by Scenario (Optimistic, Likely, Pessimistic), US$ Mn, 2026–2036</a:t>
                      </a:r>
                      <a:endParaRPr sz="1050"/>
                    </a:p>
                  </a:txBody>
                  <a:tcPr marL="9525" marR="9525" marT="9525" marB="0" anchor="ctr"/>
                </a:tc>
              </a:tr>
              <a:tr h="170045">
                <a:tc>
                  <a:txBody>
                    <a:bodyPr wrap="square"/>
                    <a:lstStyle/>
                    <a:p>
                      <a:pPr algn="l"/>
                      <a:r>
                        <a:rPr sz="1050" b="0" i="0">
                          <a:solidFill>
                            <a:srgbClr val="000000"/>
                          </a:solidFill>
                          <a:latin typeface="Calibri"/>
                        </a:rPr>
                        <a:t>Figure 21: South Asia &amp; Pacific Market Size Evolution Index, 2025=100, 2021–2036</a:t>
                      </a:r>
                      <a:endParaRPr sz="1050"/>
                    </a:p>
                  </a:txBody>
                  <a:tcPr marL="9525" marR="9525" marT="9525" marB="0" anchor="ctr"/>
                </a:tc>
              </a:tr>
              <a:tr h="170045">
                <a:tc>
                  <a:txBody>
                    <a:bodyPr wrap="square"/>
                    <a:lstStyle/>
                    <a:p>
                      <a:pPr algn="l"/>
                      <a:r>
                        <a:rPr sz="1050" b="0" i="0">
                          <a:solidFill>
                            <a:srgbClr val="000000"/>
                          </a:solidFill>
                          <a:latin typeface="Calibri"/>
                        </a:rPr>
                        <a:t>Figure 22: South Asia &amp; Pacific Market Cumulative Value Addition, US$ Mn, 2026–2036</a:t>
                      </a:r>
                      <a:endParaRPr sz="1050"/>
                    </a:p>
                  </a:txBody>
                  <a:tcPr marL="9525" marR="9525" marT="9525" marB="0" anchor="ctr"/>
                </a:tc>
              </a:tr>
              <a:tr h="170045">
                <a:tc>
                  <a:txBody>
                    <a:bodyPr wrap="square"/>
                    <a:lstStyle/>
                    <a:p>
                      <a:pPr algn="l"/>
                      <a:r>
                        <a:rPr sz="1050" b="0" i="0">
                          <a:solidFill>
                            <a:srgbClr val="000000"/>
                          </a:solidFill>
                          <a:latin typeface="Calibri"/>
                        </a:rPr>
                        <a:t>Figure 23: South Asia &amp; Pacific Market Value by Product Type, US$ Mn, 2021–2036</a:t>
                      </a:r>
                      <a:endParaRPr sz="1050"/>
                    </a:p>
                  </a:txBody>
                  <a:tcPr marL="9525" marR="9525" marT="9525" marB="0" anchor="ctr"/>
                </a:tc>
              </a:tr>
              <a:tr h="333289">
                <a:tc>
                  <a:txBody>
                    <a:bodyPr wrap="square"/>
                    <a:lstStyle/>
                    <a:p>
                      <a:pPr algn="l"/>
                      <a:r>
                        <a:rPr sz="1050" b="0" i="0">
                          <a:solidFill>
                            <a:srgbClr val="000000"/>
                          </a:solidFill>
                          <a:latin typeface="Calibri"/>
                        </a:rPr>
                        <a:t>Figure 24: South Asia &amp; Pacific Market Value by Principal Material / Barrier Technology, US$ Mn, 2021–2036</a:t>
                      </a:r>
                      <a:endParaRPr sz="1050"/>
                    </a:p>
                  </a:txBody>
                  <a:tcPr marL="9525" marR="9525" marT="9525" marB="0" anchor="ctr"/>
                </a:tc>
              </a:tr>
              <a:tr h="170045">
                <a:tc>
                  <a:txBody>
                    <a:bodyPr wrap="square"/>
                    <a:lstStyle/>
                    <a:p>
                      <a:pPr algn="l"/>
                      <a:r>
                        <a:rPr sz="1050" b="0" i="0">
                          <a:solidFill>
                            <a:srgbClr val="000000"/>
                          </a:solidFill>
                          <a:latin typeface="Calibri"/>
                        </a:rPr>
                        <a:t>Figure 25: South Asia &amp; Pacific Market Value by Material Structure, US$ Mn, 2021–2036</a:t>
                      </a:r>
                      <a:endParaRPr sz="1050"/>
                    </a:p>
                  </a:txBody>
                  <a:tcPr marL="9525" marR="9525" marT="9525" marB="0" anchor="ctr"/>
                </a:tc>
              </a:tr>
              <a:tr h="170045">
                <a:tc>
                  <a:txBody>
                    <a:bodyPr wrap="square"/>
                    <a:lstStyle/>
                    <a:p>
                      <a:pPr algn="l"/>
                      <a:r>
                        <a:rPr sz="1050" b="0" i="0">
                          <a:solidFill>
                            <a:srgbClr val="000000"/>
                          </a:solidFill>
                          <a:latin typeface="Calibri"/>
                        </a:rPr>
                        <a:t>Figure 26: South Asia &amp; Pacific Market Value by Barrier Level, US$ Mn, 2021–2036</a:t>
                      </a:r>
                      <a:endParaRPr sz="1050"/>
                    </a:p>
                  </a:txBody>
                  <a:tcPr marL="9525" marR="9525" marT="9525" marB="0" anchor="ctr"/>
                </a:tc>
              </a:tr>
              <a:tr h="170045">
                <a:tc>
                  <a:txBody>
                    <a:bodyPr wrap="square"/>
                    <a:lstStyle/>
                    <a:p>
                      <a:pPr algn="l"/>
                      <a:r>
                        <a:rPr sz="1050" b="0" i="0">
                          <a:solidFill>
                            <a:srgbClr val="000000"/>
                          </a:solidFill>
                          <a:latin typeface="Calibri"/>
                        </a:rPr>
                        <a:t>Figure 27: South Asia &amp; Pacific Market Value by Application, US$ Mn, 2021–2036</a:t>
                      </a:r>
                      <a:endParaRPr sz="1050"/>
                    </a:p>
                  </a:txBody>
                  <a:tcPr marL="9525" marR="9525" marT="9525" marB="0" anchor="ctr"/>
                </a:tc>
              </a:tr>
              <a:tr h="170045">
                <a:tc>
                  <a:txBody>
                    <a:bodyPr wrap="square"/>
                    <a:lstStyle/>
                    <a:p>
                      <a:pPr algn="l"/>
                      <a:r>
                        <a:rPr sz="1050" b="0" i="0">
                          <a:solidFill>
                            <a:srgbClr val="000000"/>
                          </a:solidFill>
                          <a:latin typeface="Calibri"/>
                        </a:rPr>
                        <a:t>Figure 28: South Asia &amp; Pacific Market Value by Barrier Level Vs Application, US$ Mn, 2021–2036</a:t>
                      </a:r>
                      <a:endParaRPr sz="1050"/>
                    </a:p>
                  </a:txBody>
                  <a:tcPr marL="9525" marR="9525" marT="9525" marB="0" anchor="ctr"/>
                </a:tc>
              </a:tr>
              <a:tr h="170045">
                <a:tc>
                  <a:txBody>
                    <a:bodyPr wrap="square"/>
                    <a:lstStyle/>
                    <a:p>
                      <a:pPr algn="l"/>
                      <a:r>
                        <a:rPr sz="1050" b="0" i="0">
                          <a:solidFill>
                            <a:srgbClr val="000000"/>
                          </a:solidFill>
                          <a:latin typeface="Calibri"/>
                        </a:rPr>
                        <a:t>Figure 29: South Asia &amp; Pacific Market Share by Product Type, %,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4"/>
        </p:xfrm>
        <a:graphic>
          <a:graphicData uri="http://schemas.openxmlformats.org/drawingml/2006/table">
            <a:tbl>
              <a:tblPr>
                <a:tableStyleId>{3B4B98B0-60AC-42C2-AFA5-B58CD77FA1E5}</a:tableStyleId>
              </a:tblPr>
              <a:tblGrid>
                <a:gridCol w="5876925"/>
              </a:tblGrid>
              <a:tr h="346280">
                <a:tc>
                  <a:txBody>
                    <a:bodyPr wrap="square"/>
                    <a:lstStyle/>
                    <a:p>
                      <a:pPr algn="l"/>
                      <a:r>
                        <a:rPr sz="1050" b="0" i="0">
                          <a:solidFill>
                            <a:srgbClr val="000000"/>
                          </a:solidFill>
                          <a:latin typeface="Calibri"/>
                        </a:rPr>
                        <a:t>Figure 30: South Asia &amp; Pacific Market Share by Principal Material / Barrier Technology, %, 2026 and 2036</a:t>
                      </a:r>
                      <a:endParaRPr sz="1050"/>
                    </a:p>
                  </a:txBody>
                  <a:tcPr marL="9525" marR="9525" marT="9525" marB="0" anchor="ctr"/>
                </a:tc>
              </a:tr>
              <a:tr h="176673">
                <a:tc>
                  <a:txBody>
                    <a:bodyPr wrap="square"/>
                    <a:lstStyle/>
                    <a:p>
                      <a:pPr algn="l"/>
                      <a:r>
                        <a:rPr sz="1050" b="0" i="0">
                          <a:solidFill>
                            <a:srgbClr val="000000"/>
                          </a:solidFill>
                          <a:latin typeface="Calibri"/>
                        </a:rPr>
                        <a:t>Figure 31: South Asia &amp; Pacific Market Share by Material Structure, %, 2026 and 2036</a:t>
                      </a:r>
                      <a:endParaRPr sz="1050"/>
                    </a:p>
                  </a:txBody>
                  <a:tcPr marL="9525" marR="9525" marT="9525" marB="0" anchor="ctr"/>
                </a:tc>
              </a:tr>
              <a:tr h="176673">
                <a:tc>
                  <a:txBody>
                    <a:bodyPr wrap="square"/>
                    <a:lstStyle/>
                    <a:p>
                      <a:pPr algn="l"/>
                      <a:r>
                        <a:rPr sz="1050" b="0" i="0">
                          <a:solidFill>
                            <a:srgbClr val="000000"/>
                          </a:solidFill>
                          <a:latin typeface="Calibri"/>
                        </a:rPr>
                        <a:t>Figure 32: South Asia &amp; Pacific Market Share by Barrier Level, %, 2026 and 2036</a:t>
                      </a:r>
                      <a:endParaRPr sz="1050"/>
                    </a:p>
                  </a:txBody>
                  <a:tcPr marL="9525" marR="9525" marT="9525" marB="0" anchor="ctr"/>
                </a:tc>
              </a:tr>
              <a:tr h="176673">
                <a:tc>
                  <a:txBody>
                    <a:bodyPr wrap="square"/>
                    <a:lstStyle/>
                    <a:p>
                      <a:pPr algn="l"/>
                      <a:r>
                        <a:rPr sz="1050" b="0" i="0">
                          <a:solidFill>
                            <a:srgbClr val="000000"/>
                          </a:solidFill>
                          <a:latin typeface="Calibri"/>
                        </a:rPr>
                        <a:t>Figure 33: South Asia &amp; Pacific Market Share by Application, %, 2026 and 2036</a:t>
                      </a:r>
                      <a:endParaRPr sz="1050"/>
                    </a:p>
                  </a:txBody>
                  <a:tcPr marL="9525" marR="9525" marT="9525" marB="0" anchor="ctr"/>
                </a:tc>
              </a:tr>
              <a:tr h="176673">
                <a:tc>
                  <a:txBody>
                    <a:bodyPr wrap="square"/>
                    <a:lstStyle/>
                    <a:p>
                      <a:pPr algn="l"/>
                      <a:r>
                        <a:rPr sz="1050" b="0" i="0">
                          <a:solidFill>
                            <a:srgbClr val="000000"/>
                          </a:solidFill>
                          <a:latin typeface="Calibri"/>
                        </a:rPr>
                        <a:t>Figure 34: South Asia &amp; Pacific Market Share by Barrier Level Vs Application, %, 2026 and 2036</a:t>
                      </a:r>
                      <a:endParaRPr sz="1050"/>
                    </a:p>
                  </a:txBody>
                  <a:tcPr marL="9525" marR="9525" marT="9525" marB="0" anchor="ctr"/>
                </a:tc>
              </a:tr>
              <a:tr h="176673">
                <a:tc>
                  <a:txBody>
                    <a:bodyPr wrap="square"/>
                    <a:lstStyle/>
                    <a:p>
                      <a:pPr algn="l"/>
                      <a:r>
                        <a:rPr sz="1050" b="0" i="0">
                          <a:solidFill>
                            <a:srgbClr val="000000"/>
                          </a:solidFill>
                          <a:latin typeface="Calibri"/>
                        </a:rPr>
                        <a:t>Figure 35: South Asia &amp; Pacific Market Absolute $ Opportunity by Product Type, US$ Mn, 2026–2036</a:t>
                      </a:r>
                      <a:endParaRPr sz="1050"/>
                    </a:p>
                  </a:txBody>
                  <a:tcPr marL="9525" marR="9525" marT="9525" marB="0" anchor="ctr"/>
                </a:tc>
              </a:tr>
              <a:tr h="346280">
                <a:tc>
                  <a:txBody>
                    <a:bodyPr wrap="square"/>
                    <a:lstStyle/>
                    <a:p>
                      <a:pPr algn="l"/>
                      <a:r>
                        <a:rPr sz="1050" b="0" i="0">
                          <a:solidFill>
                            <a:srgbClr val="000000"/>
                          </a:solidFill>
                          <a:latin typeface="Calibri"/>
                        </a:rPr>
                        <a:t>Figure 36: South Asia &amp; Pacific Market Absolute $ Opportunity by Principal Material / Barrier Technology, US$ Mn, 2026–2036</a:t>
                      </a:r>
                      <a:endParaRPr sz="1050"/>
                    </a:p>
                  </a:txBody>
                  <a:tcPr marL="9525" marR="9525" marT="9525" marB="0" anchor="ctr"/>
                </a:tc>
              </a:tr>
              <a:tr h="346280">
                <a:tc>
                  <a:txBody>
                    <a:bodyPr wrap="square"/>
                    <a:lstStyle/>
                    <a:p>
                      <a:pPr algn="l"/>
                      <a:r>
                        <a:rPr sz="1050" b="0" i="0">
                          <a:solidFill>
                            <a:srgbClr val="000000"/>
                          </a:solidFill>
                          <a:latin typeface="Calibri"/>
                        </a:rPr>
                        <a:t>Figure 37: South Asia &amp; Pacific Market Absolute $ Opportunity by Material Structure, US$ Mn, 2026–2036</a:t>
                      </a:r>
                      <a:endParaRPr sz="1050"/>
                    </a:p>
                  </a:txBody>
                  <a:tcPr marL="9525" marR="9525" marT="9525" marB="0" anchor="ctr"/>
                </a:tc>
              </a:tr>
              <a:tr h="176673">
                <a:tc>
                  <a:txBody>
                    <a:bodyPr wrap="square"/>
                    <a:lstStyle/>
                    <a:p>
                      <a:pPr algn="l"/>
                      <a:r>
                        <a:rPr sz="1050" b="0" i="0">
                          <a:solidFill>
                            <a:srgbClr val="000000"/>
                          </a:solidFill>
                          <a:latin typeface="Calibri"/>
                        </a:rPr>
                        <a:t>Figure 38: South Asia &amp; Pacific Market Absolute $ Opportunity by Barrier Level, US$ Mn, 2026–2036</a:t>
                      </a:r>
                      <a:endParaRPr sz="1050"/>
                    </a:p>
                  </a:txBody>
                  <a:tcPr marL="9525" marR="9525" marT="9525" marB="0" anchor="ctr"/>
                </a:tc>
              </a:tr>
              <a:tr h="176673">
                <a:tc>
                  <a:txBody>
                    <a:bodyPr wrap="square"/>
                    <a:lstStyle/>
                    <a:p>
                      <a:pPr algn="l"/>
                      <a:r>
                        <a:rPr sz="1050" b="0" i="0">
                          <a:solidFill>
                            <a:srgbClr val="000000"/>
                          </a:solidFill>
                          <a:latin typeface="Calibri"/>
                        </a:rPr>
                        <a:t>Figure 39: South Asia &amp; Pacific Market Absolute $ Opportunity by Application, US$ Mn, 2026–2036</a:t>
                      </a:r>
                      <a:endParaRPr sz="1050"/>
                    </a:p>
                  </a:txBody>
                  <a:tcPr marL="9525" marR="9525" marT="9525" marB="0" anchor="ctr"/>
                </a:tc>
              </a:tr>
              <a:tr h="346280">
                <a:tc>
                  <a:txBody>
                    <a:bodyPr wrap="square"/>
                    <a:lstStyle/>
                    <a:p>
                      <a:pPr algn="l"/>
                      <a:r>
                        <a:rPr sz="1050" b="0" i="0">
                          <a:solidFill>
                            <a:srgbClr val="000000"/>
                          </a:solidFill>
                          <a:latin typeface="Calibri"/>
                        </a:rPr>
                        <a:t>Figure 40: South Asia &amp; Pacific Market Absolute $ Opportunity by Barrier Level Vs Application, US$ Mn, 2026–2036</a:t>
                      </a:r>
                      <a:endParaRPr sz="1050"/>
                    </a:p>
                  </a:txBody>
                  <a:tcPr marL="9525" marR="9525" marT="9525" marB="0" anchor="ctr"/>
                </a:tc>
              </a:tr>
              <a:tr h="176673">
                <a:tc>
                  <a:txBody>
                    <a:bodyPr wrap="square"/>
                    <a:lstStyle/>
                    <a:p>
                      <a:pPr algn="l"/>
                      <a:r>
                        <a:rPr sz="1050" b="0" i="0">
                          <a:solidFill>
                            <a:srgbClr val="000000"/>
                          </a:solidFill>
                          <a:latin typeface="Calibri"/>
                        </a:rPr>
                        <a:t>Figure 41: South Asia &amp; Pacific Market BPS Share Change by Product Type, 2026–2036</a:t>
                      </a:r>
                      <a:endParaRPr sz="1050"/>
                    </a:p>
                  </a:txBody>
                  <a:tcPr marL="9525" marR="9525" marT="9525" marB="0" anchor="ctr"/>
                </a:tc>
              </a:tr>
              <a:tr h="346280">
                <a:tc>
                  <a:txBody>
                    <a:bodyPr wrap="square"/>
                    <a:lstStyle/>
                    <a:p>
                      <a:pPr algn="l"/>
                      <a:r>
                        <a:rPr sz="1050" b="0" i="0">
                          <a:solidFill>
                            <a:srgbClr val="000000"/>
                          </a:solidFill>
                          <a:latin typeface="Calibri"/>
                        </a:rPr>
                        <a:t>Figure 42: South Asia &amp; Pacific Market BPS Share Change by Principal Material / Barrier Technology, 2026–2036</a:t>
                      </a:r>
                      <a:endParaRPr sz="1050"/>
                    </a:p>
                  </a:txBody>
                  <a:tcPr marL="9525" marR="9525" marT="9525" marB="0" anchor="ctr"/>
                </a:tc>
              </a:tr>
              <a:tr h="176673">
                <a:tc>
                  <a:txBody>
                    <a:bodyPr wrap="square"/>
                    <a:lstStyle/>
                    <a:p>
                      <a:pPr algn="l"/>
                      <a:r>
                        <a:rPr sz="1050" b="0" i="0">
                          <a:solidFill>
                            <a:srgbClr val="000000"/>
                          </a:solidFill>
                          <a:latin typeface="Calibri"/>
                        </a:rPr>
                        <a:t>Figure 43: South Asia &amp; Pacific Market BPS Share Change by Material Structure, 2026–2036</a:t>
                      </a:r>
                      <a:endParaRPr sz="1050"/>
                    </a:p>
                  </a:txBody>
                  <a:tcPr marL="9525" marR="9525" marT="9525" marB="0" anchor="ctr"/>
                </a:tc>
              </a:tr>
              <a:tr h="176673">
                <a:tc>
                  <a:txBody>
                    <a:bodyPr wrap="square"/>
                    <a:lstStyle/>
                    <a:p>
                      <a:pPr algn="l"/>
                      <a:r>
                        <a:rPr sz="1050" b="0" i="0">
                          <a:solidFill>
                            <a:srgbClr val="000000"/>
                          </a:solidFill>
                          <a:latin typeface="Calibri"/>
                        </a:rPr>
                        <a:t>Figure 44: South Asia &amp; Pacific Market BPS Share Change by Barrier Level, 2026–2036</a:t>
                      </a:r>
                      <a:endParaRPr sz="1050"/>
                    </a:p>
                  </a:txBody>
                  <a:tcPr marL="9525" marR="9525" marT="9525" marB="0" anchor="ctr"/>
                </a:tc>
              </a:tr>
              <a:tr h="176673">
                <a:tc>
                  <a:txBody>
                    <a:bodyPr wrap="square"/>
                    <a:lstStyle/>
                    <a:p>
                      <a:pPr algn="l"/>
                      <a:r>
                        <a:rPr sz="1050" b="0" i="0">
                          <a:solidFill>
                            <a:srgbClr val="000000"/>
                          </a:solidFill>
                          <a:latin typeface="Calibri"/>
                        </a:rPr>
                        <a:t>Figure 45: South Asia &amp; Pacific Market BPS Share Change by Application, 2026–2036</a:t>
                      </a:r>
                      <a:endParaRPr sz="1050"/>
                    </a:p>
                  </a:txBody>
                  <a:tcPr marL="9525" marR="9525" marT="9525" marB="0" anchor="ctr"/>
                </a:tc>
              </a:tr>
              <a:tr h="176673">
                <a:tc>
                  <a:txBody>
                    <a:bodyPr wrap="square"/>
                    <a:lstStyle/>
                    <a:p>
                      <a:pPr algn="l"/>
                      <a:r>
                        <a:rPr sz="1050" b="0" i="0">
                          <a:solidFill>
                            <a:srgbClr val="000000"/>
                          </a:solidFill>
                          <a:latin typeface="Calibri"/>
                        </a:rPr>
                        <a:t>Figure 46: South Asia &amp; Pacific Market BPS Share Change by Barrier Level Vs Application, 2026–2036</a:t>
                      </a:r>
                      <a:endParaRPr sz="1050"/>
                    </a:p>
                  </a:txBody>
                  <a:tcPr marL="9525" marR="9525" marT="9525" marB="0" anchor="ctr"/>
                </a:tc>
              </a:tr>
              <a:tr h="176673">
                <a:tc>
                  <a:txBody>
                    <a:bodyPr wrap="square"/>
                    <a:lstStyle/>
                    <a:p>
                      <a:pPr algn="l"/>
                      <a:r>
                        <a:rPr sz="1050" b="0" i="0">
                          <a:solidFill>
                            <a:srgbClr val="000000"/>
                          </a:solidFill>
                          <a:latin typeface="Calibri"/>
                        </a:rPr>
                        <a:t>Figure 47: South Asia &amp; Pacific Market YoY Growth by Product Type, %, 2026–2036</a:t>
                      </a:r>
                      <a:endParaRPr sz="1050"/>
                    </a:p>
                  </a:txBody>
                  <a:tcPr marL="9525" marR="9525" marT="9525" marB="0" anchor="ctr"/>
                </a:tc>
              </a:tr>
              <a:tr h="346280">
                <a:tc>
                  <a:txBody>
                    <a:bodyPr wrap="square"/>
                    <a:lstStyle/>
                    <a:p>
                      <a:pPr algn="l"/>
                      <a:r>
                        <a:rPr sz="1050" b="0" i="0">
                          <a:solidFill>
                            <a:srgbClr val="000000"/>
                          </a:solidFill>
                          <a:latin typeface="Calibri"/>
                        </a:rPr>
                        <a:t>Figure 48: South Asia &amp; Pacific Market YoY Growth by Principal Material / Barrier Technology, %, 2026–2036</a:t>
                      </a:r>
                      <a:endParaRPr sz="1050"/>
                    </a:p>
                  </a:txBody>
                  <a:tcPr marL="9525" marR="9525" marT="9525" marB="0" anchor="ctr"/>
                </a:tc>
              </a:tr>
              <a:tr h="176673">
                <a:tc>
                  <a:txBody>
                    <a:bodyPr wrap="square"/>
                    <a:lstStyle/>
                    <a:p>
                      <a:pPr algn="l"/>
                      <a:r>
                        <a:rPr sz="1050" b="0" i="0">
                          <a:solidFill>
                            <a:srgbClr val="000000"/>
                          </a:solidFill>
                          <a:latin typeface="Calibri"/>
                        </a:rPr>
                        <a:t>Figure 49: South Asia &amp; Pacific Market YoY Growth by Material Structure, %, 2026–2036</a:t>
                      </a:r>
                      <a:endParaRPr sz="1050"/>
                    </a:p>
                  </a:txBody>
                  <a:tcPr marL="9525" marR="9525" marT="9525" marB="0" anchor="ctr"/>
                </a:tc>
              </a:tr>
              <a:tr h="176673">
                <a:tc>
                  <a:txBody>
                    <a:bodyPr wrap="square"/>
                    <a:lstStyle/>
                    <a:p>
                      <a:pPr algn="l"/>
                      <a:r>
                        <a:rPr sz="1050" b="0" i="0">
                          <a:solidFill>
                            <a:srgbClr val="000000"/>
                          </a:solidFill>
                          <a:latin typeface="Calibri"/>
                        </a:rPr>
                        <a:t>Figure 50: South Asia &amp; Pacific Market YoY Growth by Barrier Level, %, 2026–2036</a:t>
                      </a:r>
                      <a:endParaRPr sz="1050"/>
                    </a:p>
                  </a:txBody>
                  <a:tcPr marL="9525" marR="9525" marT="9525" marB="0" anchor="ctr"/>
                </a:tc>
              </a:tr>
              <a:tr h="176673">
                <a:tc>
                  <a:txBody>
                    <a:bodyPr wrap="square"/>
                    <a:lstStyle/>
                    <a:p>
                      <a:pPr algn="l"/>
                      <a:r>
                        <a:rPr sz="1050" b="0" i="0">
                          <a:solidFill>
                            <a:srgbClr val="000000"/>
                          </a:solidFill>
                          <a:latin typeface="Calibri"/>
                        </a:rPr>
                        <a:t>Figure 51: South Asia &amp; Pacific Market YoY Growth by Application, %, 2026–2036</a:t>
                      </a:r>
                      <a:endParaRPr sz="1050"/>
                    </a:p>
                  </a:txBody>
                  <a:tcPr marL="9525" marR="9525" marT="9525" marB="0" anchor="ctr"/>
                </a:tc>
              </a:tr>
              <a:tr h="176673">
                <a:tc>
                  <a:txBody>
                    <a:bodyPr wrap="square"/>
                    <a:lstStyle/>
                    <a:p>
                      <a:pPr algn="l"/>
                      <a:r>
                        <a:rPr sz="1050" b="0" i="0">
                          <a:solidFill>
                            <a:srgbClr val="000000"/>
                          </a:solidFill>
                          <a:latin typeface="Calibri"/>
                        </a:rPr>
                        <a:t>Figure 52: South Asia &amp; Pacific Market YoY Growth by Barrier Level Vs Application, %, 2026–2036</a:t>
                      </a:r>
                      <a:endParaRPr sz="1050"/>
                    </a:p>
                  </a:txBody>
                  <a:tcPr marL="9525" marR="9525" marT="9525" marB="0" anchor="ctr"/>
                </a:tc>
              </a:tr>
              <a:tr h="176673">
                <a:tc>
                  <a:txBody>
                    <a:bodyPr wrap="square"/>
                    <a:lstStyle/>
                    <a:p>
                      <a:pPr algn="l"/>
                      <a:r>
                        <a:rPr sz="1050" b="0" i="0">
                          <a:solidFill>
                            <a:srgbClr val="000000"/>
                          </a:solidFill>
                          <a:latin typeface="Calibri"/>
                        </a:rPr>
                        <a:t>Figure 53: South Asia &amp; Pacific Market Attractiveness by Product Type,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806"/>
        </p:xfrm>
        <a:graphic>
          <a:graphicData uri="http://schemas.openxmlformats.org/drawingml/2006/table">
            <a:tbl>
              <a:tblPr>
                <a:tableStyleId>{3B4B98B0-60AC-42C2-AFA5-B58CD77FA1E5}</a:tableStyleId>
              </a:tblPr>
              <a:tblGrid>
                <a:gridCol w="5876925"/>
              </a:tblGrid>
              <a:tr h="347682">
                <a:tc>
                  <a:txBody>
                    <a:bodyPr wrap="square"/>
                    <a:lstStyle/>
                    <a:p>
                      <a:pPr algn="l"/>
                      <a:r>
                        <a:rPr sz="1050" b="0" i="0">
                          <a:solidFill>
                            <a:srgbClr val="000000"/>
                          </a:solidFill>
                          <a:latin typeface="Calibri"/>
                        </a:rPr>
                        <a:t>Figure 54: South Asia &amp; Pacific Market Attractiveness by Principal Material / Barrier Technology, 2026–2036</a:t>
                      </a:r>
                      <a:endParaRPr sz="1050"/>
                    </a:p>
                  </a:txBody>
                  <a:tcPr marL="9525" marR="9525" marT="9525" marB="0" anchor="ctr"/>
                </a:tc>
              </a:tr>
              <a:tr h="177389">
                <a:tc>
                  <a:txBody>
                    <a:bodyPr wrap="square"/>
                    <a:lstStyle/>
                    <a:p>
                      <a:pPr algn="l"/>
                      <a:r>
                        <a:rPr sz="1050" b="0" i="0">
                          <a:solidFill>
                            <a:srgbClr val="000000"/>
                          </a:solidFill>
                          <a:latin typeface="Calibri"/>
                        </a:rPr>
                        <a:t>Figure 55: South Asia &amp; Pacific Market Attractiveness by Material Structure, 2026–2036</a:t>
                      </a:r>
                      <a:endParaRPr sz="1050"/>
                    </a:p>
                  </a:txBody>
                  <a:tcPr marL="9525" marR="9525" marT="9525" marB="0" anchor="ctr"/>
                </a:tc>
              </a:tr>
              <a:tr h="177389">
                <a:tc>
                  <a:txBody>
                    <a:bodyPr wrap="square"/>
                    <a:lstStyle/>
                    <a:p>
                      <a:pPr algn="l"/>
                      <a:r>
                        <a:rPr sz="1050" b="0" i="0">
                          <a:solidFill>
                            <a:srgbClr val="000000"/>
                          </a:solidFill>
                          <a:latin typeface="Calibri"/>
                        </a:rPr>
                        <a:t>Figure 56: South Asia &amp; Pacific Market Attractiveness by Barrier Level, 2026–2036</a:t>
                      </a:r>
                      <a:endParaRPr sz="1050"/>
                    </a:p>
                  </a:txBody>
                  <a:tcPr marL="9525" marR="9525" marT="9525" marB="0" anchor="ctr"/>
                </a:tc>
              </a:tr>
              <a:tr h="177389">
                <a:tc>
                  <a:txBody>
                    <a:bodyPr wrap="square"/>
                    <a:lstStyle/>
                    <a:p>
                      <a:pPr algn="l"/>
                      <a:r>
                        <a:rPr sz="1050" b="0" i="0">
                          <a:solidFill>
                            <a:srgbClr val="000000"/>
                          </a:solidFill>
                          <a:latin typeface="Calibri"/>
                        </a:rPr>
                        <a:t>Figure 57: South Asia &amp; Pacific Market Attractiveness by Application, 2026–2036</a:t>
                      </a:r>
                      <a:endParaRPr sz="1050"/>
                    </a:p>
                  </a:txBody>
                  <a:tcPr marL="9525" marR="9525" marT="9525" marB="0" anchor="ctr"/>
                </a:tc>
              </a:tr>
              <a:tr h="177389">
                <a:tc>
                  <a:txBody>
                    <a:bodyPr wrap="square"/>
                    <a:lstStyle/>
                    <a:p>
                      <a:pPr algn="l"/>
                      <a:r>
                        <a:rPr sz="1050" b="0" i="0">
                          <a:solidFill>
                            <a:srgbClr val="000000"/>
                          </a:solidFill>
                          <a:latin typeface="Calibri"/>
                        </a:rPr>
                        <a:t>Figure 58: South Asia &amp; Pacific Market Attractiveness by Barrier Level Vs Application, 2026–2036</a:t>
                      </a:r>
                      <a:endParaRPr sz="1050"/>
                    </a:p>
                  </a:txBody>
                  <a:tcPr marL="9525" marR="9525" marT="9525" marB="0" anchor="ctr"/>
                </a:tc>
              </a:tr>
              <a:tr h="177389">
                <a:tc>
                  <a:txBody>
                    <a:bodyPr wrap="square"/>
                    <a:lstStyle/>
                    <a:p>
                      <a:pPr algn="l"/>
                      <a:r>
                        <a:rPr sz="1050" b="0" i="0">
                          <a:solidFill>
                            <a:srgbClr val="000000"/>
                          </a:solidFill>
                          <a:latin typeface="Calibri"/>
                        </a:rPr>
                        <a:t>Figure 59: South Asia &amp; Pacific Market Volume by Product Type, Thousand MT, 2021–2036</a:t>
                      </a:r>
                      <a:endParaRPr sz="1050"/>
                    </a:p>
                  </a:txBody>
                  <a:tcPr marL="9525" marR="9525" marT="9525" marB="0" anchor="ctr"/>
                </a:tc>
              </a:tr>
              <a:tr h="347682">
                <a:tc>
                  <a:txBody>
                    <a:bodyPr wrap="square"/>
                    <a:lstStyle/>
                    <a:p>
                      <a:pPr algn="l"/>
                      <a:r>
                        <a:rPr sz="1050" b="0" i="0">
                          <a:solidFill>
                            <a:srgbClr val="000000"/>
                          </a:solidFill>
                          <a:latin typeface="Calibri"/>
                        </a:rPr>
                        <a:t>Figure 60: South Asia &amp; Pacific Market Volume by Principal Material / Barrier Technology, Thousand MT, 2021–2036</a:t>
                      </a:r>
                      <a:endParaRPr sz="1050"/>
                    </a:p>
                  </a:txBody>
                  <a:tcPr marL="9525" marR="9525" marT="9525" marB="0" anchor="ctr"/>
                </a:tc>
              </a:tr>
              <a:tr h="177389">
                <a:tc>
                  <a:txBody>
                    <a:bodyPr wrap="square"/>
                    <a:lstStyle/>
                    <a:p>
                      <a:pPr algn="l"/>
                      <a:r>
                        <a:rPr sz="1050" b="0" i="0">
                          <a:solidFill>
                            <a:srgbClr val="000000"/>
                          </a:solidFill>
                          <a:latin typeface="Calibri"/>
                        </a:rPr>
                        <a:t>Figure 61: South Asia &amp; Pacific Market Volume by Material Structure, Thousand MT, 2021–2036</a:t>
                      </a:r>
                      <a:endParaRPr sz="1050"/>
                    </a:p>
                  </a:txBody>
                  <a:tcPr marL="9525" marR="9525" marT="9525" marB="0" anchor="ctr"/>
                </a:tc>
              </a:tr>
              <a:tr h="177389">
                <a:tc>
                  <a:txBody>
                    <a:bodyPr wrap="square"/>
                    <a:lstStyle/>
                    <a:p>
                      <a:pPr algn="l"/>
                      <a:r>
                        <a:rPr sz="1050" b="0" i="0">
                          <a:solidFill>
                            <a:srgbClr val="000000"/>
                          </a:solidFill>
                          <a:latin typeface="Calibri"/>
                        </a:rPr>
                        <a:t>Figure 62: South Asia &amp; Pacific Market Volume by Barrier Level, Thousand MT, 2021–2036</a:t>
                      </a:r>
                      <a:endParaRPr sz="1050"/>
                    </a:p>
                  </a:txBody>
                  <a:tcPr marL="9525" marR="9525" marT="9525" marB="0" anchor="ctr"/>
                </a:tc>
              </a:tr>
              <a:tr h="177389">
                <a:tc>
                  <a:txBody>
                    <a:bodyPr wrap="square"/>
                    <a:lstStyle/>
                    <a:p>
                      <a:pPr algn="l"/>
                      <a:r>
                        <a:rPr sz="1050" b="0" i="0">
                          <a:solidFill>
                            <a:srgbClr val="000000"/>
                          </a:solidFill>
                          <a:latin typeface="Calibri"/>
                        </a:rPr>
                        <a:t>Figure 63: South Asia &amp; Pacific Market Volume by Application, Thousand MT, 2021–2036</a:t>
                      </a:r>
                      <a:endParaRPr sz="1050"/>
                    </a:p>
                  </a:txBody>
                  <a:tcPr marL="9525" marR="9525" marT="9525" marB="0" anchor="ctr"/>
                </a:tc>
              </a:tr>
              <a:tr h="347682">
                <a:tc>
                  <a:txBody>
                    <a:bodyPr wrap="square"/>
                    <a:lstStyle/>
                    <a:p>
                      <a:pPr algn="l"/>
                      <a:r>
                        <a:rPr sz="1050" b="0" i="0">
                          <a:solidFill>
                            <a:srgbClr val="000000"/>
                          </a:solidFill>
                          <a:latin typeface="Calibri"/>
                        </a:rPr>
                        <a:t>Figure 64: South Asia &amp; Pacific Market Volume by Barrier Level Vs Application, Thousand MT, 2021–2036</a:t>
                      </a:r>
                      <a:endParaRPr sz="1050"/>
                    </a:p>
                  </a:txBody>
                  <a:tcPr marL="9525" marR="9525" marT="9525" marB="0" anchor="ctr"/>
                </a:tc>
              </a:tr>
              <a:tr h="177389">
                <a:tc>
                  <a:txBody>
                    <a:bodyPr wrap="square"/>
                    <a:lstStyle/>
                    <a:p>
                      <a:pPr algn="l"/>
                      <a:r>
                        <a:rPr sz="1050" b="0" i="0">
                          <a:solidFill>
                            <a:srgbClr val="000000"/>
                          </a:solidFill>
                          <a:latin typeface="Calibri"/>
                        </a:rPr>
                        <a:t>Figure 65: South Asia &amp; Pacific Market Average Selling Price by Product Type, US$/MT, 2021–2036</a:t>
                      </a:r>
                      <a:endParaRPr sz="1050"/>
                    </a:p>
                  </a:txBody>
                  <a:tcPr marL="9525" marR="9525" marT="9525" marB="0" anchor="ctr"/>
                </a:tc>
              </a:tr>
              <a:tr h="347682">
                <a:tc>
                  <a:txBody>
                    <a:bodyPr wrap="square"/>
                    <a:lstStyle/>
                    <a:p>
                      <a:pPr algn="l"/>
                      <a:r>
                        <a:rPr sz="1050" b="0" i="0">
                          <a:solidFill>
                            <a:srgbClr val="000000"/>
                          </a:solidFill>
                          <a:latin typeface="Calibri"/>
                        </a:rPr>
                        <a:t>Figure 66: South Asia &amp; Pacific Market Average Selling Price by Principal Material / Barrier Technology, US$/MT, 2021–2036</a:t>
                      </a:r>
                      <a:endParaRPr sz="1050"/>
                    </a:p>
                  </a:txBody>
                  <a:tcPr marL="9525" marR="9525" marT="9525" marB="0" anchor="ctr"/>
                </a:tc>
              </a:tr>
              <a:tr h="177389">
                <a:tc>
                  <a:txBody>
                    <a:bodyPr wrap="square"/>
                    <a:lstStyle/>
                    <a:p>
                      <a:pPr algn="l"/>
                      <a:r>
                        <a:rPr sz="1050" b="0" i="0">
                          <a:solidFill>
                            <a:srgbClr val="000000"/>
                          </a:solidFill>
                          <a:latin typeface="Calibri"/>
                        </a:rPr>
                        <a:t>Figure 67: South Asia &amp; Pacific Market Average Selling Price by Material Structure, US$/MT, 2021–2036</a:t>
                      </a:r>
                      <a:endParaRPr sz="1050"/>
                    </a:p>
                  </a:txBody>
                  <a:tcPr marL="9525" marR="9525" marT="9525" marB="0" anchor="ctr"/>
                </a:tc>
              </a:tr>
              <a:tr h="177389">
                <a:tc>
                  <a:txBody>
                    <a:bodyPr wrap="square"/>
                    <a:lstStyle/>
                    <a:p>
                      <a:pPr algn="l"/>
                      <a:r>
                        <a:rPr sz="1050" b="0" i="0">
                          <a:solidFill>
                            <a:srgbClr val="000000"/>
                          </a:solidFill>
                          <a:latin typeface="Calibri"/>
                        </a:rPr>
                        <a:t>Figure 68: South Asia &amp; Pacific Market Average Selling Price by Barrier Level, US$/MT, 2021–2036</a:t>
                      </a:r>
                      <a:endParaRPr sz="1050"/>
                    </a:p>
                  </a:txBody>
                  <a:tcPr marL="9525" marR="9525" marT="9525" marB="0" anchor="ctr"/>
                </a:tc>
              </a:tr>
              <a:tr h="177389">
                <a:tc>
                  <a:txBody>
                    <a:bodyPr wrap="square"/>
                    <a:lstStyle/>
                    <a:p>
                      <a:pPr algn="l"/>
                      <a:r>
                        <a:rPr sz="1050" b="0" i="0">
                          <a:solidFill>
                            <a:srgbClr val="000000"/>
                          </a:solidFill>
                          <a:latin typeface="Calibri"/>
                        </a:rPr>
                        <a:t>Figure 69: South Asia &amp; Pacific Market Average Selling Price by Application, US$/MT, 2021–2036</a:t>
                      </a:r>
                      <a:endParaRPr sz="1050"/>
                    </a:p>
                  </a:txBody>
                  <a:tcPr marL="9525" marR="9525" marT="9525" marB="0" anchor="ctr"/>
                </a:tc>
              </a:tr>
              <a:tr h="347682">
                <a:tc>
                  <a:txBody>
                    <a:bodyPr wrap="square"/>
                    <a:lstStyle/>
                    <a:p>
                      <a:pPr algn="l"/>
                      <a:r>
                        <a:rPr sz="1050" b="0" i="0">
                          <a:solidFill>
                            <a:srgbClr val="000000"/>
                          </a:solidFill>
                          <a:latin typeface="Calibri"/>
                        </a:rPr>
                        <a:t>Figure 70: South Asia &amp; Pacific Market Average Selling Price by Barrier Level Vs Application, US$/MT, 2021–2036</a:t>
                      </a:r>
                      <a:endParaRPr sz="1050"/>
                    </a:p>
                  </a:txBody>
                  <a:tcPr marL="9525" marR="9525" marT="9525" marB="0" anchor="ctr"/>
                </a:tc>
              </a:tr>
              <a:tr h="347682">
                <a:tc>
                  <a:txBody>
                    <a:bodyPr wrap="square"/>
                    <a:lstStyle/>
                    <a:p>
                      <a:pPr algn="l"/>
                      <a:r>
                        <a:rPr sz="1050" b="0" i="0">
                          <a:solidFill>
                            <a:srgbClr val="000000"/>
                          </a:solidFill>
                          <a:latin typeface="Calibri"/>
                        </a:rPr>
                        <a:t>Figure 71: South Asia &amp; Pacific Market Value and YoY Growth, Rollstock Films (Product Type), US$ Mn and %, 2021–2036</a:t>
                      </a:r>
                      <a:endParaRPr sz="1050"/>
                    </a:p>
                  </a:txBody>
                  <a:tcPr marL="9525" marR="9525" marT="9525" marB="0" anchor="ctr"/>
                </a:tc>
              </a:tr>
              <a:tr h="347682">
                <a:tc>
                  <a:txBody>
                    <a:bodyPr wrap="square"/>
                    <a:lstStyle/>
                    <a:p>
                      <a:pPr algn="l"/>
                      <a:r>
                        <a:rPr sz="1050" b="0" i="0">
                          <a:solidFill>
                            <a:srgbClr val="000000"/>
                          </a:solidFill>
                          <a:latin typeface="Calibri"/>
                        </a:rPr>
                        <a:t>Figure 72: South Asia &amp; Pacific Market Value and YoY Growth, PE-Based (Principal Material / Barrier Technology), US$ Mn and %, 2021–2036</a:t>
                      </a:r>
                      <a:endParaRPr sz="1050"/>
                    </a:p>
                  </a:txBody>
                  <a:tcPr marL="9525" marR="9525" marT="9525" marB="0" anchor="ctr"/>
                </a:tc>
              </a:tr>
              <a:tr h="347682">
                <a:tc>
                  <a:txBody>
                    <a:bodyPr wrap="square"/>
                    <a:lstStyle/>
                    <a:p>
                      <a:pPr algn="l"/>
                      <a:r>
                        <a:rPr sz="1050" b="0" i="0">
                          <a:solidFill>
                            <a:srgbClr val="000000"/>
                          </a:solidFill>
                          <a:latin typeface="Calibri"/>
                        </a:rPr>
                        <a:t>Figure 73: South Asia &amp; Pacific Market Value and YoY Growth, Monolayer Films (Material Structure), US$ Mn and %, 2021–2036</a:t>
                      </a:r>
                      <a:endParaRPr sz="1050"/>
                    </a:p>
                  </a:txBody>
                  <a:tcPr marL="9525" marR="9525" marT="9525" marB="0" anchor="ctr"/>
                </a:tc>
              </a:tr>
              <a:tr h="347682">
                <a:tc>
                  <a:txBody>
                    <a:bodyPr wrap="square"/>
                    <a:lstStyle/>
                    <a:p>
                      <a:pPr algn="l"/>
                      <a:r>
                        <a:rPr sz="1050" b="0" i="0">
                          <a:solidFill>
                            <a:srgbClr val="000000"/>
                          </a:solidFill>
                          <a:latin typeface="Calibri"/>
                        </a:rPr>
                        <a:t>Figure 74: South Asia &amp; Pacific Market Value and YoY Growth, Low-Barrier Films (Barrier Level),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4"/>
        </p:xfrm>
        <a:graphic>
          <a:graphicData uri="http://schemas.openxmlformats.org/drawingml/2006/table">
            <a:tbl>
              <a:tblPr>
                <a:tableStyleId>{3B4B98B0-60AC-42C2-AFA5-B58CD77FA1E5}</a:tableStyleId>
              </a:tblPr>
              <a:tblGrid>
                <a:gridCol w="5876925"/>
              </a:tblGrid>
              <a:tr h="347213">
                <a:tc>
                  <a:txBody>
                    <a:bodyPr wrap="square"/>
                    <a:lstStyle/>
                    <a:p>
                      <a:pPr algn="l"/>
                      <a:r>
                        <a:rPr sz="1050" b="0" i="0">
                          <a:solidFill>
                            <a:srgbClr val="000000"/>
                          </a:solidFill>
                          <a:latin typeface="Calibri"/>
                        </a:rPr>
                        <a:t>Figure 75: South Asia &amp; Pacific Market Value and YoY Growth, Food Packaging (Application), US$ Mn and %, 2021–2036</a:t>
                      </a:r>
                      <a:endParaRPr sz="1050"/>
                    </a:p>
                  </a:txBody>
                  <a:tcPr marL="9525" marR="9525" marT="9525" marB="0" anchor="ctr"/>
                </a:tc>
              </a:tr>
              <a:tr h="347213">
                <a:tc>
                  <a:txBody>
                    <a:bodyPr wrap="square"/>
                    <a:lstStyle/>
                    <a:p>
                      <a:pPr algn="l"/>
                      <a:r>
                        <a:rPr sz="1050" b="0" i="0">
                          <a:solidFill>
                            <a:srgbClr val="000000"/>
                          </a:solidFill>
                          <a:latin typeface="Calibri"/>
                        </a:rPr>
                        <a:t>Figure 76: South Asia &amp; Pacific Market Value and YoY Growth, Low-Barrier Films (Barrier Level Vs Application), US$ Mn and %, 2021–2036</a:t>
                      </a:r>
                      <a:endParaRPr sz="1050"/>
                    </a:p>
                  </a:txBody>
                  <a:tcPr marL="9525" marR="9525" marT="9525" marB="0" anchor="ctr"/>
                </a:tc>
              </a:tr>
              <a:tr h="347213">
                <a:tc>
                  <a:txBody>
                    <a:bodyPr wrap="square"/>
                    <a:lstStyle/>
                    <a:p>
                      <a:pPr algn="l"/>
                      <a:r>
                        <a:rPr sz="1050" b="0" i="0">
                          <a:solidFill>
                            <a:srgbClr val="000000"/>
                          </a:solidFill>
                          <a:latin typeface="Calibri"/>
                        </a:rPr>
                        <a:t>Figure 77: South Asia &amp; Pacific Market Value and YoY Growth, Barrier Casings (Product Type), US$ Mn and %, 2021–2036</a:t>
                      </a:r>
                      <a:endParaRPr sz="1050"/>
                    </a:p>
                  </a:txBody>
                  <a:tcPr marL="9525" marR="9525" marT="9525" marB="0" anchor="ctr"/>
                </a:tc>
              </a:tr>
              <a:tr h="347213">
                <a:tc>
                  <a:txBody>
                    <a:bodyPr wrap="square"/>
                    <a:lstStyle/>
                    <a:p>
                      <a:pPr algn="l"/>
                      <a:r>
                        <a:rPr sz="1050" b="0" i="0">
                          <a:solidFill>
                            <a:srgbClr val="000000"/>
                          </a:solidFill>
                          <a:latin typeface="Calibri"/>
                        </a:rPr>
                        <a:t>Figure 78: South Asia &amp; Pacific Market Value and YoY Growth, PP-Based (Principal Material / Barrier Technology), US$ Mn and %, 2021–2036</a:t>
                      </a:r>
                      <a:endParaRPr sz="1050"/>
                    </a:p>
                  </a:txBody>
                  <a:tcPr marL="9525" marR="9525" marT="9525" marB="0" anchor="ctr"/>
                </a:tc>
              </a:tr>
              <a:tr h="347213">
                <a:tc>
                  <a:txBody>
                    <a:bodyPr wrap="square"/>
                    <a:lstStyle/>
                    <a:p>
                      <a:pPr algn="l"/>
                      <a:r>
                        <a:rPr sz="1050" b="0" i="0">
                          <a:solidFill>
                            <a:srgbClr val="000000"/>
                          </a:solidFill>
                          <a:latin typeface="Calibri"/>
                        </a:rPr>
                        <a:t>Figure 79: South Asia &amp; Pacific Market Value and YoY Growth, Coextruded Multilayer Films (Material Structure), US$ Mn and %, 2021–2036</a:t>
                      </a:r>
                      <a:endParaRPr sz="1050"/>
                    </a:p>
                  </a:txBody>
                  <a:tcPr marL="9525" marR="9525" marT="9525" marB="0" anchor="ctr"/>
                </a:tc>
              </a:tr>
              <a:tr h="347213">
                <a:tc>
                  <a:txBody>
                    <a:bodyPr wrap="square"/>
                    <a:lstStyle/>
                    <a:p>
                      <a:pPr algn="l"/>
                      <a:r>
                        <a:rPr sz="1050" b="0" i="0">
                          <a:solidFill>
                            <a:srgbClr val="000000"/>
                          </a:solidFill>
                          <a:latin typeface="Calibri"/>
                        </a:rPr>
                        <a:t>Figure 80: South Asia &amp; Pacific Market Value and YoY Growth, Medium-Barrier Films (Barrier Level), US$ Mn and %, 2021–2036</a:t>
                      </a:r>
                      <a:endParaRPr sz="1050"/>
                    </a:p>
                  </a:txBody>
                  <a:tcPr marL="9525" marR="9525" marT="9525" marB="0" anchor="ctr"/>
                </a:tc>
              </a:tr>
              <a:tr h="347213">
                <a:tc>
                  <a:txBody>
                    <a:bodyPr wrap="square"/>
                    <a:lstStyle/>
                    <a:p>
                      <a:pPr algn="l"/>
                      <a:r>
                        <a:rPr sz="1050" b="0" i="0">
                          <a:solidFill>
                            <a:srgbClr val="000000"/>
                          </a:solidFill>
                          <a:latin typeface="Calibri"/>
                        </a:rPr>
                        <a:t>Figure 81: South Asia &amp; Pacific Market Value and YoY Growth, Non-Food Packaging (Application), US$ Mn and %, 2021–2036</a:t>
                      </a:r>
                      <a:endParaRPr sz="1050"/>
                    </a:p>
                  </a:txBody>
                  <a:tcPr marL="9525" marR="9525" marT="9525" marB="0" anchor="ctr"/>
                </a:tc>
              </a:tr>
              <a:tr h="177150">
                <a:tc>
                  <a:txBody>
                    <a:bodyPr wrap="square"/>
                    <a:lstStyle/>
                    <a:p>
                      <a:pPr algn="l"/>
                      <a:r>
                        <a:rPr sz="1050" b="0" i="0">
                          <a:solidFill>
                            <a:srgbClr val="000000"/>
                          </a:solidFill>
                          <a:latin typeface="Calibri"/>
                        </a:rPr>
                        <a:t>Figure 82: Product Type × Principal Material / Barrier Technology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83: Product Type × Material Structure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84: Product Type × Barrier Level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85: Product Type × Application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86: Product Type × Barrier Level Vs Application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87: Principal Material / Barrier Technology × Material Structure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88: Principal Material / Barrier Technology × Barrier Level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89: Principal Material / Barrier Technology × Application Opportunity Matrix, 2026–2036</a:t>
                      </a:r>
                      <a:endParaRPr sz="1050"/>
                    </a:p>
                  </a:txBody>
                  <a:tcPr marL="9525" marR="9525" marT="9525" marB="0" anchor="ctr"/>
                </a:tc>
              </a:tr>
              <a:tr h="347213">
                <a:tc>
                  <a:txBody>
                    <a:bodyPr wrap="square"/>
                    <a:lstStyle/>
                    <a:p>
                      <a:pPr algn="l"/>
                      <a:r>
                        <a:rPr sz="1050" b="0" i="0">
                          <a:solidFill>
                            <a:srgbClr val="000000"/>
                          </a:solidFill>
                          <a:latin typeface="Calibri"/>
                        </a:rPr>
                        <a:t>Figure 90: Principal Material / Barrier Technology × Barrier Level Vs Application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91: Material Structure × Barrier Level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92: Material Structure × Application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93: Material Structure × Barrier Level Vs Application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94: Barrier Level × Application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95: Barrier Level × Barrier Level Vs Application Opportunity Matrix, 2026–2036</a:t>
                      </a:r>
                      <a:endParaRPr sz="1050"/>
                    </a:p>
                  </a:txBody>
                  <a:tcPr marL="9525" marR="9525" marT="9525" marB="0" anchor="ctr"/>
                </a:tc>
              </a:tr>
              <a:tr h="177150">
                <a:tc>
                  <a:txBody>
                    <a:bodyPr wrap="square"/>
                    <a:lstStyle/>
                    <a:p>
                      <a:pPr algn="l"/>
                      <a:r>
                        <a:rPr sz="1050" b="0" i="0">
                          <a:solidFill>
                            <a:srgbClr val="000000"/>
                          </a:solidFill>
                          <a:latin typeface="Calibri"/>
                        </a:rPr>
                        <a:t>Figure 96: Application × Barrier Level Vs Application Opportunity Matrix,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790"/>
        </p:xfrm>
        <a:graphic>
          <a:graphicData uri="http://schemas.openxmlformats.org/drawingml/2006/table">
            <a:tbl>
              <a:tblPr>
                <a:tableStyleId>{3B4B98B0-60AC-42C2-AFA5-B58CD77FA1E5}</a:tableStyleId>
              </a:tblPr>
              <a:tblGrid>
                <a:gridCol w="5876925"/>
              </a:tblGrid>
              <a:tr h="334153">
                <a:tc>
                  <a:txBody>
                    <a:bodyPr wrap="square"/>
                    <a:lstStyle/>
                    <a:p>
                      <a:pPr algn="l"/>
                      <a:r>
                        <a:rPr sz="1050" b="0" i="0">
                          <a:solidFill>
                            <a:srgbClr val="000000"/>
                          </a:solidFill>
                          <a:latin typeface="Calibri"/>
                        </a:rPr>
                        <a:t>Figure 97: South Asia &amp; Pacific Market Value by Product Type and Principal Material / Barrier Technology, US$ Mn, 2036</a:t>
                      </a:r>
                      <a:endParaRPr sz="1050"/>
                    </a:p>
                  </a:txBody>
                  <a:tcPr marL="9525" marR="9525" marT="9525" marB="0" anchor="ctr"/>
                </a:tc>
              </a:tr>
              <a:tr h="170486">
                <a:tc>
                  <a:txBody>
                    <a:bodyPr wrap="square"/>
                    <a:lstStyle/>
                    <a:p>
                      <a:pPr algn="l"/>
                      <a:r>
                        <a:rPr sz="1050" b="0" i="0">
                          <a:solidFill>
                            <a:srgbClr val="000000"/>
                          </a:solidFill>
                          <a:latin typeface="Calibri"/>
                        </a:rPr>
                        <a:t>Figure 98: South Asia &amp; Pacific Market Value by Product Type and Material Structure, US$ Mn, 2036</a:t>
                      </a:r>
                      <a:endParaRPr sz="1050"/>
                    </a:p>
                  </a:txBody>
                  <a:tcPr marL="9525" marR="9525" marT="9525" marB="0" anchor="ctr"/>
                </a:tc>
              </a:tr>
              <a:tr h="170486">
                <a:tc>
                  <a:txBody>
                    <a:bodyPr wrap="square"/>
                    <a:lstStyle/>
                    <a:p>
                      <a:pPr algn="l"/>
                      <a:r>
                        <a:rPr sz="1050" b="0" i="0">
                          <a:solidFill>
                            <a:srgbClr val="000000"/>
                          </a:solidFill>
                          <a:latin typeface="Calibri"/>
                        </a:rPr>
                        <a:t>Figure 99: South Asia &amp; Pacific Market Value by Product Type and Barrier Level, US$ Mn, 2036</a:t>
                      </a:r>
                      <a:endParaRPr sz="1050"/>
                    </a:p>
                  </a:txBody>
                  <a:tcPr marL="9525" marR="9525" marT="9525" marB="0" anchor="ctr"/>
                </a:tc>
              </a:tr>
              <a:tr h="170486">
                <a:tc>
                  <a:txBody>
                    <a:bodyPr wrap="square"/>
                    <a:lstStyle/>
                    <a:p>
                      <a:pPr algn="l"/>
                      <a:r>
                        <a:rPr sz="1050" b="0" i="0">
                          <a:solidFill>
                            <a:srgbClr val="000000"/>
                          </a:solidFill>
                          <a:latin typeface="Calibri"/>
                        </a:rPr>
                        <a:t>Figure 100: South Asia &amp; Pacific Market Value by Product Type and Application, US$ Mn, 2036</a:t>
                      </a:r>
                      <a:endParaRPr sz="1050"/>
                    </a:p>
                  </a:txBody>
                  <a:tcPr marL="9525" marR="9525" marT="9525" marB="0" anchor="ctr"/>
                </a:tc>
              </a:tr>
              <a:tr h="334153">
                <a:tc>
                  <a:txBody>
                    <a:bodyPr wrap="square"/>
                    <a:lstStyle/>
                    <a:p>
                      <a:pPr algn="l"/>
                      <a:r>
                        <a:rPr sz="1050" b="0" i="0">
                          <a:solidFill>
                            <a:srgbClr val="000000"/>
                          </a:solidFill>
                          <a:latin typeface="Calibri"/>
                        </a:rPr>
                        <a:t>Figure 101: South Asia &amp; Pacific Market Value by Product Type and Barrier Level Vs Application, US$ Mn, 2036</a:t>
                      </a:r>
                      <a:endParaRPr sz="1050"/>
                    </a:p>
                  </a:txBody>
                  <a:tcPr marL="9525" marR="9525" marT="9525" marB="0" anchor="ctr"/>
                </a:tc>
              </a:tr>
              <a:tr h="334153">
                <a:tc>
                  <a:txBody>
                    <a:bodyPr wrap="square"/>
                    <a:lstStyle/>
                    <a:p>
                      <a:pPr algn="l"/>
                      <a:r>
                        <a:rPr sz="1050" b="0" i="0">
                          <a:solidFill>
                            <a:srgbClr val="000000"/>
                          </a:solidFill>
                          <a:latin typeface="Calibri"/>
                        </a:rPr>
                        <a:t>Figure 102: South Asia &amp; Pacific Market Value by Principal Material / Barrier Technology and Material Structure, US$ Mn, 2036</a:t>
                      </a:r>
                      <a:endParaRPr sz="1050"/>
                    </a:p>
                  </a:txBody>
                  <a:tcPr marL="9525" marR="9525" marT="9525" marB="0" anchor="ctr"/>
                </a:tc>
              </a:tr>
              <a:tr h="334153">
                <a:tc>
                  <a:txBody>
                    <a:bodyPr wrap="square"/>
                    <a:lstStyle/>
                    <a:p>
                      <a:pPr algn="l"/>
                      <a:r>
                        <a:rPr sz="1050" b="0" i="0">
                          <a:solidFill>
                            <a:srgbClr val="000000"/>
                          </a:solidFill>
                          <a:latin typeface="Calibri"/>
                        </a:rPr>
                        <a:t>Figure 103: South Asia &amp; Pacific Market Value by Principal Material / Barrier Technology and Barrier Level, US$ Mn, 2036</a:t>
                      </a:r>
                      <a:endParaRPr sz="1050"/>
                    </a:p>
                  </a:txBody>
                  <a:tcPr marL="9525" marR="9525" marT="9525" marB="0" anchor="ctr"/>
                </a:tc>
              </a:tr>
              <a:tr h="170486">
                <a:tc>
                  <a:txBody>
                    <a:bodyPr wrap="square"/>
                    <a:lstStyle/>
                    <a:p>
                      <a:pPr algn="l"/>
                      <a:r>
                        <a:rPr sz="1050" b="0" i="0">
                          <a:solidFill>
                            <a:srgbClr val="000000"/>
                          </a:solidFill>
                          <a:latin typeface="Calibri"/>
                        </a:rPr>
                        <a:t>Figure 104: India Market Value and YoY Growth, US$ Mn and %, 2021–2036</a:t>
                      </a:r>
                      <a:endParaRPr sz="1050"/>
                    </a:p>
                  </a:txBody>
                  <a:tcPr marL="9525" marR="9525" marT="9525" marB="0" anchor="ctr"/>
                </a:tc>
              </a:tr>
              <a:tr h="170486">
                <a:tc>
                  <a:txBody>
                    <a:bodyPr wrap="square"/>
                    <a:lstStyle/>
                    <a:p>
                      <a:pPr algn="l"/>
                      <a:r>
                        <a:rPr sz="1050" b="0" i="0">
                          <a:solidFill>
                            <a:srgbClr val="000000"/>
                          </a:solidFill>
                          <a:latin typeface="Calibri"/>
                        </a:rPr>
                        <a:t>Figure 105: India Market Value by Product Type, US$ Mn, 2026 and 2036</a:t>
                      </a:r>
                      <a:endParaRPr sz="1050"/>
                    </a:p>
                  </a:txBody>
                  <a:tcPr marL="9525" marR="9525" marT="9525" marB="0" anchor="ctr"/>
                </a:tc>
              </a:tr>
              <a:tr h="170486">
                <a:tc>
                  <a:txBody>
                    <a:bodyPr wrap="square"/>
                    <a:lstStyle/>
                    <a:p>
                      <a:pPr algn="l"/>
                      <a:r>
                        <a:rPr sz="1050" b="0" i="0">
                          <a:solidFill>
                            <a:srgbClr val="000000"/>
                          </a:solidFill>
                          <a:latin typeface="Calibri"/>
                        </a:rPr>
                        <a:t>Figure 106: India Market Value by Application, US$ Mn, 2026 and 2036</a:t>
                      </a:r>
                      <a:endParaRPr sz="1050"/>
                    </a:p>
                  </a:txBody>
                  <a:tcPr marL="9525" marR="9525" marT="9525" marB="0" anchor="ctr"/>
                </a:tc>
              </a:tr>
              <a:tr h="170486">
                <a:tc>
                  <a:txBody>
                    <a:bodyPr wrap="square"/>
                    <a:lstStyle/>
                    <a:p>
                      <a:pPr algn="l"/>
                      <a:r>
                        <a:rPr sz="1050" b="0" i="0">
                          <a:solidFill>
                            <a:srgbClr val="000000"/>
                          </a:solidFill>
                          <a:latin typeface="Calibri"/>
                        </a:rPr>
                        <a:t>Figure 107: India Market Share within South Asia &amp; Pacific, %, 2026 and 2036</a:t>
                      </a:r>
                      <a:endParaRPr sz="1050"/>
                    </a:p>
                  </a:txBody>
                  <a:tcPr marL="9525" marR="9525" marT="9525" marB="0" anchor="ctr"/>
                </a:tc>
              </a:tr>
              <a:tr h="170486">
                <a:tc>
                  <a:txBody>
                    <a:bodyPr wrap="square"/>
                    <a:lstStyle/>
                    <a:p>
                      <a:pPr algn="l"/>
                      <a:r>
                        <a:rPr sz="1050" b="0" i="0">
                          <a:solidFill>
                            <a:srgbClr val="000000"/>
                          </a:solidFill>
                          <a:latin typeface="Calibri"/>
                        </a:rPr>
                        <a:t>Figure 108: India Market Value by Principal Material / Barrier Technology, US$ Mn, 2026 and 2036</a:t>
                      </a:r>
                      <a:endParaRPr sz="1050"/>
                    </a:p>
                  </a:txBody>
                  <a:tcPr marL="9525" marR="9525" marT="9525" marB="0" anchor="ctr"/>
                </a:tc>
              </a:tr>
              <a:tr h="170486">
                <a:tc>
                  <a:txBody>
                    <a:bodyPr wrap="square"/>
                    <a:lstStyle/>
                    <a:p>
                      <a:pPr algn="l"/>
                      <a:r>
                        <a:rPr sz="1050" b="0" i="0">
                          <a:solidFill>
                            <a:srgbClr val="000000"/>
                          </a:solidFill>
                          <a:latin typeface="Calibri"/>
                        </a:rPr>
                        <a:t>Figure 109: India Market Value by Material Structure, US$ Mn, 2026 and 2036</a:t>
                      </a:r>
                      <a:endParaRPr sz="1050"/>
                    </a:p>
                  </a:txBody>
                  <a:tcPr marL="9525" marR="9525" marT="9525" marB="0" anchor="ctr"/>
                </a:tc>
              </a:tr>
              <a:tr h="170486">
                <a:tc>
                  <a:txBody>
                    <a:bodyPr wrap="square"/>
                    <a:lstStyle/>
                    <a:p>
                      <a:pPr algn="l"/>
                      <a:r>
                        <a:rPr sz="1050" b="0" i="0">
                          <a:solidFill>
                            <a:srgbClr val="000000"/>
                          </a:solidFill>
                          <a:latin typeface="Calibri"/>
                        </a:rPr>
                        <a:t>Figure 110: India Market Value by Barrier Level, US$ Mn, 2026 and 2036</a:t>
                      </a:r>
                      <a:endParaRPr sz="1050"/>
                    </a:p>
                  </a:txBody>
                  <a:tcPr marL="9525" marR="9525" marT="9525" marB="0" anchor="ctr"/>
                </a:tc>
              </a:tr>
              <a:tr h="170486">
                <a:tc>
                  <a:txBody>
                    <a:bodyPr wrap="square"/>
                    <a:lstStyle/>
                    <a:p>
                      <a:pPr algn="l"/>
                      <a:r>
                        <a:rPr sz="1050" b="0" i="0">
                          <a:solidFill>
                            <a:srgbClr val="000000"/>
                          </a:solidFill>
                          <a:latin typeface="Calibri"/>
                        </a:rPr>
                        <a:t>Figure 111: India Market Value by Barrier Level Vs Application, US$ Mn, 2026 and 2036</a:t>
                      </a:r>
                      <a:endParaRPr sz="1050"/>
                    </a:p>
                  </a:txBody>
                  <a:tcPr marL="9525" marR="9525" marT="9525" marB="0" anchor="ctr"/>
                </a:tc>
              </a:tr>
              <a:tr h="170486">
                <a:tc>
                  <a:txBody>
                    <a:bodyPr wrap="square"/>
                    <a:lstStyle/>
                    <a:p>
                      <a:pPr algn="l"/>
                      <a:r>
                        <a:rPr sz="1050" b="0" i="0">
                          <a:solidFill>
                            <a:srgbClr val="000000"/>
                          </a:solidFill>
                          <a:latin typeface="Calibri"/>
                        </a:rPr>
                        <a:t>Figure 112: Australia Market Value and YoY Growth, US$ Mn and %, 2021–2036</a:t>
                      </a:r>
                      <a:endParaRPr sz="1050"/>
                    </a:p>
                  </a:txBody>
                  <a:tcPr marL="9525" marR="9525" marT="9525" marB="0" anchor="ctr"/>
                </a:tc>
              </a:tr>
              <a:tr h="170486">
                <a:tc>
                  <a:txBody>
                    <a:bodyPr wrap="square"/>
                    <a:lstStyle/>
                    <a:p>
                      <a:pPr algn="l"/>
                      <a:r>
                        <a:rPr sz="1050" b="0" i="0">
                          <a:solidFill>
                            <a:srgbClr val="000000"/>
                          </a:solidFill>
                          <a:latin typeface="Calibri"/>
                        </a:rPr>
                        <a:t>Figure 113: Australia Market Value by Product Type, US$ Mn, 2026 and 2036</a:t>
                      </a:r>
                      <a:endParaRPr sz="1050"/>
                    </a:p>
                  </a:txBody>
                  <a:tcPr marL="9525" marR="9525" marT="9525" marB="0" anchor="ctr"/>
                </a:tc>
              </a:tr>
              <a:tr h="170486">
                <a:tc>
                  <a:txBody>
                    <a:bodyPr wrap="square"/>
                    <a:lstStyle/>
                    <a:p>
                      <a:pPr algn="l"/>
                      <a:r>
                        <a:rPr sz="1050" b="0" i="0">
                          <a:solidFill>
                            <a:srgbClr val="000000"/>
                          </a:solidFill>
                          <a:latin typeface="Calibri"/>
                        </a:rPr>
                        <a:t>Figure 114: Australia Market Value by Application, US$ Mn, 2026 and 2036</a:t>
                      </a:r>
                      <a:endParaRPr sz="1050"/>
                    </a:p>
                  </a:txBody>
                  <a:tcPr marL="9525" marR="9525" marT="9525" marB="0" anchor="ctr"/>
                </a:tc>
              </a:tr>
              <a:tr h="170486">
                <a:tc>
                  <a:txBody>
                    <a:bodyPr wrap="square"/>
                    <a:lstStyle/>
                    <a:p>
                      <a:pPr algn="l"/>
                      <a:r>
                        <a:rPr sz="1050" b="0" i="0">
                          <a:solidFill>
                            <a:srgbClr val="000000"/>
                          </a:solidFill>
                          <a:latin typeface="Calibri"/>
                        </a:rPr>
                        <a:t>Figure 115: Australia Market Share within South Asia &amp; Pacific, %, 2026 and 2036</a:t>
                      </a:r>
                      <a:endParaRPr sz="1050"/>
                    </a:p>
                  </a:txBody>
                  <a:tcPr marL="9525" marR="9525" marT="9525" marB="0" anchor="ctr"/>
                </a:tc>
              </a:tr>
              <a:tr h="170486">
                <a:tc>
                  <a:txBody>
                    <a:bodyPr wrap="square"/>
                    <a:lstStyle/>
                    <a:p>
                      <a:pPr algn="l"/>
                      <a:r>
                        <a:rPr sz="1050" b="0" i="0">
                          <a:solidFill>
                            <a:srgbClr val="000000"/>
                          </a:solidFill>
                          <a:latin typeface="Calibri"/>
                        </a:rPr>
                        <a:t>Figure 116: Australia Market Value by Principal Material / Barrier Technology, US$ Mn, 2026 and 2036</a:t>
                      </a:r>
                      <a:endParaRPr sz="1050"/>
                    </a:p>
                  </a:txBody>
                  <a:tcPr marL="9525" marR="9525" marT="9525" marB="0" anchor="ctr"/>
                </a:tc>
              </a:tr>
              <a:tr h="170486">
                <a:tc>
                  <a:txBody>
                    <a:bodyPr wrap="square"/>
                    <a:lstStyle/>
                    <a:p>
                      <a:pPr algn="l"/>
                      <a:r>
                        <a:rPr sz="1050" b="0" i="0">
                          <a:solidFill>
                            <a:srgbClr val="000000"/>
                          </a:solidFill>
                          <a:latin typeface="Calibri"/>
                        </a:rPr>
                        <a:t>Figure 117: Australia Market Value by Material Structure, US$ Mn, 2026 and 2036</a:t>
                      </a:r>
                      <a:endParaRPr sz="1050"/>
                    </a:p>
                  </a:txBody>
                  <a:tcPr marL="9525" marR="9525" marT="9525" marB="0" anchor="ctr"/>
                </a:tc>
              </a:tr>
              <a:tr h="170486">
                <a:tc>
                  <a:txBody>
                    <a:bodyPr wrap="square"/>
                    <a:lstStyle/>
                    <a:p>
                      <a:pPr algn="l"/>
                      <a:r>
                        <a:rPr sz="1050" b="0" i="0">
                          <a:solidFill>
                            <a:srgbClr val="000000"/>
                          </a:solidFill>
                          <a:latin typeface="Calibri"/>
                        </a:rPr>
                        <a:t>Figure 118: Australia Market Value by Barrier Level, US$ Mn, 2026 and 2036</a:t>
                      </a:r>
                      <a:endParaRPr sz="1050"/>
                    </a:p>
                  </a:txBody>
                  <a:tcPr marL="9525" marR="9525" marT="9525" marB="0" anchor="ctr"/>
                </a:tc>
              </a:tr>
              <a:tr h="170486">
                <a:tc>
                  <a:txBody>
                    <a:bodyPr wrap="square"/>
                    <a:lstStyle/>
                    <a:p>
                      <a:pPr algn="l"/>
                      <a:r>
                        <a:rPr sz="1050" b="0" i="0">
                          <a:solidFill>
                            <a:srgbClr val="000000"/>
                          </a:solidFill>
                          <a:latin typeface="Calibri"/>
                        </a:rPr>
                        <a:t>Figure 119: Australia Market Value by Barrier Level Vs Application, US$ Mn, 2026 and 2036</a:t>
                      </a:r>
                      <a:endParaRPr sz="1050"/>
                    </a:p>
                  </a:txBody>
                  <a:tcPr marL="9525" marR="9525" marT="9525" marB="0" anchor="ctr"/>
                </a:tc>
              </a:tr>
              <a:tr h="170486">
                <a:tc>
                  <a:txBody>
                    <a:bodyPr wrap="square"/>
                    <a:lstStyle/>
                    <a:p>
                      <a:pPr algn="l"/>
                      <a:r>
                        <a:rPr sz="1050" b="0" i="0">
                          <a:solidFill>
                            <a:srgbClr val="000000"/>
                          </a:solidFill>
                          <a:latin typeface="Calibri"/>
                        </a:rPr>
                        <a:t>Figure 120: Indonesia Market Value and YoY Growth, US$ Mn and %, 2021–2036</a:t>
                      </a:r>
                      <a:endParaRPr sz="1050"/>
                    </a:p>
                  </a:txBody>
                  <a:tcPr marL="9525" marR="9525" marT="9525" marB="0" anchor="ctr"/>
                </a:tc>
              </a:tr>
              <a:tr h="170486">
                <a:tc>
                  <a:txBody>
                    <a:bodyPr wrap="square"/>
                    <a:lstStyle/>
                    <a:p>
                      <a:pPr algn="l"/>
                      <a:r>
                        <a:rPr sz="1050" b="0" i="0">
                          <a:solidFill>
                            <a:srgbClr val="000000"/>
                          </a:solidFill>
                          <a:latin typeface="Calibri"/>
                        </a:rPr>
                        <a:t>Figure 121: Indonesia Market Value by Product Type, US$ Mn, 2026 and 2036</a:t>
                      </a:r>
                      <a:endParaRPr sz="1050"/>
                    </a:p>
                  </a:txBody>
                  <a:tcPr marL="9525" marR="9525" marT="9525" marB="0" anchor="ctr"/>
                </a:tc>
              </a:tr>
              <a:tr h="170486">
                <a:tc>
                  <a:txBody>
                    <a:bodyPr wrap="square"/>
                    <a:lstStyle/>
                    <a:p>
                      <a:pPr algn="l"/>
                      <a:r>
                        <a:rPr sz="1050" b="0" i="0">
                          <a:solidFill>
                            <a:srgbClr val="000000"/>
                          </a:solidFill>
                          <a:latin typeface="Calibri"/>
                        </a:rPr>
                        <a:t>Figure 122: Indonesia Market Value by Application, US$ Mn, 2026 and 2036</a:t>
                      </a:r>
                      <a:endParaRPr sz="1050"/>
                    </a:p>
                  </a:txBody>
                  <a:tcPr marL="9525" marR="9525" marT="9525" marB="0" anchor="ctr"/>
                </a:tc>
              </a:tr>
              <a:tr h="170486">
                <a:tc>
                  <a:txBody>
                    <a:bodyPr wrap="square"/>
                    <a:lstStyle/>
                    <a:p>
                      <a:pPr algn="l"/>
                      <a:r>
                        <a:rPr sz="1050" b="0" i="0">
                          <a:solidFill>
                            <a:srgbClr val="000000"/>
                          </a:solidFill>
                          <a:latin typeface="Calibri"/>
                        </a:rPr>
                        <a:t>Figure 123: Indonesia Market Share within South Asia &amp; Pacific, %,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Figure 124: Indonesia Market Value by Principal Material / Barrier Technology,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125: Indonesia Market Value by Material Structure,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126: Indonesia Market Value by Barrier Level,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127: Indonesia Market Value by Barrier Level Vs Application,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128: Thailand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Figure 129: Thailand Market Value by Product Type,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130: Thailand Market Value by Application,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131: Thailand Market Share within South Asia &amp; Pacific, %, 2026 and 2036</a:t>
                      </a:r>
                      <a:endParaRPr sz="1050"/>
                    </a:p>
                  </a:txBody>
                  <a:tcPr marL="9525" marR="9525" marT="9525" marB="0" anchor="ctr"/>
                </a:tc>
              </a:tr>
              <a:tr h="169826">
                <a:tc>
                  <a:txBody>
                    <a:bodyPr wrap="square"/>
                    <a:lstStyle/>
                    <a:p>
                      <a:pPr algn="l"/>
                      <a:r>
                        <a:rPr sz="1050" b="0" i="0">
                          <a:solidFill>
                            <a:srgbClr val="000000"/>
                          </a:solidFill>
                          <a:latin typeface="Calibri"/>
                        </a:rPr>
                        <a:t>Figure 132: Thailand Market Value by Principal Material / Barrier Technology,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133: Thailand Market Value by Material Structure,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134: Thailand Market Value by Barrier Level,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135: Thailand Market Value by Barrier Level Vs Application,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136: Philippines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Figure 137: Philippines Market Value by Product Type,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138: Philippines Market Value by Application,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139: Philippines Market Share within South Asia &amp; Pacific, %, 2026 and 2036</a:t>
                      </a:r>
                      <a:endParaRPr sz="1050"/>
                    </a:p>
                  </a:txBody>
                  <a:tcPr marL="9525" marR="9525" marT="9525" marB="0" anchor="ctr"/>
                </a:tc>
              </a:tr>
              <a:tr h="332858">
                <a:tc>
                  <a:txBody>
                    <a:bodyPr wrap="square"/>
                    <a:lstStyle/>
                    <a:p>
                      <a:pPr algn="l"/>
                      <a:r>
                        <a:rPr sz="1050" b="0" i="0">
                          <a:solidFill>
                            <a:srgbClr val="000000"/>
                          </a:solidFill>
                          <a:latin typeface="Calibri"/>
                        </a:rPr>
                        <a:t>Figure 140: Philippines Market Value by Principal Material / Barrier Technology,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141: Philippines Market Value by Material Structure,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142: Philippines Market Value by Barrier Level,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143: Philippines Market Value by Barrier Level Vs Application,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144: Malaysia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Figure 145: Malaysia Market Value by Product Type,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146: Malaysia Market Value by Application,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147: Malaysia Market Share within South Asia &amp; Pacific, %, 2026 and 2036</a:t>
                      </a:r>
                      <a:endParaRPr sz="1050"/>
                    </a:p>
                  </a:txBody>
                  <a:tcPr marL="9525" marR="9525" marT="9525" marB="0" anchor="ctr"/>
                </a:tc>
              </a:tr>
              <a:tr h="169826">
                <a:tc>
                  <a:txBody>
                    <a:bodyPr wrap="square"/>
                    <a:lstStyle/>
                    <a:p>
                      <a:pPr algn="l"/>
                      <a:r>
                        <a:rPr sz="1050" b="0" i="0">
                          <a:solidFill>
                            <a:srgbClr val="000000"/>
                          </a:solidFill>
                          <a:latin typeface="Calibri"/>
                        </a:rPr>
                        <a:t>Figure 148: Singapore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Figure 149: Singapore Market Value by Product Type,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150: Singapore Market Value by Application,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151: New Zealand Market Value and YoY Growth, US$ Mn and %, 2021–2036</a:t>
                      </a:r>
                      <a:endParaRPr sz="1050"/>
                    </a:p>
                  </a:txBody>
                  <a:tcPr marL="9525" marR="9525" marT="9525" marB="0" anchor="ctr"/>
                </a:tc>
              </a:tr>
              <a:tr h="169826">
                <a:tc>
                  <a:txBody>
                    <a:bodyPr wrap="square"/>
                    <a:lstStyle/>
                    <a:p>
                      <a:pPr algn="l"/>
                      <a:r>
                        <a:rPr sz="1050" b="0" i="0">
                          <a:solidFill>
                            <a:srgbClr val="000000"/>
                          </a:solidFill>
                          <a:latin typeface="Calibri"/>
                        </a:rPr>
                        <a:t>Figure 152: New Zealand Market Value by Product Type, US$ Mn, 2026 and 2036</a:t>
                      </a:r>
                      <a:endParaRPr sz="1050"/>
                    </a:p>
                  </a:txBody>
                  <a:tcPr marL="9525" marR="9525" marT="9525" marB="0" anchor="ctr"/>
                </a:tc>
              </a:tr>
              <a:tr h="169826">
                <a:tc>
                  <a:txBody>
                    <a:bodyPr wrap="square"/>
                    <a:lstStyle/>
                    <a:p>
                      <a:pPr algn="l"/>
                      <a:r>
                        <a:rPr sz="1050" b="0" i="0">
                          <a:solidFill>
                            <a:srgbClr val="000000"/>
                          </a:solidFill>
                          <a:latin typeface="Calibri"/>
                        </a:rPr>
                        <a:t>Figure 153: New Zealand Market Value by Application, US$ Mn, 2026 and 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5257810"/>
        </p:xfrm>
        <a:graphic>
          <a:graphicData uri="http://schemas.openxmlformats.org/drawingml/2006/table">
            <a:tbl>
              <a:tblPr>
                <a:tableStyleId>{3B4B98B0-60AC-42C2-AFA5-B58CD77FA1E5}</a:tableStyleId>
              </a:tblPr>
              <a:tblGrid>
                <a:gridCol w="5876925"/>
              </a:tblGrid>
              <a:tr h="170266">
                <a:tc>
                  <a:txBody>
                    <a:bodyPr wrap="square"/>
                    <a:lstStyle/>
                    <a:p>
                      <a:pPr algn="l"/>
                      <a:r>
                        <a:rPr sz="1050" b="0" i="0">
                          <a:solidFill>
                            <a:srgbClr val="000000"/>
                          </a:solidFill>
                          <a:latin typeface="Calibri"/>
                        </a:rPr>
                        <a:t>Figure 154: South Asia &amp; Pacific Market Average Selling Price Trend, US$/MT, 2021–2036</a:t>
                      </a:r>
                      <a:endParaRPr sz="1050"/>
                    </a:p>
                  </a:txBody>
                  <a:tcPr marL="9525" marR="9525" marT="9525" marB="0" anchor="ctr"/>
                </a:tc>
              </a:tr>
              <a:tr h="170266">
                <a:tc>
                  <a:txBody>
                    <a:bodyPr wrap="square"/>
                    <a:lstStyle/>
                    <a:p>
                      <a:pPr algn="l"/>
                      <a:r>
                        <a:rPr sz="1050" b="0" i="0">
                          <a:solidFill>
                            <a:srgbClr val="000000"/>
                          </a:solidFill>
                          <a:latin typeface="Calibri"/>
                        </a:rPr>
                        <a:t>Figure 155: South Asia &amp; Pacific Market Average Selling Price Outlook, US$/MT, 2026–2036</a:t>
                      </a:r>
                      <a:endParaRPr sz="1050"/>
                    </a:p>
                  </a:txBody>
                  <a:tcPr marL="9525" marR="9525" marT="9525" marB="0" anchor="ctr"/>
                </a:tc>
              </a:tr>
              <a:tr h="170266">
                <a:tc>
                  <a:txBody>
                    <a:bodyPr wrap="square"/>
                    <a:lstStyle/>
                    <a:p>
                      <a:pPr algn="l"/>
                      <a:r>
                        <a:rPr sz="1050" b="0" i="0">
                          <a:solidFill>
                            <a:srgbClr val="000000"/>
                          </a:solidFill>
                          <a:latin typeface="Calibri"/>
                        </a:rPr>
                        <a:t>Figure 156: South Asia &amp; Pacific Market Average Selling Price by Product Type, US$/MT, 2026 and 2036</a:t>
                      </a:r>
                      <a:endParaRPr sz="1050"/>
                    </a:p>
                  </a:txBody>
                  <a:tcPr marL="9525" marR="9525" marT="9525" marB="0" anchor="ctr"/>
                </a:tc>
              </a:tr>
              <a:tr h="333720">
                <a:tc>
                  <a:txBody>
                    <a:bodyPr wrap="square"/>
                    <a:lstStyle/>
                    <a:p>
                      <a:pPr algn="l"/>
                      <a:r>
                        <a:rPr sz="1050" b="0" i="0">
                          <a:solidFill>
                            <a:srgbClr val="000000"/>
                          </a:solidFill>
                          <a:latin typeface="Calibri"/>
                        </a:rPr>
                        <a:t>Figure 157: South Asia &amp; Pacific Market Average Selling Price by Principal Material / Barrier Technology, US$/MT, 2026 and 2036</a:t>
                      </a:r>
                      <a:endParaRPr sz="1050"/>
                    </a:p>
                  </a:txBody>
                  <a:tcPr marL="9525" marR="9525" marT="9525" marB="0" anchor="ctr"/>
                </a:tc>
              </a:tr>
              <a:tr h="333720">
                <a:tc>
                  <a:txBody>
                    <a:bodyPr wrap="square"/>
                    <a:lstStyle/>
                    <a:p>
                      <a:pPr algn="l"/>
                      <a:r>
                        <a:rPr sz="1050" b="0" i="0">
                          <a:solidFill>
                            <a:srgbClr val="000000"/>
                          </a:solidFill>
                          <a:latin typeface="Calibri"/>
                        </a:rPr>
                        <a:t>Figure 158: South Asia &amp; Pacific Market Average Selling Price by Material Structure, US$/MT, 2026 and 2036</a:t>
                      </a:r>
                      <a:endParaRPr sz="1050"/>
                    </a:p>
                  </a:txBody>
                  <a:tcPr marL="9525" marR="9525" marT="9525" marB="0" anchor="ctr"/>
                </a:tc>
              </a:tr>
              <a:tr h="170266">
                <a:tc>
                  <a:txBody>
                    <a:bodyPr wrap="square"/>
                    <a:lstStyle/>
                    <a:p>
                      <a:pPr algn="l"/>
                      <a:r>
                        <a:rPr sz="1050" b="0" i="0">
                          <a:solidFill>
                            <a:srgbClr val="000000"/>
                          </a:solidFill>
                          <a:latin typeface="Calibri"/>
                        </a:rPr>
                        <a:t>Figure 159: South Asia &amp; Pacific Market Average Selling Price by Barrier Level, US$/MT, 2026 and 2036</a:t>
                      </a:r>
                      <a:endParaRPr sz="1050"/>
                    </a:p>
                  </a:txBody>
                  <a:tcPr marL="9525" marR="9525" marT="9525" marB="0" anchor="ctr"/>
                </a:tc>
              </a:tr>
              <a:tr h="170266">
                <a:tc>
                  <a:txBody>
                    <a:bodyPr wrap="square"/>
                    <a:lstStyle/>
                    <a:p>
                      <a:pPr algn="l"/>
                      <a:r>
                        <a:rPr sz="1050" b="0" i="0">
                          <a:solidFill>
                            <a:srgbClr val="000000"/>
                          </a:solidFill>
                          <a:latin typeface="Calibri"/>
                        </a:rPr>
                        <a:t>Figure 160: South Asia &amp; Pacific Market Average Selling Price by Application, US$/MT, 2026 and 2036</a:t>
                      </a:r>
                      <a:endParaRPr sz="1050"/>
                    </a:p>
                  </a:txBody>
                  <a:tcPr marL="9525" marR="9525" marT="9525" marB="0" anchor="ctr"/>
                </a:tc>
              </a:tr>
              <a:tr h="333720">
                <a:tc>
                  <a:txBody>
                    <a:bodyPr wrap="square"/>
                    <a:lstStyle/>
                    <a:p>
                      <a:pPr algn="l"/>
                      <a:r>
                        <a:rPr sz="1050" b="0" i="0">
                          <a:solidFill>
                            <a:srgbClr val="000000"/>
                          </a:solidFill>
                          <a:latin typeface="Calibri"/>
                        </a:rPr>
                        <a:t>Figure 161: South Asia &amp; Pacific Market Average Selling Price by Barrier Level Vs Application, US$/MT, 2026 and 2036</a:t>
                      </a:r>
                      <a:endParaRPr sz="1050"/>
                    </a:p>
                  </a:txBody>
                  <a:tcPr marL="9525" marR="9525" marT="9525" marB="0" anchor="ctr"/>
                </a:tc>
              </a:tr>
              <a:tr h="170266">
                <a:tc>
                  <a:txBody>
                    <a:bodyPr wrap="square"/>
                    <a:lstStyle/>
                    <a:p>
                      <a:pPr algn="l"/>
                      <a:r>
                        <a:rPr sz="1050" b="0" i="0">
                          <a:solidFill>
                            <a:srgbClr val="000000"/>
                          </a:solidFill>
                          <a:latin typeface="Calibri"/>
                        </a:rPr>
                        <a:t>Figure 162: South Asia &amp; Pacific Market Value Chain Structure, 2026</a:t>
                      </a:r>
                      <a:endParaRPr sz="1050"/>
                    </a:p>
                  </a:txBody>
                  <a:tcPr marL="9525" marR="9525" marT="9525" marB="0" anchor="ctr"/>
                </a:tc>
              </a:tr>
              <a:tr h="170266">
                <a:tc>
                  <a:txBody>
                    <a:bodyPr wrap="square"/>
                    <a:lstStyle/>
                    <a:p>
                      <a:pPr algn="l"/>
                      <a:r>
                        <a:rPr sz="1050" b="0" i="0">
                          <a:solidFill>
                            <a:srgbClr val="000000"/>
                          </a:solidFill>
                          <a:latin typeface="Calibri"/>
                        </a:rPr>
                        <a:t>Figure 163: South Asia &amp; Pacific Market Margin Distribution across the Value Chain, %, 2026</a:t>
                      </a:r>
                      <a:endParaRPr sz="1050"/>
                    </a:p>
                  </a:txBody>
                  <a:tcPr marL="9525" marR="9525" marT="9525" marB="0" anchor="ctr"/>
                </a:tc>
              </a:tr>
              <a:tr h="170266">
                <a:tc>
                  <a:txBody>
                    <a:bodyPr wrap="square"/>
                    <a:lstStyle/>
                    <a:p>
                      <a:pPr algn="l"/>
                      <a:r>
                        <a:rPr sz="1050" b="0" i="0">
                          <a:solidFill>
                            <a:srgbClr val="000000"/>
                          </a:solidFill>
                          <a:latin typeface="Calibri"/>
                        </a:rPr>
                        <a:t>Figure 164: South Asia &amp; Pacific Market Cost Structure Breakdown, %, 2026</a:t>
                      </a:r>
                      <a:endParaRPr sz="1050"/>
                    </a:p>
                  </a:txBody>
                  <a:tcPr marL="9525" marR="9525" marT="9525" marB="0" anchor="ctr"/>
                </a:tc>
              </a:tr>
              <a:tr h="170266">
                <a:tc>
                  <a:txBody>
                    <a:bodyPr wrap="square"/>
                    <a:lstStyle/>
                    <a:p>
                      <a:pPr algn="l"/>
                      <a:r>
                        <a:rPr sz="1050" b="0" i="0">
                          <a:solidFill>
                            <a:srgbClr val="000000"/>
                          </a:solidFill>
                          <a:latin typeface="Calibri"/>
                        </a:rPr>
                        <a:t>Figure 165: South Asia &amp; Pacific Market Pricing Pressure Assessment by Product Type, 2026–2036</a:t>
                      </a:r>
                      <a:endParaRPr sz="1050"/>
                    </a:p>
                  </a:txBody>
                  <a:tcPr marL="9525" marR="9525" marT="9525" marB="0" anchor="ctr"/>
                </a:tc>
              </a:tr>
              <a:tr h="170266">
                <a:tc>
                  <a:txBody>
                    <a:bodyPr wrap="square"/>
                    <a:lstStyle/>
                    <a:p>
                      <a:pPr algn="l"/>
                      <a:r>
                        <a:rPr sz="1050" b="0" i="0">
                          <a:solidFill>
                            <a:srgbClr val="000000"/>
                          </a:solidFill>
                          <a:latin typeface="Calibri"/>
                        </a:rPr>
                        <a:t>Figure 166: South Asia &amp; Pacific Market Import and Export Share, %, 2025</a:t>
                      </a:r>
                      <a:endParaRPr sz="1050"/>
                    </a:p>
                  </a:txBody>
                  <a:tcPr marL="9525" marR="9525" marT="9525" marB="0" anchor="ctr"/>
                </a:tc>
              </a:tr>
              <a:tr h="170266">
                <a:tc>
                  <a:txBody>
                    <a:bodyPr wrap="square"/>
                    <a:lstStyle/>
                    <a:p>
                      <a:pPr algn="l"/>
                      <a:r>
                        <a:rPr sz="1050" b="0" i="0">
                          <a:solidFill>
                            <a:srgbClr val="000000"/>
                          </a:solidFill>
                          <a:latin typeface="Calibri"/>
                        </a:rPr>
                        <a:t>Figure 167: South Asia &amp; Pacific Market Trade Balance by Leading Country, US$ Mn, 2025</a:t>
                      </a:r>
                      <a:endParaRPr sz="1050"/>
                    </a:p>
                  </a:txBody>
                  <a:tcPr marL="9525" marR="9525" marT="9525" marB="0" anchor="ctr"/>
                </a:tc>
              </a:tr>
              <a:tr h="170266">
                <a:tc>
                  <a:txBody>
                    <a:bodyPr wrap="square"/>
                    <a:lstStyle/>
                    <a:p>
                      <a:pPr algn="l"/>
                      <a:r>
                        <a:rPr sz="1050" b="0" i="0">
                          <a:solidFill>
                            <a:srgbClr val="000000"/>
                          </a:solidFill>
                          <a:latin typeface="Calibri"/>
                        </a:rPr>
                        <a:t>Figure 168: South Asia &amp; Pacific Market Raw Material Price Index, 2025=100, 2021–2036</a:t>
                      </a:r>
                      <a:endParaRPr sz="1050"/>
                    </a:p>
                  </a:txBody>
                  <a:tcPr marL="9525" marR="9525" marT="9525" marB="0" anchor="ctr"/>
                </a:tc>
              </a:tr>
              <a:tr h="170266">
                <a:tc>
                  <a:txBody>
                    <a:bodyPr wrap="square"/>
                    <a:lstStyle/>
                    <a:p>
                      <a:pPr algn="l"/>
                      <a:r>
                        <a:rPr sz="1050" b="0" i="0">
                          <a:solidFill>
                            <a:srgbClr val="000000"/>
                          </a:solidFill>
                          <a:latin typeface="Calibri"/>
                        </a:rPr>
                        <a:t>Figure 169: Company Market Share in the South Asia &amp; Pacific Market, %, 2026</a:t>
                      </a:r>
                      <a:endParaRPr sz="1050"/>
                    </a:p>
                  </a:txBody>
                  <a:tcPr marL="9525" marR="9525" marT="9525" marB="0" anchor="ctr"/>
                </a:tc>
              </a:tr>
              <a:tr h="170266">
                <a:tc>
                  <a:txBody>
                    <a:bodyPr wrap="square"/>
                    <a:lstStyle/>
                    <a:p>
                      <a:pPr algn="l"/>
                      <a:r>
                        <a:rPr sz="1050" b="0" i="0">
                          <a:solidFill>
                            <a:srgbClr val="000000"/>
                          </a:solidFill>
                          <a:latin typeface="Calibri"/>
                        </a:rPr>
                        <a:t>Figure 170: Competitive Positioning of Leading Flexible Plastic Packaging Manufacturers, 2026</a:t>
                      </a:r>
                      <a:endParaRPr sz="1050"/>
                    </a:p>
                  </a:txBody>
                  <a:tcPr marL="9525" marR="9525" marT="9525" marB="0" anchor="ctr"/>
                </a:tc>
              </a:tr>
              <a:tr h="170266">
                <a:tc>
                  <a:txBody>
                    <a:bodyPr wrap="square"/>
                    <a:lstStyle/>
                    <a:p>
                      <a:pPr algn="l"/>
                      <a:r>
                        <a:rPr sz="1050" b="0" i="0">
                          <a:solidFill>
                            <a:srgbClr val="000000"/>
                          </a:solidFill>
                          <a:latin typeface="Calibri"/>
                        </a:rPr>
                        <a:t>Figure 171: Company Revenue from the South Asia &amp; Pacific Market, US$ Mn, 2026</a:t>
                      </a:r>
                      <a:endParaRPr sz="1050"/>
                    </a:p>
                  </a:txBody>
                  <a:tcPr marL="9525" marR="9525" marT="9525" marB="0" anchor="ctr"/>
                </a:tc>
              </a:tr>
              <a:tr h="170266">
                <a:tc>
                  <a:txBody>
                    <a:bodyPr wrap="square"/>
                    <a:lstStyle/>
                    <a:p>
                      <a:pPr algn="l"/>
                      <a:r>
                        <a:rPr sz="1050" b="0" i="0">
                          <a:solidFill>
                            <a:srgbClr val="000000"/>
                          </a:solidFill>
                          <a:latin typeface="Calibri"/>
                        </a:rPr>
                        <a:t>Figure 172: South Asia &amp; Pacific Market Concentration by Company Tier, %, 2026</a:t>
                      </a:r>
                      <a:endParaRPr sz="1050"/>
                    </a:p>
                  </a:txBody>
                  <a:tcPr marL="9525" marR="9525" marT="9525" marB="0" anchor="ctr"/>
                </a:tc>
              </a:tr>
              <a:tr h="170266">
                <a:tc>
                  <a:txBody>
                    <a:bodyPr wrap="square"/>
                    <a:lstStyle/>
                    <a:p>
                      <a:pPr algn="l"/>
                      <a:r>
                        <a:rPr sz="1050" b="0" i="0">
                          <a:solidFill>
                            <a:srgbClr val="000000"/>
                          </a:solidFill>
                          <a:latin typeface="Calibri"/>
                        </a:rPr>
                        <a:t>Figure 173: South Asia &amp; Pacific Market Competitive Intensity Assessment, 2026</a:t>
                      </a:r>
                      <a:endParaRPr sz="1050"/>
                    </a:p>
                  </a:txBody>
                  <a:tcPr marL="9525" marR="9525" marT="9525" marB="0" anchor="ctr"/>
                </a:tc>
              </a:tr>
              <a:tr h="170266">
                <a:tc>
                  <a:txBody>
                    <a:bodyPr wrap="square"/>
                    <a:lstStyle/>
                    <a:p>
                      <a:pPr algn="l"/>
                      <a:r>
                        <a:rPr sz="1050" b="0" i="0">
                          <a:solidFill>
                            <a:srgbClr val="000000"/>
                          </a:solidFill>
                          <a:latin typeface="Calibri"/>
                        </a:rPr>
                        <a:t>Figure 174: Company A: Revenue from the South Asia &amp; Pacific Market and Share, US$ Mn and %, 2026</a:t>
                      </a:r>
                      <a:endParaRPr sz="1050"/>
                    </a:p>
                  </a:txBody>
                  <a:tcPr marL="9525" marR="9525" marT="9525" marB="0" anchor="ctr"/>
                </a:tc>
              </a:tr>
              <a:tr h="170266">
                <a:tc>
                  <a:txBody>
                    <a:bodyPr wrap="square"/>
                    <a:lstStyle/>
                    <a:p>
                      <a:pPr algn="l"/>
                      <a:r>
                        <a:rPr sz="1050" b="0" i="0">
                          <a:solidFill>
                            <a:srgbClr val="000000"/>
                          </a:solidFill>
                          <a:latin typeface="Calibri"/>
                        </a:rPr>
                        <a:t>Figure 175: Company B: Revenue from the South Asia &amp; Pacific Market and Share, US$ Mn and %, 2026</a:t>
                      </a:r>
                      <a:endParaRPr sz="1050"/>
                    </a:p>
                  </a:txBody>
                  <a:tcPr marL="9525" marR="9525" marT="9525" marB="0" anchor="ctr"/>
                </a:tc>
              </a:tr>
              <a:tr h="170266">
                <a:tc>
                  <a:txBody>
                    <a:bodyPr wrap="square"/>
                    <a:lstStyle/>
                    <a:p>
                      <a:pPr algn="l"/>
                      <a:r>
                        <a:rPr sz="1050" b="0" i="0">
                          <a:solidFill>
                            <a:srgbClr val="000000"/>
                          </a:solidFill>
                          <a:latin typeface="Calibri"/>
                        </a:rPr>
                        <a:t>Figure 176: Company C: Revenue from the South Asia &amp; Pacific Market and Share, US$ Mn and %, 2026</a:t>
                      </a:r>
                      <a:endParaRPr sz="1050"/>
                    </a:p>
                  </a:txBody>
                  <a:tcPr marL="9525" marR="9525" marT="9525" marB="0" anchor="ctr"/>
                </a:tc>
              </a:tr>
              <a:tr h="170266">
                <a:tc>
                  <a:txBody>
                    <a:bodyPr wrap="square"/>
                    <a:lstStyle/>
                    <a:p>
                      <a:pPr algn="l"/>
                      <a:r>
                        <a:rPr sz="1050" b="0" i="0">
                          <a:solidFill>
                            <a:srgbClr val="000000"/>
                          </a:solidFill>
                          <a:latin typeface="Calibri"/>
                        </a:rPr>
                        <a:t>Figure 177: Company D: Revenue from the South Asia &amp; Pacific Market and Share, US$ Mn and %, 2026</a:t>
                      </a:r>
                      <a:endParaRPr sz="1050"/>
                    </a:p>
                  </a:txBody>
                  <a:tcPr marL="9525" marR="9525" marT="9525" marB="0" anchor="ctr"/>
                </a:tc>
              </a:tr>
              <a:tr h="170266">
                <a:tc>
                  <a:txBody>
                    <a:bodyPr wrap="square"/>
                    <a:lstStyle/>
                    <a:p>
                      <a:pPr algn="l"/>
                      <a:r>
                        <a:rPr sz="1050" b="0" i="0">
                          <a:solidFill>
                            <a:srgbClr val="000000"/>
                          </a:solidFill>
                          <a:latin typeface="Calibri"/>
                        </a:rPr>
                        <a:t>Figure 178: Company E: Revenue from the South Asia &amp; Pacific Market and Share, US$ Mn and %, 2026</a:t>
                      </a:r>
                      <a:endParaRPr sz="1050"/>
                    </a:p>
                  </a:txBody>
                  <a:tcPr marL="9525" marR="9525" marT="9525" marB="0" anchor="ctr"/>
                </a:tc>
              </a:tr>
              <a:tr h="170266">
                <a:tc>
                  <a:txBody>
                    <a:bodyPr wrap="square"/>
                    <a:lstStyle/>
                    <a:p>
                      <a:pPr algn="l"/>
                      <a:r>
                        <a:rPr sz="1050" b="0" i="0">
                          <a:solidFill>
                            <a:srgbClr val="000000"/>
                          </a:solidFill>
                          <a:latin typeface="Calibri"/>
                        </a:rPr>
                        <a:t>Figure 179: Company F: Revenue from the South Asia &amp; Pacific Market and Share, US$ Mn and %, 2026</a:t>
                      </a:r>
                      <a:endParaRPr sz="1050"/>
                    </a:p>
                  </a:txBody>
                  <a:tcPr marL="9525" marR="9525" marT="9525" marB="0" anchor="ctr"/>
                </a:tc>
              </a:tr>
              <a:tr h="170266">
                <a:tc>
                  <a:txBody>
                    <a:bodyPr wrap="square"/>
                    <a:lstStyle/>
                    <a:p>
                      <a:pPr algn="l"/>
                      <a:r>
                        <a:rPr sz="1050" b="0" i="0">
                          <a:solidFill>
                            <a:srgbClr val="000000"/>
                          </a:solidFill>
                          <a:latin typeface="Calibri"/>
                        </a:rPr>
                        <a:t>Figure 180: Company G: Revenue from the South Asia &amp; Pacific Market and Share, US$ Mn and %, 2026</a:t>
                      </a:r>
                      <a:endParaRPr sz="1050"/>
                    </a:p>
                  </a:txBody>
                  <a:tcPr marL="9525" marR="9525" marT="9525" marB="0" anchor="ctr"/>
                </a:tc>
              </a:tr>
              <a:tr h="170266">
                <a:tc>
                  <a:txBody>
                    <a:bodyPr wrap="square"/>
                    <a:lstStyle/>
                    <a:p>
                      <a:pPr algn="l"/>
                      <a:r>
                        <a:rPr sz="1050" b="0" i="0">
                          <a:solidFill>
                            <a:srgbClr val="000000"/>
                          </a:solidFill>
                          <a:latin typeface="Calibri"/>
                        </a:rPr>
                        <a:t>Figure 181: Company H: Revenue from the South Asia &amp; Pacific Market and Share, US$ Mn and %, 2026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3327092"/>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Figure 182: South Asia &amp; Pacific Market Strategic Developments by Type, %, 2025–2026</a:t>
                      </a:r>
                      <a:endParaRPr sz="1050"/>
                    </a:p>
                  </a:txBody>
                  <a:tcPr marL="9525" marR="9525" marT="9525" marB="0" anchor="ctr"/>
                </a:tc>
              </a:tr>
              <a:tr h="166688">
                <a:tc>
                  <a:txBody>
                    <a:bodyPr wrap="square"/>
                    <a:lstStyle/>
                    <a:p>
                      <a:pPr algn="l"/>
                      <a:r>
                        <a:rPr sz="1050" b="0" i="0">
                          <a:solidFill>
                            <a:srgbClr val="000000"/>
                          </a:solidFill>
                          <a:latin typeface="Calibri"/>
                        </a:rPr>
                        <a:t>Figure 183: South Asia &amp; Pacific Market Company Footprint by Region, 2026</a:t>
                      </a:r>
                      <a:endParaRPr sz="1050"/>
                    </a:p>
                  </a:txBody>
                  <a:tcPr marL="9525" marR="9525" marT="9525" marB="0" anchor="ctr"/>
                </a:tc>
              </a:tr>
              <a:tr h="166688">
                <a:tc>
                  <a:txBody>
                    <a:bodyPr wrap="square"/>
                    <a:lstStyle/>
                    <a:p>
                      <a:pPr algn="l"/>
                      <a:r>
                        <a:rPr sz="1050" b="0" i="0">
                          <a:solidFill>
                            <a:srgbClr val="000000"/>
                          </a:solidFill>
                          <a:latin typeface="Calibri"/>
                        </a:rPr>
                        <a:t>Figure 184: South Asia &amp; Pacific Market Value Forecast by Scenario, US$ Mn, 2026–2036</a:t>
                      </a:r>
                      <a:endParaRPr sz="1050"/>
                    </a:p>
                  </a:txBody>
                  <a:tcPr marL="9525" marR="9525" marT="9525" marB="0" anchor="ctr"/>
                </a:tc>
              </a:tr>
              <a:tr h="166688">
                <a:tc>
                  <a:txBody>
                    <a:bodyPr wrap="square"/>
                    <a:lstStyle/>
                    <a:p>
                      <a:pPr algn="l"/>
                      <a:r>
                        <a:rPr sz="1050" b="0" i="0">
                          <a:solidFill>
                            <a:srgbClr val="000000"/>
                          </a:solidFill>
                          <a:latin typeface="Calibri"/>
                        </a:rPr>
                        <a:t>Figure 185: South Asia &amp; Pacific Market YoY Growth by Scenario, %, 2026–2036</a:t>
                      </a:r>
                      <a:endParaRPr sz="1050"/>
                    </a:p>
                  </a:txBody>
                  <a:tcPr marL="9525" marR="9525" marT="9525" marB="0" anchor="ctr"/>
                </a:tc>
              </a:tr>
              <a:tr h="166688">
                <a:tc>
                  <a:txBody>
                    <a:bodyPr wrap="square"/>
                    <a:lstStyle/>
                    <a:p>
                      <a:pPr algn="l"/>
                      <a:r>
                        <a:rPr sz="1050" b="0" i="0">
                          <a:solidFill>
                            <a:srgbClr val="000000"/>
                          </a:solidFill>
                          <a:latin typeface="Calibri"/>
                        </a:rPr>
                        <a:t>Figure 186: South Asia &amp; Pacific Market Key Trends Impact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187: South Asia &amp; Pacific Market Drivers, Restraints and Opportunities Impact, 2026–2036</a:t>
                      </a:r>
                      <a:endParaRPr sz="1050"/>
                    </a:p>
                  </a:txBody>
                  <a:tcPr marL="9525" marR="9525" marT="9525" marB="0" anchor="ctr"/>
                </a:tc>
              </a:tr>
              <a:tr h="166688">
                <a:tc>
                  <a:txBody>
                    <a:bodyPr wrap="square"/>
                    <a:lstStyle/>
                    <a:p>
                      <a:pPr algn="l"/>
                      <a:r>
                        <a:rPr sz="1050" b="0" i="0">
                          <a:solidFill>
                            <a:srgbClr val="000000"/>
                          </a:solidFill>
                          <a:latin typeface="Calibri"/>
                        </a:rPr>
                        <a:t>Figure 188: South Asia &amp; Pacific Market Opportunity Map by Product Type, 2026–2036</a:t>
                      </a:r>
                      <a:endParaRPr sz="1050"/>
                    </a:p>
                  </a:txBody>
                  <a:tcPr marL="9525" marR="9525" marT="9525" marB="0" anchor="ctr"/>
                </a:tc>
              </a:tr>
              <a:tr h="166688">
                <a:tc>
                  <a:txBody>
                    <a:bodyPr wrap="square"/>
                    <a:lstStyle/>
                    <a:p>
                      <a:pPr algn="l"/>
                      <a:r>
                        <a:rPr sz="1050" b="0" i="0">
                          <a:solidFill>
                            <a:srgbClr val="000000"/>
                          </a:solidFill>
                          <a:latin typeface="Calibri"/>
                        </a:rPr>
                        <a:t>Figure 189: South Asia &amp; Pacific Market Technology Adoption Roadmap, 2021–2036</a:t>
                      </a:r>
                      <a:endParaRPr sz="1050"/>
                    </a:p>
                  </a:txBody>
                  <a:tcPr marL="9525" marR="9525" marT="9525" marB="0" anchor="ctr"/>
                </a:tc>
              </a:tr>
              <a:tr h="326708">
                <a:tc>
                  <a:txBody>
                    <a:bodyPr wrap="square"/>
                    <a:lstStyle/>
                    <a:p>
                      <a:pPr algn="l"/>
                      <a:r>
                        <a:rPr sz="1050" b="0" i="0">
                          <a:solidFill>
                            <a:srgbClr val="000000"/>
                          </a:solidFill>
                          <a:latin typeface="Calibri"/>
                        </a:rPr>
                        <a:t>Figure 190: South Asia &amp; Pacific Market Emerging Opportunity Pockets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Figure 191: South Asia &amp; Pacific Market Risk and Sensitivity Analysis, %, 2026–2036</a:t>
                      </a:r>
                      <a:endParaRPr sz="1050"/>
                    </a:p>
                  </a:txBody>
                  <a:tcPr marL="9525" marR="9525" marT="9525" marB="0" anchor="ctr"/>
                </a:tc>
              </a:tr>
              <a:tr h="166688">
                <a:tc>
                  <a:txBody>
                    <a:bodyPr wrap="square"/>
                    <a:lstStyle/>
                    <a:p>
                      <a:pPr algn="l"/>
                      <a:r>
                        <a:rPr sz="1050" b="0" i="0">
                          <a:solidFill>
                            <a:srgbClr val="000000"/>
                          </a:solidFill>
                          <a:latin typeface="Calibri"/>
                        </a:rPr>
                        <a:t>Figure 192: South Asia &amp; Pacific Market Regulatory Landscape Timeline, 2021–2036</a:t>
                      </a:r>
                      <a:endParaRPr sz="1050"/>
                    </a:p>
                  </a:txBody>
                  <a:tcPr marL="9525" marR="9525" marT="9525" marB="0" anchor="ctr"/>
                </a:tc>
              </a:tr>
              <a:tr h="166688">
                <a:tc>
                  <a:txBody>
                    <a:bodyPr wrap="square"/>
                    <a:lstStyle/>
                    <a:p>
                      <a:pPr algn="l"/>
                      <a:r>
                        <a:rPr sz="1050" b="0" i="0">
                          <a:solidFill>
                            <a:srgbClr val="000000"/>
                          </a:solidFill>
                          <a:latin typeface="Calibri"/>
                        </a:rPr>
                        <a:t>Figure 193: South Asia &amp; Pacific Market Investment Hotspots, 2026–2036</a:t>
                      </a:r>
                      <a:endParaRPr sz="1050"/>
                    </a:p>
                  </a:txBody>
                  <a:tcPr marL="9525" marR="9525" marT="9525" marB="0" anchor="ctr"/>
                </a:tc>
              </a:tr>
              <a:tr h="166688">
                <a:tc>
                  <a:txBody>
                    <a:bodyPr wrap="square"/>
                    <a:lstStyle/>
                    <a:p>
                      <a:pPr algn="l"/>
                      <a:r>
                        <a:rPr sz="1050" b="0" i="0">
                          <a:solidFill>
                            <a:srgbClr val="000000"/>
                          </a:solidFill>
                          <a:latin typeface="Calibri"/>
                        </a:rPr>
                        <a:t>Figure 194: South Asia &amp; Pacific Market Innovation Pipeline Assessment, 2026</a:t>
                      </a:r>
                      <a:endParaRPr sz="1050"/>
                    </a:p>
                  </a:txBody>
                  <a:tcPr marL="9525" marR="9525" marT="9525" marB="0" anchor="ctr"/>
                </a:tc>
              </a:tr>
              <a:tr h="166688">
                <a:tc>
                  <a:txBody>
                    <a:bodyPr wrap="square"/>
                    <a:lstStyle/>
                    <a:p>
                      <a:pPr algn="l"/>
                      <a:r>
                        <a:rPr sz="1050" b="0" i="0">
                          <a:solidFill>
                            <a:srgbClr val="000000"/>
                          </a:solidFill>
                          <a:latin typeface="Calibri"/>
                        </a:rPr>
                        <a:t>Figure 195: South Asia &amp; Pacific Market Demand Shift Analysis by Product Type, %, 2026–2036</a:t>
                      </a:r>
                      <a:endParaRPr sz="1050"/>
                    </a:p>
                  </a:txBody>
                  <a:tcPr marL="9525" marR="9525" marT="9525" marB="0" anchor="ctr"/>
                </a:tc>
              </a:tr>
              <a:tr h="166688">
                <a:tc>
                  <a:txBody>
                    <a:bodyPr wrap="square"/>
                    <a:lstStyle/>
                    <a:p>
                      <a:pPr algn="l"/>
                      <a:r>
                        <a:rPr sz="1050" b="0" i="0">
                          <a:solidFill>
                            <a:srgbClr val="000000"/>
                          </a:solidFill>
                          <a:latin typeface="Calibri"/>
                        </a:rPr>
                        <a:t>Figure 196: South Asia &amp; Pacific Market White-Space Opportunity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197: South Asia &amp; Pacific Market Customer Purchase Criteria Assessment, 2026</a:t>
                      </a:r>
                      <a:endParaRPr sz="1050"/>
                    </a:p>
                  </a:txBody>
                  <a:tcPr marL="9525" marR="9525" marT="9525" marB="0" anchor="ctr"/>
                </a:tc>
              </a:tr>
              <a:tr h="166688">
                <a:tc>
                  <a:txBody>
                    <a:bodyPr wrap="square"/>
                    <a:lstStyle/>
                    <a:p>
                      <a:pPr algn="l"/>
                      <a:r>
                        <a:rPr sz="1050" b="0" i="0">
                          <a:solidFill>
                            <a:srgbClr val="000000"/>
                          </a:solidFill>
                          <a:latin typeface="Calibri"/>
                        </a:rPr>
                        <a:t>Figure 198: South Asia &amp; Pacific Market Go-to-Market Priority, 2026–2036</a:t>
                      </a:r>
                      <a:endParaRPr sz="1050"/>
                    </a:p>
                  </a:txBody>
                  <a:tcPr marL="9525" marR="9525" marT="9525" marB="0" anchor="ctr"/>
                </a:tc>
              </a:tr>
              <a:tr h="166688">
                <a:tc>
                  <a:txBody>
                    <a:bodyPr wrap="square"/>
                    <a:lstStyle/>
                    <a:p>
                      <a:pPr algn="l"/>
                      <a:r>
                        <a:rPr sz="1050" b="0" i="0">
                          <a:solidFill>
                            <a:srgbClr val="000000"/>
                          </a:solidFill>
                          <a:latin typeface="Calibri"/>
                        </a:rPr>
                        <a:t>Figure 199: South Asia &amp; Pacific Market Unmet Needs Analysis by Product Type, 2026</a:t>
                      </a:r>
                      <a:endParaRPr sz="1050"/>
                    </a:p>
                  </a:txBody>
                  <a:tcPr marL="9525" marR="9525" marT="9525" marB="0" anchor="ctr"/>
                </a:tc>
              </a:tr>
              <a:tr h="166688">
                <a:tc>
                  <a:txBody>
                    <a:bodyPr wrap="square"/>
                    <a:lstStyle/>
                    <a:p>
                      <a:pPr algn="l"/>
                      <a:r>
                        <a:rPr sz="1050" b="0" i="0">
                          <a:solidFill>
                            <a:srgbClr val="000000"/>
                          </a:solidFill>
                          <a:latin typeface="Calibri"/>
                        </a:rPr>
                        <a:t>Figure 200: South Asia &amp; Pacific Market Right-to-Win Assessment,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(1/5)</a:t>
            </a:r>
          </a:p>
        </p:txBody>
      </p:sp>
      <p:graphicFrame>
        <p:nvGraphicFramePr>
          <p:cNvPr id="9" name="FMI Contents Table"/>
          <p:cNvGraphicFramePr>
            <a:graphicFrameLocks noGrp="1"/>
          </p:cNvGraphicFramePr>
          <p:nvPr/>
        </p:nvGraphicFramePr>
        <p:xfrm>
          <a:off x="142875" y="981075"/>
          <a:ext cx="5876925" cy="5257803"/>
        </p:xfrm>
        <a:graphic>
          <a:graphicData uri="http://schemas.openxmlformats.org/drawingml/2006/table">
            <a:tbl>
              <a:tblPr>
                <a:tableStyleId>{3B4B98B0-60AC-42C2-AFA5-B58CD77FA1E5}</a:tableStyleId>
              </a:tblPr>
              <a:tblGrid>
                <a:gridCol w="5876925"/>
              </a:tblGrid>
              <a:tr h="175964">
                <a:tc>
                  <a:txBody>
                    <a:bodyPr wrap="square"/>
                    <a:lstStyle/>
                    <a:p>
                      <a:pPr algn="l"/>
                      <a:r>
                        <a:rPr sz="1050" b="0" i="0">
                          <a:solidFill>
                            <a:srgbClr val="000000"/>
                          </a:solidFill>
                          <a:latin typeface="Calibri"/>
                        </a:rPr>
                        <a:t>Table 1: South Asia &amp; Pacific Market Snapshot: Value, Volume and CAGR, US$ Mn, 2025–2036</a:t>
                      </a:r>
                      <a:endParaRPr sz="1050"/>
                    </a:p>
                  </a:txBody>
                  <a:tcPr marL="9525" marR="9525" marT="9525" marB="0" anchor="ctr"/>
                </a:tc>
              </a:tr>
              <a:tr h="175964">
                <a:tc>
                  <a:txBody>
                    <a:bodyPr wrap="square"/>
                    <a:lstStyle/>
                    <a:p>
                      <a:pPr algn="l"/>
                      <a:r>
                        <a:rPr sz="1050" b="0" i="0">
                          <a:solidFill>
                            <a:srgbClr val="000000"/>
                          </a:solidFill>
                          <a:latin typeface="Calibri"/>
                        </a:rPr>
                        <a:t>Table 2: South Asia &amp; Pacific Market Taxonomy by Segment, 2026</a:t>
                      </a:r>
                      <a:endParaRPr sz="1050"/>
                    </a:p>
                  </a:txBody>
                  <a:tcPr marL="9525" marR="9525" marT="9525" marB="0" anchor="ctr"/>
                </a:tc>
              </a:tr>
              <a:tr h="175964">
                <a:tc>
                  <a:txBody>
                    <a:bodyPr wrap="square"/>
                    <a:lstStyle/>
                    <a:p>
                      <a:pPr algn="l"/>
                      <a:r>
                        <a:rPr sz="1050" b="0" i="0">
                          <a:solidFill>
                            <a:srgbClr val="000000"/>
                          </a:solidFill>
                          <a:latin typeface="Calibri"/>
                        </a:rPr>
                        <a:t>Table 3: South Asia &amp; Pacific Market Scope: Inclusions and Exclusions by Segment, 2026</a:t>
                      </a:r>
                      <a:endParaRPr sz="1050"/>
                    </a:p>
                  </a:txBody>
                  <a:tcPr marL="9525" marR="9525" marT="9525" marB="0" anchor="ctr"/>
                </a:tc>
              </a:tr>
              <a:tr h="175964">
                <a:tc>
                  <a:txBody>
                    <a:bodyPr wrap="square"/>
                    <a:lstStyle/>
                    <a:p>
                      <a:pPr algn="l"/>
                      <a:r>
                        <a:rPr sz="1050" b="0" i="0">
                          <a:solidFill>
                            <a:srgbClr val="000000"/>
                          </a:solidFill>
                          <a:latin typeface="Calibri"/>
                        </a:rPr>
                        <a:t>Table 4: South Asia &amp; Pacific Market Key Demand Drivers and Impact Rating, 2026–2036</a:t>
                      </a:r>
                      <a:endParaRPr sz="1050"/>
                    </a:p>
                  </a:txBody>
                  <a:tcPr marL="9525" marR="9525" marT="9525" marB="0" anchor="ctr"/>
                </a:tc>
              </a:tr>
              <a:tr h="175964">
                <a:tc>
                  <a:txBody>
                    <a:bodyPr wrap="square"/>
                    <a:lstStyle/>
                    <a:p>
                      <a:pPr algn="l"/>
                      <a:r>
                        <a:rPr sz="1050" b="0" i="0">
                          <a:solidFill>
                            <a:srgbClr val="000000"/>
                          </a:solidFill>
                          <a:latin typeface="Calibri"/>
                        </a:rPr>
                        <a:t>Table 5: South Asia &amp; Pacific Market Key Restraints and Impact Rating, 2026–2036</a:t>
                      </a:r>
                      <a:endParaRPr sz="1050"/>
                    </a:p>
                  </a:txBody>
                  <a:tcPr marL="9525" marR="9525" marT="9525" marB="0" anchor="ctr"/>
                </a:tc>
              </a:tr>
              <a:tr h="175964">
                <a:tc>
                  <a:txBody>
                    <a:bodyPr wrap="square"/>
                    <a:lstStyle/>
                    <a:p>
                      <a:pPr algn="l"/>
                      <a:r>
                        <a:rPr sz="1050" b="0" i="0">
                          <a:solidFill>
                            <a:srgbClr val="000000"/>
                          </a:solidFill>
                          <a:latin typeface="Calibri"/>
                        </a:rPr>
                        <a:t>Table 6: South Asia &amp; Pacific Market Analyst Recommendations by Segment, 2026–2036</a:t>
                      </a:r>
                      <a:endParaRPr sz="1050"/>
                    </a:p>
                  </a:txBody>
                  <a:tcPr marL="9525" marR="9525" marT="9525" marB="0" anchor="ctr"/>
                </a:tc>
              </a:tr>
              <a:tr h="175964">
                <a:tc>
                  <a:txBody>
                    <a:bodyPr wrap="square"/>
                    <a:lstStyle/>
                    <a:p>
                      <a:pPr algn="l"/>
                      <a:r>
                        <a:rPr sz="1050" b="0" i="0">
                          <a:solidFill>
                            <a:srgbClr val="000000"/>
                          </a:solidFill>
                          <a:latin typeface="Calibri"/>
                        </a:rPr>
                        <a:t>Table 7: South Asia &amp; Pacific Market Key Market Signals and Data Points, 2026</a:t>
                      </a:r>
                      <a:endParaRPr sz="1050"/>
                    </a:p>
                  </a:txBody>
                  <a:tcPr marL="9525" marR="9525" marT="9525" marB="0" anchor="ctr"/>
                </a:tc>
              </a:tr>
              <a:tr h="175964">
                <a:tc>
                  <a:txBody>
                    <a:bodyPr wrap="square"/>
                    <a:lstStyle/>
                    <a:p>
                      <a:pPr algn="l"/>
                      <a:r>
                        <a:rPr sz="1050" b="0" i="0">
                          <a:solidFill>
                            <a:srgbClr val="000000"/>
                          </a:solidFill>
                          <a:latin typeface="Calibri"/>
                        </a:rPr>
                        <a:t>Table 8: South Asia &amp; Pacific Market Value and YoY Growth, US$ Mn and %, 2021–2036</a:t>
                      </a:r>
                      <a:endParaRPr sz="1050"/>
                    </a:p>
                  </a:txBody>
                  <a:tcPr marL="9525" marR="9525" marT="9525" marB="0" anchor="ctr"/>
                </a:tc>
              </a:tr>
              <a:tr h="175964">
                <a:tc>
                  <a:txBody>
                    <a:bodyPr wrap="square"/>
                    <a:lstStyle/>
                    <a:p>
                      <a:pPr algn="l"/>
                      <a:r>
                        <a:rPr sz="1050" b="0" i="0">
                          <a:solidFill>
                            <a:srgbClr val="000000"/>
                          </a:solidFill>
                          <a:latin typeface="Calibri"/>
                        </a:rPr>
                        <a:t>Table 9: South Asia &amp; Pacific Market Historical Value Analysis, US$ Mn, 2021–2025</a:t>
                      </a:r>
                      <a:endParaRPr sz="1050"/>
                    </a:p>
                  </a:txBody>
                  <a:tcPr marL="9525" marR="9525" marT="9525" marB="0" anchor="ctr"/>
                </a:tc>
              </a:tr>
              <a:tr h="175964">
                <a:tc>
                  <a:txBody>
                    <a:bodyPr wrap="square"/>
                    <a:lstStyle/>
                    <a:p>
                      <a:pPr algn="l"/>
                      <a:r>
                        <a:rPr sz="1050" b="0" i="0">
                          <a:solidFill>
                            <a:srgbClr val="000000"/>
                          </a:solidFill>
                          <a:latin typeface="Calibri"/>
                        </a:rPr>
                        <a:t>Table 10: South Asia &amp; Pacific Market Forecast Value Analysis, US$ Mn, 2026–2036</a:t>
                      </a:r>
                      <a:endParaRPr sz="1050"/>
                    </a:p>
                  </a:txBody>
                  <a:tcPr marL="9525" marR="9525" marT="9525" marB="0" anchor="ctr"/>
                </a:tc>
              </a:tr>
              <a:tr h="175964">
                <a:tc>
                  <a:txBody>
                    <a:bodyPr wrap="square"/>
                    <a:lstStyle/>
                    <a:p>
                      <a:pPr algn="l"/>
                      <a:r>
                        <a:rPr sz="1050" b="0" i="0">
                          <a:solidFill>
                            <a:srgbClr val="000000"/>
                          </a:solidFill>
                          <a:latin typeface="Calibri"/>
                        </a:rPr>
                        <a:t>Table 11: South Asia &amp; Pacific Market Volume and YoY Growth, Thousand MT and %, 2021–2036</a:t>
                      </a:r>
                      <a:endParaRPr sz="1050"/>
                    </a:p>
                  </a:txBody>
                  <a:tcPr marL="9525" marR="9525" marT="9525" marB="0" anchor="ctr"/>
                </a:tc>
              </a:tr>
              <a:tr h="175964">
                <a:tc>
                  <a:txBody>
                    <a:bodyPr wrap="square"/>
                    <a:lstStyle/>
                    <a:p>
                      <a:pPr algn="l"/>
                      <a:r>
                        <a:rPr sz="1050" b="0" i="0">
                          <a:solidFill>
                            <a:srgbClr val="000000"/>
                          </a:solidFill>
                          <a:latin typeface="Calibri"/>
                        </a:rPr>
                        <a:t>Table 12: South Asia &amp; Pacific Market Volume Forecast, Thousand MT, 2026–2036</a:t>
                      </a:r>
                      <a:endParaRPr sz="1050"/>
                    </a:p>
                  </a:txBody>
                  <a:tcPr marL="9525" marR="9525" marT="9525" marB="0" anchor="ctr"/>
                </a:tc>
              </a:tr>
              <a:tr h="175964">
                <a:tc>
                  <a:txBody>
                    <a:bodyPr wrap="square"/>
                    <a:lstStyle/>
                    <a:p>
                      <a:pPr algn="l"/>
                      <a:r>
                        <a:rPr sz="1050" b="0" i="0">
                          <a:solidFill>
                            <a:srgbClr val="000000"/>
                          </a:solidFill>
                          <a:latin typeface="Calibri"/>
                        </a:rPr>
                        <a:t>Table 13: South Asia &amp; Pacific Market Average Selling Price, US$/MT, 2021–2036</a:t>
                      </a:r>
                      <a:endParaRPr sz="1050"/>
                    </a:p>
                  </a:txBody>
                  <a:tcPr marL="9525" marR="9525" marT="9525" marB="0" anchor="ctr"/>
                </a:tc>
              </a:tr>
              <a:tr h="175964">
                <a:tc>
                  <a:txBody>
                    <a:bodyPr wrap="square"/>
                    <a:lstStyle/>
                    <a:p>
                      <a:pPr algn="l"/>
                      <a:r>
                        <a:rPr sz="1050" b="0" i="0">
                          <a:solidFill>
                            <a:srgbClr val="000000"/>
                          </a:solidFill>
                          <a:latin typeface="Calibri"/>
                        </a:rPr>
                        <a:t>Table 14: South Asia &amp; Pacific Market Average Selling Price YoY Change, %, 2026–2036</a:t>
                      </a:r>
                      <a:endParaRPr sz="1050"/>
                    </a:p>
                  </a:txBody>
                  <a:tcPr marL="9525" marR="9525" marT="9525" marB="0" anchor="ctr"/>
                </a:tc>
              </a:tr>
              <a:tr h="175964">
                <a:tc>
                  <a:txBody>
                    <a:bodyPr wrap="square"/>
                    <a:lstStyle/>
                    <a:p>
                      <a:pPr algn="l"/>
                      <a:r>
                        <a:rPr sz="1050" b="0" i="0">
                          <a:solidFill>
                            <a:srgbClr val="000000"/>
                          </a:solidFill>
                          <a:latin typeface="Calibri"/>
                        </a:rPr>
                        <a:t>Table 15: South Asia &amp; Pacific Market CAGR and Absolute $ Opportunity, %, US$ Mn, 2026–2036</a:t>
                      </a:r>
                      <a:endParaRPr sz="1050"/>
                    </a:p>
                  </a:txBody>
                  <a:tcPr marL="9525" marR="9525" marT="9525" marB="0" anchor="ctr"/>
                </a:tc>
              </a:tr>
              <a:tr h="175964">
                <a:tc>
                  <a:txBody>
                    <a:bodyPr wrap="square"/>
                    <a:lstStyle/>
                    <a:p>
                      <a:pPr algn="l"/>
                      <a:r>
                        <a:rPr sz="1050" b="0" i="0">
                          <a:solidFill>
                            <a:srgbClr val="000000"/>
                          </a:solidFill>
                          <a:latin typeface="Calibri"/>
                        </a:rPr>
                        <a:t>Table 16: South Asia &amp; Pacific Market Absolute $ Opportunity by Year, US$ Mn, 2026–2036</a:t>
                      </a:r>
                      <a:endParaRPr sz="1050"/>
                    </a:p>
                  </a:txBody>
                  <a:tcPr marL="9525" marR="9525" marT="9525" marB="0" anchor="ctr"/>
                </a:tc>
              </a:tr>
              <a:tr h="344889">
                <a:tc>
                  <a:txBody>
                    <a:bodyPr wrap="square"/>
                    <a:lstStyle/>
                    <a:p>
                      <a:pPr algn="l"/>
                      <a:r>
                        <a:rPr sz="1050" b="0" i="0">
                          <a:solidFill>
                            <a:srgbClr val="000000"/>
                          </a:solidFill>
                          <a:latin typeface="Calibri"/>
                        </a:rPr>
                        <a:t>Table 17: South Asia &amp; Pacific Market Value by Scenario (Optimistic, Likely, Pessimistic), US$ Mn, 2026–2036</a:t>
                      </a:r>
                      <a:endParaRPr sz="1050"/>
                    </a:p>
                  </a:txBody>
                  <a:tcPr marL="9525" marR="9525" marT="9525" marB="0" anchor="ctr"/>
                </a:tc>
              </a:tr>
              <a:tr h="175964">
                <a:tc>
                  <a:txBody>
                    <a:bodyPr wrap="square"/>
                    <a:lstStyle/>
                    <a:p>
                      <a:pPr algn="l"/>
                      <a:r>
                        <a:rPr sz="1050" b="0" i="0">
                          <a:solidFill>
                            <a:srgbClr val="000000"/>
                          </a:solidFill>
                          <a:latin typeface="Calibri"/>
                        </a:rPr>
                        <a:t>Table 18: South Asia &amp; Pacific Market Scenario CAGR Comparison, %, 2026–2036</a:t>
                      </a:r>
                      <a:endParaRPr sz="1050"/>
                    </a:p>
                  </a:txBody>
                  <a:tcPr marL="9525" marR="9525" marT="9525" marB="0" anchor="ctr"/>
                </a:tc>
              </a:tr>
              <a:tr h="175964">
                <a:tc>
                  <a:txBody>
                    <a:bodyPr wrap="square"/>
                    <a:lstStyle/>
                    <a:p>
                      <a:pPr algn="l"/>
                      <a:r>
                        <a:rPr sz="1050" b="0" i="0">
                          <a:solidFill>
                            <a:srgbClr val="000000"/>
                          </a:solidFill>
                          <a:latin typeface="Calibri"/>
                        </a:rPr>
                        <a:t>Table 19: South Asia &amp; Pacific Market Historical vs Forecast Growth Comparison, %, 2021–2036</a:t>
                      </a:r>
                      <a:endParaRPr sz="1050"/>
                    </a:p>
                  </a:txBody>
                  <a:tcPr marL="9525" marR="9525" marT="9525" marB="0" anchor="ctr"/>
                </a:tc>
              </a:tr>
              <a:tr h="175964">
                <a:tc>
                  <a:txBody>
                    <a:bodyPr wrap="square"/>
                    <a:lstStyle/>
                    <a:p>
                      <a:pPr algn="l"/>
                      <a:r>
                        <a:rPr sz="1050" b="0" i="0">
                          <a:solidFill>
                            <a:srgbClr val="000000"/>
                          </a:solidFill>
                          <a:latin typeface="Calibri"/>
                        </a:rPr>
                        <a:t>Table 20: South Asia &amp; Pacific Market Five-Year Block Value Summary, US$ Mn, 2021–2036</a:t>
                      </a:r>
                      <a:endParaRPr sz="1050"/>
                    </a:p>
                  </a:txBody>
                  <a:tcPr marL="9525" marR="9525" marT="9525" marB="0" anchor="ctr"/>
                </a:tc>
              </a:tr>
              <a:tr h="175964">
                <a:tc>
                  <a:txBody>
                    <a:bodyPr wrap="square"/>
                    <a:lstStyle/>
                    <a:p>
                      <a:pPr algn="l"/>
                      <a:r>
                        <a:rPr sz="1050" b="0" i="0">
                          <a:solidFill>
                            <a:srgbClr val="000000"/>
                          </a:solidFill>
                          <a:latin typeface="Calibri"/>
                        </a:rPr>
                        <a:t>Table 21: South Asia &amp; Pacific Market Value by Product Type, US$ Mn, 2021–2036</a:t>
                      </a:r>
                      <a:endParaRPr sz="1050"/>
                    </a:p>
                  </a:txBody>
                  <a:tcPr marL="9525" marR="9525" marT="9525" marB="0" anchor="ctr"/>
                </a:tc>
              </a:tr>
              <a:tr h="344889">
                <a:tc>
                  <a:txBody>
                    <a:bodyPr wrap="square"/>
                    <a:lstStyle/>
                    <a:p>
                      <a:pPr algn="l"/>
                      <a:r>
                        <a:rPr sz="1050" b="0" i="0">
                          <a:solidFill>
                            <a:srgbClr val="000000"/>
                          </a:solidFill>
                          <a:latin typeface="Calibri"/>
                        </a:rPr>
                        <a:t>Table 22: South Asia &amp; Pacific Market Value by Principal Material / Barrier Technology, US$ Mn, 2021–2036</a:t>
                      </a:r>
                      <a:endParaRPr sz="1050"/>
                    </a:p>
                  </a:txBody>
                  <a:tcPr marL="9525" marR="9525" marT="9525" marB="0" anchor="ctr"/>
                </a:tc>
              </a:tr>
              <a:tr h="175964">
                <a:tc>
                  <a:txBody>
                    <a:bodyPr wrap="square"/>
                    <a:lstStyle/>
                    <a:p>
                      <a:pPr algn="l"/>
                      <a:r>
                        <a:rPr sz="1050" b="0" i="0">
                          <a:solidFill>
                            <a:srgbClr val="000000"/>
                          </a:solidFill>
                          <a:latin typeface="Calibri"/>
                        </a:rPr>
                        <a:t>Table 23: South Asia &amp; Pacific Market Value by Material Structure, US$ Mn, 2021–2036</a:t>
                      </a:r>
                      <a:endParaRPr sz="1050"/>
                    </a:p>
                  </a:txBody>
                  <a:tcPr marL="9525" marR="9525" marT="9525" marB="0" anchor="ctr"/>
                </a:tc>
              </a:tr>
              <a:tr h="175964">
                <a:tc>
                  <a:txBody>
                    <a:bodyPr wrap="square"/>
                    <a:lstStyle/>
                    <a:p>
                      <a:pPr algn="l"/>
                      <a:r>
                        <a:rPr sz="1050" b="0" i="0">
                          <a:solidFill>
                            <a:srgbClr val="000000"/>
                          </a:solidFill>
                          <a:latin typeface="Calibri"/>
                        </a:rPr>
                        <a:t>Table 24: South Asia &amp; Pacific Market Value by Barrier Level, US$ Mn, 2021–2036</a:t>
                      </a:r>
                      <a:endParaRPr sz="1050"/>
                    </a:p>
                  </a:txBody>
                  <a:tcPr marL="9525" marR="9525" marT="9525" marB="0" anchor="ctr"/>
                </a:tc>
              </a:tr>
              <a:tr h="175964">
                <a:tc>
                  <a:txBody>
                    <a:bodyPr wrap="square"/>
                    <a:lstStyle/>
                    <a:p>
                      <a:pPr algn="l"/>
                      <a:r>
                        <a:rPr sz="1050" b="0" i="0">
                          <a:solidFill>
                            <a:srgbClr val="000000"/>
                          </a:solidFill>
                          <a:latin typeface="Calibri"/>
                        </a:rPr>
                        <a:t>Table 25: South Asia &amp; Pacific Market Value by Application, US$ Mn, 2021–2036</a:t>
                      </a:r>
                      <a:endParaRPr sz="1050"/>
                    </a:p>
                  </a:txBody>
                  <a:tcPr marL="9525" marR="9525" marT="9525" marB="0" anchor="ctr"/>
                </a:tc>
              </a:tr>
              <a:tr h="175964">
                <a:tc>
                  <a:txBody>
                    <a:bodyPr wrap="square"/>
                    <a:lstStyle/>
                    <a:p>
                      <a:pPr algn="l"/>
                      <a:r>
                        <a:rPr sz="1050" b="0" i="0">
                          <a:solidFill>
                            <a:srgbClr val="000000"/>
                          </a:solidFill>
                          <a:latin typeface="Calibri"/>
                        </a:rPr>
                        <a:t>Table 26: South Asia &amp; Pacific Market Value by Barrier Level Vs Application, US$ Mn, 2021–2036</a:t>
                      </a:r>
                      <a:endParaRPr sz="1050"/>
                    </a:p>
                  </a:txBody>
                  <a:tcPr marL="9525" marR="9525" marT="9525" marB="0" anchor="ctr"/>
                </a:tc>
              </a:tr>
              <a:tr h="344889">
                <a:tc>
                  <a:txBody>
                    <a:bodyPr wrap="square"/>
                    <a:lstStyle/>
                    <a:p>
                      <a:pPr algn="l"/>
                      <a:r>
                        <a:rPr sz="1050" b="0" i="0">
                          <a:solidFill>
                            <a:srgbClr val="000000"/>
                          </a:solidFill>
                          <a:latin typeface="Calibri"/>
                        </a:rPr>
                        <a:t>Table 27: South Asia &amp; Pacific Market CAGR and Absolute $ Opportunity by Product Type, %,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4"/>
        </p:xfrm>
        <a:graphic>
          <a:graphicData uri="http://schemas.openxmlformats.org/drawingml/2006/table">
            <a:tbl>
              <a:tblPr>
                <a:tableStyleId>{3B4B98B0-60AC-42C2-AFA5-B58CD77FA1E5}</a:tableStyleId>
              </a:tblPr>
              <a:tblGrid>
                <a:gridCol w="5876925"/>
              </a:tblGrid>
              <a:tr h="336774">
                <a:tc>
                  <a:txBody>
                    <a:bodyPr wrap="square"/>
                    <a:lstStyle/>
                    <a:p>
                      <a:pPr algn="l"/>
                      <a:r>
                        <a:rPr sz="1050" b="0" i="0">
                          <a:solidFill>
                            <a:srgbClr val="000000"/>
                          </a:solidFill>
                          <a:latin typeface="Calibri"/>
                        </a:rPr>
                        <a:t>Table 28: South Asia &amp; Pacific Market CAGR and Absolute $ Opportunity by Principal Material / Barrier Technology, %, US$ Mn, 2026–2036</a:t>
                      </a:r>
                      <a:endParaRPr sz="1050"/>
                    </a:p>
                  </a:txBody>
                  <a:tcPr marL="9525" marR="9525" marT="9525" marB="0" anchor="ctr"/>
                </a:tc>
              </a:tr>
              <a:tr h="336774">
                <a:tc>
                  <a:txBody>
                    <a:bodyPr wrap="square"/>
                    <a:lstStyle/>
                    <a:p>
                      <a:pPr algn="l"/>
                      <a:r>
                        <a:rPr sz="1050" b="0" i="0">
                          <a:solidFill>
                            <a:srgbClr val="000000"/>
                          </a:solidFill>
                          <a:latin typeface="Calibri"/>
                        </a:rPr>
                        <a:t>Table 29: South Asia &amp; Pacific Market CAGR and Absolute $ Opportunity by Material Structure, %, US$ Mn, 2026–2036</a:t>
                      </a:r>
                      <a:endParaRPr sz="1050"/>
                    </a:p>
                  </a:txBody>
                  <a:tcPr marL="9525" marR="9525" marT="9525" marB="0" anchor="ctr"/>
                </a:tc>
              </a:tr>
              <a:tr h="336774">
                <a:tc>
                  <a:txBody>
                    <a:bodyPr wrap="square"/>
                    <a:lstStyle/>
                    <a:p>
                      <a:pPr algn="l"/>
                      <a:r>
                        <a:rPr sz="1050" b="0" i="0">
                          <a:solidFill>
                            <a:srgbClr val="000000"/>
                          </a:solidFill>
                          <a:latin typeface="Calibri"/>
                        </a:rPr>
                        <a:t>Table 30: South Asia &amp; Pacific Market CAGR and Absolute $ Opportunity by Barrier Level, %, US$ Mn, 2026–2036</a:t>
                      </a:r>
                      <a:endParaRPr sz="1050"/>
                    </a:p>
                  </a:txBody>
                  <a:tcPr marL="9525" marR="9525" marT="9525" marB="0" anchor="ctr"/>
                </a:tc>
              </a:tr>
              <a:tr h="336774">
                <a:tc>
                  <a:txBody>
                    <a:bodyPr wrap="square"/>
                    <a:lstStyle/>
                    <a:p>
                      <a:pPr algn="l"/>
                      <a:r>
                        <a:rPr sz="1050" b="0" i="0">
                          <a:solidFill>
                            <a:srgbClr val="000000"/>
                          </a:solidFill>
                          <a:latin typeface="Calibri"/>
                        </a:rPr>
                        <a:t>Table 31: South Asia &amp; Pacific Market CAGR and Absolute $ Opportunity by Application, %, US$ Mn, 2026–2036</a:t>
                      </a:r>
                      <a:endParaRPr sz="1050"/>
                    </a:p>
                  </a:txBody>
                  <a:tcPr marL="9525" marR="9525" marT="9525" marB="0" anchor="ctr"/>
                </a:tc>
              </a:tr>
              <a:tr h="336774">
                <a:tc>
                  <a:txBody>
                    <a:bodyPr wrap="square"/>
                    <a:lstStyle/>
                    <a:p>
                      <a:pPr algn="l"/>
                      <a:r>
                        <a:rPr sz="1050" b="0" i="0">
                          <a:solidFill>
                            <a:srgbClr val="000000"/>
                          </a:solidFill>
                          <a:latin typeface="Calibri"/>
                        </a:rPr>
                        <a:t>Table 32: South Asia &amp; Pacific Market CAGR and Absolute $ Opportunity by Barrier Level Vs Application, %, US$ Mn, 2026–2036</a:t>
                      </a:r>
                      <a:endParaRPr sz="1050"/>
                    </a:p>
                  </a:txBody>
                  <a:tcPr marL="9525" marR="9525" marT="9525" marB="0" anchor="ctr"/>
                </a:tc>
              </a:tr>
              <a:tr h="171824">
                <a:tc>
                  <a:txBody>
                    <a:bodyPr wrap="square"/>
                    <a:lstStyle/>
                    <a:p>
                      <a:pPr algn="l"/>
                      <a:r>
                        <a:rPr sz="1050" b="0" i="0">
                          <a:solidFill>
                            <a:srgbClr val="000000"/>
                          </a:solidFill>
                          <a:latin typeface="Calibri"/>
                        </a:rPr>
                        <a:t>Table 33: South Asia &amp; Pacific Market Share and BPS Change by Product Type, %, 2025, 2026 and 2036</a:t>
                      </a:r>
                      <a:endParaRPr sz="1050"/>
                    </a:p>
                  </a:txBody>
                  <a:tcPr marL="9525" marR="9525" marT="9525" marB="0" anchor="ctr"/>
                </a:tc>
              </a:tr>
              <a:tr h="336774">
                <a:tc>
                  <a:txBody>
                    <a:bodyPr wrap="square"/>
                    <a:lstStyle/>
                    <a:p>
                      <a:pPr algn="l"/>
                      <a:r>
                        <a:rPr sz="1050" b="0" i="0">
                          <a:solidFill>
                            <a:srgbClr val="000000"/>
                          </a:solidFill>
                          <a:latin typeface="Calibri"/>
                        </a:rPr>
                        <a:t>Table 34: South Asia &amp; Pacific Market Share and BPS Change by Principal Material / Barrier Technology, %, 2025, 2026 and 2036</a:t>
                      </a:r>
                      <a:endParaRPr sz="1050"/>
                    </a:p>
                  </a:txBody>
                  <a:tcPr marL="9525" marR="9525" marT="9525" marB="0" anchor="ctr"/>
                </a:tc>
              </a:tr>
              <a:tr h="336774">
                <a:tc>
                  <a:txBody>
                    <a:bodyPr wrap="square"/>
                    <a:lstStyle/>
                    <a:p>
                      <a:pPr algn="l"/>
                      <a:r>
                        <a:rPr sz="1050" b="0" i="0">
                          <a:solidFill>
                            <a:srgbClr val="000000"/>
                          </a:solidFill>
                          <a:latin typeface="Calibri"/>
                        </a:rPr>
                        <a:t>Table 35: South Asia &amp; Pacific Market Share and BPS Change by Material Structure, %, 2025, 2026 and 2036</a:t>
                      </a:r>
                      <a:endParaRPr sz="1050"/>
                    </a:p>
                  </a:txBody>
                  <a:tcPr marL="9525" marR="9525" marT="9525" marB="0" anchor="ctr"/>
                </a:tc>
              </a:tr>
              <a:tr h="171824">
                <a:tc>
                  <a:txBody>
                    <a:bodyPr wrap="square"/>
                    <a:lstStyle/>
                    <a:p>
                      <a:pPr algn="l"/>
                      <a:r>
                        <a:rPr sz="1050" b="0" i="0">
                          <a:solidFill>
                            <a:srgbClr val="000000"/>
                          </a:solidFill>
                          <a:latin typeface="Calibri"/>
                        </a:rPr>
                        <a:t>Table 36: South Asia &amp; Pacific Market Share and BPS Change by Barrier Level, %, 2025, 2026 and 2036</a:t>
                      </a:r>
                      <a:endParaRPr sz="1050"/>
                    </a:p>
                  </a:txBody>
                  <a:tcPr marL="9525" marR="9525" marT="9525" marB="0" anchor="ctr"/>
                </a:tc>
              </a:tr>
              <a:tr h="171824">
                <a:tc>
                  <a:txBody>
                    <a:bodyPr wrap="square"/>
                    <a:lstStyle/>
                    <a:p>
                      <a:pPr algn="l"/>
                      <a:r>
                        <a:rPr sz="1050" b="0" i="0">
                          <a:solidFill>
                            <a:srgbClr val="000000"/>
                          </a:solidFill>
                          <a:latin typeface="Calibri"/>
                        </a:rPr>
                        <a:t>Table 37: South Asia &amp; Pacific Market Share and BPS Change by Application, %, 2025, 2026 and 2036</a:t>
                      </a:r>
                      <a:endParaRPr sz="1050"/>
                    </a:p>
                  </a:txBody>
                  <a:tcPr marL="9525" marR="9525" marT="9525" marB="0" anchor="ctr"/>
                </a:tc>
              </a:tr>
              <a:tr h="336774">
                <a:tc>
                  <a:txBody>
                    <a:bodyPr wrap="square"/>
                    <a:lstStyle/>
                    <a:p>
                      <a:pPr algn="l"/>
                      <a:r>
                        <a:rPr sz="1050" b="0" i="0">
                          <a:solidFill>
                            <a:srgbClr val="000000"/>
                          </a:solidFill>
                          <a:latin typeface="Calibri"/>
                        </a:rPr>
                        <a:t>Table 38: South Asia &amp; Pacific Market Share and BPS Change by Barrier Level Vs Application, %, 2025, 2026 and 2036</a:t>
                      </a:r>
                      <a:endParaRPr sz="1050"/>
                    </a:p>
                  </a:txBody>
                  <a:tcPr marL="9525" marR="9525" marT="9525" marB="0" anchor="ctr"/>
                </a:tc>
              </a:tr>
              <a:tr h="171824">
                <a:tc>
                  <a:txBody>
                    <a:bodyPr wrap="square"/>
                    <a:lstStyle/>
                    <a:p>
                      <a:pPr algn="l"/>
                      <a:r>
                        <a:rPr sz="1050" b="0" i="0">
                          <a:solidFill>
                            <a:srgbClr val="000000"/>
                          </a:solidFill>
                          <a:latin typeface="Calibri"/>
                        </a:rPr>
                        <a:t>Table 39: South Asia &amp; Pacific Market YoY Growth by Product Type, %, 2026–2036</a:t>
                      </a:r>
                      <a:endParaRPr sz="1050"/>
                    </a:p>
                  </a:txBody>
                  <a:tcPr marL="9525" marR="9525" marT="9525" marB="0" anchor="ctr"/>
                </a:tc>
              </a:tr>
              <a:tr h="336774">
                <a:tc>
                  <a:txBody>
                    <a:bodyPr wrap="square"/>
                    <a:lstStyle/>
                    <a:p>
                      <a:pPr algn="l"/>
                      <a:r>
                        <a:rPr sz="1050" b="0" i="0">
                          <a:solidFill>
                            <a:srgbClr val="000000"/>
                          </a:solidFill>
                          <a:latin typeface="Calibri"/>
                        </a:rPr>
                        <a:t>Table 40: South Asia &amp; Pacific Market YoY Growth by Principal Material / Barrier Technology, %, 2026–2036</a:t>
                      </a:r>
                      <a:endParaRPr sz="1050"/>
                    </a:p>
                  </a:txBody>
                  <a:tcPr marL="9525" marR="9525" marT="9525" marB="0" anchor="ctr"/>
                </a:tc>
              </a:tr>
              <a:tr h="171824">
                <a:tc>
                  <a:txBody>
                    <a:bodyPr wrap="square"/>
                    <a:lstStyle/>
                    <a:p>
                      <a:pPr algn="l"/>
                      <a:r>
                        <a:rPr sz="1050" b="0" i="0">
                          <a:solidFill>
                            <a:srgbClr val="000000"/>
                          </a:solidFill>
                          <a:latin typeface="Calibri"/>
                        </a:rPr>
                        <a:t>Table 41: South Asia &amp; Pacific Market YoY Growth by Material Structure, %, 2026–2036</a:t>
                      </a:r>
                      <a:endParaRPr sz="1050"/>
                    </a:p>
                  </a:txBody>
                  <a:tcPr marL="9525" marR="9525" marT="9525" marB="0" anchor="ctr"/>
                </a:tc>
              </a:tr>
              <a:tr h="171824">
                <a:tc>
                  <a:txBody>
                    <a:bodyPr wrap="square"/>
                    <a:lstStyle/>
                    <a:p>
                      <a:pPr algn="l"/>
                      <a:r>
                        <a:rPr sz="1050" b="0" i="0">
                          <a:solidFill>
                            <a:srgbClr val="000000"/>
                          </a:solidFill>
                          <a:latin typeface="Calibri"/>
                        </a:rPr>
                        <a:t>Table 42: South Asia &amp; Pacific Market YoY Growth by Barrier Level, %, 2026–2036</a:t>
                      </a:r>
                      <a:endParaRPr sz="1050"/>
                    </a:p>
                  </a:txBody>
                  <a:tcPr marL="9525" marR="9525" marT="9525" marB="0" anchor="ctr"/>
                </a:tc>
              </a:tr>
              <a:tr h="171824">
                <a:tc>
                  <a:txBody>
                    <a:bodyPr wrap="square"/>
                    <a:lstStyle/>
                    <a:p>
                      <a:pPr algn="l"/>
                      <a:r>
                        <a:rPr sz="1050" b="0" i="0">
                          <a:solidFill>
                            <a:srgbClr val="000000"/>
                          </a:solidFill>
                          <a:latin typeface="Calibri"/>
                        </a:rPr>
                        <a:t>Table 43: South Asia &amp; Pacific Market YoY Growth by Application, %, 2026–2036</a:t>
                      </a:r>
                      <a:endParaRPr sz="1050"/>
                    </a:p>
                  </a:txBody>
                  <a:tcPr marL="9525" marR="9525" marT="9525" marB="0" anchor="ctr"/>
                </a:tc>
              </a:tr>
              <a:tr h="171824">
                <a:tc>
                  <a:txBody>
                    <a:bodyPr wrap="square"/>
                    <a:lstStyle/>
                    <a:p>
                      <a:pPr algn="l"/>
                      <a:r>
                        <a:rPr sz="1050" b="0" i="0">
                          <a:solidFill>
                            <a:srgbClr val="000000"/>
                          </a:solidFill>
                          <a:latin typeface="Calibri"/>
                        </a:rPr>
                        <a:t>Table 44: South Asia &amp; Pacific Market YoY Growth by Barrier Level Vs Application, %, 2026–2036</a:t>
                      </a:r>
                      <a:endParaRPr sz="1050"/>
                    </a:p>
                  </a:txBody>
                  <a:tcPr marL="9525" marR="9525" marT="9525" marB="0" anchor="ctr"/>
                </a:tc>
              </a:tr>
              <a:tr h="171824">
                <a:tc>
                  <a:txBody>
                    <a:bodyPr wrap="square"/>
                    <a:lstStyle/>
                    <a:p>
                      <a:pPr algn="l"/>
                      <a:r>
                        <a:rPr sz="1050" b="0" i="0">
                          <a:solidFill>
                            <a:srgbClr val="000000"/>
                          </a:solidFill>
                          <a:latin typeface="Calibri"/>
                        </a:rPr>
                        <a:t>Table 45: South Asia &amp; Pacific Market Volume by Product Type, Thousand MT, 2021–2036</a:t>
                      </a:r>
                      <a:endParaRPr sz="1050"/>
                    </a:p>
                  </a:txBody>
                  <a:tcPr marL="9525" marR="9525" marT="9525" marB="0" anchor="ctr"/>
                </a:tc>
              </a:tr>
              <a:tr h="336774">
                <a:tc>
                  <a:txBody>
                    <a:bodyPr wrap="square"/>
                    <a:lstStyle/>
                    <a:p>
                      <a:pPr algn="l"/>
                      <a:r>
                        <a:rPr sz="1050" b="0" i="0">
                          <a:solidFill>
                            <a:srgbClr val="000000"/>
                          </a:solidFill>
                          <a:latin typeface="Calibri"/>
                        </a:rPr>
                        <a:t>Table 46: South Asia &amp; Pacific Market Volume by Principal Material / Barrier Technology, Thousand MT, 2021–2036</a:t>
                      </a:r>
                      <a:endParaRPr sz="1050"/>
                    </a:p>
                  </a:txBody>
                  <a:tcPr marL="9525" marR="9525" marT="9525" marB="0" anchor="ctr"/>
                </a:tc>
              </a:tr>
              <a:tr h="171824">
                <a:tc>
                  <a:txBody>
                    <a:bodyPr wrap="square"/>
                    <a:lstStyle/>
                    <a:p>
                      <a:pPr algn="l"/>
                      <a:r>
                        <a:rPr sz="1050" b="0" i="0">
                          <a:solidFill>
                            <a:srgbClr val="000000"/>
                          </a:solidFill>
                          <a:latin typeface="Calibri"/>
                        </a:rPr>
                        <a:t>Table 47: South Asia &amp; Pacific Market Volume by Material Structure, Thousand MT, 2021–2036</a:t>
                      </a:r>
                      <a:endParaRPr sz="1050"/>
                    </a:p>
                  </a:txBody>
                  <a:tcPr marL="9525" marR="9525" marT="9525" marB="0" anchor="ctr"/>
                </a:tc>
              </a:tr>
              <a:tr h="171824">
                <a:tc>
                  <a:txBody>
                    <a:bodyPr wrap="square"/>
                    <a:lstStyle/>
                    <a:p>
                      <a:pPr algn="l"/>
                      <a:r>
                        <a:rPr sz="1050" b="0" i="0">
                          <a:solidFill>
                            <a:srgbClr val="000000"/>
                          </a:solidFill>
                          <a:latin typeface="Calibri"/>
                        </a:rPr>
                        <a:t>Table 48: South Asia &amp; Pacific Market Volume by Barrier Level, Thousand MT,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(2/5)</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7628">
                <a:tc>
                  <a:txBody>
                    <a:bodyPr wrap="square"/>
                    <a:lstStyle/>
                    <a:p>
                      <a:pPr algn="l"/>
                      <a:r>
                        <a:rPr sz="1050" b="0" i="0">
                          <a:solidFill>
                            <a:srgbClr val="000000"/>
                          </a:solidFill>
                          <a:latin typeface="Calibri"/>
                        </a:rPr>
                        <a:t>Table 49: South Asia &amp; Pacific Market Volume by Application, Thousand MT, 2021–2036</a:t>
                      </a:r>
                      <a:endParaRPr sz="1050"/>
                    </a:p>
                  </a:txBody>
                  <a:tcPr marL="9525" marR="9525" marT="9525" marB="0" anchor="ctr"/>
                </a:tc>
              </a:tr>
              <a:tr h="348152">
                <a:tc>
                  <a:txBody>
                    <a:bodyPr wrap="square"/>
                    <a:lstStyle/>
                    <a:p>
                      <a:pPr algn="l"/>
                      <a:r>
                        <a:rPr sz="1050" b="0" i="0">
                          <a:solidFill>
                            <a:srgbClr val="000000"/>
                          </a:solidFill>
                          <a:latin typeface="Calibri"/>
                        </a:rPr>
                        <a:t>Table 50: South Asia &amp; Pacific Market Volume by Barrier Level Vs Application, Thousand MT, 2021–2036</a:t>
                      </a:r>
                      <a:endParaRPr sz="1050"/>
                    </a:p>
                  </a:txBody>
                  <a:tcPr marL="9525" marR="9525" marT="9525" marB="0" anchor="ctr"/>
                </a:tc>
              </a:tr>
              <a:tr h="177628">
                <a:tc>
                  <a:txBody>
                    <a:bodyPr wrap="square"/>
                    <a:lstStyle/>
                    <a:p>
                      <a:pPr algn="l"/>
                      <a:r>
                        <a:rPr sz="1050" b="0" i="0">
                          <a:solidFill>
                            <a:srgbClr val="000000"/>
                          </a:solidFill>
                          <a:latin typeface="Calibri"/>
                        </a:rPr>
                        <a:t>Table 51: South Asia &amp; Pacific Market Average Selling Price by Product Type, US$/MT, 2021–2036</a:t>
                      </a:r>
                      <a:endParaRPr sz="1050"/>
                    </a:p>
                  </a:txBody>
                  <a:tcPr marL="9525" marR="9525" marT="9525" marB="0" anchor="ctr"/>
                </a:tc>
              </a:tr>
              <a:tr h="348152">
                <a:tc>
                  <a:txBody>
                    <a:bodyPr wrap="square"/>
                    <a:lstStyle/>
                    <a:p>
                      <a:pPr algn="l"/>
                      <a:r>
                        <a:rPr sz="1050" b="0" i="0">
                          <a:solidFill>
                            <a:srgbClr val="000000"/>
                          </a:solidFill>
                          <a:latin typeface="Calibri"/>
                        </a:rPr>
                        <a:t>Table 52: South Asia &amp; Pacific Market Average Selling Price by Principal Material / Barrier Technology, US$/MT, 2021–2036</a:t>
                      </a:r>
                      <a:endParaRPr sz="1050"/>
                    </a:p>
                  </a:txBody>
                  <a:tcPr marL="9525" marR="9525" marT="9525" marB="0" anchor="ctr"/>
                </a:tc>
              </a:tr>
              <a:tr h="177628">
                <a:tc>
                  <a:txBody>
                    <a:bodyPr wrap="square"/>
                    <a:lstStyle/>
                    <a:p>
                      <a:pPr algn="l"/>
                      <a:r>
                        <a:rPr sz="1050" b="0" i="0">
                          <a:solidFill>
                            <a:srgbClr val="000000"/>
                          </a:solidFill>
                          <a:latin typeface="Calibri"/>
                        </a:rPr>
                        <a:t>Table 53: South Asia &amp; Pacific Market Average Selling Price by Material Structure, US$/MT, 2021–2036</a:t>
                      </a:r>
                      <a:endParaRPr sz="1050"/>
                    </a:p>
                  </a:txBody>
                  <a:tcPr marL="9525" marR="9525" marT="9525" marB="0" anchor="ctr"/>
                </a:tc>
              </a:tr>
              <a:tr h="177628">
                <a:tc>
                  <a:txBody>
                    <a:bodyPr wrap="square"/>
                    <a:lstStyle/>
                    <a:p>
                      <a:pPr algn="l"/>
                      <a:r>
                        <a:rPr sz="1050" b="0" i="0">
                          <a:solidFill>
                            <a:srgbClr val="000000"/>
                          </a:solidFill>
                          <a:latin typeface="Calibri"/>
                        </a:rPr>
                        <a:t>Table 54: South Asia &amp; Pacific Market Average Selling Price by Barrier Level, US$/MT, 2021–2036</a:t>
                      </a:r>
                      <a:endParaRPr sz="1050"/>
                    </a:p>
                  </a:txBody>
                  <a:tcPr marL="9525" marR="9525" marT="9525" marB="0" anchor="ctr"/>
                </a:tc>
              </a:tr>
              <a:tr h="177628">
                <a:tc>
                  <a:txBody>
                    <a:bodyPr wrap="square"/>
                    <a:lstStyle/>
                    <a:p>
                      <a:pPr algn="l"/>
                      <a:r>
                        <a:rPr sz="1050" b="0" i="0">
                          <a:solidFill>
                            <a:srgbClr val="000000"/>
                          </a:solidFill>
                          <a:latin typeface="Calibri"/>
                        </a:rPr>
                        <a:t>Table 55: South Asia &amp; Pacific Market Average Selling Price by Application, US$/MT, 2021–2036</a:t>
                      </a:r>
                      <a:endParaRPr sz="1050"/>
                    </a:p>
                  </a:txBody>
                  <a:tcPr marL="9525" marR="9525" marT="9525" marB="0" anchor="ctr"/>
                </a:tc>
              </a:tr>
              <a:tr h="348152">
                <a:tc>
                  <a:txBody>
                    <a:bodyPr wrap="square"/>
                    <a:lstStyle/>
                    <a:p>
                      <a:pPr algn="l"/>
                      <a:r>
                        <a:rPr sz="1050" b="0" i="0">
                          <a:solidFill>
                            <a:srgbClr val="000000"/>
                          </a:solidFill>
                          <a:latin typeface="Calibri"/>
                        </a:rPr>
                        <a:t>Table 56: South Asia &amp; Pacific Market Average Selling Price by Barrier Level Vs Application, US$/MT, 2021–2036</a:t>
                      </a:r>
                      <a:endParaRPr sz="1050"/>
                    </a:p>
                  </a:txBody>
                  <a:tcPr marL="9525" marR="9525" marT="9525" marB="0" anchor="ctr"/>
                </a:tc>
              </a:tr>
              <a:tr h="177628">
                <a:tc>
                  <a:txBody>
                    <a:bodyPr wrap="square"/>
                    <a:lstStyle/>
                    <a:p>
                      <a:pPr algn="l"/>
                      <a:r>
                        <a:rPr sz="1050" b="0" i="0">
                          <a:solidFill>
                            <a:srgbClr val="000000"/>
                          </a:solidFill>
                          <a:latin typeface="Calibri"/>
                        </a:rPr>
                        <a:t>Table 57: South Asia &amp; Pacific Market Attractiveness Index by Product Type, 2026–2036</a:t>
                      </a:r>
                      <a:endParaRPr sz="1050"/>
                    </a:p>
                  </a:txBody>
                  <a:tcPr marL="9525" marR="9525" marT="9525" marB="0" anchor="ctr"/>
                </a:tc>
              </a:tr>
              <a:tr h="348152">
                <a:tc>
                  <a:txBody>
                    <a:bodyPr wrap="square"/>
                    <a:lstStyle/>
                    <a:p>
                      <a:pPr algn="l"/>
                      <a:r>
                        <a:rPr sz="1050" b="0" i="0">
                          <a:solidFill>
                            <a:srgbClr val="000000"/>
                          </a:solidFill>
                          <a:latin typeface="Calibri"/>
                        </a:rPr>
                        <a:t>Table 58: South Asia &amp; Pacific Market Attractiveness Index by Principal Material / Barrier Technology, 2026–2036</a:t>
                      </a:r>
                      <a:endParaRPr sz="1050"/>
                    </a:p>
                  </a:txBody>
                  <a:tcPr marL="9525" marR="9525" marT="9525" marB="0" anchor="ctr"/>
                </a:tc>
              </a:tr>
              <a:tr h="177628">
                <a:tc>
                  <a:txBody>
                    <a:bodyPr wrap="square"/>
                    <a:lstStyle/>
                    <a:p>
                      <a:pPr algn="l"/>
                      <a:r>
                        <a:rPr sz="1050" b="0" i="0">
                          <a:solidFill>
                            <a:srgbClr val="000000"/>
                          </a:solidFill>
                          <a:latin typeface="Calibri"/>
                        </a:rPr>
                        <a:t>Table 59: South Asia &amp; Pacific Market Attractiveness Index by Material Structure, 2026–2036</a:t>
                      </a:r>
                      <a:endParaRPr sz="1050"/>
                    </a:p>
                  </a:txBody>
                  <a:tcPr marL="9525" marR="9525" marT="9525" marB="0" anchor="ctr"/>
                </a:tc>
              </a:tr>
              <a:tr h="177628">
                <a:tc>
                  <a:txBody>
                    <a:bodyPr wrap="square"/>
                    <a:lstStyle/>
                    <a:p>
                      <a:pPr algn="l"/>
                      <a:r>
                        <a:rPr sz="1050" b="0" i="0">
                          <a:solidFill>
                            <a:srgbClr val="000000"/>
                          </a:solidFill>
                          <a:latin typeface="Calibri"/>
                        </a:rPr>
                        <a:t>Table 60: South Asia &amp; Pacific Market Attractiveness Index by Barrier Level, 2026–2036</a:t>
                      </a:r>
                      <a:endParaRPr sz="1050"/>
                    </a:p>
                  </a:txBody>
                  <a:tcPr marL="9525" marR="9525" marT="9525" marB="0" anchor="ctr"/>
                </a:tc>
              </a:tr>
              <a:tr h="177628">
                <a:tc>
                  <a:txBody>
                    <a:bodyPr wrap="square"/>
                    <a:lstStyle/>
                    <a:p>
                      <a:pPr algn="l"/>
                      <a:r>
                        <a:rPr sz="1050" b="0" i="0">
                          <a:solidFill>
                            <a:srgbClr val="000000"/>
                          </a:solidFill>
                          <a:latin typeface="Calibri"/>
                        </a:rPr>
                        <a:t>Table 61: South Asia &amp; Pacific Market Attractiveness Index by Application, 2026–2036</a:t>
                      </a:r>
                      <a:endParaRPr sz="1050"/>
                    </a:p>
                  </a:txBody>
                  <a:tcPr marL="9525" marR="9525" marT="9525" marB="0" anchor="ctr"/>
                </a:tc>
              </a:tr>
              <a:tr h="177628">
                <a:tc>
                  <a:txBody>
                    <a:bodyPr wrap="square"/>
                    <a:lstStyle/>
                    <a:p>
                      <a:pPr algn="l"/>
                      <a:r>
                        <a:rPr sz="1050" b="0" i="0">
                          <a:solidFill>
                            <a:srgbClr val="000000"/>
                          </a:solidFill>
                          <a:latin typeface="Calibri"/>
                        </a:rPr>
                        <a:t>Table 62: South Asia &amp; Pacific Market Attractiveness Index by Barrier Level Vs Application, 2026–2036</a:t>
                      </a:r>
                      <a:endParaRPr sz="1050"/>
                    </a:p>
                  </a:txBody>
                  <a:tcPr marL="9525" marR="9525" marT="9525" marB="0" anchor="ctr"/>
                </a:tc>
              </a:tr>
              <a:tr h="348152">
                <a:tc>
                  <a:txBody>
                    <a:bodyPr wrap="square"/>
                    <a:lstStyle/>
                    <a:p>
                      <a:pPr algn="l"/>
                      <a:r>
                        <a:rPr sz="1050" b="0" i="0">
                          <a:solidFill>
                            <a:srgbClr val="000000"/>
                          </a:solidFill>
                          <a:latin typeface="Calibri"/>
                        </a:rPr>
                        <a:t>Table 63: South Asia &amp; Pacific Market Value and YoY Growth, Rollstock Films (Product Type), US$ Mn and %, 2021–2036</a:t>
                      </a:r>
                      <a:endParaRPr sz="1050"/>
                    </a:p>
                  </a:txBody>
                  <a:tcPr marL="9525" marR="9525" marT="9525" marB="0" anchor="ctr"/>
                </a:tc>
              </a:tr>
              <a:tr h="348152">
                <a:tc>
                  <a:txBody>
                    <a:bodyPr wrap="square"/>
                    <a:lstStyle/>
                    <a:p>
                      <a:pPr algn="l"/>
                      <a:r>
                        <a:rPr sz="1050" b="0" i="0">
                          <a:solidFill>
                            <a:srgbClr val="000000"/>
                          </a:solidFill>
                          <a:latin typeface="Calibri"/>
                        </a:rPr>
                        <a:t>Table 64: South Asia &amp; Pacific Market Value and YoY Growth, PE-Based (Principal Material / Barrier Technology), US$ Mn and %, 2021–2036</a:t>
                      </a:r>
                      <a:endParaRPr sz="1050"/>
                    </a:p>
                  </a:txBody>
                  <a:tcPr marL="9525" marR="9525" marT="9525" marB="0" anchor="ctr"/>
                </a:tc>
              </a:tr>
              <a:tr h="348152">
                <a:tc>
                  <a:txBody>
                    <a:bodyPr wrap="square"/>
                    <a:lstStyle/>
                    <a:p>
                      <a:pPr algn="l"/>
                      <a:r>
                        <a:rPr sz="1050" b="0" i="0">
                          <a:solidFill>
                            <a:srgbClr val="000000"/>
                          </a:solidFill>
                          <a:latin typeface="Calibri"/>
                        </a:rPr>
                        <a:t>Table 65: South Asia &amp; Pacific Market Value and YoY Growth, Monolayer Films (Material Structure), US$ Mn and %, 2021–2036</a:t>
                      </a:r>
                      <a:endParaRPr sz="1050"/>
                    </a:p>
                  </a:txBody>
                  <a:tcPr marL="9525" marR="9525" marT="9525" marB="0" anchor="ctr"/>
                </a:tc>
              </a:tr>
              <a:tr h="348152">
                <a:tc>
                  <a:txBody>
                    <a:bodyPr wrap="square"/>
                    <a:lstStyle/>
                    <a:p>
                      <a:pPr algn="l"/>
                      <a:r>
                        <a:rPr sz="1050" b="0" i="0">
                          <a:solidFill>
                            <a:srgbClr val="000000"/>
                          </a:solidFill>
                          <a:latin typeface="Calibri"/>
                        </a:rPr>
                        <a:t>Table 66: South Asia &amp; Pacific Market Value and YoY Growth, Low-Barrier Films (Barrier Level), US$ Mn and %, 2021–2036</a:t>
                      </a:r>
                      <a:endParaRPr sz="1050"/>
                    </a:p>
                  </a:txBody>
                  <a:tcPr marL="9525" marR="9525" marT="9525" marB="0" anchor="ctr"/>
                </a:tc>
              </a:tr>
              <a:tr h="348152">
                <a:tc>
                  <a:txBody>
                    <a:bodyPr wrap="square"/>
                    <a:lstStyle/>
                    <a:p>
                      <a:pPr algn="l"/>
                      <a:r>
                        <a:rPr sz="1050" b="0" i="0">
                          <a:solidFill>
                            <a:srgbClr val="000000"/>
                          </a:solidFill>
                          <a:latin typeface="Calibri"/>
                        </a:rPr>
                        <a:t>Table 67: South Asia &amp; Pacific Market Value and YoY Growth, Food Packaging (Application), US$ Mn and %, 2021–2036</a:t>
                      </a:r>
                      <a:endParaRPr sz="1050"/>
                    </a:p>
                  </a:txBody>
                  <a:tcPr marL="9525" marR="9525" marT="9525" marB="0" anchor="ctr"/>
                </a:tc>
              </a:tr>
              <a:tr h="348152">
                <a:tc>
                  <a:txBody>
                    <a:bodyPr wrap="square"/>
                    <a:lstStyle/>
                    <a:p>
                      <a:pPr algn="l"/>
                      <a:r>
                        <a:rPr sz="1050" b="0" i="0">
                          <a:solidFill>
                            <a:srgbClr val="000000"/>
                          </a:solidFill>
                          <a:latin typeface="Calibri"/>
                        </a:rPr>
                        <a:t>Table 68: South Asia &amp; Pacific Market Value and YoY Growth, Low-Barrier Films (Barrier Level Vs Application),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4"/>
        </p:xfrm>
        <a:graphic>
          <a:graphicData uri="http://schemas.openxmlformats.org/drawingml/2006/table">
            <a:tbl>
              <a:tblPr>
                <a:tableStyleId>{3B4B98B0-60AC-42C2-AFA5-B58CD77FA1E5}</a:tableStyleId>
              </a:tblPr>
              <a:tblGrid>
                <a:gridCol w="5876925"/>
              </a:tblGrid>
              <a:tr h="338990">
                <a:tc>
                  <a:txBody>
                    <a:bodyPr wrap="square"/>
                    <a:lstStyle/>
                    <a:p>
                      <a:pPr algn="l"/>
                      <a:r>
                        <a:rPr sz="1050" b="0" i="0">
                          <a:solidFill>
                            <a:srgbClr val="000000"/>
                          </a:solidFill>
                          <a:latin typeface="Calibri"/>
                        </a:rPr>
                        <a:t>Table 69: South Asia &amp; Pacific Market Value and YoY Growth, Barrier Casings (Product Type), US$ Mn and %, 2021–2036</a:t>
                      </a:r>
                      <a:endParaRPr sz="1050"/>
                    </a:p>
                  </a:txBody>
                  <a:tcPr marL="9525" marR="9525" marT="9525" marB="0" anchor="ctr"/>
                </a:tc>
              </a:tr>
              <a:tr h="338990">
                <a:tc>
                  <a:txBody>
                    <a:bodyPr wrap="square"/>
                    <a:lstStyle/>
                    <a:p>
                      <a:pPr algn="l"/>
                      <a:r>
                        <a:rPr sz="1050" b="0" i="0">
                          <a:solidFill>
                            <a:srgbClr val="000000"/>
                          </a:solidFill>
                          <a:latin typeface="Calibri"/>
                        </a:rPr>
                        <a:t>Table 70: South Asia &amp; Pacific Market Value and YoY Growth, PP-Based (Principal Material / Barrier Technology), US$ Mn and %, 2021–2036</a:t>
                      </a:r>
                      <a:endParaRPr sz="1050"/>
                    </a:p>
                  </a:txBody>
                  <a:tcPr marL="9525" marR="9525" marT="9525" marB="0" anchor="ctr"/>
                </a:tc>
              </a:tr>
              <a:tr h="338990">
                <a:tc>
                  <a:txBody>
                    <a:bodyPr wrap="square"/>
                    <a:lstStyle/>
                    <a:p>
                      <a:pPr algn="l"/>
                      <a:r>
                        <a:rPr sz="1050" b="0" i="0">
                          <a:solidFill>
                            <a:srgbClr val="000000"/>
                          </a:solidFill>
                          <a:latin typeface="Calibri"/>
                        </a:rPr>
                        <a:t>Table 71: South Asia &amp; Pacific Market Value and YoY Growth, Coextruded Multilayer Films (Material Structure), US$ Mn and %, 2021–2036</a:t>
                      </a:r>
                      <a:endParaRPr sz="1050"/>
                    </a:p>
                  </a:txBody>
                  <a:tcPr marL="9525" marR="9525" marT="9525" marB="0" anchor="ctr"/>
                </a:tc>
              </a:tr>
              <a:tr h="338990">
                <a:tc>
                  <a:txBody>
                    <a:bodyPr wrap="square"/>
                    <a:lstStyle/>
                    <a:p>
                      <a:pPr algn="l"/>
                      <a:r>
                        <a:rPr sz="1050" b="0" i="0">
                          <a:solidFill>
                            <a:srgbClr val="000000"/>
                          </a:solidFill>
                          <a:latin typeface="Calibri"/>
                        </a:rPr>
                        <a:t>Table 72: South Asia &amp; Pacific Market Value and YoY Growth, Medium-Barrier Films (Barrier Level), US$ Mn and %, 2021–2036</a:t>
                      </a:r>
                      <a:endParaRPr sz="1050"/>
                    </a:p>
                  </a:txBody>
                  <a:tcPr marL="9525" marR="9525" marT="9525" marB="0" anchor="ctr"/>
                </a:tc>
              </a:tr>
              <a:tr h="338990">
                <a:tc>
                  <a:txBody>
                    <a:bodyPr wrap="square"/>
                    <a:lstStyle/>
                    <a:p>
                      <a:pPr algn="l"/>
                      <a:r>
                        <a:rPr sz="1050" b="0" i="0">
                          <a:solidFill>
                            <a:srgbClr val="000000"/>
                          </a:solidFill>
                          <a:latin typeface="Calibri"/>
                        </a:rPr>
                        <a:t>Table 73: South Asia &amp; Pacific Market Value and YoY Growth, Non-Food Packaging (Application), US$ Mn and %, 2021–2036</a:t>
                      </a:r>
                      <a:endParaRPr sz="1050"/>
                    </a:p>
                  </a:txBody>
                  <a:tcPr marL="9525" marR="9525" marT="9525" marB="0" anchor="ctr"/>
                </a:tc>
              </a:tr>
              <a:tr h="338990">
                <a:tc>
                  <a:txBody>
                    <a:bodyPr wrap="square"/>
                    <a:lstStyle/>
                    <a:p>
                      <a:pPr algn="l"/>
                      <a:r>
                        <a:rPr sz="1050" b="0" i="0">
                          <a:solidFill>
                            <a:srgbClr val="000000"/>
                          </a:solidFill>
                          <a:latin typeface="Calibri"/>
                        </a:rPr>
                        <a:t>Table 74: South Asia &amp; Pacific Market Value and YoY Growth, Medium-Barrier Films (Barrier Level Vs Application), US$ Mn and %, 2021–2036</a:t>
                      </a:r>
                      <a:endParaRPr sz="1050"/>
                    </a:p>
                  </a:txBody>
                  <a:tcPr marL="9525" marR="9525" marT="9525" marB="0" anchor="ctr"/>
                </a:tc>
              </a:tr>
              <a:tr h="338990">
                <a:tc>
                  <a:txBody>
                    <a:bodyPr wrap="square"/>
                    <a:lstStyle/>
                    <a:p>
                      <a:pPr algn="l"/>
                      <a:r>
                        <a:rPr sz="1050" b="0" i="0">
                          <a:solidFill>
                            <a:srgbClr val="000000"/>
                          </a:solidFill>
                          <a:latin typeface="Calibri"/>
                        </a:rPr>
                        <a:t>Table 75: South Asia &amp; Pacific Market Value and YoY Growth, Premade Pouches &amp; Bags (Product Type), US$ Mn and %, 2021–2036</a:t>
                      </a:r>
                      <a:endParaRPr sz="1050"/>
                    </a:p>
                  </a:txBody>
                  <a:tcPr marL="9525" marR="9525" marT="9525" marB="0" anchor="ctr"/>
                </a:tc>
              </a:tr>
              <a:tr h="338990">
                <a:tc>
                  <a:txBody>
                    <a:bodyPr wrap="square"/>
                    <a:lstStyle/>
                    <a:p>
                      <a:pPr algn="l"/>
                      <a:r>
                        <a:rPr sz="1050" b="0" i="0">
                          <a:solidFill>
                            <a:srgbClr val="000000"/>
                          </a:solidFill>
                          <a:latin typeface="Calibri"/>
                        </a:rPr>
                        <a:t>Table 76: South Asia &amp; Pacific Market Value and YoY Growth, PET-Based (Principal Material / Barrier Technology), US$ Mn and %, 2021–2036</a:t>
                      </a:r>
                      <a:endParaRPr sz="1050"/>
                    </a:p>
                  </a:txBody>
                  <a:tcPr marL="9525" marR="9525" marT="9525" marB="0" anchor="ctr"/>
                </a:tc>
              </a:tr>
              <a:tr h="338990">
                <a:tc>
                  <a:txBody>
                    <a:bodyPr wrap="square"/>
                    <a:lstStyle/>
                    <a:p>
                      <a:pPr algn="l"/>
                      <a:r>
                        <a:rPr sz="1050" b="0" i="0">
                          <a:solidFill>
                            <a:srgbClr val="000000"/>
                          </a:solidFill>
                          <a:latin typeface="Calibri"/>
                        </a:rPr>
                        <a:t>Table 77: South Asia &amp; Pacific Market Value and YoY Growth, Laminated Films (Material Structure), US$ Mn and %, 2021–2036</a:t>
                      </a:r>
                      <a:endParaRPr sz="1050"/>
                    </a:p>
                  </a:txBody>
                  <a:tcPr marL="9525" marR="9525" marT="9525" marB="0" anchor="ctr"/>
                </a:tc>
              </a:tr>
              <a:tr h="338990">
                <a:tc>
                  <a:txBody>
                    <a:bodyPr wrap="square"/>
                    <a:lstStyle/>
                    <a:p>
                      <a:pPr algn="l"/>
                      <a:r>
                        <a:rPr sz="1050" b="0" i="0">
                          <a:solidFill>
                            <a:srgbClr val="000000"/>
                          </a:solidFill>
                          <a:latin typeface="Calibri"/>
                        </a:rPr>
                        <a:t>Table 78: South Asia &amp; Pacific Market Value and YoY Growth, High-Barrier Films (Barrier Level), US$ Mn and %, 2021–2036</a:t>
                      </a:r>
                      <a:endParaRPr sz="1050"/>
                    </a:p>
                  </a:txBody>
                  <a:tcPr marL="9525" marR="9525" marT="9525" marB="0" anchor="ctr"/>
                </a:tc>
              </a:tr>
              <a:tr h="172954">
                <a:tc>
                  <a:txBody>
                    <a:bodyPr wrap="square"/>
                    <a:lstStyle/>
                    <a:p>
                      <a:pPr algn="l"/>
                      <a:r>
                        <a:rPr sz="1050" b="0" i="0">
                          <a:solidFill>
                            <a:srgbClr val="000000"/>
                          </a:solidFill>
                          <a:latin typeface="Calibri"/>
                        </a:rPr>
                        <a:t>Table 79: South Asia &amp; Pacific Market Value by Application by Scenario, US$ Mn, 2036</a:t>
                      </a:r>
                      <a:endParaRPr sz="1050"/>
                    </a:p>
                  </a:txBody>
                  <a:tcPr marL="9525" marR="9525" marT="9525" marB="0" anchor="ctr"/>
                </a:tc>
              </a:tr>
              <a:tr h="338990">
                <a:tc>
                  <a:txBody>
                    <a:bodyPr wrap="square"/>
                    <a:lstStyle/>
                    <a:p>
                      <a:pPr algn="l"/>
                      <a:r>
                        <a:rPr sz="1050" b="0" i="0">
                          <a:solidFill>
                            <a:srgbClr val="000000"/>
                          </a:solidFill>
                          <a:latin typeface="Calibri"/>
                        </a:rPr>
                        <a:t>Table 80: South Asia &amp; Pacific Market Value and YoY Growth, High-Barrier Films (Barrier Level Vs Application), US$ Mn and %, 2021–2036</a:t>
                      </a:r>
                      <a:endParaRPr sz="1050"/>
                    </a:p>
                  </a:txBody>
                  <a:tcPr marL="9525" marR="9525" marT="9525" marB="0" anchor="ctr"/>
                </a:tc>
              </a:tr>
              <a:tr h="338990">
                <a:tc>
                  <a:txBody>
                    <a:bodyPr wrap="square"/>
                    <a:lstStyle/>
                    <a:p>
                      <a:pPr algn="l"/>
                      <a:r>
                        <a:rPr sz="1050" b="0" i="0">
                          <a:solidFill>
                            <a:srgbClr val="000000"/>
                          </a:solidFill>
                          <a:latin typeface="Calibri"/>
                        </a:rPr>
                        <a:t>Table 81: South Asia &amp; Pacific Market Value and YoY Growth, Sachets &amp; Stick Packs (Product Type), US$ Mn and %, 2021–2036</a:t>
                      </a:r>
                      <a:endParaRPr sz="1050"/>
                    </a:p>
                  </a:txBody>
                  <a:tcPr marL="9525" marR="9525" marT="9525" marB="0" anchor="ctr"/>
                </a:tc>
              </a:tr>
              <a:tr h="338990">
                <a:tc>
                  <a:txBody>
                    <a:bodyPr wrap="square"/>
                    <a:lstStyle/>
                    <a:p>
                      <a:pPr algn="l"/>
                      <a:r>
                        <a:rPr sz="1050" b="0" i="0">
                          <a:solidFill>
                            <a:srgbClr val="000000"/>
                          </a:solidFill>
                          <a:latin typeface="Calibri"/>
                        </a:rPr>
                        <a:t>Table 82: South Asia &amp; Pacific Market Value and YoY Growth, PA-Based (Principal Material / Barrier Technology), US$ Mn and %, 2021–2036</a:t>
                      </a:r>
                      <a:endParaRPr sz="1050"/>
                    </a:p>
                  </a:txBody>
                  <a:tcPr marL="9525" marR="9525" marT="9525" marB="0" anchor="ctr"/>
                </a:tc>
              </a:tr>
              <a:tr h="338990">
                <a:tc>
                  <a:txBody>
                    <a:bodyPr wrap="square"/>
                    <a:lstStyle/>
                    <a:p>
                      <a:pPr algn="l"/>
                      <a:r>
                        <a:rPr sz="1050" b="0" i="0">
                          <a:solidFill>
                            <a:srgbClr val="000000"/>
                          </a:solidFill>
                          <a:latin typeface="Calibri"/>
                        </a:rPr>
                        <a:t>Table 83: South Asia &amp; Pacific Market Value and YoY Growth, Coated Films (Material Structure), US$ Mn and %, 2021–2036</a:t>
                      </a:r>
                      <a:endParaRPr sz="1050"/>
                    </a:p>
                  </a:txBody>
                  <a:tcPr marL="9525" marR="9525" marT="9525" marB="0" anchor="ctr"/>
                </a:tc>
              </a:tr>
              <a:tr h="338990">
                <a:tc>
                  <a:txBody>
                    <a:bodyPr wrap="square"/>
                    <a:lstStyle/>
                    <a:p>
                      <a:pPr algn="l"/>
                      <a:r>
                        <a:rPr sz="1050" b="0" i="0">
                          <a:solidFill>
                            <a:srgbClr val="000000"/>
                          </a:solidFill>
                          <a:latin typeface="Calibri"/>
                        </a:rPr>
                        <a:t>Table 84: South Asia &amp; Pacific Market Value and YoY Growth, Ultra-High-Barrier Films (Barrier Level), US$ Mn and %,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(3/5)</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338100">
                <a:tc>
                  <a:txBody>
                    <a:bodyPr wrap="square"/>
                    <a:lstStyle/>
                    <a:p>
                      <a:pPr algn="l"/>
                      <a:r>
                        <a:rPr sz="1050" b="0" i="0">
                          <a:solidFill>
                            <a:srgbClr val="000000"/>
                          </a:solidFill>
                          <a:latin typeface="Calibri"/>
                        </a:rPr>
                        <a:t>Table 85: South Asia &amp; Pacific Market Value and YoY Growth, Ultra-High-Barrier Films (Barrier Level Vs Application), US$ Mn and %, 2021–2036</a:t>
                      </a:r>
                      <a:endParaRPr sz="1050"/>
                    </a:p>
                  </a:txBody>
                  <a:tcPr marL="9525" marR="9525" marT="9525" marB="0" anchor="ctr"/>
                </a:tc>
              </a:tr>
              <a:tr h="172500">
                <a:tc>
                  <a:txBody>
                    <a:bodyPr wrap="square"/>
                    <a:lstStyle/>
                    <a:p>
                      <a:pPr algn="l"/>
                      <a:r>
                        <a:rPr sz="1050" b="0" i="0">
                          <a:solidFill>
                            <a:srgbClr val="000000"/>
                          </a:solidFill>
                          <a:latin typeface="Calibri"/>
                        </a:rPr>
                        <a:t>Table 86: South Asia &amp; Pacific Market Value by Product Type by Scenario, US$ Mn, 2036</a:t>
                      </a:r>
                      <a:endParaRPr sz="1050"/>
                    </a:p>
                  </a:txBody>
                  <a:tcPr marL="9525" marR="9525" marT="9525" marB="0" anchor="ctr"/>
                </a:tc>
              </a:tr>
              <a:tr h="338100">
                <a:tc>
                  <a:txBody>
                    <a:bodyPr wrap="square"/>
                    <a:lstStyle/>
                    <a:p>
                      <a:pPr algn="l"/>
                      <a:r>
                        <a:rPr sz="1050" b="0" i="0">
                          <a:solidFill>
                            <a:srgbClr val="000000"/>
                          </a:solidFill>
                          <a:latin typeface="Calibri"/>
                        </a:rPr>
                        <a:t>Table 87: South Asia &amp; Pacific Market Value and YoY Growth, EVOH-Based (Principal Material / Barrier Technology), US$ Mn and %, 2021–2036</a:t>
                      </a:r>
                      <a:endParaRPr sz="1050"/>
                    </a:p>
                  </a:txBody>
                  <a:tcPr marL="9525" marR="9525" marT="9525" marB="0" anchor="ctr"/>
                </a:tc>
              </a:tr>
              <a:tr h="338100">
                <a:tc>
                  <a:txBody>
                    <a:bodyPr wrap="square"/>
                    <a:lstStyle/>
                    <a:p>
                      <a:pPr algn="l"/>
                      <a:r>
                        <a:rPr sz="1050" b="0" i="0">
                          <a:solidFill>
                            <a:srgbClr val="000000"/>
                          </a:solidFill>
                          <a:latin typeface="Calibri"/>
                        </a:rPr>
                        <a:t>Table 88: South Asia &amp; Pacific Market Value and YoY Growth, Metallized Films (Material Structure), US$ Mn and %, 2021–2036</a:t>
                      </a:r>
                      <a:endParaRPr sz="1050"/>
                    </a:p>
                  </a:txBody>
                  <a:tcPr marL="9525" marR="9525" marT="9525" marB="0" anchor="ctr"/>
                </a:tc>
              </a:tr>
              <a:tr h="338100">
                <a:tc>
                  <a:txBody>
                    <a:bodyPr wrap="square"/>
                    <a:lstStyle/>
                    <a:p>
                      <a:pPr algn="l"/>
                      <a:r>
                        <a:rPr sz="1050" b="0" i="0">
                          <a:solidFill>
                            <a:srgbClr val="000000"/>
                          </a:solidFill>
                          <a:latin typeface="Calibri"/>
                        </a:rPr>
                        <a:t>Table 89: South Asia &amp; Pacific Market Value by Product Type and Principal Material / Barrier Technology, US$ Mn, 2026–2036</a:t>
                      </a:r>
                      <a:endParaRPr sz="1050"/>
                    </a:p>
                  </a:txBody>
                  <a:tcPr marL="9525" marR="9525" marT="9525" marB="0" anchor="ctr"/>
                </a:tc>
              </a:tr>
              <a:tr h="338100">
                <a:tc>
                  <a:txBody>
                    <a:bodyPr wrap="square"/>
                    <a:lstStyle/>
                    <a:p>
                      <a:pPr algn="l"/>
                      <a:r>
                        <a:rPr sz="1050" b="0" i="0">
                          <a:solidFill>
                            <a:srgbClr val="000000"/>
                          </a:solidFill>
                          <a:latin typeface="Calibri"/>
                        </a:rPr>
                        <a:t>Table 90: South Asia &amp; Pacific Market Value by Product Type and Material Structure, US$ Mn, 2026–2036</a:t>
                      </a:r>
                      <a:endParaRPr sz="1050"/>
                    </a:p>
                  </a:txBody>
                  <a:tcPr marL="9525" marR="9525" marT="9525" marB="0" anchor="ctr"/>
                </a:tc>
              </a:tr>
              <a:tr h="172500">
                <a:tc>
                  <a:txBody>
                    <a:bodyPr wrap="square"/>
                    <a:lstStyle/>
                    <a:p>
                      <a:pPr algn="l"/>
                      <a:r>
                        <a:rPr sz="1050" b="0" i="0">
                          <a:solidFill>
                            <a:srgbClr val="000000"/>
                          </a:solidFill>
                          <a:latin typeface="Calibri"/>
                        </a:rPr>
                        <a:t>Table 91: South Asia &amp; Pacific Market Value by Product Type and Barrier Level, US$ Mn, 2026–2036</a:t>
                      </a:r>
                      <a:endParaRPr sz="1050"/>
                    </a:p>
                  </a:txBody>
                  <a:tcPr marL="9525" marR="9525" marT="9525" marB="0" anchor="ctr"/>
                </a:tc>
              </a:tr>
              <a:tr h="172500">
                <a:tc>
                  <a:txBody>
                    <a:bodyPr wrap="square"/>
                    <a:lstStyle/>
                    <a:p>
                      <a:pPr algn="l"/>
                      <a:r>
                        <a:rPr sz="1050" b="0" i="0">
                          <a:solidFill>
                            <a:srgbClr val="000000"/>
                          </a:solidFill>
                          <a:latin typeface="Calibri"/>
                        </a:rPr>
                        <a:t>Table 92: South Asia &amp; Pacific Market Value by Product Type and Application, US$ Mn, 2026–2036</a:t>
                      </a:r>
                      <a:endParaRPr sz="1050"/>
                    </a:p>
                  </a:txBody>
                  <a:tcPr marL="9525" marR="9525" marT="9525" marB="0" anchor="ctr"/>
                </a:tc>
              </a:tr>
              <a:tr h="338100">
                <a:tc>
                  <a:txBody>
                    <a:bodyPr wrap="square"/>
                    <a:lstStyle/>
                    <a:p>
                      <a:pPr algn="l"/>
                      <a:r>
                        <a:rPr sz="1050" b="0" i="0">
                          <a:solidFill>
                            <a:srgbClr val="000000"/>
                          </a:solidFill>
                          <a:latin typeface="Calibri"/>
                        </a:rPr>
                        <a:t>Table 93: South Asia &amp; Pacific Market Value by Product Type and Barrier Level Vs Application, US$ Mn, 2026–2036</a:t>
                      </a:r>
                      <a:endParaRPr sz="1050"/>
                    </a:p>
                  </a:txBody>
                  <a:tcPr marL="9525" marR="9525" marT="9525" marB="0" anchor="ctr"/>
                </a:tc>
              </a:tr>
              <a:tr h="338100">
                <a:tc>
                  <a:txBody>
                    <a:bodyPr wrap="square"/>
                    <a:lstStyle/>
                    <a:p>
                      <a:pPr algn="l"/>
                      <a:r>
                        <a:rPr sz="1050" b="0" i="0">
                          <a:solidFill>
                            <a:srgbClr val="000000"/>
                          </a:solidFill>
                          <a:latin typeface="Calibri"/>
                        </a:rPr>
                        <a:t>Table 94: South Asia &amp; Pacific Market Value by Principal Material / Barrier Technology and Material Structure, US$ Mn, 2026–2036</a:t>
                      </a:r>
                      <a:endParaRPr sz="1050"/>
                    </a:p>
                  </a:txBody>
                  <a:tcPr marL="9525" marR="9525" marT="9525" marB="0" anchor="ctr"/>
                </a:tc>
              </a:tr>
              <a:tr h="338100">
                <a:tc>
                  <a:txBody>
                    <a:bodyPr wrap="square"/>
                    <a:lstStyle/>
                    <a:p>
                      <a:pPr algn="l"/>
                      <a:r>
                        <a:rPr sz="1050" b="0" i="0">
                          <a:solidFill>
                            <a:srgbClr val="000000"/>
                          </a:solidFill>
                          <a:latin typeface="Calibri"/>
                        </a:rPr>
                        <a:t>Table 95: South Asia &amp; Pacific Market Value by Principal Material / Barrier Technology and Barrier Level, US$ Mn, 2026–2036</a:t>
                      </a:r>
                      <a:endParaRPr sz="1050"/>
                    </a:p>
                  </a:txBody>
                  <a:tcPr marL="9525" marR="9525" marT="9525" marB="0" anchor="ctr"/>
                </a:tc>
              </a:tr>
              <a:tr h="338100">
                <a:tc>
                  <a:txBody>
                    <a:bodyPr wrap="square"/>
                    <a:lstStyle/>
                    <a:p>
                      <a:pPr algn="l"/>
                      <a:r>
                        <a:rPr sz="1050" b="0" i="0">
                          <a:solidFill>
                            <a:srgbClr val="000000"/>
                          </a:solidFill>
                          <a:latin typeface="Calibri"/>
                        </a:rPr>
                        <a:t>Table 96: South Asia &amp; Pacific Market Value by Principal Material / Barrier Technology and Application, US$ Mn, 2026–2036</a:t>
                      </a:r>
                      <a:endParaRPr sz="1050"/>
                    </a:p>
                  </a:txBody>
                  <a:tcPr marL="9525" marR="9525" marT="9525" marB="0" anchor="ctr"/>
                </a:tc>
              </a:tr>
              <a:tr h="338100">
                <a:tc>
                  <a:txBody>
                    <a:bodyPr wrap="square"/>
                    <a:lstStyle/>
                    <a:p>
                      <a:pPr algn="l"/>
                      <a:r>
                        <a:rPr sz="1050" b="0" i="0">
                          <a:solidFill>
                            <a:srgbClr val="000000"/>
                          </a:solidFill>
                          <a:latin typeface="Calibri"/>
                        </a:rPr>
                        <a:t>Table 97: South Asia &amp; Pacific Market Value by Principal Material / Barrier Technology and Barrier Level Vs Application, US$ Mn, 2026–2036</a:t>
                      </a:r>
                      <a:endParaRPr sz="1050"/>
                    </a:p>
                  </a:txBody>
                  <a:tcPr marL="9525" marR="9525" marT="9525" marB="0" anchor="ctr"/>
                </a:tc>
              </a:tr>
              <a:tr h="338100">
                <a:tc>
                  <a:txBody>
                    <a:bodyPr wrap="square"/>
                    <a:lstStyle/>
                    <a:p>
                      <a:pPr algn="l"/>
                      <a:r>
                        <a:rPr sz="1050" b="0" i="0">
                          <a:solidFill>
                            <a:srgbClr val="000000"/>
                          </a:solidFill>
                          <a:latin typeface="Calibri"/>
                        </a:rPr>
                        <a:t>Table 98: South Asia &amp; Pacific Market Value by Material Structure and Barrier Level, US$ Mn, 2026–2036</a:t>
                      </a:r>
                      <a:endParaRPr sz="1050"/>
                    </a:p>
                  </a:txBody>
                  <a:tcPr marL="9525" marR="9525" marT="9525" marB="0" anchor="ctr"/>
                </a:tc>
              </a:tr>
              <a:tr h="172500">
                <a:tc>
                  <a:txBody>
                    <a:bodyPr wrap="square"/>
                    <a:lstStyle/>
                    <a:p>
                      <a:pPr algn="l"/>
                      <a:r>
                        <a:rPr sz="1050" b="0" i="0">
                          <a:solidFill>
                            <a:srgbClr val="000000"/>
                          </a:solidFill>
                          <a:latin typeface="Calibri"/>
                        </a:rPr>
                        <a:t>Table 99: South Asia &amp; Pacific Market Value by Material Structure and Application, US$ Mn, 2026–2036</a:t>
                      </a:r>
                      <a:endParaRPr sz="1050"/>
                    </a:p>
                  </a:txBody>
                  <a:tcPr marL="9525" marR="9525" marT="9525" marB="0" anchor="ctr"/>
                </a:tc>
              </a:tr>
              <a:tr h="338100">
                <a:tc>
                  <a:txBody>
                    <a:bodyPr wrap="square"/>
                    <a:lstStyle/>
                    <a:p>
                      <a:pPr algn="l"/>
                      <a:r>
                        <a:rPr sz="1050" b="0" i="0">
                          <a:solidFill>
                            <a:srgbClr val="000000"/>
                          </a:solidFill>
                          <a:latin typeface="Calibri"/>
                        </a:rPr>
                        <a:t>Table 100: South Asia &amp; Pacific Market Value by Material Structure and Barrier Level Vs Application, US$ Mn, 2026–2036</a:t>
                      </a:r>
                      <a:endParaRPr sz="1050"/>
                    </a:p>
                  </a:txBody>
                  <a:tcPr marL="9525" marR="9525" marT="9525" marB="0" anchor="ctr"/>
                </a:tc>
              </a:tr>
              <a:tr h="172500">
                <a:tc>
                  <a:txBody>
                    <a:bodyPr wrap="square"/>
                    <a:lstStyle/>
                    <a:p>
                      <a:pPr algn="l"/>
                      <a:r>
                        <a:rPr sz="1050" b="0" i="0">
                          <a:solidFill>
                            <a:srgbClr val="000000"/>
                          </a:solidFill>
                          <a:latin typeface="Calibri"/>
                        </a:rPr>
                        <a:t>Table 101: South Asia &amp; Pacific Market Value by Barrier Level and Application, US$ Mn, 2026–2036</a:t>
                      </a:r>
                      <a:endParaRPr sz="1050"/>
                    </a:p>
                  </a:txBody>
                  <a:tcPr marL="9525" marR="9525" marT="9525" marB="0" anchor="ctr"/>
                </a:tc>
              </a:tr>
              <a:tr h="338100">
                <a:tc>
                  <a:txBody>
                    <a:bodyPr wrap="square"/>
                    <a:lstStyle/>
                    <a:p>
                      <a:pPr algn="l"/>
                      <a:r>
                        <a:rPr sz="1050" b="0" i="0">
                          <a:solidFill>
                            <a:srgbClr val="000000"/>
                          </a:solidFill>
                          <a:latin typeface="Calibri"/>
                        </a:rPr>
                        <a:t>Table 102: South Asia &amp; Pacific Market Value by Barrier Level and Barrier Level Vs Application,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336334">
                <a:tc>
                  <a:txBody>
                    <a:bodyPr wrap="square"/>
                    <a:lstStyle/>
                    <a:p>
                      <a:pPr algn="l"/>
                      <a:r>
                        <a:rPr sz="1050" b="0" i="0">
                          <a:solidFill>
                            <a:srgbClr val="000000"/>
                          </a:solidFill>
                          <a:latin typeface="Calibri"/>
                        </a:rPr>
                        <a:t>Table 103: South Asia &amp; Pacific Market Value by Application and Barrier Level Vs Application, US$ Mn, 2026–2036</a:t>
                      </a:r>
                      <a:endParaRPr sz="1050"/>
                    </a:p>
                  </a:txBody>
                  <a:tcPr marL="9525" marR="9525" marT="9525" marB="0" anchor="ctr"/>
                </a:tc>
              </a:tr>
              <a:tr h="336334">
                <a:tc>
                  <a:txBody>
                    <a:bodyPr wrap="square"/>
                    <a:lstStyle/>
                    <a:p>
                      <a:pPr algn="l"/>
                      <a:r>
                        <a:rPr sz="1050" b="0" i="0">
                          <a:solidFill>
                            <a:srgbClr val="000000"/>
                          </a:solidFill>
                          <a:latin typeface="Calibri"/>
                        </a:rPr>
                        <a:t>Table 104: South Asia &amp; Pacific Market CAGR by Product Type and Principal Material / Barrier Technology, %, 2026–2036</a:t>
                      </a:r>
                      <a:endParaRPr sz="1050"/>
                    </a:p>
                  </a:txBody>
                  <a:tcPr marL="9525" marR="9525" marT="9525" marB="0" anchor="ctr"/>
                </a:tc>
              </a:tr>
              <a:tr h="171599">
                <a:tc>
                  <a:txBody>
                    <a:bodyPr wrap="square"/>
                    <a:lstStyle/>
                    <a:p>
                      <a:pPr algn="l"/>
                      <a:r>
                        <a:rPr sz="1050" b="0" i="0">
                          <a:solidFill>
                            <a:srgbClr val="000000"/>
                          </a:solidFill>
                          <a:latin typeface="Calibri"/>
                        </a:rPr>
                        <a:t>Table 105: South Asia &amp; Pacific Market CAGR by Product Type and Material Structure, %, 2026–2036</a:t>
                      </a:r>
                      <a:endParaRPr sz="1050"/>
                    </a:p>
                  </a:txBody>
                  <a:tcPr marL="9525" marR="9525" marT="9525" marB="0" anchor="ctr"/>
                </a:tc>
              </a:tr>
              <a:tr h="171599">
                <a:tc>
                  <a:txBody>
                    <a:bodyPr wrap="square"/>
                    <a:lstStyle/>
                    <a:p>
                      <a:pPr algn="l"/>
                      <a:r>
                        <a:rPr sz="1050" b="0" i="0">
                          <a:solidFill>
                            <a:srgbClr val="000000"/>
                          </a:solidFill>
                          <a:latin typeface="Calibri"/>
                        </a:rPr>
                        <a:t>Table 106: South Asia &amp; Pacific Market CAGR by Product Type and Barrier Level, %, 2026–2036</a:t>
                      </a:r>
                      <a:endParaRPr sz="1050"/>
                    </a:p>
                  </a:txBody>
                  <a:tcPr marL="9525" marR="9525" marT="9525" marB="0" anchor="ctr"/>
                </a:tc>
              </a:tr>
              <a:tr h="171599">
                <a:tc>
                  <a:txBody>
                    <a:bodyPr wrap="square"/>
                    <a:lstStyle/>
                    <a:p>
                      <a:pPr algn="l"/>
                      <a:r>
                        <a:rPr sz="1050" b="0" i="0">
                          <a:solidFill>
                            <a:srgbClr val="000000"/>
                          </a:solidFill>
                          <a:latin typeface="Calibri"/>
                        </a:rPr>
                        <a:t>Table 107: South Asia &amp; Pacific Market CAGR by Product Type and Application, %, 2026–2036</a:t>
                      </a:r>
                      <a:endParaRPr sz="1050"/>
                    </a:p>
                  </a:txBody>
                  <a:tcPr marL="9525" marR="9525" marT="9525" marB="0" anchor="ctr"/>
                </a:tc>
              </a:tr>
              <a:tr h="336334">
                <a:tc>
                  <a:txBody>
                    <a:bodyPr wrap="square"/>
                    <a:lstStyle/>
                    <a:p>
                      <a:pPr algn="l"/>
                      <a:r>
                        <a:rPr sz="1050" b="0" i="0">
                          <a:solidFill>
                            <a:srgbClr val="000000"/>
                          </a:solidFill>
                          <a:latin typeface="Calibri"/>
                        </a:rPr>
                        <a:t>Table 108: South Asia &amp; Pacific Market CAGR by Product Type and Barrier Level Vs Application, %, 2026–2036</a:t>
                      </a:r>
                      <a:endParaRPr sz="1050"/>
                    </a:p>
                  </a:txBody>
                  <a:tcPr marL="9525" marR="9525" marT="9525" marB="0" anchor="ctr"/>
                </a:tc>
              </a:tr>
              <a:tr h="336334">
                <a:tc>
                  <a:txBody>
                    <a:bodyPr wrap="square"/>
                    <a:lstStyle/>
                    <a:p>
                      <a:pPr algn="l"/>
                      <a:r>
                        <a:rPr sz="1050" b="0" i="0">
                          <a:solidFill>
                            <a:srgbClr val="000000"/>
                          </a:solidFill>
                          <a:latin typeface="Calibri"/>
                        </a:rPr>
                        <a:t>Table 109: South Asia &amp; Pacific Market CAGR by Principal Material / Barrier Technology and Material Structure, %, 2026–2036</a:t>
                      </a:r>
                      <a:endParaRPr sz="1050"/>
                    </a:p>
                  </a:txBody>
                  <a:tcPr marL="9525" marR="9525" marT="9525" marB="0" anchor="ctr"/>
                </a:tc>
              </a:tr>
              <a:tr h="336334">
                <a:tc>
                  <a:txBody>
                    <a:bodyPr wrap="square"/>
                    <a:lstStyle/>
                    <a:p>
                      <a:pPr algn="l"/>
                      <a:r>
                        <a:rPr sz="1050" b="0" i="0">
                          <a:solidFill>
                            <a:srgbClr val="000000"/>
                          </a:solidFill>
                          <a:latin typeface="Calibri"/>
                        </a:rPr>
                        <a:t>Table 110: South Asia &amp; Pacific Market CAGR by Principal Material / Barrier Technology and Barrier Level, %, 2026–2036</a:t>
                      </a:r>
                      <a:endParaRPr sz="1050"/>
                    </a:p>
                  </a:txBody>
                  <a:tcPr marL="9525" marR="9525" marT="9525" marB="0" anchor="ctr"/>
                </a:tc>
              </a:tr>
              <a:tr h="336334">
                <a:tc>
                  <a:txBody>
                    <a:bodyPr wrap="square"/>
                    <a:lstStyle/>
                    <a:p>
                      <a:pPr algn="l"/>
                      <a:r>
                        <a:rPr sz="1050" b="0" i="0">
                          <a:solidFill>
                            <a:srgbClr val="000000"/>
                          </a:solidFill>
                          <a:latin typeface="Calibri"/>
                        </a:rPr>
                        <a:t>Table 111: South Asia &amp; Pacific Market CAGR by Principal Material / Barrier Technology and Application, %, 2026–2036</a:t>
                      </a:r>
                      <a:endParaRPr sz="1050"/>
                    </a:p>
                  </a:txBody>
                  <a:tcPr marL="9525" marR="9525" marT="9525" marB="0" anchor="ctr"/>
                </a:tc>
              </a:tr>
              <a:tr h="336334">
                <a:tc>
                  <a:txBody>
                    <a:bodyPr wrap="square"/>
                    <a:lstStyle/>
                    <a:p>
                      <a:pPr algn="l"/>
                      <a:r>
                        <a:rPr sz="1050" b="0" i="0">
                          <a:solidFill>
                            <a:srgbClr val="000000"/>
                          </a:solidFill>
                          <a:latin typeface="Calibri"/>
                        </a:rPr>
                        <a:t>Table 112: South Asia &amp; Pacific Market CAGR by Principal Material / Barrier Technology and Barrier Level Vs Application, %, 2026–2036</a:t>
                      </a:r>
                      <a:endParaRPr sz="1050"/>
                    </a:p>
                  </a:txBody>
                  <a:tcPr marL="9525" marR="9525" marT="9525" marB="0" anchor="ctr"/>
                </a:tc>
              </a:tr>
              <a:tr h="171599">
                <a:tc>
                  <a:txBody>
                    <a:bodyPr wrap="square"/>
                    <a:lstStyle/>
                    <a:p>
                      <a:pPr algn="l"/>
                      <a:r>
                        <a:rPr sz="1050" b="0" i="0">
                          <a:solidFill>
                            <a:srgbClr val="000000"/>
                          </a:solidFill>
                          <a:latin typeface="Calibri"/>
                        </a:rPr>
                        <a:t>Table 113: South Asia &amp; Pacific Market CAGR by Material Structure and Barrier Level, %, 2026–2036</a:t>
                      </a:r>
                      <a:endParaRPr sz="1050"/>
                    </a:p>
                  </a:txBody>
                  <a:tcPr marL="9525" marR="9525" marT="9525" marB="0" anchor="ctr"/>
                </a:tc>
              </a:tr>
              <a:tr h="171599">
                <a:tc>
                  <a:txBody>
                    <a:bodyPr wrap="square"/>
                    <a:lstStyle/>
                    <a:p>
                      <a:pPr algn="l"/>
                      <a:r>
                        <a:rPr sz="1050" b="0" i="0">
                          <a:solidFill>
                            <a:srgbClr val="000000"/>
                          </a:solidFill>
                          <a:latin typeface="Calibri"/>
                        </a:rPr>
                        <a:t>Table 114: South Asia &amp; Pacific Market CAGR by Material Structure and Application, %, 2026–2036</a:t>
                      </a:r>
                      <a:endParaRPr sz="1050"/>
                    </a:p>
                  </a:txBody>
                  <a:tcPr marL="9525" marR="9525" marT="9525" marB="0" anchor="ctr"/>
                </a:tc>
              </a:tr>
              <a:tr h="336334">
                <a:tc>
                  <a:txBody>
                    <a:bodyPr wrap="square"/>
                    <a:lstStyle/>
                    <a:p>
                      <a:pPr algn="l"/>
                      <a:r>
                        <a:rPr sz="1050" b="0" i="0">
                          <a:solidFill>
                            <a:srgbClr val="000000"/>
                          </a:solidFill>
                          <a:latin typeface="Calibri"/>
                        </a:rPr>
                        <a:t>Table 115: South Asia &amp; Pacific Market CAGR by Material Structure and Barrier Level Vs Application, %, 2026–2036</a:t>
                      </a:r>
                      <a:endParaRPr sz="1050"/>
                    </a:p>
                  </a:txBody>
                  <a:tcPr marL="9525" marR="9525" marT="9525" marB="0" anchor="ctr"/>
                </a:tc>
              </a:tr>
              <a:tr h="171599">
                <a:tc>
                  <a:txBody>
                    <a:bodyPr wrap="square"/>
                    <a:lstStyle/>
                    <a:p>
                      <a:pPr algn="l"/>
                      <a:r>
                        <a:rPr sz="1050" b="0" i="0">
                          <a:solidFill>
                            <a:srgbClr val="000000"/>
                          </a:solidFill>
                          <a:latin typeface="Calibri"/>
                        </a:rPr>
                        <a:t>Table 116: South Asia &amp; Pacific Market CAGR by Barrier Level and Application, %, 2026–2036</a:t>
                      </a:r>
                      <a:endParaRPr sz="1050"/>
                    </a:p>
                  </a:txBody>
                  <a:tcPr marL="9525" marR="9525" marT="9525" marB="0" anchor="ctr"/>
                </a:tc>
              </a:tr>
              <a:tr h="336334">
                <a:tc>
                  <a:txBody>
                    <a:bodyPr wrap="square"/>
                    <a:lstStyle/>
                    <a:p>
                      <a:pPr algn="l"/>
                      <a:r>
                        <a:rPr sz="1050" b="0" i="0">
                          <a:solidFill>
                            <a:srgbClr val="000000"/>
                          </a:solidFill>
                          <a:latin typeface="Calibri"/>
                        </a:rPr>
                        <a:t>Table 117: South Asia &amp; Pacific Market CAGR by Barrier Level and Barrier Level Vs Application, %, 2026–2036</a:t>
                      </a:r>
                      <a:endParaRPr sz="1050"/>
                    </a:p>
                  </a:txBody>
                  <a:tcPr marL="9525" marR="9525" marT="9525" marB="0" anchor="ctr"/>
                </a:tc>
              </a:tr>
              <a:tr h="171599">
                <a:tc>
                  <a:txBody>
                    <a:bodyPr wrap="square"/>
                    <a:lstStyle/>
                    <a:p>
                      <a:pPr algn="l"/>
                      <a:r>
                        <a:rPr sz="1050" b="0" i="0">
                          <a:solidFill>
                            <a:srgbClr val="000000"/>
                          </a:solidFill>
                          <a:latin typeface="Calibri"/>
                        </a:rPr>
                        <a:t>Table 118: India Market Value by Product Type, US$ Mn, 2021–2036</a:t>
                      </a:r>
                      <a:endParaRPr sz="1050"/>
                    </a:p>
                  </a:txBody>
                  <a:tcPr marL="9525" marR="9525" marT="9525" marB="0" anchor="ctr"/>
                </a:tc>
              </a:tr>
              <a:tr h="171599">
                <a:tc>
                  <a:txBody>
                    <a:bodyPr wrap="square"/>
                    <a:lstStyle/>
                    <a:p>
                      <a:pPr algn="l"/>
                      <a:r>
                        <a:rPr sz="1050" b="0" i="0">
                          <a:solidFill>
                            <a:srgbClr val="000000"/>
                          </a:solidFill>
                          <a:latin typeface="Calibri"/>
                        </a:rPr>
                        <a:t>Table 119: India Market Historical and Forecast Growth, %, 2021–2036</a:t>
                      </a:r>
                      <a:endParaRPr sz="1050"/>
                    </a:p>
                  </a:txBody>
                  <a:tcPr marL="9525" marR="9525" marT="9525" marB="0" anchor="ctr"/>
                </a:tc>
              </a:tr>
              <a:tr h="171599">
                <a:tc>
                  <a:txBody>
                    <a:bodyPr wrap="square"/>
                    <a:lstStyle/>
                    <a:p>
                      <a:pPr algn="l"/>
                      <a:r>
                        <a:rPr sz="1050" b="0" i="0">
                          <a:solidFill>
                            <a:srgbClr val="000000"/>
                          </a:solidFill>
                          <a:latin typeface="Calibri"/>
                        </a:rPr>
                        <a:t>Table 120: India Market Value by Application, US$ Mn, 2021–2036</a:t>
                      </a:r>
                      <a:endParaRPr sz="1050"/>
                    </a:p>
                  </a:txBody>
                  <a:tcPr marL="9525" marR="9525" marT="9525" marB="0" anchor="ctr"/>
                </a:tc>
              </a:tr>
              <a:tr h="171599">
                <a:tc>
                  <a:txBody>
                    <a:bodyPr wrap="square"/>
                    <a:lstStyle/>
                    <a:p>
                      <a:pPr algn="l"/>
                      <a:r>
                        <a:rPr sz="1050" b="0" i="0">
                          <a:solidFill>
                            <a:srgbClr val="000000"/>
                          </a:solidFill>
                          <a:latin typeface="Calibri"/>
                        </a:rPr>
                        <a:t>Table 121: India Market Share within South Asia &amp; Pacific, %, 2025, 2026 and 2036</a:t>
                      </a:r>
                      <a:endParaRPr sz="1050"/>
                    </a:p>
                  </a:txBody>
                  <a:tcPr marL="9525" marR="9525" marT="9525" marB="0" anchor="ctr"/>
                </a:tc>
              </a:tr>
              <a:tr h="171599">
                <a:tc>
                  <a:txBody>
                    <a:bodyPr wrap="square"/>
                    <a:lstStyle/>
                    <a:p>
                      <a:pPr algn="l"/>
                      <a:r>
                        <a:rPr sz="1050" b="0" i="0">
                          <a:solidFill>
                            <a:srgbClr val="000000"/>
                          </a:solidFill>
                          <a:latin typeface="Calibri"/>
                        </a:rPr>
                        <a:t>Table 122: India Market Value by Principal Material / Barrier Technology, US$ Mn, 2021–2036</a:t>
                      </a:r>
                      <a:endParaRPr sz="1050"/>
                    </a:p>
                  </a:txBody>
                  <a:tcPr marL="9525" marR="9525" marT="9525" marB="0" anchor="ctr"/>
                </a:tc>
              </a:tr>
              <a:tr h="171599">
                <a:tc>
                  <a:txBody>
                    <a:bodyPr wrap="square"/>
                    <a:lstStyle/>
                    <a:p>
                      <a:pPr algn="l"/>
                      <a:r>
                        <a:rPr sz="1050" b="0" i="0">
                          <a:solidFill>
                            <a:srgbClr val="000000"/>
                          </a:solidFill>
                          <a:latin typeface="Calibri"/>
                        </a:rPr>
                        <a:t>Table 123: India Market Value by Material Structure, US$ Mn, 2021–2036</a:t>
                      </a:r>
                      <a:endParaRPr sz="1050"/>
                    </a:p>
                  </a:txBody>
                  <a:tcPr marL="9525" marR="9525" marT="9525" marB="0" anchor="ctr"/>
                </a:tc>
              </a:tr>
              <a:tr h="171599">
                <a:tc>
                  <a:txBody>
                    <a:bodyPr wrap="square"/>
                    <a:lstStyle/>
                    <a:p>
                      <a:pPr algn="l"/>
                      <a:r>
                        <a:rPr sz="1050" b="0" i="0">
                          <a:solidFill>
                            <a:srgbClr val="000000"/>
                          </a:solidFill>
                          <a:latin typeface="Calibri"/>
                        </a:rPr>
                        <a:t>Table 124: India Market Value by Barrier Level, US$ Mn,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(4/5)</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125: India Market Value by Barrier Level Vs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126: Australia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127: Australia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128: Australia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129: Australia Market Share within South Asia &amp; Pacific, %, 2025, 2026 and 2036</a:t>
                      </a:r>
                      <a:endParaRPr sz="1050"/>
                    </a:p>
                  </a:txBody>
                  <a:tcPr marL="9525" marR="9525" marT="9525" marB="0" anchor="ctr"/>
                </a:tc>
              </a:tr>
              <a:tr h="169606">
                <a:tc>
                  <a:txBody>
                    <a:bodyPr wrap="square"/>
                    <a:lstStyle/>
                    <a:p>
                      <a:pPr algn="l"/>
                      <a:r>
                        <a:rPr sz="1050" b="0" i="0">
                          <a:solidFill>
                            <a:srgbClr val="000000"/>
                          </a:solidFill>
                          <a:latin typeface="Calibri"/>
                        </a:rPr>
                        <a:t>Table 130: Australia Market Value by Principal Material / Barrier Technology, US$ Mn, 2021–2036</a:t>
                      </a:r>
                      <a:endParaRPr sz="1050"/>
                    </a:p>
                  </a:txBody>
                  <a:tcPr marL="9525" marR="9525" marT="9525" marB="0" anchor="ctr"/>
                </a:tc>
              </a:tr>
              <a:tr h="169606">
                <a:tc>
                  <a:txBody>
                    <a:bodyPr wrap="square"/>
                    <a:lstStyle/>
                    <a:p>
                      <a:pPr algn="l"/>
                      <a:r>
                        <a:rPr sz="1050" b="0" i="0">
                          <a:solidFill>
                            <a:srgbClr val="000000"/>
                          </a:solidFill>
                          <a:latin typeface="Calibri"/>
                        </a:rPr>
                        <a:t>Table 131: Australia Market Value by Material Structure, US$ Mn, 2021–2036</a:t>
                      </a:r>
                      <a:endParaRPr sz="1050"/>
                    </a:p>
                  </a:txBody>
                  <a:tcPr marL="9525" marR="9525" marT="9525" marB="0" anchor="ctr"/>
                </a:tc>
              </a:tr>
              <a:tr h="169606">
                <a:tc>
                  <a:txBody>
                    <a:bodyPr wrap="square"/>
                    <a:lstStyle/>
                    <a:p>
                      <a:pPr algn="l"/>
                      <a:r>
                        <a:rPr sz="1050" b="0" i="0">
                          <a:solidFill>
                            <a:srgbClr val="000000"/>
                          </a:solidFill>
                          <a:latin typeface="Calibri"/>
                        </a:rPr>
                        <a:t>Table 132: Australia Market Value by Barrier Level, US$ Mn, 2021–2036</a:t>
                      </a:r>
                      <a:endParaRPr sz="1050"/>
                    </a:p>
                  </a:txBody>
                  <a:tcPr marL="9525" marR="9525" marT="9525" marB="0" anchor="ctr"/>
                </a:tc>
              </a:tr>
              <a:tr h="169606">
                <a:tc>
                  <a:txBody>
                    <a:bodyPr wrap="square"/>
                    <a:lstStyle/>
                    <a:p>
                      <a:pPr algn="l"/>
                      <a:r>
                        <a:rPr sz="1050" b="0" i="0">
                          <a:solidFill>
                            <a:srgbClr val="000000"/>
                          </a:solidFill>
                          <a:latin typeface="Calibri"/>
                        </a:rPr>
                        <a:t>Table 133: Australia Market Value by Barrier Level Vs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134: Indonesia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135: Indonesia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136: Indonesia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137: Indonesia Market Share within South Asia &amp; Pacific, %, 2025, 2026 and 2036</a:t>
                      </a:r>
                      <a:endParaRPr sz="1050"/>
                    </a:p>
                  </a:txBody>
                  <a:tcPr marL="9525" marR="9525" marT="9525" marB="0" anchor="ctr"/>
                </a:tc>
              </a:tr>
              <a:tr h="169606">
                <a:tc>
                  <a:txBody>
                    <a:bodyPr wrap="square"/>
                    <a:lstStyle/>
                    <a:p>
                      <a:pPr algn="l"/>
                      <a:r>
                        <a:rPr sz="1050" b="0" i="0">
                          <a:solidFill>
                            <a:srgbClr val="000000"/>
                          </a:solidFill>
                          <a:latin typeface="Calibri"/>
                        </a:rPr>
                        <a:t>Table 138: Indonesia Market Value by Principal Material / Barrier Technology, US$ Mn, 2021–2036</a:t>
                      </a:r>
                      <a:endParaRPr sz="1050"/>
                    </a:p>
                  </a:txBody>
                  <a:tcPr marL="9525" marR="9525" marT="9525" marB="0" anchor="ctr"/>
                </a:tc>
              </a:tr>
              <a:tr h="169606">
                <a:tc>
                  <a:txBody>
                    <a:bodyPr wrap="square"/>
                    <a:lstStyle/>
                    <a:p>
                      <a:pPr algn="l"/>
                      <a:r>
                        <a:rPr sz="1050" b="0" i="0">
                          <a:solidFill>
                            <a:srgbClr val="000000"/>
                          </a:solidFill>
                          <a:latin typeface="Calibri"/>
                        </a:rPr>
                        <a:t>Table 139: Indonesia Market Value by Material Structure, US$ Mn, 2021–2036</a:t>
                      </a:r>
                      <a:endParaRPr sz="1050"/>
                    </a:p>
                  </a:txBody>
                  <a:tcPr marL="9525" marR="9525" marT="9525" marB="0" anchor="ctr"/>
                </a:tc>
              </a:tr>
              <a:tr h="169606">
                <a:tc>
                  <a:txBody>
                    <a:bodyPr wrap="square"/>
                    <a:lstStyle/>
                    <a:p>
                      <a:pPr algn="l"/>
                      <a:r>
                        <a:rPr sz="1050" b="0" i="0">
                          <a:solidFill>
                            <a:srgbClr val="000000"/>
                          </a:solidFill>
                          <a:latin typeface="Calibri"/>
                        </a:rPr>
                        <a:t>Table 140: Indonesia Market Value by Barrier Level, US$ Mn, 2021–2036</a:t>
                      </a:r>
                      <a:endParaRPr sz="1050"/>
                    </a:p>
                  </a:txBody>
                  <a:tcPr marL="9525" marR="9525" marT="9525" marB="0" anchor="ctr"/>
                </a:tc>
              </a:tr>
              <a:tr h="169606">
                <a:tc>
                  <a:txBody>
                    <a:bodyPr wrap="square"/>
                    <a:lstStyle/>
                    <a:p>
                      <a:pPr algn="l"/>
                      <a:r>
                        <a:rPr sz="1050" b="0" i="0">
                          <a:solidFill>
                            <a:srgbClr val="000000"/>
                          </a:solidFill>
                          <a:latin typeface="Calibri"/>
                        </a:rPr>
                        <a:t>Table 141: Indonesia Market Value by Barrier Level Vs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142: Thailand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143: Thailand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144: Thailand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145: Thailand Market Share within South Asia &amp; Pacific, %, 2025, 2026 and 2036</a:t>
                      </a:r>
                      <a:endParaRPr sz="1050"/>
                    </a:p>
                  </a:txBody>
                  <a:tcPr marL="9525" marR="9525" marT="9525" marB="0" anchor="ctr"/>
                </a:tc>
              </a:tr>
              <a:tr h="169606">
                <a:tc>
                  <a:txBody>
                    <a:bodyPr wrap="square"/>
                    <a:lstStyle/>
                    <a:p>
                      <a:pPr algn="l"/>
                      <a:r>
                        <a:rPr sz="1050" b="0" i="0">
                          <a:solidFill>
                            <a:srgbClr val="000000"/>
                          </a:solidFill>
                          <a:latin typeface="Calibri"/>
                        </a:rPr>
                        <a:t>Table 146: Thailand Market Value by Principal Material / Barrier Technology, US$ Mn, 2021–2036</a:t>
                      </a:r>
                      <a:endParaRPr sz="1050"/>
                    </a:p>
                  </a:txBody>
                  <a:tcPr marL="9525" marR="9525" marT="9525" marB="0" anchor="ctr"/>
                </a:tc>
              </a:tr>
              <a:tr h="169606">
                <a:tc>
                  <a:txBody>
                    <a:bodyPr wrap="square"/>
                    <a:lstStyle/>
                    <a:p>
                      <a:pPr algn="l"/>
                      <a:r>
                        <a:rPr sz="1050" b="0" i="0">
                          <a:solidFill>
                            <a:srgbClr val="000000"/>
                          </a:solidFill>
                          <a:latin typeface="Calibri"/>
                        </a:rPr>
                        <a:t>Table 147: Thailand Market Value by Material Structure, US$ Mn, 2021–2036</a:t>
                      </a:r>
                      <a:endParaRPr sz="1050"/>
                    </a:p>
                  </a:txBody>
                  <a:tcPr marL="9525" marR="9525" marT="9525" marB="0" anchor="ctr"/>
                </a:tc>
              </a:tr>
              <a:tr h="169606">
                <a:tc>
                  <a:txBody>
                    <a:bodyPr wrap="square"/>
                    <a:lstStyle/>
                    <a:p>
                      <a:pPr algn="l"/>
                      <a:r>
                        <a:rPr sz="1050" b="0" i="0">
                          <a:solidFill>
                            <a:srgbClr val="000000"/>
                          </a:solidFill>
                          <a:latin typeface="Calibri"/>
                        </a:rPr>
                        <a:t>Table 148: Thailand Market Value by Barrier Level, US$ Mn, 2021–2036</a:t>
                      </a:r>
                      <a:endParaRPr sz="1050"/>
                    </a:p>
                  </a:txBody>
                  <a:tcPr marL="9525" marR="9525" marT="9525" marB="0" anchor="ctr"/>
                </a:tc>
              </a:tr>
              <a:tr h="169606">
                <a:tc>
                  <a:txBody>
                    <a:bodyPr wrap="square"/>
                    <a:lstStyle/>
                    <a:p>
                      <a:pPr algn="l"/>
                      <a:r>
                        <a:rPr sz="1050" b="0" i="0">
                          <a:solidFill>
                            <a:srgbClr val="000000"/>
                          </a:solidFill>
                          <a:latin typeface="Calibri"/>
                        </a:rPr>
                        <a:t>Table 149: Thailand Market Value by Barrier Level Vs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150: Philippines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151: Philippines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152: Philippines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153: Philippines Market Share within South Asia &amp; Pacific, %, 2025, 2026 and 2036</a:t>
                      </a:r>
                      <a:endParaRPr sz="1050"/>
                    </a:p>
                  </a:txBody>
                  <a:tcPr marL="9525" marR="9525" marT="9525" marB="0" anchor="ctr"/>
                </a:tc>
              </a:tr>
              <a:tr h="169606">
                <a:tc>
                  <a:txBody>
                    <a:bodyPr wrap="square"/>
                    <a:lstStyle/>
                    <a:p>
                      <a:pPr algn="l"/>
                      <a:r>
                        <a:rPr sz="1050" b="0" i="0">
                          <a:solidFill>
                            <a:srgbClr val="000000"/>
                          </a:solidFill>
                          <a:latin typeface="Calibri"/>
                        </a:rPr>
                        <a:t>Table 154: Malaysia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155: Malaysia Market Historical and Forecast Growth,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0"/>
        </p:xfrm>
        <a:graphic>
          <a:graphicData uri="http://schemas.openxmlformats.org/drawingml/2006/table">
            <a:tbl>
              <a:tblPr>
                <a:tableStyleId>{3B4B98B0-60AC-42C2-AFA5-B58CD77FA1E5}</a:tableStyleId>
              </a:tblPr>
              <a:tblGrid>
                <a:gridCol w="5876925"/>
              </a:tblGrid>
              <a:tr h="170486">
                <a:tc>
                  <a:txBody>
                    <a:bodyPr wrap="square"/>
                    <a:lstStyle/>
                    <a:p>
                      <a:pPr algn="l"/>
                      <a:r>
                        <a:rPr sz="1050" b="0" i="0">
                          <a:solidFill>
                            <a:srgbClr val="000000"/>
                          </a:solidFill>
                          <a:latin typeface="Calibri"/>
                        </a:rPr>
                        <a:t>Table 156: Malaysia Market Value by Application, US$ Mn, 2021–2036</a:t>
                      </a:r>
                      <a:endParaRPr sz="1050"/>
                    </a:p>
                  </a:txBody>
                  <a:tcPr marL="9525" marR="9525" marT="9525" marB="0" anchor="ctr"/>
                </a:tc>
              </a:tr>
              <a:tr h="170486">
                <a:tc>
                  <a:txBody>
                    <a:bodyPr wrap="square"/>
                    <a:lstStyle/>
                    <a:p>
                      <a:pPr algn="l"/>
                      <a:r>
                        <a:rPr sz="1050" b="0" i="0">
                          <a:solidFill>
                            <a:srgbClr val="000000"/>
                          </a:solidFill>
                          <a:latin typeface="Calibri"/>
                        </a:rPr>
                        <a:t>Table 157: Malaysia Market Share within South Asia &amp; Pacific, %, 2025, 2026 and 2036</a:t>
                      </a:r>
                      <a:endParaRPr sz="1050"/>
                    </a:p>
                  </a:txBody>
                  <a:tcPr marL="9525" marR="9525" marT="9525" marB="0" anchor="ctr"/>
                </a:tc>
              </a:tr>
              <a:tr h="170486">
                <a:tc>
                  <a:txBody>
                    <a:bodyPr wrap="square"/>
                    <a:lstStyle/>
                    <a:p>
                      <a:pPr algn="l"/>
                      <a:r>
                        <a:rPr sz="1050" b="0" i="0">
                          <a:solidFill>
                            <a:srgbClr val="000000"/>
                          </a:solidFill>
                          <a:latin typeface="Calibri"/>
                        </a:rPr>
                        <a:t>Table 158: Singapore Market Value by Product Type, US$ Mn, 2021–2036</a:t>
                      </a:r>
                      <a:endParaRPr sz="1050"/>
                    </a:p>
                  </a:txBody>
                  <a:tcPr marL="9525" marR="9525" marT="9525" marB="0" anchor="ctr"/>
                </a:tc>
              </a:tr>
              <a:tr h="170486">
                <a:tc>
                  <a:txBody>
                    <a:bodyPr wrap="square"/>
                    <a:lstStyle/>
                    <a:p>
                      <a:pPr algn="l"/>
                      <a:r>
                        <a:rPr sz="1050" b="0" i="0">
                          <a:solidFill>
                            <a:srgbClr val="000000"/>
                          </a:solidFill>
                          <a:latin typeface="Calibri"/>
                        </a:rPr>
                        <a:t>Table 159: Singapore Market Historical and Forecast Growth, %, 2021–2036</a:t>
                      </a:r>
                      <a:endParaRPr sz="1050"/>
                    </a:p>
                  </a:txBody>
                  <a:tcPr marL="9525" marR="9525" marT="9525" marB="0" anchor="ctr"/>
                </a:tc>
              </a:tr>
              <a:tr h="170486">
                <a:tc>
                  <a:txBody>
                    <a:bodyPr wrap="square"/>
                    <a:lstStyle/>
                    <a:p>
                      <a:pPr algn="l"/>
                      <a:r>
                        <a:rPr sz="1050" b="0" i="0">
                          <a:solidFill>
                            <a:srgbClr val="000000"/>
                          </a:solidFill>
                          <a:latin typeface="Calibri"/>
                        </a:rPr>
                        <a:t>Table 160: Singapore Market Value by Application, US$ Mn, 2021–2036</a:t>
                      </a:r>
                      <a:endParaRPr sz="1050"/>
                    </a:p>
                  </a:txBody>
                  <a:tcPr marL="9525" marR="9525" marT="9525" marB="0" anchor="ctr"/>
                </a:tc>
              </a:tr>
              <a:tr h="170486">
                <a:tc>
                  <a:txBody>
                    <a:bodyPr wrap="square"/>
                    <a:lstStyle/>
                    <a:p>
                      <a:pPr algn="l"/>
                      <a:r>
                        <a:rPr sz="1050" b="0" i="0">
                          <a:solidFill>
                            <a:srgbClr val="000000"/>
                          </a:solidFill>
                          <a:latin typeface="Calibri"/>
                        </a:rPr>
                        <a:t>Table 161: New Zealand Market Value by Product Type, US$ Mn, 2021–2036</a:t>
                      </a:r>
                      <a:endParaRPr sz="1050"/>
                    </a:p>
                  </a:txBody>
                  <a:tcPr marL="9525" marR="9525" marT="9525" marB="0" anchor="ctr"/>
                </a:tc>
              </a:tr>
              <a:tr h="170486">
                <a:tc>
                  <a:txBody>
                    <a:bodyPr wrap="square"/>
                    <a:lstStyle/>
                    <a:p>
                      <a:pPr algn="l"/>
                      <a:r>
                        <a:rPr sz="1050" b="0" i="0">
                          <a:solidFill>
                            <a:srgbClr val="000000"/>
                          </a:solidFill>
                          <a:latin typeface="Calibri"/>
                        </a:rPr>
                        <a:t>Table 162: New Zealand Market Historical and Forecast Growth, %, 2021–2036</a:t>
                      </a:r>
                      <a:endParaRPr sz="1050"/>
                    </a:p>
                  </a:txBody>
                  <a:tcPr marL="9525" marR="9525" marT="9525" marB="0" anchor="ctr"/>
                </a:tc>
              </a:tr>
              <a:tr h="170486">
                <a:tc>
                  <a:txBody>
                    <a:bodyPr wrap="square"/>
                    <a:lstStyle/>
                    <a:p>
                      <a:pPr algn="l"/>
                      <a:r>
                        <a:rPr sz="1050" b="0" i="0">
                          <a:solidFill>
                            <a:srgbClr val="000000"/>
                          </a:solidFill>
                          <a:latin typeface="Calibri"/>
                        </a:rPr>
                        <a:t>Table 163: New Zealand Market Value by Application, US$ Mn, 2021–2036</a:t>
                      </a:r>
                      <a:endParaRPr sz="1050"/>
                    </a:p>
                  </a:txBody>
                  <a:tcPr marL="9525" marR="9525" marT="9525" marB="0" anchor="ctr"/>
                </a:tc>
              </a:tr>
              <a:tr h="170486">
                <a:tc>
                  <a:txBody>
                    <a:bodyPr wrap="square"/>
                    <a:lstStyle/>
                    <a:p>
                      <a:pPr algn="l"/>
                      <a:r>
                        <a:rPr sz="1050" b="0" i="0">
                          <a:solidFill>
                            <a:srgbClr val="000000"/>
                          </a:solidFill>
                          <a:latin typeface="Calibri"/>
                        </a:rPr>
                        <a:t>Table 164: Market Product Price Comparison by Company and Product Type, US$/MT, 2026</a:t>
                      </a:r>
                      <a:endParaRPr sz="1050"/>
                    </a:p>
                  </a:txBody>
                  <a:tcPr marL="9525" marR="9525" marT="9525" marB="0" anchor="ctr"/>
                </a:tc>
              </a:tr>
              <a:tr h="170486">
                <a:tc>
                  <a:txBody>
                    <a:bodyPr wrap="square"/>
                    <a:lstStyle/>
                    <a:p>
                      <a:pPr algn="l"/>
                      <a:r>
                        <a:rPr sz="1050" b="0" i="0">
                          <a:solidFill>
                            <a:srgbClr val="000000"/>
                          </a:solidFill>
                          <a:latin typeface="Calibri"/>
                        </a:rPr>
                        <a:t>Table 165: South Asia &amp; Pacific Market Average Selling Price, US$/MT, 2021–2036</a:t>
                      </a:r>
                      <a:endParaRPr sz="1050"/>
                    </a:p>
                  </a:txBody>
                  <a:tcPr marL="9525" marR="9525" marT="9525" marB="0" anchor="ctr"/>
                </a:tc>
              </a:tr>
              <a:tr h="170486">
                <a:tc>
                  <a:txBody>
                    <a:bodyPr wrap="square"/>
                    <a:lstStyle/>
                    <a:p>
                      <a:pPr algn="l"/>
                      <a:r>
                        <a:rPr sz="1050" b="0" i="0">
                          <a:solidFill>
                            <a:srgbClr val="000000"/>
                          </a:solidFill>
                          <a:latin typeface="Calibri"/>
                        </a:rPr>
                        <a:t>Table 166: South Asia &amp; Pacific Market Average Selling Price by Product Type, US$/MT, 2021–2036</a:t>
                      </a:r>
                      <a:endParaRPr sz="1050"/>
                    </a:p>
                  </a:txBody>
                  <a:tcPr marL="9525" marR="9525" marT="9525" marB="0" anchor="ctr"/>
                </a:tc>
              </a:tr>
              <a:tr h="334153">
                <a:tc>
                  <a:txBody>
                    <a:bodyPr wrap="square"/>
                    <a:lstStyle/>
                    <a:p>
                      <a:pPr algn="l"/>
                      <a:r>
                        <a:rPr sz="1050" b="0" i="0">
                          <a:solidFill>
                            <a:srgbClr val="000000"/>
                          </a:solidFill>
                          <a:latin typeface="Calibri"/>
                        </a:rPr>
                        <a:t>Table 167: South Asia &amp; Pacific Market Average Selling Price by Principal Material / Barrier Technology, US$/MT, 2021–2036</a:t>
                      </a:r>
                      <a:endParaRPr sz="1050"/>
                    </a:p>
                  </a:txBody>
                  <a:tcPr marL="9525" marR="9525" marT="9525" marB="0" anchor="ctr"/>
                </a:tc>
              </a:tr>
              <a:tr h="334153">
                <a:tc>
                  <a:txBody>
                    <a:bodyPr wrap="square"/>
                    <a:lstStyle/>
                    <a:p>
                      <a:pPr algn="l"/>
                      <a:r>
                        <a:rPr sz="1050" b="0" i="0">
                          <a:solidFill>
                            <a:srgbClr val="000000"/>
                          </a:solidFill>
                          <a:latin typeface="Calibri"/>
                        </a:rPr>
                        <a:t>Table 168: South Asia &amp; Pacific Market Average Selling Price by Material Structure, US$/MT, 2021–2036</a:t>
                      </a:r>
                      <a:endParaRPr sz="1050"/>
                    </a:p>
                  </a:txBody>
                  <a:tcPr marL="9525" marR="9525" marT="9525" marB="0" anchor="ctr"/>
                </a:tc>
              </a:tr>
              <a:tr h="170486">
                <a:tc>
                  <a:txBody>
                    <a:bodyPr wrap="square"/>
                    <a:lstStyle/>
                    <a:p>
                      <a:pPr algn="l"/>
                      <a:r>
                        <a:rPr sz="1050" b="0" i="0">
                          <a:solidFill>
                            <a:srgbClr val="000000"/>
                          </a:solidFill>
                          <a:latin typeface="Calibri"/>
                        </a:rPr>
                        <a:t>Table 169: South Asia &amp; Pacific Market Average Selling Price by Barrier Level, US$/MT, 2021–2036</a:t>
                      </a:r>
                      <a:endParaRPr sz="1050"/>
                    </a:p>
                  </a:txBody>
                  <a:tcPr marL="9525" marR="9525" marT="9525" marB="0" anchor="ctr"/>
                </a:tc>
              </a:tr>
              <a:tr h="170486">
                <a:tc>
                  <a:txBody>
                    <a:bodyPr wrap="square"/>
                    <a:lstStyle/>
                    <a:p>
                      <a:pPr algn="l"/>
                      <a:r>
                        <a:rPr sz="1050" b="0" i="0">
                          <a:solidFill>
                            <a:srgbClr val="000000"/>
                          </a:solidFill>
                          <a:latin typeface="Calibri"/>
                        </a:rPr>
                        <a:t>Table 170: South Asia &amp; Pacific Market Average Selling Price by Application, US$/MT, 2021–2036</a:t>
                      </a:r>
                      <a:endParaRPr sz="1050"/>
                    </a:p>
                  </a:txBody>
                  <a:tcPr marL="9525" marR="9525" marT="9525" marB="0" anchor="ctr"/>
                </a:tc>
              </a:tr>
              <a:tr h="334153">
                <a:tc>
                  <a:txBody>
                    <a:bodyPr wrap="square"/>
                    <a:lstStyle/>
                    <a:p>
                      <a:pPr algn="l"/>
                      <a:r>
                        <a:rPr sz="1050" b="0" i="0">
                          <a:solidFill>
                            <a:srgbClr val="000000"/>
                          </a:solidFill>
                          <a:latin typeface="Calibri"/>
                        </a:rPr>
                        <a:t>Table 171: South Asia &amp; Pacific Market Average Selling Price by Barrier Level Vs Application, US$/MT, 2021–2036</a:t>
                      </a:r>
                      <a:endParaRPr sz="1050"/>
                    </a:p>
                  </a:txBody>
                  <a:tcPr marL="9525" marR="9525" marT="9525" marB="0" anchor="ctr"/>
                </a:tc>
              </a:tr>
              <a:tr h="170486">
                <a:tc>
                  <a:txBody>
                    <a:bodyPr wrap="square"/>
                    <a:lstStyle/>
                    <a:p>
                      <a:pPr algn="l"/>
                      <a:r>
                        <a:rPr sz="1050" b="0" i="0">
                          <a:solidFill>
                            <a:srgbClr val="000000"/>
                          </a:solidFill>
                          <a:latin typeface="Calibri"/>
                        </a:rPr>
                        <a:t>Table 172: Supplier-to-Customer Relationship Mapping in India, 2026</a:t>
                      </a:r>
                      <a:endParaRPr sz="1050"/>
                    </a:p>
                  </a:txBody>
                  <a:tcPr marL="9525" marR="9525" marT="9525" marB="0" anchor="ctr"/>
                </a:tc>
              </a:tr>
              <a:tr h="170486">
                <a:tc>
                  <a:txBody>
                    <a:bodyPr wrap="square"/>
                    <a:lstStyle/>
                    <a:p>
                      <a:pPr algn="l"/>
                      <a:r>
                        <a:rPr sz="1050" b="0" i="0">
                          <a:solidFill>
                            <a:srgbClr val="000000"/>
                          </a:solidFill>
                          <a:latin typeface="Calibri"/>
                        </a:rPr>
                        <a:t>Table 173: South Asia &amp; Pacific Market Value Chain Participants by Stage, 2026</a:t>
                      </a:r>
                      <a:endParaRPr sz="1050"/>
                    </a:p>
                  </a:txBody>
                  <a:tcPr marL="9525" marR="9525" marT="9525" marB="0" anchor="ctr"/>
                </a:tc>
              </a:tr>
              <a:tr h="170486">
                <a:tc>
                  <a:txBody>
                    <a:bodyPr wrap="square"/>
                    <a:lstStyle/>
                    <a:p>
                      <a:pPr algn="l"/>
                      <a:r>
                        <a:rPr sz="1050" b="0" i="0">
                          <a:solidFill>
                            <a:srgbClr val="000000"/>
                          </a:solidFill>
                          <a:latin typeface="Calibri"/>
                        </a:rPr>
                        <a:t>Table 174: South Asia &amp; Pacific Market Margin Analysis by Value Chain Stage, %, 2026</a:t>
                      </a:r>
                      <a:endParaRPr sz="1050"/>
                    </a:p>
                  </a:txBody>
                  <a:tcPr marL="9525" marR="9525" marT="9525" marB="0" anchor="ctr"/>
                </a:tc>
              </a:tr>
              <a:tr h="170486">
                <a:tc>
                  <a:txBody>
                    <a:bodyPr wrap="square"/>
                    <a:lstStyle/>
                    <a:p>
                      <a:pPr algn="l"/>
                      <a:r>
                        <a:rPr sz="1050" b="0" i="0">
                          <a:solidFill>
                            <a:srgbClr val="000000"/>
                          </a:solidFill>
                          <a:latin typeface="Calibri"/>
                        </a:rPr>
                        <a:t>Table 175: South Asia &amp; Pacific Market Cost Structure by Component, %, 2026</a:t>
                      </a:r>
                      <a:endParaRPr sz="1050"/>
                    </a:p>
                  </a:txBody>
                  <a:tcPr marL="9525" marR="9525" marT="9525" marB="0" anchor="ctr"/>
                </a:tc>
              </a:tr>
              <a:tr h="170486">
                <a:tc>
                  <a:txBody>
                    <a:bodyPr wrap="square"/>
                    <a:lstStyle/>
                    <a:p>
                      <a:pPr algn="l"/>
                      <a:r>
                        <a:rPr sz="1050" b="0" i="0">
                          <a:solidFill>
                            <a:srgbClr val="000000"/>
                          </a:solidFill>
                          <a:latin typeface="Calibri"/>
                        </a:rPr>
                        <a:t>Table 176: South Asia &amp; Pacific Market Import Value by Leading Country, US$ Mn, 2021–2025</a:t>
                      </a:r>
                      <a:endParaRPr sz="1050"/>
                    </a:p>
                  </a:txBody>
                  <a:tcPr marL="9525" marR="9525" marT="9525" marB="0" anchor="ctr"/>
                </a:tc>
              </a:tr>
              <a:tr h="170486">
                <a:tc>
                  <a:txBody>
                    <a:bodyPr wrap="square"/>
                    <a:lstStyle/>
                    <a:p>
                      <a:pPr algn="l"/>
                      <a:r>
                        <a:rPr sz="1050" b="0" i="0">
                          <a:solidFill>
                            <a:srgbClr val="000000"/>
                          </a:solidFill>
                          <a:latin typeface="Calibri"/>
                        </a:rPr>
                        <a:t>Table 177: South Asia &amp; Pacific Market Export Value by Leading Country, US$ Mn, 2021–2025</a:t>
                      </a:r>
                      <a:endParaRPr sz="1050"/>
                    </a:p>
                  </a:txBody>
                  <a:tcPr marL="9525" marR="9525" marT="9525" marB="0" anchor="ctr"/>
                </a:tc>
              </a:tr>
              <a:tr h="170486">
                <a:tc>
                  <a:txBody>
                    <a:bodyPr wrap="square"/>
                    <a:lstStyle/>
                    <a:p>
                      <a:pPr algn="l"/>
                      <a:r>
                        <a:rPr sz="1050" b="0" i="0">
                          <a:solidFill>
                            <a:srgbClr val="000000"/>
                          </a:solidFill>
                          <a:latin typeface="Calibri"/>
                        </a:rPr>
                        <a:t>Table 178: South Asia &amp; Pacific Market Trade Flow Summary, US$ Mn, 2025</a:t>
                      </a:r>
                      <a:endParaRPr sz="1050"/>
                    </a:p>
                  </a:txBody>
                  <a:tcPr marL="9525" marR="9525" marT="9525" marB="0" anchor="ctr"/>
                </a:tc>
              </a:tr>
              <a:tr h="170486">
                <a:tc>
                  <a:txBody>
                    <a:bodyPr wrap="square"/>
                    <a:lstStyle/>
                    <a:p>
                      <a:pPr algn="l"/>
                      <a:r>
                        <a:rPr sz="1050" b="0" i="0">
                          <a:solidFill>
                            <a:srgbClr val="000000"/>
                          </a:solidFill>
                          <a:latin typeface="Calibri"/>
                        </a:rPr>
                        <a:t>Table 179: South Asia &amp; Pacific Market Pricing Factors and Impact Rating, 2026–2036</a:t>
                      </a:r>
                      <a:endParaRPr sz="1050"/>
                    </a:p>
                  </a:txBody>
                  <a:tcPr marL="9525" marR="9525" marT="9525" marB="0" anchor="ctr"/>
                </a:tc>
              </a:tr>
              <a:tr h="170486">
                <a:tc>
                  <a:txBody>
                    <a:bodyPr wrap="square"/>
                    <a:lstStyle/>
                    <a:p>
                      <a:pPr algn="l"/>
                      <a:r>
                        <a:rPr sz="1050" b="0" i="0">
                          <a:solidFill>
                            <a:srgbClr val="000000"/>
                          </a:solidFill>
                          <a:latin typeface="Calibri"/>
                        </a:rPr>
                        <a:t>Table 180: South Asia &amp; Pacific Market Raw Material Price Trend, US$, 2021–2036</a:t>
                      </a:r>
                      <a:endParaRPr sz="1050"/>
                    </a:p>
                  </a:txBody>
                  <a:tcPr marL="9525" marR="9525" marT="9525" marB="0" anchor="ctr"/>
                </a:tc>
              </a:tr>
              <a:tr h="334153">
                <a:tc>
                  <a:txBody>
                    <a:bodyPr wrap="square"/>
                    <a:lstStyle/>
                    <a:p>
                      <a:pPr algn="l"/>
                      <a:r>
                        <a:rPr sz="1050" b="0" i="0">
                          <a:solidFill>
                            <a:srgbClr val="000000"/>
                          </a:solidFill>
                          <a:latin typeface="Calibri"/>
                        </a:rPr>
                        <a:t>Table 181: Leading Flexible Plastic Packaging Manufacturers: Product Portfolio and Geographic Presence, 2026</a:t>
                      </a:r>
                      <a:endParaRPr sz="1050"/>
                    </a:p>
                  </a:txBody>
                  <a:tcPr marL="9525" marR="9525" marT="9525" marB="0" anchor="ctr"/>
                </a:tc>
              </a:tr>
              <a:tr h="170486">
                <a:tc>
                  <a:txBody>
                    <a:bodyPr wrap="square"/>
                    <a:lstStyle/>
                    <a:p>
                      <a:pPr algn="l"/>
                      <a:r>
                        <a:rPr sz="1050" b="0" i="0">
                          <a:solidFill>
                            <a:srgbClr val="000000"/>
                          </a:solidFill>
                          <a:latin typeface="Calibri"/>
                        </a:rPr>
                        <a:t>Table 182: Company Revenue from the South Asia &amp; Pacific Market, US$ Mn, 2025–2026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(5/5)</a:t>
            </a:r>
          </a:p>
        </p:txBody>
      </p:sp>
      <p:graphicFrame>
        <p:nvGraphicFramePr>
          <p:cNvPr id="9" name="FMI Contents Table"/>
          <p:cNvGraphicFramePr>
            <a:graphicFrameLocks noGrp="1"/>
          </p:cNvGraphicFramePr>
          <p:nvPr/>
        </p:nvGraphicFramePr>
        <p:xfrm>
          <a:off x="142875" y="981075"/>
          <a:ext cx="5876925" cy="3000384"/>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183: Company Market Share in the South Asia &amp; Pacific Market by Region, %, 2026</a:t>
                      </a:r>
                      <a:endParaRPr sz="1050"/>
                    </a:p>
                  </a:txBody>
                  <a:tcPr marL="9525" marR="9525" marT="9525" marB="0" anchor="ctr"/>
                </a:tc>
              </a:tr>
              <a:tr h="166688">
                <a:tc>
                  <a:txBody>
                    <a:bodyPr wrap="square"/>
                    <a:lstStyle/>
                    <a:p>
                      <a:pPr algn="l"/>
                      <a:r>
                        <a:rPr sz="1050" b="0" i="0">
                          <a:solidFill>
                            <a:srgbClr val="000000"/>
                          </a:solidFill>
                          <a:latin typeface="Calibri"/>
                        </a:rPr>
                        <a:t>Table 184: South Asia &amp; Pacific Market Competitive Benchmarking Matrix, 2026</a:t>
                      </a:r>
                      <a:endParaRPr sz="1050"/>
                    </a:p>
                  </a:txBody>
                  <a:tcPr marL="9525" marR="9525" marT="9525" marB="0" anchor="ctr"/>
                </a:tc>
              </a:tr>
              <a:tr h="166688">
                <a:tc>
                  <a:txBody>
                    <a:bodyPr wrap="square"/>
                    <a:lstStyle/>
                    <a:p>
                      <a:pPr algn="l"/>
                      <a:r>
                        <a:rPr sz="1050" b="0" i="0">
                          <a:solidFill>
                            <a:srgbClr val="000000"/>
                          </a:solidFill>
                          <a:latin typeface="Calibri"/>
                        </a:rPr>
                        <a:t>Table 185: South Asia &amp; Pacific Market Mergers, Acquisitions and Partnerships, 2021–2026</a:t>
                      </a:r>
                      <a:endParaRPr sz="1050"/>
                    </a:p>
                  </a:txBody>
                  <a:tcPr marL="9525" marR="9525" marT="9525" marB="0" anchor="ctr"/>
                </a:tc>
              </a:tr>
              <a:tr h="166688">
                <a:tc>
                  <a:txBody>
                    <a:bodyPr wrap="square"/>
                    <a:lstStyle/>
                    <a:p>
                      <a:pPr algn="l"/>
                      <a:r>
                        <a:rPr sz="1050" b="0" i="0">
                          <a:solidFill>
                            <a:srgbClr val="000000"/>
                          </a:solidFill>
                          <a:latin typeface="Calibri"/>
                        </a:rPr>
                        <a:t>Table 186: Company A: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187: Company B: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188: Company C: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189: Company D: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190: Company E: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191: Company F: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192: Company 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193: Company H: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194: South Asia &amp; Pacific Market Value by Scenario, US$ Mn, 2026–2036</a:t>
                      </a:r>
                      <a:endParaRPr sz="1050"/>
                    </a:p>
                  </a:txBody>
                  <a:tcPr marL="9525" marR="9525" marT="9525" marB="0" anchor="ctr"/>
                </a:tc>
              </a:tr>
              <a:tr h="166688">
                <a:tc>
                  <a:txBody>
                    <a:bodyPr wrap="square"/>
                    <a:lstStyle/>
                    <a:p>
                      <a:pPr algn="l"/>
                      <a:r>
                        <a:rPr sz="1050" b="0" i="0">
                          <a:solidFill>
                            <a:srgbClr val="000000"/>
                          </a:solidFill>
                          <a:latin typeface="Calibri"/>
                        </a:rPr>
                        <a:t>Table 195: South Asia &amp; Pacific Market Key Trends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196: South Asia &amp; Pacific Market Opportunity Assessment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Table 197: South Asia &amp; Pacific Market Scenario Assumptions, 2026–2036</a:t>
                      </a:r>
                      <a:endParaRPr sz="1050"/>
                    </a:p>
                  </a:txBody>
                  <a:tcPr marL="9525" marR="9525" marT="9525" marB="0" anchor="ctr"/>
                </a:tc>
              </a:tr>
              <a:tr h="166688">
                <a:tc>
                  <a:txBody>
                    <a:bodyPr wrap="square"/>
                    <a:lstStyle/>
                    <a:p>
                      <a:pPr algn="l"/>
                      <a:r>
                        <a:rPr sz="1050" b="0" i="0">
                          <a:solidFill>
                            <a:srgbClr val="000000"/>
                          </a:solidFill>
                          <a:latin typeface="Calibri"/>
                        </a:rPr>
                        <a:t>Table 198: South Asia &amp; Pacific Market Client Opportunity Prioritisation by Product Type, 2026–2036</a:t>
                      </a:r>
                      <a:endParaRPr sz="1050"/>
                    </a:p>
                  </a:txBody>
                  <a:tcPr marL="9525" marR="9525" marT="9525" marB="0" anchor="ctr"/>
                </a:tc>
              </a:tr>
              <a:tr h="166688">
                <a:tc>
                  <a:txBody>
                    <a:bodyPr wrap="square"/>
                    <a:lstStyle/>
                    <a:p>
                      <a:pPr algn="l"/>
                      <a:r>
                        <a:rPr sz="1050" b="0" i="0">
                          <a:solidFill>
                            <a:srgbClr val="000000"/>
                          </a:solidFill>
                          <a:latin typeface="Calibri"/>
                        </a:rPr>
                        <a:t>Table 199: South Asia &amp; Pacific Market Customer Purchase Criteria by Product Type, 2026</a:t>
                      </a:r>
                      <a:endParaRPr sz="1050"/>
                    </a:p>
                  </a:txBody>
                  <a:tcPr marL="9525" marR="9525" marT="9525" marB="0" anchor="ctr"/>
                </a:tc>
              </a:tr>
              <a:tr h="166688">
                <a:tc>
                  <a:txBody>
                    <a:bodyPr wrap="square"/>
                    <a:lstStyle/>
                    <a:p>
                      <a:pPr algn="l"/>
                      <a:r>
                        <a:rPr sz="1050" b="0" i="0">
                          <a:solidFill>
                            <a:srgbClr val="000000"/>
                          </a:solidFill>
                          <a:latin typeface="Calibri"/>
                        </a:rPr>
                        <a:t>Table 200: South Asia &amp; Pacific Market Strategic Recommendations and Action Plan, 2026–2036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