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60.xml" ContentType="application/vnd.openxmlformats-officedocument.drawingml.chart+xml"/>
  <Override PartName="/ppt/charts/chart161.xml" ContentType="application/vnd.openxmlformats-officedocument.drawingml.chart+xml"/>
  <Override PartName="/ppt/charts/chart162.xml" ContentType="application/vnd.openxmlformats-officedocument.drawingml.chart+xml"/>
  <Override PartName="/ppt/charts/chart163.xml" ContentType="application/vnd.openxmlformats-officedocument.drawingml.chart+xml"/>
  <Override PartName="/ppt/charts/chart164.xml" ContentType="application/vnd.openxmlformats-officedocument.drawingml.chart+xml"/>
  <Override PartName="/ppt/charts/chart165.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4.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3.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35" r:id="rId287"/>
    <p:sldId id="529" r:id="rId281"/>
    <p:sldId id="530" r:id="rId282"/>
    <p:sldId id="531" r:id="rId283"/>
    <p:sldId id="532" r:id="rId284"/>
    <p:sldId id="533" r:id="rId285"/>
    <p:sldId id="534" r:id="rId286"/>
    <p:sldId id="544" r:id="rId296"/>
    <p:sldId id="536" r:id="rId288"/>
    <p:sldId id="537" r:id="rId289"/>
    <p:sldId id="538" r:id="rId290"/>
    <p:sldId id="539" r:id="rId291"/>
    <p:sldId id="540" r:id="rId292"/>
    <p:sldId id="541" r:id="rId293"/>
    <p:sldId id="542" r:id="rId294"/>
    <p:sldId id="543" r:id="rId29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3" r:id="rId45"/>
    <p:sldId id="294" r:id="rId46"/>
    <p:sldId id="297" r:id="rId49"/>
    <p:sldId id="298" r:id="rId50"/>
    <p:sldId id="299" r:id="rId51"/>
    <p:sldId id="300" r:id="rId52"/>
    <p:sldId id="301" r:id="rId53"/>
    <p:sldId id="302" r:id="rId54"/>
    <p:sldId id="304" r:id="rId56"/>
    <p:sldId id="305" r:id="rId57"/>
    <p:sldId id="310" r:id="rId62"/>
    <p:sldId id="311" r:id="rId63"/>
    <p:sldId id="312" r:id="rId64"/>
    <p:sldId id="313" r:id="rId65"/>
    <p:sldId id="315" r:id="rId67"/>
    <p:sldId id="316" r:id="rId68"/>
    <p:sldId id="319" r:id="rId71"/>
    <p:sldId id="320" r:id="rId72"/>
    <p:sldId id="321" r:id="rId73"/>
    <p:sldId id="322" r:id="rId74"/>
    <p:sldId id="323" r:id="rId75"/>
    <p:sldId id="325" r:id="rId77"/>
    <p:sldId id="326" r:id="rId78"/>
    <p:sldId id="329" r:id="rId81"/>
    <p:sldId id="330" r:id="rId82"/>
    <p:sldId id="331" r:id="rId83"/>
    <p:sldId id="332" r:id="rId84"/>
    <p:sldId id="333" r:id="rId85"/>
    <p:sldId id="334" r:id="rId86"/>
    <p:sldId id="336" r:id="rId88"/>
    <p:sldId id="337" r:id="rId89"/>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8" r:id="rId130"/>
    <p:sldId id="379" r:id="rId131"/>
    <p:sldId id="382" r:id="rId134"/>
    <p:sldId id="383" r:id="rId135"/>
    <p:sldId id="384" r:id="rId136"/>
    <p:sldId id="385" r:id="rId137"/>
    <p:sldId id="386" r:id="rId138"/>
    <p:sldId id="387" r:id="rId139"/>
    <p:sldId id="389" r:id="rId141"/>
    <p:sldId id="390" r:id="rId142"/>
    <p:sldId id="395" r:id="rId147"/>
    <p:sldId id="396" r:id="rId148"/>
    <p:sldId id="397" r:id="rId149"/>
    <p:sldId id="398" r:id="rId150"/>
    <p:sldId id="400" r:id="rId152"/>
    <p:sldId id="401" r:id="rId153"/>
    <p:sldId id="404" r:id="rId156"/>
    <p:sldId id="405" r:id="rId157"/>
    <p:sldId id="406" r:id="rId158"/>
    <p:sldId id="407" r:id="rId159"/>
    <p:sldId id="408" r:id="rId160"/>
    <p:sldId id="410" r:id="rId162"/>
    <p:sldId id="411" r:id="rId163"/>
    <p:sldId id="414" r:id="rId166"/>
    <p:sldId id="415" r:id="rId167"/>
    <p:sldId id="416" r:id="rId168"/>
    <p:sldId id="417" r:id="rId169"/>
    <p:sldId id="418" r:id="rId170"/>
    <p:sldId id="419" r:id="rId171"/>
    <p:sldId id="421" r:id="rId173"/>
    <p:sldId id="422" r:id="rId174"/>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5" r:id="rId197"/>
    <p:sldId id="446" r:id="rId198"/>
    <p:sldId id="447" r:id="rId199"/>
    <p:sldId id="449" r:id="rId201"/>
    <p:sldId id="452" r:id="rId204"/>
    <p:sldId id="453" r:id="rId205"/>
    <p:sldId id="454" r:id="rId206"/>
    <p:sldId id="456" r:id="rId208"/>
    <p:sldId id="457" r:id="rId209"/>
    <p:sldId id="458" r:id="rId210"/>
    <p:sldId id="460" r:id="rId212"/>
    <p:sldId id="461" r:id="rId213"/>
    <p:sldId id="462" r:id="rId214"/>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45" r:id="rId2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5.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48.xml"/><Relationship Id="rId40" Type="http://schemas.openxmlformats.org/officeDocument/2006/relationships/slide" Target="slides/slide49.xml"/><Relationship Id="rId41" Type="http://schemas.openxmlformats.org/officeDocument/2006/relationships/slide" Target="slides/slide50.xml"/><Relationship Id="rId42" Type="http://schemas.openxmlformats.org/officeDocument/2006/relationships/slide" Target="slides/slide51.xml"/><Relationship Id="rId43"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slide" Target="slides/slide54.xml"/><Relationship Id="rId49" Type="http://schemas.openxmlformats.org/officeDocument/2006/relationships/slide" Target="slides/slide55.xml"/><Relationship Id="rId50" Type="http://schemas.openxmlformats.org/officeDocument/2006/relationships/slide" Target="slides/slide56.xml"/><Relationship Id="rId51" Type="http://schemas.openxmlformats.org/officeDocument/2006/relationships/slide" Target="slides/slide57.xml"/><Relationship Id="rId52" Type="http://schemas.openxmlformats.org/officeDocument/2006/relationships/slide" Target="slides/slide58.xml"/><Relationship Id="rId53" Type="http://schemas.openxmlformats.org/officeDocument/2006/relationships/slide" Target="slides/slide59.xml"/><Relationship Id="rId54" Type="http://schemas.openxmlformats.org/officeDocument/2006/relationships/slide" Target="slides/slide60.xml"/><Relationship Id="rId56" Type="http://schemas.openxmlformats.org/officeDocument/2006/relationships/slide" Target="slides/slide61.xml"/><Relationship Id="rId57"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30" Type="http://schemas.openxmlformats.org/officeDocument/2006/relationships/slide" Target="slides/slide121.xml"/><Relationship Id="rId131"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1" Type="http://schemas.openxmlformats.org/officeDocument/2006/relationships/slide" Target="slides/slide129.xml"/><Relationship Id="rId142" Type="http://schemas.openxmlformats.org/officeDocument/2006/relationships/slide" Target="slides/slide130.xml"/><Relationship Id="rId147" Type="http://schemas.openxmlformats.org/officeDocument/2006/relationships/slide" Target="slides/slide131.xml"/><Relationship Id="rId148" Type="http://schemas.openxmlformats.org/officeDocument/2006/relationships/slide" Target="slides/slide132.xml"/><Relationship Id="rId149" Type="http://schemas.openxmlformats.org/officeDocument/2006/relationships/slide" Target="slides/slide133.xml"/><Relationship Id="rId150" Type="http://schemas.openxmlformats.org/officeDocument/2006/relationships/slide" Target="slides/slide134.xml"/><Relationship Id="rId152" Type="http://schemas.openxmlformats.org/officeDocument/2006/relationships/slide" Target="slides/slide135.xml"/><Relationship Id="rId153" Type="http://schemas.openxmlformats.org/officeDocument/2006/relationships/slide" Target="slides/slide136.xml"/><Relationship Id="rId156" Type="http://schemas.openxmlformats.org/officeDocument/2006/relationships/slide" Target="slides/slide137.xml"/><Relationship Id="rId157" Type="http://schemas.openxmlformats.org/officeDocument/2006/relationships/slide" Target="slides/slide138.xml"/><Relationship Id="rId158" Type="http://schemas.openxmlformats.org/officeDocument/2006/relationships/slide" Target="slides/slide139.xml"/><Relationship Id="rId159" Type="http://schemas.openxmlformats.org/officeDocument/2006/relationships/slide" Target="slides/slide140.xml"/><Relationship Id="rId160" Type="http://schemas.openxmlformats.org/officeDocument/2006/relationships/slide" Target="slides/slide141.xml"/><Relationship Id="rId162" Type="http://schemas.openxmlformats.org/officeDocument/2006/relationships/slide" Target="slides/slide142.xml"/><Relationship Id="rId163" Type="http://schemas.openxmlformats.org/officeDocument/2006/relationships/slide" Target="slides/slide143.xml"/><Relationship Id="rId166" Type="http://schemas.openxmlformats.org/officeDocument/2006/relationships/slide" Target="slides/slide144.xml"/><Relationship Id="rId167" Type="http://schemas.openxmlformats.org/officeDocument/2006/relationships/slide" Target="slides/slide145.xml"/><Relationship Id="rId168" Type="http://schemas.openxmlformats.org/officeDocument/2006/relationships/slide" Target="slides/slide146.xml"/><Relationship Id="rId169" Type="http://schemas.openxmlformats.org/officeDocument/2006/relationships/slide" Target="slides/slide147.xml"/><Relationship Id="rId170" Type="http://schemas.openxmlformats.org/officeDocument/2006/relationships/slide" Target="slides/slide148.xml"/><Relationship Id="rId171" Type="http://schemas.openxmlformats.org/officeDocument/2006/relationships/slide" Target="slides/slide149.xml"/><Relationship Id="rId173" Type="http://schemas.openxmlformats.org/officeDocument/2006/relationships/slide" Target="slides/slide150.xml"/><Relationship Id="rId174" Type="http://schemas.openxmlformats.org/officeDocument/2006/relationships/slide" Target="slides/slide151.xml"/><Relationship Id="rId177" Type="http://schemas.openxmlformats.org/officeDocument/2006/relationships/slide" Target="slides/slide152.xml"/><Relationship Id="rId178" Type="http://schemas.openxmlformats.org/officeDocument/2006/relationships/slide" Target="slides/slide153.xml"/><Relationship Id="rId179" Type="http://schemas.openxmlformats.org/officeDocument/2006/relationships/slide" Target="slides/slide154.xml"/><Relationship Id="rId180" Type="http://schemas.openxmlformats.org/officeDocument/2006/relationships/slide" Target="slides/slide155.xml"/><Relationship Id="rId181" Type="http://schemas.openxmlformats.org/officeDocument/2006/relationships/slide" Target="slides/slide156.xml"/><Relationship Id="rId182" Type="http://schemas.openxmlformats.org/officeDocument/2006/relationships/slide" Target="slides/slide157.xml"/><Relationship Id="rId183" Type="http://schemas.openxmlformats.org/officeDocument/2006/relationships/slide" Target="slides/slide158.xml"/><Relationship Id="rId184" Type="http://schemas.openxmlformats.org/officeDocument/2006/relationships/slide" Target="slides/slide159.xml"/><Relationship Id="rId185" Type="http://schemas.openxmlformats.org/officeDocument/2006/relationships/slide" Target="slides/slide160.xml"/><Relationship Id="rId186" Type="http://schemas.openxmlformats.org/officeDocument/2006/relationships/slide" Target="slides/slide161.xml"/><Relationship Id="rId187" Type="http://schemas.openxmlformats.org/officeDocument/2006/relationships/slide" Target="slides/slide162.xml"/><Relationship Id="rId188" Type="http://schemas.openxmlformats.org/officeDocument/2006/relationships/slide" Target="slides/slide163.xml"/><Relationship Id="rId189" Type="http://schemas.openxmlformats.org/officeDocument/2006/relationships/slide" Target="slides/slide164.xml"/><Relationship Id="rId190" Type="http://schemas.openxmlformats.org/officeDocument/2006/relationships/slide" Target="slides/slide165.xml"/><Relationship Id="rId191" Type="http://schemas.openxmlformats.org/officeDocument/2006/relationships/slide" Target="slides/slide166.xml"/><Relationship Id="rId192" Type="http://schemas.openxmlformats.org/officeDocument/2006/relationships/slide" Target="slides/slide167.xml"/><Relationship Id="rId193" Type="http://schemas.openxmlformats.org/officeDocument/2006/relationships/slide" Target="slides/slide168.xml"/><Relationship Id="rId194" Type="http://schemas.openxmlformats.org/officeDocument/2006/relationships/slide" Target="slides/slide169.xml"/><Relationship Id="rId195" Type="http://schemas.openxmlformats.org/officeDocument/2006/relationships/slide" Target="slides/slide170.xml"/><Relationship Id="rId197" Type="http://schemas.openxmlformats.org/officeDocument/2006/relationships/slide" Target="slides/slide171.xml"/><Relationship Id="rId198" Type="http://schemas.openxmlformats.org/officeDocument/2006/relationships/slide" Target="slides/slide172.xml"/><Relationship Id="rId199" Type="http://schemas.openxmlformats.org/officeDocument/2006/relationships/slide" Target="slides/slide173.xml"/><Relationship Id="rId201" Type="http://schemas.openxmlformats.org/officeDocument/2006/relationships/slide" Target="slides/slide174.xml"/><Relationship Id="rId204" Type="http://schemas.openxmlformats.org/officeDocument/2006/relationships/slide" Target="slides/slide175.xml"/><Relationship Id="rId205" Type="http://schemas.openxmlformats.org/officeDocument/2006/relationships/slide" Target="slides/slide176.xml"/><Relationship Id="rId206" Type="http://schemas.openxmlformats.org/officeDocument/2006/relationships/slide" Target="slides/slide177.xml"/><Relationship Id="rId208" Type="http://schemas.openxmlformats.org/officeDocument/2006/relationships/slide" Target="slides/slide178.xml"/><Relationship Id="rId209" Type="http://schemas.openxmlformats.org/officeDocument/2006/relationships/slide" Target="slides/slide179.xml"/><Relationship Id="rId210" Type="http://schemas.openxmlformats.org/officeDocument/2006/relationships/slide" Target="slides/slide180.xml"/><Relationship Id="rId212" Type="http://schemas.openxmlformats.org/officeDocument/2006/relationships/slide" Target="slides/slide181.xml"/><Relationship Id="rId213" Type="http://schemas.openxmlformats.org/officeDocument/2006/relationships/slide" Target="slides/slide182.xml"/><Relationship Id="rId214" Type="http://schemas.openxmlformats.org/officeDocument/2006/relationships/slide" Target="slides/slide183.xml"/><Relationship Id="rId215" Type="http://schemas.openxmlformats.org/officeDocument/2006/relationships/slide" Target="slides/slide239.xml"/><Relationship Id="rId216" Type="http://schemas.openxmlformats.org/officeDocument/2006/relationships/slide" Target="slides/slide184.xml"/><Relationship Id="rId217" Type="http://schemas.openxmlformats.org/officeDocument/2006/relationships/slide" Target="slides/slide185.xml"/><Relationship Id="rId218" Type="http://schemas.openxmlformats.org/officeDocument/2006/relationships/slide" Target="slides/slide186.xml"/><Relationship Id="rId219" Type="http://schemas.openxmlformats.org/officeDocument/2006/relationships/slide" Target="slides/slide187.xml"/><Relationship Id="rId220" Type="http://schemas.openxmlformats.org/officeDocument/2006/relationships/slide" Target="slides/slide188.xml"/><Relationship Id="rId221" Type="http://schemas.openxmlformats.org/officeDocument/2006/relationships/slide" Target="slides/slide189.xml"/><Relationship Id="rId222" Type="http://schemas.openxmlformats.org/officeDocument/2006/relationships/slide" Target="slides/slide190.xml"/><Relationship Id="rId223" Type="http://schemas.openxmlformats.org/officeDocument/2006/relationships/slide" Target="slides/slide191.xml"/><Relationship Id="rId224" Type="http://schemas.openxmlformats.org/officeDocument/2006/relationships/slide" Target="slides/slide192.xml"/><Relationship Id="rId225" Type="http://schemas.openxmlformats.org/officeDocument/2006/relationships/slide" Target="slides/slide193.xml"/><Relationship Id="rId226" Type="http://schemas.openxmlformats.org/officeDocument/2006/relationships/slide" Target="slides/slide194.xml"/><Relationship Id="rId227" Type="http://schemas.openxmlformats.org/officeDocument/2006/relationships/slide" Target="slides/slide195.xml"/><Relationship Id="rId228" Type="http://schemas.openxmlformats.org/officeDocument/2006/relationships/slide" Target="slides/slide196.xml"/><Relationship Id="rId229" Type="http://schemas.openxmlformats.org/officeDocument/2006/relationships/slide" Target="slides/slide197.xml"/><Relationship Id="rId230" Type="http://schemas.openxmlformats.org/officeDocument/2006/relationships/slide" Target="slides/slide198.xml"/><Relationship Id="rId231" Type="http://schemas.openxmlformats.org/officeDocument/2006/relationships/slide" Target="slides/slide199.xml"/><Relationship Id="rId232" Type="http://schemas.openxmlformats.org/officeDocument/2006/relationships/slide" Target="slides/slide200.xml"/><Relationship Id="rId233" Type="http://schemas.openxmlformats.org/officeDocument/2006/relationships/slide" Target="slides/slide201.xml"/><Relationship Id="rId234" Type="http://schemas.openxmlformats.org/officeDocument/2006/relationships/slide" Target="slides/slide202.xml"/><Relationship Id="rId235" Type="http://schemas.openxmlformats.org/officeDocument/2006/relationships/slide" Target="slides/slide203.xml"/><Relationship Id="rId236" Type="http://schemas.openxmlformats.org/officeDocument/2006/relationships/slide" Target="slides/slide204.xml"/><Relationship Id="rId237" Type="http://schemas.openxmlformats.org/officeDocument/2006/relationships/slide" Target="slides/slide205.xml"/><Relationship Id="rId238" Type="http://schemas.openxmlformats.org/officeDocument/2006/relationships/slide" Target="slides/slide206.xml"/><Relationship Id="rId239" Type="http://schemas.openxmlformats.org/officeDocument/2006/relationships/slide" Target="slides/slide207.xml"/><Relationship Id="rId240" Type="http://schemas.openxmlformats.org/officeDocument/2006/relationships/slide" Target="slides/slide208.xml"/><Relationship Id="rId241" Type="http://schemas.openxmlformats.org/officeDocument/2006/relationships/slide" Target="slides/slide209.xml"/><Relationship Id="rId242" Type="http://schemas.openxmlformats.org/officeDocument/2006/relationships/slide" Target="slides/slide210.xml"/><Relationship Id="rId243" Type="http://schemas.openxmlformats.org/officeDocument/2006/relationships/slide" Target="slides/slide211.xml"/><Relationship Id="rId244" Type="http://schemas.openxmlformats.org/officeDocument/2006/relationships/slide" Target="slides/slide212.xml"/><Relationship Id="rId245" Type="http://schemas.openxmlformats.org/officeDocument/2006/relationships/slide" Target="slides/slide225.xml"/><Relationship Id="rId246" Type="http://schemas.openxmlformats.org/officeDocument/2006/relationships/slide" Target="slides/slide226.xml"/><Relationship Id="rId247" Type="http://schemas.openxmlformats.org/officeDocument/2006/relationships/slide" Target="slides/slide227.xml"/><Relationship Id="rId248" Type="http://schemas.openxmlformats.org/officeDocument/2006/relationships/slide" Target="slides/slide228.xml"/><Relationship Id="rId249" Type="http://schemas.openxmlformats.org/officeDocument/2006/relationships/slide" Target="slides/slide229.xml"/><Relationship Id="rId250" Type="http://schemas.openxmlformats.org/officeDocument/2006/relationships/slide" Target="slides/slide230.xml"/><Relationship Id="rId251" Type="http://schemas.openxmlformats.org/officeDocument/2006/relationships/slide" Target="slides/slide231.xml"/><Relationship Id="rId252" Type="http://schemas.openxmlformats.org/officeDocument/2006/relationships/slide" Target="slides/slide232.xml"/><Relationship Id="rId253" Type="http://schemas.openxmlformats.org/officeDocument/2006/relationships/slide" Target="slides/slide233.xml"/><Relationship Id="rId254" Type="http://schemas.openxmlformats.org/officeDocument/2006/relationships/slide" Target="slides/slide234.xml"/><Relationship Id="rId255" Type="http://schemas.openxmlformats.org/officeDocument/2006/relationships/slide" Target="slides/slide235.xml"/><Relationship Id="rId256" Type="http://schemas.openxmlformats.org/officeDocument/2006/relationships/slide" Target="slides/slide236.xml"/><Relationship Id="rId257" Type="http://schemas.openxmlformats.org/officeDocument/2006/relationships/slide" Target="slides/slide237.xml"/><Relationship Id="rId258" Type="http://schemas.openxmlformats.org/officeDocument/2006/relationships/slide" Target="slides/slide238.xml"/><Relationship Id="rId259" Type="http://schemas.openxmlformats.org/officeDocument/2006/relationships/slide" Target="slides/slide213.xml"/><Relationship Id="rId260" Type="http://schemas.openxmlformats.org/officeDocument/2006/relationships/slide" Target="slides/slide214.xml"/><Relationship Id="rId261" Type="http://schemas.openxmlformats.org/officeDocument/2006/relationships/slide" Target="slides/slide215.xml"/><Relationship Id="rId262" Type="http://schemas.openxmlformats.org/officeDocument/2006/relationships/slide" Target="slides/slide216.xml"/><Relationship Id="rId263" Type="http://schemas.openxmlformats.org/officeDocument/2006/relationships/slide" Target="slides/slide217.xml"/><Relationship Id="rId264" Type="http://schemas.openxmlformats.org/officeDocument/2006/relationships/slide" Target="slides/slide218.xml"/><Relationship Id="rId265" Type="http://schemas.openxmlformats.org/officeDocument/2006/relationships/slide" Target="slides/slide219.xml"/><Relationship Id="rId266" Type="http://schemas.openxmlformats.org/officeDocument/2006/relationships/slide" Target="slides/slide220.xml"/><Relationship Id="rId267" Type="http://schemas.openxmlformats.org/officeDocument/2006/relationships/slide" Target="slides/slide221.xml"/><Relationship Id="rId268" Type="http://schemas.openxmlformats.org/officeDocument/2006/relationships/slide" Target="slides/slide222.xml"/><Relationship Id="rId269" Type="http://schemas.openxmlformats.org/officeDocument/2006/relationships/slide" Target="slides/slide223.xml"/><Relationship Id="rId270" Type="http://schemas.openxmlformats.org/officeDocument/2006/relationships/slide" Target="slides/slide224.xml"/><Relationship Id="rId281" Type="http://schemas.openxmlformats.org/officeDocument/2006/relationships/slide" Target="slides/slide11.xml"/><Relationship Id="rId282" Type="http://schemas.openxmlformats.org/officeDocument/2006/relationships/slide" Target="slides/slide12.xml"/><Relationship Id="rId283" Type="http://schemas.openxmlformats.org/officeDocument/2006/relationships/slide" Target="slides/slide13.xml"/><Relationship Id="rId284" Type="http://schemas.openxmlformats.org/officeDocument/2006/relationships/slide" Target="slides/slide14.xml"/><Relationship Id="rId285" Type="http://schemas.openxmlformats.org/officeDocument/2006/relationships/slide" Target="slides/slide15.xml"/><Relationship Id="rId286" Type="http://schemas.openxmlformats.org/officeDocument/2006/relationships/slide" Target="slides/slide16.xml"/><Relationship Id="rId287" Type="http://schemas.openxmlformats.org/officeDocument/2006/relationships/slide" Target="slides/slide10.xml"/><Relationship Id="rId288" Type="http://schemas.openxmlformats.org/officeDocument/2006/relationships/slide" Target="slides/slide18.xml"/><Relationship Id="rId289" Type="http://schemas.openxmlformats.org/officeDocument/2006/relationships/slide" Target="slides/slide19.xml"/><Relationship Id="rId290" Type="http://schemas.openxmlformats.org/officeDocument/2006/relationships/slide" Target="slides/slide20.xml"/><Relationship Id="rId291" Type="http://schemas.openxmlformats.org/officeDocument/2006/relationships/slide" Target="slides/slide21.xml"/><Relationship Id="rId292" Type="http://schemas.openxmlformats.org/officeDocument/2006/relationships/slide" Target="slides/slide22.xml"/><Relationship Id="rId293" Type="http://schemas.openxmlformats.org/officeDocument/2006/relationships/slide" Target="slides/slide23.xml"/><Relationship Id="rId294" Type="http://schemas.openxmlformats.org/officeDocument/2006/relationships/slide" Target="slides/slide24.xml"/><Relationship Id="rId295" Type="http://schemas.openxmlformats.org/officeDocument/2006/relationships/slide" Target="slides/slide25.xml"/><Relationship Id="rId296" Type="http://schemas.openxmlformats.org/officeDocument/2006/relationships/slide" Target="slides/slide17.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s>
</file>

<file path=ppt/charts/_rels/chart11.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90.png"/><Relationship Id="rId11" Type="http://schemas.openxmlformats.org/officeDocument/2006/relationships/image" Target="../media/image91.png"/><Relationship Id="rId12" Type="http://schemas.openxmlformats.org/officeDocument/2006/relationships/image" Target="../media/image92.png"/></Relationships>
</file>

<file path=ppt/charts/_rels/chart12.xml.rels><?xml version='1.0' encoding='UTF-8' standalone='yes'?>
<Relationships xmlns="http://schemas.openxmlformats.org/package/2006/relationships"><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103.png"/><Relationship Id="rId10" Type="http://schemas.openxmlformats.org/officeDocument/2006/relationships/image" Target="../media/image104.png"/><Relationship Id="rId11" Type="http://schemas.openxmlformats.org/officeDocument/2006/relationships/image" Target="../media/image105.png"/><Relationship Id="rId12" Type="http://schemas.openxmlformats.org/officeDocument/2006/relationships/image" Target="../media/image106.png"/><Relationship Id="rId13" Type="http://schemas.openxmlformats.org/officeDocument/2006/relationships/image" Target="../media/image107.png"/></Relationships>
</file>

<file path=ppt/charts/_rels/chart13.xml.rels><?xml version='1.0' encoding='UTF-8' standalone='yes'?>
<Relationships xmlns="http://schemas.openxmlformats.org/package/2006/relationships"><Relationship Id="rId2" Type="http://schemas.openxmlformats.org/officeDocument/2006/relationships/image" Target="../media/image111.png"/></Relationships>
</file>

<file path=ppt/charts/_rels/chart14.xml.rels><?xml version='1.0' encoding='UTF-8' standalone='yes'?>
<Relationships xmlns="http://schemas.openxmlformats.org/package/2006/relationships"><Relationship Id="rId2" Type="http://schemas.openxmlformats.org/officeDocument/2006/relationships/image" Target="../media/image112.png"/></Relationships>
</file>

<file path=ppt/charts/_rels/chart15.xml.rels><?xml version='1.0' encoding='UTF-8' standalone='yes'?>
<Relationships xmlns="http://schemas.openxmlformats.org/package/2006/relationships"><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40.png"/><Relationship Id="rId11" Type="http://schemas.openxmlformats.org/officeDocument/2006/relationships/image" Target="../media/image141.png"/><Relationship Id="rId12" Type="http://schemas.openxmlformats.org/officeDocument/2006/relationships/image" Target="../media/image142.png"/><Relationship Id="rId13" Type="http://schemas.openxmlformats.org/officeDocument/2006/relationships/image" Target="../media/image143.png"/><Relationship Id="rId14" Type="http://schemas.openxmlformats.org/officeDocument/2006/relationships/image" Target="../media/image144.png"/><Relationship Id="rId15" Type="http://schemas.openxmlformats.org/officeDocument/2006/relationships/image" Target="../media/image145.png"/><Relationship Id="rId16" Type="http://schemas.openxmlformats.org/officeDocument/2006/relationships/image" Target="../media/image146.png"/><Relationship Id="rId17" Type="http://schemas.openxmlformats.org/officeDocument/2006/relationships/image" Target="../media/image147.png"/><Relationship Id="rId18" Type="http://schemas.openxmlformats.org/officeDocument/2006/relationships/image" Target="../media/image148.png"/><Relationship Id="rId19" Type="http://schemas.openxmlformats.org/officeDocument/2006/relationships/image" Target="../media/image149.png"/><Relationship Id="rId20" Type="http://schemas.openxmlformats.org/officeDocument/2006/relationships/image" Target="../media/image150.png"/><Relationship Id="rId21" Type="http://schemas.openxmlformats.org/officeDocument/2006/relationships/image" Target="../media/image151.png"/><Relationship Id="rId22" Type="http://schemas.openxmlformats.org/officeDocument/2006/relationships/image" Target="../media/image152.png"/><Relationship Id="rId23" Type="http://schemas.openxmlformats.org/officeDocument/2006/relationships/image" Target="../media/image153.png"/><Relationship Id="rId24" Type="http://schemas.openxmlformats.org/officeDocument/2006/relationships/image" Target="../media/image154.png"/><Relationship Id="rId25" Type="http://schemas.openxmlformats.org/officeDocument/2006/relationships/image" Target="../media/image155.png"/><Relationship Id="rId26" Type="http://schemas.openxmlformats.org/officeDocument/2006/relationships/image" Target="../media/image156.png"/><Relationship Id="rId27" Type="http://schemas.openxmlformats.org/officeDocument/2006/relationships/image" Target="../media/image157.png"/><Relationship Id="rId28" Type="http://schemas.openxmlformats.org/officeDocument/2006/relationships/image" Target="../media/image158.png"/><Relationship Id="rId29" Type="http://schemas.openxmlformats.org/officeDocument/2006/relationships/image" Target="../media/image159.png"/><Relationship Id="rId30" Type="http://schemas.openxmlformats.org/officeDocument/2006/relationships/image" Target="../media/image160.png"/><Relationship Id="rId31" Type="http://schemas.openxmlformats.org/officeDocument/2006/relationships/image" Target="../media/image161.png"/><Relationship Id="rId32" Type="http://schemas.openxmlformats.org/officeDocument/2006/relationships/image" Target="../media/image162.png"/><Relationship Id="rId33" Type="http://schemas.openxmlformats.org/officeDocument/2006/relationships/image" Target="../media/image163.png"/><Relationship Id="rId34" Type="http://schemas.openxmlformats.org/officeDocument/2006/relationships/image" Target="../media/image164.png"/><Relationship Id="rId35" Type="http://schemas.openxmlformats.org/officeDocument/2006/relationships/image" Target="../media/image165.png"/><Relationship Id="rId36" Type="http://schemas.openxmlformats.org/officeDocument/2006/relationships/image" Target="../media/image166.png"/><Relationship Id="rId37" Type="http://schemas.openxmlformats.org/officeDocument/2006/relationships/image" Target="../media/image167.png"/><Relationship Id="rId38" Type="http://schemas.openxmlformats.org/officeDocument/2006/relationships/image" Target="../media/image168.png"/></Relationships>
</file>

<file path=ppt/charts/_rels/chart24.xml.rels><?xml version='1.0' encoding='UTF-8' standalone='yes'?>
<Relationships xmlns="http://schemas.openxmlformats.org/package/2006/relationships"><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74.png"/><Relationship Id="rId8" Type="http://schemas.openxmlformats.org/officeDocument/2006/relationships/image" Target="../media/image175.png"/><Relationship Id="rId9" Type="http://schemas.openxmlformats.org/officeDocument/2006/relationships/image" Target="../media/image176.png"/><Relationship Id="rId10" Type="http://schemas.openxmlformats.org/officeDocument/2006/relationships/image" Target="../media/image177.png"/><Relationship Id="rId11" Type="http://schemas.openxmlformats.org/officeDocument/2006/relationships/image" Target="../media/image178.png"/><Relationship Id="rId12" Type="http://schemas.openxmlformats.org/officeDocument/2006/relationships/image" Target="../media/image179.png"/><Relationship Id="rId13" Type="http://schemas.openxmlformats.org/officeDocument/2006/relationships/image" Target="../media/image180.png"/><Relationship Id="rId14" Type="http://schemas.openxmlformats.org/officeDocument/2006/relationships/image" Target="../media/image181.png"/><Relationship Id="rId15" Type="http://schemas.openxmlformats.org/officeDocument/2006/relationships/image" Target="../media/image182.png"/><Relationship Id="rId16" Type="http://schemas.openxmlformats.org/officeDocument/2006/relationships/image" Target="../media/image183.png"/><Relationship Id="rId17" Type="http://schemas.openxmlformats.org/officeDocument/2006/relationships/image" Target="../media/image184.png"/><Relationship Id="rId18" Type="http://schemas.openxmlformats.org/officeDocument/2006/relationships/image" Target="../media/image185.png"/><Relationship Id="rId19" Type="http://schemas.openxmlformats.org/officeDocument/2006/relationships/image" Target="../media/image186.png"/><Relationship Id="rId20" Type="http://schemas.openxmlformats.org/officeDocument/2006/relationships/image" Target="../media/image187.png"/><Relationship Id="rId21" Type="http://schemas.openxmlformats.org/officeDocument/2006/relationships/image" Target="../media/image188.png"/></Relationships>
</file>

<file path=ppt/charts/_rels/chart39.xml.rels><?xml version='1.0' encoding='UTF-8' standalone='yes'?>
<Relationships xmlns="http://schemas.openxmlformats.org/package/2006/relationships"><Relationship Id="rId2" Type="http://schemas.openxmlformats.org/officeDocument/2006/relationships/image" Target="../media/image223.png"/><Relationship Id="rId3" Type="http://schemas.openxmlformats.org/officeDocument/2006/relationships/image" Target="../media/image224.png"/><Relationship Id="rId4" Type="http://schemas.openxmlformats.org/officeDocument/2006/relationships/image" Target="../media/image225.png"/><Relationship Id="rId5" Type="http://schemas.openxmlformats.org/officeDocument/2006/relationships/image" Target="../media/image226.png"/><Relationship Id="rId6" Type="http://schemas.openxmlformats.org/officeDocument/2006/relationships/image" Target="../media/image227.png"/><Relationship Id="rId7" Type="http://schemas.openxmlformats.org/officeDocument/2006/relationships/image" Target="../media/image228.png"/><Relationship Id="rId8" Type="http://schemas.openxmlformats.org/officeDocument/2006/relationships/image" Target="../media/image229.png"/><Relationship Id="rId9" Type="http://schemas.openxmlformats.org/officeDocument/2006/relationships/image" Target="../media/image230.png"/><Relationship Id="rId10" Type="http://schemas.openxmlformats.org/officeDocument/2006/relationships/image" Target="../media/image231.png"/><Relationship Id="rId11" Type="http://schemas.openxmlformats.org/officeDocument/2006/relationships/image" Target="../media/image232.png"/><Relationship Id="rId12" Type="http://schemas.openxmlformats.org/officeDocument/2006/relationships/image" Target="../media/image233.png"/><Relationship Id="rId13" Type="http://schemas.openxmlformats.org/officeDocument/2006/relationships/image" Target="../media/image234.png"/><Relationship Id="rId14" Type="http://schemas.openxmlformats.org/officeDocument/2006/relationships/image" Target="../media/image235.png"/><Relationship Id="rId15" Type="http://schemas.openxmlformats.org/officeDocument/2006/relationships/image" Target="../media/image236.png"/><Relationship Id="rId16" Type="http://schemas.openxmlformats.org/officeDocument/2006/relationships/image" Target="../media/image237.png"/><Relationship Id="rId17" Type="http://schemas.openxmlformats.org/officeDocument/2006/relationships/image" Target="../media/image238.png"/><Relationship Id="rId18" Type="http://schemas.openxmlformats.org/officeDocument/2006/relationships/image" Target="../media/image239.png"/><Relationship Id="rId19" Type="http://schemas.openxmlformats.org/officeDocument/2006/relationships/image" Target="../media/image240.png"/><Relationship Id="rId20" Type="http://schemas.openxmlformats.org/officeDocument/2006/relationships/image" Target="../media/image241.png"/><Relationship Id="rId21" Type="http://schemas.openxmlformats.org/officeDocument/2006/relationships/image" Target="../media/image242.png"/><Relationship Id="rId22" Type="http://schemas.openxmlformats.org/officeDocument/2006/relationships/image" Target="../media/image243.png"/><Relationship Id="rId23" Type="http://schemas.openxmlformats.org/officeDocument/2006/relationships/image" Target="../media/image244.png"/><Relationship Id="rId24" Type="http://schemas.openxmlformats.org/officeDocument/2006/relationships/image" Target="../media/image245.png"/><Relationship Id="rId25" Type="http://schemas.openxmlformats.org/officeDocument/2006/relationships/image" Target="../media/image246.png"/><Relationship Id="rId26" Type="http://schemas.openxmlformats.org/officeDocument/2006/relationships/image" Target="../media/image247.png"/><Relationship Id="rId27" Type="http://schemas.openxmlformats.org/officeDocument/2006/relationships/image" Target="../media/image248.png"/><Relationship Id="rId28" Type="http://schemas.openxmlformats.org/officeDocument/2006/relationships/image" Target="../media/image249.png"/><Relationship Id="rId29" Type="http://schemas.openxmlformats.org/officeDocument/2006/relationships/image" Target="../media/image250.png"/><Relationship Id="rId30" Type="http://schemas.openxmlformats.org/officeDocument/2006/relationships/image" Target="../media/image251.png"/><Relationship Id="rId31" Type="http://schemas.openxmlformats.org/officeDocument/2006/relationships/image" Target="../media/image252.png"/></Relationships>
</file>

<file path=ppt/charts/_rels/chart40.xml.rels><?xml version='1.0' encoding='UTF-8' standalone='yes'?>
<Relationships xmlns="http://schemas.openxmlformats.org/package/2006/relationships"><Relationship Id="rId2" Type="http://schemas.openxmlformats.org/officeDocument/2006/relationships/image" Target="../media/image258.png"/><Relationship Id="rId3" Type="http://schemas.openxmlformats.org/officeDocument/2006/relationships/image" Target="../media/image259.png"/><Relationship Id="rId4" Type="http://schemas.openxmlformats.org/officeDocument/2006/relationships/image" Target="../media/image260.png"/><Relationship Id="rId5" Type="http://schemas.openxmlformats.org/officeDocument/2006/relationships/image" Target="../media/image261.png"/><Relationship Id="rId6" Type="http://schemas.openxmlformats.org/officeDocument/2006/relationships/image" Target="../media/image262.png"/><Relationship Id="rId7" Type="http://schemas.openxmlformats.org/officeDocument/2006/relationships/image" Target="../media/image263.png"/><Relationship Id="rId8" Type="http://schemas.openxmlformats.org/officeDocument/2006/relationships/image" Target="../media/image264.png"/><Relationship Id="rId9" Type="http://schemas.openxmlformats.org/officeDocument/2006/relationships/image" Target="../media/image265.png"/><Relationship Id="rId10" Type="http://schemas.openxmlformats.org/officeDocument/2006/relationships/image" Target="../media/image266.png"/><Relationship Id="rId11" Type="http://schemas.openxmlformats.org/officeDocument/2006/relationships/image" Target="../media/image267.png"/><Relationship Id="rId12" Type="http://schemas.openxmlformats.org/officeDocument/2006/relationships/image" Target="../media/image268.png"/><Relationship Id="rId13" Type="http://schemas.openxmlformats.org/officeDocument/2006/relationships/image" Target="../media/image269.png"/></Relationships>
</file>

<file path=ppt/charts/_rels/chart44.xml.rels><?xml version='1.0' encoding='UTF-8' standalone='yes'?>
<Relationships xmlns="http://schemas.openxmlformats.org/package/2006/relationships"><Relationship Id="rId2" Type="http://schemas.openxmlformats.org/officeDocument/2006/relationships/image" Target="../media/image270.png"/><Relationship Id="rId3" Type="http://schemas.openxmlformats.org/officeDocument/2006/relationships/image" Target="../media/image271.png"/><Relationship Id="rId4" Type="http://schemas.openxmlformats.org/officeDocument/2006/relationships/image" Target="../media/image272.png"/><Relationship Id="rId5" Type="http://schemas.openxmlformats.org/officeDocument/2006/relationships/image" Target="../media/image273.png"/><Relationship Id="rId6" Type="http://schemas.openxmlformats.org/officeDocument/2006/relationships/image" Target="../media/image274.png"/><Relationship Id="rId7" Type="http://schemas.openxmlformats.org/officeDocument/2006/relationships/image" Target="../media/image275.png"/></Relationships>
</file>

<file path=ppt/charts/_rels/chart45.xml.rels><?xml version='1.0' encoding='UTF-8' standalone='yes'?>
<Relationships xmlns="http://schemas.openxmlformats.org/package/2006/relationships"><Relationship Id="rId2" Type="http://schemas.openxmlformats.org/officeDocument/2006/relationships/image" Target="../media/image294.png"/><Relationship Id="rId3" Type="http://schemas.openxmlformats.org/officeDocument/2006/relationships/image" Target="../media/image295.png"/><Relationship Id="rId4" Type="http://schemas.openxmlformats.org/officeDocument/2006/relationships/image" Target="../media/image296.png"/><Relationship Id="rId5" Type="http://schemas.openxmlformats.org/officeDocument/2006/relationships/image" Target="../media/image297.png"/><Relationship Id="rId6" Type="http://schemas.openxmlformats.org/officeDocument/2006/relationships/image" Target="../media/image298.png"/><Relationship Id="rId7" Type="http://schemas.openxmlformats.org/officeDocument/2006/relationships/image" Target="../media/image299.png"/><Relationship Id="rId8" Type="http://schemas.openxmlformats.org/officeDocument/2006/relationships/image" Target="../media/image300.png"/><Relationship Id="rId9" Type="http://schemas.openxmlformats.org/officeDocument/2006/relationships/image" Target="../media/image301.png"/><Relationship Id="rId10" Type="http://schemas.openxmlformats.org/officeDocument/2006/relationships/image" Target="../media/image302.png"/><Relationship Id="rId11" Type="http://schemas.openxmlformats.org/officeDocument/2006/relationships/image" Target="../media/image303.png"/><Relationship Id="rId12" Type="http://schemas.openxmlformats.org/officeDocument/2006/relationships/image" Target="../media/image304.png"/><Relationship Id="rId13" Type="http://schemas.openxmlformats.org/officeDocument/2006/relationships/image" Target="../media/image305.png"/><Relationship Id="rId14" Type="http://schemas.openxmlformats.org/officeDocument/2006/relationships/image" Target="../media/image306.png"/><Relationship Id="rId15" Type="http://schemas.openxmlformats.org/officeDocument/2006/relationships/image" Target="../media/image307.png"/><Relationship Id="rId16" Type="http://schemas.openxmlformats.org/officeDocument/2006/relationships/image" Target="../media/image308.png"/><Relationship Id="rId17" Type="http://schemas.openxmlformats.org/officeDocument/2006/relationships/image" Target="../media/image309.png"/><Relationship Id="rId18" Type="http://schemas.openxmlformats.org/officeDocument/2006/relationships/image" Target="../media/image310.png"/><Relationship Id="rId19" Type="http://schemas.openxmlformats.org/officeDocument/2006/relationships/image" Target="../media/image311.png"/><Relationship Id="rId20" Type="http://schemas.openxmlformats.org/officeDocument/2006/relationships/image" Target="../media/image312.png"/><Relationship Id="rId21" Type="http://schemas.openxmlformats.org/officeDocument/2006/relationships/image" Target="../media/image313.png"/><Relationship Id="rId22" Type="http://schemas.openxmlformats.org/officeDocument/2006/relationships/image" Target="../media/image314.png"/><Relationship Id="rId23" Type="http://schemas.openxmlformats.org/officeDocument/2006/relationships/image" Target="../media/image315.png"/><Relationship Id="rId24" Type="http://schemas.openxmlformats.org/officeDocument/2006/relationships/image" Target="../media/image316.png"/><Relationship Id="rId25" Type="http://schemas.openxmlformats.org/officeDocument/2006/relationships/image" Target="../media/image317.png"/><Relationship Id="rId26" Type="http://schemas.openxmlformats.org/officeDocument/2006/relationships/image" Target="../media/image318.png"/><Relationship Id="rId27" Type="http://schemas.openxmlformats.org/officeDocument/2006/relationships/image" Target="../media/image319.png"/><Relationship Id="rId28" Type="http://schemas.openxmlformats.org/officeDocument/2006/relationships/image" Target="../media/image320.png"/><Relationship Id="rId29" Type="http://schemas.openxmlformats.org/officeDocument/2006/relationships/image" Target="../media/image321.png"/><Relationship Id="rId30" Type="http://schemas.openxmlformats.org/officeDocument/2006/relationships/image" Target="../media/image322.png"/><Relationship Id="rId31" Type="http://schemas.openxmlformats.org/officeDocument/2006/relationships/image" Target="../media/image323.png"/><Relationship Id="rId32" Type="http://schemas.openxmlformats.org/officeDocument/2006/relationships/image" Target="../media/image324.png"/><Relationship Id="rId33" Type="http://schemas.openxmlformats.org/officeDocument/2006/relationships/image" Target="../media/image325.png"/></Relationships>
</file>

<file path=ppt/charts/_rels/chart53.xml.rels><?xml version='1.0' encoding='UTF-8' standalone='yes'?>
<Relationships xmlns="http://schemas.openxmlformats.org/package/2006/relationships"><Relationship Id="rId2" Type="http://schemas.openxmlformats.org/officeDocument/2006/relationships/image" Target="../media/image326.png"/><Relationship Id="rId3" Type="http://schemas.openxmlformats.org/officeDocument/2006/relationships/image" Target="../media/image327.png"/><Relationship Id="rId4" Type="http://schemas.openxmlformats.org/officeDocument/2006/relationships/image" Target="../media/image328.png"/><Relationship Id="rId5" Type="http://schemas.openxmlformats.org/officeDocument/2006/relationships/image" Target="../media/image329.png"/><Relationship Id="rId6" Type="http://schemas.openxmlformats.org/officeDocument/2006/relationships/image" Target="../media/image330.png"/><Relationship Id="rId7" Type="http://schemas.openxmlformats.org/officeDocument/2006/relationships/image" Target="../media/image331.png"/><Relationship Id="rId8" Type="http://schemas.openxmlformats.org/officeDocument/2006/relationships/image" Target="../media/image332.png"/><Relationship Id="rId9" Type="http://schemas.openxmlformats.org/officeDocument/2006/relationships/image" Target="../media/image333.png"/><Relationship Id="rId10" Type="http://schemas.openxmlformats.org/officeDocument/2006/relationships/image" Target="../media/image334.png"/><Relationship Id="rId11" Type="http://schemas.openxmlformats.org/officeDocument/2006/relationships/image" Target="../media/image335.png"/><Relationship Id="rId12" Type="http://schemas.openxmlformats.org/officeDocument/2006/relationships/image" Target="../media/image336.png"/><Relationship Id="rId13" Type="http://schemas.openxmlformats.org/officeDocument/2006/relationships/image" Target="../media/image337.png"/><Relationship Id="rId14" Type="http://schemas.openxmlformats.org/officeDocument/2006/relationships/image" Target="../media/image338.png"/><Relationship Id="rId15" Type="http://schemas.openxmlformats.org/officeDocument/2006/relationships/image" Target="../media/image339.png"/><Relationship Id="rId16" Type="http://schemas.openxmlformats.org/officeDocument/2006/relationships/image" Target="../media/image340.png"/><Relationship Id="rId17" Type="http://schemas.openxmlformats.org/officeDocument/2006/relationships/image" Target="../media/image341.png"/><Relationship Id="rId18" Type="http://schemas.openxmlformats.org/officeDocument/2006/relationships/image" Target="../media/image342.png"/><Relationship Id="rId19" Type="http://schemas.openxmlformats.org/officeDocument/2006/relationships/image" Target="../media/image343.png"/></Relationships>
</file>

<file path=ppt/charts/_rels/chart54.xml.rels><?xml version='1.0' encoding='UTF-8' standalone='yes'?>
<Relationships xmlns="http://schemas.openxmlformats.org/package/2006/relationships"><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70.png"/><Relationship Id="rId11" Type="http://schemas.openxmlformats.org/officeDocument/2006/relationships/image" Target="../media/image371.png"/><Relationship Id="rId12" Type="http://schemas.openxmlformats.org/officeDocument/2006/relationships/image" Target="../media/image372.png"/><Relationship Id="rId13" Type="http://schemas.openxmlformats.org/officeDocument/2006/relationships/image" Target="../media/image373.png"/><Relationship Id="rId14" Type="http://schemas.openxmlformats.org/officeDocument/2006/relationships/image" Target="../media/image374.png"/><Relationship Id="rId15" Type="http://schemas.openxmlformats.org/officeDocument/2006/relationships/image" Target="../media/image375.png"/><Relationship Id="rId16" Type="http://schemas.openxmlformats.org/officeDocument/2006/relationships/image" Target="../media/image376.png"/><Relationship Id="rId17" Type="http://schemas.openxmlformats.org/officeDocument/2006/relationships/image" Target="../media/image377.png"/><Relationship Id="rId18" Type="http://schemas.openxmlformats.org/officeDocument/2006/relationships/image" Target="../media/image378.png"/><Relationship Id="rId19" Type="http://schemas.openxmlformats.org/officeDocument/2006/relationships/image" Target="../media/image379.png"/><Relationship Id="rId20" Type="http://schemas.openxmlformats.org/officeDocument/2006/relationships/image" Target="../media/image380.png"/><Relationship Id="rId21" Type="http://schemas.openxmlformats.org/officeDocument/2006/relationships/image" Target="../media/image381.png"/><Relationship Id="rId22" Type="http://schemas.openxmlformats.org/officeDocument/2006/relationships/image" Target="../media/image382.png"/><Relationship Id="rId23" Type="http://schemas.openxmlformats.org/officeDocument/2006/relationships/image" Target="../media/image383.png"/><Relationship Id="rId24" Type="http://schemas.openxmlformats.org/officeDocument/2006/relationships/image" Target="../media/image384.png"/><Relationship Id="rId25" Type="http://schemas.openxmlformats.org/officeDocument/2006/relationships/image" Target="../media/image385.png"/><Relationship Id="rId26" Type="http://schemas.openxmlformats.org/officeDocument/2006/relationships/image" Target="../media/image386.png"/><Relationship Id="rId27" Type="http://schemas.openxmlformats.org/officeDocument/2006/relationships/image" Target="../media/image387.png"/><Relationship Id="rId28" Type="http://schemas.openxmlformats.org/officeDocument/2006/relationships/image" Target="../media/image388.png"/><Relationship Id="rId29" Type="http://schemas.openxmlformats.org/officeDocument/2006/relationships/image" Target="../media/image389.png"/><Relationship Id="rId30" Type="http://schemas.openxmlformats.org/officeDocument/2006/relationships/image" Target="../media/image390.png"/><Relationship Id="rId31" Type="http://schemas.openxmlformats.org/officeDocument/2006/relationships/image" Target="../media/image391.png"/><Relationship Id="rId32" Type="http://schemas.openxmlformats.org/officeDocument/2006/relationships/image" Target="../media/image392.png"/><Relationship Id="rId33" Type="http://schemas.openxmlformats.org/officeDocument/2006/relationships/image" Target="../media/image393.png"/><Relationship Id="rId34" Type="http://schemas.openxmlformats.org/officeDocument/2006/relationships/image" Target="../media/image394.png"/><Relationship Id="rId35" Type="http://schemas.openxmlformats.org/officeDocument/2006/relationships/image" Target="../media/image395.png"/><Relationship Id="rId36" Type="http://schemas.openxmlformats.org/officeDocument/2006/relationships/image" Target="../media/image396.png"/><Relationship Id="rId37" Type="http://schemas.openxmlformats.org/officeDocument/2006/relationships/image" Target="../media/image397.png"/><Relationship Id="rId38" Type="http://schemas.openxmlformats.org/officeDocument/2006/relationships/image" Target="../media/image398.png"/><Relationship Id="rId39" Type="http://schemas.openxmlformats.org/officeDocument/2006/relationships/image" Target="../media/image399.png"/></Relationships>
</file>

<file path=ppt/charts/_rels/chart63.xml.rels><?xml version='1.0' encoding='UTF-8' standalone='yes'?>
<Relationships xmlns="http://schemas.openxmlformats.org/package/2006/relationships"><Relationship Id="rId2" Type="http://schemas.openxmlformats.org/officeDocument/2006/relationships/image" Target="../media/image400.png"/><Relationship Id="rId3" Type="http://schemas.openxmlformats.org/officeDocument/2006/relationships/image" Target="../media/image401.png"/><Relationship Id="rId4" Type="http://schemas.openxmlformats.org/officeDocument/2006/relationships/image" Target="../media/image402.png"/><Relationship Id="rId5" Type="http://schemas.openxmlformats.org/officeDocument/2006/relationships/image" Target="../media/image403.png"/><Relationship Id="rId6" Type="http://schemas.openxmlformats.org/officeDocument/2006/relationships/image" Target="../media/image404.png"/><Relationship Id="rId7" Type="http://schemas.openxmlformats.org/officeDocument/2006/relationships/image" Target="../media/image405.png"/><Relationship Id="rId8" Type="http://schemas.openxmlformats.org/officeDocument/2006/relationships/image" Target="../media/image406.png"/><Relationship Id="rId9" Type="http://schemas.openxmlformats.org/officeDocument/2006/relationships/image" Target="../media/image407.png"/><Relationship Id="rId10" Type="http://schemas.openxmlformats.org/officeDocument/2006/relationships/image" Target="../media/image408.png"/><Relationship Id="rId11" Type="http://schemas.openxmlformats.org/officeDocument/2006/relationships/image" Target="../media/image409.png"/><Relationship Id="rId12" Type="http://schemas.openxmlformats.org/officeDocument/2006/relationships/image" Target="../media/image410.png"/><Relationship Id="rId13" Type="http://schemas.openxmlformats.org/officeDocument/2006/relationships/image" Target="../media/image411.png"/><Relationship Id="rId14" Type="http://schemas.openxmlformats.org/officeDocument/2006/relationships/image" Target="../media/image412.png"/><Relationship Id="rId15" Type="http://schemas.openxmlformats.org/officeDocument/2006/relationships/image" Target="../media/image413.png"/><Relationship Id="rId16" Type="http://schemas.openxmlformats.org/officeDocument/2006/relationships/image" Target="../media/image414.png"/><Relationship Id="rId17" Type="http://schemas.openxmlformats.org/officeDocument/2006/relationships/image" Target="../media/image415.png"/><Relationship Id="rId18" Type="http://schemas.openxmlformats.org/officeDocument/2006/relationships/image" Target="../media/image416.png"/><Relationship Id="rId19" Type="http://schemas.openxmlformats.org/officeDocument/2006/relationships/image" Target="../media/image417.png"/><Relationship Id="rId20" Type="http://schemas.openxmlformats.org/officeDocument/2006/relationships/image" Target="../media/image418.png"/><Relationship Id="rId21" Type="http://schemas.openxmlformats.org/officeDocument/2006/relationships/image" Target="../media/image419.png"/></Relationships>
</file>

<file path=ppt/charts/_rels/chart66.xml.rels><?xml version='1.0' encoding='UTF-8' standalone='yes'?>
<Relationships xmlns="http://schemas.openxmlformats.org/package/2006/relationships"><Relationship Id="rId2" Type="http://schemas.openxmlformats.org/officeDocument/2006/relationships/image" Target="../media/image420.png"/></Relationships>
</file>

<file path=ppt/charts/_rels/chart68.xml.rels><?xml version='1.0' encoding='UTF-8' standalone='yes'?>
<Relationships xmlns="http://schemas.openxmlformats.org/package/2006/relationships"><Relationship Id="rId2" Type="http://schemas.openxmlformats.org/officeDocument/2006/relationships/image" Target="../media/image421.png"/></Relationships>
</file>

<file path=ppt/charts/_rels/chart70.xml.rels><?xml version='1.0' encoding='UTF-8' standalone='yes'?>
<Relationships xmlns="http://schemas.openxmlformats.org/package/2006/relationships"><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30.png"/><Relationship Id="rId11" Type="http://schemas.openxmlformats.org/officeDocument/2006/relationships/image" Target="../media/image431.png"/></Relationships>
</file>

<file path=ppt/charts/_rels/chart71.xml.rels><?xml version='1.0' encoding='UTF-8' standalone='yes'?>
<Relationships xmlns="http://schemas.openxmlformats.org/package/2006/relationships"><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40.png"/><Relationship Id="rId11" Type="http://schemas.openxmlformats.org/officeDocument/2006/relationships/image" Target="../media/image441.png"/><Relationship Id="rId12" Type="http://schemas.openxmlformats.org/officeDocument/2006/relationships/image" Target="../media/image442.png"/><Relationship Id="rId13" Type="http://schemas.openxmlformats.org/officeDocument/2006/relationships/image" Target="../media/image443.png"/><Relationship Id="rId14" Type="http://schemas.openxmlformats.org/officeDocument/2006/relationships/image" Target="../media/image444.png"/><Relationship Id="rId15" Type="http://schemas.openxmlformats.org/officeDocument/2006/relationships/image" Target="../media/image445.png"/><Relationship Id="rId16" Type="http://schemas.openxmlformats.org/officeDocument/2006/relationships/image" Target="../media/image446.png"/><Relationship Id="rId17" Type="http://schemas.openxmlformats.org/officeDocument/2006/relationships/image" Target="../media/image447.png"/><Relationship Id="rId18" Type="http://schemas.openxmlformats.org/officeDocument/2006/relationships/image" Target="../media/image448.png"/><Relationship Id="rId19" Type="http://schemas.openxmlformats.org/officeDocument/2006/relationships/image" Target="../media/image449.png"/><Relationship Id="rId20" Type="http://schemas.openxmlformats.org/officeDocument/2006/relationships/image" Target="../media/image450.png"/><Relationship Id="rId21" Type="http://schemas.openxmlformats.org/officeDocument/2006/relationships/image" Target="../media/image451.png"/><Relationship Id="rId22" Type="http://schemas.openxmlformats.org/officeDocument/2006/relationships/image" Target="../media/image452.png"/><Relationship Id="rId23" Type="http://schemas.openxmlformats.org/officeDocument/2006/relationships/image" Target="../media/image453.png"/></Relationships>
</file>

<file path=ppt/charts/_rels/chart72.xml.rels><?xml version='1.0' encoding='UTF-8' standalone='yes'?>
<Relationships xmlns="http://schemas.openxmlformats.org/package/2006/relationships"><Relationship Id="rId2" Type="http://schemas.openxmlformats.org/officeDocument/2006/relationships/image" Target="../media/image454.png"/><Relationship Id="rId3" Type="http://schemas.openxmlformats.org/officeDocument/2006/relationships/image" Target="../media/image455.png"/></Relationships>
</file>

<file path=ppt/charts/_rels/chart73.xml.rels><?xml version='1.0' encoding='UTF-8' standalone='yes'?>
<Relationships xmlns="http://schemas.openxmlformats.org/package/2006/relationships"><Relationship Id="rId2" Type="http://schemas.openxmlformats.org/officeDocument/2006/relationships/image" Target="../media/image456.png"/><Relationship Id="rId3" Type="http://schemas.openxmlformats.org/officeDocument/2006/relationships/image" Target="../media/image457.png"/></Relationships>
</file>

<file path=ppt/charts/_rels/chart74.xml.rels><?xml version='1.0' encoding='UTF-8' standalone='yes'?>
<Relationships xmlns="http://schemas.openxmlformats.org/package/2006/relationships"><Relationship Id="rId2" Type="http://schemas.openxmlformats.org/officeDocument/2006/relationships/image" Target="../media/image458.png"/><Relationship Id="rId3" Type="http://schemas.openxmlformats.org/officeDocument/2006/relationships/image" Target="../media/image459.png"/><Relationship Id="rId4" Type="http://schemas.openxmlformats.org/officeDocument/2006/relationships/image" Target="../media/image460.png"/><Relationship Id="rId5" Type="http://schemas.openxmlformats.org/officeDocument/2006/relationships/image" Target="../media/image461.png"/><Relationship Id="rId6" Type="http://schemas.openxmlformats.org/officeDocument/2006/relationships/image" Target="../media/image462.png"/><Relationship Id="rId7" Type="http://schemas.openxmlformats.org/officeDocument/2006/relationships/image" Target="../media/image463.png"/><Relationship Id="rId8" Type="http://schemas.openxmlformats.org/officeDocument/2006/relationships/image" Target="../media/image464.png"/></Relationships>
</file>

<file path=ppt/charts/_rels/chart76.xml.rels><?xml version='1.0' encoding='UTF-8' standalone='yes'?>
<Relationships xmlns="http://schemas.openxmlformats.org/package/2006/relationships"><Relationship Id="rId2" Type="http://schemas.openxmlformats.org/officeDocument/2006/relationships/image" Target="../media/image465.png"/><Relationship Id="rId3" Type="http://schemas.openxmlformats.org/officeDocument/2006/relationships/image" Target="../media/image466.png"/><Relationship Id="rId4" Type="http://schemas.openxmlformats.org/officeDocument/2006/relationships/image" Target="../media/image467.png"/><Relationship Id="rId5" Type="http://schemas.openxmlformats.org/officeDocument/2006/relationships/image" Target="../media/image468.png"/></Relationships>
</file>

<file path=ppt/charts/_rels/chart77.xml.rels><?xml version='1.0' encoding='UTF-8' standalone='yes'?>
<Relationships xmlns="http://schemas.openxmlformats.org/package/2006/relationships"><Relationship Id="rId2" Type="http://schemas.openxmlformats.org/officeDocument/2006/relationships/image" Target="../media/image469.png"/><Relationship Id="rId3" Type="http://schemas.openxmlformats.org/officeDocument/2006/relationships/image" Target="../media/image470.png"/><Relationship Id="rId4" Type="http://schemas.openxmlformats.org/officeDocument/2006/relationships/image" Target="../media/image471.png"/><Relationship Id="rId5" Type="http://schemas.openxmlformats.org/officeDocument/2006/relationships/image" Target="../media/image472.png"/></Relationships>
</file>

<file path=ppt/charts/_rels/chart78.xml.rels><?xml version='1.0' encoding='UTF-8' standalone='yes'?>
<Relationships xmlns="http://schemas.openxmlformats.org/package/2006/relationships"><Relationship Id="rId2" Type="http://schemas.openxmlformats.org/officeDocument/2006/relationships/image" Target="../media/image473.png"/><Relationship Id="rId3" Type="http://schemas.openxmlformats.org/officeDocument/2006/relationships/image" Target="../media/image474.png"/><Relationship Id="rId4" Type="http://schemas.openxmlformats.org/officeDocument/2006/relationships/image" Target="../media/image475.png"/><Relationship Id="rId5" Type="http://schemas.openxmlformats.org/officeDocument/2006/relationships/image" Target="../media/image476.png"/><Relationship Id="rId6" Type="http://schemas.openxmlformats.org/officeDocument/2006/relationships/image" Target="../media/image477.png"/><Relationship Id="rId7" Type="http://schemas.openxmlformats.org/officeDocument/2006/relationships/image" Target="../media/image478.png"/><Relationship Id="rId8" Type="http://schemas.openxmlformats.org/officeDocument/2006/relationships/image" Target="../media/image479.png"/><Relationship Id="rId9" Type="http://schemas.openxmlformats.org/officeDocument/2006/relationships/image" Target="../media/image480.png"/><Relationship Id="rId10" Type="http://schemas.openxmlformats.org/officeDocument/2006/relationships/image" Target="../media/image481.png"/><Relationship Id="rId11" Type="http://schemas.openxmlformats.org/officeDocument/2006/relationships/image" Target="../media/image482.png"/><Relationship Id="rId12" Type="http://schemas.openxmlformats.org/officeDocument/2006/relationships/image" Target="../media/image483.png"/><Relationship Id="rId13" Type="http://schemas.openxmlformats.org/officeDocument/2006/relationships/image" Target="../media/image484.png"/><Relationship Id="rId14" Type="http://schemas.openxmlformats.org/officeDocument/2006/relationships/image" Target="../media/image485.png"/><Relationship Id="rId15" Type="http://schemas.openxmlformats.org/officeDocument/2006/relationships/image" Target="../media/image486.png"/><Relationship Id="rId16" Type="http://schemas.openxmlformats.org/officeDocument/2006/relationships/image" Target="../media/image487.png"/><Relationship Id="rId17" Type="http://schemas.openxmlformats.org/officeDocument/2006/relationships/image" Target="../media/image488.png"/><Relationship Id="rId18" Type="http://schemas.openxmlformats.org/officeDocument/2006/relationships/image" Target="../media/image489.png"/><Relationship Id="rId19" Type="http://schemas.openxmlformats.org/officeDocument/2006/relationships/image" Target="../media/image490.png"/><Relationship Id="rId20" Type="http://schemas.openxmlformats.org/officeDocument/2006/relationships/image" Target="../media/image491.png"/><Relationship Id="rId21" Type="http://schemas.openxmlformats.org/officeDocument/2006/relationships/image" Target="../media/image492.png"/><Relationship Id="rId22" Type="http://schemas.openxmlformats.org/officeDocument/2006/relationships/image" Target="../media/image493.png"/><Relationship Id="rId23" Type="http://schemas.openxmlformats.org/officeDocument/2006/relationships/image" Target="../media/image494.png"/><Relationship Id="rId24" Type="http://schemas.openxmlformats.org/officeDocument/2006/relationships/image" Target="../media/image495.png"/><Relationship Id="rId25" Type="http://schemas.openxmlformats.org/officeDocument/2006/relationships/image" Target="../media/image496.png"/><Relationship Id="rId26" Type="http://schemas.openxmlformats.org/officeDocument/2006/relationships/image" Target="../media/image497.png"/><Relationship Id="rId27" Type="http://schemas.openxmlformats.org/officeDocument/2006/relationships/image" Target="../media/image498.png"/><Relationship Id="rId28" Type="http://schemas.openxmlformats.org/officeDocument/2006/relationships/image" Target="../media/image499.png"/><Relationship Id="rId29" Type="http://schemas.openxmlformats.org/officeDocument/2006/relationships/image" Target="../media/image500.png"/><Relationship Id="rId30" Type="http://schemas.openxmlformats.org/officeDocument/2006/relationships/image" Target="../media/image501.png"/><Relationship Id="rId31" Type="http://schemas.openxmlformats.org/officeDocument/2006/relationships/image" Target="../media/image502.png"/><Relationship Id="rId32" Type="http://schemas.openxmlformats.org/officeDocument/2006/relationships/image" Target="../media/image503.png"/><Relationship Id="rId33" Type="http://schemas.openxmlformats.org/officeDocument/2006/relationships/image" Target="../media/image504.png"/></Relationships>
</file>

<file path=ppt/charts/_rels/chart79.xml.rels><?xml version='1.0' encoding='UTF-8' standalone='yes'?>
<Relationships xmlns="http://schemas.openxmlformats.org/package/2006/relationships"><Relationship Id="rId2" Type="http://schemas.openxmlformats.org/officeDocument/2006/relationships/image" Target="../media/image505.png"/><Relationship Id="rId3" Type="http://schemas.openxmlformats.org/officeDocument/2006/relationships/image" Target="../media/image506.png"/><Relationship Id="rId4" Type="http://schemas.openxmlformats.org/officeDocument/2006/relationships/image" Target="../media/image507.png"/><Relationship Id="rId5" Type="http://schemas.openxmlformats.org/officeDocument/2006/relationships/image" Target="../media/image508.png"/><Relationship Id="rId6" Type="http://schemas.openxmlformats.org/officeDocument/2006/relationships/image" Target="../media/image509.png"/><Relationship Id="rId7" Type="http://schemas.openxmlformats.org/officeDocument/2006/relationships/image" Target="../media/image510.png"/><Relationship Id="rId8" Type="http://schemas.openxmlformats.org/officeDocument/2006/relationships/image" Target="../media/image511.png"/><Relationship Id="rId9" Type="http://schemas.openxmlformats.org/officeDocument/2006/relationships/image" Target="../media/image512.png"/><Relationship Id="rId10" Type="http://schemas.openxmlformats.org/officeDocument/2006/relationships/image" Target="../media/image513.png"/><Relationship Id="rId11" Type="http://schemas.openxmlformats.org/officeDocument/2006/relationships/image" Target="../media/image514.png"/><Relationship Id="rId12" Type="http://schemas.openxmlformats.org/officeDocument/2006/relationships/image" Target="../media/image515.png"/><Relationship Id="rId13" Type="http://schemas.openxmlformats.org/officeDocument/2006/relationships/image" Target="../media/image516.png"/><Relationship Id="rId14" Type="http://schemas.openxmlformats.org/officeDocument/2006/relationships/image" Target="../media/image517.png"/><Relationship Id="rId15" Type="http://schemas.openxmlformats.org/officeDocument/2006/relationships/image" Target="../media/image518.png"/><Relationship Id="rId16" Type="http://schemas.openxmlformats.org/officeDocument/2006/relationships/image" Target="../media/image519.png"/><Relationship Id="rId17" Type="http://schemas.openxmlformats.org/officeDocument/2006/relationships/image" Target="../media/image520.png"/><Relationship Id="rId18" Type="http://schemas.openxmlformats.org/officeDocument/2006/relationships/image" Target="../media/image521.png"/><Relationship Id="rId19" Type="http://schemas.openxmlformats.org/officeDocument/2006/relationships/image" Target="../media/image522.png"/><Relationship Id="rId20" Type="http://schemas.openxmlformats.org/officeDocument/2006/relationships/image" Target="../media/image523.png"/><Relationship Id="rId21" Type="http://schemas.openxmlformats.org/officeDocument/2006/relationships/image" Target="../media/image524.png"/><Relationship Id="rId22" Type="http://schemas.openxmlformats.org/officeDocument/2006/relationships/image" Target="../media/image525.png"/><Relationship Id="rId23" Type="http://schemas.openxmlformats.org/officeDocument/2006/relationships/image" Target="../media/image526.png"/><Relationship Id="rId24" Type="http://schemas.openxmlformats.org/officeDocument/2006/relationships/image" Target="../media/image527.png"/><Relationship Id="rId25" Type="http://schemas.openxmlformats.org/officeDocument/2006/relationships/image" Target="../media/image528.png"/><Relationship Id="rId26" Type="http://schemas.openxmlformats.org/officeDocument/2006/relationships/image" Target="../media/image529.png"/><Relationship Id="rId27" Type="http://schemas.openxmlformats.org/officeDocument/2006/relationships/image" Target="../media/image530.png"/><Relationship Id="rId28" Type="http://schemas.openxmlformats.org/officeDocument/2006/relationships/image" Target="../media/image531.png"/><Relationship Id="rId29" Type="http://schemas.openxmlformats.org/officeDocument/2006/relationships/image" Target="../media/image532.png"/><Relationship Id="rId30" Type="http://schemas.openxmlformats.org/officeDocument/2006/relationships/image" Target="../media/image533.png"/><Relationship Id="rId31" Type="http://schemas.openxmlformats.org/officeDocument/2006/relationships/image" Target="../media/image534.png"/><Relationship Id="rId32" Type="http://schemas.openxmlformats.org/officeDocument/2006/relationships/image" Target="../media/image535.png"/><Relationship Id="rId33" Type="http://schemas.openxmlformats.org/officeDocument/2006/relationships/image" Target="../media/image536.png"/></Relationships>
</file>

<file path=ppt/charts/_rels/chart80.xml.rels><?xml version='1.0' encoding='UTF-8' standalone='yes'?>
<Relationships xmlns="http://schemas.openxmlformats.org/package/2006/relationships"><Relationship Id="rId2" Type="http://schemas.openxmlformats.org/officeDocument/2006/relationships/image" Target="../media/image554.png"/><Relationship Id="rId3" Type="http://schemas.openxmlformats.org/officeDocument/2006/relationships/image" Target="../media/image555.png"/><Relationship Id="rId4" Type="http://schemas.openxmlformats.org/officeDocument/2006/relationships/image" Target="../media/image556.png"/><Relationship Id="rId5" Type="http://schemas.openxmlformats.org/officeDocument/2006/relationships/image" Target="../media/image557.png"/><Relationship Id="rId6" Type="http://schemas.openxmlformats.org/officeDocument/2006/relationships/image" Target="../media/image558.png"/><Relationship Id="rId7" Type="http://schemas.openxmlformats.org/officeDocument/2006/relationships/image" Target="../media/image559.png"/><Relationship Id="rId8" Type="http://schemas.openxmlformats.org/officeDocument/2006/relationships/image" Target="../media/image560.png"/><Relationship Id="rId9" Type="http://schemas.openxmlformats.org/officeDocument/2006/relationships/image" Target="../media/image561.png"/><Relationship Id="rId10" Type="http://schemas.openxmlformats.org/officeDocument/2006/relationships/image" Target="../media/image562.png"/><Relationship Id="rId11" Type="http://schemas.openxmlformats.org/officeDocument/2006/relationships/image" Target="../media/image563.png"/><Relationship Id="rId12" Type="http://schemas.openxmlformats.org/officeDocument/2006/relationships/image" Target="../media/image564.png"/><Relationship Id="rId13" Type="http://schemas.openxmlformats.org/officeDocument/2006/relationships/image" Target="../media/image565.png"/><Relationship Id="rId14" Type="http://schemas.openxmlformats.org/officeDocument/2006/relationships/image" Target="../media/image566.png"/><Relationship Id="rId15" Type="http://schemas.openxmlformats.org/officeDocument/2006/relationships/image" Target="../media/image567.png"/></Relationships>
</file>

<file path=ppt/charts/_rels/chart89.xml.rels><?xml version='1.0' encoding='UTF-8' standalone='yes'?>
<Relationships xmlns="http://schemas.openxmlformats.org/package/2006/relationships"><Relationship Id="rId2" Type="http://schemas.openxmlformats.org/officeDocument/2006/relationships/image" Target="../media/image568.png"/><Relationship Id="rId3" Type="http://schemas.openxmlformats.org/officeDocument/2006/relationships/image" Target="../media/image569.png"/><Relationship Id="rId4" Type="http://schemas.openxmlformats.org/officeDocument/2006/relationships/image" Target="../media/image570.png"/><Relationship Id="rId5" Type="http://schemas.openxmlformats.org/officeDocument/2006/relationships/image" Target="../media/image571.png"/><Relationship Id="rId6" Type="http://schemas.openxmlformats.org/officeDocument/2006/relationships/image" Target="../media/image572.png"/><Relationship Id="rId7" Type="http://schemas.openxmlformats.org/officeDocument/2006/relationships/image" Target="../media/image573.png"/><Relationship Id="rId8" Type="http://schemas.openxmlformats.org/officeDocument/2006/relationships/image" Target="../media/image574.png"/><Relationship Id="rId9" Type="http://schemas.openxmlformats.org/officeDocument/2006/relationships/image" Target="../media/image575.png"/><Relationship Id="rId10" Type="http://schemas.openxmlformats.org/officeDocument/2006/relationships/image" Target="../media/image576.png"/><Relationship Id="rId11" Type="http://schemas.openxmlformats.org/officeDocument/2006/relationships/image" Target="../media/image577.png"/><Relationship Id="rId12" Type="http://schemas.openxmlformats.org/officeDocument/2006/relationships/image" Target="../media/image578.png"/><Relationship Id="rId13" Type="http://schemas.openxmlformats.org/officeDocument/2006/relationships/image" Target="../media/image579.png"/><Relationship Id="rId14" Type="http://schemas.openxmlformats.org/officeDocument/2006/relationships/image" Target="../media/image580.png"/><Relationship Id="rId15" Type="http://schemas.openxmlformats.org/officeDocument/2006/relationships/image" Target="../media/image581.png"/><Relationship Id="rId16" Type="http://schemas.openxmlformats.org/officeDocument/2006/relationships/image" Target="../media/image582.png"/><Relationship Id="rId17" Type="http://schemas.openxmlformats.org/officeDocument/2006/relationships/image" Target="../media/image583.png"/><Relationship Id="rId18" Type="http://schemas.openxmlformats.org/officeDocument/2006/relationships/image" Target="../media/image584.png"/><Relationship Id="rId19" Type="http://schemas.openxmlformats.org/officeDocument/2006/relationships/image" Target="../media/image585.png"/><Relationship Id="rId20" Type="http://schemas.openxmlformats.org/officeDocument/2006/relationships/image" Target="../media/image586.png"/><Relationship Id="rId21" Type="http://schemas.openxmlformats.org/officeDocument/2006/relationships/image" Target="../media/image587.png"/><Relationship Id="rId22" Type="http://schemas.openxmlformats.org/officeDocument/2006/relationships/image" Target="../media/image588.png"/></Relationships>
</file>

<file path=ppt/charts/_rels/chart90.xml.rels><?xml version='1.0' encoding='UTF-8' standalone='yes'?>
<Relationships xmlns="http://schemas.openxmlformats.org/package/2006/relationships"><Relationship Id="rId2" Type="http://schemas.openxmlformats.org/officeDocument/2006/relationships/image" Target="../media/image620.png"/><Relationship Id="rId3" Type="http://schemas.openxmlformats.org/officeDocument/2006/relationships/image" Target="../media/image621.png"/><Relationship Id="rId4" Type="http://schemas.openxmlformats.org/officeDocument/2006/relationships/image" Target="../media/image622.png"/><Relationship Id="rId5" Type="http://schemas.openxmlformats.org/officeDocument/2006/relationships/image" Target="../media/image623.png"/><Relationship Id="rId6" Type="http://schemas.openxmlformats.org/officeDocument/2006/relationships/image" Target="../media/image624.png"/><Relationship Id="rId7" Type="http://schemas.openxmlformats.org/officeDocument/2006/relationships/image" Target="../media/image625.png"/><Relationship Id="rId8" Type="http://schemas.openxmlformats.org/officeDocument/2006/relationships/image" Target="../media/image626.png"/><Relationship Id="rId9" Type="http://schemas.openxmlformats.org/officeDocument/2006/relationships/image" Target="../media/image627.png"/><Relationship Id="rId10" Type="http://schemas.openxmlformats.org/officeDocument/2006/relationships/image" Target="../media/image628.png"/><Relationship Id="rId11" Type="http://schemas.openxmlformats.org/officeDocument/2006/relationships/image" Target="../media/image629.png"/><Relationship Id="rId12" Type="http://schemas.openxmlformats.org/officeDocument/2006/relationships/image" Target="../media/image630.png"/><Relationship Id="rId13" Type="http://schemas.openxmlformats.org/officeDocument/2006/relationships/image" Target="../media/image631.png"/><Relationship Id="rId14" Type="http://schemas.openxmlformats.org/officeDocument/2006/relationships/image" Target="../media/image632.png"/><Relationship Id="rId15" Type="http://schemas.openxmlformats.org/officeDocument/2006/relationships/image" Target="../media/image633.png"/><Relationship Id="rId16" Type="http://schemas.openxmlformats.org/officeDocument/2006/relationships/image" Target="../media/image634.png"/><Relationship Id="rId17" Type="http://schemas.openxmlformats.org/officeDocument/2006/relationships/image" Target="../media/image635.png"/><Relationship Id="rId18" Type="http://schemas.openxmlformats.org/officeDocument/2006/relationships/image" Target="../media/image636.png"/><Relationship Id="rId19" Type="http://schemas.openxmlformats.org/officeDocument/2006/relationships/image" Target="../media/image637.png"/><Relationship Id="rId20" Type="http://schemas.openxmlformats.org/officeDocument/2006/relationships/image" Target="../media/image638.png"/><Relationship Id="rId21" Type="http://schemas.openxmlformats.org/officeDocument/2006/relationships/image" Target="../media/image639.png"/><Relationship Id="rId22" Type="http://schemas.openxmlformats.org/officeDocument/2006/relationships/image" Target="../media/image640.png"/><Relationship Id="rId23" Type="http://schemas.openxmlformats.org/officeDocument/2006/relationships/image" Target="../media/image641.png"/><Relationship Id="rId24" Type="http://schemas.openxmlformats.org/officeDocument/2006/relationships/image" Target="../media/image642.png"/></Relationships>
</file>

<file path=ppt/charts/_rels/chart104.xml.rels><?xml version='1.0' encoding='UTF-8' standalone='yes'?>
<Relationships xmlns="http://schemas.openxmlformats.org/package/2006/relationships"><Relationship Id="rId2" Type="http://schemas.openxmlformats.org/officeDocument/2006/relationships/image" Target="../media/image643.png"/><Relationship Id="rId3" Type="http://schemas.openxmlformats.org/officeDocument/2006/relationships/image" Target="../media/image644.png"/><Relationship Id="rId4" Type="http://schemas.openxmlformats.org/officeDocument/2006/relationships/image" Target="../media/image645.png"/><Relationship Id="rId5" Type="http://schemas.openxmlformats.org/officeDocument/2006/relationships/image" Target="../media/image646.png"/><Relationship Id="rId6" Type="http://schemas.openxmlformats.org/officeDocument/2006/relationships/image" Target="../media/image647.png"/><Relationship Id="rId7" Type="http://schemas.openxmlformats.org/officeDocument/2006/relationships/image" Target="../media/image648.png"/><Relationship Id="rId8" Type="http://schemas.openxmlformats.org/officeDocument/2006/relationships/image" Target="../media/image649.png"/><Relationship Id="rId9" Type="http://schemas.openxmlformats.org/officeDocument/2006/relationships/image" Target="../media/image650.png"/><Relationship Id="rId10" Type="http://schemas.openxmlformats.org/officeDocument/2006/relationships/image" Target="../media/image651.png"/><Relationship Id="rId11" Type="http://schemas.openxmlformats.org/officeDocument/2006/relationships/image" Target="../media/image652.png"/><Relationship Id="rId12" Type="http://schemas.openxmlformats.org/officeDocument/2006/relationships/image" Target="../media/image653.png"/><Relationship Id="rId13" Type="http://schemas.openxmlformats.org/officeDocument/2006/relationships/image" Target="../media/image654.png"/><Relationship Id="rId14" Type="http://schemas.openxmlformats.org/officeDocument/2006/relationships/image" Target="../media/image655.png"/><Relationship Id="rId15" Type="http://schemas.openxmlformats.org/officeDocument/2006/relationships/image" Target="../media/image656.png"/><Relationship Id="rId16" Type="http://schemas.openxmlformats.org/officeDocument/2006/relationships/image" Target="../media/image657.png"/><Relationship Id="rId17" Type="http://schemas.openxmlformats.org/officeDocument/2006/relationships/image" Target="../media/image658.png"/><Relationship Id="rId18" Type="http://schemas.openxmlformats.org/officeDocument/2006/relationships/image" Target="../media/image659.png"/><Relationship Id="rId19" Type="http://schemas.openxmlformats.org/officeDocument/2006/relationships/image" Target="../media/image660.png"/><Relationship Id="rId20" Type="http://schemas.openxmlformats.org/officeDocument/2006/relationships/image" Target="../media/image661.png"/><Relationship Id="rId21" Type="http://schemas.openxmlformats.org/officeDocument/2006/relationships/image" Target="../media/image662.png"/><Relationship Id="rId22" Type="http://schemas.openxmlformats.org/officeDocument/2006/relationships/image" Target="../media/image663.png"/><Relationship Id="rId23" Type="http://schemas.openxmlformats.org/officeDocument/2006/relationships/image" Target="../media/image664.png"/><Relationship Id="rId24" Type="http://schemas.openxmlformats.org/officeDocument/2006/relationships/image" Target="../media/image665.png"/><Relationship Id="rId25" Type="http://schemas.openxmlformats.org/officeDocument/2006/relationships/image" Target="../media/image666.png"/><Relationship Id="rId26" Type="http://schemas.openxmlformats.org/officeDocument/2006/relationships/image" Target="../media/image667.png"/><Relationship Id="rId27" Type="http://schemas.openxmlformats.org/officeDocument/2006/relationships/image" Target="../media/image668.png"/><Relationship Id="rId28" Type="http://schemas.openxmlformats.org/officeDocument/2006/relationships/image" Target="../media/image669.png"/><Relationship Id="rId29" Type="http://schemas.openxmlformats.org/officeDocument/2006/relationships/image" Target="../media/image670.png"/><Relationship Id="rId30" Type="http://schemas.openxmlformats.org/officeDocument/2006/relationships/image" Target="../media/image671.png"/><Relationship Id="rId31" Type="http://schemas.openxmlformats.org/officeDocument/2006/relationships/image" Target="../media/image672.png"/><Relationship Id="rId32" Type="http://schemas.openxmlformats.org/officeDocument/2006/relationships/image" Target="../media/image673.png"/><Relationship Id="rId33" Type="http://schemas.openxmlformats.org/officeDocument/2006/relationships/image" Target="../media/image674.png"/></Relationships>
</file>

<file path=ppt/charts/_rels/chart105.xml.rels><?xml version='1.0' encoding='UTF-8' standalone='yes'?>
<Relationships xmlns="http://schemas.openxmlformats.org/package/2006/relationships"><Relationship Id="rId2" Type="http://schemas.openxmlformats.org/officeDocument/2006/relationships/image" Target="../media/image679.png"/><Relationship Id="rId3" Type="http://schemas.openxmlformats.org/officeDocument/2006/relationships/image" Target="../media/image680.png"/><Relationship Id="rId4" Type="http://schemas.openxmlformats.org/officeDocument/2006/relationships/image" Target="../media/image681.png"/><Relationship Id="rId5" Type="http://schemas.openxmlformats.org/officeDocument/2006/relationships/image" Target="../media/image682.png"/></Relationships>
</file>

<file path=ppt/charts/_rels/chart109.xml.rels><?xml version='1.0' encoding='UTF-8' standalone='yes'?>
<Relationships xmlns="http://schemas.openxmlformats.org/package/2006/relationships"><Relationship Id="rId2" Type="http://schemas.openxmlformats.org/officeDocument/2006/relationships/image" Target="../media/image683.png"/><Relationship Id="rId3" Type="http://schemas.openxmlformats.org/officeDocument/2006/relationships/image" Target="../media/image684.png"/><Relationship Id="rId4" Type="http://schemas.openxmlformats.org/officeDocument/2006/relationships/image" Target="../media/image685.png"/><Relationship Id="rId5" Type="http://schemas.openxmlformats.org/officeDocument/2006/relationships/image" Target="../media/image686.png"/><Relationship Id="rId6" Type="http://schemas.openxmlformats.org/officeDocument/2006/relationships/image" Target="../media/image687.png"/><Relationship Id="rId7" Type="http://schemas.openxmlformats.org/officeDocument/2006/relationships/image" Target="../media/image688.png"/></Relationships>
</file>

<file path=ppt/charts/_rels/chart110.xml.rels><?xml version='1.0' encoding='UTF-8' standalone='yes'?>
<Relationships xmlns="http://schemas.openxmlformats.org/package/2006/relationships"><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image" Target="../media/image705.png"/><Relationship Id="rId6" Type="http://schemas.openxmlformats.org/officeDocument/2006/relationships/image" Target="../media/image706.png"/><Relationship Id="rId7" Type="http://schemas.openxmlformats.org/officeDocument/2006/relationships/image" Target="../media/image707.png"/><Relationship Id="rId8" Type="http://schemas.openxmlformats.org/officeDocument/2006/relationships/image" Target="../media/image708.png"/><Relationship Id="rId9" Type="http://schemas.openxmlformats.org/officeDocument/2006/relationships/image" Target="../media/image70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s>
</file>

<file path=ppt/charts/_rels/chart118.xml.rels><?xml version='1.0' encoding='UTF-8' standalone='yes'?>
<Relationships xmlns="http://schemas.openxmlformats.org/package/2006/relationships"><Relationship Id="rId2" Type="http://schemas.openxmlformats.org/officeDocument/2006/relationships/image" Target="../media/image714.png"/><Relationship Id="rId3" Type="http://schemas.openxmlformats.org/officeDocument/2006/relationships/image" Target="../media/image715.png"/><Relationship Id="rId4" Type="http://schemas.openxmlformats.org/officeDocument/2006/relationships/image" Target="../media/image716.png"/><Relationship Id="rId5" Type="http://schemas.openxmlformats.org/officeDocument/2006/relationships/image" Target="../media/image717.png"/><Relationship Id="rId6" Type="http://schemas.openxmlformats.org/officeDocument/2006/relationships/image" Target="../media/image718.png"/><Relationship Id="rId7" Type="http://schemas.openxmlformats.org/officeDocument/2006/relationships/image" Target="../media/image719.png"/><Relationship Id="rId8" Type="http://schemas.openxmlformats.org/officeDocument/2006/relationships/image" Target="../media/image720.png"/><Relationship Id="rId9" Type="http://schemas.openxmlformats.org/officeDocument/2006/relationships/image" Target="../media/image721.png"/><Relationship Id="rId10" Type="http://schemas.openxmlformats.org/officeDocument/2006/relationships/image" Target="../media/image722.png"/><Relationship Id="rId11" Type="http://schemas.openxmlformats.org/officeDocument/2006/relationships/image" Target="../media/image723.png"/><Relationship Id="rId12" Type="http://schemas.openxmlformats.org/officeDocument/2006/relationships/image" Target="../media/image724.png"/><Relationship Id="rId13" Type="http://schemas.openxmlformats.org/officeDocument/2006/relationships/image" Target="../media/image725.png"/><Relationship Id="rId14" Type="http://schemas.openxmlformats.org/officeDocument/2006/relationships/image" Target="../media/image726.png"/><Relationship Id="rId15" Type="http://schemas.openxmlformats.org/officeDocument/2006/relationships/image" Target="../media/image727.png"/><Relationship Id="rId16" Type="http://schemas.openxmlformats.org/officeDocument/2006/relationships/image" Target="../media/image728.png"/><Relationship Id="rId17" Type="http://schemas.openxmlformats.org/officeDocument/2006/relationships/image" Target="../media/image729.png"/><Relationship Id="rId18" Type="http://schemas.openxmlformats.org/officeDocument/2006/relationships/image" Target="../media/image730.png"/><Relationship Id="rId19" Type="http://schemas.openxmlformats.org/officeDocument/2006/relationships/image" Target="../media/image731.png"/></Relationships>
</file>

<file path=ppt/charts/_rels/chart119.xml.rels><?xml version='1.0' encoding='UTF-8' standalone='yes'?>
<Relationships xmlns="http://schemas.openxmlformats.org/package/2006/relationships"><Relationship Id="rId2" Type="http://schemas.openxmlformats.org/officeDocument/2006/relationships/image" Target="../media/image748.png"/><Relationship Id="rId3" Type="http://schemas.openxmlformats.org/officeDocument/2006/relationships/image" Target="../media/image749.png"/><Relationship Id="rId4" Type="http://schemas.openxmlformats.org/officeDocument/2006/relationships/image" Target="../media/image750.png"/><Relationship Id="rId5" Type="http://schemas.openxmlformats.org/officeDocument/2006/relationships/image" Target="../media/image751.png"/><Relationship Id="rId6" Type="http://schemas.openxmlformats.org/officeDocument/2006/relationships/image" Target="../media/image752.png"/><Relationship Id="rId7" Type="http://schemas.openxmlformats.org/officeDocument/2006/relationships/image" Target="../media/image753.png"/><Relationship Id="rId8" Type="http://schemas.openxmlformats.org/officeDocument/2006/relationships/image" Target="../media/image754.png"/><Relationship Id="rId9" Type="http://schemas.openxmlformats.org/officeDocument/2006/relationships/image" Target="../media/image755.png"/><Relationship Id="rId10" Type="http://schemas.openxmlformats.org/officeDocument/2006/relationships/image" Target="../media/image756.png"/><Relationship Id="rId11" Type="http://schemas.openxmlformats.org/officeDocument/2006/relationships/image" Target="../media/image757.png"/><Relationship Id="rId12" Type="http://schemas.openxmlformats.org/officeDocument/2006/relationships/image" Target="../media/image758.png"/><Relationship Id="rId13" Type="http://schemas.openxmlformats.org/officeDocument/2006/relationships/image" Target="../media/image759.png"/><Relationship Id="rId14" Type="http://schemas.openxmlformats.org/officeDocument/2006/relationships/image" Target="../media/image760.png"/><Relationship Id="rId15" Type="http://schemas.openxmlformats.org/officeDocument/2006/relationships/image" Target="../media/image761.png"/></Relationships>
</file>

<file path=ppt/charts/_rels/chart128.xml.rels><?xml version='1.0' encoding='UTF-8' standalone='yes'?>
<Relationships xmlns="http://schemas.openxmlformats.org/package/2006/relationships"><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image" Target="../media/image767.png"/><Relationship Id="rId8" Type="http://schemas.openxmlformats.org/officeDocument/2006/relationships/image" Target="../media/image768.png"/><Relationship Id="rId9" Type="http://schemas.openxmlformats.org/officeDocument/2006/relationships/image" Target="../media/image769.png"/><Relationship Id="rId10" Type="http://schemas.openxmlformats.org/officeDocument/2006/relationships/image" Target="../media/image770.png"/><Relationship Id="rId11" Type="http://schemas.openxmlformats.org/officeDocument/2006/relationships/image" Target="../media/image771.png"/><Relationship Id="rId12" Type="http://schemas.openxmlformats.org/officeDocument/2006/relationships/image" Target="../media/image772.png"/><Relationship Id="rId13" Type="http://schemas.openxmlformats.org/officeDocument/2006/relationships/image" Target="../media/image773.png"/><Relationship Id="rId14" Type="http://schemas.openxmlformats.org/officeDocument/2006/relationships/image" Target="../media/image774.png"/><Relationship Id="rId15" Type="http://schemas.openxmlformats.org/officeDocument/2006/relationships/image" Target="../media/image775.png"/><Relationship Id="rId16" Type="http://schemas.openxmlformats.org/officeDocument/2006/relationships/image" Target="../media/image776.png"/><Relationship Id="rId17" Type="http://schemas.openxmlformats.org/officeDocument/2006/relationships/image" Target="../media/image777.png"/><Relationship Id="rId18" Type="http://schemas.openxmlformats.org/officeDocument/2006/relationships/image" Target="../media/image778.png"/><Relationship Id="rId19" Type="http://schemas.openxmlformats.org/officeDocument/2006/relationships/image" Target="../media/image779.png"/><Relationship Id="rId20" Type="http://schemas.openxmlformats.org/officeDocument/2006/relationships/image" Target="../media/image780.png"/><Relationship Id="rId21" Type="http://schemas.openxmlformats.org/officeDocument/2006/relationships/image" Target="../media/image781.png"/><Relationship Id="rId22" Type="http://schemas.openxmlformats.org/officeDocument/2006/relationships/image" Target="../media/image782.png"/></Relationships>
</file>

<file path=ppt/charts/_rels/chart158.xml.rels><?xml version='1.0' encoding='UTF-8' standalone='yes'?>
<Relationships xmlns="http://schemas.openxmlformats.org/package/2006/relationships"><Relationship Id="rId2" Type="http://schemas.openxmlformats.org/officeDocument/2006/relationships/image" Target="../media/image783.png"/><Relationship Id="rId3" Type="http://schemas.openxmlformats.org/officeDocument/2006/relationships/image" Target="../media/image784.png"/><Relationship Id="rId4" Type="http://schemas.openxmlformats.org/officeDocument/2006/relationships/image" Target="../media/image785.png"/><Relationship Id="rId5" Type="http://schemas.openxmlformats.org/officeDocument/2006/relationships/image" Target="../media/image786.png"/><Relationship Id="rId6" Type="http://schemas.openxmlformats.org/officeDocument/2006/relationships/image" Target="../media/image787.png"/><Relationship Id="rId7" Type="http://schemas.openxmlformats.org/officeDocument/2006/relationships/image" Target="../media/image788.png"/><Relationship Id="rId8" Type="http://schemas.openxmlformats.org/officeDocument/2006/relationships/image" Target="../media/image789.png"/><Relationship Id="rId9" Type="http://schemas.openxmlformats.org/officeDocument/2006/relationships/image" Target="../media/image790.png"/></Relationships>
</file>

<file path=ppt/charts/_rels/chart159.xml.rels><?xml version='1.0' encoding='UTF-8' standalone='yes'?>
<Relationships xmlns="http://schemas.openxmlformats.org/package/2006/relationships"><Relationship Id="rId2" Type="http://schemas.openxmlformats.org/officeDocument/2006/relationships/image" Target="../media/image791.png"/><Relationship Id="rId3" Type="http://schemas.openxmlformats.org/officeDocument/2006/relationships/image" Target="../media/image792.png"/><Relationship Id="rId4" Type="http://schemas.openxmlformats.org/officeDocument/2006/relationships/image" Target="../media/image793.png"/><Relationship Id="rId5" Type="http://schemas.openxmlformats.org/officeDocument/2006/relationships/image" Target="../media/image794.png"/><Relationship Id="rId6" Type="http://schemas.openxmlformats.org/officeDocument/2006/relationships/image" Target="../media/image795.png"/><Relationship Id="rId7" Type="http://schemas.openxmlformats.org/officeDocument/2006/relationships/image" Target="../media/image796.png"/><Relationship Id="rId8" Type="http://schemas.openxmlformats.org/officeDocument/2006/relationships/image" Target="../media/image797.png"/><Relationship Id="rId9" Type="http://schemas.openxmlformats.org/officeDocument/2006/relationships/image" Target="../media/image798.png"/><Relationship Id="rId10" Type="http://schemas.openxmlformats.org/officeDocument/2006/relationships/image" Target="../media/image799.png"/></Relationships>
</file>

<file path=ppt/charts/_rels/chart160.xml.rels><?xml version='1.0' encoding='UTF-8' standalone='yes'?>
<Relationships xmlns="http://schemas.openxmlformats.org/package/2006/relationships"><Relationship Id="rId2" Type="http://schemas.openxmlformats.org/officeDocument/2006/relationships/image" Target="../media/image800.png"/><Relationship Id="rId3" Type="http://schemas.openxmlformats.org/officeDocument/2006/relationships/image" Target="../media/image801.png"/><Relationship Id="rId4" Type="http://schemas.openxmlformats.org/officeDocument/2006/relationships/image" Target="../media/image802.png"/><Relationship Id="rId5" Type="http://schemas.openxmlformats.org/officeDocument/2006/relationships/image" Target="../media/image803.png"/><Relationship Id="rId6" Type="http://schemas.openxmlformats.org/officeDocument/2006/relationships/image" Target="../media/image804.png"/><Relationship Id="rId7" Type="http://schemas.openxmlformats.org/officeDocument/2006/relationships/image" Target="../media/image805.png"/><Relationship Id="rId8" Type="http://schemas.openxmlformats.org/officeDocument/2006/relationships/image" Target="../media/image806.png"/><Relationship Id="rId9" Type="http://schemas.openxmlformats.org/officeDocument/2006/relationships/image" Target="../media/image807.png"/></Relationships>
</file>

<file path=ppt/charts/_rels/chart161.xml.rels><?xml version='1.0' encoding='UTF-8' standalone='yes'?>
<Relationships xmlns="http://schemas.openxmlformats.org/package/2006/relationships"><Relationship Id="rId2" Type="http://schemas.openxmlformats.org/officeDocument/2006/relationships/image" Target="../media/image808.png"/><Relationship Id="rId3" Type="http://schemas.openxmlformats.org/officeDocument/2006/relationships/image" Target="../media/image809.png"/><Relationship Id="rId4" Type="http://schemas.openxmlformats.org/officeDocument/2006/relationships/image" Target="../media/image810.png"/><Relationship Id="rId5" Type="http://schemas.openxmlformats.org/officeDocument/2006/relationships/image" Target="../media/image811.png"/><Relationship Id="rId6" Type="http://schemas.openxmlformats.org/officeDocument/2006/relationships/image" Target="../media/image812.png"/><Relationship Id="rId7" Type="http://schemas.openxmlformats.org/officeDocument/2006/relationships/image" Target="../media/image813.png"/><Relationship Id="rId8" Type="http://schemas.openxmlformats.org/officeDocument/2006/relationships/image" Target="../media/image814.png"/><Relationship Id="rId9" Type="http://schemas.openxmlformats.org/officeDocument/2006/relationships/image" Target="../media/image815.png"/><Relationship Id="rId10" Type="http://schemas.openxmlformats.org/officeDocument/2006/relationships/image" Target="../media/image816.png"/></Relationships>
</file>

<file path=ppt/charts/_rels/chart162.xml.rels><?xml version='1.0' encoding='UTF-8' standalone='yes'?>
<Relationships xmlns="http://schemas.openxmlformats.org/package/2006/relationships"><Relationship Id="rId2" Type="http://schemas.openxmlformats.org/officeDocument/2006/relationships/image" Target="../media/image817.png"/><Relationship Id="rId3" Type="http://schemas.openxmlformats.org/officeDocument/2006/relationships/image" Target="../media/image818.png"/><Relationship Id="rId4" Type="http://schemas.openxmlformats.org/officeDocument/2006/relationships/image" Target="../media/image819.png"/><Relationship Id="rId5" Type="http://schemas.openxmlformats.org/officeDocument/2006/relationships/image" Target="../media/image820.png"/><Relationship Id="rId6" Type="http://schemas.openxmlformats.org/officeDocument/2006/relationships/image" Target="../media/image821.png"/><Relationship Id="rId7" Type="http://schemas.openxmlformats.org/officeDocument/2006/relationships/image" Target="../media/image822.png"/><Relationship Id="rId8" Type="http://schemas.openxmlformats.org/officeDocument/2006/relationships/image" Target="../media/image823.png"/><Relationship Id="rId9" Type="http://schemas.openxmlformats.org/officeDocument/2006/relationships/image" Target="../media/image824.png"/><Relationship Id="rId10" Type="http://schemas.openxmlformats.org/officeDocument/2006/relationships/image" Target="../media/image825.png"/></Relationships>
</file>

<file path=ppt/charts/_rels/chart163.xml.rels><?xml version='1.0' encoding='UTF-8' standalone='yes'?>
<Relationships xmlns="http://schemas.openxmlformats.org/package/2006/relationships"><Relationship Id="rId2" Type="http://schemas.openxmlformats.org/officeDocument/2006/relationships/image" Target="../media/image826.png"/><Relationship Id="rId3" Type="http://schemas.openxmlformats.org/officeDocument/2006/relationships/image" Target="../media/image827.png"/><Relationship Id="rId4" Type="http://schemas.openxmlformats.org/officeDocument/2006/relationships/image" Target="../media/image828.png"/><Relationship Id="rId5" Type="http://schemas.openxmlformats.org/officeDocument/2006/relationships/image" Target="../media/image829.png"/><Relationship Id="rId6" Type="http://schemas.openxmlformats.org/officeDocument/2006/relationships/image" Target="../media/image830.png"/><Relationship Id="rId7" Type="http://schemas.openxmlformats.org/officeDocument/2006/relationships/image" Target="../media/image831.png"/><Relationship Id="rId8" Type="http://schemas.openxmlformats.org/officeDocument/2006/relationships/image" Target="../media/image832.png"/><Relationship Id="rId9" Type="http://schemas.openxmlformats.org/officeDocument/2006/relationships/image" Target="../media/image833.png"/><Relationship Id="rId10" Type="http://schemas.openxmlformats.org/officeDocument/2006/relationships/image" Target="../media/image834.png"/></Relationships>
</file>

<file path=ppt/charts/_rels/chart164.xml.rels><?xml version='1.0' encoding='UTF-8' standalone='yes'?>
<Relationships xmlns="http://schemas.openxmlformats.org/package/2006/relationships"><Relationship Id="rId2" Type="http://schemas.openxmlformats.org/officeDocument/2006/relationships/image" Target="../media/image835.png"/><Relationship Id="rId3" Type="http://schemas.openxmlformats.org/officeDocument/2006/relationships/image" Target="../media/image836.png"/><Relationship Id="rId4" Type="http://schemas.openxmlformats.org/officeDocument/2006/relationships/image" Target="../media/image837.png"/><Relationship Id="rId5" Type="http://schemas.openxmlformats.org/officeDocument/2006/relationships/image" Target="../media/image838.png"/><Relationship Id="rId6" Type="http://schemas.openxmlformats.org/officeDocument/2006/relationships/image" Target="../media/image839.png"/><Relationship Id="rId7" Type="http://schemas.openxmlformats.org/officeDocument/2006/relationships/image" Target="../media/image840.png"/><Relationship Id="rId8" Type="http://schemas.openxmlformats.org/officeDocument/2006/relationships/image" Target="../media/image841.png"/><Relationship Id="rId9" Type="http://schemas.openxmlformats.org/officeDocument/2006/relationships/image" Target="../media/image842.png"/><Relationship Id="rId10" Type="http://schemas.openxmlformats.org/officeDocument/2006/relationships/image" Target="../media/image843.png"/></Relationships>
</file>

<file path=ppt/charts/_rels/chart165.xml.rels><?xml version='1.0' encoding='UTF-8' standalone='yes'?>
<Relationships xmlns="http://schemas.openxmlformats.org/package/2006/relationships"><Relationship Id="rId2" Type="http://schemas.openxmlformats.org/officeDocument/2006/relationships/image" Target="../media/image844.png"/><Relationship Id="rId3" Type="http://schemas.openxmlformats.org/officeDocument/2006/relationships/image" Target="../media/image845.png"/><Relationship Id="rId4" Type="http://schemas.openxmlformats.org/officeDocument/2006/relationships/image" Target="../media/image846.png"/><Relationship Id="rId5" Type="http://schemas.openxmlformats.org/officeDocument/2006/relationships/image" Target="../media/image847.png"/></Relationships>
</file>

<file path=ppt/charts/_rels/chart166.xml.rels><?xml version='1.0' encoding='UTF-8' standalone='yes'?>
<Relationships xmlns="http://schemas.openxmlformats.org/package/2006/relationships"><Relationship Id="rId2" Type="http://schemas.openxmlformats.org/officeDocument/2006/relationships/image" Target="../media/image848.png"/><Relationship Id="rId3" Type="http://schemas.openxmlformats.org/officeDocument/2006/relationships/image" Target="../media/image849.png"/><Relationship Id="rId4" Type="http://schemas.openxmlformats.org/officeDocument/2006/relationships/image" Target="../media/image850.png"/><Relationship Id="rId5" Type="http://schemas.openxmlformats.org/officeDocument/2006/relationships/image" Target="../media/image851.png"/><Relationship Id="rId6" Type="http://schemas.openxmlformats.org/officeDocument/2006/relationships/image" Target="../media/image852.png"/></Relationships>
</file>

<file path=ppt/charts/_rels/chart167.xml.rels><?xml version='1.0' encoding='UTF-8' standalone='yes'?>
<Relationships xmlns="http://schemas.openxmlformats.org/package/2006/relationships"><Relationship Id="rId2" Type="http://schemas.openxmlformats.org/officeDocument/2006/relationships/image" Target="../media/image853.png"/><Relationship Id="rId3" Type="http://schemas.openxmlformats.org/officeDocument/2006/relationships/image" Target="../media/image854.png"/><Relationship Id="rId4" Type="http://schemas.openxmlformats.org/officeDocument/2006/relationships/image" Target="../media/image855.png"/><Relationship Id="rId5" Type="http://schemas.openxmlformats.org/officeDocument/2006/relationships/image" Target="../media/image856.png"/></Relationships>
</file>

<file path=ppt/charts/_rels/chart168.xml.rels><?xml version='1.0' encoding='UTF-8' standalone='yes'?>
<Relationships xmlns="http://schemas.openxmlformats.org/package/2006/relationships"><Relationship Id="rId2" Type="http://schemas.openxmlformats.org/officeDocument/2006/relationships/image" Target="../media/image857.png"/><Relationship Id="rId3" Type="http://schemas.openxmlformats.org/officeDocument/2006/relationships/image" Target="../media/image858.png"/><Relationship Id="rId4" Type="http://schemas.openxmlformats.org/officeDocument/2006/relationships/image" Target="../media/image859.png"/><Relationship Id="rId5" Type="http://schemas.openxmlformats.org/officeDocument/2006/relationships/image" Target="../media/image860.png"/><Relationship Id="rId6" Type="http://schemas.openxmlformats.org/officeDocument/2006/relationships/image" Target="../media/image861.png"/><Relationship Id="rId7" Type="http://schemas.openxmlformats.org/officeDocument/2006/relationships/image" Target="../media/image862.png"/><Relationship Id="rId8" Type="http://schemas.openxmlformats.org/officeDocument/2006/relationships/image" Target="../media/image863.png"/><Relationship Id="rId9" Type="http://schemas.openxmlformats.org/officeDocument/2006/relationships/image" Target="../media/image864.png"/><Relationship Id="rId10" Type="http://schemas.openxmlformats.org/officeDocument/2006/relationships/image" Target="../media/image865.png"/><Relationship Id="rId11" Type="http://schemas.openxmlformats.org/officeDocument/2006/relationships/image" Target="../media/image866.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4.358379285801961</c:v>
                </c:pt>
                <c:pt idx="1">
                  <c:v>4.411873501756758</c:v>
                </c:pt>
                <c:pt idx="2">
                  <c:v>4.394039050333309</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82367302231892"/>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40395.532</c:v>
                </c:pt>
                <c:pt idx="2">
                  <c:v>0.0</c:v>
                </c:pt>
                <c:pt idx="3">
                  <c:v>49999.995</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40395.532</c:v>
                </c:pt>
                <c:pt idx="1">
                  <c:v>9604.463000000003</c:v>
                </c:pt>
                <c:pt idx="2">
                  <c:v>49999.995</c:v>
                </c:pt>
                <c:pt idx="3">
                  <c:v>26996.125999999997</c:v>
                </c:pt>
                <c:pt idx="4">
                  <c:v>76996.121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4.999999741386207</c:v>
                </c:pt>
                <c:pt idx="1">
                  <c:v>5.00000017739024</c:v>
                </c:pt>
                <c:pt idx="2">
                  <c:v>5.000000032055563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600000234155117"/>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47011.568999999996</c:v>
                </c:pt>
                <c:pt idx="2">
                  <c:v>0.0</c:v>
                </c:pt>
                <c:pt idx="3">
                  <c:v>59999.998</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47011.568999999996</c:v>
                </c:pt>
                <c:pt idx="1">
                  <c:v>12988.429000000004</c:v>
                </c:pt>
                <c:pt idx="2">
                  <c:v>59999.998</c:v>
                </c:pt>
                <c:pt idx="3">
                  <c:v>37733.67799999999</c:v>
                </c:pt>
                <c:pt idx="4">
                  <c:v>97733.67599999999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47011.568999999996</c:v>
                </c:pt>
                <c:pt idx="1">
                  <c:v>49362.146</c:v>
                </c:pt>
                <c:pt idx="2">
                  <c:v>51830.257999999994</c:v>
                </c:pt>
                <c:pt idx="3">
                  <c:v>54421.769</c:v>
                </c:pt>
                <c:pt idx="4">
                  <c:v>57142.855</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40395.532</c:v>
                </c:pt>
                <c:pt idx="1">
                  <c:v>42150.106</c:v>
                </c:pt>
                <c:pt idx="2">
                  <c:v>43984.046</c:v>
                </c:pt>
                <c:pt idx="3">
                  <c:v>45901.055</c:v>
                </c:pt>
                <c:pt idx="4">
                  <c:v>47905.013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67429"/>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65840"/>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59999.998</c:v>
                </c:pt>
                <c:pt idx="1">
                  <c:v>63000.001000000004</c:v>
                </c:pt>
                <c:pt idx="2">
                  <c:v>66149.99799999999</c:v>
                </c:pt>
                <c:pt idx="3">
                  <c:v>69457.5</c:v>
                </c:pt>
                <c:pt idx="4">
                  <c:v>72930.372</c:v>
                </c:pt>
                <c:pt idx="5">
                  <c:v>76576.893</c:v>
                </c:pt>
                <c:pt idx="6">
                  <c:v>80405.738</c:v>
                </c:pt>
                <c:pt idx="7">
                  <c:v>84426.02500000001</c:v>
                </c:pt>
                <c:pt idx="8">
                  <c:v>88647.32400000001</c:v>
                </c:pt>
                <c:pt idx="9">
                  <c:v>93079.69300000001</c:v>
                </c:pt>
                <c:pt idx="10">
                  <c:v>97733.67599999999</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M&quot;;&quot;MMMMMMMM&quot;;&quot;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49999.995</c:v>
                </c:pt>
                <c:pt idx="1">
                  <c:v>52189.856999999996</c:v>
                </c:pt>
                <c:pt idx="2">
                  <c:v>54479.422</c:v>
                </c:pt>
                <c:pt idx="3">
                  <c:v>56873.365999999995</c:v>
                </c:pt>
                <c:pt idx="4">
                  <c:v>59376.58800000001</c:v>
                </c:pt>
                <c:pt idx="5">
                  <c:v>61994.225</c:v>
                </c:pt>
                <c:pt idx="6">
                  <c:v>64731.655000000006</c:v>
                </c:pt>
                <c:pt idx="7">
                  <c:v>67594.49900000001</c:v>
                </c:pt>
                <c:pt idx="8">
                  <c:v>70588.691</c:v>
                </c:pt>
                <c:pt idx="9">
                  <c:v>73720.401</c:v>
                </c:pt>
                <c:pt idx="10">
                  <c:v>76996.121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1532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9210"/>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Mexico</c:v>
                </c:pt>
                <c:pt idx="1">
                  <c:v>China</c:v>
                </c:pt>
                <c:pt idx="2">
                  <c:v>Malaysia</c:v>
                </c:pt>
                <c:pt idx="3">
                  <c:v>Spain</c:v>
                </c:pt>
                <c:pt idx="4">
                  <c:v>Thailand</c:v>
                </c:pt>
                <c:pt idx="5">
                  <c:v>Brazil</c:v>
                </c:pt>
                <c:pt idx="6">
                  <c:v>France</c:v>
                </c:pt>
                <c:pt idx="7">
                  <c:v>Netherlands</c:v>
                </c:pt>
                <c:pt idx="8">
                  <c:v>Germany</c:v>
                </c:pt>
                <c:pt idx="9">
                  <c:v>India</c:v>
                </c:pt>
              </c:strCache>
            </c:strRef>
          </c:cat>
          <c:val>
            <c:numRef>
              <c:numCache>
                <c:formatCode>General</c:formatCode>
                <c:ptCount val="10"/>
                <c:pt idx="0">
                  <c:v>101.95671664228578</c:v>
                </c:pt>
                <c:pt idx="1">
                  <c:v>102.39002323176966</c:v>
                </c:pt>
                <c:pt idx="2">
                  <c:v>106.73609240809733</c:v>
                </c:pt>
                <c:pt idx="3">
                  <c:v>115.1823051496879</c:v>
                </c:pt>
                <c:pt idx="4">
                  <c:v>118.81529096386039</c:v>
                </c:pt>
                <c:pt idx="5">
                  <c:v>119.34163672035763</c:v>
                </c:pt>
                <c:pt idx="6">
                  <c:v>123.75088838006624</c:v>
                </c:pt>
                <c:pt idx="7">
                  <c:v>128.46445719733953</c:v>
                </c:pt>
                <c:pt idx="8">
                  <c:v>131.81375249789718</c:v>
                </c:pt>
                <c:pt idx="9">
                  <c:v>136.18575370003833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Thailand</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2.731991829685938</c:v>
                </c:pt>
                <c:pt idx="1">
                  <c:v>3.0816370458241584</c:v>
                </c:pt>
                <c:pt idx="2">
                  <c:v>3.4127205940539382</c:v>
                </c:pt>
                <c:pt idx="3">
                  <c:v>3.7555416675787607</c:v>
                </c:pt>
                <c:pt idx="4">
                  <c:v>5.426258738944028</c:v>
                </c:pt>
                <c:pt idx="5">
                  <c:v>7.238957728955023</c:v>
                </c:pt>
                <c:pt idx="6">
                  <c:v>7.739256162624806</c:v>
                </c:pt>
                <c:pt idx="7">
                  <c:v>9.268248380134054</c:v>
                </c:pt>
                <c:pt idx="8">
                  <c:v>14.421668621860825</c:v>
                </c:pt>
                <c:pt idx="9">
                  <c:v>16.745661528144705</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Lbls>
            <c:dLbl>
              <c:idx val="0"/>
              <c:layout>
                <c:manualLayout>
                  <c:x val="0.0350"/>
                  <c:y val="0.0000"/>
                </c:manualLayout>
              </c:layout>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21156.989</c:v>
                </c:pt>
                <c:pt idx="1">
                  <c:v>12638.094</c:v>
                </c:pt>
                <c:pt idx="2">
                  <c:v>8387.749</c:v>
                </c:pt>
                <c:pt idx="3">
                  <c:v>14504.204</c:v>
                </c:pt>
                <c:pt idx="4">
                  <c:v>20194.023</c:v>
                </c:pt>
                <c:pt idx="5">
                  <c:v>9382.531</c:v>
                </c:pt>
                <c:pt idx="6">
                  <c:v>11470.086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0.06401227966159437</c:v>
                </c:pt>
                <c:pt idx="1">
                  <c:v>0.06234227966159436</c:v>
                </c:pt>
                <c:pt idx="2">
                  <c:v>0.061672279661594366</c:v>
                </c:pt>
                <c:pt idx="3">
                  <c:v>0.06234227966159436</c:v>
                </c:pt>
                <c:pt idx="4">
                  <c:v>0.06434227966159436</c:v>
                </c:pt>
                <c:pt idx="5">
                  <c:v>0.06501227966159437</c:v>
                </c:pt>
                <c:pt idx="6">
                  <c:v>0.06434227966159436</c:v>
                </c:pt>
                <c:pt idx="7">
                  <c:v>0.06231227966159437</c:v>
                </c:pt>
                <c:pt idx="8">
                  <c:v>0.06142227966159437</c:v>
                </c:pt>
                <c:pt idx="9">
                  <c:v>0.060442279661594364</c:v>
                </c:pt>
                <c:pt idx="10">
                  <c:v>0.05927227966159437</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0.04483804077961864</c:v>
                </c:pt>
                <c:pt idx="1">
                  <c:v>0.046157409333808345</c:v>
                </c:pt>
                <c:pt idx="2">
                  <c:v>0.04742603294360614</c:v>
                </c:pt>
                <c:pt idx="3">
                  <c:v>0.04828869699826863</c:v>
                </c:pt>
                <c:pt idx="4">
                  <c:v>0.049179552688704414</c:v>
                </c:pt>
                <c:pt idx="5">
                  <c:v>0.04981668365718064</c:v>
                </c:pt>
                <c:pt idx="6">
                  <c:v>0.050589134477368625</c:v>
                </c:pt>
                <c:pt idx="7">
                  <c:v>0.05124881875446348</c:v>
                </c:pt>
                <c:pt idx="8">
                  <c:v>0.0524610590927147</c:v>
                </c:pt>
                <c:pt idx="9">
                  <c:v>0.054417558615380626</c:v>
                </c:pt>
                <c:pt idx="10">
                  <c:v>0.05562979895363185</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0.04198580604476288</c:v>
                </c:pt>
                <c:pt idx="1">
                  <c:v>0.03965580604476288</c:v>
                </c:pt>
                <c:pt idx="2">
                  <c:v>0.03765580604476288</c:v>
                </c:pt>
                <c:pt idx="3">
                  <c:v>0.03531580604476288</c:v>
                </c:pt>
                <c:pt idx="4">
                  <c:v>0.034655806044762885</c:v>
                </c:pt>
                <c:pt idx="5">
                  <c:v>0.034655806044762885</c:v>
                </c:pt>
                <c:pt idx="6">
                  <c:v>0.036985806044762884</c:v>
                </c:pt>
                <c:pt idx="7">
                  <c:v>0.03865580604476288</c:v>
                </c:pt>
                <c:pt idx="8">
                  <c:v>0.03865580604476288</c:v>
                </c:pt>
                <c:pt idx="9">
                  <c:v>0.037695806044762886</c:v>
                </c:pt>
                <c:pt idx="10">
                  <c:v>0.036605806044762886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19.479065947906594</c:v>
                </c:pt>
                <c:pt idx="1">
                  <c:v>22.450267332298466</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22.214584221458423</c:v>
                </c:pt>
                <c:pt idx="1">
                  <c:v>22.02486278497069</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24.188526418852646</c:v>
                </c:pt>
                <c:pt idx="1">
                  <c:v>20.363582991408098</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18.343031834303183</c:v>
                </c:pt>
                <c:pt idx="1">
                  <c:v>19.097490638521904</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8.405208840520885</c:v>
                </c:pt>
                <c:pt idx="1">
                  <c:v>8.682864686131396</c:v>
                </c:pt>
              </c:numCache>
            </c:numRef>
          </c:val>
        </c:ser>
        <c:ser>
          <c:idx val="5"/>
          <c:order val="5"/>
          <c:tx>
            <c:strRef>
              <c:strCache>
                <c:ptCount val="1"/>
                <c:pt idx="0">
                  <c:v>Middle East and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7.369582736958274</c:v>
                </c:pt>
                <c:pt idx="1">
                  <c:v>7.380931566669443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33.07245776908193</c:v>
                </c:pt>
                <c:pt idx="1">
                  <c:v>30.347245917568884</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27.05928256864275</c:v>
                </c:pt>
                <c:pt idx="1">
                  <c:v>28.64923447676316</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12.026348734211625</c:v>
                </c:pt>
                <c:pt idx="1">
                  <c:v>13.102647443650845</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13.028543767618125</c:v>
                </c:pt>
                <c:pt idx="1">
                  <c:v>12.831808352322692</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8.017565267252175</c:v>
                </c:pt>
                <c:pt idx="1">
                  <c:v>8.335853447280545</c:v>
                </c:pt>
              </c:numCache>
            </c:numRef>
          </c:val>
        </c:ser>
        <c:ser>
          <c:idx val="5"/>
          <c:order val="5"/>
          <c:tx>
            <c:strRef>
              <c:strCache>
                <c:ptCount val="1"/>
                <c:pt idx="0">
                  <c:v>Middle East and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6.795801893193397</c:v>
                </c:pt>
                <c:pt idx="1">
                  <c:v>6.733210362413872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10588.318</c:v>
                </c:pt>
                <c:pt idx="1">
                  <c:v>10875.704</c:v>
                </c:pt>
                <c:pt idx="2">
                  <c:v>11169.868</c:v>
                </c:pt>
                <c:pt idx="3">
                  <c:v>11470.932</c:v>
                </c:pt>
                <c:pt idx="4">
                  <c:v>11779.023</c:v>
                </c:pt>
                <c:pt idx="5">
                  <c:v>12094.262</c:v>
                </c:pt>
                <c:pt idx="6">
                  <c:v>12417.571</c:v>
                </c:pt>
                <c:pt idx="7">
                  <c:v>12748.345</c:v>
                </c:pt>
                <c:pt idx="8">
                  <c:v>13086.712</c:v>
                </c:pt>
                <c:pt idx="9">
                  <c:v>13432.806</c:v>
                </c:pt>
                <c:pt idx="10">
                  <c:v>13786.761</c:v>
                </c:pt>
                <c:pt idx="11">
                  <c:v>14148.711</c:v>
                </c:pt>
                <c:pt idx="12">
                  <c:v>14518.787</c:v>
                </c:pt>
                <c:pt idx="13">
                  <c:v>14897.132</c:v>
                </c:pt>
                <c:pt idx="14">
                  <c:v>15283.88</c:v>
                </c:pt>
                <c:pt idx="15">
                  <c:v>15679.169</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8990.934</c:v>
                </c:pt>
                <c:pt idx="1">
                  <c:v>9378.882</c:v>
                </c:pt>
                <c:pt idx="2">
                  <c:v>9783.744</c:v>
                </c:pt>
                <c:pt idx="3">
                  <c:v>10206.254</c:v>
                </c:pt>
                <c:pt idx="4">
                  <c:v>10647.168</c:v>
                </c:pt>
                <c:pt idx="5">
                  <c:v>11107.291</c:v>
                </c:pt>
                <c:pt idx="6">
                  <c:v>11586.957</c:v>
                </c:pt>
                <c:pt idx="7">
                  <c:v>12087.479</c:v>
                </c:pt>
                <c:pt idx="8">
                  <c:v>12609.749</c:v>
                </c:pt>
                <c:pt idx="9">
                  <c:v>13154.703</c:v>
                </c:pt>
                <c:pt idx="10">
                  <c:v>13723.317</c:v>
                </c:pt>
                <c:pt idx="11">
                  <c:v>14316.606</c:v>
                </c:pt>
                <c:pt idx="12">
                  <c:v>14935.62</c:v>
                </c:pt>
                <c:pt idx="13">
                  <c:v>15581.471</c:v>
                </c:pt>
                <c:pt idx="14">
                  <c:v>16255.295</c:v>
                </c:pt>
                <c:pt idx="15">
                  <c:v>16958.29</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7306.554</c:v>
                </c:pt>
                <c:pt idx="1">
                  <c:v>7738.894</c:v>
                </c:pt>
                <c:pt idx="2">
                  <c:v>8196.813</c:v>
                </c:pt>
                <c:pt idx="3">
                  <c:v>8681.817</c:v>
                </c:pt>
                <c:pt idx="4">
                  <c:v>9195.498</c:v>
                </c:pt>
                <c:pt idx="5">
                  <c:v>9739.532</c:v>
                </c:pt>
                <c:pt idx="6">
                  <c:v>10315.039</c:v>
                </c:pt>
                <c:pt idx="7">
                  <c:v>10924.485</c:v>
                </c:pt>
                <c:pt idx="8">
                  <c:v>11569.863</c:v>
                </c:pt>
                <c:pt idx="9">
                  <c:v>12253.26</c:v>
                </c:pt>
                <c:pt idx="10">
                  <c:v>12976.904</c:v>
                </c:pt>
                <c:pt idx="11">
                  <c:v>13743.141</c:v>
                </c:pt>
                <c:pt idx="12">
                  <c:v>14554.449</c:v>
                </c:pt>
                <c:pt idx="13">
                  <c:v>15413.46</c:v>
                </c:pt>
                <c:pt idx="14">
                  <c:v>16322.943</c:v>
                </c:pt>
                <c:pt idx="15">
                  <c:v>17285.835</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7222.106</c:v>
                </c:pt>
                <c:pt idx="1">
                  <c:v>7576.812</c:v>
                </c:pt>
                <c:pt idx="2">
                  <c:v>7948.33</c:v>
                </c:pt>
                <c:pt idx="3">
                  <c:v>8337.419</c:v>
                </c:pt>
                <c:pt idx="4">
                  <c:v>8744.872</c:v>
                </c:pt>
                <c:pt idx="5">
                  <c:v>9171.515</c:v>
                </c:pt>
                <c:pt idx="6">
                  <c:v>9618.281</c:v>
                </c:pt>
                <c:pt idx="7">
                  <c:v>10086.018</c:v>
                </c:pt>
                <c:pt idx="8">
                  <c:v>10575.665</c:v>
                </c:pt>
                <c:pt idx="9">
                  <c:v>11088.206</c:v>
                </c:pt>
                <c:pt idx="10">
                  <c:v>11624.652</c:v>
                </c:pt>
                <c:pt idx="11">
                  <c:v>12186.072</c:v>
                </c:pt>
                <c:pt idx="12">
                  <c:v>12773.572</c:v>
                </c:pt>
                <c:pt idx="13">
                  <c:v>13388.304</c:v>
                </c:pt>
                <c:pt idx="14">
                  <c:v>14031.471</c:v>
                </c:pt>
                <c:pt idx="15">
                  <c:v>14704.327</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3323.93</c:v>
                </c:pt>
                <c:pt idx="1">
                  <c:v>3483.982</c:v>
                </c:pt>
                <c:pt idx="2">
                  <c:v>3651.534</c:v>
                </c:pt>
                <c:pt idx="3">
                  <c:v>3826.914</c:v>
                </c:pt>
                <c:pt idx="4">
                  <c:v>4010.482</c:v>
                </c:pt>
                <c:pt idx="5">
                  <c:v>4202.604</c:v>
                </c:pt>
                <c:pt idx="6">
                  <c:v>4403.525</c:v>
                </c:pt>
                <c:pt idx="7">
                  <c:v>4613.774</c:v>
                </c:pt>
                <c:pt idx="8">
                  <c:v>4833.766</c:v>
                </c:pt>
                <c:pt idx="9">
                  <c:v>5063.938</c:v>
                </c:pt>
                <c:pt idx="10">
                  <c:v>5304.743</c:v>
                </c:pt>
                <c:pt idx="11">
                  <c:v>5556.65</c:v>
                </c:pt>
                <c:pt idx="12">
                  <c:v>5820.152</c:v>
                </c:pt>
                <c:pt idx="13">
                  <c:v>6095.763</c:v>
                </c:pt>
                <c:pt idx="14">
                  <c:v>6384.017</c:v>
                </c:pt>
                <c:pt idx="15">
                  <c:v>6685.469</c:v>
                </c:pt>
              </c:numCache>
            </c:numRef>
          </c:val>
        </c:ser>
        <c:ser>
          <c:idx val="5"/>
          <c:order val="5"/>
          <c:tx>
            <c:strRef>
              <c:strCache>
                <c:ptCount val="1"/>
                <c:pt idx="0">
                  <c:v>Middle East and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2963.69</c:v>
                </c:pt>
                <c:pt idx="1">
                  <c:v>3095.832</c:v>
                </c:pt>
                <c:pt idx="2">
                  <c:v>3233.757</c:v>
                </c:pt>
                <c:pt idx="3">
                  <c:v>3377.719</c:v>
                </c:pt>
                <c:pt idx="4">
                  <c:v>3527.97</c:v>
                </c:pt>
                <c:pt idx="5">
                  <c:v>3684.791</c:v>
                </c:pt>
                <c:pt idx="6">
                  <c:v>3848.484</c:v>
                </c:pt>
                <c:pt idx="7">
                  <c:v>4019.321</c:v>
                </c:pt>
                <c:pt idx="8">
                  <c:v>4197.611</c:v>
                </c:pt>
                <c:pt idx="9">
                  <c:v>4383.675</c:v>
                </c:pt>
                <c:pt idx="10">
                  <c:v>4577.848</c:v>
                </c:pt>
                <c:pt idx="11">
                  <c:v>4780.475</c:v>
                </c:pt>
                <c:pt idx="12">
                  <c:v>4991.919</c:v>
                </c:pt>
                <c:pt idx="13">
                  <c:v>5212.561</c:v>
                </c:pt>
                <c:pt idx="14">
                  <c:v>5442.795</c:v>
                </c:pt>
                <c:pt idx="15">
                  <c:v>5683.031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16182.081</c:v>
                </c:pt>
                <c:pt idx="1">
                  <c:v>16858.819</c:v>
                </c:pt>
                <c:pt idx="2">
                  <c:v>17562.33</c:v>
                </c:pt>
                <c:pt idx="3">
                  <c:v>18293.593</c:v>
                </c:pt>
                <c:pt idx="4">
                  <c:v>19053.624</c:v>
                </c:pt>
                <c:pt idx="5">
                  <c:v>19843.474</c:v>
                </c:pt>
                <c:pt idx="6">
                  <c:v>20665.532</c:v>
                </c:pt>
                <c:pt idx="7">
                  <c:v>21519.75</c:v>
                </c:pt>
                <c:pt idx="8">
                  <c:v>22407.292</c:v>
                </c:pt>
                <c:pt idx="9">
                  <c:v>23329.365</c:v>
                </c:pt>
                <c:pt idx="10">
                  <c:v>24287.21</c:v>
                </c:pt>
                <c:pt idx="11">
                  <c:v>25282.115</c:v>
                </c:pt>
                <c:pt idx="12">
                  <c:v>26315.4</c:v>
                </c:pt>
                <c:pt idx="13">
                  <c:v>27388.442</c:v>
                </c:pt>
                <c:pt idx="14">
                  <c:v>28502.648</c:v>
                </c:pt>
                <c:pt idx="15">
                  <c:v>29659.479</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12369.813</c:v>
                </c:pt>
                <c:pt idx="1">
                  <c:v>13060.535</c:v>
                </c:pt>
                <c:pt idx="2">
                  <c:v>13790.21</c:v>
                </c:pt>
                <c:pt idx="3">
                  <c:v>14561.036</c:v>
                </c:pt>
                <c:pt idx="4">
                  <c:v>15375.34</c:v>
                </c:pt>
                <c:pt idx="5">
                  <c:v>16235.569</c:v>
                </c:pt>
                <c:pt idx="6">
                  <c:v>17143.583</c:v>
                </c:pt>
                <c:pt idx="7">
                  <c:v>18102.759</c:v>
                </c:pt>
                <c:pt idx="8">
                  <c:v>19115.986</c:v>
                </c:pt>
                <c:pt idx="9">
                  <c:v>20186.298</c:v>
                </c:pt>
                <c:pt idx="10">
                  <c:v>21316.915</c:v>
                </c:pt>
                <c:pt idx="11">
                  <c:v>22511.221</c:v>
                </c:pt>
                <c:pt idx="12">
                  <c:v>23772.795</c:v>
                </c:pt>
                <c:pt idx="13">
                  <c:v>25105.413</c:v>
                </c:pt>
                <c:pt idx="14">
                  <c:v>26513.062</c:v>
                </c:pt>
                <c:pt idx="15">
                  <c:v>27999.95</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6151.808</c:v>
                </c:pt>
                <c:pt idx="1">
                  <c:v>6454.848</c:v>
                </c:pt>
                <c:pt idx="2">
                  <c:v>6772.242</c:v>
                </c:pt>
                <c:pt idx="3">
                  <c:v>7104.63</c:v>
                </c:pt>
                <c:pt idx="4">
                  <c:v>7452.69</c:v>
                </c:pt>
                <c:pt idx="5">
                  <c:v>7817.126</c:v>
                </c:pt>
                <c:pt idx="6">
                  <c:v>8198.736</c:v>
                </c:pt>
                <c:pt idx="7">
                  <c:v>8598.232</c:v>
                </c:pt>
                <c:pt idx="8">
                  <c:v>9016.413</c:v>
                </c:pt>
                <c:pt idx="9">
                  <c:v>9454.104</c:v>
                </c:pt>
                <c:pt idx="10">
                  <c:v>9912.171</c:v>
                </c:pt>
                <c:pt idx="11">
                  <c:v>10391.515</c:v>
                </c:pt>
                <c:pt idx="12">
                  <c:v>10893.073</c:v>
                </c:pt>
                <c:pt idx="13">
                  <c:v>11417.822</c:v>
                </c:pt>
                <c:pt idx="14">
                  <c:v>11966.778</c:v>
                </c:pt>
                <c:pt idx="15">
                  <c:v>12540.998</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5414.014</c:v>
                </c:pt>
                <c:pt idx="1">
                  <c:v>5734.171</c:v>
                </c:pt>
                <c:pt idx="2">
                  <c:v>6073.281</c:v>
                </c:pt>
                <c:pt idx="3">
                  <c:v>6432.459</c:v>
                </c:pt>
                <c:pt idx="4">
                  <c:v>6812.886</c:v>
                </c:pt>
                <c:pt idx="5">
                  <c:v>7215.809</c:v>
                </c:pt>
                <c:pt idx="6">
                  <c:v>7642.043</c:v>
                </c:pt>
                <c:pt idx="7">
                  <c:v>8093.431</c:v>
                </c:pt>
                <c:pt idx="8">
                  <c:v>8571.444</c:v>
                </c:pt>
                <c:pt idx="9">
                  <c:v>9077.634</c:v>
                </c:pt>
                <c:pt idx="10">
                  <c:v>9613.653</c:v>
                </c:pt>
                <c:pt idx="11">
                  <c:v>10181.241</c:v>
                </c:pt>
                <c:pt idx="12">
                  <c:v>10782.237</c:v>
                </c:pt>
                <c:pt idx="13">
                  <c:v>11418.585</c:v>
                </c:pt>
                <c:pt idx="14">
                  <c:v>12092.347</c:v>
                </c:pt>
                <c:pt idx="15">
                  <c:v>12805.699</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3688.117</c:v>
                </c:pt>
                <c:pt idx="1">
                  <c:v>3889.819</c:v>
                </c:pt>
                <c:pt idx="2">
                  <c:v>4102.334</c:v>
                </c:pt>
                <c:pt idx="3">
                  <c:v>4326.225</c:v>
                </c:pt>
                <c:pt idx="4">
                  <c:v>4562.085</c:v>
                </c:pt>
                <c:pt idx="5">
                  <c:v>4810.539</c:v>
                </c:pt>
                <c:pt idx="6">
                  <c:v>5072.079</c:v>
                </c:pt>
                <c:pt idx="7">
                  <c:v>5347.54</c:v>
                </c:pt>
                <c:pt idx="8">
                  <c:v>5637.642</c:v>
                </c:pt>
                <c:pt idx="9">
                  <c:v>5943.144</c:v>
                </c:pt>
                <c:pt idx="10">
                  <c:v>6264.841</c:v>
                </c:pt>
                <c:pt idx="11">
                  <c:v>6603.564</c:v>
                </c:pt>
                <c:pt idx="12">
                  <c:v>6960.194</c:v>
                </c:pt>
                <c:pt idx="13">
                  <c:v>7335.646</c:v>
                </c:pt>
                <c:pt idx="14">
                  <c:v>7730.891</c:v>
                </c:pt>
                <c:pt idx="15">
                  <c:v>8146.936</c:v>
                </c:pt>
              </c:numCache>
            </c:numRef>
          </c:val>
        </c:ser>
        <c:ser>
          <c:idx val="5"/>
          <c:order val="5"/>
          <c:tx>
            <c:strRef>
              <c:strCache>
                <c:ptCount val="1"/>
                <c:pt idx="0">
                  <c:v>Middle East and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3205.736</c:v>
                </c:pt>
                <c:pt idx="1">
                  <c:v>3363.954</c:v>
                </c:pt>
                <c:pt idx="2">
                  <c:v>3529.861</c:v>
                </c:pt>
                <c:pt idx="3">
                  <c:v>3703.826</c:v>
                </c:pt>
                <c:pt idx="4">
                  <c:v>3886.23</c:v>
                </c:pt>
                <c:pt idx="5">
                  <c:v>4077.481</c:v>
                </c:pt>
                <c:pt idx="6">
                  <c:v>4278.028</c:v>
                </c:pt>
                <c:pt idx="7">
                  <c:v>4488.286</c:v>
                </c:pt>
                <c:pt idx="8">
                  <c:v>4708.723</c:v>
                </c:pt>
                <c:pt idx="9">
                  <c:v>4939.827</c:v>
                </c:pt>
                <c:pt idx="10">
                  <c:v>5182.103</c:v>
                </c:pt>
                <c:pt idx="11">
                  <c:v>5436.082</c:v>
                </c:pt>
                <c:pt idx="12">
                  <c:v>5702.326</c:v>
                </c:pt>
                <c:pt idx="13">
                  <c:v>5981.416</c:v>
                </c:pt>
                <c:pt idx="14">
                  <c:v>6273.967</c:v>
                </c:pt>
                <c:pt idx="15">
                  <c:v>6580.614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Cut Flowers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20.33095999856548</c:v>
                </c:pt>
                <c:pt idx="1">
                  <c:v>19.628495915519654</c:v>
                </c:pt>
                <c:pt idx="2">
                  <c:v>21.3441625618631</c:v>
                </c:pt>
                <c:pt idx="3">
                  <c:v>22.327137315971584</c:v>
                </c:pt>
                <c:pt idx="4">
                  <c:v>20.57922960576715</c:v>
                </c:pt>
                <c:pt idx="5">
                  <c:v>23.337817228684294</c:v>
                </c:pt>
              </c:numCache>
            </c:numRef>
          </c:val>
        </c:ser>
        <c:ser>
          <c:idx val="1"/>
          <c:order val="1"/>
          <c:tx>
            <c:strRef>
              <c:strCache>
                <c:ptCount val="1"/>
                <c:pt idx="0">
                  <c:v>Potted Flowering Plants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13.690348651356846</c:v>
                </c:pt>
                <c:pt idx="1">
                  <c:v>12.256718353992225</c:v>
                </c:pt>
                <c:pt idx="2">
                  <c:v>11.73799724710904</c:v>
                </c:pt>
                <c:pt idx="3">
                  <c:v>12.511694988301691</c:v>
                </c:pt>
                <c:pt idx="4">
                  <c:v>12.376872101557321</c:v>
                </c:pt>
                <c:pt idx="5">
                  <c:v>14.156850159100905</c:v>
                </c:pt>
              </c:numCache>
            </c:numRef>
          </c:val>
        </c:ser>
        <c:ser>
          <c:idx val="2"/>
          <c:order val="2"/>
          <c:tx>
            <c:strRef>
              <c:strCache>
                <c:ptCount val="1"/>
                <c:pt idx="0">
                  <c:v>Potted Foliage Plants</c:v>
                </c:pt>
              </c:strCache>
            </c:strRef>
          </c:tx>
          <c:spPr>
            <a:solidFill>
              <a:srgbClr val="008189"/>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8.345148340261257</c:v>
                </c:pt>
                <c:pt idx="1">
                  <c:v>9.038232287574127</c:v>
                </c:pt>
                <c:pt idx="2">
                  <c:v>7.661631075931916</c:v>
                </c:pt>
                <c:pt idx="3">
                  <c:v>8.391873024658786</c:v>
                </c:pt>
                <c:pt idx="4">
                  <c:v>9.02433397202495</c:v>
                </c:pt>
                <c:pt idx="5">
                  <c:v>8.563724265014905</c:v>
                </c:pt>
              </c:numCache>
            </c:numRef>
          </c:val>
        </c:ser>
        <c:ser>
          <c:idx val="3"/>
          <c:order val="3"/>
          <c:tx>
            <c:strRef>
              <c:strCache>
                <c:ptCount val="1"/>
                <c:pt idx="0">
                  <c:v>Bedding &amp; Garden Flowering Plants</c:v>
                </c:pt>
              </c:strCache>
            </c:strRef>
          </c:tx>
          <c:spPr>
            <a:solidFill>
              <a:srgbClr val="40315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15.780138449086966</c:v>
                </c:pt>
                <c:pt idx="1">
                  <c:v>13.451277879192864</c:v>
                </c:pt>
                <c:pt idx="2">
                  <c:v>14.264845588843885</c:v>
                </c:pt>
                <c:pt idx="3">
                  <c:v>17.034033050441057</c:v>
                </c:pt>
                <c:pt idx="4">
                  <c:v>15.63659220820037</c:v>
                </c:pt>
                <c:pt idx="5">
                  <c:v>13.55852542116468</c:v>
                </c:pt>
              </c:numCache>
            </c:numRef>
          </c:val>
        </c:ser>
        <c:ser>
          <c:idx val="4"/>
          <c:order val="4"/>
          <c:tx>
            <c:strRef>
              <c:strCache>
                <c:ptCount val="1"/>
                <c:pt idx="0">
                  <c:v>Cut Foliage &amp; Greens</c:v>
                </c:pt>
              </c:strCache>
            </c:strRef>
          </c:tx>
          <c:spPr>
            <a:solidFill>
              <a:srgbClr val="A35313"/>
            </a:solidFill>
            <a:ln>
              <a:noFill/>
            </a:ln>
          </c:spPr>
          <c:dLbls>
            <c:dLbl>
              <c:idx val="0"/>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21.10341071517034</c:v>
                </c:pt>
                <c:pt idx="1">
                  <c:v>22.103622760753247</c:v>
                </c:pt>
                <c:pt idx="2">
                  <c:v>24.289390684856183</c:v>
                </c:pt>
                <c:pt idx="3">
                  <c:v>19.585537657881854</c:v>
                </c:pt>
                <c:pt idx="4">
                  <c:v>21.638635068991192</c:v>
                </c:pt>
                <c:pt idx="5">
                  <c:v>18.178057004979756</c:v>
                </c:pt>
              </c:numCache>
            </c:numRef>
          </c:val>
        </c:ser>
        <c:ser>
          <c:idx val="5"/>
          <c:order val="5"/>
          <c:tx>
            <c:strRef>
              <c:strCache>
                <c:ptCount val="1"/>
                <c:pt idx="0">
                  <c:v>Young Plants &amp; Propagation Material</c:v>
                </c:pt>
              </c:strCache>
            </c:strRef>
          </c:tx>
          <c:spPr>
            <a:solidFill>
              <a:srgbClr val="808080"/>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9.027288335100645</c:v>
                </c:pt>
                <c:pt idx="1">
                  <c:v>9.428145747063683</c:v>
                </c:pt>
                <c:pt idx="2">
                  <c:v>9.76765166536188</c:v>
                </c:pt>
                <c:pt idx="3">
                  <c:v>9.235052299761223</c:v>
                </c:pt>
                <c:pt idx="4">
                  <c:v>9.307170191375342</c:v>
                </c:pt>
                <c:pt idx="5">
                  <c:v>10.137730335721676</c:v>
                </c:pt>
              </c:numCache>
            </c:numRef>
          </c:val>
        </c:ser>
        <c:ser>
          <c:idx val="6"/>
          <c:order val="6"/>
          <c:tx>
            <c:strRef>
              <c:strCache>
                <c:ptCount val="1"/>
                <c:pt idx="0">
                  <c:v>Flower Bulbs, Corms, Rhizomes &amp; Tubers</c:v>
                </c:pt>
              </c:strCache>
            </c:strRef>
          </c:tx>
          <c:spPr>
            <a:solidFill>
              <a:srgbClr val="0E72A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11.722705510458445</c:v>
                </c:pt>
                <c:pt idx="1">
                  <c:v>14.093507055904208</c:v>
                </c:pt>
                <c:pt idx="2">
                  <c:v>10.934321176033997</c:v>
                </c:pt>
                <c:pt idx="3">
                  <c:v>10.914671662983801</c:v>
                </c:pt>
                <c:pt idx="4">
                  <c:v>11.437166852083662</c:v>
                </c:pt>
                <c:pt idx="5">
                  <c:v>12.067295585333783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Cut Flowers</c:v>
                </c:pt>
              </c:strCache>
            </c:strRef>
          </c:tx>
          <c:spPr>
            <a:solidFill>
              <a:srgbClr val="3D85C6"/>
            </a:solidFill>
          </c:spPr>
          <c:invertIfNegative val="0"/>
          <c:xVal>
            <c:numRef>
              <c:numCache>
                <c:formatCode>General</c:formatCode>
                <c:ptCount val="1"/>
                <c:pt idx="0">
                  <c:v>137.2110931609443</c:v>
                </c:pt>
              </c:numCache>
            </c:numRef>
          </c:xVal>
          <c:yVal>
            <c:numRef>
              <c:numCache>
                <c:formatCode>General</c:formatCode>
                <c:ptCount val="1"/>
                <c:pt idx="0">
                  <c:v>127.12366757078892</c:v>
                </c:pt>
              </c:numCache>
            </c:numRef>
          </c:yVal>
          <c:bubbleSize>
            <c:numRef>
              <c:numCache>
                <c:formatCode>General</c:formatCode>
                <c:ptCount val="1"/>
                <c:pt idx="0">
                  <c:v>21156.989</c:v>
                </c:pt>
              </c:numCache>
            </c:numRef>
          </c:bubbleSize>
          <c:bubble3D val="0"/>
        </c:ser>
        <c:ser>
          <c:idx val="1"/>
          <c:order val="1"/>
          <c:tx>
            <c:strRef>
              <c:strCache>
                <c:ptCount val="1"/>
                <c:pt idx="0">
                  <c:v>Potted Flowering Plants</c:v>
                </c:pt>
              </c:strCache>
            </c:strRef>
          </c:tx>
          <c:spPr>
            <a:solidFill>
              <a:srgbClr val="9E7E0A"/>
            </a:solidFill>
          </c:spPr>
          <c:invertIfNegative val="0"/>
          <c:xVal>
            <c:numRef>
              <c:numCache>
                <c:formatCode>General</c:formatCode>
                <c:ptCount val="1"/>
                <c:pt idx="0">
                  <c:v>92.89852846968284</c:v>
                </c:pt>
              </c:numCache>
            </c:numRef>
          </c:xVal>
          <c:yVal>
            <c:numRef>
              <c:numCache>
                <c:formatCode>General</c:formatCode>
                <c:ptCount val="1"/>
                <c:pt idx="0">
                  <c:v>93.63680978789367</c:v>
                </c:pt>
              </c:numCache>
            </c:numRef>
          </c:yVal>
          <c:bubbleSize>
            <c:numRef>
              <c:numCache>
                <c:formatCode>General</c:formatCode>
                <c:ptCount val="1"/>
                <c:pt idx="0">
                  <c:v>12638.094</c:v>
                </c:pt>
              </c:numCache>
            </c:numRef>
          </c:bubbleSize>
          <c:bubble3D val="0"/>
        </c:ser>
        <c:ser>
          <c:idx val="2"/>
          <c:order val="2"/>
          <c:tx>
            <c:strRef>
              <c:strCache>
                <c:ptCount val="1"/>
                <c:pt idx="0">
                  <c:v>Potted Foliage Plants</c:v>
                </c:pt>
              </c:strCache>
            </c:strRef>
          </c:tx>
          <c:spPr>
            <a:solidFill>
              <a:srgbClr val="008189"/>
            </a:solidFill>
          </c:spPr>
          <c:invertIfNegative val="0"/>
          <c:xVal>
            <c:numRef>
              <c:numCache>
                <c:formatCode>General</c:formatCode>
                <c:ptCount val="1"/>
                <c:pt idx="0">
                  <c:v>81.17366173931765</c:v>
                </c:pt>
              </c:numCache>
            </c:numRef>
          </c:xVal>
          <c:yVal>
            <c:numRef>
              <c:numCache>
                <c:formatCode>General</c:formatCode>
                <c:ptCount val="1"/>
                <c:pt idx="0">
                  <c:v>65.73686219122874</c:v>
                </c:pt>
              </c:numCache>
            </c:numRef>
          </c:yVal>
          <c:bubbleSize>
            <c:numRef>
              <c:numCache>
                <c:formatCode>General</c:formatCode>
                <c:ptCount val="1"/>
                <c:pt idx="0">
                  <c:v>8387.749</c:v>
                </c:pt>
              </c:numCache>
            </c:numRef>
          </c:bubbleSize>
          <c:bubble3D val="0"/>
        </c:ser>
        <c:ser>
          <c:idx val="3"/>
          <c:order val="3"/>
          <c:tx>
            <c:strRef>
              <c:strCache>
                <c:ptCount val="1"/>
                <c:pt idx="0">
                  <c:v>Bedding &amp; Garden Flowering Plants</c:v>
                </c:pt>
              </c:strCache>
            </c:strRef>
          </c:tx>
          <c:spPr>
            <a:solidFill>
              <a:srgbClr val="40315E"/>
            </a:solidFill>
          </c:spPr>
          <c:invertIfNegative val="0"/>
          <c:xVal>
            <c:numRef>
              <c:numCache>
                <c:formatCode>General</c:formatCode>
                <c:ptCount val="1"/>
                <c:pt idx="0">
                  <c:v>52.43578486454108</c:v>
                </c:pt>
              </c:numCache>
            </c:numRef>
          </c:xVal>
          <c:yVal>
            <c:numRef>
              <c:numCache>
                <c:formatCode>General</c:formatCode>
                <c:ptCount val="1"/>
                <c:pt idx="0">
                  <c:v>130.63058602101952</c:v>
                </c:pt>
              </c:numCache>
            </c:numRef>
          </c:yVal>
          <c:bubbleSize>
            <c:numRef>
              <c:numCache>
                <c:formatCode>General</c:formatCode>
                <c:ptCount val="1"/>
                <c:pt idx="0">
                  <c:v>14504.204</c:v>
                </c:pt>
              </c:numCache>
            </c:numRef>
          </c:bubbleSize>
          <c:bubble3D val="0"/>
        </c:ser>
        <c:ser>
          <c:idx val="4"/>
          <c:order val="4"/>
          <c:tx>
            <c:strRef>
              <c:strCache>
                <c:ptCount val="1"/>
                <c:pt idx="0">
                  <c:v>Cut Foliage &amp; Greens</c:v>
                </c:pt>
              </c:strCache>
            </c:strRef>
          </c:tx>
          <c:spPr>
            <a:solidFill>
              <a:srgbClr val="A35313"/>
            </a:solidFill>
          </c:spPr>
          <c:invertIfNegative val="0"/>
          <c:xVal>
            <c:numRef>
              <c:numCache>
                <c:formatCode>General</c:formatCode>
                <c:ptCount val="1"/>
                <c:pt idx="0">
                  <c:v>114.3664049296078</c:v>
                </c:pt>
              </c:numCache>
            </c:numRef>
          </c:xVal>
          <c:yVal>
            <c:numRef>
              <c:numCache>
                <c:formatCode>General</c:formatCode>
                <c:ptCount val="1"/>
                <c:pt idx="0">
                  <c:v>135.10365617012187</c:v>
                </c:pt>
              </c:numCache>
            </c:numRef>
          </c:yVal>
          <c:bubbleSize>
            <c:numRef>
              <c:numCache>
                <c:formatCode>General</c:formatCode>
                <c:ptCount val="1"/>
                <c:pt idx="0">
                  <c:v>20194.023</c:v>
                </c:pt>
              </c:numCache>
            </c:numRef>
          </c:bubbleSize>
          <c:bubble3D val="0"/>
        </c:ser>
        <c:ser>
          <c:idx val="5"/>
          <c:order val="5"/>
          <c:tx>
            <c:strRef>
              <c:strCache>
                <c:ptCount val="1"/>
                <c:pt idx="0">
                  <c:v>Young Plants &amp; Propagation Material</c:v>
                </c:pt>
              </c:strCache>
            </c:strRef>
          </c:tx>
          <c:spPr>
            <a:solidFill>
              <a:srgbClr val="808080"/>
            </a:solidFill>
          </c:spPr>
          <c:invertIfNegative val="0"/>
          <c:xVal>
            <c:numRef>
              <c:numCache>
                <c:formatCode>General</c:formatCode>
                <c:ptCount val="1"/>
                <c:pt idx="0">
                  <c:v>66.33193866099023</c:v>
                </c:pt>
              </c:numCache>
            </c:numRef>
          </c:xVal>
          <c:yVal>
            <c:numRef>
              <c:numCache>
                <c:formatCode>General</c:formatCode>
                <c:ptCount val="1"/>
                <c:pt idx="0">
                  <c:v>78.98886596629553</c:v>
                </c:pt>
              </c:numCache>
            </c:numRef>
          </c:yVal>
          <c:bubbleSize>
            <c:numRef>
              <c:numCache>
                <c:formatCode>General</c:formatCode>
                <c:ptCount val="1"/>
                <c:pt idx="0">
                  <c:v>9382.531</c:v>
                </c:pt>
              </c:numCache>
            </c:numRef>
          </c:bubbleSize>
          <c:bubble3D val="0"/>
        </c:ser>
        <c:ser>
          <c:idx val="6"/>
          <c:order val="6"/>
          <c:tx>
            <c:strRef>
              <c:strCache>
                <c:ptCount val="1"/>
                <c:pt idx="0">
                  <c:v>Flower Bulbs, Corms, Rhizomes &amp; Tubers</c:v>
                </c:pt>
              </c:strCache>
            </c:strRef>
          </c:tx>
          <c:spPr>
            <a:solidFill>
              <a:srgbClr val="0E72AE"/>
            </a:solidFill>
          </c:spPr>
          <c:invertIfNegative val="0"/>
          <c:xVal>
            <c:numRef>
              <c:numCache>
                <c:formatCode>General</c:formatCode>
                <c:ptCount val="1"/>
                <c:pt idx="0">
                  <c:v>137.64413730512754</c:v>
                </c:pt>
              </c:numCache>
            </c:numRef>
          </c:xVal>
          <c:yVal>
            <c:numRef>
              <c:numCache>
                <c:formatCode>General</c:formatCode>
                <c:ptCount val="1"/>
                <c:pt idx="0">
                  <c:v>68.77955229265176</c:v>
                </c:pt>
              </c:numCache>
            </c:numRef>
          </c:yVal>
          <c:bubbleSize>
            <c:numRef>
              <c:numCache>
                <c:formatCode>General</c:formatCode>
                <c:ptCount val="1"/>
                <c:pt idx="0">
                  <c:v>11470.086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10896.314</c:v>
                </c:pt>
                <c:pt idx="2">
                  <c:v>12500.033</c:v>
                </c:pt>
                <c:pt idx="3">
                  <c:v>14303.348</c:v>
                </c:pt>
                <c:pt idx="4">
                  <c:v>16329.524</c:v>
                </c:pt>
                <c:pt idx="5">
                  <c:v>18604.461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10896.314</c:v>
                </c:pt>
                <c:pt idx="1">
                  <c:v>1603.7189999999991</c:v>
                </c:pt>
                <c:pt idx="2">
                  <c:v>1803.3150000000005</c:v>
                </c:pt>
                <c:pt idx="3">
                  <c:v>2026.1759999999995</c:v>
                </c:pt>
                <c:pt idx="4">
                  <c:v>2274.937</c:v>
                </c:pt>
                <c:pt idx="5">
                  <c:v>2552.528000000002</c:v>
                </c:pt>
                <c:pt idx="6">
                  <c:v>21156.989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8026.012</c:v>
                </c:pt>
                <c:pt idx="2">
                  <c:v>8785.997</c:v>
                </c:pt>
                <c:pt idx="3">
                  <c:v>9619.596</c:v>
                </c:pt>
                <c:pt idx="4">
                  <c:v>10534.044</c:v>
                </c:pt>
                <c:pt idx="5">
                  <c:v>11537.3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8026.012</c:v>
                </c:pt>
                <c:pt idx="1">
                  <c:v>759.9849999999997</c:v>
                </c:pt>
                <c:pt idx="2">
                  <c:v>833.5990000000002</c:v>
                </c:pt>
                <c:pt idx="3">
                  <c:v>914.4480000000003</c:v>
                </c:pt>
                <c:pt idx="4">
                  <c:v>1003.2559999999994</c:v>
                </c:pt>
                <c:pt idx="5">
                  <c:v>1100.7939999999999</c:v>
                </c:pt>
                <c:pt idx="6">
                  <c:v>12638.094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5634.588</c:v>
                </c:pt>
                <c:pt idx="2">
                  <c:v>6098.704</c:v>
                </c:pt>
                <c:pt idx="3">
                  <c:v>6602.47</c:v>
                </c:pt>
                <c:pt idx="4">
                  <c:v>7149.341</c:v>
                </c:pt>
                <c:pt idx="5">
                  <c:v>7743.069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5634.588</c:v>
                </c:pt>
                <c:pt idx="1">
                  <c:v>464.116</c:v>
                </c:pt>
                <c:pt idx="2">
                  <c:v>503.76600000000053</c:v>
                </c:pt>
                <c:pt idx="3">
                  <c:v>546.8710000000001</c:v>
                </c:pt>
                <c:pt idx="4">
                  <c:v>593.7280000000001</c:v>
                </c:pt>
                <c:pt idx="5">
                  <c:v>644.6799999999994</c:v>
                </c:pt>
                <c:pt idx="6">
                  <c:v>8387.749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11196.907</c:v>
                </c:pt>
                <c:pt idx="2">
                  <c:v>11812.608</c:v>
                </c:pt>
                <c:pt idx="3">
                  <c:v>12452.142</c:v>
                </c:pt>
                <c:pt idx="4">
                  <c:v>13114.745</c:v>
                </c:pt>
                <c:pt idx="5">
                  <c:v>13799.274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11196.907</c:v>
                </c:pt>
                <c:pt idx="1">
                  <c:v>615.7010000000009</c:v>
                </c:pt>
                <c:pt idx="2">
                  <c:v>639.5339999999997</c:v>
                </c:pt>
                <c:pt idx="3">
                  <c:v>662.603000000001</c:v>
                </c:pt>
                <c:pt idx="4">
                  <c:v>684.5289999999986</c:v>
                </c:pt>
                <c:pt idx="5">
                  <c:v>704.9300000000003</c:v>
                </c:pt>
                <c:pt idx="6">
                  <c:v>14504.204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11580.313</c:v>
                </c:pt>
                <c:pt idx="2">
                  <c:v>12956.992</c:v>
                </c:pt>
                <c:pt idx="3">
                  <c:v>14488.75</c:v>
                </c:pt>
                <c:pt idx="4">
                  <c:v>16192.596</c:v>
                </c:pt>
                <c:pt idx="5">
                  <c:v>18087.398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11580.313</c:v>
                </c:pt>
                <c:pt idx="1">
                  <c:v>1376.679</c:v>
                </c:pt>
                <c:pt idx="2">
                  <c:v>1531.7579999999998</c:v>
                </c:pt>
                <c:pt idx="3">
                  <c:v>1703.8459999999995</c:v>
                </c:pt>
                <c:pt idx="4">
                  <c:v>1894.8020000000015</c:v>
                </c:pt>
                <c:pt idx="5">
                  <c:v>2106.625</c:v>
                </c:pt>
                <c:pt idx="6">
                  <c:v>20194.023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6770.474</c:v>
                </c:pt>
                <c:pt idx="2">
                  <c:v>7228.246</c:v>
                </c:pt>
                <c:pt idx="3">
                  <c:v>7716.438</c:v>
                </c:pt>
                <c:pt idx="4">
                  <c:v>8236.908</c:v>
                </c:pt>
                <c:pt idx="5">
                  <c:v>8791.596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6770.474</c:v>
                </c:pt>
                <c:pt idx="1">
                  <c:v>457.77199999999993</c:v>
                </c:pt>
                <c:pt idx="2">
                  <c:v>488.192</c:v>
                </c:pt>
                <c:pt idx="3">
                  <c:v>520.4699999999993</c:v>
                </c:pt>
                <c:pt idx="4">
                  <c:v>554.6880000000001</c:v>
                </c:pt>
                <c:pt idx="5">
                  <c:v>590.9350000000013</c:v>
                </c:pt>
                <c:pt idx="6">
                  <c:v>9382.531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5895.39</c:v>
                </c:pt>
                <c:pt idx="2">
                  <c:v>6767.418</c:v>
                </c:pt>
                <c:pt idx="3">
                  <c:v>7747.628</c:v>
                </c:pt>
                <c:pt idx="4">
                  <c:v>8848.58</c:v>
                </c:pt>
                <c:pt idx="5">
                  <c:v>10084.226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5895.39</c:v>
                </c:pt>
                <c:pt idx="1">
                  <c:v>872.0279999999993</c:v>
                </c:pt>
                <c:pt idx="2">
                  <c:v>980.21</c:v>
                </c:pt>
                <c:pt idx="3">
                  <c:v>1100.9520000000002</c:v>
                </c:pt>
                <c:pt idx="4">
                  <c:v>1235.6460000000006</c:v>
                </c:pt>
                <c:pt idx="5">
                  <c:v>1385.8599999999988</c:v>
                </c:pt>
                <c:pt idx="6">
                  <c:v>11470.086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Flowers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16.226067672831764</c:v>
                </c:pt>
                <c:pt idx="1">
                  <c:v>18.160523938684133</c:v>
                </c:pt>
                <c:pt idx="2">
                  <c:v>21.64759360939212</c:v>
                </c:pt>
              </c:numCache>
            </c:numRef>
          </c:val>
        </c:ser>
        <c:ser>
          <c:idx val="1"/>
          <c:order val="1"/>
          <c:tx>
            <c:strRef>
              <c:strCache>
                <c:ptCount val="1"/>
                <c:pt idx="0">
                  <c:v>Foliage &amp; Greens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18.54841517840002</c:v>
                </c:pt>
                <c:pt idx="1">
                  <c:v>19.30052231001741</c:v>
                </c:pt>
                <c:pt idx="2">
                  <c:v>20.662297609679595</c:v>
                </c:pt>
              </c:numCache>
            </c:numRef>
          </c:val>
        </c:ser>
        <c:ser>
          <c:idx val="2"/>
          <c:order val="2"/>
          <c:tx>
            <c:strRef>
              <c:strCache>
                <c:ptCount val="1"/>
                <c:pt idx="0">
                  <c:v>Bedding &amp; Garden Flowering Plants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20.76971308913344</c:v>
                </c:pt>
                <c:pt idx="1">
                  <c:v>18.661512288717073</c:v>
                </c:pt>
                <c:pt idx="2">
                  <c:v>14.840538690062163</c:v>
                </c:pt>
              </c:numCache>
            </c:numRef>
          </c:val>
        </c:ser>
        <c:ser>
          <c:idx val="3"/>
          <c:order val="3"/>
          <c:tx>
            <c:strRef>
              <c:strCache>
                <c:ptCount val="1"/>
                <c:pt idx="0">
                  <c:v>Potted Flowering Plants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13.627541339877421</c:v>
                </c:pt>
                <c:pt idx="1">
                  <c:v>13.376687112556237</c:v>
                </c:pt>
                <c:pt idx="2">
                  <c:v>12.931155889398857</c:v>
                </c:pt>
              </c:numCache>
            </c:numRef>
          </c:val>
        </c:ser>
        <c:ser>
          <c:idx val="4"/>
          <c:order val="4"/>
          <c:tx>
            <c:strRef>
              <c:strCache>
                <c:ptCount val="1"/>
                <c:pt idx="0">
                  <c:v>Flower Bulbs, Corms, Rhizomes &amp; Tubers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8.758284583099108</c:v>
                </c:pt>
                <c:pt idx="1">
                  <c:v>9.825650327521679</c:v>
                </c:pt>
                <c:pt idx="2">
                  <c:v>11.736063217349974</c:v>
                </c:pt>
              </c:numCache>
            </c:numRef>
          </c:val>
        </c:ser>
        <c:ser>
          <c:idx val="5"/>
          <c:order val="5"/>
          <c:tx>
            <c:strRef>
              <c:strCache>
                <c:ptCount val="1"/>
                <c:pt idx="0">
                  <c:v>Young Plants &amp; Propagation Material</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12.226541513643161</c:v>
                </c:pt>
                <c:pt idx="1">
                  <c:v>11.28412370947079</c:v>
                </c:pt>
                <c:pt idx="2">
                  <c:v>9.60010037891136</c:v>
                </c:pt>
              </c:numCache>
            </c:numRef>
          </c:val>
        </c:ser>
        <c:ser>
          <c:idx val="6"/>
          <c:order val="6"/>
          <c:tx>
            <c:strRef>
              <c:strCache>
                <c:ptCount val="1"/>
                <c:pt idx="0">
                  <c:v>Potted Foliage Plants</c:v>
                </c:pt>
              </c:strCache>
            </c:strRef>
          </c:tx>
          <c:spPr>
            <a:solidFill>
              <a:srgbClr val="0E72AE"/>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9.84343662301507</c:v>
                </c:pt>
                <c:pt idx="1">
                  <c:v>9.390980313032676</c:v>
                </c:pt>
                <c:pt idx="2">
                  <c:v>8.582250605205926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Roses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6.723232816876967</c:v>
                </c:pt>
                <c:pt idx="1">
                  <c:v>7.460522581741159</c:v>
                </c:pt>
                <c:pt idx="2">
                  <c:v>6.820661322169095</c:v>
                </c:pt>
                <c:pt idx="3">
                  <c:v>7.063113071765937</c:v>
                </c:pt>
                <c:pt idx="4">
                  <c:v>6.8432907915907</c:v>
                </c:pt>
                <c:pt idx="5">
                  <c:v>7.771178313685147</c:v>
                </c:pt>
              </c:numCache>
            </c:numRef>
          </c:val>
        </c:ser>
        <c:ser>
          <c:idx val="1"/>
          <c:order val="1"/>
          <c:tx>
            <c:strRef>
              <c:strCache>
                <c:ptCount val="1"/>
                <c:pt idx="0">
                  <c:v>Carnations</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14.673402816211375</c:v>
                </c:pt>
                <c:pt idx="1">
                  <c:v>17.605919575162982</c:v>
                </c:pt>
                <c:pt idx="2">
                  <c:v>16.04236760104738</c:v>
                </c:pt>
                <c:pt idx="3">
                  <c:v>14.921348690141784</c:v>
                </c:pt>
                <c:pt idx="4">
                  <c:v>17.08030192911059</c:v>
                </c:pt>
                <c:pt idx="5">
                  <c:v>19.24054026707617</c:v>
                </c:pt>
              </c:numCache>
            </c:numRef>
          </c:val>
        </c:ser>
        <c:ser>
          <c:idx val="2"/>
          <c:order val="2"/>
          <c:tx>
            <c:strRef>
              <c:strCache>
                <c:ptCount val="1"/>
                <c:pt idx="0">
                  <c:v>Chrysanthemums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1.8556171202261675</c:v>
                </c:pt>
                <c:pt idx="1">
                  <c:v>1.7587593667116077</c:v>
                </c:pt>
                <c:pt idx="2">
                  <c:v>1.6671639689281506</c:v>
                </c:pt>
                <c:pt idx="3">
                  <c:v>1.8727365058322856</c:v>
                </c:pt>
                <c:pt idx="4">
                  <c:v>2.041650074375133</c:v>
                </c:pt>
                <c:pt idx="5">
                  <c:v>1.9406072507207561</c:v>
                </c:pt>
              </c:numCache>
            </c:numRef>
          </c:val>
        </c:ser>
        <c:ser>
          <c:idx val="3"/>
          <c:order val="3"/>
          <c:tx>
            <c:strRef>
              <c:strCache>
                <c:ptCount val="1"/>
                <c:pt idx="0">
                  <c:v>Lilies</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11.473412663316827</c:v>
                </c:pt>
                <c:pt idx="1">
                  <c:v>11.770952907939867</c:v>
                </c:pt>
                <c:pt idx="2">
                  <c:v>13.615144504448528</c:v>
                </c:pt>
                <c:pt idx="3">
                  <c:v>11.793827107758815</c:v>
                </c:pt>
                <c:pt idx="4">
                  <c:v>11.27135941314181</c:v>
                </c:pt>
                <c:pt idx="5">
                  <c:v>9.665827238570172</c:v>
                </c:pt>
              </c:numCache>
            </c:numRef>
          </c:val>
        </c:ser>
        <c:ser>
          <c:idx val="4"/>
          <c:order val="4"/>
          <c:tx>
            <c:strRef>
              <c:strCache>
                <c:ptCount val="1"/>
                <c:pt idx="0">
                  <c:v>Alstroemeria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3.505311206522674</c:v>
                </c:pt>
                <c:pt idx="1">
                  <c:v>2.772048289074567</c:v>
                </c:pt>
                <c:pt idx="2">
                  <c:v>3.153010629616558</c:v>
                </c:pt>
                <c:pt idx="3">
                  <c:v>3.412839861377344</c:v>
                </c:pt>
                <c:pt idx="4">
                  <c:v>2.878405140009179</c:v>
                </c:pt>
                <c:pt idx="5">
                  <c:v>3.952709351367905</c:v>
                </c:pt>
              </c:numCache>
            </c:numRef>
          </c:val>
        </c:ser>
        <c:ser>
          <c:idx val="5"/>
          <c:order val="5"/>
          <c:tx>
            <c:strRef>
              <c:strCache>
                <c:ptCount val="1"/>
                <c:pt idx="0">
                  <c:v>Hydrangeas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2.954146831891371</c:v>
                </c:pt>
                <c:pt idx="1">
                  <c:v>3.080569185765053</c:v>
                </c:pt>
                <c:pt idx="2">
                  <c:v>2.792592742619048</c:v>
                </c:pt>
                <c:pt idx="3">
                  <c:v>2.898397034008061</c:v>
                </c:pt>
                <c:pt idx="4">
                  <c:v>2.915065919760571</c:v>
                </c:pt>
                <c:pt idx="5">
                  <c:v>3.14407410865174</c:v>
                </c:pt>
              </c:numCache>
            </c:numRef>
          </c:val>
        </c:ser>
        <c:ser>
          <c:idx val="6"/>
          <c:order val="6"/>
          <c:tx>
            <c:strRef>
              <c:strCache>
                <c:ptCount val="1"/>
                <c:pt idx="0">
                  <c:v>Gerbera</c:v>
                </c:pt>
              </c:strCache>
            </c:strRef>
          </c:tx>
          <c:spPr>
            <a:solidFill>
              <a:srgbClr val="0E72A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21.794014965776753</c:v>
                </c:pt>
                <c:pt idx="1">
                  <c:v>19.09481061346253</c:v>
                </c:pt>
                <c:pt idx="2">
                  <c:v>19.218845262554062</c:v>
                </c:pt>
                <c:pt idx="3">
                  <c:v>20.899226196086598</c:v>
                </c:pt>
                <c:pt idx="4">
                  <c:v>19.710424482900862</c:v>
                </c:pt>
                <c:pt idx="5">
                  <c:v>17.6053497096156</c:v>
                </c:pt>
              </c:numCache>
            </c:numRef>
          </c:val>
        </c:ser>
        <c:ser>
          <c:idx val="7"/>
          <c:order val="7"/>
          <c:tx>
            <c:strRef>
              <c:strCache>
                <c:ptCount val="1"/>
                <c:pt idx="0">
                  <c:v>Orchids</c:v>
                </c:pt>
              </c:strCache>
            </c:strRef>
          </c:tx>
          <c:spPr>
            <a:solidFill>
              <a:srgbClr val="A86F00"/>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9.201512199317571</c:v>
                </c:pt>
                <c:pt idx="1">
                  <c:v>8.639910759087833</c:v>
                </c:pt>
                <c:pt idx="2">
                  <c:v>9.19981009485848</c:v>
                </c:pt>
                <c:pt idx="3">
                  <c:v>9.310440609294345</c:v>
                </c:pt>
                <c:pt idx="4">
                  <c:v>10.386989976767817</c:v>
                </c:pt>
                <c:pt idx="5">
                  <c:v>9.767676633834329</c:v>
                </c:pt>
              </c:numCache>
            </c:numRef>
          </c:val>
        </c:ser>
        <c:ser>
          <c:idx val="8"/>
          <c:order val="8"/>
          <c:tx>
            <c:strRef>
              <c:strCache>
                <c:ptCount val="1"/>
                <c:pt idx="0">
                  <c:v>Tulips</c:v>
                </c:pt>
              </c:strCache>
            </c:strRef>
          </c:tx>
          <c:spPr>
            <a:solidFill>
              <a:srgbClr val="0B2E4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12.883767380976913</c:v>
                </c:pt>
                <c:pt idx="1">
                  <c:v>12.00636656529522</c:v>
                </c:pt>
                <c:pt idx="2">
                  <c:v>11.741091099767338</c:v>
                </c:pt>
                <c:pt idx="3">
                  <c:v>12.378715133004452</c:v>
                </c:pt>
                <c:pt idx="4">
                  <c:v>11.7371959592785</c:v>
                </c:pt>
                <c:pt idx="5">
                  <c:v>10.915997546686508</c:v>
                </c:pt>
              </c:numCache>
            </c:numRef>
          </c:val>
        </c:ser>
        <c:ser>
          <c:idx val="9"/>
          <c:order val="9"/>
          <c:tx>
            <c:strRef>
              <c:strCache>
                <c:ptCount val="1"/>
                <c:pt idx="0">
                  <c:v>Lisianthus</c:v>
                </c:pt>
              </c:strCache>
            </c:strRef>
          </c:tx>
          <c:spPr>
            <a:solidFill>
              <a:srgbClr val="6C7A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5.184637786078929</c:v>
                </c:pt>
                <c:pt idx="1">
                  <c:v>4.726414936854788</c:v>
                </c:pt>
                <c:pt idx="2">
                  <c:v>4.791955153808333</c:v>
                </c:pt>
                <c:pt idx="3">
                  <c:v>5.254551118216974</c:v>
                </c:pt>
                <c:pt idx="4">
                  <c:v>4.774179953892775</c:v>
                </c:pt>
                <c:pt idx="5">
                  <c:v>4.8806049492642805</c:v>
                </c:pt>
              </c:numCache>
            </c:numRef>
          </c:val>
        </c:ser>
        <c:ser>
          <c:idx val="10"/>
          <c:order val="10"/>
          <c:tx>
            <c:strRef>
              <c:strCache>
                <c:ptCount val="1"/>
                <c:pt idx="0">
                  <c:v>Peonies</c:v>
                </c:pt>
              </c:strCache>
            </c:strRef>
          </c:tx>
          <c:spPr>
            <a:solidFill>
              <a:srgbClr val="B2B2B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6.922028856273899</c:v>
                </c:pt>
                <c:pt idx="1">
                  <c:v>7.9848914978588255</c:v>
                </c:pt>
                <c:pt idx="2">
                  <c:v>8.298071652670703</c:v>
                </c:pt>
                <c:pt idx="3">
                  <c:v>7.705647305937768</c:v>
                </c:pt>
                <c:pt idx="4">
                  <c:v>7.912453415095386</c:v>
                </c:pt>
                <c:pt idx="5">
                  <c:v>8.390953192400987</c:v>
                </c:pt>
              </c:numCache>
            </c:numRef>
          </c:val>
        </c:ser>
        <c:ser>
          <c:idx val="11"/>
          <c:order val="11"/>
          <c:tx>
            <c:strRef>
              <c:strCache>
                <c:ptCount val="1"/>
                <c:pt idx="0">
                  <c:v>Others</c:v>
                </c:pt>
              </c:strCache>
            </c:strRef>
          </c:tx>
          <c:spPr>
            <a:solidFill>
              <a:srgbClr val="5F5F5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2.828915356530561</c:v>
                </c:pt>
                <c:pt idx="1">
                  <c:v>3.098833721045556</c:v>
                </c:pt>
                <c:pt idx="2">
                  <c:v>2.659285967512314</c:v>
                </c:pt>
                <c:pt idx="3">
                  <c:v>2.4891573665756157</c:v>
                </c:pt>
                <c:pt idx="4">
                  <c:v>2.4486829440766864</c:v>
                </c:pt>
                <c:pt idx="5">
                  <c:v>2.724481438126408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Roses</c:v>
                </c:pt>
              </c:strCache>
            </c:strRef>
          </c:tx>
          <c:spPr>
            <a:solidFill>
              <a:srgbClr val="3D85C6"/>
            </a:solidFill>
          </c:spPr>
          <c:invertIfNegative val="0"/>
          <c:xVal>
            <c:numRef>
              <c:numCache>
                <c:formatCode>General</c:formatCode>
                <c:ptCount val="1"/>
                <c:pt idx="0">
                  <c:v>72.92257709698038</c:v>
                </c:pt>
              </c:numCache>
            </c:numRef>
          </c:xVal>
          <c:yVal>
            <c:numRef>
              <c:numCache>
                <c:formatCode>General</c:formatCode>
                <c:ptCount val="1"/>
                <c:pt idx="0">
                  <c:v>98.29300327643344</c:v>
                </c:pt>
              </c:numCache>
            </c:numRef>
          </c:yVal>
          <c:bubbleSize>
            <c:numRef>
              <c:numCache>
                <c:formatCode>General</c:formatCode>
                <c:ptCount val="1"/>
                <c:pt idx="0">
                  <c:v>7031.103</c:v>
                </c:pt>
              </c:numCache>
            </c:numRef>
          </c:bubbleSize>
          <c:bubble3D val="0"/>
        </c:ser>
        <c:ser>
          <c:idx val="1"/>
          <c:order val="1"/>
          <c:tx>
            <c:strRef>
              <c:strCache>
                <c:ptCount val="1"/>
                <c:pt idx="0">
                  <c:v>Carnations</c:v>
                </c:pt>
              </c:strCache>
            </c:strRef>
          </c:tx>
          <c:spPr>
            <a:solidFill>
              <a:srgbClr val="9E7E0A"/>
            </a:solidFill>
          </c:spPr>
          <c:invertIfNegative val="0"/>
          <c:xVal>
            <c:numRef>
              <c:numCache>
                <c:formatCode>General</c:formatCode>
                <c:ptCount val="1"/>
                <c:pt idx="0">
                  <c:v>128.94320314232826</c:v>
                </c:pt>
              </c:numCache>
            </c:numRef>
          </c:xVal>
          <c:yVal>
            <c:numRef>
              <c:numCache>
                <c:formatCode>General</c:formatCode>
                <c:ptCount val="1"/>
                <c:pt idx="0">
                  <c:v>180.01194600039818</c:v>
                </c:pt>
              </c:numCache>
            </c:numRef>
          </c:yVal>
          <c:bubbleSize>
            <c:numRef>
              <c:numCache>
                <c:formatCode>General</c:formatCode>
                <c:ptCount val="1"/>
                <c:pt idx="0">
                  <c:v>16811.719</c:v>
                </c:pt>
              </c:numCache>
            </c:numRef>
          </c:bubbleSize>
          <c:bubble3D val="0"/>
        </c:ser>
        <c:ser>
          <c:idx val="2"/>
          <c:order val="2"/>
          <c:tx>
            <c:strRef>
              <c:strCache>
                <c:ptCount val="1"/>
                <c:pt idx="0">
                  <c:v>Chrysanthemums</c:v>
                </c:pt>
              </c:strCache>
            </c:strRef>
          </c:tx>
          <c:spPr>
            <a:solidFill>
              <a:srgbClr val="008189"/>
            </a:solidFill>
          </c:spPr>
          <c:invertIfNegative val="0"/>
          <c:xVal>
            <c:numRef>
              <c:numCache>
                <c:formatCode>General</c:formatCode>
                <c:ptCount val="1"/>
                <c:pt idx="0">
                  <c:v>103.47858740239437</c:v>
                </c:pt>
              </c:numCache>
            </c:numRef>
          </c:xVal>
          <c:yVal>
            <c:numRef>
              <c:numCache>
                <c:formatCode>General</c:formatCode>
                <c:ptCount val="1"/>
                <c:pt idx="0">
                  <c:v>22.48114074937136</c:v>
                </c:pt>
              </c:numCache>
            </c:numRef>
          </c:yVal>
          <c:bubbleSize>
            <c:numRef>
              <c:numCache>
                <c:formatCode>General</c:formatCode>
                <c:ptCount val="1"/>
                <c:pt idx="0">
                  <c:v>1861.527</c:v>
                </c:pt>
              </c:numCache>
            </c:numRef>
          </c:bubbleSize>
          <c:bubble3D val="0"/>
        </c:ser>
        <c:ser>
          <c:idx val="3"/>
          <c:order val="3"/>
          <c:tx>
            <c:strRef>
              <c:strCache>
                <c:ptCount val="1"/>
                <c:pt idx="0">
                  <c:v>Lilies</c:v>
                </c:pt>
              </c:strCache>
            </c:strRef>
          </c:tx>
          <c:spPr>
            <a:solidFill>
              <a:srgbClr val="40315E"/>
            </a:solidFill>
          </c:spPr>
          <c:invertIfNegative val="0"/>
          <c:xVal>
            <c:numRef>
              <c:numCache>
                <c:formatCode>General</c:formatCode>
                <c:ptCount val="1"/>
                <c:pt idx="0">
                  <c:v>80.22789414386664</c:v>
                </c:pt>
              </c:numCache>
            </c:numRef>
          </c:xVal>
          <c:yVal>
            <c:numRef>
              <c:numCache>
                <c:formatCode>General</c:formatCode>
                <c:ptCount val="1"/>
                <c:pt idx="0">
                  <c:v>147.84808492826951</c:v>
                </c:pt>
              </c:numCache>
            </c:numRef>
          </c:yVal>
          <c:bubbleSize>
            <c:numRef>
              <c:numCache>
                <c:formatCode>General</c:formatCode>
                <c:ptCount val="1"/>
                <c:pt idx="0">
                  <c:v>10954.559</c:v>
                </c:pt>
              </c:numCache>
            </c:numRef>
          </c:bubbleSize>
          <c:bubble3D val="0"/>
        </c:ser>
        <c:ser>
          <c:idx val="4"/>
          <c:order val="4"/>
          <c:tx>
            <c:strRef>
              <c:strCache>
                <c:ptCount val="1"/>
                <c:pt idx="0">
                  <c:v>Alstroemeria</c:v>
                </c:pt>
              </c:strCache>
            </c:strRef>
          </c:tx>
          <c:spPr>
            <a:solidFill>
              <a:srgbClr val="A35313"/>
            </a:solidFill>
          </c:spPr>
          <c:invertIfNegative val="0"/>
          <c:xVal>
            <c:numRef>
              <c:numCache>
                <c:formatCode>General</c:formatCode>
                <c:ptCount val="1"/>
                <c:pt idx="0">
                  <c:v>114.82208201320516</c:v>
                </c:pt>
              </c:numCache>
            </c:numRef>
          </c:xVal>
          <c:yVal>
            <c:numRef>
              <c:numCache>
                <c:formatCode>General</c:formatCode>
                <c:ptCount val="1"/>
                <c:pt idx="0">
                  <c:v>37.391821246394045</c:v>
                </c:pt>
              </c:numCache>
            </c:numRef>
          </c:yVal>
          <c:bubbleSize>
            <c:numRef>
              <c:numCache>
                <c:formatCode>General</c:formatCode>
                <c:ptCount val="1"/>
                <c:pt idx="0">
                  <c:v>3267.27</c:v>
                </c:pt>
              </c:numCache>
            </c:numRef>
          </c:bubbleSize>
          <c:bubble3D val="0"/>
        </c:ser>
        <c:ser>
          <c:idx val="5"/>
          <c:order val="5"/>
          <c:tx>
            <c:strRef>
              <c:strCache>
                <c:ptCount val="1"/>
                <c:pt idx="0">
                  <c:v>Hydrangeas</c:v>
                </c:pt>
              </c:strCache>
            </c:strRef>
          </c:tx>
          <c:spPr>
            <a:solidFill>
              <a:srgbClr val="808080"/>
            </a:solidFill>
          </c:spPr>
          <c:invertIfNegative val="0"/>
          <c:xVal>
            <c:numRef>
              <c:numCache>
                <c:formatCode>General</c:formatCode>
                <c:ptCount val="1"/>
                <c:pt idx="0">
                  <c:v>50.11292261764958</c:v>
                </c:pt>
              </c:numCache>
            </c:numRef>
          </c:xVal>
          <c:yVal>
            <c:numRef>
              <c:numCache>
                <c:formatCode>General</c:formatCode>
                <c:ptCount val="1"/>
                <c:pt idx="0">
                  <c:v>45.52636151754539</c:v>
                </c:pt>
              </c:numCache>
            </c:numRef>
          </c:yVal>
          <c:bubbleSize>
            <c:numRef>
              <c:numCache>
                <c:formatCode>General</c:formatCode>
                <c:ptCount val="1"/>
                <c:pt idx="0">
                  <c:v>2915.485</c:v>
                </c:pt>
              </c:numCache>
            </c:numRef>
          </c:bubbleSize>
          <c:bubble3D val="0"/>
        </c:ser>
        <c:ser>
          <c:idx val="6"/>
          <c:order val="6"/>
          <c:tx>
            <c:strRef>
              <c:strCache>
                <c:ptCount val="1"/>
                <c:pt idx="0">
                  <c:v>Gerbera</c:v>
                </c:pt>
              </c:strCache>
            </c:strRef>
          </c:tx>
          <c:spPr>
            <a:solidFill>
              <a:srgbClr val="0E72AE"/>
            </a:solidFill>
          </c:spPr>
          <c:invertIfNegative val="0"/>
          <c:xVal>
            <c:numRef>
              <c:numCache>
                <c:formatCode>General</c:formatCode>
                <c:ptCount val="1"/>
                <c:pt idx="0">
                  <c:v>139.60154353622025</c:v>
                </c:pt>
              </c:numCache>
            </c:numRef>
          </c:xVal>
          <c:yVal>
            <c:numRef>
              <c:numCache>
                <c:formatCode>General</c:formatCode>
                <c:ptCount val="1"/>
                <c:pt idx="0">
                  <c:v>191.6678663889289</c:v>
                </c:pt>
              </c:numCache>
            </c:numRef>
          </c:yVal>
          <c:bubbleSize>
            <c:numRef>
              <c:numCache>
                <c:formatCode>General</c:formatCode>
                <c:ptCount val="1"/>
                <c:pt idx="0">
                  <c:v>18816.913</c:v>
                </c:pt>
              </c:numCache>
            </c:numRef>
          </c:bubbleSize>
          <c:bubble3D val="0"/>
        </c:ser>
        <c:ser>
          <c:idx val="7"/>
          <c:order val="7"/>
          <c:tx>
            <c:strRef>
              <c:strCache>
                <c:ptCount val="1"/>
                <c:pt idx="0">
                  <c:v>Orchids</c:v>
                </c:pt>
              </c:strCache>
            </c:strRef>
          </c:tx>
          <c:spPr>
            <a:solidFill>
              <a:srgbClr val="A86F00"/>
            </a:solidFill>
          </c:spPr>
          <c:invertIfNegative val="0"/>
          <c:xVal>
            <c:numRef>
              <c:numCache>
                <c:formatCode>General</c:formatCode>
                <c:ptCount val="1"/>
                <c:pt idx="0">
                  <c:v>114.16583730844097</c:v>
                </c:pt>
              </c:numCache>
            </c:numRef>
          </c:xVal>
          <c:yVal>
            <c:numRef>
              <c:numCache>
                <c:formatCode>General</c:formatCode>
                <c:ptCount val="1"/>
                <c:pt idx="0">
                  <c:v>108.60952362031746</c:v>
                </c:pt>
              </c:numCache>
            </c:numRef>
          </c:yVal>
          <c:bubbleSize>
            <c:numRef>
              <c:numCache>
                <c:formatCode>General</c:formatCode>
                <c:ptCount val="1"/>
                <c:pt idx="0">
                  <c:v>9460.813</c:v>
                </c:pt>
              </c:numCache>
            </c:numRef>
          </c:bubbleSize>
          <c:bubble3D val="0"/>
        </c:ser>
        <c:ser>
          <c:idx val="8"/>
          <c:order val="8"/>
          <c:tx>
            <c:strRef>
              <c:strCache>
                <c:ptCount val="1"/>
                <c:pt idx="0">
                  <c:v>Tulips</c:v>
                </c:pt>
              </c:strCache>
            </c:strRef>
          </c:tx>
          <c:spPr>
            <a:solidFill>
              <a:srgbClr val="0B2E4A"/>
            </a:solidFill>
          </c:spPr>
          <c:invertIfNegative val="0"/>
          <c:xVal>
            <c:numRef>
              <c:numCache>
                <c:formatCode>General</c:formatCode>
                <c:ptCount val="1"/>
                <c:pt idx="0">
                  <c:v>141.01048715458612</c:v>
                </c:pt>
              </c:numCache>
            </c:numRef>
          </c:xVal>
          <c:yVal>
            <c:numRef>
              <c:numCache>
                <c:formatCode>General</c:formatCode>
                <c:ptCount val="1"/>
                <c:pt idx="0">
                  <c:v>115.43518384783947</c:v>
                </c:pt>
              </c:numCache>
            </c:numRef>
          </c:yVal>
          <c:bubbleSize>
            <c:numRef>
              <c:numCache>
                <c:formatCode>General</c:formatCode>
                <c:ptCount val="1"/>
                <c:pt idx="0">
                  <c:v>11407.65</c:v>
                </c:pt>
              </c:numCache>
            </c:numRef>
          </c:bubbleSize>
          <c:bubble3D val="0"/>
        </c:ser>
        <c:ser>
          <c:idx val="9"/>
          <c:order val="9"/>
          <c:tx>
            <c:strRef>
              <c:strCache>
                <c:ptCount val="1"/>
                <c:pt idx="0">
                  <c:v>Lisianthus</c:v>
                </c:pt>
              </c:strCache>
            </c:strRef>
          </c:tx>
          <c:spPr>
            <a:solidFill>
              <a:srgbClr val="6C7A89"/>
            </a:solidFill>
          </c:spPr>
          <c:invertIfNegative val="0"/>
          <c:xVal>
            <c:numRef>
              <c:numCache>
                <c:formatCode>General</c:formatCode>
                <c:ptCount val="1"/>
                <c:pt idx="0">
                  <c:v>39.27637775469531</c:v>
                </c:pt>
              </c:numCache>
            </c:numRef>
          </c:xVal>
          <c:yVal>
            <c:numRef>
              <c:numCache>
                <c:formatCode>General</c:formatCode>
                <c:ptCount val="1"/>
                <c:pt idx="0">
                  <c:v>78.77664262588809</c:v>
                </c:pt>
              </c:numCache>
            </c:numRef>
          </c:yVal>
          <c:bubbleSize>
            <c:numRef>
              <c:numCache>
                <c:formatCode>General</c:formatCode>
                <c:ptCount val="1"/>
                <c:pt idx="0">
                  <c:v>4784.41</c:v>
                </c:pt>
              </c:numCache>
            </c:numRef>
          </c:bubbleSize>
          <c:bubble3D val="0"/>
        </c:ser>
        <c:ser>
          <c:idx val="10"/>
          <c:order val="10"/>
          <c:tx>
            <c:strRef>
              <c:strCache>
                <c:ptCount val="1"/>
                <c:pt idx="0">
                  <c:v>Peonies</c:v>
                </c:pt>
              </c:strCache>
            </c:strRef>
          </c:tx>
          <c:spPr>
            <a:solidFill>
              <a:srgbClr val="B2B2B2"/>
            </a:solidFill>
          </c:spPr>
          <c:invertIfNegative val="0"/>
          <c:xVal>
            <c:numRef>
              <c:numCache>
                <c:formatCode>General</c:formatCode>
                <c:ptCount val="1"/>
                <c:pt idx="0">
                  <c:v>25.137030321496024</c:v>
                </c:pt>
              </c:numCache>
            </c:numRef>
          </c:xVal>
          <c:yVal>
            <c:numRef>
              <c:numCache>
                <c:formatCode>General</c:formatCode>
                <c:ptCount val="1"/>
                <c:pt idx="0">
                  <c:v>138.34770461159016</c:v>
                </c:pt>
              </c:numCache>
            </c:numRef>
          </c:yVal>
          <c:bubbleSize>
            <c:numRef>
              <c:numCache>
                <c:formatCode>General</c:formatCode>
                <c:ptCount val="1"/>
                <c:pt idx="0">
                  <c:v>7837.655</c:v>
                </c:pt>
              </c:numCache>
            </c:numRef>
          </c:bubbleSize>
          <c:bubble3D val="0"/>
        </c:ser>
        <c:ser>
          <c:idx val="11"/>
          <c:order val="11"/>
          <c:tx>
            <c:strRef>
              <c:strCache>
                <c:ptCount val="1"/>
                <c:pt idx="0">
                  <c:v>Others</c:v>
                </c:pt>
              </c:strCache>
            </c:strRef>
          </c:tx>
          <c:spPr>
            <a:solidFill>
              <a:srgbClr val="5F5F5F"/>
            </a:solidFill>
          </c:spPr>
          <c:invertIfNegative val="0"/>
          <c:xVal>
            <c:numRef>
              <c:numCache>
                <c:formatCode>General</c:formatCode>
                <c:ptCount val="1"/>
                <c:pt idx="0">
                  <c:v>75.93515106338195</c:v>
                </c:pt>
              </c:numCache>
            </c:numRef>
          </c:xVal>
          <c:yVal>
            <c:numRef>
              <c:numCache>
                <c:formatCode>General</c:formatCode>
                <c:ptCount val="1"/>
                <c:pt idx="0">
                  <c:v>35.61072118702404</c:v>
                </c:pt>
              </c:numCache>
            </c:numRef>
          </c:yVal>
          <c:bubbleSize>
            <c:numRef>
              <c:numCache>
                <c:formatCode>General</c:formatCode>
                <c:ptCount val="1"/>
                <c:pt idx="0">
                  <c:v>2584.572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4914.65</c:v>
                </c:pt>
                <c:pt idx="2">
                  <c:v>5285.507</c:v>
                </c:pt>
                <c:pt idx="3">
                  <c:v>5681.296</c:v>
                </c:pt>
                <c:pt idx="4">
                  <c:v>6103.307</c:v>
                </c:pt>
                <c:pt idx="5">
                  <c:v>6552.815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4914.65</c:v>
                </c:pt>
                <c:pt idx="1">
                  <c:v>370.85699999999997</c:v>
                </c:pt>
                <c:pt idx="2">
                  <c:v>395.78900000000067</c:v>
                </c:pt>
                <c:pt idx="3">
                  <c:v>422.0109999999995</c:v>
                </c:pt>
                <c:pt idx="4">
                  <c:v>449.5079999999998</c:v>
                </c:pt>
                <c:pt idx="5">
                  <c:v>478.28800000000047</c:v>
                </c:pt>
                <c:pt idx="6">
                  <c:v>7031.103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9000.597</c:v>
                </c:pt>
                <c:pt idx="2">
                  <c:v>10217.602</c:v>
                </c:pt>
                <c:pt idx="3">
                  <c:v>11587.689</c:v>
                </c:pt>
                <c:pt idx="4">
                  <c:v>13129.29</c:v>
                </c:pt>
                <c:pt idx="5">
                  <c:v>14862.986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9000.597</c:v>
                </c:pt>
                <c:pt idx="1">
                  <c:v>1217.005000000001</c:v>
                </c:pt>
                <c:pt idx="2">
                  <c:v>1370.0869999999995</c:v>
                </c:pt>
                <c:pt idx="3">
                  <c:v>1541.6010000000006</c:v>
                </c:pt>
                <c:pt idx="4">
                  <c:v>1733.696</c:v>
                </c:pt>
                <c:pt idx="5">
                  <c:v>1948.7330000000002</c:v>
                </c:pt>
                <c:pt idx="6">
                  <c:v>16811.719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1124.057</c:v>
                </c:pt>
                <c:pt idx="2">
                  <c:v>1243.447</c:v>
                </c:pt>
                <c:pt idx="3">
                  <c:v>1375.479</c:v>
                </c:pt>
                <c:pt idx="4">
                  <c:v>1521.496</c:v>
                </c:pt>
                <c:pt idx="5">
                  <c:v>1682.967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1124.057</c:v>
                </c:pt>
                <c:pt idx="1">
                  <c:v>119.38999999999987</c:v>
                </c:pt>
                <c:pt idx="2">
                  <c:v>132.03200000000015</c:v>
                </c:pt>
                <c:pt idx="3">
                  <c:v>146.01700000000005</c:v>
                </c:pt>
                <c:pt idx="4">
                  <c:v>161.471</c:v>
                </c:pt>
                <c:pt idx="5">
                  <c:v>178.55999999999995</c:v>
                </c:pt>
                <c:pt idx="6">
                  <c:v>1861.527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7392.404</c:v>
                </c:pt>
                <c:pt idx="2">
                  <c:v>8002.178</c:v>
                </c:pt>
                <c:pt idx="3">
                  <c:v>8659.746</c:v>
                </c:pt>
                <c:pt idx="4">
                  <c:v>9368.535</c:v>
                </c:pt>
                <c:pt idx="5">
                  <c:v>10132.188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7392.404</c:v>
                </c:pt>
                <c:pt idx="1">
                  <c:v>609.7739999999994</c:v>
                </c:pt>
                <c:pt idx="2">
                  <c:v>657.5679999999993</c:v>
                </c:pt>
                <c:pt idx="3">
                  <c:v>708.7890000000007</c:v>
                </c:pt>
                <c:pt idx="4">
                  <c:v>763.6530000000002</c:v>
                </c:pt>
                <c:pt idx="5">
                  <c:v>822.3709999999992</c:v>
                </c:pt>
                <c:pt idx="6">
                  <c:v>10954.559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1869.591</c:v>
                </c:pt>
                <c:pt idx="2">
                  <c:v>2091.854</c:v>
                </c:pt>
                <c:pt idx="3">
                  <c:v>2339.72</c:v>
                </c:pt>
                <c:pt idx="4">
                  <c:v>2616.051</c:v>
                </c:pt>
                <c:pt idx="5">
                  <c:v>2924.05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1869.591</c:v>
                </c:pt>
                <c:pt idx="1">
                  <c:v>222.26299999999992</c:v>
                </c:pt>
                <c:pt idx="2">
                  <c:v>247.86599999999999</c:v>
                </c:pt>
                <c:pt idx="3">
                  <c:v>276.33100000000013</c:v>
                </c:pt>
                <c:pt idx="4">
                  <c:v>307.99900000000025</c:v>
                </c:pt>
                <c:pt idx="5">
                  <c:v>343.2199999999998</c:v>
                </c:pt>
                <c:pt idx="6">
                  <c:v>3267.27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2276.318</c:v>
                </c:pt>
                <c:pt idx="2">
                  <c:v>2401.322</c:v>
                </c:pt>
                <c:pt idx="3">
                  <c:v>2528.617</c:v>
                </c:pt>
                <c:pt idx="4">
                  <c:v>2657.418</c:v>
                </c:pt>
                <c:pt idx="5">
                  <c:v>2786.762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2276.318</c:v>
                </c:pt>
                <c:pt idx="1">
                  <c:v>125.0039999999999</c:v>
                </c:pt>
                <c:pt idx="2">
                  <c:v>127.29500000000007</c:v>
                </c:pt>
                <c:pt idx="3">
                  <c:v>128.80099999999993</c:v>
                </c:pt>
                <c:pt idx="4">
                  <c:v>129.34400000000005</c:v>
                </c:pt>
                <c:pt idx="5">
                  <c:v>128.72299999999996</c:v>
                </c:pt>
                <c:pt idx="6">
                  <c:v>2915.485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9583.393</c:v>
                </c:pt>
                <c:pt idx="2">
                  <c:v>11002.399</c:v>
                </c:pt>
                <c:pt idx="3">
                  <c:v>12610.158</c:v>
                </c:pt>
                <c:pt idx="4">
                  <c:v>14430.288</c:v>
                </c:pt>
                <c:pt idx="5">
                  <c:v>16489.312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9583.393</c:v>
                </c:pt>
                <c:pt idx="1">
                  <c:v>1419.0059999999994</c:v>
                </c:pt>
                <c:pt idx="2">
                  <c:v>1607.759</c:v>
                </c:pt>
                <c:pt idx="3">
                  <c:v>1820.130000000001</c:v>
                </c:pt>
                <c:pt idx="4">
                  <c:v>2059.0240000000013</c:v>
                </c:pt>
                <c:pt idx="5">
                  <c:v>2327.6009999999987</c:v>
                </c:pt>
                <c:pt idx="6">
                  <c:v>18816.913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5430.476</c:v>
                </c:pt>
                <c:pt idx="2">
                  <c:v>6071.164</c:v>
                </c:pt>
                <c:pt idx="3">
                  <c:v>6785.7</c:v>
                </c:pt>
                <c:pt idx="4">
                  <c:v>7582.448</c:v>
                </c:pt>
                <c:pt idx="5">
                  <c:v>8470.707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5430.476</c:v>
                </c:pt>
                <c:pt idx="1">
                  <c:v>640.6880000000001</c:v>
                </c:pt>
                <c:pt idx="2">
                  <c:v>714.5360000000001</c:v>
                </c:pt>
                <c:pt idx="3">
                  <c:v>796.7480000000005</c:v>
                </c:pt>
                <c:pt idx="4">
                  <c:v>888.259</c:v>
                </c:pt>
                <c:pt idx="5">
                  <c:v>990.1059999999998</c:v>
                </c:pt>
                <c:pt idx="6">
                  <c:v>9460.813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5771.759</c:v>
                </c:pt>
                <c:pt idx="2">
                  <c:v>6636.958</c:v>
                </c:pt>
                <c:pt idx="3">
                  <c:v>7617.766</c:v>
                </c:pt>
                <c:pt idx="4">
                  <c:v>8728.673</c:v>
                </c:pt>
                <c:pt idx="5">
                  <c:v>9985.906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5771.759</c:v>
                </c:pt>
                <c:pt idx="1">
                  <c:v>865.1989999999996</c:v>
                </c:pt>
                <c:pt idx="2">
                  <c:v>980.808</c:v>
                </c:pt>
                <c:pt idx="3">
                  <c:v>1110.907000000001</c:v>
                </c:pt>
                <c:pt idx="4">
                  <c:v>1257.2330000000002</c:v>
                </c:pt>
                <c:pt idx="5">
                  <c:v>1421.7439999999988</c:v>
                </c:pt>
                <c:pt idx="6">
                  <c:v>11407.65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3938.832</c:v>
                </c:pt>
                <c:pt idx="2">
                  <c:v>4119.96</c:v>
                </c:pt>
                <c:pt idx="3">
                  <c:v>4297.79</c:v>
                </c:pt>
                <c:pt idx="4">
                  <c:v>4469.862</c:v>
                </c:pt>
                <c:pt idx="5">
                  <c:v>4633.219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3938.832</c:v>
                </c:pt>
                <c:pt idx="1">
                  <c:v>181.12800000000016</c:v>
                </c:pt>
                <c:pt idx="2">
                  <c:v>177.82999999999993</c:v>
                </c:pt>
                <c:pt idx="3">
                  <c:v>172.07200000000012</c:v>
                </c:pt>
                <c:pt idx="4">
                  <c:v>163.35699999999997</c:v>
                </c:pt>
                <c:pt idx="5">
                  <c:v>151.1909999999998</c:v>
                </c:pt>
                <c:pt idx="6">
                  <c:v>4784.41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6917.385</c:v>
                </c:pt>
                <c:pt idx="2">
                  <c:v>7157.729</c:v>
                </c:pt>
                <c:pt idx="3">
                  <c:v>7377.104</c:v>
                </c:pt>
                <c:pt idx="4">
                  <c:v>7568.909</c:v>
                </c:pt>
                <c:pt idx="5">
                  <c:v>7725.424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6917.385</c:v>
                </c:pt>
                <c:pt idx="1">
                  <c:v>240.34400000000005</c:v>
                </c:pt>
                <c:pt idx="2">
                  <c:v>219.375</c:v>
                </c:pt>
                <c:pt idx="3">
                  <c:v>191.80499999999938</c:v>
                </c:pt>
                <c:pt idx="4">
                  <c:v>156.51500000000033</c:v>
                </c:pt>
                <c:pt idx="5">
                  <c:v>112.23099999999977</c:v>
                </c:pt>
                <c:pt idx="6">
                  <c:v>7837.655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1780.536</c:v>
                </c:pt>
                <c:pt idx="2">
                  <c:v>1919.878</c:v>
                </c:pt>
                <c:pt idx="3">
                  <c:v>2069.307</c:v>
                </c:pt>
                <c:pt idx="4">
                  <c:v>2229.461</c:v>
                </c:pt>
                <c:pt idx="5">
                  <c:v>2400.988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1780.536</c:v>
                </c:pt>
                <c:pt idx="1">
                  <c:v>139.34199999999987</c:v>
                </c:pt>
                <c:pt idx="2">
                  <c:v>149.42899999999986</c:v>
                </c:pt>
                <c:pt idx="3">
                  <c:v>160.154</c:v>
                </c:pt>
                <c:pt idx="4">
                  <c:v>171.52700000000004</c:v>
                </c:pt>
                <c:pt idx="5">
                  <c:v>183.5840000000003</c:v>
                </c:pt>
                <c:pt idx="6">
                  <c:v>2584.572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Gerbera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14.312681204067024</c:v>
                </c:pt>
                <c:pt idx="1">
                  <c:v>15.972322199077407</c:v>
                </c:pt>
                <c:pt idx="2">
                  <c:v>19.2532541188771</c:v>
                </c:pt>
              </c:numCache>
            </c:numRef>
          </c:val>
        </c:ser>
        <c:ser>
          <c:idx val="1"/>
          <c:order val="1"/>
          <c:tx>
            <c:strRef>
              <c:strCache>
                <c:ptCount val="1"/>
                <c:pt idx="0">
                  <c:v>Carnations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13.877343681084117</c:v>
                </c:pt>
                <c:pt idx="1">
                  <c:v>15.000995500033182</c:v>
                </c:pt>
                <c:pt idx="2">
                  <c:v>17.2015621309486</c:v>
                </c:pt>
              </c:numCache>
            </c:numRef>
          </c:val>
        </c:ser>
        <c:ser>
          <c:idx val="2"/>
          <c:order val="2"/>
          <c:tx>
            <c:strRef>
              <c:strCache>
                <c:ptCount val="1"/>
                <c:pt idx="0">
                  <c:v>Tulips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8.578864917271746</c:v>
                </c:pt>
                <c:pt idx="1">
                  <c:v>9.619598653986621</c:v>
                </c:pt>
                <c:pt idx="2">
                  <c:v>11.672179403136335</c:v>
                </c:pt>
              </c:numCache>
            </c:numRef>
          </c:val>
        </c:ser>
        <c:ser>
          <c:idx val="3"/>
          <c:order val="3"/>
          <c:tx>
            <c:strRef>
              <c:strCache>
                <c:ptCount val="1"/>
                <c:pt idx="0">
                  <c:v>Lilies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12.882431130941407</c:v>
                </c:pt>
                <c:pt idx="1">
                  <c:v>12.320673744022459</c:v>
                </c:pt>
                <c:pt idx="2">
                  <c:v>11.20858177891518</c:v>
                </c:pt>
              </c:numCache>
            </c:numRef>
          </c:val>
        </c:ser>
        <c:ser>
          <c:idx val="4"/>
          <c:order val="4"/>
          <c:tx>
            <c:strRef>
              <c:strCache>
                <c:ptCount val="1"/>
                <c:pt idx="0">
                  <c:v>Orchids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8.730472280131726</c:v>
                </c:pt>
                <c:pt idx="1">
                  <c:v>9.050793635026453</c:v>
                </c:pt>
                <c:pt idx="2">
                  <c:v>9.680197642417543</c:v>
                </c:pt>
              </c:numCache>
            </c:numRef>
          </c:val>
        </c:ser>
        <c:ser>
          <c:idx val="5"/>
          <c:order val="5"/>
          <c:tx>
            <c:strRef>
              <c:strCache>
                <c:ptCount val="1"/>
                <c:pt idx="0">
                  <c:v>Peonies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13.315205455065751</c:v>
                </c:pt>
                <c:pt idx="1">
                  <c:v>11.52897538429918</c:v>
                </c:pt>
                <c:pt idx="2">
                  <c:v>8.01940060046447</c:v>
                </c:pt>
              </c:numCache>
            </c:numRef>
          </c:val>
        </c:ser>
        <c:ser>
          <c:idx val="6"/>
          <c:order val="6"/>
          <c:tx>
            <c:strRef>
              <c:strCache>
                <c:ptCount val="1"/>
                <c:pt idx="0">
                  <c:v>Roses</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8.696612529566924</c:v>
                </c:pt>
                <c:pt idx="1">
                  <c:v>8.191083606369453</c:v>
                </c:pt>
                <c:pt idx="2">
                  <c:v>7.194145649448405</c:v>
                </c:pt>
              </c:numCache>
            </c:numRef>
          </c:val>
        </c:ser>
        <c:ser>
          <c:idx val="7"/>
          <c:order val="7"/>
          <c:tx>
            <c:strRef>
              <c:strCache>
                <c:ptCount val="1"/>
                <c:pt idx="0">
                  <c:v>Lisianthus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7.411737310873415</c:v>
                </c:pt>
                <c:pt idx="1">
                  <c:v>6.564720218824008</c:v>
                </c:pt>
                <c:pt idx="2">
                  <c:v>4.8953545960964355</c:v>
                </c:pt>
              </c:numCache>
            </c:numRef>
          </c:val>
        </c:ser>
        <c:ser>
          <c:idx val="8"/>
          <c:order val="8"/>
          <c:tx>
            <c:strRef>
              <c:strCache>
                <c:ptCount val="1"/>
                <c:pt idx="0">
                  <c:v>Alstroemeria</c:v>
                </c:pt>
              </c:strCache>
            </c:strRef>
          </c:tx>
          <c:spPr>
            <a:solidFill>
              <a:srgbClr val="0B2E4A"/>
            </a:solidFill>
            <a:ln>
              <a:noFill/>
            </a:ln>
          </c:spPr>
          <c:dLbls>
            <c:dLbl>
              <c:idx val="0"/>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2.9982875066348025</c:v>
                </c:pt>
                <c:pt idx="1">
                  <c:v>3.11598510386617</c:v>
                </c:pt>
                <c:pt idx="2">
                  <c:v>3.343033981449751</c:v>
                </c:pt>
              </c:numCache>
            </c:numRef>
          </c:val>
        </c:ser>
        <c:ser>
          <c:idx val="9"/>
          <c:order val="9"/>
          <c:tx>
            <c:strRef>
              <c:strCache>
                <c:ptCount val="1"/>
                <c:pt idx="0">
                  <c:v>Hydrangeas</c:v>
                </c:pt>
              </c:strCache>
            </c:strRef>
          </c:tx>
          <c:spPr>
            <a:solidFill>
              <a:srgbClr val="6C7A89"/>
            </a:solidFill>
            <a:ln>
              <a:noFill/>
            </a:ln>
          </c:spPr>
          <c:dLbls>
            <c:dLbl>
              <c:idx val="0"/>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4.20670282244781</c:v>
                </c:pt>
                <c:pt idx="1">
                  <c:v>3.793863459795449</c:v>
                </c:pt>
                <c:pt idx="2">
                  <c:v>2.983091519037921</c:v>
                </c:pt>
              </c:numCache>
            </c:numRef>
          </c:val>
        </c:ser>
        <c:ser>
          <c:idx val="10"/>
          <c:order val="10"/>
          <c:tx>
            <c:strRef>
              <c:strCache>
                <c:ptCount val="1"/>
                <c:pt idx="0">
                  <c:v>Others</c:v>
                </c:pt>
              </c:strCache>
            </c:strRef>
          </c:tx>
          <c:spPr>
            <a:solidFill>
              <a:srgbClr val="B2B2B2"/>
            </a:solidFill>
            <a:ln>
              <a:noFill/>
            </a:ln>
          </c:spPr>
          <c:dLbls>
            <c:dLbl>
              <c:idx val="0"/>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3.1321269026353917</c:v>
                </c:pt>
                <c:pt idx="1">
                  <c:v>2.9675600989186703</c:v>
                </c:pt>
                <c:pt idx="2">
                  <c:v>2.6445050526903335</c:v>
                </c:pt>
              </c:numCache>
            </c:numRef>
          </c:val>
        </c:ser>
        <c:ser>
          <c:idx val="11"/>
          <c:order val="11"/>
          <c:tx>
            <c:strRef>
              <c:strCache>
                <c:ptCount val="1"/>
                <c:pt idx="0">
                  <c:v>Chrysanthemums</c:v>
                </c:pt>
              </c:strCache>
            </c:strRef>
          </c:tx>
          <c:spPr>
            <a:solidFill>
              <a:srgbClr val="5F5F5F"/>
            </a:solidFill>
            <a:ln>
              <a:noFill/>
            </a:ln>
          </c:spPr>
          <c:dLbls>
            <c:dLbl>
              <c:idx val="0"/>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1.8575342592798805</c:v>
                </c:pt>
                <c:pt idx="1">
                  <c:v>1.8734283957809466</c:v>
                </c:pt>
                <c:pt idx="2">
                  <c:v>1.904693526517922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Protected Cultivation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24.88603647015309</c:v>
                </c:pt>
                <c:pt idx="1">
                  <c:v>28.0341100016006</c:v>
                </c:pt>
                <c:pt idx="2">
                  <c:v>25.174862479046723</c:v>
                </c:pt>
                <c:pt idx="3">
                  <c:v>25.947783092512168</c:v>
                </c:pt>
                <c:pt idx="4">
                  <c:v>21.132802022860755</c:v>
                </c:pt>
                <c:pt idx="5">
                  <c:v>25.45306004869472</c:v>
                </c:pt>
              </c:numCache>
            </c:numRef>
          </c:val>
        </c:ser>
        <c:ser>
          <c:idx val="1"/>
          <c:order val="1"/>
          <c:tx>
            <c:strRef>
              <c:strCache>
                <c:ptCount val="1"/>
                <c:pt idx="0">
                  <c:v>Open-Field Cultivation</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75.11396352984691</c:v>
                </c:pt>
                <c:pt idx="1">
                  <c:v>71.9658899983994</c:v>
                </c:pt>
                <c:pt idx="2">
                  <c:v>74.82513752095328</c:v>
                </c:pt>
                <c:pt idx="3">
                  <c:v>74.05221690748783</c:v>
                </c:pt>
                <c:pt idx="4">
                  <c:v>78.86719797713924</c:v>
                </c:pt>
                <c:pt idx="5">
                  <c:v>74.54693995130528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Protected Cultivation</c:v>
                </c:pt>
              </c:strCache>
            </c:strRef>
          </c:tx>
          <c:spPr>
            <a:solidFill>
              <a:srgbClr val="3D85C6"/>
            </a:solidFill>
          </c:spPr>
          <c:invertIfNegative val="0"/>
          <c:xVal>
            <c:numRef>
              <c:numCache>
                <c:formatCode>General</c:formatCode>
                <c:ptCount val="1"/>
                <c:pt idx="0">
                  <c:v>72.35949216532637</c:v>
                </c:pt>
              </c:numCache>
            </c:numRef>
          </c:xVal>
          <c:yVal>
            <c:numRef>
              <c:numCache>
                <c:formatCode>General</c:formatCode>
                <c:ptCount val="1"/>
                <c:pt idx="0">
                  <c:v>55.7626251920875</c:v>
                </c:pt>
              </c:numCache>
            </c:numRef>
          </c:yVal>
          <c:bubbleSize>
            <c:numRef>
              <c:numCache>
                <c:formatCode>General</c:formatCode>
                <c:ptCount val="1"/>
                <c:pt idx="0">
                  <c:v>23867.968</c:v>
                </c:pt>
              </c:numCache>
            </c:numRef>
          </c:bubbleSize>
          <c:bubble3D val="0"/>
        </c:ser>
        <c:ser>
          <c:idx val="1"/>
          <c:order val="1"/>
          <c:tx>
            <c:strRef>
              <c:strCache>
                <c:ptCount val="1"/>
                <c:pt idx="0">
                  <c:v>Open-Field Cultivation</c:v>
                </c:pt>
              </c:strCache>
            </c:strRef>
          </c:tx>
          <c:spPr>
            <a:solidFill>
              <a:srgbClr val="9E7E0A"/>
            </a:solidFill>
          </c:spPr>
          <c:invertIfNegative val="0"/>
          <c:xVal>
            <c:numRef>
              <c:numCache>
                <c:formatCode>General</c:formatCode>
                <c:ptCount val="1"/>
                <c:pt idx="0">
                  <c:v>109.86358428514069</c:v>
                </c:pt>
              </c:numCache>
            </c:numRef>
          </c:xVal>
          <c:yVal>
            <c:numRef>
              <c:numCache>
                <c:formatCode>General</c:formatCode>
                <c:ptCount val="1"/>
                <c:pt idx="0">
                  <c:v>144.2373748079125</c:v>
                </c:pt>
              </c:numCache>
            </c:numRef>
          </c:yVal>
          <c:bubbleSize>
            <c:numRef>
              <c:numCache>
                <c:formatCode>General</c:formatCode>
                <c:ptCount val="1"/>
                <c:pt idx="0">
                  <c:v>73865.708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6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16728.787</c:v>
                </c:pt>
                <c:pt idx="2">
                  <c:v>17992.923</c:v>
                </c:pt>
                <c:pt idx="3">
                  <c:v>19336.515</c:v>
                </c:pt>
                <c:pt idx="4">
                  <c:v>20762.148</c:v>
                </c:pt>
                <c:pt idx="5">
                  <c:v>22272.041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16728.787</c:v>
                </c:pt>
                <c:pt idx="1">
                  <c:v>1264.1359999999986</c:v>
                </c:pt>
                <c:pt idx="2">
                  <c:v>1343.5920000000006</c:v>
                </c:pt>
                <c:pt idx="3">
                  <c:v>1425.6330000000016</c:v>
                </c:pt>
                <c:pt idx="4">
                  <c:v>1509.893</c:v>
                </c:pt>
                <c:pt idx="5">
                  <c:v>1595.9269999999997</c:v>
                </c:pt>
                <c:pt idx="6">
                  <c:v>23867.968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43271.211</c:v>
                </c:pt>
                <c:pt idx="2">
                  <c:v>48157.075</c:v>
                </c:pt>
                <c:pt idx="3">
                  <c:v>53593.857</c:v>
                </c:pt>
                <c:pt idx="4">
                  <c:v>59643.59</c:v>
                </c:pt>
                <c:pt idx="5">
                  <c:v>66375.283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43271.211</c:v>
                </c:pt>
                <c:pt idx="1">
                  <c:v>4885.863999999994</c:v>
                </c:pt>
                <c:pt idx="2">
                  <c:v>5436.7820000000065</c:v>
                </c:pt>
                <c:pt idx="3">
                  <c:v>6049.732999999993</c:v>
                </c:pt>
                <c:pt idx="4">
                  <c:v>6731.692999999999</c:v>
                </c:pt>
                <c:pt idx="5">
                  <c:v>7490.425000000003</c:v>
                </c:pt>
                <c:pt idx="6">
                  <c:v>73865.708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Open-Field Cultivation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70.43894876173991</c:v>
                </c:pt>
                <c:pt idx="1">
                  <c:v>72.11868740395624</c:v>
                </c:pt>
                <c:pt idx="2">
                  <c:v>75.57856311472413</c:v>
                </c:pt>
              </c:numCache>
            </c:numRef>
          </c:val>
        </c:ser>
        <c:ser>
          <c:idx val="1"/>
          <c:order val="1"/>
          <c:tx>
            <c:strRef>
              <c:strCache>
                <c:ptCount val="1"/>
                <c:pt idx="0">
                  <c:v>Protected Cultivation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29.561051238260095</c:v>
                </c:pt>
                <c:pt idx="1">
                  <c:v>27.88131259604375</c:v>
                </c:pt>
                <c:pt idx="2">
                  <c:v>24.421436885275856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 Sales to Commercial &amp; Institutional Buyers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18.103857785914812</c:v>
                </c:pt>
                <c:pt idx="1">
                  <c:v>18.456153331755644</c:v>
                </c:pt>
                <c:pt idx="2">
                  <c:v>17.79409421801997</c:v>
                </c:pt>
                <c:pt idx="3">
                  <c:v>17.67380289041621</c:v>
                </c:pt>
                <c:pt idx="4">
                  <c:v>18.394000703572683</c:v>
                </c:pt>
                <c:pt idx="5">
                  <c:v>21.845879356141086</c:v>
                </c:pt>
              </c:numCache>
            </c:numRef>
          </c:val>
        </c:ser>
        <c:ser>
          <c:idx val="1"/>
          <c:order val="1"/>
          <c:tx>
            <c:strRef>
              <c:strCache>
                <c:ptCount val="1"/>
                <c:pt idx="0">
                  <c:v>Florists &amp; Specialty Flower Shops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19.84959154267368</c:v>
                </c:pt>
                <c:pt idx="1">
                  <c:v>18.697593794771432</c:v>
                </c:pt>
                <c:pt idx="2">
                  <c:v>20.972206518173437</c:v>
                </c:pt>
                <c:pt idx="3">
                  <c:v>20.681916699744384</c:v>
                </c:pt>
                <c:pt idx="4">
                  <c:v>21.00036964351722</c:v>
                </c:pt>
                <c:pt idx="5">
                  <c:v>19.480443334827292</c:v>
                </c:pt>
              </c:numCache>
            </c:numRef>
          </c:val>
        </c:ser>
        <c:ser>
          <c:idx val="2"/>
          <c:order val="2"/>
          <c:tx>
            <c:strRef>
              <c:strCache>
                <c:ptCount val="1"/>
                <c:pt idx="0">
                  <c:v>Supermarkets &amp; Hypermarkets</c:v>
                </c:pt>
              </c:strCache>
            </c:strRef>
          </c:tx>
          <c:spPr>
            <a:solidFill>
              <a:srgbClr val="008189"/>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23.078196046751867</c:v>
                </c:pt>
                <c:pt idx="1">
                  <c:v>27.847524517192717</c:v>
                </c:pt>
                <c:pt idx="2">
                  <c:v>26.88449515740295</c:v>
                </c:pt>
                <c:pt idx="3">
                  <c:v>26.124930782771017</c:v>
                </c:pt>
                <c:pt idx="4">
                  <c:v>24.385818546104545</c:v>
                </c:pt>
                <c:pt idx="5">
                  <c:v>22.162665096038946</c:v>
                </c:pt>
              </c:numCache>
            </c:numRef>
          </c:val>
        </c:ser>
        <c:ser>
          <c:idx val="3"/>
          <c:order val="3"/>
          <c:tx>
            <c:strRef>
              <c:strCache>
                <c:ptCount val="1"/>
                <c:pt idx="0">
                  <c:v>Garden Centers &amp; Plant Nurseries</c:v>
                </c:pt>
              </c:strCache>
            </c:strRef>
          </c:tx>
          <c:spPr>
            <a:solidFill>
              <a:srgbClr val="40315E"/>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7.624987577147058</c:v>
                </c:pt>
                <c:pt idx="1">
                  <c:v>7.656363079322091</c:v>
                </c:pt>
                <c:pt idx="2">
                  <c:v>7.419058674596712</c:v>
                </c:pt>
                <c:pt idx="3">
                  <c:v>6.937614260650668</c:v>
                </c:pt>
                <c:pt idx="4">
                  <c:v>7.765778153175273</c:v>
                </c:pt>
                <c:pt idx="5">
                  <c:v>7.666213556886824</c:v>
                </c:pt>
              </c:numCache>
            </c:numRef>
          </c:val>
        </c:ser>
        <c:ser>
          <c:idx val="4"/>
          <c:order val="4"/>
          <c:tx>
            <c:strRef>
              <c:strCache>
                <c:ptCount val="1"/>
                <c:pt idx="0">
                  <c:v>Online / E-commerce</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18.746427005139648</c:v>
                </c:pt>
                <c:pt idx="1">
                  <c:v>17.25147957465236</c:v>
                </c:pt>
                <c:pt idx="2">
                  <c:v>16.10952334096537</c:v>
                </c:pt>
                <c:pt idx="3">
                  <c:v>18.096778629577344</c:v>
                </c:pt>
                <c:pt idx="4">
                  <c:v>16.2842290789805</c:v>
                </c:pt>
                <c:pt idx="5">
                  <c:v>15.81559810946106</c:v>
                </c:pt>
              </c:numCache>
            </c:numRef>
          </c:val>
        </c:ser>
        <c:ser>
          <c:idx val="5"/>
          <c:order val="5"/>
          <c:tx>
            <c:strRef>
              <c:strCache>
                <c:ptCount val="1"/>
                <c:pt idx="0">
                  <c:v>Other Retail Channels</c:v>
                </c:pt>
              </c:strCache>
            </c:strRef>
          </c:tx>
          <c:spPr>
            <a:solidFill>
              <a:srgbClr val="808080"/>
            </a:solidFill>
            <a:ln>
              <a:noFill/>
            </a:ln>
          </c:spPr>
          <c:dLbls>
            <c:dLbl>
              <c:idx val="0"/>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12.596940042372948</c:v>
                </c:pt>
                <c:pt idx="1">
                  <c:v>10.09088570230575</c:v>
                </c:pt>
                <c:pt idx="2">
                  <c:v>10.820622090841574</c:v>
                </c:pt>
                <c:pt idx="3">
                  <c:v>10.48495673684037</c:v>
                </c:pt>
                <c:pt idx="4">
                  <c:v>12.169803874649777</c:v>
                </c:pt>
                <c:pt idx="5">
                  <c:v>13.029200546644804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 Sales to Commercial &amp; Institutional Buyers</c:v>
                </c:pt>
              </c:strCache>
            </c:strRef>
          </c:tx>
          <c:spPr>
            <a:solidFill>
              <a:srgbClr val="3D85C6"/>
            </a:solidFill>
          </c:spPr>
          <c:invertIfNegative val="0"/>
          <c:xVal>
            <c:numRef>
              <c:numCache>
                <c:formatCode>General</c:formatCode>
                <c:ptCount val="1"/>
                <c:pt idx="0">
                  <c:v>115.24886262410054</c:v>
                </c:pt>
              </c:numCache>
            </c:numRef>
          </c:xVal>
          <c:yVal>
            <c:numRef>
              <c:numCache>
                <c:formatCode>General</c:formatCode>
                <c:ptCount val="1"/>
                <c:pt idx="0">
                  <c:v>107.47123358237447</c:v>
                </c:pt>
              </c:numCache>
            </c:numRef>
          </c:yVal>
          <c:bubbleSize>
            <c:numRef>
              <c:numCache>
                <c:formatCode>General</c:formatCode>
                <c:ptCount val="1"/>
                <c:pt idx="0">
                  <c:v>18819.452</c:v>
                </c:pt>
              </c:numCache>
            </c:numRef>
          </c:bubbleSize>
          <c:bubble3D val="0"/>
        </c:ser>
        <c:ser>
          <c:idx val="1"/>
          <c:order val="1"/>
          <c:tx>
            <c:strRef>
              <c:strCache>
                <c:ptCount val="1"/>
                <c:pt idx="0">
                  <c:v>Florists &amp; Specialty Flower Shops</c:v>
                </c:pt>
              </c:strCache>
            </c:strRef>
          </c:tx>
          <c:spPr>
            <a:solidFill>
              <a:srgbClr val="9E7E0A"/>
            </a:solidFill>
          </c:spPr>
          <c:invertIfNegative val="0"/>
          <c:xVal>
            <c:numRef>
              <c:numCache>
                <c:formatCode>General</c:formatCode>
                <c:ptCount val="1"/>
                <c:pt idx="0">
                  <c:v>94.79760582408238</c:v>
                </c:pt>
              </c:numCache>
            </c:numRef>
          </c:xVal>
          <c:yVal>
            <c:numRef>
              <c:numCache>
                <c:formatCode>General</c:formatCode>
                <c:ptCount val="1"/>
                <c:pt idx="0">
                  <c:v>124.3935141464505</c:v>
                </c:pt>
              </c:numCache>
            </c:numRef>
          </c:yVal>
          <c:bubbleSize>
            <c:numRef>
              <c:numCache>
                <c:formatCode>General</c:formatCode>
                <c:ptCount val="1"/>
                <c:pt idx="0">
                  <c:v>19765.985</c:v>
                </c:pt>
              </c:numCache>
            </c:numRef>
          </c:bubbleSize>
          <c:bubble3D val="0"/>
        </c:ser>
        <c:ser>
          <c:idx val="2"/>
          <c:order val="2"/>
          <c:tx>
            <c:strRef>
              <c:strCache>
                <c:ptCount val="1"/>
                <c:pt idx="0">
                  <c:v>Supermarkets &amp; Hypermarkets</c:v>
                </c:pt>
              </c:strCache>
            </c:strRef>
          </c:tx>
          <c:spPr>
            <a:solidFill>
              <a:srgbClr val="008189"/>
            </a:solidFill>
          </c:spPr>
          <c:invertIfNegative val="0"/>
          <c:xVal>
            <c:numRef>
              <c:numCache>
                <c:formatCode>General</c:formatCode>
                <c:ptCount val="1"/>
                <c:pt idx="0">
                  <c:v>61.94135721088014</c:v>
                </c:pt>
              </c:numCache>
            </c:numRef>
          </c:xVal>
          <c:yVal>
            <c:numRef>
              <c:numCache>
                <c:formatCode>General</c:formatCode>
                <c:ptCount val="1"/>
                <c:pt idx="0">
                  <c:v>176.2140358738012</c:v>
                </c:pt>
              </c:numCache>
            </c:numRef>
          </c:yVal>
          <c:bubbleSize>
            <c:numRef>
              <c:numCache>
                <c:formatCode>General</c:formatCode>
                <c:ptCount val="1"/>
                <c:pt idx="0">
                  <c:v>23905.819</c:v>
                </c:pt>
              </c:numCache>
            </c:numRef>
          </c:bubbleSize>
          <c:bubble3D val="0"/>
        </c:ser>
        <c:ser>
          <c:idx val="3"/>
          <c:order val="3"/>
          <c:tx>
            <c:strRef>
              <c:strCache>
                <c:ptCount val="1"/>
                <c:pt idx="0">
                  <c:v>Garden Centers &amp; Plant Nurseries</c:v>
                </c:pt>
              </c:strCache>
            </c:strRef>
          </c:tx>
          <c:spPr>
            <a:solidFill>
              <a:srgbClr val="40315E"/>
            </a:solidFill>
          </c:spPr>
          <c:invertIfNegative val="0"/>
          <c:xVal>
            <c:numRef>
              <c:numCache>
                <c:formatCode>General</c:formatCode>
                <c:ptCount val="1"/>
                <c:pt idx="0">
                  <c:v>53.527686505843576</c:v>
                </c:pt>
              </c:numCache>
            </c:numRef>
          </c:xVal>
          <c:yVal>
            <c:numRef>
              <c:numCache>
                <c:formatCode>General</c:formatCode>
                <c:ptCount val="1"/>
                <c:pt idx="0">
                  <c:v>56.76594189219808</c:v>
                </c:pt>
              </c:numCache>
            </c:numRef>
          </c:yVal>
          <c:bubbleSize>
            <c:numRef>
              <c:numCache>
                <c:formatCode>General</c:formatCode>
                <c:ptCount val="1"/>
                <c:pt idx="0">
                  <c:v>7392.537</c:v>
                </c:pt>
              </c:numCache>
            </c:numRef>
          </c:bubbleSize>
          <c:bubble3D val="0"/>
        </c:ser>
        <c:ser>
          <c:idx val="4"/>
          <c:order val="4"/>
          <c:tx>
            <c:strRef>
              <c:strCache>
                <c:ptCount val="1"/>
                <c:pt idx="0">
                  <c:v>Online / E-commerce</c:v>
                </c:pt>
              </c:strCache>
            </c:strRef>
          </c:tx>
          <c:spPr>
            <a:solidFill>
              <a:srgbClr val="A35313"/>
            </a:solidFill>
          </c:spPr>
          <c:invertIfNegative val="0"/>
          <c:xVal>
            <c:numRef>
              <c:numCache>
                <c:formatCode>General</c:formatCode>
                <c:ptCount val="1"/>
                <c:pt idx="0">
                  <c:v>161.17383908140047</c:v>
                </c:pt>
              </c:numCache>
            </c:numRef>
          </c:xVal>
          <c:yVal>
            <c:numRef>
              <c:numCache>
                <c:formatCode>General</c:formatCode>
                <c:ptCount val="1"/>
                <c:pt idx="0">
                  <c:v>74.75613249187111</c:v>
                </c:pt>
              </c:numCache>
            </c:numRef>
          </c:yVal>
          <c:bubbleSize>
            <c:numRef>
              <c:numCache>
                <c:formatCode>General</c:formatCode>
                <c:ptCount val="1"/>
                <c:pt idx="0">
                  <c:v>16227.211</c:v>
                </c:pt>
              </c:numCache>
            </c:numRef>
          </c:bubbleSize>
          <c:bubble3D val="0"/>
        </c:ser>
        <c:ser>
          <c:idx val="5"/>
          <c:order val="5"/>
          <c:tx>
            <c:strRef>
              <c:strCache>
                <c:ptCount val="1"/>
                <c:pt idx="0">
                  <c:v>Other Retail Channels</c:v>
                </c:pt>
              </c:strCache>
            </c:strRef>
          </c:tx>
          <c:spPr>
            <a:solidFill>
              <a:srgbClr val="808080"/>
            </a:solidFill>
          </c:spPr>
          <c:invertIfNegative val="0"/>
          <c:xVal>
            <c:numRef>
              <c:numCache>
                <c:formatCode>General</c:formatCode>
                <c:ptCount val="1"/>
                <c:pt idx="0">
                  <c:v>135.2932017970429</c:v>
                </c:pt>
              </c:numCache>
            </c:numRef>
          </c:xVal>
          <c:yVal>
            <c:numRef>
              <c:numCache>
                <c:formatCode>General</c:formatCode>
                <c:ptCount val="1"/>
                <c:pt idx="0">
                  <c:v>60.39914201330474</c:v>
                </c:pt>
              </c:numCache>
            </c:numRef>
          </c:yVal>
          <c:bubbleSize>
            <c:numRef>
              <c:numCache>
                <c:formatCode>General</c:formatCode>
                <c:ptCount val="1"/>
                <c:pt idx="0">
                  <c:v>11622.672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10747.123</c:v>
                </c:pt>
                <c:pt idx="2">
                  <c:v>12020.33</c:v>
                </c:pt>
                <c:pt idx="3">
                  <c:v>13444.881</c:v>
                </c:pt>
                <c:pt idx="4">
                  <c:v>15038.931</c:v>
                </c:pt>
                <c:pt idx="5">
                  <c:v>16822.837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10747.123</c:v>
                </c:pt>
                <c:pt idx="1">
                  <c:v>1273.2070000000003</c:v>
                </c:pt>
                <c:pt idx="2">
                  <c:v>1424.5509999999995</c:v>
                </c:pt>
                <c:pt idx="3">
                  <c:v>1594.050000000001</c:v>
                </c:pt>
                <c:pt idx="4">
                  <c:v>1783.905999999999</c:v>
                </c:pt>
                <c:pt idx="5">
                  <c:v>1996.6150000000016</c:v>
                </c:pt>
                <c:pt idx="6">
                  <c:v>18819.452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12439.351</c:v>
                </c:pt>
                <c:pt idx="2">
                  <c:v>13647.783</c:v>
                </c:pt>
                <c:pt idx="3">
                  <c:v>14972.931</c:v>
                </c:pt>
                <c:pt idx="4">
                  <c:v>16425.998</c:v>
                </c:pt>
                <c:pt idx="5">
                  <c:v>18019.216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12439.351</c:v>
                </c:pt>
                <c:pt idx="1">
                  <c:v>1208.4319999999989</c:v>
                </c:pt>
                <c:pt idx="2">
                  <c:v>1325.148000000001</c:v>
                </c:pt>
                <c:pt idx="3">
                  <c:v>1453.066999999999</c:v>
                </c:pt>
                <c:pt idx="4">
                  <c:v>1593.2180000000008</c:v>
                </c:pt>
                <c:pt idx="5">
                  <c:v>1746.7690000000002</c:v>
                </c:pt>
                <c:pt idx="6">
                  <c:v>19765.985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17621.403</c:v>
                </c:pt>
                <c:pt idx="2">
                  <c:v>18800.112</c:v>
                </c:pt>
                <c:pt idx="3">
                  <c:v>20023.715</c:v>
                </c:pt>
                <c:pt idx="4">
                  <c:v>21287.288</c:v>
                </c:pt>
                <c:pt idx="5">
                  <c:v>22584.226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17621.403</c:v>
                </c:pt>
                <c:pt idx="1">
                  <c:v>1178.7090000000026</c:v>
                </c:pt>
                <c:pt idx="2">
                  <c:v>1223.6029999999992</c:v>
                </c:pt>
                <c:pt idx="3">
                  <c:v>1263.5730000000003</c:v>
                </c:pt>
                <c:pt idx="4">
                  <c:v>1296.9379999999983</c:v>
                </c:pt>
                <c:pt idx="5">
                  <c:v>1321.5930000000008</c:v>
                </c:pt>
                <c:pt idx="6">
                  <c:v>23905.819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5676.594</c:v>
                </c:pt>
                <c:pt idx="2">
                  <c:v>6015.743</c:v>
                </c:pt>
                <c:pt idx="3">
                  <c:v>6360.377</c:v>
                </c:pt>
                <c:pt idx="4">
                  <c:v>6707.437</c:v>
                </c:pt>
                <c:pt idx="5">
                  <c:v>7053.078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5676.594</c:v>
                </c:pt>
                <c:pt idx="1">
                  <c:v>339.14900000000034</c:v>
                </c:pt>
                <c:pt idx="2">
                  <c:v>344.634</c:v>
                </c:pt>
                <c:pt idx="3">
                  <c:v>347.0599999999995</c:v>
                </c:pt>
                <c:pt idx="4">
                  <c:v>345.64100000000053</c:v>
                </c:pt>
                <c:pt idx="5">
                  <c:v>339.45899999999983</c:v>
                </c:pt>
                <c:pt idx="6">
                  <c:v>7392.537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7475.613</c:v>
                </c:pt>
                <c:pt idx="2">
                  <c:v>8773.712</c:v>
                </c:pt>
                <c:pt idx="3">
                  <c:v>10268.107</c:v>
                </c:pt>
                <c:pt idx="4">
                  <c:v>11986.652</c:v>
                </c:pt>
                <c:pt idx="5">
                  <c:v>13961.008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7475.613</c:v>
                </c:pt>
                <c:pt idx="1">
                  <c:v>1298.0989999999993</c:v>
                </c:pt>
                <c:pt idx="2">
                  <c:v>1494.3950000000004</c:v>
                </c:pt>
                <c:pt idx="3">
                  <c:v>1718.545</c:v>
                </c:pt>
                <c:pt idx="4">
                  <c:v>1974.3559999999998</c:v>
                </c:pt>
                <c:pt idx="5">
                  <c:v>2266.2029999999995</c:v>
                </c:pt>
                <c:pt idx="6">
                  <c:v>16227.211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6039.914</c:v>
                </c:pt>
                <c:pt idx="2">
                  <c:v>6892.318</c:v>
                </c:pt>
                <c:pt idx="3">
                  <c:v>7860.361</c:v>
                </c:pt>
                <c:pt idx="4">
                  <c:v>8959.432</c:v>
                </c:pt>
                <c:pt idx="5">
                  <c:v>10206.959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6039.914</c:v>
                </c:pt>
                <c:pt idx="1">
                  <c:v>852.4040000000005</c:v>
                </c:pt>
                <c:pt idx="2">
                  <c:v>968.0429999999997</c:v>
                </c:pt>
                <c:pt idx="3">
                  <c:v>1099.0710000000008</c:v>
                </c:pt>
                <c:pt idx="4">
                  <c:v>1247.527</c:v>
                </c:pt>
                <c:pt idx="5">
                  <c:v>1415.7129999999997</c:v>
                </c:pt>
                <c:pt idx="6">
                  <c:v>11622.672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Supermarkets &amp; Hypermarkets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31.67394604506818</c:v>
                </c:pt>
                <c:pt idx="1">
                  <c:v>29.36900597896686</c:v>
                </c:pt>
                <c:pt idx="2">
                  <c:v>24.460165603512138</c:v>
                </c:pt>
              </c:numCache>
            </c:numRef>
          </c:val>
        </c:ser>
        <c:ser>
          <c:idx val="1"/>
          <c:order val="1"/>
          <c:tx>
            <c:strRef>
              <c:strCache>
                <c:ptCount val="1"/>
                <c:pt idx="0">
                  <c:v>Florists &amp; Specialty Flower Shops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20.981933191806466</c:v>
                </c:pt>
                <c:pt idx="1">
                  <c:v>20.732252357741746</c:v>
                </c:pt>
                <c:pt idx="2">
                  <c:v>20.224333933781434</c:v>
                </c:pt>
              </c:numCache>
            </c:numRef>
          </c:val>
        </c:ser>
        <c:ser>
          <c:idx val="2"/>
          <c:order val="2"/>
          <c:tx>
            <c:strRef>
              <c:strCache>
                <c:ptCount val="1"/>
                <c:pt idx="0">
                  <c:v>Direct Sales to Commercial &amp; Institutional Buyers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17.282233230718166</c:v>
                </c:pt>
                <c:pt idx="1">
                  <c:v>17.911872263729077</c:v>
                </c:pt>
                <c:pt idx="2">
                  <c:v>19.25585199517104</c:v>
                </c:pt>
              </c:numCache>
            </c:numRef>
          </c:val>
        </c:ser>
        <c:ser>
          <c:idx val="3"/>
          <c:order val="3"/>
          <c:tx>
            <c:strRef>
              <c:strCache>
                <c:ptCount val="1"/>
                <c:pt idx="0">
                  <c:v>Online / E-commerce</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10.499258171961884</c:v>
                </c:pt>
                <c:pt idx="1">
                  <c:v>12.459355415311848</c:v>
                </c:pt>
                <c:pt idx="2">
                  <c:v>16.603500107782704</c:v>
                </c:pt>
              </c:numCache>
            </c:numRef>
          </c:val>
        </c:ser>
        <c:ser>
          <c:idx val="4"/>
          <c:order val="4"/>
          <c:tx>
            <c:strRef>
              <c:strCache>
                <c:ptCount val="1"/>
                <c:pt idx="0">
                  <c:v>Other Retail Channels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9.209550100316797</c:v>
                </c:pt>
                <c:pt idx="1">
                  <c:v>10.066523668884123</c:v>
                </c:pt>
                <c:pt idx="2">
                  <c:v>11.892187499424455</c:v>
                </c:pt>
              </c:numCache>
            </c:numRef>
          </c:val>
        </c:ser>
        <c:ser>
          <c:idx val="5"/>
          <c:order val="5"/>
          <c:tx>
            <c:strRef>
              <c:strCache>
                <c:ptCount val="1"/>
                <c:pt idx="0">
                  <c:v>Garden Centers &amp; Plant Nurseries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10.353079260128501</c:v>
                </c:pt>
                <c:pt idx="1">
                  <c:v>9.460990315366343</c:v>
                </c:pt>
                <c:pt idx="2">
                  <c:v>7.563960860328225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Personal Gifting &amp; Celebrations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23.686619516051238</c:v>
                </c:pt>
                <c:pt idx="1">
                  <c:v>24.78676646042144</c:v>
                </c:pt>
                <c:pt idx="2">
                  <c:v>21.7971009962684</c:v>
                </c:pt>
                <c:pt idx="3">
                  <c:v>24.97947203038272</c:v>
                </c:pt>
                <c:pt idx="4">
                  <c:v>24.287004083935862</c:v>
                </c:pt>
                <c:pt idx="5">
                  <c:v>26.017992426637033</c:v>
                </c:pt>
              </c:numCache>
            </c:numRef>
          </c:val>
        </c:ser>
        <c:ser>
          <c:idx val="1"/>
          <c:order val="1"/>
          <c:tx>
            <c:strRef>
              <c:strCache>
                <c:ptCount val="1"/>
                <c:pt idx="0">
                  <c:v>Residential &amp; Home Decoration</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9.713196975236658</c:v>
                </c:pt>
                <c:pt idx="1">
                  <c:v>8.955121287315869</c:v>
                </c:pt>
                <c:pt idx="2">
                  <c:v>8.824808041592863</c:v>
                </c:pt>
                <c:pt idx="3">
                  <c:v>8.922902217208135</c:v>
                </c:pt>
                <c:pt idx="4">
                  <c:v>7.920360572072449</c:v>
                </c:pt>
                <c:pt idx="5">
                  <c:v>7.741026064550898</c:v>
                </c:pt>
              </c:numCache>
            </c:numRef>
          </c:val>
        </c:ser>
        <c:ser>
          <c:idx val="2"/>
          <c:order val="2"/>
          <c:tx>
            <c:strRef>
              <c:strCache>
                <c:ptCount val="1"/>
                <c:pt idx="0">
                  <c:v>Weddings &amp; Special Events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16.773936292266953</c:v>
                </c:pt>
                <c:pt idx="1">
                  <c:v>17.03285750618392</c:v>
                </c:pt>
                <c:pt idx="2">
                  <c:v>16.105472626660173</c:v>
                </c:pt>
                <c:pt idx="3">
                  <c:v>15.140657296411542</c:v>
                </c:pt>
                <c:pt idx="4">
                  <c:v>15.015816099671605</c:v>
                </c:pt>
                <c:pt idx="5">
                  <c:v>18.210043406359226</c:v>
                </c:pt>
              </c:numCache>
            </c:numRef>
          </c:val>
        </c:ser>
        <c:ser>
          <c:idx val="3"/>
          <c:order val="3"/>
          <c:tx>
            <c:strRef>
              <c:strCache>
                <c:ptCount val="1"/>
                <c:pt idx="0">
                  <c:v>Hospitality &amp; Commercial Decoration</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20.935417272613165</c:v>
                </c:pt>
                <c:pt idx="1">
                  <c:v>24.276734222534703</c:v>
                </c:pt>
                <c:pt idx="2">
                  <c:v>22.517825136404614</c:v>
                </c:pt>
                <c:pt idx="3">
                  <c:v>21.640692944602243</c:v>
                </c:pt>
                <c:pt idx="4">
                  <c:v>22.830497911603413</c:v>
                </c:pt>
                <c:pt idx="5">
                  <c:v>20.162970495874184</c:v>
                </c:pt>
              </c:numCache>
            </c:numRef>
          </c:val>
        </c:ser>
        <c:ser>
          <c:idx val="4"/>
          <c:order val="4"/>
          <c:tx>
            <c:strRef>
              <c:strCache>
                <c:ptCount val="1"/>
                <c:pt idx="0">
                  <c:v>Funeral &amp; Memorial Services</c:v>
                </c:pt>
              </c:strCache>
            </c:strRef>
          </c:tx>
          <c:spPr>
            <a:solidFill>
              <a:srgbClr val="A35313"/>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15.07166352562238</c:v>
                </c:pt>
                <c:pt idx="1">
                  <c:v>12.815603313932991</c:v>
                </c:pt>
                <c:pt idx="2">
                  <c:v>17.422672422083156</c:v>
                </c:pt>
                <c:pt idx="3">
                  <c:v>16.21361707783386</c:v>
                </c:pt>
                <c:pt idx="4">
                  <c:v>16.33627202905719</c:v>
                </c:pt>
                <c:pt idx="5">
                  <c:v>14.749932053762643</c:v>
                </c:pt>
              </c:numCache>
            </c:numRef>
          </c:val>
        </c:ser>
        <c:ser>
          <c:idx val="5"/>
          <c:order val="5"/>
          <c:tx>
            <c:strRef>
              <c:strCache>
                <c:ptCount val="1"/>
                <c:pt idx="0">
                  <c:v>Landscaping &amp; Gardening</c:v>
                </c:pt>
              </c:strCache>
            </c:strRef>
          </c:tx>
          <c:spPr>
            <a:solidFill>
              <a:srgbClr val="808080"/>
            </a:solidFill>
            <a:ln>
              <a:noFill/>
            </a:ln>
          </c:spPr>
          <c:dLbls>
            <c:dLbl>
              <c:idx val="0"/>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10.47671235541243</c:v>
                </c:pt>
                <c:pt idx="1">
                  <c:v>8.591426273632196</c:v>
                </c:pt>
                <c:pt idx="2">
                  <c:v>10.044312262867756</c:v>
                </c:pt>
                <c:pt idx="3">
                  <c:v>9.400408365056839</c:v>
                </c:pt>
                <c:pt idx="4">
                  <c:v>9.880142643111862</c:v>
                </c:pt>
                <c:pt idx="5">
                  <c:v>9.765282795426042</c:v>
                </c:pt>
              </c:numCache>
            </c:numRef>
          </c:val>
        </c:ser>
        <c:ser>
          <c:idx val="6"/>
          <c:order val="6"/>
          <c:tx>
            <c:strRef>
              <c:strCache>
                <c:ptCount val="1"/>
                <c:pt idx="0">
                  <c:v>Other Institutional Applications</c:v>
                </c:pt>
              </c:strCache>
            </c:strRef>
          </c:tx>
          <c:spPr>
            <a:solidFill>
              <a:srgbClr val="0E72AE"/>
            </a:solidFill>
            <a:ln>
              <a:noFill/>
            </a:ln>
          </c:spPr>
          <c:dLbls>
            <c:dLbl>
              <c:idx val="0"/>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3.3424540627971804</c:v>
                </c:pt>
                <c:pt idx="1">
                  <c:v>3.541490935978876</c:v>
                </c:pt>
                <c:pt idx="2">
                  <c:v>3.287808514123039</c:v>
                </c:pt>
                <c:pt idx="3">
                  <c:v>3.7022500685046555</c:v>
                </c:pt>
                <c:pt idx="4">
                  <c:v>3.729906660547608</c:v>
                </c:pt>
                <c:pt idx="5">
                  <c:v>3.3527527573899727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Personal Gifting &amp; Celebrations</c:v>
                </c:pt>
              </c:strCache>
            </c:strRef>
          </c:tx>
          <c:spPr>
            <a:solidFill>
              <a:srgbClr val="3D85C6"/>
            </a:solidFill>
          </c:spPr>
          <c:invertIfNegative val="0"/>
          <c:xVal>
            <c:numRef>
              <c:numCache>
                <c:formatCode>General</c:formatCode>
                <c:ptCount val="1"/>
                <c:pt idx="0">
                  <c:v>133.08241768328327</c:v>
                </c:pt>
              </c:numCache>
            </c:numRef>
          </c:xVal>
          <c:yVal>
            <c:numRef>
              <c:numCache>
                <c:formatCode>General</c:formatCode>
                <c:ptCount val="1"/>
                <c:pt idx="0">
                  <c:v>147.1908832396961</c:v>
                </c:pt>
              </c:numCache>
            </c:numRef>
          </c:yVal>
          <c:bubbleSize>
            <c:numRef>
              <c:numCache>
                <c:formatCode>General</c:formatCode>
                <c:ptCount val="1"/>
                <c:pt idx="0">
                  <c:v>24027.607</c:v>
                </c:pt>
              </c:numCache>
            </c:numRef>
          </c:bubbleSize>
          <c:bubble3D val="0"/>
        </c:ser>
        <c:ser>
          <c:idx val="1"/>
          <c:order val="1"/>
          <c:tx>
            <c:strRef>
              <c:strCache>
                <c:ptCount val="1"/>
                <c:pt idx="0">
                  <c:v>Residential &amp; Home Decoration</c:v>
                </c:pt>
              </c:strCache>
            </c:strRef>
          </c:tx>
          <c:spPr>
            <a:solidFill>
              <a:srgbClr val="9E7E0A"/>
            </a:solidFill>
          </c:spPr>
          <c:invertIfNegative val="0"/>
          <c:xVal>
            <c:numRef>
              <c:numCache>
                <c:formatCode>General</c:formatCode>
                <c:ptCount val="1"/>
                <c:pt idx="0">
                  <c:v>98.66038415427745</c:v>
                </c:pt>
              </c:numCache>
            </c:numRef>
          </c:xVal>
          <c:yVal>
            <c:numRef>
              <c:numCache>
                <c:formatCode>General</c:formatCode>
                <c:ptCount val="1"/>
                <c:pt idx="0">
                  <c:v>58.615120287170676</c:v>
                </c:pt>
              </c:numCache>
            </c:numRef>
          </c:yVal>
          <c:bubbleSize>
            <c:numRef>
              <c:numCache>
                <c:formatCode>General</c:formatCode>
                <c:ptCount val="1"/>
                <c:pt idx="0">
                  <c:v>8131.76</c:v>
                </c:pt>
              </c:numCache>
            </c:numRef>
          </c:bubbleSize>
          <c:bubble3D val="0"/>
        </c:ser>
        <c:ser>
          <c:idx val="2"/>
          <c:order val="2"/>
          <c:tx>
            <c:strRef>
              <c:strCache>
                <c:ptCount val="1"/>
                <c:pt idx="0">
                  <c:v>Weddings &amp; Special Events</c:v>
                </c:pt>
              </c:strCache>
            </c:strRef>
          </c:tx>
          <c:spPr>
            <a:solidFill>
              <a:srgbClr val="008189"/>
            </a:solidFill>
          </c:spPr>
          <c:invertIfNegative val="0"/>
          <c:xVal>
            <c:numRef>
              <c:numCache>
                <c:formatCode>General</c:formatCode>
                <c:ptCount val="1"/>
                <c:pt idx="0">
                  <c:v>78.1782279623112</c:v>
                </c:pt>
              </c:numCache>
            </c:numRef>
          </c:xVal>
          <c:yVal>
            <c:numRef>
              <c:numCache>
                <c:formatCode>General</c:formatCode>
                <c:ptCount val="1"/>
                <c:pt idx="0">
                  <c:v>127.65692758856426</c:v>
                </c:pt>
              </c:numCache>
            </c:numRef>
          </c:yVal>
          <c:bubbleSize>
            <c:numRef>
              <c:numCache>
                <c:formatCode>General</c:formatCode>
                <c:ptCount val="1"/>
                <c:pt idx="0">
                  <c:v>16055.563</c:v>
                </c:pt>
              </c:numCache>
            </c:numRef>
          </c:bubbleSize>
          <c:bubble3D val="0"/>
        </c:ser>
        <c:ser>
          <c:idx val="3"/>
          <c:order val="3"/>
          <c:tx>
            <c:strRef>
              <c:strCache>
                <c:ptCount val="1"/>
                <c:pt idx="0">
                  <c:v>Hospitality &amp; Commercial Decoration</c:v>
                </c:pt>
              </c:strCache>
            </c:strRef>
          </c:tx>
          <c:spPr>
            <a:solidFill>
              <a:srgbClr val="40315E"/>
            </a:solidFill>
          </c:spPr>
          <c:invertIfNegative val="0"/>
          <c:xVal>
            <c:numRef>
              <c:numCache>
                <c:formatCode>General</c:formatCode>
                <c:ptCount val="1"/>
                <c:pt idx="0">
                  <c:v>111.56500828111267</c:v>
                </c:pt>
              </c:numCache>
            </c:numRef>
          </c:xVal>
          <c:yVal>
            <c:numRef>
              <c:numCache>
                <c:formatCode>General</c:formatCode>
                <c:ptCount val="1"/>
                <c:pt idx="0">
                  <c:v>144.56384148546138</c:v>
                </c:pt>
              </c:numCache>
            </c:numRef>
          </c:yVal>
          <c:bubbleSize>
            <c:numRef>
              <c:numCache>
                <c:formatCode>General</c:formatCode>
                <c:ptCount val="1"/>
                <c:pt idx="0">
                  <c:v>21323.451</c:v>
                </c:pt>
              </c:numCache>
            </c:numRef>
          </c:bubbleSize>
          <c:bubble3D val="0"/>
        </c:ser>
        <c:ser>
          <c:idx val="4"/>
          <c:order val="4"/>
          <c:tx>
            <c:strRef>
              <c:strCache>
                <c:ptCount val="1"/>
                <c:pt idx="0">
                  <c:v>Funeral &amp; Memorial Services</c:v>
                </c:pt>
              </c:strCache>
            </c:strRef>
          </c:tx>
          <c:spPr>
            <a:solidFill>
              <a:srgbClr val="A35313"/>
            </a:solidFill>
          </c:spPr>
          <c:invertIfNegative val="0"/>
          <c:xVal>
            <c:numRef>
              <c:numCache>
                <c:formatCode>General</c:formatCode>
                <c:ptCount val="1"/>
                <c:pt idx="0">
                  <c:v>83.4697663889346</c:v>
                </c:pt>
              </c:numCache>
            </c:numRef>
          </c:xVal>
          <c:yVal>
            <c:numRef>
              <c:numCache>
                <c:formatCode>General</c:formatCode>
                <c:ptCount val="1"/>
                <c:pt idx="0">
                  <c:v>118.17661727255391</c:v>
                </c:pt>
              </c:numCache>
            </c:numRef>
          </c:yVal>
          <c:bubbleSize>
            <c:numRef>
              <c:numCache>
                <c:formatCode>General</c:formatCode>
                <c:ptCount val="1"/>
                <c:pt idx="0">
                  <c:v>15246.032</c:v>
                </c:pt>
              </c:numCache>
            </c:numRef>
          </c:bubbleSize>
          <c:bubble3D val="0"/>
        </c:ser>
        <c:ser>
          <c:idx val="5"/>
          <c:order val="5"/>
          <c:tx>
            <c:strRef>
              <c:strCache>
                <c:ptCount val="1"/>
                <c:pt idx="0">
                  <c:v>Landscaping &amp; Gardening</c:v>
                </c:pt>
              </c:strCache>
            </c:strRef>
          </c:tx>
          <c:spPr>
            <a:solidFill>
              <a:srgbClr val="808080"/>
            </a:solidFill>
          </c:spPr>
          <c:invertIfNegative val="0"/>
          <c:xVal>
            <c:numRef>
              <c:numCache>
                <c:formatCode>General</c:formatCode>
                <c:ptCount val="1"/>
                <c:pt idx="0">
                  <c:v>52.12340191733532</c:v>
                </c:pt>
              </c:numCache>
            </c:numRef>
          </c:xVal>
          <c:yVal>
            <c:numRef>
              <c:numCache>
                <c:formatCode>General</c:formatCode>
                <c:ptCount val="1"/>
                <c:pt idx="0">
                  <c:v>85.83163452772115</c:v>
                </c:pt>
              </c:numCache>
            </c:numRef>
          </c:yVal>
          <c:bubbleSize>
            <c:numRef>
              <c:numCache>
                <c:formatCode>General</c:formatCode>
                <c:ptCount val="1"/>
                <c:pt idx="0">
                  <c:v>9515.582</c:v>
                </c:pt>
              </c:numCache>
            </c:numRef>
          </c:bubbleSize>
          <c:bubble3D val="0"/>
        </c:ser>
        <c:ser>
          <c:idx val="6"/>
          <c:order val="6"/>
          <c:tx>
            <c:strRef>
              <c:strCache>
                <c:ptCount val="1"/>
                <c:pt idx="0">
                  <c:v>Other Institutional Applications</c:v>
                </c:pt>
              </c:strCache>
            </c:strRef>
          </c:tx>
          <c:spPr>
            <a:solidFill>
              <a:srgbClr val="0E72AE"/>
            </a:solidFill>
          </c:spPr>
          <c:invertIfNegative val="0"/>
          <c:xVal>
            <c:numRef>
              <c:numCache>
                <c:formatCode>General</c:formatCode>
                <c:ptCount val="1"/>
                <c:pt idx="0">
                  <c:v>166.9954840081346</c:v>
                </c:pt>
              </c:numCache>
            </c:numRef>
          </c:xVal>
          <c:yVal>
            <c:numRef>
              <c:numCache>
                <c:formatCode>General</c:formatCode>
                <c:ptCount val="1"/>
                <c:pt idx="0">
                  <c:v>17.96497559883252</c:v>
                </c:pt>
              </c:numCache>
            </c:numRef>
          </c:yVal>
          <c:bubbleSize>
            <c:numRef>
              <c:numCache>
                <c:formatCode>General</c:formatCode>
                <c:ptCount val="1"/>
                <c:pt idx="0">
                  <c:v>3433.681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0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12616.361</c:v>
                </c:pt>
                <c:pt idx="2">
                  <c:v>14342.906</c:v>
                </c:pt>
                <c:pt idx="3">
                  <c:v>16310.151</c:v>
                </c:pt>
                <c:pt idx="4">
                  <c:v>18552.587</c:v>
                </c:pt>
                <c:pt idx="5">
                  <c:v>21109.874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12616.361</c:v>
                </c:pt>
                <c:pt idx="1">
                  <c:v>1726.545</c:v>
                </c:pt>
                <c:pt idx="2">
                  <c:v>1967.244999999999</c:v>
                </c:pt>
                <c:pt idx="3">
                  <c:v>2242.4359999999997</c:v>
                </c:pt>
                <c:pt idx="4">
                  <c:v>2557.2870000000003</c:v>
                </c:pt>
                <c:pt idx="5">
                  <c:v>2917.733</c:v>
                </c:pt>
                <c:pt idx="6">
                  <c:v>24027.607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5024.153</c:v>
                </c:pt>
                <c:pt idx="2">
                  <c:v>5532.974</c:v>
                </c:pt>
                <c:pt idx="3">
                  <c:v>6092.857</c:v>
                </c:pt>
                <c:pt idx="4">
                  <c:v>6708.849</c:v>
                </c:pt>
                <c:pt idx="5">
                  <c:v>7386.462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5024.153</c:v>
                </c:pt>
                <c:pt idx="1">
                  <c:v>508.8209999999999</c:v>
                </c:pt>
                <c:pt idx="2">
                  <c:v>559.8829999999998</c:v>
                </c:pt>
                <c:pt idx="3">
                  <c:v>615.9920000000002</c:v>
                </c:pt>
                <c:pt idx="4">
                  <c:v>677.6130000000003</c:v>
                </c:pt>
                <c:pt idx="5">
                  <c:v>745.2979999999998</c:v>
                </c:pt>
                <c:pt idx="6">
                  <c:v>8131.76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10942.022</c:v>
                </c:pt>
                <c:pt idx="2">
                  <c:v>11840.168</c:v>
                </c:pt>
                <c:pt idx="3">
                  <c:v>12799.218</c:v>
                </c:pt>
                <c:pt idx="4">
                  <c:v>13820.848</c:v>
                </c:pt>
                <c:pt idx="5">
                  <c:v>14906.169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10942.022</c:v>
                </c:pt>
                <c:pt idx="1">
                  <c:v>898.1459999999988</c:v>
                </c:pt>
                <c:pt idx="2">
                  <c:v>959.0500000000011</c:v>
                </c:pt>
                <c:pt idx="3">
                  <c:v>1021.6299999999992</c:v>
                </c:pt>
                <c:pt idx="4">
                  <c:v>1085.321</c:v>
                </c:pt>
                <c:pt idx="5">
                  <c:v>1149.3940000000002</c:v>
                </c:pt>
                <c:pt idx="6">
                  <c:v>16055.563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12391.186</c:v>
                </c:pt>
                <c:pt idx="2">
                  <c:v>13803.99</c:v>
                </c:pt>
                <c:pt idx="3">
                  <c:v>15382.215</c:v>
                </c:pt>
                <c:pt idx="4">
                  <c:v>17145.954</c:v>
                </c:pt>
                <c:pt idx="5">
                  <c:v>19117.842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12391.186</c:v>
                </c:pt>
                <c:pt idx="1">
                  <c:v>1412.804</c:v>
                </c:pt>
                <c:pt idx="2">
                  <c:v>1578.2250000000004</c:v>
                </c:pt>
                <c:pt idx="3">
                  <c:v>1763.7390000000014</c:v>
                </c:pt>
                <c:pt idx="4">
                  <c:v>1971.887999999999</c:v>
                </c:pt>
                <c:pt idx="5">
                  <c:v>2205.6090000000004</c:v>
                </c:pt>
                <c:pt idx="6">
                  <c:v>21323.451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10129.424</c:v>
                </c:pt>
                <c:pt idx="2">
                  <c:v>11013.701</c:v>
                </c:pt>
                <c:pt idx="3">
                  <c:v>11964.708</c:v>
                </c:pt>
                <c:pt idx="4">
                  <c:v>12985.423</c:v>
                </c:pt>
                <c:pt idx="5">
                  <c:v>14078.493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10129.424</c:v>
                </c:pt>
                <c:pt idx="1">
                  <c:v>884.2769999999982</c:v>
                </c:pt>
                <c:pt idx="2">
                  <c:v>951.0070000000014</c:v>
                </c:pt>
                <c:pt idx="3">
                  <c:v>1020.7150000000001</c:v>
                </c:pt>
                <c:pt idx="4">
                  <c:v>1093.0699999999997</c:v>
                </c:pt>
                <c:pt idx="5">
                  <c:v>1167.5389999999989</c:v>
                </c:pt>
                <c:pt idx="6">
                  <c:v>15246.032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7356.997</c:v>
                </c:pt>
                <c:pt idx="2">
                  <c:v>7803.606</c:v>
                </c:pt>
                <c:pt idx="3">
                  <c:v>8250.692</c:v>
                </c:pt>
                <c:pt idx="4">
                  <c:v>8691.297</c:v>
                </c:pt>
                <c:pt idx="5">
                  <c:v>9116.609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7356.997</c:v>
                </c:pt>
                <c:pt idx="1">
                  <c:v>446.60899999999947</c:v>
                </c:pt>
                <c:pt idx="2">
                  <c:v>447.08599999999933</c:v>
                </c:pt>
                <c:pt idx="3">
                  <c:v>440.6050000000014</c:v>
                </c:pt>
                <c:pt idx="4">
                  <c:v>425.3119999999999</c:v>
                </c:pt>
                <c:pt idx="5">
                  <c:v>398.97299999999996</c:v>
                </c:pt>
                <c:pt idx="6">
                  <c:v>9515.582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1539.855</c:v>
                </c:pt>
                <c:pt idx="2">
                  <c:v>1812.653</c:v>
                </c:pt>
                <c:pt idx="3">
                  <c:v>2130.531</c:v>
                </c:pt>
                <c:pt idx="4">
                  <c:v>2500.78</c:v>
                </c:pt>
                <c:pt idx="5">
                  <c:v>2931.875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1539.855</c:v>
                </c:pt>
                <c:pt idx="1">
                  <c:v>272.798</c:v>
                </c:pt>
                <c:pt idx="2">
                  <c:v>317.87799999999993</c:v>
                </c:pt>
                <c:pt idx="3">
                  <c:v>370.24900000000025</c:v>
                </c:pt>
                <c:pt idx="4">
                  <c:v>431.0949999999998</c:v>
                </c:pt>
                <c:pt idx="5">
                  <c:v>501.80600000000004</c:v>
                </c:pt>
                <c:pt idx="6">
                  <c:v>3433.681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Personal Gifting &amp; Celebrations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19.49564797550152</c:v>
                </c:pt>
                <c:pt idx="1">
                  <c:v>21.027269034242302</c:v>
                </c:pt>
                <c:pt idx="2">
                  <c:v>24.584777717764343</c:v>
                </c:pt>
              </c:numCache>
            </c:numRef>
          </c:val>
        </c:ser>
        <c:ser>
          <c:idx val="1"/>
          <c:order val="1"/>
          <c:tx>
            <c:strRef>
              <c:strCache>
                <c:ptCount val="1"/>
                <c:pt idx="0">
                  <c:v>Hospitality &amp; Commercial Decoration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20.145351881363503</c:v>
                </c:pt>
                <c:pt idx="1">
                  <c:v>20.651977355065913</c:v>
                </c:pt>
                <c:pt idx="2">
                  <c:v>21.817915658876885</c:v>
                </c:pt>
              </c:numCache>
            </c:numRef>
          </c:val>
        </c:ser>
        <c:ser>
          <c:idx val="2"/>
          <c:order val="2"/>
          <c:tx>
            <c:strRef>
              <c:strCache>
                <c:ptCount val="1"/>
                <c:pt idx="0">
                  <c:v>Weddings &amp; Special Events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19.036186603344383</c:v>
                </c:pt>
                <c:pt idx="1">
                  <c:v>18.236703941223467</c:v>
                </c:pt>
                <c:pt idx="2">
                  <c:v>16.427871801322606</c:v>
                </c:pt>
              </c:numCache>
            </c:numRef>
          </c:val>
        </c:ser>
        <c:ser>
          <c:idx val="3"/>
          <c:order val="3"/>
          <c:tx>
            <c:strRef>
              <c:strCache>
                <c:ptCount val="1"/>
                <c:pt idx="0">
                  <c:v>Funeral &amp; Memorial Services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17.419382450307076</c:v>
                </c:pt>
                <c:pt idx="1">
                  <c:v>16.88237389607913</c:v>
                </c:pt>
                <c:pt idx="2">
                  <c:v>15.599568770952601</c:v>
                </c:pt>
              </c:numCache>
            </c:numRef>
          </c:val>
        </c:ser>
        <c:ser>
          <c:idx val="4"/>
          <c:order val="4"/>
          <c:tx>
            <c:strRef>
              <c:strCache>
                <c:ptCount val="1"/>
                <c:pt idx="0">
                  <c:v>Landscaping &amp; Gardening</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13.34793356928802</c:v>
                </c:pt>
                <c:pt idx="1">
                  <c:v>12.261662075388736</c:v>
                </c:pt>
                <c:pt idx="2">
                  <c:v>9.736236668310726</c:v>
                </c:pt>
              </c:numCache>
            </c:numRef>
          </c:val>
        </c:ser>
        <c:ser>
          <c:idx val="5"/>
          <c:order val="5"/>
          <c:tx>
            <c:strRef>
              <c:strCache>
                <c:ptCount val="1"/>
                <c:pt idx="0">
                  <c:v>Residential &amp; Home Decoration</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8.394255039647796</c:v>
                </c:pt>
                <c:pt idx="1">
                  <c:v>8.373588612452956</c:v>
                </c:pt>
                <c:pt idx="2">
                  <c:v>8.320325534465725</c:v>
                </c:pt>
              </c:numCache>
            </c:numRef>
          </c:val>
        </c:ser>
        <c:ser>
          <c:idx val="6"/>
          <c:order val="6"/>
          <c:tx>
            <c:strRef>
              <c:strCache>
                <c:ptCount val="1"/>
                <c:pt idx="0">
                  <c:v>Other Institutional Applications</c:v>
                </c:pt>
              </c:strCache>
            </c:strRef>
          </c:tx>
          <c:spPr>
            <a:solidFill>
              <a:srgbClr val="0E72AE"/>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2.1612424805477137</c:v>
                </c:pt>
                <c:pt idx="1">
                  <c:v>2.566425085547503</c:v>
                </c:pt>
                <c:pt idx="2">
                  <c:v>3.5133038483071073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Open-Field Cultivation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72.11867012995741</c:v>
                </c:pt>
                <c:pt idx="1">
                  <c:v>72.11868639406568</c:v>
                </c:pt>
                <c:pt idx="2">
                  <c:v>72.11868639406568</c:v>
                </c:pt>
                <c:pt idx="3">
                  <c:v>72.11868639406568</c:v>
                </c:pt>
                <c:pt idx="4">
                  <c:v>72.11868639406568</c:v>
                </c:pt>
                <c:pt idx="5">
                  <c:v>72.11868639406568</c:v>
                </c:pt>
                <c:pt idx="6">
                  <c:v>72.11868639406568</c:v>
                </c:pt>
              </c:numCache>
            </c:numRef>
          </c:val>
        </c:ser>
        <c:ser>
          <c:idx val="1"/>
          <c:order val="1"/>
          <c:tx>
            <c:strRef>
              <c:strCache>
                <c:ptCount val="1"/>
                <c:pt idx="0">
                  <c:v>Protected Cultivation</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27.881329870042602</c:v>
                </c:pt>
                <c:pt idx="1">
                  <c:v>27.88131360593432</c:v>
                </c:pt>
                <c:pt idx="2">
                  <c:v>27.88131360593432</c:v>
                </c:pt>
                <c:pt idx="3">
                  <c:v>27.88131360593432</c:v>
                </c:pt>
                <c:pt idx="4">
                  <c:v>27.88131360593432</c:v>
                </c:pt>
                <c:pt idx="5">
                  <c:v>27.88131360593432</c:v>
                </c:pt>
                <c:pt idx="6">
                  <c:v>27.88131360593432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Gerbera</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15.9720703931187</c:v>
                </c:pt>
                <c:pt idx="1">
                  <c:v>15.972325277736555</c:v>
                </c:pt>
                <c:pt idx="2">
                  <c:v>15.972325277736555</c:v>
                </c:pt>
                <c:pt idx="3">
                  <c:v>15.972325277736555</c:v>
                </c:pt>
                <c:pt idx="4">
                  <c:v>15.972325277736555</c:v>
                </c:pt>
                <c:pt idx="5">
                  <c:v>15.972325277736555</c:v>
                </c:pt>
                <c:pt idx="6">
                  <c:v>15.972325277736555</c:v>
                </c:pt>
              </c:numCache>
            </c:numRef>
          </c:val>
        </c:ser>
        <c:ser>
          <c:idx val="1"/>
          <c:order val="1"/>
          <c:tx>
            <c:strRef>
              <c:strCache>
                <c:ptCount val="1"/>
                <c:pt idx="0">
                  <c:v>Carnations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15.001039502737354</c:v>
                </c:pt>
                <c:pt idx="1">
                  <c:v>15.0009939996024</c:v>
                </c:pt>
                <c:pt idx="2">
                  <c:v>15.0009939996024</c:v>
                </c:pt>
                <c:pt idx="3">
                  <c:v>15.0009939996024</c:v>
                </c:pt>
                <c:pt idx="4">
                  <c:v>15.0009939996024</c:v>
                </c:pt>
                <c:pt idx="5">
                  <c:v>15.0009939996024</c:v>
                </c:pt>
                <c:pt idx="6">
                  <c:v>15.0009939996024</c:v>
                </c:pt>
              </c:numCache>
            </c:numRef>
          </c:val>
        </c:ser>
        <c:ser>
          <c:idx val="2"/>
          <c:order val="2"/>
          <c:tx>
            <c:strRef>
              <c:strCache>
                <c:ptCount val="1"/>
                <c:pt idx="0">
                  <c:v>Lilies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12.320709111200658</c:v>
                </c:pt>
                <c:pt idx="1">
                  <c:v>12.32067173839797</c:v>
                </c:pt>
                <c:pt idx="2">
                  <c:v>12.32067173839797</c:v>
                </c:pt>
                <c:pt idx="3">
                  <c:v>12.32067173839797</c:v>
                </c:pt>
                <c:pt idx="4">
                  <c:v>12.32067173839797</c:v>
                </c:pt>
                <c:pt idx="5">
                  <c:v>12.32067173839797</c:v>
                </c:pt>
                <c:pt idx="6">
                  <c:v>12.32067173839797</c:v>
                </c:pt>
              </c:numCache>
            </c:numRef>
          </c:val>
        </c:ser>
        <c:ser>
          <c:idx val="3"/>
          <c:order val="3"/>
          <c:tx>
            <c:strRef>
              <c:strCache>
                <c:ptCount val="1"/>
                <c:pt idx="0">
                  <c:v>Peonies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11.529007026385168</c:v>
                </c:pt>
                <c:pt idx="1">
                  <c:v>11.528972055077844</c:v>
                </c:pt>
                <c:pt idx="2">
                  <c:v>11.528972055077844</c:v>
                </c:pt>
                <c:pt idx="3">
                  <c:v>11.528972055077844</c:v>
                </c:pt>
                <c:pt idx="4">
                  <c:v>11.528972055077844</c:v>
                </c:pt>
                <c:pt idx="5">
                  <c:v>11.528972055077844</c:v>
                </c:pt>
                <c:pt idx="6">
                  <c:v>11.528972055077844</c:v>
                </c:pt>
              </c:numCache>
            </c:numRef>
          </c:val>
        </c:ser>
        <c:ser>
          <c:idx val="4"/>
          <c:order val="4"/>
          <c:tx>
            <c:strRef>
              <c:strCache>
                <c:ptCount val="1"/>
                <c:pt idx="0">
                  <c:v>Tulips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9.619635331706371</c:v>
                </c:pt>
                <c:pt idx="1">
                  <c:v>9.619606152157537</c:v>
                </c:pt>
                <c:pt idx="2">
                  <c:v>9.619606152157537</c:v>
                </c:pt>
                <c:pt idx="3">
                  <c:v>9.619606152157537</c:v>
                </c:pt>
                <c:pt idx="4">
                  <c:v>9.619606152157537</c:v>
                </c:pt>
                <c:pt idx="5">
                  <c:v>9.619606152157537</c:v>
                </c:pt>
                <c:pt idx="6">
                  <c:v>9.619606152157537</c:v>
                </c:pt>
              </c:numCache>
            </c:numRef>
          </c:val>
        </c:ser>
        <c:ser>
          <c:idx val="5"/>
          <c:order val="5"/>
          <c:tx>
            <c:strRef>
              <c:strCache>
                <c:ptCount val="1"/>
                <c:pt idx="0">
                  <c:v>Orchids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9.050813833809762</c:v>
                </c:pt>
                <c:pt idx="1">
                  <c:v>9.050786379685448</c:v>
                </c:pt>
                <c:pt idx="2">
                  <c:v>9.050786379685448</c:v>
                </c:pt>
                <c:pt idx="3">
                  <c:v>9.050786379685448</c:v>
                </c:pt>
                <c:pt idx="4">
                  <c:v>9.050786379685448</c:v>
                </c:pt>
                <c:pt idx="5">
                  <c:v>9.050786379685448</c:v>
                </c:pt>
                <c:pt idx="6">
                  <c:v>9.050786379685448</c:v>
                </c:pt>
              </c:numCache>
            </c:numRef>
          </c:val>
        </c:ser>
        <c:ser>
          <c:idx val="6"/>
          <c:order val="6"/>
          <c:tx>
            <c:strRef>
              <c:strCache>
                <c:ptCount val="1"/>
                <c:pt idx="0">
                  <c:v>Roses</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8.191118236611356</c:v>
                </c:pt>
                <c:pt idx="1">
                  <c:v>8.19109339022931</c:v>
                </c:pt>
                <c:pt idx="2">
                  <c:v>8.19109339022931</c:v>
                </c:pt>
                <c:pt idx="3">
                  <c:v>8.19109339022931</c:v>
                </c:pt>
                <c:pt idx="4">
                  <c:v>8.19109339022931</c:v>
                </c:pt>
                <c:pt idx="5">
                  <c:v>8.19109339022931</c:v>
                </c:pt>
                <c:pt idx="6">
                  <c:v>8.19109339022931</c:v>
                </c:pt>
              </c:numCache>
            </c:numRef>
          </c:val>
        </c:ser>
        <c:ser>
          <c:idx val="7"/>
          <c:order val="7"/>
          <c:tx>
            <c:strRef>
              <c:strCache>
                <c:ptCount val="1"/>
                <c:pt idx="0">
                  <c:v>Lisianthus</c:v>
                </c:pt>
              </c:strCache>
            </c:strRef>
          </c:tx>
          <c:spPr>
            <a:solidFill>
              <a:srgbClr val="A86F0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6.564745620496801</c:v>
                </c:pt>
                <c:pt idx="1">
                  <c:v>6.56472570744305</c:v>
                </c:pt>
                <c:pt idx="2">
                  <c:v>6.56472570744305</c:v>
                </c:pt>
                <c:pt idx="3">
                  <c:v>6.56472570744305</c:v>
                </c:pt>
                <c:pt idx="4">
                  <c:v>6.56472570744305</c:v>
                </c:pt>
                <c:pt idx="5">
                  <c:v>6.56472570744305</c:v>
                </c:pt>
                <c:pt idx="6">
                  <c:v>6.56472570744305</c:v>
                </c:pt>
              </c:numCache>
            </c:numRef>
          </c:val>
        </c:ser>
        <c:ser>
          <c:idx val="8"/>
          <c:order val="8"/>
          <c:tx>
            <c:strRef>
              <c:strCache>
                <c:ptCount val="1"/>
                <c:pt idx="0">
                  <c:v>Hydrangeas</c:v>
                </c:pt>
              </c:strCache>
            </c:strRef>
          </c:tx>
          <c:spPr>
            <a:solidFill>
              <a:srgbClr val="0B2E4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3.7938816572216973</c:v>
                </c:pt>
                <c:pt idx="1">
                  <c:v>3.793870149118607</c:v>
                </c:pt>
                <c:pt idx="2">
                  <c:v>3.793870149118607</c:v>
                </c:pt>
                <c:pt idx="3">
                  <c:v>3.793870149118607</c:v>
                </c:pt>
                <c:pt idx="4">
                  <c:v>3.793870149118607</c:v>
                </c:pt>
                <c:pt idx="5">
                  <c:v>3.793870149118607</c:v>
                </c:pt>
                <c:pt idx="6">
                  <c:v>3.793870149118607</c:v>
                </c:pt>
              </c:numCache>
            </c:numRef>
          </c:val>
        </c:ser>
        <c:ser>
          <c:idx val="9"/>
          <c:order val="9"/>
          <c:tx>
            <c:strRef>
              <c:strCache>
                <c:ptCount val="1"/>
                <c:pt idx="0">
                  <c:v>Alstroemeria</c:v>
                </c:pt>
              </c:strCache>
            </c:strRef>
          </c:tx>
          <c:spPr>
            <a:solidFill>
              <a:srgbClr val="6C7A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3.1159998721329965</c:v>
                </c:pt>
                <c:pt idx="1">
                  <c:v>3.115990420270498</c:v>
                </c:pt>
                <c:pt idx="2">
                  <c:v>3.115990420270498</c:v>
                </c:pt>
                <c:pt idx="3">
                  <c:v>3.115990420270498</c:v>
                </c:pt>
                <c:pt idx="4">
                  <c:v>3.115990420270498</c:v>
                </c:pt>
                <c:pt idx="5">
                  <c:v>3.115990420270498</c:v>
                </c:pt>
                <c:pt idx="6">
                  <c:v>3.115990420270498</c:v>
                </c:pt>
              </c:numCache>
            </c:numRef>
          </c:val>
        </c:ser>
        <c:ser>
          <c:idx val="10"/>
          <c:order val="10"/>
          <c:tx>
            <c:strRef>
              <c:strCache>
                <c:ptCount val="1"/>
                <c:pt idx="0">
                  <c:v>Others</c:v>
                </c:pt>
              </c:strCache>
            </c:strRef>
          </c:tx>
          <c:spPr>
            <a:solidFill>
              <a:srgbClr val="B2B2B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2.9675528145557446</c:v>
                </c:pt>
                <c:pt idx="1">
                  <c:v>2.9675438129824743</c:v>
                </c:pt>
                <c:pt idx="2">
                  <c:v>2.9675438129824743</c:v>
                </c:pt>
                <c:pt idx="3">
                  <c:v>2.9675438129824743</c:v>
                </c:pt>
                <c:pt idx="4">
                  <c:v>2.9675438129824743</c:v>
                </c:pt>
                <c:pt idx="5">
                  <c:v>2.9675438129824743</c:v>
                </c:pt>
                <c:pt idx="6">
                  <c:v>2.9675438129824743</c:v>
                </c:pt>
              </c:numCache>
            </c:numRef>
          </c:val>
        </c:ser>
        <c:ser>
          <c:idx val="11"/>
          <c:order val="11"/>
          <c:tx>
            <c:strRef>
              <c:strCache>
                <c:ptCount val="1"/>
                <c:pt idx="0">
                  <c:v>Chrysanthemums</c:v>
                </c:pt>
              </c:strCache>
            </c:strRef>
          </c:tx>
          <c:spPr>
            <a:solidFill>
              <a:srgbClr val="5F5F5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1.87342660002338</c:v>
                </c:pt>
                <c:pt idx="1">
                  <c:v>1.8734209172982998</c:v>
                </c:pt>
                <c:pt idx="2">
                  <c:v>1.8734209172982998</c:v>
                </c:pt>
                <c:pt idx="3">
                  <c:v>1.8734209172982998</c:v>
                </c:pt>
                <c:pt idx="4">
                  <c:v>1.8734209172982998</c:v>
                </c:pt>
                <c:pt idx="5">
                  <c:v>1.8734209172982998</c:v>
                </c:pt>
                <c:pt idx="6">
                  <c:v>1.8734209172982998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2.6952790430077034</c:v>
                </c:pt>
                <c:pt idx="1">
                  <c:v>2.630008971117803</c:v>
                </c:pt>
                <c:pt idx="2">
                  <c:v>2.6517610511429535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577683367701685"/>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10588.318000000001</c:v>
                </c:pt>
                <c:pt idx="2">
                  <c:v>0.0</c:v>
                </c:pt>
                <c:pt idx="3">
                  <c:v>12094.262</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10588.318000000001</c:v>
                </c:pt>
                <c:pt idx="1">
                  <c:v>1505.9439999999995</c:v>
                </c:pt>
                <c:pt idx="2">
                  <c:v>12094.262</c:v>
                </c:pt>
                <c:pt idx="3">
                  <c:v>3584.907000000001</c:v>
                </c:pt>
                <c:pt idx="4">
                  <c:v>15679.169000000002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4.163764536234127</c:v>
                </c:pt>
                <c:pt idx="1">
                  <c:v>4.100923237296894</c:v>
                </c:pt>
                <c:pt idx="2">
                  <c:v>4.121866123397955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4961691878290475"/>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16182.081</c:v>
                </c:pt>
                <c:pt idx="2">
                  <c:v>0.0</c:v>
                </c:pt>
                <c:pt idx="3">
                  <c:v>19843.474</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16182.081</c:v>
                </c:pt>
                <c:pt idx="1">
                  <c:v>3661.392999999998</c:v>
                </c:pt>
                <c:pt idx="2">
                  <c:v>19843.474</c:v>
                </c:pt>
                <c:pt idx="3">
                  <c:v>9816.005000000001</c:v>
                </c:pt>
                <c:pt idx="4">
                  <c:v>29659.479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16182.081</c:v>
                </c:pt>
                <c:pt idx="1">
                  <c:v>16858.819</c:v>
                </c:pt>
                <c:pt idx="2">
                  <c:v>17562.33</c:v>
                </c:pt>
                <c:pt idx="3">
                  <c:v>18293.593</c:v>
                </c:pt>
                <c:pt idx="4">
                  <c:v>19053.624</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10588.318000000001</c:v>
                </c:pt>
                <c:pt idx="1">
                  <c:v>10875.704</c:v>
                </c:pt>
                <c:pt idx="2">
                  <c:v>11169.867999999999</c:v>
                </c:pt>
                <c:pt idx="3">
                  <c:v>11470.932</c:v>
                </c:pt>
                <c:pt idx="4">
                  <c:v>11779.023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248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6717"/>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19843.474</c:v>
                </c:pt>
                <c:pt idx="1">
                  <c:v>20665.532</c:v>
                </c:pt>
                <c:pt idx="2">
                  <c:v>21519.749999999996</c:v>
                </c:pt>
                <c:pt idx="3">
                  <c:v>22407.292</c:v>
                </c:pt>
                <c:pt idx="4">
                  <c:v>23329.365</c:v>
                </c:pt>
                <c:pt idx="5">
                  <c:v>24287.21</c:v>
                </c:pt>
                <c:pt idx="6">
                  <c:v>25282.115</c:v>
                </c:pt>
                <c:pt idx="7">
                  <c:v>26315.4</c:v>
                </c:pt>
                <c:pt idx="8">
                  <c:v>27388.442000000003</c:v>
                </c:pt>
                <c:pt idx="9">
                  <c:v>28502.648</c:v>
                </c:pt>
                <c:pt idx="10">
                  <c:v>29659.479</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M&quot;;&quot;MMMMMMMM&quot;;&quot;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12094.262</c:v>
                </c:pt>
                <c:pt idx="1">
                  <c:v>12417.571</c:v>
                </c:pt>
                <c:pt idx="2">
                  <c:v>12748.345000000001</c:v>
                </c:pt>
                <c:pt idx="3">
                  <c:v>13086.712</c:v>
                </c:pt>
                <c:pt idx="4">
                  <c:v>13432.806</c:v>
                </c:pt>
                <c:pt idx="5">
                  <c:v>13786.761</c:v>
                </c:pt>
                <c:pt idx="6">
                  <c:v>14148.711000000001</c:v>
                </c:pt>
                <c:pt idx="7">
                  <c:v>14518.786999999998</c:v>
                </c:pt>
                <c:pt idx="8">
                  <c:v>14897.132000000001</c:v>
                </c:pt>
                <c:pt idx="9">
                  <c:v>15283.879999999997</c:v>
                </c:pt>
                <c:pt idx="10">
                  <c:v>15679.169000000002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34998"/>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4240"/>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94.38240062744833</c:v>
                </c:pt>
                <c:pt idx="1">
                  <c:v>112.08078820855813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35.62804827422153</c:v>
                </c:pt>
                <c:pt idx="1">
                  <c:v>64.37195172577846</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6921.875</c:v>
                </c:pt>
                <c:pt idx="1">
                  <c:v>4198.848</c:v>
                </c:pt>
                <c:pt idx="2">
                  <c:v>2539.956</c:v>
                </c:pt>
                <c:pt idx="3">
                  <c:v>4021.388</c:v>
                </c:pt>
                <c:pt idx="4">
                  <c:v>5391.517</c:v>
                </c:pt>
                <c:pt idx="5">
                  <c:v>3006.798</c:v>
                </c:pt>
                <c:pt idx="6">
                  <c:v>3579.097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0.0467025609829751</c:v>
                </c:pt>
                <c:pt idx="1">
                  <c:v>0.04723287524613328</c:v>
                </c:pt>
                <c:pt idx="2">
                  <c:v>0.048404583111354385</c:v>
                </c:pt>
                <c:pt idx="3">
                  <c:v>0.049583457385537086</c:v>
                </c:pt>
                <c:pt idx="4">
                  <c:v>0.050851911771739755</c:v>
                </c:pt>
                <c:pt idx="5">
                  <c:v>0.051679632006804206</c:v>
                </c:pt>
                <c:pt idx="6">
                  <c:v>0.052206363065481584</c:v>
                </c:pt>
                <c:pt idx="7">
                  <c:v>0.05334223888589471</c:v>
                </c:pt>
                <c:pt idx="8">
                  <c:v>0.0538259714908025</c:v>
                </c:pt>
                <c:pt idx="9">
                  <c:v>0.055062177036677984</c:v>
                </c:pt>
                <c:pt idx="10">
                  <c:v>0.05558532489087457</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0.036439893119054496</c:v>
                </c:pt>
                <c:pt idx="1">
                  <c:v>0.03741206134246532</c:v>
                </c:pt>
                <c:pt idx="2">
                  <c:v>0.03843218405223274</c:v>
                </c:pt>
                <c:pt idx="3">
                  <c:v>0.03910354686122497</c:v>
                </c:pt>
                <c:pt idx="4">
                  <c:v>0.0404593509754885</c:v>
                </c:pt>
                <c:pt idx="5">
                  <c:v>0.041091478295643524</c:v>
                </c:pt>
                <c:pt idx="6">
                  <c:v>0.04245600140742643</c:v>
                </c:pt>
                <c:pt idx="7">
                  <c:v>0.042992219754868284</c:v>
                </c:pt>
                <c:pt idx="8">
                  <c:v>0.043511000107271366</c:v>
                </c:pt>
                <c:pt idx="9">
                  <c:v>0.044526763318279095</c:v>
                </c:pt>
                <c:pt idx="10">
                  <c:v>0.04516325013719381</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0.028865502316433766</c:v>
                </c:pt>
                <c:pt idx="1">
                  <c:v>0.030664966193118176</c:v>
                </c:pt>
                <c:pt idx="2">
                  <c:v>0.032235284857041274</c:v>
                </c:pt>
                <c:pt idx="3">
                  <c:v>0.03358319787328428</c:v>
                </c:pt>
                <c:pt idx="4">
                  <c:v>0.03381234308604558</c:v>
                </c:pt>
                <c:pt idx="5">
                  <c:v>0.03336079222560419</c:v>
                </c:pt>
                <c:pt idx="6">
                  <c:v>0.03201287920936118</c:v>
                </c:pt>
                <c:pt idx="7">
                  <c:v>0.030442560545438084</c:v>
                </c:pt>
                <c:pt idx="8">
                  <c:v>0.029384448827687322</c:v>
                </c:pt>
                <c:pt idx="9">
                  <c:v>0.02815110841782497</c:v>
                </c:pt>
                <c:pt idx="10">
                  <c:v>0.026176415849028974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70.02305721506612</c:v>
                </c:pt>
                <c:pt idx="1">
                  <c:v>68.8858318958103</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29.976942784933875</c:v>
                </c:pt>
                <c:pt idx="1">
                  <c:v>31.114168104189698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68.93579219041989</c:v>
                </c:pt>
                <c:pt idx="1">
                  <c:v>67.42535834833781</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31.064207809580115</c:v>
                </c:pt>
                <c:pt idx="1">
                  <c:v>32.57464165166218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quot;;&quot;MMMMMMMM&quot;;&quot;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quot;;&quot;MMMMMMMM&quot;;&quot;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quot;;&quot;MMMMMMMM&quot;;&quot;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quot;;&quot;MMMMMMMM&quot;;&quot;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7474.1089999999995</c:v>
                </c:pt>
                <c:pt idx="1">
                  <c:v>7664.73</c:v>
                </c:pt>
                <c:pt idx="2">
                  <c:v>7859.446</c:v>
                </c:pt>
                <c:pt idx="3">
                  <c:v>8058.316</c:v>
                </c:pt>
                <c:pt idx="4">
                  <c:v>8261.406</c:v>
                </c:pt>
                <c:pt idx="5">
                  <c:v>8468.772</c:v>
                </c:pt>
                <c:pt idx="6">
                  <c:v>8681.173999999999</c:v>
                </c:pt>
                <c:pt idx="7">
                  <c:v>8898.028</c:v>
                </c:pt>
                <c:pt idx="8">
                  <c:v>9119.395</c:v>
                </c:pt>
                <c:pt idx="9">
                  <c:v>9345.34</c:v>
                </c:pt>
                <c:pt idx="10">
                  <c:v>9575.927000000001</c:v>
                </c:pt>
                <c:pt idx="11">
                  <c:v>9811.221</c:v>
                </c:pt>
                <c:pt idx="12">
                  <c:v>10051.282</c:v>
                </c:pt>
                <c:pt idx="13">
                  <c:v>10296.178</c:v>
                </c:pt>
                <c:pt idx="14">
                  <c:v>10545.972</c:v>
                </c:pt>
                <c:pt idx="15">
                  <c:v>10800.726</c:v>
                </c:pt>
              </c:numCache>
            </c:numRef>
          </c:val>
        </c:ser>
        <c:ser>
          <c:idx val="1"/>
          <c:order val="1"/>
          <c:tx>
            <c:strRef>
              <c:strCache>
                <c:ptCount val="1"/>
                <c:pt idx="0">
                  <c:v>Canada</c:v>
                </c:pt>
              </c:strCache>
            </c:strRef>
          </c:tx>
          <c:spPr>
            <a:solidFill>
              <a:srgbClr val="9E7E0A"/>
            </a:solidFill>
            <a:ln>
              <a:noFill/>
            </a:ln>
          </c:spPr>
          <c:dLbls>
            <c:dLbl>
              <c:idx val="0"/>
              <c:numFmt formatCode="&quot;MMMMMMM&quot;;&quot;MMMMMMM&quot;;&quot;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3114.209</c:v>
                </c:pt>
                <c:pt idx="1">
                  <c:v>3210.974</c:v>
                </c:pt>
                <c:pt idx="2">
                  <c:v>3310.4220000000005</c:v>
                </c:pt>
                <c:pt idx="3">
                  <c:v>3412.616</c:v>
                </c:pt>
                <c:pt idx="4">
                  <c:v>3517.6169999999997</c:v>
                </c:pt>
                <c:pt idx="5">
                  <c:v>3625.49</c:v>
                </c:pt>
                <c:pt idx="6">
                  <c:v>3736.397</c:v>
                </c:pt>
                <c:pt idx="7">
                  <c:v>3850.3170000000005</c:v>
                </c:pt>
                <c:pt idx="8">
                  <c:v>3967.3169999999996</c:v>
                </c:pt>
                <c:pt idx="9">
                  <c:v>4087.466</c:v>
                </c:pt>
                <c:pt idx="10">
                  <c:v>4210.834</c:v>
                </c:pt>
                <c:pt idx="11">
                  <c:v>4337.49</c:v>
                </c:pt>
                <c:pt idx="12">
                  <c:v>4467.505</c:v>
                </c:pt>
                <c:pt idx="13">
                  <c:v>4600.954</c:v>
                </c:pt>
                <c:pt idx="14">
                  <c:v>4737.908</c:v>
                </c:pt>
                <c:pt idx="15">
                  <c:v>4878.442999999999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quot;;&quot;MMMMMMMM&quot;;&quot;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quot;;&quot;MMMMMMMM&quot;;&quot;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quot;;&quot;MMMMMMMM&quot;;&quot;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quot;;&quot;MMMMMMMM&quot;;&quot;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quot;;&quot;MMMMMMMM&quot;;&quot;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11276.013</c:v>
                </c:pt>
                <c:pt idx="1">
                  <c:v>11722.551000000001</c:v>
                </c:pt>
                <c:pt idx="2">
                  <c:v>12185.585000000001</c:v>
                </c:pt>
                <c:pt idx="3">
                  <c:v>12665.665</c:v>
                </c:pt>
                <c:pt idx="4">
                  <c:v>13163.359999999999</c:v>
                </c:pt>
                <c:pt idx="5">
                  <c:v>13679.256000000001</c:v>
                </c:pt>
                <c:pt idx="6">
                  <c:v>14215.093</c:v>
                </c:pt>
                <c:pt idx="7">
                  <c:v>14770.464</c:v>
                </c:pt>
                <c:pt idx="8">
                  <c:v>15346.013</c:v>
                </c:pt>
                <c:pt idx="9">
                  <c:v>15942.405999999999</c:v>
                </c:pt>
                <c:pt idx="10">
                  <c:v>16560.321</c:v>
                </c:pt>
                <c:pt idx="11">
                  <c:v>17200.462</c:v>
                </c:pt>
                <c:pt idx="12">
                  <c:v>17863.548</c:v>
                </c:pt>
                <c:pt idx="13">
                  <c:v>18550.325</c:v>
                </c:pt>
                <c:pt idx="14">
                  <c:v>19261.55</c:v>
                </c:pt>
                <c:pt idx="15">
                  <c:v>19998.010000000002</c:v>
                </c:pt>
              </c:numCache>
            </c:numRef>
          </c:val>
        </c:ser>
        <c:ser>
          <c:idx val="1"/>
          <c:order val="1"/>
          <c:tx>
            <c:strRef>
              <c:strCache>
                <c:ptCount val="1"/>
                <c:pt idx="0">
                  <c:v>Canada</c:v>
                </c:pt>
              </c:strCache>
            </c:strRef>
          </c:tx>
          <c:spPr>
            <a:solidFill>
              <a:srgbClr val="9E7E0A"/>
            </a:solidFill>
            <a:ln>
              <a:noFill/>
            </a:ln>
          </c:spPr>
          <c:dLbls>
            <c:dLbl>
              <c:idx val="0"/>
              <c:numFmt formatCode="&quot;MMMMMMM&quot;;&quot;MMMMMMM&quot;;&quot;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4906.068</c:v>
                </c:pt>
                <c:pt idx="1">
                  <c:v>5136.268</c:v>
                </c:pt>
                <c:pt idx="2">
                  <c:v>5376.745000000001</c:v>
                </c:pt>
                <c:pt idx="3">
                  <c:v>5627.928</c:v>
                </c:pt>
                <c:pt idx="4">
                  <c:v>5890.263999999999</c:v>
                </c:pt>
                <c:pt idx="5">
                  <c:v>6164.218</c:v>
                </c:pt>
                <c:pt idx="6">
                  <c:v>6450.438999999999</c:v>
                </c:pt>
                <c:pt idx="7">
                  <c:v>6749.286000000001</c:v>
                </c:pt>
                <c:pt idx="8">
                  <c:v>7061.279</c:v>
                </c:pt>
                <c:pt idx="9">
                  <c:v>7386.959</c:v>
                </c:pt>
                <c:pt idx="10">
                  <c:v>7726.888999999999</c:v>
                </c:pt>
                <c:pt idx="11">
                  <c:v>8081.653</c:v>
                </c:pt>
                <c:pt idx="12">
                  <c:v>8451.851999999999</c:v>
                </c:pt>
                <c:pt idx="13">
                  <c:v>8838.117</c:v>
                </c:pt>
                <c:pt idx="14">
                  <c:v>9241.098</c:v>
                </c:pt>
                <c:pt idx="15">
                  <c:v>9661.469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Cut Flowers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25.802742833413845</c:v>
                </c:pt>
                <c:pt idx="1">
                  <c:v>22.146958622382925</c:v>
                </c:pt>
              </c:numCache>
            </c:numRef>
          </c:val>
        </c:ser>
        <c:ser>
          <c:idx val="1"/>
          <c:order val="1"/>
          <c:tx>
            <c:strRef>
              <c:strCache>
                <c:ptCount val="1"/>
                <c:pt idx="0">
                  <c:v>Potted Flowering Plants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13.899801365610138</c:v>
                </c:pt>
                <c:pt idx="1">
                  <c:v>14.281035963078322</c:v>
                </c:pt>
              </c:numCache>
            </c:numRef>
          </c:val>
        </c:ser>
        <c:ser>
          <c:idx val="2"/>
          <c:order val="2"/>
          <c:tx>
            <c:strRef>
              <c:strCache>
                <c:ptCount val="1"/>
                <c:pt idx="0">
                  <c:v>Potted Foliage Plants</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7.956119302354539</c:v>
                </c:pt>
                <c:pt idx="1">
                  <c:v>8.857271298494199</c:v>
                </c:pt>
              </c:numCache>
            </c:numRef>
          </c:val>
        </c:ser>
        <c:ser>
          <c:idx val="3"/>
          <c:order val="3"/>
          <c:tx>
            <c:strRef>
              <c:strCache>
                <c:ptCount val="1"/>
                <c:pt idx="0">
                  <c:v>Bedding &amp; Garden Flowering Plants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16.316400746097724</c:v>
                </c:pt>
                <c:pt idx="1">
                  <c:v>12.226136500581806</c:v>
                </c:pt>
              </c:numCache>
            </c:numRef>
          </c:val>
        </c:ser>
        <c:ser>
          <c:idx val="4"/>
          <c:order val="4"/>
          <c:tx>
            <c:strRef>
              <c:strCache>
                <c:ptCount val="1"/>
                <c:pt idx="0">
                  <c:v>Cut Foliage &amp; Greens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17.841769196796058</c:v>
                </c:pt>
                <c:pt idx="1">
                  <c:v>18.34052488222578</c:v>
                </c:pt>
              </c:numCache>
            </c:numRef>
          </c:val>
        </c:ser>
        <c:ser>
          <c:idx val="5"/>
          <c:order val="5"/>
          <c:tx>
            <c:strRef>
              <c:strCache>
                <c:ptCount val="1"/>
                <c:pt idx="0">
                  <c:v>Young Plants &amp; Propagation Material</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9.142232925448502</c:v>
                </c:pt>
                <c:pt idx="1">
                  <c:v>10.618676558317551</c:v>
                </c:pt>
              </c:numCache>
            </c:numRef>
          </c:val>
        </c:ser>
        <c:ser>
          <c:idx val="6"/>
          <c:order val="6"/>
          <c:tx>
            <c:strRef>
              <c:strCache>
                <c:ptCount val="1"/>
                <c:pt idx="0">
                  <c:v>Flower Bulbs, Corms, Rhizomes &amp; Tubers</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9.040933630279206</c:v>
                </c:pt>
                <c:pt idx="1">
                  <c:v>13.529396174919404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Cut Flowers</c:v>
                </c:pt>
              </c:strCache>
            </c:strRef>
          </c:tx>
          <c:spPr>
            <a:solidFill>
              <a:srgbClr val="3D85C6"/>
            </a:solidFill>
          </c:spPr>
          <c:invertIfNegative val="0"/>
          <c:xVal>
            <c:numRef>
              <c:numCache>
                <c:formatCode>General</c:formatCode>
                <c:ptCount val="1"/>
                <c:pt idx="0">
                  <c:v>144.98857955790808</c:v>
                </c:pt>
              </c:numCache>
            </c:numRef>
          </c:xVal>
          <c:yVal>
            <c:numRef>
              <c:numCache>
                <c:formatCode>General</c:formatCode>
                <c:ptCount val="1"/>
                <c:pt idx="0">
                  <c:v>137.04517666614225</c:v>
                </c:pt>
              </c:numCache>
            </c:numRef>
          </c:yVal>
          <c:bubbleSize>
            <c:numRef>
              <c:numCache>
                <c:formatCode>General</c:formatCode>
                <c:ptCount val="1"/>
                <c:pt idx="0">
                  <c:v>6921.875</c:v>
                </c:pt>
              </c:numCache>
            </c:numRef>
          </c:bubbleSize>
          <c:bubble3D val="0"/>
        </c:ser>
        <c:ser>
          <c:idx val="1"/>
          <c:order val="1"/>
          <c:tx>
            <c:strRef>
              <c:strCache>
                <c:ptCount val="1"/>
                <c:pt idx="0">
                  <c:v>Potted Flowering Plants</c:v>
                </c:pt>
              </c:strCache>
            </c:strRef>
          </c:tx>
          <c:spPr>
            <a:solidFill>
              <a:srgbClr val="9E7E0A"/>
            </a:solidFill>
          </c:spPr>
          <c:invertIfNegative val="0"/>
          <c:xVal>
            <c:numRef>
              <c:numCache>
                <c:formatCode>General</c:formatCode>
                <c:ptCount val="1"/>
                <c:pt idx="0">
                  <c:v>91.28431041393871</c:v>
                </c:pt>
              </c:numCache>
            </c:numRef>
          </c:xVal>
          <c:yVal>
            <c:numRef>
              <c:numCache>
                <c:formatCode>General</c:formatCode>
                <c:ptCount val="1"/>
                <c:pt idx="0">
                  <c:v>102.56555883309548</c:v>
                </c:pt>
              </c:numCache>
            </c:numRef>
          </c:yVal>
          <c:bubbleSize>
            <c:numRef>
              <c:numCache>
                <c:formatCode>General</c:formatCode>
                <c:ptCount val="1"/>
                <c:pt idx="0">
                  <c:v>4198.848</c:v>
                </c:pt>
              </c:numCache>
            </c:numRef>
          </c:bubbleSize>
          <c:bubble3D val="0"/>
        </c:ser>
        <c:ser>
          <c:idx val="2"/>
          <c:order val="2"/>
          <c:tx>
            <c:strRef>
              <c:strCache>
                <c:ptCount val="1"/>
                <c:pt idx="0">
                  <c:v>Potted Foliage Plants</c:v>
                </c:pt>
              </c:strCache>
            </c:strRef>
          </c:tx>
          <c:spPr>
            <a:solidFill>
              <a:srgbClr val="008189"/>
            </a:solidFill>
          </c:spPr>
          <c:invertIfNegative val="0"/>
          <c:xVal>
            <c:numRef>
              <c:numCache>
                <c:formatCode>General</c:formatCode>
                <c:ptCount val="1"/>
                <c:pt idx="0">
                  <c:v>74.93166273532805</c:v>
                </c:pt>
              </c:numCache>
            </c:numRef>
          </c:xVal>
          <c:yVal>
            <c:numRef>
              <c:numCache>
                <c:formatCode>General</c:formatCode>
                <c:ptCount val="1"/>
                <c:pt idx="0">
                  <c:v>66.20061084062198</c:v>
                </c:pt>
              </c:numCache>
            </c:numRef>
          </c:yVal>
          <c:bubbleSize>
            <c:numRef>
              <c:numCache>
                <c:formatCode>General</c:formatCode>
                <c:ptCount val="1"/>
                <c:pt idx="0">
                  <c:v>2539.956</c:v>
                </c:pt>
              </c:numCache>
            </c:numRef>
          </c:bubbleSize>
          <c:bubble3D val="0"/>
        </c:ser>
        <c:ser>
          <c:idx val="3"/>
          <c:order val="3"/>
          <c:tx>
            <c:strRef>
              <c:strCache>
                <c:ptCount val="1"/>
                <c:pt idx="0">
                  <c:v>Bedding &amp; Garden Flowering Plants</c:v>
                </c:pt>
              </c:strCache>
            </c:strRef>
          </c:tx>
          <c:spPr>
            <a:solidFill>
              <a:srgbClr val="40315E"/>
            </a:solidFill>
          </c:spPr>
          <c:invertIfNegative val="0"/>
          <c:xVal>
            <c:numRef>
              <c:numCache>
                <c:formatCode>General</c:formatCode>
                <c:ptCount val="1"/>
                <c:pt idx="0">
                  <c:v>40.70407244787688</c:v>
                </c:pt>
              </c:numCache>
            </c:numRef>
          </c:xVal>
          <c:yVal>
            <c:numRef>
              <c:numCache>
                <c:formatCode>General</c:formatCode>
                <c:ptCount val="1"/>
                <c:pt idx="0">
                  <c:v>120.21548746958324</c:v>
                </c:pt>
              </c:numCache>
            </c:numRef>
          </c:yVal>
          <c:bubbleSize>
            <c:numRef>
              <c:numCache>
                <c:formatCode>General</c:formatCode>
                <c:ptCount val="1"/>
                <c:pt idx="0">
                  <c:v>4021.388</c:v>
                </c:pt>
              </c:numCache>
            </c:numRef>
          </c:bubbleSize>
          <c:bubble3D val="0"/>
        </c:ser>
        <c:ser>
          <c:idx val="4"/>
          <c:order val="4"/>
          <c:tx>
            <c:strRef>
              <c:strCache>
                <c:ptCount val="1"/>
                <c:pt idx="0">
                  <c:v>Cut Foliage &amp; Greens</c:v>
                </c:pt>
              </c:strCache>
            </c:strRef>
          </c:tx>
          <c:spPr>
            <a:solidFill>
              <a:srgbClr val="A35313"/>
            </a:solidFill>
          </c:spPr>
          <c:invertIfNegative val="0"/>
          <c:xVal>
            <c:numRef>
              <c:numCache>
                <c:formatCode>General</c:formatCode>
                <c:ptCount val="1"/>
                <c:pt idx="0">
                  <c:v>116.33082992106809</c:v>
                </c:pt>
              </c:numCache>
            </c:numRef>
          </c:xVal>
          <c:yVal>
            <c:numRef>
              <c:numCache>
                <c:formatCode>General</c:formatCode>
                <c:ptCount val="1"/>
                <c:pt idx="0">
                  <c:v>119.34258084043148</c:v>
                </c:pt>
              </c:numCache>
            </c:numRef>
          </c:yVal>
          <c:bubbleSize>
            <c:numRef>
              <c:numCache>
                <c:formatCode>General</c:formatCode>
                <c:ptCount val="1"/>
                <c:pt idx="0">
                  <c:v>5391.517</c:v>
                </c:pt>
              </c:numCache>
            </c:numRef>
          </c:bubbleSize>
          <c:bubble3D val="0"/>
        </c:ser>
        <c:ser>
          <c:idx val="5"/>
          <c:order val="5"/>
          <c:tx>
            <c:strRef>
              <c:strCache>
                <c:ptCount val="1"/>
                <c:pt idx="0">
                  <c:v>Young Plants &amp; Propagation Material</c:v>
                </c:pt>
              </c:strCache>
            </c:strRef>
          </c:tx>
          <c:spPr>
            <a:solidFill>
              <a:srgbClr val="808080"/>
            </a:solidFill>
          </c:spPr>
          <c:invertIfNegative val="0"/>
          <c:xVal>
            <c:numRef>
              <c:numCache>
                <c:formatCode>General</c:formatCode>
                <c:ptCount val="1"/>
                <c:pt idx="0">
                  <c:v>58.966550121976404</c:v>
                </c:pt>
              </c:numCache>
            </c:numRef>
          </c:xVal>
          <c:yVal>
            <c:numRef>
              <c:numCache>
                <c:formatCode>General</c:formatCode>
                <c:ptCount val="1"/>
                <c:pt idx="0">
                  <c:v>83.52458848687483</c:v>
                </c:pt>
              </c:numCache>
            </c:numRef>
          </c:yVal>
          <c:bubbleSize>
            <c:numRef>
              <c:numCache>
                <c:formatCode>General</c:formatCode>
                <c:ptCount val="1"/>
                <c:pt idx="0">
                  <c:v>3006.798</c:v>
                </c:pt>
              </c:numCache>
            </c:numRef>
          </c:bubbleSize>
          <c:bubble3D val="0"/>
        </c:ser>
        <c:ser>
          <c:idx val="6"/>
          <c:order val="6"/>
          <c:tx>
            <c:strRef>
              <c:strCache>
                <c:ptCount val="1"/>
                <c:pt idx="0">
                  <c:v>Flower Bulbs, Corms, Rhizomes &amp; Tubers</c:v>
                </c:pt>
              </c:strCache>
            </c:strRef>
          </c:tx>
          <c:spPr>
            <a:solidFill>
              <a:srgbClr val="0E72AE"/>
            </a:solidFill>
          </c:spPr>
          <c:invertIfNegative val="0"/>
          <c:xVal>
            <c:numRef>
              <c:numCache>
                <c:formatCode>General</c:formatCode>
                <c:ptCount val="1"/>
                <c:pt idx="0">
                  <c:v>144.1007434592366</c:v>
                </c:pt>
              </c:numCache>
            </c:numRef>
          </c:xVal>
          <c:yVal>
            <c:numRef>
              <c:numCache>
                <c:formatCode>General</c:formatCode>
                <c:ptCount val="1"/>
                <c:pt idx="0">
                  <c:v>71.10599686325087</c:v>
                </c:pt>
              </c:numCache>
            </c:numRef>
          </c:yVal>
          <c:bubbleSize>
            <c:numRef>
              <c:numCache>
                <c:formatCode>General</c:formatCode>
                <c:ptCount val="1"/>
                <c:pt idx="0">
                  <c:v>3579.097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3884.932</c:v>
                </c:pt>
                <c:pt idx="2">
                  <c:v>4383.852</c:v>
                </c:pt>
                <c:pt idx="3">
                  <c:v>4932.543</c:v>
                </c:pt>
                <c:pt idx="4">
                  <c:v>5535.304</c:v>
                </c:pt>
                <c:pt idx="5">
                  <c:v>6196.756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3884.932</c:v>
                </c:pt>
                <c:pt idx="1">
                  <c:v>498.9200000000001</c:v>
                </c:pt>
                <c:pt idx="2">
                  <c:v>548.6909999999998</c:v>
                </c:pt>
                <c:pt idx="3">
                  <c:v>602.7610000000004</c:v>
                </c:pt>
                <c:pt idx="4">
                  <c:v>661.4520000000002</c:v>
                </c:pt>
                <c:pt idx="5">
                  <c:v>725.1189999999997</c:v>
                </c:pt>
                <c:pt idx="6">
                  <c:v>6921.875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2907.51</c:v>
                </c:pt>
                <c:pt idx="2">
                  <c:v>3130.477</c:v>
                </c:pt>
                <c:pt idx="3">
                  <c:v>3369.922</c:v>
                </c:pt>
                <c:pt idx="4">
                  <c:v>3626.981</c:v>
                </c:pt>
                <c:pt idx="5">
                  <c:v>3902.862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2907.51</c:v>
                </c:pt>
                <c:pt idx="1">
                  <c:v>222.96699999999964</c:v>
                </c:pt>
                <c:pt idx="2">
                  <c:v>239.44500000000016</c:v>
                </c:pt>
                <c:pt idx="3">
                  <c:v>257.0590000000002</c:v>
                </c:pt>
                <c:pt idx="4">
                  <c:v>275.88099999999986</c:v>
                </c:pt>
                <c:pt idx="5">
                  <c:v>295.9859999999999</c:v>
                </c:pt>
                <c:pt idx="6">
                  <c:v>4198.848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1876.643</c:v>
                </c:pt>
                <c:pt idx="2">
                  <c:v>1994.389</c:v>
                </c:pt>
                <c:pt idx="3">
                  <c:v>2119.205</c:v>
                </c:pt>
                <c:pt idx="4">
                  <c:v>2251.47</c:v>
                </c:pt>
                <c:pt idx="5">
                  <c:v>2391.582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1876.643</c:v>
                </c:pt>
                <c:pt idx="1">
                  <c:v>117.74599999999987</c:v>
                </c:pt>
                <c:pt idx="2">
                  <c:v>124.81600000000003</c:v>
                </c:pt>
                <c:pt idx="3">
                  <c:v>132.26499999999987</c:v>
                </c:pt>
                <c:pt idx="4">
                  <c:v>140.11200000000008</c:v>
                </c:pt>
                <c:pt idx="5">
                  <c:v>148.37400000000025</c:v>
                </c:pt>
                <c:pt idx="6">
                  <c:v>2539.956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3407.847</c:v>
                </c:pt>
                <c:pt idx="2">
                  <c:v>3531.329</c:v>
                </c:pt>
                <c:pt idx="3">
                  <c:v>3655.049</c:v>
                </c:pt>
                <c:pt idx="4">
                  <c:v>3778.42</c:v>
                </c:pt>
                <c:pt idx="5">
                  <c:v>3900.781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3407.847</c:v>
                </c:pt>
                <c:pt idx="1">
                  <c:v>123.48199999999997</c:v>
                </c:pt>
                <c:pt idx="2">
                  <c:v>123.7199999999998</c:v>
                </c:pt>
                <c:pt idx="3">
                  <c:v>123.3710000000001</c:v>
                </c:pt>
                <c:pt idx="4">
                  <c:v>122.36099999999988</c:v>
                </c:pt>
                <c:pt idx="5">
                  <c:v>120.60699999999997</c:v>
                </c:pt>
                <c:pt idx="6">
                  <c:v>4021.388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3383.102</c:v>
                </c:pt>
                <c:pt idx="2">
                  <c:v>3720.297</c:v>
                </c:pt>
                <c:pt idx="3">
                  <c:v>4087.278</c:v>
                </c:pt>
                <c:pt idx="4">
                  <c:v>4486.418</c:v>
                </c:pt>
                <c:pt idx="5">
                  <c:v>4920.258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3383.102</c:v>
                </c:pt>
                <c:pt idx="1">
                  <c:v>337.19500000000016</c:v>
                </c:pt>
                <c:pt idx="2">
                  <c:v>366.98099999999977</c:v>
                </c:pt>
                <c:pt idx="3">
                  <c:v>399.1399999999999</c:v>
                </c:pt>
                <c:pt idx="4">
                  <c:v>433.84000000000015</c:v>
                </c:pt>
                <c:pt idx="5">
                  <c:v>471.259</c:v>
                </c:pt>
                <c:pt idx="6">
                  <c:v>5391.517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2367.74</c:v>
                </c:pt>
                <c:pt idx="2">
                  <c:v>2485.835</c:v>
                </c:pt>
                <c:pt idx="3">
                  <c:v>2608.719</c:v>
                </c:pt>
                <c:pt idx="4">
                  <c:v>2736.467</c:v>
                </c:pt>
                <c:pt idx="5">
                  <c:v>2869.144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2367.74</c:v>
                </c:pt>
                <c:pt idx="1">
                  <c:v>118.09500000000025</c:v>
                </c:pt>
                <c:pt idx="2">
                  <c:v>122.88400000000001</c:v>
                </c:pt>
                <c:pt idx="3">
                  <c:v>127.74800000000005</c:v>
                </c:pt>
                <c:pt idx="4">
                  <c:v>132.67699999999968</c:v>
                </c:pt>
                <c:pt idx="5">
                  <c:v>137.654</c:v>
                </c:pt>
                <c:pt idx="6">
                  <c:v>3006.798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2015.7</c:v>
                </c:pt>
                <c:pt idx="2">
                  <c:v>2273.571</c:v>
                </c:pt>
                <c:pt idx="3">
                  <c:v>2556.649</c:v>
                </c:pt>
                <c:pt idx="4">
                  <c:v>2867.055</c:v>
                </c:pt>
                <c:pt idx="5">
                  <c:v>3207.059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2015.7</c:v>
                </c:pt>
                <c:pt idx="1">
                  <c:v>257.87099999999987</c:v>
                </c:pt>
                <c:pt idx="2">
                  <c:v>283.078</c:v>
                </c:pt>
                <c:pt idx="3">
                  <c:v>310.40599999999995</c:v>
                </c:pt>
                <c:pt idx="4">
                  <c:v>340.00400000000036</c:v>
                </c:pt>
                <c:pt idx="5">
                  <c:v>372.038</c:v>
                </c:pt>
                <c:pt idx="6">
                  <c:v>3579.097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Flowers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17.492570949311155</c:v>
                </c:pt>
                <c:pt idx="1">
                  <c:v>19.577882380877462</c:v>
                </c:pt>
                <c:pt idx="2">
                  <c:v>23.337817228684294</c:v>
                </c:pt>
              </c:numCache>
            </c:numRef>
          </c:val>
        </c:ser>
        <c:ser>
          <c:idx val="1"/>
          <c:order val="1"/>
          <c:tx>
            <c:strRef>
              <c:strCache>
                <c:ptCount val="1"/>
                <c:pt idx="0">
                  <c:v>Foliage &amp; Greens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16.41976084534492</c:v>
                </c:pt>
                <c:pt idx="1">
                  <c:v>17.04894012006164</c:v>
                </c:pt>
                <c:pt idx="2">
                  <c:v>18.178057004979756</c:v>
                </c:pt>
              </c:numCache>
            </c:numRef>
          </c:val>
        </c:ser>
        <c:ser>
          <c:idx val="2"/>
          <c:order val="2"/>
          <c:tx>
            <c:strRef>
              <c:strCache>
                <c:ptCount val="1"/>
                <c:pt idx="0">
                  <c:v>Potted Flowering Plants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14.930415933525484</c:v>
                </c:pt>
                <c:pt idx="1">
                  <c:v>14.65222269044221</c:v>
                </c:pt>
                <c:pt idx="2">
                  <c:v>14.156850159100905</c:v>
                </c:pt>
              </c:numCache>
            </c:numRef>
          </c:val>
        </c:ser>
        <c:ser>
          <c:idx val="3"/>
          <c:order val="3"/>
          <c:tx>
            <c:strRef>
              <c:strCache>
                <c:ptCount val="1"/>
                <c:pt idx="0">
                  <c:v>Bedding &amp; Garden Flowering Plants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19.183422700702092</c:v>
                </c:pt>
                <c:pt idx="1">
                  <c:v>17.173641067083317</c:v>
                </c:pt>
                <c:pt idx="2">
                  <c:v>13.55852542116468</c:v>
                </c:pt>
              </c:numCache>
            </c:numRef>
          </c:val>
        </c:ser>
        <c:ser>
          <c:idx val="4"/>
          <c:order val="4"/>
          <c:tx>
            <c:strRef>
              <c:strCache>
                <c:ptCount val="1"/>
                <c:pt idx="0">
                  <c:v>Flower Bulbs, Corms, Rhizomes &amp; Tubers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9.078968273610792</c:v>
                </c:pt>
                <c:pt idx="1">
                  <c:v>10.157999551892981</c:v>
                </c:pt>
                <c:pt idx="2">
                  <c:v>12.067295585333783</c:v>
                </c:pt>
              </c:numCache>
            </c:numRef>
          </c:val>
        </c:ser>
        <c:ser>
          <c:idx val="5"/>
          <c:order val="5"/>
          <c:tx>
            <c:strRef>
              <c:strCache>
                <c:ptCount val="1"/>
                <c:pt idx="0">
                  <c:v>Young Plants &amp; Propagation Material</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12.937291563427472</c:v>
                </c:pt>
                <c:pt idx="1">
                  <c:v>11.932084069553547</c:v>
                </c:pt>
                <c:pt idx="2">
                  <c:v>10.137730335721676</c:v>
                </c:pt>
              </c:numCache>
            </c:numRef>
          </c:val>
        </c:ser>
        <c:ser>
          <c:idx val="6"/>
          <c:order val="6"/>
          <c:tx>
            <c:strRef>
              <c:strCache>
                <c:ptCount val="1"/>
                <c:pt idx="0">
                  <c:v>Potted Foliage Plants</c:v>
                </c:pt>
              </c:strCache>
            </c:strRef>
          </c:tx>
          <c:spPr>
            <a:solidFill>
              <a:srgbClr val="0E72A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9.957569734078083</c:v>
                </c:pt>
                <c:pt idx="1">
                  <c:v>9.457230120088852</c:v>
                </c:pt>
                <c:pt idx="2">
                  <c:v>8.563724265014905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Roses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8.93583574092097</c:v>
                </c:pt>
                <c:pt idx="1">
                  <c:v>7.208507246471024</c:v>
                </c:pt>
              </c:numCache>
            </c:numRef>
          </c:val>
        </c:ser>
        <c:ser>
          <c:idx val="1"/>
          <c:order val="1"/>
          <c:tx>
            <c:strRef>
              <c:strCache>
                <c:ptCount val="1"/>
                <c:pt idx="0">
                  <c:v>Carnations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17.459239376537873</c:v>
                </c:pt>
                <c:pt idx="1">
                  <c:v>20.101125061943666</c:v>
                </c:pt>
              </c:numCache>
            </c:numRef>
          </c:val>
        </c:ser>
        <c:ser>
          <c:idx val="2"/>
          <c:order val="2"/>
          <c:tx>
            <c:strRef>
              <c:strCache>
                <c:ptCount val="1"/>
                <c:pt idx="0">
                  <c:v>Chrysanthemums</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1.8071164954314916</c:v>
                </c:pt>
                <c:pt idx="1">
                  <c:v>2.0050995074009865</c:v>
                </c:pt>
              </c:numCache>
            </c:numRef>
          </c:val>
        </c:ser>
        <c:ser>
          <c:idx val="3"/>
          <c:order val="3"/>
          <c:tx>
            <c:strRef>
              <c:strCache>
                <c:ptCount val="1"/>
                <c:pt idx="0">
                  <c:v>Lilies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10.020380958630618</c:v>
                </c:pt>
                <c:pt idx="1">
                  <c:v>9.494534706203268</c:v>
                </c:pt>
              </c:numCache>
            </c:numRef>
          </c:val>
        </c:ser>
        <c:ser>
          <c:idx val="4"/>
          <c:order val="4"/>
          <c:tx>
            <c:strRef>
              <c:strCache>
                <c:ptCount val="1"/>
                <c:pt idx="0">
                  <c:v>Alstroemeria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4.054569755386059</c:v>
                </c:pt>
                <c:pt idx="1">
                  <c:v>3.90349839809061</c:v>
                </c:pt>
              </c:numCache>
            </c:numRef>
          </c:val>
        </c:ser>
        <c:ser>
          <c:idx val="5"/>
          <c:order val="5"/>
          <c:tx>
            <c:strRef>
              <c:strCache>
                <c:ptCount val="1"/>
                <c:pt idx="0">
                  <c:v>Hydrangeas</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3.3775402063599227</c:v>
                </c:pt>
                <c:pt idx="1">
                  <c:v>3.0312816125204463</c:v>
                </c:pt>
              </c:numCache>
            </c:numRef>
          </c:val>
        </c:ser>
        <c:ser>
          <c:idx val="6"/>
          <c:order val="6"/>
          <c:tx>
            <c:strRef>
              <c:strCache>
                <c:ptCount val="1"/>
                <c:pt idx="0">
                  <c:v>Gerbera</c:v>
                </c:pt>
              </c:strCache>
            </c:strRef>
          </c:tx>
          <c:spPr>
            <a:solidFill>
              <a:srgbClr val="0E72AE"/>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16.791256070893564</c:v>
                </c:pt>
                <c:pt idx="1">
                  <c:v>17.998655866258694</c:v>
                </c:pt>
              </c:numCache>
            </c:numRef>
          </c:val>
        </c:ser>
        <c:ser>
          <c:idx val="7"/>
          <c:order val="7"/>
          <c:tx>
            <c:strRef>
              <c:strCache>
                <c:ptCount val="1"/>
                <c:pt idx="0">
                  <c:v>Orchids</c:v>
                </c:pt>
              </c:strCache>
            </c:strRef>
          </c:tx>
          <c:spPr>
            <a:solidFill>
              <a:srgbClr val="A86F0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10.18621495344031</c:v>
                </c:pt>
                <c:pt idx="1">
                  <c:v>9.565471764440563</c:v>
                </c:pt>
              </c:numCache>
            </c:numRef>
          </c:val>
        </c:ser>
        <c:ser>
          <c:idx val="8"/>
          <c:order val="8"/>
          <c:tx>
            <c:strRef>
              <c:strCache>
                <c:ptCount val="1"/>
                <c:pt idx="0">
                  <c:v>Tulips</c:v>
                </c:pt>
              </c:strCache>
            </c:strRef>
          </c:tx>
          <c:spPr>
            <a:solidFill>
              <a:srgbClr val="0B2E4A"/>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12.475028383364888</c:v>
                </c:pt>
                <c:pt idx="1">
                  <c:v>10.162796198221724</c:v>
                </c:pt>
              </c:numCache>
            </c:numRef>
          </c:val>
        </c:ser>
        <c:ser>
          <c:idx val="9"/>
          <c:order val="9"/>
          <c:tx>
            <c:strRef>
              <c:strCache>
                <c:ptCount val="1"/>
                <c:pt idx="0">
                  <c:v>Lisianthus</c:v>
                </c:pt>
              </c:strCache>
            </c:strRef>
          </c:tx>
          <c:spPr>
            <a:solidFill>
              <a:srgbClr val="6C7A89"/>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5.8590261998460065</c:v>
                </c:pt>
                <c:pt idx="1">
                  <c:v>4.407908586904397</c:v>
                </c:pt>
              </c:numCache>
            </c:numRef>
          </c:val>
        </c:ser>
        <c:ser>
          <c:idx val="10"/>
          <c:order val="10"/>
          <c:tx>
            <c:strRef>
              <c:strCache>
                <c:ptCount val="1"/>
                <c:pt idx="0">
                  <c:v>Peonies</c:v>
                </c:pt>
              </c:strCache>
            </c:strRef>
          </c:tx>
          <c:spPr>
            <a:solidFill>
              <a:srgbClr val="B2B2B2"/>
            </a:solidFill>
            <a:ln>
              <a:noFill/>
            </a:ln>
          </c:spPr>
          <c:dLbls>
            <c:dLbl>
              <c:idx val="0"/>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6.623164655395571</c:v>
                </c:pt>
                <c:pt idx="1">
                  <c:v>9.24500987848291</c:v>
                </c:pt>
              </c:numCache>
            </c:numRef>
          </c:val>
        </c:ser>
        <c:ser>
          <c:idx val="11"/>
          <c:order val="11"/>
          <c:tx>
            <c:strRef>
              <c:strCache>
                <c:ptCount val="1"/>
                <c:pt idx="0">
                  <c:v>Others</c:v>
                </c:pt>
              </c:strCache>
            </c:strRef>
          </c:tx>
          <c:spPr>
            <a:solidFill>
              <a:srgbClr val="5F5F5F"/>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2.410627203792715</c:v>
                </c:pt>
                <c:pt idx="1">
                  <c:v>2.87611117306172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Roses</c:v>
                </c:pt>
              </c:strCache>
            </c:strRef>
          </c:tx>
          <c:spPr>
            <a:solidFill>
              <a:srgbClr val="3D85C6"/>
            </a:solidFill>
          </c:spPr>
          <c:invertIfNegative val="0"/>
          <c:xVal>
            <c:numRef>
              <c:numCache>
                <c:formatCode>General</c:formatCode>
                <c:ptCount val="1"/>
                <c:pt idx="0">
                  <c:v>68.95647750933507</c:v>
                </c:pt>
              </c:numCache>
            </c:numRef>
          </c:xVal>
          <c:yVal>
            <c:numRef>
              <c:numCache>
                <c:formatCode>General</c:formatCode>
                <c:ptCount val="1"/>
                <c:pt idx="0">
                  <c:v>105.46449679123728</c:v>
                </c:pt>
              </c:numCache>
            </c:numRef>
          </c:yVal>
          <c:bubbleSize>
            <c:numRef>
              <c:numCache>
                <c:formatCode>General</c:formatCode>
                <c:ptCount val="1"/>
                <c:pt idx="0">
                  <c:v>2304.891</c:v>
                </c:pt>
              </c:numCache>
            </c:numRef>
          </c:bubbleSize>
          <c:bubble3D val="0"/>
        </c:ser>
        <c:ser>
          <c:idx val="1"/>
          <c:order val="1"/>
          <c:tx>
            <c:strRef>
              <c:strCache>
                <c:ptCount val="1"/>
                <c:pt idx="0">
                  <c:v>Carnations</c:v>
                </c:pt>
              </c:strCache>
            </c:strRef>
          </c:tx>
          <c:spPr>
            <a:solidFill>
              <a:srgbClr val="9E7E0A"/>
            </a:solidFill>
          </c:spPr>
          <c:invertIfNegative val="0"/>
          <c:xVal>
            <c:numRef>
              <c:numCache>
                <c:formatCode>General</c:formatCode>
                <c:ptCount val="1"/>
                <c:pt idx="0">
                  <c:v>135.73387557360593</c:v>
                </c:pt>
              </c:numCache>
            </c:numRef>
          </c:xVal>
          <c:yVal>
            <c:numRef>
              <c:numCache>
                <c:formatCode>General</c:formatCode>
                <c:ptCount val="1"/>
                <c:pt idx="0">
                  <c:v>200.76573285504344</c:v>
                </c:pt>
              </c:numCache>
            </c:numRef>
          </c:yVal>
          <c:bubbleSize>
            <c:numRef>
              <c:numCache>
                <c:formatCode>General</c:formatCode>
                <c:ptCount val="1"/>
                <c:pt idx="0">
                  <c:v>5706.644</c:v>
                </c:pt>
              </c:numCache>
            </c:numRef>
          </c:bubbleSize>
          <c:bubble3D val="0"/>
        </c:ser>
        <c:ser>
          <c:idx val="2"/>
          <c:order val="2"/>
          <c:tx>
            <c:strRef>
              <c:strCache>
                <c:ptCount val="1"/>
                <c:pt idx="0">
                  <c:v>Chrysanthemums</c:v>
                </c:pt>
              </c:strCache>
            </c:strRef>
          </c:tx>
          <c:spPr>
            <a:solidFill>
              <a:srgbClr val="008189"/>
            </a:solidFill>
          </c:spPr>
          <c:invertIfNegative val="0"/>
          <c:xVal>
            <c:numRef>
              <c:numCache>
                <c:formatCode>General</c:formatCode>
                <c:ptCount val="1"/>
                <c:pt idx="0">
                  <c:v>104.55212138078743</c:v>
                </c:pt>
              </c:numCache>
            </c:numRef>
          </c:xVal>
          <c:yVal>
            <c:numRef>
              <c:numCache>
                <c:formatCode>General</c:formatCode>
                <c:ptCount val="1"/>
                <c:pt idx="0">
                  <c:v>22.873777041258002</c:v>
                </c:pt>
              </c:numCache>
            </c:numRef>
          </c:yVal>
          <c:bubbleSize>
            <c:numRef>
              <c:numCache>
                <c:formatCode>General</c:formatCode>
                <c:ptCount val="1"/>
                <c:pt idx="0">
                  <c:v>575.574</c:v>
                </c:pt>
              </c:numCache>
            </c:numRef>
          </c:bubbleSize>
          <c:bubble3D val="0"/>
        </c:ser>
        <c:ser>
          <c:idx val="3"/>
          <c:order val="3"/>
          <c:tx>
            <c:strRef>
              <c:strCache>
                <c:ptCount val="1"/>
                <c:pt idx="0">
                  <c:v>Lilies</c:v>
                </c:pt>
              </c:strCache>
            </c:strRef>
          </c:tx>
          <c:spPr>
            <a:solidFill>
              <a:srgbClr val="40315E"/>
            </a:solidFill>
          </c:spPr>
          <c:invertIfNegative val="0"/>
          <c:xVal>
            <c:numRef>
              <c:numCache>
                <c:formatCode>General</c:formatCode>
                <c:ptCount val="1"/>
                <c:pt idx="0">
                  <c:v>76.00989930640272</c:v>
                </c:pt>
              </c:numCache>
            </c:numRef>
          </c:xVal>
          <c:yVal>
            <c:numRef>
              <c:numCache>
                <c:formatCode>General</c:formatCode>
                <c:ptCount val="1"/>
                <c:pt idx="0">
                  <c:v>127.54365490639393</c:v>
                </c:pt>
              </c:numCache>
            </c:numRef>
          </c:yVal>
          <c:bubbleSize>
            <c:numRef>
              <c:numCache>
                <c:formatCode>General</c:formatCode>
                <c:ptCount val="1"/>
                <c:pt idx="0">
                  <c:v>2866.834</c:v>
                </c:pt>
              </c:numCache>
            </c:numRef>
          </c:bubbleSize>
          <c:bubble3D val="0"/>
        </c:ser>
        <c:ser>
          <c:idx val="4"/>
          <c:order val="4"/>
          <c:tx>
            <c:strRef>
              <c:strCache>
                <c:ptCount val="1"/>
                <c:pt idx="0">
                  <c:v>Alstroemeria</c:v>
                </c:pt>
              </c:strCache>
            </c:strRef>
          </c:tx>
          <c:spPr>
            <a:solidFill>
              <a:srgbClr val="A35313"/>
            </a:solidFill>
          </c:spPr>
          <c:invertIfNegative val="0"/>
          <c:xVal>
            <c:numRef>
              <c:numCache>
                <c:formatCode>General</c:formatCode>
                <c:ptCount val="1"/>
                <c:pt idx="0">
                  <c:v>120.66747448105708</c:v>
                </c:pt>
              </c:numCache>
            </c:numRef>
          </c:xVal>
          <c:yVal>
            <c:numRef>
              <c:numCache>
                <c:formatCode>General</c:formatCode>
                <c:ptCount val="1"/>
                <c:pt idx="0">
                  <c:v>43.73814786664876</c:v>
                </c:pt>
              </c:numCache>
            </c:numRef>
          </c:yVal>
          <c:bubbleSize>
            <c:numRef>
              <c:numCache>
                <c:formatCode>General</c:formatCode>
                <c:ptCount val="1"/>
                <c:pt idx="0">
                  <c:v>1172.353</c:v>
                </c:pt>
              </c:numCache>
            </c:numRef>
          </c:bubbleSize>
          <c:bubble3D val="0"/>
        </c:ser>
        <c:ser>
          <c:idx val="5"/>
          <c:order val="5"/>
          <c:tx>
            <c:strRef>
              <c:strCache>
                <c:ptCount val="1"/>
                <c:pt idx="0">
                  <c:v>Hydrangeas</c:v>
                </c:pt>
              </c:strCache>
            </c:strRef>
          </c:tx>
          <c:spPr>
            <a:solidFill>
              <a:srgbClr val="808080"/>
            </a:solidFill>
          </c:spPr>
          <c:invertIfNegative val="0"/>
          <c:xVal>
            <c:numRef>
              <c:numCache>
                <c:formatCode>General</c:formatCode>
                <c:ptCount val="1"/>
                <c:pt idx="0">
                  <c:v>41.272168790521654</c:v>
                </c:pt>
              </c:numCache>
            </c:numRef>
          </c:xVal>
          <c:yVal>
            <c:numRef>
              <c:numCache>
                <c:formatCode>General</c:formatCode>
                <c:ptCount val="1"/>
                <c:pt idx="0">
                  <c:v>47.67919165767044</c:v>
                </c:pt>
              </c:numCache>
            </c:numRef>
          </c:yVal>
          <c:bubbleSize>
            <c:numRef>
              <c:numCache>
                <c:formatCode>General</c:formatCode>
                <c:ptCount val="1"/>
                <c:pt idx="0">
                  <c:v>932.516</c:v>
                </c:pt>
              </c:numCache>
            </c:numRef>
          </c:bubbleSize>
          <c:bubble3D val="0"/>
        </c:ser>
        <c:ser>
          <c:idx val="6"/>
          <c:order val="6"/>
          <c:tx>
            <c:strRef>
              <c:strCache>
                <c:ptCount val="1"/>
                <c:pt idx="0">
                  <c:v>Gerbera</c:v>
                </c:pt>
              </c:strCache>
            </c:strRef>
          </c:tx>
          <c:spPr>
            <a:solidFill>
              <a:srgbClr val="0E72AE"/>
            </a:solidFill>
          </c:spPr>
          <c:invertIfNegative val="0"/>
          <c:xVal>
            <c:numRef>
              <c:numCache>
                <c:formatCode>General</c:formatCode>
                <c:ptCount val="1"/>
                <c:pt idx="0">
                  <c:v>147.4974579665494</c:v>
                </c:pt>
              </c:numCache>
            </c:numRef>
          </c:xVal>
          <c:yVal>
            <c:numRef>
              <c:numCache>
                <c:formatCode>General</c:formatCode>
                <c:ptCount val="1"/>
                <c:pt idx="0">
                  <c:v>175.51565819573733</c:v>
                </c:pt>
              </c:numCache>
            </c:numRef>
          </c:yVal>
          <c:bubbleSize>
            <c:numRef>
              <c:numCache>
                <c:formatCode>General</c:formatCode>
                <c:ptCount val="1"/>
                <c:pt idx="0">
                  <c:v>5221.655</c:v>
                </c:pt>
              </c:numCache>
            </c:numRef>
          </c:bubbleSize>
          <c:bubble3D val="0"/>
        </c:ser>
        <c:ser>
          <c:idx val="7"/>
          <c:order val="7"/>
          <c:tx>
            <c:strRef>
              <c:strCache>
                <c:ptCount val="1"/>
                <c:pt idx="0">
                  <c:v>Orchids</c:v>
                </c:pt>
              </c:strCache>
            </c:strRef>
          </c:tx>
          <c:spPr>
            <a:solidFill>
              <a:srgbClr val="A86F00"/>
            </a:solidFill>
          </c:spPr>
          <c:invertIfNegative val="0"/>
          <c:xVal>
            <c:numRef>
              <c:numCache>
                <c:formatCode>General</c:formatCode>
                <c:ptCount val="1"/>
                <c:pt idx="0">
                  <c:v>117.97895325784482</c:v>
                </c:pt>
              </c:numCache>
            </c:numRef>
          </c:xVal>
          <c:yVal>
            <c:numRef>
              <c:numCache>
                <c:formatCode>General</c:formatCode>
                <c:ptCount val="1"/>
                <c:pt idx="0">
                  <c:v>109.2249068887837</c:v>
                </c:pt>
              </c:numCache>
            </c:numRef>
          </c:yVal>
          <c:bubbleSize>
            <c:numRef>
              <c:numCache>
                <c:formatCode>General</c:formatCode>
                <c:ptCount val="1"/>
                <c:pt idx="0">
                  <c:v>2897.042</c:v>
                </c:pt>
              </c:numCache>
            </c:numRef>
          </c:bubbleSize>
          <c:bubble3D val="0"/>
        </c:ser>
        <c:ser>
          <c:idx val="8"/>
          <c:order val="8"/>
          <c:tx>
            <c:strRef>
              <c:strCache>
                <c:ptCount val="1"/>
                <c:pt idx="0">
                  <c:v>Tulips</c:v>
                </c:pt>
              </c:strCache>
            </c:strRef>
          </c:tx>
          <c:spPr>
            <a:solidFill>
              <a:srgbClr val="0B2E4A"/>
            </a:solidFill>
          </c:spPr>
          <c:invertIfNegative val="0"/>
          <c:xVal>
            <c:numRef>
              <c:numCache>
                <c:formatCode>General</c:formatCode>
                <c:ptCount val="1"/>
                <c:pt idx="0">
                  <c:v>150.4542849365904</c:v>
                </c:pt>
              </c:numCache>
            </c:numRef>
          </c:xVal>
          <c:yVal>
            <c:numRef>
              <c:numCache>
                <c:formatCode>General</c:formatCode>
                <c:ptCount val="1"/>
                <c:pt idx="0">
                  <c:v>107.58995123535327</c:v>
                </c:pt>
              </c:numCache>
            </c:numRef>
          </c:yVal>
          <c:bubbleSize>
            <c:numRef>
              <c:numCache>
                <c:formatCode>General</c:formatCode>
                <c:ptCount val="1"/>
                <c:pt idx="0">
                  <c:v>3237.628</c:v>
                </c:pt>
              </c:numCache>
            </c:numRef>
          </c:bubbleSize>
          <c:bubble3D val="0"/>
        </c:ser>
        <c:ser>
          <c:idx val="9"/>
          <c:order val="9"/>
          <c:tx>
            <c:strRef>
              <c:strCache>
                <c:ptCount val="1"/>
                <c:pt idx="0">
                  <c:v>Lisianthus</c:v>
                </c:pt>
              </c:strCache>
            </c:strRef>
          </c:tx>
          <c:spPr>
            <a:solidFill>
              <a:srgbClr val="6C7A89"/>
            </a:solidFill>
          </c:spPr>
          <c:invertIfNegative val="0"/>
          <c:xVal>
            <c:numRef>
              <c:numCache>
                <c:formatCode>General</c:formatCode>
                <c:ptCount val="1"/>
                <c:pt idx="0">
                  <c:v>28.138148684035553</c:v>
                </c:pt>
              </c:numCache>
            </c:numRef>
          </c:xVal>
          <c:yVal>
            <c:numRef>
              <c:numCache>
                <c:formatCode>General</c:formatCode>
                <c:ptCount val="1"/>
                <c:pt idx="0">
                  <c:v>78.05008336745875</c:v>
                </c:pt>
              </c:numCache>
            </c:numRef>
          </c:yVal>
          <c:bubbleSize>
            <c:numRef>
              <c:numCache>
                <c:formatCode>General</c:formatCode>
                <c:ptCount val="1"/>
                <c:pt idx="0">
                  <c:v>1447.562</c:v>
                </c:pt>
              </c:numCache>
            </c:numRef>
          </c:bubbleSize>
          <c:bubble3D val="0"/>
        </c:ser>
        <c:ser>
          <c:idx val="10"/>
          <c:order val="10"/>
          <c:tx>
            <c:strRef>
              <c:strCache>
                <c:ptCount val="1"/>
                <c:pt idx="0">
                  <c:v>Peonies</c:v>
                </c:pt>
              </c:strCache>
            </c:strRef>
          </c:tx>
          <c:spPr>
            <a:solidFill>
              <a:srgbClr val="B2B2B2"/>
            </a:solidFill>
          </c:spPr>
          <c:invertIfNegative val="0"/>
          <c:xVal>
            <c:numRef>
              <c:numCache>
                <c:formatCode>General</c:formatCode>
                <c:ptCount val="1"/>
                <c:pt idx="0">
                  <c:v>9.108509654967495</c:v>
                </c:pt>
              </c:numCache>
            </c:numRef>
          </c:xVal>
          <c:yVal>
            <c:numRef>
              <c:numCache>
                <c:formatCode>General</c:formatCode>
                <c:ptCount val="1"/>
                <c:pt idx="0">
                  <c:v>144.99273665488212</c:v>
                </c:pt>
              </c:numCache>
            </c:numRef>
          </c:yVal>
          <c:bubbleSize>
            <c:numRef>
              <c:numCache>
                <c:formatCode>General</c:formatCode>
                <c:ptCount val="1"/>
                <c:pt idx="0">
                  <c:v>2488.713</c:v>
                </c:pt>
              </c:numCache>
            </c:numRef>
          </c:bubbleSize>
          <c:bubble3D val="0"/>
        </c:ser>
        <c:ser>
          <c:idx val="11"/>
          <c:order val="11"/>
          <c:tx>
            <c:strRef>
              <c:strCache>
                <c:ptCount val="1"/>
                <c:pt idx="0">
                  <c:v>Others</c:v>
                </c:pt>
              </c:strCache>
            </c:strRef>
          </c:tx>
          <c:spPr>
            <a:solidFill>
              <a:srgbClr val="5F5F5F"/>
            </a:solidFill>
          </c:spPr>
          <c:invertIfNegative val="0"/>
          <c:xVal>
            <c:numRef>
              <c:numCache>
                <c:formatCode>General</c:formatCode>
                <c:ptCount val="1"/>
                <c:pt idx="0">
                  <c:v>71.77402135678082</c:v>
                </c:pt>
              </c:numCache>
            </c:numRef>
          </c:xVal>
          <c:yVal>
            <c:numRef>
              <c:numCache>
                <c:formatCode>General</c:formatCode>
                <c:ptCount val="1"/>
                <c:pt idx="0">
                  <c:v>36.56166253953315</c:v>
                </c:pt>
              </c:numCache>
            </c:numRef>
          </c:yVal>
          <c:bubbleSize>
            <c:numRef>
              <c:numCache>
                <c:formatCode>General</c:formatCode>
                <c:ptCount val="1"/>
                <c:pt idx="0">
                  <c:v>808.067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1743.985</c:v>
                </c:pt>
                <c:pt idx="2">
                  <c:v>1847.324</c:v>
                </c:pt>
                <c:pt idx="3">
                  <c:v>1955.088</c:v>
                </c:pt>
                <c:pt idx="4">
                  <c:v>2067.286</c:v>
                </c:pt>
                <c:pt idx="5">
                  <c:v>2183.901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1743.985</c:v>
                </c:pt>
                <c:pt idx="1">
                  <c:v>103.33900000000017</c:v>
                </c:pt>
                <c:pt idx="2">
                  <c:v>107.7639999999999</c:v>
                </c:pt>
                <c:pt idx="3">
                  <c:v>112.19800000000009</c:v>
                </c:pt>
                <c:pt idx="4">
                  <c:v>116.61499999999978</c:v>
                </c:pt>
                <c:pt idx="5">
                  <c:v>120.99000000000024</c:v>
                </c:pt>
                <c:pt idx="6">
                  <c:v>2304.891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3319.908</c:v>
                </c:pt>
                <c:pt idx="2">
                  <c:v>3709.341</c:v>
                </c:pt>
                <c:pt idx="3">
                  <c:v>4138.897</c:v>
                </c:pt>
                <c:pt idx="4">
                  <c:v>4612.254</c:v>
                </c:pt>
                <c:pt idx="5">
                  <c:v>5133.403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3319.908</c:v>
                </c:pt>
                <c:pt idx="1">
                  <c:v>389.433</c:v>
                </c:pt>
                <c:pt idx="2">
                  <c:v>429.55600000000004</c:v>
                </c:pt>
                <c:pt idx="3">
                  <c:v>473.35699999999997</c:v>
                </c:pt>
                <c:pt idx="4">
                  <c:v>521.1490000000003</c:v>
                </c:pt>
                <c:pt idx="5">
                  <c:v>573.241</c:v>
                </c:pt>
                <c:pt idx="6">
                  <c:v>5706.644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378.246</c:v>
                </c:pt>
                <c:pt idx="2">
                  <c:v>411.698</c:v>
                </c:pt>
                <c:pt idx="3">
                  <c:v>447.934</c:v>
                </c:pt>
                <c:pt idx="4">
                  <c:v>487.171</c:v>
                </c:pt>
                <c:pt idx="5">
                  <c:v>529.635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378.246</c:v>
                </c:pt>
                <c:pt idx="1">
                  <c:v>33.452</c:v>
                </c:pt>
                <c:pt idx="2">
                  <c:v>36.23600000000005</c:v>
                </c:pt>
                <c:pt idx="3">
                  <c:v>39.236999999999966</c:v>
                </c:pt>
                <c:pt idx="4">
                  <c:v>42.464</c:v>
                </c:pt>
                <c:pt idx="5">
                  <c:v>45.938999999999965</c:v>
                </c:pt>
                <c:pt idx="6">
                  <c:v>575.574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2109.091</c:v>
                </c:pt>
                <c:pt idx="2">
                  <c:v>2245.569</c:v>
                </c:pt>
                <c:pt idx="3">
                  <c:v>2389.342</c:v>
                </c:pt>
                <c:pt idx="4">
                  <c:v>2540.655</c:v>
                </c:pt>
                <c:pt idx="5">
                  <c:v>2699.744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2109.091</c:v>
                </c:pt>
                <c:pt idx="1">
                  <c:v>136.47800000000007</c:v>
                </c:pt>
                <c:pt idx="2">
                  <c:v>143.77300000000014</c:v>
                </c:pt>
                <c:pt idx="3">
                  <c:v>151.3130000000001</c:v>
                </c:pt>
                <c:pt idx="4">
                  <c:v>159.08899999999994</c:v>
                </c:pt>
                <c:pt idx="5">
                  <c:v>167.0899999999997</c:v>
                </c:pt>
                <c:pt idx="6">
                  <c:v>2866.834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723.264</c:v>
                </c:pt>
                <c:pt idx="2">
                  <c:v>797.698</c:v>
                </c:pt>
                <c:pt idx="3">
                  <c:v>879.189</c:v>
                </c:pt>
                <c:pt idx="4">
                  <c:v>968.347</c:v>
                </c:pt>
                <c:pt idx="5">
                  <c:v>1065.832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723.264</c:v>
                </c:pt>
                <c:pt idx="1">
                  <c:v>74.43399999999997</c:v>
                </c:pt>
                <c:pt idx="2">
                  <c:v>81.49099999999999</c:v>
                </c:pt>
                <c:pt idx="3">
                  <c:v>89.15800000000002</c:v>
                </c:pt>
                <c:pt idx="4">
                  <c:v>97.48500000000013</c:v>
                </c:pt>
                <c:pt idx="5">
                  <c:v>106.52099999999996</c:v>
                </c:pt>
                <c:pt idx="6">
                  <c:v>1172.353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788.434</c:v>
                </c:pt>
                <c:pt idx="2">
                  <c:v>819.153</c:v>
                </c:pt>
                <c:pt idx="3">
                  <c:v>849.241</c:v>
                </c:pt>
                <c:pt idx="4">
                  <c:v>878.399</c:v>
                </c:pt>
                <c:pt idx="5">
                  <c:v>906.285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788.434</c:v>
                </c:pt>
                <c:pt idx="1">
                  <c:v>30.71900000000005</c:v>
                </c:pt>
                <c:pt idx="2">
                  <c:v>30.087999999999965</c:v>
                </c:pt>
                <c:pt idx="3">
                  <c:v>29.158000000000015</c:v>
                </c:pt>
                <c:pt idx="4">
                  <c:v>27.885999999999967</c:v>
                </c:pt>
                <c:pt idx="5">
                  <c:v>26.230999999999995</c:v>
                </c:pt>
                <c:pt idx="6">
                  <c:v>932.516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2902.367</c:v>
                </c:pt>
                <c:pt idx="2">
                  <c:v>3276.764</c:v>
                </c:pt>
                <c:pt idx="3">
                  <c:v>3691.851</c:v>
                </c:pt>
                <c:pt idx="4">
                  <c:v>4151.504</c:v>
                </c:pt>
                <c:pt idx="5">
                  <c:v>4659.922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2902.367</c:v>
                </c:pt>
                <c:pt idx="1">
                  <c:v>374.39699999999993</c:v>
                </c:pt>
                <c:pt idx="2">
                  <c:v>415.087</c:v>
                </c:pt>
                <c:pt idx="3">
                  <c:v>459.6529999999998</c:v>
                </c:pt>
                <c:pt idx="4">
                  <c:v>508.41799999999967</c:v>
                </c:pt>
                <c:pt idx="5">
                  <c:v>561.7330000000002</c:v>
                </c:pt>
                <c:pt idx="6">
                  <c:v>5221.655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1806.168</c:v>
                </c:pt>
                <c:pt idx="2">
                  <c:v>1987.569</c:v>
                </c:pt>
                <c:pt idx="3">
                  <c:v>2185.858</c:v>
                </c:pt>
                <c:pt idx="4">
                  <c:v>2402.477</c:v>
                </c:pt>
                <c:pt idx="5">
                  <c:v>2638.98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1806.168</c:v>
                </c:pt>
                <c:pt idx="1">
                  <c:v>181.40100000000007</c:v>
                </c:pt>
                <c:pt idx="2">
                  <c:v>198.28900000000021</c:v>
                </c:pt>
                <c:pt idx="3">
                  <c:v>216.6189999999997</c:v>
                </c:pt>
                <c:pt idx="4">
                  <c:v>236.50300000000016</c:v>
                </c:pt>
                <c:pt idx="5">
                  <c:v>258.0619999999999</c:v>
                </c:pt>
                <c:pt idx="6">
                  <c:v>2897.042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1779.132</c:v>
                </c:pt>
                <c:pt idx="2">
                  <c:v>2013.712</c:v>
                </c:pt>
                <c:pt idx="3">
                  <c:v>2274.23</c:v>
                </c:pt>
                <c:pt idx="4">
                  <c:v>2563.198</c:v>
                </c:pt>
                <c:pt idx="5">
                  <c:v>2883.345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1779.132</c:v>
                </c:pt>
                <c:pt idx="1">
                  <c:v>234.57999999999993</c:v>
                </c:pt>
                <c:pt idx="2">
                  <c:v>260.51800000000003</c:v>
                </c:pt>
                <c:pt idx="3">
                  <c:v>288.96799999999985</c:v>
                </c:pt>
                <c:pt idx="4">
                  <c:v>320.14699999999993</c:v>
                </c:pt>
                <c:pt idx="5">
                  <c:v>354.28300000000036</c:v>
                </c:pt>
                <c:pt idx="6">
                  <c:v>3237.628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1290.654</c:v>
                </c:pt>
                <c:pt idx="2">
                  <c:v>1329.565</c:v>
                </c:pt>
                <c:pt idx="3">
                  <c:v>1365.487</c:v>
                </c:pt>
                <c:pt idx="4">
                  <c:v>1397.691</c:v>
                </c:pt>
                <c:pt idx="5">
                  <c:v>1425.354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1290.654</c:v>
                </c:pt>
                <c:pt idx="1">
                  <c:v>38.91100000000006</c:v>
                </c:pt>
                <c:pt idx="2">
                  <c:v>35.922000000000025</c:v>
                </c:pt>
                <c:pt idx="3">
                  <c:v>32.20399999999995</c:v>
                </c:pt>
                <c:pt idx="4">
                  <c:v>27.66300000000001</c:v>
                </c:pt>
                <c:pt idx="5">
                  <c:v>22.207999999999856</c:v>
                </c:pt>
                <c:pt idx="6">
                  <c:v>1447.562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2397.633</c:v>
                </c:pt>
                <c:pt idx="2">
                  <c:v>2439.677</c:v>
                </c:pt>
                <c:pt idx="3">
                  <c:v>2471.708</c:v>
                </c:pt>
                <c:pt idx="4">
                  <c:v>2491.928</c:v>
                </c:pt>
                <c:pt idx="5">
                  <c:v>2488.713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E44D3A"/>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2397.633</c:v>
                </c:pt>
                <c:pt idx="1">
                  <c:v>42.044000000000324</c:v>
                </c:pt>
                <c:pt idx="2">
                  <c:v>32.03099999999995</c:v>
                </c:pt>
                <c:pt idx="3">
                  <c:v>20.2199999999998</c:v>
                </c:pt>
                <c:pt idx="4">
                  <c:v>6.407000000000153</c:v>
                </c:pt>
                <c:pt idx="5">
                  <c:v>9.621999999999844</c:v>
                </c:pt>
                <c:pt idx="6">
                  <c:v>2488.713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604.592</c:v>
                </c:pt>
                <c:pt idx="2">
                  <c:v>641.68</c:v>
                </c:pt>
                <c:pt idx="3">
                  <c:v>680.54</c:v>
                </c:pt>
                <c:pt idx="4">
                  <c:v>721.205</c:v>
                </c:pt>
                <c:pt idx="5">
                  <c:v>763.706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604.592</c:v>
                </c:pt>
                <c:pt idx="1">
                  <c:v>37.087999999999965</c:v>
                </c:pt>
                <c:pt idx="2">
                  <c:v>38.860000000000014</c:v>
                </c:pt>
                <c:pt idx="3">
                  <c:v>40.66500000000008</c:v>
                </c:pt>
                <c:pt idx="4">
                  <c:v>42.500999999999976</c:v>
                </c:pt>
                <c:pt idx="5">
                  <c:v>44.36099999999999</c:v>
                </c:pt>
                <c:pt idx="6">
                  <c:v>808.067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Carnations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15.454693373491333</c:v>
                </c:pt>
                <c:pt idx="1">
                  <c:v>16.730477737920285</c:v>
                </c:pt>
                <c:pt idx="2">
                  <c:v>19.24054026707617</c:v>
                </c:pt>
              </c:numCache>
            </c:numRef>
          </c:val>
        </c:ser>
        <c:ser>
          <c:idx val="1"/>
          <c:order val="1"/>
          <c:tx>
            <c:strRef>
              <c:strCache>
                <c:ptCount val="1"/>
                <c:pt idx="0">
                  <c:v>Gerbera</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13.114920139134142</c:v>
                </c:pt>
                <c:pt idx="1">
                  <c:v>14.626304849644779</c:v>
                </c:pt>
                <c:pt idx="2">
                  <c:v>17.6053497096156</c:v>
                </c:pt>
              </c:numCache>
            </c:numRef>
          </c:val>
        </c:ser>
        <c:ser>
          <c:idx val="2"/>
          <c:order val="2"/>
          <c:tx>
            <c:strRef>
              <c:strCache>
                <c:ptCount val="1"/>
                <c:pt idx="0">
                  <c:v>Tulips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7.9828978732710585</c:v>
                </c:pt>
                <c:pt idx="1">
                  <c:v>8.96582926961277</c:v>
                </c:pt>
                <c:pt idx="2">
                  <c:v>10.915997546686508</c:v>
                </c:pt>
              </c:numCache>
            </c:numRef>
          </c:val>
        </c:ser>
        <c:ser>
          <c:idx val="3"/>
          <c:order val="3"/>
          <c:tx>
            <c:strRef>
              <c:strCache>
                <c:ptCount val="1"/>
                <c:pt idx="0">
                  <c:v>Orchids</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8.765368310787718</c:v>
                </c:pt>
                <c:pt idx="1">
                  <c:v>9.102075574065308</c:v>
                </c:pt>
                <c:pt idx="2">
                  <c:v>9.767676633834329</c:v>
                </c:pt>
              </c:numCache>
            </c:numRef>
          </c:val>
        </c:ser>
        <c:ser>
          <c:idx val="4"/>
          <c:order val="4"/>
          <c:tx>
            <c:strRef>
              <c:strCache>
                <c:ptCount val="1"/>
                <c:pt idx="0">
                  <c:v>Lilies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11.115461602250045</c:v>
                </c:pt>
                <c:pt idx="1">
                  <c:v>10.628637908866159</c:v>
                </c:pt>
                <c:pt idx="2">
                  <c:v>9.665827238570172</c:v>
                </c:pt>
              </c:numCache>
            </c:numRef>
          </c:val>
        </c:ser>
        <c:ser>
          <c:idx val="5"/>
          <c:order val="5"/>
          <c:tx>
            <c:strRef>
              <c:strCache>
                <c:ptCount val="1"/>
                <c:pt idx="0">
                  <c:v>Peonies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13.963852980342887</c:v>
                </c:pt>
                <c:pt idx="1">
                  <c:v>12.08272805457351</c:v>
                </c:pt>
                <c:pt idx="2">
                  <c:v>8.390953192400987</c:v>
                </c:pt>
              </c:numCache>
            </c:numRef>
          </c:val>
        </c:ser>
        <c:ser>
          <c:idx val="6"/>
          <c:order val="6"/>
          <c:tx>
            <c:strRef>
              <c:strCache>
                <c:ptCount val="1"/>
                <c:pt idx="0">
                  <c:v>Roses</c:v>
                </c:pt>
              </c:strCache>
            </c:strRef>
          </c:tx>
          <c:spPr>
            <a:solidFill>
              <a:srgbClr val="0E72A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9.301541624961587</c:v>
                </c:pt>
                <c:pt idx="1">
                  <c:v>8.788708065936438</c:v>
                </c:pt>
                <c:pt idx="2">
                  <c:v>7.771178313685147</c:v>
                </c:pt>
              </c:numCache>
            </c:numRef>
          </c:val>
        </c:ser>
        <c:ser>
          <c:idx val="7"/>
          <c:order val="7"/>
          <c:tx>
            <c:strRef>
              <c:strCache>
                <c:ptCount val="1"/>
                <c:pt idx="0">
                  <c:v>Lisianthus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7.321085588435751</c:v>
                </c:pt>
                <c:pt idx="1">
                  <c:v>6.504173613954896</c:v>
                </c:pt>
                <c:pt idx="2">
                  <c:v>4.8806049492642805</c:v>
                </c:pt>
              </c:numCache>
            </c:numRef>
          </c:val>
        </c:ser>
        <c:ser>
          <c:idx val="8"/>
          <c:order val="8"/>
          <c:tx>
            <c:strRef>
              <c:strCache>
                <c:ptCount val="1"/>
                <c:pt idx="0">
                  <c:v>Alstroemeria</c:v>
                </c:pt>
              </c:strCache>
            </c:strRef>
          </c:tx>
          <c:spPr>
            <a:solidFill>
              <a:srgbClr val="0B2E4A"/>
            </a:solidFill>
            <a:ln>
              <a:noFill/>
            </a:ln>
          </c:spPr>
          <c:dLbls>
            <c:dLbl>
              <c:idx val="0"/>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3.489007377975676</c:v>
                </c:pt>
                <c:pt idx="1">
                  <c:v>3.644845655554063</c:v>
                </c:pt>
                <c:pt idx="2">
                  <c:v>3.952709351367905</c:v>
                </c:pt>
              </c:numCache>
            </c:numRef>
          </c:val>
        </c:ser>
        <c:ser>
          <c:idx val="9"/>
          <c:order val="9"/>
          <c:tx>
            <c:strRef>
              <c:strCache>
                <c:ptCount val="1"/>
                <c:pt idx="0">
                  <c:v>Hydrangeas</c:v>
                </c:pt>
              </c:strCache>
            </c:strRef>
          </c:tx>
          <c:spPr>
            <a:solidFill>
              <a:srgbClr val="6C7A89"/>
            </a:solidFill>
            <a:ln>
              <a:noFill/>
            </a:ln>
          </c:spPr>
          <c:dLbls>
            <c:dLbl>
              <c:idx val="0"/>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4.392129788498773</c:v>
                </c:pt>
                <c:pt idx="1">
                  <c:v>3.973265971472536</c:v>
                </c:pt>
                <c:pt idx="2">
                  <c:v>3.14407410865174</c:v>
                </c:pt>
              </c:numCache>
            </c:numRef>
          </c:val>
        </c:ser>
        <c:ser>
          <c:idx val="10"/>
          <c:order val="10"/>
          <c:tx>
            <c:strRef>
              <c:strCache>
                <c:ptCount val="1"/>
                <c:pt idx="0">
                  <c:v>Others</c:v>
                </c:pt>
              </c:strCache>
            </c:strRef>
          </c:tx>
          <c:spPr>
            <a:solidFill>
              <a:srgbClr val="B2B2B2"/>
            </a:solidFill>
            <a:ln>
              <a:noFill/>
            </a:ln>
          </c:spPr>
          <c:dLbls>
            <c:dLbl>
              <c:idx val="0"/>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3.210458531260596</c:v>
                </c:pt>
                <c:pt idx="1">
                  <c:v>3.0468052116277624</c:v>
                </c:pt>
                <c:pt idx="2">
                  <c:v>2.724481438126408</c:v>
                </c:pt>
              </c:numCache>
            </c:numRef>
          </c:val>
        </c:ser>
        <c:ser>
          <c:idx val="11"/>
          <c:order val="11"/>
          <c:tx>
            <c:strRef>
              <c:strCache>
                <c:ptCount val="1"/>
                <c:pt idx="0">
                  <c:v>Chrysanthemums</c:v>
                </c:pt>
              </c:strCache>
            </c:strRef>
          </c:tx>
          <c:spPr>
            <a:solidFill>
              <a:srgbClr val="5F5F5F"/>
            </a:solidFill>
            <a:ln>
              <a:noFill/>
            </a:ln>
          </c:spPr>
          <c:dLbls>
            <c:dLbl>
              <c:idx val="0"/>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1.8885828095904353</c:v>
                </c:pt>
                <c:pt idx="1">
                  <c:v>1.9061480867715</c:v>
                </c:pt>
                <c:pt idx="2">
                  <c:v>1.9406072507207561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Protected Cultivation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24.847753483450603</c:v>
                </c:pt>
                <c:pt idx="1">
                  <c:v>25.745496676919355</c:v>
                </c:pt>
              </c:numCache>
            </c:numRef>
          </c:val>
        </c:ser>
        <c:ser>
          <c:idx val="1"/>
          <c:order val="1"/>
          <c:tx>
            <c:strRef>
              <c:strCache>
                <c:ptCount val="1"/>
                <c:pt idx="0">
                  <c:v>Open-Field Cultivation</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75.1522465165494</c:v>
                </c:pt>
                <c:pt idx="1">
                  <c:v>74.25450332308064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Protected Cultivation</c:v>
                </c:pt>
              </c:strCache>
            </c:strRef>
          </c:tx>
          <c:spPr>
            <a:solidFill>
              <a:srgbClr val="3D85C6"/>
            </a:solidFill>
          </c:spPr>
          <c:invertIfNegative val="0"/>
          <c:xVal>
            <c:numRef>
              <c:numCache>
                <c:formatCode>General</c:formatCode>
                <c:ptCount val="1"/>
                <c:pt idx="0">
                  <c:v>67.36097942905027</c:v>
                </c:pt>
              </c:numCache>
            </c:numRef>
          </c:xVal>
          <c:yVal>
            <c:numRef>
              <c:numCache>
                <c:formatCode>General</c:formatCode>
                <c:ptCount val="1"/>
                <c:pt idx="0">
                  <c:v>57.93919955749685</c:v>
                </c:pt>
              </c:numCache>
            </c:numRef>
          </c:yVal>
          <c:bubbleSize>
            <c:numRef>
              <c:numCache>
                <c:formatCode>General</c:formatCode>
                <c:ptCount val="1"/>
                <c:pt idx="0">
                  <c:v>7549.245</c:v>
                </c:pt>
              </c:numCache>
            </c:numRef>
          </c:bubbleSize>
          <c:bubble3D val="0"/>
        </c:ser>
        <c:ser>
          <c:idx val="1"/>
          <c:order val="1"/>
          <c:tx>
            <c:strRef>
              <c:strCache>
                <c:ptCount val="1"/>
                <c:pt idx="0">
                  <c:v>Open-Field Cultivation</c:v>
                </c:pt>
              </c:strCache>
            </c:strRef>
          </c:tx>
          <c:spPr>
            <a:solidFill>
              <a:srgbClr val="9E7E0A"/>
            </a:solidFill>
          </c:spPr>
          <c:invertIfNegative val="0"/>
          <c:xVal>
            <c:numRef>
              <c:numCache>
                <c:formatCode>General</c:formatCode>
                <c:ptCount val="1"/>
                <c:pt idx="0">
                  <c:v>112.29585909401621</c:v>
                </c:pt>
              </c:numCache>
            </c:numRef>
          </c:xVal>
          <c:yVal>
            <c:numRef>
              <c:numCache>
                <c:formatCode>General</c:formatCode>
                <c:ptCount val="1"/>
                <c:pt idx="0">
                  <c:v>142.06080044250317</c:v>
                </c:pt>
              </c:numCache>
            </c:numRef>
          </c:yVal>
          <c:bubbleSize>
            <c:numRef>
              <c:numCache>
                <c:formatCode>General</c:formatCode>
                <c:ptCount val="1"/>
                <c:pt idx="0">
                  <c:v>22110.234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5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5748.575</c:v>
                </c:pt>
                <c:pt idx="2">
                  <c:v>6085.451</c:v>
                </c:pt>
                <c:pt idx="3">
                  <c:v>6434.541</c:v>
                </c:pt>
                <c:pt idx="4">
                  <c:v>6795.343</c:v>
                </c:pt>
                <c:pt idx="5">
                  <c:v>7167.193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5748.575</c:v>
                </c:pt>
                <c:pt idx="1">
                  <c:v>336.8760000000002</c:v>
                </c:pt>
                <c:pt idx="2">
                  <c:v>349.09000000000015</c:v>
                </c:pt>
                <c:pt idx="3">
                  <c:v>360.8019999999997</c:v>
                </c:pt>
                <c:pt idx="4">
                  <c:v>371.85000000000036</c:v>
                </c:pt>
                <c:pt idx="5">
                  <c:v>382.0519999999997</c:v>
                </c:pt>
                <c:pt idx="6">
                  <c:v>7549.245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14094.899</c:v>
                </c:pt>
                <c:pt idx="2">
                  <c:v>15434.299</c:v>
                </c:pt>
                <c:pt idx="3">
                  <c:v>16894.824</c:v>
                </c:pt>
                <c:pt idx="4">
                  <c:v>18486.772</c:v>
                </c:pt>
                <c:pt idx="5">
                  <c:v>20221.249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14094.899</c:v>
                </c:pt>
                <c:pt idx="1">
                  <c:v>1339.4000000000015</c:v>
                </c:pt>
                <c:pt idx="2">
                  <c:v>1460.5249999999996</c:v>
                </c:pt>
                <c:pt idx="3">
                  <c:v>1591.9480000000003</c:v>
                </c:pt>
                <c:pt idx="4">
                  <c:v>1734.476999999999</c:v>
                </c:pt>
                <c:pt idx="5">
                  <c:v>1888.9850000000006</c:v>
                </c:pt>
                <c:pt idx="6">
                  <c:v>22110.234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Open-Field Cultivation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69.32824647213172</c:v>
                </c:pt>
                <c:pt idx="1">
                  <c:v>71.03040022125158</c:v>
                </c:pt>
                <c:pt idx="2">
                  <c:v>74.54693995130528</c:v>
                </c:pt>
              </c:numCache>
            </c:numRef>
          </c:val>
        </c:ser>
        <c:ser>
          <c:idx val="1"/>
          <c:order val="1"/>
          <c:tx>
            <c:strRef>
              <c:strCache>
                <c:ptCount val="1"/>
                <c:pt idx="0">
                  <c:v>Protected Cultivation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30.671753527868262</c:v>
                </c:pt>
                <c:pt idx="1">
                  <c:v>28.969599778748425</c:v>
                </c:pt>
                <c:pt idx="2">
                  <c:v>25.45306004869472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 Sales to Commercial &amp; Institutional Buyers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15.616351923294477</c:v>
                </c:pt>
                <c:pt idx="1">
                  <c:v>24.855498122063143</c:v>
                </c:pt>
              </c:numCache>
            </c:numRef>
          </c:val>
        </c:ser>
        <c:ser>
          <c:idx val="1"/>
          <c:order val="1"/>
          <c:tx>
            <c:strRef>
              <c:strCache>
                <c:ptCount val="1"/>
                <c:pt idx="0">
                  <c:v>Florists &amp; Specialty Flower Shops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23.525252733305877</c:v>
                </c:pt>
                <c:pt idx="1">
                  <c:v>17.526308867732336</c:v>
                </c:pt>
              </c:numCache>
            </c:numRef>
          </c:val>
        </c:ser>
        <c:ser>
          <c:idx val="2"/>
          <c:order val="2"/>
          <c:tx>
            <c:strRef>
              <c:strCache>
                <c:ptCount val="1"/>
                <c:pt idx="0">
                  <c:v>Supermarkets &amp; Hypermarkets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21.53885708270657</c:v>
                </c:pt>
                <c:pt idx="1">
                  <c:v>22.46404017199711</c:v>
                </c:pt>
              </c:numCache>
            </c:numRef>
          </c:val>
        </c:ser>
        <c:ser>
          <c:idx val="3"/>
          <c:order val="3"/>
          <c:tx>
            <c:strRef>
              <c:strCache>
                <c:ptCount val="1"/>
                <c:pt idx="0">
                  <c:v>Garden Centers &amp; Plant Nurseries</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9.37667967469543</c:v>
                </c:pt>
                <c:pt idx="1">
                  <c:v>6.839850565131231</c:v>
                </c:pt>
              </c:numCache>
            </c:numRef>
          </c:val>
        </c:ser>
        <c:ser>
          <c:idx val="4"/>
          <c:order val="4"/>
          <c:tx>
            <c:strRef>
              <c:strCache>
                <c:ptCount val="1"/>
                <c:pt idx="0">
                  <c:v>Online / E-commerce</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15.65984427419888</c:v>
                </c:pt>
                <c:pt idx="1">
                  <c:v>15.890846139190847</c:v>
                </c:pt>
              </c:numCache>
            </c:numRef>
          </c:val>
        </c:ser>
        <c:ser>
          <c:idx val="5"/>
          <c:order val="5"/>
          <c:tx>
            <c:strRef>
              <c:strCache>
                <c:ptCount val="1"/>
                <c:pt idx="0">
                  <c:v>Other Retail Channels</c:v>
                </c:pt>
              </c:strCache>
            </c:strRef>
          </c:tx>
          <c:spPr>
            <a:solidFill>
              <a:srgbClr val="80808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14.283014311798754</c:v>
                </c:pt>
                <c:pt idx="1">
                  <c:v>12.42345613388532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 Sales to Commercial &amp; Institutional Buyers</c:v>
                </c:pt>
              </c:strCache>
            </c:strRef>
          </c:tx>
          <c:spPr>
            <a:solidFill>
              <a:srgbClr val="3D85C6"/>
            </a:solidFill>
          </c:spPr>
          <c:invertIfNegative val="0"/>
          <c:xVal>
            <c:numRef>
              <c:numCache>
                <c:formatCode>General</c:formatCode>
                <c:ptCount val="1"/>
                <c:pt idx="0">
                  <c:v>118.18609835052165</c:v>
                </c:pt>
              </c:numCache>
            </c:numRef>
          </c:xVal>
          <c:yVal>
            <c:numRef>
              <c:numCache>
                <c:formatCode>General</c:formatCode>
                <c:ptCount val="1"/>
                <c:pt idx="0">
                  <c:v>122.04445653014187</c:v>
                </c:pt>
              </c:numCache>
            </c:numRef>
          </c:yVal>
          <c:bubbleSize>
            <c:numRef>
              <c:numCache>
                <c:formatCode>General</c:formatCode>
                <c:ptCount val="1"/>
                <c:pt idx="0">
                  <c:v>6479.374</c:v>
                </c:pt>
              </c:numCache>
            </c:numRef>
          </c:bubbleSize>
          <c:bubble3D val="0"/>
        </c:ser>
        <c:ser>
          <c:idx val="1"/>
          <c:order val="1"/>
          <c:tx>
            <c:strRef>
              <c:strCache>
                <c:ptCount val="1"/>
                <c:pt idx="0">
                  <c:v>Florists &amp; Specialty Flower Shops</c:v>
                </c:pt>
              </c:strCache>
            </c:strRef>
          </c:tx>
          <c:spPr>
            <a:solidFill>
              <a:srgbClr val="9E7E0A"/>
            </a:solidFill>
          </c:spPr>
          <c:invertIfNegative val="0"/>
          <c:xVal>
            <c:numRef>
              <c:numCache>
                <c:formatCode>General</c:formatCode>
                <c:ptCount val="1"/>
                <c:pt idx="0">
                  <c:v>92.03935476982798</c:v>
                </c:pt>
              </c:numCache>
            </c:numRef>
          </c:xVal>
          <c:yVal>
            <c:numRef>
              <c:numCache>
                <c:formatCode>General</c:formatCode>
                <c:ptCount val="1"/>
                <c:pt idx="0">
                  <c:v>120.61211660821085</c:v>
                </c:pt>
              </c:numCache>
            </c:numRef>
          </c:yVal>
          <c:bubbleSize>
            <c:numRef>
              <c:numCache>
                <c:formatCode>General</c:formatCode>
                <c:ptCount val="1"/>
                <c:pt idx="0">
                  <c:v>5777.798</c:v>
                </c:pt>
              </c:numCache>
            </c:numRef>
          </c:bubbleSize>
          <c:bubble3D val="0"/>
        </c:ser>
        <c:ser>
          <c:idx val="2"/>
          <c:order val="2"/>
          <c:tx>
            <c:strRef>
              <c:strCache>
                <c:ptCount val="1"/>
                <c:pt idx="0">
                  <c:v>Supermarkets &amp; Hypermarkets</c:v>
                </c:pt>
              </c:strCache>
            </c:strRef>
          </c:tx>
          <c:spPr>
            <a:solidFill>
              <a:srgbClr val="008189"/>
            </a:solidFill>
          </c:spPr>
          <c:invertIfNegative val="0"/>
          <c:xVal>
            <c:numRef>
              <c:numCache>
                <c:formatCode>General</c:formatCode>
                <c:ptCount val="1"/>
                <c:pt idx="0">
                  <c:v>50.45828650780098</c:v>
                </c:pt>
              </c:numCache>
            </c:numRef>
          </c:xVal>
          <c:yVal>
            <c:numRef>
              <c:numCache>
                <c:formatCode>General</c:formatCode>
                <c:ptCount val="1"/>
                <c:pt idx="0">
                  <c:v>161.94575607073645</c:v>
                </c:pt>
              </c:numCache>
            </c:numRef>
          </c:yVal>
          <c:bubbleSize>
            <c:numRef>
              <c:numCache>
                <c:formatCode>General</c:formatCode>
                <c:ptCount val="1"/>
                <c:pt idx="0">
                  <c:v>6573.331</c:v>
                </c:pt>
              </c:numCache>
            </c:numRef>
          </c:bubbleSize>
          <c:bubble3D val="0"/>
        </c:ser>
        <c:ser>
          <c:idx val="3"/>
          <c:order val="3"/>
          <c:tx>
            <c:strRef>
              <c:strCache>
                <c:ptCount val="1"/>
                <c:pt idx="0">
                  <c:v>Garden Centers &amp; Plant Nurseries</c:v>
                </c:pt>
              </c:strCache>
            </c:strRef>
          </c:tx>
          <c:spPr>
            <a:solidFill>
              <a:srgbClr val="40315E"/>
            </a:solidFill>
          </c:spPr>
          <c:invertIfNegative val="0"/>
          <c:xVal>
            <c:numRef>
              <c:numCache>
                <c:formatCode>General</c:formatCode>
                <c:ptCount val="1"/>
                <c:pt idx="0">
                  <c:v>42.51998238376166</c:v>
                </c:pt>
              </c:numCache>
            </c:numRef>
          </c:xVal>
          <c:yVal>
            <c:numRef>
              <c:numCache>
                <c:formatCode>General</c:formatCode>
                <c:ptCount val="1"/>
                <c:pt idx="0">
                  <c:v>57.8365260034609</c:v>
                </c:pt>
              </c:numCache>
            </c:numRef>
          </c:yVal>
          <c:bubbleSize>
            <c:numRef>
              <c:numCache>
                <c:formatCode>General</c:formatCode>
                <c:ptCount val="1"/>
                <c:pt idx="0">
                  <c:v>2273.759</c:v>
                </c:pt>
              </c:numCache>
            </c:numRef>
          </c:bubbleSize>
          <c:bubble3D val="0"/>
        </c:ser>
        <c:ser>
          <c:idx val="4"/>
          <c:order val="4"/>
          <c:tx>
            <c:strRef>
              <c:strCache>
                <c:ptCount val="1"/>
                <c:pt idx="0">
                  <c:v>Online / E-commerce</c:v>
                </c:pt>
              </c:strCache>
            </c:strRef>
          </c:tx>
          <c:spPr>
            <a:solidFill>
              <a:srgbClr val="A35313"/>
            </a:solidFill>
          </c:spPr>
          <c:invertIfNegative val="0"/>
          <c:xVal>
            <c:numRef>
              <c:numCache>
                <c:formatCode>General</c:formatCode>
                <c:ptCount val="1"/>
                <c:pt idx="0">
                  <c:v>173.52788667363572</c:v>
                </c:pt>
              </c:numCache>
            </c:numRef>
          </c:xVal>
          <c:yVal>
            <c:numRef>
              <c:numCache>
                <c:formatCode>General</c:formatCode>
                <c:ptCount val="1"/>
                <c:pt idx="0">
                  <c:v>71.32294476259551</c:v>
                </c:pt>
              </c:numCache>
            </c:numRef>
          </c:yVal>
          <c:bubbleSize>
            <c:numRef>
              <c:numCache>
                <c:formatCode>General</c:formatCode>
                <c:ptCount val="1"/>
                <c:pt idx="0">
                  <c:v>4690.824</c:v>
                </c:pt>
              </c:numCache>
            </c:numRef>
          </c:bubbleSize>
          <c:bubble3D val="0"/>
        </c:ser>
        <c:ser>
          <c:idx val="5"/>
          <c:order val="5"/>
          <c:tx>
            <c:strRef>
              <c:strCache>
                <c:ptCount val="1"/>
                <c:pt idx="0">
                  <c:v>Other Retail Channels</c:v>
                </c:pt>
              </c:strCache>
            </c:strRef>
          </c:tx>
          <c:spPr>
            <a:solidFill>
              <a:srgbClr val="808080"/>
            </a:solidFill>
          </c:spPr>
          <c:invertIfNegative val="0"/>
          <c:xVal>
            <c:numRef>
              <c:numCache>
                <c:formatCode>General</c:formatCode>
                <c:ptCount val="1"/>
                <c:pt idx="0">
                  <c:v>142.41170934164876</c:v>
                </c:pt>
              </c:numCache>
            </c:numRef>
          </c:xVal>
          <c:yVal>
            <c:numRef>
              <c:numCache>
                <c:formatCode>General</c:formatCode>
                <c:ptCount val="1"/>
                <c:pt idx="0">
                  <c:v>66.23820002485454</c:v>
                </c:pt>
              </c:numCache>
            </c:numRef>
          </c:yVal>
          <c:bubbleSize>
            <c:numRef>
              <c:numCache>
                <c:formatCode>General</c:formatCode>
                <c:ptCount val="1"/>
                <c:pt idx="0">
                  <c:v>3864.393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1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4036.31</c:v>
                </c:pt>
                <c:pt idx="2">
                  <c:v>4440.513</c:v>
                </c:pt>
                <c:pt idx="3">
                  <c:v>4883.29</c:v>
                </c:pt>
                <c:pt idx="4">
                  <c:v>5368.123</c:v>
                </c:pt>
                <c:pt idx="5">
                  <c:v>5898.786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4036.31</c:v>
                </c:pt>
                <c:pt idx="1">
                  <c:v>404.203</c:v>
                </c:pt>
                <c:pt idx="2">
                  <c:v>442.77700000000004</c:v>
                </c:pt>
                <c:pt idx="3">
                  <c:v>484.83299999999963</c:v>
                </c:pt>
                <c:pt idx="4">
                  <c:v>530.6630000000005</c:v>
                </c:pt>
                <c:pt idx="5">
                  <c:v>580.5879999999997</c:v>
                </c:pt>
                <c:pt idx="6">
                  <c:v>6479.374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3988.939</c:v>
                </c:pt>
                <c:pt idx="2">
                  <c:v>4299.916</c:v>
                </c:pt>
                <c:pt idx="3">
                  <c:v>4632.922</c:v>
                </c:pt>
                <c:pt idx="4">
                  <c:v>4989.296</c:v>
                </c:pt>
                <c:pt idx="5">
                  <c:v>5370.436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3988.939</c:v>
                </c:pt>
                <c:pt idx="1">
                  <c:v>310.9770000000003</c:v>
                </c:pt>
                <c:pt idx="2">
                  <c:v>333.0059999999994</c:v>
                </c:pt>
                <c:pt idx="3">
                  <c:v>356.3740000000007</c:v>
                </c:pt>
                <c:pt idx="4">
                  <c:v>381.1399999999994</c:v>
                </c:pt>
                <c:pt idx="5">
                  <c:v>407.3620000000001</c:v>
                </c:pt>
                <c:pt idx="6">
                  <c:v>5777.798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5355.944</c:v>
                </c:pt>
                <c:pt idx="2">
                  <c:v>5605.862</c:v>
                </c:pt>
                <c:pt idx="3">
                  <c:v>5854.912</c:v>
                </c:pt>
                <c:pt idx="4">
                  <c:v>6100.924</c:v>
                </c:pt>
                <c:pt idx="5">
                  <c:v>6341.371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5355.944</c:v>
                </c:pt>
                <c:pt idx="1">
                  <c:v>249.91799999999967</c:v>
                </c:pt>
                <c:pt idx="2">
                  <c:v>249.05000000000018</c:v>
                </c:pt>
                <c:pt idx="3">
                  <c:v>246.01199999999972</c:v>
                </c:pt>
                <c:pt idx="4">
                  <c:v>240.44700000000012</c:v>
                </c:pt>
                <c:pt idx="5">
                  <c:v>231.96000000000004</c:v>
                </c:pt>
                <c:pt idx="6">
                  <c:v>6573.331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1912.796</c:v>
                </c:pt>
                <c:pt idx="2">
                  <c:v>1992.098</c:v>
                </c:pt>
                <c:pt idx="3">
                  <c:v>2069.018</c:v>
                </c:pt>
                <c:pt idx="4">
                  <c:v>2142.469</c:v>
                </c:pt>
                <c:pt idx="5">
                  <c:v>2211.196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1912.796</c:v>
                </c:pt>
                <c:pt idx="1">
                  <c:v>79.30199999999991</c:v>
                </c:pt>
                <c:pt idx="2">
                  <c:v>76.92000000000007</c:v>
                </c:pt>
                <c:pt idx="3">
                  <c:v>73.45100000000002</c:v>
                </c:pt>
                <c:pt idx="4">
                  <c:v>68.72699999999986</c:v>
                </c:pt>
                <c:pt idx="5">
                  <c:v>62.5630000000001</c:v>
                </c:pt>
                <c:pt idx="6">
                  <c:v>2273.759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2358.825</c:v>
                </c:pt>
                <c:pt idx="2">
                  <c:v>2722.557</c:v>
                </c:pt>
                <c:pt idx="3">
                  <c:v>3132.237</c:v>
                </c:pt>
                <c:pt idx="4">
                  <c:v>3592.988</c:v>
                </c:pt>
                <c:pt idx="5">
                  <c:v>4110.449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2358.825</c:v>
                </c:pt>
                <c:pt idx="1">
                  <c:v>363.73199999999997</c:v>
                </c:pt>
                <c:pt idx="2">
                  <c:v>409.6800000000003</c:v>
                </c:pt>
                <c:pt idx="3">
                  <c:v>460.75099999999975</c:v>
                </c:pt>
                <c:pt idx="4">
                  <c:v>517.4609999999998</c:v>
                </c:pt>
                <c:pt idx="5">
                  <c:v>580.375</c:v>
                </c:pt>
                <c:pt idx="6">
                  <c:v>4690.824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2190.66</c:v>
                </c:pt>
                <c:pt idx="2">
                  <c:v>2458.804</c:v>
                </c:pt>
                <c:pt idx="3">
                  <c:v>2756.986</c:v>
                </c:pt>
                <c:pt idx="4">
                  <c:v>3088.315</c:v>
                </c:pt>
                <c:pt idx="5">
                  <c:v>3456.204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2190.66</c:v>
                </c:pt>
                <c:pt idx="1">
                  <c:v>268.14400000000023</c:v>
                </c:pt>
                <c:pt idx="2">
                  <c:v>298.1819999999998</c:v>
                </c:pt>
                <c:pt idx="3">
                  <c:v>331.3290000000002</c:v>
                </c:pt>
                <c:pt idx="4">
                  <c:v>367.8890000000001</c:v>
                </c:pt>
                <c:pt idx="5">
                  <c:v>408.18899999999985</c:v>
                </c:pt>
                <c:pt idx="6">
                  <c:v>3864.393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Supermarkets &amp; Hypermarkets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29.29316692951914</c:v>
                </c:pt>
                <c:pt idx="1">
                  <c:v>26.99095934512274</c:v>
                </c:pt>
                <c:pt idx="2">
                  <c:v>22.162665096038943</c:v>
                </c:pt>
              </c:numCache>
            </c:numRef>
          </c:val>
        </c:ser>
        <c:ser>
          <c:idx val="1"/>
          <c:order val="1"/>
          <c:tx>
            <c:strRef>
              <c:strCache>
                <c:ptCount val="1"/>
                <c:pt idx="0">
                  <c:v>Direct Sales to Commercial &amp; Institutional Buyers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19.621413339854126</c:v>
                </c:pt>
                <c:pt idx="1">
                  <c:v>20.340742755023644</c:v>
                </c:pt>
                <c:pt idx="2">
                  <c:v>21.845879356141083</c:v>
                </c:pt>
              </c:numCache>
            </c:numRef>
          </c:val>
        </c:ser>
        <c:ser>
          <c:idx val="2"/>
          <c:order val="2"/>
          <c:tx>
            <c:strRef>
              <c:strCache>
                <c:ptCount val="1"/>
                <c:pt idx="0">
                  <c:v>Florists &amp; Specialty Flower Shops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20.39630749592713</c:v>
                </c:pt>
                <c:pt idx="1">
                  <c:v>20.102019434701806</c:v>
                </c:pt>
                <c:pt idx="2">
                  <c:v>19.480443334827292</c:v>
                </c:pt>
              </c:numCache>
            </c:numRef>
          </c:val>
        </c:ser>
        <c:ser>
          <c:idx val="3"/>
          <c:order val="3"/>
          <c:tx>
            <c:strRef>
              <c:strCache>
                <c:ptCount val="1"/>
                <c:pt idx="0">
                  <c:v>Online / E-commerce</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10.020614777543136</c:v>
                </c:pt>
                <c:pt idx="1">
                  <c:v>11.887157460432583</c:v>
                </c:pt>
                <c:pt idx="2">
                  <c:v>15.81559810946106</c:v>
                </c:pt>
              </c:numCache>
            </c:numRef>
          </c:val>
        </c:ser>
        <c:ser>
          <c:idx val="4"/>
          <c:order val="4"/>
          <c:tx>
            <c:strRef>
              <c:strCache>
                <c:ptCount val="1"/>
                <c:pt idx="0">
                  <c:v>Other Retail Channels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10.098639352997925</c:v>
                </c:pt>
                <c:pt idx="1">
                  <c:v>11.039700004142421</c:v>
                </c:pt>
                <c:pt idx="2">
                  <c:v>13.0292005466448</c:v>
                </c:pt>
              </c:numCache>
            </c:numRef>
          </c:val>
        </c:ser>
        <c:ser>
          <c:idx val="5"/>
          <c:order val="5"/>
          <c:tx>
            <c:strRef>
              <c:strCache>
                <c:ptCount val="1"/>
                <c:pt idx="0">
                  <c:v>Garden Centers &amp; Plant Nurseries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10.569858104158545</c:v>
                </c:pt>
                <c:pt idx="1">
                  <c:v>9.639421000576816</c:v>
                </c:pt>
                <c:pt idx="2">
                  <c:v>7.666213556886822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Personal Gifting &amp; Celebrations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24.597025566194954</c:v>
                </c:pt>
                <c:pt idx="1">
                  <c:v>26.704492096963644</c:v>
                </c:pt>
              </c:numCache>
            </c:numRef>
          </c:val>
        </c:ser>
        <c:ser>
          <c:idx val="1"/>
          <c:order val="1"/>
          <c:tx>
            <c:strRef>
              <c:strCache>
                <c:ptCount val="1"/>
                <c:pt idx="0">
                  <c:v>Residential &amp; Home Decoration</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7.379333308423387</c:v>
                </c:pt>
                <c:pt idx="1">
                  <c:v>7.915767618878078</c:v>
                </c:pt>
              </c:numCache>
            </c:numRef>
          </c:val>
        </c:ser>
        <c:ser>
          <c:idx val="2"/>
          <c:order val="2"/>
          <c:tx>
            <c:strRef>
              <c:strCache>
                <c:ptCount val="1"/>
                <c:pt idx="0">
                  <c:v>Weddings &amp; Special Events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14.76653291543967</c:v>
                </c:pt>
                <c:pt idx="1">
                  <c:v>19.873677430904372</c:v>
                </c:pt>
              </c:numCache>
            </c:numRef>
          </c:val>
        </c:ser>
        <c:ser>
          <c:idx val="3"/>
          <c:order val="3"/>
          <c:tx>
            <c:strRef>
              <c:strCache>
                <c:ptCount val="1"/>
                <c:pt idx="0">
                  <c:v>Hospitality &amp; Commercial Decoration</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22.5505976368604</c:v>
                </c:pt>
                <c:pt idx="1">
                  <c:v>19.00945644091587</c:v>
                </c:pt>
              </c:numCache>
            </c:numRef>
          </c:val>
        </c:ser>
        <c:ser>
          <c:idx val="4"/>
          <c:order val="4"/>
          <c:tx>
            <c:strRef>
              <c:strCache>
                <c:ptCount val="1"/>
                <c:pt idx="0">
                  <c:v>Funeral &amp; Memorial Services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17.307719975088673</c:v>
                </c:pt>
                <c:pt idx="1">
                  <c:v>13.514209663861552</c:v>
                </c:pt>
              </c:numCache>
            </c:numRef>
          </c:val>
        </c:ser>
        <c:ser>
          <c:idx val="5"/>
          <c:order val="5"/>
          <c:tx>
            <c:strRef>
              <c:strCache>
                <c:ptCount val="1"/>
                <c:pt idx="0">
                  <c:v>Landscaping &amp; Gardening</c:v>
                </c:pt>
              </c:strCache>
            </c:strRef>
          </c:tx>
          <c:spPr>
            <a:solidFill>
              <a:srgbClr val="80808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10.013114982825075</c:v>
                </c:pt>
                <c:pt idx="1">
                  <c:v>9.645549732198353</c:v>
                </c:pt>
              </c:numCache>
            </c:numRef>
          </c:val>
        </c:ser>
        <c:ser>
          <c:idx val="6"/>
          <c:order val="6"/>
          <c:tx>
            <c:strRef>
              <c:strCache>
                <c:ptCount val="1"/>
                <c:pt idx="0">
                  <c:v>Other Institutional Applications</c:v>
                </c:pt>
              </c:strCache>
            </c:strRef>
          </c:tx>
          <c:spPr>
            <a:solidFill>
              <a:srgbClr val="0E72AE"/>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3.385675615167838</c:v>
                </c:pt>
                <c:pt idx="1">
                  <c:v>3.3368470162781194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Personal Gifting &amp; Celebrations</c:v>
                </c:pt>
              </c:strCache>
            </c:strRef>
          </c:tx>
          <c:spPr>
            <a:solidFill>
              <a:srgbClr val="3D85C6"/>
            </a:solidFill>
          </c:spPr>
          <c:invertIfNegative val="0"/>
          <c:xVal>
            <c:numRef>
              <c:numCache>
                <c:formatCode>General</c:formatCode>
                <c:ptCount val="1"/>
                <c:pt idx="0">
                  <c:v>140.41722180934465</c:v>
                </c:pt>
              </c:numCache>
            </c:numRef>
          </c:xVal>
          <c:yVal>
            <c:numRef>
              <c:numCache>
                <c:formatCode>General</c:formatCode>
                <c:ptCount val="1"/>
                <c:pt idx="0">
                  <c:v>155.5137573189049</c:v>
                </c:pt>
              </c:numCache>
            </c:numRef>
          </c:yVal>
          <c:bubbleSize>
            <c:numRef>
              <c:numCache>
                <c:formatCode>General</c:formatCode>
                <c:ptCount val="1"/>
                <c:pt idx="0">
                  <c:v>7716.801</c:v>
                </c:pt>
              </c:numCache>
            </c:numRef>
          </c:bubbleSize>
          <c:bubble3D val="0"/>
        </c:ser>
        <c:ser>
          <c:idx val="1"/>
          <c:order val="1"/>
          <c:tx>
            <c:strRef>
              <c:strCache>
                <c:ptCount val="1"/>
                <c:pt idx="0">
                  <c:v>Residential &amp; Home Decoration</c:v>
                </c:pt>
              </c:strCache>
            </c:strRef>
          </c:tx>
          <c:spPr>
            <a:solidFill>
              <a:srgbClr val="9E7E0A"/>
            </a:solidFill>
          </c:spPr>
          <c:invertIfNegative val="0"/>
          <c:xVal>
            <c:numRef>
              <c:numCache>
                <c:formatCode>General</c:formatCode>
                <c:ptCount val="1"/>
                <c:pt idx="0">
                  <c:v>97.36449081345935</c:v>
                </c:pt>
              </c:numCache>
            </c:numRef>
          </c:xVal>
          <c:yVal>
            <c:numRef>
              <c:numCache>
                <c:formatCode>General</c:formatCode>
                <c:ptCount val="1"/>
                <c:pt idx="0">
                  <c:v>54.75299335186974</c:v>
                </c:pt>
              </c:numCache>
            </c:numRef>
          </c:yVal>
          <c:bubbleSize>
            <c:numRef>
              <c:numCache>
                <c:formatCode>General</c:formatCode>
                <c:ptCount val="1"/>
                <c:pt idx="0">
                  <c:v>2295.948</c:v>
                </c:pt>
              </c:numCache>
            </c:numRef>
          </c:bubbleSize>
          <c:bubble3D val="0"/>
        </c:ser>
        <c:ser>
          <c:idx val="2"/>
          <c:order val="2"/>
          <c:tx>
            <c:strRef>
              <c:strCache>
                <c:ptCount val="1"/>
                <c:pt idx="0">
                  <c:v>Weddings &amp; Special Events</c:v>
                </c:pt>
              </c:strCache>
            </c:strRef>
          </c:tx>
          <c:spPr>
            <a:solidFill>
              <a:srgbClr val="008189"/>
            </a:solidFill>
          </c:spPr>
          <c:invertIfNegative val="0"/>
          <c:xVal>
            <c:numRef>
              <c:numCache>
                <c:formatCode>General</c:formatCode>
                <c:ptCount val="1"/>
                <c:pt idx="0">
                  <c:v>74.97011055909255</c:v>
                </c:pt>
              </c:numCache>
            </c:numRef>
          </c:xVal>
          <c:yVal>
            <c:numRef>
              <c:numCache>
                <c:formatCode>General</c:formatCode>
                <c:ptCount val="1"/>
                <c:pt idx="0">
                  <c:v>140.74853022207705</c:v>
                </c:pt>
              </c:numCache>
            </c:numRef>
          </c:yVal>
          <c:bubbleSize>
            <c:numRef>
              <c:numCache>
                <c:formatCode>General</c:formatCode>
                <c:ptCount val="1"/>
                <c:pt idx="0">
                  <c:v>5401.004</c:v>
                </c:pt>
              </c:numCache>
            </c:numRef>
          </c:bubbleSize>
          <c:bubble3D val="0"/>
        </c:ser>
        <c:ser>
          <c:idx val="3"/>
          <c:order val="3"/>
          <c:tx>
            <c:strRef>
              <c:strCache>
                <c:ptCount val="1"/>
                <c:pt idx="0">
                  <c:v>Hospitality &amp; Commercial Decoration</c:v>
                </c:pt>
              </c:strCache>
            </c:strRef>
          </c:tx>
          <c:spPr>
            <a:solidFill>
              <a:srgbClr val="40315E"/>
            </a:solidFill>
          </c:spPr>
          <c:invertIfNegative val="0"/>
          <c:xVal>
            <c:numRef>
              <c:numCache>
                <c:formatCode>General</c:formatCode>
                <c:ptCount val="1"/>
                <c:pt idx="0">
                  <c:v>113.95102036929472</c:v>
                </c:pt>
              </c:numCache>
            </c:numRef>
          </c:xVal>
          <c:yVal>
            <c:numRef>
              <c:numCache>
                <c:formatCode>General</c:formatCode>
                <c:ptCount val="1"/>
                <c:pt idx="0">
                  <c:v>133.61334310715955</c:v>
                </c:pt>
              </c:numCache>
            </c:numRef>
          </c:yVal>
          <c:bubbleSize>
            <c:numRef>
              <c:numCache>
                <c:formatCode>General</c:formatCode>
                <c:ptCount val="1"/>
                <c:pt idx="0">
                  <c:v>5980.232</c:v>
                </c:pt>
              </c:numCache>
            </c:numRef>
          </c:bubbleSize>
          <c:bubble3D val="0"/>
        </c:ser>
        <c:ser>
          <c:idx val="4"/>
          <c:order val="4"/>
          <c:tx>
            <c:strRef>
              <c:strCache>
                <c:ptCount val="1"/>
                <c:pt idx="0">
                  <c:v>Funeral &amp; Memorial Services</c:v>
                </c:pt>
              </c:strCache>
            </c:strRef>
          </c:tx>
          <c:spPr>
            <a:solidFill>
              <a:srgbClr val="A35313"/>
            </a:solidFill>
          </c:spPr>
          <c:invertIfNegative val="0"/>
          <c:xVal>
            <c:numRef>
              <c:numCache>
                <c:formatCode>General</c:formatCode>
                <c:ptCount val="1"/>
                <c:pt idx="0">
                  <c:v>79.1659360465723</c:v>
                </c:pt>
              </c:numCache>
            </c:numRef>
          </c:xVal>
          <c:yVal>
            <c:numRef>
              <c:numCache>
                <c:formatCode>General</c:formatCode>
                <c:ptCount val="1"/>
                <c:pt idx="0">
                  <c:v>112.11895658995998</c:v>
                </c:pt>
              </c:numCache>
            </c:numRef>
          </c:yVal>
          <c:bubbleSize>
            <c:numRef>
              <c:numCache>
                <c:formatCode>General</c:formatCode>
                <c:ptCount val="1"/>
                <c:pt idx="0">
                  <c:v>4374.753</c:v>
                </c:pt>
              </c:numCache>
            </c:numRef>
          </c:bubbleSize>
          <c:bubble3D val="0"/>
        </c:ser>
        <c:ser>
          <c:idx val="5"/>
          <c:order val="5"/>
          <c:tx>
            <c:strRef>
              <c:strCache>
                <c:ptCount val="1"/>
                <c:pt idx="0">
                  <c:v>Landscaping &amp; Gardening</c:v>
                </c:pt>
              </c:strCache>
            </c:strRef>
          </c:tx>
          <c:spPr>
            <a:solidFill>
              <a:srgbClr val="808080"/>
            </a:solidFill>
          </c:spPr>
          <c:invertIfNegative val="0"/>
          <c:xVal>
            <c:numRef>
              <c:numCache>
                <c:formatCode>General</c:formatCode>
                <c:ptCount val="1"/>
                <c:pt idx="0">
                  <c:v>42.2888066922187</c:v>
                </c:pt>
              </c:numCache>
            </c:numRef>
          </c:xVal>
          <c:yVal>
            <c:numRef>
              <c:numCache>
                <c:formatCode>General</c:formatCode>
                <c:ptCount val="1"/>
                <c:pt idx="0">
                  <c:v>86.03151847302544</c:v>
                </c:pt>
              </c:numCache>
            </c:numRef>
          </c:yVal>
          <c:bubbleSize>
            <c:numRef>
              <c:numCache>
                <c:formatCode>General</c:formatCode>
                <c:ptCount val="1"/>
                <c:pt idx="0">
                  <c:v>2896.332</c:v>
                </c:pt>
              </c:numCache>
            </c:numRef>
          </c:bubbleSize>
          <c:bubble3D val="0"/>
        </c:ser>
        <c:ser>
          <c:idx val="6"/>
          <c:order val="6"/>
          <c:tx>
            <c:strRef>
              <c:strCache>
                <c:ptCount val="1"/>
                <c:pt idx="0">
                  <c:v>Other Institutional Applications</c:v>
                </c:pt>
              </c:strCache>
            </c:strRef>
          </c:tx>
          <c:spPr>
            <a:solidFill>
              <a:srgbClr val="0E72AE"/>
            </a:solidFill>
          </c:spPr>
          <c:invertIfNegative val="0"/>
          <c:xVal>
            <c:numRef>
              <c:numCache>
                <c:formatCode>General</c:formatCode>
                <c:ptCount val="1"/>
                <c:pt idx="0">
                  <c:v>179.81207681313245</c:v>
                </c:pt>
              </c:numCache>
            </c:numRef>
          </c:xVal>
          <c:yVal>
            <c:numRef>
              <c:numCache>
                <c:formatCode>General</c:formatCode>
                <c:ptCount val="1"/>
                <c:pt idx="0">
                  <c:v>17.220900937003268</c:v>
                </c:pt>
              </c:numCache>
            </c:numRef>
          </c:yVal>
          <c:bubbleSize>
            <c:numRef>
              <c:numCache>
                <c:formatCode>General</c:formatCode>
                <c:ptCount val="1"/>
                <c:pt idx="0">
                  <c:v>994.409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2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4408.476</c:v>
                </c:pt>
                <c:pt idx="2">
                  <c:v>4931.527</c:v>
                </c:pt>
                <c:pt idx="3">
                  <c:v>5516.142</c:v>
                </c:pt>
                <c:pt idx="4">
                  <c:v>6169.613</c:v>
                </c:pt>
                <c:pt idx="5">
                  <c:v>6900.107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4408.476</c:v>
                </c:pt>
                <c:pt idx="1">
                  <c:v>523.0510000000004</c:v>
                </c:pt>
                <c:pt idx="2">
                  <c:v>584.6149999999998</c:v>
                </c:pt>
                <c:pt idx="3">
                  <c:v>653.4710000000005</c:v>
                </c:pt>
                <c:pt idx="4">
                  <c:v>730.4939999999997</c:v>
                </c:pt>
                <c:pt idx="5">
                  <c:v>816.6940000000004</c:v>
                </c:pt>
                <c:pt idx="6">
                  <c:v>7716.801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1552.128</c:v>
                </c:pt>
                <c:pt idx="2">
                  <c:v>1680.014</c:v>
                </c:pt>
                <c:pt idx="3">
                  <c:v>1817.659</c:v>
                </c:pt>
                <c:pt idx="4">
                  <c:v>1965.725</c:v>
                </c:pt>
                <c:pt idx="5">
                  <c:v>2124.91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1552.128</c:v>
                </c:pt>
                <c:pt idx="1">
                  <c:v>127.88599999999997</c:v>
                </c:pt>
                <c:pt idx="2">
                  <c:v>137.6450000000002</c:v>
                </c:pt>
                <c:pt idx="3">
                  <c:v>148.0659999999998</c:v>
                </c:pt>
                <c:pt idx="4">
                  <c:v>159.18499999999995</c:v>
                </c:pt>
                <c:pt idx="5">
                  <c:v>171.038</c:v>
                </c:pt>
                <c:pt idx="6">
                  <c:v>2295.948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3989.914</c:v>
                </c:pt>
                <c:pt idx="2">
                  <c:v>4251.325</c:v>
                </c:pt>
                <c:pt idx="3">
                  <c:v>4523.768</c:v>
                </c:pt>
                <c:pt idx="4">
                  <c:v>4806.729</c:v>
                </c:pt>
                <c:pt idx="5">
                  <c:v>5099.475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3989.914</c:v>
                </c:pt>
                <c:pt idx="1">
                  <c:v>261.4109999999996</c:v>
                </c:pt>
                <c:pt idx="2">
                  <c:v>272.4430000000002</c:v>
                </c:pt>
                <c:pt idx="3">
                  <c:v>282.96100000000024</c:v>
                </c:pt>
                <c:pt idx="4">
                  <c:v>292.7460000000001</c:v>
                </c:pt>
                <c:pt idx="5">
                  <c:v>301.52899999999954</c:v>
                </c:pt>
                <c:pt idx="6">
                  <c:v>5401.004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3787.647</c:v>
                </c:pt>
                <c:pt idx="2">
                  <c:v>4150.263</c:v>
                </c:pt>
                <c:pt idx="3">
                  <c:v>4547.35</c:v>
                </c:pt>
                <c:pt idx="4">
                  <c:v>4982.218</c:v>
                </c:pt>
                <c:pt idx="5">
                  <c:v>5458.508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3787.647</c:v>
                </c:pt>
                <c:pt idx="1">
                  <c:v>362.616</c:v>
                </c:pt>
                <c:pt idx="2">
                  <c:v>397.08700000000044</c:v>
                </c:pt>
                <c:pt idx="3">
                  <c:v>434.8679999999995</c:v>
                </c:pt>
                <c:pt idx="4">
                  <c:v>476.28999999999996</c:v>
                </c:pt>
                <c:pt idx="5">
                  <c:v>521.7240000000002</c:v>
                </c:pt>
                <c:pt idx="6">
                  <c:v>5980.232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3178.328</c:v>
                </c:pt>
                <c:pt idx="2">
                  <c:v>3396.978</c:v>
                </c:pt>
                <c:pt idx="3">
                  <c:v>3626.216</c:v>
                </c:pt>
                <c:pt idx="4">
                  <c:v>3865.852</c:v>
                </c:pt>
                <c:pt idx="5">
                  <c:v>4115.542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3178.328</c:v>
                </c:pt>
                <c:pt idx="1">
                  <c:v>218.6500000000001</c:v>
                </c:pt>
                <c:pt idx="2">
                  <c:v>229.23799999999983</c:v>
                </c:pt>
                <c:pt idx="3">
                  <c:v>239.63599999999997</c:v>
                </c:pt>
                <c:pt idx="4">
                  <c:v>249.6900000000005</c:v>
                </c:pt>
                <c:pt idx="5">
                  <c:v>259.21099999999933</c:v>
                </c:pt>
                <c:pt idx="6">
                  <c:v>4374.753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2438.806</c:v>
                </c:pt>
                <c:pt idx="2">
                  <c:v>2544.878</c:v>
                </c:pt>
                <c:pt idx="3">
                  <c:v>2646.089</c:v>
                </c:pt>
                <c:pt idx="4">
                  <c:v>2740.231</c:v>
                </c:pt>
                <c:pt idx="5">
                  <c:v>2824.681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2438.806</c:v>
                </c:pt>
                <c:pt idx="1">
                  <c:v>106.07200000000012</c:v>
                </c:pt>
                <c:pt idx="2">
                  <c:v>101.21099999999979</c:v>
                </c:pt>
                <c:pt idx="3">
                  <c:v>94.14200000000028</c:v>
                </c:pt>
                <c:pt idx="4">
                  <c:v>84.44999999999982</c:v>
                </c:pt>
                <c:pt idx="5">
                  <c:v>71.65099999999984</c:v>
                </c:pt>
                <c:pt idx="6">
                  <c:v>2896.332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488.175</c:v>
                </c:pt>
                <c:pt idx="2">
                  <c:v>564.765</c:v>
                </c:pt>
                <c:pt idx="3">
                  <c:v>652.141</c:v>
                </c:pt>
                <c:pt idx="4">
                  <c:v>751.747</c:v>
                </c:pt>
                <c:pt idx="5">
                  <c:v>865.219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488.175</c:v>
                </c:pt>
                <c:pt idx="1">
                  <c:v>76.58999999999997</c:v>
                </c:pt>
                <c:pt idx="2">
                  <c:v>87.37599999999998</c:v>
                </c:pt>
                <c:pt idx="3">
                  <c:v>99.606</c:v>
                </c:pt>
                <c:pt idx="4">
                  <c:v>113.4720000000001</c:v>
                </c:pt>
                <c:pt idx="5">
                  <c:v>129.18999999999994</c:v>
                </c:pt>
                <c:pt idx="6">
                  <c:v>994.409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Personal Gifting &amp; Celebrations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20.579751145727176</c:v>
                </c:pt>
                <c:pt idx="1">
                  <c:v>22.21625104555785</c:v>
                </c:pt>
                <c:pt idx="2">
                  <c:v>26.017992426637033</c:v>
                </c:pt>
              </c:numCache>
            </c:numRef>
          </c:val>
        </c:ser>
        <c:ser>
          <c:idx val="1"/>
          <c:order val="1"/>
          <c:tx>
            <c:strRef>
              <c:strCache>
                <c:ptCount val="1"/>
                <c:pt idx="0">
                  <c:v>Hospitality &amp; Commercial Decoration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18.623673926734146</c:v>
                </c:pt>
                <c:pt idx="1">
                  <c:v>19.08762044387994</c:v>
                </c:pt>
                <c:pt idx="2">
                  <c:v>20.162970495874184</c:v>
                </c:pt>
              </c:numCache>
            </c:numRef>
          </c:val>
        </c:ser>
        <c:ser>
          <c:idx val="2"/>
          <c:order val="2"/>
          <c:tx>
            <c:strRef>
              <c:strCache>
                <c:ptCount val="1"/>
                <c:pt idx="0">
                  <c:v>Weddings &amp; Special Events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20.933333605239028</c:v>
                </c:pt>
                <c:pt idx="1">
                  <c:v>20.10693288886815</c:v>
                </c:pt>
                <c:pt idx="2">
                  <c:v>18.210043406359226</c:v>
                </c:pt>
              </c:numCache>
            </c:numRef>
          </c:val>
        </c:ser>
        <c:ser>
          <c:idx val="3"/>
          <c:order val="3"/>
          <c:tx>
            <c:strRef>
              <c:strCache>
                <c:ptCount val="1"/>
                <c:pt idx="0">
                  <c:v>Funeral &amp; Memorial Services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16.55475584382503</c:v>
                </c:pt>
                <c:pt idx="1">
                  <c:v>16.016993798565714</c:v>
                </c:pt>
                <c:pt idx="2">
                  <c:v>14.749932053762643</c:v>
                </c:pt>
              </c:numCache>
            </c:numRef>
          </c:val>
        </c:ser>
        <c:ser>
          <c:idx val="4"/>
          <c:order val="4"/>
          <c:tx>
            <c:strRef>
              <c:strCache>
                <c:ptCount val="1"/>
                <c:pt idx="0">
                  <c:v>Landscaping &amp; Gardening</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13.37498557818367</c:v>
                </c:pt>
                <c:pt idx="1">
                  <c:v>12.290216924717921</c:v>
                </c:pt>
                <c:pt idx="2">
                  <c:v>9.765282795426042</c:v>
                </c:pt>
              </c:numCache>
            </c:numRef>
          </c:val>
        </c:ser>
        <c:ser>
          <c:idx val="5"/>
          <c:order val="5"/>
          <c:tx>
            <c:strRef>
              <c:strCache>
                <c:ptCount val="1"/>
                <c:pt idx="0">
                  <c:v>Residential &amp; Home Decoration</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7.857228004235055</c:v>
                </c:pt>
                <c:pt idx="1">
                  <c:v>7.821856193124249</c:v>
                </c:pt>
                <c:pt idx="2">
                  <c:v>7.741026064550898</c:v>
                </c:pt>
              </c:numCache>
            </c:numRef>
          </c:val>
        </c:ser>
        <c:ser>
          <c:idx val="6"/>
          <c:order val="6"/>
          <c:tx>
            <c:strRef>
              <c:strCache>
                <c:ptCount val="1"/>
                <c:pt idx="0">
                  <c:v>Other Institutional Applications</c:v>
                </c:pt>
              </c:strCache>
            </c:strRef>
          </c:tx>
          <c:spPr>
            <a:solidFill>
              <a:srgbClr val="0E72A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2.07627189605589</c:v>
                </c:pt>
                <c:pt idx="1">
                  <c:v>2.4601287052861815</c:v>
                </c:pt>
                <c:pt idx="2">
                  <c:v>3.3527527573899727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Open-Field Cultivation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71.03040022125158</c:v>
                </c:pt>
                <c:pt idx="1">
                  <c:v>71.03040022125158</c:v>
                </c:pt>
                <c:pt idx="2">
                  <c:v>71.03040022125158</c:v>
                </c:pt>
                <c:pt idx="3">
                  <c:v>71.03040022125158</c:v>
                </c:pt>
                <c:pt idx="4">
                  <c:v>71.03040022125158</c:v>
                </c:pt>
                <c:pt idx="5">
                  <c:v>71.03040022125158</c:v>
                </c:pt>
                <c:pt idx="6">
                  <c:v>71.03040022125158</c:v>
                </c:pt>
              </c:numCache>
            </c:numRef>
          </c:val>
        </c:ser>
        <c:ser>
          <c:idx val="1"/>
          <c:order val="1"/>
          <c:tx>
            <c:strRef>
              <c:strCache>
                <c:ptCount val="1"/>
                <c:pt idx="0">
                  <c:v>Protected Cultivation</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28.969599778748417</c:v>
                </c:pt>
                <c:pt idx="1">
                  <c:v>28.969599778748417</c:v>
                </c:pt>
                <c:pt idx="2">
                  <c:v>28.969599778748417</c:v>
                </c:pt>
                <c:pt idx="3">
                  <c:v>28.969599778748417</c:v>
                </c:pt>
                <c:pt idx="4">
                  <c:v>28.969599778748417</c:v>
                </c:pt>
                <c:pt idx="5">
                  <c:v>28.969599778748417</c:v>
                </c:pt>
                <c:pt idx="6">
                  <c:v>28.969599778748417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Carnations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16.730492856240797</c:v>
                </c:pt>
                <c:pt idx="1">
                  <c:v>16.730492856240797</c:v>
                </c:pt>
                <c:pt idx="2">
                  <c:v>16.730492856240797</c:v>
                </c:pt>
                <c:pt idx="3">
                  <c:v>16.730492856240797</c:v>
                </c:pt>
                <c:pt idx="4">
                  <c:v>16.730492856240797</c:v>
                </c:pt>
                <c:pt idx="5">
                  <c:v>16.730492856240797</c:v>
                </c:pt>
                <c:pt idx="6">
                  <c:v>16.730492856240797</c:v>
                </c:pt>
              </c:numCache>
            </c:numRef>
          </c:val>
        </c:ser>
        <c:ser>
          <c:idx val="1"/>
          <c:order val="1"/>
          <c:tx>
            <c:strRef>
              <c:strCache>
                <c:ptCount val="1"/>
                <c:pt idx="0">
                  <c:v>Gerbera</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14.626309889084945</c:v>
                </c:pt>
                <c:pt idx="1">
                  <c:v>14.626309889084945</c:v>
                </c:pt>
                <c:pt idx="2">
                  <c:v>14.626309889084945</c:v>
                </c:pt>
                <c:pt idx="3">
                  <c:v>14.626309889084945</c:v>
                </c:pt>
                <c:pt idx="4">
                  <c:v>14.626309889084945</c:v>
                </c:pt>
                <c:pt idx="5">
                  <c:v>14.626309889084945</c:v>
                </c:pt>
                <c:pt idx="6">
                  <c:v>14.626309889084945</c:v>
                </c:pt>
              </c:numCache>
            </c:numRef>
          </c:val>
        </c:ser>
        <c:ser>
          <c:idx val="2"/>
          <c:order val="2"/>
          <c:tx>
            <c:strRef>
              <c:strCache>
                <c:ptCount val="1"/>
                <c:pt idx="0">
                  <c:v>Peonies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12.082728054573508</c:v>
                </c:pt>
                <c:pt idx="1">
                  <c:v>12.082728054573508</c:v>
                </c:pt>
                <c:pt idx="2">
                  <c:v>12.082728054573508</c:v>
                </c:pt>
                <c:pt idx="3">
                  <c:v>12.082728054573508</c:v>
                </c:pt>
                <c:pt idx="4">
                  <c:v>12.082728054573508</c:v>
                </c:pt>
                <c:pt idx="5">
                  <c:v>12.082728054573508</c:v>
                </c:pt>
                <c:pt idx="6">
                  <c:v>12.082728054573508</c:v>
                </c:pt>
              </c:numCache>
            </c:numRef>
          </c:val>
        </c:ser>
        <c:ser>
          <c:idx val="3"/>
          <c:order val="3"/>
          <c:tx>
            <c:strRef>
              <c:strCache>
                <c:ptCount val="1"/>
                <c:pt idx="0">
                  <c:v>Lilies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10.628647987746499</c:v>
                </c:pt>
                <c:pt idx="1">
                  <c:v>10.628647987746499</c:v>
                </c:pt>
                <c:pt idx="2">
                  <c:v>10.628647987746499</c:v>
                </c:pt>
                <c:pt idx="3">
                  <c:v>10.628647987746499</c:v>
                </c:pt>
                <c:pt idx="4">
                  <c:v>10.628647987746499</c:v>
                </c:pt>
                <c:pt idx="5">
                  <c:v>10.628647987746499</c:v>
                </c:pt>
                <c:pt idx="6">
                  <c:v>10.628647987746499</c:v>
                </c:pt>
              </c:numCache>
            </c:numRef>
          </c:val>
        </c:ser>
        <c:ser>
          <c:idx val="4"/>
          <c:order val="4"/>
          <c:tx>
            <c:strRef>
              <c:strCache>
                <c:ptCount val="1"/>
                <c:pt idx="0">
                  <c:v>Orchids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9.102075574065308</c:v>
                </c:pt>
                <c:pt idx="1">
                  <c:v>9.102075574065308</c:v>
                </c:pt>
                <c:pt idx="2">
                  <c:v>9.102075574065308</c:v>
                </c:pt>
                <c:pt idx="3">
                  <c:v>9.102075574065308</c:v>
                </c:pt>
                <c:pt idx="4">
                  <c:v>9.102075574065308</c:v>
                </c:pt>
                <c:pt idx="5">
                  <c:v>9.102075574065308</c:v>
                </c:pt>
                <c:pt idx="6">
                  <c:v>9.102075574065308</c:v>
                </c:pt>
              </c:numCache>
            </c:numRef>
          </c:val>
        </c:ser>
        <c:ser>
          <c:idx val="5"/>
          <c:order val="5"/>
          <c:tx>
            <c:strRef>
              <c:strCache>
                <c:ptCount val="1"/>
                <c:pt idx="0">
                  <c:v>Tulips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8.96583934849311</c:v>
                </c:pt>
                <c:pt idx="1">
                  <c:v>8.96583934849311</c:v>
                </c:pt>
                <c:pt idx="2">
                  <c:v>8.96583934849311</c:v>
                </c:pt>
                <c:pt idx="3">
                  <c:v>8.96583934849311</c:v>
                </c:pt>
                <c:pt idx="4">
                  <c:v>8.96583934849311</c:v>
                </c:pt>
                <c:pt idx="5">
                  <c:v>8.96583934849311</c:v>
                </c:pt>
                <c:pt idx="6">
                  <c:v>8.96583934849311</c:v>
                </c:pt>
              </c:numCache>
            </c:numRef>
          </c:val>
        </c:ser>
        <c:ser>
          <c:idx val="6"/>
          <c:order val="6"/>
          <c:tx>
            <c:strRef>
              <c:strCache>
                <c:ptCount val="1"/>
                <c:pt idx="0">
                  <c:v>Roses</c:v>
                </c:pt>
              </c:strCache>
            </c:strRef>
          </c:tx>
          <c:spPr>
            <a:solidFill>
              <a:srgbClr val="0E72A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8.788718144816778</c:v>
                </c:pt>
                <c:pt idx="1">
                  <c:v>8.788718144816778</c:v>
                </c:pt>
                <c:pt idx="2">
                  <c:v>8.788718144816778</c:v>
                </c:pt>
                <c:pt idx="3">
                  <c:v>8.788718144816778</c:v>
                </c:pt>
                <c:pt idx="4">
                  <c:v>8.788718144816778</c:v>
                </c:pt>
                <c:pt idx="5">
                  <c:v>8.788718144816778</c:v>
                </c:pt>
                <c:pt idx="6">
                  <c:v>8.788718144816778</c:v>
                </c:pt>
              </c:numCache>
            </c:numRef>
          </c:val>
        </c:ser>
        <c:ser>
          <c:idx val="7"/>
          <c:order val="7"/>
          <c:tx>
            <c:strRef>
              <c:strCache>
                <c:ptCount val="1"/>
                <c:pt idx="0">
                  <c:v>Lisianthus</c:v>
                </c:pt>
              </c:strCache>
            </c:strRef>
          </c:tx>
          <c:spPr>
            <a:solidFill>
              <a:srgbClr val="A86F0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6.504168574514724</c:v>
                </c:pt>
                <c:pt idx="1">
                  <c:v>6.504168574514724</c:v>
                </c:pt>
                <c:pt idx="2">
                  <c:v>6.504168574514724</c:v>
                </c:pt>
                <c:pt idx="3">
                  <c:v>6.504168574514724</c:v>
                </c:pt>
                <c:pt idx="4">
                  <c:v>6.504168574514724</c:v>
                </c:pt>
                <c:pt idx="5">
                  <c:v>6.504168574514724</c:v>
                </c:pt>
                <c:pt idx="6">
                  <c:v>6.504168574514724</c:v>
                </c:pt>
              </c:numCache>
            </c:numRef>
          </c:val>
        </c:ser>
        <c:ser>
          <c:idx val="8"/>
          <c:order val="8"/>
          <c:tx>
            <c:strRef>
              <c:strCache>
                <c:ptCount val="1"/>
                <c:pt idx="0">
                  <c:v>Hydrangeas</c:v>
                </c:pt>
              </c:strCache>
            </c:strRef>
          </c:tx>
          <c:spPr>
            <a:solidFill>
              <a:srgbClr val="0B2E4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3.973250853152023</c:v>
                </c:pt>
                <c:pt idx="1">
                  <c:v>3.973250853152023</c:v>
                </c:pt>
                <c:pt idx="2">
                  <c:v>3.973250853152023</c:v>
                </c:pt>
                <c:pt idx="3">
                  <c:v>3.973250853152023</c:v>
                </c:pt>
                <c:pt idx="4">
                  <c:v>3.973250853152023</c:v>
                </c:pt>
                <c:pt idx="5">
                  <c:v>3.973250853152023</c:v>
                </c:pt>
                <c:pt idx="6">
                  <c:v>3.973250853152023</c:v>
                </c:pt>
              </c:numCache>
            </c:numRef>
          </c:val>
        </c:ser>
        <c:ser>
          <c:idx val="9"/>
          <c:order val="9"/>
          <c:tx>
            <c:strRef>
              <c:strCache>
                <c:ptCount val="1"/>
                <c:pt idx="0">
                  <c:v>Alstroemeria</c:v>
                </c:pt>
              </c:strCache>
            </c:strRef>
          </c:tx>
          <c:spPr>
            <a:solidFill>
              <a:srgbClr val="6C7A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3.6448305372335503</c:v>
                </c:pt>
                <c:pt idx="1">
                  <c:v>3.6448305372335503</c:v>
                </c:pt>
                <c:pt idx="2">
                  <c:v>3.6448305372335503</c:v>
                </c:pt>
                <c:pt idx="3">
                  <c:v>3.6448305372335503</c:v>
                </c:pt>
                <c:pt idx="4">
                  <c:v>3.6448305372335503</c:v>
                </c:pt>
                <c:pt idx="5">
                  <c:v>3.6448305372335503</c:v>
                </c:pt>
                <c:pt idx="6">
                  <c:v>3.6448305372335503</c:v>
                </c:pt>
              </c:numCache>
            </c:numRef>
          </c:val>
        </c:ser>
        <c:ser>
          <c:idx val="10"/>
          <c:order val="10"/>
          <c:tx>
            <c:strRef>
              <c:strCache>
                <c:ptCount val="1"/>
                <c:pt idx="0">
                  <c:v>Others</c:v>
                </c:pt>
              </c:strCache>
            </c:strRef>
          </c:tx>
          <c:spPr>
            <a:solidFill>
              <a:srgbClr val="B2B2B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3.046795132747421</c:v>
                </c:pt>
                <c:pt idx="1">
                  <c:v>3.046795132747421</c:v>
                </c:pt>
                <c:pt idx="2">
                  <c:v>3.046795132747421</c:v>
                </c:pt>
                <c:pt idx="3">
                  <c:v>3.046795132747421</c:v>
                </c:pt>
                <c:pt idx="4">
                  <c:v>3.046795132747421</c:v>
                </c:pt>
                <c:pt idx="5">
                  <c:v>3.046795132747421</c:v>
                </c:pt>
                <c:pt idx="6">
                  <c:v>3.046795132747421</c:v>
                </c:pt>
              </c:numCache>
            </c:numRef>
          </c:val>
        </c:ser>
        <c:ser>
          <c:idx val="11"/>
          <c:order val="11"/>
          <c:tx>
            <c:strRef>
              <c:strCache>
                <c:ptCount val="1"/>
                <c:pt idx="0">
                  <c:v>Chrysanthemums</c:v>
                </c:pt>
              </c:strCache>
            </c:strRef>
          </c:tx>
          <c:spPr>
            <a:solidFill>
              <a:srgbClr val="5F5F5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strCache>
            </c:strRef>
          </c:cat>
          <c:val>
            <c:numRef>
              <c:numCache>
                <c:formatCode>General</c:formatCode>
                <c:ptCount val="7"/>
                <c:pt idx="0">
                  <c:v>1.9061430473313288</c:v>
                </c:pt>
                <c:pt idx="1">
                  <c:v>1.9061430473313288</c:v>
                </c:pt>
                <c:pt idx="2">
                  <c:v>1.9061430473313288</c:v>
                </c:pt>
                <c:pt idx="3">
                  <c:v>1.9061430473313288</c:v>
                </c:pt>
                <c:pt idx="4">
                  <c:v>1.9061430473313288</c:v>
                </c:pt>
                <c:pt idx="5">
                  <c:v>1.9061430473313288</c:v>
                </c:pt>
                <c:pt idx="6">
                  <c:v>1.9061430473313288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(Mn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7474.1089999999995</c:v>
                </c:pt>
                <c:pt idx="1">
                  <c:v>7664.73</c:v>
                </c:pt>
                <c:pt idx="2">
                  <c:v>7859.446</c:v>
                </c:pt>
                <c:pt idx="3">
                  <c:v>8058.316</c:v>
                </c:pt>
                <c:pt idx="4">
                  <c:v>8261.406</c:v>
                </c:pt>
                <c:pt idx="5">
                  <c:v>8468.772</c:v>
                </c:pt>
                <c:pt idx="6">
                  <c:v>8681.173999999999</c:v>
                </c:pt>
                <c:pt idx="7">
                  <c:v>8898.028</c:v>
                </c:pt>
                <c:pt idx="8">
                  <c:v>9119.395</c:v>
                </c:pt>
                <c:pt idx="9">
                  <c:v>9345.34</c:v>
                </c:pt>
                <c:pt idx="10">
                  <c:v>9575.927000000001</c:v>
                </c:pt>
                <c:pt idx="11">
                  <c:v>9811.221</c:v>
                </c:pt>
                <c:pt idx="12">
                  <c:v>10051.282</c:v>
                </c:pt>
                <c:pt idx="13">
                  <c:v>10296.178</c:v>
                </c:pt>
                <c:pt idx="14">
                  <c:v>10545.972</c:v>
                </c:pt>
                <c:pt idx="15">
                  <c:v>10800.726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0.04411873501756758</c:v>
                </c:pt>
                <c:pt idx="1">
                  <c:v>0.026300089711178032</c:v>
                </c:pt>
                <c:pt idx="2">
                  <c:v>0.024620995601180695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5956029227371624"/>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8468.772</c:v>
                </c:pt>
                <c:pt idx="2">
                  <c:v>8681.173999999999</c:v>
                </c:pt>
                <c:pt idx="3">
                  <c:v>8898.028</c:v>
                </c:pt>
                <c:pt idx="4">
                  <c:v>9119.395</c:v>
                </c:pt>
                <c:pt idx="5">
                  <c:v>9345.34</c:v>
                </c:pt>
                <c:pt idx="6">
                  <c:v>9575.927000000001</c:v>
                </c:pt>
                <c:pt idx="7">
                  <c:v>9811.221</c:v>
                </c:pt>
                <c:pt idx="8">
                  <c:v>10051.282</c:v>
                </c:pt>
                <c:pt idx="9">
                  <c:v>10296.178</c:v>
                </c:pt>
                <c:pt idx="10">
                  <c:v>10545.972</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8468.772</c:v>
                </c:pt>
                <c:pt idx="1">
                  <c:v>212.40199999999822</c:v>
                </c:pt>
                <c:pt idx="2">
                  <c:v>216.85400000000118</c:v>
                </c:pt>
                <c:pt idx="3">
                  <c:v>221.3670000000002</c:v>
                </c:pt>
                <c:pt idx="4">
                  <c:v>225.9449999999997</c:v>
                </c:pt>
                <c:pt idx="5">
                  <c:v>230.58700000000135</c:v>
                </c:pt>
                <c:pt idx="6">
                  <c:v>235.29399999999805</c:v>
                </c:pt>
                <c:pt idx="7">
                  <c:v>240.0609999999997</c:v>
                </c:pt>
                <c:pt idx="8">
                  <c:v>244.89600000000064</c:v>
                </c:pt>
                <c:pt idx="9">
                  <c:v>249.79399999999987</c:v>
                </c:pt>
                <c:pt idx="10">
                  <c:v>254.75400000000081</c:v>
                </c:pt>
                <c:pt idx="11">
                  <c:v>10800.726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70.02305721506612</c:v>
                </c:pt>
                <c:pt idx="1">
                  <c:v>16.937545693754572</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29.976942784933883</c:v>
                </c:pt>
                <c:pt idx="1">
                  <c:v>83.06245430624543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11276.013</c:v>
                </c:pt>
                <c:pt idx="1">
                  <c:v>11722.551000000001</c:v>
                </c:pt>
                <c:pt idx="2">
                  <c:v>12185.585000000001</c:v>
                </c:pt>
                <c:pt idx="3">
                  <c:v>12665.665</c:v>
                </c:pt>
                <c:pt idx="4">
                  <c:v>13163.359999999999</c:v>
                </c:pt>
                <c:pt idx="5">
                  <c:v>13679.256000000001</c:v>
                </c:pt>
                <c:pt idx="6">
                  <c:v>14215.093</c:v>
                </c:pt>
                <c:pt idx="7">
                  <c:v>14770.464</c:v>
                </c:pt>
                <c:pt idx="8">
                  <c:v>15346.013</c:v>
                </c:pt>
                <c:pt idx="9">
                  <c:v>15942.405999999999</c:v>
                </c:pt>
                <c:pt idx="10">
                  <c:v>16560.321</c:v>
                </c:pt>
                <c:pt idx="11">
                  <c:v>17200.462</c:v>
                </c:pt>
                <c:pt idx="12">
                  <c:v>17863.548</c:v>
                </c:pt>
                <c:pt idx="13">
                  <c:v>18550.325</c:v>
                </c:pt>
                <c:pt idx="14">
                  <c:v>19261.55</c:v>
                </c:pt>
                <c:pt idx="15">
                  <c:v>19998.010000000002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0.0500000017739024</c:v>
                </c:pt>
                <c:pt idx="1">
                  <c:v>0.04100923237296894</c:v>
                </c:pt>
                <c:pt idx="2">
                  <c:v>0.038705497992496785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750000239476825"/>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13679.256000000001</c:v>
                </c:pt>
                <c:pt idx="2">
                  <c:v>14215.093</c:v>
                </c:pt>
                <c:pt idx="3">
                  <c:v>14770.464</c:v>
                </c:pt>
                <c:pt idx="4">
                  <c:v>15346.013</c:v>
                </c:pt>
                <c:pt idx="5">
                  <c:v>15942.405999999999</c:v>
                </c:pt>
                <c:pt idx="6">
                  <c:v>16560.321</c:v>
                </c:pt>
                <c:pt idx="7">
                  <c:v>17200.462</c:v>
                </c:pt>
                <c:pt idx="8">
                  <c:v>17863.548</c:v>
                </c:pt>
                <c:pt idx="9">
                  <c:v>18550.325</c:v>
                </c:pt>
                <c:pt idx="10">
                  <c:v>19261.55</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13679.256000000001</c:v>
                </c:pt>
                <c:pt idx="1">
                  <c:v>535.8369999999995</c:v>
                </c:pt>
                <c:pt idx="2">
                  <c:v>555.3709999999992</c:v>
                </c:pt>
                <c:pt idx="3">
                  <c:v>575.5490000000009</c:v>
                </c:pt>
                <c:pt idx="4">
                  <c:v>596.3929999999982</c:v>
                </c:pt>
                <c:pt idx="5">
                  <c:v>617.9150000000009</c:v>
                </c:pt>
                <c:pt idx="6">
                  <c:v>640.1409999999996</c:v>
                </c:pt>
                <c:pt idx="7">
                  <c:v>663.0859999999993</c:v>
                </c:pt>
                <c:pt idx="8">
                  <c:v>686.7770000000019</c:v>
                </c:pt>
                <c:pt idx="9">
                  <c:v>711.2249999999985</c:v>
                </c:pt>
                <c:pt idx="10">
                  <c:v>736.4600000000028</c:v>
                </c:pt>
                <c:pt idx="11">
                  <c:v>19998.010000000002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68.93579219041989</c:v>
                </c:pt>
                <c:pt idx="1">
                  <c:v>22.798760759958693</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31.06420780958011</c:v>
                </c:pt>
                <c:pt idx="1">
                  <c:v>77.2012392400413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9EC6DE"/>
              </a:solidFill>
            </c:spPr>
          </c:dPt>
          <c:dPt>
            <c:idx val="5"/>
            <c:spPr>
              <a:solidFill>
                <a:srgbClr val="86B8D6"/>
              </a:solidFill>
            </c:spPr>
          </c:dPt>
          <c:dPt>
            <c:idx val="6"/>
            <c:spPr>
              <a:solidFill>
                <a:srgbClr val="6EAACE"/>
              </a:solidFill>
            </c:spPr>
          </c:dPt>
          <c:dPt>
            <c:idx val="7"/>
            <c:spPr>
              <a:solidFill>
                <a:srgbClr val="569CC6"/>
              </a:solidFill>
            </c:spPr>
          </c:dPt>
          <c:dPt>
            <c:idx val="8"/>
            <c:spPr>
              <a:solidFill>
                <a:srgbClr val="3E8EBE"/>
              </a:solidFill>
            </c:spPr>
          </c:dPt>
          <c:dPt>
            <c:idx val="9"/>
            <c:spPr>
              <a:solidFill>
                <a:srgbClr val="2680B6"/>
              </a:solidFill>
            </c:spPr>
          </c:dPt>
          <c:dPt>
            <c:idx val="10"/>
            <c:spPr>
              <a:solidFill>
                <a:srgbClr val="0E72AE"/>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1"/>
                <c:pt idx="0">
                  <c:v> </c:v>
                </c:pt>
                <c:pt idx="1">
                  <c:v>  </c:v>
                </c:pt>
                <c:pt idx="2">
                  <c:v>   </c:v>
                </c:pt>
                <c:pt idx="3">
                  <c:v>    </c:v>
                </c:pt>
                <c:pt idx="4">
                  <c:v>Foliage Plants</c:v>
                </c:pt>
                <c:pt idx="5">
                  <c:v>Flower Bulbs, Corms,…</c:v>
                </c:pt>
                <c:pt idx="6">
                  <c:v>Young Plants &amp; Propag…</c:v>
                </c:pt>
                <c:pt idx="7">
                  <c:v>Flowering Plants</c:v>
                </c:pt>
                <c:pt idx="8">
                  <c:v>Bedding &amp; Garden Flow…</c:v>
                </c:pt>
                <c:pt idx="9">
                  <c:v>Cut Foliage &amp; Greens</c:v>
                </c:pt>
                <c:pt idx="10">
                  <c:v>Cut Flowers</c:v>
                </c:pt>
              </c:strCache>
            </c:strRef>
          </c:cat>
          <c:val>
            <c:numRef>
              <c:numCache>
                <c:formatCode>General</c:formatCode>
                <c:ptCount val="11"/>
                <c:pt idx="4">
                  <c:v>1339.503</c:v>
                </c:pt>
                <c:pt idx="5">
                  <c:v>1552.549</c:v>
                </c:pt>
                <c:pt idx="6">
                  <c:v>1710.365</c:v>
                </c:pt>
                <c:pt idx="7">
                  <c:v>2026.844</c:v>
                </c:pt>
                <c:pt idx="8">
                  <c:v>2135.553</c:v>
                </c:pt>
                <c:pt idx="9">
                  <c:v>2358.748</c:v>
                </c:pt>
                <c:pt idx="10">
                  <c:v>2555.694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3424.62996"/>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DABB6"/>
              </a:solidFill>
            </c:spPr>
          </c:dPt>
          <c:dPt>
            <c:idx val="1"/>
            <c:spPr>
              <a:solidFill>
                <a:srgbClr val="90A0AC"/>
              </a:solidFill>
            </c:spPr>
          </c:dPt>
          <c:dPt>
            <c:idx val="2"/>
            <c:spPr>
              <a:solidFill>
                <a:srgbClr val="8294A2"/>
              </a:solidFill>
            </c:spPr>
          </c:dPt>
          <c:dPt>
            <c:idx val="3"/>
            <c:spPr>
              <a:solidFill>
                <a:srgbClr val="758998"/>
              </a:solidFill>
            </c:spPr>
          </c:dPt>
          <c:dPt>
            <c:idx val="4"/>
            <c:spPr>
              <a:solidFill>
                <a:srgbClr val="687D8F"/>
              </a:solidFill>
            </c:spPr>
          </c:dPt>
          <c:dPt>
            <c:idx val="5"/>
            <c:spPr>
              <a:solidFill>
                <a:srgbClr val="5A7285"/>
              </a:solidFill>
            </c:spPr>
          </c:dPt>
          <c:dPt>
            <c:idx val="6"/>
            <c:spPr>
              <a:solidFill>
                <a:srgbClr val="4D677B"/>
              </a:solidFill>
            </c:spPr>
          </c:dPt>
          <c:dPt>
            <c:idx val="7"/>
            <c:spPr>
              <a:solidFill>
                <a:srgbClr val="405B71"/>
              </a:solidFill>
            </c:spPr>
          </c:dPt>
          <c:dPt>
            <c:idx val="8"/>
            <c:spPr>
              <a:solidFill>
                <a:srgbClr val="325067"/>
              </a:solidFill>
            </c:spPr>
          </c:dPt>
          <c:dPt>
            <c:idx val="9"/>
            <c:spPr>
              <a:solidFill>
                <a:srgbClr val="25445D"/>
              </a:solidFill>
            </c:spPr>
          </c:dPt>
          <c:dPt>
            <c:idx val="10"/>
            <c:spPr>
              <a:solidFill>
                <a:srgbClr val="183953"/>
              </a:solidFill>
            </c:spPr>
          </c:dPt>
          <c:dPt>
            <c:idx val="11"/>
            <c:spPr>
              <a:solidFill>
                <a:srgbClr val="0B2E4A"/>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2"/>
                <c:pt idx="0">
                  <c:v>Chrysanthemums</c:v>
                </c:pt>
                <c:pt idx="1">
                  <c:v>Others</c:v>
                </c:pt>
                <c:pt idx="2">
                  <c:v>Alstroemeria</c:v>
                </c:pt>
                <c:pt idx="3">
                  <c:v>Hydrangeas</c:v>
                </c:pt>
                <c:pt idx="4">
                  <c:v>Lisianthus</c:v>
                </c:pt>
                <c:pt idx="5">
                  <c:v>Roses</c:v>
                </c:pt>
                <c:pt idx="6">
                  <c:v>Tulips</c:v>
                </c:pt>
                <c:pt idx="7">
                  <c:v>Orchids</c:v>
                </c:pt>
                <c:pt idx="8">
                  <c:v>Lilies</c:v>
                </c:pt>
                <c:pt idx="9">
                  <c:v>Peonies</c:v>
                </c:pt>
                <c:pt idx="10">
                  <c:v>Gerbera</c:v>
                </c:pt>
                <c:pt idx="11">
                  <c:v>Carnations</c:v>
                </c:pt>
              </c:strCache>
            </c:strRef>
          </c:cat>
          <c:val>
            <c:numRef>
              <c:numCache>
                <c:formatCode>General</c:formatCode>
                <c:ptCount val="12"/>
                <c:pt idx="0">
                  <c:v>268.824</c:v>
                </c:pt>
                <c:pt idx="1">
                  <c:v>438.574</c:v>
                </c:pt>
                <c:pt idx="2">
                  <c:v>492.313</c:v>
                </c:pt>
                <c:pt idx="3">
                  <c:v>524.495</c:v>
                </c:pt>
                <c:pt idx="4">
                  <c:v>806.499</c:v>
                </c:pt>
                <c:pt idx="5">
                  <c:v>1118.041</c:v>
                </c:pt>
                <c:pt idx="6">
                  <c:v>1144.584</c:v>
                </c:pt>
                <c:pt idx="7">
                  <c:v>1219.606</c:v>
                </c:pt>
                <c:pt idx="8">
                  <c:v>1428.296</c:v>
                </c:pt>
                <c:pt idx="9">
                  <c:v>1811.512</c:v>
                </c:pt>
                <c:pt idx="10">
                  <c:v>2041.996</c:v>
                </c:pt>
                <c:pt idx="11">
                  <c:v>2384.516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3195.2514400000005"/>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FFFFFF"/>
              </a:solidFill>
            </c:spPr>
          </c:dPt>
          <c:dPt>
            <c:idx val="8"/>
            <c:spPr>
              <a:solidFill>
                <a:srgbClr val="FFFFFF"/>
              </a:solidFill>
            </c:spPr>
          </c:dPt>
          <c:dPt>
            <c:idx val="9"/>
            <c:spPr>
              <a:solidFill>
                <a:srgbClr val="C5B1E6"/>
              </a:solidFill>
            </c:spPr>
          </c:dPt>
          <c:dPt>
            <c:idx val="10"/>
            <c:spPr>
              <a:solidFill>
                <a:srgbClr val="6F3CC2"/>
              </a:solidFill>
            </c:spPr>
          </c:dPt>
          <c:dLbls>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1"/>
                <c:pt idx="0">
                  <c:v> </c:v>
                </c:pt>
                <c:pt idx="1">
                  <c:v>  </c:v>
                </c:pt>
                <c:pt idx="2">
                  <c:v>   </c:v>
                </c:pt>
                <c:pt idx="3">
                  <c:v>    </c:v>
                </c:pt>
                <c:pt idx="4">
                  <c:v>     </c:v>
                </c:pt>
                <c:pt idx="5">
                  <c:v>      </c:v>
                </c:pt>
                <c:pt idx="6">
                  <c:v>       </c:v>
                </c:pt>
                <c:pt idx="7">
                  <c:v>        </c:v>
                </c:pt>
                <c:pt idx="8">
                  <c:v>         </c:v>
                </c:pt>
                <c:pt idx="9">
                  <c:v>Protected Cultivation</c:v>
                </c:pt>
                <c:pt idx="10">
                  <c:v>Open-Field Cultivation</c:v>
                </c:pt>
              </c:strCache>
            </c:strRef>
          </c:cat>
          <c:val>
            <c:numRef>
              <c:numCache>
                <c:formatCode>General</c:formatCode>
                <c:ptCount val="11"/>
                <c:pt idx="9">
                  <c:v>4004.208</c:v>
                </c:pt>
                <c:pt idx="10">
                  <c:v>9675.048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12964.564320000001"/>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DABAA0"/>
              </a:solidFill>
            </c:spPr>
          </c:dPt>
          <c:dPt>
            <c:idx val="6"/>
            <c:spPr>
              <a:solidFill>
                <a:srgbClr val="CFA584"/>
              </a:solidFill>
            </c:spPr>
          </c:dPt>
          <c:dPt>
            <c:idx val="7"/>
            <c:spPr>
              <a:solidFill>
                <a:srgbClr val="C49067"/>
              </a:solidFill>
            </c:spPr>
          </c:dPt>
          <c:dPt>
            <c:idx val="8"/>
            <c:spPr>
              <a:solidFill>
                <a:srgbClr val="B97C4B"/>
              </a:solidFill>
            </c:spPr>
          </c:dPt>
          <c:dPt>
            <c:idx val="9"/>
            <c:spPr>
              <a:solidFill>
                <a:srgbClr val="AE672F"/>
              </a:solidFill>
            </c:spPr>
          </c:dPt>
          <c:dPt>
            <c:idx val="10"/>
            <c:spPr>
              <a:solidFill>
                <a:srgbClr val="A35313"/>
              </a:solidFill>
            </c:spPr>
          </c:dPt>
          <c:dLbls>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1"/>
                <c:pt idx="0">
                  <c:v> </c:v>
                </c:pt>
                <c:pt idx="1">
                  <c:v>  </c:v>
                </c:pt>
                <c:pt idx="2">
                  <c:v>   </c:v>
                </c:pt>
                <c:pt idx="3">
                  <c:v>    </c:v>
                </c:pt>
                <c:pt idx="4">
                  <c:v>     </c:v>
                </c:pt>
                <c:pt idx="5">
                  <c:v>Garden Centers &amp; Plan…</c:v>
                </c:pt>
                <c:pt idx="6">
                  <c:v>Other Retail Channels</c:v>
                </c:pt>
                <c:pt idx="7">
                  <c:v>Online / E-commerce</c:v>
                </c:pt>
                <c:pt idx="8">
                  <c:v>Florists &amp; Specialty…</c:v>
                </c:pt>
                <c:pt idx="9">
                  <c:v>Direct Sales to Comme…</c:v>
                </c:pt>
                <c:pt idx="10">
                  <c:v>Supermarkets &amp; Hyperm…</c:v>
                </c:pt>
              </c:strCache>
            </c:strRef>
          </c:cat>
          <c:val>
            <c:numRef>
              <c:numCache>
                <c:formatCode>General</c:formatCode>
                <c:ptCount val="11"/>
                <c:pt idx="5">
                  <c:v>1187.655</c:v>
                </c:pt>
                <c:pt idx="6">
                  <c:v>1448.807</c:v>
                </c:pt>
                <c:pt idx="7">
                  <c:v>1639.32</c:v>
                </c:pt>
                <c:pt idx="8">
                  <c:v>2496.482</c:v>
                </c:pt>
                <c:pt idx="9">
                  <c:v>3153.798</c:v>
                </c:pt>
                <c:pt idx="10">
                  <c:v>3753.194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5029.27996"/>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DCC599"/>
              </a:solidFill>
            </c:spPr>
          </c:dPt>
          <c:dPt>
            <c:idx val="5"/>
            <c:spPr>
              <a:solidFill>
                <a:srgbClr val="D3B77F"/>
              </a:solidFill>
            </c:spPr>
          </c:dPt>
          <c:dPt>
            <c:idx val="6"/>
            <c:spPr>
              <a:solidFill>
                <a:srgbClr val="CAA865"/>
              </a:solidFill>
            </c:spPr>
          </c:dPt>
          <c:dPt>
            <c:idx val="7"/>
            <c:spPr>
              <a:solidFill>
                <a:srgbClr val="C29A4C"/>
              </a:solidFill>
            </c:spPr>
          </c:dPt>
          <c:dPt>
            <c:idx val="8"/>
            <c:spPr>
              <a:solidFill>
                <a:srgbClr val="B98B32"/>
              </a:solidFill>
            </c:spPr>
          </c:dPt>
          <c:dPt>
            <c:idx val="9"/>
            <c:spPr>
              <a:solidFill>
                <a:srgbClr val="B07D19"/>
              </a:solidFill>
            </c:spPr>
          </c:dPt>
          <c:dPt>
            <c:idx val="10"/>
            <c:spPr>
              <a:solidFill>
                <a:srgbClr val="A86F00"/>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1"/>
                <c:pt idx="0">
                  <c:v> </c:v>
                </c:pt>
                <c:pt idx="1">
                  <c:v>  </c:v>
                </c:pt>
                <c:pt idx="2">
                  <c:v>   </c:v>
                </c:pt>
                <c:pt idx="3">
                  <c:v>    </c:v>
                </c:pt>
                <c:pt idx="4">
                  <c:v>Other Institutional A…</c:v>
                </c:pt>
                <c:pt idx="5">
                  <c:v>Residential &amp; Home De…</c:v>
                </c:pt>
                <c:pt idx="6">
                  <c:v>Landscaping &amp; Gardeni…</c:v>
                </c:pt>
                <c:pt idx="7">
                  <c:v>Funeral &amp; Memorial Se…</c:v>
                </c:pt>
                <c:pt idx="8">
                  <c:v>Hospitality &amp; Commerc…</c:v>
                </c:pt>
                <c:pt idx="9">
                  <c:v>Weddings &amp; Special Ev…</c:v>
                </c:pt>
                <c:pt idx="10">
                  <c:v>Personal Gifting &amp; Ce…</c:v>
                </c:pt>
              </c:strCache>
            </c:strRef>
          </c:cat>
          <c:val>
            <c:numRef>
              <c:numCache>
                <c:formatCode>General</c:formatCode>
                <c:ptCount val="11"/>
                <c:pt idx="4">
                  <c:v>335.048</c:v>
                </c:pt>
                <c:pt idx="5">
                  <c:v>1093.115</c:v>
                </c:pt>
                <c:pt idx="6">
                  <c:v>1661.761</c:v>
                </c:pt>
                <c:pt idx="7">
                  <c:v>2015.582</c:v>
                </c:pt>
                <c:pt idx="8">
                  <c:v>2468.573</c:v>
                </c:pt>
                <c:pt idx="9">
                  <c:v>2989.406</c:v>
                </c:pt>
                <c:pt idx="10">
                  <c:v>3115.771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4175.133140000001"/>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2026</c:v>
                </c:pt>
                <c:pt idx="1">
                  <c:v>Cut Flowers</c:v>
                </c:pt>
                <c:pt idx="2">
                  <c:v>Potted Flowering Plants</c:v>
                </c:pt>
                <c:pt idx="3">
                  <c:v>Potted Foliage Plants</c:v>
                </c:pt>
                <c:pt idx="4">
                  <c:v>Bedding &amp; Garden Flowering Plants</c:v>
                </c:pt>
                <c:pt idx="5">
                  <c:v>Cut Foliage &amp; Greens</c:v>
                </c:pt>
                <c:pt idx="6">
                  <c:v>Young Plants &amp; Propagation Material</c:v>
                </c:pt>
                <c:pt idx="7">
                  <c:v>Flower Bulbs, Corms, Rhizomes &amp; Tubers</c:v>
                </c:pt>
                <c:pt idx="8">
                  <c:v>2036 Total</c:v>
                </c:pt>
              </c:strCache>
            </c:strRef>
          </c:cat>
          <c:val>
            <c:numRef>
              <c:numCache>
                <c:formatCode>General</c:formatCode>
                <c:ptCount val="9"/>
                <c:pt idx="0">
                  <c:v>0.0</c:v>
                </c:pt>
                <c:pt idx="1">
                  <c:v>13679.256000000001</c:v>
                </c:pt>
                <c:pt idx="2">
                  <c:v>15552.513</c:v>
                </c:pt>
                <c:pt idx="3">
                  <c:v>16381.592</c:v>
                </c:pt>
                <c:pt idx="4">
                  <c:v>16813.367000000002</c:v>
                </c:pt>
                <c:pt idx="5">
                  <c:v>17122.798000000003</c:v>
                </c:pt>
                <c:pt idx="6">
                  <c:v>18431.79</c:v>
                </c:pt>
                <c:pt idx="7">
                  <c:v>18844.949</c:v>
                </c:pt>
                <c:pt idx="8">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2026</c:v>
                </c:pt>
                <c:pt idx="1">
                  <c:v>Cut Flowers</c:v>
                </c:pt>
                <c:pt idx="2">
                  <c:v>Potted Flowering Plants</c:v>
                </c:pt>
                <c:pt idx="3">
                  <c:v>Potted Foliage Plants</c:v>
                </c:pt>
                <c:pt idx="4">
                  <c:v>Bedding &amp; Garden Flowering Plants</c:v>
                </c:pt>
                <c:pt idx="5">
                  <c:v>Cut Foliage &amp; Greens</c:v>
                </c:pt>
                <c:pt idx="6">
                  <c:v>Young Plants &amp; Propagation Material</c:v>
                </c:pt>
                <c:pt idx="7">
                  <c:v>Flower Bulbs, Corms, Rhizomes &amp; Tubers</c:v>
                </c:pt>
                <c:pt idx="8">
                  <c:v>2036 Total</c:v>
                </c:pt>
              </c:strCache>
            </c:strRef>
          </c:cat>
          <c:val>
            <c:numRef>
              <c:numCache>
                <c:formatCode>General</c:formatCode>
                <c:ptCount val="9"/>
                <c:pt idx="0">
                  <c:v>13679.256000000001</c:v>
                </c:pt>
                <c:pt idx="1">
                  <c:v>1873.257</c:v>
                </c:pt>
                <c:pt idx="2">
                  <c:v>829.0789999999997</c:v>
                </c:pt>
                <c:pt idx="3">
                  <c:v>431.7750000000001</c:v>
                </c:pt>
                <c:pt idx="4">
                  <c:v>309.43100000000004</c:v>
                </c:pt>
                <c:pt idx="5">
                  <c:v>1308.9919999999997</c:v>
                </c:pt>
                <c:pt idx="6">
                  <c:v>413.1589999999999</c:v>
                </c:pt>
                <c:pt idx="7">
                  <c:v>1153.0610000000001</c:v>
                </c:pt>
                <c:pt idx="8">
                  <c:v>19998.010000000002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pt idx="7">
                  <c:v>Total Absolute $ Opportunity</c:v>
                </c:pt>
              </c:strCache>
            </c:strRef>
          </c:cat>
          <c:val>
            <c:numRef>
              <c:numCache>
                <c:formatCode>General</c:formatCode>
                <c:ptCount val="8"/>
                <c:pt idx="0">
                  <c:v>0.0</c:v>
                </c:pt>
                <c:pt idx="1">
                  <c:v>1873.257</c:v>
                </c:pt>
                <c:pt idx="2">
                  <c:v>2702.336</c:v>
                </c:pt>
                <c:pt idx="3">
                  <c:v>3134.111</c:v>
                </c:pt>
                <c:pt idx="4">
                  <c:v>3443.542</c:v>
                </c:pt>
                <c:pt idx="5">
                  <c:v>4752.534</c:v>
                </c:pt>
                <c:pt idx="6">
                  <c:v>5165.692999999999</c:v>
                </c:pt>
                <c:pt idx="7">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Cut Flowers</c:v>
                </c:pt>
                <c:pt idx="1">
                  <c:v>Potted Flowering Plants</c:v>
                </c:pt>
                <c:pt idx="2">
                  <c:v>Potted Foliage Plants</c:v>
                </c:pt>
                <c:pt idx="3">
                  <c:v>Bedding &amp; Garden Flowering Plants</c:v>
                </c:pt>
                <c:pt idx="4">
                  <c:v>Cut Foliage &amp; Greens</c:v>
                </c:pt>
                <c:pt idx="5">
                  <c:v>Young Plants &amp; Propagation Material</c:v>
                </c:pt>
                <c:pt idx="6">
                  <c:v>Flower Bulbs, Corms, Rhizomes &amp; Tubers</c:v>
                </c:pt>
                <c:pt idx="7">
                  <c:v>Total Absolute $ Opportunity</c:v>
                </c:pt>
              </c:strCache>
            </c:strRef>
          </c:cat>
          <c:val>
            <c:numRef>
              <c:numCache>
                <c:formatCode>General</c:formatCode>
                <c:ptCount val="8"/>
                <c:pt idx="0">
                  <c:v>1873.257</c:v>
                </c:pt>
                <c:pt idx="1">
                  <c:v>829.0789999999997</c:v>
                </c:pt>
                <c:pt idx="2">
                  <c:v>431.7750000000001</c:v>
                </c:pt>
                <c:pt idx="3">
                  <c:v>309.43100000000004</c:v>
                </c:pt>
                <c:pt idx="4">
                  <c:v>1308.9919999999997</c:v>
                </c:pt>
                <c:pt idx="5">
                  <c:v>413.1589999999999</c:v>
                </c:pt>
                <c:pt idx="6">
                  <c:v>1153.0610000000001</c:v>
                </c:pt>
                <c:pt idx="7">
                  <c:v>6318.753999999999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4"/>
                <c:pt idx="0">
                  <c:v>2026</c:v>
                </c:pt>
                <c:pt idx="1">
                  <c:v>Roses</c:v>
                </c:pt>
                <c:pt idx="2">
                  <c:v>Carnations</c:v>
                </c:pt>
                <c:pt idx="3">
                  <c:v>Chrysanthemums</c:v>
                </c:pt>
                <c:pt idx="4">
                  <c:v>Lilies</c:v>
                </c:pt>
                <c:pt idx="5">
                  <c:v>Alstroemeria</c:v>
                </c:pt>
                <c:pt idx="6">
                  <c:v>Hydrangeas</c:v>
                </c:pt>
                <c:pt idx="7">
                  <c:v>Gerbera</c:v>
                </c:pt>
                <c:pt idx="8">
                  <c:v>Orchids</c:v>
                </c:pt>
                <c:pt idx="9">
                  <c:v>Tulips</c:v>
                </c:pt>
                <c:pt idx="10">
                  <c:v>Lisianthus</c:v>
                </c:pt>
                <c:pt idx="11">
                  <c:v>Peonies</c:v>
                </c:pt>
                <c:pt idx="12">
                  <c:v>Others</c:v>
                </c:pt>
                <c:pt idx="13">
                  <c:v>2036 Total</c:v>
                </c:pt>
              </c:strCache>
            </c:strRef>
          </c:cat>
          <c:val>
            <c:numRef>
              <c:numCache>
                <c:formatCode>General</c:formatCode>
                <c:ptCount val="14"/>
                <c:pt idx="0">
                  <c:v>0.0</c:v>
                </c:pt>
                <c:pt idx="1">
                  <c:v>13679.256000000001</c:v>
                </c:pt>
                <c:pt idx="2">
                  <c:v>14002.773000000001</c:v>
                </c:pt>
                <c:pt idx="3">
                  <c:v>15638.082</c:v>
                </c:pt>
                <c:pt idx="4">
                  <c:v>15770.238000000001</c:v>
                </c:pt>
                <c:pt idx="5">
                  <c:v>16240.660000000002</c:v>
                </c:pt>
                <c:pt idx="6">
                  <c:v>16528.969</c:v>
                </c:pt>
                <c:pt idx="7">
                  <c:v>16610.670000000002</c:v>
                </c:pt>
                <c:pt idx="8">
                  <c:v>18168.047000000002</c:v>
                </c:pt>
                <c:pt idx="9">
                  <c:v>18861.345</c:v>
                </c:pt>
                <c:pt idx="10">
                  <c:v>19749.118000000002</c:v>
                </c:pt>
                <c:pt idx="11">
                  <c:v>19824.113</c:v>
                </c:pt>
                <c:pt idx="12">
                  <c:v>19861.419</c:v>
                </c:pt>
                <c:pt idx="1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08189"/>
              </a:solidFill>
            </c:spPr>
          </c:dPt>
          <c:dPt>
            <c:idx val="12"/>
            <c:spPr>
              <a:solidFill>
                <a:srgbClr val="008189"/>
              </a:solidFill>
            </c:spPr>
          </c:dPt>
          <c:dPt>
            <c:idx val="1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4"/>
                <c:pt idx="0">
                  <c:v>2026</c:v>
                </c:pt>
                <c:pt idx="1">
                  <c:v>Roses</c:v>
                </c:pt>
                <c:pt idx="2">
                  <c:v>Carnations</c:v>
                </c:pt>
                <c:pt idx="3">
                  <c:v>Chrysanthemums</c:v>
                </c:pt>
                <c:pt idx="4">
                  <c:v>Lilies</c:v>
                </c:pt>
                <c:pt idx="5">
                  <c:v>Alstroemeria</c:v>
                </c:pt>
                <c:pt idx="6">
                  <c:v>Hydrangeas</c:v>
                </c:pt>
                <c:pt idx="7">
                  <c:v>Gerbera</c:v>
                </c:pt>
                <c:pt idx="8">
                  <c:v>Orchids</c:v>
                </c:pt>
                <c:pt idx="9">
                  <c:v>Tulips</c:v>
                </c:pt>
                <c:pt idx="10">
                  <c:v>Lisianthus</c:v>
                </c:pt>
                <c:pt idx="11">
                  <c:v>Peonies</c:v>
                </c:pt>
                <c:pt idx="12">
                  <c:v>Others</c:v>
                </c:pt>
                <c:pt idx="13">
                  <c:v>2036 Total</c:v>
                </c:pt>
              </c:strCache>
            </c:strRef>
          </c:cat>
          <c:val>
            <c:numRef>
              <c:numCache>
                <c:formatCode>General</c:formatCode>
                <c:ptCount val="14"/>
                <c:pt idx="0">
                  <c:v>13679.256000000001</c:v>
                </c:pt>
                <c:pt idx="1">
                  <c:v>323.51700000000005</c:v>
                </c:pt>
                <c:pt idx="2">
                  <c:v>1635.3089999999997</c:v>
                </c:pt>
                <c:pt idx="3">
                  <c:v>132.156</c:v>
                </c:pt>
                <c:pt idx="4">
                  <c:v>470.422</c:v>
                </c:pt>
                <c:pt idx="5">
                  <c:v>288.30899999999997</c:v>
                </c:pt>
                <c:pt idx="6">
                  <c:v>81.70100000000002</c:v>
                </c:pt>
                <c:pt idx="7">
                  <c:v>1557.377</c:v>
                </c:pt>
                <c:pt idx="8">
                  <c:v>693.298</c:v>
                </c:pt>
                <c:pt idx="9">
                  <c:v>887.7729999999999</c:v>
                </c:pt>
                <c:pt idx="10">
                  <c:v>74.995</c:v>
                </c:pt>
                <c:pt idx="11">
                  <c:v>37.30600000000004</c:v>
                </c:pt>
                <c:pt idx="12">
                  <c:v>136.59099999999995</c:v>
                </c:pt>
                <c:pt idx="13">
                  <c:v>19998.01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3"/>
                <c:pt idx="0">
                  <c:v>Roses</c:v>
                </c:pt>
                <c:pt idx="1">
                  <c:v>Carnations</c:v>
                </c:pt>
                <c:pt idx="2">
                  <c:v>Chrysanthemums</c:v>
                </c:pt>
                <c:pt idx="3">
                  <c:v>Lilies</c:v>
                </c:pt>
                <c:pt idx="4">
                  <c:v>Alstroemeria</c:v>
                </c:pt>
                <c:pt idx="5">
                  <c:v>Hydrangeas</c:v>
                </c:pt>
                <c:pt idx="6">
                  <c:v>Gerbera</c:v>
                </c:pt>
                <c:pt idx="7">
                  <c:v>Orchids</c:v>
                </c:pt>
                <c:pt idx="8">
                  <c:v>Tulips</c:v>
                </c:pt>
                <c:pt idx="9">
                  <c:v>Lisianthus</c:v>
                </c:pt>
                <c:pt idx="10">
                  <c:v>Peonies</c:v>
                </c:pt>
                <c:pt idx="11">
                  <c:v>Others</c:v>
                </c:pt>
                <c:pt idx="12">
                  <c:v>Total Absolute $ Opportunity</c:v>
                </c:pt>
              </c:strCache>
            </c:strRef>
          </c:cat>
          <c:val>
            <c:numRef>
              <c:numCache>
                <c:formatCode>General</c:formatCode>
                <c:ptCount val="13"/>
                <c:pt idx="0">
                  <c:v>0.0</c:v>
                </c:pt>
                <c:pt idx="1">
                  <c:v>323.51700000000005</c:v>
                </c:pt>
                <c:pt idx="2">
                  <c:v>1958.8259999999998</c:v>
                </c:pt>
                <c:pt idx="3">
                  <c:v>2090.982</c:v>
                </c:pt>
                <c:pt idx="4">
                  <c:v>2561.404</c:v>
                </c:pt>
                <c:pt idx="5">
                  <c:v>2849.7129999999997</c:v>
                </c:pt>
                <c:pt idx="6">
                  <c:v>2931.4139999999998</c:v>
                </c:pt>
                <c:pt idx="7">
                  <c:v>4488.790999999999</c:v>
                </c:pt>
                <c:pt idx="8">
                  <c:v>5182.088999999999</c:v>
                </c:pt>
                <c:pt idx="9">
                  <c:v>6069.861999999999</c:v>
                </c:pt>
                <c:pt idx="10">
                  <c:v>6144.856999999999</c:v>
                </c:pt>
                <c:pt idx="11">
                  <c:v>6182.162999999999</c:v>
                </c:pt>
                <c:pt idx="1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08189"/>
              </a:solidFill>
            </c:spPr>
          </c:dPt>
          <c:dPt>
            <c:idx val="1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3"/>
                <c:pt idx="0">
                  <c:v>Roses</c:v>
                </c:pt>
                <c:pt idx="1">
                  <c:v>Carnations</c:v>
                </c:pt>
                <c:pt idx="2">
                  <c:v>Chrysanthemums</c:v>
                </c:pt>
                <c:pt idx="3">
                  <c:v>Lilies</c:v>
                </c:pt>
                <c:pt idx="4">
                  <c:v>Alstroemeria</c:v>
                </c:pt>
                <c:pt idx="5">
                  <c:v>Hydrangeas</c:v>
                </c:pt>
                <c:pt idx="6">
                  <c:v>Gerbera</c:v>
                </c:pt>
                <c:pt idx="7">
                  <c:v>Orchids</c:v>
                </c:pt>
                <c:pt idx="8">
                  <c:v>Tulips</c:v>
                </c:pt>
                <c:pt idx="9">
                  <c:v>Lisianthus</c:v>
                </c:pt>
                <c:pt idx="10">
                  <c:v>Peonies</c:v>
                </c:pt>
                <c:pt idx="11">
                  <c:v>Others</c:v>
                </c:pt>
                <c:pt idx="12">
                  <c:v>Total Absolute $ Opportunity</c:v>
                </c:pt>
              </c:strCache>
            </c:strRef>
          </c:cat>
          <c:val>
            <c:numRef>
              <c:numCache>
                <c:formatCode>General</c:formatCode>
                <c:ptCount val="13"/>
                <c:pt idx="0">
                  <c:v>323.51700000000005</c:v>
                </c:pt>
                <c:pt idx="1">
                  <c:v>1635.3089999999997</c:v>
                </c:pt>
                <c:pt idx="2">
                  <c:v>132.156</c:v>
                </c:pt>
                <c:pt idx="3">
                  <c:v>470.422</c:v>
                </c:pt>
                <c:pt idx="4">
                  <c:v>288.30899999999997</c:v>
                </c:pt>
                <c:pt idx="5">
                  <c:v>81.70100000000002</c:v>
                </c:pt>
                <c:pt idx="6">
                  <c:v>1557.377</c:v>
                </c:pt>
                <c:pt idx="7">
                  <c:v>693.298</c:v>
                </c:pt>
                <c:pt idx="8">
                  <c:v>887.7729999999999</c:v>
                </c:pt>
                <c:pt idx="9">
                  <c:v>74.995</c:v>
                </c:pt>
                <c:pt idx="10">
                  <c:v>37.30600000000004</c:v>
                </c:pt>
                <c:pt idx="11">
                  <c:v>136.59099999999995</c:v>
                </c:pt>
                <c:pt idx="12">
                  <c:v>6318.754000000001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Protected Cultivation</c:v>
                </c:pt>
                <c:pt idx="2">
                  <c:v>Open-Field Cultivation</c:v>
                </c:pt>
                <c:pt idx="3">
                  <c:v>2036 Total</c:v>
                </c:pt>
              </c:strCache>
            </c:strRef>
          </c:cat>
          <c:val>
            <c:numRef>
              <c:numCache>
                <c:formatCode>General</c:formatCode>
                <c:ptCount val="4"/>
                <c:pt idx="0">
                  <c:v>0.0</c:v>
                </c:pt>
                <c:pt idx="1">
                  <c:v>13679.256000000001</c:v>
                </c:pt>
                <c:pt idx="2">
                  <c:v>14823.635000000002</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Protected Cultivation</c:v>
                </c:pt>
                <c:pt idx="2">
                  <c:v>Open-Field Cultivation</c:v>
                </c:pt>
                <c:pt idx="3">
                  <c:v>2036 Total</c:v>
                </c:pt>
              </c:strCache>
            </c:strRef>
          </c:cat>
          <c:val>
            <c:numRef>
              <c:numCache>
                <c:formatCode>General</c:formatCode>
                <c:ptCount val="4"/>
                <c:pt idx="0">
                  <c:v>13679.256000000001</c:v>
                </c:pt>
                <c:pt idx="1">
                  <c:v>1144.3790000000004</c:v>
                </c:pt>
                <c:pt idx="2">
                  <c:v>5174.375</c:v>
                </c:pt>
                <c:pt idx="3">
                  <c:v>19998.010000000002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Protected Cultivation</c:v>
                </c:pt>
                <c:pt idx="1">
                  <c:v>Open-Field Cultivation</c:v>
                </c:pt>
                <c:pt idx="2">
                  <c:v>Total Absolute $ Opportunity</c:v>
                </c:pt>
              </c:strCache>
            </c:strRef>
          </c:cat>
          <c:val>
            <c:numRef>
              <c:numCache>
                <c:formatCode>General</c:formatCode>
                <c:ptCount val="3"/>
                <c:pt idx="0">
                  <c:v>0.0</c:v>
                </c:pt>
                <c:pt idx="1">
                  <c:v>1144.3790000000004</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Protected Cultivation</c:v>
                </c:pt>
                <c:pt idx="1">
                  <c:v>Open-Field Cultivation</c:v>
                </c:pt>
                <c:pt idx="2">
                  <c:v>Total Absolute $ Opportunity</c:v>
                </c:pt>
              </c:strCache>
            </c:strRef>
          </c:cat>
          <c:val>
            <c:numRef>
              <c:numCache>
                <c:formatCode>General</c:formatCode>
                <c:ptCount val="3"/>
                <c:pt idx="0">
                  <c:v>1144.3790000000004</c:v>
                </c:pt>
                <c:pt idx="1">
                  <c:v>5174.375</c:v>
                </c:pt>
                <c:pt idx="2">
                  <c:v>6318.754000000001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Direct Sales to Commercial &amp; Institutional Buyers</c:v>
                </c:pt>
                <c:pt idx="2">
                  <c:v>Florists &amp; Specialty Flower Shops</c:v>
                </c:pt>
                <c:pt idx="3">
                  <c:v>Supermarkets &amp; Hypermarkets</c:v>
                </c:pt>
                <c:pt idx="4">
                  <c:v>Garden Centers &amp; Plant Nurseries</c:v>
                </c:pt>
                <c:pt idx="5">
                  <c:v>Online / E-commerce</c:v>
                </c:pt>
                <c:pt idx="6">
                  <c:v>Other Retail Channels</c:v>
                </c:pt>
                <c:pt idx="7">
                  <c:v>2036 Total</c:v>
                </c:pt>
              </c:strCache>
            </c:strRef>
          </c:cat>
          <c:val>
            <c:numRef>
              <c:numCache>
                <c:formatCode>General</c:formatCode>
                <c:ptCount val="8"/>
                <c:pt idx="0">
                  <c:v>0.0</c:v>
                </c:pt>
                <c:pt idx="1">
                  <c:v>13679.256000000001</c:v>
                </c:pt>
                <c:pt idx="2">
                  <c:v>15496.063000000002</c:v>
                </c:pt>
                <c:pt idx="3">
                  <c:v>16504.494000000002</c:v>
                </c:pt>
                <c:pt idx="4">
                  <c:v>17243.661000000004</c:v>
                </c:pt>
                <c:pt idx="5">
                  <c:v>17423.840000000004</c:v>
                </c:pt>
                <c:pt idx="6">
                  <c:v>18962.373000000003</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Direct Sales to Commercial &amp; Institutional Buyers</c:v>
                </c:pt>
                <c:pt idx="2">
                  <c:v>Florists &amp; Specialty Flower Shops</c:v>
                </c:pt>
                <c:pt idx="3">
                  <c:v>Supermarkets &amp; Hypermarkets</c:v>
                </c:pt>
                <c:pt idx="4">
                  <c:v>Garden Centers &amp; Plant Nurseries</c:v>
                </c:pt>
                <c:pt idx="5">
                  <c:v>Online / E-commerce</c:v>
                </c:pt>
                <c:pt idx="6">
                  <c:v>Other Retail Channels</c:v>
                </c:pt>
                <c:pt idx="7">
                  <c:v>2036 Total</c:v>
                </c:pt>
              </c:strCache>
            </c:strRef>
          </c:cat>
          <c:val>
            <c:numRef>
              <c:numCache>
                <c:formatCode>General</c:formatCode>
                <c:ptCount val="8"/>
                <c:pt idx="0">
                  <c:v>13679.256000000001</c:v>
                </c:pt>
                <c:pt idx="1">
                  <c:v>1816.8069999999998</c:v>
                </c:pt>
                <c:pt idx="2">
                  <c:v>1008.431</c:v>
                </c:pt>
                <c:pt idx="3">
                  <c:v>739.1669999999999</c:v>
                </c:pt>
                <c:pt idx="4">
                  <c:v>180.1790000000001</c:v>
                </c:pt>
                <c:pt idx="5">
                  <c:v>1538.5330000000001</c:v>
                </c:pt>
                <c:pt idx="6">
                  <c:v>1035.637</c:v>
                </c:pt>
                <c:pt idx="7">
                  <c:v>19998.010000000002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Direct Sales to Commercial &amp; Institutional Buyers</c:v>
                </c:pt>
                <c:pt idx="1">
                  <c:v>Florists &amp; Specialty Flower Shops</c:v>
                </c:pt>
                <c:pt idx="2">
                  <c:v>Supermarkets &amp; Hypermarkets</c:v>
                </c:pt>
                <c:pt idx="3">
                  <c:v>Garden Centers &amp; Plant Nurseries</c:v>
                </c:pt>
                <c:pt idx="4">
                  <c:v>Online / E-commerce</c:v>
                </c:pt>
                <c:pt idx="5">
                  <c:v>Other Retail Channels</c:v>
                </c:pt>
                <c:pt idx="6">
                  <c:v>Total Absolute $ Opportunity</c:v>
                </c:pt>
              </c:strCache>
            </c:strRef>
          </c:cat>
          <c:val>
            <c:numRef>
              <c:numCache>
                <c:formatCode>General</c:formatCode>
                <c:ptCount val="7"/>
                <c:pt idx="0">
                  <c:v>0.0</c:v>
                </c:pt>
                <c:pt idx="1">
                  <c:v>1816.8069999999998</c:v>
                </c:pt>
                <c:pt idx="2">
                  <c:v>2825.238</c:v>
                </c:pt>
                <c:pt idx="3">
                  <c:v>3564.4049999999997</c:v>
                </c:pt>
                <c:pt idx="4">
                  <c:v>3744.584</c:v>
                </c:pt>
                <c:pt idx="5">
                  <c:v>5283.117</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Direct Sales to Commercial &amp; Institutional Buyers</c:v>
                </c:pt>
                <c:pt idx="1">
                  <c:v>Florists &amp; Specialty Flower Shops</c:v>
                </c:pt>
                <c:pt idx="2">
                  <c:v>Supermarkets &amp; Hypermarkets</c:v>
                </c:pt>
                <c:pt idx="3">
                  <c:v>Garden Centers &amp; Plant Nurseries</c:v>
                </c:pt>
                <c:pt idx="4">
                  <c:v>Online / E-commerce</c:v>
                </c:pt>
                <c:pt idx="5">
                  <c:v>Other Retail Channels</c:v>
                </c:pt>
                <c:pt idx="6">
                  <c:v>Total Absolute $ Opportunity</c:v>
                </c:pt>
              </c:strCache>
            </c:strRef>
          </c:cat>
          <c:val>
            <c:numRef>
              <c:numCache>
                <c:formatCode>General</c:formatCode>
                <c:ptCount val="7"/>
                <c:pt idx="0">
                  <c:v>1816.8069999999998</c:v>
                </c:pt>
                <c:pt idx="1">
                  <c:v>1008.431</c:v>
                </c:pt>
                <c:pt idx="2">
                  <c:v>739.1669999999999</c:v>
                </c:pt>
                <c:pt idx="3">
                  <c:v>180.1790000000001</c:v>
                </c:pt>
                <c:pt idx="4">
                  <c:v>1538.5330000000001</c:v>
                </c:pt>
                <c:pt idx="5">
                  <c:v>1035.637</c:v>
                </c:pt>
                <c:pt idx="6">
                  <c:v>6318.754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2026</c:v>
                </c:pt>
                <c:pt idx="1">
                  <c:v>Personal Gifting &amp; Celebrations</c:v>
                </c:pt>
                <c:pt idx="2">
                  <c:v>Residential &amp; Home Decoration</c:v>
                </c:pt>
                <c:pt idx="3">
                  <c:v>Weddings &amp; Special Events</c:v>
                </c:pt>
                <c:pt idx="4">
                  <c:v>Hospitality &amp; Commercial Decoration</c:v>
                </c:pt>
                <c:pt idx="5">
                  <c:v>Funeral &amp; Memorial Services</c:v>
                </c:pt>
                <c:pt idx="6">
                  <c:v>Landscaping &amp; Gardening</c:v>
                </c:pt>
                <c:pt idx="7">
                  <c:v>Other Institutional Applications</c:v>
                </c:pt>
                <c:pt idx="8">
                  <c:v>2036 Total</c:v>
                </c:pt>
              </c:strCache>
            </c:strRef>
          </c:cat>
          <c:val>
            <c:numRef>
              <c:numCache>
                <c:formatCode>General</c:formatCode>
                <c:ptCount val="9"/>
                <c:pt idx="0">
                  <c:v>0.0</c:v>
                </c:pt>
                <c:pt idx="1">
                  <c:v>13679.256000000001</c:v>
                </c:pt>
                <c:pt idx="2">
                  <c:v>15903.852</c:v>
                </c:pt>
                <c:pt idx="3">
                  <c:v>16393.733</c:v>
                </c:pt>
                <c:pt idx="4">
                  <c:v>17378.667</c:v>
                </c:pt>
                <c:pt idx="5">
                  <c:v>18711.607</c:v>
                </c:pt>
                <c:pt idx="6">
                  <c:v>19398.597999999998</c:v>
                </c:pt>
                <c:pt idx="7">
                  <c:v>19665.754999999997</c:v>
                </c:pt>
                <c:pt idx="8">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2026</c:v>
                </c:pt>
                <c:pt idx="1">
                  <c:v>Personal Gifting &amp; Celebrations</c:v>
                </c:pt>
                <c:pt idx="2">
                  <c:v>Residential &amp; Home Decoration</c:v>
                </c:pt>
                <c:pt idx="3">
                  <c:v>Weddings &amp; Special Events</c:v>
                </c:pt>
                <c:pt idx="4">
                  <c:v>Hospitality &amp; Commercial Decoration</c:v>
                </c:pt>
                <c:pt idx="5">
                  <c:v>Funeral &amp; Memorial Services</c:v>
                </c:pt>
                <c:pt idx="6">
                  <c:v>Landscaping &amp; Gardening</c:v>
                </c:pt>
                <c:pt idx="7">
                  <c:v>Other Institutional Applications</c:v>
                </c:pt>
                <c:pt idx="8">
                  <c:v>2036 Total</c:v>
                </c:pt>
              </c:strCache>
            </c:strRef>
          </c:cat>
          <c:val>
            <c:numRef>
              <c:numCache>
                <c:formatCode>General</c:formatCode>
                <c:ptCount val="9"/>
                <c:pt idx="0">
                  <c:v>13679.256000000001</c:v>
                </c:pt>
                <c:pt idx="1">
                  <c:v>2224.596</c:v>
                </c:pt>
                <c:pt idx="2">
                  <c:v>489.8810000000001</c:v>
                </c:pt>
                <c:pt idx="3">
                  <c:v>984.9340000000002</c:v>
                </c:pt>
                <c:pt idx="4">
                  <c:v>1332.94</c:v>
                </c:pt>
                <c:pt idx="5">
                  <c:v>686.9909999999998</c:v>
                </c:pt>
                <c:pt idx="6">
                  <c:v>267.1569999999999</c:v>
                </c:pt>
                <c:pt idx="7">
                  <c:v>332.255</c:v>
                </c:pt>
                <c:pt idx="8">
                  <c:v>19998.010000000002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Personal Gifting &amp; Celebrations</c:v>
                </c:pt>
                <c:pt idx="1">
                  <c:v>Residential &amp; Home Decoration</c:v>
                </c:pt>
                <c:pt idx="2">
                  <c:v>Weddings &amp; Special Events</c:v>
                </c:pt>
                <c:pt idx="3">
                  <c:v>Hospitality &amp; Commercial Decoration</c:v>
                </c:pt>
                <c:pt idx="4">
                  <c:v>Funeral &amp; Memorial Services</c:v>
                </c:pt>
                <c:pt idx="5">
                  <c:v>Landscaping &amp; Gardening</c:v>
                </c:pt>
                <c:pt idx="6">
                  <c:v>Other Institutional Applications</c:v>
                </c:pt>
                <c:pt idx="7">
                  <c:v>Total Absolute $ Opportunity</c:v>
                </c:pt>
              </c:strCache>
            </c:strRef>
          </c:cat>
          <c:val>
            <c:numRef>
              <c:numCache>
                <c:formatCode>General</c:formatCode>
                <c:ptCount val="8"/>
                <c:pt idx="0">
                  <c:v>0.0</c:v>
                </c:pt>
                <c:pt idx="1">
                  <c:v>2224.596</c:v>
                </c:pt>
                <c:pt idx="2">
                  <c:v>2714.477</c:v>
                </c:pt>
                <c:pt idx="3">
                  <c:v>3699.411</c:v>
                </c:pt>
                <c:pt idx="4">
                  <c:v>5032.351000000001</c:v>
                </c:pt>
                <c:pt idx="5">
                  <c:v>5719.342000000001</c:v>
                </c:pt>
                <c:pt idx="6">
                  <c:v>5986.499000000001</c:v>
                </c:pt>
                <c:pt idx="7">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Personal Gifting &amp; Celebrations</c:v>
                </c:pt>
                <c:pt idx="1">
                  <c:v>Residential &amp; Home Decoration</c:v>
                </c:pt>
                <c:pt idx="2">
                  <c:v>Weddings &amp; Special Events</c:v>
                </c:pt>
                <c:pt idx="3">
                  <c:v>Hospitality &amp; Commercial Decoration</c:v>
                </c:pt>
                <c:pt idx="4">
                  <c:v>Funeral &amp; Memorial Services</c:v>
                </c:pt>
                <c:pt idx="5">
                  <c:v>Landscaping &amp; Gardening</c:v>
                </c:pt>
                <c:pt idx="6">
                  <c:v>Other Institutional Applications</c:v>
                </c:pt>
                <c:pt idx="7">
                  <c:v>Total Absolute $ Opportunity</c:v>
                </c:pt>
              </c:strCache>
            </c:strRef>
          </c:cat>
          <c:val>
            <c:numRef>
              <c:numCache>
                <c:formatCode>General</c:formatCode>
                <c:ptCount val="8"/>
                <c:pt idx="0">
                  <c:v>2224.596</c:v>
                </c:pt>
                <c:pt idx="1">
                  <c:v>489.8810000000001</c:v>
                </c:pt>
                <c:pt idx="2">
                  <c:v>984.9340000000002</c:v>
                </c:pt>
                <c:pt idx="3">
                  <c:v>1332.94</c:v>
                </c:pt>
                <c:pt idx="4">
                  <c:v>686.9909999999998</c:v>
                </c:pt>
                <c:pt idx="5">
                  <c:v>267.1569999999999</c:v>
                </c:pt>
                <c:pt idx="6">
                  <c:v>332.255</c:v>
                </c:pt>
                <c:pt idx="7">
                  <c:v>6318.754000000001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Cut Foliage &amp; Greens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2.0</c:v>
                </c:pt>
                <c:pt idx="14">
                  <c:v>2.0</c:v>
                </c:pt>
                <c:pt idx="15">
                  <c:v>2.0</c:v>
                </c:pt>
              </c:numCache>
            </c:numRef>
          </c:val>
          <c:smooth val="0"/>
        </c:ser>
        <c:ser>
          <c:idx val="1"/>
          <c:order val="1"/>
          <c:tx>
            <c:strRef>
              <c:strCache>
                <c:ptCount val="1"/>
                <c:pt idx="0">
                  <c:v>Bedding &amp; Garden Flowering Plants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ser>
          <c:idx val="2"/>
          <c:order val="2"/>
          <c:tx>
            <c:strRef>
              <c:strCache>
                <c:ptCount val="1"/>
                <c:pt idx="0">
                  <c:v>Cut Flowers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ser>
          <c:idx val="3"/>
          <c:order val="3"/>
          <c:tx>
            <c:strRef>
              <c:strCache>
                <c:ptCount val="1"/>
                <c:pt idx="0">
                  <c:v>Potted Flowering Plants</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ser>
          <c:idx val="4"/>
          <c:order val="4"/>
          <c:tx>
            <c:strRef>
              <c:strCache>
                <c:ptCount val="1"/>
                <c:pt idx="0">
                  <c:v>Flower Bulbs, Corms, Rhizomes &amp; Tubers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ser>
          <c:idx val="5"/>
          <c:order val="5"/>
          <c:tx>
            <c:strRef>
              <c:strCache>
                <c:ptCount val="1"/>
                <c:pt idx="0">
                  <c:v>Young Plants &amp; Propagation Material</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ser>
          <c:idx val="6"/>
          <c:order val="6"/>
          <c:tx>
            <c:strRef>
              <c:strCache>
                <c:ptCount val="1"/>
                <c:pt idx="0">
                  <c:v>Potted Foliage Plants</c:v>
                </c:pt>
              </c:strCache>
            </c:strRef>
          </c:tx>
          <c:spPr>
            <a:ln w="25400">
              <a:solidFill>
                <a:srgbClr val="A23B5C"/>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00.0"/>
          <c:min val="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C55A11"/>
              </a:solidFill>
            </c:spPr>
          </c:dPt>
          <c:dPt>
            <c:idx val="4"/>
            <c:spPr>
              <a:solidFill>
                <a:srgbClr val="C55A11"/>
              </a:solidFill>
            </c:spPr>
          </c:dPt>
          <c:dPt>
            <c:idx val="5"/>
            <c:spPr>
              <a:solidFill>
                <a:srgbClr val="C55A11"/>
              </a:solidFill>
            </c:spPr>
          </c:dPt>
          <c:dPt>
            <c:idx val="6"/>
            <c:spPr>
              <a:solidFill>
                <a:srgbClr val="C55A11"/>
              </a:solidFill>
            </c:spPr>
          </c:dPt>
          <c:cat>
            <c:strRef>
              <c:strCache>
                <c:ptCount val="7"/>
                <c:pt idx="0">
                  <c:v>Potted Foliage Plants</c:v>
                </c:pt>
                <c:pt idx="1">
                  <c:v>Young Plants &amp; Propagation Material</c:v>
                </c:pt>
                <c:pt idx="2">
                  <c:v>Flower Bulbs, Corms, Rhizomes &amp; Tubers</c:v>
                </c:pt>
                <c:pt idx="3">
                  <c:v>Potted Flowering Plants</c:v>
                </c:pt>
                <c:pt idx="4">
                  <c:v>Cut Flowers</c:v>
                </c:pt>
                <c:pt idx="5">
                  <c:v>Bedding &amp; Garden Flowering Plants</c:v>
                </c:pt>
                <c:pt idx="6">
                  <c:v>Cut Foliage &amp; Greens</c:v>
                </c:pt>
              </c:strCache>
            </c:strRef>
          </c:cat>
          <c:val>
            <c:numRef>
              <c:numCache>
                <c:formatCode>General</c:formatCode>
                <c:ptCount val="7"/>
                <c:pt idx="0">
                  <c:v>69.6</c:v>
                </c:pt>
                <c:pt idx="1">
                  <c:v>79.7</c:v>
                </c:pt>
                <c:pt idx="2">
                  <c:v>89.6</c:v>
                </c:pt>
                <c:pt idx="3">
                  <c:v>103.6</c:v>
                </c:pt>
                <c:pt idx="4">
                  <c:v>111.3</c:v>
                </c:pt>
                <c:pt idx="5">
                  <c:v>115.7</c:v>
                </c:pt>
                <c:pt idx="6">
                  <c:v>120.4</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2.0"/>
          <c:min val="67.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7"/>
                <c:pt idx="0">
                  <c:v>Cut Flowers</c:v>
                </c:pt>
                <c:pt idx="1">
                  <c:v>Flower Bulbs, Corms, Rhizomes &amp; Tubers</c:v>
                </c:pt>
                <c:pt idx="2">
                  <c:v>Cut Foliage &amp; Greens</c:v>
                </c:pt>
                <c:pt idx="3">
                  <c:v>Young Plants &amp; Propagation Material</c:v>
                </c:pt>
                <c:pt idx="4">
                  <c:v>Bedding &amp; Garden Flowering Plants</c:v>
                </c:pt>
                <c:pt idx="5">
                  <c:v>Potted Foliage Plants</c:v>
                </c:pt>
                <c:pt idx="6">
                  <c:v>Potted Flowering Plants</c:v>
                </c:pt>
              </c:strCache>
            </c:strRef>
          </c:cat>
          <c:val>
            <c:numRef>
              <c:numCache>
                <c:formatCode>General</c:formatCode>
                <c:ptCount val="7"/>
                <c:pt idx="0">
                  <c:v>1</c:v>
                </c:pt>
                <c:pt idx="1">
                  <c:v>1</c:v>
                </c:pt>
                <c:pt idx="2">
                  <c:v>1</c:v>
                </c:pt>
                <c:pt idx="3">
                  <c:v>1</c:v>
                </c:pt>
                <c:pt idx="4">
                  <c:v>1</c:v>
                </c:pt>
                <c:pt idx="5">
                  <c:v>1</c:v>
                </c:pt>
                <c:pt idx="6">
                  <c:v>1</c:v>
                </c:pt>
              </c:numCache>
            </c:numRef>
          </c:val>
        </c:ser>
        <c:ser>
          <c:idx val="1"/>
          <c:order val="1"/>
          <c:tx>
            <c:strRef>
              <c:strCache>
                <c:ptCount val="1"/>
                <c:pt idx="0">
                  <c:v>Range</c:v>
                </c:pt>
              </c:strCache>
            </c:strRef>
          </c:tx>
          <c:spPr>
            <a:solidFill>
              <a:srgbClr val="008189"/>
            </a:solidFill>
          </c:spPr>
          <c:cat>
            <c:strRef>
              <c:strCache>
                <c:ptCount val="7"/>
                <c:pt idx="0">
                  <c:v>Cut Flowers</c:v>
                </c:pt>
                <c:pt idx="1">
                  <c:v>Flower Bulbs, Corms, Rhizomes &amp; Tubers</c:v>
                </c:pt>
                <c:pt idx="2">
                  <c:v>Cut Foliage &amp; Greens</c:v>
                </c:pt>
                <c:pt idx="3">
                  <c:v>Young Plants &amp; Propagation Material</c:v>
                </c:pt>
                <c:pt idx="4">
                  <c:v>Bedding &amp; Garden Flowering Plants</c:v>
                </c:pt>
                <c:pt idx="5">
                  <c:v>Potted Foliage Plants</c:v>
                </c:pt>
                <c:pt idx="6">
                  <c:v>Potted Flowering Plants</c:v>
                </c:pt>
              </c:strCache>
            </c:strRef>
          </c:cat>
          <c:val>
            <c:numRef>
              <c:numCache>
                <c:formatCode>General</c:formatCode>
                <c:ptCount val="7"/>
                <c:pt idx="0">
                  <c:v>0</c:v>
                </c:pt>
                <c:pt idx="1">
                  <c:v>0</c:v>
                </c:pt>
                <c:pt idx="2">
                  <c:v>0</c:v>
                </c:pt>
                <c:pt idx="3">
                  <c:v>0</c:v>
                </c:pt>
                <c:pt idx="4">
                  <c:v>0</c:v>
                </c:pt>
                <c:pt idx="5">
                  <c:v>0</c:v>
                </c:pt>
                <c:pt idx="6">
                  <c:v>0</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2000.0"/>
          <c:min val="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and Africa</c:v>
                </c:pt>
                <c:pt idx="4">
                  <c:v>East Asia</c:v>
                </c:pt>
                <c:pt idx="5">
                  <c:v>South Asia &amp; Pacific</c:v>
                </c:pt>
              </c:strCache>
            </c:strRef>
          </c:cat>
          <c:val>
            <c:numRef>
              <c:numCache>
                <c:formatCode>General</c:formatCode>
                <c:ptCount val="6"/>
                <c:pt idx="0">
                  <c:v>94.8</c:v>
                </c:pt>
                <c:pt idx="1">
                  <c:v>83.9</c:v>
                </c:pt>
                <c:pt idx="2">
                  <c:v>66.4</c:v>
                </c:pt>
                <c:pt idx="3">
                  <c:v>63.2</c:v>
                </c:pt>
                <c:pt idx="4">
                  <c:v>48.9</c:v>
                </c:pt>
                <c:pt idx="5">
                  <c:v>42.4</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and Africa</c:v>
                </c:pt>
                <c:pt idx="4">
                  <c:v>East Asia</c:v>
                </c:pt>
                <c:pt idx="5">
                  <c:v>South Asia &amp; Pacific</c:v>
                </c:pt>
              </c:strCache>
            </c:strRef>
          </c:cat>
          <c:val>
            <c:numRef>
              <c:numCache>
                <c:formatCode>General</c:formatCode>
                <c:ptCount val="6"/>
                <c:pt idx="0">
                  <c:v>73.8</c:v>
                </c:pt>
                <c:pt idx="1">
                  <c:v>64.9</c:v>
                </c:pt>
                <c:pt idx="2">
                  <c:v>50.7</c:v>
                </c:pt>
                <c:pt idx="3">
                  <c:v>48.9</c:v>
                </c:pt>
                <c:pt idx="4">
                  <c:v>37.2</c:v>
                </c:pt>
                <c:pt idx="5">
                  <c:v>32.6</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70.0"/>
          <c:min val="4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16.40671985632649</c:v>
                </c:pt>
                <c:pt idx="1">
                  <c:v>14.36342749497713</c:v>
                </c:pt>
                <c:pt idx="2">
                  <c:v>9.906466607900706</c:v>
                </c:pt>
                <c:pt idx="3">
                  <c:v>6.95937915947461</c:v>
                </c:pt>
                <c:pt idx="4">
                  <c:v>6.895934323353047</c:v>
                </c:pt>
                <c:pt idx="5">
                  <c:v>6.853242844843239</c:v>
                </c:pt>
                <c:pt idx="6">
                  <c:v>5.486614965564599</c:v>
                </c:pt>
                <c:pt idx="7">
                  <c:v>3.3040038111377297</c:v>
                </c:pt>
                <c:pt idx="8">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12.825191395384453</c:v>
                </c:pt>
                <c:pt idx="1">
                  <c:v>10.95571182148254</c:v>
                </c:pt>
                <c:pt idx="2">
                  <c:v>12.354580159020578</c:v>
                </c:pt>
                <c:pt idx="3">
                  <c:v>12.659425329755038</c:v>
                </c:pt>
                <c:pt idx="4">
                  <c:v>10.058161896840053</c:v>
                </c:pt>
                <c:pt idx="5">
                  <c:v>6.24469615282758</c:v>
                </c:pt>
                <c:pt idx="6">
                  <c:v>4.114628946933352</c:v>
                </c:pt>
                <c:pt idx="7">
                  <c:v>3.5536186824780462</c:v>
                </c:pt>
                <c:pt idx="8">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13.241300171729673</c:v>
                </c:pt>
                <c:pt idx="1">
                  <c:v>14.757821817091273</c:v>
                </c:pt>
                <c:pt idx="2">
                  <c:v>14.928751533095168</c:v>
                </c:pt>
                <c:pt idx="3">
                  <c:v>11.734746524584317</c:v>
                </c:pt>
                <c:pt idx="4">
                  <c:v>7.483554686717547</c:v>
                </c:pt>
                <c:pt idx="5">
                  <c:v>4.943534691833558</c:v>
                </c:pt>
                <c:pt idx="6">
                  <c:v>4.751324429490797</c:v>
                </c:pt>
                <c:pt idx="7">
                  <c:v>4.789948922030665</c:v>
                </c:pt>
                <c:pt idx="8">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17.755466218387074</c:v>
                </c:pt>
                <c:pt idx="1">
                  <c:v>16.923512057220726</c:v>
                </c:pt>
                <c:pt idx="2">
                  <c:v>13.06398834839756</c:v>
                </c:pt>
                <c:pt idx="3">
                  <c:v>8.501111419992805</c:v>
                </c:pt>
                <c:pt idx="4">
                  <c:v>6.212483469935218</c:v>
                </c:pt>
                <c:pt idx="5">
                  <c:v>6.00372205577132</c:v>
                </c:pt>
                <c:pt idx="6">
                  <c:v>6.25214775447386</c:v>
                </c:pt>
                <c:pt idx="7">
                  <c:v>5.093976971379507</c:v>
                </c:pt>
                <c:pt idx="8">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18.375494481479823</c:v>
                </c:pt>
                <c:pt idx="1">
                  <c:v>13.506860544917371</c:v>
                </c:pt>
                <c:pt idx="2">
                  <c:v>9.018334357772936</c:v>
                </c:pt>
                <c:pt idx="3">
                  <c:v>8.01201879742635</c:v>
                </c:pt>
                <c:pt idx="4">
                  <c:v>8.65950070279257</c:v>
                </c:pt>
                <c:pt idx="5">
                  <c:v>7.44623663894267</c:v>
                </c:pt>
                <c:pt idx="6">
                  <c:v>5.048380480706811</c:v>
                </c:pt>
                <c:pt idx="7">
                  <c:v>3.0833382814602577</c:v>
                </c:pt>
                <c:pt idx="8">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17.059182852443715</c:v>
                </c:pt>
                <c:pt idx="1">
                  <c:v>11.555110199289217</c:v>
                </c:pt>
                <c:pt idx="2">
                  <c:v>11.49241996011639</c:v>
                </c:pt>
                <c:pt idx="3">
                  <c:v>12.62567293240893</c:v>
                </c:pt>
                <c:pt idx="4">
                  <c:v>10.645270539100778</c:v>
                </c:pt>
                <c:pt idx="5">
                  <c:v>6.6195232003608835</c:v>
                </c:pt>
                <c:pt idx="6">
                  <c:v>4.493101603948456</c:v>
                </c:pt>
                <c:pt idx="7">
                  <c:v>4.22083041567492</c:v>
                </c:pt>
                <c:pt idx="8">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Dümmen Orange</c:v>
                </c:pt>
                <c:pt idx="1">
                  <c:v>Company</c:v>
                </c:pt>
                <c:pt idx="2">
                  <c:v>Syngenta Flowers</c:v>
                </c:pt>
                <c:pt idx="3">
                  <c:v>Ball Horticultural Company</c:v>
                </c:pt>
                <c:pt idx="4">
                  <c:v>Selecta One</c:v>
                </c:pt>
                <c:pt idx="5">
                  <c:v>Florensis</c:v>
                </c:pt>
                <c:pt idx="6">
                  <c:v>HilverdaFlorist</c:v>
                </c:pt>
                <c:pt idx="7">
                  <c:v>Royal Van Zanten</c:v>
                </c:pt>
                <c:pt idx="8">
                  <c:v>Others</c:v>
                </c:pt>
              </c:strCache>
            </c:strRef>
          </c:cat>
          <c:val>
            <c:numRef>
              <c:numCache>
                <c:formatCode>General</c:formatCode>
                <c:ptCount val="9"/>
                <c:pt idx="0">
                  <c:v>12.876523990364655</c:v>
                </c:pt>
                <c:pt idx="1">
                  <c:v>13.484520794788184</c:v>
                </c:pt>
                <c:pt idx="2">
                  <c:v>14.6303422624123</c:v>
                </c:pt>
                <c:pt idx="3">
                  <c:v>11.897306046712039</c:v>
                </c:pt>
                <c:pt idx="4">
                  <c:v>7.5272619834945145</c:v>
                </c:pt>
                <c:pt idx="5">
                  <c:v>5.3082837668973415</c:v>
                </c:pt>
                <c:pt idx="6">
                  <c:v>5.537502197974981</c:v>
                </c:pt>
                <c:pt idx="7">
                  <c:v>5.189563064059484</c:v>
                </c:pt>
                <c:pt idx="8">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Direct Sales to Commercial &amp; Institutional Buyers</c:v>
                </c:pt>
                <c:pt idx="1">
                  <c:v>Florists &amp; Specialty Flower Shops</c:v>
                </c:pt>
                <c:pt idx="2">
                  <c:v>Supermarkets &amp; Hypermarkets</c:v>
                </c:pt>
                <c:pt idx="3">
                  <c:v>Garden Centers &amp; Plant Nurseries</c:v>
                </c:pt>
              </c:strCache>
            </c:strRef>
          </c:cat>
          <c:val>
            <c:numRef>
              <c:numCache>
                <c:formatCode>General</c:formatCode>
                <c:ptCount val="4"/>
                <c:pt idx="0">
                  <c:v>4479.6757867408205</c:v>
                </c:pt>
                <c:pt idx="1">
                  <c:v>2492.2024056011223</c:v>
                </c:pt>
                <c:pt idx="2">
                  <c:v>3136.973368669375</c:v>
                </c:pt>
                <c:pt idx="3">
                  <c:v>5926.03886559848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822.371302589993"/>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5323.283909761209</c:v>
                </c:pt>
                <c:pt idx="1">
                  <c:v>3240.2710636708216</c:v>
                </c:pt>
                <c:pt idx="2">
                  <c:v>1747.384250569559</c:v>
                </c:pt>
                <c:pt idx="3">
                  <c:v>1974.410447612809</c:v>
                </c:pt>
                <c:pt idx="4">
                  <c:v>3749.5407549953984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026.734760884796"/>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Cut Flowers</c:v>
                </c:pt>
                <c:pt idx="1">
                  <c:v>Cut Foliage &amp; Greens</c:v>
                </c:pt>
                <c:pt idx="2">
                  <c:v>Bedding &amp; Garden Flowering Plants</c:v>
                </c:pt>
                <c:pt idx="3">
                  <c:v>Potted Flowering Plants</c:v>
                </c:pt>
              </c:strCache>
            </c:strRef>
          </c:cat>
          <c:val>
            <c:numRef>
              <c:numCache>
                <c:formatCode>General</c:formatCode>
                <c:ptCount val="4"/>
                <c:pt idx="0">
                  <c:v>1847.519467622902</c:v>
                </c:pt>
                <c:pt idx="1">
                  <c:v>2568.4814426249477</c:v>
                </c:pt>
                <c:pt idx="2">
                  <c:v>4789.38805612939</c:v>
                </c:pt>
                <c:pt idx="3">
                  <c:v>6829.501460232556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15246.453456</c:v>
                </c:pt>
                <c:pt idx="1">
                  <c:v>13705.071109514825</c:v>
                </c:pt>
                <c:pt idx="2">
                  <c:v>10015.905918098655</c:v>
                </c:pt>
                <c:pt idx="3">
                  <c:v>6416.7559830844975</c:v>
                </c:pt>
                <c:pt idx="4">
                  <c:v>5090.817359159113</c:v>
                </c:pt>
              </c:numCache>
            </c:numRef>
          </c:val>
        </c:ser>
        <c:ser>
          <c:idx val="1"/>
          <c:order val="1"/>
          <c:tx>
            <c:strRef>
              <c:strCache>
                <c:ptCount val="1"/>
                <c:pt idx="0">
                  <c:v>SOM</c:v>
                </c:pt>
              </c:strCache>
            </c:strRef>
          </c:tx>
          <c:spPr>
            <a:solidFill>
              <a:srgbClr val="0E72AE"/>
            </a:solidFill>
            <a:ln>
              <a:noFill/>
            </a:ln>
          </c:spPr>
          <c:dLbls>
            <c:dLbl>
              <c:idx val="0"/>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5323.283909761209</c:v>
                </c:pt>
                <c:pt idx="1">
                  <c:v>3240.2710636708216</c:v>
                </c:pt>
                <c:pt idx="2">
                  <c:v>1747.384250569559</c:v>
                </c:pt>
                <c:pt idx="3">
                  <c:v>1974.410447612809</c:v>
                </c:pt>
                <c:pt idx="4">
                  <c:v>3749.5407549953984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9515.46042368"/>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Global Floriculture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By Product Type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By Product Type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By Flower Species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By Cultivation Method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By End Use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By End Use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Cultivation Method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Cultivation Method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Cultivation Method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Snapshot  (1/3)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Snapshot  (2/3)</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Snapshot  (3/3)</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North America Floriculture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By Product Type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By Product Type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By Flower Species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Absolute $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Absolute $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Absolute $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Flower Species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By Cultivation Method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Cultivation Method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By End Use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By End Use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End Use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Cultivation Method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Cultivation Method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Cultivation Method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Product Type × Flower Species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Product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Product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Flower Species Segmental  (1/2)</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Flower Species Segmental  (2/2)</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Flower Species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Cultivation Method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Cultivation Method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Distribution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End Use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Country End Use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Company Profiles &amp; Strategic Benchmarking Dümmen Orange Snapshot</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Company Profiles &amp; Strategic Benchmarking Dümmen Orange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Company Profiles &amp; Strategic Benchmarking Dümmen Orange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Company Profiles &amp; Strategic Benchmarking Dümmen Orange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Competitor Company Profiles &amp; Strategic Benchmarking Dümmen Orange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Table of Contents  (1/6)</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Table of Contents  (2/6)</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Table of Contents  (3/6)</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Table of Contents  (4/6)</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Table of Contents  (5/6)</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Table of Contents  (6/6)</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Floriculture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7.jpg"/><Relationship Id="rId3" Type="http://schemas.openxmlformats.org/officeDocument/2006/relationships/image" Target="../media/image868.png"/><Relationship Id="rId4" Type="http://schemas.openxmlformats.org/officeDocument/2006/relationships/image" Target="../media/image869.png"/><Relationship Id="rId5" Type="http://schemas.openxmlformats.org/officeDocument/2006/relationships/image" Target="../media/image87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26.xml"/><Relationship Id="rId9" Type="http://schemas.openxmlformats.org/officeDocument/2006/relationships/slide" Target="slide27.xml"/><Relationship Id="rId10" Type="http://schemas.openxmlformats.org/officeDocument/2006/relationships/slide" Target="slide38.xml"/><Relationship Id="rId11" Type="http://schemas.openxmlformats.org/officeDocument/2006/relationships/slide" Target="slide46.xml"/><Relationship Id="rId12" Type="http://schemas.openxmlformats.org/officeDocument/2006/relationships/slide" Target="slide84.xml"/><Relationship Id="rId13" Type="http://schemas.openxmlformats.org/officeDocument/2006/relationships/slide" Target="slide95.xml"/><Relationship Id="rId14" Type="http://schemas.openxmlformats.org/officeDocument/2006/relationships/slide" Target="slide96.xml"/><Relationship Id="rId15" Type="http://schemas.openxmlformats.org/officeDocument/2006/relationships/slide" Target="slide106.xml"/><Relationship Id="rId16" Type="http://schemas.openxmlformats.org/officeDocument/2006/relationships/slide" Target="slide114.xml"/><Relationship Id="rId17" Type="http://schemas.openxmlformats.org/officeDocument/2006/relationships/slide" Target="slide152.xml"/><Relationship Id="rId18" Type="http://schemas.openxmlformats.org/officeDocument/2006/relationships/slide" Target="slide162.xml"/><Relationship Id="rId19" Type="http://schemas.openxmlformats.org/officeDocument/2006/relationships/slide" Target="slide163.xml"/><Relationship Id="rId20" Type="http://schemas.openxmlformats.org/officeDocument/2006/relationships/slide" Target="slide167.xml"/><Relationship Id="rId21" Type="http://schemas.openxmlformats.org/officeDocument/2006/relationships/slide" Target="slide184.xml"/><Relationship Id="rId22" Type="http://schemas.openxmlformats.org/officeDocument/2006/relationships/slide" Target="slide185.xml"/><Relationship Id="rId23" Type="http://schemas.openxmlformats.org/officeDocument/2006/relationships/slide" Target="slide199.xml"/><Relationship Id="rId24" Type="http://schemas.openxmlformats.org/officeDocument/2006/relationships/slide" Target="slide203.xml"/><Relationship Id="rId25" Type="http://schemas.openxmlformats.org/officeDocument/2006/relationships/slide" Target="slide204.xml"/><Relationship Id="rId26" Type="http://schemas.openxmlformats.org/officeDocument/2006/relationships/slide" Target="slide212.xml"/><Relationship Id="rId27" Type="http://schemas.openxmlformats.org/officeDocument/2006/relationships/slide" Target="slide225.xml"/><Relationship Id="rId28" Type="http://schemas.openxmlformats.org/officeDocument/2006/relationships/slide" Target="slide213.xml"/><Relationship Id="rId29" Type="http://schemas.openxmlformats.org/officeDocument/2006/relationships/slide" Target="slide2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71.png"/><Relationship Id="rId12" Type="http://schemas.openxmlformats.org/officeDocument/2006/relationships/image" Target="../media/image72.png"/><Relationship Id="rId13" Type="http://schemas.openxmlformats.org/officeDocument/2006/relationships/image" Target="../media/image73.png"/><Relationship Id="rId14" Type="http://schemas.openxmlformats.org/officeDocument/2006/relationships/image" Target="../media/image74.png"/><Relationship Id="rId15" Type="http://schemas.openxmlformats.org/officeDocument/2006/relationships/image" Target="../media/image75.png"/><Relationship Id="rId16" Type="http://schemas.openxmlformats.org/officeDocument/2006/relationships/image" Target="../media/image76.png"/><Relationship Id="rId17" Type="http://schemas.openxmlformats.org/officeDocument/2006/relationships/image" Target="../media/image77.png"/><Relationship Id="rId18" Type="http://schemas.openxmlformats.org/officeDocument/2006/relationships/image" Target="../media/image78.png"/><Relationship Id="rId19" Type="http://schemas.openxmlformats.org/officeDocument/2006/relationships/image" Target="../media/image79.png"/><Relationship Id="rId20" Type="http://schemas.openxmlformats.org/officeDocument/2006/relationships/image" Target="../media/image80.png"/><Relationship Id="rId21" Type="http://schemas.openxmlformats.org/officeDocument/2006/relationships/image" Target="../media/image81.png"/><Relationship Id="rId2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image" Target="../media/image9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8.png"/><Relationship Id="rId7" Type="http://schemas.openxmlformats.org/officeDocument/2006/relationships/image" Target="../media/image109.png"/><Relationship Id="rId8" Type="http://schemas.openxmlformats.org/officeDocument/2006/relationships/image" Target="../media/image1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image" Target="../media/image118.png"/><Relationship Id="rId10" Type="http://schemas.openxmlformats.org/officeDocument/2006/relationships/image" Target="../media/image119.png"/><Relationship Id="rId11" Type="http://schemas.openxmlformats.org/officeDocument/2006/relationships/image" Target="../media/image120.png"/><Relationship Id="rId12" Type="http://schemas.openxmlformats.org/officeDocument/2006/relationships/image" Target="../media/image121.png"/><Relationship Id="rId13" Type="http://schemas.openxmlformats.org/officeDocument/2006/relationships/image" Target="../media/image122.png"/><Relationship Id="rId14" Type="http://schemas.openxmlformats.org/officeDocument/2006/relationships/image" Target="../media/image123.png"/><Relationship Id="rId15" Type="http://schemas.openxmlformats.org/officeDocument/2006/relationships/image" Target="../media/image124.png"/><Relationship Id="rId16"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21.png"/><Relationship Id="rId10" Type="http://schemas.openxmlformats.org/officeDocument/2006/relationships/image" Target="../media/image130.png"/><Relationship Id="rId11" Type="http://schemas.openxmlformats.org/officeDocument/2006/relationships/image" Target="../media/image131.png"/><Relationship Id="rId12" Type="http://schemas.openxmlformats.org/officeDocument/2006/relationships/image" Target="../media/image66.png"/><Relationship Id="rId1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7.xml"/><Relationship Id="rId8"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notesSlide" Target="../notesSlides/notesSlide28.xml"/><Relationship Id="rId7"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notesSlide" Target="../notesSlides/notesSlide31.xml"/><Relationship Id="rId5"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 Id="rId4" Type="http://schemas.openxmlformats.org/officeDocument/2006/relationships/image" Target="../media/image189.png"/><Relationship Id="rId5" Type="http://schemas.openxmlformats.org/officeDocument/2006/relationships/image" Target="../media/image190.png"/><Relationship Id="rId6" Type="http://schemas.openxmlformats.org/officeDocument/2006/relationships/image" Target="../media/image191.png"/><Relationship Id="rId7" Type="http://schemas.openxmlformats.org/officeDocument/2006/relationships/image" Target="../media/image192.png"/><Relationship Id="rId8" Type="http://schemas.openxmlformats.org/officeDocument/2006/relationships/image" Target="../media/image193.png"/><Relationship Id="rId9" Type="http://schemas.openxmlformats.org/officeDocument/2006/relationships/image" Target="../media/image194.png"/><Relationship Id="rId10" Type="http://schemas.openxmlformats.org/officeDocument/2006/relationships/image" Target="../media/image195.png"/><Relationship Id="rId11" Type="http://schemas.openxmlformats.org/officeDocument/2006/relationships/image" Target="../media/image196.png"/><Relationship Id="rId12" Type="http://schemas.openxmlformats.org/officeDocument/2006/relationships/image" Target="../media/image197.png"/><Relationship Id="rId13" Type="http://schemas.openxmlformats.org/officeDocument/2006/relationships/image" Target="../media/image198.png"/><Relationship Id="rId14" Type="http://schemas.openxmlformats.org/officeDocument/2006/relationships/image" Target="../media/image199.png"/><Relationship Id="rId15" Type="http://schemas.openxmlformats.org/officeDocument/2006/relationships/image" Target="../media/image200.png"/><Relationship Id="rId16" Type="http://schemas.openxmlformats.org/officeDocument/2006/relationships/image" Target="../media/image201.png"/><Relationship Id="rId17" Type="http://schemas.openxmlformats.org/officeDocument/2006/relationships/image" Target="../media/image202.png"/><Relationship Id="rId18" Type="http://schemas.openxmlformats.org/officeDocument/2006/relationships/image" Target="../media/image203.png"/><Relationship Id="rId19" Type="http://schemas.openxmlformats.org/officeDocument/2006/relationships/image" Target="../media/image204.png"/><Relationship Id="rId20" Type="http://schemas.openxmlformats.org/officeDocument/2006/relationships/image" Target="../media/image205.png"/><Relationship Id="rId21" Type="http://schemas.openxmlformats.org/officeDocument/2006/relationships/image" Target="../media/image115.png"/><Relationship Id="rId22" Type="http://schemas.openxmlformats.org/officeDocument/2006/relationships/image" Target="../media/image206.png"/><Relationship Id="rId23" Type="http://schemas.openxmlformats.org/officeDocument/2006/relationships/image" Target="../media/image207.png"/><Relationship Id="rId24" Type="http://schemas.openxmlformats.org/officeDocument/2006/relationships/image" Target="../media/image208.png"/><Relationship Id="rId25" Type="http://schemas.openxmlformats.org/officeDocument/2006/relationships/image" Target="../media/image209.png"/><Relationship Id="rId26" Type="http://schemas.openxmlformats.org/officeDocument/2006/relationships/image" Target="../media/image210.png"/><Relationship Id="rId27" Type="http://schemas.openxmlformats.org/officeDocument/2006/relationships/image" Target="../media/image211.png"/><Relationship Id="rId28" Type="http://schemas.openxmlformats.org/officeDocument/2006/relationships/image" Target="../media/image212.png"/><Relationship Id="rId29" Type="http://schemas.openxmlformats.org/officeDocument/2006/relationships/image" Target="../media/image213.png"/><Relationship Id="rId30" Type="http://schemas.openxmlformats.org/officeDocument/2006/relationships/image" Target="../media/image214.png"/><Relationship Id="rId31" Type="http://schemas.openxmlformats.org/officeDocument/2006/relationships/image" Target="../media/image215.png"/><Relationship Id="rId32" Type="http://schemas.openxmlformats.org/officeDocument/2006/relationships/image" Target="../media/image216.png"/><Relationship Id="rId33" Type="http://schemas.openxmlformats.org/officeDocument/2006/relationships/image" Target="../media/image217.png"/><Relationship Id="rId34" Type="http://schemas.openxmlformats.org/officeDocument/2006/relationships/image" Target="../media/image218.png"/><Relationship Id="rId35" Type="http://schemas.openxmlformats.org/officeDocument/2006/relationships/image" Target="../media/image219.png"/><Relationship Id="rId36" Type="http://schemas.openxmlformats.org/officeDocument/2006/relationships/image" Target="../media/image220.png"/><Relationship Id="rId37" Type="http://schemas.openxmlformats.org/officeDocument/2006/relationships/image" Target="../media/image221.png"/><Relationship Id="rId38" Type="http://schemas.openxmlformats.org/officeDocument/2006/relationships/image" Target="../media/image222.png"/><Relationship Id="rId39"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notesSlide" Target="../notesSlides/notesSlide35.xml"/><Relationship Id="rId6"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chart" Target="../charts/chart28.xml"/><Relationship Id="rId5" Type="http://schemas.openxmlformats.org/officeDocument/2006/relationships/chart" Target="../charts/chart29.xml"/><Relationship Id="rId6" Type="http://schemas.openxmlformats.org/officeDocument/2006/relationships/chart" Target="../charts/chart30.xml"/><Relationship Id="rId7" Type="http://schemas.openxmlformats.org/officeDocument/2006/relationships/notesSlide" Target="../notesSlides/notesSlide36.xml"/><Relationship Id="rId8"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xml"/><Relationship Id="rId4" Type="http://schemas.openxmlformats.org/officeDocument/2006/relationships/chart" Target="../charts/chart32.xml"/><Relationship Id="rId5" Type="http://schemas.openxmlformats.org/officeDocument/2006/relationships/chart" Target="../charts/chart33.xml"/><Relationship Id="rId6" Type="http://schemas.openxmlformats.org/officeDocument/2006/relationships/chart" Target="../charts/chart34.xml"/><Relationship Id="rId7" Type="http://schemas.openxmlformats.org/officeDocument/2006/relationships/notesSlide" Target="../notesSlides/notesSlide37.xml"/><Relationship Id="rId8"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chart" Target="../charts/chart37.xml"/><Relationship Id="rId6" Type="http://schemas.openxmlformats.org/officeDocument/2006/relationships/chart" Target="../charts/chart38.xml"/><Relationship Id="rId7" Type="http://schemas.openxmlformats.org/officeDocument/2006/relationships/notesSlide" Target="../notesSlides/notesSlide38.xml"/><Relationship Id="rId8"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notesSlide" Target="../notesSlides/notesSlide41.xml"/><Relationship Id="rId5"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image" Target="../media/image208.png"/><Relationship Id="rId10"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notesSlide" Target="../notesSlides/notesSlide47.xml"/><Relationship Id="rId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notesSlide" Target="../notesSlides/notesSlide48.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notesSlide" Target="../notesSlides/notesSlide51.xml"/><Relationship Id="rId5"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 Id="rId4" Type="http://schemas.openxmlformats.org/officeDocument/2006/relationships/image" Target="../media/image276.png"/><Relationship Id="rId5" Type="http://schemas.openxmlformats.org/officeDocument/2006/relationships/image" Target="../media/image277.png"/><Relationship Id="rId6" Type="http://schemas.openxmlformats.org/officeDocument/2006/relationships/image" Target="../media/image278.png"/><Relationship Id="rId7" Type="http://schemas.openxmlformats.org/officeDocument/2006/relationships/image" Target="../media/image279.png"/><Relationship Id="rId8" Type="http://schemas.openxmlformats.org/officeDocument/2006/relationships/image" Target="../media/image280.png"/><Relationship Id="rId9" Type="http://schemas.openxmlformats.org/officeDocument/2006/relationships/image" Target="../media/image281.png"/><Relationship Id="rId10" Type="http://schemas.openxmlformats.org/officeDocument/2006/relationships/image" Target="../media/image282.png"/><Relationship Id="rId11" Type="http://schemas.openxmlformats.org/officeDocument/2006/relationships/image" Target="../media/image283.png"/><Relationship Id="rId12" Type="http://schemas.openxmlformats.org/officeDocument/2006/relationships/image" Target="../media/image284.png"/><Relationship Id="rId13" Type="http://schemas.openxmlformats.org/officeDocument/2006/relationships/image" Target="../media/image285.png"/><Relationship Id="rId14" Type="http://schemas.openxmlformats.org/officeDocument/2006/relationships/image" Target="../media/image286.png"/><Relationship Id="rId15" Type="http://schemas.openxmlformats.org/officeDocument/2006/relationships/image" Target="../media/image287.png"/><Relationship Id="rId16" Type="http://schemas.openxmlformats.org/officeDocument/2006/relationships/image" Target="../media/image288.png"/><Relationship Id="rId17" Type="http://schemas.openxmlformats.org/officeDocument/2006/relationships/image" Target="../media/image289.png"/><Relationship Id="rId18" Type="http://schemas.openxmlformats.org/officeDocument/2006/relationships/image" Target="../media/image290.png"/><Relationship Id="rId19" Type="http://schemas.openxmlformats.org/officeDocument/2006/relationships/image" Target="../media/image291.png"/><Relationship Id="rId20" Type="http://schemas.openxmlformats.org/officeDocument/2006/relationships/image" Target="../media/image292.png"/><Relationship Id="rId21" Type="http://schemas.openxmlformats.org/officeDocument/2006/relationships/image" Target="../media/image293.png"/><Relationship Id="rId2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chart" Target="../charts/chart46.xml"/><Relationship Id="rId5" Type="http://schemas.openxmlformats.org/officeDocument/2006/relationships/notesSlide" Target="../notesSlides/notesSlide55.xml"/><Relationship Id="rId6"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chart" Target="../charts/chart49.xml"/><Relationship Id="rId6" Type="http://schemas.openxmlformats.org/officeDocument/2006/relationships/chart" Target="../charts/chart50.xml"/><Relationship Id="rId7" Type="http://schemas.openxmlformats.org/officeDocument/2006/relationships/notesSlide" Target="../notesSlides/notesSlide56.xml"/><Relationship Id="rId8"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notesSlide" Target="../notesSlides/notesSlide57.xml"/><Relationship Id="rId6"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60.xml"/><Relationship Id="rId5"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69.png"/><Relationship Id="rId10" Type="http://schemas.openxmlformats.org/officeDocument/2006/relationships/image" Target="../media/image349.png"/><Relationship Id="rId11" Type="http://schemas.openxmlformats.org/officeDocument/2006/relationships/image" Target="../media/image350.png"/><Relationship Id="rId12" Type="http://schemas.openxmlformats.org/officeDocument/2006/relationships/image" Target="../media/image351.png"/><Relationship Id="rId13" Type="http://schemas.openxmlformats.org/officeDocument/2006/relationships/image" Target="../media/image352.png"/><Relationship Id="rId14" Type="http://schemas.openxmlformats.org/officeDocument/2006/relationships/image" Target="../media/image353.png"/><Relationship Id="rId15" Type="http://schemas.openxmlformats.org/officeDocument/2006/relationships/image" Target="../media/image354.png"/><Relationship Id="rId16"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 Id="rId4" Type="http://schemas.openxmlformats.org/officeDocument/2006/relationships/image" Target="../media/image355.png"/><Relationship Id="rId5" Type="http://schemas.openxmlformats.org/officeDocument/2006/relationships/image" Target="../media/image356.png"/><Relationship Id="rId6" Type="http://schemas.openxmlformats.org/officeDocument/2006/relationships/image" Target="../media/image118.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81.png"/><Relationship Id="rId10" Type="http://schemas.openxmlformats.org/officeDocument/2006/relationships/image" Target="../media/image359.png"/><Relationship Id="rId11" Type="http://schemas.openxmlformats.org/officeDocument/2006/relationships/image" Target="../media/image360.png"/><Relationship Id="rId12" Type="http://schemas.openxmlformats.org/officeDocument/2006/relationships/image" Target="../media/image361.png"/><Relationship Id="rId1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notesSlide" Target="../notesSlides/notesSlide65.xml"/><Relationship Id="rId6"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chart" Target="../charts/chart58.xml"/><Relationship Id="rId6" Type="http://schemas.openxmlformats.org/officeDocument/2006/relationships/chart" Target="../charts/chart59.xml"/><Relationship Id="rId7" Type="http://schemas.openxmlformats.org/officeDocument/2006/relationships/notesSlide" Target="../notesSlides/notesSlide66.xml"/><Relationship Id="rId8"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chart" Target="../charts/chart62.xml"/><Relationship Id="rId6" Type="http://schemas.openxmlformats.org/officeDocument/2006/relationships/notesSlide" Target="../notesSlides/notesSlide67.xml"/><Relationship Id="rId7"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notesSlide" Target="../notesSlides/notesSlide70.xml"/><Relationship Id="rId5"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79.xml"/><Relationship Id="rId5"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notesSlide" Target="../notesSlides/notesSlide82.xml"/><Relationship Id="rId6"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 Id="rId4"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chart" Target="../charts/chart69.xml"/><Relationship Id="rId5" Type="http://schemas.openxmlformats.org/officeDocument/2006/relationships/notesSlide" Target="../notesSlides/notesSlide84.xml"/><Relationship Id="rId6"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notesSlide" Target="../notesSlides/notesSlide85.xml"/><Relationship Id="rId6"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notesSlide" Target="../notesSlides/notesSlide86.xml"/><Relationship Id="rId6"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notesSlide" Target="../notesSlides/notesSlide88.xml"/><Relationship Id="rId5"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notesSlide" Target="../notesSlides/notesSlide90.xml"/><Relationship Id="rId5"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notesSlide" Target="../notesSlides/notesSlide92.xml"/><Relationship Id="rId5"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notesSlide" Target="../notesSlides/notesSlide93.xml"/><Relationship Id="rId5"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notesSlide" Target="../notesSlides/notesSlide96.xml"/><Relationship Id="rId6"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537.png"/><Relationship Id="rId5" Type="http://schemas.openxmlformats.org/officeDocument/2006/relationships/image" Target="../media/image538.png"/><Relationship Id="rId6" Type="http://schemas.openxmlformats.org/officeDocument/2006/relationships/image" Target="../media/image75.png"/><Relationship Id="rId7" Type="http://schemas.openxmlformats.org/officeDocument/2006/relationships/image" Target="../media/image539.png"/><Relationship Id="rId8" Type="http://schemas.openxmlformats.org/officeDocument/2006/relationships/image" Target="../media/image540.png"/><Relationship Id="rId9" Type="http://schemas.openxmlformats.org/officeDocument/2006/relationships/image" Target="../media/image541.png"/><Relationship Id="rId10" Type="http://schemas.openxmlformats.org/officeDocument/2006/relationships/image" Target="../media/image542.png"/><Relationship Id="rId11" Type="http://schemas.openxmlformats.org/officeDocument/2006/relationships/image" Target="../media/image543.png"/><Relationship Id="rId12" Type="http://schemas.openxmlformats.org/officeDocument/2006/relationships/image" Target="../media/image72.png"/><Relationship Id="rId13" Type="http://schemas.openxmlformats.org/officeDocument/2006/relationships/image" Target="../media/image544.png"/><Relationship Id="rId14" Type="http://schemas.openxmlformats.org/officeDocument/2006/relationships/image" Target="../media/image545.png"/><Relationship Id="rId15" Type="http://schemas.openxmlformats.org/officeDocument/2006/relationships/image" Target="../media/image546.png"/><Relationship Id="rId16"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547.png"/><Relationship Id="rId5" Type="http://schemas.openxmlformats.org/officeDocument/2006/relationships/image" Target="../media/image548.png"/><Relationship Id="rId6" Type="http://schemas.openxmlformats.org/officeDocument/2006/relationships/image" Target="../media/image549.png"/><Relationship Id="rId7" Type="http://schemas.openxmlformats.org/officeDocument/2006/relationships/image" Target="../media/image550.png"/><Relationship Id="rId8" Type="http://schemas.openxmlformats.org/officeDocument/2006/relationships/image" Target="../media/image551.png"/><Relationship Id="rId9" Type="http://schemas.openxmlformats.org/officeDocument/2006/relationships/image" Target="../media/image75.png"/><Relationship Id="rId10" Type="http://schemas.openxmlformats.org/officeDocument/2006/relationships/image" Target="../media/image552.png"/><Relationship Id="rId11" Type="http://schemas.openxmlformats.org/officeDocument/2006/relationships/image" Target="../media/image553.png"/><Relationship Id="rId12" Type="http://schemas.openxmlformats.org/officeDocument/2006/relationships/image" Target="../media/image278.png"/><Relationship Id="rId13"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chart" Target="../charts/chart81.xml"/><Relationship Id="rId5" Type="http://schemas.openxmlformats.org/officeDocument/2006/relationships/notesSlide" Target="../notesSlides/notesSlide100.xml"/><Relationship Id="rId6"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chart" Target="../charts/chart84.xml"/><Relationship Id="rId6" Type="http://schemas.openxmlformats.org/officeDocument/2006/relationships/chart" Target="../charts/chart85.xml"/><Relationship Id="rId7" Type="http://schemas.openxmlformats.org/officeDocument/2006/relationships/notesSlide" Target="../notesSlides/notesSlide101.xml"/><Relationship Id="rId8"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chart" Target="../charts/chart88.xml"/><Relationship Id="rId6" Type="http://schemas.openxmlformats.org/officeDocument/2006/relationships/notesSlide" Target="../notesSlides/notesSlide102.xml"/><Relationship Id="rId7"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notesSlide" Target="../notesSlides/notesSlide105.xml"/><Relationship Id="rId5"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image" Target="../media/image589.png"/><Relationship Id="rId5" Type="http://schemas.openxmlformats.org/officeDocument/2006/relationships/image" Target="../media/image590.png"/><Relationship Id="rId6" Type="http://schemas.openxmlformats.org/officeDocument/2006/relationships/image" Target="../media/image69.png"/><Relationship Id="rId7" Type="http://schemas.openxmlformats.org/officeDocument/2006/relationships/image" Target="../media/image591.png"/><Relationship Id="rId8" Type="http://schemas.openxmlformats.org/officeDocument/2006/relationships/image" Target="../media/image592.png"/><Relationship Id="rId9" Type="http://schemas.openxmlformats.org/officeDocument/2006/relationships/image" Target="../media/image593.png"/><Relationship Id="rId10" Type="http://schemas.openxmlformats.org/officeDocument/2006/relationships/image" Target="../media/image594.png"/><Relationship Id="rId11" Type="http://schemas.openxmlformats.org/officeDocument/2006/relationships/image" Target="../media/image595.png"/><Relationship Id="rId12" Type="http://schemas.openxmlformats.org/officeDocument/2006/relationships/image" Target="../media/image596.png"/><Relationship Id="rId13" Type="http://schemas.openxmlformats.org/officeDocument/2006/relationships/image" Target="../media/image597.png"/><Relationship Id="rId14" Type="http://schemas.openxmlformats.org/officeDocument/2006/relationships/image" Target="../media/image598.png"/><Relationship Id="rId15" Type="http://schemas.openxmlformats.org/officeDocument/2006/relationships/image" Target="../media/image278.png"/><Relationship Id="rId16" Type="http://schemas.openxmlformats.org/officeDocument/2006/relationships/image" Target="../media/image599.png"/><Relationship Id="rId17" Type="http://schemas.openxmlformats.org/officeDocument/2006/relationships/image" Target="../media/image600.png"/><Relationship Id="rId18" Type="http://schemas.openxmlformats.org/officeDocument/2006/relationships/image" Target="../media/image72.png"/><Relationship Id="rId19" Type="http://schemas.openxmlformats.org/officeDocument/2006/relationships/image" Target="../media/image601.png"/><Relationship Id="rId20" Type="http://schemas.openxmlformats.org/officeDocument/2006/relationships/image" Target="../media/image602.png"/><Relationship Id="rId21" Type="http://schemas.openxmlformats.org/officeDocument/2006/relationships/image" Target="../media/image603.png"/><Relationship Id="rId22" Type="http://schemas.openxmlformats.org/officeDocument/2006/relationships/image" Target="../media/image604.png"/><Relationship Id="rId23" Type="http://schemas.openxmlformats.org/officeDocument/2006/relationships/image" Target="../media/image605.png"/><Relationship Id="rId24" Type="http://schemas.openxmlformats.org/officeDocument/2006/relationships/image" Target="../media/image606.png"/><Relationship Id="rId25" Type="http://schemas.openxmlformats.org/officeDocument/2006/relationships/image" Target="../media/image607.png"/><Relationship Id="rId26" Type="http://schemas.openxmlformats.org/officeDocument/2006/relationships/image" Target="../media/image608.png"/><Relationship Id="rId27" Type="http://schemas.openxmlformats.org/officeDocument/2006/relationships/image" Target="../media/image609.png"/><Relationship Id="rId28" Type="http://schemas.openxmlformats.org/officeDocument/2006/relationships/image" Target="../media/image610.png"/><Relationship Id="rId29" Type="http://schemas.openxmlformats.org/officeDocument/2006/relationships/image" Target="../media/image611.png"/><Relationship Id="rId30" Type="http://schemas.openxmlformats.org/officeDocument/2006/relationships/image" Target="../media/image541.png"/><Relationship Id="rId31" Type="http://schemas.openxmlformats.org/officeDocument/2006/relationships/image" Target="../media/image612.png"/><Relationship Id="rId32" Type="http://schemas.openxmlformats.org/officeDocument/2006/relationships/image" Target="../media/image613.png"/><Relationship Id="rId33" Type="http://schemas.openxmlformats.org/officeDocument/2006/relationships/image" Target="../media/image81.png"/><Relationship Id="rId34" Type="http://schemas.openxmlformats.org/officeDocument/2006/relationships/image" Target="../media/image614.png"/><Relationship Id="rId35" Type="http://schemas.openxmlformats.org/officeDocument/2006/relationships/image" Target="../media/image615.png"/><Relationship Id="rId36" Type="http://schemas.openxmlformats.org/officeDocument/2006/relationships/image" Target="../media/image616.png"/><Relationship Id="rId37" Type="http://schemas.openxmlformats.org/officeDocument/2006/relationships/image" Target="../media/image617.png"/><Relationship Id="rId38" Type="http://schemas.openxmlformats.org/officeDocument/2006/relationships/image" Target="../media/image618.png"/><Relationship Id="rId39" Type="http://schemas.openxmlformats.org/officeDocument/2006/relationships/image" Target="../media/image619.png"/><Relationship Id="rId40"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chart" Target="../charts/chart91.xml"/><Relationship Id="rId5" Type="http://schemas.openxmlformats.org/officeDocument/2006/relationships/notesSlide" Target="../notesSlides/notesSlide109.xml"/><Relationship Id="rId6"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chart" Target="../charts/chart93.xml"/><Relationship Id="rId5" Type="http://schemas.openxmlformats.org/officeDocument/2006/relationships/chart" Target="../charts/chart94.xml"/><Relationship Id="rId6" Type="http://schemas.openxmlformats.org/officeDocument/2006/relationships/chart" Target="../charts/chart95.xml"/><Relationship Id="rId7" Type="http://schemas.openxmlformats.org/officeDocument/2006/relationships/notesSlide" Target="../notesSlides/notesSlide110.xml"/><Relationship Id="rId8"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chart" Target="../charts/chart97.xml"/><Relationship Id="rId5" Type="http://schemas.openxmlformats.org/officeDocument/2006/relationships/chart" Target="../charts/chart98.xml"/><Relationship Id="rId6" Type="http://schemas.openxmlformats.org/officeDocument/2006/relationships/chart" Target="../charts/chart99.xml"/><Relationship Id="rId7" Type="http://schemas.openxmlformats.org/officeDocument/2006/relationships/notesSlide" Target="../notesSlides/notesSlide111.xml"/><Relationship Id="rId8"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chart" Target="../charts/chart102.xml"/><Relationship Id="rId6" Type="http://schemas.openxmlformats.org/officeDocument/2006/relationships/chart" Target="../charts/chart103.xml"/><Relationship Id="rId7" Type="http://schemas.openxmlformats.org/officeDocument/2006/relationships/notesSlide" Target="../notesSlides/notesSlide112.xml"/><Relationship Id="rId8"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notesSlide" Target="../notesSlides/notesSlide115.xml"/><Relationship Id="rId5"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image" Target="../media/image675.png"/><Relationship Id="rId5" Type="http://schemas.openxmlformats.org/officeDocument/2006/relationships/image" Target="../media/image676.png"/><Relationship Id="rId6" Type="http://schemas.openxmlformats.org/officeDocument/2006/relationships/image" Target="../media/image124.png"/><Relationship Id="rId7" Type="http://schemas.openxmlformats.org/officeDocument/2006/relationships/image" Target="../media/image677.png"/><Relationship Id="rId8" Type="http://schemas.openxmlformats.org/officeDocument/2006/relationships/image" Target="../media/image678.png"/><Relationship Id="rId9" Type="http://schemas.openxmlformats.org/officeDocument/2006/relationships/image" Target="../media/image606.png"/><Relationship Id="rId10"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chart" Target="../charts/chart106.xml"/><Relationship Id="rId5" Type="http://schemas.openxmlformats.org/officeDocument/2006/relationships/notesSlide" Target="../notesSlides/notesSlide121.xml"/><Relationship Id="rId6"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notesSlide" Target="../notesSlides/notesSlide122.xml"/><Relationship Id="rId6"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notesSlide" Target="../notesSlides/notesSlide125.xml"/><Relationship Id="rId5"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 Id="rId4" Type="http://schemas.openxmlformats.org/officeDocument/2006/relationships/image" Target="../media/image689.png"/><Relationship Id="rId5" Type="http://schemas.openxmlformats.org/officeDocument/2006/relationships/image" Target="../media/image690.png"/><Relationship Id="rId6" Type="http://schemas.openxmlformats.org/officeDocument/2006/relationships/image" Target="../media/image691.png"/><Relationship Id="rId7" Type="http://schemas.openxmlformats.org/officeDocument/2006/relationships/image" Target="../media/image692.png"/><Relationship Id="rId8" Type="http://schemas.openxmlformats.org/officeDocument/2006/relationships/image" Target="../media/image693.png"/><Relationship Id="rId9" Type="http://schemas.openxmlformats.org/officeDocument/2006/relationships/image" Target="../media/image72.png"/><Relationship Id="rId10" Type="http://schemas.openxmlformats.org/officeDocument/2006/relationships/image" Target="../media/image694.png"/><Relationship Id="rId11" Type="http://schemas.openxmlformats.org/officeDocument/2006/relationships/image" Target="../media/image695.png"/><Relationship Id="rId12" Type="http://schemas.openxmlformats.org/officeDocument/2006/relationships/image" Target="../media/image219.png"/><Relationship Id="rId13" Type="http://schemas.openxmlformats.org/officeDocument/2006/relationships/image" Target="../media/image696.png"/><Relationship Id="rId14" Type="http://schemas.openxmlformats.org/officeDocument/2006/relationships/image" Target="../media/image697.png"/><Relationship Id="rId15" Type="http://schemas.openxmlformats.org/officeDocument/2006/relationships/image" Target="../media/image203.png"/><Relationship Id="rId16" Type="http://schemas.openxmlformats.org/officeDocument/2006/relationships/image" Target="../media/image698.png"/><Relationship Id="rId17" Type="http://schemas.openxmlformats.org/officeDocument/2006/relationships/image" Target="../media/image699.png"/><Relationship Id="rId18" Type="http://schemas.openxmlformats.org/officeDocument/2006/relationships/image" Target="../media/image284.png"/><Relationship Id="rId19" Type="http://schemas.openxmlformats.org/officeDocument/2006/relationships/image" Target="../media/image700.png"/><Relationship Id="rId20" Type="http://schemas.openxmlformats.org/officeDocument/2006/relationships/image" Target="../media/image701.png"/><Relationship Id="rId21" Type="http://schemas.openxmlformats.org/officeDocument/2006/relationships/image" Target="../media/image541.png"/><Relationship Id="rId22"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chart" Target="../charts/chart111.xml"/><Relationship Id="rId5" Type="http://schemas.openxmlformats.org/officeDocument/2006/relationships/notesSlide" Target="../notesSlides/notesSlide129.xml"/><Relationship Id="rId6"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2.xml"/><Relationship Id="rId4" Type="http://schemas.openxmlformats.org/officeDocument/2006/relationships/chart" Target="../charts/chart113.xml"/><Relationship Id="rId5" Type="http://schemas.openxmlformats.org/officeDocument/2006/relationships/chart" Target="../charts/chart114.xml"/><Relationship Id="rId6" Type="http://schemas.openxmlformats.org/officeDocument/2006/relationships/chart" Target="../charts/chart115.xml"/><Relationship Id="rId7" Type="http://schemas.openxmlformats.org/officeDocument/2006/relationships/notesSlide" Target="../notesSlides/notesSlide130.xml"/><Relationship Id="rId8"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xml"/><Relationship Id="rId4" Type="http://schemas.openxmlformats.org/officeDocument/2006/relationships/chart" Target="../charts/chart117.xml"/><Relationship Id="rId5" Type="http://schemas.openxmlformats.org/officeDocument/2006/relationships/notesSlide" Target="../notesSlides/notesSlide131.xml"/><Relationship Id="rId6"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 Id="rId4"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8.xml"/><Relationship Id="rId4" Type="http://schemas.openxmlformats.org/officeDocument/2006/relationships/notesSlide" Target="../notesSlides/notesSlide134.xml"/><Relationship Id="rId5"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 Id="rId4" Type="http://schemas.openxmlformats.org/officeDocument/2006/relationships/image" Target="../media/image732.png"/><Relationship Id="rId5" Type="http://schemas.openxmlformats.org/officeDocument/2006/relationships/image" Target="../media/image733.png"/><Relationship Id="rId6" Type="http://schemas.openxmlformats.org/officeDocument/2006/relationships/image" Target="../media/image284.png"/><Relationship Id="rId7" Type="http://schemas.openxmlformats.org/officeDocument/2006/relationships/image" Target="../media/image734.png"/><Relationship Id="rId8" Type="http://schemas.openxmlformats.org/officeDocument/2006/relationships/image" Target="../media/image735.png"/><Relationship Id="rId9" Type="http://schemas.openxmlformats.org/officeDocument/2006/relationships/image" Target="../media/image278.png"/><Relationship Id="rId10" Type="http://schemas.openxmlformats.org/officeDocument/2006/relationships/image" Target="../media/image736.png"/><Relationship Id="rId11" Type="http://schemas.openxmlformats.org/officeDocument/2006/relationships/image" Target="../media/image737.png"/><Relationship Id="rId12" Type="http://schemas.openxmlformats.org/officeDocument/2006/relationships/image" Target="../media/image281.png"/><Relationship Id="rId13" Type="http://schemas.openxmlformats.org/officeDocument/2006/relationships/image" Target="../media/image738.png"/><Relationship Id="rId14" Type="http://schemas.openxmlformats.org/officeDocument/2006/relationships/image" Target="../media/image739.png"/><Relationship Id="rId15" Type="http://schemas.openxmlformats.org/officeDocument/2006/relationships/image" Target="../media/image740.png"/><Relationship Id="rId16"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 Id="rId4" Type="http://schemas.openxmlformats.org/officeDocument/2006/relationships/image" Target="../media/image741.png"/><Relationship Id="rId5" Type="http://schemas.openxmlformats.org/officeDocument/2006/relationships/image" Target="../media/image742.png"/><Relationship Id="rId6" Type="http://schemas.openxmlformats.org/officeDocument/2006/relationships/image" Target="../media/image541.png"/><Relationship Id="rId7" Type="http://schemas.openxmlformats.org/officeDocument/2006/relationships/image" Target="../media/image743.png"/><Relationship Id="rId8" Type="http://schemas.openxmlformats.org/officeDocument/2006/relationships/image" Target="../media/image744.png"/><Relationship Id="rId9" Type="http://schemas.openxmlformats.org/officeDocument/2006/relationships/image" Target="../media/image197.png"/><Relationship Id="rId10" Type="http://schemas.openxmlformats.org/officeDocument/2006/relationships/image" Target="../media/image745.png"/><Relationship Id="rId11" Type="http://schemas.openxmlformats.org/officeDocument/2006/relationships/image" Target="../media/image746.png"/><Relationship Id="rId12" Type="http://schemas.openxmlformats.org/officeDocument/2006/relationships/image" Target="../media/image747.png"/><Relationship Id="rId13"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chart" Target="../charts/chart120.xml"/><Relationship Id="rId5" Type="http://schemas.openxmlformats.org/officeDocument/2006/relationships/notesSlide" Target="../notesSlides/notesSlide139.xml"/><Relationship Id="rId6"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chart" Target="../charts/chart123.xml"/><Relationship Id="rId6" Type="http://schemas.openxmlformats.org/officeDocument/2006/relationships/chart" Target="../charts/chart124.xml"/><Relationship Id="rId7" Type="http://schemas.openxmlformats.org/officeDocument/2006/relationships/notesSlide" Target="../notesSlides/notesSlide140.xml"/><Relationship Id="rId8"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chart" Target="../charts/chart127.xml"/><Relationship Id="rId6" Type="http://schemas.openxmlformats.org/officeDocument/2006/relationships/notesSlide" Target="../notesSlides/notesSlide141.xml"/><Relationship Id="rId7"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8.xml"/><Relationship Id="rId4" Type="http://schemas.openxmlformats.org/officeDocument/2006/relationships/notesSlide" Target="../notesSlides/notesSlide144.xml"/><Relationship Id="rId5"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xml"/><Relationship Id="rId4" Type="http://schemas.openxmlformats.org/officeDocument/2006/relationships/notesSlide" Target="../notesSlides/notesSlide148.xml"/><Relationship Id="rId5"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0.xml"/><Relationship Id="rId4" Type="http://schemas.openxmlformats.org/officeDocument/2006/relationships/notesSlide" Target="../notesSlides/notesSlide152.xml"/><Relationship Id="rId5"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chart" Target="../charts/chart132.xml"/><Relationship Id="rId5" Type="http://schemas.openxmlformats.org/officeDocument/2006/relationships/chart" Target="../charts/chart133.xml"/><Relationship Id="rId6" Type="http://schemas.openxmlformats.org/officeDocument/2006/relationships/chart" Target="../charts/chart134.xml"/><Relationship Id="rId7" Type="http://schemas.openxmlformats.org/officeDocument/2006/relationships/notesSlide" Target="../notesSlides/notesSlide155.xml"/><Relationship Id="rId8"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chart" Target="../charts/chart136.xml"/><Relationship Id="rId5" Type="http://schemas.openxmlformats.org/officeDocument/2006/relationships/chart" Target="../charts/chart137.xml"/><Relationship Id="rId6" Type="http://schemas.openxmlformats.org/officeDocument/2006/relationships/chart" Target="../charts/chart138.xml"/><Relationship Id="rId7" Type="http://schemas.openxmlformats.org/officeDocument/2006/relationships/notesSlide" Target="../notesSlides/notesSlide156.xml"/><Relationship Id="rId8"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9.xml"/><Relationship Id="rId4" Type="http://schemas.openxmlformats.org/officeDocument/2006/relationships/chart" Target="../charts/chart140.xml"/><Relationship Id="rId5" Type="http://schemas.openxmlformats.org/officeDocument/2006/relationships/chart" Target="../charts/chart141.xml"/><Relationship Id="rId6" Type="http://schemas.openxmlformats.org/officeDocument/2006/relationships/chart" Target="../charts/chart142.xml"/><Relationship Id="rId7" Type="http://schemas.openxmlformats.org/officeDocument/2006/relationships/chart" Target="../charts/chart143.xml"/><Relationship Id="rId8" Type="http://schemas.openxmlformats.org/officeDocument/2006/relationships/notesSlide" Target="../notesSlides/notesSlide157.xml"/><Relationship Id="rId9"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4.xml"/><Relationship Id="rId4" Type="http://schemas.openxmlformats.org/officeDocument/2006/relationships/chart" Target="../charts/chart145.xml"/><Relationship Id="rId5" Type="http://schemas.openxmlformats.org/officeDocument/2006/relationships/notesSlide" Target="../notesSlides/notesSlide158.xml"/><Relationship Id="rId6"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6.xml"/><Relationship Id="rId4" Type="http://schemas.openxmlformats.org/officeDocument/2006/relationships/notesSlide" Target="../notesSlides/notesSlide161.xml"/><Relationship Id="rId5"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notesSlide" Target="../notesSlides/notesSlide162.xml"/><Relationship Id="rId5"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8.xml"/><Relationship Id="rId4" Type="http://schemas.openxmlformats.org/officeDocument/2006/relationships/chart" Target="../charts/chart149.xml"/><Relationship Id="rId5" Type="http://schemas.openxmlformats.org/officeDocument/2006/relationships/notesSlide" Target="../notesSlides/notesSlide167.xml"/><Relationship Id="rId6"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0.xml"/><Relationship Id="rId4" Type="http://schemas.openxmlformats.org/officeDocument/2006/relationships/chart" Target="../charts/chart151.xml"/><Relationship Id="rId5" Type="http://schemas.openxmlformats.org/officeDocument/2006/relationships/notesSlide" Target="../notesSlides/notesSlide170.xml"/><Relationship Id="rId6"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2.xml"/><Relationship Id="rId4" Type="http://schemas.openxmlformats.org/officeDocument/2006/relationships/chart" Target="../charts/chart153.xml"/><Relationship Id="rId5" Type="http://schemas.openxmlformats.org/officeDocument/2006/relationships/notesSlide" Target="../notesSlides/notesSlide173.xml"/><Relationship Id="rId6"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4.xml"/><Relationship Id="rId4" Type="http://schemas.openxmlformats.org/officeDocument/2006/relationships/chart" Target="../charts/chart155.xml"/><Relationship Id="rId5" Type="http://schemas.openxmlformats.org/officeDocument/2006/relationships/notesSlide" Target="../notesSlides/notesSlide178.xml"/><Relationship Id="rId6"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6.xml"/><Relationship Id="rId4" Type="http://schemas.openxmlformats.org/officeDocument/2006/relationships/notesSlide" Target="../notesSlides/notesSlide179.xml"/><Relationship Id="rId5"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7.xml"/><Relationship Id="rId4" Type="http://schemas.openxmlformats.org/officeDocument/2006/relationships/notesSlide" Target="../notesSlides/notesSlide180.xml"/><Relationship Id="rId5"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 Id="rId4"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8.xml"/><Relationship Id="rId4" Type="http://schemas.openxmlformats.org/officeDocument/2006/relationships/notesSlide" Target="../notesSlides/notesSlide216.xml"/><Relationship Id="rId5"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9.xml"/><Relationship Id="rId4" Type="http://schemas.openxmlformats.org/officeDocument/2006/relationships/chart" Target="../charts/chart160.xml"/><Relationship Id="rId5" Type="http://schemas.openxmlformats.org/officeDocument/2006/relationships/chart" Target="../charts/chart161.xml"/><Relationship Id="rId6" Type="http://schemas.openxmlformats.org/officeDocument/2006/relationships/notesSlide" Target="../notesSlides/notesSlide217.xml"/><Relationship Id="rId7"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2.xml"/><Relationship Id="rId4" Type="http://schemas.openxmlformats.org/officeDocument/2006/relationships/chart" Target="../charts/chart163.xml"/><Relationship Id="rId5" Type="http://schemas.openxmlformats.org/officeDocument/2006/relationships/chart" Target="../charts/chart164.xml"/><Relationship Id="rId6" Type="http://schemas.openxmlformats.org/officeDocument/2006/relationships/notesSlide" Target="../notesSlides/notesSlide218.xml"/><Relationship Id="rId7"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5.xml"/><Relationship Id="rId4" Type="http://schemas.openxmlformats.org/officeDocument/2006/relationships/chart" Target="../charts/chart166.xml"/><Relationship Id="rId5" Type="http://schemas.openxmlformats.org/officeDocument/2006/relationships/chart" Target="../charts/chart167.xml"/><Relationship Id="rId6" Type="http://schemas.openxmlformats.org/officeDocument/2006/relationships/notesSlide" Target="../notesSlides/notesSlide220.xml"/><Relationship Id="rId7"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8.xml"/><Relationship Id="rId4" Type="http://schemas.openxmlformats.org/officeDocument/2006/relationships/notesSlide" Target="../notesSlides/notesSlide221.xml"/><Relationship Id="rId5"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1.png"/><Relationship Id="rId3" Type="http://schemas.openxmlformats.org/officeDocument/2006/relationships/image" Target="../media/image872.png"/><Relationship Id="rId4" Type="http://schemas.openxmlformats.org/officeDocument/2006/relationships/image" Target="../media/image873.png"/><Relationship Id="rId5" Type="http://schemas.openxmlformats.org/officeDocument/2006/relationships/image" Target="../media/image874.png"/><Relationship Id="rId6" Type="http://schemas.openxmlformats.org/officeDocument/2006/relationships/image" Target="../media/image875.png"/><Relationship Id="rId7" Type="http://schemas.openxmlformats.org/officeDocument/2006/relationships/image" Target="../media/image876.png"/><Relationship Id="rId8" Type="http://schemas.openxmlformats.org/officeDocument/2006/relationships/image" Target="../media/image87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Floriculture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49402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58620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294519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Floriculture Market Global Overview</a:t>
            </a:r>
          </a:p>
        </p:txBody>
      </p:sp>
      <p:sp>
        <p:nvSpPr>
          <p:cNvPr id="17" name="Rounded Rectangle 16">
            <a:hlinkClick action="ppaction://hlinksldjump" r:id="rId10"/>
          </p:cNvPr>
          <p:cNvSpPr/>
          <p:nvPr/>
        </p:nvSpPr>
        <p:spPr>
          <a:xfrm>
            <a:off x="314325" y="367838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037373"/>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314325" y="439636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Cross-sectional Assessment</a:t>
            </a:r>
          </a:p>
        </p:txBody>
      </p:sp>
      <p:sp>
        <p:nvSpPr>
          <p:cNvPr id="20" name="Rounded Rectangle 19">
            <a:hlinkClick action="ppaction://hlinksldjump" r:id="rId13"/>
          </p:cNvPr>
          <p:cNvSpPr/>
          <p:nvPr/>
        </p:nvSpPr>
        <p:spPr>
          <a:xfrm>
            <a:off x="142875" y="475535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21" name="Rounded Rectangle 20">
            <a:hlinkClick action="ppaction://hlinksldjump" r:id="rId14"/>
          </p:cNvPr>
          <p:cNvSpPr/>
          <p:nvPr/>
        </p:nvSpPr>
        <p:spPr>
          <a:xfrm>
            <a:off x="314325" y="512955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Overview</a:t>
            </a:r>
          </a:p>
        </p:txBody>
      </p:sp>
      <p:sp>
        <p:nvSpPr>
          <p:cNvPr id="22" name="Rounded Rectangle 21">
            <a:hlinkClick action="ppaction://hlinksldjump" r:id="rId15"/>
          </p:cNvPr>
          <p:cNvSpPr/>
          <p:nvPr/>
        </p:nvSpPr>
        <p:spPr>
          <a:xfrm>
            <a:off x="314325" y="5488541"/>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North America Market Analysis By Country</a:t>
            </a:r>
          </a:p>
        </p:txBody>
      </p:sp>
      <p:sp>
        <p:nvSpPr>
          <p:cNvPr id="23" name="Rounded Rectangle 22">
            <a:hlinkClick action="ppaction://hlinksldjump" r:id="rId16"/>
          </p:cNvPr>
          <p:cNvSpPr/>
          <p:nvPr/>
        </p:nvSpPr>
        <p:spPr>
          <a:xfrm>
            <a:off x="314325" y="5847530"/>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North America Market Analysis By Segments</a:t>
            </a:r>
          </a:p>
        </p:txBody>
      </p:sp>
      <p:sp>
        <p:nvSpPr>
          <p:cNvPr id="24" name="Rounded Rectangle 23">
            <a:hlinkClick action="ppaction://hlinksldjump" r:id="rId17"/>
          </p:cNvPr>
          <p:cNvSpPr/>
          <p:nvPr/>
        </p:nvSpPr>
        <p:spPr>
          <a:xfrm>
            <a:off x="314325" y="6206519"/>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Cross-sectional Assessment</a:t>
            </a:r>
          </a:p>
        </p:txBody>
      </p:sp>
      <p:sp>
        <p:nvSpPr>
          <p:cNvPr id="25" name="Rounded Rectangle 24">
            <a:hlinkClick action="ppaction://hlinksldjump" r:id="rId18"/>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6" name="Rounded Rectangle 25">
            <a:hlinkClick action="ppaction://hlinksldjump" r:id="rId19"/>
          </p:cNvPr>
          <p:cNvSpPr/>
          <p:nvPr/>
        </p:nvSpPr>
        <p:spPr>
          <a:xfrm>
            <a:off x="6391275" y="1509238"/>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Floriculture Market Overview (Volume &amp; Value)</a:t>
            </a:r>
          </a:p>
        </p:txBody>
      </p:sp>
      <p:sp>
        <p:nvSpPr>
          <p:cNvPr id="27" name="Rounded Rectangle 26">
            <a:hlinkClick action="ppaction://hlinksldjump" r:id="rId20"/>
          </p:cNvPr>
          <p:cNvSpPr/>
          <p:nvPr/>
        </p:nvSpPr>
        <p:spPr>
          <a:xfrm>
            <a:off x="639127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Segment Overview (Volume &amp; Value)</a:t>
            </a:r>
          </a:p>
        </p:txBody>
      </p:sp>
      <p:sp>
        <p:nvSpPr>
          <p:cNvPr id="28" name="Rounded Rectangle 27">
            <a:hlinkClick action="ppaction://hlinksldjump" r:id="rId21"/>
          </p:cNvPr>
          <p:cNvSpPr/>
          <p:nvPr/>
        </p:nvSpPr>
        <p:spPr>
          <a:xfrm>
            <a:off x="6219825" y="222721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9" name="Rounded Rectangle 28">
            <a:hlinkClick action="ppaction://hlinksldjump" r:id="rId22"/>
          </p:cNvPr>
          <p:cNvSpPr/>
          <p:nvPr/>
        </p:nvSpPr>
        <p:spPr>
          <a:xfrm>
            <a:off x="6391275" y="260141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Floriculture Market Pricing Analysis</a:t>
            </a:r>
          </a:p>
        </p:txBody>
      </p:sp>
      <p:sp>
        <p:nvSpPr>
          <p:cNvPr id="30" name="Rounded Rectangle 29">
            <a:hlinkClick action="ppaction://hlinksldjump" r:id="rId23"/>
          </p:cNvPr>
          <p:cNvSpPr/>
          <p:nvPr/>
        </p:nvSpPr>
        <p:spPr>
          <a:xfrm>
            <a:off x="6391275" y="296040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Supply Chain Analysis</a:t>
            </a:r>
          </a:p>
        </p:txBody>
      </p:sp>
      <p:sp>
        <p:nvSpPr>
          <p:cNvPr id="31" name="Rounded Rectangle 30">
            <a:hlinkClick action="ppaction://hlinksldjump" r:id="rId24"/>
          </p:cNvPr>
          <p:cNvSpPr/>
          <p:nvPr/>
        </p:nvSpPr>
        <p:spPr>
          <a:xfrm>
            <a:off x="6219825" y="331939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2" name="Rounded Rectangle 31">
            <a:hlinkClick action="ppaction://hlinksldjump" r:id="rId25"/>
          </p:cNvPr>
          <p:cNvSpPr/>
          <p:nvPr/>
        </p:nvSpPr>
        <p:spPr>
          <a:xfrm>
            <a:off x="6391275" y="369359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Market Dynamics &amp; Forces</a:t>
            </a:r>
          </a:p>
        </p:txBody>
      </p:sp>
      <p:sp>
        <p:nvSpPr>
          <p:cNvPr id="33" name="Rounded Rectangle 32">
            <a:hlinkClick action="ppaction://hlinksldjump" r:id="rId26"/>
          </p:cNvPr>
          <p:cNvSpPr/>
          <p:nvPr/>
        </p:nvSpPr>
        <p:spPr>
          <a:xfrm>
            <a:off x="6219825" y="405258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4" name="Rounded Rectangle 33">
            <a:hlinkClick action="ppaction://hlinksldjump" r:id="rId27"/>
          </p:cNvPr>
          <p:cNvSpPr/>
          <p:nvPr/>
        </p:nvSpPr>
        <p:spPr>
          <a:xfrm>
            <a:off x="6391275" y="514476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20. Competitive Landscape</a:t>
            </a:r>
          </a:p>
        </p:txBody>
      </p:sp>
      <p:sp>
        <p:nvSpPr>
          <p:cNvPr id="35" name="Rounded Rectangle 34">
            <a:hlinkClick action="ppaction://hlinksldjump" r:id="rId28"/>
          </p:cNvPr>
          <p:cNvSpPr/>
          <p:nvPr/>
        </p:nvSpPr>
        <p:spPr>
          <a:xfrm>
            <a:off x="6391275" y="442678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Market Share by Leading Players</a:t>
            </a:r>
          </a:p>
        </p:txBody>
      </p:sp>
      <p:sp>
        <p:nvSpPr>
          <p:cNvPr id="36" name="Rounded Rectangle 35">
            <a:hlinkClick action="ppaction://hlinksldjump" r:id="rId29"/>
          </p:cNvPr>
          <p:cNvSpPr/>
          <p:nvPr/>
        </p:nvSpPr>
        <p:spPr>
          <a:xfrm>
            <a:off x="6391275" y="47857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19. Company Profiles &amp; Strategic Benchmarking</a:t>
            </a: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Floriculture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Floriculture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Floriculture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product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Floriculture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2039639" cy="186689"/>
          </a:xfrm>
          <a:prstGeom prst="rect">
            <a:avLst/>
          </a:prstGeom>
          <a:noFill/>
        </p:spPr>
        <p:txBody>
          <a:bodyPr wrap="none" lIns="0" rIns="0" tIns="0" bIns="0">
            <a:spAutoFit/>
          </a:bodyPr>
          <a:lstStyle/>
          <a:p>
            <a:r>
              <a:rPr sz="1100" b="0">
                <a:solidFill>
                  <a:srgbClr val="2E2E2E"/>
                </a:solidFill>
                <a:latin typeface="Calibri"/>
              </a:rPr>
              <a:t>Cut Flowers leads Product Type, at</a:t>
            </a:r>
          </a:p>
        </p:txBody>
      </p:sp>
      <p:pic>
        <p:nvPicPr>
          <p:cNvPr id="19" name="Picture 18" descr="lock.png"/>
          <p:cNvPicPr>
            <a:picLocks noChangeAspect="1"/>
          </p:cNvPicPr>
          <p:nvPr/>
        </p:nvPicPr>
        <p:blipFill>
          <a:blip r:embed="rId4"/>
          <a:stretch>
            <a:fillRect/>
          </a:stretch>
        </p:blipFill>
        <p:spPr>
          <a:xfrm>
            <a:off x="5772441" y="2792114"/>
            <a:ext cx="128699" cy="187198"/>
          </a:xfrm>
          <a:prstGeom prst="rect">
            <a:avLst/>
          </a:prstGeom>
        </p:spPr>
      </p:pic>
      <p:sp>
        <p:nvSpPr>
          <p:cNvPr id="20" name="TextBox 19"/>
          <p:cNvSpPr txBox="1"/>
          <p:nvPr/>
        </p:nvSpPr>
        <p:spPr>
          <a:xfrm>
            <a:off x="5939937" y="2801893"/>
            <a:ext cx="2314128" cy="186689"/>
          </a:xfrm>
          <a:prstGeom prst="rect">
            <a:avLst/>
          </a:prstGeom>
          <a:noFill/>
        </p:spPr>
        <p:txBody>
          <a:bodyPr wrap="none" lIns="0" rIns="0" tIns="0" bIns="0">
            <a:spAutoFit/>
          </a:bodyPr>
          <a:lstStyle/>
          <a:p>
            <a:r>
              <a:rPr sz="1100" b="0">
                <a:solidFill>
                  <a:srgbClr val="2E2E2E"/>
                </a:solidFill>
                <a:latin typeface="Calibri"/>
              </a:rPr>
              <a:t>of 2036 value, within a mix of 7 tracked</a:t>
            </a:r>
          </a:p>
        </p:txBody>
      </p:sp>
      <p:sp>
        <p:nvSpPr>
          <p:cNvPr id="21" name="TextBox 20"/>
          <p:cNvSpPr txBox="1"/>
          <p:nvPr/>
        </p:nvSpPr>
        <p:spPr>
          <a:xfrm>
            <a:off x="3784750" y="2969533"/>
            <a:ext cx="698574" cy="186689"/>
          </a:xfrm>
          <a:prstGeom prst="rect">
            <a:avLst/>
          </a:prstGeom>
          <a:noFill/>
        </p:spPr>
        <p:txBody>
          <a:bodyPr wrap="none" lIns="0" rIns="0" tIns="0" bIns="0">
            <a:spAutoFit/>
          </a:bodyPr>
          <a:lstStyle/>
          <a:p>
            <a:r>
              <a:rPr sz="1100" b="0">
                <a:solidFill>
                  <a:srgbClr val="2E2E2E"/>
                </a:solidFill>
                <a:latin typeface="Calibri"/>
              </a:rPr>
              <a:t>categories.</a:t>
            </a:r>
          </a:p>
        </p:txBody>
      </p:sp>
      <p:sp>
        <p:nvSpPr>
          <p:cNvPr id="22" name="TextBox 21"/>
          <p:cNvSpPr txBox="1"/>
          <p:nvPr/>
        </p:nvSpPr>
        <p:spPr>
          <a:xfrm>
            <a:off x="8785375" y="2885713"/>
            <a:ext cx="1149870" cy="186689"/>
          </a:xfrm>
          <a:prstGeom prst="rect">
            <a:avLst/>
          </a:prstGeom>
          <a:noFill/>
        </p:spPr>
        <p:txBody>
          <a:bodyPr wrap="none" lIns="0" rIns="0" tIns="0" bIns="0">
            <a:spAutoFit/>
          </a:bodyPr>
          <a:lstStyle/>
          <a:p>
            <a:r>
              <a:rPr sz="1100" b="0">
                <a:solidFill>
                  <a:srgbClr val="2E2E2E"/>
                </a:solidFill>
                <a:latin typeface="Calibri"/>
              </a:rPr>
              <a:t>Lead: Cut Flowers ·</a:t>
            </a:r>
          </a:p>
        </p:txBody>
      </p:sp>
      <p:pic>
        <p:nvPicPr>
          <p:cNvPr id="23" name="Picture 22" descr="lock.png"/>
          <p:cNvPicPr>
            <a:picLocks noChangeAspect="1"/>
          </p:cNvPicPr>
          <p:nvPr/>
        </p:nvPicPr>
        <p:blipFill>
          <a:blip r:embed="rId4"/>
          <a:stretch>
            <a:fillRect/>
          </a:stretch>
        </p:blipFill>
        <p:spPr>
          <a:xfrm>
            <a:off x="9883297" y="2875934"/>
            <a:ext cx="128699" cy="187198"/>
          </a:xfrm>
          <a:prstGeom prst="rect">
            <a:avLst/>
          </a:prstGeom>
        </p:spPr>
      </p:pic>
      <p:sp>
        <p:nvSpPr>
          <p:cNvPr id="24" name="TextBox 23"/>
          <p:cNvSpPr txBox="1"/>
          <p:nvPr/>
        </p:nvSpPr>
        <p:spPr>
          <a:xfrm>
            <a:off x="10050793"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5" name="TextBox 24"/>
          <p:cNvSpPr txBox="1"/>
          <p:nvPr/>
        </p:nvSpPr>
        <p:spPr>
          <a:xfrm>
            <a:off x="3784750" y="3842354"/>
            <a:ext cx="4431699" cy="186689"/>
          </a:xfrm>
          <a:prstGeom prst="rect">
            <a:avLst/>
          </a:prstGeom>
          <a:noFill/>
        </p:spPr>
        <p:txBody>
          <a:bodyPr wrap="none" lIns="0" rIns="0" tIns="0" bIns="0">
            <a:spAutoFit/>
          </a:bodyPr>
          <a:lstStyle/>
          <a:p>
            <a:r>
              <a:rPr sz="1100" b="0">
                <a:solidFill>
                  <a:srgbClr val="2E2E2E"/>
                </a:solidFill>
                <a:latin typeface="Calibri"/>
              </a:rPr>
              <a:t>Online / E-commerce is the fastest-growing part of Distribution Channel, at a</a:t>
            </a:r>
          </a:p>
        </p:txBody>
      </p:sp>
      <p:pic>
        <p:nvPicPr>
          <p:cNvPr id="26" name="Picture 25" descr="lock.png"/>
          <p:cNvPicPr>
            <a:picLocks noChangeAspect="1"/>
          </p:cNvPicPr>
          <p:nvPr/>
        </p:nvPicPr>
        <p:blipFill>
          <a:blip r:embed="rId4"/>
          <a:stretch>
            <a:fillRect/>
          </a:stretch>
        </p:blipFill>
        <p:spPr>
          <a:xfrm>
            <a:off x="8164501" y="3832575"/>
            <a:ext cx="128699" cy="187198"/>
          </a:xfrm>
          <a:prstGeom prst="rect">
            <a:avLst/>
          </a:prstGeom>
        </p:spPr>
      </p:pic>
      <p:sp>
        <p:nvSpPr>
          <p:cNvPr id="27" name="TextBox 26"/>
          <p:cNvSpPr txBox="1"/>
          <p:nvPr/>
        </p:nvSpPr>
        <p:spPr>
          <a:xfrm>
            <a:off x="3784750"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8" name="TextBox 27"/>
          <p:cNvSpPr txBox="1"/>
          <p:nvPr/>
        </p:nvSpPr>
        <p:spPr>
          <a:xfrm>
            <a:off x="8785375" y="3926174"/>
            <a:ext cx="1820450" cy="186689"/>
          </a:xfrm>
          <a:prstGeom prst="rect">
            <a:avLst/>
          </a:prstGeom>
          <a:noFill/>
        </p:spPr>
        <p:txBody>
          <a:bodyPr wrap="none" lIns="0" rIns="0" tIns="0" bIns="0">
            <a:spAutoFit/>
          </a:bodyPr>
          <a:lstStyle/>
          <a:p>
            <a:r>
              <a:rPr sz="1100" b="0">
                <a:solidFill>
                  <a:srgbClr val="2E2E2E"/>
                </a:solidFill>
                <a:latin typeface="Calibri"/>
              </a:rPr>
              <a:t>Fastest: Online / E-commerce ·</a:t>
            </a:r>
          </a:p>
        </p:txBody>
      </p:sp>
      <p:pic>
        <p:nvPicPr>
          <p:cNvPr id="29" name="Picture 28" descr="lock.png"/>
          <p:cNvPicPr>
            <a:picLocks noChangeAspect="1"/>
          </p:cNvPicPr>
          <p:nvPr/>
        </p:nvPicPr>
        <p:blipFill>
          <a:blip r:embed="rId4"/>
          <a:stretch>
            <a:fillRect/>
          </a:stretch>
        </p:blipFill>
        <p:spPr>
          <a:xfrm>
            <a:off x="10553877" y="3916395"/>
            <a:ext cx="128699" cy="187198"/>
          </a:xfrm>
          <a:prstGeom prst="rect">
            <a:avLst/>
          </a:prstGeom>
        </p:spPr>
      </p:pic>
      <p:sp>
        <p:nvSpPr>
          <p:cNvPr id="30" name="TextBox 29"/>
          <p:cNvSpPr txBox="1"/>
          <p:nvPr/>
        </p:nvSpPr>
        <p:spPr>
          <a:xfrm>
            <a:off x="10721372"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1" name="TextBox 30"/>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2" name="Picture 31" descr="lock.png"/>
          <p:cNvPicPr>
            <a:picLocks noChangeAspect="1"/>
          </p:cNvPicPr>
          <p:nvPr/>
        </p:nvPicPr>
        <p:blipFill>
          <a:blip r:embed="rId4"/>
          <a:stretch>
            <a:fillRect/>
          </a:stretch>
        </p:blipFill>
        <p:spPr>
          <a:xfrm>
            <a:off x="6406275" y="4873036"/>
            <a:ext cx="128699" cy="187198"/>
          </a:xfrm>
          <a:prstGeom prst="rect">
            <a:avLst/>
          </a:prstGeom>
        </p:spPr>
      </p:pic>
      <p:sp>
        <p:nvSpPr>
          <p:cNvPr id="33" name="TextBox 32"/>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4" name="TextBox 33"/>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5" name="Picture 34" descr="lock.png"/>
          <p:cNvPicPr>
            <a:picLocks noChangeAspect="1"/>
          </p:cNvPicPr>
          <p:nvPr/>
        </p:nvPicPr>
        <p:blipFill>
          <a:blip r:embed="rId4"/>
          <a:stretch>
            <a:fillRect/>
          </a:stretch>
        </p:blipFill>
        <p:spPr>
          <a:xfrm>
            <a:off x="5106956" y="5040676"/>
            <a:ext cx="128699" cy="187198"/>
          </a:xfrm>
          <a:prstGeom prst="rect">
            <a:avLst/>
          </a:prstGeom>
        </p:spPr>
      </p:pic>
      <p:sp>
        <p:nvSpPr>
          <p:cNvPr id="36" name="TextBox 35"/>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8" name="Picture 37" descr="lock.png"/>
          <p:cNvPicPr>
            <a:picLocks noChangeAspect="1"/>
          </p:cNvPicPr>
          <p:nvPr/>
        </p:nvPicPr>
        <p:blipFill>
          <a:blip r:embed="rId4"/>
          <a:stretch>
            <a:fillRect/>
          </a:stretch>
        </p:blipFill>
        <p:spPr>
          <a:xfrm>
            <a:off x="10197622" y="4873036"/>
            <a:ext cx="128699" cy="187198"/>
          </a:xfrm>
          <a:prstGeom prst="rect">
            <a:avLst/>
          </a:prstGeom>
        </p:spPr>
      </p:pic>
      <p:sp>
        <p:nvSpPr>
          <p:cNvPr id="39" name="TextBox 38"/>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0" name="TextBox 39"/>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1" name="Picture 40" descr="lock.png"/>
          <p:cNvPicPr>
            <a:picLocks noChangeAspect="1"/>
          </p:cNvPicPr>
          <p:nvPr/>
        </p:nvPicPr>
        <p:blipFill>
          <a:blip r:embed="rId4"/>
          <a:stretch>
            <a:fillRect/>
          </a:stretch>
        </p:blipFill>
        <p:spPr>
          <a:xfrm>
            <a:off x="9248099" y="5040676"/>
            <a:ext cx="128699" cy="187198"/>
          </a:xfrm>
          <a:prstGeom prst="rect">
            <a:avLst/>
          </a:prstGeom>
        </p:spPr>
      </p:pic>
      <p:sp>
        <p:nvSpPr>
          <p:cNvPr id="42" name="TextBox 41"/>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4" name="Picture 43" descr="lock.png"/>
          <p:cNvPicPr>
            <a:picLocks noChangeAspect="1"/>
          </p:cNvPicPr>
          <p:nvPr/>
        </p:nvPicPr>
        <p:blipFill>
          <a:blip r:embed="rId4"/>
          <a:stretch>
            <a:fillRect/>
          </a:stretch>
        </p:blipFill>
        <p:spPr>
          <a:xfrm>
            <a:off x="4678579" y="5913497"/>
            <a:ext cx="128699" cy="187198"/>
          </a:xfrm>
          <a:prstGeom prst="rect">
            <a:avLst/>
          </a:prstGeom>
        </p:spPr>
      </p:pic>
      <p:sp>
        <p:nvSpPr>
          <p:cNvPr id="45" name="TextBox 44"/>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6" name="TextBox 45"/>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7" name="TextBox 46"/>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8" name="Picture 47" descr="lock.png"/>
          <p:cNvPicPr>
            <a:picLocks noChangeAspect="1"/>
          </p:cNvPicPr>
          <p:nvPr/>
        </p:nvPicPr>
        <p:blipFill>
          <a:blip r:embed="rId4"/>
          <a:stretch>
            <a:fillRect/>
          </a:stretch>
        </p:blipFill>
        <p:spPr>
          <a:xfrm>
            <a:off x="9591346" y="5997317"/>
            <a:ext cx="128699" cy="187198"/>
          </a:xfrm>
          <a:prstGeom prst="rect">
            <a:avLst/>
          </a:prstGeom>
        </p:spPr>
      </p:pic>
      <p:sp>
        <p:nvSpPr>
          <p:cNvPr id="49" name="TextBox 48"/>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0" name="Picture 49" descr="lock.png"/>
          <p:cNvPicPr>
            <a:picLocks noChangeAspect="1"/>
          </p:cNvPicPr>
          <p:nvPr/>
        </p:nvPicPr>
        <p:blipFill>
          <a:blip r:embed="rId4"/>
          <a:stretch>
            <a:fillRect/>
          </a:stretch>
        </p:blipFill>
        <p:spPr>
          <a:xfrm>
            <a:off x="11052672" y="5997317"/>
            <a:ext cx="128699" cy="187198"/>
          </a:xfrm>
          <a:prstGeom prst="rect">
            <a:avLst/>
          </a:prstGeom>
        </p:spPr>
      </p:pic>
      <p:sp>
        <p:nvSpPr>
          <p:cNvPr id="51" name="TextBox 50"/>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445350"/>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627887"/>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56795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2933026"/>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298100"/>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66317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028248"/>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39332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767523"/>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325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497671"/>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86274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22781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1315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18735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667250" y="1080276"/>
            <a:ext cx="2857500" cy="365074"/>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Floriculture Market</a:t>
            </a:r>
          </a:p>
        </p:txBody>
      </p:sp>
      <p:sp>
        <p:nvSpPr>
          <p:cNvPr id="56" name="Rounded Rectangle 55"/>
          <p:cNvSpPr/>
          <p:nvPr/>
        </p:nvSpPr>
        <p:spPr>
          <a:xfrm>
            <a:off x="1428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7" name="Rounded Rectangle 56"/>
          <p:cNvSpPr/>
          <p:nvPr/>
        </p:nvSpPr>
        <p:spPr>
          <a:xfrm>
            <a:off x="2762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8" name="Rounded Rectangle 57"/>
          <p:cNvSpPr/>
          <p:nvPr/>
        </p:nvSpPr>
        <p:spPr>
          <a:xfrm>
            <a:off x="27622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9" name="Rounded Rectangle 58"/>
          <p:cNvSpPr/>
          <p:nvPr/>
        </p:nvSpPr>
        <p:spPr>
          <a:xfrm>
            <a:off x="214312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0" name="Rounded Rectangle 59"/>
          <p:cNvSpPr/>
          <p:nvPr/>
        </p:nvSpPr>
        <p:spPr>
          <a:xfrm>
            <a:off x="227647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1" name="Rounded Rectangle 60"/>
          <p:cNvSpPr/>
          <p:nvPr/>
        </p:nvSpPr>
        <p:spPr>
          <a:xfrm>
            <a:off x="227647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2" name="Rounded Rectangle 61"/>
          <p:cNvSpPr/>
          <p:nvPr/>
        </p:nvSpPr>
        <p:spPr>
          <a:xfrm>
            <a:off x="2276475"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3" name="Rounded Rectangle 62"/>
          <p:cNvSpPr/>
          <p:nvPr/>
        </p:nvSpPr>
        <p:spPr>
          <a:xfrm>
            <a:off x="2276475"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4" name="Rounded Rectangle 63"/>
          <p:cNvSpPr/>
          <p:nvPr/>
        </p:nvSpPr>
        <p:spPr>
          <a:xfrm>
            <a:off x="41433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5" name="Rounded Rectangle 64"/>
          <p:cNvSpPr/>
          <p:nvPr/>
        </p:nvSpPr>
        <p:spPr>
          <a:xfrm>
            <a:off x="42767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6" name="Rounded Rectangle 65"/>
          <p:cNvSpPr/>
          <p:nvPr/>
        </p:nvSpPr>
        <p:spPr>
          <a:xfrm>
            <a:off x="4276725" y="263184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7" name="Rounded Rectangle 66"/>
          <p:cNvSpPr/>
          <p:nvPr/>
        </p:nvSpPr>
        <p:spPr>
          <a:xfrm>
            <a:off x="4276725" y="2996914"/>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8" name="Rounded Rectangle 67"/>
          <p:cNvSpPr/>
          <p:nvPr/>
        </p:nvSpPr>
        <p:spPr>
          <a:xfrm>
            <a:off x="4276725" y="336198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9" name="Rounded Rectangle 68"/>
          <p:cNvSpPr/>
          <p:nvPr/>
        </p:nvSpPr>
        <p:spPr>
          <a:xfrm>
            <a:off x="4276725" y="372706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0" name="Rounded Rectangle 69"/>
          <p:cNvSpPr/>
          <p:nvPr/>
        </p:nvSpPr>
        <p:spPr>
          <a:xfrm>
            <a:off x="4276725" y="409213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1" name="Rounded Rectangle 70"/>
          <p:cNvSpPr/>
          <p:nvPr/>
        </p:nvSpPr>
        <p:spPr>
          <a:xfrm>
            <a:off x="4276725" y="446633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2" name="Rounded Rectangle 71"/>
          <p:cNvSpPr/>
          <p:nvPr/>
        </p:nvSpPr>
        <p:spPr>
          <a:xfrm>
            <a:off x="4276725" y="483141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a:t>
            </a:r>
          </a:p>
        </p:txBody>
      </p:sp>
      <p:sp>
        <p:nvSpPr>
          <p:cNvPr id="73" name="Rounded Rectangle 72"/>
          <p:cNvSpPr/>
          <p:nvPr/>
        </p:nvSpPr>
        <p:spPr>
          <a:xfrm>
            <a:off x="4276725" y="5196485"/>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4" name="Rounded Rectangle 73"/>
          <p:cNvSpPr/>
          <p:nvPr/>
        </p:nvSpPr>
        <p:spPr>
          <a:xfrm>
            <a:off x="4276725" y="556155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5" name="Rounded Rectangle 74"/>
          <p:cNvSpPr/>
          <p:nvPr/>
        </p:nvSpPr>
        <p:spPr>
          <a:xfrm>
            <a:off x="4276725" y="592663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6" name="Rounded Rectangle 75"/>
          <p:cNvSpPr/>
          <p:nvPr/>
        </p:nvSpPr>
        <p:spPr>
          <a:xfrm>
            <a:off x="4276725" y="629170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7" name="Rounded Rectangle 76"/>
          <p:cNvSpPr/>
          <p:nvPr/>
        </p:nvSpPr>
        <p:spPr>
          <a:xfrm>
            <a:off x="61531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8" name="Rounded Rectangle 77"/>
          <p:cNvSpPr/>
          <p:nvPr/>
        </p:nvSpPr>
        <p:spPr>
          <a:xfrm>
            <a:off x="62865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9" name="Rounded Rectangle 78"/>
          <p:cNvSpPr/>
          <p:nvPr/>
        </p:nvSpPr>
        <p:spPr>
          <a:xfrm>
            <a:off x="62865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0" name="Rounded Rectangle 79"/>
          <p:cNvSpPr/>
          <p:nvPr/>
        </p:nvSpPr>
        <p:spPr>
          <a:xfrm>
            <a:off x="62865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1" name="Rounded Rectangle 80"/>
          <p:cNvSpPr/>
          <p:nvPr/>
        </p:nvSpPr>
        <p:spPr>
          <a:xfrm>
            <a:off x="815340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2" name="Rounded Rectangle 81"/>
          <p:cNvSpPr/>
          <p:nvPr/>
        </p:nvSpPr>
        <p:spPr>
          <a:xfrm>
            <a:off x="828675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3" name="Rounded Rectangle 82"/>
          <p:cNvSpPr/>
          <p:nvPr/>
        </p:nvSpPr>
        <p:spPr>
          <a:xfrm>
            <a:off x="828675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4" name="Rounded Rectangle 83"/>
          <p:cNvSpPr/>
          <p:nvPr/>
        </p:nvSpPr>
        <p:spPr>
          <a:xfrm>
            <a:off x="828675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5" name="Rounded Rectangle 84"/>
          <p:cNvSpPr/>
          <p:nvPr/>
        </p:nvSpPr>
        <p:spPr>
          <a:xfrm>
            <a:off x="828675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6" name="Rounded Rectangle 85"/>
          <p:cNvSpPr/>
          <p:nvPr/>
        </p:nvSpPr>
        <p:spPr>
          <a:xfrm>
            <a:off x="828675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7" name="Rounded Rectangle 86"/>
          <p:cNvSpPr/>
          <p:nvPr/>
        </p:nvSpPr>
        <p:spPr>
          <a:xfrm>
            <a:off x="828675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8" name="Rounded Rectangle 87"/>
          <p:cNvSpPr/>
          <p:nvPr/>
        </p:nvSpPr>
        <p:spPr>
          <a:xfrm>
            <a:off x="828675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89" name="Rounded Rectangle 88"/>
          <p:cNvSpPr/>
          <p:nvPr/>
        </p:nvSpPr>
        <p:spPr>
          <a:xfrm>
            <a:off x="8286750" y="488617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0" name="Rounded Rectangle 89"/>
          <p:cNvSpPr/>
          <p:nvPr/>
        </p:nvSpPr>
        <p:spPr>
          <a:xfrm>
            <a:off x="8286750" y="526037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a:t>
            </a:r>
          </a:p>
        </p:txBody>
      </p:sp>
      <p:sp>
        <p:nvSpPr>
          <p:cNvPr id="91" name="Rounded Rectangle 90"/>
          <p:cNvSpPr/>
          <p:nvPr/>
        </p:nvSpPr>
        <p:spPr>
          <a:xfrm>
            <a:off x="101536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and Africa</a:t>
            </a:r>
          </a:p>
        </p:txBody>
      </p:sp>
      <p:sp>
        <p:nvSpPr>
          <p:cNvPr id="92" name="Rounded Rectangle 91"/>
          <p:cNvSpPr/>
          <p:nvPr/>
        </p:nvSpPr>
        <p:spPr>
          <a:xfrm>
            <a:off x="102870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3" name="Rounded Rectangle 92"/>
          <p:cNvSpPr/>
          <p:nvPr/>
        </p:nvSpPr>
        <p:spPr>
          <a:xfrm>
            <a:off x="102870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4" name="Rounded Rectangle 93"/>
          <p:cNvSpPr/>
          <p:nvPr/>
        </p:nvSpPr>
        <p:spPr>
          <a:xfrm>
            <a:off x="102870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5" name="Rounded Rectangle 94"/>
          <p:cNvSpPr/>
          <p:nvPr/>
        </p:nvSpPr>
        <p:spPr>
          <a:xfrm>
            <a:off x="1028700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6" name="Rounded Rectangle 95"/>
          <p:cNvSpPr/>
          <p:nvPr/>
        </p:nvSpPr>
        <p:spPr>
          <a:xfrm>
            <a:off x="1028700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97" name="Rounded Rectangle 96"/>
          <p:cNvSpPr/>
          <p:nvPr/>
        </p:nvSpPr>
        <p:spPr>
          <a:xfrm>
            <a:off x="1028700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North Africa</a:t>
            </a:r>
          </a:p>
        </p:txBody>
      </p:sp>
      <p:sp>
        <p:nvSpPr>
          <p:cNvPr id="98" name="Rounded Rectangle 97"/>
          <p:cNvSpPr/>
          <p:nvPr/>
        </p:nvSpPr>
        <p:spPr>
          <a:xfrm>
            <a:off x="1028700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9" name="TextBox 9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5 axes and the sub-segments sized under each</a:t>
            </a:r>
          </a:p>
        </p:txBody>
      </p:sp>
      <p:sp>
        <p:nvSpPr>
          <p:cNvPr id="10" name="Rectangle 9"/>
          <p:cNvSpPr/>
          <p:nvPr/>
        </p:nvSpPr>
        <p:spPr>
          <a:xfrm>
            <a:off x="1428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Type</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Cut Flowers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Potted Flowering Plants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Potted Foliage Plants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Bedding &amp; Garden Flowering Plants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Cut Foliage &amp; Greens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3905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Young Plants &amp; Propagation Material</a:t>
            </a:r>
          </a:p>
        </p:txBody>
      </p:sp>
      <p:cxnSp>
        <p:nvCxnSpPr>
          <p:cNvPr id="30" name="Connector 29"/>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0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3905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Flower Bulbs, Corms, Rhizomes &amp; Tubers</a:t>
            </a:r>
          </a:p>
        </p:txBody>
      </p:sp>
      <p:sp>
        <p:nvSpPr>
          <p:cNvPr id="33" name="Rectangle 32"/>
          <p:cNvSpPr/>
          <p:nvPr/>
        </p:nvSpPr>
        <p:spPr>
          <a:xfrm>
            <a:off x="3152775" y="1028700"/>
            <a:ext cx="2876550" cy="235458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Flower Species</a:t>
            </a:r>
          </a:p>
        </p:txBody>
      </p:sp>
      <p:sp>
        <p:nvSpPr>
          <p:cNvPr id="36" name="TextBox 35"/>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Roses</a:t>
            </a:r>
          </a:p>
        </p:txBody>
      </p:sp>
      <p:cxnSp>
        <p:nvCxnSpPr>
          <p:cNvPr id="38" name="Connector 37"/>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Carnations</a:t>
            </a:r>
          </a:p>
        </p:txBody>
      </p:sp>
      <p:cxnSp>
        <p:nvCxnSpPr>
          <p:cNvPr id="41" name="Connector 40"/>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2099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4004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Chrysanthemums</a:t>
            </a:r>
          </a:p>
        </p:txBody>
      </p:sp>
      <p:cxnSp>
        <p:nvCxnSpPr>
          <p:cNvPr id="44" name="Connector 43"/>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Lilies</a:t>
            </a:r>
          </a:p>
        </p:txBody>
      </p:sp>
      <p:cxnSp>
        <p:nvCxnSpPr>
          <p:cNvPr id="47" name="Connector 46"/>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2099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9" name="TextBox 48"/>
          <p:cNvSpPr txBox="1"/>
          <p:nvPr/>
        </p:nvSpPr>
        <p:spPr>
          <a:xfrm>
            <a:off x="34004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Alstroemeria</a:t>
            </a:r>
          </a:p>
        </p:txBody>
      </p:sp>
      <p:cxnSp>
        <p:nvCxnSpPr>
          <p:cNvPr id="50" name="Connector 49"/>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2099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2" name="TextBox 51"/>
          <p:cNvSpPr txBox="1"/>
          <p:nvPr/>
        </p:nvSpPr>
        <p:spPr>
          <a:xfrm>
            <a:off x="34004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Hydrangeas</a:t>
            </a:r>
          </a:p>
        </p:txBody>
      </p:sp>
      <p:cxnSp>
        <p:nvCxnSpPr>
          <p:cNvPr id="53" name="Connector 52"/>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2099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34004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Gerbera</a:t>
            </a:r>
          </a:p>
        </p:txBody>
      </p:sp>
      <p:cxnSp>
        <p:nvCxnSpPr>
          <p:cNvPr id="56" name="Connector 55"/>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2099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3400425" y="24974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Orchids</a:t>
            </a:r>
          </a:p>
        </p:txBody>
      </p:sp>
      <p:cxnSp>
        <p:nvCxnSpPr>
          <p:cNvPr id="59" name="Connector 58"/>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2099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1" name="TextBox 60"/>
          <p:cNvSpPr txBox="1"/>
          <p:nvPr/>
        </p:nvSpPr>
        <p:spPr>
          <a:xfrm>
            <a:off x="3400425" y="26746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Tulips</a:t>
            </a:r>
          </a:p>
        </p:txBody>
      </p:sp>
      <p:cxnSp>
        <p:nvCxnSpPr>
          <p:cNvPr id="62" name="Connector 61"/>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0992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4" name="TextBox 63"/>
          <p:cNvSpPr txBox="1"/>
          <p:nvPr/>
        </p:nvSpPr>
        <p:spPr>
          <a:xfrm>
            <a:off x="3400425" y="285178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Lisianthus</a:t>
            </a:r>
          </a:p>
        </p:txBody>
      </p:sp>
      <p:cxnSp>
        <p:nvCxnSpPr>
          <p:cNvPr id="65" name="Connector 64"/>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320992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7" name="TextBox 66"/>
          <p:cNvSpPr txBox="1"/>
          <p:nvPr/>
        </p:nvSpPr>
        <p:spPr>
          <a:xfrm>
            <a:off x="3400425" y="302895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Peonies</a:t>
            </a:r>
          </a:p>
        </p:txBody>
      </p:sp>
      <p:cxnSp>
        <p:nvCxnSpPr>
          <p:cNvPr id="68" name="Connector 67"/>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20992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0" name="TextBox 69"/>
          <p:cNvSpPr txBox="1"/>
          <p:nvPr/>
        </p:nvSpPr>
        <p:spPr>
          <a:xfrm>
            <a:off x="3400425" y="320611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Others</a:t>
            </a:r>
          </a:p>
        </p:txBody>
      </p:sp>
      <p:sp>
        <p:nvSpPr>
          <p:cNvPr id="71" name="Rectangle 70"/>
          <p:cNvSpPr/>
          <p:nvPr/>
        </p:nvSpPr>
        <p:spPr>
          <a:xfrm>
            <a:off x="61626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Cultivation Method</a:t>
            </a:r>
          </a:p>
        </p:txBody>
      </p:sp>
      <p:sp>
        <p:nvSpPr>
          <p:cNvPr id="74" name="TextBox 73"/>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Protected Cultivation</a:t>
            </a:r>
          </a:p>
        </p:txBody>
      </p:sp>
      <p:cxnSp>
        <p:nvCxnSpPr>
          <p:cNvPr id="76" name="Connector 75"/>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8" name="TextBox 77"/>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Open-Field Cultivation</a:t>
            </a:r>
          </a:p>
        </p:txBody>
      </p:sp>
      <p:sp>
        <p:nvSpPr>
          <p:cNvPr id="79" name="Rectangle 78"/>
          <p:cNvSpPr/>
          <p:nvPr/>
        </p:nvSpPr>
        <p:spPr>
          <a:xfrm>
            <a:off x="6162675" y="172593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162675" y="172593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38875" y="172593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 Use</a:t>
            </a:r>
          </a:p>
        </p:txBody>
      </p:sp>
      <p:sp>
        <p:nvSpPr>
          <p:cNvPr id="82" name="TextBox 81"/>
          <p:cNvSpPr txBox="1"/>
          <p:nvPr/>
        </p:nvSpPr>
        <p:spPr>
          <a:xfrm>
            <a:off x="6219825" y="19545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6410325" y="19545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Personal Gifting &amp; Celebrations</a:t>
            </a:r>
          </a:p>
        </p:txBody>
      </p:sp>
      <p:cxnSp>
        <p:nvCxnSpPr>
          <p:cNvPr id="84" name="Connector 83"/>
          <p:cNvCxnSpPr/>
          <p:nvPr/>
        </p:nvCxnSpPr>
        <p:spPr>
          <a:xfrm>
            <a:off x="6172200" y="21316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62198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64103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Residential &amp; Home Decoration</a:t>
            </a:r>
          </a:p>
        </p:txBody>
      </p:sp>
      <p:cxnSp>
        <p:nvCxnSpPr>
          <p:cNvPr id="87" name="Connector 86"/>
          <p:cNvCxnSpPr/>
          <p:nvPr/>
        </p:nvCxnSpPr>
        <p:spPr>
          <a:xfrm>
            <a:off x="61722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62198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64103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Weddings &amp; Special Events</a:t>
            </a:r>
          </a:p>
        </p:txBody>
      </p:sp>
      <p:cxnSp>
        <p:nvCxnSpPr>
          <p:cNvPr id="90" name="Connector 89"/>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62198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64103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Hospitality &amp; Commercial Decoration</a:t>
            </a:r>
          </a:p>
        </p:txBody>
      </p:sp>
      <p:cxnSp>
        <p:nvCxnSpPr>
          <p:cNvPr id="93" name="Connector 92"/>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5" name="TextBox 94"/>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Funeral &amp; Memorial Services</a:t>
            </a:r>
          </a:p>
        </p:txBody>
      </p:sp>
      <p:cxnSp>
        <p:nvCxnSpPr>
          <p:cNvPr id="96" name="Connector 95"/>
          <p:cNvCxnSpPr/>
          <p:nvPr/>
        </p:nvCxnSpPr>
        <p:spPr>
          <a:xfrm>
            <a:off x="61722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62198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8" name="TextBox 97"/>
          <p:cNvSpPr txBox="1"/>
          <p:nvPr/>
        </p:nvSpPr>
        <p:spPr>
          <a:xfrm>
            <a:off x="64103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Landscaping &amp; Gardening</a:t>
            </a:r>
          </a:p>
        </p:txBody>
      </p:sp>
      <p:cxnSp>
        <p:nvCxnSpPr>
          <p:cNvPr id="99" name="Connector 98"/>
          <p:cNvCxnSpPr/>
          <p:nvPr/>
        </p:nvCxnSpPr>
        <p:spPr>
          <a:xfrm>
            <a:off x="61722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62198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1" name="TextBox 100"/>
          <p:cNvSpPr txBox="1"/>
          <p:nvPr/>
        </p:nvSpPr>
        <p:spPr>
          <a:xfrm>
            <a:off x="64103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Institutional Applications</a:t>
            </a:r>
          </a:p>
        </p:txBody>
      </p:sp>
      <p:sp>
        <p:nvSpPr>
          <p:cNvPr id="102" name="Rectangle 101"/>
          <p:cNvSpPr/>
          <p:nvPr/>
        </p:nvSpPr>
        <p:spPr>
          <a:xfrm>
            <a:off x="91725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Distribution Channel</a:t>
            </a:r>
          </a:p>
        </p:txBody>
      </p:sp>
      <p:sp>
        <p:nvSpPr>
          <p:cNvPr id="105" name="TextBox 104"/>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9420225" y="1257300"/>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Direct Sales to Commercial &amp; Institutional Buyers</a:t>
            </a:r>
          </a:p>
        </p:txBody>
      </p:sp>
      <p:cxnSp>
        <p:nvCxnSpPr>
          <p:cNvPr id="107" name="Connector 106"/>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9" name="TextBox 108"/>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Florists &amp; Specialty Flower Shops</a:t>
            </a:r>
          </a:p>
        </p:txBody>
      </p:sp>
      <p:cxnSp>
        <p:nvCxnSpPr>
          <p:cNvPr id="110" name="Connector 109"/>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2" name="TextBox 111"/>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Supermarkets &amp; Hypermarkets</a:t>
            </a:r>
          </a:p>
        </p:txBody>
      </p:sp>
      <p:cxnSp>
        <p:nvCxnSpPr>
          <p:cNvPr id="113" name="Connector 112"/>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92297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5" name="TextBox 114"/>
          <p:cNvSpPr txBox="1"/>
          <p:nvPr/>
        </p:nvSpPr>
        <p:spPr>
          <a:xfrm>
            <a:off x="94202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Garden Centers &amp; Plant Nurseries</a:t>
            </a:r>
          </a:p>
        </p:txBody>
      </p:sp>
      <p:cxnSp>
        <p:nvCxnSpPr>
          <p:cNvPr id="116" name="Connector 115"/>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Online / E-commerce</a:t>
            </a:r>
          </a:p>
        </p:txBody>
      </p:sp>
      <p:cxnSp>
        <p:nvCxnSpPr>
          <p:cNvPr id="119" name="Connector 118"/>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2297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94202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Retail Channels</a:t>
            </a:r>
          </a:p>
        </p:txBody>
      </p:sp>
      <p:sp>
        <p:nvSpPr>
          <p:cNvPr id="122" name="TextBox 1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Floriculture Market profiled and benchmarked in the Competition Assessment section.</a:t>
            </a:r>
          </a:p>
        </p:txBody>
      </p:sp>
      <p:sp>
        <p:nvSpPr>
          <p:cNvPr id="11" name="Rectangle 10"/>
          <p:cNvSpPr/>
          <p:nvPr/>
        </p:nvSpPr>
        <p:spPr>
          <a:xfrm>
            <a:off x="142875"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286001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Dümmen Orange</a:t>
            </a:r>
          </a:p>
        </p:txBody>
      </p:sp>
      <p:sp>
        <p:nvSpPr>
          <p:cNvPr id="16" name="Rectangle 15"/>
          <p:cNvSpPr/>
          <p:nvPr/>
        </p:nvSpPr>
        <p:spPr>
          <a:xfrm>
            <a:off x="152400"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a:t>
            </a:r>
          </a:p>
        </p:txBody>
      </p:sp>
      <p:cxnSp>
        <p:nvCxnSpPr>
          <p:cNvPr id="20" name="Connector 19"/>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Syngenta Flowers</a:t>
            </a:r>
          </a:p>
        </p:txBody>
      </p:sp>
      <p:sp>
        <p:nvSpPr>
          <p:cNvPr id="23" name="Rectangle 22"/>
          <p:cNvSpPr/>
          <p:nvPr/>
        </p:nvSpPr>
        <p:spPr>
          <a:xfrm>
            <a:off x="152400"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Ball Horticultural Company</a:t>
            </a:r>
          </a:p>
        </p:txBody>
      </p:sp>
      <p:sp>
        <p:nvSpPr>
          <p:cNvPr id="27" name="Rectangle 26"/>
          <p:cNvSpPr/>
          <p:nvPr/>
        </p:nvSpPr>
        <p:spPr>
          <a:xfrm>
            <a:off x="6191250"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1250"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1250" y="286001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30" name="TextBox 29"/>
          <p:cNvSpPr txBox="1"/>
          <p:nvPr/>
        </p:nvSpPr>
        <p:spPr>
          <a:xfrm>
            <a:off x="6381750"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1" name="TextBox 30"/>
          <p:cNvSpPr txBox="1"/>
          <p:nvPr/>
        </p:nvSpPr>
        <p:spPr>
          <a:xfrm>
            <a:off x="6629400"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Selecta One</a:t>
            </a:r>
          </a:p>
        </p:txBody>
      </p:sp>
      <p:sp>
        <p:nvSpPr>
          <p:cNvPr id="32" name="Rectangle 31"/>
          <p:cNvSpPr/>
          <p:nvPr/>
        </p:nvSpPr>
        <p:spPr>
          <a:xfrm>
            <a:off x="6200775"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200775"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81750"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5" name="TextBox 34"/>
          <p:cNvSpPr txBox="1"/>
          <p:nvPr/>
        </p:nvSpPr>
        <p:spPr>
          <a:xfrm>
            <a:off x="6629400"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Florensis</a:t>
            </a:r>
          </a:p>
        </p:txBody>
      </p:sp>
      <p:cxnSp>
        <p:nvCxnSpPr>
          <p:cNvPr id="36" name="Connector 35"/>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81750"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8" name="TextBox 37"/>
          <p:cNvSpPr txBox="1"/>
          <p:nvPr/>
        </p:nvSpPr>
        <p:spPr>
          <a:xfrm>
            <a:off x="6629400"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HilverdaFlorist</a:t>
            </a:r>
          </a:p>
        </p:txBody>
      </p:sp>
      <p:sp>
        <p:nvSpPr>
          <p:cNvPr id="39" name="Rectangle 38"/>
          <p:cNvSpPr/>
          <p:nvPr/>
        </p:nvSpPr>
        <p:spPr>
          <a:xfrm>
            <a:off x="6200775"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6200775"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81750"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2" name="TextBox 41"/>
          <p:cNvSpPr txBox="1"/>
          <p:nvPr/>
        </p:nvSpPr>
        <p:spPr>
          <a:xfrm>
            <a:off x="6629400"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Royal Van Zanten</a:t>
            </a:r>
          </a:p>
        </p:txBody>
      </p:sp>
      <p:sp>
        <p:nvSpPr>
          <p:cNvPr id="43" name="TextBox 42"/>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Product Type</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Cut Flowers</a:t>
                      </a:r>
                      <a:endParaRPr sz="1100"/>
                    </a:p>
                  </a:txBody>
                  <a:tcPr marL="771525" marR="9525" marT="9525" marB="0" anchor="ctr"/>
                </a:tc>
              </a:tr>
              <a:tr h="175260">
                <a:tc>
                  <a:txBody>
                    <a:bodyPr wrap="square"/>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Potted Flowering Plants</a:t>
                      </a:r>
                      <a:endParaRPr sz="1100"/>
                    </a:p>
                  </a:txBody>
                  <a:tcPr marL="771525" marR="9525" marT="9525" marB="0" anchor="ctr"/>
                </a:tc>
              </a:tr>
              <a:tr h="175260">
                <a:tc>
                  <a:txBody>
                    <a:bodyPr wrap="square"/>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Potted Foliage Plants</a:t>
                      </a:r>
                      <a:endParaRPr sz="1100"/>
                    </a:p>
                  </a:txBody>
                  <a:tcPr marL="771525" marR="9525" marT="9525" marB="0" anchor="ctr"/>
                </a:tc>
              </a:tr>
              <a:tr h="175260">
                <a:tc>
                  <a:txBody>
                    <a:bodyPr wrap="square"/>
                    <a:lstStyle/>
                    <a:p>
                      <a:pPr algn="l"/>
                      <a:r>
                        <a:rPr sz="1100" b="0" i="0">
                          <a:solidFill>
                            <a:srgbClr val="000000"/>
                          </a:solidFill>
                          <a:latin typeface="Calibri"/>
                        </a:rPr>
                        <a:t>3.5.4.</a:t>
                      </a:r>
                      <a:r>
                        <a:rPr sz="700" b="0" i="0">
                          <a:solidFill>
                            <a:srgbClr val="000000"/>
                          </a:solidFill>
                          <a:latin typeface="Times New Roman"/>
                        </a:rPr>
                        <a:t>   </a:t>
                      </a:r>
                      <a:r>
                        <a:rPr sz="1100" b="0" i="0">
                          <a:solidFill>
                            <a:srgbClr val="000000"/>
                          </a:solidFill>
                          <a:latin typeface="Calibri"/>
                        </a:rPr>
                        <a:t>Bedding &amp; Garden Flowering Plants</a:t>
                      </a:r>
                      <a:endParaRPr sz="1100"/>
                    </a:p>
                  </a:txBody>
                  <a:tcPr marL="771525" marR="9525" marT="9525" marB="0" anchor="ctr"/>
                </a:tc>
              </a:tr>
              <a:tr h="175260">
                <a:tc>
                  <a:txBody>
                    <a:bodyPr wrap="square"/>
                    <a:lstStyle/>
                    <a:p>
                      <a:pPr algn="l"/>
                      <a:r>
                        <a:rPr sz="1100" b="0" i="0">
                          <a:solidFill>
                            <a:srgbClr val="000000"/>
                          </a:solidFill>
                          <a:latin typeface="Calibri"/>
                        </a:rPr>
                        <a:t>3.5.5.</a:t>
                      </a:r>
                      <a:r>
                        <a:rPr sz="700" b="0" i="0">
                          <a:solidFill>
                            <a:srgbClr val="000000"/>
                          </a:solidFill>
                          <a:latin typeface="Times New Roman"/>
                        </a:rPr>
                        <a:t>   </a:t>
                      </a:r>
                      <a:r>
                        <a:rPr sz="1100" b="0" i="0">
                          <a:solidFill>
                            <a:srgbClr val="000000"/>
                          </a:solidFill>
                          <a:latin typeface="Calibri"/>
                        </a:rPr>
                        <a:t>Cut Foliage &amp; Greens</a:t>
                      </a:r>
                      <a:endParaRPr sz="1100"/>
                    </a:p>
                  </a:txBody>
                  <a:tcPr marL="771525" marR="9525" marT="9525" marB="0" anchor="ctr"/>
                </a:tc>
              </a:tr>
              <a:tr h="175260">
                <a:tc>
                  <a:txBody>
                    <a:bodyPr wrap="square"/>
                    <a:lstStyle/>
                    <a:p>
                      <a:pPr algn="l"/>
                      <a:r>
                        <a:rPr sz="1100" b="0" i="0">
                          <a:solidFill>
                            <a:srgbClr val="000000"/>
                          </a:solidFill>
                          <a:latin typeface="Calibri"/>
                        </a:rPr>
                        <a:t>3.5.6.</a:t>
                      </a:r>
                      <a:r>
                        <a:rPr sz="700" b="0" i="0">
                          <a:solidFill>
                            <a:srgbClr val="000000"/>
                          </a:solidFill>
                          <a:latin typeface="Times New Roman"/>
                        </a:rPr>
                        <a:t>   </a:t>
                      </a:r>
                      <a:r>
                        <a:rPr sz="1100" b="0" i="0">
                          <a:solidFill>
                            <a:srgbClr val="000000"/>
                          </a:solidFill>
                          <a:latin typeface="Calibri"/>
                        </a:rPr>
                        <a:t>Young Plants &amp; Propagation Material</a:t>
                      </a:r>
                      <a:endParaRPr sz="1100"/>
                    </a:p>
                  </a:txBody>
                  <a:tcPr marL="771525" marR="9525" marT="9525" marB="0" anchor="ctr"/>
                </a:tc>
              </a:tr>
              <a:tr h="175260">
                <a:tc>
                  <a:txBody>
                    <a:bodyPr wrap="square"/>
                    <a:lstStyle/>
                    <a:p>
                      <a:pPr algn="l"/>
                      <a:r>
                        <a:rPr sz="1100" b="0" i="0">
                          <a:solidFill>
                            <a:srgbClr val="000000"/>
                          </a:solidFill>
                          <a:latin typeface="Calibri"/>
                        </a:rPr>
                        <a:t>3.5.7.</a:t>
                      </a:r>
                      <a:r>
                        <a:rPr sz="700" b="0" i="0">
                          <a:solidFill>
                            <a:srgbClr val="000000"/>
                          </a:solidFill>
                          <a:latin typeface="Times New Roman"/>
                        </a:rPr>
                        <a:t>   </a:t>
                      </a:r>
                      <a:r>
                        <a:rPr sz="1100" b="0" i="0">
                          <a:solidFill>
                            <a:srgbClr val="000000"/>
                          </a:solidFill>
                          <a:latin typeface="Calibri"/>
                        </a:rPr>
                        <a:t>Flower Bulbs, Corms, Rhizomes &amp; Tubers</a:t>
                      </a:r>
                      <a:endParaRPr sz="1100"/>
                    </a:p>
                  </a:txBody>
                  <a:tcPr marL="7715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Flower Species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Roses</a:t>
                      </a:r>
                      <a:endParaRPr sz="1100"/>
                    </a:p>
                  </a:txBody>
                  <a:tcPr marL="771525"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Carnations</a:t>
                      </a:r>
                      <a:endParaRPr sz="1100"/>
                    </a:p>
                  </a:txBody>
                  <a:tcPr marL="771525"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Chrysanthemums</a:t>
                      </a:r>
                      <a:endParaRPr sz="1100"/>
                    </a:p>
                  </a:txBody>
                  <a:tcPr marL="771525" marR="9525" marT="9525" marB="0" anchor="ctr"/>
                </a:tc>
              </a:tr>
              <a:tr h="17526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Lilies</a:t>
                      </a:r>
                      <a:endParaRPr sz="1100"/>
                    </a:p>
                  </a:txBody>
                  <a:tcPr marL="771525" marR="9525" marT="9525" marB="0" anchor="ctr"/>
                </a:tc>
              </a:tr>
              <a:tr h="175260">
                <a:tc>
                  <a:txBody>
                    <a:bodyPr wrap="square"/>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Alstroemeria</a:t>
                      </a:r>
                      <a:endParaRPr sz="1100"/>
                    </a:p>
                  </a:txBody>
                  <a:tcPr marL="771525" marR="9525" marT="9525" marB="0" anchor="ctr"/>
                </a:tc>
              </a:tr>
              <a:tr h="175260">
                <a:tc>
                  <a:txBody>
                    <a:bodyPr wrap="square"/>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Hydrangeas</a:t>
                      </a:r>
                      <a:endParaRPr sz="1100"/>
                    </a:p>
                  </a:txBody>
                  <a:tcPr marL="771525" marR="9525" marT="9525" marB="0" anchor="ctr"/>
                </a:tc>
              </a:tr>
              <a:tr h="175260">
                <a:tc>
                  <a:txBody>
                    <a:bodyPr wrap="square"/>
                    <a:lstStyle/>
                    <a:p>
                      <a:pPr algn="l"/>
                      <a:r>
                        <a:rPr sz="1100" b="0" i="0">
                          <a:solidFill>
                            <a:srgbClr val="000000"/>
                          </a:solidFill>
                          <a:latin typeface="Calibri"/>
                        </a:rPr>
                        <a:t>4.5.7.</a:t>
                      </a:r>
                      <a:r>
                        <a:rPr sz="700" b="0" i="0">
                          <a:solidFill>
                            <a:srgbClr val="000000"/>
                          </a:solidFill>
                          <a:latin typeface="Times New Roman"/>
                        </a:rPr>
                        <a:t>   </a:t>
                      </a:r>
                      <a:r>
                        <a:rPr sz="1100" b="0" i="0">
                          <a:solidFill>
                            <a:srgbClr val="000000"/>
                          </a:solidFill>
                          <a:latin typeface="Calibri"/>
                        </a:rPr>
                        <a:t>Gerbera</a:t>
                      </a:r>
                      <a:endParaRPr sz="1100"/>
                    </a:p>
                  </a:txBody>
                  <a:tcPr marL="771525" marR="9525" marT="9525" marB="0" anchor="ctr"/>
                </a:tc>
              </a:tr>
              <a:tr h="175260">
                <a:tc>
                  <a:txBody>
                    <a:bodyPr wrap="square"/>
                    <a:lstStyle/>
                    <a:p>
                      <a:pPr algn="l"/>
                      <a:r>
                        <a:rPr sz="1100" b="0" i="0">
                          <a:solidFill>
                            <a:srgbClr val="000000"/>
                          </a:solidFill>
                          <a:latin typeface="Calibri"/>
                        </a:rPr>
                        <a:t>4.5.8.</a:t>
                      </a:r>
                      <a:r>
                        <a:rPr sz="700" b="0" i="0">
                          <a:solidFill>
                            <a:srgbClr val="000000"/>
                          </a:solidFill>
                          <a:latin typeface="Times New Roman"/>
                        </a:rPr>
                        <a:t>   </a:t>
                      </a:r>
                      <a:r>
                        <a:rPr sz="1100" b="0" i="0">
                          <a:solidFill>
                            <a:srgbClr val="000000"/>
                          </a:solidFill>
                          <a:latin typeface="Calibri"/>
                        </a:rPr>
                        <a:t>Orchids</a:t>
                      </a:r>
                      <a:endParaRPr sz="1100"/>
                    </a:p>
                  </a:txBody>
                  <a:tcPr marL="771525" marR="9525" marT="9525" marB="0" anchor="ctr"/>
                </a:tc>
              </a:tr>
              <a:tr h="175260">
                <a:tc>
                  <a:txBody>
                    <a:bodyPr wrap="square"/>
                    <a:lstStyle/>
                    <a:p>
                      <a:pPr algn="l"/>
                      <a:r>
                        <a:rPr sz="1100" b="0" i="0">
                          <a:solidFill>
                            <a:srgbClr val="000000"/>
                          </a:solidFill>
                          <a:latin typeface="Calibri"/>
                        </a:rPr>
                        <a:t>4.5.9.</a:t>
                      </a:r>
                      <a:r>
                        <a:rPr sz="700" b="0" i="0">
                          <a:solidFill>
                            <a:srgbClr val="000000"/>
                          </a:solidFill>
                          <a:latin typeface="Times New Roman"/>
                        </a:rPr>
                        <a:t>   </a:t>
                      </a:r>
                      <a:r>
                        <a:rPr sz="1100" b="0" i="0">
                          <a:solidFill>
                            <a:srgbClr val="000000"/>
                          </a:solidFill>
                          <a:latin typeface="Calibri"/>
                        </a:rPr>
                        <a:t>Tulips</a:t>
                      </a:r>
                      <a:endParaRPr sz="1100"/>
                    </a:p>
                  </a:txBody>
                  <a:tcPr marL="771525" marR="9525" marT="9525" marB="0" anchor="ctr"/>
                </a:tc>
              </a:tr>
              <a:tr h="175260">
                <a:tc>
                  <a:txBody>
                    <a:bodyPr wrap="square"/>
                    <a:lstStyle/>
                    <a:p>
                      <a:pPr algn="l"/>
                      <a:r>
                        <a:rPr sz="1100" b="0" i="0">
                          <a:solidFill>
                            <a:srgbClr val="000000"/>
                          </a:solidFill>
                          <a:latin typeface="Calibri"/>
                        </a:rPr>
                        <a:t>4.5.10.</a:t>
                      </a:r>
                      <a:r>
                        <a:rPr sz="700" b="0" i="0">
                          <a:solidFill>
                            <a:srgbClr val="000000"/>
                          </a:solidFill>
                          <a:latin typeface="Times New Roman"/>
                        </a:rPr>
                        <a:t> </a:t>
                      </a:r>
                      <a:r>
                        <a:rPr sz="1100" b="0" i="0">
                          <a:solidFill>
                            <a:srgbClr val="000000"/>
                          </a:solidFill>
                          <a:latin typeface="Calibri"/>
                        </a:rPr>
                        <a:t>Lisianthus</a:t>
                      </a:r>
                      <a:endParaRPr sz="1100"/>
                    </a:p>
                  </a:txBody>
                  <a:tcPr marL="771525" marR="9525" marT="9525" marB="0" anchor="ctr"/>
                </a:tc>
              </a:tr>
              <a:tr h="175260">
                <a:tc>
                  <a:txBody>
                    <a:bodyPr wrap="square"/>
                    <a:lstStyle/>
                    <a:p>
                      <a:pPr algn="l"/>
                      <a:r>
                        <a:rPr sz="1100" b="0" i="0">
                          <a:solidFill>
                            <a:srgbClr val="000000"/>
                          </a:solidFill>
                          <a:latin typeface="Calibri"/>
                        </a:rPr>
                        <a:t>4.5.11.</a:t>
                      </a:r>
                      <a:r>
                        <a:rPr sz="700" b="0" i="0">
                          <a:solidFill>
                            <a:srgbClr val="000000"/>
                          </a:solidFill>
                          <a:latin typeface="Times New Roman"/>
                        </a:rPr>
                        <a:t> </a:t>
                      </a:r>
                      <a:r>
                        <a:rPr sz="1100" b="0" i="0">
                          <a:solidFill>
                            <a:srgbClr val="000000"/>
                          </a:solidFill>
                          <a:latin typeface="Calibri"/>
                        </a:rPr>
                        <a:t>Peonies</a:t>
                      </a:r>
                      <a:endParaRPr sz="1100"/>
                    </a:p>
                  </a:txBody>
                  <a:tcPr marL="771525" marR="9525" marT="9525" marB="0" anchor="ctr"/>
                </a:tc>
              </a:tr>
              <a:tr h="175260">
                <a:tc>
                  <a:txBody>
                    <a:bodyPr wrap="square"/>
                    <a:lstStyle/>
                    <a:p>
                      <a:pPr algn="l"/>
                      <a:r>
                        <a:rPr sz="1100" b="0" i="0">
                          <a:solidFill>
                            <a:srgbClr val="000000"/>
                          </a:solidFill>
                          <a:latin typeface="Calibri"/>
                        </a:rPr>
                        <a:t>4.5.12.</a:t>
                      </a:r>
                      <a:r>
                        <a:rPr sz="700" b="0" i="0">
                          <a:solidFill>
                            <a:srgbClr val="000000"/>
                          </a:solidFill>
                          <a:latin typeface="Times New Roman"/>
                        </a:rPr>
                        <a:t> </a:t>
                      </a:r>
                      <a:r>
                        <a:rPr sz="1100" b="0" i="0">
                          <a:solidFill>
                            <a:srgbClr val="000000"/>
                          </a:solidFill>
                          <a:latin typeface="Calibri"/>
                        </a:rPr>
                        <a:t>Others (Gypsophila, Sunflowers, Anthuriums, Gladiolus, Freesias, etc.)</a:t>
                      </a:r>
                      <a:endParaRPr sz="1100"/>
                    </a:p>
                  </a:txBody>
                  <a:tcPr marL="7715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Cultivation Method</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35052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Protected Cultivation (Greenhouses, Polyhouses, Shade Houses &amp; Other Covered Systems)</a:t>
                      </a:r>
                      <a:endParaRPr sz="1100"/>
                    </a:p>
                  </a:txBody>
                  <a:tcPr marL="771525"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Open-Field Cultivation</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Distribution Channel</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Direct Sales to Commercial &amp; Institutional Buyers</a:t>
                      </a:r>
                      <a:endParaRPr sz="1100"/>
                    </a:p>
                  </a:txBody>
                  <a:tcPr marL="771525"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Florists &amp; Specialty Flower Shops</a:t>
                      </a:r>
                      <a:endParaRPr sz="1100"/>
                    </a:p>
                  </a:txBody>
                  <a:tcPr marL="771525"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Supermarkets &amp; Hypermarkets</a:t>
                      </a:r>
                      <a:endParaRPr sz="1100"/>
                    </a:p>
                  </a:txBody>
                  <a:tcPr marL="771525" marR="9525" marT="9525" marB="0" anchor="ctr"/>
                </a:tc>
              </a:tr>
              <a:tr h="175260">
                <a:tc>
                  <a:txBody>
                    <a:bodyPr wrap="square"/>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Garden Centers &amp; Plant Nurseries</a:t>
                      </a:r>
                      <a:endParaRPr sz="1100"/>
                    </a:p>
                  </a:txBody>
                  <a:tcPr marL="771525" marR="9525" marT="9525" marB="0" anchor="ctr"/>
                </a:tc>
              </a:tr>
              <a:tr h="175260">
                <a:tc>
                  <a:txBody>
                    <a:bodyPr wrap="square"/>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Online / E-commerce</a:t>
                      </a:r>
                      <a:endParaRPr sz="1100"/>
                    </a:p>
                  </a:txBody>
                  <a:tcPr marL="771525" marR="9525" marT="9525" marB="0" anchor="ctr"/>
                </a:tc>
              </a:tr>
              <a:tr h="175260">
                <a:tc>
                  <a:txBody>
                    <a:bodyPr wrap="square"/>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Other Retail Channels</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End Use</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Personal Gifting &amp; Celebrations</a:t>
                      </a:r>
                      <a:endParaRPr sz="1100"/>
                    </a:p>
                  </a:txBody>
                  <a:tcPr marL="771525" marR="9525" marT="9525" marB="0" anchor="ctr"/>
                </a:tc>
              </a:tr>
              <a:tr h="175260">
                <a:tc>
                  <a:txBody>
                    <a:bodyPr wrap="square"/>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Residential &amp; Home Decoration</a:t>
                      </a:r>
                      <a:endParaRPr sz="1100"/>
                    </a:p>
                  </a:txBody>
                  <a:tcPr marL="771525" marR="9525" marT="9525" marB="0" anchor="ctr"/>
                </a:tc>
              </a:tr>
              <a:tr h="175260">
                <a:tc>
                  <a:txBody>
                    <a:bodyPr wrap="square"/>
                    <a:lstStyle/>
                    <a:p>
                      <a:pPr algn="l"/>
                      <a:r>
                        <a:rPr sz="1100" b="0" i="0">
                          <a:solidFill>
                            <a:srgbClr val="000000"/>
                          </a:solidFill>
                          <a:latin typeface="Calibri"/>
                        </a:rPr>
                        <a:t>7.5.3.</a:t>
                      </a:r>
                      <a:r>
                        <a:rPr sz="700" b="0" i="0">
                          <a:solidFill>
                            <a:srgbClr val="000000"/>
                          </a:solidFill>
                          <a:latin typeface="Times New Roman"/>
                        </a:rPr>
                        <a:t>   </a:t>
                      </a:r>
                      <a:r>
                        <a:rPr sz="1100" b="0" i="0">
                          <a:solidFill>
                            <a:srgbClr val="000000"/>
                          </a:solidFill>
                          <a:latin typeface="Calibri"/>
                        </a:rPr>
                        <a:t>Weddings &amp; Special Events</a:t>
                      </a:r>
                      <a:endParaRPr sz="1100"/>
                    </a:p>
                  </a:txBody>
                  <a:tcPr marL="771525" marR="9525" marT="9525" marB="0" anchor="ctr"/>
                </a:tc>
              </a:tr>
              <a:tr h="175260">
                <a:tc>
                  <a:txBody>
                    <a:bodyPr wrap="square"/>
                    <a:lstStyle/>
                    <a:p>
                      <a:pPr algn="l"/>
                      <a:r>
                        <a:rPr sz="1100" b="0" i="0">
                          <a:solidFill>
                            <a:srgbClr val="000000"/>
                          </a:solidFill>
                          <a:latin typeface="Calibri"/>
                        </a:rPr>
                        <a:t>7.5.4.</a:t>
                      </a:r>
                      <a:r>
                        <a:rPr sz="700" b="0" i="0">
                          <a:solidFill>
                            <a:srgbClr val="000000"/>
                          </a:solidFill>
                          <a:latin typeface="Times New Roman"/>
                        </a:rPr>
                        <a:t>   </a:t>
                      </a:r>
                      <a:r>
                        <a:rPr sz="1100" b="0" i="0">
                          <a:solidFill>
                            <a:srgbClr val="000000"/>
                          </a:solidFill>
                          <a:latin typeface="Calibri"/>
                        </a:rPr>
                        <a:t>Hospitality &amp; Commercial Decoration</a:t>
                      </a:r>
                      <a:endParaRPr sz="1100"/>
                    </a:p>
                  </a:txBody>
                  <a:tcPr marL="771525" marR="9525" marT="9525" marB="0" anchor="ctr"/>
                </a:tc>
              </a:tr>
              <a:tr h="175260">
                <a:tc>
                  <a:txBody>
                    <a:bodyPr wrap="square"/>
                    <a:lstStyle/>
                    <a:p>
                      <a:pPr algn="l"/>
                      <a:r>
                        <a:rPr sz="1100" b="0" i="0">
                          <a:solidFill>
                            <a:srgbClr val="000000"/>
                          </a:solidFill>
                          <a:latin typeface="Calibri"/>
                        </a:rPr>
                        <a:t>7.5.5.</a:t>
                      </a:r>
                      <a:r>
                        <a:rPr sz="700" b="0" i="0">
                          <a:solidFill>
                            <a:srgbClr val="000000"/>
                          </a:solidFill>
                          <a:latin typeface="Times New Roman"/>
                        </a:rPr>
                        <a:t>   </a:t>
                      </a:r>
                      <a:r>
                        <a:rPr sz="1100" b="0" i="0">
                          <a:solidFill>
                            <a:srgbClr val="000000"/>
                          </a:solidFill>
                          <a:latin typeface="Calibri"/>
                        </a:rPr>
                        <a:t>Funeral &amp; Memorial Services</a:t>
                      </a:r>
                      <a:endParaRPr sz="1100"/>
                    </a:p>
                  </a:txBody>
                  <a:tcPr marL="771525" marR="9525" marT="9525" marB="0" anchor="ctr"/>
                </a:tc>
              </a:tr>
              <a:tr h="175260">
                <a:tc>
                  <a:txBody>
                    <a:bodyPr wrap="square"/>
                    <a:lstStyle/>
                    <a:p>
                      <a:pPr algn="l"/>
                      <a:r>
                        <a:rPr sz="1100" b="0" i="0">
                          <a:solidFill>
                            <a:srgbClr val="000000"/>
                          </a:solidFill>
                          <a:latin typeface="Calibri"/>
                        </a:rPr>
                        <a:t>7.5.6.</a:t>
                      </a:r>
                      <a:r>
                        <a:rPr sz="700" b="0" i="0">
                          <a:solidFill>
                            <a:srgbClr val="000000"/>
                          </a:solidFill>
                          <a:latin typeface="Times New Roman"/>
                        </a:rPr>
                        <a:t>   </a:t>
                      </a:r>
                      <a:r>
                        <a:rPr sz="1100" b="0" i="0">
                          <a:solidFill>
                            <a:srgbClr val="000000"/>
                          </a:solidFill>
                          <a:latin typeface="Calibri"/>
                        </a:rPr>
                        <a:t>Landscaping &amp; Gardening</a:t>
                      </a:r>
                      <a:endParaRPr sz="1100"/>
                    </a:p>
                  </a:txBody>
                  <a:tcPr marL="771525" marR="9525" marT="9525" marB="0" anchor="ctr"/>
                </a:tc>
              </a:tr>
              <a:tr h="175260">
                <a:tc>
                  <a:txBody>
                    <a:bodyPr wrap="square"/>
                    <a:lstStyle/>
                    <a:p>
                      <a:pPr algn="l"/>
                      <a:r>
                        <a:rPr sz="1100" b="0" i="0">
                          <a:solidFill>
                            <a:srgbClr val="000000"/>
                          </a:solidFill>
                          <a:latin typeface="Calibri"/>
                        </a:rPr>
                        <a:t>7.5.7.</a:t>
                      </a:r>
                      <a:r>
                        <a:rPr sz="700" b="0" i="0">
                          <a:solidFill>
                            <a:srgbClr val="000000"/>
                          </a:solidFill>
                          <a:latin typeface="Times New Roman"/>
                        </a:rPr>
                        <a:t>   </a:t>
                      </a:r>
                      <a:r>
                        <a:rPr sz="1100" b="0" i="0">
                          <a:solidFill>
                            <a:srgbClr val="000000"/>
                          </a:solidFill>
                          <a:latin typeface="Calibri"/>
                        </a:rPr>
                        <a:t>Other Institutional Applications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8.5.1.1.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8.5.1.2.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8.5.2.1.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8.5.2.2.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8.5.2.3.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8.5.3.1.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8.5.3.2.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8.5.3.3.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8.5.4.1.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8.5.4.2.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8.5.4.3.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8.5.4.4.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8.5.4.5.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8.5.4.6.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8.5.4.7.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8.5.4.8.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8.5.4.9.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8.5.5.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8.5.5.1.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8.5.5.2.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8.5.5.3.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8.5.5.4.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8.5.5.5.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8.5.5.6.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8.5.5.7.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8.5.5.8.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8.5.5.9.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8.5.5.10.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8.5.5.11.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8.5.5.12.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8.5.6.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8.5.6.1.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8.5.6.2.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8.5.6.3.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8.5.6.4.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8.5.6.5.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8.5.6.6.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8.5.6.7.</a:t>
                      </a:r>
                      <a:r>
                        <a:rPr sz="700" b="0" i="1">
                          <a:solidFill>
                            <a:srgbClr val="000000"/>
                          </a:solidFill>
                          <a:latin typeface="Times New Roman"/>
                        </a:rPr>
                        <a:t>    </a:t>
                      </a:r>
                      <a:r>
                        <a:rPr sz="1100" b="0" i="1">
                          <a:solidFill>
                            <a:srgbClr val="000000"/>
                          </a:solidFill>
                          <a:latin typeface="Calibri"/>
                        </a:rPr>
                        <a:t>Rest of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 MT)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Product Type X Cultivation Method</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Product Type X Flower Species</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By Flower Species</a:t>
                      </a:r>
                      <a:endParaRPr sz="1100"/>
                    </a:p>
                  </a:txBody>
                  <a:tcPr marL="771525" marR="9525" marT="9525" marB="0" anchor="ctr"/>
                </a:tc>
              </a:tr>
              <a:tr h="175260">
                <a:tc>
                  <a:txBody>
                    <a:bodyPr wrap="square"/>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By Cultivation Method</a:t>
                      </a:r>
                      <a:endParaRPr sz="1100"/>
                    </a:p>
                  </a:txBody>
                  <a:tcPr marL="771525" marR="9525" marT="9525" marB="0" anchor="ctr"/>
                </a:tc>
              </a:tr>
              <a:tr h="175260">
                <a:tc>
                  <a:txBody>
                    <a:bodyPr wrap="square"/>
                    <a:lstStyle/>
                    <a:p>
                      <a:pPr algn="l"/>
                      <a:r>
                        <a:rPr sz="1100" b="0" i="0">
                          <a:solidFill>
                            <a:srgbClr val="000000"/>
                          </a:solidFill>
                          <a:latin typeface="Calibri"/>
                        </a:rPr>
                        <a:t>10.4.4.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10.4.5.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10.4.6.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Flower Species</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Cultivation Method</a:t>
                      </a:r>
                      <a:endParaRPr sz="1100"/>
                    </a:p>
                  </a:txBody>
                  <a:tcPr marL="771525" marR="9525" marT="9525" marB="0" anchor="ctr"/>
                </a:tc>
              </a:tr>
              <a:tr h="175260">
                <a:tc>
                  <a:txBody>
                    <a:bodyPr wrap="square"/>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11.4.5.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11.4.6.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Flower Species</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Cultivation Method</a:t>
                      </a:r>
                      <a:endParaRPr sz="1100"/>
                    </a:p>
                  </a:txBody>
                  <a:tcPr marL="771525" marR="9525" marT="9525" marB="0" anchor="ctr"/>
                </a:tc>
              </a:tr>
              <a:tr h="175260">
                <a:tc>
                  <a:txBody>
                    <a:bodyPr wrap="square"/>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12.4.5.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12.4.6.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Flower Species</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Cultivation Method</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Flower Species</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Cultivation Method</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Product Type</a:t>
                      </a:r>
                      <a:endParaRPr sz="1100"/>
                    </a:p>
                  </a:txBody>
                  <a:tcPr marL="771525"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Flower Species</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Cultivation Method</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Distribution Channel</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16.1.1.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16.1.2.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16.1.3.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tr>
              <a:tr h="35052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Global and Country-Level Flower Price Trends by Species and Product Type (USD/stem; USD/bunch; USD/plant)</a:t>
                      </a:r>
                      <a:endParaRPr sz="1100"/>
                    </a:p>
                  </a:txBody>
                  <a:tcPr marL="4286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Seasonal Price Fluctuations by Species, Producing Region and Month (USD/stem; %)</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Protected vs Open-Field Cultivation Price Premium by Species and Country (%)</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Historical Price Trends and Forecast Price Realization by Species and Destination Market (2020–2036; CAGR; Y-o-Y Growth)</a:t>
                      </a:r>
                      <a:endParaRPr sz="1100"/>
                    </a:p>
                  </a:txBody>
                  <a:tcPr marL="4286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17.1.1.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17.1.2.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r h="175260">
                <a:tc>
                  <a:txBody>
                    <a:bodyPr wrap="square"/>
                    <a:lstStyle/>
                    <a:p>
                      <a:pPr algn="l"/>
                      <a:r>
                        <a:rPr sz="1100" b="0" i="0">
                          <a:solidFill>
                            <a:srgbClr val="000000"/>
                          </a:solidFill>
                          <a:latin typeface="Calibri"/>
                        </a:rPr>
                        <a:t>17.1.3.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18.1.1.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tr>
              <a:tr h="175260">
                <a:tc>
                  <a:txBody>
                    <a:bodyPr wrap="square"/>
                    <a:lstStyle/>
                    <a:p>
                      <a:pPr algn="l"/>
                      <a:r>
                        <a:rPr sz="1100" b="0" i="0">
                          <a:solidFill>
                            <a:srgbClr val="000000"/>
                          </a:solidFill>
                          <a:latin typeface="Calibri"/>
                        </a:rPr>
                        <a:t>18.1.2.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tr>
              <a:tr h="175260">
                <a:tc>
                  <a:txBody>
                    <a:bodyPr wrap="square"/>
                    <a:lstStyle/>
                    <a:p>
                      <a:pPr algn="l"/>
                      <a:r>
                        <a:rPr sz="1100" b="0" i="0">
                          <a:solidFill>
                            <a:srgbClr val="000000"/>
                          </a:solidFill>
                          <a:latin typeface="Calibri"/>
                        </a:rPr>
                        <a:t>18.1.3.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18.2.1.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18.2.2.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18.2.3.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18.9.</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Certifications and Certifying Agency Overview</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Import/Export Policies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Formula Requirements</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Standards as per institutions</a:t>
                      </a:r>
                      <a:endParaRPr sz="1100"/>
                    </a:p>
                  </a:txBody>
                  <a:tcPr marL="428625" marR="9525" marT="9525" marB="0" anchor="ctr"/>
                </a:tc>
              </a:tr>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FDA</a:t>
                      </a:r>
                      <a:endParaRPr sz="1100"/>
                    </a:p>
                  </a:txBody>
                  <a:tcPr marL="771525"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USDA</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FASSAI</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EU Commissions</a:t>
                      </a:r>
                      <a:endParaRPr sz="1100"/>
                    </a:p>
                  </a:txBody>
                  <a:tcPr marL="771525" marR="9525" marT="9525" marB="0" anchor="ctr"/>
                </a:tc>
              </a:tr>
              <a:tr h="175260">
                <a:tc>
                  <a:txBody>
                    <a:bodyPr wrap="square"/>
                    <a:lstStyle/>
                    <a:p>
                      <a:pPr algn="l"/>
                      <a:r>
                        <a:rPr sz="1100" b="1" i="0">
                          <a:solidFill>
                            <a:srgbClr val="000000"/>
                          </a:solidFill>
                          <a:latin typeface="Calibri"/>
                        </a:rPr>
                        <a:t>Section 5: Production and Trade Outlook</a:t>
                      </a:r>
                      <a:endParaRPr sz="1100"/>
                    </a:p>
                  </a:txBody>
                  <a:tcPr marL="95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r h="35052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Global Flower Production Volume by Country, Species and Cultivation System (Million Stems; MT)</a:t>
                      </a:r>
                      <a:endParaRPr sz="1100"/>
                    </a:p>
                  </a:txBody>
                  <a:tcPr marL="428625" marR="9525" marT="9525" marB="0" anchor="ctr"/>
                </a:tc>
              </a:tr>
              <a:tr h="35052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Harvested Area and Yield by Species and Producing Country (Hectares; Stems/ha/year)</a:t>
                      </a:r>
                      <a:endParaRPr sz="1100"/>
                    </a:p>
                  </a:txBody>
                  <a:tcPr marL="4286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Production Output Split by Protected Cultivation and Open-Field Farming (%)</a:t>
                      </a:r>
                      <a:endParaRPr sz="1100"/>
                    </a:p>
                  </a:txBody>
                  <a:tcPr marL="428625" marR="9525" marT="9525" marB="0" anchor="ctr"/>
                </a:tc>
              </a:tr>
              <a:tr h="35052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Global Import and Export Volume and Value by Country (MT; Million Stems; USD Million)</a:t>
                      </a:r>
                      <a:endParaRPr sz="1100"/>
                    </a:p>
                  </a:txBody>
                  <a:tcPr marL="428625" marR="9525" marT="9525" marB="0" anchor="ctr"/>
                </a:tc>
              </a:tr>
              <a:tr h="35052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Export Unit Value and Import Price Benchmarking by Country and Destination Market (USD/kg; USD/stem)</a:t>
                      </a:r>
                      <a:endParaRPr sz="1100"/>
                    </a:p>
                  </a:txBody>
                  <a:tcPr marL="428625" marR="9525" marT="9525" marB="0" anchor="ctr"/>
                </a:tc>
              </a:tr>
              <a:tr h="35052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Trade Flow Matrix by Origin Country, Destination Country and Flower Species (Volume; Value; Share %)</a:t>
                      </a:r>
                      <a:endParaRPr sz="1100"/>
                    </a:p>
                  </a:txBody>
                  <a:tcPr marL="428625" marR="9525" marT="9525" marB="0" anchor="ctr"/>
                </a:tc>
              </a:tr>
              <a:tr h="35052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Domestic Consumption, Export Allocation and Post-Harvest Losses by Producing Country (%)</a:t>
                      </a:r>
                      <a:endParaRPr sz="1100"/>
                    </a:p>
                  </a:txBody>
                  <a:tcPr marL="428625" marR="9525" marT="9525" marB="0" anchor="ctr"/>
                </a:tc>
              </a:tr>
              <a:tr h="350520">
                <a:tc>
                  <a:txBody>
                    <a:bodyPr wrap="square"/>
                    <a:lstStyle/>
                    <a:p>
                      <a:pPr algn="l"/>
                      <a:r>
                        <a:rPr sz="1100" b="0" i="0">
                          <a:solidFill>
                            <a:srgbClr val="0070C0"/>
                          </a:solidFill>
                          <a:latin typeface="Calibri"/>
                        </a:rPr>
                        <a:t>20.8.</a:t>
                      </a:r>
                      <a:r>
                        <a:rPr sz="700" b="0" i="0">
                          <a:solidFill>
                            <a:srgbClr val="0070C0"/>
                          </a:solidFill>
                          <a:latin typeface="Times New Roman"/>
                        </a:rPr>
                        <a:t>  </a:t>
                      </a:r>
                      <a:r>
                        <a:rPr sz="1100" b="0" i="0">
                          <a:solidFill>
                            <a:srgbClr val="0070C0"/>
                          </a:solidFill>
                          <a:latin typeface="Calibri"/>
                        </a:rPr>
                        <a:t>Historical Production and Trade Trends with Forecasts by Major Country (2020–2036; CAGR; Y-o-Y Growth)</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Export Market Attractiveness and Destination Market Prioritization</a:t>
                      </a:r>
                      <a:endParaRPr sz="1100"/>
                    </a:p>
                  </a:txBody>
                  <a:tcPr marL="171450" marR="9525" marT="9525" marB="0" anchor="ctr"/>
                </a:tc>
              </a:tr>
              <a:tr h="35052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Import Market Size and Growth by Destination Country and Flower Species (USD Million; Million Stems)</a:t>
                      </a:r>
                      <a:endParaRPr sz="1100"/>
                    </a:p>
                  </a:txBody>
                  <a:tcPr marL="428625" marR="9525" marT="9525" marB="0" anchor="ctr"/>
                </a:tc>
              </a:tr>
              <a:tr h="35052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Import Unit Value and Price Premium by Species, Grade and Origin Country (USD/stem; USD/kg)</a:t>
                      </a:r>
                      <a:endParaRPr sz="1100"/>
                    </a:p>
                  </a:txBody>
                  <a:tcPr marL="4286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Destination Market Import Dependence and Supplier Concentration by Species (%)</a:t>
                      </a:r>
                      <a:endParaRPr sz="1100"/>
                    </a:p>
                  </a:txBody>
                  <a:tcPr marL="428625" marR="9525" marT="9525" marB="0" anchor="ctr"/>
                </a:tc>
              </a:tr>
              <a:tr h="175260">
                <a:tc>
                  <a:txBody>
                    <a:bodyPr wrap="square"/>
                    <a:lstStyle/>
                    <a:p>
                      <a:pPr algn="l"/>
                      <a:endParaRPr sz="110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Export Market Access by Country: Tariffs, Phytosanitary Requirements and Certification</a:t>
                      </a:r>
                      <a:endParaRPr sz="1100"/>
                    </a:p>
                  </a:txBody>
                  <a:tcPr marL="428625" marR="9525" marT="9525" marB="0" anchor="ctr"/>
                </a:tc>
              </a:tr>
              <a:tr h="35052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Destination Market Attractiveness by Demand Growth, Price Realization and Competitive Intensity</a:t>
                      </a:r>
                      <a:endParaRPr sz="1100"/>
                    </a:p>
                  </a:txBody>
                  <a:tcPr marL="428625" marR="9525" marT="9525" marB="0" anchor="ctr"/>
                </a:tc>
              </a:tr>
              <a:tr h="35052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Export Opportunity Ranking by Country and Species (Absolute Dollar Opportunity; CAGR; Import Volume Gap)</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22.1.1.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22.1.2.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22.3.1.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22.3.2.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tr>
              <a:tr h="175260">
                <a:tc>
                  <a:txBody>
                    <a:bodyPr wrap="square"/>
                    <a:lstStyle/>
                    <a:p>
                      <a:pPr algn="l"/>
                      <a:r>
                        <a:rPr sz="1100" b="0" i="0">
                          <a:solidFill>
                            <a:srgbClr val="000000"/>
                          </a:solidFill>
                          <a:latin typeface="Calibri"/>
                        </a:rPr>
                        <a:t>22.3.3.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6: Technology Shifts — Future-Oriented Trends</a:t>
                      </a:r>
                      <a:endParaRPr sz="1100"/>
                    </a:p>
                  </a:txBody>
                  <a:tcPr marL="9525" marR="9525" marT="9525" marB="0" anchor="ctr"/>
                </a:tc>
              </a:tr>
              <a:tr h="175260">
                <a:tc>
                  <a:txBody>
                    <a:bodyPr wrap="square"/>
                    <a:lstStyle/>
                    <a:p>
                      <a:pPr algn="l"/>
                      <a:r>
                        <a:rPr sz="1100" b="1" i="0">
                          <a:solidFill>
                            <a:srgbClr val="EE0000"/>
                          </a:solidFill>
                          <a:latin typeface="Calibri"/>
                        </a:rPr>
                        <a:t>ADD this only if technology is relevant</a:t>
                      </a:r>
                      <a:endParaRPr sz="1100"/>
                    </a:p>
                  </a:txBody>
                  <a:tcPr marL="95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Emerging &amp; Deployable Technologies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XXXXX</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Technology Adoption Shifts- By Each technology</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Technology Overview (short intro, deployable stage)</a:t>
                      </a:r>
                      <a:endParaRPr sz="1100"/>
                    </a:p>
                  </a:txBody>
                  <a:tcPr marL="4286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Maturity Level (Early-stage, Emerging, Scaling, Mature)</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Scenario Forecasts</a:t>
                      </a:r>
                      <a:endParaRPr sz="1100"/>
                    </a:p>
                  </a:txBody>
                  <a:tcPr marL="428625" marR="9525" marT="9525" marB="0" anchor="ctr"/>
                </a:tc>
              </a:tr>
              <a:tr h="175260">
                <a:tc>
                  <a:txBody>
                    <a:bodyPr wrap="square"/>
                    <a:lstStyle/>
                    <a:p>
                      <a:pPr algn="l"/>
                      <a:r>
                        <a:rPr sz="1100" b="0" i="0">
                          <a:solidFill>
                            <a:srgbClr val="000000"/>
                          </a:solidFill>
                          <a:latin typeface="Calibri"/>
                        </a:rPr>
                        <a:t>24.3.1.</a:t>
                      </a:r>
                      <a:r>
                        <a:rPr sz="700" b="0" i="0">
                          <a:solidFill>
                            <a:srgbClr val="000000"/>
                          </a:solidFill>
                          <a:latin typeface="Times New Roman"/>
                        </a:rPr>
                        <a:t> </a:t>
                      </a:r>
                      <a:r>
                        <a:rPr sz="1100" b="0" i="0">
                          <a:solidFill>
                            <a:srgbClr val="000000"/>
                          </a:solidFill>
                          <a:latin typeface="Calibri"/>
                        </a:rPr>
                        <a:t>Likely Scenario (base case adoption curve)</a:t>
                      </a:r>
                      <a:endParaRPr sz="1100"/>
                    </a:p>
                  </a:txBody>
                  <a:tcPr marL="771525" marR="9525" marT="9525" marB="0" anchor="ctr"/>
                </a:tc>
              </a:tr>
              <a:tr h="175260">
                <a:tc>
                  <a:txBody>
                    <a:bodyPr wrap="square"/>
                    <a:lstStyle/>
                    <a:p>
                      <a:pPr algn="l"/>
                      <a:r>
                        <a:rPr sz="1100" b="0" i="0">
                          <a:solidFill>
                            <a:srgbClr val="000000"/>
                          </a:solidFill>
                          <a:latin typeface="Calibri"/>
                        </a:rPr>
                        <a:t>24.3.2.</a:t>
                      </a:r>
                      <a:r>
                        <a:rPr sz="700" b="0" i="0">
                          <a:solidFill>
                            <a:srgbClr val="000000"/>
                          </a:solidFill>
                          <a:latin typeface="Times New Roman"/>
                        </a:rPr>
                        <a:t> </a:t>
                      </a:r>
                      <a:r>
                        <a:rPr sz="1100" b="0" i="0">
                          <a:solidFill>
                            <a:srgbClr val="000000"/>
                          </a:solidFill>
                          <a:latin typeface="Calibri"/>
                        </a:rPr>
                        <a:t>Optimistic Scenario (faster adoption, higher incentives, stronger ROI)</a:t>
                      </a:r>
                      <a:endParaRPr sz="1100"/>
                    </a:p>
                  </a:txBody>
                  <a:tcPr marL="771525" marR="9525" marT="9525" marB="0" anchor="ctr"/>
                </a:tc>
              </a:tr>
              <a:tr h="175260">
                <a:tc>
                  <a:txBody>
                    <a:bodyPr wrap="square"/>
                    <a:lstStyle/>
                    <a:p>
                      <a:pPr algn="l"/>
                      <a:r>
                        <a:rPr sz="1100" b="0" i="0">
                          <a:solidFill>
                            <a:srgbClr val="000000"/>
                          </a:solidFill>
                          <a:latin typeface="Calibri"/>
                        </a:rPr>
                        <a:t>24.3.3.</a:t>
                      </a:r>
                      <a:r>
                        <a:rPr sz="700" b="0" i="0">
                          <a:solidFill>
                            <a:srgbClr val="000000"/>
                          </a:solidFill>
                          <a:latin typeface="Times New Roman"/>
                        </a:rPr>
                        <a:t> </a:t>
                      </a:r>
                      <a:r>
                        <a:rPr sz="1100" b="0" i="0">
                          <a:solidFill>
                            <a:srgbClr val="000000"/>
                          </a:solidFill>
                          <a:latin typeface="Calibri"/>
                        </a:rPr>
                        <a:t>Scenario Forecast Factors &amp; Weightages</a:t>
                      </a:r>
                      <a:endParaRPr sz="1100"/>
                    </a:p>
                  </a:txBody>
                  <a:tcPr marL="771525" marR="9525" marT="9525" marB="0" anchor="ctr"/>
                </a:tc>
              </a:tr>
              <a:tr h="175260">
                <a:tc>
                  <a:txBody>
                    <a:bodyPr wrap="square"/>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Expected Shift Timeline</a:t>
                      </a:r>
                      <a:endParaRPr sz="1100"/>
                    </a:p>
                  </a:txBody>
                  <a:tcPr marL="428625" marR="9525" marT="9525" marB="0" anchor="ctr"/>
                </a:tc>
              </a:tr>
              <a:tr h="175260">
                <a:tc>
                  <a:txBody>
                    <a:bodyPr wrap="square"/>
                    <a:lstStyle/>
                    <a:p>
                      <a:pPr algn="l"/>
                      <a:r>
                        <a:rPr sz="1100" b="0" i="0">
                          <a:solidFill>
                            <a:srgbClr val="000000"/>
                          </a:solidFill>
                          <a:latin typeface="Calibri"/>
                        </a:rPr>
                        <a:t>24.4.1.</a:t>
                      </a:r>
                      <a:r>
                        <a:rPr sz="700" b="0" i="0">
                          <a:solidFill>
                            <a:srgbClr val="000000"/>
                          </a:solidFill>
                          <a:latin typeface="Times New Roman"/>
                        </a:rPr>
                        <a:t> </a:t>
                      </a:r>
                      <a:r>
                        <a:rPr sz="1100" b="0" i="0">
                          <a:solidFill>
                            <a:srgbClr val="000000"/>
                          </a:solidFill>
                          <a:latin typeface="Calibri"/>
                        </a:rPr>
                        <a:t>Short-Term (0–3 years)</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24.4.2.</a:t>
                      </a:r>
                      <a:r>
                        <a:rPr sz="700" b="0" i="0">
                          <a:solidFill>
                            <a:srgbClr val="000000"/>
                          </a:solidFill>
                          <a:latin typeface="Times New Roman"/>
                        </a:rPr>
                        <a:t> </a:t>
                      </a:r>
                      <a:r>
                        <a:rPr sz="1100" b="0" i="0">
                          <a:solidFill>
                            <a:srgbClr val="000000"/>
                          </a:solidFill>
                          <a:latin typeface="Calibri"/>
                        </a:rPr>
                        <a:t>Mid-Term (3–7 years)</a:t>
                      </a:r>
                      <a:endParaRPr sz="1100"/>
                    </a:p>
                  </a:txBody>
                  <a:tcPr marL="771525" marR="9525" marT="9525" marB="0" anchor="ctr"/>
                </a:tc>
              </a:tr>
              <a:tr h="175260">
                <a:tc>
                  <a:txBody>
                    <a:bodyPr wrap="square"/>
                    <a:lstStyle/>
                    <a:p>
                      <a:pPr algn="l"/>
                      <a:r>
                        <a:rPr sz="1100" b="0" i="0">
                          <a:solidFill>
                            <a:srgbClr val="000000"/>
                          </a:solidFill>
                          <a:latin typeface="Calibri"/>
                        </a:rPr>
                        <a:t>24.4.3.</a:t>
                      </a:r>
                      <a:r>
                        <a:rPr sz="700" b="0" i="0">
                          <a:solidFill>
                            <a:srgbClr val="000000"/>
                          </a:solidFill>
                          <a:latin typeface="Times New Roman"/>
                        </a:rPr>
                        <a:t> </a:t>
                      </a:r>
                      <a:r>
                        <a:rPr sz="1100" b="0" i="0">
                          <a:solidFill>
                            <a:srgbClr val="000000"/>
                          </a:solidFill>
                          <a:latin typeface="Calibri"/>
                        </a:rPr>
                        <a:t>Long-Term (7+ years)</a:t>
                      </a:r>
                      <a:endParaRPr sz="1100"/>
                    </a:p>
                  </a:txBody>
                  <a:tcPr marL="771525" marR="9525" marT="9525" marB="0" anchor="ctr"/>
                </a:tc>
              </a:tr>
              <a:tr h="175260">
                <a:tc>
                  <a:txBody>
                    <a:bodyPr wrap="square"/>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Regional Adoption Sequence</a:t>
                      </a:r>
                      <a:endParaRPr sz="1100"/>
                    </a:p>
                  </a:txBody>
                  <a:tcPr marL="428625" marR="9525" marT="9525" marB="0" anchor="ctr"/>
                </a:tc>
              </a:tr>
              <a:tr h="175260">
                <a:tc>
                  <a:txBody>
                    <a:bodyPr wrap="square"/>
                    <a:lstStyle/>
                    <a:p>
                      <a:pPr algn="l"/>
                      <a:r>
                        <a:rPr sz="1100" b="0" i="0">
                          <a:solidFill>
                            <a:srgbClr val="000000"/>
                          </a:solidFill>
                          <a:latin typeface="Calibri"/>
                        </a:rPr>
                        <a:t>24.5.1.</a:t>
                      </a:r>
                      <a:r>
                        <a:rPr sz="700" b="0" i="0">
                          <a:solidFill>
                            <a:srgbClr val="000000"/>
                          </a:solidFill>
                          <a:latin typeface="Times New Roman"/>
                        </a:rPr>
                        <a:t> </a:t>
                      </a:r>
                      <a:r>
                        <a:rPr sz="1100" b="0" i="0">
                          <a:solidFill>
                            <a:srgbClr val="000000"/>
                          </a:solidFill>
                          <a:latin typeface="Calibri"/>
                        </a:rPr>
                        <a:t>First Movers: Asia-Pacific, North America, Northern Europe</a:t>
                      </a:r>
                      <a:endParaRPr sz="1100"/>
                    </a:p>
                  </a:txBody>
                  <a:tcPr marL="771525" marR="9525" marT="9525" marB="0" anchor="ctr"/>
                </a:tc>
              </a:tr>
              <a:tr h="175260">
                <a:tc>
                  <a:txBody>
                    <a:bodyPr wrap="square"/>
                    <a:lstStyle/>
                    <a:p>
                      <a:pPr algn="l"/>
                      <a:r>
                        <a:rPr sz="1100" b="0" i="0">
                          <a:solidFill>
                            <a:srgbClr val="000000"/>
                          </a:solidFill>
                          <a:latin typeface="Calibri"/>
                        </a:rPr>
                        <a:t>24.5.2.</a:t>
                      </a:r>
                      <a:r>
                        <a:rPr sz="700" b="0" i="0">
                          <a:solidFill>
                            <a:srgbClr val="000000"/>
                          </a:solidFill>
                          <a:latin typeface="Times New Roman"/>
                        </a:rPr>
                        <a:t> </a:t>
                      </a:r>
                      <a:r>
                        <a:rPr sz="1100" b="0" i="0">
                          <a:solidFill>
                            <a:srgbClr val="000000"/>
                          </a:solidFill>
                          <a:latin typeface="Calibri"/>
                        </a:rPr>
                        <a:t>Second Wave: Middle East, Latin America</a:t>
                      </a:r>
                      <a:endParaRPr sz="1100"/>
                    </a:p>
                  </a:txBody>
                  <a:tcPr marL="771525" marR="9525" marT="9525" marB="0" anchor="ctr"/>
                </a:tc>
              </a:tr>
              <a:tr h="175260">
                <a:tc>
                  <a:txBody>
                    <a:bodyPr wrap="square"/>
                    <a:lstStyle/>
                    <a:p>
                      <a:pPr algn="l"/>
                      <a:r>
                        <a:rPr sz="1100" b="0" i="0">
                          <a:solidFill>
                            <a:srgbClr val="000000"/>
                          </a:solidFill>
                          <a:latin typeface="Calibri"/>
                        </a:rPr>
                        <a:t>24.5.3.</a:t>
                      </a:r>
                      <a:r>
                        <a:rPr sz="700" b="0" i="0">
                          <a:solidFill>
                            <a:srgbClr val="000000"/>
                          </a:solidFill>
                          <a:latin typeface="Times New Roman"/>
                        </a:rPr>
                        <a:t> </a:t>
                      </a:r>
                      <a:r>
                        <a:rPr sz="1100" b="0" i="0">
                          <a:solidFill>
                            <a:srgbClr val="000000"/>
                          </a:solidFill>
                          <a:latin typeface="Calibri"/>
                        </a:rPr>
                        <a:t>Third Wave: Africa, South Asia (low-capex markets)</a:t>
                      </a:r>
                      <a:endParaRPr sz="1100"/>
                    </a:p>
                  </a:txBody>
                  <a:tcPr marL="771525" marR="9525" marT="9525" marB="0" anchor="ctr"/>
                </a:tc>
              </a:tr>
              <a:tr h="175260">
                <a:tc>
                  <a:txBody>
                    <a:bodyPr wrap="square"/>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Quantitative Forecast Output- By Emerging Technology</a:t>
                      </a:r>
                      <a:endParaRPr sz="1100"/>
                    </a:p>
                  </a:txBody>
                  <a:tcPr marL="428625" marR="9525" marT="9525" marB="0" anchor="ctr"/>
                </a:tc>
              </a:tr>
              <a:tr h="175260">
                <a:tc>
                  <a:txBody>
                    <a:bodyPr wrap="square"/>
                    <a:lstStyle/>
                    <a:p>
                      <a:pPr algn="l"/>
                      <a:r>
                        <a:rPr sz="1100" b="0" i="0">
                          <a:solidFill>
                            <a:srgbClr val="000000"/>
                          </a:solidFill>
                          <a:latin typeface="Calibri"/>
                        </a:rPr>
                        <a:t>24.6.1.</a:t>
                      </a:r>
                      <a:r>
                        <a:rPr sz="700" b="0" i="0">
                          <a:solidFill>
                            <a:srgbClr val="000000"/>
                          </a:solidFill>
                          <a:latin typeface="Times New Roman"/>
                        </a:rPr>
                        <a:t> </a:t>
                      </a:r>
                      <a:r>
                        <a:rPr sz="1100" b="0" i="0">
                          <a:solidFill>
                            <a:srgbClr val="000000"/>
                          </a:solidFill>
                          <a:latin typeface="Calibri"/>
                        </a:rPr>
                        <a:t>Market Size (US$ Mn) – Likely vs. Optimistic Scenarios</a:t>
                      </a:r>
                      <a:endParaRPr sz="1100"/>
                    </a:p>
                  </a:txBody>
                  <a:tcPr marL="771525" marR="9525" marT="9525" marB="0" anchor="ctr"/>
                </a:tc>
              </a:tr>
              <a:tr h="175260">
                <a:tc>
                  <a:txBody>
                    <a:bodyPr wrap="square"/>
                    <a:lstStyle/>
                    <a:p>
                      <a:pPr algn="l"/>
                      <a:r>
                        <a:rPr sz="1100" b="0" i="0">
                          <a:solidFill>
                            <a:srgbClr val="000000"/>
                          </a:solidFill>
                          <a:latin typeface="Calibri"/>
                        </a:rPr>
                        <a:t>24.6.2.</a:t>
                      </a:r>
                      <a:r>
                        <a:rPr sz="700" b="0" i="0">
                          <a:solidFill>
                            <a:srgbClr val="000000"/>
                          </a:solidFill>
                          <a:latin typeface="Times New Roman"/>
                        </a:rPr>
                        <a:t> </a:t>
                      </a:r>
                      <a:r>
                        <a:rPr sz="1100" b="0" i="0">
                          <a:solidFill>
                            <a:srgbClr val="000000"/>
                          </a:solidFill>
                          <a:latin typeface="Calibri"/>
                        </a:rPr>
                        <a:t>Adoption Rate (%) over 2026–2036</a:t>
                      </a:r>
                      <a:endParaRPr sz="1100"/>
                    </a:p>
                  </a:txBody>
                  <a:tcPr marL="771525" marR="9525" marT="9525" marB="0" anchor="ctr"/>
                </a:tc>
              </a:tr>
              <a:tr h="175260">
                <a:tc>
                  <a:txBody>
                    <a:bodyPr wrap="square"/>
                    <a:lstStyle/>
                    <a:p>
                      <a:pPr algn="l"/>
                      <a:r>
                        <a:rPr sz="1100" b="1" i="0">
                          <a:solidFill>
                            <a:srgbClr val="000000"/>
                          </a:solidFill>
                          <a:latin typeface="Calibri"/>
                        </a:rPr>
                        <a:t>Section 7: Competition Assessment</a:t>
                      </a:r>
                      <a:endParaRPr sz="1100"/>
                    </a:p>
                  </a:txBody>
                  <a:tcPr marL="95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26.1.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26.2.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Company Profile- Global</a:t>
                      </a:r>
                      <a:endParaRPr sz="1100"/>
                    </a:p>
                  </a:txBody>
                  <a:tcPr marL="171450" marR="9525" marT="9525" marB="0" anchor="ctr"/>
                </a:tc>
              </a:tr>
              <a:tr h="175260">
                <a:tc>
                  <a:txBody>
                    <a:bodyPr wrap="square"/>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Dümmen Orange</a:t>
                      </a:r>
                      <a:endParaRPr sz="1100"/>
                    </a:p>
                  </a:txBody>
                  <a:tcPr marL="428625" marR="9525" marT="9525" marB="0" anchor="ctr"/>
                </a:tc>
              </a:tr>
              <a:tr h="175260">
                <a:tc>
                  <a:txBody>
                    <a:bodyPr wrap="square"/>
                    <a:lstStyle/>
                    <a:p>
                      <a:pPr algn="l"/>
                      <a:r>
                        <a:rPr sz="1100" b="0" i="0">
                          <a:solidFill>
                            <a:srgbClr val="000000"/>
                          </a:solidFill>
                          <a:latin typeface="Calibri"/>
                        </a:rPr>
                        <a:t>27.1.1.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r h="175260">
                <a:tc>
                  <a:txBody>
                    <a:bodyPr wrap="square"/>
                    <a:lstStyle/>
                    <a:p>
                      <a:pPr algn="l"/>
                      <a:r>
                        <a:rPr sz="1100" b="0" i="0">
                          <a:solidFill>
                            <a:srgbClr val="000000"/>
                          </a:solidFill>
                          <a:latin typeface="Calibri"/>
                        </a:rPr>
                        <a:t>27.1.2.</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27.1.3.</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27.1.3.1.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27.1.3.2.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27.1.3.3.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27.1.3.4.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27.1.4.</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27.1.5.</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Syngenta Flowers</a:t>
                      </a:r>
                      <a:endParaRPr sz="1100"/>
                    </a:p>
                  </a:txBody>
                  <a:tcPr marL="428625" marR="9525" marT="9525" marB="0" anchor="ctr"/>
                </a:tc>
              </a:tr>
              <a:tr h="175260">
                <a:tc>
                  <a:txBody>
                    <a:bodyPr wrap="square"/>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Ball Horticultural Company</a:t>
                      </a:r>
                      <a:endParaRPr sz="1100"/>
                    </a:p>
                  </a:txBody>
                  <a:tcPr marL="428625" marR="9525" marT="9525" marB="0" anchor="ctr"/>
                </a:tc>
              </a:tr>
              <a:tr h="175260">
                <a:tc>
                  <a:txBody>
                    <a:bodyPr wrap="square"/>
                    <a:lstStyle/>
                    <a:p>
                      <a:pPr algn="l"/>
                      <a:r>
                        <a:rPr sz="1100" b="0" i="0">
                          <a:solidFill>
                            <a:srgbClr val="0070C0"/>
                          </a:solidFill>
                          <a:latin typeface="Calibri"/>
                        </a:rPr>
                        <a:t>27.4.</a:t>
                      </a:r>
                      <a:r>
                        <a:rPr sz="700" b="0" i="0">
                          <a:solidFill>
                            <a:srgbClr val="0070C0"/>
                          </a:solidFill>
                          <a:latin typeface="Times New Roman"/>
                        </a:rPr>
                        <a:t>  </a:t>
                      </a:r>
                      <a:r>
                        <a:rPr sz="1100" b="0" i="0">
                          <a:solidFill>
                            <a:srgbClr val="0070C0"/>
                          </a:solidFill>
                          <a:latin typeface="Calibri"/>
                        </a:rPr>
                        <a:t>Selecta One</a:t>
                      </a:r>
                      <a:endParaRPr sz="1100"/>
                    </a:p>
                  </a:txBody>
                  <a:tcPr marL="428625" marR="9525" marT="9525" marB="0" anchor="ctr"/>
                </a:tc>
              </a:tr>
              <a:tr h="175260">
                <a:tc>
                  <a:txBody>
                    <a:bodyPr wrap="square"/>
                    <a:lstStyle/>
                    <a:p>
                      <a:pPr algn="l"/>
                      <a:r>
                        <a:rPr sz="1100" b="0" i="0">
                          <a:solidFill>
                            <a:srgbClr val="0070C0"/>
                          </a:solidFill>
                          <a:latin typeface="Calibri"/>
                        </a:rPr>
                        <a:t>27.5.</a:t>
                      </a:r>
                      <a:r>
                        <a:rPr sz="700" b="0" i="0">
                          <a:solidFill>
                            <a:srgbClr val="0070C0"/>
                          </a:solidFill>
                          <a:latin typeface="Times New Roman"/>
                        </a:rPr>
                        <a:t>  </a:t>
                      </a:r>
                      <a:r>
                        <a:rPr sz="1100" b="0" i="0">
                          <a:solidFill>
                            <a:srgbClr val="0070C0"/>
                          </a:solidFill>
                          <a:latin typeface="Calibri"/>
                        </a:rPr>
                        <a:t>Florensis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27.6.</a:t>
                      </a:r>
                      <a:r>
                        <a:rPr sz="700" b="0" i="0">
                          <a:solidFill>
                            <a:srgbClr val="0070C0"/>
                          </a:solidFill>
                          <a:latin typeface="Times New Roman"/>
                        </a:rPr>
                        <a:t>  </a:t>
                      </a:r>
                      <a:r>
                        <a:rPr sz="1100" b="0" i="0">
                          <a:solidFill>
                            <a:srgbClr val="0070C0"/>
                          </a:solidFill>
                          <a:latin typeface="Calibri"/>
                        </a:rPr>
                        <a:t>HilverdaFlorist</a:t>
                      </a:r>
                      <a:endParaRPr sz="1100"/>
                    </a:p>
                  </a:txBody>
                  <a:tcPr marL="428625" marR="9525" marT="9525" marB="0" anchor="ctr"/>
                </a:tc>
              </a:tr>
              <a:tr h="175260">
                <a:tc>
                  <a:txBody>
                    <a:bodyPr wrap="square"/>
                    <a:lstStyle/>
                    <a:p>
                      <a:pPr algn="l"/>
                      <a:r>
                        <a:rPr sz="1100" b="0" i="0">
                          <a:solidFill>
                            <a:srgbClr val="0070C0"/>
                          </a:solidFill>
                          <a:latin typeface="Calibri"/>
                        </a:rPr>
                        <a:t>27.7.</a:t>
                      </a:r>
                      <a:r>
                        <a:rPr sz="700" b="0" i="0">
                          <a:solidFill>
                            <a:srgbClr val="0070C0"/>
                          </a:solidFill>
                          <a:latin typeface="Times New Roman"/>
                        </a:rPr>
                        <a:t>  </a:t>
                      </a:r>
                      <a:r>
                        <a:rPr sz="1100" b="0" i="0">
                          <a:solidFill>
                            <a:srgbClr val="0070C0"/>
                          </a:solidFill>
                          <a:latin typeface="Calibri"/>
                        </a:rPr>
                        <a:t>Royal Van Zanten</a:t>
                      </a:r>
                      <a:endParaRPr sz="1100"/>
                    </a:p>
                  </a:txBody>
                  <a:tcPr marL="428625" marR="9525" marT="9525" marB="0" anchor="ctr"/>
                </a:tc>
              </a:tr>
              <a:tr h="175260">
                <a:tc>
                  <a:txBody>
                    <a:bodyPr wrap="square"/>
                    <a:lstStyle/>
                    <a:p>
                      <a:pPr algn="l"/>
                      <a:r>
                        <a:rPr sz="1100" b="0" i="0">
                          <a:solidFill>
                            <a:srgbClr val="0070C0"/>
                          </a:solidFill>
                          <a:latin typeface="Calibri"/>
                        </a:rPr>
                        <a:t>27.8.</a:t>
                      </a:r>
                      <a:r>
                        <a:rPr sz="700" b="0" i="0">
                          <a:solidFill>
                            <a:srgbClr val="0070C0"/>
                          </a:solidFill>
                          <a:latin typeface="Times New Roman"/>
                        </a:rPr>
                        <a:t>  </a:t>
                      </a:r>
                      <a:r>
                        <a:rPr sz="1100" b="0" i="0">
                          <a:solidFill>
                            <a:srgbClr val="0070C0"/>
                          </a:solidFill>
                          <a:latin typeface="Calibri"/>
                        </a:rPr>
                        <a:t>Danziger</a:t>
                      </a:r>
                      <a:endParaRPr sz="1100"/>
                    </a:p>
                  </a:txBody>
                  <a:tcPr marL="428625" marR="9525" marT="9525" marB="0" anchor="ctr"/>
                </a:tc>
              </a:tr>
              <a:tr h="175260">
                <a:tc>
                  <a:txBody>
                    <a:bodyPr wrap="square"/>
                    <a:lstStyle/>
                    <a:p>
                      <a:pPr algn="l"/>
                      <a:r>
                        <a:rPr sz="1100" b="0" i="0">
                          <a:solidFill>
                            <a:srgbClr val="0070C0"/>
                          </a:solidFill>
                          <a:latin typeface="Calibri"/>
                        </a:rPr>
                        <a:t>27.9.</a:t>
                      </a:r>
                      <a:r>
                        <a:rPr sz="700" b="0" i="0">
                          <a:solidFill>
                            <a:srgbClr val="0070C0"/>
                          </a:solidFill>
                          <a:latin typeface="Times New Roman"/>
                        </a:rPr>
                        <a:t>  </a:t>
                      </a:r>
                      <a:r>
                        <a:rPr sz="1100" b="0" i="0">
                          <a:solidFill>
                            <a:srgbClr val="0070C0"/>
                          </a:solidFill>
                          <a:latin typeface="Calibri"/>
                        </a:rPr>
                        <a:t>Anthura</a:t>
                      </a:r>
                      <a:endParaRPr sz="1100"/>
                    </a:p>
                  </a:txBody>
                  <a:tcPr marL="428625" marR="9525" marT="9525" marB="0" anchor="ctr"/>
                </a:tc>
              </a:tr>
              <a:tr h="175260">
                <a:tc>
                  <a:txBody>
                    <a:bodyPr wrap="square"/>
                    <a:lstStyle/>
                    <a:p>
                      <a:pPr algn="l"/>
                      <a:r>
                        <a:rPr sz="1100" b="0" i="0">
                          <a:solidFill>
                            <a:srgbClr val="0070C0"/>
                          </a:solidFill>
                          <a:latin typeface="Calibri"/>
                        </a:rPr>
                        <a:t>27.10.</a:t>
                      </a:r>
                      <a:r>
                        <a:rPr sz="700" b="0" i="0">
                          <a:solidFill>
                            <a:srgbClr val="0070C0"/>
                          </a:solidFill>
                          <a:latin typeface="Times New Roman"/>
                        </a:rPr>
                        <a:t> </a:t>
                      </a:r>
                      <a:r>
                        <a:rPr sz="1100" b="0" i="0">
                          <a:solidFill>
                            <a:srgbClr val="0070C0"/>
                          </a:solidFill>
                          <a:latin typeface="Calibri"/>
                        </a:rPr>
                        <a:t>Schoneveld Breeding</a:t>
                      </a:r>
                      <a:endParaRPr sz="1100"/>
                    </a:p>
                  </a:txBody>
                  <a:tcPr marL="428625" marR="9525" marT="9525" marB="0" anchor="ctr"/>
                </a:tc>
              </a:tr>
              <a:tr h="175260">
                <a:tc>
                  <a:txBody>
                    <a:bodyPr wrap="square"/>
                    <a:lstStyle/>
                    <a:p>
                      <a:pPr algn="l"/>
                      <a:r>
                        <a:rPr sz="1100" b="0" i="0">
                          <a:solidFill>
                            <a:srgbClr val="0070C0"/>
                          </a:solidFill>
                          <a:latin typeface="Calibri"/>
                        </a:rPr>
                        <a:t>27.11.</a:t>
                      </a:r>
                      <a:r>
                        <a:rPr sz="700" b="0" i="0">
                          <a:solidFill>
                            <a:srgbClr val="0070C0"/>
                          </a:solidFill>
                          <a:latin typeface="Times New Roman"/>
                        </a:rPr>
                        <a:t> </a:t>
                      </a:r>
                      <a:r>
                        <a:rPr sz="1100" b="0" i="0">
                          <a:solidFill>
                            <a:srgbClr val="0070C0"/>
                          </a:solidFill>
                          <a:latin typeface="Calibri"/>
                        </a:rPr>
                        <a:t>Esmeralda Farms (Sunshine Bouquet Group)</a:t>
                      </a:r>
                      <a:endParaRPr sz="1100"/>
                    </a:p>
                  </a:txBody>
                  <a:tcPr marL="428625" marR="9525" marT="9525" marB="0" anchor="ctr"/>
                </a:tc>
              </a:tr>
              <a:tr h="175260">
                <a:tc>
                  <a:txBody>
                    <a:bodyPr wrap="square"/>
                    <a:lstStyle/>
                    <a:p>
                      <a:pPr algn="l"/>
                      <a:r>
                        <a:rPr sz="1100" b="0" i="0">
                          <a:solidFill>
                            <a:srgbClr val="0070C0"/>
                          </a:solidFill>
                          <a:latin typeface="Calibri"/>
                        </a:rPr>
                        <a:t>27.12.</a:t>
                      </a:r>
                      <a:r>
                        <a:rPr sz="700" b="0" i="0">
                          <a:solidFill>
                            <a:srgbClr val="0070C0"/>
                          </a:solidFill>
                          <a:latin typeface="Times New Roman"/>
                        </a:rPr>
                        <a:t> </a:t>
                      </a:r>
                      <a:r>
                        <a:rPr sz="1100" b="0" i="0">
                          <a:solidFill>
                            <a:srgbClr val="0070C0"/>
                          </a:solidFill>
                          <a:latin typeface="Calibri"/>
                        </a:rPr>
                        <a:t>Marginpar</a:t>
                      </a:r>
                      <a:endParaRPr sz="1100"/>
                    </a:p>
                  </a:txBody>
                  <a:tcPr marL="428625" marR="9525" marT="9525" marB="0" anchor="ctr"/>
                </a:tc>
              </a:tr>
              <a:tr h="175260">
                <a:tc>
                  <a:txBody>
                    <a:bodyPr wrap="square"/>
                    <a:lstStyle/>
                    <a:p>
                      <a:pPr algn="l"/>
                      <a:r>
                        <a:rPr sz="1100" b="0" i="0">
                          <a:solidFill>
                            <a:srgbClr val="0070C0"/>
                          </a:solidFill>
                          <a:latin typeface="Calibri"/>
                        </a:rPr>
                        <a:t>27.13.</a:t>
                      </a:r>
                      <a:r>
                        <a:rPr sz="700" b="0" i="0">
                          <a:solidFill>
                            <a:srgbClr val="0070C0"/>
                          </a:solidFill>
                          <a:latin typeface="Times New Roman"/>
                        </a:rPr>
                        <a:t> </a:t>
                      </a:r>
                      <a:r>
                        <a:rPr sz="1100" b="0" i="0">
                          <a:solidFill>
                            <a:srgbClr val="0070C0"/>
                          </a:solidFill>
                          <a:latin typeface="Calibri"/>
                        </a:rPr>
                        <a:t>Beekenkamp Plants</a:t>
                      </a:r>
                      <a:endParaRPr sz="1100"/>
                    </a:p>
                  </a:txBody>
                  <a:tcPr marL="428625" marR="9525" marT="9525" marB="0" anchor="ctr"/>
                </a:tc>
              </a:tr>
              <a:tr h="175260">
                <a:tc>
                  <a:txBody>
                    <a:bodyPr wrap="square"/>
                    <a:lstStyle/>
                    <a:p>
                      <a:pPr algn="l"/>
                      <a:r>
                        <a:rPr sz="1100" b="0" i="0">
                          <a:solidFill>
                            <a:srgbClr val="0070C0"/>
                          </a:solidFill>
                          <a:latin typeface="Calibri"/>
                        </a:rPr>
                        <a:t>27.14.</a:t>
                      </a:r>
                      <a:r>
                        <a:rPr sz="700" b="0" i="0">
                          <a:solidFill>
                            <a:srgbClr val="0070C0"/>
                          </a:solidFill>
                          <a:latin typeface="Times New Roman"/>
                        </a:rPr>
                        <a:t> </a:t>
                      </a:r>
                      <a:r>
                        <a:rPr sz="1100" b="0" i="0">
                          <a:solidFill>
                            <a:srgbClr val="0070C0"/>
                          </a:solidFill>
                          <a:latin typeface="Calibri"/>
                        </a:rPr>
                        <a:t>Flamingo Horticulture</a:t>
                      </a:r>
                      <a:endParaRPr sz="1100"/>
                    </a:p>
                  </a:txBody>
                  <a:tcPr marL="428625" marR="9525" marT="9525" marB="0" anchor="ctr"/>
                </a:tc>
              </a:tr>
              <a:tr h="175260">
                <a:tc>
                  <a:txBody>
                    <a:bodyPr wrap="square"/>
                    <a:lstStyle/>
                    <a:p>
                      <a:pPr algn="l"/>
                      <a:r>
                        <a:rPr sz="1100" b="0" i="0">
                          <a:solidFill>
                            <a:srgbClr val="0070C0"/>
                          </a:solidFill>
                          <a:latin typeface="Calibri"/>
                        </a:rPr>
                        <a:t>27.15.</a:t>
                      </a:r>
                      <a:r>
                        <a:rPr sz="700" b="0" i="0">
                          <a:solidFill>
                            <a:srgbClr val="0070C0"/>
                          </a:solidFill>
                          <a:latin typeface="Times New Roman"/>
                        </a:rPr>
                        <a:t> </a:t>
                      </a:r>
                      <a:r>
                        <a:rPr sz="1100" b="0" i="0">
                          <a:solidFill>
                            <a:srgbClr val="0070C0"/>
                          </a:solidFill>
                          <a:latin typeface="Calibri"/>
                        </a:rPr>
                        <a:t>Sun Valley Floral Farms</a:t>
                      </a:r>
                      <a:endParaRPr sz="1100"/>
                    </a:p>
                  </a:txBody>
                  <a:tcPr marL="428625" marR="9525" marT="9525" marB="0" anchor="ctr"/>
                </a:tc>
              </a:tr>
              <a:tr h="175260">
                <a:tc>
                  <a:txBody>
                    <a:bodyPr wrap="square"/>
                    <a:lstStyle/>
                    <a:p>
                      <a:pPr algn="l"/>
                      <a:r>
                        <a:rPr sz="1100" b="0" i="0">
                          <a:solidFill>
                            <a:srgbClr val="0070C0"/>
                          </a:solidFill>
                          <a:latin typeface="Calibri"/>
                        </a:rPr>
                        <a:t>27.16.</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Company Profile- Asia Pacific</a:t>
                      </a:r>
                      <a:endParaRPr sz="1100"/>
                    </a:p>
                  </a:txBody>
                  <a:tcPr marL="171450" marR="9525" marT="9525" marB="0" anchor="ctr"/>
                </a:tc>
              </a:tr>
              <a:tr h="175260">
                <a:tc>
                  <a:txBody>
                    <a:bodyPr wrap="square"/>
                    <a:lstStyle/>
                    <a:p>
                      <a:pPr algn="l"/>
                      <a:r>
                        <a:rPr sz="1100" b="0" i="0">
                          <a:solidFill>
                            <a:srgbClr val="0070C0"/>
                          </a:solidFill>
                          <a:latin typeface="Calibri"/>
                        </a:rPr>
                        <a:t>28.1.</a:t>
                      </a:r>
                      <a:r>
                        <a:rPr sz="700" b="0" i="0">
                          <a:solidFill>
                            <a:srgbClr val="0070C0"/>
                          </a:solidFill>
                          <a:latin typeface="Times New Roman"/>
                        </a:rPr>
                        <a:t>  </a:t>
                      </a:r>
                      <a:r>
                        <a:rPr sz="1100" b="0" i="0">
                          <a:solidFill>
                            <a:srgbClr val="0070C0"/>
                          </a:solidFill>
                          <a:latin typeface="Calibri"/>
                        </a:rPr>
                        <a:t>Sakata Seed Corporation</a:t>
                      </a:r>
                      <a:endParaRPr sz="1100"/>
                    </a:p>
                  </a:txBody>
                  <a:tcPr marL="428625" marR="9525" marT="9525" marB="0" anchor="ctr"/>
                </a:tc>
              </a:tr>
              <a:tr h="175260">
                <a:tc>
                  <a:txBody>
                    <a:bodyPr wrap="square"/>
                    <a:lstStyle/>
                    <a:p>
                      <a:pPr algn="l"/>
                      <a:r>
                        <a:rPr sz="1100" b="0" i="0">
                          <a:solidFill>
                            <a:srgbClr val="0070C0"/>
                          </a:solidFill>
                          <a:latin typeface="Calibri"/>
                        </a:rPr>
                        <a:t>28.2.</a:t>
                      </a:r>
                      <a:r>
                        <a:rPr sz="700" b="0" i="0">
                          <a:solidFill>
                            <a:srgbClr val="0070C0"/>
                          </a:solidFill>
                          <a:latin typeface="Times New Roman"/>
                        </a:rPr>
                        <a:t>  </a:t>
                      </a:r>
                      <a:r>
                        <a:rPr sz="1100" b="0" i="0">
                          <a:solidFill>
                            <a:srgbClr val="0070C0"/>
                          </a:solidFill>
                          <a:latin typeface="Calibri"/>
                        </a:rPr>
                        <a:t>Takii &amp; Co., Ltd.</a:t>
                      </a:r>
                      <a:endParaRPr sz="1100"/>
                    </a:p>
                  </a:txBody>
                  <a:tcPr marL="428625" marR="9525" marT="9525" marB="0" anchor="ctr"/>
                </a:tc>
              </a:tr>
              <a:tr h="175260">
                <a:tc>
                  <a:txBody>
                    <a:bodyPr wrap="square"/>
                    <a:lstStyle/>
                    <a:p>
                      <a:pPr algn="l"/>
                      <a:r>
                        <a:rPr sz="1100" b="0" i="0">
                          <a:solidFill>
                            <a:srgbClr val="0070C0"/>
                          </a:solidFill>
                          <a:latin typeface="Calibri"/>
                        </a:rPr>
                        <a:t>28.3.</a:t>
                      </a:r>
                      <a:r>
                        <a:rPr sz="700" b="0" i="0">
                          <a:solidFill>
                            <a:srgbClr val="0070C0"/>
                          </a:solidFill>
                          <a:latin typeface="Times New Roman"/>
                        </a:rPr>
                        <a:t>  </a:t>
                      </a:r>
                      <a:r>
                        <a:rPr sz="1100" b="0" i="0">
                          <a:solidFill>
                            <a:srgbClr val="0070C0"/>
                          </a:solidFill>
                          <a:latin typeface="Calibri"/>
                        </a:rPr>
                        <a:t>Suntory Flowers Ltd.</a:t>
                      </a:r>
                      <a:endParaRPr sz="1100"/>
                    </a:p>
                  </a:txBody>
                  <a:tcPr marL="428625" marR="9525" marT="9525" marB="0" anchor="ctr"/>
                </a:tc>
              </a:tr>
              <a:tr h="175260">
                <a:tc>
                  <a:txBody>
                    <a:bodyPr wrap="square"/>
                    <a:lstStyle/>
                    <a:p>
                      <a:pPr algn="l"/>
                      <a:r>
                        <a:rPr sz="1100" b="0" i="0">
                          <a:solidFill>
                            <a:srgbClr val="0070C0"/>
                          </a:solidFill>
                          <a:latin typeface="Calibri"/>
                        </a:rPr>
                        <a:t>28.4.</a:t>
                      </a:r>
                      <a:r>
                        <a:rPr sz="700" b="0" i="0">
                          <a:solidFill>
                            <a:srgbClr val="0070C0"/>
                          </a:solidFill>
                          <a:latin typeface="Times New Roman"/>
                        </a:rPr>
                        <a:t>  </a:t>
                      </a:r>
                      <a:r>
                        <a:rPr sz="1100" b="0" i="0">
                          <a:solidFill>
                            <a:srgbClr val="0070C0"/>
                          </a:solidFill>
                          <a:latin typeface="Calibri"/>
                        </a:rPr>
                        <a:t>Dalat Hasfarm Company Limited</a:t>
                      </a:r>
                      <a:endParaRPr sz="1100"/>
                    </a:p>
                  </a:txBody>
                  <a:tcPr marL="428625" marR="9525" marT="9525" marB="0" anchor="ctr"/>
                </a:tc>
              </a:tr>
              <a:tr h="175260">
                <a:tc>
                  <a:txBody>
                    <a:bodyPr wrap="square"/>
                    <a:lstStyle/>
                    <a:p>
                      <a:pPr algn="l"/>
                      <a:r>
                        <a:rPr sz="1100" b="0" i="0">
                          <a:solidFill>
                            <a:srgbClr val="0070C0"/>
                          </a:solidFill>
                          <a:latin typeface="Calibri"/>
                        </a:rPr>
                        <a:t>28.5.</a:t>
                      </a:r>
                      <a:r>
                        <a:rPr sz="700" b="0" i="0">
                          <a:solidFill>
                            <a:srgbClr val="0070C0"/>
                          </a:solidFill>
                          <a:latin typeface="Times New Roman"/>
                        </a:rPr>
                        <a:t>  </a:t>
                      </a:r>
                      <a:r>
                        <a:rPr sz="1100" b="0" i="0">
                          <a:solidFill>
                            <a:srgbClr val="0070C0"/>
                          </a:solidFill>
                          <a:latin typeface="Calibri"/>
                        </a:rPr>
                        <a:t>Taiwan Sugar Corporation — Taisuco Phalaenopsis</a:t>
                      </a:r>
                      <a:endParaRPr sz="1100"/>
                    </a:p>
                  </a:txBody>
                  <a:tcPr marL="428625" marR="9525" marT="9525" marB="0" anchor="ctr"/>
                </a:tc>
              </a:tr>
              <a:tr h="175260">
                <a:tc>
                  <a:txBody>
                    <a:bodyPr wrap="square"/>
                    <a:lstStyle/>
                    <a:p>
                      <a:pPr algn="l"/>
                      <a:r>
                        <a:rPr sz="1100" b="0" i="0">
                          <a:solidFill>
                            <a:srgbClr val="0070C0"/>
                          </a:solidFill>
                          <a:latin typeface="Calibri"/>
                        </a:rPr>
                        <a:t>28.6.</a:t>
                      </a:r>
                      <a:r>
                        <a:rPr sz="700" b="0" i="0">
                          <a:solidFill>
                            <a:srgbClr val="0070C0"/>
                          </a:solidFill>
                          <a:latin typeface="Times New Roman"/>
                        </a:rPr>
                        <a:t>  </a:t>
                      </a:r>
                      <a:r>
                        <a:rPr sz="1100" b="0" i="0">
                          <a:solidFill>
                            <a:srgbClr val="0070C0"/>
                          </a:solidFill>
                          <a:latin typeface="Calibri"/>
                        </a:rPr>
                        <a:t>Ching Hua Orchids Co., Ltd.</a:t>
                      </a:r>
                      <a:endParaRPr sz="1100"/>
                    </a:p>
                  </a:txBody>
                  <a:tcPr marL="428625" marR="9525" marT="9525" marB="0" anchor="ctr"/>
                </a:tc>
              </a:tr>
              <a:tr h="175260">
                <a:tc>
                  <a:txBody>
                    <a:bodyPr wrap="square"/>
                    <a:lstStyle/>
                    <a:p>
                      <a:pPr algn="l"/>
                      <a:r>
                        <a:rPr sz="1100" b="0" i="0">
                          <a:solidFill>
                            <a:srgbClr val="0070C0"/>
                          </a:solidFill>
                          <a:latin typeface="Calibri"/>
                        </a:rPr>
                        <a:t>28.7.</a:t>
                      </a:r>
                      <a:r>
                        <a:rPr sz="700" b="0" i="0">
                          <a:solidFill>
                            <a:srgbClr val="0070C0"/>
                          </a:solidFill>
                          <a:latin typeface="Times New Roman"/>
                        </a:rPr>
                        <a:t>  </a:t>
                      </a:r>
                      <a:r>
                        <a:rPr sz="1100" b="0" i="0">
                          <a:solidFill>
                            <a:srgbClr val="0070C0"/>
                          </a:solidFill>
                          <a:latin typeface="Calibri"/>
                        </a:rPr>
                        <a:t>Tonghai Jinhai Agricultural Technology Development Co., Ltd.</a:t>
                      </a:r>
                      <a:endParaRPr sz="1100"/>
                    </a:p>
                  </a:txBody>
                  <a:tcPr marL="428625" marR="9525" marT="9525" marB="0" anchor="ctr"/>
                </a:tc>
              </a:tr>
              <a:tr h="175260">
                <a:tc>
                  <a:txBody>
                    <a:bodyPr wrap="square"/>
                    <a:lstStyle/>
                    <a:p>
                      <a:pPr algn="l"/>
                      <a:r>
                        <a:rPr sz="1100" b="0" i="0">
                          <a:solidFill>
                            <a:srgbClr val="0070C0"/>
                          </a:solidFill>
                          <a:latin typeface="Calibri"/>
                        </a:rPr>
                        <a:t>28.8.</a:t>
                      </a:r>
                      <a:r>
                        <a:rPr sz="700" b="0" i="0">
                          <a:solidFill>
                            <a:srgbClr val="0070C0"/>
                          </a:solidFill>
                          <a:latin typeface="Times New Roman"/>
                        </a:rPr>
                        <a:t>  </a:t>
                      </a:r>
                      <a:r>
                        <a:rPr sz="1100" b="0" i="0">
                          <a:solidFill>
                            <a:srgbClr val="0070C0"/>
                          </a:solidFill>
                          <a:latin typeface="Calibri"/>
                        </a:rPr>
                        <a:t>Soex Flora</a:t>
                      </a:r>
                      <a:endParaRPr sz="1100"/>
                    </a:p>
                  </a:txBody>
                  <a:tcPr marL="428625" marR="9525" marT="9525" marB="0" anchor="ctr"/>
                </a:tc>
              </a:tr>
              <a:tr h="175260">
                <a:tc>
                  <a:txBody>
                    <a:bodyPr wrap="square"/>
                    <a:lstStyle/>
                    <a:p>
                      <a:pPr algn="l"/>
                      <a:r>
                        <a:rPr sz="1100" b="0" i="0">
                          <a:solidFill>
                            <a:srgbClr val="0070C0"/>
                          </a:solidFill>
                          <a:latin typeface="Calibri"/>
                        </a:rPr>
                        <a:t>28.9.</a:t>
                      </a:r>
                      <a:r>
                        <a:rPr sz="700" b="0" i="0">
                          <a:solidFill>
                            <a:srgbClr val="0070C0"/>
                          </a:solidFill>
                          <a:latin typeface="Times New Roman"/>
                        </a:rPr>
                        <a:t>  </a:t>
                      </a:r>
                      <a:r>
                        <a:rPr sz="1100" b="0" i="0">
                          <a:solidFill>
                            <a:srgbClr val="0070C0"/>
                          </a:solidFill>
                          <a:latin typeface="Calibri"/>
                        </a:rPr>
                        <a:t>Tanflora Infrastructure Park Limited</a:t>
                      </a:r>
                      <a:endParaRPr sz="1100"/>
                    </a:p>
                  </a:txBody>
                  <a:tcPr marL="428625" marR="9525" marT="9525" marB="0" anchor="ctr"/>
                </a:tc>
              </a:tr>
              <a:tr h="175260">
                <a:tc>
                  <a:txBody>
                    <a:bodyPr wrap="square"/>
                    <a:lstStyle/>
                    <a:p>
                      <a:pPr algn="l"/>
                      <a:r>
                        <a:rPr sz="1100" b="0" i="0">
                          <a:solidFill>
                            <a:srgbClr val="0070C0"/>
                          </a:solidFill>
                          <a:latin typeface="Calibri"/>
                        </a:rPr>
                        <a:t>28.10.</a:t>
                      </a:r>
                      <a:r>
                        <a:rPr sz="700" b="0" i="0">
                          <a:solidFill>
                            <a:srgbClr val="0070C0"/>
                          </a:solidFill>
                          <a:latin typeface="Times New Roman"/>
                        </a:rPr>
                        <a:t> </a:t>
                      </a:r>
                      <a:r>
                        <a:rPr sz="1100" b="0" i="0">
                          <a:solidFill>
                            <a:srgbClr val="0070C0"/>
                          </a:solidFill>
                          <a:latin typeface="Calibri"/>
                        </a:rPr>
                        <a:t>Nagarjuna Agri-Tech Limited</a:t>
                      </a:r>
                      <a:endParaRPr sz="1100"/>
                    </a:p>
                  </a:txBody>
                  <a:tcPr marL="428625" marR="9525" marT="9525" marB="0" anchor="ctr"/>
                </a:tc>
              </a:tr>
              <a:tr h="175260">
                <a:tc>
                  <a:txBody>
                    <a:bodyPr wrap="square"/>
                    <a:lstStyle/>
                    <a:p>
                      <a:pPr algn="l"/>
                      <a:r>
                        <a:rPr sz="1100" b="0" i="0">
                          <a:solidFill>
                            <a:srgbClr val="0070C0"/>
                          </a:solidFill>
                          <a:latin typeface="Calibri"/>
                        </a:rPr>
                        <a:t>28.11.</a:t>
                      </a:r>
                      <a:r>
                        <a:rPr sz="700" b="0" i="0">
                          <a:solidFill>
                            <a:srgbClr val="0070C0"/>
                          </a:solidFill>
                          <a:latin typeface="Times New Roman"/>
                        </a:rPr>
                        <a:t> </a:t>
                      </a:r>
                      <a:r>
                        <a:rPr sz="1100" b="0" i="0">
                          <a:solidFill>
                            <a:srgbClr val="0070C0"/>
                          </a:solidFill>
                          <a:latin typeface="Calibri"/>
                        </a:rPr>
                        <a:t>Florance Flora</a:t>
                      </a:r>
                      <a:endParaRPr sz="1100"/>
                    </a:p>
                  </a:txBody>
                  <a:tcPr marL="428625" marR="9525" marT="9525" marB="0" anchor="ctr"/>
                </a:tc>
              </a:tr>
              <a:tr h="175260">
                <a:tc>
                  <a:txBody>
                    <a:bodyPr wrap="square"/>
                    <a:lstStyle/>
                    <a:p>
                      <a:pPr algn="l"/>
                      <a:r>
                        <a:rPr sz="1100" b="0" i="0">
                          <a:solidFill>
                            <a:srgbClr val="0070C0"/>
                          </a:solidFill>
                          <a:latin typeface="Calibri"/>
                        </a:rPr>
                        <a:t>28.12.</a:t>
                      </a:r>
                      <a:r>
                        <a:rPr sz="700" b="0" i="0">
                          <a:solidFill>
                            <a:srgbClr val="0070C0"/>
                          </a:solidFill>
                          <a:latin typeface="Times New Roman"/>
                        </a:rPr>
                        <a:t> </a:t>
                      </a:r>
                      <a:r>
                        <a:rPr sz="1100" b="0" i="0">
                          <a:solidFill>
                            <a:srgbClr val="0070C0"/>
                          </a:solidFill>
                          <a:latin typeface="Calibri"/>
                        </a:rPr>
                        <a:t>BangkokFlower</a:t>
                      </a:r>
                      <a:endParaRPr sz="1100"/>
                    </a:p>
                  </a:txBody>
                  <a:tcPr marL="428625" marR="9525" marT="9525" marB="0" anchor="ctr"/>
                </a:tc>
              </a:tr>
              <a:tr h="175260">
                <a:tc>
                  <a:txBody>
                    <a:bodyPr wrap="square"/>
                    <a:lstStyle/>
                    <a:p>
                      <a:pPr algn="l"/>
                      <a:r>
                        <a:rPr sz="1100" b="0" i="0">
                          <a:solidFill>
                            <a:srgbClr val="0070C0"/>
                          </a:solidFill>
                          <a:latin typeface="Calibri"/>
                        </a:rPr>
                        <a:t>28.13.</a:t>
                      </a:r>
                      <a:r>
                        <a:rPr sz="700" b="0" i="0">
                          <a:solidFill>
                            <a:srgbClr val="0070C0"/>
                          </a:solidFill>
                          <a:latin typeface="Times New Roman"/>
                        </a:rPr>
                        <a:t> </a:t>
                      </a:r>
                      <a:r>
                        <a:rPr sz="1100" b="0" i="0">
                          <a:solidFill>
                            <a:srgbClr val="0070C0"/>
                          </a:solidFill>
                          <a:latin typeface="Calibri"/>
                        </a:rPr>
                        <a:t>Thai Orchids Co., Ltd.</a:t>
                      </a:r>
                      <a:endParaRPr sz="1100"/>
                    </a:p>
                  </a:txBody>
                  <a:tcPr marL="428625" marR="9525" marT="9525" marB="0" anchor="ctr"/>
                </a:tc>
              </a:tr>
              <a:tr h="175260">
                <a:tc>
                  <a:txBody>
                    <a:bodyPr wrap="square"/>
                    <a:lstStyle/>
                    <a:p>
                      <a:pPr algn="l"/>
                      <a:r>
                        <a:rPr sz="1100" b="0" i="0">
                          <a:solidFill>
                            <a:srgbClr val="0070C0"/>
                          </a:solidFill>
                          <a:latin typeface="Calibri"/>
                        </a:rPr>
                        <a:t>28.14.</a:t>
                      </a:r>
                      <a:r>
                        <a:rPr sz="700" b="0" i="0">
                          <a:solidFill>
                            <a:srgbClr val="0070C0"/>
                          </a:solidFill>
                          <a:latin typeface="Times New Roman"/>
                        </a:rPr>
                        <a:t> </a:t>
                      </a:r>
                      <a:r>
                        <a:rPr sz="1100" b="0" i="0">
                          <a:solidFill>
                            <a:srgbClr val="0070C0"/>
                          </a:solidFill>
                          <a:latin typeface="Calibri"/>
                        </a:rPr>
                        <a:t>Pramote Orchid Farm (BB Orchids)</a:t>
                      </a:r>
                      <a:endParaRPr sz="1100"/>
                    </a:p>
                  </a:txBody>
                  <a:tcPr marL="428625" marR="9525" marT="9525" marB="0" anchor="ctr"/>
                </a:tc>
              </a:tr>
              <a:tr h="175260">
                <a:tc>
                  <a:txBody>
                    <a:bodyPr wrap="square"/>
                    <a:lstStyle/>
                    <a:p>
                      <a:pPr algn="l"/>
                      <a:r>
                        <a:rPr sz="1100" b="0" i="0">
                          <a:solidFill>
                            <a:srgbClr val="0070C0"/>
                          </a:solidFill>
                          <a:latin typeface="Calibri"/>
                        </a:rPr>
                        <a:t>28.15.</a:t>
                      </a:r>
                      <a:r>
                        <a:rPr sz="700" b="0" i="0">
                          <a:solidFill>
                            <a:srgbClr val="0070C0"/>
                          </a:solidFill>
                          <a:latin typeface="Times New Roman"/>
                        </a:rPr>
                        <a:t> </a:t>
                      </a:r>
                      <a:r>
                        <a:rPr sz="1100" b="0" i="0">
                          <a:solidFill>
                            <a:srgbClr val="0070C0"/>
                          </a:solidFill>
                          <a:latin typeface="Calibri"/>
                        </a:rPr>
                        <a:t>AmThai Orchids</a:t>
                      </a:r>
                      <a:endParaRPr sz="1100"/>
                    </a:p>
                  </a:txBody>
                  <a:tcPr marL="428625" marR="9525" marT="9525" marB="0" anchor="ctr"/>
                </a:tc>
              </a:tr>
              <a:tr h="175260">
                <a:tc>
                  <a:txBody>
                    <a:bodyPr wrap="square"/>
                    <a:lstStyle/>
                    <a:p>
                      <a:pPr algn="l"/>
                      <a:r>
                        <a:rPr sz="1100" b="0" i="0">
                          <a:solidFill>
                            <a:srgbClr val="0070C0"/>
                          </a:solidFill>
                          <a:latin typeface="Calibri"/>
                        </a:rPr>
                        <a:t>28.16.</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30.</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Flower Species,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Cultivation Method,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Distribution Channel,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End Use,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Region,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Incremental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12: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Cultivation Method,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End Use,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Product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Flower Species,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Cultivation Method,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Distribution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End Use,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Absolute $ Opportunity by Product Type, US$ Mn, 2026–2036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Absolute $ Opportunity by Flower Species, US$ Mn, 2026–2036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Absolute $ Opportunity by Cultivation Method, US$ Mn, 2026–2036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Distribution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End Use,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BPS Share Change by Product Type,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BPS Share Change by Flower Species,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BPS Share Change by Cultivation Method,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BPS Share Change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BPS Share Change by End Use,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YoY Growth by Product Type, %,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YoY Growth by Flower Species, %,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YoY Growth by Cultivation Method, %,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YoY Growth by Distribution Channel, %,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YoY Growth by End Use, %,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Attractiveness by Product Type,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Attractiveness by Flower Species,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Attractiveness by Cultivation Method,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Attractiveness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Attractiveness by End Use,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Volume by Flower Species, Mn Units, 2021–2036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Volume by Cultivation Method, Mn Units, 2021–2036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Volume by Distribution Channel, Mn Units, 2021–2036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Volume by End Use, Mn Units, 2021–2036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Average Selling Price by Product Type, US$/Units, 2021–2036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Average Selling Price by Flower Species, US$/Units, 2021–2036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Average Selling Price by Cultivation Method, US$/Units, 2021–2036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Average Selling Price by Distribution Channel, US$/Units, 2021–2036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Average Selling Price by End Use, US$/Units, 2021–2036</a:t>
                      </a:r>
                      <a:endParaRPr sz="1050"/>
                    </a:p>
                  </a:txBody>
                  <a:tcPr marL="9525" marR="9525" marT="9525" marB="0" anchor="ctr"/>
                </a:tc>
              </a:tr>
              <a:tr h="169606">
                <a:tc>
                  <a:txBody>
                    <a:bodyPr wrap="square"/>
                    <a:lstStyle/>
                    <a:p>
                      <a:pPr algn="l"/>
                      <a:r>
                        <a:rPr sz="1050" b="0" i="0">
                          <a:solidFill>
                            <a:srgbClr val="000000"/>
                          </a:solidFill>
                          <a:latin typeface="Calibri"/>
                        </a:rPr>
                        <a:t>Figure 62: Product Type × Flower Species Opportunity Matrix,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Product Type × Cultivation Method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64: Product Type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Product Type × End Use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Flower Species × Cultivation Method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Flower Species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Flower Species × End Use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Cultivation Method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Cultivation Method × End Use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Distribution Channel × End Use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Region × Product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Region × Flower Species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Region × Cultivation Method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Region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Region × End Use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Global Market Value by Product Type and Flower Species, US$ Mn, 2036</a:t>
                      </a:r>
                      <a:endParaRPr sz="1050"/>
                    </a:p>
                  </a:txBody>
                  <a:tcPr marL="9525" marR="9525" marT="9525" marB="0" anchor="ctr"/>
                </a:tc>
              </a:tr>
              <a:tr h="169606">
                <a:tc>
                  <a:txBody>
                    <a:bodyPr wrap="square"/>
                    <a:lstStyle/>
                    <a:p>
                      <a:pPr algn="l"/>
                      <a:r>
                        <a:rPr sz="1050" b="0" i="0">
                          <a:solidFill>
                            <a:srgbClr val="000000"/>
                          </a:solidFill>
                          <a:latin typeface="Calibri"/>
                        </a:rPr>
                        <a:t>Figure 78: Global Market Value by Product Type and Cultivation Method, US$ Mn, 2036</a:t>
                      </a:r>
                      <a:endParaRPr sz="1050"/>
                    </a:p>
                  </a:txBody>
                  <a:tcPr marL="9525" marR="9525" marT="9525" marB="0" anchor="ctr"/>
                </a:tc>
              </a:tr>
              <a:tr h="169606">
                <a:tc>
                  <a:txBody>
                    <a:bodyPr wrap="square"/>
                    <a:lstStyle/>
                    <a:p>
                      <a:pPr algn="l"/>
                      <a:r>
                        <a:rPr sz="1050" b="0" i="0">
                          <a:solidFill>
                            <a:srgbClr val="000000"/>
                          </a:solidFill>
                          <a:latin typeface="Calibri"/>
                        </a:rPr>
                        <a:t>Figure 79: Global Market Value by Product Type and Distribution Channel, US$ Mn, 2036</a:t>
                      </a:r>
                      <a:endParaRPr sz="1050"/>
                    </a:p>
                  </a:txBody>
                  <a:tcPr marL="9525" marR="9525" marT="9525" marB="0" anchor="ctr"/>
                </a:tc>
              </a:tr>
              <a:tr h="169606">
                <a:tc>
                  <a:txBody>
                    <a:bodyPr wrap="square"/>
                    <a:lstStyle/>
                    <a:p>
                      <a:pPr algn="l"/>
                      <a:r>
                        <a:rPr sz="1050" b="0" i="0">
                          <a:solidFill>
                            <a:srgbClr val="000000"/>
                          </a:solidFill>
                          <a:latin typeface="Calibri"/>
                        </a:rPr>
                        <a:t>Figure 80: Global Market Value by Product Type and End Use, US$ Mn, 2036</a:t>
                      </a:r>
                      <a:endParaRPr sz="1050"/>
                    </a:p>
                  </a:txBody>
                  <a:tcPr marL="9525" marR="9525" marT="9525" marB="0" anchor="ctr"/>
                </a:tc>
              </a:tr>
              <a:tr h="169606">
                <a:tc>
                  <a:txBody>
                    <a:bodyPr wrap="square"/>
                    <a:lstStyle/>
                    <a:p>
                      <a:pPr algn="l"/>
                      <a:r>
                        <a:rPr sz="1050" b="0" i="0">
                          <a:solidFill>
                            <a:srgbClr val="000000"/>
                          </a:solidFill>
                          <a:latin typeface="Calibri"/>
                        </a:rPr>
                        <a:t>Figure 81: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82: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83: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84: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85: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86: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87: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88: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89: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90: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91: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92: Middle East and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93: North America Market Share of Global Market,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95: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96: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97: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98: Middle East and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99: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100: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101: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102: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103: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104: Middle East and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105: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106: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107: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108: East Asia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109: South Asia &amp; Pacific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110: Middle East and Africa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111: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112: U.S.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113: U.S.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115: U.S. Market Value by Flower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by Cultivation Method,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U.S. Market Value by End Use,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119: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120: Germany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Germany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123: Germany Market Value by Flower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Germany Market Value by Cultivation Method,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Germany Market Value by End Use,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Germany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127: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128: Canada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Canada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131: Canada Market Value by Flower Species,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Canada Market Value by Cultivation Method,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Canada Market Value by End Use,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Canada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135: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136: China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138: India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140: Brazil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141: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142: U.K.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143: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144: Japan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145: France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146: France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147: Turkey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148: Turkey Market Value by Product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149: Global Market Average Selling Price Trend, US$/Units, 2021–2036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by Region,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by Product Type,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Flower Species,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Cultivation Method,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Average Selling Price by Distribution Channel,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End Use, US$/Units,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Figure 156: Global Market Value Chain Structure, 2026</a:t>
                      </a:r>
                      <a:endParaRPr sz="1050"/>
                    </a:p>
                  </a:txBody>
                  <a:tcPr marL="9525" marR="9525" marT="9525" marB="0" anchor="ctr"/>
                </a:tc>
              </a:tr>
              <a:tr h="169826">
                <a:tc>
                  <a:txBody>
                    <a:bodyPr wrap="square"/>
                    <a:lstStyle/>
                    <a:p>
                      <a:pPr algn="l"/>
                      <a:r>
                        <a:rPr sz="1050" b="0" i="0">
                          <a:solidFill>
                            <a:srgbClr val="000000"/>
                          </a:solidFill>
                          <a:latin typeface="Calibri"/>
                        </a:rPr>
                        <a:t>Figure 157: Global Market Margin Distribution across the Value Chain, %, 2026</a:t>
                      </a:r>
                      <a:endParaRPr sz="1050"/>
                    </a:p>
                  </a:txBody>
                  <a:tcPr marL="9525" marR="9525" marT="9525" marB="0" anchor="ctr"/>
                </a:tc>
              </a:tr>
              <a:tr h="169826">
                <a:tc>
                  <a:txBody>
                    <a:bodyPr wrap="square"/>
                    <a:lstStyle/>
                    <a:p>
                      <a:pPr algn="l"/>
                      <a:r>
                        <a:rPr sz="1050" b="0" i="0">
                          <a:solidFill>
                            <a:srgbClr val="000000"/>
                          </a:solidFill>
                          <a:latin typeface="Calibri"/>
                        </a:rPr>
                        <a:t>Figure 158: Global Market Cost Structure Breakdown, %, 2026</a:t>
                      </a:r>
                      <a:endParaRPr sz="1050"/>
                    </a:p>
                  </a:txBody>
                  <a:tcPr marL="9525" marR="9525" marT="9525" marB="0" anchor="ctr"/>
                </a:tc>
              </a:tr>
              <a:tr h="169826">
                <a:tc>
                  <a:txBody>
                    <a:bodyPr wrap="square"/>
                    <a:lstStyle/>
                    <a:p>
                      <a:pPr algn="l"/>
                      <a:r>
                        <a:rPr sz="1050" b="0" i="0">
                          <a:solidFill>
                            <a:srgbClr val="000000"/>
                          </a:solidFill>
                          <a:latin typeface="Calibri"/>
                        </a:rPr>
                        <a:t>Figure 159: Global Market Pricing Pressure Assessment by Product Type, 2026–2036</a:t>
                      </a:r>
                      <a:endParaRPr sz="1050"/>
                    </a:p>
                  </a:txBody>
                  <a:tcPr marL="9525" marR="9525" marT="9525" marB="0" anchor="ctr"/>
                </a:tc>
              </a:tr>
              <a:tr h="169826">
                <a:tc>
                  <a:txBody>
                    <a:bodyPr wrap="square"/>
                    <a:lstStyle/>
                    <a:p>
                      <a:pPr algn="l"/>
                      <a:r>
                        <a:rPr sz="1050" b="0" i="0">
                          <a:solidFill>
                            <a:srgbClr val="000000"/>
                          </a:solidFill>
                          <a:latin typeface="Calibri"/>
                        </a:rPr>
                        <a:t>Figure 160: Global Market Import and Export Share by Region, %, 2025</a:t>
                      </a:r>
                      <a:endParaRPr sz="1050"/>
                    </a:p>
                  </a:txBody>
                  <a:tcPr marL="9525" marR="9525" marT="9525" marB="0" anchor="ctr"/>
                </a:tc>
              </a:tr>
              <a:tr h="169826">
                <a:tc>
                  <a:txBody>
                    <a:bodyPr wrap="square"/>
                    <a:lstStyle/>
                    <a:p>
                      <a:pPr algn="l"/>
                      <a:r>
                        <a:rPr sz="1050" b="0" i="0">
                          <a:solidFill>
                            <a:srgbClr val="000000"/>
                          </a:solidFill>
                          <a:latin typeface="Calibri"/>
                        </a:rPr>
                        <a:t>Figure 161: Global Market Trade Balance by Leading Country, US$ Mn, 2025</a:t>
                      </a:r>
                      <a:endParaRPr sz="1050"/>
                    </a:p>
                  </a:txBody>
                  <a:tcPr marL="9525" marR="9525" marT="9525" marB="0" anchor="ctr"/>
                </a:tc>
              </a:tr>
              <a:tr h="169826">
                <a:tc>
                  <a:txBody>
                    <a:bodyPr wrap="square"/>
                    <a:lstStyle/>
                    <a:p>
                      <a:pPr algn="l"/>
                      <a:r>
                        <a:rPr sz="1050" b="0" i="0">
                          <a:solidFill>
                            <a:srgbClr val="000000"/>
                          </a:solidFill>
                          <a:latin typeface="Calibri"/>
                        </a:rPr>
                        <a:t>Figure 162: Global Market Raw Material Price Index, 2025=100, 2021–2036</a:t>
                      </a:r>
                      <a:endParaRPr sz="1050"/>
                    </a:p>
                  </a:txBody>
                  <a:tcPr marL="9525" marR="9525" marT="9525" marB="0" anchor="ctr"/>
                </a:tc>
              </a:tr>
              <a:tr h="169826">
                <a:tc>
                  <a:txBody>
                    <a:bodyPr wrap="square"/>
                    <a:lstStyle/>
                    <a:p>
                      <a:pPr algn="l"/>
                      <a:r>
                        <a:rPr sz="1050" b="0" i="0">
                          <a:solidFill>
                            <a:srgbClr val="000000"/>
                          </a:solidFill>
                          <a:latin typeface="Calibri"/>
                        </a:rPr>
                        <a:t>Figure 163: Company Market Share in the Global Market, %, 2026</a:t>
                      </a:r>
                      <a:endParaRPr sz="1050"/>
                    </a:p>
                  </a:txBody>
                  <a:tcPr marL="9525" marR="9525" marT="9525" marB="0" anchor="ctr"/>
                </a:tc>
              </a:tr>
              <a:tr h="169826">
                <a:tc>
                  <a:txBody>
                    <a:bodyPr wrap="square"/>
                    <a:lstStyle/>
                    <a:p>
                      <a:pPr algn="l"/>
                      <a:r>
                        <a:rPr sz="1050" b="0" i="0">
                          <a:solidFill>
                            <a:srgbClr val="000000"/>
                          </a:solidFill>
                          <a:latin typeface="Calibri"/>
                        </a:rPr>
                        <a:t>Figure 164: Competitive Positioning of Leading Floriculture Manufacturers, 2026</a:t>
                      </a:r>
                      <a:endParaRPr sz="1050"/>
                    </a:p>
                  </a:txBody>
                  <a:tcPr marL="9525" marR="9525" marT="9525" marB="0" anchor="ctr"/>
                </a:tc>
              </a:tr>
              <a:tr h="169826">
                <a:tc>
                  <a:txBody>
                    <a:bodyPr wrap="square"/>
                    <a:lstStyle/>
                    <a:p>
                      <a:pPr algn="l"/>
                      <a:r>
                        <a:rPr sz="1050" b="0" i="0">
                          <a:solidFill>
                            <a:srgbClr val="000000"/>
                          </a:solidFill>
                          <a:latin typeface="Calibri"/>
                        </a:rPr>
                        <a:t>Figure 165: Company Revenue from the Global Market, US$ Mn, 2026</a:t>
                      </a:r>
                      <a:endParaRPr sz="1050"/>
                    </a:p>
                  </a:txBody>
                  <a:tcPr marL="9525" marR="9525" marT="9525" marB="0" anchor="ctr"/>
                </a:tc>
              </a:tr>
              <a:tr h="169826">
                <a:tc>
                  <a:txBody>
                    <a:bodyPr wrap="square"/>
                    <a:lstStyle/>
                    <a:p>
                      <a:pPr algn="l"/>
                      <a:r>
                        <a:rPr sz="1050" b="0" i="0">
                          <a:solidFill>
                            <a:srgbClr val="000000"/>
                          </a:solidFill>
                          <a:latin typeface="Calibri"/>
                        </a:rPr>
                        <a:t>Figure 166: Global Market Concentration by Company Tier, %, 2026</a:t>
                      </a:r>
                      <a:endParaRPr sz="1050"/>
                    </a:p>
                  </a:txBody>
                  <a:tcPr marL="9525" marR="9525" marT="9525" marB="0" anchor="ctr"/>
                </a:tc>
              </a:tr>
              <a:tr h="169826">
                <a:tc>
                  <a:txBody>
                    <a:bodyPr wrap="square"/>
                    <a:lstStyle/>
                    <a:p>
                      <a:pPr algn="l"/>
                      <a:r>
                        <a:rPr sz="1050" b="0" i="0">
                          <a:solidFill>
                            <a:srgbClr val="000000"/>
                          </a:solidFill>
                          <a:latin typeface="Calibri"/>
                        </a:rPr>
                        <a:t>Figure 167: Global Market Competitive Intensity Assessment, 2026</a:t>
                      </a:r>
                      <a:endParaRPr sz="1050"/>
                    </a:p>
                  </a:txBody>
                  <a:tcPr marL="9525" marR="9525" marT="9525" marB="0" anchor="ctr"/>
                </a:tc>
              </a:tr>
              <a:tr h="169826">
                <a:tc>
                  <a:txBody>
                    <a:bodyPr wrap="square"/>
                    <a:lstStyle/>
                    <a:p>
                      <a:pPr algn="l"/>
                      <a:r>
                        <a:rPr sz="1050" b="0" i="0">
                          <a:solidFill>
                            <a:srgbClr val="000000"/>
                          </a:solidFill>
                          <a:latin typeface="Calibri"/>
                        </a:rPr>
                        <a:t>Figure 168: Company Market Share in the North America Market, %, 2026</a:t>
                      </a:r>
                      <a:endParaRPr sz="1050"/>
                    </a:p>
                  </a:txBody>
                  <a:tcPr marL="9525" marR="9525" marT="9525" marB="0" anchor="ctr"/>
                </a:tc>
              </a:tr>
              <a:tr h="169826">
                <a:tc>
                  <a:txBody>
                    <a:bodyPr wrap="square"/>
                    <a:lstStyle/>
                    <a:p>
                      <a:pPr algn="l"/>
                      <a:r>
                        <a:rPr sz="1050" b="0" i="0">
                          <a:solidFill>
                            <a:srgbClr val="000000"/>
                          </a:solidFill>
                          <a:latin typeface="Calibri"/>
                        </a:rPr>
                        <a:t>Figure 169: Company Market Share in the Latin America Market, %, 2026</a:t>
                      </a:r>
                      <a:endParaRPr sz="1050"/>
                    </a:p>
                  </a:txBody>
                  <a:tcPr marL="9525" marR="9525" marT="9525" marB="0" anchor="ctr"/>
                </a:tc>
              </a:tr>
              <a:tr h="169826">
                <a:tc>
                  <a:txBody>
                    <a:bodyPr wrap="square"/>
                    <a:lstStyle/>
                    <a:p>
                      <a:pPr algn="l"/>
                      <a:r>
                        <a:rPr sz="1050" b="0" i="0">
                          <a:solidFill>
                            <a:srgbClr val="000000"/>
                          </a:solidFill>
                          <a:latin typeface="Calibri"/>
                        </a:rPr>
                        <a:t>Figure 170: Company Market Share in the Europe Market, %, 2026</a:t>
                      </a:r>
                      <a:endParaRPr sz="1050"/>
                    </a:p>
                  </a:txBody>
                  <a:tcPr marL="9525" marR="9525" marT="9525" marB="0" anchor="ctr"/>
                </a:tc>
              </a:tr>
              <a:tr h="169826">
                <a:tc>
                  <a:txBody>
                    <a:bodyPr wrap="square"/>
                    <a:lstStyle/>
                    <a:p>
                      <a:pPr algn="l"/>
                      <a:r>
                        <a:rPr sz="1050" b="0" i="0">
                          <a:solidFill>
                            <a:srgbClr val="000000"/>
                          </a:solidFill>
                          <a:latin typeface="Calibri"/>
                        </a:rPr>
                        <a:t>Figure 171: Company Market Share in the East Asia Market, %, 2026</a:t>
                      </a:r>
                      <a:endParaRPr sz="1050"/>
                    </a:p>
                  </a:txBody>
                  <a:tcPr marL="9525" marR="9525" marT="9525" marB="0" anchor="ctr"/>
                </a:tc>
              </a:tr>
              <a:tr h="169826">
                <a:tc>
                  <a:txBody>
                    <a:bodyPr wrap="square"/>
                    <a:lstStyle/>
                    <a:p>
                      <a:pPr algn="l"/>
                      <a:r>
                        <a:rPr sz="1050" b="0" i="0">
                          <a:solidFill>
                            <a:srgbClr val="000000"/>
                          </a:solidFill>
                          <a:latin typeface="Calibri"/>
                        </a:rPr>
                        <a:t>Figure 172: Company Market Share in the South Asia &amp; Pacific Market, %, 2026</a:t>
                      </a:r>
                      <a:endParaRPr sz="1050"/>
                    </a:p>
                  </a:txBody>
                  <a:tcPr marL="9525" marR="9525" marT="9525" marB="0" anchor="ctr"/>
                </a:tc>
              </a:tr>
              <a:tr h="169826">
                <a:tc>
                  <a:txBody>
                    <a:bodyPr wrap="square"/>
                    <a:lstStyle/>
                    <a:p>
                      <a:pPr algn="l"/>
                      <a:r>
                        <a:rPr sz="1050" b="0" i="0">
                          <a:solidFill>
                            <a:srgbClr val="000000"/>
                          </a:solidFill>
                          <a:latin typeface="Calibri"/>
                        </a:rPr>
                        <a:t>Figure 173: Company Market Share in the Middle East and Africa Market, %, 2026</a:t>
                      </a:r>
                      <a:endParaRPr sz="1050"/>
                    </a:p>
                  </a:txBody>
                  <a:tcPr marL="9525" marR="9525" marT="9525" marB="0" anchor="ctr"/>
                </a:tc>
              </a:tr>
              <a:tr h="169826">
                <a:tc>
                  <a:txBody>
                    <a:bodyPr wrap="square"/>
                    <a:lstStyle/>
                    <a:p>
                      <a:pPr algn="l"/>
                      <a:r>
                        <a:rPr sz="1050" b="0" i="0">
                          <a:solidFill>
                            <a:srgbClr val="000000"/>
                          </a:solidFill>
                          <a:latin typeface="Calibri"/>
                        </a:rPr>
                        <a:t>Figure 174: Dümmen Orange: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175: Company: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176: Syngenta Flowers: Revenue from the Global Market and Share, US$ Mn and %, 2026</a:t>
                      </a:r>
                      <a:endParaRPr sz="1050"/>
                    </a:p>
                  </a:txBody>
                  <a:tcPr marL="9525" marR="9525" marT="9525" marB="0" anchor="ctr"/>
                </a:tc>
              </a:tr>
              <a:tr h="332858">
                <a:tc>
                  <a:txBody>
                    <a:bodyPr wrap="square"/>
                    <a:lstStyle/>
                    <a:p>
                      <a:pPr algn="l"/>
                      <a:r>
                        <a:rPr sz="1050" b="0" i="0">
                          <a:solidFill>
                            <a:srgbClr val="000000"/>
                          </a:solidFill>
                          <a:latin typeface="Calibri"/>
                        </a:rPr>
                        <a:t>Figure 177: Ball Horticultural Company: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178: Selecta One: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179: Florensis: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180: HilverdaFlorist: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181: Royal Van Zanten: Revenue from the Global Market and Share, US$ Mn and %, 2026</a:t>
                      </a:r>
                      <a:endParaRPr sz="1050"/>
                    </a:p>
                  </a:txBody>
                  <a:tcPr marL="9525" marR="9525" marT="9525" marB="0" anchor="ctr"/>
                </a:tc>
              </a:tr>
              <a:tr h="169826">
                <a:tc>
                  <a:txBody>
                    <a:bodyPr wrap="square"/>
                    <a:lstStyle/>
                    <a:p>
                      <a:pPr algn="l"/>
                      <a:r>
                        <a:rPr sz="1050" b="0" i="0">
                          <a:solidFill>
                            <a:srgbClr val="000000"/>
                          </a:solidFill>
                          <a:latin typeface="Calibri"/>
                        </a:rPr>
                        <a:t>Figure 182: Global Market Strategic Developments by Type, %, 2025–2026</a:t>
                      </a:r>
                      <a:endParaRPr sz="1050"/>
                    </a:p>
                  </a:txBody>
                  <a:tcPr marL="9525" marR="9525" marT="9525" marB="0" anchor="ctr"/>
                </a:tc>
              </a:tr>
              <a:tr h="169826">
                <a:tc>
                  <a:txBody>
                    <a:bodyPr wrap="square"/>
                    <a:lstStyle/>
                    <a:p>
                      <a:pPr algn="l"/>
                      <a:r>
                        <a:rPr sz="1050" b="0" i="0">
                          <a:solidFill>
                            <a:srgbClr val="000000"/>
                          </a:solidFill>
                          <a:latin typeface="Calibri"/>
                        </a:rPr>
                        <a:t>Figure 183: Global Market Company Footprint by Region, 2026</a:t>
                      </a:r>
                      <a:endParaRPr sz="1050"/>
                    </a:p>
                  </a:txBody>
                  <a:tcPr marL="9525" marR="9525" marT="9525" marB="0" anchor="ctr"/>
                </a:tc>
              </a:tr>
              <a:tr h="169826">
                <a:tc>
                  <a:txBody>
                    <a:bodyPr wrap="square"/>
                    <a:lstStyle/>
                    <a:p>
                      <a:pPr algn="l"/>
                      <a:r>
                        <a:rPr sz="1050" b="0" i="0">
                          <a:solidFill>
                            <a:srgbClr val="000000"/>
                          </a:solidFill>
                          <a:latin typeface="Calibri"/>
                        </a:rPr>
                        <a:t>Figure 184: Global Market Value Forecast by Scenario, US$ Mn, 2026–2036</a:t>
                      </a:r>
                      <a:endParaRPr sz="1050"/>
                    </a:p>
                  </a:txBody>
                  <a:tcPr marL="9525" marR="9525" marT="9525" marB="0" anchor="ctr"/>
                </a:tc>
              </a:tr>
              <a:tr h="169826">
                <a:tc>
                  <a:txBody>
                    <a:bodyPr wrap="square"/>
                    <a:lstStyle/>
                    <a:p>
                      <a:pPr algn="l"/>
                      <a:r>
                        <a:rPr sz="1050" b="0" i="0">
                          <a:solidFill>
                            <a:srgbClr val="000000"/>
                          </a:solidFill>
                          <a:latin typeface="Calibri"/>
                        </a:rPr>
                        <a:t>Figure 185: Global Market YoY Growth by Scenario, %,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50032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186: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Opportunity Map by Region and Product Type,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Emerging Opportunity Pockets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195: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196: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197: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198: Global Market Unmet Needs Analysis by Product Type, 2026</a:t>
                      </a:r>
                      <a:endParaRPr sz="1050"/>
                    </a:p>
                  </a:txBody>
                  <a:tcPr marL="9525" marR="9525" marT="9525" marB="0" anchor="ctr"/>
                </a:tc>
              </a:tr>
              <a:tr h="166688">
                <a:tc>
                  <a:txBody>
                    <a:bodyPr wrap="square"/>
                    <a:lstStyle/>
                    <a:p>
                      <a:pPr algn="l"/>
                      <a:r>
                        <a:rPr sz="1050" b="0" i="0">
                          <a:solidFill>
                            <a:srgbClr val="000000"/>
                          </a:solidFill>
                          <a:latin typeface="Calibri"/>
                        </a:rPr>
                        <a:t>Figure 199: Global Market Right-to-Win Assessment,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Entry Strategy Scorecard,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82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82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82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826">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69826">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69826">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69826">
                <a:tc>
                  <a:txBody>
                    <a:bodyPr wrap="square"/>
                    <a:lstStyle/>
                    <a:p>
                      <a:pPr algn="l"/>
                      <a:r>
                        <a:rPr sz="1050" b="0" i="0">
                          <a:solidFill>
                            <a:srgbClr val="000000"/>
                          </a:solidFill>
                          <a:latin typeface="Calibri"/>
                        </a:rPr>
                        <a:t>Table 11: Global Market Volume and YoY Growth, Mn Units and %, 2021–2036</a:t>
                      </a:r>
                      <a:endParaRPr sz="1050"/>
                    </a:p>
                  </a:txBody>
                  <a:tcPr marL="9525" marR="9525" marT="9525" marB="0" anchor="ctr"/>
                </a:tc>
              </a:tr>
              <a:tr h="169826">
                <a:tc>
                  <a:txBody>
                    <a:bodyPr wrap="square"/>
                    <a:lstStyle/>
                    <a:p>
                      <a:pPr algn="l"/>
                      <a:r>
                        <a:rPr sz="1050" b="0" i="0">
                          <a:solidFill>
                            <a:srgbClr val="000000"/>
                          </a:solidFill>
                          <a:latin typeface="Calibri"/>
                        </a:rPr>
                        <a:t>Table 12: Global Market Volume Forecast, Mn Units, 2026–2036</a:t>
                      </a:r>
                      <a:endParaRPr sz="1050"/>
                    </a:p>
                  </a:txBody>
                  <a:tcPr marL="9525" marR="9525" marT="9525" marB="0" anchor="ctr"/>
                </a:tc>
              </a:tr>
              <a:tr h="169826">
                <a:tc>
                  <a:txBody>
                    <a:bodyPr wrap="square"/>
                    <a:lstStyle/>
                    <a:p>
                      <a:pPr algn="l"/>
                      <a:r>
                        <a:rPr sz="1050" b="0" i="0">
                          <a:solidFill>
                            <a:srgbClr val="000000"/>
                          </a:solidFill>
                          <a:latin typeface="Calibri"/>
                        </a:rPr>
                        <a:t>Table 13: Global Market Average Selling Price, US$/Units, 2021–2036</a:t>
                      </a:r>
                      <a:endParaRPr sz="1050"/>
                    </a:p>
                  </a:txBody>
                  <a:tcPr marL="9525" marR="9525" marT="9525" marB="0" anchor="ctr"/>
                </a:tc>
              </a:tr>
              <a:tr h="169826">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69826">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69826">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69826">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69826">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69826">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69826">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69826">
                <a:tc>
                  <a:txBody>
                    <a:bodyPr wrap="square"/>
                    <a:lstStyle/>
                    <a:p>
                      <a:pPr algn="l"/>
                      <a:r>
                        <a:rPr sz="1050" b="0" i="0">
                          <a:solidFill>
                            <a:srgbClr val="000000"/>
                          </a:solidFill>
                          <a:latin typeface="Calibri"/>
                        </a:rPr>
                        <a:t>Table 21: Global Market Size Evolution Index, 2025=100, 2021–2036</a:t>
                      </a:r>
                      <a:endParaRPr sz="1050"/>
                    </a:p>
                  </a:txBody>
                  <a:tcPr marL="9525" marR="9525" marT="9525" marB="0" anchor="ctr"/>
                </a:tc>
              </a:tr>
              <a:tr h="169826">
                <a:tc>
                  <a:txBody>
                    <a:bodyPr wrap="square"/>
                    <a:lstStyle/>
                    <a:p>
                      <a:pPr algn="l"/>
                      <a:r>
                        <a:rPr sz="1050" b="0" i="0">
                          <a:solidFill>
                            <a:srgbClr val="000000"/>
                          </a:solidFill>
                          <a:latin typeface="Calibri"/>
                        </a:rPr>
                        <a:t>Table 22: Global Market Key Forecast Assumptions, 2026–2036</a:t>
                      </a:r>
                      <a:endParaRPr sz="1050"/>
                    </a:p>
                  </a:txBody>
                  <a:tcPr marL="9525" marR="9525" marT="9525" marB="0" anchor="ctr"/>
                </a:tc>
              </a:tr>
              <a:tr h="169826">
                <a:tc>
                  <a:txBody>
                    <a:bodyPr wrap="square"/>
                    <a:lstStyle/>
                    <a:p>
                      <a:pPr algn="l"/>
                      <a:r>
                        <a:rPr sz="1050" b="0" i="0">
                          <a:solidFill>
                            <a:srgbClr val="000000"/>
                          </a:solidFill>
                          <a:latin typeface="Calibri"/>
                        </a:rPr>
                        <a:t>Table 23: Global Market Value by Product Type, US$ Mn, 2021–2036</a:t>
                      </a:r>
                      <a:endParaRPr sz="1050"/>
                    </a:p>
                  </a:txBody>
                  <a:tcPr marL="9525" marR="9525" marT="9525" marB="0" anchor="ctr"/>
                </a:tc>
              </a:tr>
              <a:tr h="169826">
                <a:tc>
                  <a:txBody>
                    <a:bodyPr wrap="square"/>
                    <a:lstStyle/>
                    <a:p>
                      <a:pPr algn="l"/>
                      <a:r>
                        <a:rPr sz="1050" b="0" i="0">
                          <a:solidFill>
                            <a:srgbClr val="000000"/>
                          </a:solidFill>
                          <a:latin typeface="Calibri"/>
                        </a:rPr>
                        <a:t>Table 24: Global Market Value by Flower Species, US$ Mn, 2021–2036</a:t>
                      </a:r>
                      <a:endParaRPr sz="1050"/>
                    </a:p>
                  </a:txBody>
                  <a:tcPr marL="9525" marR="9525" marT="9525" marB="0" anchor="ctr"/>
                </a:tc>
              </a:tr>
              <a:tr h="169826">
                <a:tc>
                  <a:txBody>
                    <a:bodyPr wrap="square"/>
                    <a:lstStyle/>
                    <a:p>
                      <a:pPr algn="l"/>
                      <a:r>
                        <a:rPr sz="1050" b="0" i="0">
                          <a:solidFill>
                            <a:srgbClr val="000000"/>
                          </a:solidFill>
                          <a:latin typeface="Calibri"/>
                        </a:rPr>
                        <a:t>Table 25: Global Market Value by Cultivation Method, US$ Mn, 2021–2036</a:t>
                      </a:r>
                      <a:endParaRPr sz="1050"/>
                    </a:p>
                  </a:txBody>
                  <a:tcPr marL="9525" marR="9525" marT="9525" marB="0" anchor="ctr"/>
                </a:tc>
              </a:tr>
              <a:tr h="169826">
                <a:tc>
                  <a:txBody>
                    <a:bodyPr wrap="square"/>
                    <a:lstStyle/>
                    <a:p>
                      <a:pPr algn="l"/>
                      <a:r>
                        <a:rPr sz="1050" b="0" i="0">
                          <a:solidFill>
                            <a:srgbClr val="000000"/>
                          </a:solidFill>
                          <a:latin typeface="Calibri"/>
                        </a:rPr>
                        <a:t>Table 26: Global Market Value by Distribution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27: Global Market Value by End Use, US$ Mn, 2021–2036</a:t>
                      </a:r>
                      <a:endParaRPr sz="1050"/>
                    </a:p>
                  </a:txBody>
                  <a:tcPr marL="9525" marR="9525" marT="9525" marB="0" anchor="ctr"/>
                </a:tc>
              </a:tr>
              <a:tr h="169826">
                <a:tc>
                  <a:txBody>
                    <a:bodyPr wrap="square"/>
                    <a:lstStyle/>
                    <a:p>
                      <a:pPr algn="l"/>
                      <a:r>
                        <a:rPr sz="1050" b="0" i="0">
                          <a:solidFill>
                            <a:srgbClr val="000000"/>
                          </a:solidFill>
                          <a:latin typeface="Calibri"/>
                        </a:rPr>
                        <a:t>Table 28: Global Market CAGR and Absolute $ Opportunity by Product Type, %, US$ Mn, 2026–2036</a:t>
                      </a:r>
                      <a:endParaRPr sz="1050"/>
                    </a:p>
                  </a:txBody>
                  <a:tcPr marL="9525" marR="9525" marT="9525" marB="0" anchor="ctr"/>
                </a:tc>
              </a:tr>
              <a:tr h="169826">
                <a:tc>
                  <a:txBody>
                    <a:bodyPr wrap="square"/>
                    <a:lstStyle/>
                    <a:p>
                      <a:pPr algn="l"/>
                      <a:r>
                        <a:rPr sz="1050" b="0" i="0">
                          <a:solidFill>
                            <a:srgbClr val="000000"/>
                          </a:solidFill>
                          <a:latin typeface="Calibri"/>
                        </a:rPr>
                        <a:t>Table 29: Global Market CAGR and Absolute $ Opportunity by Flower Species, %, US$ Mn, 2026–2036</a:t>
                      </a:r>
                      <a:endParaRPr sz="1050"/>
                    </a:p>
                  </a:txBody>
                  <a:tcPr marL="9525" marR="9525" marT="9525" marB="0" anchor="ctr"/>
                </a:tc>
              </a:tr>
              <a:tr h="332858">
                <a:tc>
                  <a:txBody>
                    <a:bodyPr wrap="square"/>
                    <a:lstStyle/>
                    <a:p>
                      <a:pPr algn="l"/>
                      <a:r>
                        <a:rPr sz="1050" b="0" i="0">
                          <a:solidFill>
                            <a:srgbClr val="000000"/>
                          </a:solidFill>
                          <a:latin typeface="Calibri"/>
                        </a:rPr>
                        <a:t>Table 30: Global Market CAGR and Absolute $ Opportunity by Cultivation Method,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Table 31: Global Market CAGR and Absolute $ Opportunity by Distribution Channel, %, US$ Mn, 2026–2036</a:t>
                      </a:r>
                      <a:endParaRPr sz="1050"/>
                    </a:p>
                  </a:txBody>
                  <a:tcPr marL="9525" marR="9525" marT="9525" marB="0" anchor="ctr"/>
                </a:tc>
              </a:tr>
              <a:tr h="169826">
                <a:tc>
                  <a:txBody>
                    <a:bodyPr wrap="square"/>
                    <a:lstStyle/>
                    <a:p>
                      <a:pPr algn="l"/>
                      <a:r>
                        <a:rPr sz="1050" b="0" i="0">
                          <a:solidFill>
                            <a:srgbClr val="000000"/>
                          </a:solidFill>
                          <a:latin typeface="Calibri"/>
                        </a:rPr>
                        <a:t>Table 32: Global Market CAGR and Absolute $ Opportunity by End Use, %, US$ Mn, 2026–2036</a:t>
                      </a:r>
                      <a:endParaRPr sz="1050"/>
                    </a:p>
                  </a:txBody>
                  <a:tcPr marL="9525" marR="9525" marT="9525" marB="0" anchor="ctr"/>
                </a:tc>
              </a:tr>
              <a:tr h="169826">
                <a:tc>
                  <a:txBody>
                    <a:bodyPr wrap="square"/>
                    <a:lstStyle/>
                    <a:p>
                      <a:pPr algn="l"/>
                      <a:r>
                        <a:rPr sz="1050" b="0" i="0">
                          <a:solidFill>
                            <a:srgbClr val="000000"/>
                          </a:solidFill>
                          <a:latin typeface="Calibri"/>
                        </a:rPr>
                        <a:t>Table 33: Global Market Share and BPS Change by Product Type,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34: Global Market Share and BPS Change by Flower Species, %, 2025, 2026 and 2036</a:t>
                      </a:r>
                      <a:endParaRPr sz="1050"/>
                    </a:p>
                  </a:txBody>
                  <a:tcPr marL="9525" marR="9525" marT="9525" marB="0" anchor="ctr"/>
                </a:tc>
              </a:tr>
              <a:tr h="169826">
                <a:tc>
                  <a:txBody>
                    <a:bodyPr wrap="square"/>
                    <a:lstStyle/>
                    <a:p>
                      <a:pPr algn="l"/>
                      <a:r>
                        <a:rPr sz="1050" b="0" i="0">
                          <a:solidFill>
                            <a:srgbClr val="000000"/>
                          </a:solidFill>
                          <a:latin typeface="Calibri"/>
                        </a:rPr>
                        <a:t>Table 35: Global Market Share and BPS Change by Cultivation Method, %, 2025, 2026 and 2036</a:t>
                      </a:r>
                      <a:endParaRPr sz="1050"/>
                    </a:p>
                  </a:txBody>
                  <a:tcPr marL="9525" marR="9525" marT="9525" marB="0" anchor="ctr"/>
                </a:tc>
              </a:tr>
              <a:tr h="169826">
                <a:tc>
                  <a:txBody>
                    <a:bodyPr wrap="square"/>
                    <a:lstStyle/>
                    <a:p>
                      <a:pPr algn="l"/>
                      <a:r>
                        <a:rPr sz="1050" b="0" i="0">
                          <a:solidFill>
                            <a:srgbClr val="000000"/>
                          </a:solidFill>
                          <a:latin typeface="Calibri"/>
                        </a:rPr>
                        <a:t>Table 36: Global Market Share and BPS Change by Distribution Channel, %, 2025, 2026 and 2036</a:t>
                      </a:r>
                      <a:endParaRPr sz="1050"/>
                    </a:p>
                  </a:txBody>
                  <a:tcPr marL="9525" marR="9525" marT="9525" marB="0" anchor="ctr"/>
                </a:tc>
              </a:tr>
              <a:tr h="169826">
                <a:tc>
                  <a:txBody>
                    <a:bodyPr wrap="square"/>
                    <a:lstStyle/>
                    <a:p>
                      <a:pPr algn="l"/>
                      <a:r>
                        <a:rPr sz="1050" b="0" i="0">
                          <a:solidFill>
                            <a:srgbClr val="000000"/>
                          </a:solidFill>
                          <a:latin typeface="Calibri"/>
                        </a:rPr>
                        <a:t>Table 37: Global Market Share and BPS Change by End Use,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38: Global Market YoY Growth by Product Type, %, 2026–2036</a:t>
                      </a:r>
                      <a:endParaRPr sz="1050"/>
                    </a:p>
                  </a:txBody>
                  <a:tcPr marL="9525" marR="9525" marT="9525" marB="0" anchor="ctr"/>
                </a:tc>
              </a:tr>
              <a:tr h="169826">
                <a:tc>
                  <a:txBody>
                    <a:bodyPr wrap="square"/>
                    <a:lstStyle/>
                    <a:p>
                      <a:pPr algn="l"/>
                      <a:r>
                        <a:rPr sz="1050" b="0" i="0">
                          <a:solidFill>
                            <a:srgbClr val="000000"/>
                          </a:solidFill>
                          <a:latin typeface="Calibri"/>
                        </a:rPr>
                        <a:t>Table 39: Global Market YoY Growth by Flower Species, %, 2026–2036</a:t>
                      </a:r>
                      <a:endParaRPr sz="1050"/>
                    </a:p>
                  </a:txBody>
                  <a:tcPr marL="9525" marR="9525" marT="9525" marB="0" anchor="ctr"/>
                </a:tc>
              </a:tr>
              <a:tr h="169826">
                <a:tc>
                  <a:txBody>
                    <a:bodyPr wrap="square"/>
                    <a:lstStyle/>
                    <a:p>
                      <a:pPr algn="l"/>
                      <a:r>
                        <a:rPr sz="1050" b="0" i="0">
                          <a:solidFill>
                            <a:srgbClr val="000000"/>
                          </a:solidFill>
                          <a:latin typeface="Calibri"/>
                        </a:rPr>
                        <a:t>Table 40: Global Market YoY Growth by Cultivation Method, %, 2026–2036</a:t>
                      </a:r>
                      <a:endParaRPr sz="1050"/>
                    </a:p>
                  </a:txBody>
                  <a:tcPr marL="9525" marR="9525" marT="9525" marB="0" anchor="ctr"/>
                </a:tc>
              </a:tr>
              <a:tr h="169826">
                <a:tc>
                  <a:txBody>
                    <a:bodyPr wrap="square"/>
                    <a:lstStyle/>
                    <a:p>
                      <a:pPr algn="l"/>
                      <a:r>
                        <a:rPr sz="1050" b="0" i="0">
                          <a:solidFill>
                            <a:srgbClr val="000000"/>
                          </a:solidFill>
                          <a:latin typeface="Calibri"/>
                        </a:rPr>
                        <a:t>Table 41: Global Market YoY Growth by Distribution Channel, %, 2026–2036</a:t>
                      </a:r>
                      <a:endParaRPr sz="1050"/>
                    </a:p>
                  </a:txBody>
                  <a:tcPr marL="9525" marR="9525" marT="9525" marB="0" anchor="ctr"/>
                </a:tc>
              </a:tr>
              <a:tr h="169826">
                <a:tc>
                  <a:txBody>
                    <a:bodyPr wrap="square"/>
                    <a:lstStyle/>
                    <a:p>
                      <a:pPr algn="l"/>
                      <a:r>
                        <a:rPr sz="1050" b="0" i="0">
                          <a:solidFill>
                            <a:srgbClr val="000000"/>
                          </a:solidFill>
                          <a:latin typeface="Calibri"/>
                        </a:rPr>
                        <a:t>Table 42: Global Market YoY Growth by End Use, %, 2026–2036</a:t>
                      </a:r>
                      <a:endParaRPr sz="1050"/>
                    </a:p>
                  </a:txBody>
                  <a:tcPr marL="9525" marR="9525" marT="9525" marB="0" anchor="ctr"/>
                </a:tc>
              </a:tr>
              <a:tr h="169826">
                <a:tc>
                  <a:txBody>
                    <a:bodyPr wrap="square"/>
                    <a:lstStyle/>
                    <a:p>
                      <a:pPr algn="l"/>
                      <a:r>
                        <a:rPr sz="1050" b="0" i="0">
                          <a:solidFill>
                            <a:srgbClr val="000000"/>
                          </a:solidFill>
                          <a:latin typeface="Calibri"/>
                        </a:rPr>
                        <a:t>Table 43: Global Market Volume by Product Type, Mn Units, 2021–2036</a:t>
                      </a:r>
                      <a:endParaRPr sz="1050"/>
                    </a:p>
                  </a:txBody>
                  <a:tcPr marL="9525" marR="9525" marT="9525" marB="0" anchor="ctr"/>
                </a:tc>
              </a:tr>
              <a:tr h="169826">
                <a:tc>
                  <a:txBody>
                    <a:bodyPr wrap="square"/>
                    <a:lstStyle/>
                    <a:p>
                      <a:pPr algn="l"/>
                      <a:r>
                        <a:rPr sz="1050" b="0" i="0">
                          <a:solidFill>
                            <a:srgbClr val="000000"/>
                          </a:solidFill>
                          <a:latin typeface="Calibri"/>
                        </a:rPr>
                        <a:t>Table 44: Global Market Volume by Flower Species, Mn Units, 2021–2036</a:t>
                      </a:r>
                      <a:endParaRPr sz="1050"/>
                    </a:p>
                  </a:txBody>
                  <a:tcPr marL="9525" marR="9525" marT="9525" marB="0" anchor="ctr"/>
                </a:tc>
              </a:tr>
              <a:tr h="169826">
                <a:tc>
                  <a:txBody>
                    <a:bodyPr wrap="square"/>
                    <a:lstStyle/>
                    <a:p>
                      <a:pPr algn="l"/>
                      <a:r>
                        <a:rPr sz="1050" b="0" i="0">
                          <a:solidFill>
                            <a:srgbClr val="000000"/>
                          </a:solidFill>
                          <a:latin typeface="Calibri"/>
                        </a:rPr>
                        <a:t>Table 45: Global Market Volume by Cultivation Method, Mn Units, 2021–2036</a:t>
                      </a:r>
                      <a:endParaRPr sz="1050"/>
                    </a:p>
                  </a:txBody>
                  <a:tcPr marL="9525" marR="9525" marT="9525" marB="0" anchor="ctr"/>
                </a:tc>
              </a:tr>
              <a:tr h="169826">
                <a:tc>
                  <a:txBody>
                    <a:bodyPr wrap="square"/>
                    <a:lstStyle/>
                    <a:p>
                      <a:pPr algn="l"/>
                      <a:r>
                        <a:rPr sz="1050" b="0" i="0">
                          <a:solidFill>
                            <a:srgbClr val="000000"/>
                          </a:solidFill>
                          <a:latin typeface="Calibri"/>
                        </a:rPr>
                        <a:t>Table 46: Global Market Volume by Distribution Channel, Mn Units, 2021–2036</a:t>
                      </a:r>
                      <a:endParaRPr sz="1050"/>
                    </a:p>
                  </a:txBody>
                  <a:tcPr marL="9525" marR="9525" marT="9525" marB="0" anchor="ctr"/>
                </a:tc>
              </a:tr>
              <a:tr h="169826">
                <a:tc>
                  <a:txBody>
                    <a:bodyPr wrap="square"/>
                    <a:lstStyle/>
                    <a:p>
                      <a:pPr algn="l"/>
                      <a:r>
                        <a:rPr sz="1050" b="0" i="0">
                          <a:solidFill>
                            <a:srgbClr val="000000"/>
                          </a:solidFill>
                          <a:latin typeface="Calibri"/>
                        </a:rPr>
                        <a:t>Table 47: Global Market Volume by End Use, Mn Units, 2021–2036</a:t>
                      </a:r>
                      <a:endParaRPr sz="1050"/>
                    </a:p>
                  </a:txBody>
                  <a:tcPr marL="9525" marR="9525" marT="9525" marB="0" anchor="ctr"/>
                </a:tc>
              </a:tr>
              <a:tr h="169826">
                <a:tc>
                  <a:txBody>
                    <a:bodyPr wrap="square"/>
                    <a:lstStyle/>
                    <a:p>
                      <a:pPr algn="l"/>
                      <a:r>
                        <a:rPr sz="1050" b="0" i="0">
                          <a:solidFill>
                            <a:srgbClr val="000000"/>
                          </a:solidFill>
                          <a:latin typeface="Calibri"/>
                        </a:rPr>
                        <a:t>Table 48: Global Market Average Selling Price by Product Type, US$/Units, 2021–2036</a:t>
                      </a:r>
                      <a:endParaRPr sz="1050"/>
                    </a:p>
                  </a:txBody>
                  <a:tcPr marL="9525" marR="9525" marT="9525" marB="0" anchor="ctr"/>
                </a:tc>
              </a:tr>
              <a:tr h="169826">
                <a:tc>
                  <a:txBody>
                    <a:bodyPr wrap="square"/>
                    <a:lstStyle/>
                    <a:p>
                      <a:pPr algn="l"/>
                      <a:r>
                        <a:rPr sz="1050" b="0" i="0">
                          <a:solidFill>
                            <a:srgbClr val="000000"/>
                          </a:solidFill>
                          <a:latin typeface="Calibri"/>
                        </a:rPr>
                        <a:t>Table 49: Global Market Average Selling Price by Flower Species, US$/Units, 2021–2036</a:t>
                      </a:r>
                      <a:endParaRPr sz="1050"/>
                    </a:p>
                  </a:txBody>
                  <a:tcPr marL="9525" marR="9525" marT="9525" marB="0" anchor="ctr"/>
                </a:tc>
              </a:tr>
              <a:tr h="169826">
                <a:tc>
                  <a:txBody>
                    <a:bodyPr wrap="square"/>
                    <a:lstStyle/>
                    <a:p>
                      <a:pPr algn="l"/>
                      <a:r>
                        <a:rPr sz="1050" b="0" i="0">
                          <a:solidFill>
                            <a:srgbClr val="000000"/>
                          </a:solidFill>
                          <a:latin typeface="Calibri"/>
                        </a:rPr>
                        <a:t>Table 50: Global Market Average Selling Price by Cultivation Method, US$/Units, 2021–2036</a:t>
                      </a:r>
                      <a:endParaRPr sz="1050"/>
                    </a:p>
                  </a:txBody>
                  <a:tcPr marL="9525" marR="9525" marT="9525" marB="0" anchor="ctr"/>
                </a:tc>
              </a:tr>
              <a:tr h="169826">
                <a:tc>
                  <a:txBody>
                    <a:bodyPr wrap="square"/>
                    <a:lstStyle/>
                    <a:p>
                      <a:pPr algn="l"/>
                      <a:r>
                        <a:rPr sz="1050" b="0" i="0">
                          <a:solidFill>
                            <a:srgbClr val="000000"/>
                          </a:solidFill>
                          <a:latin typeface="Calibri"/>
                        </a:rPr>
                        <a:t>Table 51: Global Market Average Selling Price by Distribution Channel, US$/Units, 2021–2036</a:t>
                      </a:r>
                      <a:endParaRPr sz="1050"/>
                    </a:p>
                  </a:txBody>
                  <a:tcPr marL="9525" marR="9525" marT="9525" marB="0" anchor="ctr"/>
                </a:tc>
              </a:tr>
              <a:tr h="169826">
                <a:tc>
                  <a:txBody>
                    <a:bodyPr wrap="square"/>
                    <a:lstStyle/>
                    <a:p>
                      <a:pPr algn="l"/>
                      <a:r>
                        <a:rPr sz="1050" b="0" i="0">
                          <a:solidFill>
                            <a:srgbClr val="000000"/>
                          </a:solidFill>
                          <a:latin typeface="Calibri"/>
                        </a:rPr>
                        <a:t>Table 52: Global Market Average Selling Price by End Use, US$/Units, 2021–2036</a:t>
                      </a:r>
                      <a:endParaRPr sz="1050"/>
                    </a:p>
                  </a:txBody>
                  <a:tcPr marL="9525" marR="9525" marT="9525" marB="0" anchor="ctr"/>
                </a:tc>
              </a:tr>
              <a:tr h="169826">
                <a:tc>
                  <a:txBody>
                    <a:bodyPr wrap="square"/>
                    <a:lstStyle/>
                    <a:p>
                      <a:pPr algn="l"/>
                      <a:r>
                        <a:rPr sz="1050" b="0" i="0">
                          <a:solidFill>
                            <a:srgbClr val="000000"/>
                          </a:solidFill>
                          <a:latin typeface="Calibri"/>
                        </a:rPr>
                        <a:t>Table 53: Global Market Attractiveness Index by Product Type, 2026–2036</a:t>
                      </a:r>
                      <a:endParaRPr sz="1050"/>
                    </a:p>
                  </a:txBody>
                  <a:tcPr marL="9525" marR="9525" marT="9525" marB="0" anchor="ctr"/>
                </a:tc>
              </a:tr>
              <a:tr h="169826">
                <a:tc>
                  <a:txBody>
                    <a:bodyPr wrap="square"/>
                    <a:lstStyle/>
                    <a:p>
                      <a:pPr algn="l"/>
                      <a:r>
                        <a:rPr sz="1050" b="0" i="0">
                          <a:solidFill>
                            <a:srgbClr val="000000"/>
                          </a:solidFill>
                          <a:latin typeface="Calibri"/>
                        </a:rPr>
                        <a:t>Table 54: Global Market Attractiveness Index by Flower Species, 2026–2036</a:t>
                      </a:r>
                      <a:endParaRPr sz="1050"/>
                    </a:p>
                  </a:txBody>
                  <a:tcPr marL="9525" marR="9525" marT="9525" marB="0" anchor="ctr"/>
                </a:tc>
              </a:tr>
              <a:tr h="169826">
                <a:tc>
                  <a:txBody>
                    <a:bodyPr wrap="square"/>
                    <a:lstStyle/>
                    <a:p>
                      <a:pPr algn="l"/>
                      <a:r>
                        <a:rPr sz="1050" b="0" i="0">
                          <a:solidFill>
                            <a:srgbClr val="000000"/>
                          </a:solidFill>
                          <a:latin typeface="Calibri"/>
                        </a:rPr>
                        <a:t>Table 55: Global Market Attractiveness Index by Cultivation Method, 2026–2036</a:t>
                      </a:r>
                      <a:endParaRPr sz="1050"/>
                    </a:p>
                  </a:txBody>
                  <a:tcPr marL="9525" marR="9525" marT="9525" marB="0" anchor="ctr"/>
                </a:tc>
              </a:tr>
              <a:tr h="169826">
                <a:tc>
                  <a:txBody>
                    <a:bodyPr wrap="square"/>
                    <a:lstStyle/>
                    <a:p>
                      <a:pPr algn="l"/>
                      <a:r>
                        <a:rPr sz="1050" b="0" i="0">
                          <a:solidFill>
                            <a:srgbClr val="000000"/>
                          </a:solidFill>
                          <a:latin typeface="Calibri"/>
                        </a:rPr>
                        <a:t>Table 56: Global Market Attractiveness Index by Distribution Channel, 2026–2036</a:t>
                      </a:r>
                      <a:endParaRPr sz="1050"/>
                    </a:p>
                  </a:txBody>
                  <a:tcPr marL="9525" marR="9525" marT="9525" marB="0" anchor="ctr"/>
                </a:tc>
              </a:tr>
              <a:tr h="169826">
                <a:tc>
                  <a:txBody>
                    <a:bodyPr wrap="square"/>
                    <a:lstStyle/>
                    <a:p>
                      <a:pPr algn="l"/>
                      <a:r>
                        <a:rPr sz="1050" b="0" i="0">
                          <a:solidFill>
                            <a:srgbClr val="000000"/>
                          </a:solidFill>
                          <a:latin typeface="Calibri"/>
                        </a:rPr>
                        <a:t>Table 57: Global Market Attractiveness Index by End Use, 2026–2036</a:t>
                      </a:r>
                      <a:endParaRPr sz="1050"/>
                    </a:p>
                  </a:txBody>
                  <a:tcPr marL="9525" marR="9525" marT="9525" marB="0" anchor="ctr"/>
                </a:tc>
              </a:tr>
              <a:tr h="169826">
                <a:tc>
                  <a:txBody>
                    <a:bodyPr wrap="square"/>
                    <a:lstStyle/>
                    <a:p>
                      <a:pPr algn="l"/>
                      <a:r>
                        <a:rPr sz="1050" b="0" i="0">
                          <a:solidFill>
                            <a:srgbClr val="000000"/>
                          </a:solidFill>
                          <a:latin typeface="Calibri"/>
                        </a:rPr>
                        <a:t>Table 58: Global Market Value of Cut Flowers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59: Global Market Value of Roses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60: Global Market Value of Protected Cultivation by Region,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Table 61: Global Market Value of Direct Sales to Commercial &amp; Institutional Buyers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62: Global Market Value of Personal Gifting &amp; Celebrations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63: Global Market Value of Potted Flowering Plants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64: Global Market Value of Carnations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65: Global Market Value of Open-Field Cultivation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66: Global Market Value of Florists &amp; Specialty Flower Shops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67: Global Market Value of Residential &amp; Home Decoration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68: Global Market Value of Potted Foliage Plants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69: Global Market Value of Chrysanthemums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70: Global Market Value by Cultivation Method by Scenario, US$ Mn, 2036</a:t>
                      </a:r>
                      <a:endParaRPr sz="1050"/>
                    </a:p>
                  </a:txBody>
                  <a:tcPr marL="9525" marR="9525" marT="9525" marB="0" anchor="ctr"/>
                </a:tc>
              </a:tr>
              <a:tr h="169826">
                <a:tc>
                  <a:txBody>
                    <a:bodyPr wrap="square"/>
                    <a:lstStyle/>
                    <a:p>
                      <a:pPr algn="l"/>
                      <a:r>
                        <a:rPr sz="1050" b="0" i="0">
                          <a:solidFill>
                            <a:srgbClr val="000000"/>
                          </a:solidFill>
                          <a:latin typeface="Calibri"/>
                        </a:rPr>
                        <a:t>Table 71: Global Market Value of Supermarkets &amp; Hypermarkets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72: Global Market Value of Weddings &amp; Special Events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73: Global Market Value of Bedding &amp; Garden Flowering Plants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74: Global Market Value of Lilies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75: Global Market Value by Product Type and Flower Species, US$ Mn, 2026–2036</a:t>
                      </a:r>
                      <a:endParaRPr sz="1050"/>
                    </a:p>
                  </a:txBody>
                  <a:tcPr marL="9525" marR="9525" marT="9525" marB="0" anchor="ctr"/>
                </a:tc>
              </a:tr>
              <a:tr h="169826">
                <a:tc>
                  <a:txBody>
                    <a:bodyPr wrap="square"/>
                    <a:lstStyle/>
                    <a:p>
                      <a:pPr algn="l"/>
                      <a:r>
                        <a:rPr sz="1050" b="0" i="0">
                          <a:solidFill>
                            <a:srgbClr val="000000"/>
                          </a:solidFill>
                          <a:latin typeface="Calibri"/>
                        </a:rPr>
                        <a:t>Table 76: Global Market Value by Product Type and Cultivation Method, US$ Mn, 2026–2036</a:t>
                      </a:r>
                      <a:endParaRPr sz="1050"/>
                    </a:p>
                  </a:txBody>
                  <a:tcPr marL="9525" marR="9525" marT="9525" marB="0" anchor="ctr"/>
                </a:tc>
              </a:tr>
              <a:tr h="169826">
                <a:tc>
                  <a:txBody>
                    <a:bodyPr wrap="square"/>
                    <a:lstStyle/>
                    <a:p>
                      <a:pPr algn="l"/>
                      <a:r>
                        <a:rPr sz="1050" b="0" i="0">
                          <a:solidFill>
                            <a:srgbClr val="000000"/>
                          </a:solidFill>
                          <a:latin typeface="Calibri"/>
                        </a:rPr>
                        <a:t>Table 77: Global Market Value by Product Type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78: Global Market Value by Product Type and End Use, US$ Mn, 2026–2036</a:t>
                      </a:r>
                      <a:endParaRPr sz="1050"/>
                    </a:p>
                  </a:txBody>
                  <a:tcPr marL="9525" marR="9525" marT="9525" marB="0" anchor="ctr"/>
                </a:tc>
              </a:tr>
              <a:tr h="169826">
                <a:tc>
                  <a:txBody>
                    <a:bodyPr wrap="square"/>
                    <a:lstStyle/>
                    <a:p>
                      <a:pPr algn="l"/>
                      <a:r>
                        <a:rPr sz="1050" b="0" i="0">
                          <a:solidFill>
                            <a:srgbClr val="000000"/>
                          </a:solidFill>
                          <a:latin typeface="Calibri"/>
                        </a:rPr>
                        <a:t>Table 79: Global Market Value by Flower Species and Cultivation Method, US$ Mn, 2026–2036</a:t>
                      </a:r>
                      <a:endParaRPr sz="1050"/>
                    </a:p>
                  </a:txBody>
                  <a:tcPr marL="9525" marR="9525" marT="9525" marB="0" anchor="ctr"/>
                </a:tc>
              </a:tr>
              <a:tr h="169826">
                <a:tc>
                  <a:txBody>
                    <a:bodyPr wrap="square"/>
                    <a:lstStyle/>
                    <a:p>
                      <a:pPr algn="l"/>
                      <a:r>
                        <a:rPr sz="1050" b="0" i="0">
                          <a:solidFill>
                            <a:srgbClr val="000000"/>
                          </a:solidFill>
                          <a:latin typeface="Calibri"/>
                        </a:rPr>
                        <a:t>Table 80: Global Market Value by Flower Species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81: Global Market Value by Flower Species and End Use, US$ Mn, 2026–2036</a:t>
                      </a:r>
                      <a:endParaRPr sz="1050"/>
                    </a:p>
                  </a:txBody>
                  <a:tcPr marL="9525" marR="9525" marT="9525" marB="0" anchor="ctr"/>
                </a:tc>
              </a:tr>
              <a:tr h="169826">
                <a:tc>
                  <a:txBody>
                    <a:bodyPr wrap="square"/>
                    <a:lstStyle/>
                    <a:p>
                      <a:pPr algn="l"/>
                      <a:r>
                        <a:rPr sz="1050" b="0" i="0">
                          <a:solidFill>
                            <a:srgbClr val="000000"/>
                          </a:solidFill>
                          <a:latin typeface="Calibri"/>
                        </a:rPr>
                        <a:t>Table 82: Global Market Value by Cultivation Method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83: Global Market Value by Cultivation Method and End Use, US$ Mn, 2026–2036</a:t>
                      </a:r>
                      <a:endParaRPr sz="1050"/>
                    </a:p>
                  </a:txBody>
                  <a:tcPr marL="9525" marR="9525" marT="9525" marB="0" anchor="ctr"/>
                </a:tc>
              </a:tr>
              <a:tr h="169826">
                <a:tc>
                  <a:txBody>
                    <a:bodyPr wrap="square"/>
                    <a:lstStyle/>
                    <a:p>
                      <a:pPr algn="l"/>
                      <a:r>
                        <a:rPr sz="1050" b="0" i="0">
                          <a:solidFill>
                            <a:srgbClr val="000000"/>
                          </a:solidFill>
                          <a:latin typeface="Calibri"/>
                        </a:rPr>
                        <a:t>Table 84: Global Market Value by Distribution Channel and End Use, US$ Mn, 2026–2036</a:t>
                      </a:r>
                      <a:endParaRPr sz="1050"/>
                    </a:p>
                  </a:txBody>
                  <a:tcPr marL="9525" marR="9525" marT="9525" marB="0" anchor="ctr"/>
                </a:tc>
              </a:tr>
              <a:tr h="169826">
                <a:tc>
                  <a:txBody>
                    <a:bodyPr wrap="square"/>
                    <a:lstStyle/>
                    <a:p>
                      <a:pPr algn="l"/>
                      <a:r>
                        <a:rPr sz="1050" b="0" i="0">
                          <a:solidFill>
                            <a:srgbClr val="000000"/>
                          </a:solidFill>
                          <a:latin typeface="Calibri"/>
                        </a:rPr>
                        <a:t>Table 85: Global Market Value by Region and Product Type, US$ Mn, 2026–2036</a:t>
                      </a:r>
                      <a:endParaRPr sz="1050"/>
                    </a:p>
                  </a:txBody>
                  <a:tcPr marL="9525" marR="9525" marT="9525" marB="0" anchor="ctr"/>
                </a:tc>
              </a:tr>
              <a:tr h="169826">
                <a:tc>
                  <a:txBody>
                    <a:bodyPr wrap="square"/>
                    <a:lstStyle/>
                    <a:p>
                      <a:pPr algn="l"/>
                      <a:r>
                        <a:rPr sz="1050" b="0" i="0">
                          <a:solidFill>
                            <a:srgbClr val="000000"/>
                          </a:solidFill>
                          <a:latin typeface="Calibri"/>
                        </a:rPr>
                        <a:t>Table 86: Global Market Value by Region and Flower Species, US$ Mn, 2026–2036</a:t>
                      </a:r>
                      <a:endParaRPr sz="1050"/>
                    </a:p>
                  </a:txBody>
                  <a:tcPr marL="9525" marR="9525" marT="9525" marB="0" anchor="ctr"/>
                </a:tc>
              </a:tr>
              <a:tr h="169826">
                <a:tc>
                  <a:txBody>
                    <a:bodyPr wrap="square"/>
                    <a:lstStyle/>
                    <a:p>
                      <a:pPr algn="l"/>
                      <a:r>
                        <a:rPr sz="1050" b="0" i="0">
                          <a:solidFill>
                            <a:srgbClr val="000000"/>
                          </a:solidFill>
                          <a:latin typeface="Calibri"/>
                        </a:rPr>
                        <a:t>Table 87: Global Market Value by Region and Cultivation Method, US$ Mn, 2026–2036</a:t>
                      </a:r>
                      <a:endParaRPr sz="1050"/>
                    </a:p>
                  </a:txBody>
                  <a:tcPr marL="9525" marR="9525" marT="9525" marB="0" anchor="ctr"/>
                </a:tc>
              </a:tr>
              <a:tr h="169826">
                <a:tc>
                  <a:txBody>
                    <a:bodyPr wrap="square"/>
                    <a:lstStyle/>
                    <a:p>
                      <a:pPr algn="l"/>
                      <a:r>
                        <a:rPr sz="1050" b="0" i="0">
                          <a:solidFill>
                            <a:srgbClr val="000000"/>
                          </a:solidFill>
                          <a:latin typeface="Calibri"/>
                        </a:rPr>
                        <a:t>Table 88: Global Market Value by Region and Distribution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89: Global Market Value by Region and End Use, US$ Mn, 2026–2036</a:t>
                      </a:r>
                      <a:endParaRPr sz="1050"/>
                    </a:p>
                  </a:txBody>
                  <a:tcPr marL="9525" marR="9525" marT="9525" marB="0" anchor="ctr"/>
                </a:tc>
              </a:tr>
              <a:tr h="169826">
                <a:tc>
                  <a:txBody>
                    <a:bodyPr wrap="square"/>
                    <a:lstStyle/>
                    <a:p>
                      <a:pPr algn="l"/>
                      <a:r>
                        <a:rPr sz="1050" b="0" i="0">
                          <a:solidFill>
                            <a:srgbClr val="000000"/>
                          </a:solidFill>
                          <a:latin typeface="Calibri"/>
                        </a:rPr>
                        <a:t>Table 90: Global Market CAGR by Product Type and Flower Species, %,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91: Global Market CAGR by Product Type and Cultivation Method, %, 2026–2036</a:t>
                      </a:r>
                      <a:endParaRPr sz="1050"/>
                    </a:p>
                  </a:txBody>
                  <a:tcPr marL="9525" marR="9525" marT="9525" marB="0" anchor="ctr"/>
                </a:tc>
              </a:tr>
              <a:tr h="170266">
                <a:tc>
                  <a:txBody>
                    <a:bodyPr wrap="square"/>
                    <a:lstStyle/>
                    <a:p>
                      <a:pPr algn="l"/>
                      <a:r>
                        <a:rPr sz="1050" b="0" i="0">
                          <a:solidFill>
                            <a:srgbClr val="000000"/>
                          </a:solidFill>
                          <a:latin typeface="Calibri"/>
                        </a:rPr>
                        <a:t>Table 92: Global Market CAGR by Product Type and Distribution Channel, %, 2026–2036</a:t>
                      </a:r>
                      <a:endParaRPr sz="1050"/>
                    </a:p>
                  </a:txBody>
                  <a:tcPr marL="9525" marR="9525" marT="9525" marB="0" anchor="ctr"/>
                </a:tc>
              </a:tr>
              <a:tr h="170266">
                <a:tc>
                  <a:txBody>
                    <a:bodyPr wrap="square"/>
                    <a:lstStyle/>
                    <a:p>
                      <a:pPr algn="l"/>
                      <a:r>
                        <a:rPr sz="1050" b="0" i="0">
                          <a:solidFill>
                            <a:srgbClr val="000000"/>
                          </a:solidFill>
                          <a:latin typeface="Calibri"/>
                        </a:rPr>
                        <a:t>Table 93: Global Market CAGR by Product Type and End Use, %, 2026–2036</a:t>
                      </a:r>
                      <a:endParaRPr sz="1050"/>
                    </a:p>
                  </a:txBody>
                  <a:tcPr marL="9525" marR="9525" marT="9525" marB="0" anchor="ctr"/>
                </a:tc>
              </a:tr>
              <a:tr h="170266">
                <a:tc>
                  <a:txBody>
                    <a:bodyPr wrap="square"/>
                    <a:lstStyle/>
                    <a:p>
                      <a:pPr algn="l"/>
                      <a:r>
                        <a:rPr sz="1050" b="0" i="0">
                          <a:solidFill>
                            <a:srgbClr val="000000"/>
                          </a:solidFill>
                          <a:latin typeface="Calibri"/>
                        </a:rPr>
                        <a:t>Table 94: Global Market CAGR by Flower Species and Cultivation Method, %, 2026–2036</a:t>
                      </a:r>
                      <a:endParaRPr sz="1050"/>
                    </a:p>
                  </a:txBody>
                  <a:tcPr marL="9525" marR="9525" marT="9525" marB="0" anchor="ctr"/>
                </a:tc>
              </a:tr>
              <a:tr h="170266">
                <a:tc>
                  <a:txBody>
                    <a:bodyPr wrap="square"/>
                    <a:lstStyle/>
                    <a:p>
                      <a:pPr algn="l"/>
                      <a:r>
                        <a:rPr sz="1050" b="0" i="0">
                          <a:solidFill>
                            <a:srgbClr val="000000"/>
                          </a:solidFill>
                          <a:latin typeface="Calibri"/>
                        </a:rPr>
                        <a:t>Table 95: Global Market CAGR by Flower Species and Distribution Channel, %, 2026–2036</a:t>
                      </a:r>
                      <a:endParaRPr sz="1050"/>
                    </a:p>
                  </a:txBody>
                  <a:tcPr marL="9525" marR="9525" marT="9525" marB="0" anchor="ctr"/>
                </a:tc>
              </a:tr>
              <a:tr h="170266">
                <a:tc>
                  <a:txBody>
                    <a:bodyPr wrap="square"/>
                    <a:lstStyle/>
                    <a:p>
                      <a:pPr algn="l"/>
                      <a:r>
                        <a:rPr sz="1050" b="0" i="0">
                          <a:solidFill>
                            <a:srgbClr val="000000"/>
                          </a:solidFill>
                          <a:latin typeface="Calibri"/>
                        </a:rPr>
                        <a:t>Table 96: Global Market CAGR by Flower Species and End Use, %, 2026–2036</a:t>
                      </a:r>
                      <a:endParaRPr sz="1050"/>
                    </a:p>
                  </a:txBody>
                  <a:tcPr marL="9525" marR="9525" marT="9525" marB="0" anchor="ctr"/>
                </a:tc>
              </a:tr>
              <a:tr h="170266">
                <a:tc>
                  <a:txBody>
                    <a:bodyPr wrap="square"/>
                    <a:lstStyle/>
                    <a:p>
                      <a:pPr algn="l"/>
                      <a:r>
                        <a:rPr sz="1050" b="0" i="0">
                          <a:solidFill>
                            <a:srgbClr val="000000"/>
                          </a:solidFill>
                          <a:latin typeface="Calibri"/>
                        </a:rPr>
                        <a:t>Table 97: Global Market CAGR by Cultivation Method and Distribution Channel, %, 2026–2036</a:t>
                      </a:r>
                      <a:endParaRPr sz="1050"/>
                    </a:p>
                  </a:txBody>
                  <a:tcPr marL="9525" marR="9525" marT="9525" marB="0" anchor="ctr"/>
                </a:tc>
              </a:tr>
              <a:tr h="170266">
                <a:tc>
                  <a:txBody>
                    <a:bodyPr wrap="square"/>
                    <a:lstStyle/>
                    <a:p>
                      <a:pPr algn="l"/>
                      <a:r>
                        <a:rPr sz="1050" b="0" i="0">
                          <a:solidFill>
                            <a:srgbClr val="000000"/>
                          </a:solidFill>
                          <a:latin typeface="Calibri"/>
                        </a:rPr>
                        <a:t>Table 98: Global Market CAGR by Cultivation Method and End Use, %, 2026–2036</a:t>
                      </a:r>
                      <a:endParaRPr sz="1050"/>
                    </a:p>
                  </a:txBody>
                  <a:tcPr marL="9525" marR="9525" marT="9525" marB="0" anchor="ctr"/>
                </a:tc>
              </a:tr>
              <a:tr h="170266">
                <a:tc>
                  <a:txBody>
                    <a:bodyPr wrap="square"/>
                    <a:lstStyle/>
                    <a:p>
                      <a:pPr algn="l"/>
                      <a:r>
                        <a:rPr sz="1050" b="0" i="0">
                          <a:solidFill>
                            <a:srgbClr val="000000"/>
                          </a:solidFill>
                          <a:latin typeface="Calibri"/>
                        </a:rPr>
                        <a:t>Table 99: Global Market CAGR by Distribution Channel and End Use, %, 2026–2036</a:t>
                      </a:r>
                      <a:endParaRPr sz="1050"/>
                    </a:p>
                  </a:txBody>
                  <a:tcPr marL="9525" marR="9525" marT="9525" marB="0" anchor="ctr"/>
                </a:tc>
              </a:tr>
              <a:tr h="170266">
                <a:tc>
                  <a:txBody>
                    <a:bodyPr wrap="square"/>
                    <a:lstStyle/>
                    <a:p>
                      <a:pPr algn="l"/>
                      <a:r>
                        <a:rPr sz="1050" b="0" i="0">
                          <a:solidFill>
                            <a:srgbClr val="000000"/>
                          </a:solidFill>
                          <a:latin typeface="Calibri"/>
                        </a:rPr>
                        <a:t>Table 100: Global Market Value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101: Global Market CAGR and Absolute $ Opportunity by Region, %, US$ Mn, 2026–2036</a:t>
                      </a:r>
                      <a:endParaRPr sz="1050"/>
                    </a:p>
                  </a:txBody>
                  <a:tcPr marL="9525" marR="9525" marT="9525" marB="0" anchor="ctr"/>
                </a:tc>
              </a:tr>
              <a:tr h="170266">
                <a:tc>
                  <a:txBody>
                    <a:bodyPr wrap="square"/>
                    <a:lstStyle/>
                    <a:p>
                      <a:pPr algn="l"/>
                      <a:r>
                        <a:rPr sz="1050" b="0" i="0">
                          <a:solidFill>
                            <a:srgbClr val="000000"/>
                          </a:solidFill>
                          <a:latin typeface="Calibri"/>
                        </a:rPr>
                        <a:t>Table 102: Global Market Share and BPS Change by Region, %, 2026 and 2036</a:t>
                      </a:r>
                      <a:endParaRPr sz="1050"/>
                    </a:p>
                  </a:txBody>
                  <a:tcPr marL="9525" marR="9525" marT="9525" marB="0" anchor="ctr"/>
                </a:tc>
              </a:tr>
              <a:tr h="170266">
                <a:tc>
                  <a:txBody>
                    <a:bodyPr wrap="square"/>
                    <a:lstStyle/>
                    <a:p>
                      <a:pPr algn="l"/>
                      <a:r>
                        <a:rPr sz="1050" b="0" i="0">
                          <a:solidFill>
                            <a:srgbClr val="000000"/>
                          </a:solidFill>
                          <a:latin typeface="Calibri"/>
                        </a:rPr>
                        <a:t>Table 103: Global Market Volume by Region, Mn Units, 2021–2036</a:t>
                      </a:r>
                      <a:endParaRPr sz="1050"/>
                    </a:p>
                  </a:txBody>
                  <a:tcPr marL="9525" marR="9525" marT="9525" marB="0" anchor="ctr"/>
                </a:tc>
              </a:tr>
              <a:tr h="170266">
                <a:tc>
                  <a:txBody>
                    <a:bodyPr wrap="square"/>
                    <a:lstStyle/>
                    <a:p>
                      <a:pPr algn="l"/>
                      <a:r>
                        <a:rPr sz="1050" b="0" i="0">
                          <a:solidFill>
                            <a:srgbClr val="000000"/>
                          </a:solidFill>
                          <a:latin typeface="Calibri"/>
                        </a:rPr>
                        <a:t>Table 104: North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105: Latin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106: Europe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107: East Asia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108: South Asia &amp; Pacific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109: Middle East and Africa Market Value by Country, US$ Mn, 2021–2036</a:t>
                      </a:r>
                      <a:endParaRPr sz="1050"/>
                    </a:p>
                  </a:txBody>
                  <a:tcPr marL="9525" marR="9525" marT="9525" marB="0" anchor="ctr"/>
                </a:tc>
              </a:tr>
              <a:tr h="333720">
                <a:tc>
                  <a:txBody>
                    <a:bodyPr wrap="square"/>
                    <a:lstStyle/>
                    <a:p>
                      <a:pPr algn="l"/>
                      <a:r>
                        <a:rPr sz="1050" b="0" i="0">
                          <a:solidFill>
                            <a:srgbClr val="000000"/>
                          </a:solidFill>
                          <a:latin typeface="Calibri"/>
                        </a:rPr>
                        <a:t>Table 110: North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111: Latin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112: Europe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113: East Asia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114: South Asia &amp; Pacific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115: Middle East and Africa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116: North America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117: Latin America Market Value by Product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118: Europe Market Value by Product Type,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119: East Asia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120: South Asia &amp; Pacific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121: Middle East and Africa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122: North America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123: Latin America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124: Europe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125: East Asia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126: South Asia &amp; Pacific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127: U.S.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128: U.S.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129: U.S.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130: U.S.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131: U.S.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132: U.S. Market Value by Cultivation Method, US$ Mn, 2021–2036</a:t>
                      </a:r>
                      <a:endParaRPr sz="1050"/>
                    </a:p>
                  </a:txBody>
                  <a:tcPr marL="9525" marR="9525" marT="9525" marB="0" anchor="ctr"/>
                </a:tc>
              </a:tr>
              <a:tr h="169606">
                <a:tc>
                  <a:txBody>
                    <a:bodyPr wrap="square"/>
                    <a:lstStyle/>
                    <a:p>
                      <a:pPr algn="l"/>
                      <a:r>
                        <a:rPr sz="1050" b="0" i="0">
                          <a:solidFill>
                            <a:srgbClr val="000000"/>
                          </a:solidFill>
                          <a:latin typeface="Calibri"/>
                        </a:rPr>
                        <a:t>Table 133: U.S. Market Value by End Use, US$ Mn, 2021–2036</a:t>
                      </a:r>
                      <a:endParaRPr sz="1050"/>
                    </a:p>
                  </a:txBody>
                  <a:tcPr marL="9525" marR="9525" marT="9525" marB="0" anchor="ctr"/>
                </a:tc>
              </a:tr>
              <a:tr h="169606">
                <a:tc>
                  <a:txBody>
                    <a:bodyPr wrap="square"/>
                    <a:lstStyle/>
                    <a:p>
                      <a:pPr algn="l"/>
                      <a:r>
                        <a:rPr sz="1050" b="0" i="0">
                          <a:solidFill>
                            <a:srgbClr val="000000"/>
                          </a:solidFill>
                          <a:latin typeface="Calibri"/>
                        </a:rPr>
                        <a:t>Table 134: U.S.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135: Germany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136: Germany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137: Germany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138: Germany Market Share within Europe, %, 2025, 2026 and 2036</a:t>
                      </a:r>
                      <a:endParaRPr sz="1050"/>
                    </a:p>
                  </a:txBody>
                  <a:tcPr marL="9525" marR="9525" marT="9525" marB="0" anchor="ctr"/>
                </a:tc>
              </a:tr>
              <a:tr h="169606">
                <a:tc>
                  <a:txBody>
                    <a:bodyPr wrap="square"/>
                    <a:lstStyle/>
                    <a:p>
                      <a:pPr algn="l"/>
                      <a:r>
                        <a:rPr sz="1050" b="0" i="0">
                          <a:solidFill>
                            <a:srgbClr val="000000"/>
                          </a:solidFill>
                          <a:latin typeface="Calibri"/>
                        </a:rPr>
                        <a:t>Table 139: Germany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140: Germany Market Value by Cultivation Method, US$ Mn, 2021–2036</a:t>
                      </a:r>
                      <a:endParaRPr sz="1050"/>
                    </a:p>
                  </a:txBody>
                  <a:tcPr marL="9525" marR="9525" marT="9525" marB="0" anchor="ctr"/>
                </a:tc>
              </a:tr>
              <a:tr h="169606">
                <a:tc>
                  <a:txBody>
                    <a:bodyPr wrap="square"/>
                    <a:lstStyle/>
                    <a:p>
                      <a:pPr algn="l"/>
                      <a:r>
                        <a:rPr sz="1050" b="0" i="0">
                          <a:solidFill>
                            <a:srgbClr val="000000"/>
                          </a:solidFill>
                          <a:latin typeface="Calibri"/>
                        </a:rPr>
                        <a:t>Table 141: Germany Market Value by End Use, US$ Mn, 2021–2036</a:t>
                      </a:r>
                      <a:endParaRPr sz="1050"/>
                    </a:p>
                  </a:txBody>
                  <a:tcPr marL="9525" marR="9525" marT="9525" marB="0" anchor="ctr"/>
                </a:tc>
              </a:tr>
              <a:tr h="169606">
                <a:tc>
                  <a:txBody>
                    <a:bodyPr wrap="square"/>
                    <a:lstStyle/>
                    <a:p>
                      <a:pPr algn="l"/>
                      <a:r>
                        <a:rPr sz="1050" b="0" i="0">
                          <a:solidFill>
                            <a:srgbClr val="000000"/>
                          </a:solidFill>
                          <a:latin typeface="Calibri"/>
                        </a:rPr>
                        <a:t>Table 142: Germany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143: Canada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144: Canada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145: Canada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146: Canada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147: Canada Market Value by Flower Species, US$ Mn, 2021–2036</a:t>
                      </a:r>
                      <a:endParaRPr sz="1050"/>
                    </a:p>
                  </a:txBody>
                  <a:tcPr marL="9525" marR="9525" marT="9525" marB="0" anchor="ctr"/>
                </a:tc>
              </a:tr>
              <a:tr h="169606">
                <a:tc>
                  <a:txBody>
                    <a:bodyPr wrap="square"/>
                    <a:lstStyle/>
                    <a:p>
                      <a:pPr algn="l"/>
                      <a:r>
                        <a:rPr sz="1050" b="0" i="0">
                          <a:solidFill>
                            <a:srgbClr val="000000"/>
                          </a:solidFill>
                          <a:latin typeface="Calibri"/>
                        </a:rPr>
                        <a:t>Table 148: Canada Market Value by Cultivation Method, US$ Mn, 2021–2036</a:t>
                      </a:r>
                      <a:endParaRPr sz="1050"/>
                    </a:p>
                  </a:txBody>
                  <a:tcPr marL="9525" marR="9525" marT="9525" marB="0" anchor="ctr"/>
                </a:tc>
              </a:tr>
              <a:tr h="169606">
                <a:tc>
                  <a:txBody>
                    <a:bodyPr wrap="square"/>
                    <a:lstStyle/>
                    <a:p>
                      <a:pPr algn="l"/>
                      <a:r>
                        <a:rPr sz="1050" b="0" i="0">
                          <a:solidFill>
                            <a:srgbClr val="000000"/>
                          </a:solidFill>
                          <a:latin typeface="Calibri"/>
                        </a:rPr>
                        <a:t>Table 149: Canada Market Value by End Use,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150: Canada Market Volume by Product Type, Mn Units, 2021–2036</a:t>
                      </a:r>
                      <a:endParaRPr sz="1050"/>
                    </a:p>
                  </a:txBody>
                  <a:tcPr marL="9525" marR="9525" marT="9525" marB="0" anchor="ctr"/>
                </a:tc>
              </a:tr>
              <a:tr h="169606">
                <a:tc>
                  <a:txBody>
                    <a:bodyPr wrap="square"/>
                    <a:lstStyle/>
                    <a:p>
                      <a:pPr algn="l"/>
                      <a:r>
                        <a:rPr sz="1050" b="0" i="0">
                          <a:solidFill>
                            <a:srgbClr val="000000"/>
                          </a:solidFill>
                          <a:latin typeface="Calibri"/>
                        </a:rPr>
                        <a:t>Table 151: China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152: China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153: China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154: India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155: India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156: Brazil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157: Brazil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158: U.K.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159: U.K.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160: Japan Market Value by Product Type, US$ Mn, 2021–2036</a:t>
                      </a:r>
                      <a:endParaRPr sz="1050"/>
                    </a:p>
                  </a:txBody>
                  <a:tcPr marL="9525" marR="9525" marT="9525" marB="0" anchor="ctr"/>
                </a:tc>
              </a:tr>
              <a:tr h="169606">
                <a:tc>
                  <a:txBody>
                    <a:bodyPr wrap="square"/>
                    <a:lstStyle/>
                    <a:p>
                      <a:pPr algn="l"/>
                      <a:r>
                        <a:rPr sz="1050" b="0" i="0">
                          <a:solidFill>
                            <a:srgbClr val="000000"/>
                          </a:solidFill>
                          <a:latin typeface="Calibri"/>
                        </a:rPr>
                        <a:t>Table 161: Japan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162: Market Product Price Comparison by Company and Product Type, US$/Units, 2026</a:t>
                      </a:r>
                      <a:endParaRPr sz="1050"/>
                    </a:p>
                  </a:txBody>
                  <a:tcPr marL="9525" marR="9525" marT="9525" marB="0" anchor="ctr"/>
                </a:tc>
              </a:tr>
              <a:tr h="169606">
                <a:tc>
                  <a:txBody>
                    <a:bodyPr wrap="square"/>
                    <a:lstStyle/>
                    <a:p>
                      <a:pPr algn="l"/>
                      <a:r>
                        <a:rPr sz="1050" b="0" i="0">
                          <a:solidFill>
                            <a:srgbClr val="000000"/>
                          </a:solidFill>
                          <a:latin typeface="Calibri"/>
                        </a:rPr>
                        <a:t>Table 163: Global Market Average Selling Price by Region, US$/Units, 2021–2036</a:t>
                      </a:r>
                      <a:endParaRPr sz="1050"/>
                    </a:p>
                  </a:txBody>
                  <a:tcPr marL="9525" marR="9525" marT="9525" marB="0" anchor="ctr"/>
                </a:tc>
              </a:tr>
              <a:tr h="169606">
                <a:tc>
                  <a:txBody>
                    <a:bodyPr wrap="square"/>
                    <a:lstStyle/>
                    <a:p>
                      <a:pPr algn="l"/>
                      <a:r>
                        <a:rPr sz="1050" b="0" i="0">
                          <a:solidFill>
                            <a:srgbClr val="000000"/>
                          </a:solidFill>
                          <a:latin typeface="Calibri"/>
                        </a:rPr>
                        <a:t>Table 164: Global Market Average Selling Price by Product Type, US$/Units, 2021–2036</a:t>
                      </a:r>
                      <a:endParaRPr sz="1050"/>
                    </a:p>
                  </a:txBody>
                  <a:tcPr marL="9525" marR="9525" marT="9525" marB="0" anchor="ctr"/>
                </a:tc>
              </a:tr>
              <a:tr h="169606">
                <a:tc>
                  <a:txBody>
                    <a:bodyPr wrap="square"/>
                    <a:lstStyle/>
                    <a:p>
                      <a:pPr algn="l"/>
                      <a:r>
                        <a:rPr sz="1050" b="0" i="0">
                          <a:solidFill>
                            <a:srgbClr val="000000"/>
                          </a:solidFill>
                          <a:latin typeface="Calibri"/>
                        </a:rPr>
                        <a:t>Table 165: Global Market Average Selling Price by Flower Species, US$/Units, 2021–2036</a:t>
                      </a:r>
                      <a:endParaRPr sz="1050"/>
                    </a:p>
                  </a:txBody>
                  <a:tcPr marL="9525" marR="9525" marT="9525" marB="0" anchor="ctr"/>
                </a:tc>
              </a:tr>
              <a:tr h="169606">
                <a:tc>
                  <a:txBody>
                    <a:bodyPr wrap="square"/>
                    <a:lstStyle/>
                    <a:p>
                      <a:pPr algn="l"/>
                      <a:r>
                        <a:rPr sz="1050" b="0" i="0">
                          <a:solidFill>
                            <a:srgbClr val="000000"/>
                          </a:solidFill>
                          <a:latin typeface="Calibri"/>
                        </a:rPr>
                        <a:t>Table 166: Global Market Average Selling Price by Cultivation Method, US$/Units, 2021–2036</a:t>
                      </a:r>
                      <a:endParaRPr sz="1050"/>
                    </a:p>
                  </a:txBody>
                  <a:tcPr marL="9525" marR="9525" marT="9525" marB="0" anchor="ctr"/>
                </a:tc>
              </a:tr>
              <a:tr h="169606">
                <a:tc>
                  <a:txBody>
                    <a:bodyPr wrap="square"/>
                    <a:lstStyle/>
                    <a:p>
                      <a:pPr algn="l"/>
                      <a:r>
                        <a:rPr sz="1050" b="0" i="0">
                          <a:solidFill>
                            <a:srgbClr val="000000"/>
                          </a:solidFill>
                          <a:latin typeface="Calibri"/>
                        </a:rPr>
                        <a:t>Table 167: Global Market Average Selling Price by Distribution Channel, US$/Units, 2021–2036</a:t>
                      </a:r>
                      <a:endParaRPr sz="1050"/>
                    </a:p>
                  </a:txBody>
                  <a:tcPr marL="9525" marR="9525" marT="9525" marB="0" anchor="ctr"/>
                </a:tc>
              </a:tr>
              <a:tr h="169606">
                <a:tc>
                  <a:txBody>
                    <a:bodyPr wrap="square"/>
                    <a:lstStyle/>
                    <a:p>
                      <a:pPr algn="l"/>
                      <a:r>
                        <a:rPr sz="1050" b="0" i="0">
                          <a:solidFill>
                            <a:srgbClr val="000000"/>
                          </a:solidFill>
                          <a:latin typeface="Calibri"/>
                        </a:rPr>
                        <a:t>Table 168: Global Market Average Selling Price by End Use, US$/Units, 2021–2036</a:t>
                      </a:r>
                      <a:endParaRPr sz="1050"/>
                    </a:p>
                  </a:txBody>
                  <a:tcPr marL="9525" marR="9525" marT="9525" marB="0" anchor="ctr"/>
                </a:tc>
              </a:tr>
              <a:tr h="169606">
                <a:tc>
                  <a:txBody>
                    <a:bodyPr wrap="square"/>
                    <a:lstStyle/>
                    <a:p>
                      <a:pPr algn="l"/>
                      <a:r>
                        <a:rPr sz="1050" b="0" i="0">
                          <a:solidFill>
                            <a:srgbClr val="000000"/>
                          </a:solidFill>
                          <a:latin typeface="Calibri"/>
                        </a:rPr>
                        <a:t>Table 169: Supplier-to-Customer Relationship Mapping in U.S., 2026</a:t>
                      </a:r>
                      <a:endParaRPr sz="1050"/>
                    </a:p>
                  </a:txBody>
                  <a:tcPr marL="9525" marR="9525" marT="9525" marB="0" anchor="ctr"/>
                </a:tc>
              </a:tr>
              <a:tr h="169606">
                <a:tc>
                  <a:txBody>
                    <a:bodyPr wrap="square"/>
                    <a:lstStyle/>
                    <a:p>
                      <a:pPr algn="l"/>
                      <a:r>
                        <a:rPr sz="1050" b="0" i="0">
                          <a:solidFill>
                            <a:srgbClr val="000000"/>
                          </a:solidFill>
                          <a:latin typeface="Calibri"/>
                        </a:rPr>
                        <a:t>Table 170: Global Market Value Chain Participants by Stage, 2026</a:t>
                      </a:r>
                      <a:endParaRPr sz="1050"/>
                    </a:p>
                  </a:txBody>
                  <a:tcPr marL="9525" marR="9525" marT="9525" marB="0" anchor="ctr"/>
                </a:tc>
              </a:tr>
              <a:tr h="169606">
                <a:tc>
                  <a:txBody>
                    <a:bodyPr wrap="square"/>
                    <a:lstStyle/>
                    <a:p>
                      <a:pPr algn="l"/>
                      <a:r>
                        <a:rPr sz="1050" b="0" i="0">
                          <a:solidFill>
                            <a:srgbClr val="000000"/>
                          </a:solidFill>
                          <a:latin typeface="Calibri"/>
                        </a:rPr>
                        <a:t>Table 171: Global Market Margin Analysis by Value Chain Stage, %, 2026</a:t>
                      </a:r>
                      <a:endParaRPr sz="1050"/>
                    </a:p>
                  </a:txBody>
                  <a:tcPr marL="9525" marR="9525" marT="9525" marB="0" anchor="ctr"/>
                </a:tc>
              </a:tr>
              <a:tr h="169606">
                <a:tc>
                  <a:txBody>
                    <a:bodyPr wrap="square"/>
                    <a:lstStyle/>
                    <a:p>
                      <a:pPr algn="l"/>
                      <a:r>
                        <a:rPr sz="1050" b="0" i="0">
                          <a:solidFill>
                            <a:srgbClr val="000000"/>
                          </a:solidFill>
                          <a:latin typeface="Calibri"/>
                        </a:rPr>
                        <a:t>Table 172: Global Market Cost Structure by Component, %, 2026</a:t>
                      </a:r>
                      <a:endParaRPr sz="1050"/>
                    </a:p>
                  </a:txBody>
                  <a:tcPr marL="9525" marR="9525" marT="9525" marB="0" anchor="ctr"/>
                </a:tc>
              </a:tr>
              <a:tr h="169606">
                <a:tc>
                  <a:txBody>
                    <a:bodyPr wrap="square"/>
                    <a:lstStyle/>
                    <a:p>
                      <a:pPr algn="l"/>
                      <a:r>
                        <a:rPr sz="1050" b="0" i="0">
                          <a:solidFill>
                            <a:srgbClr val="000000"/>
                          </a:solidFill>
                          <a:latin typeface="Calibri"/>
                        </a:rPr>
                        <a:t>Table 173: Global Market Import Value by Leading Country, US$ Mn, 2021–2025</a:t>
                      </a:r>
                      <a:endParaRPr sz="1050"/>
                    </a:p>
                  </a:txBody>
                  <a:tcPr marL="9525" marR="9525" marT="9525" marB="0" anchor="ctr"/>
                </a:tc>
              </a:tr>
              <a:tr h="169606">
                <a:tc>
                  <a:txBody>
                    <a:bodyPr wrap="square"/>
                    <a:lstStyle/>
                    <a:p>
                      <a:pPr algn="l"/>
                      <a:r>
                        <a:rPr sz="1050" b="0" i="0">
                          <a:solidFill>
                            <a:srgbClr val="000000"/>
                          </a:solidFill>
                          <a:latin typeface="Calibri"/>
                        </a:rPr>
                        <a:t>Table 174: Global Market Export Value by Leading Country, US$ Mn, 2021–2025</a:t>
                      </a:r>
                      <a:endParaRPr sz="1050"/>
                    </a:p>
                  </a:txBody>
                  <a:tcPr marL="9525" marR="9525" marT="9525" marB="0" anchor="ctr"/>
                </a:tc>
              </a:tr>
              <a:tr h="169606">
                <a:tc>
                  <a:txBody>
                    <a:bodyPr wrap="square"/>
                    <a:lstStyle/>
                    <a:p>
                      <a:pPr algn="l"/>
                      <a:r>
                        <a:rPr sz="1050" b="0" i="0">
                          <a:solidFill>
                            <a:srgbClr val="000000"/>
                          </a:solidFill>
                          <a:latin typeface="Calibri"/>
                        </a:rPr>
                        <a:t>Table 175: Global Market Trade Flow Matrix by Region, US$ Mn, 2025</a:t>
                      </a:r>
                      <a:endParaRPr sz="1050"/>
                    </a:p>
                  </a:txBody>
                  <a:tcPr marL="9525" marR="9525" marT="9525" marB="0" anchor="ctr"/>
                </a:tc>
              </a:tr>
              <a:tr h="169606">
                <a:tc>
                  <a:txBody>
                    <a:bodyPr wrap="square"/>
                    <a:lstStyle/>
                    <a:p>
                      <a:pPr algn="l"/>
                      <a:r>
                        <a:rPr sz="1050" b="0" i="0">
                          <a:solidFill>
                            <a:srgbClr val="000000"/>
                          </a:solidFill>
                          <a:latin typeface="Calibri"/>
                        </a:rPr>
                        <a:t>Table 176: Global Market Pricing Factors and Impact Rating, 2026–2036</a:t>
                      </a:r>
                      <a:endParaRPr sz="1050"/>
                    </a:p>
                  </a:txBody>
                  <a:tcPr marL="9525" marR="9525" marT="9525" marB="0" anchor="ctr"/>
                </a:tc>
              </a:tr>
              <a:tr h="169606">
                <a:tc>
                  <a:txBody>
                    <a:bodyPr wrap="square"/>
                    <a:lstStyle/>
                    <a:p>
                      <a:pPr algn="l"/>
                      <a:r>
                        <a:rPr sz="1050" b="0" i="0">
                          <a:solidFill>
                            <a:srgbClr val="000000"/>
                          </a:solidFill>
                          <a:latin typeface="Calibri"/>
                        </a:rPr>
                        <a:t>Table 177: Global Market Raw Material Price Trend, US$, 2021–2036</a:t>
                      </a:r>
                      <a:endParaRPr sz="1050"/>
                    </a:p>
                  </a:txBody>
                  <a:tcPr marL="9525" marR="9525" marT="9525" marB="0" anchor="ctr"/>
                </a:tc>
              </a:tr>
              <a:tr h="169606">
                <a:tc>
                  <a:txBody>
                    <a:bodyPr wrap="square"/>
                    <a:lstStyle/>
                    <a:p>
                      <a:pPr algn="l"/>
                      <a:r>
                        <a:rPr sz="1050" b="0" i="0">
                          <a:solidFill>
                            <a:srgbClr val="000000"/>
                          </a:solidFill>
                          <a:latin typeface="Calibri"/>
                        </a:rPr>
                        <a:t>Table 178: Global Market Distribution Channel Margin Structure, %, 2026</a:t>
                      </a:r>
                      <a:endParaRPr sz="1050"/>
                    </a:p>
                  </a:txBody>
                  <a:tcPr marL="9525" marR="9525" marT="9525" marB="0" anchor="ctr"/>
                </a:tc>
              </a:tr>
              <a:tr h="169606">
                <a:tc>
                  <a:txBody>
                    <a:bodyPr wrap="square"/>
                    <a:lstStyle/>
                    <a:p>
                      <a:pPr algn="l"/>
                      <a:r>
                        <a:rPr sz="1050" b="0" i="0">
                          <a:solidFill>
                            <a:srgbClr val="000000"/>
                          </a:solidFill>
                          <a:latin typeface="Calibri"/>
                        </a:rPr>
                        <a:t>Table 179: Global Market Regulatory and Tariff Overview by Country, 2026</a:t>
                      </a:r>
                      <a:endParaRPr sz="1050"/>
                    </a:p>
                  </a:txBody>
                  <a:tcPr marL="9525" marR="9525" marT="9525" marB="0" anchor="ctr"/>
                </a:tc>
              </a:tr>
              <a:tr h="169606">
                <a:tc>
                  <a:txBody>
                    <a:bodyPr wrap="square"/>
                    <a:lstStyle/>
                    <a:p>
                      <a:pPr algn="l"/>
                      <a:r>
                        <a:rPr sz="1050" b="0" i="0">
                          <a:solidFill>
                            <a:srgbClr val="000000"/>
                          </a:solidFill>
                          <a:latin typeface="Calibri"/>
                        </a:rPr>
                        <a:t>Table 180: Leading Floriculture Manufacturers: Product Portfolio and Geographic Presence,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333376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181: Company Revenue from the Global Market, US$ Mn, 2025–2026</a:t>
                      </a:r>
                      <a:endParaRPr sz="1050"/>
                    </a:p>
                  </a:txBody>
                  <a:tcPr marL="9525" marR="9525" marT="9525" marB="0" anchor="ctr"/>
                </a:tc>
              </a:tr>
              <a:tr h="166688">
                <a:tc>
                  <a:txBody>
                    <a:bodyPr wrap="square"/>
                    <a:lstStyle/>
                    <a:p>
                      <a:pPr algn="l"/>
                      <a:r>
                        <a:rPr sz="1050" b="0" i="0">
                          <a:solidFill>
                            <a:srgbClr val="000000"/>
                          </a:solidFill>
                          <a:latin typeface="Calibri"/>
                        </a:rPr>
                        <a:t>Table 182: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183: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184: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185: Dümmen Orange: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Company: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Syngenta Flowers: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Ball Horticultural Company: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Selecta One: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Florensis: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HilverdaFlorist: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Royal Van Zanten: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194: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Opportunity Assessment by Product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Risk Register and Mitigation,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1838960"/>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2143760"/>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2848610"/>
            <a:ext cx="7124700" cy="35991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Flower Species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Cultivation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 Use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Cultivation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Flower Species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Summary, By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2991494" cy="194310"/>
          </a:xfrm>
          <a:prstGeom prst="rect">
            <a:avLst/>
          </a:prstGeom>
          <a:noFill/>
        </p:spPr>
        <p:txBody>
          <a:bodyPr wrap="none" lIns="0" rIns="0" tIns="0" bIns="0">
            <a:spAutoFit/>
          </a:bodyPr>
          <a:lstStyle/>
          <a:p>
            <a:r>
              <a:rPr sz="1150" b="0">
                <a:solidFill>
                  <a:srgbClr val="2E2E2E"/>
                </a:solidFill>
                <a:latin typeface="Calibri"/>
              </a:rPr>
              <a:t>Global floriculture market is projected to register</a:t>
            </a:r>
          </a:p>
        </p:txBody>
      </p:sp>
      <p:pic>
        <p:nvPicPr>
          <p:cNvPr id="35" name="Picture 34" descr="lock.png"/>
          <p:cNvPicPr>
            <a:picLocks noChangeAspect="1"/>
          </p:cNvPicPr>
          <p:nvPr/>
        </p:nvPicPr>
        <p:blipFill>
          <a:blip r:embed="rId6"/>
          <a:stretch>
            <a:fillRect/>
          </a:stretch>
        </p:blipFill>
        <p:spPr>
          <a:xfrm>
            <a:off x="10989273" y="2036763"/>
            <a:ext cx="134549" cy="195707"/>
          </a:xfrm>
          <a:prstGeom prst="rect">
            <a:avLst/>
          </a:prstGeom>
        </p:spPr>
      </p:pic>
      <p:sp>
        <p:nvSpPr>
          <p:cNvPr id="36" name="TextBox 35"/>
          <p:cNvSpPr txBox="1"/>
          <p:nvPr/>
        </p:nvSpPr>
        <p:spPr>
          <a:xfrm>
            <a:off x="11164383" y="2046987"/>
            <a:ext cx="680938" cy="194310"/>
          </a:xfrm>
          <a:prstGeom prst="rect">
            <a:avLst/>
          </a:prstGeom>
          <a:noFill/>
        </p:spPr>
        <p:txBody>
          <a:bodyPr wrap="none" lIns="0" rIns="0" tIns="0" bIns="0">
            <a:spAutoFit/>
          </a:bodyPr>
          <a:lstStyle/>
          <a:p>
            <a:r>
              <a:rPr sz="1150" b="0">
                <a:solidFill>
                  <a:srgbClr val="2E2E2E"/>
                </a:solidFill>
                <a:latin typeface="Calibri"/>
              </a:rPr>
              <a:t>X increase</a:t>
            </a:r>
          </a:p>
        </p:txBody>
      </p:sp>
      <p:sp>
        <p:nvSpPr>
          <p:cNvPr id="37" name="TextBox 36"/>
          <p:cNvSpPr txBox="1"/>
          <p:nvPr/>
        </p:nvSpPr>
        <p:spPr>
          <a:xfrm>
            <a:off x="8048625" y="2222247"/>
            <a:ext cx="3240521" cy="194310"/>
          </a:xfrm>
          <a:prstGeom prst="rect">
            <a:avLst/>
          </a:prstGeom>
          <a:noFill/>
        </p:spPr>
        <p:txBody>
          <a:bodyPr wrap="none" lIns="0" rIns="0" tIns="0" bIns="0">
            <a:spAutoFit/>
          </a:bodyPr>
          <a:lstStyle/>
          <a:p>
            <a:r>
              <a:rPr sz="1150" b="0">
                <a:solidFill>
                  <a:srgbClr val="2E2E2E"/>
                </a:solidFill>
                <a:latin typeface="Calibri"/>
              </a:rPr>
              <a:t>in volume by the end of forecast period, 2036. Global</a:t>
            </a:r>
          </a:p>
        </p:txBody>
      </p:sp>
      <p:sp>
        <p:nvSpPr>
          <p:cNvPr id="38" name="TextBox 37"/>
          <p:cNvSpPr txBox="1"/>
          <p:nvPr/>
        </p:nvSpPr>
        <p:spPr>
          <a:xfrm>
            <a:off x="8048625" y="2397507"/>
            <a:ext cx="2194780" cy="194310"/>
          </a:xfrm>
          <a:prstGeom prst="rect">
            <a:avLst/>
          </a:prstGeom>
          <a:noFill/>
        </p:spPr>
        <p:txBody>
          <a:bodyPr wrap="none" lIns="0" rIns="0" tIns="0" bIns="0">
            <a:spAutoFit/>
          </a:bodyPr>
          <a:lstStyle/>
          <a:p>
            <a:r>
              <a:rPr sz="1150" b="0">
                <a:solidFill>
                  <a:srgbClr val="2E2E2E"/>
                </a:solidFill>
                <a:latin typeface="Calibri"/>
              </a:rPr>
              <a:t>floriculture market volume stood at</a:t>
            </a:r>
          </a:p>
        </p:txBody>
      </p:sp>
      <p:pic>
        <p:nvPicPr>
          <p:cNvPr id="39" name="Picture 38" descr="lock.png"/>
          <p:cNvPicPr>
            <a:picLocks noChangeAspect="1"/>
          </p:cNvPicPr>
          <p:nvPr/>
        </p:nvPicPr>
        <p:blipFill>
          <a:blip r:embed="rId6"/>
          <a:stretch>
            <a:fillRect/>
          </a:stretch>
        </p:blipFill>
        <p:spPr>
          <a:xfrm>
            <a:off x="10192559" y="2387283"/>
            <a:ext cx="134549" cy="195707"/>
          </a:xfrm>
          <a:prstGeom prst="rect">
            <a:avLst/>
          </a:prstGeom>
        </p:spPr>
      </p:pic>
      <p:sp>
        <p:nvSpPr>
          <p:cNvPr id="40" name="TextBox 39"/>
          <p:cNvSpPr txBox="1"/>
          <p:nvPr/>
        </p:nvSpPr>
        <p:spPr>
          <a:xfrm>
            <a:off x="10367668" y="2397507"/>
            <a:ext cx="1474799" cy="194310"/>
          </a:xfrm>
          <a:prstGeom prst="rect">
            <a:avLst/>
          </a:prstGeom>
          <a:noFill/>
        </p:spPr>
        <p:txBody>
          <a:bodyPr wrap="none" lIns="0" rIns="0" tIns="0" bIns="0">
            <a:spAutoFit/>
          </a:bodyPr>
          <a:lstStyle/>
          <a:p>
            <a:r>
              <a:rPr sz="1150" b="0">
                <a:solidFill>
                  <a:srgbClr val="2E2E2E"/>
                </a:solidFill>
                <a:latin typeface="Calibri"/>
              </a:rPr>
              <a:t>Mn Units in 2025 and is</a:t>
            </a:r>
          </a:p>
        </p:txBody>
      </p:sp>
      <p:sp>
        <p:nvSpPr>
          <p:cNvPr id="41" name="TextBox 40"/>
          <p:cNvSpPr txBox="1"/>
          <p:nvPr/>
        </p:nvSpPr>
        <p:spPr>
          <a:xfrm>
            <a:off x="8048625" y="2572767"/>
            <a:ext cx="1146757" cy="194310"/>
          </a:xfrm>
          <a:prstGeom prst="rect">
            <a:avLst/>
          </a:prstGeom>
          <a:noFill/>
        </p:spPr>
        <p:txBody>
          <a:bodyPr wrap="none" lIns="0" rIns="0" tIns="0" bIns="0">
            <a:spAutoFit/>
          </a:bodyPr>
          <a:lstStyle/>
          <a:p>
            <a:r>
              <a:rPr sz="1150" b="0">
                <a:solidFill>
                  <a:srgbClr val="2E2E2E"/>
                </a:solidFill>
                <a:latin typeface="Calibri"/>
              </a:rPr>
              <a:t>expected to reach</a:t>
            </a:r>
          </a:p>
        </p:txBody>
      </p:sp>
      <p:pic>
        <p:nvPicPr>
          <p:cNvPr id="42" name="Picture 41" descr="lock.png"/>
          <p:cNvPicPr>
            <a:picLocks noChangeAspect="1"/>
          </p:cNvPicPr>
          <p:nvPr/>
        </p:nvPicPr>
        <p:blipFill>
          <a:blip r:embed="rId6"/>
          <a:stretch>
            <a:fillRect/>
          </a:stretch>
        </p:blipFill>
        <p:spPr>
          <a:xfrm>
            <a:off x="9144536" y="2562543"/>
            <a:ext cx="134549" cy="195707"/>
          </a:xfrm>
          <a:prstGeom prst="rect">
            <a:avLst/>
          </a:prstGeom>
        </p:spPr>
      </p:pic>
      <p:sp>
        <p:nvSpPr>
          <p:cNvPr id="43" name="TextBox 42"/>
          <p:cNvSpPr txBox="1"/>
          <p:nvPr/>
        </p:nvSpPr>
        <p:spPr>
          <a:xfrm>
            <a:off x="9319646" y="2572767"/>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44" name="Picture 43" descr="lock.png"/>
          <p:cNvPicPr>
            <a:picLocks noChangeAspect="1"/>
          </p:cNvPicPr>
          <p:nvPr/>
        </p:nvPicPr>
        <p:blipFill>
          <a:blip r:embed="rId6"/>
          <a:stretch>
            <a:fillRect/>
          </a:stretch>
        </p:blipFill>
        <p:spPr>
          <a:xfrm>
            <a:off x="11468127" y="2562543"/>
            <a:ext cx="134549" cy="195707"/>
          </a:xfrm>
          <a:prstGeom prst="rect">
            <a:avLst/>
          </a:prstGeom>
        </p:spPr>
      </p:pic>
      <p:sp>
        <p:nvSpPr>
          <p:cNvPr id="45" name="TextBox 44"/>
          <p:cNvSpPr txBox="1"/>
          <p:nvPr/>
        </p:nvSpPr>
        <p:spPr>
          <a:xfrm>
            <a:off x="11643236" y="257276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8048625" y="2800604"/>
            <a:ext cx="3842122" cy="194310"/>
          </a:xfrm>
          <a:prstGeom prst="rect">
            <a:avLst/>
          </a:prstGeom>
          <a:noFill/>
        </p:spPr>
        <p:txBody>
          <a:bodyPr wrap="none" lIns="0" rIns="0" tIns="0" bIns="0">
            <a:spAutoFit/>
          </a:bodyPr>
          <a:lstStyle/>
          <a:p>
            <a:r>
              <a:rPr sz="1150" b="0">
                <a:solidFill>
                  <a:srgbClr val="2E2E2E"/>
                </a:solidFill>
                <a:latin typeface="Calibri"/>
              </a:rPr>
              <a:t>Value is projected to grow faster than volume over the forecast</a:t>
            </a:r>
          </a:p>
        </p:txBody>
      </p:sp>
      <p:sp>
        <p:nvSpPr>
          <p:cNvPr id="47" name="TextBox 46"/>
          <p:cNvSpPr txBox="1"/>
          <p:nvPr/>
        </p:nvSpPr>
        <p:spPr>
          <a:xfrm>
            <a:off x="8048625" y="2975864"/>
            <a:ext cx="3184897" cy="194310"/>
          </a:xfrm>
          <a:prstGeom prst="rect">
            <a:avLst/>
          </a:prstGeom>
          <a:noFill/>
        </p:spPr>
        <p:txBody>
          <a:bodyPr wrap="none" lIns="0" rIns="0" tIns="0" bIns="0">
            <a:spAutoFit/>
          </a:bodyPr>
          <a:lstStyle/>
          <a:p>
            <a:r>
              <a:rPr sz="115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678671" cy="194310"/>
          </a:xfrm>
          <a:prstGeom prst="rect">
            <a:avLst/>
          </a:prstGeom>
          <a:noFill/>
        </p:spPr>
        <p:txBody>
          <a:bodyPr wrap="none" lIns="0" rIns="0" tIns="0" bIns="0">
            <a:spAutoFit/>
          </a:bodyPr>
          <a:lstStyle/>
          <a:p>
            <a:r>
              <a:rPr sz="1150" b="0">
                <a:solidFill>
                  <a:srgbClr val="2E2E2E"/>
                </a:solidFill>
                <a:latin typeface="Calibri"/>
              </a:rPr>
              <a:t>▪ Demand concentrates in 'Cut Flowers' within Product Type.</a:t>
            </a:r>
          </a:p>
        </p:txBody>
      </p:sp>
      <p:sp>
        <p:nvSpPr>
          <p:cNvPr id="52" name="TextBox 51"/>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cxnSp>
        <p:nvCxnSpPr>
          <p:cNvPr id="12" name="Connector 11"/>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03404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1015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6" name="Connector 25"/>
          <p:cNvCxnSpPr/>
          <p:nvPr/>
        </p:nvCxnSpPr>
        <p:spPr>
          <a:xfrm flipV="1">
            <a:off x="1157968" y="1847105"/>
            <a:ext cx="0" cy="18595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6523" y="203305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26523" y="184710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38893" y="1891561"/>
            <a:ext cx="438150" cy="9308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38893" y="193744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694705"/>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159454" y="2014878"/>
            <a:ext cx="0" cy="18215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28009" y="219703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28009" y="20148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40379" y="2058661"/>
            <a:ext cx="438150" cy="9118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940379" y="210368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658711" y="1862478"/>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160939" y="2786787"/>
            <a:ext cx="0" cy="12380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029494"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029494" y="278678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941864" y="2816848"/>
            <a:ext cx="438150" cy="6195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941864" y="284753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660196" y="2634387"/>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162425" y="1752150"/>
            <a:ext cx="0" cy="18624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030980" y="193839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30980" y="175215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943350" y="1796856"/>
            <a:ext cx="438150" cy="9320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943350" y="184285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661682" y="1599750"/>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163911" y="1643073"/>
            <a:ext cx="0" cy="19734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32466" y="184041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32466"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944836" y="1690973"/>
            <a:ext cx="438150" cy="9873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944836" y="173986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663168" y="1490673"/>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6165396" y="2565226"/>
            <a:ext cx="0" cy="1324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033951" y="269763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33951" y="256522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946321" y="2596787"/>
            <a:ext cx="438150" cy="6628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946321" y="262942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664654" y="241282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2" name="Connector 61"/>
          <p:cNvCxnSpPr/>
          <p:nvPr/>
        </p:nvCxnSpPr>
        <p:spPr>
          <a:xfrm flipV="1">
            <a:off x="7166882" y="2335093"/>
            <a:ext cx="0" cy="15494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035437" y="249004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35437" y="233509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947807" y="2372529"/>
            <a:ext cx="438150" cy="7753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947807" y="241087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666139" y="2182693"/>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8" name="TextBox 67"/>
          <p:cNvSpPr txBox="1"/>
          <p:nvPr/>
        </p:nvSpPr>
        <p:spPr>
          <a:xfrm>
            <a:off x="657225"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Flowers</a:t>
            </a:r>
          </a:p>
        </p:txBody>
      </p:sp>
      <p:sp>
        <p:nvSpPr>
          <p:cNvPr id="69" name="TextBox 68"/>
          <p:cNvSpPr txBox="1"/>
          <p:nvPr/>
        </p:nvSpPr>
        <p:spPr>
          <a:xfrm>
            <a:off x="1658711"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Potted Flowering Plan…</a:t>
            </a:r>
          </a:p>
        </p:txBody>
      </p:sp>
      <p:sp>
        <p:nvSpPr>
          <p:cNvPr id="70" name="TextBox 69"/>
          <p:cNvSpPr txBox="1"/>
          <p:nvPr/>
        </p:nvSpPr>
        <p:spPr>
          <a:xfrm>
            <a:off x="2660196"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Potted Foliage Plants</a:t>
            </a:r>
          </a:p>
        </p:txBody>
      </p:sp>
      <p:sp>
        <p:nvSpPr>
          <p:cNvPr id="71" name="TextBox 70"/>
          <p:cNvSpPr txBox="1"/>
          <p:nvPr/>
        </p:nvSpPr>
        <p:spPr>
          <a:xfrm>
            <a:off x="3661682"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Bedding &amp; Garden Flow…</a:t>
            </a:r>
          </a:p>
        </p:txBody>
      </p:sp>
      <p:sp>
        <p:nvSpPr>
          <p:cNvPr id="72" name="TextBox 71"/>
          <p:cNvSpPr txBox="1"/>
          <p:nvPr/>
        </p:nvSpPr>
        <p:spPr>
          <a:xfrm>
            <a:off x="4663168"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Foliage &amp; Greens</a:t>
            </a:r>
          </a:p>
        </p:txBody>
      </p:sp>
      <p:sp>
        <p:nvSpPr>
          <p:cNvPr id="73" name="TextBox 72"/>
          <p:cNvSpPr txBox="1"/>
          <p:nvPr/>
        </p:nvSpPr>
        <p:spPr>
          <a:xfrm>
            <a:off x="5664654"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Young Plants &amp; Propag…</a:t>
            </a:r>
          </a:p>
        </p:txBody>
      </p:sp>
      <p:sp>
        <p:nvSpPr>
          <p:cNvPr id="74" name="TextBox 73"/>
          <p:cNvSpPr txBox="1"/>
          <p:nvPr/>
        </p:nvSpPr>
        <p:spPr>
          <a:xfrm>
            <a:off x="6666139"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Flower Bulbs, Corms,…</a:t>
            </a:r>
          </a:p>
        </p:txBody>
      </p:sp>
      <p:sp>
        <p:nvSpPr>
          <p:cNvPr id="75" name="Rounded Rectangle 74"/>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77" name="Connector 76"/>
          <p:cNvCxnSpPr/>
          <p:nvPr/>
        </p:nvCxnSpPr>
        <p:spPr>
          <a:xfrm>
            <a:off x="619125" y="431796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19125" y="472886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19125" y="555068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19125" y="596159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19125" y="4317960"/>
            <a:ext cx="0" cy="164363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90550" y="431796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0550" y="472886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90550" y="555068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90550" y="596159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8" name="FMI Scale tick"/>
          <p:cNvSpPr txBox="1"/>
          <p:nvPr/>
        </p:nvSpPr>
        <p:spPr>
          <a:xfrm>
            <a:off x="219075" y="4251285"/>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89" name="FMI Scale tick"/>
          <p:cNvSpPr txBox="1"/>
          <p:nvPr/>
        </p:nvSpPr>
        <p:spPr>
          <a:xfrm>
            <a:off x="219075" y="4662193"/>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90"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91" name="FMI Scale tick"/>
          <p:cNvSpPr txBox="1"/>
          <p:nvPr/>
        </p:nvSpPr>
        <p:spPr>
          <a:xfrm>
            <a:off x="219075" y="5484009"/>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92" name="FMI Scale tick"/>
          <p:cNvSpPr txBox="1"/>
          <p:nvPr/>
        </p:nvSpPr>
        <p:spPr>
          <a:xfrm>
            <a:off x="219075" y="5894917"/>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93" name="Connector 92"/>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6" name="Rectangle 95"/>
          <p:cNvSpPr/>
          <p:nvPr/>
        </p:nvSpPr>
        <p:spPr>
          <a:xfrm>
            <a:off x="2152650" y="5139776"/>
            <a:ext cx="457200" cy="7179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MI Data Label"/>
          <p:cNvSpPr txBox="1"/>
          <p:nvPr/>
        </p:nvSpPr>
        <p:spPr>
          <a:xfrm>
            <a:off x="1793875" y="522109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8" name="Rectangle 97"/>
          <p:cNvSpPr/>
          <p:nvPr/>
        </p:nvSpPr>
        <p:spPr>
          <a:xfrm>
            <a:off x="3327400" y="4702732"/>
            <a:ext cx="457200" cy="437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MI Data Label"/>
          <p:cNvSpPr txBox="1"/>
          <p:nvPr/>
        </p:nvSpPr>
        <p:spPr>
          <a:xfrm>
            <a:off x="2968625" y="455985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0" name="Rectangle 99"/>
          <p:cNvSpPr/>
          <p:nvPr/>
        </p:nvSpPr>
        <p:spPr>
          <a:xfrm>
            <a:off x="4502150" y="5139776"/>
            <a:ext cx="457200" cy="51882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MI Data Label"/>
          <p:cNvSpPr txBox="1"/>
          <p:nvPr/>
        </p:nvSpPr>
        <p:spPr>
          <a:xfrm>
            <a:off x="4143375" y="566812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2" name="Rectangle 101"/>
          <p:cNvSpPr/>
          <p:nvPr/>
        </p:nvSpPr>
        <p:spPr>
          <a:xfrm>
            <a:off x="5676900" y="5139776"/>
            <a:ext cx="457200" cy="66942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MI Data Label"/>
          <p:cNvSpPr txBox="1"/>
          <p:nvPr/>
        </p:nvSpPr>
        <p:spPr>
          <a:xfrm>
            <a:off x="5318125" y="581872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4" name="Rectangle 103"/>
          <p:cNvSpPr/>
          <p:nvPr/>
        </p:nvSpPr>
        <p:spPr>
          <a:xfrm>
            <a:off x="6851650" y="5139776"/>
            <a:ext cx="457200" cy="13958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MI Data Label"/>
          <p:cNvSpPr txBox="1"/>
          <p:nvPr/>
        </p:nvSpPr>
        <p:spPr>
          <a:xfrm>
            <a:off x="6492875" y="528889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6" name="TextBox 105"/>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107" name="TextBox 106"/>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08" name="TextBox 107"/>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109" name="TextBox 108"/>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10" name="TextBox 109"/>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11" name="TextBox 110"/>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and Africa</a:t>
            </a:r>
          </a:p>
        </p:txBody>
      </p:sp>
      <p:sp>
        <p:nvSpPr>
          <p:cNvPr id="112" name="Rounded Rectangle 111"/>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14" name="Rectangle 113"/>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6" name="TextBox 1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7" name="Picture 116" descr="lock.png"/>
          <p:cNvPicPr>
            <a:picLocks noChangeAspect="1"/>
          </p:cNvPicPr>
          <p:nvPr/>
        </p:nvPicPr>
        <p:blipFill>
          <a:blip r:embed="rId4"/>
          <a:stretch>
            <a:fillRect/>
          </a:stretch>
        </p:blipFill>
        <p:spPr>
          <a:xfrm>
            <a:off x="1093618" y="1667781"/>
            <a:ext cx="128699" cy="187198"/>
          </a:xfrm>
          <a:prstGeom prst="rect">
            <a:avLst/>
          </a:prstGeom>
        </p:spPr>
      </p:pic>
      <p:pic>
        <p:nvPicPr>
          <p:cNvPr id="118" name="Picture 117" descr="lock.png"/>
          <p:cNvPicPr>
            <a:picLocks noChangeAspect="1"/>
          </p:cNvPicPr>
          <p:nvPr/>
        </p:nvPicPr>
        <p:blipFill>
          <a:blip r:embed="rId4"/>
          <a:stretch>
            <a:fillRect/>
          </a:stretch>
        </p:blipFill>
        <p:spPr>
          <a:xfrm>
            <a:off x="2095104" y="1835554"/>
            <a:ext cx="128699" cy="187198"/>
          </a:xfrm>
          <a:prstGeom prst="rect">
            <a:avLst/>
          </a:prstGeom>
        </p:spPr>
      </p:pic>
      <p:pic>
        <p:nvPicPr>
          <p:cNvPr id="119" name="Picture 118" descr="lock.png"/>
          <p:cNvPicPr>
            <a:picLocks noChangeAspect="1"/>
          </p:cNvPicPr>
          <p:nvPr/>
        </p:nvPicPr>
        <p:blipFill>
          <a:blip r:embed="rId4"/>
          <a:stretch>
            <a:fillRect/>
          </a:stretch>
        </p:blipFill>
        <p:spPr>
          <a:xfrm>
            <a:off x="3096589" y="2607463"/>
            <a:ext cx="128699" cy="187198"/>
          </a:xfrm>
          <a:prstGeom prst="rect">
            <a:avLst/>
          </a:prstGeom>
        </p:spPr>
      </p:pic>
      <p:pic>
        <p:nvPicPr>
          <p:cNvPr id="120" name="Picture 119" descr="lock.png"/>
          <p:cNvPicPr>
            <a:picLocks noChangeAspect="1"/>
          </p:cNvPicPr>
          <p:nvPr/>
        </p:nvPicPr>
        <p:blipFill>
          <a:blip r:embed="rId4"/>
          <a:stretch>
            <a:fillRect/>
          </a:stretch>
        </p:blipFill>
        <p:spPr>
          <a:xfrm>
            <a:off x="4098075" y="1572826"/>
            <a:ext cx="128699" cy="187198"/>
          </a:xfrm>
          <a:prstGeom prst="rect">
            <a:avLst/>
          </a:prstGeom>
        </p:spPr>
      </p:pic>
      <p:pic>
        <p:nvPicPr>
          <p:cNvPr id="121" name="Picture 120" descr="lock.png"/>
          <p:cNvPicPr>
            <a:picLocks noChangeAspect="1"/>
          </p:cNvPicPr>
          <p:nvPr/>
        </p:nvPicPr>
        <p:blipFill>
          <a:blip r:embed="rId4"/>
          <a:stretch>
            <a:fillRect/>
          </a:stretch>
        </p:blipFill>
        <p:spPr>
          <a:xfrm>
            <a:off x="5099561" y="1463749"/>
            <a:ext cx="128699" cy="187198"/>
          </a:xfrm>
          <a:prstGeom prst="rect">
            <a:avLst/>
          </a:prstGeom>
        </p:spPr>
      </p:pic>
      <p:pic>
        <p:nvPicPr>
          <p:cNvPr id="122" name="Picture 121" descr="lock.png"/>
          <p:cNvPicPr>
            <a:picLocks noChangeAspect="1"/>
          </p:cNvPicPr>
          <p:nvPr/>
        </p:nvPicPr>
        <p:blipFill>
          <a:blip r:embed="rId4"/>
          <a:stretch>
            <a:fillRect/>
          </a:stretch>
        </p:blipFill>
        <p:spPr>
          <a:xfrm>
            <a:off x="6101047" y="2385902"/>
            <a:ext cx="128699" cy="187198"/>
          </a:xfrm>
          <a:prstGeom prst="rect">
            <a:avLst/>
          </a:prstGeom>
        </p:spPr>
      </p:pic>
      <p:pic>
        <p:nvPicPr>
          <p:cNvPr id="123" name="Picture 122" descr="lock.png"/>
          <p:cNvPicPr>
            <a:picLocks noChangeAspect="1"/>
          </p:cNvPicPr>
          <p:nvPr/>
        </p:nvPicPr>
        <p:blipFill>
          <a:blip r:embed="rId4"/>
          <a:stretch>
            <a:fillRect/>
          </a:stretch>
        </p:blipFill>
        <p:spPr>
          <a:xfrm>
            <a:off x="7102532" y="2155769"/>
            <a:ext cx="128699" cy="187198"/>
          </a:xfrm>
          <a:prstGeom prst="rect">
            <a:avLst/>
          </a:prstGeom>
        </p:spPr>
      </p:pic>
      <p:pic>
        <p:nvPicPr>
          <p:cNvPr id="124" name="Picture 123" descr="lock.png"/>
          <p:cNvPicPr>
            <a:picLocks noChangeAspect="1"/>
          </p:cNvPicPr>
          <p:nvPr/>
        </p:nvPicPr>
        <p:blipFill>
          <a:blip r:embed="rId4"/>
          <a:stretch>
            <a:fillRect/>
          </a:stretch>
        </p:blipFill>
        <p:spPr>
          <a:xfrm>
            <a:off x="1142150" y="4253659"/>
            <a:ext cx="128699" cy="187198"/>
          </a:xfrm>
          <a:prstGeom prst="rect">
            <a:avLst/>
          </a:prstGeom>
        </p:spPr>
      </p:pic>
      <p:pic>
        <p:nvPicPr>
          <p:cNvPr id="125" name="Picture 124" descr="lock.png"/>
          <p:cNvPicPr>
            <a:picLocks noChangeAspect="1"/>
          </p:cNvPicPr>
          <p:nvPr/>
        </p:nvPicPr>
        <p:blipFill>
          <a:blip r:embed="rId4"/>
          <a:stretch>
            <a:fillRect/>
          </a:stretch>
        </p:blipFill>
        <p:spPr>
          <a:xfrm>
            <a:off x="2316900" y="5194171"/>
            <a:ext cx="128699" cy="187198"/>
          </a:xfrm>
          <a:prstGeom prst="rect">
            <a:avLst/>
          </a:prstGeom>
        </p:spPr>
      </p:pic>
      <p:pic>
        <p:nvPicPr>
          <p:cNvPr id="126" name="Picture 125" descr="lock.png"/>
          <p:cNvPicPr>
            <a:picLocks noChangeAspect="1"/>
          </p:cNvPicPr>
          <p:nvPr/>
        </p:nvPicPr>
        <p:blipFill>
          <a:blip r:embed="rId4"/>
          <a:stretch>
            <a:fillRect/>
          </a:stretch>
        </p:blipFill>
        <p:spPr>
          <a:xfrm>
            <a:off x="3491650" y="4532933"/>
            <a:ext cx="128699" cy="187198"/>
          </a:xfrm>
          <a:prstGeom prst="rect">
            <a:avLst/>
          </a:prstGeom>
        </p:spPr>
      </p:pic>
      <p:pic>
        <p:nvPicPr>
          <p:cNvPr id="127" name="Picture 126" descr="lock.png"/>
          <p:cNvPicPr>
            <a:picLocks noChangeAspect="1"/>
          </p:cNvPicPr>
          <p:nvPr/>
        </p:nvPicPr>
        <p:blipFill>
          <a:blip r:embed="rId4"/>
          <a:stretch>
            <a:fillRect/>
          </a:stretch>
        </p:blipFill>
        <p:spPr>
          <a:xfrm>
            <a:off x="4666400" y="5641198"/>
            <a:ext cx="128699" cy="187198"/>
          </a:xfrm>
          <a:prstGeom prst="rect">
            <a:avLst/>
          </a:prstGeom>
        </p:spPr>
      </p:pic>
      <p:pic>
        <p:nvPicPr>
          <p:cNvPr id="128" name="Picture 127" descr="lock.png"/>
          <p:cNvPicPr>
            <a:picLocks noChangeAspect="1"/>
          </p:cNvPicPr>
          <p:nvPr/>
        </p:nvPicPr>
        <p:blipFill>
          <a:blip r:embed="rId4"/>
          <a:stretch>
            <a:fillRect/>
          </a:stretch>
        </p:blipFill>
        <p:spPr>
          <a:xfrm>
            <a:off x="5841150" y="5791799"/>
            <a:ext cx="128699" cy="187198"/>
          </a:xfrm>
          <a:prstGeom prst="rect">
            <a:avLst/>
          </a:prstGeom>
        </p:spPr>
      </p:pic>
      <p:pic>
        <p:nvPicPr>
          <p:cNvPr id="129" name="Picture 128" descr="lock.png"/>
          <p:cNvPicPr>
            <a:picLocks noChangeAspect="1"/>
          </p:cNvPicPr>
          <p:nvPr/>
        </p:nvPicPr>
        <p:blipFill>
          <a:blip r:embed="rId4"/>
          <a:stretch>
            <a:fillRect/>
          </a:stretch>
        </p:blipFill>
        <p:spPr>
          <a:xfrm>
            <a:off x="7015900" y="5261965"/>
            <a:ext cx="128699" cy="187198"/>
          </a:xfrm>
          <a:prstGeom prst="rect">
            <a:avLst/>
          </a:prstGeom>
        </p:spPr>
      </p:pic>
      <p:sp>
        <p:nvSpPr>
          <p:cNvPr id="130" name="TextBox 129"/>
          <p:cNvSpPr txBox="1"/>
          <p:nvPr/>
        </p:nvSpPr>
        <p:spPr>
          <a:xfrm>
            <a:off x="8048625" y="1471995"/>
            <a:ext cx="3547169" cy="194310"/>
          </a:xfrm>
          <a:prstGeom prst="rect">
            <a:avLst/>
          </a:prstGeom>
          <a:noFill/>
        </p:spPr>
        <p:txBody>
          <a:bodyPr wrap="none" lIns="0" rIns="0" tIns="0" bIns="0">
            <a:spAutoFit/>
          </a:bodyPr>
          <a:lstStyle/>
          <a:p>
            <a:r>
              <a:rPr sz="1150" b="0">
                <a:solidFill>
                  <a:srgbClr val="2E2E2E"/>
                </a:solidFill>
                <a:latin typeface="Calibri"/>
              </a:rPr>
              <a:t>Cut foliage &amp; greens segment is expected to command the</a:t>
            </a:r>
          </a:p>
        </p:txBody>
      </p:sp>
      <p:sp>
        <p:nvSpPr>
          <p:cNvPr id="131" name="TextBox 130"/>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32" name="Picture 131" descr="lock.png"/>
          <p:cNvPicPr>
            <a:picLocks noChangeAspect="1"/>
          </p:cNvPicPr>
          <p:nvPr/>
        </p:nvPicPr>
        <p:blipFill>
          <a:blip r:embed="rId4"/>
          <a:stretch>
            <a:fillRect/>
          </a:stretch>
        </p:blipFill>
        <p:spPr>
          <a:xfrm>
            <a:off x="9764678" y="1637031"/>
            <a:ext cx="134549" cy="195707"/>
          </a:xfrm>
          <a:prstGeom prst="rect">
            <a:avLst/>
          </a:prstGeom>
        </p:spPr>
      </p:pic>
      <p:sp>
        <p:nvSpPr>
          <p:cNvPr id="133" name="TextBox 132"/>
          <p:cNvSpPr txBox="1"/>
          <p:nvPr/>
        </p:nvSpPr>
        <p:spPr>
          <a:xfrm>
            <a:off x="9939788"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34" name="TextBox 133"/>
          <p:cNvSpPr txBox="1"/>
          <p:nvPr/>
        </p:nvSpPr>
        <p:spPr>
          <a:xfrm>
            <a:off x="8048625" y="1822515"/>
            <a:ext cx="2805794" cy="194310"/>
          </a:xfrm>
          <a:prstGeom prst="rect">
            <a:avLst/>
          </a:prstGeom>
          <a:noFill/>
        </p:spPr>
        <p:txBody>
          <a:bodyPr wrap="none" lIns="0" rIns="0" tIns="0" bIns="0">
            <a:spAutoFit/>
          </a:bodyPr>
          <a:lstStyle/>
          <a:p>
            <a:r>
              <a:rPr sz="1150" b="0">
                <a:solidFill>
                  <a:srgbClr val="2E2E2E"/>
                </a:solidFill>
                <a:latin typeface="Calibri"/>
              </a:rPr>
              <a:t>selling price of floriculture is estimated at US$</a:t>
            </a:r>
          </a:p>
        </p:txBody>
      </p:sp>
      <p:pic>
        <p:nvPicPr>
          <p:cNvPr id="135" name="Picture 134" descr="lock.png"/>
          <p:cNvPicPr>
            <a:picLocks noChangeAspect="1"/>
          </p:cNvPicPr>
          <p:nvPr/>
        </p:nvPicPr>
        <p:blipFill>
          <a:blip r:embed="rId4"/>
          <a:stretch>
            <a:fillRect/>
          </a:stretch>
        </p:blipFill>
        <p:spPr>
          <a:xfrm>
            <a:off x="10803573" y="1812291"/>
            <a:ext cx="134549" cy="195707"/>
          </a:xfrm>
          <a:prstGeom prst="rect">
            <a:avLst/>
          </a:prstGeom>
        </p:spPr>
      </p:pic>
      <p:sp>
        <p:nvSpPr>
          <p:cNvPr id="136" name="TextBox 135"/>
          <p:cNvSpPr txBox="1"/>
          <p:nvPr/>
        </p:nvSpPr>
        <p:spPr>
          <a:xfrm>
            <a:off x="10978682" y="182251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37" name="TextBox 136"/>
          <p:cNvSpPr txBox="1"/>
          <p:nvPr/>
        </p:nvSpPr>
        <p:spPr>
          <a:xfrm>
            <a:off x="8048625" y="1997775"/>
            <a:ext cx="2474614" cy="194310"/>
          </a:xfrm>
          <a:prstGeom prst="rect">
            <a:avLst/>
          </a:prstGeom>
          <a:noFill/>
        </p:spPr>
        <p:txBody>
          <a:bodyPr wrap="none" lIns="0" rIns="0" tIns="0" bIns="0">
            <a:spAutoFit/>
          </a:bodyPr>
          <a:lstStyle/>
          <a:p>
            <a:r>
              <a:rPr sz="1150" b="0">
                <a:solidFill>
                  <a:srgbClr val="2E2E2E"/>
                </a:solidFill>
                <a:latin typeface="Calibri"/>
              </a:rPr>
              <a:t>2025 and is projected to increase to US$</a:t>
            </a:r>
          </a:p>
        </p:txBody>
      </p:sp>
      <p:pic>
        <p:nvPicPr>
          <p:cNvPr id="138" name="Picture 137" descr="lock.png"/>
          <p:cNvPicPr>
            <a:picLocks noChangeAspect="1"/>
          </p:cNvPicPr>
          <p:nvPr/>
        </p:nvPicPr>
        <p:blipFill>
          <a:blip r:embed="rId4"/>
          <a:stretch>
            <a:fillRect/>
          </a:stretch>
        </p:blipFill>
        <p:spPr>
          <a:xfrm>
            <a:off x="10472393" y="1987551"/>
            <a:ext cx="134549" cy="195707"/>
          </a:xfrm>
          <a:prstGeom prst="rect">
            <a:avLst/>
          </a:prstGeom>
        </p:spPr>
      </p:pic>
      <p:sp>
        <p:nvSpPr>
          <p:cNvPr id="139" name="TextBox 138"/>
          <p:cNvSpPr txBox="1"/>
          <p:nvPr/>
        </p:nvSpPr>
        <p:spPr>
          <a:xfrm>
            <a:off x="10647503" y="199777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40" name="TextBox 139"/>
          <p:cNvSpPr txBox="1"/>
          <p:nvPr/>
        </p:nvSpPr>
        <p:spPr>
          <a:xfrm>
            <a:off x="8048625" y="222561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41" name="TextBox 140"/>
          <p:cNvSpPr txBox="1"/>
          <p:nvPr/>
        </p:nvSpPr>
        <p:spPr>
          <a:xfrm>
            <a:off x="8048625" y="240087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42" name="TextBox 141"/>
          <p:cNvSpPr txBox="1"/>
          <p:nvPr/>
        </p:nvSpPr>
        <p:spPr>
          <a:xfrm>
            <a:off x="8048625" y="257613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43" name="Picture 142" descr="lock.png"/>
          <p:cNvPicPr>
            <a:picLocks noChangeAspect="1"/>
          </p:cNvPicPr>
          <p:nvPr/>
        </p:nvPicPr>
        <p:blipFill>
          <a:blip r:embed="rId4"/>
          <a:stretch>
            <a:fillRect/>
          </a:stretch>
        </p:blipFill>
        <p:spPr>
          <a:xfrm>
            <a:off x="8524680" y="2565909"/>
            <a:ext cx="134549" cy="195707"/>
          </a:xfrm>
          <a:prstGeom prst="rect">
            <a:avLst/>
          </a:prstGeom>
        </p:spPr>
      </p:pic>
      <p:sp>
        <p:nvSpPr>
          <p:cNvPr id="144" name="TextBox 143"/>
          <p:cNvSpPr txBox="1"/>
          <p:nvPr/>
        </p:nvSpPr>
        <p:spPr>
          <a:xfrm>
            <a:off x="8699789" y="2576133"/>
            <a:ext cx="3076500" cy="194310"/>
          </a:xfrm>
          <a:prstGeom prst="rect">
            <a:avLst/>
          </a:prstGeom>
          <a:noFill/>
        </p:spPr>
        <p:txBody>
          <a:bodyPr wrap="none" lIns="0" rIns="0" tIns="0" bIns="0">
            <a:spAutoFit/>
          </a:bodyPr>
          <a:lstStyle/>
          <a:p>
            <a:r>
              <a:rPr sz="1150" b="0">
                <a:solidFill>
                  <a:srgbClr val="2E2E2E"/>
                </a:solidFill>
                <a:latin typeface="Calibri"/>
              </a:rPr>
              <a:t>US$/Units, 2 of 6 regions price above and 4 below.</a:t>
            </a:r>
          </a:p>
        </p:txBody>
      </p:sp>
      <p:sp>
        <p:nvSpPr>
          <p:cNvPr id="145" name="TextBox 144"/>
          <p:cNvSpPr txBox="1"/>
          <p:nvPr/>
        </p:nvSpPr>
        <p:spPr>
          <a:xfrm>
            <a:off x="8048625" y="2803971"/>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46" name="Picture 145" descr="lock.png"/>
          <p:cNvPicPr>
            <a:picLocks noChangeAspect="1"/>
          </p:cNvPicPr>
          <p:nvPr/>
        </p:nvPicPr>
        <p:blipFill>
          <a:blip r:embed="rId4"/>
          <a:stretch>
            <a:fillRect/>
          </a:stretch>
        </p:blipFill>
        <p:spPr>
          <a:xfrm>
            <a:off x="10105842" y="2793747"/>
            <a:ext cx="134549" cy="195707"/>
          </a:xfrm>
          <a:prstGeom prst="rect">
            <a:avLst/>
          </a:prstGeom>
        </p:spPr>
      </p:pic>
      <p:sp>
        <p:nvSpPr>
          <p:cNvPr id="147" name="TextBox 146"/>
          <p:cNvSpPr txBox="1"/>
          <p:nvPr/>
        </p:nvSpPr>
        <p:spPr>
          <a:xfrm>
            <a:off x="10280951" y="2803971"/>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48" name="TextBox 147"/>
          <p:cNvSpPr txBox="1"/>
          <p:nvPr/>
        </p:nvSpPr>
        <p:spPr>
          <a:xfrm>
            <a:off x="8048625" y="297923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49" name="Picture 148" descr="lock.png"/>
          <p:cNvPicPr>
            <a:picLocks noChangeAspect="1"/>
          </p:cNvPicPr>
          <p:nvPr/>
        </p:nvPicPr>
        <p:blipFill>
          <a:blip r:embed="rId4"/>
          <a:stretch>
            <a:fillRect/>
          </a:stretch>
        </p:blipFill>
        <p:spPr>
          <a:xfrm>
            <a:off x="9651433" y="2969007"/>
            <a:ext cx="134549" cy="195707"/>
          </a:xfrm>
          <a:prstGeom prst="rect">
            <a:avLst/>
          </a:prstGeom>
        </p:spPr>
      </p:pic>
      <p:sp>
        <p:nvSpPr>
          <p:cNvPr id="150" name="TextBox 149"/>
          <p:cNvSpPr txBox="1"/>
          <p:nvPr/>
        </p:nvSpPr>
        <p:spPr>
          <a:xfrm>
            <a:off x="9826542" y="297923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51" name="TextBox 150"/>
          <p:cNvSpPr txBox="1"/>
          <p:nvPr/>
        </p:nvSpPr>
        <p:spPr>
          <a:xfrm>
            <a:off x="8048625" y="315449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2597844" cy="194310"/>
          </a:xfrm>
          <a:prstGeom prst="rect">
            <a:avLst/>
          </a:prstGeom>
          <a:noFill/>
        </p:spPr>
        <p:txBody>
          <a:bodyPr wrap="none" lIns="0" rIns="0" tIns="0" bIns="0">
            <a:spAutoFit/>
          </a:bodyPr>
          <a:lstStyle/>
          <a:p>
            <a:r>
              <a:rPr sz="1150" b="0">
                <a:solidFill>
                  <a:srgbClr val="2E2E2E"/>
                </a:solidFill>
                <a:latin typeface="Calibri"/>
              </a:rPr>
              <a:t>Floriculture market is projected to register</a:t>
            </a:r>
          </a:p>
        </p:txBody>
      </p:sp>
      <p:pic>
        <p:nvPicPr>
          <p:cNvPr id="35" name="Picture 34" descr="lock.png"/>
          <p:cNvPicPr>
            <a:picLocks noChangeAspect="1"/>
          </p:cNvPicPr>
          <p:nvPr/>
        </p:nvPicPr>
        <p:blipFill>
          <a:blip r:embed="rId6"/>
          <a:stretch>
            <a:fillRect/>
          </a:stretch>
        </p:blipFill>
        <p:spPr>
          <a:xfrm>
            <a:off x="10595623" y="2036763"/>
            <a:ext cx="134549" cy="195707"/>
          </a:xfrm>
          <a:prstGeom prst="rect">
            <a:avLst/>
          </a:prstGeom>
        </p:spPr>
      </p:pic>
      <p:sp>
        <p:nvSpPr>
          <p:cNvPr id="36" name="TextBox 35"/>
          <p:cNvSpPr txBox="1"/>
          <p:nvPr/>
        </p:nvSpPr>
        <p:spPr>
          <a:xfrm>
            <a:off x="10770732" y="2046987"/>
            <a:ext cx="997284" cy="194310"/>
          </a:xfrm>
          <a:prstGeom prst="rect">
            <a:avLst/>
          </a:prstGeom>
          <a:noFill/>
        </p:spPr>
        <p:txBody>
          <a:bodyPr wrap="none" lIns="0" rIns="0" tIns="0" bIns="0">
            <a:spAutoFit/>
          </a:bodyPr>
          <a:lstStyle/>
          <a:p>
            <a:r>
              <a:rPr sz="1150" b="0">
                <a:solidFill>
                  <a:srgbClr val="2E2E2E"/>
                </a:solidFill>
                <a:latin typeface="Calibri"/>
              </a:rPr>
              <a:t>X increase in its</a:t>
            </a:r>
          </a:p>
        </p:txBody>
      </p:sp>
      <p:sp>
        <p:nvSpPr>
          <p:cNvPr id="37" name="TextBox 36"/>
          <p:cNvSpPr txBox="1"/>
          <p:nvPr/>
        </p:nvSpPr>
        <p:spPr>
          <a:xfrm>
            <a:off x="8048625" y="2222247"/>
            <a:ext cx="3837843" cy="194310"/>
          </a:xfrm>
          <a:prstGeom prst="rect">
            <a:avLst/>
          </a:prstGeom>
          <a:noFill/>
        </p:spPr>
        <p:txBody>
          <a:bodyPr wrap="none" lIns="0" rIns="0" tIns="0" bIns="0">
            <a:spAutoFit/>
          </a:bodyPr>
          <a:lstStyle/>
          <a:p>
            <a:r>
              <a:rPr sz="1150" b="0">
                <a:solidFill>
                  <a:srgbClr val="2E2E2E"/>
                </a:solidFill>
                <a:latin typeface="Calibri"/>
              </a:rPr>
              <a:t>revenue by the end of forecast period, 2036. Global floriculture</a:t>
            </a:r>
          </a:p>
        </p:txBody>
      </p:sp>
      <p:sp>
        <p:nvSpPr>
          <p:cNvPr id="38" name="TextBox 37"/>
          <p:cNvSpPr txBox="1"/>
          <p:nvPr/>
        </p:nvSpPr>
        <p:spPr>
          <a:xfrm>
            <a:off x="8048625" y="2397507"/>
            <a:ext cx="2395599" cy="194310"/>
          </a:xfrm>
          <a:prstGeom prst="rect">
            <a:avLst/>
          </a:prstGeom>
          <a:noFill/>
        </p:spPr>
        <p:txBody>
          <a:bodyPr wrap="none" lIns="0" rIns="0" tIns="0" bIns="0">
            <a:spAutoFit/>
          </a:bodyPr>
          <a:lstStyle/>
          <a:p>
            <a:r>
              <a:rPr sz="1150" b="0">
                <a:solidFill>
                  <a:srgbClr val="2E2E2E"/>
                </a:solidFill>
                <a:latin typeface="Calibri"/>
              </a:rPr>
              <a:t>market is expected to be valued at US$</a:t>
            </a:r>
          </a:p>
        </p:txBody>
      </p:sp>
      <p:pic>
        <p:nvPicPr>
          <p:cNvPr id="39" name="Picture 38" descr="lock.png"/>
          <p:cNvPicPr>
            <a:picLocks noChangeAspect="1"/>
          </p:cNvPicPr>
          <p:nvPr/>
        </p:nvPicPr>
        <p:blipFill>
          <a:blip r:embed="rId6"/>
          <a:stretch>
            <a:fillRect/>
          </a:stretch>
        </p:blipFill>
        <p:spPr>
          <a:xfrm>
            <a:off x="10393378" y="2387283"/>
            <a:ext cx="134549" cy="195707"/>
          </a:xfrm>
          <a:prstGeom prst="rect">
            <a:avLst/>
          </a:prstGeom>
        </p:spPr>
      </p:pic>
      <p:sp>
        <p:nvSpPr>
          <p:cNvPr id="40" name="TextBox 39"/>
          <p:cNvSpPr txBox="1"/>
          <p:nvPr/>
        </p:nvSpPr>
        <p:spPr>
          <a:xfrm>
            <a:off x="10568487" y="239750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1" name="TextBox 40"/>
          <p:cNvSpPr txBox="1"/>
          <p:nvPr/>
        </p:nvSpPr>
        <p:spPr>
          <a:xfrm>
            <a:off x="8048625" y="2625345"/>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2" name="Picture 41" descr="lock.png"/>
          <p:cNvPicPr>
            <a:picLocks noChangeAspect="1"/>
          </p:cNvPicPr>
          <p:nvPr/>
        </p:nvPicPr>
        <p:blipFill>
          <a:blip r:embed="rId6"/>
          <a:stretch>
            <a:fillRect/>
          </a:stretch>
        </p:blipFill>
        <p:spPr>
          <a:xfrm>
            <a:off x="8034545" y="2790381"/>
            <a:ext cx="134549" cy="195707"/>
          </a:xfrm>
          <a:prstGeom prst="rect">
            <a:avLst/>
          </a:prstGeom>
        </p:spPr>
      </p:pic>
      <p:sp>
        <p:nvSpPr>
          <p:cNvPr id="43" name="TextBox 42"/>
          <p:cNvSpPr txBox="1"/>
          <p:nvPr/>
        </p:nvSpPr>
        <p:spPr>
          <a:xfrm>
            <a:off x="8209654" y="280060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4" name="TextBox 43"/>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5" name="Picture 44" descr="lock.png"/>
          <p:cNvPicPr>
            <a:picLocks noChangeAspect="1"/>
          </p:cNvPicPr>
          <p:nvPr/>
        </p:nvPicPr>
        <p:blipFill>
          <a:blip r:embed="rId6"/>
          <a:stretch>
            <a:fillRect/>
          </a:stretch>
        </p:blipFill>
        <p:spPr>
          <a:xfrm>
            <a:off x="10866614" y="4446251"/>
            <a:ext cx="134549" cy="195707"/>
          </a:xfrm>
          <a:prstGeom prst="rect">
            <a:avLst/>
          </a:prstGeom>
        </p:spPr>
      </p:pic>
      <p:sp>
        <p:nvSpPr>
          <p:cNvPr id="46" name="TextBox 45"/>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7" name="TextBox 46"/>
          <p:cNvSpPr txBox="1"/>
          <p:nvPr/>
        </p:nvSpPr>
        <p:spPr>
          <a:xfrm>
            <a:off x="8048625" y="4684312"/>
            <a:ext cx="3678671" cy="194310"/>
          </a:xfrm>
          <a:prstGeom prst="rect">
            <a:avLst/>
          </a:prstGeom>
          <a:noFill/>
        </p:spPr>
        <p:txBody>
          <a:bodyPr wrap="none" lIns="0" rIns="0" tIns="0" bIns="0">
            <a:spAutoFit/>
          </a:bodyPr>
          <a:lstStyle/>
          <a:p>
            <a:r>
              <a:rPr sz="1150" b="0">
                <a:solidFill>
                  <a:srgbClr val="2E2E2E"/>
                </a:solidFill>
                <a:latin typeface="Calibri"/>
              </a:rPr>
              <a:t>▪ Demand concentrates in 'Cut Flowers' within Product Type.</a:t>
            </a:r>
          </a:p>
        </p:txBody>
      </p:sp>
      <p:sp>
        <p:nvSpPr>
          <p:cNvPr id="48" name="TextBox 47"/>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9" name="TextBox 48"/>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0"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2597844" cy="194310"/>
          </a:xfrm>
          <a:prstGeom prst="rect">
            <a:avLst/>
          </a:prstGeom>
          <a:noFill/>
        </p:spPr>
        <p:txBody>
          <a:bodyPr wrap="none" lIns="0" rIns="0" tIns="0" bIns="0">
            <a:spAutoFit/>
          </a:bodyPr>
          <a:lstStyle/>
          <a:p>
            <a:r>
              <a:rPr sz="1150" b="0">
                <a:solidFill>
                  <a:srgbClr val="2E2E2E"/>
                </a:solidFill>
                <a:latin typeface="Calibri"/>
              </a:rPr>
              <a:t>Floriculture market is projected to register</a:t>
            </a:r>
          </a:p>
        </p:txBody>
      </p:sp>
      <p:pic>
        <p:nvPicPr>
          <p:cNvPr id="32" name="Picture 31" descr="lock.png"/>
          <p:cNvPicPr>
            <a:picLocks noChangeAspect="1"/>
          </p:cNvPicPr>
          <p:nvPr/>
        </p:nvPicPr>
        <p:blipFill>
          <a:blip r:embed="rId6"/>
          <a:stretch>
            <a:fillRect/>
          </a:stretch>
        </p:blipFill>
        <p:spPr>
          <a:xfrm>
            <a:off x="2823223" y="4961826"/>
            <a:ext cx="134549" cy="195707"/>
          </a:xfrm>
          <a:prstGeom prst="rect">
            <a:avLst/>
          </a:prstGeom>
        </p:spPr>
      </p:pic>
      <p:sp>
        <p:nvSpPr>
          <p:cNvPr id="33" name="TextBox 32"/>
          <p:cNvSpPr txBox="1"/>
          <p:nvPr/>
        </p:nvSpPr>
        <p:spPr>
          <a:xfrm>
            <a:off x="2998332" y="4972050"/>
            <a:ext cx="7144506"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floriculture market is expected to be valued at US$</a:t>
            </a:r>
          </a:p>
        </p:txBody>
      </p:sp>
      <p:pic>
        <p:nvPicPr>
          <p:cNvPr id="34" name="Picture 33" descr="lock.png"/>
          <p:cNvPicPr>
            <a:picLocks noChangeAspect="1"/>
          </p:cNvPicPr>
          <p:nvPr/>
        </p:nvPicPr>
        <p:blipFill>
          <a:blip r:embed="rId6"/>
          <a:stretch>
            <a:fillRect/>
          </a:stretch>
        </p:blipFill>
        <p:spPr>
          <a:xfrm>
            <a:off x="10091993" y="4961826"/>
            <a:ext cx="134549" cy="195707"/>
          </a:xfrm>
          <a:prstGeom prst="rect">
            <a:avLst/>
          </a:prstGeom>
        </p:spPr>
      </p:pic>
      <p:sp>
        <p:nvSpPr>
          <p:cNvPr id="35" name="TextBox 34"/>
          <p:cNvSpPr txBox="1"/>
          <p:nvPr/>
        </p:nvSpPr>
        <p:spPr>
          <a:xfrm>
            <a:off x="10267102" y="497205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6" name="TextBox 35"/>
          <p:cNvSpPr txBox="1"/>
          <p:nvPr/>
        </p:nvSpPr>
        <p:spPr>
          <a:xfrm>
            <a:off x="276225" y="5199888"/>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7" name="Picture 36" descr="lock.png"/>
          <p:cNvPicPr>
            <a:picLocks noChangeAspect="1"/>
          </p:cNvPicPr>
          <p:nvPr/>
        </p:nvPicPr>
        <p:blipFill>
          <a:blip r:embed="rId6"/>
          <a:stretch>
            <a:fillRect/>
          </a:stretch>
        </p:blipFill>
        <p:spPr>
          <a:xfrm>
            <a:off x="4037834" y="5189664"/>
            <a:ext cx="134549" cy="195707"/>
          </a:xfrm>
          <a:prstGeom prst="rect">
            <a:avLst/>
          </a:prstGeom>
        </p:spPr>
      </p:pic>
      <p:sp>
        <p:nvSpPr>
          <p:cNvPr id="38" name="TextBox 37"/>
          <p:cNvSpPr txBox="1"/>
          <p:nvPr/>
        </p:nvSpPr>
        <p:spPr>
          <a:xfrm>
            <a:off x="4212943" y="5199888"/>
            <a:ext cx="4404072" cy="194310"/>
          </a:xfrm>
          <a:prstGeom prst="rect">
            <a:avLst/>
          </a:prstGeom>
          <a:noFill/>
        </p:spPr>
        <p:txBody>
          <a:bodyPr wrap="none" lIns="0" rIns="0" tIns="0" bIns="0">
            <a:spAutoFit/>
          </a:bodyPr>
          <a:lstStyle/>
          <a:p>
            <a:r>
              <a:rPr sz="1150" b="0">
                <a:solidFill>
                  <a:srgbClr val="2E2E2E"/>
                </a:solidFill>
                <a:latin typeface="Calibri"/>
              </a:rPr>
              <a:t>Mn from 2025 to 2036. Global floriculture market is projected to register</a:t>
            </a:r>
          </a:p>
        </p:txBody>
      </p:sp>
      <p:pic>
        <p:nvPicPr>
          <p:cNvPr id="39" name="Picture 38" descr="lock.png"/>
          <p:cNvPicPr>
            <a:picLocks noChangeAspect="1"/>
          </p:cNvPicPr>
          <p:nvPr/>
        </p:nvPicPr>
        <p:blipFill>
          <a:blip r:embed="rId6"/>
          <a:stretch>
            <a:fillRect/>
          </a:stretch>
        </p:blipFill>
        <p:spPr>
          <a:xfrm>
            <a:off x="8566170" y="5189664"/>
            <a:ext cx="134549" cy="195707"/>
          </a:xfrm>
          <a:prstGeom prst="rect">
            <a:avLst/>
          </a:prstGeom>
        </p:spPr>
      </p:pic>
      <p:sp>
        <p:nvSpPr>
          <p:cNvPr id="40" name="TextBox 39"/>
          <p:cNvSpPr txBox="1"/>
          <p:nvPr/>
        </p:nvSpPr>
        <p:spPr>
          <a:xfrm>
            <a:off x="8741279" y="5199888"/>
            <a:ext cx="2638065" cy="194310"/>
          </a:xfrm>
          <a:prstGeom prst="rect">
            <a:avLst/>
          </a:prstGeom>
          <a:noFill/>
        </p:spPr>
        <p:txBody>
          <a:bodyPr wrap="none" lIns="0" rIns="0" tIns="0" bIns="0">
            <a:spAutoFit/>
          </a:bodyPr>
          <a:lstStyle/>
          <a:p>
            <a:r>
              <a:rPr sz="1150" b="0">
                <a:solidFill>
                  <a:srgbClr val="2E2E2E"/>
                </a:solidFill>
                <a:latin typeface="Calibri"/>
              </a:rPr>
              <a:t>X increase in volume by the end of forecast</a:t>
            </a:r>
          </a:p>
        </p:txBody>
      </p:sp>
      <p:sp>
        <p:nvSpPr>
          <p:cNvPr id="41" name="TextBox 40"/>
          <p:cNvSpPr txBox="1"/>
          <p:nvPr/>
        </p:nvSpPr>
        <p:spPr>
          <a:xfrm>
            <a:off x="276225" y="5375147"/>
            <a:ext cx="867209" cy="194310"/>
          </a:xfrm>
          <a:prstGeom prst="rect">
            <a:avLst/>
          </a:prstGeom>
          <a:noFill/>
        </p:spPr>
        <p:txBody>
          <a:bodyPr wrap="none" lIns="0" rIns="0" tIns="0" bIns="0">
            <a:spAutoFit/>
          </a:bodyPr>
          <a:lstStyle/>
          <a:p>
            <a:r>
              <a:rPr sz="1150" b="0">
                <a:solidFill>
                  <a:srgbClr val="2E2E2E"/>
                </a:solidFill>
                <a:latin typeface="Calibri"/>
              </a:rPr>
              <a:t>period, 2036.</a:t>
            </a:r>
          </a:p>
        </p:txBody>
      </p:sp>
      <p:sp>
        <p:nvSpPr>
          <p:cNvPr id="42" name="TextBox 41"/>
          <p:cNvSpPr txBox="1"/>
          <p:nvPr/>
        </p:nvSpPr>
        <p:spPr>
          <a:xfrm>
            <a:off x="276225" y="5602985"/>
            <a:ext cx="2610966" cy="194310"/>
          </a:xfrm>
          <a:prstGeom prst="rect">
            <a:avLst/>
          </a:prstGeom>
          <a:noFill/>
        </p:spPr>
        <p:txBody>
          <a:bodyPr wrap="none" lIns="0" rIns="0" tIns="0" bIns="0">
            <a:spAutoFit/>
          </a:bodyPr>
          <a:lstStyle/>
          <a:p>
            <a:r>
              <a:rPr sz="1150" b="0">
                <a:solidFill>
                  <a:srgbClr val="2E2E2E"/>
                </a:solidFill>
                <a:latin typeface="Calibri"/>
              </a:rPr>
              <a:t>Global floriculture market volume stood at</a:t>
            </a:r>
          </a:p>
        </p:txBody>
      </p:sp>
      <p:pic>
        <p:nvPicPr>
          <p:cNvPr id="43" name="Picture 42" descr="lock.png"/>
          <p:cNvPicPr>
            <a:picLocks noChangeAspect="1"/>
          </p:cNvPicPr>
          <p:nvPr/>
        </p:nvPicPr>
        <p:blipFill>
          <a:blip r:embed="rId6"/>
          <a:stretch>
            <a:fillRect/>
          </a:stretch>
        </p:blipFill>
        <p:spPr>
          <a:xfrm>
            <a:off x="2836345" y="5592762"/>
            <a:ext cx="134549" cy="195707"/>
          </a:xfrm>
          <a:prstGeom prst="rect">
            <a:avLst/>
          </a:prstGeom>
        </p:spPr>
      </p:pic>
      <p:sp>
        <p:nvSpPr>
          <p:cNvPr id="44" name="TextBox 43"/>
          <p:cNvSpPr txBox="1"/>
          <p:nvPr/>
        </p:nvSpPr>
        <p:spPr>
          <a:xfrm>
            <a:off x="3011454" y="5602985"/>
            <a:ext cx="2578447" cy="194310"/>
          </a:xfrm>
          <a:prstGeom prst="rect">
            <a:avLst/>
          </a:prstGeom>
          <a:noFill/>
        </p:spPr>
        <p:txBody>
          <a:bodyPr wrap="none" lIns="0" rIns="0" tIns="0" bIns="0">
            <a:spAutoFit/>
          </a:bodyPr>
          <a:lstStyle/>
          <a:p>
            <a:r>
              <a:rPr sz="1150" b="0">
                <a:solidFill>
                  <a:srgbClr val="2E2E2E"/>
                </a:solidFill>
                <a:latin typeface="Calibri"/>
              </a:rPr>
              <a:t>Mn Units in 2025 and is expected to reach</a:t>
            </a:r>
          </a:p>
        </p:txBody>
      </p:sp>
      <p:pic>
        <p:nvPicPr>
          <p:cNvPr id="45" name="Picture 44" descr="lock.png"/>
          <p:cNvPicPr>
            <a:picLocks noChangeAspect="1"/>
          </p:cNvPicPr>
          <p:nvPr/>
        </p:nvPicPr>
        <p:blipFill>
          <a:blip r:embed="rId6"/>
          <a:stretch>
            <a:fillRect/>
          </a:stretch>
        </p:blipFill>
        <p:spPr>
          <a:xfrm>
            <a:off x="5539055" y="5592762"/>
            <a:ext cx="134549" cy="195707"/>
          </a:xfrm>
          <a:prstGeom prst="rect">
            <a:avLst/>
          </a:prstGeom>
        </p:spPr>
      </p:pic>
      <p:sp>
        <p:nvSpPr>
          <p:cNvPr id="46" name="TextBox 45"/>
          <p:cNvSpPr txBox="1"/>
          <p:nvPr/>
        </p:nvSpPr>
        <p:spPr>
          <a:xfrm>
            <a:off x="5714164" y="5602985"/>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47" name="Picture 46" descr="lock.png"/>
          <p:cNvPicPr>
            <a:picLocks noChangeAspect="1"/>
          </p:cNvPicPr>
          <p:nvPr/>
        </p:nvPicPr>
        <p:blipFill>
          <a:blip r:embed="rId6"/>
          <a:stretch>
            <a:fillRect/>
          </a:stretch>
        </p:blipFill>
        <p:spPr>
          <a:xfrm>
            <a:off x="7862645" y="5592762"/>
            <a:ext cx="134549" cy="195707"/>
          </a:xfrm>
          <a:prstGeom prst="rect">
            <a:avLst/>
          </a:prstGeom>
        </p:spPr>
      </p:pic>
      <p:sp>
        <p:nvSpPr>
          <p:cNvPr id="48" name="TextBox 47"/>
          <p:cNvSpPr txBox="1"/>
          <p:nvPr/>
        </p:nvSpPr>
        <p:spPr>
          <a:xfrm>
            <a:off x="8037755" y="5602985"/>
            <a:ext cx="339569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a:t>
            </a:r>
          </a:p>
        </p:txBody>
      </p:sp>
      <p:sp>
        <p:nvSpPr>
          <p:cNvPr id="49" name="TextBox 48"/>
          <p:cNvSpPr txBox="1"/>
          <p:nvPr/>
        </p:nvSpPr>
        <p:spPr>
          <a:xfrm>
            <a:off x="276225" y="5778245"/>
            <a:ext cx="3701206" cy="194310"/>
          </a:xfrm>
          <a:prstGeom prst="rect">
            <a:avLst/>
          </a:prstGeom>
          <a:noFill/>
        </p:spPr>
        <p:txBody>
          <a:bodyPr wrap="none" lIns="0" rIns="0" tIns="0" bIns="0">
            <a:spAutoFit/>
          </a:bodyPr>
          <a:lstStyle/>
          <a:p>
            <a:r>
              <a:rPr sz="1150" b="0">
                <a:solidFill>
                  <a:srgbClr val="2E2E2E"/>
                </a:solidFill>
                <a:latin typeface="Calibri"/>
              </a:rPr>
              <a:t>forecast period, owing to an increase in average selling price.</a:t>
            </a:r>
          </a:p>
        </p:txBody>
      </p:sp>
      <p:sp>
        <p:nvSpPr>
          <p:cNvPr id="50"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2" cy="200439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2" y="1293011"/>
            <a:ext cx="1369293" cy="200439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97410"/>
            <a:ext cx="1575606" cy="1459081"/>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56491"/>
            <a:ext cx="1575606" cy="1122118"/>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85656" y="3297410"/>
            <a:ext cx="1189589" cy="1132386"/>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975245" y="3297410"/>
            <a:ext cx="978130" cy="1132386"/>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85656" y="4429796"/>
            <a:ext cx="1187161" cy="808402"/>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85656" y="5238198"/>
            <a:ext cx="1187161" cy="640411"/>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72817" y="4429796"/>
            <a:ext cx="980558" cy="761835"/>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72817" y="5191631"/>
            <a:ext cx="980558" cy="686978"/>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47283" y="4512977"/>
            <a:ext cx="332867" cy="484170"/>
          </a:xfrm>
          <a:prstGeom prst="rect">
            <a:avLst/>
          </a:prstGeom>
        </p:spPr>
      </p:pic>
      <p:pic>
        <p:nvPicPr>
          <p:cNvPr id="38" name="Picture 37" descr="lock.png"/>
          <p:cNvPicPr>
            <a:picLocks noChangeAspect="1"/>
          </p:cNvPicPr>
          <p:nvPr/>
        </p:nvPicPr>
        <p:blipFill>
          <a:blip r:embed="rId6"/>
          <a:stretch>
            <a:fillRect/>
          </a:stretch>
        </p:blipFill>
        <p:spPr>
          <a:xfrm>
            <a:off x="5339440" y="2295210"/>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95210"/>
            <a:ext cx="115252" cy="167639"/>
          </a:xfrm>
          <a:prstGeom prst="rect">
            <a:avLst/>
          </a:prstGeom>
        </p:spPr>
      </p:pic>
      <p:pic>
        <p:nvPicPr>
          <p:cNvPr id="40" name="Picture 39" descr="lock.png"/>
          <p:cNvPicPr>
            <a:picLocks noChangeAspect="1"/>
          </p:cNvPicPr>
          <p:nvPr/>
        </p:nvPicPr>
        <p:blipFill>
          <a:blip r:embed="rId6"/>
          <a:stretch>
            <a:fillRect/>
          </a:stretch>
        </p:blipFill>
        <p:spPr>
          <a:xfrm>
            <a:off x="4940227" y="4026950"/>
            <a:ext cx="115252" cy="167639"/>
          </a:xfrm>
          <a:prstGeom prst="rect">
            <a:avLst/>
          </a:prstGeom>
        </p:spPr>
      </p:pic>
      <p:pic>
        <p:nvPicPr>
          <p:cNvPr id="41" name="Picture 40" descr="lock.png"/>
          <p:cNvPicPr>
            <a:picLocks noChangeAspect="1"/>
          </p:cNvPicPr>
          <p:nvPr/>
        </p:nvPicPr>
        <p:blipFill>
          <a:blip r:embed="rId6"/>
          <a:stretch>
            <a:fillRect/>
          </a:stretch>
        </p:blipFill>
        <p:spPr>
          <a:xfrm>
            <a:off x="4940227" y="5317550"/>
            <a:ext cx="115252" cy="167639"/>
          </a:xfrm>
          <a:prstGeom prst="rect">
            <a:avLst/>
          </a:prstGeom>
        </p:spPr>
      </p:pic>
      <p:pic>
        <p:nvPicPr>
          <p:cNvPr id="42" name="Picture 41" descr="lock.png"/>
          <p:cNvPicPr>
            <a:picLocks noChangeAspect="1"/>
          </p:cNvPicPr>
          <p:nvPr/>
        </p:nvPicPr>
        <p:blipFill>
          <a:blip r:embed="rId6"/>
          <a:stretch>
            <a:fillRect/>
          </a:stretch>
        </p:blipFill>
        <p:spPr>
          <a:xfrm>
            <a:off x="6322824" y="3863603"/>
            <a:ext cx="115252" cy="167639"/>
          </a:xfrm>
          <a:prstGeom prst="rect">
            <a:avLst/>
          </a:prstGeom>
        </p:spPr>
      </p:pic>
      <p:pic>
        <p:nvPicPr>
          <p:cNvPr id="43" name="Picture 42" descr="lock.png"/>
          <p:cNvPicPr>
            <a:picLocks noChangeAspect="1"/>
          </p:cNvPicPr>
          <p:nvPr/>
        </p:nvPicPr>
        <p:blipFill>
          <a:blip r:embed="rId6"/>
          <a:stretch>
            <a:fillRect/>
          </a:stretch>
        </p:blipFill>
        <p:spPr>
          <a:xfrm>
            <a:off x="7406683" y="3863603"/>
            <a:ext cx="115252" cy="167639"/>
          </a:xfrm>
          <a:prstGeom prst="rect">
            <a:avLst/>
          </a:prstGeom>
        </p:spPr>
      </p:pic>
      <p:pic>
        <p:nvPicPr>
          <p:cNvPr id="44" name="Picture 43" descr="lock.png"/>
          <p:cNvPicPr>
            <a:picLocks noChangeAspect="1"/>
          </p:cNvPicPr>
          <p:nvPr/>
        </p:nvPicPr>
        <p:blipFill>
          <a:blip r:embed="rId6"/>
          <a:stretch>
            <a:fillRect/>
          </a:stretch>
        </p:blipFill>
        <p:spPr>
          <a:xfrm>
            <a:off x="6321610" y="4833997"/>
            <a:ext cx="115252" cy="167639"/>
          </a:xfrm>
          <a:prstGeom prst="rect">
            <a:avLst/>
          </a:prstGeom>
        </p:spPr>
      </p:pic>
      <p:pic>
        <p:nvPicPr>
          <p:cNvPr id="45" name="Picture 44" descr="lock.png"/>
          <p:cNvPicPr>
            <a:picLocks noChangeAspect="1"/>
          </p:cNvPicPr>
          <p:nvPr/>
        </p:nvPicPr>
        <p:blipFill>
          <a:blip r:embed="rId6"/>
          <a:stretch>
            <a:fillRect/>
          </a:stretch>
        </p:blipFill>
        <p:spPr>
          <a:xfrm>
            <a:off x="6321610" y="5558403"/>
            <a:ext cx="115252" cy="167639"/>
          </a:xfrm>
          <a:prstGeom prst="rect">
            <a:avLst/>
          </a:prstGeom>
        </p:spPr>
      </p:pic>
      <p:pic>
        <p:nvPicPr>
          <p:cNvPr id="46" name="Picture 45" descr="lock.png"/>
          <p:cNvPicPr>
            <a:picLocks noChangeAspect="1"/>
          </p:cNvPicPr>
          <p:nvPr/>
        </p:nvPicPr>
        <p:blipFill>
          <a:blip r:embed="rId6"/>
          <a:stretch>
            <a:fillRect/>
          </a:stretch>
        </p:blipFill>
        <p:spPr>
          <a:xfrm>
            <a:off x="7405470" y="4810713"/>
            <a:ext cx="115252" cy="167639"/>
          </a:xfrm>
          <a:prstGeom prst="rect">
            <a:avLst/>
          </a:prstGeom>
        </p:spPr>
      </p:pic>
      <p:pic>
        <p:nvPicPr>
          <p:cNvPr id="47" name="Picture 46" descr="lock.png"/>
          <p:cNvPicPr>
            <a:picLocks noChangeAspect="1"/>
          </p:cNvPicPr>
          <p:nvPr/>
        </p:nvPicPr>
        <p:blipFill>
          <a:blip r:embed="rId6"/>
          <a:stretch>
            <a:fillRect/>
          </a:stretch>
        </p:blipFill>
        <p:spPr>
          <a:xfrm>
            <a:off x="7405470" y="5535120"/>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2965425" cy="186689"/>
          </a:xfrm>
          <a:prstGeom prst="rect">
            <a:avLst/>
          </a:prstGeom>
          <a:noFill/>
        </p:spPr>
        <p:txBody>
          <a:bodyPr wrap="none" lIns="0" rIns="0" tIns="0" bIns="0">
            <a:spAutoFit/>
          </a:bodyPr>
          <a:lstStyle/>
          <a:p>
            <a:r>
              <a:rPr sz="1100" b="0">
                <a:solidFill>
                  <a:srgbClr val="2E2E2E"/>
                </a:solidFill>
                <a:latin typeface="Calibri"/>
              </a:rPr>
              <a:t>The U.S. floriculture market is projected to register</a:t>
            </a:r>
          </a:p>
        </p:txBody>
      </p:sp>
      <p:pic>
        <p:nvPicPr>
          <p:cNvPr id="51" name="Picture 50" descr="lock.png"/>
          <p:cNvPicPr>
            <a:picLocks noChangeAspect="1"/>
          </p:cNvPicPr>
          <p:nvPr/>
        </p:nvPicPr>
        <p:blipFill>
          <a:blip r:embed="rId6"/>
          <a:stretch>
            <a:fillRect/>
          </a:stretch>
        </p:blipFill>
        <p:spPr>
          <a:xfrm>
            <a:off x="3170651" y="6150795"/>
            <a:ext cx="128699" cy="187198"/>
          </a:xfrm>
          <a:prstGeom prst="rect">
            <a:avLst/>
          </a:prstGeom>
        </p:spPr>
      </p:pic>
      <p:sp>
        <p:nvSpPr>
          <p:cNvPr id="52" name="TextBox 51"/>
          <p:cNvSpPr txBox="1"/>
          <p:nvPr/>
        </p:nvSpPr>
        <p:spPr>
          <a:xfrm>
            <a:off x="3338147"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7585032" y="6150795"/>
            <a:ext cx="128699" cy="187198"/>
          </a:xfrm>
          <a:prstGeom prst="rect">
            <a:avLst/>
          </a:prstGeom>
        </p:spPr>
      </p:pic>
      <p:sp>
        <p:nvSpPr>
          <p:cNvPr id="54" name="TextBox 53"/>
          <p:cNvSpPr txBox="1"/>
          <p:nvPr/>
        </p:nvSpPr>
        <p:spPr>
          <a:xfrm>
            <a:off x="7752528"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8490560" y="6150795"/>
            <a:ext cx="128699" cy="187198"/>
          </a:xfrm>
          <a:prstGeom prst="rect">
            <a:avLst/>
          </a:prstGeom>
        </p:spPr>
      </p:pic>
      <p:sp>
        <p:nvSpPr>
          <p:cNvPr id="56" name="TextBox 55"/>
          <p:cNvSpPr txBox="1"/>
          <p:nvPr/>
        </p:nvSpPr>
        <p:spPr>
          <a:xfrm>
            <a:off x="8658055" y="6160574"/>
            <a:ext cx="1786433" cy="186689"/>
          </a:xfrm>
          <a:prstGeom prst="rect">
            <a:avLst/>
          </a:prstGeom>
          <a:noFill/>
        </p:spPr>
        <p:txBody>
          <a:bodyPr wrap="none" lIns="0" rIns="0" tIns="0" bIns="0">
            <a:spAutoFit/>
          </a:bodyPr>
          <a:lstStyle/>
          <a:p>
            <a:r>
              <a:rPr sz="1100" b="0">
                <a:solidFill>
                  <a:srgbClr val="2E2E2E"/>
                </a:solidFill>
                <a:latin typeface="Calibri"/>
              </a:rPr>
              <a:t>against the global benchmark,</a:t>
            </a:r>
          </a:p>
        </p:txBody>
      </p:sp>
      <p:sp>
        <p:nvSpPr>
          <p:cNvPr id="57" name="TextBox 56"/>
          <p:cNvSpPr txBox="1"/>
          <p:nvPr/>
        </p:nvSpPr>
        <p:spPr>
          <a:xfrm>
            <a:off x="257175" y="6328214"/>
            <a:ext cx="2873747" cy="186689"/>
          </a:xfrm>
          <a:prstGeom prst="rect">
            <a:avLst/>
          </a:prstGeom>
          <a:noFill/>
        </p:spPr>
        <p:txBody>
          <a:bodyPr wrap="none" lIns="0" rIns="0" tIns="0" bIns="0">
            <a:spAutoFit/>
          </a:bodyPr>
          <a:lstStyle/>
          <a:p>
            <a:r>
              <a:rPr sz="1100" b="0">
                <a:solidFill>
                  <a:srgbClr val="2E2E2E"/>
                </a:solidFill>
                <a:latin typeface="Calibri"/>
              </a:rPr>
              <a:t>while U.S. offers the largest absolute opportunity</a:t>
            </a:r>
          </a:p>
        </p:txBody>
      </p:sp>
      <p:pic>
        <p:nvPicPr>
          <p:cNvPr id="58" name="Picture 57" descr="lock.png"/>
          <p:cNvPicPr>
            <a:picLocks noChangeAspect="1"/>
          </p:cNvPicPr>
          <p:nvPr/>
        </p:nvPicPr>
        <p:blipFill>
          <a:blip r:embed="rId6"/>
          <a:stretch>
            <a:fillRect/>
          </a:stretch>
        </p:blipFill>
        <p:spPr>
          <a:xfrm>
            <a:off x="3078973" y="6318435"/>
            <a:ext cx="128699" cy="187198"/>
          </a:xfrm>
          <a:prstGeom prst="rect">
            <a:avLst/>
          </a:prstGeom>
        </p:spPr>
      </p:pic>
      <p:sp>
        <p:nvSpPr>
          <p:cNvPr id="59" name="TextBox 58"/>
          <p:cNvSpPr txBox="1"/>
          <p:nvPr/>
        </p:nvSpPr>
        <p:spPr>
          <a:xfrm>
            <a:off x="3246469"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6506467" y="6318435"/>
            <a:ext cx="128699" cy="187198"/>
          </a:xfrm>
          <a:prstGeom prst="rect">
            <a:avLst/>
          </a:prstGeom>
        </p:spPr>
      </p:pic>
      <p:sp>
        <p:nvSpPr>
          <p:cNvPr id="61" name="TextBox 60"/>
          <p:cNvSpPr txBox="1"/>
          <p:nvPr/>
        </p:nvSpPr>
        <p:spPr>
          <a:xfrm>
            <a:off x="6673963"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1943458"/>
                <a:gridCol w="3314581"/>
                <a:gridCol w="3314581"/>
                <a:gridCol w="3314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81039" y="3580638"/>
            <a:ext cx="366712" cy="5334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'Flower Bulbs, Corms, Rhizomes &amp; Tubers'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7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2958975" cy="194310"/>
          </a:xfrm>
          <a:prstGeom prst="rect">
            <a:avLst/>
          </a:prstGeom>
          <a:noFill/>
        </p:spPr>
        <p:txBody>
          <a:bodyPr wrap="none" lIns="0" rIns="0" tIns="0" bIns="0">
            <a:spAutoFit/>
          </a:bodyPr>
          <a:lstStyle/>
          <a:p>
            <a:r>
              <a:rPr sz="1150" b="0">
                <a:solidFill>
                  <a:srgbClr val="2E2E2E"/>
                </a:solidFill>
                <a:latin typeface="Calibri"/>
              </a:rPr>
              <a:t>Global floriculture market is expected to witness</a:t>
            </a:r>
          </a:p>
        </p:txBody>
      </p:sp>
      <p:pic>
        <p:nvPicPr>
          <p:cNvPr id="32" name="Picture 31" descr="lock.png"/>
          <p:cNvPicPr>
            <a:picLocks noChangeAspect="1"/>
          </p:cNvPicPr>
          <p:nvPr/>
        </p:nvPicPr>
        <p:blipFill>
          <a:blip r:embed="rId4"/>
          <a:stretch>
            <a:fillRect/>
          </a:stretch>
        </p:blipFill>
        <p:spPr>
          <a:xfrm>
            <a:off x="3184354" y="1389951"/>
            <a:ext cx="134549" cy="195707"/>
          </a:xfrm>
          <a:prstGeom prst="rect">
            <a:avLst/>
          </a:prstGeom>
        </p:spPr>
      </p:pic>
      <p:sp>
        <p:nvSpPr>
          <p:cNvPr id="33" name="TextBox 32"/>
          <p:cNvSpPr txBox="1"/>
          <p:nvPr/>
        </p:nvSpPr>
        <p:spPr>
          <a:xfrm>
            <a:off x="3359464" y="1400175"/>
            <a:ext cx="4847642" cy="194310"/>
          </a:xfrm>
          <a:prstGeom prst="rect">
            <a:avLst/>
          </a:prstGeom>
          <a:noFill/>
        </p:spPr>
        <p:txBody>
          <a:bodyPr wrap="none" lIns="0" rIns="0" tIns="0" bIns="0">
            <a:spAutoFit/>
          </a:bodyPr>
          <a:lstStyle/>
          <a:p>
            <a:r>
              <a:rPr sz="1150" b="0">
                <a:solidFill>
                  <a:srgbClr val="2E2E2E"/>
                </a:solidFill>
                <a:latin typeface="Calibri"/>
              </a:rPr>
              <a:t>X increase in revenue by 2036 end. Global floriculture market accounted for US$</a:t>
            </a:r>
          </a:p>
        </p:txBody>
      </p:sp>
      <p:pic>
        <p:nvPicPr>
          <p:cNvPr id="34" name="Picture 33" descr="lock.png"/>
          <p:cNvPicPr>
            <a:picLocks noChangeAspect="1"/>
          </p:cNvPicPr>
          <p:nvPr/>
        </p:nvPicPr>
        <p:blipFill>
          <a:blip r:embed="rId4"/>
          <a:stretch>
            <a:fillRect/>
          </a:stretch>
        </p:blipFill>
        <p:spPr>
          <a:xfrm>
            <a:off x="8156260" y="1389951"/>
            <a:ext cx="134549" cy="195707"/>
          </a:xfrm>
          <a:prstGeom prst="rect">
            <a:avLst/>
          </a:prstGeom>
        </p:spPr>
      </p:pic>
      <p:sp>
        <p:nvSpPr>
          <p:cNvPr id="35" name="TextBox 34"/>
          <p:cNvSpPr txBox="1"/>
          <p:nvPr/>
        </p:nvSpPr>
        <p:spPr>
          <a:xfrm>
            <a:off x="8331369" y="1400175"/>
            <a:ext cx="2992350" cy="194310"/>
          </a:xfrm>
          <a:prstGeom prst="rect">
            <a:avLst/>
          </a:prstGeom>
          <a:noFill/>
        </p:spPr>
        <p:txBody>
          <a:bodyPr wrap="none" lIns="0" rIns="0" tIns="0" bIns="0">
            <a:spAutoFit/>
          </a:bodyPr>
          <a:lstStyle/>
          <a:p>
            <a:r>
              <a:rPr sz="1150" b="0">
                <a:solidFill>
                  <a:srgbClr val="2E2E2E"/>
                </a:solidFill>
                <a:latin typeface="Calibri"/>
              </a:rPr>
              <a:t>Mn in 2025, which is expected to increase to US$</a:t>
            </a:r>
          </a:p>
        </p:txBody>
      </p:sp>
      <p:pic>
        <p:nvPicPr>
          <p:cNvPr id="36" name="Picture 35" descr="lock.png"/>
          <p:cNvPicPr>
            <a:picLocks noChangeAspect="1"/>
          </p:cNvPicPr>
          <p:nvPr/>
        </p:nvPicPr>
        <p:blipFill>
          <a:blip r:embed="rId4"/>
          <a:stretch>
            <a:fillRect/>
          </a:stretch>
        </p:blipFill>
        <p:spPr>
          <a:xfrm>
            <a:off x="262145" y="1565211"/>
            <a:ext cx="134549" cy="195707"/>
          </a:xfrm>
          <a:prstGeom prst="rect">
            <a:avLst/>
          </a:prstGeom>
        </p:spPr>
      </p:pic>
      <p:sp>
        <p:nvSpPr>
          <p:cNvPr id="37" name="TextBox 36"/>
          <p:cNvSpPr txBox="1"/>
          <p:nvPr/>
        </p:nvSpPr>
        <p:spPr>
          <a:xfrm>
            <a:off x="437254"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8" name="Picture 37" descr="lock.png"/>
          <p:cNvPicPr>
            <a:picLocks noChangeAspect="1"/>
          </p:cNvPicPr>
          <p:nvPr/>
        </p:nvPicPr>
        <p:blipFill>
          <a:blip r:embed="rId4"/>
          <a:stretch>
            <a:fillRect/>
          </a:stretch>
        </p:blipFill>
        <p:spPr>
          <a:xfrm>
            <a:off x="1913962" y="1565211"/>
            <a:ext cx="134549" cy="195707"/>
          </a:xfrm>
          <a:prstGeom prst="rect">
            <a:avLst/>
          </a:prstGeom>
        </p:spPr>
      </p:pic>
      <p:sp>
        <p:nvSpPr>
          <p:cNvPr id="39" name="TextBox 38"/>
          <p:cNvSpPr txBox="1"/>
          <p:nvPr/>
        </p:nvSpPr>
        <p:spPr>
          <a:xfrm>
            <a:off x="2089071"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0" name="TextBox 39"/>
          <p:cNvSpPr txBox="1"/>
          <p:nvPr/>
        </p:nvSpPr>
        <p:spPr>
          <a:xfrm>
            <a:off x="276225" y="1803273"/>
            <a:ext cx="11526291" cy="194310"/>
          </a:xfrm>
          <a:prstGeom prst="rect">
            <a:avLst/>
          </a:prstGeom>
          <a:noFill/>
        </p:spPr>
        <p:txBody>
          <a:bodyPr wrap="none" lIns="0" rIns="0" tIns="0" bIns="0">
            <a:spAutoFit/>
          </a:bodyPr>
          <a:lstStyle/>
          <a:p>
            <a:r>
              <a:rPr sz="1150" b="0">
                <a:solidFill>
                  <a:srgbClr val="2E2E2E"/>
                </a:solidFill>
                <a:latin typeface="Calibri"/>
              </a:rPr>
              <a:t>The global floriculture market has been analysed on the basis of product type, flower species, cultivation method and distribution channel across the globe. North America is expected to remain</a:t>
            </a:r>
          </a:p>
        </p:txBody>
      </p:sp>
      <p:sp>
        <p:nvSpPr>
          <p:cNvPr id="41" name="TextBox 40"/>
          <p:cNvSpPr txBox="1"/>
          <p:nvPr/>
        </p:nvSpPr>
        <p:spPr>
          <a:xfrm>
            <a:off x="276225" y="1978533"/>
            <a:ext cx="7121953" cy="194310"/>
          </a:xfrm>
          <a:prstGeom prst="rect">
            <a:avLst/>
          </a:prstGeom>
          <a:noFill/>
        </p:spPr>
        <p:txBody>
          <a:bodyPr wrap="none" lIns="0" rIns="0" tIns="0" bIns="0">
            <a:spAutoFit/>
          </a:bodyPr>
          <a:lstStyle/>
          <a:p>
            <a:r>
              <a:rPr sz="1150" b="0">
                <a:solidFill>
                  <a:srgbClr val="2E2E2E"/>
                </a:solidFill>
                <a:latin typeface="Calibri"/>
              </a:rPr>
              <a:t>the largest market for floriculture, while demand in South Asia &amp; Pacific is projected to increase at the highest CAGR of</a:t>
            </a:r>
          </a:p>
        </p:txBody>
      </p:sp>
      <p:pic>
        <p:nvPicPr>
          <p:cNvPr id="42" name="Picture 41" descr="lock.png"/>
          <p:cNvPicPr>
            <a:picLocks noChangeAspect="1"/>
          </p:cNvPicPr>
          <p:nvPr/>
        </p:nvPicPr>
        <p:blipFill>
          <a:blip r:embed="rId4"/>
          <a:stretch>
            <a:fillRect/>
          </a:stretch>
        </p:blipFill>
        <p:spPr>
          <a:xfrm>
            <a:off x="7347332" y="1968309"/>
            <a:ext cx="134549" cy="195707"/>
          </a:xfrm>
          <a:prstGeom prst="rect">
            <a:avLst/>
          </a:prstGeom>
        </p:spPr>
      </p:pic>
      <p:sp>
        <p:nvSpPr>
          <p:cNvPr id="43" name="TextBox 42"/>
          <p:cNvSpPr txBox="1"/>
          <p:nvPr/>
        </p:nvSpPr>
        <p:spPr>
          <a:xfrm>
            <a:off x="7522441"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4" name="TextBox 43"/>
          <p:cNvSpPr txBox="1"/>
          <p:nvPr/>
        </p:nvSpPr>
        <p:spPr>
          <a:xfrm>
            <a:off x="276225" y="3219450"/>
            <a:ext cx="5652628"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category 'Cut Flowers' holds</a:t>
            </a:r>
          </a:p>
        </p:txBody>
      </p:sp>
      <p:pic>
        <p:nvPicPr>
          <p:cNvPr id="45" name="Picture 44" descr="lock.png"/>
          <p:cNvPicPr>
            <a:picLocks noChangeAspect="1"/>
          </p:cNvPicPr>
          <p:nvPr/>
        </p:nvPicPr>
        <p:blipFill>
          <a:blip r:embed="rId4"/>
          <a:stretch>
            <a:fillRect/>
          </a:stretch>
        </p:blipFill>
        <p:spPr>
          <a:xfrm>
            <a:off x="5878007" y="3209226"/>
            <a:ext cx="134549" cy="195707"/>
          </a:xfrm>
          <a:prstGeom prst="rect">
            <a:avLst/>
          </a:prstGeom>
        </p:spPr>
      </p:pic>
      <p:sp>
        <p:nvSpPr>
          <p:cNvPr id="46" name="TextBox 45"/>
          <p:cNvSpPr txBox="1"/>
          <p:nvPr/>
        </p:nvSpPr>
        <p:spPr>
          <a:xfrm>
            <a:off x="6053116"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7" name="TextBox 46"/>
          <p:cNvSpPr txBox="1"/>
          <p:nvPr/>
        </p:nvSpPr>
        <p:spPr>
          <a:xfrm>
            <a:off x="276225" y="3447287"/>
            <a:ext cx="4910968" cy="194310"/>
          </a:xfrm>
          <a:prstGeom prst="rect">
            <a:avLst/>
          </a:prstGeom>
          <a:noFill/>
        </p:spPr>
        <p:txBody>
          <a:bodyPr wrap="none" lIns="0" rIns="0" tIns="0" bIns="0">
            <a:spAutoFit/>
          </a:bodyPr>
          <a:lstStyle/>
          <a:p>
            <a:r>
              <a:rPr sz="1150" b="0">
                <a:solidFill>
                  <a:srgbClr val="2E2E2E"/>
                </a:solidFill>
                <a:latin typeface="Calibri"/>
              </a:rPr>
              <a:t>▪ Demand spans 6 regions and 7 segmentation lenses (7 product type categories).</a:t>
            </a:r>
          </a:p>
        </p:txBody>
      </p:sp>
      <p:sp>
        <p:nvSpPr>
          <p:cNvPr id="48" name="TextBox 47"/>
          <p:cNvSpPr txBox="1"/>
          <p:nvPr/>
        </p:nvSpPr>
        <p:spPr>
          <a:xfrm>
            <a:off x="276225" y="367512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9" name="Picture 48" descr="lock.png"/>
          <p:cNvPicPr>
            <a:picLocks noChangeAspect="1"/>
          </p:cNvPicPr>
          <p:nvPr/>
        </p:nvPicPr>
        <p:blipFill>
          <a:blip r:embed="rId4"/>
          <a:stretch>
            <a:fillRect/>
          </a:stretch>
        </p:blipFill>
        <p:spPr>
          <a:xfrm>
            <a:off x="3176367" y="3664902"/>
            <a:ext cx="134549" cy="195707"/>
          </a:xfrm>
          <a:prstGeom prst="rect">
            <a:avLst/>
          </a:prstGeom>
        </p:spPr>
      </p:pic>
      <p:sp>
        <p:nvSpPr>
          <p:cNvPr id="50" name="TextBox 49"/>
          <p:cNvSpPr txBox="1"/>
          <p:nvPr/>
        </p:nvSpPr>
        <p:spPr>
          <a:xfrm>
            <a:off x="3351477"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1" name="TextBox 50"/>
          <p:cNvSpPr txBox="1"/>
          <p:nvPr/>
        </p:nvSpPr>
        <p:spPr>
          <a:xfrm>
            <a:off x="276225" y="4924425"/>
            <a:ext cx="3547169" cy="194310"/>
          </a:xfrm>
          <a:prstGeom prst="rect">
            <a:avLst/>
          </a:prstGeom>
          <a:noFill/>
        </p:spPr>
        <p:txBody>
          <a:bodyPr wrap="none" lIns="0" rIns="0" tIns="0" bIns="0">
            <a:spAutoFit/>
          </a:bodyPr>
          <a:lstStyle/>
          <a:p>
            <a:r>
              <a:rPr sz="1150" b="0">
                <a:solidFill>
                  <a:srgbClr val="2E2E2E"/>
                </a:solidFill>
                <a:latin typeface="Calibri"/>
              </a:rPr>
              <a:t>▪ Accelerating uptake of 'Flower Bulbs, Corms, Rhizomes &amp;</a:t>
            </a:r>
          </a:p>
        </p:txBody>
      </p:sp>
      <p:sp>
        <p:nvSpPr>
          <p:cNvPr id="52" name="TextBox 51"/>
          <p:cNvSpPr txBox="1"/>
          <p:nvPr/>
        </p:nvSpPr>
        <p:spPr>
          <a:xfrm>
            <a:off x="276225" y="5099685"/>
            <a:ext cx="591368" cy="194310"/>
          </a:xfrm>
          <a:prstGeom prst="rect">
            <a:avLst/>
          </a:prstGeom>
          <a:noFill/>
        </p:spPr>
        <p:txBody>
          <a:bodyPr wrap="none" lIns="0" rIns="0" tIns="0" bIns="0">
            <a:spAutoFit/>
          </a:bodyPr>
          <a:lstStyle/>
          <a:p>
            <a:r>
              <a:rPr sz="1150" b="0">
                <a:solidFill>
                  <a:srgbClr val="2E2E2E"/>
                </a:solidFill>
                <a:latin typeface="Calibri"/>
              </a:rPr>
              <a:t>Tubers' (</a:t>
            </a:r>
          </a:p>
        </p:txBody>
      </p:sp>
      <p:pic>
        <p:nvPicPr>
          <p:cNvPr id="53" name="Picture 52" descr="lock.png"/>
          <p:cNvPicPr>
            <a:picLocks noChangeAspect="1"/>
          </p:cNvPicPr>
          <p:nvPr/>
        </p:nvPicPr>
        <p:blipFill>
          <a:blip r:embed="rId4"/>
          <a:stretch>
            <a:fillRect/>
          </a:stretch>
        </p:blipFill>
        <p:spPr>
          <a:xfrm>
            <a:off x="816747" y="5089461"/>
            <a:ext cx="134549" cy="195707"/>
          </a:xfrm>
          <a:prstGeom prst="rect">
            <a:avLst/>
          </a:prstGeom>
        </p:spPr>
      </p:pic>
      <p:sp>
        <p:nvSpPr>
          <p:cNvPr id="54" name="TextBox 53"/>
          <p:cNvSpPr txBox="1"/>
          <p:nvPr/>
        </p:nvSpPr>
        <p:spPr>
          <a:xfrm>
            <a:off x="991856"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32752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6" name="Picture 55" descr="lock.png"/>
          <p:cNvPicPr>
            <a:picLocks noChangeAspect="1"/>
          </p:cNvPicPr>
          <p:nvPr/>
        </p:nvPicPr>
        <p:blipFill>
          <a:blip r:embed="rId4"/>
          <a:stretch>
            <a:fillRect/>
          </a:stretch>
        </p:blipFill>
        <p:spPr>
          <a:xfrm>
            <a:off x="3102424" y="5317299"/>
            <a:ext cx="134549" cy="195707"/>
          </a:xfrm>
          <a:prstGeom prst="rect">
            <a:avLst/>
          </a:prstGeom>
        </p:spPr>
      </p:pic>
      <p:sp>
        <p:nvSpPr>
          <p:cNvPr id="57" name="TextBox 56"/>
          <p:cNvSpPr txBox="1"/>
          <p:nvPr/>
        </p:nvSpPr>
        <p:spPr>
          <a:xfrm>
            <a:off x="3277533"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555360"/>
            <a:ext cx="3439312" cy="194310"/>
          </a:xfrm>
          <a:prstGeom prst="rect">
            <a:avLst/>
          </a:prstGeom>
          <a:noFill/>
        </p:spPr>
        <p:txBody>
          <a:bodyPr wrap="none" lIns="0" rIns="0" tIns="0" bIns="0">
            <a:spAutoFit/>
          </a:bodyPr>
          <a:lstStyle/>
          <a:p>
            <a:r>
              <a:rPr sz="1150" b="0">
                <a:solidFill>
                  <a:srgbClr val="2E2E2E"/>
                </a:solidFill>
                <a:latin typeface="Calibri"/>
              </a:rPr>
              <a:t>▪ Momentum in Online / E-commerce within distribution</a:t>
            </a:r>
          </a:p>
        </p:txBody>
      </p:sp>
      <p:sp>
        <p:nvSpPr>
          <p:cNvPr id="59" name="TextBox 58"/>
          <p:cNvSpPr txBox="1"/>
          <p:nvPr/>
        </p:nvSpPr>
        <p:spPr>
          <a:xfrm>
            <a:off x="276225" y="5730620"/>
            <a:ext cx="621890" cy="194310"/>
          </a:xfrm>
          <a:prstGeom prst="rect">
            <a:avLst/>
          </a:prstGeom>
          <a:noFill/>
        </p:spPr>
        <p:txBody>
          <a:bodyPr wrap="none" lIns="0" rIns="0" tIns="0" bIns="0">
            <a:spAutoFit/>
          </a:bodyPr>
          <a:lstStyle/>
          <a:p>
            <a:r>
              <a:rPr sz="1150" b="0">
                <a:solidFill>
                  <a:srgbClr val="2E2E2E"/>
                </a:solidFill>
                <a:latin typeface="Calibri"/>
              </a:rPr>
              <a:t>channel (</a:t>
            </a:r>
          </a:p>
        </p:txBody>
      </p:sp>
      <p:pic>
        <p:nvPicPr>
          <p:cNvPr id="60" name="Picture 59" descr="lock.png"/>
          <p:cNvPicPr>
            <a:picLocks noChangeAspect="1"/>
          </p:cNvPicPr>
          <p:nvPr/>
        </p:nvPicPr>
        <p:blipFill>
          <a:blip r:embed="rId4"/>
          <a:stretch>
            <a:fillRect/>
          </a:stretch>
        </p:blipFill>
        <p:spPr>
          <a:xfrm>
            <a:off x="847269" y="5720397"/>
            <a:ext cx="134549" cy="195707"/>
          </a:xfrm>
          <a:prstGeom prst="rect">
            <a:avLst/>
          </a:prstGeom>
        </p:spPr>
      </p:pic>
      <p:sp>
        <p:nvSpPr>
          <p:cNvPr id="61" name="TextBox 60"/>
          <p:cNvSpPr txBox="1"/>
          <p:nvPr/>
        </p:nvSpPr>
        <p:spPr>
          <a:xfrm>
            <a:off x="1022378"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4924425"/>
            <a:ext cx="3219127" cy="194310"/>
          </a:xfrm>
          <a:prstGeom prst="rect">
            <a:avLst/>
          </a:prstGeom>
          <a:noFill/>
        </p:spPr>
        <p:txBody>
          <a:bodyPr wrap="none" lIns="0" rIns="0" tIns="0" bIns="0">
            <a:spAutoFit/>
          </a:bodyPr>
          <a:lstStyle/>
          <a:p>
            <a:r>
              <a:rPr sz="1150" b="0">
                <a:solidFill>
                  <a:srgbClr val="2E2E2E"/>
                </a:solidFill>
                <a:latin typeface="Calibri"/>
              </a:rPr>
              <a:t>▪ Slower momentum in 'Bedding &amp; Garden Flowering</a:t>
            </a:r>
          </a:p>
        </p:txBody>
      </p:sp>
      <p:sp>
        <p:nvSpPr>
          <p:cNvPr id="63" name="TextBox 62"/>
          <p:cNvSpPr txBox="1"/>
          <p:nvPr/>
        </p:nvSpPr>
        <p:spPr>
          <a:xfrm>
            <a:off x="4371975" y="5099685"/>
            <a:ext cx="547724" cy="194310"/>
          </a:xfrm>
          <a:prstGeom prst="rect">
            <a:avLst/>
          </a:prstGeom>
          <a:noFill/>
        </p:spPr>
        <p:txBody>
          <a:bodyPr wrap="none" lIns="0" rIns="0" tIns="0" bIns="0">
            <a:spAutoFit/>
          </a:bodyPr>
          <a:lstStyle/>
          <a:p>
            <a:r>
              <a:rPr sz="1150" b="0">
                <a:solidFill>
                  <a:srgbClr val="2E2E2E"/>
                </a:solidFill>
                <a:latin typeface="Calibri"/>
              </a:rPr>
              <a:t>Plants' (</a:t>
            </a:r>
          </a:p>
        </p:txBody>
      </p:sp>
      <p:pic>
        <p:nvPicPr>
          <p:cNvPr id="64" name="Picture 63" descr="lock.png"/>
          <p:cNvPicPr>
            <a:picLocks noChangeAspect="1"/>
          </p:cNvPicPr>
          <p:nvPr/>
        </p:nvPicPr>
        <p:blipFill>
          <a:blip r:embed="rId4"/>
          <a:stretch>
            <a:fillRect/>
          </a:stretch>
        </p:blipFill>
        <p:spPr>
          <a:xfrm>
            <a:off x="4868853" y="5089461"/>
            <a:ext cx="134549" cy="195707"/>
          </a:xfrm>
          <a:prstGeom prst="rect">
            <a:avLst/>
          </a:prstGeom>
        </p:spPr>
      </p:pic>
      <p:sp>
        <p:nvSpPr>
          <p:cNvPr id="65" name="TextBox 64"/>
          <p:cNvSpPr txBox="1"/>
          <p:nvPr/>
        </p:nvSpPr>
        <p:spPr>
          <a:xfrm>
            <a:off x="5043962"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6" name="TextBox 65"/>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7" name="TextBox 66"/>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8" name="Picture 67" descr="lock.png"/>
          <p:cNvPicPr>
            <a:picLocks noChangeAspect="1"/>
          </p:cNvPicPr>
          <p:nvPr/>
        </p:nvPicPr>
        <p:blipFill>
          <a:blip r:embed="rId4"/>
          <a:stretch>
            <a:fillRect/>
          </a:stretch>
        </p:blipFill>
        <p:spPr>
          <a:xfrm>
            <a:off x="4883401" y="5492559"/>
            <a:ext cx="134549" cy="195707"/>
          </a:xfrm>
          <a:prstGeom prst="rect">
            <a:avLst/>
          </a:prstGeom>
        </p:spPr>
      </p:pic>
      <p:sp>
        <p:nvSpPr>
          <p:cNvPr id="69" name="TextBox 68"/>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4371975" y="5730620"/>
            <a:ext cx="3380866" cy="194310"/>
          </a:xfrm>
          <a:prstGeom prst="rect">
            <a:avLst/>
          </a:prstGeom>
          <a:noFill/>
        </p:spPr>
        <p:txBody>
          <a:bodyPr wrap="none" lIns="0" rIns="0" tIns="0" bIns="0">
            <a:spAutoFit/>
          </a:bodyPr>
          <a:lstStyle/>
          <a:p>
            <a:r>
              <a:rPr sz="1150" b="0">
                <a:solidFill>
                  <a:srgbClr val="2E2E2E"/>
                </a:solidFill>
                <a:latin typeface="Calibri"/>
              </a:rPr>
              <a:t>▪ Value concentration in 'Cut Flowers' raises barriers for</a:t>
            </a:r>
          </a:p>
        </p:txBody>
      </p:sp>
      <p:sp>
        <p:nvSpPr>
          <p:cNvPr id="71" name="TextBox 70"/>
          <p:cNvSpPr txBox="1"/>
          <p:nvPr/>
        </p:nvSpPr>
        <p:spPr>
          <a:xfrm>
            <a:off x="4371975" y="5905880"/>
            <a:ext cx="902295" cy="194310"/>
          </a:xfrm>
          <a:prstGeom prst="rect">
            <a:avLst/>
          </a:prstGeom>
          <a:noFill/>
        </p:spPr>
        <p:txBody>
          <a:bodyPr wrap="none" lIns="0" rIns="0" tIns="0" bIns="0">
            <a:spAutoFit/>
          </a:bodyPr>
          <a:lstStyle/>
          <a:p>
            <a:r>
              <a:rPr sz="1150" b="0">
                <a:solidFill>
                  <a:srgbClr val="2E2E2E"/>
                </a:solidFill>
                <a:latin typeface="Calibri"/>
              </a:rPr>
              <a:t>new entrants.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'Flower Bulbs, Corms, Rhizomes &amp; Tubers'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47975"/>
            <a:ext cx="5876925" cy="1428750"/>
          </a:xfrm>
          <a:prstGeom prst="roundRect">
            <a:avLst>
              <a:gd name="adj" fmla="val 5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718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47975"/>
            <a:ext cx="5876925" cy="1428750"/>
          </a:xfrm>
          <a:prstGeom prst="roundRect">
            <a:avLst>
              <a:gd name="adj" fmla="val 5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718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4100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9" name="TextBox 28"/>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43964" y="5349744"/>
            <a:ext cx="366052" cy="532439"/>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1714127" cy="186689"/>
          </a:xfrm>
          <a:prstGeom prst="rect">
            <a:avLst/>
          </a:prstGeom>
          <a:noFill/>
        </p:spPr>
        <p:txBody>
          <a:bodyPr wrap="none" lIns="0" rIns="0" tIns="0" bIns="0">
            <a:spAutoFit/>
          </a:bodyPr>
          <a:lstStyle/>
          <a:p>
            <a:r>
              <a:rPr sz="1100" b="0">
                <a:solidFill>
                  <a:srgbClr val="2E2E2E"/>
                </a:solidFill>
                <a:latin typeface="Calibri"/>
              </a:rPr>
              <a:t>▪ Lead category 'Cut Flowers'</a:t>
            </a:r>
          </a:p>
        </p:txBody>
      </p:sp>
      <p:pic>
        <p:nvPicPr>
          <p:cNvPr id="41" name="Picture 40" descr="lock.png"/>
          <p:cNvPicPr>
            <a:picLocks noChangeAspect="1"/>
          </p:cNvPicPr>
          <p:nvPr/>
        </p:nvPicPr>
        <p:blipFill>
          <a:blip r:embed="rId5"/>
          <a:stretch>
            <a:fillRect/>
          </a:stretch>
        </p:blipFill>
        <p:spPr>
          <a:xfrm>
            <a:off x="7967729" y="1826260"/>
            <a:ext cx="128699" cy="187198"/>
          </a:xfrm>
          <a:prstGeom prst="rect">
            <a:avLst/>
          </a:prstGeom>
        </p:spPr>
      </p:pic>
      <p:sp>
        <p:nvSpPr>
          <p:cNvPr id="42" name="TextBox 41"/>
          <p:cNvSpPr txBox="1"/>
          <p:nvPr/>
        </p:nvSpPr>
        <p:spPr>
          <a:xfrm>
            <a:off x="8135225"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4" name="Picture 43" descr="lock.png"/>
          <p:cNvPicPr>
            <a:picLocks noChangeAspect="1"/>
          </p:cNvPicPr>
          <p:nvPr/>
        </p:nvPicPr>
        <p:blipFill>
          <a:blip r:embed="rId5"/>
          <a:stretch>
            <a:fillRect/>
          </a:stretch>
        </p:blipFill>
        <p:spPr>
          <a:xfrm>
            <a:off x="7939898" y="2044192"/>
            <a:ext cx="128699" cy="187198"/>
          </a:xfrm>
          <a:prstGeom prst="rect">
            <a:avLst/>
          </a:prstGeom>
        </p:spPr>
      </p:pic>
      <p:sp>
        <p:nvSpPr>
          <p:cNvPr id="45" name="TextBox 44"/>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267075"/>
            <a:ext cx="5590802"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'Flower Bulbs, Corms, Rhizomes &amp; Tubers'</a:t>
            </a:r>
          </a:p>
        </p:txBody>
      </p:sp>
      <p:sp>
        <p:nvSpPr>
          <p:cNvPr id="50" name="TextBox 49"/>
          <p:cNvSpPr txBox="1"/>
          <p:nvPr/>
        </p:nvSpPr>
        <p:spPr>
          <a:xfrm>
            <a:off x="276225" y="3434715"/>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1" name="Picture 50" descr="lock.png"/>
          <p:cNvPicPr>
            <a:picLocks noChangeAspect="1"/>
          </p:cNvPicPr>
          <p:nvPr/>
        </p:nvPicPr>
        <p:blipFill>
          <a:blip r:embed="rId5"/>
          <a:stretch>
            <a:fillRect/>
          </a:stretch>
        </p:blipFill>
        <p:spPr>
          <a:xfrm>
            <a:off x="342768" y="3424936"/>
            <a:ext cx="128699" cy="187198"/>
          </a:xfrm>
          <a:prstGeom prst="rect">
            <a:avLst/>
          </a:prstGeom>
        </p:spPr>
      </p:pic>
      <p:sp>
        <p:nvSpPr>
          <p:cNvPr id="52" name="TextBox 51"/>
          <p:cNvSpPr txBox="1"/>
          <p:nvPr/>
        </p:nvSpPr>
        <p:spPr>
          <a:xfrm>
            <a:off x="510264" y="34347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3" name="TextBox 52"/>
          <p:cNvSpPr txBox="1"/>
          <p:nvPr/>
        </p:nvSpPr>
        <p:spPr>
          <a:xfrm>
            <a:off x="276225" y="365264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54" name="Picture 53" descr="lock.png"/>
          <p:cNvPicPr>
            <a:picLocks noChangeAspect="1"/>
          </p:cNvPicPr>
          <p:nvPr/>
        </p:nvPicPr>
        <p:blipFill>
          <a:blip r:embed="rId5"/>
          <a:stretch>
            <a:fillRect/>
          </a:stretch>
        </p:blipFill>
        <p:spPr>
          <a:xfrm>
            <a:off x="1576057" y="3642868"/>
            <a:ext cx="128699" cy="187198"/>
          </a:xfrm>
          <a:prstGeom prst="rect">
            <a:avLst/>
          </a:prstGeom>
        </p:spPr>
      </p:pic>
      <p:sp>
        <p:nvSpPr>
          <p:cNvPr id="55" name="TextBox 54"/>
          <p:cNvSpPr txBox="1"/>
          <p:nvPr/>
        </p:nvSpPr>
        <p:spPr>
          <a:xfrm>
            <a:off x="1743553" y="3652647"/>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56" name="TextBox 55"/>
          <p:cNvSpPr txBox="1"/>
          <p:nvPr/>
        </p:nvSpPr>
        <p:spPr>
          <a:xfrm>
            <a:off x="276225" y="3870579"/>
            <a:ext cx="2594347" cy="186689"/>
          </a:xfrm>
          <a:prstGeom prst="rect">
            <a:avLst/>
          </a:prstGeom>
          <a:noFill/>
        </p:spPr>
        <p:txBody>
          <a:bodyPr wrap="none" lIns="0" rIns="0" tIns="0" bIns="0">
            <a:spAutoFit/>
          </a:bodyPr>
          <a:lstStyle/>
          <a:p>
            <a:r>
              <a:rPr sz="1100" b="0">
                <a:solidFill>
                  <a:srgbClr val="2E2E2E"/>
                </a:solidFill>
                <a:latin typeface="Calibri"/>
              </a:rPr>
              <a:t>▪ Scale players anchor around 'Cut Flowers' (</a:t>
            </a:r>
          </a:p>
        </p:txBody>
      </p:sp>
      <p:pic>
        <p:nvPicPr>
          <p:cNvPr id="57" name="Picture 56" descr="lock.png"/>
          <p:cNvPicPr>
            <a:picLocks noChangeAspect="1"/>
          </p:cNvPicPr>
          <p:nvPr/>
        </p:nvPicPr>
        <p:blipFill>
          <a:blip r:embed="rId5"/>
          <a:stretch>
            <a:fillRect/>
          </a:stretch>
        </p:blipFill>
        <p:spPr>
          <a:xfrm>
            <a:off x="2818623" y="3860800"/>
            <a:ext cx="128699" cy="187198"/>
          </a:xfrm>
          <a:prstGeom prst="rect">
            <a:avLst/>
          </a:prstGeom>
        </p:spPr>
      </p:pic>
      <p:sp>
        <p:nvSpPr>
          <p:cNvPr id="58" name="TextBox 57"/>
          <p:cNvSpPr txBox="1"/>
          <p:nvPr/>
        </p:nvSpPr>
        <p:spPr>
          <a:xfrm>
            <a:off x="2986119" y="387057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9" name="TextBox 58"/>
          <p:cNvSpPr txBox="1"/>
          <p:nvPr/>
        </p:nvSpPr>
        <p:spPr>
          <a:xfrm>
            <a:off x="6305550" y="3267075"/>
            <a:ext cx="5190256" cy="186689"/>
          </a:xfrm>
          <a:prstGeom prst="rect">
            <a:avLst/>
          </a:prstGeom>
          <a:noFill/>
        </p:spPr>
        <p:txBody>
          <a:bodyPr wrap="none" lIns="0" rIns="0" tIns="0" bIns="0">
            <a:spAutoFit/>
          </a:bodyPr>
          <a:lstStyle/>
          <a:p>
            <a:r>
              <a:rPr sz="1100" b="0">
                <a:solidFill>
                  <a:srgbClr val="2E2E2E"/>
                </a:solidFill>
                <a:latin typeface="Calibri"/>
              </a:rPr>
              <a:t>▪ R&amp;D aligns with the migration to 'Flower Bulbs, Corms, Rhizomes &amp; Tubers' and adjacent</a:t>
            </a:r>
          </a:p>
        </p:txBody>
      </p:sp>
      <p:sp>
        <p:nvSpPr>
          <p:cNvPr id="60" name="TextBox 59"/>
          <p:cNvSpPr txBox="1"/>
          <p:nvPr/>
        </p:nvSpPr>
        <p:spPr>
          <a:xfrm>
            <a:off x="6305550" y="3434715"/>
            <a:ext cx="915764" cy="186689"/>
          </a:xfrm>
          <a:prstGeom prst="rect">
            <a:avLst/>
          </a:prstGeom>
          <a:noFill/>
        </p:spPr>
        <p:txBody>
          <a:bodyPr wrap="none" lIns="0" rIns="0" tIns="0" bIns="0">
            <a:spAutoFit/>
          </a:bodyPr>
          <a:lstStyle/>
          <a:p>
            <a:r>
              <a:rPr sz="1100" b="0">
                <a:solidFill>
                  <a:srgbClr val="2E2E2E"/>
                </a:solidFill>
                <a:latin typeface="Calibri"/>
              </a:rPr>
              <a:t>premium tiers.</a:t>
            </a:r>
          </a:p>
        </p:txBody>
      </p:sp>
      <p:sp>
        <p:nvSpPr>
          <p:cNvPr id="61" name="TextBox 60"/>
          <p:cNvSpPr txBox="1"/>
          <p:nvPr/>
        </p:nvSpPr>
        <p:spPr>
          <a:xfrm>
            <a:off x="6305550" y="3652647"/>
            <a:ext cx="4406354" cy="186689"/>
          </a:xfrm>
          <a:prstGeom prst="rect">
            <a:avLst/>
          </a:prstGeom>
          <a:noFill/>
        </p:spPr>
        <p:txBody>
          <a:bodyPr wrap="none" lIns="0" rIns="0" tIns="0" bIns="0">
            <a:spAutoFit/>
          </a:bodyPr>
          <a:lstStyle/>
          <a:p>
            <a:r>
              <a:rPr sz="1100" b="0">
                <a:solidFill>
                  <a:srgbClr val="2E2E2E"/>
                </a:solidFill>
                <a:latin typeface="Calibri"/>
              </a:rPr>
              <a:t>▪ Development spend targets product type categories gaining share to 2036.</a:t>
            </a:r>
          </a:p>
        </p:txBody>
      </p:sp>
      <p:sp>
        <p:nvSpPr>
          <p:cNvPr id="62" name="TextBox 61"/>
          <p:cNvSpPr txBox="1"/>
          <p:nvPr/>
        </p:nvSpPr>
        <p:spPr>
          <a:xfrm>
            <a:off x="6305550" y="387057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3" name="Picture 62" descr="lock.png"/>
          <p:cNvPicPr>
            <a:picLocks noChangeAspect="1"/>
          </p:cNvPicPr>
          <p:nvPr/>
        </p:nvPicPr>
        <p:blipFill>
          <a:blip r:embed="rId5"/>
          <a:stretch>
            <a:fillRect/>
          </a:stretch>
        </p:blipFill>
        <p:spPr>
          <a:xfrm>
            <a:off x="7847947" y="3860800"/>
            <a:ext cx="128699" cy="187198"/>
          </a:xfrm>
          <a:prstGeom prst="rect">
            <a:avLst/>
          </a:prstGeom>
        </p:spPr>
      </p:pic>
      <p:sp>
        <p:nvSpPr>
          <p:cNvPr id="64" name="TextBox 63"/>
          <p:cNvSpPr txBox="1"/>
          <p:nvPr/>
        </p:nvSpPr>
        <p:spPr>
          <a:xfrm>
            <a:off x="8015443" y="387057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5" name="lockshield_28"/>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'Flower Bulbs, Corms, Rhizomes &amp; Tubers' tier and Online / E-commerce within distribution channel.</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388483" cy="194310"/>
          </a:xfrm>
          <a:prstGeom prst="rect">
            <a:avLst/>
          </a:prstGeom>
          <a:noFill/>
        </p:spPr>
        <p:txBody>
          <a:bodyPr wrap="none" lIns="0" rIns="0" tIns="0" bIns="0">
            <a:spAutoFit/>
          </a:bodyPr>
          <a:lstStyle/>
          <a:p>
            <a:r>
              <a:rPr sz="1150" b="0">
                <a:solidFill>
                  <a:srgbClr val="2E2E2E"/>
                </a:solidFill>
                <a:latin typeface="Calibri"/>
              </a:rPr>
              <a:t>▪ Balance scale in 'Cut Flowers' with targeted growth in 'Flower Bulbs, Corms, Rhizomes &amp;</a:t>
            </a:r>
          </a:p>
        </p:txBody>
      </p:sp>
      <p:sp>
        <p:nvSpPr>
          <p:cNvPr id="32" name="TextBox 31"/>
          <p:cNvSpPr txBox="1"/>
          <p:nvPr/>
        </p:nvSpPr>
        <p:spPr>
          <a:xfrm>
            <a:off x="276225" y="1575435"/>
            <a:ext cx="1332743" cy="194310"/>
          </a:xfrm>
          <a:prstGeom prst="rect">
            <a:avLst/>
          </a:prstGeom>
          <a:noFill/>
        </p:spPr>
        <p:txBody>
          <a:bodyPr wrap="none" lIns="0" rIns="0" tIns="0" bIns="0">
            <a:spAutoFit/>
          </a:bodyPr>
          <a:lstStyle/>
          <a:p>
            <a:r>
              <a:rPr sz="1150" b="0">
                <a:solidFill>
                  <a:srgbClr val="2E2E2E"/>
                </a:solidFill>
                <a:latin typeface="Calibri"/>
              </a:rPr>
              <a:t>Tubers', pursuing the</a:t>
            </a:r>
          </a:p>
        </p:txBody>
      </p:sp>
      <p:pic>
        <p:nvPicPr>
          <p:cNvPr id="33" name="Picture 32" descr="lock.png"/>
          <p:cNvPicPr>
            <a:picLocks noChangeAspect="1"/>
          </p:cNvPicPr>
          <p:nvPr/>
        </p:nvPicPr>
        <p:blipFill>
          <a:blip r:embed="rId4"/>
          <a:stretch>
            <a:fillRect/>
          </a:stretch>
        </p:blipFill>
        <p:spPr>
          <a:xfrm>
            <a:off x="1558122" y="1565211"/>
            <a:ext cx="134549" cy="195707"/>
          </a:xfrm>
          <a:prstGeom prst="rect">
            <a:avLst/>
          </a:prstGeom>
        </p:spPr>
      </p:pic>
      <p:sp>
        <p:nvSpPr>
          <p:cNvPr id="34" name="TextBox 33"/>
          <p:cNvSpPr txBox="1"/>
          <p:nvPr/>
        </p:nvSpPr>
        <p:spPr>
          <a:xfrm>
            <a:off x="1733231"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3294149" cy="194310"/>
          </a:xfrm>
          <a:prstGeom prst="rect">
            <a:avLst/>
          </a:prstGeom>
          <a:noFill/>
        </p:spPr>
        <p:txBody>
          <a:bodyPr wrap="none" lIns="0" rIns="0" tIns="0" bIns="0">
            <a:spAutoFit/>
          </a:bodyPr>
          <a:lstStyle/>
          <a:p>
            <a:r>
              <a:rPr sz="1150" b="0">
                <a:solidFill>
                  <a:srgbClr val="2E2E2E"/>
                </a:solidFill>
                <a:latin typeface="Calibri"/>
              </a:rPr>
              <a:t>▪ Prioritise 'Flower Bulbs, Corms, Rhizomes &amp; Tubers' (</a:t>
            </a:r>
          </a:p>
        </p:txBody>
      </p:sp>
      <p:pic>
        <p:nvPicPr>
          <p:cNvPr id="36" name="Picture 35" descr="lock.png"/>
          <p:cNvPicPr>
            <a:picLocks noChangeAspect="1"/>
          </p:cNvPicPr>
          <p:nvPr/>
        </p:nvPicPr>
        <p:blipFill>
          <a:blip r:embed="rId4"/>
          <a:stretch>
            <a:fillRect/>
          </a:stretch>
        </p:blipFill>
        <p:spPr>
          <a:xfrm>
            <a:off x="3519528" y="3209226"/>
            <a:ext cx="134549" cy="195707"/>
          </a:xfrm>
          <a:prstGeom prst="rect">
            <a:avLst/>
          </a:prstGeom>
        </p:spPr>
      </p:pic>
      <p:sp>
        <p:nvSpPr>
          <p:cNvPr id="37" name="TextBox 36"/>
          <p:cNvSpPr txBox="1"/>
          <p:nvPr/>
        </p:nvSpPr>
        <p:spPr>
          <a:xfrm>
            <a:off x="3694637" y="3219450"/>
            <a:ext cx="1460251" cy="194310"/>
          </a:xfrm>
          <a:prstGeom prst="rect">
            <a:avLst/>
          </a:prstGeom>
          <a:noFill/>
        </p:spPr>
        <p:txBody>
          <a:bodyPr wrap="none" lIns="0" rIns="0" tIns="0" bIns="0">
            <a:spAutoFit/>
          </a:bodyPr>
          <a:lstStyle/>
          <a:p>
            <a:r>
              <a:rPr sz="1150" b="0">
                <a:solidFill>
                  <a:srgbClr val="2E2E2E"/>
                </a:solidFill>
                <a:latin typeface="Calibri"/>
              </a:rPr>
              <a:t>); 'Cut Flowers' anchors</a:t>
            </a:r>
          </a:p>
        </p:txBody>
      </p:sp>
      <p:pic>
        <p:nvPicPr>
          <p:cNvPr id="38" name="Picture 37" descr="lock.png"/>
          <p:cNvPicPr>
            <a:picLocks noChangeAspect="1"/>
          </p:cNvPicPr>
          <p:nvPr/>
        </p:nvPicPr>
        <p:blipFill>
          <a:blip r:embed="rId4"/>
          <a:stretch>
            <a:fillRect/>
          </a:stretch>
        </p:blipFill>
        <p:spPr>
          <a:xfrm>
            <a:off x="5104043" y="3209226"/>
            <a:ext cx="134549" cy="195707"/>
          </a:xfrm>
          <a:prstGeom prst="rect">
            <a:avLst/>
          </a:prstGeom>
        </p:spPr>
      </p:pic>
      <p:sp>
        <p:nvSpPr>
          <p:cNvPr id="39" name="TextBox 38"/>
          <p:cNvSpPr txBox="1"/>
          <p:nvPr/>
        </p:nvSpPr>
        <p:spPr>
          <a:xfrm>
            <a:off x="5279152" y="3219450"/>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40" name="TextBox 39"/>
          <p:cNvSpPr txBox="1"/>
          <p:nvPr/>
        </p:nvSpPr>
        <p:spPr>
          <a:xfrm>
            <a:off x="276225" y="3394710"/>
            <a:ext cx="431911" cy="194310"/>
          </a:xfrm>
          <a:prstGeom prst="rect">
            <a:avLst/>
          </a:prstGeom>
          <a:noFill/>
        </p:spPr>
        <p:txBody>
          <a:bodyPr wrap="none" lIns="0" rIns="0" tIns="0" bIns="0">
            <a:spAutoFit/>
          </a:bodyPr>
          <a:lstStyle/>
          <a:p>
            <a:r>
              <a:rPr sz="1150" b="0">
                <a:solidFill>
                  <a:srgbClr val="2E2E2E"/>
                </a:solidFill>
                <a:latin typeface="Calibri"/>
              </a:rPr>
              <a:t>value.</a:t>
            </a:r>
          </a:p>
        </p:txBody>
      </p:sp>
      <p:sp>
        <p:nvSpPr>
          <p:cNvPr id="41" name="TextBox 40"/>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2" name="Picture 41" descr="lock.png"/>
          <p:cNvPicPr>
            <a:picLocks noChangeAspect="1"/>
          </p:cNvPicPr>
          <p:nvPr/>
        </p:nvPicPr>
        <p:blipFill>
          <a:blip r:embed="rId4"/>
          <a:stretch>
            <a:fillRect/>
          </a:stretch>
        </p:blipFill>
        <p:spPr>
          <a:xfrm>
            <a:off x="7975392" y="3209226"/>
            <a:ext cx="134549" cy="195707"/>
          </a:xfrm>
          <a:prstGeom prst="rect">
            <a:avLst/>
          </a:prstGeom>
        </p:spPr>
      </p:pic>
      <p:sp>
        <p:nvSpPr>
          <p:cNvPr id="43" name="TextBox 42"/>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4" name="Picture 43" descr="lock.png"/>
          <p:cNvPicPr>
            <a:picLocks noChangeAspect="1"/>
          </p:cNvPicPr>
          <p:nvPr/>
        </p:nvPicPr>
        <p:blipFill>
          <a:blip r:embed="rId4"/>
          <a:stretch>
            <a:fillRect/>
          </a:stretch>
        </p:blipFill>
        <p:spPr>
          <a:xfrm>
            <a:off x="10602510" y="3209226"/>
            <a:ext cx="134549" cy="195707"/>
          </a:xfrm>
          <a:prstGeom prst="rect">
            <a:avLst/>
          </a:prstGeom>
        </p:spPr>
      </p:pic>
      <p:sp>
        <p:nvSpPr>
          <p:cNvPr id="45" name="TextBox 44"/>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038725"/>
            <a:ext cx="1158738" cy="194310"/>
          </a:xfrm>
          <a:prstGeom prst="rect">
            <a:avLst/>
          </a:prstGeom>
          <a:noFill/>
        </p:spPr>
        <p:txBody>
          <a:bodyPr wrap="none" lIns="0" rIns="0" tIns="0" bIns="0">
            <a:spAutoFit/>
          </a:bodyPr>
          <a:lstStyle/>
          <a:p>
            <a:r>
              <a:rPr sz="1150" b="0">
                <a:solidFill>
                  <a:srgbClr val="2E2E2E"/>
                </a:solidFill>
                <a:latin typeface="Calibri"/>
              </a:rPr>
              <a:t>▪ Floriculture adds</a:t>
            </a:r>
          </a:p>
        </p:txBody>
      </p:sp>
      <p:pic>
        <p:nvPicPr>
          <p:cNvPr id="47" name="Picture 46" descr="lock.png"/>
          <p:cNvPicPr>
            <a:picLocks noChangeAspect="1"/>
          </p:cNvPicPr>
          <p:nvPr/>
        </p:nvPicPr>
        <p:blipFill>
          <a:blip r:embed="rId4"/>
          <a:stretch>
            <a:fillRect/>
          </a:stretch>
        </p:blipFill>
        <p:spPr>
          <a:xfrm>
            <a:off x="1384117" y="5028501"/>
            <a:ext cx="134549" cy="195707"/>
          </a:xfrm>
          <a:prstGeom prst="rect">
            <a:avLst/>
          </a:prstGeom>
        </p:spPr>
      </p:pic>
      <p:sp>
        <p:nvSpPr>
          <p:cNvPr id="48" name="TextBox 47"/>
          <p:cNvSpPr txBox="1"/>
          <p:nvPr/>
        </p:nvSpPr>
        <p:spPr>
          <a:xfrm>
            <a:off x="1559226"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9" name="Picture 48" descr="lock.png"/>
          <p:cNvPicPr>
            <a:picLocks noChangeAspect="1"/>
          </p:cNvPicPr>
          <p:nvPr/>
        </p:nvPicPr>
        <p:blipFill>
          <a:blip r:embed="rId4"/>
          <a:stretch>
            <a:fillRect/>
          </a:stretch>
        </p:blipFill>
        <p:spPr>
          <a:xfrm>
            <a:off x="3323488" y="5028501"/>
            <a:ext cx="134549" cy="195707"/>
          </a:xfrm>
          <a:prstGeom prst="rect">
            <a:avLst/>
          </a:prstGeom>
        </p:spPr>
      </p:pic>
      <p:sp>
        <p:nvSpPr>
          <p:cNvPr id="50" name="TextBox 49"/>
          <p:cNvSpPr txBox="1"/>
          <p:nvPr/>
        </p:nvSpPr>
        <p:spPr>
          <a:xfrm>
            <a:off x="3498597"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1" name="TextBox 50"/>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2" name="TextBox 51"/>
          <p:cNvSpPr txBox="1"/>
          <p:nvPr/>
        </p:nvSpPr>
        <p:spPr>
          <a:xfrm>
            <a:off x="276225" y="5494400"/>
            <a:ext cx="4061482" cy="194310"/>
          </a:xfrm>
          <a:prstGeom prst="rect">
            <a:avLst/>
          </a:prstGeom>
          <a:noFill/>
        </p:spPr>
        <p:txBody>
          <a:bodyPr wrap="none" lIns="0" rIns="0" tIns="0" bIns="0">
            <a:spAutoFit/>
          </a:bodyPr>
          <a:lstStyle/>
          <a:p>
            <a:r>
              <a:rPr sz="1150" b="0">
                <a:solidFill>
                  <a:srgbClr val="2E2E2E"/>
                </a:solidFill>
                <a:latin typeface="Calibri"/>
              </a:rPr>
              <a:t>▪ Defend share in 'Cut Flowers' as the value anchor of the portfolio.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Floriculture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13492"/>
            <a:ext cx="635826" cy="891808"/>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2968272"/>
            <a:ext cx="635826" cy="1337028"/>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780005"/>
            <a:ext cx="635826" cy="1525295"/>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567940"/>
            <a:ext cx="635826" cy="173736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834922"/>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30147"/>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577747"/>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472972"/>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320572"/>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15797"/>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Floriculture Market Attractiveness Analysis By Region, 2026–2036</a:t>
            </a:r>
          </a:p>
        </p:txBody>
      </p:sp>
      <p:graphicFrame>
        <p:nvGraphicFramePr>
          <p:cNvPr id="36" name="Chart 35"/>
          <p:cNvGraphicFramePr>
            <a:graphicFrameLocks noGrp="1"/>
          </p:cNvGraphicFramePr>
          <p:nvPr/>
        </p:nvGraphicFramePr>
        <p:xfrm>
          <a:off x="6267450" y="2095500"/>
          <a:ext cx="5686425" cy="266700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764513"/>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756298"/>
            <a:ext cx="108107" cy="157246"/>
          </a:xfrm>
          <a:prstGeom prst="rect">
            <a:avLst/>
          </a:prstGeom>
        </p:spPr>
      </p:pic>
      <p:sp>
        <p:nvSpPr>
          <p:cNvPr id="56" name="TextBox 55"/>
          <p:cNvSpPr txBox="1"/>
          <p:nvPr/>
        </p:nvSpPr>
        <p:spPr>
          <a:xfrm>
            <a:off x="2032418" y="250733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499123"/>
            <a:ext cx="108107" cy="157246"/>
          </a:xfrm>
          <a:prstGeom prst="rect">
            <a:avLst/>
          </a:prstGeom>
        </p:spPr>
      </p:pic>
      <p:sp>
        <p:nvSpPr>
          <p:cNvPr id="58" name="TextBox 57"/>
          <p:cNvSpPr txBox="1"/>
          <p:nvPr/>
        </p:nvSpPr>
        <p:spPr>
          <a:xfrm>
            <a:off x="2032418" y="2250163"/>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241948"/>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095500"/>
            <a:ext cx="5686425" cy="2667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Floriculture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and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19_843_605E5C.png"/>
          <p:cNvPicPr>
            <a:picLocks noChangeAspect="1"/>
          </p:cNvPicPr>
          <p:nvPr/>
        </p:nvPicPr>
        <p:blipFill>
          <a:blip r:embed="rId4"/>
          <a:stretch>
            <a:fillRect/>
          </a:stretch>
        </p:blipFill>
        <p:spPr>
          <a:xfrm>
            <a:off x="1948202" y="2286582"/>
            <a:ext cx="1409020" cy="361950"/>
          </a:xfrm>
          <a:prstGeom prst="rect">
            <a:avLst/>
          </a:prstGeom>
        </p:spPr>
      </p:pic>
      <p:pic>
        <p:nvPicPr>
          <p:cNvPr id="78" name="Picture 77" descr="29_659_605E5C.png"/>
          <p:cNvPicPr>
            <a:picLocks noChangeAspect="1"/>
          </p:cNvPicPr>
          <p:nvPr/>
        </p:nvPicPr>
        <p:blipFill>
          <a:blip r:embed="rId5"/>
          <a:stretch>
            <a:fillRect/>
          </a:stretch>
        </p:blipFill>
        <p:spPr>
          <a:xfrm>
            <a:off x="1948202" y="2779432"/>
            <a:ext cx="1409020" cy="361950"/>
          </a:xfrm>
          <a:prstGeom prst="rect">
            <a:avLst/>
          </a:prstGeom>
        </p:spPr>
      </p:pic>
      <p:pic>
        <p:nvPicPr>
          <p:cNvPr id="79" name="Picture 78"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16_236_605E5C.png"/>
          <p:cNvPicPr>
            <a:picLocks noChangeAspect="1"/>
          </p:cNvPicPr>
          <p:nvPr/>
        </p:nvPicPr>
        <p:blipFill>
          <a:blip r:embed="rId7"/>
          <a:stretch>
            <a:fillRect/>
          </a:stretch>
        </p:blipFill>
        <p:spPr>
          <a:xfrm>
            <a:off x="3634127" y="2286582"/>
            <a:ext cx="1409020" cy="361950"/>
          </a:xfrm>
          <a:prstGeom prst="rect">
            <a:avLst/>
          </a:prstGeom>
        </p:spPr>
      </p:pic>
      <p:pic>
        <p:nvPicPr>
          <p:cNvPr id="81" name="Picture 80" descr="28_000_605E5C.png"/>
          <p:cNvPicPr>
            <a:picLocks noChangeAspect="1"/>
          </p:cNvPicPr>
          <p:nvPr/>
        </p:nvPicPr>
        <p:blipFill>
          <a:blip r:embed="rId8"/>
          <a:stretch>
            <a:fillRect/>
          </a:stretch>
        </p:blipFill>
        <p:spPr>
          <a:xfrm>
            <a:off x="3634127" y="2779432"/>
            <a:ext cx="1409020" cy="361950"/>
          </a:xfrm>
          <a:prstGeom prst="rect">
            <a:avLst/>
          </a:prstGeom>
        </p:spPr>
      </p:pic>
      <p:pic>
        <p:nvPicPr>
          <p:cNvPr id="82" name="Picture 81" descr="5_6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7_817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2_541_605E5C.png"/>
          <p:cNvPicPr>
            <a:picLocks noChangeAspect="1"/>
          </p:cNvPicPr>
          <p:nvPr/>
        </p:nvPicPr>
        <p:blipFill>
          <a:blip r:embed="rId11"/>
          <a:stretch>
            <a:fillRect/>
          </a:stretch>
        </p:blipFill>
        <p:spPr>
          <a:xfrm>
            <a:off x="5320052" y="2779432"/>
            <a:ext cx="1409020" cy="361950"/>
          </a:xfrm>
          <a:prstGeom prst="rect">
            <a:avLst/>
          </a:prstGeom>
        </p:spPr>
      </p:pic>
      <p:pic>
        <p:nvPicPr>
          <p:cNvPr id="85" name="Picture 84"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7_216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2_806_605E5C.png"/>
          <p:cNvPicPr>
            <a:picLocks noChangeAspect="1"/>
          </p:cNvPicPr>
          <p:nvPr/>
        </p:nvPicPr>
        <p:blipFill>
          <a:blip r:embed="rId14"/>
          <a:stretch>
            <a:fillRect/>
          </a:stretch>
        </p:blipFill>
        <p:spPr>
          <a:xfrm>
            <a:off x="7005977" y="2779432"/>
            <a:ext cx="1409020" cy="361950"/>
          </a:xfrm>
          <a:prstGeom prst="rect">
            <a:avLst/>
          </a:prstGeom>
        </p:spPr>
      </p:pic>
      <p:pic>
        <p:nvPicPr>
          <p:cNvPr id="88" name="Picture 87"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4_811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8_147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4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4_07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6_581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64197" cy="186689"/>
          </a:xfrm>
          <a:prstGeom prst="rect">
            <a:avLst/>
          </a:prstGeom>
          <a:noFill/>
        </p:spPr>
        <p:txBody>
          <a:bodyPr wrap="none" lIns="0" rIns="0" tIns="0" bIns="0">
            <a:spAutoFit/>
          </a:bodyPr>
          <a:lstStyle/>
          <a:p>
            <a:r>
              <a:rPr sz="1100" b="0">
                <a:solidFill>
                  <a:srgbClr val="2E2E2E"/>
                </a:solidFill>
                <a:latin typeface="Calibri"/>
              </a:rPr>
              <a:t>North America floriculture market is projected to</a:t>
            </a:r>
          </a:p>
        </p:txBody>
      </p:sp>
      <p:sp>
        <p:nvSpPr>
          <p:cNvPr id="102" name="TextBox 101"/>
          <p:cNvSpPr txBox="1"/>
          <p:nvPr/>
        </p:nvSpPr>
        <p:spPr>
          <a:xfrm>
            <a:off x="485775" y="439707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3" name="Picture 102" descr="lock.png"/>
          <p:cNvPicPr>
            <a:picLocks noChangeAspect="1"/>
          </p:cNvPicPr>
          <p:nvPr/>
        </p:nvPicPr>
        <p:blipFill>
          <a:blip r:embed="rId22"/>
          <a:stretch>
            <a:fillRect/>
          </a:stretch>
        </p:blipFill>
        <p:spPr>
          <a:xfrm>
            <a:off x="946316" y="4387298"/>
            <a:ext cx="128699" cy="187198"/>
          </a:xfrm>
          <a:prstGeom prst="rect">
            <a:avLst/>
          </a:prstGeom>
        </p:spPr>
      </p:pic>
      <p:sp>
        <p:nvSpPr>
          <p:cNvPr id="104" name="TextBox 103"/>
          <p:cNvSpPr txBox="1"/>
          <p:nvPr/>
        </p:nvSpPr>
        <p:spPr>
          <a:xfrm>
            <a:off x="1113812" y="4397077"/>
            <a:ext cx="2099121" cy="186689"/>
          </a:xfrm>
          <a:prstGeom prst="rect">
            <a:avLst/>
          </a:prstGeom>
          <a:noFill/>
        </p:spPr>
        <p:txBody>
          <a:bodyPr wrap="none" lIns="0" rIns="0" tIns="0" bIns="0">
            <a:spAutoFit/>
          </a:bodyPr>
          <a:lstStyle/>
          <a:p>
            <a:r>
              <a:rPr sz="1100" b="0">
                <a:solidFill>
                  <a:srgbClr val="2E2E2E"/>
                </a:solidFill>
                <a:latin typeface="Calibri"/>
              </a:rPr>
              <a:t>X higher value than Europe in 2036.</a:t>
            </a:r>
          </a:p>
        </p:txBody>
      </p:sp>
      <p:sp>
        <p:nvSpPr>
          <p:cNvPr id="105" name="TextBox 104"/>
          <p:cNvSpPr txBox="1"/>
          <p:nvPr/>
        </p:nvSpPr>
        <p:spPr>
          <a:xfrm>
            <a:off x="485775" y="4564717"/>
            <a:ext cx="2896666" cy="186689"/>
          </a:xfrm>
          <a:prstGeom prst="rect">
            <a:avLst/>
          </a:prstGeom>
          <a:noFill/>
        </p:spPr>
        <p:txBody>
          <a:bodyPr wrap="none" lIns="0" rIns="0" tIns="0" bIns="0">
            <a:spAutoFit/>
          </a:bodyPr>
          <a:lstStyle/>
          <a:p>
            <a:r>
              <a:rPr sz="1100" b="0">
                <a:solidFill>
                  <a:srgbClr val="2E2E2E"/>
                </a:solidFill>
                <a:latin typeface="Calibri"/>
              </a:rPr>
              <a:t>Among floriculture by region, South Asia &amp; Pacific</a:t>
            </a:r>
          </a:p>
        </p:txBody>
      </p:sp>
      <p:sp>
        <p:nvSpPr>
          <p:cNvPr id="106" name="TextBox 105"/>
          <p:cNvSpPr txBox="1"/>
          <p:nvPr/>
        </p:nvSpPr>
        <p:spPr>
          <a:xfrm>
            <a:off x="485775" y="4732357"/>
            <a:ext cx="2499650" cy="186689"/>
          </a:xfrm>
          <a:prstGeom prst="rect">
            <a:avLst/>
          </a:prstGeom>
          <a:noFill/>
        </p:spPr>
        <p:txBody>
          <a:bodyPr wrap="none" lIns="0" rIns="0" tIns="0" bIns="0">
            <a:spAutoFit/>
          </a:bodyPr>
          <a:lstStyle/>
          <a:p>
            <a:r>
              <a:rPr sz="1100" b="0">
                <a:solidFill>
                  <a:srgbClr val="2E2E2E"/>
                </a:solidFill>
                <a:latin typeface="Calibri"/>
              </a:rPr>
              <a:t>is expected to witness the highest CAGR of</a:t>
            </a:r>
          </a:p>
        </p:txBody>
      </p:sp>
      <p:pic>
        <p:nvPicPr>
          <p:cNvPr id="107" name="Picture 106" descr="lock.png"/>
          <p:cNvPicPr>
            <a:picLocks noChangeAspect="1"/>
          </p:cNvPicPr>
          <p:nvPr/>
        </p:nvPicPr>
        <p:blipFill>
          <a:blip r:embed="rId22"/>
          <a:stretch>
            <a:fillRect/>
          </a:stretch>
        </p:blipFill>
        <p:spPr>
          <a:xfrm>
            <a:off x="2933477" y="4722578"/>
            <a:ext cx="128699" cy="187198"/>
          </a:xfrm>
          <a:prstGeom prst="rect">
            <a:avLst/>
          </a:prstGeom>
        </p:spPr>
      </p:pic>
      <p:sp>
        <p:nvSpPr>
          <p:cNvPr id="108" name="TextBox 107"/>
          <p:cNvSpPr txBox="1"/>
          <p:nvPr/>
        </p:nvSpPr>
        <p:spPr>
          <a:xfrm>
            <a:off x="485775"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09" name="TextBox 108"/>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0" name="TextBox 109"/>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1" name="Picture 110" descr="lock.png"/>
          <p:cNvPicPr>
            <a:picLocks noChangeAspect="1"/>
          </p:cNvPicPr>
          <p:nvPr/>
        </p:nvPicPr>
        <p:blipFill>
          <a:blip r:embed="rId22"/>
          <a:stretch>
            <a:fillRect/>
          </a:stretch>
        </p:blipFill>
        <p:spPr>
          <a:xfrm>
            <a:off x="2822716" y="5275790"/>
            <a:ext cx="128699" cy="187198"/>
          </a:xfrm>
          <a:prstGeom prst="rect">
            <a:avLst/>
          </a:prstGeom>
        </p:spPr>
      </p:pic>
      <p:sp>
        <p:nvSpPr>
          <p:cNvPr id="112" name="TextBox 111"/>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3" name="TextBox 112"/>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4" name="Picture 113" descr="lock.png"/>
          <p:cNvPicPr>
            <a:picLocks noChangeAspect="1"/>
          </p:cNvPicPr>
          <p:nvPr/>
        </p:nvPicPr>
        <p:blipFill>
          <a:blip r:embed="rId22"/>
          <a:stretch>
            <a:fillRect/>
          </a:stretch>
        </p:blipFill>
        <p:spPr>
          <a:xfrm>
            <a:off x="1576057" y="5443430"/>
            <a:ext cx="128699" cy="187198"/>
          </a:xfrm>
          <a:prstGeom prst="rect">
            <a:avLst/>
          </a:prstGeom>
        </p:spPr>
      </p:pic>
      <p:sp>
        <p:nvSpPr>
          <p:cNvPr id="115" name="TextBox 114"/>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6" name="TextBox 115"/>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7" name="Picture 116" descr="lock.png"/>
          <p:cNvPicPr>
            <a:picLocks noChangeAspect="1"/>
          </p:cNvPicPr>
          <p:nvPr/>
        </p:nvPicPr>
        <p:blipFill>
          <a:blip r:embed="rId22"/>
          <a:stretch>
            <a:fillRect/>
          </a:stretch>
        </p:blipFill>
        <p:spPr>
          <a:xfrm>
            <a:off x="4850003" y="4219658"/>
            <a:ext cx="128699" cy="187198"/>
          </a:xfrm>
          <a:prstGeom prst="rect">
            <a:avLst/>
          </a:prstGeom>
        </p:spPr>
      </p:pic>
      <p:sp>
        <p:nvSpPr>
          <p:cNvPr id="118" name="TextBox 117"/>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9" name="Picture 118" descr="lock.png"/>
          <p:cNvPicPr>
            <a:picLocks noChangeAspect="1"/>
          </p:cNvPicPr>
          <p:nvPr/>
        </p:nvPicPr>
        <p:blipFill>
          <a:blip r:embed="rId22"/>
          <a:stretch>
            <a:fillRect/>
          </a:stretch>
        </p:blipFill>
        <p:spPr>
          <a:xfrm>
            <a:off x="5876949" y="4219658"/>
            <a:ext cx="128699" cy="187198"/>
          </a:xfrm>
          <a:prstGeom prst="rect">
            <a:avLst/>
          </a:prstGeom>
        </p:spPr>
      </p:pic>
      <p:sp>
        <p:nvSpPr>
          <p:cNvPr id="120" name="TextBox 119"/>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1" name="TextBox 120"/>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2" name="Picture 121" descr="lock.png"/>
          <p:cNvPicPr>
            <a:picLocks noChangeAspect="1"/>
          </p:cNvPicPr>
          <p:nvPr/>
        </p:nvPicPr>
        <p:blipFill>
          <a:blip r:embed="rId22"/>
          <a:stretch>
            <a:fillRect/>
          </a:stretch>
        </p:blipFill>
        <p:spPr>
          <a:xfrm>
            <a:off x="4423263" y="4437590"/>
            <a:ext cx="128699" cy="187198"/>
          </a:xfrm>
          <a:prstGeom prst="rect">
            <a:avLst/>
          </a:prstGeom>
        </p:spPr>
      </p:pic>
      <p:sp>
        <p:nvSpPr>
          <p:cNvPr id="123" name="TextBox 122"/>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4" name="Picture 123" descr="lock.png"/>
          <p:cNvPicPr>
            <a:picLocks noChangeAspect="1"/>
          </p:cNvPicPr>
          <p:nvPr/>
        </p:nvPicPr>
        <p:blipFill>
          <a:blip r:embed="rId22"/>
          <a:stretch>
            <a:fillRect/>
          </a:stretch>
        </p:blipFill>
        <p:spPr>
          <a:xfrm>
            <a:off x="5450209" y="4437590"/>
            <a:ext cx="128699" cy="187198"/>
          </a:xfrm>
          <a:prstGeom prst="rect">
            <a:avLst/>
          </a:prstGeom>
        </p:spPr>
      </p:pic>
      <p:sp>
        <p:nvSpPr>
          <p:cNvPr id="125" name="TextBox 124"/>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6" name="TextBox 125"/>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7" name="Picture 126" descr="lock.png"/>
          <p:cNvPicPr>
            <a:picLocks noChangeAspect="1"/>
          </p:cNvPicPr>
          <p:nvPr/>
        </p:nvPicPr>
        <p:blipFill>
          <a:blip r:embed="rId22"/>
          <a:stretch>
            <a:fillRect/>
          </a:stretch>
        </p:blipFill>
        <p:spPr>
          <a:xfrm>
            <a:off x="4518727" y="4655522"/>
            <a:ext cx="128699" cy="187198"/>
          </a:xfrm>
          <a:prstGeom prst="rect">
            <a:avLst/>
          </a:prstGeom>
        </p:spPr>
      </p:pic>
      <p:sp>
        <p:nvSpPr>
          <p:cNvPr id="128" name="TextBox 127"/>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22"/>
          <a:stretch>
            <a:fillRect/>
          </a:stretch>
        </p:blipFill>
        <p:spPr>
          <a:xfrm>
            <a:off x="5545673" y="4655522"/>
            <a:ext cx="128699" cy="187198"/>
          </a:xfrm>
          <a:prstGeom prst="rect">
            <a:avLst/>
          </a:prstGeom>
        </p:spPr>
      </p:pic>
      <p:sp>
        <p:nvSpPr>
          <p:cNvPr id="130" name="TextBox 129"/>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1" name="TextBox 130"/>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2" name="Picture 131" descr="lock.png"/>
          <p:cNvPicPr>
            <a:picLocks noChangeAspect="1"/>
          </p:cNvPicPr>
          <p:nvPr/>
        </p:nvPicPr>
        <p:blipFill>
          <a:blip r:embed="rId22"/>
          <a:stretch>
            <a:fillRect/>
          </a:stretch>
        </p:blipFill>
        <p:spPr>
          <a:xfrm>
            <a:off x="5136770" y="4873454"/>
            <a:ext cx="128699" cy="187198"/>
          </a:xfrm>
          <a:prstGeom prst="rect">
            <a:avLst/>
          </a:prstGeom>
        </p:spPr>
      </p:pic>
      <p:sp>
        <p:nvSpPr>
          <p:cNvPr id="133" name="TextBox 132"/>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2"/>
          <a:stretch>
            <a:fillRect/>
          </a:stretch>
        </p:blipFill>
        <p:spPr>
          <a:xfrm>
            <a:off x="6163716" y="4873454"/>
            <a:ext cx="128699" cy="187198"/>
          </a:xfrm>
          <a:prstGeom prst="rect">
            <a:avLst/>
          </a:prstGeom>
        </p:spPr>
      </p:pic>
      <p:sp>
        <p:nvSpPr>
          <p:cNvPr id="135" name="TextBox 134"/>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6" name="TextBox 135"/>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7" name="Picture 136" descr="lock.png"/>
          <p:cNvPicPr>
            <a:picLocks noChangeAspect="1"/>
          </p:cNvPicPr>
          <p:nvPr/>
        </p:nvPicPr>
        <p:blipFill>
          <a:blip r:embed="rId22"/>
          <a:stretch>
            <a:fillRect/>
          </a:stretch>
        </p:blipFill>
        <p:spPr>
          <a:xfrm>
            <a:off x="4794887" y="5091385"/>
            <a:ext cx="128699" cy="187198"/>
          </a:xfrm>
          <a:prstGeom prst="rect">
            <a:avLst/>
          </a:prstGeom>
        </p:spPr>
      </p:pic>
      <p:sp>
        <p:nvSpPr>
          <p:cNvPr id="138" name="TextBox 137"/>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2"/>
          <a:stretch>
            <a:fillRect/>
          </a:stretch>
        </p:blipFill>
        <p:spPr>
          <a:xfrm>
            <a:off x="5821833" y="5091385"/>
            <a:ext cx="128699" cy="187198"/>
          </a:xfrm>
          <a:prstGeom prst="rect">
            <a:avLst/>
          </a:prstGeom>
        </p:spPr>
      </p:pic>
      <p:sp>
        <p:nvSpPr>
          <p:cNvPr id="140" name="TextBox 139"/>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1" name="TextBox 140"/>
          <p:cNvSpPr txBox="1"/>
          <p:nvPr/>
        </p:nvSpPr>
        <p:spPr>
          <a:xfrm>
            <a:off x="3838575" y="5319097"/>
            <a:ext cx="1505362" cy="186689"/>
          </a:xfrm>
          <a:prstGeom prst="rect">
            <a:avLst/>
          </a:prstGeom>
          <a:noFill/>
        </p:spPr>
        <p:txBody>
          <a:bodyPr wrap="none" lIns="0" rIns="0" tIns="0" bIns="0">
            <a:spAutoFit/>
          </a:bodyPr>
          <a:lstStyle/>
          <a:p>
            <a:r>
              <a:rPr sz="1100" b="0">
                <a:solidFill>
                  <a:srgbClr val="2E2E2E"/>
                </a:solidFill>
                <a:latin typeface="Calibri"/>
              </a:rPr>
              <a:t>● Middle East and Africa:</a:t>
            </a:r>
          </a:p>
        </p:txBody>
      </p:sp>
      <p:pic>
        <p:nvPicPr>
          <p:cNvPr id="142" name="Picture 141" descr="lock.png"/>
          <p:cNvPicPr>
            <a:picLocks noChangeAspect="1"/>
          </p:cNvPicPr>
          <p:nvPr/>
        </p:nvPicPr>
        <p:blipFill>
          <a:blip r:embed="rId22"/>
          <a:stretch>
            <a:fillRect/>
          </a:stretch>
        </p:blipFill>
        <p:spPr>
          <a:xfrm>
            <a:off x="5291988" y="5309317"/>
            <a:ext cx="128699" cy="187198"/>
          </a:xfrm>
          <a:prstGeom prst="rect">
            <a:avLst/>
          </a:prstGeom>
        </p:spPr>
      </p:pic>
      <p:sp>
        <p:nvSpPr>
          <p:cNvPr id="143" name="TextBox 142"/>
          <p:cNvSpPr txBox="1"/>
          <p:nvPr/>
        </p:nvSpPr>
        <p:spPr>
          <a:xfrm>
            <a:off x="545948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2"/>
          <a:stretch>
            <a:fillRect/>
          </a:stretch>
        </p:blipFill>
        <p:spPr>
          <a:xfrm>
            <a:off x="6318935" y="5309317"/>
            <a:ext cx="128699" cy="187198"/>
          </a:xfrm>
          <a:prstGeom prst="rect">
            <a:avLst/>
          </a:prstGeom>
        </p:spPr>
      </p:pic>
      <p:sp>
        <p:nvSpPr>
          <p:cNvPr id="145" name="TextBox 144"/>
          <p:cNvSpPr txBox="1"/>
          <p:nvPr/>
        </p:nvSpPr>
        <p:spPr>
          <a:xfrm>
            <a:off x="6486430" y="5319097"/>
            <a:ext cx="941395" cy="186689"/>
          </a:xfrm>
          <a:prstGeom prst="rect">
            <a:avLst/>
          </a:prstGeom>
          <a:noFill/>
        </p:spPr>
        <p:txBody>
          <a:bodyPr wrap="none" lIns="0" rIns="0" tIns="0" bIns="0">
            <a:spAutoFit/>
          </a:bodyPr>
          <a:lstStyle/>
          <a:p>
            <a:r>
              <a:rPr sz="1100" b="0">
                <a:solidFill>
                  <a:srgbClr val="2E2E2E"/>
                </a:solidFill>
                <a:latin typeface="Calibri"/>
              </a:rPr>
              <a:t>CAGR a smaller</a:t>
            </a:r>
          </a:p>
        </p:txBody>
      </p:sp>
      <p:sp>
        <p:nvSpPr>
          <p:cNvPr id="146" name="TextBox 145"/>
          <p:cNvSpPr txBox="1"/>
          <p:nvPr/>
        </p:nvSpPr>
        <p:spPr>
          <a:xfrm>
            <a:off x="3838575" y="5486737"/>
            <a:ext cx="518765" cy="186689"/>
          </a:xfrm>
          <a:prstGeom prst="rect">
            <a:avLst/>
          </a:prstGeom>
          <a:noFill/>
        </p:spPr>
        <p:txBody>
          <a:bodyPr wrap="none" lIns="0" rIns="0" tIns="0" bIns="0">
            <a:spAutoFit/>
          </a:bodyPr>
          <a:lstStyle/>
          <a:p>
            <a:r>
              <a:rPr sz="1100" b="0">
                <a:solidFill>
                  <a:srgbClr val="2E2E2E"/>
                </a:solidFill>
                <a:latin typeface="Calibri"/>
              </a:rPr>
              <a:t>market.</a:t>
            </a:r>
          </a:p>
        </p:txBody>
      </p:sp>
      <p:sp>
        <p:nvSpPr>
          <p:cNvPr id="147" name="TextBox 146"/>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8" name="TextBox 147"/>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49" name="Picture 148" descr="lock.png"/>
          <p:cNvPicPr>
            <a:picLocks noChangeAspect="1"/>
          </p:cNvPicPr>
          <p:nvPr/>
        </p:nvPicPr>
        <p:blipFill>
          <a:blip r:embed="rId22"/>
          <a:stretch>
            <a:fillRect/>
          </a:stretch>
        </p:blipFill>
        <p:spPr>
          <a:xfrm>
            <a:off x="8674884" y="6007677"/>
            <a:ext cx="134549" cy="195707"/>
          </a:xfrm>
          <a:prstGeom prst="rect">
            <a:avLst/>
          </a:prstGeom>
        </p:spPr>
      </p:pic>
      <p:sp>
        <p:nvSpPr>
          <p:cNvPr id="150" name="TextBox 149"/>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Analysis, By Region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9742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926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164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and Africa</a:t>
            </a:r>
          </a:p>
        </p:txBody>
      </p:sp>
      <p:sp>
        <p:nvSpPr>
          <p:cNvPr id="18" name="BPS Value 1"/>
          <p:cNvSpPr txBox="1"/>
          <p:nvPr/>
        </p:nvSpPr>
        <p:spPr>
          <a:xfrm>
            <a:off x="6305550" y="15783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89196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8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81099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729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40133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39656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32036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38228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312487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4712970" y="312011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304391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0582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551045" y="390209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389733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8211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88304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471757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47128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63661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69852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50_000_605E5C.png"/>
          <p:cNvPicPr>
            <a:picLocks noChangeAspect="1"/>
          </p:cNvPicPr>
          <p:nvPr/>
        </p:nvPicPr>
        <p:blipFill>
          <a:blip r:embed="rId6"/>
          <a:stretch>
            <a:fillRect/>
          </a:stretch>
        </p:blipFill>
        <p:spPr>
          <a:xfrm>
            <a:off x="1175203" y="5897562"/>
            <a:ext cx="1878689" cy="482599"/>
          </a:xfrm>
          <a:prstGeom prst="rect">
            <a:avLst/>
          </a:prstGeom>
        </p:spPr>
      </p:pic>
      <p:pic>
        <p:nvPicPr>
          <p:cNvPr id="49" name="Picture 48" descr="76_996_605E5C.png"/>
          <p:cNvPicPr>
            <a:picLocks noChangeAspect="1"/>
          </p:cNvPicPr>
          <p:nvPr/>
        </p:nvPicPr>
        <p:blipFill>
          <a:blip r:embed="rId7"/>
          <a:stretch>
            <a:fillRect/>
          </a:stretch>
        </p:blipFill>
        <p:spPr>
          <a:xfrm>
            <a:off x="5209041" y="5897562"/>
            <a:ext cx="1878689" cy="482599"/>
          </a:xfrm>
          <a:prstGeom prst="rect">
            <a:avLst/>
          </a:prstGeom>
        </p:spPr>
      </p:pic>
      <p:pic>
        <p:nvPicPr>
          <p:cNvPr id="50" name="Picture 49" descr="4_4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3779936" cy="194310"/>
          </a:xfrm>
          <a:prstGeom prst="rect">
            <a:avLst/>
          </a:prstGeom>
          <a:noFill/>
        </p:spPr>
        <p:txBody>
          <a:bodyPr wrap="none" lIns="0" rIns="0" tIns="0" bIns="0">
            <a:spAutoFit/>
          </a:bodyPr>
          <a:lstStyle/>
          <a:p>
            <a:r>
              <a:rPr sz="1150" b="0">
                <a:solidFill>
                  <a:srgbClr val="2E2E2E"/>
                </a:solidFill>
                <a:latin typeface="Calibri"/>
              </a:rPr>
              <a:t>South Asia &amp; Pacific floriculture market is projected to register</a:t>
            </a:r>
          </a:p>
        </p:txBody>
      </p:sp>
      <p:pic>
        <p:nvPicPr>
          <p:cNvPr id="53" name="Picture 52" descr="lock.png"/>
          <p:cNvPicPr>
            <a:picLocks noChangeAspect="1"/>
          </p:cNvPicPr>
          <p:nvPr/>
        </p:nvPicPr>
        <p:blipFill>
          <a:blip r:embed="rId5"/>
          <a:stretch>
            <a:fillRect/>
          </a:stretch>
        </p:blipFill>
        <p:spPr>
          <a:xfrm>
            <a:off x="10968090" y="1389951"/>
            <a:ext cx="134549" cy="195707"/>
          </a:xfrm>
          <a:prstGeom prst="rect">
            <a:avLst/>
          </a:prstGeom>
        </p:spPr>
      </p:pic>
      <p:sp>
        <p:nvSpPr>
          <p:cNvPr id="54" name="TextBox 53"/>
          <p:cNvSpPr txBox="1"/>
          <p:nvPr/>
        </p:nvSpPr>
        <p:spPr>
          <a:xfrm>
            <a:off x="11143199"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55" name="TextBox 54"/>
          <p:cNvSpPr txBox="1"/>
          <p:nvPr/>
        </p:nvSpPr>
        <p:spPr>
          <a:xfrm>
            <a:off x="7239000" y="1575435"/>
            <a:ext cx="4360713" cy="194310"/>
          </a:xfrm>
          <a:prstGeom prst="rect">
            <a:avLst/>
          </a:prstGeom>
          <a:noFill/>
        </p:spPr>
        <p:txBody>
          <a:bodyPr wrap="none" lIns="0" rIns="0" tIns="0" bIns="0">
            <a:spAutoFit/>
          </a:bodyPr>
          <a:lstStyle/>
          <a:p>
            <a:r>
              <a:rPr sz="1150" b="0">
                <a:solidFill>
                  <a:srgbClr val="2E2E2E"/>
                </a:solidFill>
                <a:latin typeface="Calibri"/>
              </a:rPr>
              <a:t>volume than Europe in 2036. Among floriculture by region, South Asia &amp;</a:t>
            </a:r>
          </a:p>
        </p:txBody>
      </p:sp>
      <p:sp>
        <p:nvSpPr>
          <p:cNvPr id="56" name="TextBox 55"/>
          <p:cNvSpPr txBox="1"/>
          <p:nvPr/>
        </p:nvSpPr>
        <p:spPr>
          <a:xfrm>
            <a:off x="7239000" y="1750695"/>
            <a:ext cx="3023996" cy="194310"/>
          </a:xfrm>
          <a:prstGeom prst="rect">
            <a:avLst/>
          </a:prstGeom>
          <a:noFill/>
        </p:spPr>
        <p:txBody>
          <a:bodyPr wrap="none" lIns="0" rIns="0" tIns="0" bIns="0">
            <a:spAutoFit/>
          </a:bodyPr>
          <a:lstStyle/>
          <a:p>
            <a:r>
              <a:rPr sz="1150" b="0">
                <a:solidFill>
                  <a:srgbClr val="2E2E2E"/>
                </a:solidFill>
                <a:latin typeface="Calibri"/>
              </a:rPr>
              <a:t>Pacific is expected to witness the highest CAGR of</a:t>
            </a:r>
          </a:p>
        </p:txBody>
      </p:sp>
      <p:pic>
        <p:nvPicPr>
          <p:cNvPr id="57" name="Picture 56" descr="lock.png"/>
          <p:cNvPicPr>
            <a:picLocks noChangeAspect="1"/>
          </p:cNvPicPr>
          <p:nvPr/>
        </p:nvPicPr>
        <p:blipFill>
          <a:blip r:embed="rId5"/>
          <a:stretch>
            <a:fillRect/>
          </a:stretch>
        </p:blipFill>
        <p:spPr>
          <a:xfrm>
            <a:off x="10212149" y="1740471"/>
            <a:ext cx="134549" cy="195707"/>
          </a:xfrm>
          <a:prstGeom prst="rect">
            <a:avLst/>
          </a:prstGeom>
        </p:spPr>
      </p:pic>
      <p:sp>
        <p:nvSpPr>
          <p:cNvPr id="58" name="TextBox 57"/>
          <p:cNvSpPr txBox="1"/>
          <p:nvPr/>
        </p:nvSpPr>
        <p:spPr>
          <a:xfrm>
            <a:off x="10387259"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59" name="TextBox 58"/>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60" name="TextBox 59"/>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1" name="TextBox 60"/>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2" name="Picture 61" descr="lock.png"/>
          <p:cNvPicPr>
            <a:picLocks noChangeAspect="1"/>
          </p:cNvPicPr>
          <p:nvPr/>
        </p:nvPicPr>
        <p:blipFill>
          <a:blip r:embed="rId5"/>
          <a:stretch>
            <a:fillRect/>
          </a:stretch>
        </p:blipFill>
        <p:spPr>
          <a:xfrm>
            <a:off x="9025226" y="2318829"/>
            <a:ext cx="134549" cy="195707"/>
          </a:xfrm>
          <a:prstGeom prst="rect">
            <a:avLst/>
          </a:prstGeom>
        </p:spPr>
      </p:pic>
      <p:sp>
        <p:nvSpPr>
          <p:cNvPr id="63" name="TextBox 62"/>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4" name="Picture 63" descr="lock.png"/>
          <p:cNvPicPr>
            <a:picLocks noChangeAspect="1"/>
          </p:cNvPicPr>
          <p:nvPr/>
        </p:nvPicPr>
        <p:blipFill>
          <a:blip r:embed="rId5"/>
          <a:stretch>
            <a:fillRect/>
          </a:stretch>
        </p:blipFill>
        <p:spPr>
          <a:xfrm>
            <a:off x="10595478" y="2318829"/>
            <a:ext cx="134549" cy="195707"/>
          </a:xfrm>
          <a:prstGeom prst="rect">
            <a:avLst/>
          </a:prstGeom>
        </p:spPr>
      </p:pic>
      <p:sp>
        <p:nvSpPr>
          <p:cNvPr id="65" name="TextBox 64"/>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TextBox 65"/>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7" name="Picture 66" descr="lock.png"/>
          <p:cNvPicPr>
            <a:picLocks noChangeAspect="1"/>
          </p:cNvPicPr>
          <p:nvPr/>
        </p:nvPicPr>
        <p:blipFill>
          <a:blip r:embed="rId5"/>
          <a:stretch>
            <a:fillRect/>
          </a:stretch>
        </p:blipFill>
        <p:spPr>
          <a:xfrm>
            <a:off x="9271685" y="2494089"/>
            <a:ext cx="134549" cy="195707"/>
          </a:xfrm>
          <a:prstGeom prst="rect">
            <a:avLst/>
          </a:prstGeom>
        </p:spPr>
      </p:pic>
      <p:sp>
        <p:nvSpPr>
          <p:cNvPr id="68" name="TextBox 67"/>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9" name="TextBox 68"/>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70" name="Picture 69" descr="lock.png"/>
          <p:cNvPicPr>
            <a:picLocks noChangeAspect="1"/>
          </p:cNvPicPr>
          <p:nvPr/>
        </p:nvPicPr>
        <p:blipFill>
          <a:blip r:embed="rId5"/>
          <a:stretch>
            <a:fillRect/>
          </a:stretch>
        </p:blipFill>
        <p:spPr>
          <a:xfrm>
            <a:off x="7943258" y="2669349"/>
            <a:ext cx="134549" cy="195707"/>
          </a:xfrm>
          <a:prstGeom prst="rect">
            <a:avLst/>
          </a:prstGeom>
        </p:spPr>
      </p:pic>
      <p:sp>
        <p:nvSpPr>
          <p:cNvPr id="71" name="TextBox 70"/>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2"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8554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8078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045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and Africa</a:t>
            </a:r>
          </a:p>
        </p:txBody>
      </p:sp>
      <p:sp>
        <p:nvSpPr>
          <p:cNvPr id="18" name="BPS Value 1"/>
          <p:cNvSpPr txBox="1"/>
          <p:nvPr/>
        </p:nvSpPr>
        <p:spPr>
          <a:xfrm>
            <a:off x="6305550" y="156649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861846"/>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5708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808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427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24996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2452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16900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2309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72549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7207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64453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064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349103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348627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41007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4719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457277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456801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49181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372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60_000_605E5C.png"/>
          <p:cNvPicPr>
            <a:picLocks noChangeAspect="1"/>
          </p:cNvPicPr>
          <p:nvPr/>
        </p:nvPicPr>
        <p:blipFill>
          <a:blip r:embed="rId6"/>
          <a:stretch>
            <a:fillRect/>
          </a:stretch>
        </p:blipFill>
        <p:spPr>
          <a:xfrm>
            <a:off x="1175203" y="5897562"/>
            <a:ext cx="1878689" cy="482599"/>
          </a:xfrm>
          <a:prstGeom prst="rect">
            <a:avLst/>
          </a:prstGeom>
        </p:spPr>
      </p:pic>
      <p:pic>
        <p:nvPicPr>
          <p:cNvPr id="49" name="Picture 48" descr="97_734_605E5C.png"/>
          <p:cNvPicPr>
            <a:picLocks noChangeAspect="1"/>
          </p:cNvPicPr>
          <p:nvPr/>
        </p:nvPicPr>
        <p:blipFill>
          <a:blip r:embed="rId7"/>
          <a:stretch>
            <a:fillRect/>
          </a:stretch>
        </p:blipFill>
        <p:spPr>
          <a:xfrm>
            <a:off x="5209041" y="5897562"/>
            <a:ext cx="1878689" cy="482599"/>
          </a:xfrm>
          <a:prstGeom prst="rect">
            <a:avLst/>
          </a:prstGeom>
        </p:spPr>
      </p:pic>
      <p:pic>
        <p:nvPicPr>
          <p:cNvPr id="50" name="Picture 49"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3480134" cy="194310"/>
          </a:xfrm>
          <a:prstGeom prst="rect">
            <a:avLst/>
          </a:prstGeom>
          <a:noFill/>
        </p:spPr>
        <p:txBody>
          <a:bodyPr wrap="none" lIns="0" rIns="0" tIns="0" bIns="0">
            <a:spAutoFit/>
          </a:bodyPr>
          <a:lstStyle/>
          <a:p>
            <a:r>
              <a:rPr sz="1150" b="0">
                <a:solidFill>
                  <a:srgbClr val="2E2E2E"/>
                </a:solidFill>
                <a:latin typeface="Calibri"/>
              </a:rPr>
              <a:t>North America floriculture market is projected to register</a:t>
            </a:r>
          </a:p>
        </p:txBody>
      </p:sp>
      <p:pic>
        <p:nvPicPr>
          <p:cNvPr id="53" name="Picture 52" descr="lock.png"/>
          <p:cNvPicPr>
            <a:picLocks noChangeAspect="1"/>
          </p:cNvPicPr>
          <p:nvPr/>
        </p:nvPicPr>
        <p:blipFill>
          <a:blip r:embed="rId5"/>
          <a:stretch>
            <a:fillRect/>
          </a:stretch>
        </p:blipFill>
        <p:spPr>
          <a:xfrm>
            <a:off x="10668288" y="1389951"/>
            <a:ext cx="134549" cy="195707"/>
          </a:xfrm>
          <a:prstGeom prst="rect">
            <a:avLst/>
          </a:prstGeom>
        </p:spPr>
      </p:pic>
      <p:sp>
        <p:nvSpPr>
          <p:cNvPr id="54" name="TextBox 53"/>
          <p:cNvSpPr txBox="1"/>
          <p:nvPr/>
        </p:nvSpPr>
        <p:spPr>
          <a:xfrm>
            <a:off x="10843398" y="1400175"/>
            <a:ext cx="916843" cy="194310"/>
          </a:xfrm>
          <a:prstGeom prst="rect">
            <a:avLst/>
          </a:prstGeom>
          <a:noFill/>
        </p:spPr>
        <p:txBody>
          <a:bodyPr wrap="none" lIns="0" rIns="0" tIns="0" bIns="0">
            <a:spAutoFit/>
          </a:bodyPr>
          <a:lstStyle/>
          <a:p>
            <a:r>
              <a:rPr sz="1150" b="0">
                <a:solidFill>
                  <a:srgbClr val="2E2E2E"/>
                </a:solidFill>
                <a:latin typeface="Calibri"/>
              </a:rPr>
              <a:t>X higher value</a:t>
            </a:r>
          </a:p>
        </p:txBody>
      </p:sp>
      <p:sp>
        <p:nvSpPr>
          <p:cNvPr id="55" name="TextBox 54"/>
          <p:cNvSpPr txBox="1"/>
          <p:nvPr/>
        </p:nvSpPr>
        <p:spPr>
          <a:xfrm>
            <a:off x="7239000" y="1575435"/>
            <a:ext cx="4422899" cy="194310"/>
          </a:xfrm>
          <a:prstGeom prst="rect">
            <a:avLst/>
          </a:prstGeom>
          <a:noFill/>
        </p:spPr>
        <p:txBody>
          <a:bodyPr wrap="none" lIns="0" rIns="0" tIns="0" bIns="0">
            <a:spAutoFit/>
          </a:bodyPr>
          <a:lstStyle/>
          <a:p>
            <a:r>
              <a:rPr sz="1150" b="0">
                <a:solidFill>
                  <a:srgbClr val="2E2E2E"/>
                </a:solidFill>
                <a:latin typeface="Calibri"/>
              </a:rPr>
              <a:t>than Europe in 2036. Among floriculture by region, South Asia &amp; Pacific is</a:t>
            </a:r>
          </a:p>
        </p:txBody>
      </p:sp>
      <p:sp>
        <p:nvSpPr>
          <p:cNvPr id="56" name="TextBox 55"/>
          <p:cNvSpPr txBox="1"/>
          <p:nvPr/>
        </p:nvSpPr>
        <p:spPr>
          <a:xfrm>
            <a:off x="723900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57" name="Picture 56" descr="lock.png"/>
          <p:cNvPicPr>
            <a:picLocks noChangeAspect="1"/>
          </p:cNvPicPr>
          <p:nvPr/>
        </p:nvPicPr>
        <p:blipFill>
          <a:blip r:embed="rId5"/>
          <a:stretch>
            <a:fillRect/>
          </a:stretch>
        </p:blipFill>
        <p:spPr>
          <a:xfrm>
            <a:off x="9674161" y="1740471"/>
            <a:ext cx="134549" cy="195707"/>
          </a:xfrm>
          <a:prstGeom prst="rect">
            <a:avLst/>
          </a:prstGeom>
        </p:spPr>
      </p:pic>
      <p:sp>
        <p:nvSpPr>
          <p:cNvPr id="58" name="TextBox 57"/>
          <p:cNvSpPr txBox="1"/>
          <p:nvPr/>
        </p:nvSpPr>
        <p:spPr>
          <a:xfrm>
            <a:off x="98492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9" name="TextBox 58"/>
          <p:cNvSpPr txBox="1"/>
          <p:nvPr/>
        </p:nvSpPr>
        <p:spPr>
          <a:xfrm>
            <a:off x="7239000" y="197853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0" name="TextBox 59"/>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1" name="Picture 60" descr="lock.png"/>
          <p:cNvPicPr>
            <a:picLocks noChangeAspect="1"/>
          </p:cNvPicPr>
          <p:nvPr/>
        </p:nvPicPr>
        <p:blipFill>
          <a:blip r:embed="rId5"/>
          <a:stretch>
            <a:fillRect/>
          </a:stretch>
        </p:blipFill>
        <p:spPr>
          <a:xfrm>
            <a:off x="8106708" y="2143569"/>
            <a:ext cx="134549" cy="195707"/>
          </a:xfrm>
          <a:prstGeom prst="rect">
            <a:avLst/>
          </a:prstGeom>
        </p:spPr>
      </p:pic>
      <p:sp>
        <p:nvSpPr>
          <p:cNvPr id="62" name="TextBox 61"/>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3" name="Picture 62" descr="lock.png"/>
          <p:cNvPicPr>
            <a:picLocks noChangeAspect="1"/>
          </p:cNvPicPr>
          <p:nvPr/>
        </p:nvPicPr>
        <p:blipFill>
          <a:blip r:embed="rId5"/>
          <a:stretch>
            <a:fillRect/>
          </a:stretch>
        </p:blipFill>
        <p:spPr>
          <a:xfrm>
            <a:off x="9676961" y="2143569"/>
            <a:ext cx="134549" cy="195707"/>
          </a:xfrm>
          <a:prstGeom prst="rect">
            <a:avLst/>
          </a:prstGeom>
        </p:spPr>
      </p:pic>
      <p:sp>
        <p:nvSpPr>
          <p:cNvPr id="64" name="TextBox 63"/>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Share Analysis, By Region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(Mn Units)</a:t>
            </a:r>
          </a:p>
        </p:txBody>
      </p:sp>
      <p:graphicFrame>
        <p:nvGraphicFramePr>
          <p:cNvPr id="12" name="Table 11"/>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595196"/>
                <a:gridCol w="605412"/>
                <a:gridCol w="605412"/>
                <a:gridCol w="605412"/>
                <a:gridCol w="605412"/>
                <a:gridCol w="605412"/>
                <a:gridCol w="605412"/>
                <a:gridCol w="605412"/>
                <a:gridCol w="605412"/>
                <a:gridCol w="605412"/>
                <a:gridCol w="605412"/>
                <a:gridCol w="605412"/>
                <a:gridCol w="605412"/>
                <a:gridCol w="605412"/>
                <a:gridCol w="605412"/>
                <a:gridCol w="605412"/>
                <a:gridCol w="605412"/>
                <a:gridCol w="605412"/>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6908" y="2080450"/>
            <a:ext cx="366712" cy="533400"/>
          </a:xfrm>
          <a:prstGeom prst="rect">
            <a:avLst/>
          </a:prstGeom>
        </p:spPr>
      </p:pic>
      <p:sp>
        <p:nvSpPr>
          <p:cNvPr id="20" name="TextBox 19"/>
          <p:cNvSpPr txBox="1"/>
          <p:nvPr/>
        </p:nvSpPr>
        <p:spPr>
          <a:xfrm>
            <a:off x="276225" y="3971925"/>
            <a:ext cx="3779936" cy="194310"/>
          </a:xfrm>
          <a:prstGeom prst="rect">
            <a:avLst/>
          </a:prstGeom>
          <a:noFill/>
        </p:spPr>
        <p:txBody>
          <a:bodyPr wrap="none" lIns="0" rIns="0" tIns="0" bIns="0">
            <a:spAutoFit/>
          </a:bodyPr>
          <a:lstStyle/>
          <a:p>
            <a:r>
              <a:rPr sz="1150" b="0">
                <a:solidFill>
                  <a:srgbClr val="2E2E2E"/>
                </a:solidFill>
                <a:latin typeface="Calibri"/>
              </a:rPr>
              <a:t>South Asia &amp; Pacific floriculture market is projected to register</a:t>
            </a:r>
          </a:p>
        </p:txBody>
      </p:sp>
      <p:pic>
        <p:nvPicPr>
          <p:cNvPr id="21" name="Picture 20" descr="lock.png"/>
          <p:cNvPicPr>
            <a:picLocks noChangeAspect="1"/>
          </p:cNvPicPr>
          <p:nvPr/>
        </p:nvPicPr>
        <p:blipFill>
          <a:blip r:embed="rId4"/>
          <a:stretch>
            <a:fillRect/>
          </a:stretch>
        </p:blipFill>
        <p:spPr>
          <a:xfrm>
            <a:off x="4005315" y="3961701"/>
            <a:ext cx="134549" cy="195707"/>
          </a:xfrm>
          <a:prstGeom prst="rect">
            <a:avLst/>
          </a:prstGeom>
        </p:spPr>
      </p:pic>
      <p:sp>
        <p:nvSpPr>
          <p:cNvPr id="22" name="TextBox 21"/>
          <p:cNvSpPr txBox="1"/>
          <p:nvPr/>
        </p:nvSpPr>
        <p:spPr>
          <a:xfrm>
            <a:off x="4180424" y="3971925"/>
            <a:ext cx="7708720" cy="194310"/>
          </a:xfrm>
          <a:prstGeom prst="rect">
            <a:avLst/>
          </a:prstGeom>
          <a:noFill/>
        </p:spPr>
        <p:txBody>
          <a:bodyPr wrap="none" lIns="0" rIns="0" tIns="0" bIns="0">
            <a:spAutoFit/>
          </a:bodyPr>
          <a:lstStyle/>
          <a:p>
            <a:r>
              <a:rPr sz="1150" b="0">
                <a:solidFill>
                  <a:srgbClr val="2E2E2E"/>
                </a:solidFill>
                <a:latin typeface="Calibri"/>
              </a:rPr>
              <a:t>X higher volume than Europe in 2036. Among floriculture by region, South Asia &amp; Pacific is expected to witness the highest CAGR</a:t>
            </a:r>
          </a:p>
        </p:txBody>
      </p:sp>
      <p:sp>
        <p:nvSpPr>
          <p:cNvPr id="23" name="TextBox 22"/>
          <p:cNvSpPr txBox="1"/>
          <p:nvPr/>
        </p:nvSpPr>
        <p:spPr>
          <a:xfrm>
            <a:off x="276225" y="414718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24" name="Picture 23" descr="lock.png"/>
          <p:cNvPicPr>
            <a:picLocks noChangeAspect="1"/>
          </p:cNvPicPr>
          <p:nvPr/>
        </p:nvPicPr>
        <p:blipFill>
          <a:blip r:embed="rId4"/>
          <a:stretch>
            <a:fillRect/>
          </a:stretch>
        </p:blipFill>
        <p:spPr>
          <a:xfrm>
            <a:off x="423097" y="4136961"/>
            <a:ext cx="134549" cy="195707"/>
          </a:xfrm>
          <a:prstGeom prst="rect">
            <a:avLst/>
          </a:prstGeom>
        </p:spPr>
      </p:pic>
      <p:sp>
        <p:nvSpPr>
          <p:cNvPr id="25" name="TextBox 24"/>
          <p:cNvSpPr txBox="1"/>
          <p:nvPr/>
        </p:nvSpPr>
        <p:spPr>
          <a:xfrm>
            <a:off x="598206"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364799"/>
            <a:ext cx="134549" cy="195707"/>
          </a:xfrm>
          <a:prstGeom prst="rect">
            <a:avLst/>
          </a:prstGeom>
        </p:spPr>
      </p:pic>
      <p:sp>
        <p:nvSpPr>
          <p:cNvPr id="28" name="TextBox 27"/>
          <p:cNvSpPr txBox="1"/>
          <p:nvPr/>
        </p:nvSpPr>
        <p:spPr>
          <a:xfrm>
            <a:off x="6447052"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364799"/>
            <a:ext cx="134549" cy="195707"/>
          </a:xfrm>
          <a:prstGeom prst="rect">
            <a:avLst/>
          </a:prstGeom>
        </p:spPr>
      </p:pic>
      <p:sp>
        <p:nvSpPr>
          <p:cNvPr id="30" name="TextBox 29"/>
          <p:cNvSpPr txBox="1"/>
          <p:nvPr/>
        </p:nvSpPr>
        <p:spPr>
          <a:xfrm>
            <a:off x="8017304" y="4375022"/>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364799"/>
            <a:ext cx="134549" cy="195707"/>
          </a:xfrm>
          <a:prstGeom prst="rect">
            <a:avLst/>
          </a:prstGeom>
        </p:spPr>
      </p:pic>
      <p:sp>
        <p:nvSpPr>
          <p:cNvPr id="32" name="TextBox 31"/>
          <p:cNvSpPr txBox="1"/>
          <p:nvPr/>
        </p:nvSpPr>
        <p:spPr>
          <a:xfrm>
            <a:off x="11128213" y="4375022"/>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4550282"/>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4540059"/>
            <a:ext cx="134549" cy="195707"/>
          </a:xfrm>
          <a:prstGeom prst="rect">
            <a:avLst/>
          </a:prstGeom>
        </p:spPr>
      </p:pic>
      <p:sp>
        <p:nvSpPr>
          <p:cNvPr id="35" name="TextBox 34"/>
          <p:cNvSpPr txBox="1"/>
          <p:nvPr/>
        </p:nvSpPr>
        <p:spPr>
          <a:xfrm>
            <a:off x="2783536"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595196"/>
                <a:gridCol w="605412"/>
                <a:gridCol w="605412"/>
                <a:gridCol w="605412"/>
                <a:gridCol w="605412"/>
                <a:gridCol w="605412"/>
                <a:gridCol w="605412"/>
                <a:gridCol w="605412"/>
                <a:gridCol w="605412"/>
                <a:gridCol w="605412"/>
                <a:gridCol w="605412"/>
                <a:gridCol w="605412"/>
                <a:gridCol w="605412"/>
                <a:gridCol w="605412"/>
                <a:gridCol w="605412"/>
                <a:gridCol w="605412"/>
                <a:gridCol w="605412"/>
                <a:gridCol w="605412"/>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6908" y="2080450"/>
            <a:ext cx="366712" cy="533400"/>
          </a:xfrm>
          <a:prstGeom prst="rect">
            <a:avLst/>
          </a:prstGeom>
        </p:spPr>
      </p:pic>
      <p:sp>
        <p:nvSpPr>
          <p:cNvPr id="20" name="TextBox 19"/>
          <p:cNvSpPr txBox="1"/>
          <p:nvPr/>
        </p:nvSpPr>
        <p:spPr>
          <a:xfrm>
            <a:off x="276225" y="3971925"/>
            <a:ext cx="3480134" cy="194310"/>
          </a:xfrm>
          <a:prstGeom prst="rect">
            <a:avLst/>
          </a:prstGeom>
          <a:noFill/>
        </p:spPr>
        <p:txBody>
          <a:bodyPr wrap="none" lIns="0" rIns="0" tIns="0" bIns="0">
            <a:spAutoFit/>
          </a:bodyPr>
          <a:lstStyle/>
          <a:p>
            <a:r>
              <a:rPr sz="1150" b="0">
                <a:solidFill>
                  <a:srgbClr val="2E2E2E"/>
                </a:solidFill>
                <a:latin typeface="Calibri"/>
              </a:rPr>
              <a:t>North America floriculture market is projected to register</a:t>
            </a:r>
          </a:p>
        </p:txBody>
      </p:sp>
      <p:pic>
        <p:nvPicPr>
          <p:cNvPr id="21" name="Picture 20" descr="lock.png"/>
          <p:cNvPicPr>
            <a:picLocks noChangeAspect="1"/>
          </p:cNvPicPr>
          <p:nvPr/>
        </p:nvPicPr>
        <p:blipFill>
          <a:blip r:embed="rId4"/>
          <a:stretch>
            <a:fillRect/>
          </a:stretch>
        </p:blipFill>
        <p:spPr>
          <a:xfrm>
            <a:off x="3705513" y="3961701"/>
            <a:ext cx="134549" cy="195707"/>
          </a:xfrm>
          <a:prstGeom prst="rect">
            <a:avLst/>
          </a:prstGeom>
        </p:spPr>
      </p:pic>
      <p:sp>
        <p:nvSpPr>
          <p:cNvPr id="22" name="TextBox 21"/>
          <p:cNvSpPr txBox="1"/>
          <p:nvPr/>
        </p:nvSpPr>
        <p:spPr>
          <a:xfrm>
            <a:off x="3880623" y="3971925"/>
            <a:ext cx="7739528" cy="194310"/>
          </a:xfrm>
          <a:prstGeom prst="rect">
            <a:avLst/>
          </a:prstGeom>
          <a:noFill/>
        </p:spPr>
        <p:txBody>
          <a:bodyPr wrap="none" lIns="0" rIns="0" tIns="0" bIns="0">
            <a:spAutoFit/>
          </a:bodyPr>
          <a:lstStyle/>
          <a:p>
            <a:r>
              <a:rPr sz="1150" b="0">
                <a:solidFill>
                  <a:srgbClr val="2E2E2E"/>
                </a:solidFill>
                <a:latin typeface="Calibri"/>
              </a:rPr>
              <a:t>X higher value than Europe in 2036. Among floriculture by region, South Asia &amp; Pacific is expected to witness the highest CAGR of</a:t>
            </a:r>
          </a:p>
        </p:txBody>
      </p:sp>
      <p:pic>
        <p:nvPicPr>
          <p:cNvPr id="23" name="Picture 22" descr="lock.png"/>
          <p:cNvPicPr>
            <a:picLocks noChangeAspect="1"/>
          </p:cNvPicPr>
          <p:nvPr/>
        </p:nvPicPr>
        <p:blipFill>
          <a:blip r:embed="rId4"/>
          <a:stretch>
            <a:fillRect/>
          </a:stretch>
        </p:blipFill>
        <p:spPr>
          <a:xfrm>
            <a:off x="262145" y="4136961"/>
            <a:ext cx="134549" cy="195707"/>
          </a:xfrm>
          <a:prstGeom prst="rect">
            <a:avLst/>
          </a:prstGeom>
        </p:spPr>
      </p:pic>
      <p:sp>
        <p:nvSpPr>
          <p:cNvPr id="24" name="TextBox 23"/>
          <p:cNvSpPr txBox="1"/>
          <p:nvPr/>
        </p:nvSpPr>
        <p:spPr>
          <a:xfrm>
            <a:off x="437254"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6" name="Picture 25" descr="lock.png"/>
          <p:cNvPicPr>
            <a:picLocks noChangeAspect="1"/>
          </p:cNvPicPr>
          <p:nvPr/>
        </p:nvPicPr>
        <p:blipFill>
          <a:blip r:embed="rId4"/>
          <a:stretch>
            <a:fillRect/>
          </a:stretch>
        </p:blipFill>
        <p:spPr>
          <a:xfrm>
            <a:off x="5767043" y="4364799"/>
            <a:ext cx="134549" cy="195707"/>
          </a:xfrm>
          <a:prstGeom prst="rect">
            <a:avLst/>
          </a:prstGeom>
        </p:spPr>
      </p:pic>
      <p:sp>
        <p:nvSpPr>
          <p:cNvPr id="27" name="TextBox 26"/>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7337296" y="4364799"/>
            <a:ext cx="134549" cy="195707"/>
          </a:xfrm>
          <a:prstGeom prst="rect">
            <a:avLst/>
          </a:prstGeom>
        </p:spPr>
      </p:pic>
      <p:sp>
        <p:nvSpPr>
          <p:cNvPr id="29" name="TextBox 28"/>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(Mn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and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and Africa</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47785"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85910" y="1266825"/>
            <a:ext cx="3442331" cy="288711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85910" y="4153944"/>
            <a:ext cx="3442331" cy="241830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928241" y="1266825"/>
            <a:ext cx="2852375" cy="2244484"/>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80616" y="1266825"/>
            <a:ext cx="2173259" cy="224448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928241" y="3511309"/>
            <a:ext cx="2445628" cy="1639976"/>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928241" y="5151284"/>
            <a:ext cx="2445628" cy="1420966"/>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373869" y="3511309"/>
            <a:ext cx="1301341" cy="211550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75210" y="3511309"/>
            <a:ext cx="1278665" cy="2115506"/>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373869" y="5626814"/>
            <a:ext cx="2580006" cy="945436"/>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707579"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5052637" y="2710384"/>
            <a:ext cx="308877" cy="449275"/>
          </a:xfrm>
          <a:prstGeom prst="rect">
            <a:avLst/>
          </a:prstGeom>
        </p:spPr>
      </p:pic>
      <p:pic>
        <p:nvPicPr>
          <p:cNvPr id="25" name="Picture 24" descr="lock.png"/>
          <p:cNvPicPr>
            <a:picLocks noChangeAspect="1"/>
          </p:cNvPicPr>
          <p:nvPr/>
        </p:nvPicPr>
        <p:blipFill>
          <a:blip r:embed="rId4"/>
          <a:stretch>
            <a:fillRect/>
          </a:stretch>
        </p:blipFill>
        <p:spPr>
          <a:xfrm>
            <a:off x="5052637" y="5363097"/>
            <a:ext cx="308877" cy="449275"/>
          </a:xfrm>
          <a:prstGeom prst="rect">
            <a:avLst/>
          </a:prstGeom>
        </p:spPr>
      </p:pic>
      <p:pic>
        <p:nvPicPr>
          <p:cNvPr id="26" name="Picture 25" descr="lock.png"/>
          <p:cNvPicPr>
            <a:picLocks noChangeAspect="1"/>
          </p:cNvPicPr>
          <p:nvPr/>
        </p:nvPicPr>
        <p:blipFill>
          <a:blip r:embed="rId4"/>
          <a:stretch>
            <a:fillRect/>
          </a:stretch>
        </p:blipFill>
        <p:spPr>
          <a:xfrm>
            <a:off x="8199990" y="2389067"/>
            <a:ext cx="308877" cy="449275"/>
          </a:xfrm>
          <a:prstGeom prst="rect">
            <a:avLst/>
          </a:prstGeom>
        </p:spPr>
      </p:pic>
      <p:pic>
        <p:nvPicPr>
          <p:cNvPr id="27" name="Picture 26" descr="lock.png"/>
          <p:cNvPicPr>
            <a:picLocks noChangeAspect="1"/>
          </p:cNvPicPr>
          <p:nvPr/>
        </p:nvPicPr>
        <p:blipFill>
          <a:blip r:embed="rId4"/>
          <a:stretch>
            <a:fillRect/>
          </a:stretch>
        </p:blipFill>
        <p:spPr>
          <a:xfrm>
            <a:off x="10712807" y="2389067"/>
            <a:ext cx="308877" cy="449275"/>
          </a:xfrm>
          <a:prstGeom prst="rect">
            <a:avLst/>
          </a:prstGeom>
        </p:spPr>
      </p:pic>
      <p:pic>
        <p:nvPicPr>
          <p:cNvPr id="28" name="Picture 27" descr="lock.png"/>
          <p:cNvPicPr>
            <a:picLocks noChangeAspect="1"/>
          </p:cNvPicPr>
          <p:nvPr/>
        </p:nvPicPr>
        <p:blipFill>
          <a:blip r:embed="rId4"/>
          <a:stretch>
            <a:fillRect/>
          </a:stretch>
        </p:blipFill>
        <p:spPr>
          <a:xfrm>
            <a:off x="7996616" y="4331297"/>
            <a:ext cx="308877" cy="449275"/>
          </a:xfrm>
          <a:prstGeom prst="rect">
            <a:avLst/>
          </a:prstGeom>
        </p:spPr>
      </p:pic>
      <p:pic>
        <p:nvPicPr>
          <p:cNvPr id="29" name="Picture 28" descr="lock.png"/>
          <p:cNvPicPr>
            <a:picLocks noChangeAspect="1"/>
          </p:cNvPicPr>
          <p:nvPr/>
        </p:nvPicPr>
        <p:blipFill>
          <a:blip r:embed="rId4"/>
          <a:stretch>
            <a:fillRect/>
          </a:stretch>
        </p:blipFill>
        <p:spPr>
          <a:xfrm>
            <a:off x="7996616" y="5861766"/>
            <a:ext cx="308877" cy="449275"/>
          </a:xfrm>
          <a:prstGeom prst="rect">
            <a:avLst/>
          </a:prstGeom>
        </p:spPr>
      </p:pic>
      <p:pic>
        <p:nvPicPr>
          <p:cNvPr id="30" name="Picture 29" descr="lock.png"/>
          <p:cNvPicPr>
            <a:picLocks noChangeAspect="1"/>
          </p:cNvPicPr>
          <p:nvPr/>
        </p:nvPicPr>
        <p:blipFill>
          <a:blip r:embed="rId4"/>
          <a:stretch>
            <a:fillRect/>
          </a:stretch>
        </p:blipFill>
        <p:spPr>
          <a:xfrm>
            <a:off x="9870101" y="4569062"/>
            <a:ext cx="308877" cy="449275"/>
          </a:xfrm>
          <a:prstGeom prst="rect">
            <a:avLst/>
          </a:prstGeom>
        </p:spPr>
      </p:pic>
      <p:pic>
        <p:nvPicPr>
          <p:cNvPr id="31" name="Picture 30" descr="lock.png"/>
          <p:cNvPicPr>
            <a:picLocks noChangeAspect="1"/>
          </p:cNvPicPr>
          <p:nvPr/>
        </p:nvPicPr>
        <p:blipFill>
          <a:blip r:embed="rId4"/>
          <a:stretch>
            <a:fillRect/>
          </a:stretch>
        </p:blipFill>
        <p:spPr>
          <a:xfrm>
            <a:off x="11160104" y="4569062"/>
            <a:ext cx="308877" cy="449275"/>
          </a:xfrm>
          <a:prstGeom prst="rect">
            <a:avLst/>
          </a:prstGeom>
        </p:spPr>
      </p:pic>
      <p:pic>
        <p:nvPicPr>
          <p:cNvPr id="32" name="Picture 31" descr="lock.png"/>
          <p:cNvPicPr>
            <a:picLocks noChangeAspect="1"/>
          </p:cNvPicPr>
          <p:nvPr/>
        </p:nvPicPr>
        <p:blipFill>
          <a:blip r:embed="rId4"/>
          <a:stretch>
            <a:fillRect/>
          </a:stretch>
        </p:blipFill>
        <p:spPr>
          <a:xfrm>
            <a:off x="10509433" y="6099532"/>
            <a:ext cx="308877" cy="44927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Flower Species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Cultivation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Foliage &amp; Greens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Bedding &amp; Garden Flowering Plants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Flowers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Potted Flowering Plants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1_580_605E5C.png"/>
          <p:cNvPicPr>
            <a:picLocks noChangeAspect="1"/>
          </p:cNvPicPr>
          <p:nvPr/>
        </p:nvPicPr>
        <p:blipFill>
          <a:blip r:embed="rId4"/>
          <a:stretch>
            <a:fillRect/>
          </a:stretch>
        </p:blipFill>
        <p:spPr>
          <a:xfrm>
            <a:off x="2369684" y="2286582"/>
            <a:ext cx="1409020" cy="361950"/>
          </a:xfrm>
          <a:prstGeom prst="rect">
            <a:avLst/>
          </a:prstGeom>
        </p:spPr>
      </p:pic>
      <p:pic>
        <p:nvPicPr>
          <p:cNvPr id="64" name="Picture 63" descr="20_194_605E5C.png"/>
          <p:cNvPicPr>
            <a:picLocks noChangeAspect="1"/>
          </p:cNvPicPr>
          <p:nvPr/>
        </p:nvPicPr>
        <p:blipFill>
          <a:blip r:embed="rId5"/>
          <a:stretch>
            <a:fillRect/>
          </a:stretch>
        </p:blipFill>
        <p:spPr>
          <a:xfrm>
            <a:off x="2369684" y="2779432"/>
            <a:ext cx="1409020" cy="361950"/>
          </a:xfrm>
          <a:prstGeom prst="rect">
            <a:avLst/>
          </a:prstGeom>
        </p:spPr>
      </p:pic>
      <p:pic>
        <p:nvPicPr>
          <p:cNvPr id="65" name="Picture 64" descr="5_7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1_197_605E5C.png"/>
          <p:cNvPicPr>
            <a:picLocks noChangeAspect="1"/>
          </p:cNvPicPr>
          <p:nvPr/>
        </p:nvPicPr>
        <p:blipFill>
          <a:blip r:embed="rId7"/>
          <a:stretch>
            <a:fillRect/>
          </a:stretch>
        </p:blipFill>
        <p:spPr>
          <a:xfrm>
            <a:off x="4898572" y="2286582"/>
            <a:ext cx="1409020" cy="361950"/>
          </a:xfrm>
          <a:prstGeom prst="rect">
            <a:avLst/>
          </a:prstGeom>
        </p:spPr>
      </p:pic>
      <p:pic>
        <p:nvPicPr>
          <p:cNvPr id="67" name="Picture 66" descr="14_504_605E5C.png"/>
          <p:cNvPicPr>
            <a:picLocks noChangeAspect="1"/>
          </p:cNvPicPr>
          <p:nvPr/>
        </p:nvPicPr>
        <p:blipFill>
          <a:blip r:embed="rId8"/>
          <a:stretch>
            <a:fillRect/>
          </a:stretch>
        </p:blipFill>
        <p:spPr>
          <a:xfrm>
            <a:off x="4898572" y="2779432"/>
            <a:ext cx="1409020" cy="361950"/>
          </a:xfrm>
          <a:prstGeom prst="rect">
            <a:avLst/>
          </a:prstGeom>
        </p:spPr>
      </p:pic>
      <p:pic>
        <p:nvPicPr>
          <p:cNvPr id="68" name="Picture 67" descr="2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0_896_605E5C.png"/>
          <p:cNvPicPr>
            <a:picLocks noChangeAspect="1"/>
          </p:cNvPicPr>
          <p:nvPr/>
        </p:nvPicPr>
        <p:blipFill>
          <a:blip r:embed="rId10"/>
          <a:stretch>
            <a:fillRect/>
          </a:stretch>
        </p:blipFill>
        <p:spPr>
          <a:xfrm>
            <a:off x="7427459" y="2286582"/>
            <a:ext cx="1409020" cy="361950"/>
          </a:xfrm>
          <a:prstGeom prst="rect">
            <a:avLst/>
          </a:prstGeom>
        </p:spPr>
      </p:pic>
      <p:pic>
        <p:nvPicPr>
          <p:cNvPr id="70" name="Picture 69" descr="21_157_605E5C.png"/>
          <p:cNvPicPr>
            <a:picLocks noChangeAspect="1"/>
          </p:cNvPicPr>
          <p:nvPr/>
        </p:nvPicPr>
        <p:blipFill>
          <a:blip r:embed="rId11"/>
          <a:stretch>
            <a:fillRect/>
          </a:stretch>
        </p:blipFill>
        <p:spPr>
          <a:xfrm>
            <a:off x="7427459" y="2779432"/>
            <a:ext cx="1409020" cy="361950"/>
          </a:xfrm>
          <a:prstGeom prst="rect">
            <a:avLst/>
          </a:prstGeom>
        </p:spPr>
      </p:pic>
      <p:pic>
        <p:nvPicPr>
          <p:cNvPr id="71" name="Picture 70" descr="6_9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8_026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12_638_605E5C.png"/>
          <p:cNvPicPr>
            <a:picLocks noChangeAspect="1"/>
          </p:cNvPicPr>
          <p:nvPr/>
        </p:nvPicPr>
        <p:blipFill>
          <a:blip r:embed="rId14"/>
          <a:stretch>
            <a:fillRect/>
          </a:stretch>
        </p:blipFill>
        <p:spPr>
          <a:xfrm>
            <a:off x="9956346" y="2779432"/>
            <a:ext cx="1409020" cy="361950"/>
          </a:xfrm>
          <a:prstGeom prst="rect">
            <a:avLst/>
          </a:prstGeom>
        </p:spPr>
      </p:pic>
      <p:pic>
        <p:nvPicPr>
          <p:cNvPr id="74" name="Picture 73" descr="4_6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886571" cy="186689"/>
          </a:xfrm>
          <a:prstGeom prst="rect">
            <a:avLst/>
          </a:prstGeom>
          <a:noFill/>
        </p:spPr>
        <p:txBody>
          <a:bodyPr wrap="none" lIns="0" rIns="0" tIns="0" bIns="0">
            <a:spAutoFit/>
          </a:bodyPr>
          <a:lstStyle/>
          <a:p>
            <a:r>
              <a:rPr sz="1100" b="0">
                <a:solidFill>
                  <a:srgbClr val="2E2E2E"/>
                </a:solidFill>
                <a:latin typeface="Calibri"/>
              </a:rPr>
              <a:t>Among floriculture by product type, flower bulbs,</a:t>
            </a:r>
          </a:p>
        </p:txBody>
      </p:sp>
      <p:sp>
        <p:nvSpPr>
          <p:cNvPr id="80" name="TextBox 79"/>
          <p:cNvSpPr txBox="1"/>
          <p:nvPr/>
        </p:nvSpPr>
        <p:spPr>
          <a:xfrm>
            <a:off x="485775" y="4397077"/>
            <a:ext cx="2882478" cy="186689"/>
          </a:xfrm>
          <a:prstGeom prst="rect">
            <a:avLst/>
          </a:prstGeom>
          <a:noFill/>
        </p:spPr>
        <p:txBody>
          <a:bodyPr wrap="none" lIns="0" rIns="0" tIns="0" bIns="0">
            <a:spAutoFit/>
          </a:bodyPr>
          <a:lstStyle/>
          <a:p>
            <a:r>
              <a:rPr sz="1100" b="0">
                <a:solidFill>
                  <a:srgbClr val="2E2E2E"/>
                </a:solidFill>
                <a:latin typeface="Calibri"/>
              </a:rPr>
              <a:t>corms, rhizomes &amp; tubers segment is expected to</a:t>
            </a:r>
          </a:p>
        </p:txBody>
      </p:sp>
      <p:sp>
        <p:nvSpPr>
          <p:cNvPr id="81" name="TextBox 8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82" name="Picture 81" descr="lock.png"/>
          <p:cNvPicPr>
            <a:picLocks noChangeAspect="1"/>
          </p:cNvPicPr>
          <p:nvPr/>
        </p:nvPicPr>
        <p:blipFill>
          <a:blip r:embed="rId16"/>
          <a:stretch>
            <a:fillRect/>
          </a:stretch>
        </p:blipFill>
        <p:spPr>
          <a:xfrm>
            <a:off x="2108919" y="4554938"/>
            <a:ext cx="128699" cy="187198"/>
          </a:xfrm>
          <a:prstGeom prst="rect">
            <a:avLst/>
          </a:prstGeom>
        </p:spPr>
      </p:pic>
      <p:sp>
        <p:nvSpPr>
          <p:cNvPr id="83" name="TextBox 8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84" name="TextBox 83"/>
          <p:cNvSpPr txBox="1"/>
          <p:nvPr/>
        </p:nvSpPr>
        <p:spPr>
          <a:xfrm>
            <a:off x="485775" y="4732357"/>
            <a:ext cx="2783978" cy="186689"/>
          </a:xfrm>
          <a:prstGeom prst="rect">
            <a:avLst/>
          </a:prstGeom>
          <a:noFill/>
        </p:spPr>
        <p:txBody>
          <a:bodyPr wrap="none" lIns="0" rIns="0" tIns="0" bIns="0">
            <a:spAutoFit/>
          </a:bodyPr>
          <a:lstStyle/>
          <a:p>
            <a:r>
              <a:rPr sz="1100" b="0">
                <a:solidFill>
                  <a:srgbClr val="2E2E2E"/>
                </a:solidFill>
                <a:latin typeface="Calibri"/>
              </a:rPr>
              <a:t>period. In terms of value share by product type,</a:t>
            </a:r>
          </a:p>
        </p:txBody>
      </p:sp>
      <p:sp>
        <p:nvSpPr>
          <p:cNvPr id="85" name="TextBox 84"/>
          <p:cNvSpPr txBox="1"/>
          <p:nvPr/>
        </p:nvSpPr>
        <p:spPr>
          <a:xfrm>
            <a:off x="485775" y="4899997"/>
            <a:ext cx="2857103" cy="186689"/>
          </a:xfrm>
          <a:prstGeom prst="rect">
            <a:avLst/>
          </a:prstGeom>
          <a:noFill/>
        </p:spPr>
        <p:txBody>
          <a:bodyPr wrap="none" lIns="0" rIns="0" tIns="0" bIns="0">
            <a:spAutoFit/>
          </a:bodyPr>
          <a:lstStyle/>
          <a:p>
            <a:r>
              <a:rPr sz="1100" b="0">
                <a:solidFill>
                  <a:srgbClr val="2E2E2E"/>
                </a:solidFill>
                <a:latin typeface="Calibri"/>
              </a:rPr>
              <a:t>the cut flowers segment is expected to dominate</a:t>
            </a:r>
          </a:p>
        </p:txBody>
      </p:sp>
      <p:sp>
        <p:nvSpPr>
          <p:cNvPr id="86" name="TextBox 85"/>
          <p:cNvSpPr txBox="1"/>
          <p:nvPr/>
        </p:nvSpPr>
        <p:spPr>
          <a:xfrm>
            <a:off x="485775" y="5067637"/>
            <a:ext cx="1181248" cy="186689"/>
          </a:xfrm>
          <a:prstGeom prst="rect">
            <a:avLst/>
          </a:prstGeom>
          <a:noFill/>
        </p:spPr>
        <p:txBody>
          <a:bodyPr wrap="none" lIns="0" rIns="0" tIns="0" bIns="0">
            <a:spAutoFit/>
          </a:bodyPr>
          <a:lstStyle/>
          <a:p>
            <a:r>
              <a:rPr sz="1100" b="0">
                <a:solidFill>
                  <a:srgbClr val="2E2E2E"/>
                </a:solidFill>
                <a:latin typeface="Calibri"/>
              </a:rPr>
              <a:t>the market, gaining</a:t>
            </a:r>
          </a:p>
        </p:txBody>
      </p:sp>
      <p:pic>
        <p:nvPicPr>
          <p:cNvPr id="87" name="Picture 86" descr="lock.png"/>
          <p:cNvPicPr>
            <a:picLocks noChangeAspect="1"/>
          </p:cNvPicPr>
          <p:nvPr/>
        </p:nvPicPr>
        <p:blipFill>
          <a:blip r:embed="rId16"/>
          <a:stretch>
            <a:fillRect/>
          </a:stretch>
        </p:blipFill>
        <p:spPr>
          <a:xfrm>
            <a:off x="1615075" y="5057858"/>
            <a:ext cx="128699" cy="187198"/>
          </a:xfrm>
          <a:prstGeom prst="rect">
            <a:avLst/>
          </a:prstGeom>
        </p:spPr>
      </p:pic>
      <p:sp>
        <p:nvSpPr>
          <p:cNvPr id="88" name="TextBox 87"/>
          <p:cNvSpPr txBox="1"/>
          <p:nvPr/>
        </p:nvSpPr>
        <p:spPr>
          <a:xfrm>
            <a:off x="1782571"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9" name="Picture 88" descr="lock.png"/>
          <p:cNvPicPr>
            <a:picLocks noChangeAspect="1"/>
          </p:cNvPicPr>
          <p:nvPr/>
        </p:nvPicPr>
        <p:blipFill>
          <a:blip r:embed="rId16"/>
          <a:stretch>
            <a:fillRect/>
          </a:stretch>
        </p:blipFill>
        <p:spPr>
          <a:xfrm>
            <a:off x="472307" y="5225498"/>
            <a:ext cx="128699" cy="187198"/>
          </a:xfrm>
          <a:prstGeom prst="rect">
            <a:avLst/>
          </a:prstGeom>
        </p:spPr>
      </p:pic>
      <p:sp>
        <p:nvSpPr>
          <p:cNvPr id="90" name="TextBox 89"/>
          <p:cNvSpPr txBox="1"/>
          <p:nvPr/>
        </p:nvSpPr>
        <p:spPr>
          <a:xfrm>
            <a:off x="63980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453209"/>
            <a:ext cx="2565424" cy="186689"/>
          </a:xfrm>
          <a:prstGeom prst="rect">
            <a:avLst/>
          </a:prstGeom>
          <a:noFill/>
        </p:spPr>
        <p:txBody>
          <a:bodyPr wrap="none" lIns="0" rIns="0" tIns="0" bIns="0">
            <a:spAutoFit/>
          </a:bodyPr>
          <a:lstStyle/>
          <a:p>
            <a:r>
              <a:rPr sz="1100" b="0">
                <a:solidFill>
                  <a:srgbClr val="2E2E2E"/>
                </a:solidFill>
                <a:latin typeface="Calibri"/>
              </a:rPr>
              <a:t>Cut flowers segment is projected to register</a:t>
            </a:r>
          </a:p>
        </p:txBody>
      </p:sp>
      <p:pic>
        <p:nvPicPr>
          <p:cNvPr id="92" name="Picture 91" descr="lock.png"/>
          <p:cNvPicPr>
            <a:picLocks noChangeAspect="1"/>
          </p:cNvPicPr>
          <p:nvPr/>
        </p:nvPicPr>
        <p:blipFill>
          <a:blip r:embed="rId16"/>
          <a:stretch>
            <a:fillRect/>
          </a:stretch>
        </p:blipFill>
        <p:spPr>
          <a:xfrm>
            <a:off x="2999251" y="5443430"/>
            <a:ext cx="128699" cy="187198"/>
          </a:xfrm>
          <a:prstGeom prst="rect">
            <a:avLst/>
          </a:prstGeom>
        </p:spPr>
      </p:pic>
      <p:sp>
        <p:nvSpPr>
          <p:cNvPr id="93" name="TextBox 92"/>
          <p:cNvSpPr txBox="1"/>
          <p:nvPr/>
        </p:nvSpPr>
        <p:spPr>
          <a:xfrm>
            <a:off x="3166747"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94" name="TextBox 93"/>
          <p:cNvSpPr txBox="1"/>
          <p:nvPr/>
        </p:nvSpPr>
        <p:spPr>
          <a:xfrm>
            <a:off x="485775" y="5620849"/>
            <a:ext cx="2894483" cy="186689"/>
          </a:xfrm>
          <a:prstGeom prst="rect">
            <a:avLst/>
          </a:prstGeom>
          <a:noFill/>
        </p:spPr>
        <p:txBody>
          <a:bodyPr wrap="none" lIns="0" rIns="0" tIns="0" bIns="0">
            <a:spAutoFit/>
          </a:bodyPr>
          <a:lstStyle/>
          <a:p>
            <a:r>
              <a:rPr sz="1100" b="0">
                <a:solidFill>
                  <a:srgbClr val="2E2E2E"/>
                </a:solidFill>
                <a:latin typeface="Calibri"/>
              </a:rPr>
              <a:t>higher value than cut foliage &amp; greens segment in</a:t>
            </a:r>
          </a:p>
        </p:txBody>
      </p:sp>
      <p:sp>
        <p:nvSpPr>
          <p:cNvPr id="95" name="TextBox 94"/>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96" name="TextBox 95"/>
          <p:cNvSpPr txBox="1"/>
          <p:nvPr/>
        </p:nvSpPr>
        <p:spPr>
          <a:xfrm>
            <a:off x="3838575" y="4229437"/>
            <a:ext cx="1422965" cy="186689"/>
          </a:xfrm>
          <a:prstGeom prst="rect">
            <a:avLst/>
          </a:prstGeom>
          <a:noFill/>
        </p:spPr>
        <p:txBody>
          <a:bodyPr wrap="none" lIns="0" rIns="0" tIns="0" bIns="0">
            <a:spAutoFit/>
          </a:bodyPr>
          <a:lstStyle/>
          <a:p>
            <a:r>
              <a:rPr sz="1100" b="0">
                <a:solidFill>
                  <a:srgbClr val="2E2E2E"/>
                </a:solidFill>
                <a:latin typeface="Calibri"/>
              </a:rPr>
              <a:t>● Cut Foliage &amp; Greens:</a:t>
            </a:r>
          </a:p>
        </p:txBody>
      </p:sp>
      <p:pic>
        <p:nvPicPr>
          <p:cNvPr id="97" name="Picture 96" descr="lock.png"/>
          <p:cNvPicPr>
            <a:picLocks noChangeAspect="1"/>
          </p:cNvPicPr>
          <p:nvPr/>
        </p:nvPicPr>
        <p:blipFill>
          <a:blip r:embed="rId16"/>
          <a:stretch>
            <a:fillRect/>
          </a:stretch>
        </p:blipFill>
        <p:spPr>
          <a:xfrm>
            <a:off x="5209592" y="4219658"/>
            <a:ext cx="128699" cy="187198"/>
          </a:xfrm>
          <a:prstGeom prst="rect">
            <a:avLst/>
          </a:prstGeom>
        </p:spPr>
      </p:pic>
      <p:sp>
        <p:nvSpPr>
          <p:cNvPr id="98" name="TextBox 97"/>
          <p:cNvSpPr txBox="1"/>
          <p:nvPr/>
        </p:nvSpPr>
        <p:spPr>
          <a:xfrm>
            <a:off x="537708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6"/>
          <a:stretch>
            <a:fillRect/>
          </a:stretch>
        </p:blipFill>
        <p:spPr>
          <a:xfrm>
            <a:off x="6236538" y="4219658"/>
            <a:ext cx="128699" cy="187198"/>
          </a:xfrm>
          <a:prstGeom prst="rect">
            <a:avLst/>
          </a:prstGeom>
        </p:spPr>
      </p:pic>
      <p:sp>
        <p:nvSpPr>
          <p:cNvPr id="100" name="TextBox 99"/>
          <p:cNvSpPr txBox="1"/>
          <p:nvPr/>
        </p:nvSpPr>
        <p:spPr>
          <a:xfrm>
            <a:off x="6404033"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1" name="TextBox 10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2" name="TextBox 101"/>
          <p:cNvSpPr txBox="1"/>
          <p:nvPr/>
        </p:nvSpPr>
        <p:spPr>
          <a:xfrm>
            <a:off x="3838575" y="4615009"/>
            <a:ext cx="2241277" cy="186689"/>
          </a:xfrm>
          <a:prstGeom prst="rect">
            <a:avLst/>
          </a:prstGeom>
          <a:noFill/>
        </p:spPr>
        <p:txBody>
          <a:bodyPr wrap="none" lIns="0" rIns="0" tIns="0" bIns="0">
            <a:spAutoFit/>
          </a:bodyPr>
          <a:lstStyle/>
          <a:p>
            <a:r>
              <a:rPr sz="1100" b="0">
                <a:solidFill>
                  <a:srgbClr val="2E2E2E"/>
                </a:solidFill>
                <a:latin typeface="Calibri"/>
              </a:rPr>
              <a:t>● Bedding &amp; Garden Flowering Plants:</a:t>
            </a:r>
          </a:p>
        </p:txBody>
      </p:sp>
      <p:pic>
        <p:nvPicPr>
          <p:cNvPr id="103" name="Picture 102" descr="lock.png"/>
          <p:cNvPicPr>
            <a:picLocks noChangeAspect="1"/>
          </p:cNvPicPr>
          <p:nvPr/>
        </p:nvPicPr>
        <p:blipFill>
          <a:blip r:embed="rId16"/>
          <a:stretch>
            <a:fillRect/>
          </a:stretch>
        </p:blipFill>
        <p:spPr>
          <a:xfrm>
            <a:off x="6027903" y="4605230"/>
            <a:ext cx="128699" cy="187198"/>
          </a:xfrm>
          <a:prstGeom prst="rect">
            <a:avLst/>
          </a:prstGeom>
        </p:spPr>
      </p:pic>
      <p:sp>
        <p:nvSpPr>
          <p:cNvPr id="104" name="TextBox 103"/>
          <p:cNvSpPr txBox="1"/>
          <p:nvPr/>
        </p:nvSpPr>
        <p:spPr>
          <a:xfrm>
            <a:off x="6195399"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5" name="Picture 104" descr="lock.png"/>
          <p:cNvPicPr>
            <a:picLocks noChangeAspect="1"/>
          </p:cNvPicPr>
          <p:nvPr/>
        </p:nvPicPr>
        <p:blipFill>
          <a:blip r:embed="rId16"/>
          <a:stretch>
            <a:fillRect/>
          </a:stretch>
        </p:blipFill>
        <p:spPr>
          <a:xfrm>
            <a:off x="7054849" y="4605230"/>
            <a:ext cx="128699" cy="187198"/>
          </a:xfrm>
          <a:prstGeom prst="rect">
            <a:avLst/>
          </a:prstGeom>
        </p:spPr>
      </p:pic>
      <p:sp>
        <p:nvSpPr>
          <p:cNvPr id="106" name="TextBox 105"/>
          <p:cNvSpPr txBox="1"/>
          <p:nvPr/>
        </p:nvSpPr>
        <p:spPr>
          <a:xfrm>
            <a:off x="7222345"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7" name="TextBox 106"/>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08" name="TextBox 107"/>
          <p:cNvSpPr txBox="1"/>
          <p:nvPr/>
        </p:nvSpPr>
        <p:spPr>
          <a:xfrm>
            <a:off x="3838575" y="5000581"/>
            <a:ext cx="898847" cy="186689"/>
          </a:xfrm>
          <a:prstGeom prst="rect">
            <a:avLst/>
          </a:prstGeom>
          <a:noFill/>
        </p:spPr>
        <p:txBody>
          <a:bodyPr wrap="none" lIns="0" rIns="0" tIns="0" bIns="0">
            <a:spAutoFit/>
          </a:bodyPr>
          <a:lstStyle/>
          <a:p>
            <a:r>
              <a:rPr sz="1100" b="0">
                <a:solidFill>
                  <a:srgbClr val="2E2E2E"/>
                </a:solidFill>
                <a:latin typeface="Calibri"/>
              </a:rPr>
              <a:t>● Cut Flowers:</a:t>
            </a:r>
          </a:p>
        </p:txBody>
      </p:sp>
      <p:pic>
        <p:nvPicPr>
          <p:cNvPr id="109" name="Picture 108" descr="lock.png"/>
          <p:cNvPicPr>
            <a:picLocks noChangeAspect="1"/>
          </p:cNvPicPr>
          <p:nvPr/>
        </p:nvPicPr>
        <p:blipFill>
          <a:blip r:embed="rId16"/>
          <a:stretch>
            <a:fillRect/>
          </a:stretch>
        </p:blipFill>
        <p:spPr>
          <a:xfrm>
            <a:off x="4685474" y="4990801"/>
            <a:ext cx="128699" cy="187198"/>
          </a:xfrm>
          <a:prstGeom prst="rect">
            <a:avLst/>
          </a:prstGeom>
        </p:spPr>
      </p:pic>
      <p:sp>
        <p:nvSpPr>
          <p:cNvPr id="110" name="TextBox 109"/>
          <p:cNvSpPr txBox="1"/>
          <p:nvPr/>
        </p:nvSpPr>
        <p:spPr>
          <a:xfrm>
            <a:off x="4852969"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6"/>
          <a:stretch>
            <a:fillRect/>
          </a:stretch>
        </p:blipFill>
        <p:spPr>
          <a:xfrm>
            <a:off x="5712420" y="4990801"/>
            <a:ext cx="128699" cy="187198"/>
          </a:xfrm>
          <a:prstGeom prst="rect">
            <a:avLst/>
          </a:prstGeom>
        </p:spPr>
      </p:pic>
      <p:sp>
        <p:nvSpPr>
          <p:cNvPr id="112" name="TextBox 111"/>
          <p:cNvSpPr txBox="1"/>
          <p:nvPr/>
        </p:nvSpPr>
        <p:spPr>
          <a:xfrm>
            <a:off x="5879915"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3" name="TextBox 112"/>
          <p:cNvSpPr txBox="1"/>
          <p:nvPr/>
        </p:nvSpPr>
        <p:spPr>
          <a:xfrm>
            <a:off x="3838575" y="5218513"/>
            <a:ext cx="1581522" cy="186689"/>
          </a:xfrm>
          <a:prstGeom prst="rect">
            <a:avLst/>
          </a:prstGeom>
          <a:noFill/>
        </p:spPr>
        <p:txBody>
          <a:bodyPr wrap="none" lIns="0" rIns="0" tIns="0" bIns="0">
            <a:spAutoFit/>
          </a:bodyPr>
          <a:lstStyle/>
          <a:p>
            <a:r>
              <a:rPr sz="1100" b="0">
                <a:solidFill>
                  <a:srgbClr val="2E2E2E"/>
                </a:solidFill>
                <a:latin typeface="Calibri"/>
              </a:rPr>
              <a:t>● Potted Flowering Plants:</a:t>
            </a:r>
          </a:p>
        </p:txBody>
      </p:sp>
      <p:pic>
        <p:nvPicPr>
          <p:cNvPr id="114" name="Picture 113" descr="lock.png"/>
          <p:cNvPicPr>
            <a:picLocks noChangeAspect="1"/>
          </p:cNvPicPr>
          <p:nvPr/>
        </p:nvPicPr>
        <p:blipFill>
          <a:blip r:embed="rId16"/>
          <a:stretch>
            <a:fillRect/>
          </a:stretch>
        </p:blipFill>
        <p:spPr>
          <a:xfrm>
            <a:off x="5368148" y="5208733"/>
            <a:ext cx="128699" cy="187198"/>
          </a:xfrm>
          <a:prstGeom prst="rect">
            <a:avLst/>
          </a:prstGeom>
        </p:spPr>
      </p:pic>
      <p:sp>
        <p:nvSpPr>
          <p:cNvPr id="115" name="TextBox 114"/>
          <p:cNvSpPr txBox="1"/>
          <p:nvPr/>
        </p:nvSpPr>
        <p:spPr>
          <a:xfrm>
            <a:off x="5535644"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6"/>
          <a:stretch>
            <a:fillRect/>
          </a:stretch>
        </p:blipFill>
        <p:spPr>
          <a:xfrm>
            <a:off x="6395094" y="5208733"/>
            <a:ext cx="128699" cy="187198"/>
          </a:xfrm>
          <a:prstGeom prst="rect">
            <a:avLst/>
          </a:prstGeom>
        </p:spPr>
      </p:pic>
      <p:sp>
        <p:nvSpPr>
          <p:cNvPr id="117" name="TextBox 116"/>
          <p:cNvSpPr txBox="1"/>
          <p:nvPr/>
        </p:nvSpPr>
        <p:spPr>
          <a:xfrm>
            <a:off x="6562590" y="521851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19" name="TextBox 118"/>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20" name="Picture 119" descr="lock.png"/>
          <p:cNvPicPr>
            <a:picLocks noChangeAspect="1"/>
          </p:cNvPicPr>
          <p:nvPr/>
        </p:nvPicPr>
        <p:blipFill>
          <a:blip r:embed="rId16"/>
          <a:stretch>
            <a:fillRect/>
          </a:stretch>
        </p:blipFill>
        <p:spPr>
          <a:xfrm>
            <a:off x="9048826" y="6007677"/>
            <a:ext cx="134549" cy="195707"/>
          </a:xfrm>
          <a:prstGeom prst="rect">
            <a:avLst/>
          </a:prstGeom>
        </p:spPr>
      </p:pic>
      <p:sp>
        <p:nvSpPr>
          <p:cNvPr id="121" name="TextBox 120"/>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Young Plants &amp; Propagation Materi…</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333375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523875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Flower Bulbs, Corms, Rhizomes &amp; T…</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670560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8610600" y="1773916"/>
            <a:ext cx="3257550"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Potted Foliage Plants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10077450"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6" name="Picture 45" descr="6_770_605E5C.png"/>
          <p:cNvPicPr>
            <a:picLocks noChangeAspect="1"/>
          </p:cNvPicPr>
          <p:nvPr/>
        </p:nvPicPr>
        <p:blipFill>
          <a:blip r:embed="rId4"/>
          <a:stretch>
            <a:fillRect/>
          </a:stretch>
        </p:blipFill>
        <p:spPr>
          <a:xfrm>
            <a:off x="2897811" y="2286582"/>
            <a:ext cx="1195728" cy="361950"/>
          </a:xfrm>
          <a:prstGeom prst="rect">
            <a:avLst/>
          </a:prstGeom>
        </p:spPr>
      </p:pic>
      <p:pic>
        <p:nvPicPr>
          <p:cNvPr id="47" name="Picture 46" descr="9_383_605E5C.png"/>
          <p:cNvPicPr>
            <a:picLocks noChangeAspect="1"/>
          </p:cNvPicPr>
          <p:nvPr/>
        </p:nvPicPr>
        <p:blipFill>
          <a:blip r:embed="rId5"/>
          <a:stretch>
            <a:fillRect/>
          </a:stretch>
        </p:blipFill>
        <p:spPr>
          <a:xfrm>
            <a:off x="2897811" y="2779432"/>
            <a:ext cx="1195728" cy="361950"/>
          </a:xfrm>
          <a:prstGeom prst="rect">
            <a:avLst/>
          </a:prstGeom>
        </p:spPr>
      </p:pic>
      <p:pic>
        <p:nvPicPr>
          <p:cNvPr id="48" name="Picture 47" descr="3_3__605E5C.png"/>
          <p:cNvPicPr>
            <a:picLocks noChangeAspect="1"/>
          </p:cNvPicPr>
          <p:nvPr/>
        </p:nvPicPr>
        <p:blipFill>
          <a:blip r:embed="rId6"/>
          <a:stretch>
            <a:fillRect/>
          </a:stretch>
        </p:blipFill>
        <p:spPr>
          <a:xfrm>
            <a:off x="3004457" y="3272281"/>
            <a:ext cx="982436" cy="361950"/>
          </a:xfrm>
          <a:prstGeom prst="rect">
            <a:avLst/>
          </a:prstGeom>
        </p:spPr>
      </p:pic>
      <p:pic>
        <p:nvPicPr>
          <p:cNvPr id="49" name="Picture 48" descr="5_895_605E5C.png"/>
          <p:cNvPicPr>
            <a:picLocks noChangeAspect="1"/>
          </p:cNvPicPr>
          <p:nvPr/>
        </p:nvPicPr>
        <p:blipFill>
          <a:blip r:embed="rId7"/>
          <a:stretch>
            <a:fillRect/>
          </a:stretch>
        </p:blipFill>
        <p:spPr>
          <a:xfrm>
            <a:off x="6269661" y="2286582"/>
            <a:ext cx="1195728" cy="361950"/>
          </a:xfrm>
          <a:prstGeom prst="rect">
            <a:avLst/>
          </a:prstGeom>
        </p:spPr>
      </p:pic>
      <p:pic>
        <p:nvPicPr>
          <p:cNvPr id="50" name="Picture 49" descr="11_470_605E5C.png"/>
          <p:cNvPicPr>
            <a:picLocks noChangeAspect="1"/>
          </p:cNvPicPr>
          <p:nvPr/>
        </p:nvPicPr>
        <p:blipFill>
          <a:blip r:embed="rId8"/>
          <a:stretch>
            <a:fillRect/>
          </a:stretch>
        </p:blipFill>
        <p:spPr>
          <a:xfrm>
            <a:off x="6163015" y="2779432"/>
            <a:ext cx="1409020" cy="361950"/>
          </a:xfrm>
          <a:prstGeom prst="rect">
            <a:avLst/>
          </a:prstGeom>
        </p:spPr>
      </p:pic>
      <p:pic>
        <p:nvPicPr>
          <p:cNvPr id="51" name="Picture 50" descr="6_9__605E5C.png"/>
          <p:cNvPicPr>
            <a:picLocks noChangeAspect="1"/>
          </p:cNvPicPr>
          <p:nvPr/>
        </p:nvPicPr>
        <p:blipFill>
          <a:blip r:embed="rId9"/>
          <a:stretch>
            <a:fillRect/>
          </a:stretch>
        </p:blipFill>
        <p:spPr>
          <a:xfrm>
            <a:off x="6376307" y="3272281"/>
            <a:ext cx="982436" cy="361950"/>
          </a:xfrm>
          <a:prstGeom prst="rect">
            <a:avLst/>
          </a:prstGeom>
        </p:spPr>
      </p:pic>
      <p:pic>
        <p:nvPicPr>
          <p:cNvPr id="52" name="Picture 51" descr="5_635_605E5C.png"/>
          <p:cNvPicPr>
            <a:picLocks noChangeAspect="1"/>
          </p:cNvPicPr>
          <p:nvPr/>
        </p:nvPicPr>
        <p:blipFill>
          <a:blip r:embed="rId10"/>
          <a:stretch>
            <a:fillRect/>
          </a:stretch>
        </p:blipFill>
        <p:spPr>
          <a:xfrm>
            <a:off x="9641511" y="2286582"/>
            <a:ext cx="1195728" cy="361950"/>
          </a:xfrm>
          <a:prstGeom prst="rect">
            <a:avLst/>
          </a:prstGeom>
        </p:spPr>
      </p:pic>
      <p:pic>
        <p:nvPicPr>
          <p:cNvPr id="53" name="Picture 52" descr="8_388_605E5C.png"/>
          <p:cNvPicPr>
            <a:picLocks noChangeAspect="1"/>
          </p:cNvPicPr>
          <p:nvPr/>
        </p:nvPicPr>
        <p:blipFill>
          <a:blip r:embed="rId11"/>
          <a:stretch>
            <a:fillRect/>
          </a:stretch>
        </p:blipFill>
        <p:spPr>
          <a:xfrm>
            <a:off x="9641511" y="2779432"/>
            <a:ext cx="1195728" cy="361950"/>
          </a:xfrm>
          <a:prstGeom prst="rect">
            <a:avLst/>
          </a:prstGeom>
        </p:spPr>
      </p:pic>
      <p:pic>
        <p:nvPicPr>
          <p:cNvPr id="54" name="Picture 53" descr="4_1__605E5C.png"/>
          <p:cNvPicPr>
            <a:picLocks noChangeAspect="1"/>
          </p:cNvPicPr>
          <p:nvPr/>
        </p:nvPicPr>
        <p:blipFill>
          <a:blip r:embed="rId12"/>
          <a:stretch>
            <a:fillRect/>
          </a:stretch>
        </p:blipFill>
        <p:spPr>
          <a:xfrm>
            <a:off x="9748157" y="3272281"/>
            <a:ext cx="982436" cy="361950"/>
          </a:xfrm>
          <a:prstGeom prst="rect">
            <a:avLst/>
          </a:prstGeom>
        </p:spPr>
      </p:pic>
      <p:pic>
        <p:nvPicPr>
          <p:cNvPr id="55" name="Picture 54" descr="lock.png"/>
          <p:cNvPicPr>
            <a:picLocks noChangeAspect="1"/>
          </p:cNvPicPr>
          <p:nvPr/>
        </p:nvPicPr>
        <p:blipFill>
          <a:blip r:embed="rId13"/>
          <a:stretch>
            <a:fillRect/>
          </a:stretch>
        </p:blipFill>
        <p:spPr>
          <a:xfrm>
            <a:off x="3402330" y="2827057"/>
            <a:ext cx="183356" cy="266700"/>
          </a:xfrm>
          <a:prstGeom prst="rect">
            <a:avLst/>
          </a:prstGeom>
        </p:spPr>
      </p:pic>
      <p:pic>
        <p:nvPicPr>
          <p:cNvPr id="56" name="Picture 55" descr="lock.png"/>
          <p:cNvPicPr>
            <a:picLocks noChangeAspect="1"/>
          </p:cNvPicPr>
          <p:nvPr/>
        </p:nvPicPr>
        <p:blipFill>
          <a:blip r:embed="rId13"/>
          <a:stretch>
            <a:fillRect/>
          </a:stretch>
        </p:blipFill>
        <p:spPr>
          <a:xfrm>
            <a:off x="6774180" y="2827057"/>
            <a:ext cx="183356" cy="266700"/>
          </a:xfrm>
          <a:prstGeom prst="rect">
            <a:avLst/>
          </a:prstGeom>
        </p:spPr>
      </p:pic>
      <p:pic>
        <p:nvPicPr>
          <p:cNvPr id="57" name="Picture 56" descr="lock.png"/>
          <p:cNvPicPr>
            <a:picLocks noChangeAspect="1"/>
          </p:cNvPicPr>
          <p:nvPr/>
        </p:nvPicPr>
        <p:blipFill>
          <a:blip r:embed="rId13"/>
          <a:stretch>
            <a:fillRect/>
          </a:stretch>
        </p:blipFill>
        <p:spPr>
          <a:xfrm>
            <a:off x="10146030" y="2827057"/>
            <a:ext cx="183356" cy="266700"/>
          </a:xfrm>
          <a:prstGeom prst="rect">
            <a:avLst/>
          </a:prstGeom>
        </p:spPr>
      </p:pic>
      <p:sp>
        <p:nvSpPr>
          <p:cNvPr id="58" name="TextBox 57"/>
          <p:cNvSpPr txBox="1"/>
          <p:nvPr/>
        </p:nvSpPr>
        <p:spPr>
          <a:xfrm>
            <a:off x="485775" y="4229437"/>
            <a:ext cx="2328862" cy="186689"/>
          </a:xfrm>
          <a:prstGeom prst="rect">
            <a:avLst/>
          </a:prstGeom>
          <a:noFill/>
        </p:spPr>
        <p:txBody>
          <a:bodyPr wrap="none" lIns="0" rIns="0" tIns="0" bIns="0">
            <a:spAutoFit/>
          </a:bodyPr>
          <a:lstStyle/>
          <a:p>
            <a:r>
              <a:rPr sz="1100" b="0">
                <a:solidFill>
                  <a:srgbClr val="2E2E2E"/>
                </a:solidFill>
                <a:latin typeface="Calibri"/>
              </a:rPr>
              <a:t>● Young Plants &amp; Propagation Material:</a:t>
            </a:r>
          </a:p>
        </p:txBody>
      </p:sp>
      <p:pic>
        <p:nvPicPr>
          <p:cNvPr id="59" name="Picture 58" descr="lock.png"/>
          <p:cNvPicPr>
            <a:picLocks noChangeAspect="1"/>
          </p:cNvPicPr>
          <p:nvPr/>
        </p:nvPicPr>
        <p:blipFill>
          <a:blip r:embed="rId13"/>
          <a:stretch>
            <a:fillRect/>
          </a:stretch>
        </p:blipFill>
        <p:spPr>
          <a:xfrm>
            <a:off x="2762689" y="4219658"/>
            <a:ext cx="128699" cy="187198"/>
          </a:xfrm>
          <a:prstGeom prst="rect">
            <a:avLst/>
          </a:prstGeom>
        </p:spPr>
      </p:pic>
      <p:sp>
        <p:nvSpPr>
          <p:cNvPr id="60" name="TextBox 59"/>
          <p:cNvSpPr txBox="1"/>
          <p:nvPr/>
        </p:nvSpPr>
        <p:spPr>
          <a:xfrm>
            <a:off x="293018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1" name="Picture 60" descr="lock.png"/>
          <p:cNvPicPr>
            <a:picLocks noChangeAspect="1"/>
          </p:cNvPicPr>
          <p:nvPr/>
        </p:nvPicPr>
        <p:blipFill>
          <a:blip r:embed="rId13"/>
          <a:stretch>
            <a:fillRect/>
          </a:stretch>
        </p:blipFill>
        <p:spPr>
          <a:xfrm>
            <a:off x="3789635" y="4219658"/>
            <a:ext cx="128699" cy="187198"/>
          </a:xfrm>
          <a:prstGeom prst="rect">
            <a:avLst/>
          </a:prstGeom>
        </p:spPr>
      </p:pic>
      <p:sp>
        <p:nvSpPr>
          <p:cNvPr id="62" name="TextBox 61"/>
          <p:cNvSpPr txBox="1"/>
          <p:nvPr/>
        </p:nvSpPr>
        <p:spPr>
          <a:xfrm>
            <a:off x="3957130"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3" name="TextBox 62"/>
          <p:cNvSpPr txBox="1"/>
          <p:nvPr/>
        </p:nvSpPr>
        <p:spPr>
          <a:xfrm>
            <a:off x="485775" y="4447369"/>
            <a:ext cx="2547962" cy="186689"/>
          </a:xfrm>
          <a:prstGeom prst="rect">
            <a:avLst/>
          </a:prstGeom>
          <a:noFill/>
        </p:spPr>
        <p:txBody>
          <a:bodyPr wrap="none" lIns="0" rIns="0" tIns="0" bIns="0">
            <a:spAutoFit/>
          </a:bodyPr>
          <a:lstStyle/>
          <a:p>
            <a:r>
              <a:rPr sz="1100" b="0">
                <a:solidFill>
                  <a:srgbClr val="2E2E2E"/>
                </a:solidFill>
                <a:latin typeface="Calibri"/>
              </a:rPr>
              <a:t>● Flower Bulbs, Corms, Rhizomes &amp; Tubers:</a:t>
            </a:r>
          </a:p>
        </p:txBody>
      </p:sp>
      <p:pic>
        <p:nvPicPr>
          <p:cNvPr id="64" name="Picture 63" descr="lock.png"/>
          <p:cNvPicPr>
            <a:picLocks noChangeAspect="1"/>
          </p:cNvPicPr>
          <p:nvPr/>
        </p:nvPicPr>
        <p:blipFill>
          <a:blip r:embed="rId13"/>
          <a:stretch>
            <a:fillRect/>
          </a:stretch>
        </p:blipFill>
        <p:spPr>
          <a:xfrm>
            <a:off x="2981788" y="4437590"/>
            <a:ext cx="128699" cy="187198"/>
          </a:xfrm>
          <a:prstGeom prst="rect">
            <a:avLst/>
          </a:prstGeom>
        </p:spPr>
      </p:pic>
      <p:sp>
        <p:nvSpPr>
          <p:cNvPr id="65" name="TextBox 64"/>
          <p:cNvSpPr txBox="1"/>
          <p:nvPr/>
        </p:nvSpPr>
        <p:spPr>
          <a:xfrm>
            <a:off x="3149284"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6" name="Picture 65" descr="lock.png"/>
          <p:cNvPicPr>
            <a:picLocks noChangeAspect="1"/>
          </p:cNvPicPr>
          <p:nvPr/>
        </p:nvPicPr>
        <p:blipFill>
          <a:blip r:embed="rId13"/>
          <a:stretch>
            <a:fillRect/>
          </a:stretch>
        </p:blipFill>
        <p:spPr>
          <a:xfrm>
            <a:off x="4008734" y="4437590"/>
            <a:ext cx="128699" cy="187198"/>
          </a:xfrm>
          <a:prstGeom prst="rect">
            <a:avLst/>
          </a:prstGeom>
        </p:spPr>
      </p:pic>
      <p:sp>
        <p:nvSpPr>
          <p:cNvPr id="67" name="TextBox 66"/>
          <p:cNvSpPr txBox="1"/>
          <p:nvPr/>
        </p:nvSpPr>
        <p:spPr>
          <a:xfrm>
            <a:off x="4176230"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68" name="TextBox 67"/>
          <p:cNvSpPr txBox="1"/>
          <p:nvPr/>
        </p:nvSpPr>
        <p:spPr>
          <a:xfrm>
            <a:off x="485775" y="4665301"/>
            <a:ext cx="1426239" cy="186689"/>
          </a:xfrm>
          <a:prstGeom prst="rect">
            <a:avLst/>
          </a:prstGeom>
          <a:noFill/>
        </p:spPr>
        <p:txBody>
          <a:bodyPr wrap="none" lIns="0" rIns="0" tIns="0" bIns="0">
            <a:spAutoFit/>
          </a:bodyPr>
          <a:lstStyle/>
          <a:p>
            <a:r>
              <a:rPr sz="1100" b="0">
                <a:solidFill>
                  <a:srgbClr val="2E2E2E"/>
                </a:solidFill>
                <a:latin typeface="Calibri"/>
              </a:rPr>
              <a:t>● Potted Foliage Plants:</a:t>
            </a:r>
          </a:p>
        </p:txBody>
      </p:sp>
      <p:pic>
        <p:nvPicPr>
          <p:cNvPr id="69" name="Picture 68" descr="lock.png"/>
          <p:cNvPicPr>
            <a:picLocks noChangeAspect="1"/>
          </p:cNvPicPr>
          <p:nvPr/>
        </p:nvPicPr>
        <p:blipFill>
          <a:blip r:embed="rId13"/>
          <a:stretch>
            <a:fillRect/>
          </a:stretch>
        </p:blipFill>
        <p:spPr>
          <a:xfrm>
            <a:off x="1860066" y="4655522"/>
            <a:ext cx="128699" cy="187198"/>
          </a:xfrm>
          <a:prstGeom prst="rect">
            <a:avLst/>
          </a:prstGeom>
        </p:spPr>
      </p:pic>
      <p:sp>
        <p:nvSpPr>
          <p:cNvPr id="70" name="TextBox 69"/>
          <p:cNvSpPr txBox="1"/>
          <p:nvPr/>
        </p:nvSpPr>
        <p:spPr>
          <a:xfrm>
            <a:off x="2027562"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1" name="Picture 70" descr="lock.png"/>
          <p:cNvPicPr>
            <a:picLocks noChangeAspect="1"/>
          </p:cNvPicPr>
          <p:nvPr/>
        </p:nvPicPr>
        <p:blipFill>
          <a:blip r:embed="rId13"/>
          <a:stretch>
            <a:fillRect/>
          </a:stretch>
        </p:blipFill>
        <p:spPr>
          <a:xfrm>
            <a:off x="2887012" y="4655522"/>
            <a:ext cx="128699" cy="187198"/>
          </a:xfrm>
          <a:prstGeom prst="rect">
            <a:avLst/>
          </a:prstGeom>
        </p:spPr>
      </p:pic>
      <p:sp>
        <p:nvSpPr>
          <p:cNvPr id="72" name="TextBox 71"/>
          <p:cNvSpPr txBox="1"/>
          <p:nvPr/>
        </p:nvSpPr>
        <p:spPr>
          <a:xfrm>
            <a:off x="3054508"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86716" cy="186689"/>
          </a:xfrm>
          <a:prstGeom prst="rect">
            <a:avLst/>
          </a:prstGeom>
          <a:noFill/>
        </p:spPr>
        <p:txBody>
          <a:bodyPr wrap="none" lIns="0" rIns="0" tIns="0" bIns="0">
            <a:spAutoFit/>
          </a:bodyPr>
          <a:lstStyle/>
          <a:p>
            <a:r>
              <a:rPr sz="1100" b="0">
                <a:solidFill>
                  <a:srgbClr val="2E2E2E"/>
                </a:solidFill>
                <a:latin typeface="Calibri"/>
              </a:rPr>
              <a:t>Cut flowers followed by cut foliage &amp; greens are expected to be the two most attractive product type segments in the global floriculture market in terms of value over the forecast period. Cut flowers and</a:t>
            </a:r>
          </a:p>
        </p:txBody>
      </p:sp>
      <p:sp>
        <p:nvSpPr>
          <p:cNvPr id="20" name="TextBox 19"/>
          <p:cNvSpPr txBox="1"/>
          <p:nvPr/>
        </p:nvSpPr>
        <p:spPr>
          <a:xfrm>
            <a:off x="257175" y="5861685"/>
            <a:ext cx="2568409" cy="186689"/>
          </a:xfrm>
          <a:prstGeom prst="rect">
            <a:avLst/>
          </a:prstGeom>
          <a:noFill/>
        </p:spPr>
        <p:txBody>
          <a:bodyPr wrap="none" lIns="0" rIns="0" tIns="0" bIns="0">
            <a:spAutoFit/>
          </a:bodyPr>
          <a:lstStyle/>
          <a:p>
            <a:r>
              <a:rPr sz="1100" b="0">
                <a:solidFill>
                  <a:srgbClr val="2E2E2E"/>
                </a:solidFill>
                <a:latin typeface="Calibri"/>
              </a:rPr>
              <a:t>cut foliage &amp; greens exhibit a CAGR index of</a:t>
            </a:r>
          </a:p>
        </p:txBody>
      </p:sp>
      <p:pic>
        <p:nvPicPr>
          <p:cNvPr id="21" name="Picture 20" descr="lock.png"/>
          <p:cNvPicPr>
            <a:picLocks noChangeAspect="1"/>
          </p:cNvPicPr>
          <p:nvPr/>
        </p:nvPicPr>
        <p:blipFill>
          <a:blip r:embed="rId6"/>
          <a:stretch>
            <a:fillRect/>
          </a:stretch>
        </p:blipFill>
        <p:spPr>
          <a:xfrm>
            <a:off x="2773635" y="5851905"/>
            <a:ext cx="128699" cy="187198"/>
          </a:xfrm>
          <a:prstGeom prst="rect">
            <a:avLst/>
          </a:prstGeom>
        </p:spPr>
      </p:pic>
      <p:sp>
        <p:nvSpPr>
          <p:cNvPr id="22" name="TextBox 21"/>
          <p:cNvSpPr txBox="1"/>
          <p:nvPr/>
        </p:nvSpPr>
        <p:spPr>
          <a:xfrm>
            <a:off x="294113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179025" y="5851905"/>
            <a:ext cx="128699" cy="187198"/>
          </a:xfrm>
          <a:prstGeom prst="rect">
            <a:avLst/>
          </a:prstGeom>
        </p:spPr>
      </p:pic>
      <p:sp>
        <p:nvSpPr>
          <p:cNvPr id="24" name="TextBox 23"/>
          <p:cNvSpPr txBox="1"/>
          <p:nvPr/>
        </p:nvSpPr>
        <p:spPr>
          <a:xfrm>
            <a:off x="3346521"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955495" y="5851905"/>
            <a:ext cx="128699" cy="187198"/>
          </a:xfrm>
          <a:prstGeom prst="rect">
            <a:avLst/>
          </a:prstGeom>
        </p:spPr>
      </p:pic>
      <p:sp>
        <p:nvSpPr>
          <p:cNvPr id="26" name="TextBox 25"/>
          <p:cNvSpPr txBox="1"/>
          <p:nvPr/>
        </p:nvSpPr>
        <p:spPr>
          <a:xfrm>
            <a:off x="512299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360885" y="5851905"/>
            <a:ext cx="128699" cy="187198"/>
          </a:xfrm>
          <a:prstGeom prst="rect">
            <a:avLst/>
          </a:prstGeom>
        </p:spPr>
      </p:pic>
      <p:sp>
        <p:nvSpPr>
          <p:cNvPr id="28" name="TextBox 27"/>
          <p:cNvSpPr txBox="1"/>
          <p:nvPr/>
        </p:nvSpPr>
        <p:spPr>
          <a:xfrm>
            <a:off x="552838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082785" y="5851905"/>
            <a:ext cx="128699" cy="187198"/>
          </a:xfrm>
          <a:prstGeom prst="rect">
            <a:avLst/>
          </a:prstGeom>
        </p:spPr>
      </p:pic>
      <p:sp>
        <p:nvSpPr>
          <p:cNvPr id="30" name="TextBox 29"/>
          <p:cNvSpPr txBox="1"/>
          <p:nvPr/>
        </p:nvSpPr>
        <p:spPr>
          <a:xfrm>
            <a:off x="8250281" y="5861685"/>
            <a:ext cx="3116039" cy="186689"/>
          </a:xfrm>
          <a:prstGeom prst="rect">
            <a:avLst/>
          </a:prstGeom>
          <a:noFill/>
        </p:spPr>
        <p:txBody>
          <a:bodyPr wrap="none" lIns="0" rIns="0" tIns="0" bIns="0">
            <a:spAutoFit/>
          </a:bodyPr>
          <a:lstStyle/>
          <a:p>
            <a:r>
              <a:rPr sz="1100" b="0">
                <a:solidFill>
                  <a:srgbClr val="2E2E2E"/>
                </a:solidFill>
                <a:latin typeface="Calibri"/>
              </a:rPr>
              <a:t>. The young plants &amp; propagation material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Cut Flowers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Potted Flowering Plants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Potted Foliage Plants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Bedding &amp; Garden Flowering Plants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Cut Foliage &amp; Greens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Young Plants &amp; Propagation Material</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Flower Bulbs, Corms, Rhizomes &amp; Tubers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Product Type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4162439" cy="194310"/>
          </a:xfrm>
          <a:prstGeom prst="rect">
            <a:avLst/>
          </a:prstGeom>
          <a:noFill/>
        </p:spPr>
        <p:txBody>
          <a:bodyPr wrap="none" lIns="0" rIns="0" tIns="0" bIns="0">
            <a:spAutoFit/>
          </a:bodyPr>
          <a:lstStyle/>
          <a:p>
            <a:r>
              <a:rPr sz="1150" b="0">
                <a:solidFill>
                  <a:srgbClr val="2E2E2E"/>
                </a:solidFill>
                <a:latin typeface="Calibri"/>
              </a:rPr>
              <a:t>By 2036, cut flowers segment is anticipated to witness an increase of</a:t>
            </a:r>
          </a:p>
        </p:txBody>
      </p:sp>
      <p:pic>
        <p:nvPicPr>
          <p:cNvPr id="28" name="Picture 27" descr="lock.png"/>
          <p:cNvPicPr>
            <a:picLocks noChangeAspect="1"/>
          </p:cNvPicPr>
          <p:nvPr/>
        </p:nvPicPr>
        <p:blipFill>
          <a:blip r:embed="rId7"/>
          <a:stretch>
            <a:fillRect/>
          </a:stretch>
        </p:blipFill>
        <p:spPr>
          <a:xfrm>
            <a:off x="10417143" y="4276026"/>
            <a:ext cx="134549" cy="195707"/>
          </a:xfrm>
          <a:prstGeom prst="rect">
            <a:avLst/>
          </a:prstGeom>
        </p:spPr>
      </p:pic>
      <p:sp>
        <p:nvSpPr>
          <p:cNvPr id="29" name="TextBox 28"/>
          <p:cNvSpPr txBox="1"/>
          <p:nvPr/>
        </p:nvSpPr>
        <p:spPr>
          <a:xfrm>
            <a:off x="10592253" y="4286250"/>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30" name="TextBox 29"/>
          <p:cNvSpPr txBox="1"/>
          <p:nvPr/>
        </p:nvSpPr>
        <p:spPr>
          <a:xfrm>
            <a:off x="6305550" y="4461510"/>
            <a:ext cx="5059870" cy="194310"/>
          </a:xfrm>
          <a:prstGeom prst="rect">
            <a:avLst/>
          </a:prstGeom>
          <a:noFill/>
        </p:spPr>
        <p:txBody>
          <a:bodyPr wrap="none" lIns="0" rIns="0" tIns="0" bIns="0">
            <a:spAutoFit/>
          </a:bodyPr>
          <a:lstStyle/>
          <a:p>
            <a:r>
              <a:rPr sz="1150" b="0">
                <a:solidFill>
                  <a:srgbClr val="2E2E2E"/>
                </a:solidFill>
                <a:latin typeface="Calibri"/>
              </a:rPr>
              <a:t>as compared to 2026. The cut flowers segment is expected to create an incremental</a:t>
            </a:r>
          </a:p>
        </p:txBody>
      </p:sp>
      <p:sp>
        <p:nvSpPr>
          <p:cNvPr id="31" name="TextBox 30"/>
          <p:cNvSpPr txBox="1"/>
          <p:nvPr/>
        </p:nvSpPr>
        <p:spPr>
          <a:xfrm>
            <a:off x="6305550" y="463677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626546"/>
            <a:ext cx="134549" cy="195707"/>
          </a:xfrm>
          <a:prstGeom prst="rect">
            <a:avLst/>
          </a:prstGeom>
        </p:spPr>
      </p:pic>
      <p:sp>
        <p:nvSpPr>
          <p:cNvPr id="33" name="TextBox 32"/>
          <p:cNvSpPr txBox="1"/>
          <p:nvPr/>
        </p:nvSpPr>
        <p:spPr>
          <a:xfrm>
            <a:off x="7638756" y="4636770"/>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34" name="TextBox 33"/>
          <p:cNvSpPr txBox="1"/>
          <p:nvPr/>
        </p:nvSpPr>
        <p:spPr>
          <a:xfrm>
            <a:off x="6305550" y="4864607"/>
            <a:ext cx="5428704" cy="194310"/>
          </a:xfrm>
          <a:prstGeom prst="rect">
            <a:avLst/>
          </a:prstGeom>
          <a:noFill/>
        </p:spPr>
        <p:txBody>
          <a:bodyPr wrap="none" lIns="0" rIns="0" tIns="0" bIns="0">
            <a:spAutoFit/>
          </a:bodyPr>
          <a:lstStyle/>
          <a:p>
            <a:r>
              <a:rPr sz="1150" b="0">
                <a:solidFill>
                  <a:srgbClr val="2E2E2E"/>
                </a:solidFill>
                <a:latin typeface="Calibri"/>
              </a:rPr>
              <a:t>The cut foliage &amp; greens segment is expected to create an incremental opportunity of US$</a:t>
            </a:r>
          </a:p>
        </p:txBody>
      </p:sp>
      <p:pic>
        <p:nvPicPr>
          <p:cNvPr id="35" name="Picture 34" descr="lock.png"/>
          <p:cNvPicPr>
            <a:picLocks noChangeAspect="1"/>
          </p:cNvPicPr>
          <p:nvPr/>
        </p:nvPicPr>
        <p:blipFill>
          <a:blip r:embed="rId7"/>
          <a:stretch>
            <a:fillRect/>
          </a:stretch>
        </p:blipFill>
        <p:spPr>
          <a:xfrm>
            <a:off x="6291470" y="5029644"/>
            <a:ext cx="134549" cy="195707"/>
          </a:xfrm>
          <a:prstGeom prst="rect">
            <a:avLst/>
          </a:prstGeom>
        </p:spPr>
      </p:pic>
      <p:sp>
        <p:nvSpPr>
          <p:cNvPr id="36" name="TextBox 35"/>
          <p:cNvSpPr txBox="1"/>
          <p:nvPr/>
        </p:nvSpPr>
        <p:spPr>
          <a:xfrm>
            <a:off x="6466579" y="5039867"/>
            <a:ext cx="497800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 The flower bulbs, corms,</a:t>
            </a:r>
          </a:p>
        </p:txBody>
      </p:sp>
      <p:sp>
        <p:nvSpPr>
          <p:cNvPr id="37" name="TextBox 36"/>
          <p:cNvSpPr txBox="1"/>
          <p:nvPr/>
        </p:nvSpPr>
        <p:spPr>
          <a:xfrm>
            <a:off x="6305550" y="5215127"/>
            <a:ext cx="5080694" cy="194310"/>
          </a:xfrm>
          <a:prstGeom prst="rect">
            <a:avLst/>
          </a:prstGeom>
          <a:noFill/>
        </p:spPr>
        <p:txBody>
          <a:bodyPr wrap="none" lIns="0" rIns="0" tIns="0" bIns="0">
            <a:spAutoFit/>
          </a:bodyPr>
          <a:lstStyle/>
          <a:p>
            <a:r>
              <a:rPr sz="1150" b="0">
                <a:solidFill>
                  <a:srgbClr val="2E2E2E"/>
                </a:solidFill>
                <a:latin typeface="Calibri"/>
              </a:rPr>
              <a:t>rhizomes &amp; tubers segment is expected to create an incremental opportunity of US$</a:t>
            </a:r>
          </a:p>
        </p:txBody>
      </p:sp>
      <p:pic>
        <p:nvPicPr>
          <p:cNvPr id="38" name="Picture 37" descr="lock.png"/>
          <p:cNvPicPr>
            <a:picLocks noChangeAspect="1"/>
          </p:cNvPicPr>
          <p:nvPr/>
        </p:nvPicPr>
        <p:blipFill>
          <a:blip r:embed="rId7"/>
          <a:stretch>
            <a:fillRect/>
          </a:stretch>
        </p:blipFill>
        <p:spPr>
          <a:xfrm>
            <a:off x="11335398" y="5204904"/>
            <a:ext cx="134549" cy="195707"/>
          </a:xfrm>
          <a:prstGeom prst="rect">
            <a:avLst/>
          </a:prstGeom>
        </p:spPr>
      </p:pic>
      <p:sp>
        <p:nvSpPr>
          <p:cNvPr id="39" name="TextBox 38"/>
          <p:cNvSpPr txBox="1"/>
          <p:nvPr/>
        </p:nvSpPr>
        <p:spPr>
          <a:xfrm>
            <a:off x="11510507" y="5215127"/>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40" name="TextBox 39"/>
          <p:cNvSpPr txBox="1"/>
          <p:nvPr/>
        </p:nvSpPr>
        <p:spPr>
          <a:xfrm>
            <a:off x="6305550" y="5390387"/>
            <a:ext cx="3249079" cy="194310"/>
          </a:xfrm>
          <a:prstGeom prst="rect">
            <a:avLst/>
          </a:prstGeom>
          <a:noFill/>
        </p:spPr>
        <p:txBody>
          <a:bodyPr wrap="none" lIns="0" rIns="0" tIns="0" bIns="0">
            <a:spAutoFit/>
          </a:bodyPr>
          <a:lstStyle/>
          <a:p>
            <a:r>
              <a:rPr sz="1150" b="0">
                <a:solidFill>
                  <a:srgbClr val="2E2E2E"/>
                </a:solidFill>
                <a:latin typeface="Calibri"/>
              </a:rPr>
              <a:t>for the overall floriculture market from 2026 to 2036.</a:t>
            </a:r>
          </a:p>
        </p:txBody>
      </p:sp>
      <p:sp>
        <p:nvSpPr>
          <p:cNvPr id="41"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2" name="Table 11"/>
          <p:cNvGraphicFramePr>
            <a:graphicFrameLocks noGrp="1"/>
          </p:cNvGraphicFramePr>
          <p:nvPr/>
        </p:nvGraphicFramePr>
        <p:xfrm>
          <a:off x="152400" y="1238250"/>
          <a:ext cx="11887207" cy="2219326"/>
        </p:xfrm>
        <a:graphic>
          <a:graphicData uri="http://schemas.openxmlformats.org/drawingml/2006/table">
            <a:tbl>
              <a:tblPr>
                <a:tableStyleId>{5C22544A-7EE6-4342-B048-85BDC9FD1C3A}</a:tableStyleId>
              </a:tblPr>
              <a:tblGrid>
                <a:gridCol w="2699309"/>
                <a:gridCol w="537726"/>
                <a:gridCol w="537726"/>
                <a:gridCol w="537726"/>
                <a:gridCol w="537726"/>
                <a:gridCol w="537726"/>
                <a:gridCol w="537726"/>
                <a:gridCol w="537726"/>
                <a:gridCol w="537726"/>
                <a:gridCol w="537726"/>
                <a:gridCol w="537726"/>
                <a:gridCol w="537726"/>
                <a:gridCol w="537726"/>
                <a:gridCol w="537726"/>
                <a:gridCol w="537726"/>
                <a:gridCol w="537726"/>
                <a:gridCol w="537726"/>
                <a:gridCol w="584282"/>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Type</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58968" y="2204276"/>
            <a:ext cx="366712" cy="533400"/>
          </a:xfrm>
          <a:prstGeom prst="rect">
            <a:avLst/>
          </a:prstGeom>
        </p:spPr>
      </p:pic>
      <p:sp>
        <p:nvSpPr>
          <p:cNvPr id="20" name="TextBox 19"/>
          <p:cNvSpPr txBox="1"/>
          <p:nvPr/>
        </p:nvSpPr>
        <p:spPr>
          <a:xfrm>
            <a:off x="276225" y="4219575"/>
            <a:ext cx="2678571" cy="194310"/>
          </a:xfrm>
          <a:prstGeom prst="rect">
            <a:avLst/>
          </a:prstGeom>
          <a:noFill/>
        </p:spPr>
        <p:txBody>
          <a:bodyPr wrap="none" lIns="0" rIns="0" tIns="0" bIns="0">
            <a:spAutoFit/>
          </a:bodyPr>
          <a:lstStyle/>
          <a:p>
            <a:r>
              <a:rPr sz="1150" b="0">
                <a:solidFill>
                  <a:srgbClr val="2E2E2E"/>
                </a:solidFill>
                <a:latin typeface="Calibri"/>
              </a:rPr>
              <a:t>Cut flowers segment is projected to register</a:t>
            </a:r>
          </a:p>
        </p:txBody>
      </p:sp>
      <p:pic>
        <p:nvPicPr>
          <p:cNvPr id="21" name="Picture 20" descr="lock.png"/>
          <p:cNvPicPr>
            <a:picLocks noChangeAspect="1"/>
          </p:cNvPicPr>
          <p:nvPr/>
        </p:nvPicPr>
        <p:blipFill>
          <a:blip r:embed="rId4"/>
          <a:stretch>
            <a:fillRect/>
          </a:stretch>
        </p:blipFill>
        <p:spPr>
          <a:xfrm>
            <a:off x="2903950" y="4209351"/>
            <a:ext cx="134549" cy="195707"/>
          </a:xfrm>
          <a:prstGeom prst="rect">
            <a:avLst/>
          </a:prstGeom>
        </p:spPr>
      </p:pic>
      <p:sp>
        <p:nvSpPr>
          <p:cNvPr id="22" name="TextBox 21"/>
          <p:cNvSpPr txBox="1"/>
          <p:nvPr/>
        </p:nvSpPr>
        <p:spPr>
          <a:xfrm>
            <a:off x="3079059" y="4219575"/>
            <a:ext cx="8697999" cy="194310"/>
          </a:xfrm>
          <a:prstGeom prst="rect">
            <a:avLst/>
          </a:prstGeom>
          <a:noFill/>
        </p:spPr>
        <p:txBody>
          <a:bodyPr wrap="none" lIns="0" rIns="0" tIns="0" bIns="0">
            <a:spAutoFit/>
          </a:bodyPr>
          <a:lstStyle/>
          <a:p>
            <a:r>
              <a:rPr sz="1150" b="0">
                <a:solidFill>
                  <a:srgbClr val="2E2E2E"/>
                </a:solidFill>
                <a:latin typeface="Calibri"/>
              </a:rPr>
              <a:t>X higher value than cut foliage &amp; greens segment in 2036. Among floriculture by product type, flower bulbs, corms, rhizomes &amp; tubers segment is</a:t>
            </a:r>
          </a:p>
        </p:txBody>
      </p:sp>
      <p:sp>
        <p:nvSpPr>
          <p:cNvPr id="23" name="TextBox 22"/>
          <p:cNvSpPr txBox="1"/>
          <p:nvPr/>
        </p:nvSpPr>
        <p:spPr>
          <a:xfrm>
            <a:off x="276225" y="43948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4384611"/>
            <a:ext cx="134549" cy="195707"/>
          </a:xfrm>
          <a:prstGeom prst="rect">
            <a:avLst/>
          </a:prstGeom>
        </p:spPr>
      </p:pic>
      <p:sp>
        <p:nvSpPr>
          <p:cNvPr id="25" name="TextBox 24"/>
          <p:cNvSpPr txBox="1"/>
          <p:nvPr/>
        </p:nvSpPr>
        <p:spPr>
          <a:xfrm>
            <a:off x="2886495"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6577992"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cut flowers segment is expected to dominate the market, gaining</a:t>
            </a:r>
          </a:p>
        </p:txBody>
      </p:sp>
      <p:pic>
        <p:nvPicPr>
          <p:cNvPr id="27" name="Picture 26" descr="lock.png"/>
          <p:cNvPicPr>
            <a:picLocks noChangeAspect="1"/>
          </p:cNvPicPr>
          <p:nvPr/>
        </p:nvPicPr>
        <p:blipFill>
          <a:blip r:embed="rId4"/>
          <a:stretch>
            <a:fillRect/>
          </a:stretch>
        </p:blipFill>
        <p:spPr>
          <a:xfrm>
            <a:off x="6803371" y="4612449"/>
            <a:ext cx="134549" cy="195707"/>
          </a:xfrm>
          <a:prstGeom prst="rect">
            <a:avLst/>
          </a:prstGeom>
        </p:spPr>
      </p:pic>
      <p:sp>
        <p:nvSpPr>
          <p:cNvPr id="28" name="TextBox 27"/>
          <p:cNvSpPr txBox="1"/>
          <p:nvPr/>
        </p:nvSpPr>
        <p:spPr>
          <a:xfrm>
            <a:off x="6978480"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373623" y="4612449"/>
            <a:ext cx="134549" cy="195707"/>
          </a:xfrm>
          <a:prstGeom prst="rect">
            <a:avLst/>
          </a:prstGeom>
        </p:spPr>
      </p:pic>
      <p:sp>
        <p:nvSpPr>
          <p:cNvPr id="30" name="TextBox 29"/>
          <p:cNvSpPr txBox="1"/>
          <p:nvPr/>
        </p:nvSpPr>
        <p:spPr>
          <a:xfrm>
            <a:off x="8548732" y="4622672"/>
            <a:ext cx="2892511" cy="194310"/>
          </a:xfrm>
          <a:prstGeom prst="rect">
            <a:avLst/>
          </a:prstGeom>
          <a:noFill/>
        </p:spPr>
        <p:txBody>
          <a:bodyPr wrap="none" lIns="0" rIns="0" tIns="0" bIns="0">
            <a:spAutoFit/>
          </a:bodyPr>
          <a:lstStyle/>
          <a:p>
            <a:r>
              <a:rPr sz="1150" b="0">
                <a:solidFill>
                  <a:srgbClr val="2E2E2E"/>
                </a:solidFill>
                <a:latin typeface="Calibri"/>
              </a:rPr>
              <a:t>share by 2036. The bedding &amp; garden flowering</a:t>
            </a:r>
          </a:p>
        </p:txBody>
      </p:sp>
      <p:sp>
        <p:nvSpPr>
          <p:cNvPr id="31" name="TextBox 30"/>
          <p:cNvSpPr txBox="1"/>
          <p:nvPr/>
        </p:nvSpPr>
        <p:spPr>
          <a:xfrm>
            <a:off x="276225" y="4797932"/>
            <a:ext cx="2121755" cy="194310"/>
          </a:xfrm>
          <a:prstGeom prst="rect">
            <a:avLst/>
          </a:prstGeom>
          <a:noFill/>
        </p:spPr>
        <p:txBody>
          <a:bodyPr wrap="none" lIns="0" rIns="0" tIns="0" bIns="0">
            <a:spAutoFit/>
          </a:bodyPr>
          <a:lstStyle/>
          <a:p>
            <a:r>
              <a:rPr sz="1150" b="0">
                <a:solidFill>
                  <a:srgbClr val="2E2E2E"/>
                </a:solidFill>
                <a:latin typeface="Calibri"/>
              </a:rPr>
              <a:t>plants segment is expected to lose</a:t>
            </a:r>
          </a:p>
        </p:txBody>
      </p:sp>
      <p:pic>
        <p:nvPicPr>
          <p:cNvPr id="32" name="Picture 31" descr="lock.png"/>
          <p:cNvPicPr>
            <a:picLocks noChangeAspect="1"/>
          </p:cNvPicPr>
          <p:nvPr/>
        </p:nvPicPr>
        <p:blipFill>
          <a:blip r:embed="rId4"/>
          <a:stretch>
            <a:fillRect/>
          </a:stretch>
        </p:blipFill>
        <p:spPr>
          <a:xfrm>
            <a:off x="2347134" y="4787709"/>
            <a:ext cx="134549" cy="195707"/>
          </a:xfrm>
          <a:prstGeom prst="rect">
            <a:avLst/>
          </a:prstGeom>
        </p:spPr>
      </p:pic>
      <p:sp>
        <p:nvSpPr>
          <p:cNvPr id="33" name="TextBox 32"/>
          <p:cNvSpPr txBox="1"/>
          <p:nvPr/>
        </p:nvSpPr>
        <p:spPr>
          <a:xfrm>
            <a:off x="2522243"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109748" y="4787709"/>
            <a:ext cx="134549" cy="195707"/>
          </a:xfrm>
          <a:prstGeom prst="rect">
            <a:avLst/>
          </a:prstGeom>
        </p:spPr>
      </p:pic>
      <p:sp>
        <p:nvSpPr>
          <p:cNvPr id="35" name="TextBox 34"/>
          <p:cNvSpPr txBox="1"/>
          <p:nvPr/>
        </p:nvSpPr>
        <p:spPr>
          <a:xfrm>
            <a:off x="5284857"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67463"/>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6270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865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Potted Foliage Plants</a:t>
            </a:r>
          </a:p>
        </p:txBody>
      </p:sp>
      <p:sp>
        <p:nvSpPr>
          <p:cNvPr id="18" name="BPS Value 1"/>
          <p:cNvSpPr txBox="1"/>
          <p:nvPr/>
        </p:nvSpPr>
        <p:spPr>
          <a:xfrm>
            <a:off x="6896100" y="184841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83146"/>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2783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021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Young Plants &amp; Propagation Material</a:t>
            </a:r>
          </a:p>
        </p:txBody>
      </p:sp>
      <p:sp>
        <p:nvSpPr>
          <p:cNvPr id="22" name="BPS Value 2"/>
          <p:cNvSpPr txBox="1"/>
          <p:nvPr/>
        </p:nvSpPr>
        <p:spPr>
          <a:xfrm>
            <a:off x="6896100" y="226409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77093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76616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6899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Flower Bulbs, Corms, Rhizomes &amp; Tubers</a:t>
            </a:r>
          </a:p>
        </p:txBody>
      </p:sp>
      <p:sp>
        <p:nvSpPr>
          <p:cNvPr id="26" name="BPS Value 3"/>
          <p:cNvSpPr txBox="1"/>
          <p:nvPr/>
        </p:nvSpPr>
        <p:spPr>
          <a:xfrm>
            <a:off x="6896100" y="275188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33487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33010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25390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Potted Flowering Plants</a:t>
            </a:r>
          </a:p>
        </p:txBody>
      </p:sp>
      <p:sp>
        <p:nvSpPr>
          <p:cNvPr id="30" name="BPS Value 4"/>
          <p:cNvSpPr txBox="1"/>
          <p:nvPr/>
        </p:nvSpPr>
        <p:spPr>
          <a:xfrm>
            <a:off x="6896100" y="331582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96978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9650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8888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Bedding &amp; Garden Flowering Plants</a:t>
            </a:r>
          </a:p>
        </p:txBody>
      </p:sp>
      <p:sp>
        <p:nvSpPr>
          <p:cNvPr id="34" name="BPS Value 5"/>
          <p:cNvSpPr txBox="1"/>
          <p:nvPr/>
        </p:nvSpPr>
        <p:spPr>
          <a:xfrm>
            <a:off x="6896100" y="395073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478144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477668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470048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Foliage &amp; Greens</a:t>
            </a:r>
          </a:p>
        </p:txBody>
      </p:sp>
      <p:sp>
        <p:nvSpPr>
          <p:cNvPr id="38" name="BPS Value 6"/>
          <p:cNvSpPr txBox="1"/>
          <p:nvPr/>
        </p:nvSpPr>
        <p:spPr>
          <a:xfrm>
            <a:off x="6896100" y="476239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574873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574397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56677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Flowers</a:t>
            </a:r>
          </a:p>
        </p:txBody>
      </p:sp>
      <p:sp>
        <p:nvSpPr>
          <p:cNvPr id="42" name="BPS Value 7"/>
          <p:cNvSpPr txBox="1"/>
          <p:nvPr/>
        </p:nvSpPr>
        <p:spPr>
          <a:xfrm>
            <a:off x="6896100" y="572968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Type</a:t>
            </a:r>
          </a:p>
        </p:txBody>
      </p:sp>
      <p:sp>
        <p:nvSpPr>
          <p:cNvPr id="45" name="Rectangle 4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557843" y="3833622"/>
            <a:ext cx="275034" cy="400050"/>
          </a:xfrm>
          <a:prstGeom prst="rect">
            <a:avLst/>
          </a:prstGeom>
        </p:spPr>
      </p:pic>
      <p:sp>
        <p:nvSpPr>
          <p:cNvPr id="49" name="TextBox 48"/>
          <p:cNvSpPr txBox="1"/>
          <p:nvPr/>
        </p:nvSpPr>
        <p:spPr>
          <a:xfrm>
            <a:off x="7829550" y="1400175"/>
            <a:ext cx="4023258" cy="194310"/>
          </a:xfrm>
          <a:prstGeom prst="rect">
            <a:avLst/>
          </a:prstGeom>
          <a:noFill/>
        </p:spPr>
        <p:txBody>
          <a:bodyPr wrap="none" lIns="0" rIns="0" tIns="0" bIns="0">
            <a:spAutoFit/>
          </a:bodyPr>
          <a:lstStyle/>
          <a:p>
            <a:r>
              <a:rPr sz="1150" b="0">
                <a:solidFill>
                  <a:srgbClr val="2E2E2E"/>
                </a:solidFill>
                <a:latin typeface="Calibri"/>
              </a:rPr>
              <a:t>Among floriculture by product type, flower bulbs, corms, rhizomes</a:t>
            </a:r>
          </a:p>
        </p:txBody>
      </p:sp>
      <p:sp>
        <p:nvSpPr>
          <p:cNvPr id="50" name="TextBox 49"/>
          <p:cNvSpPr txBox="1"/>
          <p:nvPr/>
        </p:nvSpPr>
        <p:spPr>
          <a:xfrm>
            <a:off x="7829550" y="1575435"/>
            <a:ext cx="3705752" cy="194310"/>
          </a:xfrm>
          <a:prstGeom prst="rect">
            <a:avLst/>
          </a:prstGeom>
          <a:noFill/>
        </p:spPr>
        <p:txBody>
          <a:bodyPr wrap="none" lIns="0" rIns="0" tIns="0" bIns="0">
            <a:spAutoFit/>
          </a:bodyPr>
          <a:lstStyle/>
          <a:p>
            <a:r>
              <a:rPr sz="1150" b="0">
                <a:solidFill>
                  <a:srgbClr val="2E2E2E"/>
                </a:solidFill>
                <a:latin typeface="Calibri"/>
              </a:rPr>
              <a:t>&amp; tubers segment is expected to witness the highest CAGR of</a:t>
            </a:r>
          </a:p>
        </p:txBody>
      </p:sp>
      <p:pic>
        <p:nvPicPr>
          <p:cNvPr id="51" name="Picture 50" descr="lock.png"/>
          <p:cNvPicPr>
            <a:picLocks noChangeAspect="1"/>
          </p:cNvPicPr>
          <p:nvPr/>
        </p:nvPicPr>
        <p:blipFill>
          <a:blip r:embed="rId5"/>
          <a:stretch>
            <a:fillRect/>
          </a:stretch>
        </p:blipFill>
        <p:spPr>
          <a:xfrm>
            <a:off x="11484456" y="1565211"/>
            <a:ext cx="134549" cy="195707"/>
          </a:xfrm>
          <a:prstGeom prst="rect">
            <a:avLst/>
          </a:prstGeom>
        </p:spPr>
      </p:pic>
      <p:sp>
        <p:nvSpPr>
          <p:cNvPr id="52" name="TextBox 51"/>
          <p:cNvSpPr txBox="1"/>
          <p:nvPr/>
        </p:nvSpPr>
        <p:spPr>
          <a:xfrm>
            <a:off x="7829550" y="1750695"/>
            <a:ext cx="395479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product type,</a:t>
            </a:r>
          </a:p>
        </p:txBody>
      </p:sp>
      <p:sp>
        <p:nvSpPr>
          <p:cNvPr id="53" name="TextBox 52"/>
          <p:cNvSpPr txBox="1"/>
          <p:nvPr/>
        </p:nvSpPr>
        <p:spPr>
          <a:xfrm>
            <a:off x="7829550" y="1925955"/>
            <a:ext cx="3710620" cy="194310"/>
          </a:xfrm>
          <a:prstGeom prst="rect">
            <a:avLst/>
          </a:prstGeom>
          <a:noFill/>
        </p:spPr>
        <p:txBody>
          <a:bodyPr wrap="none" lIns="0" rIns="0" tIns="0" bIns="0">
            <a:spAutoFit/>
          </a:bodyPr>
          <a:lstStyle/>
          <a:p>
            <a:r>
              <a:rPr sz="1150" b="0">
                <a:solidFill>
                  <a:srgbClr val="2E2E2E"/>
                </a:solidFill>
                <a:latin typeface="Calibri"/>
              </a:rPr>
              <a:t>the cut flowers segment is expected to dominate the market,</a:t>
            </a:r>
          </a:p>
        </p:txBody>
      </p:sp>
      <p:sp>
        <p:nvSpPr>
          <p:cNvPr id="54" name="TextBox 53"/>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55" name="Picture 54" descr="lock.png"/>
          <p:cNvPicPr>
            <a:picLocks noChangeAspect="1"/>
          </p:cNvPicPr>
          <p:nvPr/>
        </p:nvPicPr>
        <p:blipFill>
          <a:blip r:embed="rId5"/>
          <a:stretch>
            <a:fillRect/>
          </a:stretch>
        </p:blipFill>
        <p:spPr>
          <a:xfrm>
            <a:off x="8283070" y="2090991"/>
            <a:ext cx="134549" cy="195707"/>
          </a:xfrm>
          <a:prstGeom prst="rect">
            <a:avLst/>
          </a:prstGeom>
        </p:spPr>
      </p:pic>
      <p:sp>
        <p:nvSpPr>
          <p:cNvPr id="56" name="TextBox 55"/>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7" name="Picture 56" descr="lock.png"/>
          <p:cNvPicPr>
            <a:picLocks noChangeAspect="1"/>
          </p:cNvPicPr>
          <p:nvPr/>
        </p:nvPicPr>
        <p:blipFill>
          <a:blip r:embed="rId5"/>
          <a:stretch>
            <a:fillRect/>
          </a:stretch>
        </p:blipFill>
        <p:spPr>
          <a:xfrm>
            <a:off x="9853322" y="2090991"/>
            <a:ext cx="134549" cy="195707"/>
          </a:xfrm>
          <a:prstGeom prst="rect">
            <a:avLst/>
          </a:prstGeom>
        </p:spPr>
      </p:pic>
      <p:sp>
        <p:nvSpPr>
          <p:cNvPr id="58" name="TextBox 57"/>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TextBox 58"/>
          <p:cNvSpPr txBox="1"/>
          <p:nvPr/>
        </p:nvSpPr>
        <p:spPr>
          <a:xfrm>
            <a:off x="7829550" y="2329053"/>
            <a:ext cx="4057650" cy="194310"/>
          </a:xfrm>
          <a:prstGeom prst="rect">
            <a:avLst/>
          </a:prstGeom>
          <a:noFill/>
        </p:spPr>
        <p:txBody>
          <a:bodyPr wrap="none" lIns="0" rIns="0" tIns="0" bIns="0">
            <a:spAutoFit/>
          </a:bodyPr>
          <a:lstStyle/>
          <a:p>
            <a:r>
              <a:rPr sz="1150" b="0">
                <a:solidFill>
                  <a:srgbClr val="2E2E2E"/>
                </a:solidFill>
                <a:latin typeface="Calibri"/>
              </a:rPr>
              <a:t>The bedding &amp; garden flowering plants segment is expected to lose</a:t>
            </a:r>
          </a:p>
        </p:txBody>
      </p:sp>
      <p:pic>
        <p:nvPicPr>
          <p:cNvPr id="60" name="Picture 59" descr="lock.png"/>
          <p:cNvPicPr>
            <a:picLocks noChangeAspect="1"/>
          </p:cNvPicPr>
          <p:nvPr/>
        </p:nvPicPr>
        <p:blipFill>
          <a:blip r:embed="rId5"/>
          <a:stretch>
            <a:fillRect/>
          </a:stretch>
        </p:blipFill>
        <p:spPr>
          <a:xfrm>
            <a:off x="7815470" y="2494089"/>
            <a:ext cx="134549" cy="195707"/>
          </a:xfrm>
          <a:prstGeom prst="rect">
            <a:avLst/>
          </a:prstGeom>
        </p:spPr>
      </p:pic>
      <p:sp>
        <p:nvSpPr>
          <p:cNvPr id="61" name="TextBox 60"/>
          <p:cNvSpPr txBox="1"/>
          <p:nvPr/>
        </p:nvSpPr>
        <p:spPr>
          <a:xfrm>
            <a:off x="799057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2" name="Picture 61" descr="lock.png"/>
          <p:cNvPicPr>
            <a:picLocks noChangeAspect="1"/>
          </p:cNvPicPr>
          <p:nvPr/>
        </p:nvPicPr>
        <p:blipFill>
          <a:blip r:embed="rId5"/>
          <a:stretch>
            <a:fillRect/>
          </a:stretch>
        </p:blipFill>
        <p:spPr>
          <a:xfrm>
            <a:off x="10578084" y="2494089"/>
            <a:ext cx="134549" cy="195707"/>
          </a:xfrm>
          <a:prstGeom prst="rect">
            <a:avLst/>
          </a:prstGeom>
        </p:spPr>
      </p:pic>
      <p:sp>
        <p:nvSpPr>
          <p:cNvPr id="63" name="TextBox 62"/>
          <p:cNvSpPr txBox="1"/>
          <p:nvPr/>
        </p:nvSpPr>
        <p:spPr>
          <a:xfrm>
            <a:off x="1075319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4"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Flower Species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Flower Species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Flower Species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12 sub-segments of Flower Species,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Flower Species segment categorizes the market by flower species.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Gerbera</a:t>
            </a:r>
          </a:p>
        </p:txBody>
      </p:sp>
      <p:sp>
        <p:nvSpPr>
          <p:cNvPr id="22" name="Rectangle 21"/>
          <p:cNvSpPr/>
          <p:nvPr/>
        </p:nvSpPr>
        <p:spPr>
          <a:xfrm>
            <a:off x="18669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069306"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2709862"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09862"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12243" y="1773916"/>
            <a:ext cx="723900" cy="438089"/>
          </a:xfrm>
          <a:prstGeom prst="rect">
            <a:avLst/>
          </a:prstGeom>
          <a:noFill/>
        </p:spPr>
        <p:txBody>
          <a:bodyPr wrap="square" lIns="28575" rIns="28575" tIns="9525" bIns="9525" anchor="ctr">
            <a:spAutoFit/>
          </a:bodyPr>
          <a:lstStyle/>
          <a:p>
            <a:pPr algn="ctr"/>
            <a:r>
              <a:rPr sz="1100" b="1">
                <a:solidFill>
                  <a:srgbClr val="FFFFFF"/>
                </a:solidFill>
                <a:latin typeface="Calibri"/>
              </a:rPr>
              <a:t>Carnations</a:t>
            </a:r>
          </a:p>
        </p:txBody>
      </p:sp>
      <p:sp>
        <p:nvSpPr>
          <p:cNvPr id="29" name="Rectangle 28"/>
          <p:cNvSpPr/>
          <p:nvPr/>
        </p:nvSpPr>
        <p:spPr>
          <a:xfrm>
            <a:off x="27098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27098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27098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2912269"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552825"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52825"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9092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Lilies</a:t>
            </a:r>
          </a:p>
        </p:txBody>
      </p:sp>
      <p:sp>
        <p:nvSpPr>
          <p:cNvPr id="36" name="Rectangle 35"/>
          <p:cNvSpPr/>
          <p:nvPr/>
        </p:nvSpPr>
        <p:spPr>
          <a:xfrm>
            <a:off x="35528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35528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35528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375523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4395788"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95788"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3888"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Peonies</a:t>
            </a:r>
          </a:p>
        </p:txBody>
      </p:sp>
      <p:sp>
        <p:nvSpPr>
          <p:cNvPr id="43" name="Rectangle 42"/>
          <p:cNvSpPr/>
          <p:nvPr/>
        </p:nvSpPr>
        <p:spPr>
          <a:xfrm>
            <a:off x="43957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43957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43957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4598194"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5238750"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38750"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76850"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Tulips</a:t>
            </a:r>
          </a:p>
        </p:txBody>
      </p:sp>
      <p:sp>
        <p:nvSpPr>
          <p:cNvPr id="50" name="Rectangle 49"/>
          <p:cNvSpPr/>
          <p:nvPr/>
        </p:nvSpPr>
        <p:spPr>
          <a:xfrm>
            <a:off x="523875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523875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523875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5441156"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6081712" y="1773916"/>
            <a:ext cx="728662"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081712" y="1992961"/>
            <a:ext cx="728662"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19812"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Orchids</a:t>
            </a:r>
          </a:p>
        </p:txBody>
      </p:sp>
      <p:sp>
        <p:nvSpPr>
          <p:cNvPr id="57" name="Rectangle 56"/>
          <p:cNvSpPr/>
          <p:nvPr/>
        </p:nvSpPr>
        <p:spPr>
          <a:xfrm>
            <a:off x="608171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608171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608171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628411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6924675" y="1773916"/>
            <a:ext cx="728662"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24675" y="1992961"/>
            <a:ext cx="728662"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6277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Roses</a:t>
            </a:r>
          </a:p>
        </p:txBody>
      </p:sp>
      <p:sp>
        <p:nvSpPr>
          <p:cNvPr id="64" name="Rectangle 63"/>
          <p:cNvSpPr/>
          <p:nvPr/>
        </p:nvSpPr>
        <p:spPr>
          <a:xfrm>
            <a:off x="692467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5" name="Rectangle 64"/>
          <p:cNvSpPr/>
          <p:nvPr/>
        </p:nvSpPr>
        <p:spPr>
          <a:xfrm>
            <a:off x="692467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692467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Oval 66"/>
          <p:cNvSpPr/>
          <p:nvPr/>
        </p:nvSpPr>
        <p:spPr>
          <a:xfrm>
            <a:off x="7127081"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7767638"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767638"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91450" y="1773916"/>
            <a:ext cx="681038" cy="438089"/>
          </a:xfrm>
          <a:prstGeom prst="rect">
            <a:avLst/>
          </a:prstGeom>
          <a:noFill/>
        </p:spPr>
        <p:txBody>
          <a:bodyPr wrap="square" lIns="28575" rIns="28575" tIns="9525" bIns="9525" anchor="ctr">
            <a:spAutoFit/>
          </a:bodyPr>
          <a:lstStyle/>
          <a:p>
            <a:pPr algn="ctr"/>
            <a:r>
              <a:rPr sz="1100" b="1">
                <a:solidFill>
                  <a:srgbClr val="FFFFFF"/>
                </a:solidFill>
                <a:latin typeface="Calibri"/>
              </a:rPr>
              <a:t>Lisianthus</a:t>
            </a:r>
          </a:p>
        </p:txBody>
      </p:sp>
      <p:sp>
        <p:nvSpPr>
          <p:cNvPr id="71" name="Rectangle 70"/>
          <p:cNvSpPr/>
          <p:nvPr/>
        </p:nvSpPr>
        <p:spPr>
          <a:xfrm>
            <a:off x="776763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72" name="Rectangle 71"/>
          <p:cNvSpPr/>
          <p:nvPr/>
        </p:nvSpPr>
        <p:spPr>
          <a:xfrm>
            <a:off x="776763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73" name="Rectangle 72"/>
          <p:cNvSpPr/>
          <p:nvPr/>
        </p:nvSpPr>
        <p:spPr>
          <a:xfrm>
            <a:off x="776763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74" name="Oval 73"/>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75" name="Rounded Rectangle 74"/>
          <p:cNvSpPr/>
          <p:nvPr/>
        </p:nvSpPr>
        <p:spPr>
          <a:xfrm>
            <a:off x="8610600"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610600"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82025" y="1773916"/>
            <a:ext cx="785812" cy="438089"/>
          </a:xfrm>
          <a:prstGeom prst="rect">
            <a:avLst/>
          </a:prstGeom>
          <a:noFill/>
        </p:spPr>
        <p:txBody>
          <a:bodyPr wrap="square" lIns="28575" rIns="28575" tIns="9525" bIns="9525" anchor="ctr">
            <a:spAutoFit/>
          </a:bodyPr>
          <a:lstStyle/>
          <a:p>
            <a:pPr algn="ctr"/>
            <a:r>
              <a:rPr sz="1100" b="1">
                <a:solidFill>
                  <a:srgbClr val="FFFFFF"/>
                </a:solidFill>
                <a:latin typeface="Calibri"/>
              </a:rPr>
              <a:t>Hydrangeas</a:t>
            </a:r>
          </a:p>
        </p:txBody>
      </p:sp>
      <p:sp>
        <p:nvSpPr>
          <p:cNvPr id="78" name="Rectangle 77"/>
          <p:cNvSpPr/>
          <p:nvPr/>
        </p:nvSpPr>
        <p:spPr>
          <a:xfrm>
            <a:off x="86106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79" name="Rectangle 78"/>
          <p:cNvSpPr/>
          <p:nvPr/>
        </p:nvSpPr>
        <p:spPr>
          <a:xfrm>
            <a:off x="86106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80" name="Rectangle 79"/>
          <p:cNvSpPr/>
          <p:nvPr/>
        </p:nvSpPr>
        <p:spPr>
          <a:xfrm>
            <a:off x="86106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81" name="Oval 80"/>
          <p:cNvSpPr/>
          <p:nvPr/>
        </p:nvSpPr>
        <p:spPr>
          <a:xfrm>
            <a:off x="881300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82" name="Rounded Rectangle 81"/>
          <p:cNvSpPr/>
          <p:nvPr/>
        </p:nvSpPr>
        <p:spPr>
          <a:xfrm>
            <a:off x="9453562"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453562"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90459" y="1773916"/>
            <a:ext cx="854869" cy="438089"/>
          </a:xfrm>
          <a:prstGeom prst="rect">
            <a:avLst/>
          </a:prstGeom>
          <a:noFill/>
        </p:spPr>
        <p:txBody>
          <a:bodyPr wrap="square" lIns="28575" rIns="28575" tIns="9525" bIns="9525" anchor="ctr">
            <a:spAutoFit/>
          </a:bodyPr>
          <a:lstStyle/>
          <a:p>
            <a:pPr algn="ctr"/>
            <a:r>
              <a:rPr sz="1100" b="1">
                <a:solidFill>
                  <a:srgbClr val="FFFFFF"/>
                </a:solidFill>
                <a:latin typeface="Calibri"/>
              </a:rPr>
              <a:t>Alstroemeria</a:t>
            </a:r>
          </a:p>
        </p:txBody>
      </p:sp>
      <p:sp>
        <p:nvSpPr>
          <p:cNvPr id="85" name="Rectangle 84"/>
          <p:cNvSpPr/>
          <p:nvPr/>
        </p:nvSpPr>
        <p:spPr>
          <a:xfrm>
            <a:off x="94535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86" name="Rectangle 85"/>
          <p:cNvSpPr/>
          <p:nvPr/>
        </p:nvSpPr>
        <p:spPr>
          <a:xfrm>
            <a:off x="94535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87" name="Rectangle 86"/>
          <p:cNvSpPr/>
          <p:nvPr/>
        </p:nvSpPr>
        <p:spPr>
          <a:xfrm>
            <a:off x="94535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88" name="Oval 87"/>
          <p:cNvSpPr/>
          <p:nvPr/>
        </p:nvSpPr>
        <p:spPr>
          <a:xfrm>
            <a:off x="9655969"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10</a:t>
            </a:r>
          </a:p>
        </p:txBody>
      </p:sp>
      <p:sp>
        <p:nvSpPr>
          <p:cNvPr id="89" name="Rounded Rectangle 88"/>
          <p:cNvSpPr/>
          <p:nvPr/>
        </p:nvSpPr>
        <p:spPr>
          <a:xfrm>
            <a:off x="10296525"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296525"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33462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Others</a:t>
            </a:r>
          </a:p>
        </p:txBody>
      </p:sp>
      <p:sp>
        <p:nvSpPr>
          <p:cNvPr id="92" name="Rectangle 91"/>
          <p:cNvSpPr/>
          <p:nvPr/>
        </p:nvSpPr>
        <p:spPr>
          <a:xfrm>
            <a:off x="102965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93" name="Rectangle 92"/>
          <p:cNvSpPr/>
          <p:nvPr/>
        </p:nvSpPr>
        <p:spPr>
          <a:xfrm>
            <a:off x="102965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94" name="Rectangle 93"/>
          <p:cNvSpPr/>
          <p:nvPr/>
        </p:nvSpPr>
        <p:spPr>
          <a:xfrm>
            <a:off x="102965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95" name="Oval 94"/>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11</a:t>
            </a:r>
          </a:p>
        </p:txBody>
      </p:sp>
      <p:sp>
        <p:nvSpPr>
          <p:cNvPr id="96" name="Rounded Rectangle 95"/>
          <p:cNvSpPr/>
          <p:nvPr/>
        </p:nvSpPr>
        <p:spPr>
          <a:xfrm>
            <a:off x="11139488"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139488"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943035" y="1773916"/>
            <a:ext cx="1121569" cy="438089"/>
          </a:xfrm>
          <a:prstGeom prst="rect">
            <a:avLst/>
          </a:prstGeom>
          <a:noFill/>
        </p:spPr>
        <p:txBody>
          <a:bodyPr wrap="square" lIns="28575" rIns="28575" tIns="9525" bIns="9525" anchor="ctr">
            <a:spAutoFit/>
          </a:bodyPr>
          <a:lstStyle/>
          <a:p>
            <a:pPr algn="ctr"/>
            <a:r>
              <a:rPr sz="1100" b="1">
                <a:solidFill>
                  <a:srgbClr val="FFFFFF"/>
                </a:solidFill>
                <a:latin typeface="Calibri"/>
              </a:rPr>
              <a:t>Chrysanthemums</a:t>
            </a:r>
          </a:p>
        </p:txBody>
      </p:sp>
      <p:sp>
        <p:nvSpPr>
          <p:cNvPr id="99" name="Rectangle 98"/>
          <p:cNvSpPr/>
          <p:nvPr/>
        </p:nvSpPr>
        <p:spPr>
          <a:xfrm>
            <a:off x="111394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100" name="Rectangle 99"/>
          <p:cNvSpPr/>
          <p:nvPr/>
        </p:nvSpPr>
        <p:spPr>
          <a:xfrm>
            <a:off x="111394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101" name="Rectangle 100"/>
          <p:cNvSpPr/>
          <p:nvPr/>
        </p:nvSpPr>
        <p:spPr>
          <a:xfrm>
            <a:off x="111394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102" name="Oval 101"/>
          <p:cNvSpPr/>
          <p:nvPr/>
        </p:nvSpPr>
        <p:spPr>
          <a:xfrm>
            <a:off x="11341894"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12</a:t>
            </a:r>
          </a:p>
        </p:txBody>
      </p:sp>
      <p:sp>
        <p:nvSpPr>
          <p:cNvPr id="103" name="Rounded Rectangle 10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105" name="Rectangle 10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107" name="Rounded Rectangle 10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109" name="Rectangle 10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111" name="Rounded Rectangle 11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113" name="Rectangle 11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Flower Species split shows how demand is distributed across flower species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115" name="Rectangle 11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117" name="TextBox 11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9" name="Picture 118" descr="9_583_605E5C.png"/>
          <p:cNvPicPr>
            <a:picLocks noChangeAspect="1"/>
          </p:cNvPicPr>
          <p:nvPr/>
        </p:nvPicPr>
        <p:blipFill>
          <a:blip r:embed="rId4"/>
          <a:stretch>
            <a:fillRect/>
          </a:stretch>
        </p:blipFill>
        <p:spPr>
          <a:xfrm>
            <a:off x="1633367" y="2286582"/>
            <a:ext cx="1195728" cy="361950"/>
          </a:xfrm>
          <a:prstGeom prst="rect">
            <a:avLst/>
          </a:prstGeom>
        </p:spPr>
      </p:pic>
      <p:pic>
        <p:nvPicPr>
          <p:cNvPr id="120" name="Picture 119" descr="18_817_605E5C.png"/>
          <p:cNvPicPr>
            <a:picLocks noChangeAspect="1"/>
          </p:cNvPicPr>
          <p:nvPr/>
        </p:nvPicPr>
        <p:blipFill>
          <a:blip r:embed="rId5"/>
          <a:stretch>
            <a:fillRect/>
          </a:stretch>
        </p:blipFill>
        <p:spPr>
          <a:xfrm>
            <a:off x="1526721" y="2779432"/>
            <a:ext cx="1409020" cy="361950"/>
          </a:xfrm>
          <a:prstGeom prst="rect">
            <a:avLst/>
          </a:prstGeom>
        </p:spPr>
      </p:pic>
      <p:pic>
        <p:nvPicPr>
          <p:cNvPr id="121" name="Picture 120" descr="7_0__605E5C.png"/>
          <p:cNvPicPr>
            <a:picLocks noChangeAspect="1"/>
          </p:cNvPicPr>
          <p:nvPr/>
        </p:nvPicPr>
        <p:blipFill>
          <a:blip r:embed="rId6"/>
          <a:stretch>
            <a:fillRect/>
          </a:stretch>
        </p:blipFill>
        <p:spPr>
          <a:xfrm>
            <a:off x="1740013" y="3272281"/>
            <a:ext cx="982436" cy="361950"/>
          </a:xfrm>
          <a:prstGeom prst="rect">
            <a:avLst/>
          </a:prstGeom>
        </p:spPr>
      </p:pic>
      <p:pic>
        <p:nvPicPr>
          <p:cNvPr id="122" name="Picture 121" descr="9_001_605E5C.png"/>
          <p:cNvPicPr>
            <a:picLocks noChangeAspect="1"/>
          </p:cNvPicPr>
          <p:nvPr/>
        </p:nvPicPr>
        <p:blipFill>
          <a:blip r:embed="rId7"/>
          <a:stretch>
            <a:fillRect/>
          </a:stretch>
        </p:blipFill>
        <p:spPr>
          <a:xfrm>
            <a:off x="2476329" y="2286582"/>
            <a:ext cx="1195728" cy="361950"/>
          </a:xfrm>
          <a:prstGeom prst="rect">
            <a:avLst/>
          </a:prstGeom>
        </p:spPr>
      </p:pic>
      <p:pic>
        <p:nvPicPr>
          <p:cNvPr id="123" name="Picture 122" descr="16_812_605E5C.png"/>
          <p:cNvPicPr>
            <a:picLocks noChangeAspect="1"/>
          </p:cNvPicPr>
          <p:nvPr/>
        </p:nvPicPr>
        <p:blipFill>
          <a:blip r:embed="rId8"/>
          <a:stretch>
            <a:fillRect/>
          </a:stretch>
        </p:blipFill>
        <p:spPr>
          <a:xfrm>
            <a:off x="2369683" y="2779432"/>
            <a:ext cx="1409020" cy="361950"/>
          </a:xfrm>
          <a:prstGeom prst="rect">
            <a:avLst/>
          </a:prstGeom>
        </p:spPr>
      </p:pic>
      <p:pic>
        <p:nvPicPr>
          <p:cNvPr id="124" name="Picture 123" descr="6_4__605E5C.png"/>
          <p:cNvPicPr>
            <a:picLocks noChangeAspect="1"/>
          </p:cNvPicPr>
          <p:nvPr/>
        </p:nvPicPr>
        <p:blipFill>
          <a:blip r:embed="rId9"/>
          <a:stretch>
            <a:fillRect/>
          </a:stretch>
        </p:blipFill>
        <p:spPr>
          <a:xfrm>
            <a:off x="2582975" y="3272281"/>
            <a:ext cx="982436" cy="361950"/>
          </a:xfrm>
          <a:prstGeom prst="rect">
            <a:avLst/>
          </a:prstGeom>
        </p:spPr>
      </p:pic>
      <p:pic>
        <p:nvPicPr>
          <p:cNvPr id="125" name="Picture 124" descr="7_392_605E5C.png"/>
          <p:cNvPicPr>
            <a:picLocks noChangeAspect="1"/>
          </p:cNvPicPr>
          <p:nvPr/>
        </p:nvPicPr>
        <p:blipFill>
          <a:blip r:embed="rId10"/>
          <a:stretch>
            <a:fillRect/>
          </a:stretch>
        </p:blipFill>
        <p:spPr>
          <a:xfrm>
            <a:off x="3319292" y="2286582"/>
            <a:ext cx="1195728" cy="361950"/>
          </a:xfrm>
          <a:prstGeom prst="rect">
            <a:avLst/>
          </a:prstGeom>
        </p:spPr>
      </p:pic>
      <p:pic>
        <p:nvPicPr>
          <p:cNvPr id="126" name="Picture 125" descr="10_955_605E5C.png"/>
          <p:cNvPicPr>
            <a:picLocks noChangeAspect="1"/>
          </p:cNvPicPr>
          <p:nvPr/>
        </p:nvPicPr>
        <p:blipFill>
          <a:blip r:embed="rId11"/>
          <a:stretch>
            <a:fillRect/>
          </a:stretch>
        </p:blipFill>
        <p:spPr>
          <a:xfrm>
            <a:off x="3212646" y="2779432"/>
            <a:ext cx="1409020" cy="361950"/>
          </a:xfrm>
          <a:prstGeom prst="rect">
            <a:avLst/>
          </a:prstGeom>
        </p:spPr>
      </p:pic>
      <p:pic>
        <p:nvPicPr>
          <p:cNvPr id="127" name="Picture 126" descr="4_0__605E5C.png"/>
          <p:cNvPicPr>
            <a:picLocks noChangeAspect="1"/>
          </p:cNvPicPr>
          <p:nvPr/>
        </p:nvPicPr>
        <p:blipFill>
          <a:blip r:embed="rId12"/>
          <a:stretch>
            <a:fillRect/>
          </a:stretch>
        </p:blipFill>
        <p:spPr>
          <a:xfrm>
            <a:off x="3425938" y="3272281"/>
            <a:ext cx="982436" cy="361950"/>
          </a:xfrm>
          <a:prstGeom prst="rect">
            <a:avLst/>
          </a:prstGeom>
        </p:spPr>
      </p:pic>
      <p:pic>
        <p:nvPicPr>
          <p:cNvPr id="128" name="Picture 127" descr="6_917_605E5C.png"/>
          <p:cNvPicPr>
            <a:picLocks noChangeAspect="1"/>
          </p:cNvPicPr>
          <p:nvPr/>
        </p:nvPicPr>
        <p:blipFill>
          <a:blip r:embed="rId13"/>
          <a:stretch>
            <a:fillRect/>
          </a:stretch>
        </p:blipFill>
        <p:spPr>
          <a:xfrm>
            <a:off x="4162255" y="2286582"/>
            <a:ext cx="1195728" cy="361950"/>
          </a:xfrm>
          <a:prstGeom prst="rect">
            <a:avLst/>
          </a:prstGeom>
        </p:spPr>
      </p:pic>
      <p:pic>
        <p:nvPicPr>
          <p:cNvPr id="129" name="Picture 128" descr="7_838_605E5C.png"/>
          <p:cNvPicPr>
            <a:picLocks noChangeAspect="1"/>
          </p:cNvPicPr>
          <p:nvPr/>
        </p:nvPicPr>
        <p:blipFill>
          <a:blip r:embed="rId14"/>
          <a:stretch>
            <a:fillRect/>
          </a:stretch>
        </p:blipFill>
        <p:spPr>
          <a:xfrm>
            <a:off x="4162255" y="2779432"/>
            <a:ext cx="1195728" cy="361950"/>
          </a:xfrm>
          <a:prstGeom prst="rect">
            <a:avLst/>
          </a:prstGeom>
        </p:spPr>
      </p:pic>
      <p:pic>
        <p:nvPicPr>
          <p:cNvPr id="130" name="Picture 129" descr="1_3__605E5C.png"/>
          <p:cNvPicPr>
            <a:picLocks noChangeAspect="1"/>
          </p:cNvPicPr>
          <p:nvPr/>
        </p:nvPicPr>
        <p:blipFill>
          <a:blip r:embed="rId15"/>
          <a:stretch>
            <a:fillRect/>
          </a:stretch>
        </p:blipFill>
        <p:spPr>
          <a:xfrm>
            <a:off x="4268901" y="3272281"/>
            <a:ext cx="982436" cy="361950"/>
          </a:xfrm>
          <a:prstGeom prst="rect">
            <a:avLst/>
          </a:prstGeom>
        </p:spPr>
      </p:pic>
      <p:pic>
        <p:nvPicPr>
          <p:cNvPr id="131" name="Picture 130" descr="5_772_605E5C.png"/>
          <p:cNvPicPr>
            <a:picLocks noChangeAspect="1"/>
          </p:cNvPicPr>
          <p:nvPr/>
        </p:nvPicPr>
        <p:blipFill>
          <a:blip r:embed="rId16"/>
          <a:stretch>
            <a:fillRect/>
          </a:stretch>
        </p:blipFill>
        <p:spPr>
          <a:xfrm>
            <a:off x="5005217" y="2286582"/>
            <a:ext cx="1195728" cy="361950"/>
          </a:xfrm>
          <a:prstGeom prst="rect">
            <a:avLst/>
          </a:prstGeom>
        </p:spPr>
      </p:pic>
      <p:pic>
        <p:nvPicPr>
          <p:cNvPr id="132" name="Picture 131" descr="11_408_605E5C.png"/>
          <p:cNvPicPr>
            <a:picLocks noChangeAspect="1"/>
          </p:cNvPicPr>
          <p:nvPr/>
        </p:nvPicPr>
        <p:blipFill>
          <a:blip r:embed="rId17"/>
          <a:stretch>
            <a:fillRect/>
          </a:stretch>
        </p:blipFill>
        <p:spPr>
          <a:xfrm>
            <a:off x="4898571" y="2779432"/>
            <a:ext cx="1409020" cy="361950"/>
          </a:xfrm>
          <a:prstGeom prst="rect">
            <a:avLst/>
          </a:prstGeom>
        </p:spPr>
      </p:pic>
      <p:pic>
        <p:nvPicPr>
          <p:cNvPr id="133" name="Picture 132" descr="7_1__605E5C.png"/>
          <p:cNvPicPr>
            <a:picLocks noChangeAspect="1"/>
          </p:cNvPicPr>
          <p:nvPr/>
        </p:nvPicPr>
        <p:blipFill>
          <a:blip r:embed="rId18"/>
          <a:stretch>
            <a:fillRect/>
          </a:stretch>
        </p:blipFill>
        <p:spPr>
          <a:xfrm>
            <a:off x="5111863" y="3272281"/>
            <a:ext cx="982436" cy="361950"/>
          </a:xfrm>
          <a:prstGeom prst="rect">
            <a:avLst/>
          </a:prstGeom>
        </p:spPr>
      </p:pic>
      <p:pic>
        <p:nvPicPr>
          <p:cNvPr id="134" name="Picture 133" descr="5_430_605E5C.png"/>
          <p:cNvPicPr>
            <a:picLocks noChangeAspect="1"/>
          </p:cNvPicPr>
          <p:nvPr/>
        </p:nvPicPr>
        <p:blipFill>
          <a:blip r:embed="rId19"/>
          <a:stretch>
            <a:fillRect/>
          </a:stretch>
        </p:blipFill>
        <p:spPr>
          <a:xfrm>
            <a:off x="5848179" y="2286582"/>
            <a:ext cx="1195728" cy="361950"/>
          </a:xfrm>
          <a:prstGeom prst="rect">
            <a:avLst/>
          </a:prstGeom>
        </p:spPr>
      </p:pic>
      <p:pic>
        <p:nvPicPr>
          <p:cNvPr id="135" name="Picture 134" descr="9_461_605E5C.png"/>
          <p:cNvPicPr>
            <a:picLocks noChangeAspect="1"/>
          </p:cNvPicPr>
          <p:nvPr/>
        </p:nvPicPr>
        <p:blipFill>
          <a:blip r:embed="rId20"/>
          <a:stretch>
            <a:fillRect/>
          </a:stretch>
        </p:blipFill>
        <p:spPr>
          <a:xfrm>
            <a:off x="5848179" y="2779432"/>
            <a:ext cx="1195728" cy="361950"/>
          </a:xfrm>
          <a:prstGeom prst="rect">
            <a:avLst/>
          </a:prstGeom>
        </p:spPr>
      </p:pic>
      <p:pic>
        <p:nvPicPr>
          <p:cNvPr id="136" name="Picture 135" descr="5_7__605E5C.png"/>
          <p:cNvPicPr>
            <a:picLocks noChangeAspect="1"/>
          </p:cNvPicPr>
          <p:nvPr/>
        </p:nvPicPr>
        <p:blipFill>
          <a:blip r:embed="rId21"/>
          <a:stretch>
            <a:fillRect/>
          </a:stretch>
        </p:blipFill>
        <p:spPr>
          <a:xfrm>
            <a:off x="5954825" y="3272281"/>
            <a:ext cx="982436" cy="361950"/>
          </a:xfrm>
          <a:prstGeom prst="rect">
            <a:avLst/>
          </a:prstGeom>
        </p:spPr>
      </p:pic>
      <p:pic>
        <p:nvPicPr>
          <p:cNvPr id="137" name="Picture 136" descr="4_915_605E5C.png"/>
          <p:cNvPicPr>
            <a:picLocks noChangeAspect="1"/>
          </p:cNvPicPr>
          <p:nvPr/>
        </p:nvPicPr>
        <p:blipFill>
          <a:blip r:embed="rId22"/>
          <a:stretch>
            <a:fillRect/>
          </a:stretch>
        </p:blipFill>
        <p:spPr>
          <a:xfrm>
            <a:off x="6691142" y="2286582"/>
            <a:ext cx="1195728" cy="361950"/>
          </a:xfrm>
          <a:prstGeom prst="rect">
            <a:avLst/>
          </a:prstGeom>
        </p:spPr>
      </p:pic>
      <p:pic>
        <p:nvPicPr>
          <p:cNvPr id="138" name="Picture 137" descr="7_031_605E5C.png"/>
          <p:cNvPicPr>
            <a:picLocks noChangeAspect="1"/>
          </p:cNvPicPr>
          <p:nvPr/>
        </p:nvPicPr>
        <p:blipFill>
          <a:blip r:embed="rId23"/>
          <a:stretch>
            <a:fillRect/>
          </a:stretch>
        </p:blipFill>
        <p:spPr>
          <a:xfrm>
            <a:off x="6691142" y="2779432"/>
            <a:ext cx="1195728" cy="361950"/>
          </a:xfrm>
          <a:prstGeom prst="rect">
            <a:avLst/>
          </a:prstGeom>
        </p:spPr>
      </p:pic>
      <p:pic>
        <p:nvPicPr>
          <p:cNvPr id="139" name="Picture 138" descr="3_6__605E5C.png"/>
          <p:cNvPicPr>
            <a:picLocks noChangeAspect="1"/>
          </p:cNvPicPr>
          <p:nvPr/>
        </p:nvPicPr>
        <p:blipFill>
          <a:blip r:embed="rId24"/>
          <a:stretch>
            <a:fillRect/>
          </a:stretch>
        </p:blipFill>
        <p:spPr>
          <a:xfrm>
            <a:off x="6797788" y="3272281"/>
            <a:ext cx="982436" cy="361950"/>
          </a:xfrm>
          <a:prstGeom prst="rect">
            <a:avLst/>
          </a:prstGeom>
        </p:spPr>
      </p:pic>
      <p:pic>
        <p:nvPicPr>
          <p:cNvPr id="140" name="Picture 139" descr="3_939_605E5C.png"/>
          <p:cNvPicPr>
            <a:picLocks noChangeAspect="1"/>
          </p:cNvPicPr>
          <p:nvPr/>
        </p:nvPicPr>
        <p:blipFill>
          <a:blip r:embed="rId25"/>
          <a:stretch>
            <a:fillRect/>
          </a:stretch>
        </p:blipFill>
        <p:spPr>
          <a:xfrm>
            <a:off x="7534105" y="2286582"/>
            <a:ext cx="1195728" cy="361950"/>
          </a:xfrm>
          <a:prstGeom prst="rect">
            <a:avLst/>
          </a:prstGeom>
        </p:spPr>
      </p:pic>
      <p:pic>
        <p:nvPicPr>
          <p:cNvPr id="141" name="Picture 140" descr="4_784_605E5C.png"/>
          <p:cNvPicPr>
            <a:picLocks noChangeAspect="1"/>
          </p:cNvPicPr>
          <p:nvPr/>
        </p:nvPicPr>
        <p:blipFill>
          <a:blip r:embed="rId26"/>
          <a:stretch>
            <a:fillRect/>
          </a:stretch>
        </p:blipFill>
        <p:spPr>
          <a:xfrm>
            <a:off x="7534105" y="2779432"/>
            <a:ext cx="1195728" cy="361950"/>
          </a:xfrm>
          <a:prstGeom prst="rect">
            <a:avLst/>
          </a:prstGeom>
        </p:spPr>
      </p:pic>
      <p:pic>
        <p:nvPicPr>
          <p:cNvPr id="142" name="Picture 141" descr="2_0__605E5C.png"/>
          <p:cNvPicPr>
            <a:picLocks noChangeAspect="1"/>
          </p:cNvPicPr>
          <p:nvPr/>
        </p:nvPicPr>
        <p:blipFill>
          <a:blip r:embed="rId27"/>
          <a:stretch>
            <a:fillRect/>
          </a:stretch>
        </p:blipFill>
        <p:spPr>
          <a:xfrm>
            <a:off x="7640751" y="3272281"/>
            <a:ext cx="982436" cy="361950"/>
          </a:xfrm>
          <a:prstGeom prst="rect">
            <a:avLst/>
          </a:prstGeom>
        </p:spPr>
      </p:pic>
      <p:pic>
        <p:nvPicPr>
          <p:cNvPr id="143" name="Picture 142" descr="2_276_605E5C.png"/>
          <p:cNvPicPr>
            <a:picLocks noChangeAspect="1"/>
          </p:cNvPicPr>
          <p:nvPr/>
        </p:nvPicPr>
        <p:blipFill>
          <a:blip r:embed="rId28"/>
          <a:stretch>
            <a:fillRect/>
          </a:stretch>
        </p:blipFill>
        <p:spPr>
          <a:xfrm>
            <a:off x="8377067" y="2286582"/>
            <a:ext cx="1195728" cy="361950"/>
          </a:xfrm>
          <a:prstGeom prst="rect">
            <a:avLst/>
          </a:prstGeom>
        </p:spPr>
      </p:pic>
      <p:pic>
        <p:nvPicPr>
          <p:cNvPr id="144" name="Picture 143" descr="2_915_605E5C.png"/>
          <p:cNvPicPr>
            <a:picLocks noChangeAspect="1"/>
          </p:cNvPicPr>
          <p:nvPr/>
        </p:nvPicPr>
        <p:blipFill>
          <a:blip r:embed="rId29"/>
          <a:stretch>
            <a:fillRect/>
          </a:stretch>
        </p:blipFill>
        <p:spPr>
          <a:xfrm>
            <a:off x="8377067" y="2779432"/>
            <a:ext cx="1195728" cy="361950"/>
          </a:xfrm>
          <a:prstGeom prst="rect">
            <a:avLst/>
          </a:prstGeom>
        </p:spPr>
      </p:pic>
      <p:pic>
        <p:nvPicPr>
          <p:cNvPr id="145" name="Picture 144" descr="2_5__605E5C.png"/>
          <p:cNvPicPr>
            <a:picLocks noChangeAspect="1"/>
          </p:cNvPicPr>
          <p:nvPr/>
        </p:nvPicPr>
        <p:blipFill>
          <a:blip r:embed="rId30"/>
          <a:stretch>
            <a:fillRect/>
          </a:stretch>
        </p:blipFill>
        <p:spPr>
          <a:xfrm>
            <a:off x="8483713" y="3272281"/>
            <a:ext cx="982436" cy="361950"/>
          </a:xfrm>
          <a:prstGeom prst="rect">
            <a:avLst/>
          </a:prstGeom>
        </p:spPr>
      </p:pic>
      <p:pic>
        <p:nvPicPr>
          <p:cNvPr id="146" name="Picture 145" descr="1_870_605E5C.png"/>
          <p:cNvPicPr>
            <a:picLocks noChangeAspect="1"/>
          </p:cNvPicPr>
          <p:nvPr/>
        </p:nvPicPr>
        <p:blipFill>
          <a:blip r:embed="rId31"/>
          <a:stretch>
            <a:fillRect/>
          </a:stretch>
        </p:blipFill>
        <p:spPr>
          <a:xfrm>
            <a:off x="9220029" y="2286582"/>
            <a:ext cx="1195728" cy="361950"/>
          </a:xfrm>
          <a:prstGeom prst="rect">
            <a:avLst/>
          </a:prstGeom>
        </p:spPr>
      </p:pic>
      <p:pic>
        <p:nvPicPr>
          <p:cNvPr id="147" name="Picture 146" descr="3_267_605E5C.png"/>
          <p:cNvPicPr>
            <a:picLocks noChangeAspect="1"/>
          </p:cNvPicPr>
          <p:nvPr/>
        </p:nvPicPr>
        <p:blipFill>
          <a:blip r:embed="rId32"/>
          <a:stretch>
            <a:fillRect/>
          </a:stretch>
        </p:blipFill>
        <p:spPr>
          <a:xfrm>
            <a:off x="9220029" y="2779432"/>
            <a:ext cx="1195728" cy="361950"/>
          </a:xfrm>
          <a:prstGeom prst="rect">
            <a:avLst/>
          </a:prstGeom>
        </p:spPr>
      </p:pic>
      <p:pic>
        <p:nvPicPr>
          <p:cNvPr id="148" name="Picture 147" descr="5_7__605E5C.png"/>
          <p:cNvPicPr>
            <a:picLocks noChangeAspect="1"/>
          </p:cNvPicPr>
          <p:nvPr/>
        </p:nvPicPr>
        <p:blipFill>
          <a:blip r:embed="rId21"/>
          <a:stretch>
            <a:fillRect/>
          </a:stretch>
        </p:blipFill>
        <p:spPr>
          <a:xfrm>
            <a:off x="9326675" y="3272281"/>
            <a:ext cx="982436" cy="361950"/>
          </a:xfrm>
          <a:prstGeom prst="rect">
            <a:avLst/>
          </a:prstGeom>
        </p:spPr>
      </p:pic>
      <p:pic>
        <p:nvPicPr>
          <p:cNvPr id="149" name="Picture 148" descr="1_781_605E5C.png"/>
          <p:cNvPicPr>
            <a:picLocks noChangeAspect="1"/>
          </p:cNvPicPr>
          <p:nvPr/>
        </p:nvPicPr>
        <p:blipFill>
          <a:blip r:embed="rId33"/>
          <a:stretch>
            <a:fillRect/>
          </a:stretch>
        </p:blipFill>
        <p:spPr>
          <a:xfrm>
            <a:off x="10062992" y="2286582"/>
            <a:ext cx="1195728" cy="361950"/>
          </a:xfrm>
          <a:prstGeom prst="rect">
            <a:avLst/>
          </a:prstGeom>
        </p:spPr>
      </p:pic>
      <p:pic>
        <p:nvPicPr>
          <p:cNvPr id="150" name="Picture 149" descr="2_585_605E5C.png"/>
          <p:cNvPicPr>
            <a:picLocks noChangeAspect="1"/>
          </p:cNvPicPr>
          <p:nvPr/>
        </p:nvPicPr>
        <p:blipFill>
          <a:blip r:embed="rId34"/>
          <a:stretch>
            <a:fillRect/>
          </a:stretch>
        </p:blipFill>
        <p:spPr>
          <a:xfrm>
            <a:off x="10062992" y="2779432"/>
            <a:ext cx="1195728" cy="361950"/>
          </a:xfrm>
          <a:prstGeom prst="rect">
            <a:avLst/>
          </a:prstGeom>
        </p:spPr>
      </p:pic>
      <p:pic>
        <p:nvPicPr>
          <p:cNvPr id="151" name="Picture 150" descr="3_8__605E5C.png"/>
          <p:cNvPicPr>
            <a:picLocks noChangeAspect="1"/>
          </p:cNvPicPr>
          <p:nvPr/>
        </p:nvPicPr>
        <p:blipFill>
          <a:blip r:embed="rId35"/>
          <a:stretch>
            <a:fillRect/>
          </a:stretch>
        </p:blipFill>
        <p:spPr>
          <a:xfrm>
            <a:off x="10169638" y="3272281"/>
            <a:ext cx="982436" cy="361950"/>
          </a:xfrm>
          <a:prstGeom prst="rect">
            <a:avLst/>
          </a:prstGeom>
        </p:spPr>
      </p:pic>
      <p:pic>
        <p:nvPicPr>
          <p:cNvPr id="152" name="Picture 151" descr="1_124_605E5C.png"/>
          <p:cNvPicPr>
            <a:picLocks noChangeAspect="1"/>
          </p:cNvPicPr>
          <p:nvPr/>
        </p:nvPicPr>
        <p:blipFill>
          <a:blip r:embed="rId36"/>
          <a:stretch>
            <a:fillRect/>
          </a:stretch>
        </p:blipFill>
        <p:spPr>
          <a:xfrm>
            <a:off x="10905955" y="2286582"/>
            <a:ext cx="1195728" cy="361950"/>
          </a:xfrm>
          <a:prstGeom prst="rect">
            <a:avLst/>
          </a:prstGeom>
        </p:spPr>
      </p:pic>
      <p:pic>
        <p:nvPicPr>
          <p:cNvPr id="153" name="Picture 152" descr="1_862_605E5C.png"/>
          <p:cNvPicPr>
            <a:picLocks noChangeAspect="1"/>
          </p:cNvPicPr>
          <p:nvPr/>
        </p:nvPicPr>
        <p:blipFill>
          <a:blip r:embed="rId37"/>
          <a:stretch>
            <a:fillRect/>
          </a:stretch>
        </p:blipFill>
        <p:spPr>
          <a:xfrm>
            <a:off x="10905955" y="2779432"/>
            <a:ext cx="1195728" cy="361950"/>
          </a:xfrm>
          <a:prstGeom prst="rect">
            <a:avLst/>
          </a:prstGeom>
        </p:spPr>
      </p:pic>
      <p:pic>
        <p:nvPicPr>
          <p:cNvPr id="154" name="Picture 153" descr="5_2__605E5C.png"/>
          <p:cNvPicPr>
            <a:picLocks noChangeAspect="1"/>
          </p:cNvPicPr>
          <p:nvPr/>
        </p:nvPicPr>
        <p:blipFill>
          <a:blip r:embed="rId38"/>
          <a:stretch>
            <a:fillRect/>
          </a:stretch>
        </p:blipFill>
        <p:spPr>
          <a:xfrm>
            <a:off x="11012601" y="3272281"/>
            <a:ext cx="982436" cy="361950"/>
          </a:xfrm>
          <a:prstGeom prst="rect">
            <a:avLst/>
          </a:prstGeom>
        </p:spPr>
      </p:pic>
      <p:pic>
        <p:nvPicPr>
          <p:cNvPr id="155" name="Picture 154" descr="lock.png"/>
          <p:cNvPicPr>
            <a:picLocks noChangeAspect="1"/>
          </p:cNvPicPr>
          <p:nvPr/>
        </p:nvPicPr>
        <p:blipFill>
          <a:blip r:embed="rId39"/>
          <a:stretch>
            <a:fillRect/>
          </a:stretch>
        </p:blipFill>
        <p:spPr>
          <a:xfrm>
            <a:off x="2137886" y="2827057"/>
            <a:ext cx="183356" cy="266700"/>
          </a:xfrm>
          <a:prstGeom prst="rect">
            <a:avLst/>
          </a:prstGeom>
        </p:spPr>
      </p:pic>
      <p:pic>
        <p:nvPicPr>
          <p:cNvPr id="156" name="Picture 155" descr="lock.png"/>
          <p:cNvPicPr>
            <a:picLocks noChangeAspect="1"/>
          </p:cNvPicPr>
          <p:nvPr/>
        </p:nvPicPr>
        <p:blipFill>
          <a:blip r:embed="rId39"/>
          <a:stretch>
            <a:fillRect/>
          </a:stretch>
        </p:blipFill>
        <p:spPr>
          <a:xfrm>
            <a:off x="2980847" y="2827057"/>
            <a:ext cx="183356" cy="266700"/>
          </a:xfrm>
          <a:prstGeom prst="rect">
            <a:avLst/>
          </a:prstGeom>
        </p:spPr>
      </p:pic>
      <p:pic>
        <p:nvPicPr>
          <p:cNvPr id="157" name="Picture 156" descr="lock.png"/>
          <p:cNvPicPr>
            <a:picLocks noChangeAspect="1"/>
          </p:cNvPicPr>
          <p:nvPr/>
        </p:nvPicPr>
        <p:blipFill>
          <a:blip r:embed="rId39"/>
          <a:stretch>
            <a:fillRect/>
          </a:stretch>
        </p:blipFill>
        <p:spPr>
          <a:xfrm>
            <a:off x="3823811" y="2827057"/>
            <a:ext cx="183356" cy="266700"/>
          </a:xfrm>
          <a:prstGeom prst="rect">
            <a:avLst/>
          </a:prstGeom>
        </p:spPr>
      </p:pic>
      <p:pic>
        <p:nvPicPr>
          <p:cNvPr id="158" name="Picture 157" descr="lock.png"/>
          <p:cNvPicPr>
            <a:picLocks noChangeAspect="1"/>
          </p:cNvPicPr>
          <p:nvPr/>
        </p:nvPicPr>
        <p:blipFill>
          <a:blip r:embed="rId39"/>
          <a:stretch>
            <a:fillRect/>
          </a:stretch>
        </p:blipFill>
        <p:spPr>
          <a:xfrm>
            <a:off x="4666774" y="2827057"/>
            <a:ext cx="183356" cy="266700"/>
          </a:xfrm>
          <a:prstGeom prst="rect">
            <a:avLst/>
          </a:prstGeom>
        </p:spPr>
      </p:pic>
      <p:pic>
        <p:nvPicPr>
          <p:cNvPr id="159" name="Picture 158" descr="lock.png"/>
          <p:cNvPicPr>
            <a:picLocks noChangeAspect="1"/>
          </p:cNvPicPr>
          <p:nvPr/>
        </p:nvPicPr>
        <p:blipFill>
          <a:blip r:embed="rId39"/>
          <a:stretch>
            <a:fillRect/>
          </a:stretch>
        </p:blipFill>
        <p:spPr>
          <a:xfrm>
            <a:off x="5509736" y="2827057"/>
            <a:ext cx="183356" cy="266700"/>
          </a:xfrm>
          <a:prstGeom prst="rect">
            <a:avLst/>
          </a:prstGeom>
        </p:spPr>
      </p:pic>
      <p:pic>
        <p:nvPicPr>
          <p:cNvPr id="160" name="Picture 159" descr="lock.png"/>
          <p:cNvPicPr>
            <a:picLocks noChangeAspect="1"/>
          </p:cNvPicPr>
          <p:nvPr/>
        </p:nvPicPr>
        <p:blipFill>
          <a:blip r:embed="rId39"/>
          <a:stretch>
            <a:fillRect/>
          </a:stretch>
        </p:blipFill>
        <p:spPr>
          <a:xfrm>
            <a:off x="6352698" y="2827057"/>
            <a:ext cx="183356" cy="266700"/>
          </a:xfrm>
          <a:prstGeom prst="rect">
            <a:avLst/>
          </a:prstGeom>
        </p:spPr>
      </p:pic>
      <p:pic>
        <p:nvPicPr>
          <p:cNvPr id="161" name="Picture 160" descr="lock.png"/>
          <p:cNvPicPr>
            <a:picLocks noChangeAspect="1"/>
          </p:cNvPicPr>
          <p:nvPr/>
        </p:nvPicPr>
        <p:blipFill>
          <a:blip r:embed="rId39"/>
          <a:stretch>
            <a:fillRect/>
          </a:stretch>
        </p:blipFill>
        <p:spPr>
          <a:xfrm>
            <a:off x="7195661" y="2827057"/>
            <a:ext cx="183356" cy="266700"/>
          </a:xfrm>
          <a:prstGeom prst="rect">
            <a:avLst/>
          </a:prstGeom>
        </p:spPr>
      </p:pic>
      <p:pic>
        <p:nvPicPr>
          <p:cNvPr id="162" name="Picture 161" descr="lock.png"/>
          <p:cNvPicPr>
            <a:picLocks noChangeAspect="1"/>
          </p:cNvPicPr>
          <p:nvPr/>
        </p:nvPicPr>
        <p:blipFill>
          <a:blip r:embed="rId39"/>
          <a:stretch>
            <a:fillRect/>
          </a:stretch>
        </p:blipFill>
        <p:spPr>
          <a:xfrm>
            <a:off x="8038624" y="2827057"/>
            <a:ext cx="183356" cy="266700"/>
          </a:xfrm>
          <a:prstGeom prst="rect">
            <a:avLst/>
          </a:prstGeom>
        </p:spPr>
      </p:pic>
      <p:pic>
        <p:nvPicPr>
          <p:cNvPr id="163" name="Picture 162" descr="lock.png"/>
          <p:cNvPicPr>
            <a:picLocks noChangeAspect="1"/>
          </p:cNvPicPr>
          <p:nvPr/>
        </p:nvPicPr>
        <p:blipFill>
          <a:blip r:embed="rId39"/>
          <a:stretch>
            <a:fillRect/>
          </a:stretch>
        </p:blipFill>
        <p:spPr>
          <a:xfrm>
            <a:off x="8881586" y="2827057"/>
            <a:ext cx="183356" cy="266700"/>
          </a:xfrm>
          <a:prstGeom prst="rect">
            <a:avLst/>
          </a:prstGeom>
        </p:spPr>
      </p:pic>
      <p:pic>
        <p:nvPicPr>
          <p:cNvPr id="164" name="Picture 163" descr="lock.png"/>
          <p:cNvPicPr>
            <a:picLocks noChangeAspect="1"/>
          </p:cNvPicPr>
          <p:nvPr/>
        </p:nvPicPr>
        <p:blipFill>
          <a:blip r:embed="rId39"/>
          <a:stretch>
            <a:fillRect/>
          </a:stretch>
        </p:blipFill>
        <p:spPr>
          <a:xfrm>
            <a:off x="9724548" y="2827057"/>
            <a:ext cx="183356" cy="266700"/>
          </a:xfrm>
          <a:prstGeom prst="rect">
            <a:avLst/>
          </a:prstGeom>
        </p:spPr>
      </p:pic>
      <p:pic>
        <p:nvPicPr>
          <p:cNvPr id="165" name="Picture 164" descr="lock.png"/>
          <p:cNvPicPr>
            <a:picLocks noChangeAspect="1"/>
          </p:cNvPicPr>
          <p:nvPr/>
        </p:nvPicPr>
        <p:blipFill>
          <a:blip r:embed="rId39"/>
          <a:stretch>
            <a:fillRect/>
          </a:stretch>
        </p:blipFill>
        <p:spPr>
          <a:xfrm>
            <a:off x="10567511" y="2827057"/>
            <a:ext cx="183356" cy="266700"/>
          </a:xfrm>
          <a:prstGeom prst="rect">
            <a:avLst/>
          </a:prstGeom>
        </p:spPr>
      </p:pic>
      <p:pic>
        <p:nvPicPr>
          <p:cNvPr id="166" name="Picture 165" descr="lock.png"/>
          <p:cNvPicPr>
            <a:picLocks noChangeAspect="1"/>
          </p:cNvPicPr>
          <p:nvPr/>
        </p:nvPicPr>
        <p:blipFill>
          <a:blip r:embed="rId39"/>
          <a:stretch>
            <a:fillRect/>
          </a:stretch>
        </p:blipFill>
        <p:spPr>
          <a:xfrm>
            <a:off x="11410474" y="2827057"/>
            <a:ext cx="183356" cy="266700"/>
          </a:xfrm>
          <a:prstGeom prst="rect">
            <a:avLst/>
          </a:prstGeom>
        </p:spPr>
      </p:pic>
      <p:sp>
        <p:nvSpPr>
          <p:cNvPr id="167" name="TextBox 166"/>
          <p:cNvSpPr txBox="1"/>
          <p:nvPr/>
        </p:nvSpPr>
        <p:spPr>
          <a:xfrm>
            <a:off x="485775" y="4229437"/>
            <a:ext cx="2536775" cy="186689"/>
          </a:xfrm>
          <a:prstGeom prst="rect">
            <a:avLst/>
          </a:prstGeom>
          <a:noFill/>
        </p:spPr>
        <p:txBody>
          <a:bodyPr wrap="none" lIns="0" rIns="0" tIns="0" bIns="0">
            <a:spAutoFit/>
          </a:bodyPr>
          <a:lstStyle/>
          <a:p>
            <a:r>
              <a:rPr sz="1100" b="0">
                <a:solidFill>
                  <a:srgbClr val="2E2E2E"/>
                </a:solidFill>
                <a:latin typeface="Calibri"/>
              </a:rPr>
              <a:t>Among floriculture by flower species, tulips</a:t>
            </a:r>
          </a:p>
        </p:txBody>
      </p:sp>
      <p:sp>
        <p:nvSpPr>
          <p:cNvPr id="168" name="TextBox 167"/>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169" name="TextBox 168"/>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170" name="Picture 169" descr="lock.png"/>
          <p:cNvPicPr>
            <a:picLocks noChangeAspect="1"/>
          </p:cNvPicPr>
          <p:nvPr/>
        </p:nvPicPr>
        <p:blipFill>
          <a:blip r:embed="rId39"/>
          <a:stretch>
            <a:fillRect/>
          </a:stretch>
        </p:blipFill>
        <p:spPr>
          <a:xfrm>
            <a:off x="626261" y="4554938"/>
            <a:ext cx="128699" cy="187198"/>
          </a:xfrm>
          <a:prstGeom prst="rect">
            <a:avLst/>
          </a:prstGeom>
        </p:spPr>
      </p:pic>
      <p:sp>
        <p:nvSpPr>
          <p:cNvPr id="171" name="TextBox 170"/>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172" name="TextBox 171"/>
          <p:cNvSpPr txBox="1"/>
          <p:nvPr/>
        </p:nvSpPr>
        <p:spPr>
          <a:xfrm>
            <a:off x="485775" y="4732357"/>
            <a:ext cx="2773337" cy="186689"/>
          </a:xfrm>
          <a:prstGeom prst="rect">
            <a:avLst/>
          </a:prstGeom>
          <a:noFill/>
        </p:spPr>
        <p:txBody>
          <a:bodyPr wrap="none" lIns="0" rIns="0" tIns="0" bIns="0">
            <a:spAutoFit/>
          </a:bodyPr>
          <a:lstStyle/>
          <a:p>
            <a:r>
              <a:rPr sz="1100" b="0">
                <a:solidFill>
                  <a:srgbClr val="2E2E2E"/>
                </a:solidFill>
                <a:latin typeface="Calibri"/>
              </a:rPr>
              <a:t>share by flower species, the gerbera segment is</a:t>
            </a:r>
          </a:p>
        </p:txBody>
      </p:sp>
      <p:sp>
        <p:nvSpPr>
          <p:cNvPr id="173" name="TextBox 172"/>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74" name="Picture 173" descr="lock.png"/>
          <p:cNvPicPr>
            <a:picLocks noChangeAspect="1"/>
          </p:cNvPicPr>
          <p:nvPr/>
        </p:nvPicPr>
        <p:blipFill>
          <a:blip r:embed="rId39"/>
          <a:stretch>
            <a:fillRect/>
          </a:stretch>
        </p:blipFill>
        <p:spPr>
          <a:xfrm>
            <a:off x="2900479" y="4890217"/>
            <a:ext cx="128699" cy="187198"/>
          </a:xfrm>
          <a:prstGeom prst="rect">
            <a:avLst/>
          </a:prstGeom>
        </p:spPr>
      </p:pic>
      <p:sp>
        <p:nvSpPr>
          <p:cNvPr id="175" name="TextBox 174"/>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76" name="TextBox 175"/>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77" name="Picture 176" descr="lock.png"/>
          <p:cNvPicPr>
            <a:picLocks noChangeAspect="1"/>
          </p:cNvPicPr>
          <p:nvPr/>
        </p:nvPicPr>
        <p:blipFill>
          <a:blip r:embed="rId39"/>
          <a:stretch>
            <a:fillRect/>
          </a:stretch>
        </p:blipFill>
        <p:spPr>
          <a:xfrm>
            <a:off x="1576057" y="5057858"/>
            <a:ext cx="128699" cy="187198"/>
          </a:xfrm>
          <a:prstGeom prst="rect">
            <a:avLst/>
          </a:prstGeom>
        </p:spPr>
      </p:pic>
      <p:sp>
        <p:nvSpPr>
          <p:cNvPr id="178" name="TextBox 177"/>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79" name="TextBox 178"/>
          <p:cNvSpPr txBox="1"/>
          <p:nvPr/>
        </p:nvSpPr>
        <p:spPr>
          <a:xfrm>
            <a:off x="485775" y="5285569"/>
            <a:ext cx="2382887" cy="186689"/>
          </a:xfrm>
          <a:prstGeom prst="rect">
            <a:avLst/>
          </a:prstGeom>
          <a:noFill/>
        </p:spPr>
        <p:txBody>
          <a:bodyPr wrap="none" lIns="0" rIns="0" tIns="0" bIns="0">
            <a:spAutoFit/>
          </a:bodyPr>
          <a:lstStyle/>
          <a:p>
            <a:r>
              <a:rPr sz="1100" b="0">
                <a:solidFill>
                  <a:srgbClr val="2E2E2E"/>
                </a:solidFill>
                <a:latin typeface="Calibri"/>
              </a:rPr>
              <a:t>Gerbera segment is projected to register</a:t>
            </a:r>
          </a:p>
        </p:txBody>
      </p:sp>
      <p:pic>
        <p:nvPicPr>
          <p:cNvPr id="180" name="Picture 179" descr="lock.png"/>
          <p:cNvPicPr>
            <a:picLocks noChangeAspect="1"/>
          </p:cNvPicPr>
          <p:nvPr/>
        </p:nvPicPr>
        <p:blipFill>
          <a:blip r:embed="rId39"/>
          <a:stretch>
            <a:fillRect/>
          </a:stretch>
        </p:blipFill>
        <p:spPr>
          <a:xfrm>
            <a:off x="2816713" y="5275790"/>
            <a:ext cx="128699" cy="187198"/>
          </a:xfrm>
          <a:prstGeom prst="rect">
            <a:avLst/>
          </a:prstGeom>
        </p:spPr>
      </p:pic>
      <p:sp>
        <p:nvSpPr>
          <p:cNvPr id="181" name="TextBox 180"/>
          <p:cNvSpPr txBox="1"/>
          <p:nvPr/>
        </p:nvSpPr>
        <p:spPr>
          <a:xfrm>
            <a:off x="2984209"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82" name="TextBox 181"/>
          <p:cNvSpPr txBox="1"/>
          <p:nvPr/>
        </p:nvSpPr>
        <p:spPr>
          <a:xfrm>
            <a:off x="485775" y="5453209"/>
            <a:ext cx="2706761" cy="186689"/>
          </a:xfrm>
          <a:prstGeom prst="rect">
            <a:avLst/>
          </a:prstGeom>
          <a:noFill/>
        </p:spPr>
        <p:txBody>
          <a:bodyPr wrap="none" lIns="0" rIns="0" tIns="0" bIns="0">
            <a:spAutoFit/>
          </a:bodyPr>
          <a:lstStyle/>
          <a:p>
            <a:r>
              <a:rPr sz="1100" b="0">
                <a:solidFill>
                  <a:srgbClr val="2E2E2E"/>
                </a:solidFill>
                <a:latin typeface="Calibri"/>
              </a:rPr>
              <a:t>higher value than carnations segment in 2036.</a:t>
            </a:r>
          </a:p>
        </p:txBody>
      </p:sp>
      <p:sp>
        <p:nvSpPr>
          <p:cNvPr id="183" name="TextBox 182"/>
          <p:cNvSpPr txBox="1"/>
          <p:nvPr/>
        </p:nvSpPr>
        <p:spPr>
          <a:xfrm>
            <a:off x="3838575" y="4229437"/>
            <a:ext cx="546301" cy="146456"/>
          </a:xfrm>
          <a:prstGeom prst="rect">
            <a:avLst/>
          </a:prstGeom>
          <a:noFill/>
        </p:spPr>
        <p:txBody>
          <a:bodyPr wrap="none" lIns="0" rIns="0" tIns="0" bIns="0">
            <a:spAutoFit/>
          </a:bodyPr>
          <a:lstStyle/>
          <a:p>
            <a:r>
              <a:rPr sz="835" b="0">
                <a:solidFill>
                  <a:srgbClr val="2E2E2E"/>
                </a:solidFill>
                <a:latin typeface="Calibri"/>
              </a:rPr>
              <a:t>● Gerbera:</a:t>
            </a:r>
          </a:p>
        </p:txBody>
      </p:sp>
      <p:pic>
        <p:nvPicPr>
          <p:cNvPr id="184" name="Picture 183" descr="lock.png"/>
          <p:cNvPicPr>
            <a:picLocks noChangeAspect="1"/>
          </p:cNvPicPr>
          <p:nvPr/>
        </p:nvPicPr>
        <p:blipFill>
          <a:blip r:embed="rId39"/>
          <a:stretch>
            <a:fillRect/>
          </a:stretch>
        </p:blipFill>
        <p:spPr>
          <a:xfrm>
            <a:off x="4327107" y="4222004"/>
            <a:ext cx="97811" cy="142270"/>
          </a:xfrm>
          <a:prstGeom prst="rect">
            <a:avLst/>
          </a:prstGeom>
        </p:spPr>
      </p:pic>
      <p:sp>
        <p:nvSpPr>
          <p:cNvPr id="185" name="TextBox 184"/>
          <p:cNvSpPr txBox="1"/>
          <p:nvPr/>
        </p:nvSpPr>
        <p:spPr>
          <a:xfrm>
            <a:off x="4454404" y="4229437"/>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86" name="Picture 185" descr="lock.png"/>
          <p:cNvPicPr>
            <a:picLocks noChangeAspect="1"/>
          </p:cNvPicPr>
          <p:nvPr/>
        </p:nvPicPr>
        <p:blipFill>
          <a:blip r:embed="rId39"/>
          <a:stretch>
            <a:fillRect/>
          </a:stretch>
        </p:blipFill>
        <p:spPr>
          <a:xfrm>
            <a:off x="5107586" y="4222004"/>
            <a:ext cx="97811" cy="142270"/>
          </a:xfrm>
          <a:prstGeom prst="rect">
            <a:avLst/>
          </a:prstGeom>
        </p:spPr>
      </p:pic>
      <p:sp>
        <p:nvSpPr>
          <p:cNvPr id="187" name="TextBox 186"/>
          <p:cNvSpPr txBox="1"/>
          <p:nvPr/>
        </p:nvSpPr>
        <p:spPr>
          <a:xfrm>
            <a:off x="5234883" y="4229437"/>
            <a:ext cx="1160924" cy="146456"/>
          </a:xfrm>
          <a:prstGeom prst="rect">
            <a:avLst/>
          </a:prstGeom>
          <a:noFill/>
        </p:spPr>
        <p:txBody>
          <a:bodyPr wrap="none" lIns="0" rIns="0" tIns="0" bIns="0">
            <a:spAutoFit/>
          </a:bodyPr>
          <a:lstStyle/>
          <a:p>
            <a:r>
              <a:rPr sz="835" b="0">
                <a:solidFill>
                  <a:srgbClr val="2E2E2E"/>
                </a:solidFill>
                <a:latin typeface="Calibri"/>
              </a:rPr>
              <a:t>CAGR leads the segment.</a:t>
            </a:r>
          </a:p>
        </p:txBody>
      </p:sp>
      <p:sp>
        <p:nvSpPr>
          <p:cNvPr id="188" name="TextBox 187"/>
          <p:cNvSpPr txBox="1"/>
          <p:nvPr/>
        </p:nvSpPr>
        <p:spPr>
          <a:xfrm>
            <a:off x="3838575" y="4395065"/>
            <a:ext cx="657242" cy="146456"/>
          </a:xfrm>
          <a:prstGeom prst="rect">
            <a:avLst/>
          </a:prstGeom>
          <a:noFill/>
        </p:spPr>
        <p:txBody>
          <a:bodyPr wrap="none" lIns="0" rIns="0" tIns="0" bIns="0">
            <a:spAutoFit/>
          </a:bodyPr>
          <a:lstStyle/>
          <a:p>
            <a:r>
              <a:rPr sz="835" b="0">
                <a:solidFill>
                  <a:srgbClr val="2E2E2E"/>
                </a:solidFill>
                <a:latin typeface="Calibri"/>
              </a:rPr>
              <a:t>● Carnations:</a:t>
            </a:r>
          </a:p>
        </p:txBody>
      </p:sp>
      <p:pic>
        <p:nvPicPr>
          <p:cNvPr id="189" name="Picture 188" descr="lock.png"/>
          <p:cNvPicPr>
            <a:picLocks noChangeAspect="1"/>
          </p:cNvPicPr>
          <p:nvPr/>
        </p:nvPicPr>
        <p:blipFill>
          <a:blip r:embed="rId39"/>
          <a:stretch>
            <a:fillRect/>
          </a:stretch>
        </p:blipFill>
        <p:spPr>
          <a:xfrm>
            <a:off x="4438049" y="4387633"/>
            <a:ext cx="97811" cy="142270"/>
          </a:xfrm>
          <a:prstGeom prst="rect">
            <a:avLst/>
          </a:prstGeom>
        </p:spPr>
      </p:pic>
      <p:sp>
        <p:nvSpPr>
          <p:cNvPr id="190" name="TextBox 189"/>
          <p:cNvSpPr txBox="1"/>
          <p:nvPr/>
        </p:nvSpPr>
        <p:spPr>
          <a:xfrm>
            <a:off x="4565345" y="4395065"/>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91" name="Picture 190" descr="lock.png"/>
          <p:cNvPicPr>
            <a:picLocks noChangeAspect="1"/>
          </p:cNvPicPr>
          <p:nvPr/>
        </p:nvPicPr>
        <p:blipFill>
          <a:blip r:embed="rId39"/>
          <a:stretch>
            <a:fillRect/>
          </a:stretch>
        </p:blipFill>
        <p:spPr>
          <a:xfrm>
            <a:off x="5218528" y="4387633"/>
            <a:ext cx="97811" cy="142270"/>
          </a:xfrm>
          <a:prstGeom prst="rect">
            <a:avLst/>
          </a:prstGeom>
        </p:spPr>
      </p:pic>
      <p:sp>
        <p:nvSpPr>
          <p:cNvPr id="192" name="TextBox 191"/>
          <p:cNvSpPr txBox="1"/>
          <p:nvPr/>
        </p:nvSpPr>
        <p:spPr>
          <a:xfrm>
            <a:off x="5345824" y="4395065"/>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193" name="TextBox 192"/>
          <p:cNvSpPr txBox="1"/>
          <p:nvPr/>
        </p:nvSpPr>
        <p:spPr>
          <a:xfrm>
            <a:off x="3838575" y="4560693"/>
            <a:ext cx="405084" cy="146456"/>
          </a:xfrm>
          <a:prstGeom prst="rect">
            <a:avLst/>
          </a:prstGeom>
          <a:noFill/>
        </p:spPr>
        <p:txBody>
          <a:bodyPr wrap="none" lIns="0" rIns="0" tIns="0" bIns="0">
            <a:spAutoFit/>
          </a:bodyPr>
          <a:lstStyle/>
          <a:p>
            <a:r>
              <a:rPr sz="835" b="0">
                <a:solidFill>
                  <a:srgbClr val="2E2E2E"/>
                </a:solidFill>
                <a:latin typeface="Calibri"/>
              </a:rPr>
              <a:t>● Lilies:</a:t>
            </a:r>
          </a:p>
        </p:txBody>
      </p:sp>
      <p:pic>
        <p:nvPicPr>
          <p:cNvPr id="194" name="Picture 193" descr="lock.png"/>
          <p:cNvPicPr>
            <a:picLocks noChangeAspect="1"/>
          </p:cNvPicPr>
          <p:nvPr/>
        </p:nvPicPr>
        <p:blipFill>
          <a:blip r:embed="rId39"/>
          <a:stretch>
            <a:fillRect/>
          </a:stretch>
        </p:blipFill>
        <p:spPr>
          <a:xfrm>
            <a:off x="4185890" y="4553261"/>
            <a:ext cx="97811" cy="142270"/>
          </a:xfrm>
          <a:prstGeom prst="rect">
            <a:avLst/>
          </a:prstGeom>
        </p:spPr>
      </p:pic>
      <p:sp>
        <p:nvSpPr>
          <p:cNvPr id="195" name="TextBox 194"/>
          <p:cNvSpPr txBox="1"/>
          <p:nvPr/>
        </p:nvSpPr>
        <p:spPr>
          <a:xfrm>
            <a:off x="4313187" y="4560693"/>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96" name="Picture 195" descr="lock.png"/>
          <p:cNvPicPr>
            <a:picLocks noChangeAspect="1"/>
          </p:cNvPicPr>
          <p:nvPr/>
        </p:nvPicPr>
        <p:blipFill>
          <a:blip r:embed="rId39"/>
          <a:stretch>
            <a:fillRect/>
          </a:stretch>
        </p:blipFill>
        <p:spPr>
          <a:xfrm>
            <a:off x="4966369" y="4553261"/>
            <a:ext cx="97811" cy="142270"/>
          </a:xfrm>
          <a:prstGeom prst="rect">
            <a:avLst/>
          </a:prstGeom>
        </p:spPr>
      </p:pic>
      <p:sp>
        <p:nvSpPr>
          <p:cNvPr id="197" name="TextBox 196"/>
          <p:cNvSpPr txBox="1"/>
          <p:nvPr/>
        </p:nvSpPr>
        <p:spPr>
          <a:xfrm>
            <a:off x="5093666" y="4560693"/>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198" name="TextBox 197"/>
          <p:cNvSpPr txBox="1"/>
          <p:nvPr/>
        </p:nvSpPr>
        <p:spPr>
          <a:xfrm>
            <a:off x="3838575" y="4726321"/>
            <a:ext cx="531163" cy="146456"/>
          </a:xfrm>
          <a:prstGeom prst="rect">
            <a:avLst/>
          </a:prstGeom>
          <a:noFill/>
        </p:spPr>
        <p:txBody>
          <a:bodyPr wrap="none" lIns="0" rIns="0" tIns="0" bIns="0">
            <a:spAutoFit/>
          </a:bodyPr>
          <a:lstStyle/>
          <a:p>
            <a:r>
              <a:rPr sz="835" b="0">
                <a:solidFill>
                  <a:srgbClr val="2E2E2E"/>
                </a:solidFill>
                <a:latin typeface="Calibri"/>
              </a:rPr>
              <a:t>● Peonies:</a:t>
            </a:r>
          </a:p>
        </p:txBody>
      </p:sp>
      <p:pic>
        <p:nvPicPr>
          <p:cNvPr id="199" name="Picture 198" descr="lock.png"/>
          <p:cNvPicPr>
            <a:picLocks noChangeAspect="1"/>
          </p:cNvPicPr>
          <p:nvPr/>
        </p:nvPicPr>
        <p:blipFill>
          <a:blip r:embed="rId39"/>
          <a:stretch>
            <a:fillRect/>
          </a:stretch>
        </p:blipFill>
        <p:spPr>
          <a:xfrm>
            <a:off x="4311969" y="4718889"/>
            <a:ext cx="97811" cy="142270"/>
          </a:xfrm>
          <a:prstGeom prst="rect">
            <a:avLst/>
          </a:prstGeom>
        </p:spPr>
      </p:pic>
      <p:sp>
        <p:nvSpPr>
          <p:cNvPr id="200" name="TextBox 199"/>
          <p:cNvSpPr txBox="1"/>
          <p:nvPr/>
        </p:nvSpPr>
        <p:spPr>
          <a:xfrm>
            <a:off x="4439266" y="4726321"/>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01" name="Picture 200" descr="lock.png"/>
          <p:cNvPicPr>
            <a:picLocks noChangeAspect="1"/>
          </p:cNvPicPr>
          <p:nvPr/>
        </p:nvPicPr>
        <p:blipFill>
          <a:blip r:embed="rId39"/>
          <a:stretch>
            <a:fillRect/>
          </a:stretch>
        </p:blipFill>
        <p:spPr>
          <a:xfrm>
            <a:off x="5092448" y="4718889"/>
            <a:ext cx="97811" cy="142270"/>
          </a:xfrm>
          <a:prstGeom prst="rect">
            <a:avLst/>
          </a:prstGeom>
        </p:spPr>
      </p:pic>
      <p:sp>
        <p:nvSpPr>
          <p:cNvPr id="202" name="TextBox 201"/>
          <p:cNvSpPr txBox="1"/>
          <p:nvPr/>
        </p:nvSpPr>
        <p:spPr>
          <a:xfrm>
            <a:off x="5219745" y="4726321"/>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03" name="TextBox 202"/>
          <p:cNvSpPr txBox="1"/>
          <p:nvPr/>
        </p:nvSpPr>
        <p:spPr>
          <a:xfrm>
            <a:off x="3838575" y="4891950"/>
            <a:ext cx="446557" cy="146456"/>
          </a:xfrm>
          <a:prstGeom prst="rect">
            <a:avLst/>
          </a:prstGeom>
          <a:noFill/>
        </p:spPr>
        <p:txBody>
          <a:bodyPr wrap="none" lIns="0" rIns="0" tIns="0" bIns="0">
            <a:spAutoFit/>
          </a:bodyPr>
          <a:lstStyle/>
          <a:p>
            <a:r>
              <a:rPr sz="835" b="0">
                <a:solidFill>
                  <a:srgbClr val="2E2E2E"/>
                </a:solidFill>
                <a:latin typeface="Calibri"/>
              </a:rPr>
              <a:t>● Tulips:</a:t>
            </a:r>
          </a:p>
        </p:txBody>
      </p:sp>
      <p:pic>
        <p:nvPicPr>
          <p:cNvPr id="204" name="Picture 203" descr="lock.png"/>
          <p:cNvPicPr>
            <a:picLocks noChangeAspect="1"/>
          </p:cNvPicPr>
          <p:nvPr/>
        </p:nvPicPr>
        <p:blipFill>
          <a:blip r:embed="rId39"/>
          <a:stretch>
            <a:fillRect/>
          </a:stretch>
        </p:blipFill>
        <p:spPr>
          <a:xfrm>
            <a:off x="4227364" y="4884518"/>
            <a:ext cx="97811" cy="142270"/>
          </a:xfrm>
          <a:prstGeom prst="rect">
            <a:avLst/>
          </a:prstGeom>
        </p:spPr>
      </p:pic>
      <p:sp>
        <p:nvSpPr>
          <p:cNvPr id="205" name="TextBox 204"/>
          <p:cNvSpPr txBox="1"/>
          <p:nvPr/>
        </p:nvSpPr>
        <p:spPr>
          <a:xfrm>
            <a:off x="4354660" y="4891950"/>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06" name="Picture 205" descr="lock.png"/>
          <p:cNvPicPr>
            <a:picLocks noChangeAspect="1"/>
          </p:cNvPicPr>
          <p:nvPr/>
        </p:nvPicPr>
        <p:blipFill>
          <a:blip r:embed="rId39"/>
          <a:stretch>
            <a:fillRect/>
          </a:stretch>
        </p:blipFill>
        <p:spPr>
          <a:xfrm>
            <a:off x="5007843" y="4884518"/>
            <a:ext cx="97811" cy="142270"/>
          </a:xfrm>
          <a:prstGeom prst="rect">
            <a:avLst/>
          </a:prstGeom>
        </p:spPr>
      </p:pic>
      <p:sp>
        <p:nvSpPr>
          <p:cNvPr id="207" name="TextBox 206"/>
          <p:cNvSpPr txBox="1"/>
          <p:nvPr/>
        </p:nvSpPr>
        <p:spPr>
          <a:xfrm>
            <a:off x="5135139" y="4891950"/>
            <a:ext cx="944433" cy="146456"/>
          </a:xfrm>
          <a:prstGeom prst="rect">
            <a:avLst/>
          </a:prstGeom>
          <a:noFill/>
        </p:spPr>
        <p:txBody>
          <a:bodyPr wrap="none" lIns="0" rIns="0" tIns="0" bIns="0">
            <a:spAutoFit/>
          </a:bodyPr>
          <a:lstStyle/>
          <a:p>
            <a:r>
              <a:rPr sz="835" b="0">
                <a:solidFill>
                  <a:srgbClr val="2E2E2E"/>
                </a:solidFill>
                <a:latin typeface="Calibri"/>
              </a:rPr>
              <a:t>CAGR grows fastest.</a:t>
            </a:r>
          </a:p>
        </p:txBody>
      </p:sp>
      <p:sp>
        <p:nvSpPr>
          <p:cNvPr id="208" name="TextBox 207"/>
          <p:cNvSpPr txBox="1"/>
          <p:nvPr/>
        </p:nvSpPr>
        <p:spPr>
          <a:xfrm>
            <a:off x="3838575" y="5057578"/>
            <a:ext cx="522661" cy="146456"/>
          </a:xfrm>
          <a:prstGeom prst="rect">
            <a:avLst/>
          </a:prstGeom>
          <a:noFill/>
        </p:spPr>
        <p:txBody>
          <a:bodyPr wrap="none" lIns="0" rIns="0" tIns="0" bIns="0">
            <a:spAutoFit/>
          </a:bodyPr>
          <a:lstStyle/>
          <a:p>
            <a:r>
              <a:rPr sz="835" b="0">
                <a:solidFill>
                  <a:srgbClr val="2E2E2E"/>
                </a:solidFill>
                <a:latin typeface="Calibri"/>
              </a:rPr>
              <a:t>● Orchids:</a:t>
            </a:r>
          </a:p>
        </p:txBody>
      </p:sp>
      <p:pic>
        <p:nvPicPr>
          <p:cNvPr id="209" name="Picture 208" descr="lock.png"/>
          <p:cNvPicPr>
            <a:picLocks noChangeAspect="1"/>
          </p:cNvPicPr>
          <p:nvPr/>
        </p:nvPicPr>
        <p:blipFill>
          <a:blip r:embed="rId39"/>
          <a:stretch>
            <a:fillRect/>
          </a:stretch>
        </p:blipFill>
        <p:spPr>
          <a:xfrm>
            <a:off x="4303467" y="5050146"/>
            <a:ext cx="97811" cy="142270"/>
          </a:xfrm>
          <a:prstGeom prst="rect">
            <a:avLst/>
          </a:prstGeom>
        </p:spPr>
      </p:pic>
      <p:sp>
        <p:nvSpPr>
          <p:cNvPr id="210" name="TextBox 209"/>
          <p:cNvSpPr txBox="1"/>
          <p:nvPr/>
        </p:nvSpPr>
        <p:spPr>
          <a:xfrm>
            <a:off x="4430764" y="5057578"/>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11" name="Picture 210" descr="lock.png"/>
          <p:cNvPicPr>
            <a:picLocks noChangeAspect="1"/>
          </p:cNvPicPr>
          <p:nvPr/>
        </p:nvPicPr>
        <p:blipFill>
          <a:blip r:embed="rId39"/>
          <a:stretch>
            <a:fillRect/>
          </a:stretch>
        </p:blipFill>
        <p:spPr>
          <a:xfrm>
            <a:off x="5083946" y="5050146"/>
            <a:ext cx="97811" cy="142270"/>
          </a:xfrm>
          <a:prstGeom prst="rect">
            <a:avLst/>
          </a:prstGeom>
        </p:spPr>
      </p:pic>
      <p:sp>
        <p:nvSpPr>
          <p:cNvPr id="212" name="TextBox 211"/>
          <p:cNvSpPr txBox="1"/>
          <p:nvPr/>
        </p:nvSpPr>
        <p:spPr>
          <a:xfrm>
            <a:off x="5211243" y="5057578"/>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13" name="TextBox 212"/>
          <p:cNvSpPr txBox="1"/>
          <p:nvPr/>
        </p:nvSpPr>
        <p:spPr>
          <a:xfrm>
            <a:off x="3838575" y="5223206"/>
            <a:ext cx="442203" cy="146456"/>
          </a:xfrm>
          <a:prstGeom prst="rect">
            <a:avLst/>
          </a:prstGeom>
          <a:noFill/>
        </p:spPr>
        <p:txBody>
          <a:bodyPr wrap="none" lIns="0" rIns="0" tIns="0" bIns="0">
            <a:spAutoFit/>
          </a:bodyPr>
          <a:lstStyle/>
          <a:p>
            <a:r>
              <a:rPr sz="835" b="0">
                <a:solidFill>
                  <a:srgbClr val="2E2E2E"/>
                </a:solidFill>
                <a:latin typeface="Calibri"/>
              </a:rPr>
              <a:t>● Roses:</a:t>
            </a:r>
          </a:p>
        </p:txBody>
      </p:sp>
      <p:pic>
        <p:nvPicPr>
          <p:cNvPr id="214" name="Picture 213" descr="lock.png"/>
          <p:cNvPicPr>
            <a:picLocks noChangeAspect="1"/>
          </p:cNvPicPr>
          <p:nvPr/>
        </p:nvPicPr>
        <p:blipFill>
          <a:blip r:embed="rId39"/>
          <a:stretch>
            <a:fillRect/>
          </a:stretch>
        </p:blipFill>
        <p:spPr>
          <a:xfrm>
            <a:off x="4223009" y="5215774"/>
            <a:ext cx="97811" cy="142270"/>
          </a:xfrm>
          <a:prstGeom prst="rect">
            <a:avLst/>
          </a:prstGeom>
        </p:spPr>
      </p:pic>
      <p:sp>
        <p:nvSpPr>
          <p:cNvPr id="215" name="TextBox 214"/>
          <p:cNvSpPr txBox="1"/>
          <p:nvPr/>
        </p:nvSpPr>
        <p:spPr>
          <a:xfrm>
            <a:off x="4350306" y="5223206"/>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16" name="Picture 215" descr="lock.png"/>
          <p:cNvPicPr>
            <a:picLocks noChangeAspect="1"/>
          </p:cNvPicPr>
          <p:nvPr/>
        </p:nvPicPr>
        <p:blipFill>
          <a:blip r:embed="rId39"/>
          <a:stretch>
            <a:fillRect/>
          </a:stretch>
        </p:blipFill>
        <p:spPr>
          <a:xfrm>
            <a:off x="5003488" y="5215774"/>
            <a:ext cx="97811" cy="142270"/>
          </a:xfrm>
          <a:prstGeom prst="rect">
            <a:avLst/>
          </a:prstGeom>
        </p:spPr>
      </p:pic>
      <p:sp>
        <p:nvSpPr>
          <p:cNvPr id="217" name="TextBox 216"/>
          <p:cNvSpPr txBox="1"/>
          <p:nvPr/>
        </p:nvSpPr>
        <p:spPr>
          <a:xfrm>
            <a:off x="5130785" y="5223206"/>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18" name="TextBox 217"/>
          <p:cNvSpPr txBox="1"/>
          <p:nvPr/>
        </p:nvSpPr>
        <p:spPr>
          <a:xfrm>
            <a:off x="3838575" y="5388835"/>
            <a:ext cx="623027" cy="146456"/>
          </a:xfrm>
          <a:prstGeom prst="rect">
            <a:avLst/>
          </a:prstGeom>
          <a:noFill/>
        </p:spPr>
        <p:txBody>
          <a:bodyPr wrap="none" lIns="0" rIns="0" tIns="0" bIns="0">
            <a:spAutoFit/>
          </a:bodyPr>
          <a:lstStyle/>
          <a:p>
            <a:r>
              <a:rPr sz="835" b="0">
                <a:solidFill>
                  <a:srgbClr val="2E2E2E"/>
                </a:solidFill>
                <a:latin typeface="Calibri"/>
              </a:rPr>
              <a:t>● Lisianthus:</a:t>
            </a:r>
          </a:p>
        </p:txBody>
      </p:sp>
      <p:pic>
        <p:nvPicPr>
          <p:cNvPr id="219" name="Picture 218" descr="lock.png"/>
          <p:cNvPicPr>
            <a:picLocks noChangeAspect="1"/>
          </p:cNvPicPr>
          <p:nvPr/>
        </p:nvPicPr>
        <p:blipFill>
          <a:blip r:embed="rId39"/>
          <a:stretch>
            <a:fillRect/>
          </a:stretch>
        </p:blipFill>
        <p:spPr>
          <a:xfrm>
            <a:off x="4403833" y="5381403"/>
            <a:ext cx="97811" cy="142270"/>
          </a:xfrm>
          <a:prstGeom prst="rect">
            <a:avLst/>
          </a:prstGeom>
        </p:spPr>
      </p:pic>
      <p:sp>
        <p:nvSpPr>
          <p:cNvPr id="220" name="TextBox 219"/>
          <p:cNvSpPr txBox="1"/>
          <p:nvPr/>
        </p:nvSpPr>
        <p:spPr>
          <a:xfrm>
            <a:off x="4531130" y="5388835"/>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21" name="Picture 220" descr="lock.png"/>
          <p:cNvPicPr>
            <a:picLocks noChangeAspect="1"/>
          </p:cNvPicPr>
          <p:nvPr/>
        </p:nvPicPr>
        <p:blipFill>
          <a:blip r:embed="rId39"/>
          <a:stretch>
            <a:fillRect/>
          </a:stretch>
        </p:blipFill>
        <p:spPr>
          <a:xfrm>
            <a:off x="5184312" y="5381403"/>
            <a:ext cx="97811" cy="142270"/>
          </a:xfrm>
          <a:prstGeom prst="rect">
            <a:avLst/>
          </a:prstGeom>
        </p:spPr>
      </p:pic>
      <p:sp>
        <p:nvSpPr>
          <p:cNvPr id="222" name="TextBox 221"/>
          <p:cNvSpPr txBox="1"/>
          <p:nvPr/>
        </p:nvSpPr>
        <p:spPr>
          <a:xfrm>
            <a:off x="5311609" y="5388835"/>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23" name="TextBox 222"/>
          <p:cNvSpPr txBox="1"/>
          <p:nvPr/>
        </p:nvSpPr>
        <p:spPr>
          <a:xfrm>
            <a:off x="3838575" y="5554463"/>
            <a:ext cx="701619" cy="146456"/>
          </a:xfrm>
          <a:prstGeom prst="rect">
            <a:avLst/>
          </a:prstGeom>
          <a:noFill/>
        </p:spPr>
        <p:txBody>
          <a:bodyPr wrap="none" lIns="0" rIns="0" tIns="0" bIns="0">
            <a:spAutoFit/>
          </a:bodyPr>
          <a:lstStyle/>
          <a:p>
            <a:r>
              <a:rPr sz="835" b="0">
                <a:solidFill>
                  <a:srgbClr val="2E2E2E"/>
                </a:solidFill>
                <a:latin typeface="Calibri"/>
              </a:rPr>
              <a:t>● Hydrangeas:</a:t>
            </a:r>
          </a:p>
        </p:txBody>
      </p:sp>
      <p:pic>
        <p:nvPicPr>
          <p:cNvPr id="224" name="Picture 223" descr="lock.png"/>
          <p:cNvPicPr>
            <a:picLocks noChangeAspect="1"/>
          </p:cNvPicPr>
          <p:nvPr/>
        </p:nvPicPr>
        <p:blipFill>
          <a:blip r:embed="rId39"/>
          <a:stretch>
            <a:fillRect/>
          </a:stretch>
        </p:blipFill>
        <p:spPr>
          <a:xfrm>
            <a:off x="4482425" y="5547031"/>
            <a:ext cx="97811" cy="142270"/>
          </a:xfrm>
          <a:prstGeom prst="rect">
            <a:avLst/>
          </a:prstGeom>
        </p:spPr>
      </p:pic>
      <p:sp>
        <p:nvSpPr>
          <p:cNvPr id="225" name="TextBox 224"/>
          <p:cNvSpPr txBox="1"/>
          <p:nvPr/>
        </p:nvSpPr>
        <p:spPr>
          <a:xfrm>
            <a:off x="4609722" y="5554463"/>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26" name="Picture 225" descr="lock.png"/>
          <p:cNvPicPr>
            <a:picLocks noChangeAspect="1"/>
          </p:cNvPicPr>
          <p:nvPr/>
        </p:nvPicPr>
        <p:blipFill>
          <a:blip r:embed="rId39"/>
          <a:stretch>
            <a:fillRect/>
          </a:stretch>
        </p:blipFill>
        <p:spPr>
          <a:xfrm>
            <a:off x="5262904" y="5547031"/>
            <a:ext cx="97811" cy="142270"/>
          </a:xfrm>
          <a:prstGeom prst="rect">
            <a:avLst/>
          </a:prstGeom>
        </p:spPr>
      </p:pic>
      <p:sp>
        <p:nvSpPr>
          <p:cNvPr id="227" name="TextBox 226"/>
          <p:cNvSpPr txBox="1"/>
          <p:nvPr/>
        </p:nvSpPr>
        <p:spPr>
          <a:xfrm>
            <a:off x="5390201" y="5554463"/>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28" name="TextBox 227"/>
          <p:cNvSpPr txBox="1"/>
          <p:nvPr/>
        </p:nvSpPr>
        <p:spPr>
          <a:xfrm>
            <a:off x="3838575" y="5720091"/>
            <a:ext cx="751802" cy="146456"/>
          </a:xfrm>
          <a:prstGeom prst="rect">
            <a:avLst/>
          </a:prstGeom>
          <a:noFill/>
        </p:spPr>
        <p:txBody>
          <a:bodyPr wrap="none" lIns="0" rIns="0" tIns="0" bIns="0">
            <a:spAutoFit/>
          </a:bodyPr>
          <a:lstStyle/>
          <a:p>
            <a:r>
              <a:rPr sz="835" b="0">
                <a:solidFill>
                  <a:srgbClr val="2E2E2E"/>
                </a:solidFill>
                <a:latin typeface="Calibri"/>
              </a:rPr>
              <a:t>● Alstroemeria:</a:t>
            </a:r>
          </a:p>
        </p:txBody>
      </p:sp>
      <p:pic>
        <p:nvPicPr>
          <p:cNvPr id="229" name="Picture 228" descr="lock.png"/>
          <p:cNvPicPr>
            <a:picLocks noChangeAspect="1"/>
          </p:cNvPicPr>
          <p:nvPr/>
        </p:nvPicPr>
        <p:blipFill>
          <a:blip r:embed="rId39"/>
          <a:stretch>
            <a:fillRect/>
          </a:stretch>
        </p:blipFill>
        <p:spPr>
          <a:xfrm>
            <a:off x="4532608" y="5712659"/>
            <a:ext cx="97811" cy="142270"/>
          </a:xfrm>
          <a:prstGeom prst="rect">
            <a:avLst/>
          </a:prstGeom>
        </p:spPr>
      </p:pic>
      <p:sp>
        <p:nvSpPr>
          <p:cNvPr id="230" name="TextBox 229"/>
          <p:cNvSpPr txBox="1"/>
          <p:nvPr/>
        </p:nvSpPr>
        <p:spPr>
          <a:xfrm>
            <a:off x="4659905" y="5720091"/>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31" name="Picture 230" descr="lock.png"/>
          <p:cNvPicPr>
            <a:picLocks noChangeAspect="1"/>
          </p:cNvPicPr>
          <p:nvPr/>
        </p:nvPicPr>
        <p:blipFill>
          <a:blip r:embed="rId39"/>
          <a:stretch>
            <a:fillRect/>
          </a:stretch>
        </p:blipFill>
        <p:spPr>
          <a:xfrm>
            <a:off x="5313087" y="5712659"/>
            <a:ext cx="97811" cy="142270"/>
          </a:xfrm>
          <a:prstGeom prst="rect">
            <a:avLst/>
          </a:prstGeom>
        </p:spPr>
      </p:pic>
      <p:sp>
        <p:nvSpPr>
          <p:cNvPr id="232" name="TextBox 231"/>
          <p:cNvSpPr txBox="1"/>
          <p:nvPr/>
        </p:nvSpPr>
        <p:spPr>
          <a:xfrm>
            <a:off x="5440384" y="5720091"/>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33" name="TextBox 232"/>
          <p:cNvSpPr txBox="1"/>
          <p:nvPr/>
        </p:nvSpPr>
        <p:spPr>
          <a:xfrm>
            <a:off x="3838575" y="5885720"/>
            <a:ext cx="485957" cy="146456"/>
          </a:xfrm>
          <a:prstGeom prst="rect">
            <a:avLst/>
          </a:prstGeom>
          <a:noFill/>
        </p:spPr>
        <p:txBody>
          <a:bodyPr wrap="none" lIns="0" rIns="0" tIns="0" bIns="0">
            <a:spAutoFit/>
          </a:bodyPr>
          <a:lstStyle/>
          <a:p>
            <a:r>
              <a:rPr sz="835" b="0">
                <a:solidFill>
                  <a:srgbClr val="2E2E2E"/>
                </a:solidFill>
                <a:latin typeface="Calibri"/>
              </a:rPr>
              <a:t>● Others:</a:t>
            </a:r>
          </a:p>
        </p:txBody>
      </p:sp>
      <p:pic>
        <p:nvPicPr>
          <p:cNvPr id="234" name="Picture 233" descr="lock.png"/>
          <p:cNvPicPr>
            <a:picLocks noChangeAspect="1"/>
          </p:cNvPicPr>
          <p:nvPr/>
        </p:nvPicPr>
        <p:blipFill>
          <a:blip r:embed="rId39"/>
          <a:stretch>
            <a:fillRect/>
          </a:stretch>
        </p:blipFill>
        <p:spPr>
          <a:xfrm>
            <a:off x="4266763" y="5878288"/>
            <a:ext cx="97811" cy="142270"/>
          </a:xfrm>
          <a:prstGeom prst="rect">
            <a:avLst/>
          </a:prstGeom>
        </p:spPr>
      </p:pic>
      <p:sp>
        <p:nvSpPr>
          <p:cNvPr id="235" name="TextBox 234"/>
          <p:cNvSpPr txBox="1"/>
          <p:nvPr/>
        </p:nvSpPr>
        <p:spPr>
          <a:xfrm>
            <a:off x="4394060" y="5885720"/>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36" name="Picture 235" descr="lock.png"/>
          <p:cNvPicPr>
            <a:picLocks noChangeAspect="1"/>
          </p:cNvPicPr>
          <p:nvPr/>
        </p:nvPicPr>
        <p:blipFill>
          <a:blip r:embed="rId39"/>
          <a:stretch>
            <a:fillRect/>
          </a:stretch>
        </p:blipFill>
        <p:spPr>
          <a:xfrm>
            <a:off x="5047242" y="5878288"/>
            <a:ext cx="97811" cy="142270"/>
          </a:xfrm>
          <a:prstGeom prst="rect">
            <a:avLst/>
          </a:prstGeom>
        </p:spPr>
      </p:pic>
      <p:sp>
        <p:nvSpPr>
          <p:cNvPr id="237" name="TextBox 236"/>
          <p:cNvSpPr txBox="1"/>
          <p:nvPr/>
        </p:nvSpPr>
        <p:spPr>
          <a:xfrm>
            <a:off x="5174539" y="5885720"/>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38" name="TextBox 237"/>
          <p:cNvSpPr txBox="1"/>
          <p:nvPr/>
        </p:nvSpPr>
        <p:spPr>
          <a:xfrm>
            <a:off x="3838575" y="6051348"/>
            <a:ext cx="949630" cy="146456"/>
          </a:xfrm>
          <a:prstGeom prst="rect">
            <a:avLst/>
          </a:prstGeom>
          <a:noFill/>
        </p:spPr>
        <p:txBody>
          <a:bodyPr wrap="none" lIns="0" rIns="0" tIns="0" bIns="0">
            <a:spAutoFit/>
          </a:bodyPr>
          <a:lstStyle/>
          <a:p>
            <a:r>
              <a:rPr sz="835" b="0">
                <a:solidFill>
                  <a:srgbClr val="2E2E2E"/>
                </a:solidFill>
                <a:latin typeface="Calibri"/>
              </a:rPr>
              <a:t>● Chrysanthemums:</a:t>
            </a:r>
          </a:p>
        </p:txBody>
      </p:sp>
      <p:pic>
        <p:nvPicPr>
          <p:cNvPr id="239" name="Picture 238" descr="lock.png"/>
          <p:cNvPicPr>
            <a:picLocks noChangeAspect="1"/>
          </p:cNvPicPr>
          <p:nvPr/>
        </p:nvPicPr>
        <p:blipFill>
          <a:blip r:embed="rId39"/>
          <a:stretch>
            <a:fillRect/>
          </a:stretch>
        </p:blipFill>
        <p:spPr>
          <a:xfrm>
            <a:off x="4730436" y="6043916"/>
            <a:ext cx="97811" cy="142270"/>
          </a:xfrm>
          <a:prstGeom prst="rect">
            <a:avLst/>
          </a:prstGeom>
        </p:spPr>
      </p:pic>
      <p:sp>
        <p:nvSpPr>
          <p:cNvPr id="240" name="TextBox 239"/>
          <p:cNvSpPr txBox="1"/>
          <p:nvPr/>
        </p:nvSpPr>
        <p:spPr>
          <a:xfrm>
            <a:off x="4857733" y="6051348"/>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41" name="Picture 240" descr="lock.png"/>
          <p:cNvPicPr>
            <a:picLocks noChangeAspect="1"/>
          </p:cNvPicPr>
          <p:nvPr/>
        </p:nvPicPr>
        <p:blipFill>
          <a:blip r:embed="rId39"/>
          <a:stretch>
            <a:fillRect/>
          </a:stretch>
        </p:blipFill>
        <p:spPr>
          <a:xfrm>
            <a:off x="5510915" y="6043916"/>
            <a:ext cx="97811" cy="142270"/>
          </a:xfrm>
          <a:prstGeom prst="rect">
            <a:avLst/>
          </a:prstGeom>
        </p:spPr>
      </p:pic>
      <p:sp>
        <p:nvSpPr>
          <p:cNvPr id="242" name="TextBox 241"/>
          <p:cNvSpPr txBox="1"/>
          <p:nvPr/>
        </p:nvSpPr>
        <p:spPr>
          <a:xfrm>
            <a:off x="5638212" y="6051348"/>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43" name="TextBox 242"/>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Flower Species segment is projected to grow at</a:t>
            </a:r>
          </a:p>
        </p:txBody>
      </p:sp>
      <p:sp>
        <p:nvSpPr>
          <p:cNvPr id="244" name="TextBox 243"/>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245" name="Picture 244" descr="lock.png"/>
          <p:cNvPicPr>
            <a:picLocks noChangeAspect="1"/>
          </p:cNvPicPr>
          <p:nvPr/>
        </p:nvPicPr>
        <p:blipFill>
          <a:blip r:embed="rId39"/>
          <a:stretch>
            <a:fillRect/>
          </a:stretch>
        </p:blipFill>
        <p:spPr>
          <a:xfrm>
            <a:off x="9154084" y="6007677"/>
            <a:ext cx="134549" cy="195707"/>
          </a:xfrm>
          <a:prstGeom prst="rect">
            <a:avLst/>
          </a:prstGeom>
        </p:spPr>
      </p:pic>
      <p:sp>
        <p:nvSpPr>
          <p:cNvPr id="246" name="TextBox 245"/>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Flower Species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Flower Species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Flower Species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Flower Species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388625" cy="186689"/>
          </a:xfrm>
          <a:prstGeom prst="rect">
            <a:avLst/>
          </a:prstGeom>
          <a:noFill/>
        </p:spPr>
        <p:txBody>
          <a:bodyPr wrap="none" lIns="0" rIns="0" tIns="0" bIns="0">
            <a:spAutoFit/>
          </a:bodyPr>
          <a:lstStyle/>
          <a:p>
            <a:r>
              <a:rPr sz="1100" b="0">
                <a:solidFill>
                  <a:srgbClr val="2E2E2E"/>
                </a:solidFill>
                <a:latin typeface="Calibri"/>
              </a:rPr>
              <a:t>Gerbera followed by carnations are expected to be the two most attractive flower species segments in the global floriculture market in terms of value over the forecast period. Gerbera and carnations</a:t>
            </a:r>
          </a:p>
        </p:txBody>
      </p:sp>
      <p:sp>
        <p:nvSpPr>
          <p:cNvPr id="20" name="TextBox 19"/>
          <p:cNvSpPr txBox="1"/>
          <p:nvPr/>
        </p:nvSpPr>
        <p:spPr>
          <a:xfrm>
            <a:off x="257175" y="5945505"/>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1" name="Picture 20" descr="lock.png"/>
          <p:cNvPicPr>
            <a:picLocks noChangeAspect="1"/>
          </p:cNvPicPr>
          <p:nvPr/>
        </p:nvPicPr>
        <p:blipFill>
          <a:blip r:embed="rId6"/>
          <a:stretch>
            <a:fillRect/>
          </a:stretch>
        </p:blipFill>
        <p:spPr>
          <a:xfrm>
            <a:off x="1607740" y="5935726"/>
            <a:ext cx="128699" cy="187198"/>
          </a:xfrm>
          <a:prstGeom prst="rect">
            <a:avLst/>
          </a:prstGeom>
        </p:spPr>
      </p:pic>
      <p:sp>
        <p:nvSpPr>
          <p:cNvPr id="22" name="TextBox 21"/>
          <p:cNvSpPr txBox="1"/>
          <p:nvPr/>
        </p:nvSpPr>
        <p:spPr>
          <a:xfrm>
            <a:off x="177523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013131" y="5935726"/>
            <a:ext cx="128699" cy="187198"/>
          </a:xfrm>
          <a:prstGeom prst="rect">
            <a:avLst/>
          </a:prstGeom>
        </p:spPr>
      </p:pic>
      <p:sp>
        <p:nvSpPr>
          <p:cNvPr id="24" name="TextBox 23"/>
          <p:cNvSpPr txBox="1"/>
          <p:nvPr/>
        </p:nvSpPr>
        <p:spPr>
          <a:xfrm>
            <a:off x="218062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3789600" y="5935726"/>
            <a:ext cx="128699" cy="187198"/>
          </a:xfrm>
          <a:prstGeom prst="rect">
            <a:avLst/>
          </a:prstGeom>
        </p:spPr>
      </p:pic>
      <p:sp>
        <p:nvSpPr>
          <p:cNvPr id="26" name="TextBox 25"/>
          <p:cNvSpPr txBox="1"/>
          <p:nvPr/>
        </p:nvSpPr>
        <p:spPr>
          <a:xfrm>
            <a:off x="395709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194990" y="5935726"/>
            <a:ext cx="128699" cy="187198"/>
          </a:xfrm>
          <a:prstGeom prst="rect">
            <a:avLst/>
          </a:prstGeom>
        </p:spPr>
      </p:pic>
      <p:sp>
        <p:nvSpPr>
          <p:cNvPr id="28" name="TextBox 27"/>
          <p:cNvSpPr txBox="1"/>
          <p:nvPr/>
        </p:nvSpPr>
        <p:spPr>
          <a:xfrm>
            <a:off x="436248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6916890" y="5935726"/>
            <a:ext cx="128699" cy="187198"/>
          </a:xfrm>
          <a:prstGeom prst="rect">
            <a:avLst/>
          </a:prstGeom>
        </p:spPr>
      </p:pic>
      <p:sp>
        <p:nvSpPr>
          <p:cNvPr id="30" name="TextBox 29"/>
          <p:cNvSpPr txBox="1"/>
          <p:nvPr/>
        </p:nvSpPr>
        <p:spPr>
          <a:xfrm>
            <a:off x="7084386" y="5945505"/>
            <a:ext cx="4299123" cy="186689"/>
          </a:xfrm>
          <a:prstGeom prst="rect">
            <a:avLst/>
          </a:prstGeom>
          <a:noFill/>
        </p:spPr>
        <p:txBody>
          <a:bodyPr wrap="none" lIns="0" rIns="0" tIns="0" bIns="0">
            <a:spAutoFit/>
          </a:bodyPr>
          <a:lstStyle/>
          <a:p>
            <a:r>
              <a:rPr sz="1100" b="0">
                <a:solidFill>
                  <a:srgbClr val="2E2E2E"/>
                </a:solidFill>
                <a:latin typeface="Calibri"/>
              </a:rPr>
              <a:t>. The hydrangeas segment is expected to be less attractive as compared to</a:t>
            </a:r>
          </a:p>
        </p:txBody>
      </p:sp>
      <p:sp>
        <p:nvSpPr>
          <p:cNvPr id="31" name="TextBox 30"/>
          <p:cNvSpPr txBox="1"/>
          <p:nvPr/>
        </p:nvSpPr>
        <p:spPr>
          <a:xfrm>
            <a:off x="257175" y="6113145"/>
            <a:ext cx="9845888" cy="186689"/>
          </a:xfrm>
          <a:prstGeom prst="rect">
            <a:avLst/>
          </a:prstGeom>
          <a:noFill/>
        </p:spPr>
        <p:txBody>
          <a:bodyPr wrap="none" lIns="0" rIns="0" tIns="0" bIns="0">
            <a:spAutoFit/>
          </a:bodyPr>
          <a:lstStyle/>
          <a:p>
            <a:r>
              <a:rPr sz="1100" b="0">
                <a:solidFill>
                  <a:srgbClr val="2E2E2E"/>
                </a:solidFill>
                <a:latin typeface="Calibri"/>
              </a:rPr>
              <a:t>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Flower Species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Flower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Roses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Carnations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Chrysanthemums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Lilies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Flower Species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Flower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Alstroemeria</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Hydrangeas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Gerbera</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Orchids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Flower Species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Flower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Tulips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Lisianthus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Peonies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Flower Species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Flower Species, 2021–2036, highlighting the sub-segments driving growth</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Flower Species (US$ Mn)</a:t>
            </a:r>
          </a:p>
        </p:txBody>
      </p:sp>
      <p:graphicFrame>
        <p:nvGraphicFramePr>
          <p:cNvPr id="12" name="Table 11"/>
          <p:cNvGraphicFramePr>
            <a:graphicFrameLocks noGrp="1"/>
          </p:cNvGraphicFramePr>
          <p:nvPr/>
        </p:nvGraphicFramePr>
        <p:xfrm>
          <a:off x="152400" y="1238250"/>
          <a:ext cx="11887206" cy="3448052"/>
        </p:xfrm>
        <a:graphic>
          <a:graphicData uri="http://schemas.openxmlformats.org/drawingml/2006/table">
            <a:tbl>
              <a:tblPr>
                <a:tableStyleId>{5C22544A-7EE6-4342-B048-85BDC9FD1C3A}</a:tableStyleId>
              </a:tblPr>
              <a:tblGrid>
                <a:gridCol w="1306338"/>
                <a:gridCol w="622404"/>
                <a:gridCol w="622404"/>
                <a:gridCol w="622404"/>
                <a:gridCol w="622404"/>
                <a:gridCol w="622404"/>
                <a:gridCol w="622404"/>
                <a:gridCol w="622404"/>
                <a:gridCol w="622404"/>
                <a:gridCol w="622404"/>
                <a:gridCol w="622404"/>
                <a:gridCol w="622404"/>
                <a:gridCol w="622404"/>
                <a:gridCol w="622404"/>
                <a:gridCol w="622404"/>
                <a:gridCol w="622404"/>
                <a:gridCol w="622404"/>
                <a:gridCol w="622404"/>
              </a:tblGrid>
              <a:tr h="246126">
                <a:tc>
                  <a:txBody>
                    <a:bodyPr wrap="none"/>
                    <a:lstStyle/>
                    <a:p>
                      <a:pPr algn="l"/>
                      <a:r>
                        <a:rPr sz="1100" b="1">
                          <a:solidFill>
                            <a:srgbClr val="0B2E4A"/>
                          </a:solidFill>
                          <a:latin typeface="Calibri"/>
                        </a:rPr>
                        <a:t>Flower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02">
                <a:tc>
                  <a:txBody>
                    <a:bodyPr wrap="none"/>
                    <a:lstStyle/>
                    <a:p>
                      <a:pPr algn="l"/>
                      <a:r>
                        <a:rPr sz="1100" b="1">
                          <a:solidFill>
                            <a:srgbClr val="2E2E2E"/>
                          </a:solidFill>
                          <a:latin typeface="Calibri"/>
                        </a:rPr>
                        <a:t>Roses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Carnations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Chrysanthemums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Lilies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Alstroemeria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Hydrangeas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Gerbera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Orchids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Tulips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Lisianthus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Peonies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Others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29200"/>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149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Flower Species</a:t>
            </a:r>
          </a:p>
        </p:txBody>
      </p:sp>
      <p:sp>
        <p:nvSpPr>
          <p:cNvPr id="16" name="Rectangle 15"/>
          <p:cNvSpPr/>
          <p:nvPr/>
        </p:nvSpPr>
        <p:spPr>
          <a:xfrm>
            <a:off x="276225" y="5353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38775"/>
            <a:ext cx="11639550"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62482" y="2818639"/>
            <a:ext cx="366712" cy="533400"/>
          </a:xfrm>
          <a:prstGeom prst="rect">
            <a:avLst/>
          </a:prstGeom>
        </p:spPr>
      </p:pic>
      <p:sp>
        <p:nvSpPr>
          <p:cNvPr id="20" name="TextBox 19"/>
          <p:cNvSpPr txBox="1"/>
          <p:nvPr/>
        </p:nvSpPr>
        <p:spPr>
          <a:xfrm>
            <a:off x="276225" y="5448300"/>
            <a:ext cx="2487736" cy="194310"/>
          </a:xfrm>
          <a:prstGeom prst="rect">
            <a:avLst/>
          </a:prstGeom>
          <a:noFill/>
        </p:spPr>
        <p:txBody>
          <a:bodyPr wrap="none" lIns="0" rIns="0" tIns="0" bIns="0">
            <a:spAutoFit/>
          </a:bodyPr>
          <a:lstStyle/>
          <a:p>
            <a:r>
              <a:rPr sz="1150" b="0">
                <a:solidFill>
                  <a:srgbClr val="2E2E2E"/>
                </a:solidFill>
                <a:latin typeface="Calibri"/>
              </a:rPr>
              <a:t>Gerbera segment is projected to register</a:t>
            </a:r>
          </a:p>
        </p:txBody>
      </p:sp>
      <p:pic>
        <p:nvPicPr>
          <p:cNvPr id="21" name="Picture 20" descr="lock.png"/>
          <p:cNvPicPr>
            <a:picLocks noChangeAspect="1"/>
          </p:cNvPicPr>
          <p:nvPr/>
        </p:nvPicPr>
        <p:blipFill>
          <a:blip r:embed="rId4"/>
          <a:stretch>
            <a:fillRect/>
          </a:stretch>
        </p:blipFill>
        <p:spPr>
          <a:xfrm>
            <a:off x="2713115" y="5438076"/>
            <a:ext cx="134549" cy="195707"/>
          </a:xfrm>
          <a:prstGeom prst="rect">
            <a:avLst/>
          </a:prstGeom>
        </p:spPr>
      </p:pic>
      <p:sp>
        <p:nvSpPr>
          <p:cNvPr id="22" name="TextBox 21"/>
          <p:cNvSpPr txBox="1"/>
          <p:nvPr/>
        </p:nvSpPr>
        <p:spPr>
          <a:xfrm>
            <a:off x="2888224" y="5448300"/>
            <a:ext cx="8654337" cy="194310"/>
          </a:xfrm>
          <a:prstGeom prst="rect">
            <a:avLst/>
          </a:prstGeom>
          <a:noFill/>
        </p:spPr>
        <p:txBody>
          <a:bodyPr wrap="none" lIns="0" rIns="0" tIns="0" bIns="0">
            <a:spAutoFit/>
          </a:bodyPr>
          <a:lstStyle/>
          <a:p>
            <a:r>
              <a:rPr sz="1150" b="0">
                <a:solidFill>
                  <a:srgbClr val="2E2E2E"/>
                </a:solidFill>
                <a:latin typeface="Calibri"/>
              </a:rPr>
              <a:t>X higher value than carnations segment in 2036. Among floriculture by flower species, tulips segment is expected to witness the highest CAGR of</a:t>
            </a:r>
          </a:p>
        </p:txBody>
      </p:sp>
      <p:pic>
        <p:nvPicPr>
          <p:cNvPr id="23" name="Picture 22" descr="lock.png"/>
          <p:cNvPicPr>
            <a:picLocks noChangeAspect="1"/>
          </p:cNvPicPr>
          <p:nvPr/>
        </p:nvPicPr>
        <p:blipFill>
          <a:blip r:embed="rId4"/>
          <a:stretch>
            <a:fillRect/>
          </a:stretch>
        </p:blipFill>
        <p:spPr>
          <a:xfrm>
            <a:off x="11491716" y="5438076"/>
            <a:ext cx="134549" cy="195707"/>
          </a:xfrm>
          <a:prstGeom prst="rect">
            <a:avLst/>
          </a:prstGeom>
        </p:spPr>
      </p:pic>
      <p:sp>
        <p:nvSpPr>
          <p:cNvPr id="24" name="TextBox 23"/>
          <p:cNvSpPr txBox="1"/>
          <p:nvPr/>
        </p:nvSpPr>
        <p:spPr>
          <a:xfrm>
            <a:off x="276225" y="56235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5851397"/>
            <a:ext cx="6461038" cy="194310"/>
          </a:xfrm>
          <a:prstGeom prst="rect">
            <a:avLst/>
          </a:prstGeom>
          <a:noFill/>
        </p:spPr>
        <p:txBody>
          <a:bodyPr wrap="none" lIns="0" rIns="0" tIns="0" bIns="0">
            <a:spAutoFit/>
          </a:bodyPr>
          <a:lstStyle/>
          <a:p>
            <a:r>
              <a:rPr sz="1150" b="0">
                <a:solidFill>
                  <a:srgbClr val="2E2E2E"/>
                </a:solidFill>
                <a:latin typeface="Calibri"/>
              </a:rPr>
              <a:t>In terms of value share by flower species, the gerbera segment is expected to dominate the market, gaining</a:t>
            </a:r>
          </a:p>
        </p:txBody>
      </p:sp>
      <p:pic>
        <p:nvPicPr>
          <p:cNvPr id="26" name="Picture 25" descr="lock.png"/>
          <p:cNvPicPr>
            <a:picLocks noChangeAspect="1"/>
          </p:cNvPicPr>
          <p:nvPr/>
        </p:nvPicPr>
        <p:blipFill>
          <a:blip r:embed="rId4"/>
          <a:stretch>
            <a:fillRect/>
          </a:stretch>
        </p:blipFill>
        <p:spPr>
          <a:xfrm>
            <a:off x="6686417" y="5841174"/>
            <a:ext cx="134549" cy="195707"/>
          </a:xfrm>
          <a:prstGeom prst="rect">
            <a:avLst/>
          </a:prstGeom>
        </p:spPr>
      </p:pic>
      <p:sp>
        <p:nvSpPr>
          <p:cNvPr id="27" name="TextBox 26"/>
          <p:cNvSpPr txBox="1"/>
          <p:nvPr/>
        </p:nvSpPr>
        <p:spPr>
          <a:xfrm>
            <a:off x="6861526" y="58513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256669" y="5841174"/>
            <a:ext cx="134549" cy="195707"/>
          </a:xfrm>
          <a:prstGeom prst="rect">
            <a:avLst/>
          </a:prstGeom>
        </p:spPr>
      </p:pic>
      <p:sp>
        <p:nvSpPr>
          <p:cNvPr id="29" name="TextBox 28"/>
          <p:cNvSpPr txBox="1"/>
          <p:nvPr/>
        </p:nvSpPr>
        <p:spPr>
          <a:xfrm>
            <a:off x="8431778" y="5851397"/>
            <a:ext cx="3108734" cy="194310"/>
          </a:xfrm>
          <a:prstGeom prst="rect">
            <a:avLst/>
          </a:prstGeom>
          <a:noFill/>
        </p:spPr>
        <p:txBody>
          <a:bodyPr wrap="none" lIns="0" rIns="0" tIns="0" bIns="0">
            <a:spAutoFit/>
          </a:bodyPr>
          <a:lstStyle/>
          <a:p>
            <a:r>
              <a:rPr sz="1150" b="0">
                <a:solidFill>
                  <a:srgbClr val="2E2E2E"/>
                </a:solidFill>
                <a:latin typeface="Calibri"/>
              </a:rPr>
              <a:t>share by 2036. The peonies segment is expected to</a:t>
            </a:r>
          </a:p>
        </p:txBody>
      </p:sp>
      <p:sp>
        <p:nvSpPr>
          <p:cNvPr id="30" name="TextBox 29"/>
          <p:cNvSpPr txBox="1"/>
          <p:nvPr/>
        </p:nvSpPr>
        <p:spPr>
          <a:xfrm>
            <a:off x="276225" y="602665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1" name="Picture 30" descr="lock.png"/>
          <p:cNvPicPr>
            <a:picLocks noChangeAspect="1"/>
          </p:cNvPicPr>
          <p:nvPr/>
        </p:nvPicPr>
        <p:blipFill>
          <a:blip r:embed="rId4"/>
          <a:stretch>
            <a:fillRect/>
          </a:stretch>
        </p:blipFill>
        <p:spPr>
          <a:xfrm>
            <a:off x="542047" y="6016434"/>
            <a:ext cx="134549" cy="195707"/>
          </a:xfrm>
          <a:prstGeom prst="rect">
            <a:avLst/>
          </a:prstGeom>
        </p:spPr>
      </p:pic>
      <p:sp>
        <p:nvSpPr>
          <p:cNvPr id="32" name="TextBox 31"/>
          <p:cNvSpPr txBox="1"/>
          <p:nvPr/>
        </p:nvSpPr>
        <p:spPr>
          <a:xfrm>
            <a:off x="717157" y="60266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3304661" y="6016434"/>
            <a:ext cx="134549" cy="195707"/>
          </a:xfrm>
          <a:prstGeom prst="rect">
            <a:avLst/>
          </a:prstGeom>
        </p:spPr>
      </p:pic>
      <p:sp>
        <p:nvSpPr>
          <p:cNvPr id="34" name="TextBox 33"/>
          <p:cNvSpPr txBox="1"/>
          <p:nvPr/>
        </p:nvSpPr>
        <p:spPr>
          <a:xfrm>
            <a:off x="3479771" y="60266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Flower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Flower Species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Flower Species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3318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5684" y="18331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903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Gerbera</a:t>
            </a:r>
          </a:p>
        </p:txBody>
      </p:sp>
      <p:sp>
        <p:nvSpPr>
          <p:cNvPr id="18" name="BPS Value 1"/>
          <p:cNvSpPr txBox="1"/>
          <p:nvPr/>
        </p:nvSpPr>
        <p:spPr>
          <a:xfrm>
            <a:off x="6896100" y="179031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00463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5684" y="20046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9617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Carnations</a:t>
            </a:r>
          </a:p>
        </p:txBody>
      </p:sp>
      <p:sp>
        <p:nvSpPr>
          <p:cNvPr id="22" name="BPS Value 2"/>
          <p:cNvSpPr txBox="1"/>
          <p:nvPr/>
        </p:nvSpPr>
        <p:spPr>
          <a:xfrm>
            <a:off x="6896100" y="196176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17608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5684" y="21760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1332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Tulips</a:t>
            </a:r>
          </a:p>
        </p:txBody>
      </p:sp>
      <p:sp>
        <p:nvSpPr>
          <p:cNvPr id="26" name="BPS Value 3"/>
          <p:cNvSpPr txBox="1"/>
          <p:nvPr/>
        </p:nvSpPr>
        <p:spPr>
          <a:xfrm>
            <a:off x="6896100" y="213321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234753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5684" y="23475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3046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Orchids</a:t>
            </a:r>
          </a:p>
        </p:txBody>
      </p:sp>
      <p:sp>
        <p:nvSpPr>
          <p:cNvPr id="30" name="BPS Value 4"/>
          <p:cNvSpPr txBox="1"/>
          <p:nvPr/>
        </p:nvSpPr>
        <p:spPr>
          <a:xfrm>
            <a:off x="6896100" y="230466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251898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5684" y="25189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24761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Alstroemeria</a:t>
            </a:r>
          </a:p>
        </p:txBody>
      </p:sp>
      <p:sp>
        <p:nvSpPr>
          <p:cNvPr id="34" name="BPS Value 5"/>
          <p:cNvSpPr txBox="1"/>
          <p:nvPr/>
        </p:nvSpPr>
        <p:spPr>
          <a:xfrm>
            <a:off x="6896100" y="247611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2690432"/>
            <a:ext cx="85725" cy="85725"/>
          </a:xfrm>
          <a:prstGeom prst="rect">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5684" y="26904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26475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Chrysanthemums</a:t>
            </a:r>
          </a:p>
        </p:txBody>
      </p:sp>
      <p:sp>
        <p:nvSpPr>
          <p:cNvPr id="38" name="BPS Value 6"/>
          <p:cNvSpPr txBox="1"/>
          <p:nvPr/>
        </p:nvSpPr>
        <p:spPr>
          <a:xfrm>
            <a:off x="6896100" y="264756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286188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5095684" y="28618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28190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Others</a:t>
            </a:r>
          </a:p>
        </p:txBody>
      </p:sp>
      <p:sp>
        <p:nvSpPr>
          <p:cNvPr id="42" name="BPS Value 7"/>
          <p:cNvSpPr txBox="1"/>
          <p:nvPr/>
        </p:nvSpPr>
        <p:spPr>
          <a:xfrm>
            <a:off x="6896100" y="281901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928997" y="303333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5095684" y="30333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29904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Hydrangeas</a:t>
            </a:r>
          </a:p>
        </p:txBody>
      </p:sp>
      <p:sp>
        <p:nvSpPr>
          <p:cNvPr id="46" name="BPS Value 8"/>
          <p:cNvSpPr txBox="1"/>
          <p:nvPr/>
        </p:nvSpPr>
        <p:spPr>
          <a:xfrm>
            <a:off x="6896100" y="299046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FMI Legend Chip"/>
          <p:cNvSpPr/>
          <p:nvPr/>
        </p:nvSpPr>
        <p:spPr>
          <a:xfrm>
            <a:off x="4928997" y="320478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5095684" y="32047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5233797" y="31619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Roses</a:t>
            </a:r>
          </a:p>
        </p:txBody>
      </p:sp>
      <p:sp>
        <p:nvSpPr>
          <p:cNvPr id="50" name="BPS Value 9"/>
          <p:cNvSpPr txBox="1"/>
          <p:nvPr/>
        </p:nvSpPr>
        <p:spPr>
          <a:xfrm>
            <a:off x="6896100" y="316191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FMI Legend Chip"/>
          <p:cNvSpPr/>
          <p:nvPr/>
        </p:nvSpPr>
        <p:spPr>
          <a:xfrm>
            <a:off x="4928997" y="337623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Isosceles Triangle 51"/>
          <p:cNvSpPr/>
          <p:nvPr/>
        </p:nvSpPr>
        <p:spPr>
          <a:xfrm rot="10800000">
            <a:off x="5095684" y="33762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PS Name 10"/>
          <p:cNvSpPr txBox="1"/>
          <p:nvPr/>
        </p:nvSpPr>
        <p:spPr>
          <a:xfrm>
            <a:off x="5233797" y="33333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Lilies</a:t>
            </a:r>
          </a:p>
        </p:txBody>
      </p:sp>
      <p:sp>
        <p:nvSpPr>
          <p:cNvPr id="54" name="BPS Value 10"/>
          <p:cNvSpPr txBox="1"/>
          <p:nvPr/>
        </p:nvSpPr>
        <p:spPr>
          <a:xfrm>
            <a:off x="6896100" y="333336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5" name="FMI Legend Chip"/>
          <p:cNvSpPr/>
          <p:nvPr/>
        </p:nvSpPr>
        <p:spPr>
          <a:xfrm>
            <a:off x="4928997" y="354768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rot="10800000">
            <a:off x="5095684" y="35476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PS Name 11"/>
          <p:cNvSpPr txBox="1"/>
          <p:nvPr/>
        </p:nvSpPr>
        <p:spPr>
          <a:xfrm>
            <a:off x="5233797" y="35048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Lisianthus</a:t>
            </a:r>
          </a:p>
        </p:txBody>
      </p:sp>
      <p:sp>
        <p:nvSpPr>
          <p:cNvPr id="58" name="BPS Value 11"/>
          <p:cNvSpPr txBox="1"/>
          <p:nvPr/>
        </p:nvSpPr>
        <p:spPr>
          <a:xfrm>
            <a:off x="6896100" y="350481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9" name="FMI Legend Chip"/>
          <p:cNvSpPr/>
          <p:nvPr/>
        </p:nvSpPr>
        <p:spPr>
          <a:xfrm>
            <a:off x="4928997" y="371913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sosceles Triangle 59"/>
          <p:cNvSpPr/>
          <p:nvPr/>
        </p:nvSpPr>
        <p:spPr>
          <a:xfrm rot="10800000">
            <a:off x="5095684" y="37191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PS Name 12"/>
          <p:cNvSpPr txBox="1"/>
          <p:nvPr/>
        </p:nvSpPr>
        <p:spPr>
          <a:xfrm>
            <a:off x="5233797" y="36762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Peonies</a:t>
            </a:r>
          </a:p>
        </p:txBody>
      </p:sp>
      <p:sp>
        <p:nvSpPr>
          <p:cNvPr id="62" name="BPS Value 12"/>
          <p:cNvSpPr txBox="1"/>
          <p:nvPr/>
        </p:nvSpPr>
        <p:spPr>
          <a:xfrm>
            <a:off x="6896100" y="367626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63" name="Rounded Rectangle 6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Flower Species</a:t>
            </a:r>
          </a:p>
        </p:txBody>
      </p:sp>
      <p:sp>
        <p:nvSpPr>
          <p:cNvPr id="65" name="Rectangle 6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8" name="Picture 67" descr="lock.png"/>
          <p:cNvPicPr>
            <a:picLocks noChangeAspect="1"/>
          </p:cNvPicPr>
          <p:nvPr/>
        </p:nvPicPr>
        <p:blipFill>
          <a:blip r:embed="rId5"/>
          <a:stretch>
            <a:fillRect/>
          </a:stretch>
        </p:blipFill>
        <p:spPr>
          <a:xfrm>
            <a:off x="2557843" y="3833622"/>
            <a:ext cx="275034" cy="400050"/>
          </a:xfrm>
          <a:prstGeom prst="rect">
            <a:avLst/>
          </a:prstGeom>
        </p:spPr>
      </p:pic>
      <p:sp>
        <p:nvSpPr>
          <p:cNvPr id="69" name="TextBox 68"/>
          <p:cNvSpPr txBox="1"/>
          <p:nvPr/>
        </p:nvSpPr>
        <p:spPr>
          <a:xfrm>
            <a:off x="7829550" y="1400175"/>
            <a:ext cx="4057488" cy="194310"/>
          </a:xfrm>
          <a:prstGeom prst="rect">
            <a:avLst/>
          </a:prstGeom>
          <a:noFill/>
        </p:spPr>
        <p:txBody>
          <a:bodyPr wrap="none" lIns="0" rIns="0" tIns="0" bIns="0">
            <a:spAutoFit/>
          </a:bodyPr>
          <a:lstStyle/>
          <a:p>
            <a:r>
              <a:rPr sz="1150" b="0">
                <a:solidFill>
                  <a:srgbClr val="2E2E2E"/>
                </a:solidFill>
                <a:latin typeface="Calibri"/>
              </a:rPr>
              <a:t>Among floriculture by flower species, tulips segment is expected to</a:t>
            </a:r>
          </a:p>
        </p:txBody>
      </p:sp>
      <p:sp>
        <p:nvSpPr>
          <p:cNvPr id="70" name="TextBox 69"/>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71" name="Picture 70" descr="lock.png"/>
          <p:cNvPicPr>
            <a:picLocks noChangeAspect="1"/>
          </p:cNvPicPr>
          <p:nvPr/>
        </p:nvPicPr>
        <p:blipFill>
          <a:blip r:embed="rId5"/>
          <a:stretch>
            <a:fillRect/>
          </a:stretch>
        </p:blipFill>
        <p:spPr>
          <a:xfrm>
            <a:off x="9526474" y="1565211"/>
            <a:ext cx="134549" cy="195707"/>
          </a:xfrm>
          <a:prstGeom prst="rect">
            <a:avLst/>
          </a:prstGeom>
        </p:spPr>
      </p:pic>
      <p:sp>
        <p:nvSpPr>
          <p:cNvPr id="72" name="TextBox 71"/>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73" name="TextBox 72"/>
          <p:cNvSpPr txBox="1"/>
          <p:nvPr/>
        </p:nvSpPr>
        <p:spPr>
          <a:xfrm>
            <a:off x="7829550" y="1750695"/>
            <a:ext cx="3981611" cy="194310"/>
          </a:xfrm>
          <a:prstGeom prst="rect">
            <a:avLst/>
          </a:prstGeom>
          <a:noFill/>
        </p:spPr>
        <p:txBody>
          <a:bodyPr wrap="none" lIns="0" rIns="0" tIns="0" bIns="0">
            <a:spAutoFit/>
          </a:bodyPr>
          <a:lstStyle/>
          <a:p>
            <a:r>
              <a:rPr sz="1150" b="0">
                <a:solidFill>
                  <a:srgbClr val="2E2E2E"/>
                </a:solidFill>
                <a:latin typeface="Calibri"/>
              </a:rPr>
              <a:t>of value share by flower species, the gerbera segment is expected</a:t>
            </a:r>
          </a:p>
        </p:txBody>
      </p:sp>
      <p:sp>
        <p:nvSpPr>
          <p:cNvPr id="74" name="TextBox 73"/>
          <p:cNvSpPr txBox="1"/>
          <p:nvPr/>
        </p:nvSpPr>
        <p:spPr>
          <a:xfrm>
            <a:off x="7829550" y="1925955"/>
            <a:ext cx="1996244" cy="194310"/>
          </a:xfrm>
          <a:prstGeom prst="rect">
            <a:avLst/>
          </a:prstGeom>
          <a:noFill/>
        </p:spPr>
        <p:txBody>
          <a:bodyPr wrap="none" lIns="0" rIns="0" tIns="0" bIns="0">
            <a:spAutoFit/>
          </a:bodyPr>
          <a:lstStyle/>
          <a:p>
            <a:r>
              <a:rPr sz="1150" b="0">
                <a:solidFill>
                  <a:srgbClr val="2E2E2E"/>
                </a:solidFill>
                <a:latin typeface="Calibri"/>
              </a:rPr>
              <a:t>to dominate the market, gaining</a:t>
            </a:r>
          </a:p>
        </p:txBody>
      </p:sp>
      <p:pic>
        <p:nvPicPr>
          <p:cNvPr id="75" name="Picture 74" descr="lock.png"/>
          <p:cNvPicPr>
            <a:picLocks noChangeAspect="1"/>
          </p:cNvPicPr>
          <p:nvPr/>
        </p:nvPicPr>
        <p:blipFill>
          <a:blip r:embed="rId5"/>
          <a:stretch>
            <a:fillRect/>
          </a:stretch>
        </p:blipFill>
        <p:spPr>
          <a:xfrm>
            <a:off x="9774947" y="1915731"/>
            <a:ext cx="134549" cy="195707"/>
          </a:xfrm>
          <a:prstGeom prst="rect">
            <a:avLst/>
          </a:prstGeom>
        </p:spPr>
      </p:pic>
      <p:sp>
        <p:nvSpPr>
          <p:cNvPr id="76" name="TextBox 75"/>
          <p:cNvSpPr txBox="1"/>
          <p:nvPr/>
        </p:nvSpPr>
        <p:spPr>
          <a:xfrm>
            <a:off x="9950057" y="192595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77" name="Picture 76" descr="lock.png"/>
          <p:cNvPicPr>
            <a:picLocks noChangeAspect="1"/>
          </p:cNvPicPr>
          <p:nvPr/>
        </p:nvPicPr>
        <p:blipFill>
          <a:blip r:embed="rId5"/>
          <a:stretch>
            <a:fillRect/>
          </a:stretch>
        </p:blipFill>
        <p:spPr>
          <a:xfrm>
            <a:off x="11345200" y="1915731"/>
            <a:ext cx="134549" cy="195707"/>
          </a:xfrm>
          <a:prstGeom prst="rect">
            <a:avLst/>
          </a:prstGeom>
        </p:spPr>
      </p:pic>
      <p:sp>
        <p:nvSpPr>
          <p:cNvPr id="78" name="TextBox 77"/>
          <p:cNvSpPr txBox="1"/>
          <p:nvPr/>
        </p:nvSpPr>
        <p:spPr>
          <a:xfrm>
            <a:off x="782955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9" name="TextBox 78"/>
          <p:cNvSpPr txBox="1"/>
          <p:nvPr/>
        </p:nvSpPr>
        <p:spPr>
          <a:xfrm>
            <a:off x="7829550" y="2329053"/>
            <a:ext cx="2479178" cy="194310"/>
          </a:xfrm>
          <a:prstGeom prst="rect">
            <a:avLst/>
          </a:prstGeom>
          <a:noFill/>
        </p:spPr>
        <p:txBody>
          <a:bodyPr wrap="none" lIns="0" rIns="0" tIns="0" bIns="0">
            <a:spAutoFit/>
          </a:bodyPr>
          <a:lstStyle/>
          <a:p>
            <a:r>
              <a:rPr sz="1150" b="0">
                <a:solidFill>
                  <a:srgbClr val="2E2E2E"/>
                </a:solidFill>
                <a:latin typeface="Calibri"/>
              </a:rPr>
              <a:t>The peonies segment is expected to lose</a:t>
            </a:r>
          </a:p>
        </p:txBody>
      </p:sp>
      <p:pic>
        <p:nvPicPr>
          <p:cNvPr id="80" name="Picture 79" descr="lock.png"/>
          <p:cNvPicPr>
            <a:picLocks noChangeAspect="1"/>
          </p:cNvPicPr>
          <p:nvPr/>
        </p:nvPicPr>
        <p:blipFill>
          <a:blip r:embed="rId5"/>
          <a:stretch>
            <a:fillRect/>
          </a:stretch>
        </p:blipFill>
        <p:spPr>
          <a:xfrm>
            <a:off x="10257882" y="2318829"/>
            <a:ext cx="134549" cy="195707"/>
          </a:xfrm>
          <a:prstGeom prst="rect">
            <a:avLst/>
          </a:prstGeom>
        </p:spPr>
      </p:pic>
      <p:sp>
        <p:nvSpPr>
          <p:cNvPr id="81" name="TextBox 80"/>
          <p:cNvSpPr txBox="1"/>
          <p:nvPr/>
        </p:nvSpPr>
        <p:spPr>
          <a:xfrm>
            <a:off x="10432992"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82" name="TextBox 81"/>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83" name="Picture 82" descr="lock.png"/>
          <p:cNvPicPr>
            <a:picLocks noChangeAspect="1"/>
          </p:cNvPicPr>
          <p:nvPr/>
        </p:nvPicPr>
        <p:blipFill>
          <a:blip r:embed="rId5"/>
          <a:stretch>
            <a:fillRect/>
          </a:stretch>
        </p:blipFill>
        <p:spPr>
          <a:xfrm>
            <a:off x="9114014" y="2494089"/>
            <a:ext cx="134549" cy="195707"/>
          </a:xfrm>
          <a:prstGeom prst="rect">
            <a:avLst/>
          </a:prstGeom>
        </p:spPr>
      </p:pic>
      <p:sp>
        <p:nvSpPr>
          <p:cNvPr id="84" name="TextBox 83"/>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85"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Cultivation Method</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Cultivation Method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Cultivation Method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Cultivation Method,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Cultivation Method segment categorizes the market by cultivation method.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Open-Field Cultivation</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Protected Cultivation</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Cultivation Method split shows how demand is distributed across cultivation method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43_271_605E5C.png"/>
          <p:cNvPicPr>
            <a:picLocks noChangeAspect="1"/>
          </p:cNvPicPr>
          <p:nvPr/>
        </p:nvPicPr>
        <p:blipFill>
          <a:blip r:embed="rId4"/>
          <a:stretch>
            <a:fillRect/>
          </a:stretch>
        </p:blipFill>
        <p:spPr>
          <a:xfrm>
            <a:off x="3634127" y="2286582"/>
            <a:ext cx="1409020" cy="361950"/>
          </a:xfrm>
          <a:prstGeom prst="rect">
            <a:avLst/>
          </a:prstGeom>
        </p:spPr>
      </p:pic>
      <p:pic>
        <p:nvPicPr>
          <p:cNvPr id="50" name="Picture 49" descr="73_866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5_5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6_729_605E5C.png"/>
          <p:cNvPicPr>
            <a:picLocks noChangeAspect="1"/>
          </p:cNvPicPr>
          <p:nvPr/>
        </p:nvPicPr>
        <p:blipFill>
          <a:blip r:embed="rId7"/>
          <a:stretch>
            <a:fillRect/>
          </a:stretch>
        </p:blipFill>
        <p:spPr>
          <a:xfrm>
            <a:off x="8691902" y="2286582"/>
            <a:ext cx="1409020" cy="361950"/>
          </a:xfrm>
          <a:prstGeom prst="rect">
            <a:avLst/>
          </a:prstGeom>
        </p:spPr>
      </p:pic>
      <p:pic>
        <p:nvPicPr>
          <p:cNvPr id="53" name="Picture 52" descr="23_868_605E5C.png"/>
          <p:cNvPicPr>
            <a:picLocks noChangeAspect="1"/>
          </p:cNvPicPr>
          <p:nvPr/>
        </p:nvPicPr>
        <p:blipFill>
          <a:blip r:embed="rId8"/>
          <a:stretch>
            <a:fillRect/>
          </a:stretch>
        </p:blipFill>
        <p:spPr>
          <a:xfrm>
            <a:off x="8691902" y="2779432"/>
            <a:ext cx="1409020" cy="361950"/>
          </a:xfrm>
          <a:prstGeom prst="rect">
            <a:avLst/>
          </a:prstGeom>
        </p:spPr>
      </p:pic>
      <p:pic>
        <p:nvPicPr>
          <p:cNvPr id="54" name="Picture 53" descr="3_6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461195" cy="186689"/>
          </a:xfrm>
          <a:prstGeom prst="rect">
            <a:avLst/>
          </a:prstGeom>
          <a:noFill/>
        </p:spPr>
        <p:txBody>
          <a:bodyPr wrap="none" lIns="0" rIns="0" tIns="0" bIns="0">
            <a:spAutoFit/>
          </a:bodyPr>
          <a:lstStyle/>
          <a:p>
            <a:r>
              <a:rPr sz="1100" b="0">
                <a:solidFill>
                  <a:srgbClr val="2E2E2E"/>
                </a:solidFill>
                <a:latin typeface="Calibri"/>
              </a:rPr>
              <a:t>Among floriculture by cultivation method,</a:t>
            </a:r>
          </a:p>
        </p:txBody>
      </p:sp>
      <p:sp>
        <p:nvSpPr>
          <p:cNvPr id="58" name="TextBox 57"/>
          <p:cNvSpPr txBox="1"/>
          <p:nvPr/>
        </p:nvSpPr>
        <p:spPr>
          <a:xfrm>
            <a:off x="485775" y="4397077"/>
            <a:ext cx="2638276" cy="186689"/>
          </a:xfrm>
          <a:prstGeom prst="rect">
            <a:avLst/>
          </a:prstGeom>
          <a:noFill/>
        </p:spPr>
        <p:txBody>
          <a:bodyPr wrap="none" lIns="0" rIns="0" tIns="0" bIns="0">
            <a:spAutoFit/>
          </a:bodyPr>
          <a:lstStyle/>
          <a:p>
            <a:r>
              <a:rPr sz="1100" b="0">
                <a:solidFill>
                  <a:srgbClr val="2E2E2E"/>
                </a:solidFill>
                <a:latin typeface="Calibri"/>
              </a:rPr>
              <a:t>open-field cultivation segment is expected to</a:t>
            </a:r>
          </a:p>
        </p:txBody>
      </p:sp>
      <p:sp>
        <p:nvSpPr>
          <p:cNvPr id="59" name="TextBox 58"/>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60" name="Picture 59" descr="lock.png"/>
          <p:cNvPicPr>
            <a:picLocks noChangeAspect="1"/>
          </p:cNvPicPr>
          <p:nvPr/>
        </p:nvPicPr>
        <p:blipFill>
          <a:blip r:embed="rId10"/>
          <a:stretch>
            <a:fillRect/>
          </a:stretch>
        </p:blipFill>
        <p:spPr>
          <a:xfrm>
            <a:off x="2108919" y="4554938"/>
            <a:ext cx="128699" cy="187198"/>
          </a:xfrm>
          <a:prstGeom prst="rect">
            <a:avLst/>
          </a:prstGeom>
        </p:spPr>
      </p:pic>
      <p:sp>
        <p:nvSpPr>
          <p:cNvPr id="61" name="TextBox 60"/>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2" name="TextBox 61"/>
          <p:cNvSpPr txBox="1"/>
          <p:nvPr/>
        </p:nvSpPr>
        <p:spPr>
          <a:xfrm>
            <a:off x="485775" y="4732357"/>
            <a:ext cx="2615356" cy="186689"/>
          </a:xfrm>
          <a:prstGeom prst="rect">
            <a:avLst/>
          </a:prstGeom>
          <a:noFill/>
        </p:spPr>
        <p:txBody>
          <a:bodyPr wrap="none" lIns="0" rIns="0" tIns="0" bIns="0">
            <a:spAutoFit/>
          </a:bodyPr>
          <a:lstStyle/>
          <a:p>
            <a:r>
              <a:rPr sz="1100" b="0">
                <a:solidFill>
                  <a:srgbClr val="2E2E2E"/>
                </a:solidFill>
                <a:latin typeface="Calibri"/>
              </a:rPr>
              <a:t>period. In terms of value share by cultivation</a:t>
            </a:r>
          </a:p>
        </p:txBody>
      </p:sp>
      <p:sp>
        <p:nvSpPr>
          <p:cNvPr id="63" name="TextBox 62"/>
          <p:cNvSpPr txBox="1"/>
          <p:nvPr/>
        </p:nvSpPr>
        <p:spPr>
          <a:xfrm>
            <a:off x="485775" y="4899997"/>
            <a:ext cx="2668835" cy="186689"/>
          </a:xfrm>
          <a:prstGeom prst="rect">
            <a:avLst/>
          </a:prstGeom>
          <a:noFill/>
        </p:spPr>
        <p:txBody>
          <a:bodyPr wrap="none" lIns="0" rIns="0" tIns="0" bIns="0">
            <a:spAutoFit/>
          </a:bodyPr>
          <a:lstStyle/>
          <a:p>
            <a:r>
              <a:rPr sz="1100" b="0">
                <a:solidFill>
                  <a:srgbClr val="2E2E2E"/>
                </a:solidFill>
                <a:latin typeface="Calibri"/>
              </a:rPr>
              <a:t>method, the open-field cultivation segment is</a:t>
            </a:r>
          </a:p>
        </p:txBody>
      </p:sp>
      <p:sp>
        <p:nvSpPr>
          <p:cNvPr id="64" name="TextBox 63"/>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65" name="Picture 64" descr="lock.png"/>
          <p:cNvPicPr>
            <a:picLocks noChangeAspect="1"/>
          </p:cNvPicPr>
          <p:nvPr/>
        </p:nvPicPr>
        <p:blipFill>
          <a:blip r:embed="rId10"/>
          <a:stretch>
            <a:fillRect/>
          </a:stretch>
        </p:blipFill>
        <p:spPr>
          <a:xfrm>
            <a:off x="2900479" y="5057858"/>
            <a:ext cx="128699" cy="187198"/>
          </a:xfrm>
          <a:prstGeom prst="rect">
            <a:avLst/>
          </a:prstGeom>
        </p:spPr>
      </p:pic>
      <p:sp>
        <p:nvSpPr>
          <p:cNvPr id="66" name="TextBox 65"/>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67" name="TextBox 66"/>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68" name="Picture 67" descr="lock.png"/>
          <p:cNvPicPr>
            <a:picLocks noChangeAspect="1"/>
          </p:cNvPicPr>
          <p:nvPr/>
        </p:nvPicPr>
        <p:blipFill>
          <a:blip r:embed="rId10"/>
          <a:stretch>
            <a:fillRect/>
          </a:stretch>
        </p:blipFill>
        <p:spPr>
          <a:xfrm>
            <a:off x="1576057" y="5225498"/>
            <a:ext cx="128699" cy="187198"/>
          </a:xfrm>
          <a:prstGeom prst="rect">
            <a:avLst/>
          </a:prstGeom>
        </p:spPr>
      </p:pic>
      <p:sp>
        <p:nvSpPr>
          <p:cNvPr id="69" name="TextBox 68"/>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453209"/>
            <a:ext cx="2683023" cy="186689"/>
          </a:xfrm>
          <a:prstGeom prst="rect">
            <a:avLst/>
          </a:prstGeom>
          <a:noFill/>
        </p:spPr>
        <p:txBody>
          <a:bodyPr wrap="none" lIns="0" rIns="0" tIns="0" bIns="0">
            <a:spAutoFit/>
          </a:bodyPr>
          <a:lstStyle/>
          <a:p>
            <a:r>
              <a:rPr sz="1100" b="0">
                <a:solidFill>
                  <a:srgbClr val="2E2E2E"/>
                </a:solidFill>
                <a:latin typeface="Calibri"/>
              </a:rPr>
              <a:t>Open-field cultivation segment is projected to</a:t>
            </a:r>
          </a:p>
        </p:txBody>
      </p:sp>
      <p:sp>
        <p:nvSpPr>
          <p:cNvPr id="71" name="TextBox 70"/>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72" name="Picture 71" descr="lock.png"/>
          <p:cNvPicPr>
            <a:picLocks noChangeAspect="1"/>
          </p:cNvPicPr>
          <p:nvPr/>
        </p:nvPicPr>
        <p:blipFill>
          <a:blip r:embed="rId10"/>
          <a:stretch>
            <a:fillRect/>
          </a:stretch>
        </p:blipFill>
        <p:spPr>
          <a:xfrm>
            <a:off x="946316" y="5611070"/>
            <a:ext cx="128699" cy="187198"/>
          </a:xfrm>
          <a:prstGeom prst="rect">
            <a:avLst/>
          </a:prstGeom>
        </p:spPr>
      </p:pic>
      <p:sp>
        <p:nvSpPr>
          <p:cNvPr id="73" name="TextBox 72"/>
          <p:cNvSpPr txBox="1"/>
          <p:nvPr/>
        </p:nvSpPr>
        <p:spPr>
          <a:xfrm>
            <a:off x="1113812" y="5620849"/>
            <a:ext cx="1765696" cy="186689"/>
          </a:xfrm>
          <a:prstGeom prst="rect">
            <a:avLst/>
          </a:prstGeom>
          <a:noFill/>
        </p:spPr>
        <p:txBody>
          <a:bodyPr wrap="none" lIns="0" rIns="0" tIns="0" bIns="0">
            <a:spAutoFit/>
          </a:bodyPr>
          <a:lstStyle/>
          <a:p>
            <a:r>
              <a:rPr sz="1100" b="0">
                <a:solidFill>
                  <a:srgbClr val="2E2E2E"/>
                </a:solidFill>
                <a:latin typeface="Calibri"/>
              </a:rPr>
              <a:t>X higher value than protected</a:t>
            </a:r>
          </a:p>
        </p:txBody>
      </p:sp>
      <p:sp>
        <p:nvSpPr>
          <p:cNvPr id="74" name="TextBox 73"/>
          <p:cNvSpPr txBox="1"/>
          <p:nvPr/>
        </p:nvSpPr>
        <p:spPr>
          <a:xfrm>
            <a:off x="485775" y="5788489"/>
            <a:ext cx="1687115" cy="186689"/>
          </a:xfrm>
          <a:prstGeom prst="rect">
            <a:avLst/>
          </a:prstGeom>
          <a:noFill/>
        </p:spPr>
        <p:txBody>
          <a:bodyPr wrap="none" lIns="0" rIns="0" tIns="0" bIns="0">
            <a:spAutoFit/>
          </a:bodyPr>
          <a:lstStyle/>
          <a:p>
            <a:r>
              <a:rPr sz="1100" b="0">
                <a:solidFill>
                  <a:srgbClr val="2E2E2E"/>
                </a:solidFill>
                <a:latin typeface="Calibri"/>
              </a:rPr>
              <a:t>cultivation segment in 2036.</a:t>
            </a:r>
          </a:p>
        </p:txBody>
      </p:sp>
      <p:sp>
        <p:nvSpPr>
          <p:cNvPr id="75" name="TextBox 74"/>
          <p:cNvSpPr txBox="1"/>
          <p:nvPr/>
        </p:nvSpPr>
        <p:spPr>
          <a:xfrm>
            <a:off x="3838575" y="4229437"/>
            <a:ext cx="1499666" cy="186689"/>
          </a:xfrm>
          <a:prstGeom prst="rect">
            <a:avLst/>
          </a:prstGeom>
          <a:noFill/>
        </p:spPr>
        <p:txBody>
          <a:bodyPr wrap="none" lIns="0" rIns="0" tIns="0" bIns="0">
            <a:spAutoFit/>
          </a:bodyPr>
          <a:lstStyle/>
          <a:p>
            <a:r>
              <a:rPr sz="1100" b="0">
                <a:solidFill>
                  <a:srgbClr val="2E2E2E"/>
                </a:solidFill>
                <a:latin typeface="Calibri"/>
              </a:rPr>
              <a:t>● Open-Field Cultivation:</a:t>
            </a:r>
          </a:p>
        </p:txBody>
      </p:sp>
      <p:pic>
        <p:nvPicPr>
          <p:cNvPr id="76" name="Picture 75" descr="lock.png"/>
          <p:cNvPicPr>
            <a:picLocks noChangeAspect="1"/>
          </p:cNvPicPr>
          <p:nvPr/>
        </p:nvPicPr>
        <p:blipFill>
          <a:blip r:embed="rId10"/>
          <a:stretch>
            <a:fillRect/>
          </a:stretch>
        </p:blipFill>
        <p:spPr>
          <a:xfrm>
            <a:off x="5286293" y="4219658"/>
            <a:ext cx="128699" cy="187198"/>
          </a:xfrm>
          <a:prstGeom prst="rect">
            <a:avLst/>
          </a:prstGeom>
        </p:spPr>
      </p:pic>
      <p:sp>
        <p:nvSpPr>
          <p:cNvPr id="77" name="TextBox 76"/>
          <p:cNvSpPr txBox="1"/>
          <p:nvPr/>
        </p:nvSpPr>
        <p:spPr>
          <a:xfrm>
            <a:off x="545378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6313239" y="4219658"/>
            <a:ext cx="128699" cy="187198"/>
          </a:xfrm>
          <a:prstGeom prst="rect">
            <a:avLst/>
          </a:prstGeom>
        </p:spPr>
      </p:pic>
      <p:sp>
        <p:nvSpPr>
          <p:cNvPr id="79" name="TextBox 78"/>
          <p:cNvSpPr txBox="1"/>
          <p:nvPr/>
        </p:nvSpPr>
        <p:spPr>
          <a:xfrm>
            <a:off x="6480735"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80" name="TextBox 7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1" name="TextBox 80"/>
          <p:cNvSpPr txBox="1"/>
          <p:nvPr/>
        </p:nvSpPr>
        <p:spPr>
          <a:xfrm>
            <a:off x="3838575" y="4615009"/>
            <a:ext cx="1436910" cy="186689"/>
          </a:xfrm>
          <a:prstGeom prst="rect">
            <a:avLst/>
          </a:prstGeom>
          <a:noFill/>
        </p:spPr>
        <p:txBody>
          <a:bodyPr wrap="none" lIns="0" rIns="0" tIns="0" bIns="0">
            <a:spAutoFit/>
          </a:bodyPr>
          <a:lstStyle/>
          <a:p>
            <a:r>
              <a:rPr sz="1100" b="0">
                <a:solidFill>
                  <a:srgbClr val="2E2E2E"/>
                </a:solidFill>
                <a:latin typeface="Calibri"/>
              </a:rPr>
              <a:t>● Protected Cultivation:</a:t>
            </a:r>
          </a:p>
        </p:txBody>
      </p:sp>
      <p:pic>
        <p:nvPicPr>
          <p:cNvPr id="82" name="Picture 81" descr="lock.png"/>
          <p:cNvPicPr>
            <a:picLocks noChangeAspect="1"/>
          </p:cNvPicPr>
          <p:nvPr/>
        </p:nvPicPr>
        <p:blipFill>
          <a:blip r:embed="rId10"/>
          <a:stretch>
            <a:fillRect/>
          </a:stretch>
        </p:blipFill>
        <p:spPr>
          <a:xfrm>
            <a:off x="5223537" y="4605230"/>
            <a:ext cx="128699" cy="187198"/>
          </a:xfrm>
          <a:prstGeom prst="rect">
            <a:avLst/>
          </a:prstGeom>
        </p:spPr>
      </p:pic>
      <p:sp>
        <p:nvSpPr>
          <p:cNvPr id="83" name="TextBox 82"/>
          <p:cNvSpPr txBox="1"/>
          <p:nvPr/>
        </p:nvSpPr>
        <p:spPr>
          <a:xfrm>
            <a:off x="539103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10"/>
          <a:stretch>
            <a:fillRect/>
          </a:stretch>
        </p:blipFill>
        <p:spPr>
          <a:xfrm>
            <a:off x="6250483" y="4605230"/>
            <a:ext cx="128699" cy="187198"/>
          </a:xfrm>
          <a:prstGeom prst="rect">
            <a:avLst/>
          </a:prstGeom>
        </p:spPr>
      </p:pic>
      <p:sp>
        <p:nvSpPr>
          <p:cNvPr id="85" name="TextBox 84"/>
          <p:cNvSpPr txBox="1"/>
          <p:nvPr/>
        </p:nvSpPr>
        <p:spPr>
          <a:xfrm>
            <a:off x="6417979"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6" name="TextBox 85"/>
          <p:cNvSpPr txBox="1"/>
          <p:nvPr/>
        </p:nvSpPr>
        <p:spPr>
          <a:xfrm>
            <a:off x="8524875" y="5842641"/>
            <a:ext cx="2979799" cy="194310"/>
          </a:xfrm>
          <a:prstGeom prst="rect">
            <a:avLst/>
          </a:prstGeom>
          <a:noFill/>
        </p:spPr>
        <p:txBody>
          <a:bodyPr wrap="none" lIns="0" rIns="0" tIns="0" bIns="0">
            <a:spAutoFit/>
          </a:bodyPr>
          <a:lstStyle/>
          <a:p>
            <a:r>
              <a:rPr sz="1150" b="1">
                <a:solidFill>
                  <a:srgbClr val="0B2E4A"/>
                </a:solidFill>
                <a:latin typeface="Calibri"/>
              </a:rPr>
              <a:t>The Cultivation Method segment is projected to</a:t>
            </a:r>
          </a:p>
        </p:txBody>
      </p:sp>
      <p:sp>
        <p:nvSpPr>
          <p:cNvPr id="87" name="TextBox 8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8" name="Picture 87" descr="lock.png"/>
          <p:cNvPicPr>
            <a:picLocks noChangeAspect="1"/>
          </p:cNvPicPr>
          <p:nvPr/>
        </p:nvPicPr>
        <p:blipFill>
          <a:blip r:embed="rId10"/>
          <a:stretch>
            <a:fillRect/>
          </a:stretch>
        </p:blipFill>
        <p:spPr>
          <a:xfrm>
            <a:off x="9651852" y="6007677"/>
            <a:ext cx="134549" cy="195707"/>
          </a:xfrm>
          <a:prstGeom prst="rect">
            <a:avLst/>
          </a:prstGeom>
        </p:spPr>
      </p:pic>
      <p:sp>
        <p:nvSpPr>
          <p:cNvPr id="89" name="TextBox 8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Cultivation Method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Cultivation Method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Cultivation Method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Cultivation Method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53018" cy="186689"/>
          </a:xfrm>
          <a:prstGeom prst="rect">
            <a:avLst/>
          </a:prstGeom>
          <a:noFill/>
        </p:spPr>
        <p:txBody>
          <a:bodyPr wrap="none" lIns="0" rIns="0" tIns="0" bIns="0">
            <a:spAutoFit/>
          </a:bodyPr>
          <a:lstStyle/>
          <a:p>
            <a:r>
              <a:rPr sz="1100" b="0">
                <a:solidFill>
                  <a:srgbClr val="2E2E2E"/>
                </a:solidFill>
                <a:latin typeface="Calibri"/>
              </a:rPr>
              <a:t>Open-field cultivation followed by protected cultivation are expected to be the two most attractive cultivation method segments in the global floriculture market in terms of value over the forecast period.</a:t>
            </a:r>
          </a:p>
        </p:txBody>
      </p:sp>
      <p:sp>
        <p:nvSpPr>
          <p:cNvPr id="20" name="TextBox 19"/>
          <p:cNvSpPr txBox="1"/>
          <p:nvPr/>
        </p:nvSpPr>
        <p:spPr>
          <a:xfrm>
            <a:off x="257175" y="5945505"/>
            <a:ext cx="4159133" cy="186689"/>
          </a:xfrm>
          <a:prstGeom prst="rect">
            <a:avLst/>
          </a:prstGeom>
          <a:noFill/>
        </p:spPr>
        <p:txBody>
          <a:bodyPr wrap="none" lIns="0" rIns="0" tIns="0" bIns="0">
            <a:spAutoFit/>
          </a:bodyPr>
          <a:lstStyle/>
          <a:p>
            <a:r>
              <a:rPr sz="1100" b="0">
                <a:solidFill>
                  <a:srgbClr val="2E2E2E"/>
                </a:solidFill>
                <a:latin typeface="Calibri"/>
              </a:rPr>
              <a:t>Open-Field cultivation and protected cultivation exhibit a CAGR index of</a:t>
            </a:r>
          </a:p>
        </p:txBody>
      </p:sp>
      <p:pic>
        <p:nvPicPr>
          <p:cNvPr id="21" name="Picture 20" descr="lock.png"/>
          <p:cNvPicPr>
            <a:picLocks noChangeAspect="1"/>
          </p:cNvPicPr>
          <p:nvPr/>
        </p:nvPicPr>
        <p:blipFill>
          <a:blip r:embed="rId6"/>
          <a:stretch>
            <a:fillRect/>
          </a:stretch>
        </p:blipFill>
        <p:spPr>
          <a:xfrm>
            <a:off x="4364360" y="5935726"/>
            <a:ext cx="128699" cy="187198"/>
          </a:xfrm>
          <a:prstGeom prst="rect">
            <a:avLst/>
          </a:prstGeom>
        </p:spPr>
      </p:pic>
      <p:sp>
        <p:nvSpPr>
          <p:cNvPr id="22" name="TextBox 21"/>
          <p:cNvSpPr txBox="1"/>
          <p:nvPr/>
        </p:nvSpPr>
        <p:spPr>
          <a:xfrm>
            <a:off x="453185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769750" y="5935726"/>
            <a:ext cx="128699" cy="187198"/>
          </a:xfrm>
          <a:prstGeom prst="rect">
            <a:avLst/>
          </a:prstGeom>
        </p:spPr>
      </p:pic>
      <p:sp>
        <p:nvSpPr>
          <p:cNvPr id="24" name="TextBox 23"/>
          <p:cNvSpPr txBox="1"/>
          <p:nvPr/>
        </p:nvSpPr>
        <p:spPr>
          <a:xfrm>
            <a:off x="493724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546219" y="5935726"/>
            <a:ext cx="128699" cy="187198"/>
          </a:xfrm>
          <a:prstGeom prst="rect">
            <a:avLst/>
          </a:prstGeom>
        </p:spPr>
      </p:pic>
      <p:sp>
        <p:nvSpPr>
          <p:cNvPr id="26" name="TextBox 25"/>
          <p:cNvSpPr txBox="1"/>
          <p:nvPr/>
        </p:nvSpPr>
        <p:spPr>
          <a:xfrm>
            <a:off x="671371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951609" y="5935726"/>
            <a:ext cx="128699" cy="187198"/>
          </a:xfrm>
          <a:prstGeom prst="rect">
            <a:avLst/>
          </a:prstGeom>
        </p:spPr>
      </p:pic>
      <p:sp>
        <p:nvSpPr>
          <p:cNvPr id="28" name="TextBox 27"/>
          <p:cNvSpPr txBox="1"/>
          <p:nvPr/>
        </p:nvSpPr>
        <p:spPr>
          <a:xfrm>
            <a:off x="7119105"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673509" y="5935726"/>
            <a:ext cx="128699" cy="187198"/>
          </a:xfrm>
          <a:prstGeom prst="rect">
            <a:avLst/>
          </a:prstGeom>
        </p:spPr>
      </p:pic>
      <p:sp>
        <p:nvSpPr>
          <p:cNvPr id="30" name="TextBox 29"/>
          <p:cNvSpPr txBox="1"/>
          <p:nvPr/>
        </p:nvSpPr>
        <p:spPr>
          <a:xfrm>
            <a:off x="9841005" y="5945505"/>
            <a:ext cx="1263922" cy="186689"/>
          </a:xfrm>
          <a:prstGeom prst="rect">
            <a:avLst/>
          </a:prstGeom>
          <a:noFill/>
        </p:spPr>
        <p:txBody>
          <a:bodyPr wrap="none" lIns="0" rIns="0" tIns="0" bIns="0">
            <a:spAutoFit/>
          </a:bodyPr>
          <a:lstStyle/>
          <a:p>
            <a:r>
              <a:rPr sz="1100" b="0">
                <a:solidFill>
                  <a:srgbClr val="2E2E2E"/>
                </a:solidFill>
                <a:latin typeface="Calibri"/>
              </a:rPr>
              <a:t>. Bubbles right of the</a:t>
            </a:r>
          </a:p>
        </p:txBody>
      </p:sp>
      <p:sp>
        <p:nvSpPr>
          <p:cNvPr id="31" name="TextBox 30"/>
          <p:cNvSpPr txBox="1"/>
          <p:nvPr/>
        </p:nvSpPr>
        <p:spPr>
          <a:xfrm>
            <a:off x="257175" y="611314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Cultivation Method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Protected Cultivation</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Open-Field Cultivation</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Cultivation Method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Cultivation Method,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Cultivation Method (US$ Mn)</a:t>
            </a:r>
          </a:p>
        </p:txBody>
      </p:sp>
      <p:graphicFrame>
        <p:nvGraphicFramePr>
          <p:cNvPr id="12" name="Table 11"/>
          <p:cNvGraphicFramePr>
            <a:graphicFrameLocks noGrp="1"/>
          </p:cNvGraphicFramePr>
          <p:nvPr/>
        </p:nvGraphicFramePr>
        <p:xfrm>
          <a:off x="152400" y="1238250"/>
          <a:ext cx="11887203" cy="990600"/>
        </p:xfrm>
        <a:graphic>
          <a:graphicData uri="http://schemas.openxmlformats.org/drawingml/2006/table">
            <a:tbl>
              <a:tblPr>
                <a:tableStyleId>{5C22544A-7EE6-4342-B048-85BDC9FD1C3A}</a:tableStyleId>
              </a:tblPr>
              <a:tblGrid>
                <a:gridCol w="1585934"/>
                <a:gridCol w="605957"/>
                <a:gridCol w="605957"/>
                <a:gridCol w="605957"/>
                <a:gridCol w="605957"/>
                <a:gridCol w="605957"/>
                <a:gridCol w="605957"/>
                <a:gridCol w="605957"/>
                <a:gridCol w="605957"/>
                <a:gridCol w="605957"/>
                <a:gridCol w="605957"/>
                <a:gridCol w="605957"/>
                <a:gridCol w="605957"/>
                <a:gridCol w="605957"/>
                <a:gridCol w="605957"/>
                <a:gridCol w="605957"/>
                <a:gridCol w="605957"/>
                <a:gridCol w="605957"/>
              </a:tblGrid>
              <a:tr h="246126">
                <a:tc>
                  <a:txBody>
                    <a:bodyPr wrap="none"/>
                    <a:lstStyle/>
                    <a:p>
                      <a:pPr algn="l"/>
                      <a:r>
                        <a:rPr sz="1100" b="1">
                          <a:solidFill>
                            <a:srgbClr val="0B2E4A"/>
                          </a:solidFill>
                          <a:latin typeface="Calibri"/>
                        </a:rPr>
                        <a:t>Cultivation Method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Protected Cultivation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Open-Field Cultivation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Cultivation Method</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2278" y="1589913"/>
            <a:ext cx="366712" cy="533400"/>
          </a:xfrm>
          <a:prstGeom prst="rect">
            <a:avLst/>
          </a:prstGeom>
        </p:spPr>
      </p:pic>
      <p:sp>
        <p:nvSpPr>
          <p:cNvPr id="20" name="TextBox 19"/>
          <p:cNvSpPr txBox="1"/>
          <p:nvPr/>
        </p:nvSpPr>
        <p:spPr>
          <a:xfrm>
            <a:off x="276225" y="2990850"/>
            <a:ext cx="3290726" cy="194310"/>
          </a:xfrm>
          <a:prstGeom prst="rect">
            <a:avLst/>
          </a:prstGeom>
          <a:noFill/>
        </p:spPr>
        <p:txBody>
          <a:bodyPr wrap="none" lIns="0" rIns="0" tIns="0" bIns="0">
            <a:spAutoFit/>
          </a:bodyPr>
          <a:lstStyle/>
          <a:p>
            <a:r>
              <a:rPr sz="1150" b="0">
                <a:solidFill>
                  <a:srgbClr val="2E2E2E"/>
                </a:solidFill>
                <a:latin typeface="Calibri"/>
              </a:rPr>
              <a:t>Open-field cultivation segment is projected to register</a:t>
            </a:r>
          </a:p>
        </p:txBody>
      </p:sp>
      <p:pic>
        <p:nvPicPr>
          <p:cNvPr id="21" name="Picture 20" descr="lock.png"/>
          <p:cNvPicPr>
            <a:picLocks noChangeAspect="1"/>
          </p:cNvPicPr>
          <p:nvPr/>
        </p:nvPicPr>
        <p:blipFill>
          <a:blip r:embed="rId4"/>
          <a:stretch>
            <a:fillRect/>
          </a:stretch>
        </p:blipFill>
        <p:spPr>
          <a:xfrm>
            <a:off x="3516105" y="2980626"/>
            <a:ext cx="134549" cy="195707"/>
          </a:xfrm>
          <a:prstGeom prst="rect">
            <a:avLst/>
          </a:prstGeom>
        </p:spPr>
      </p:pic>
      <p:sp>
        <p:nvSpPr>
          <p:cNvPr id="22" name="TextBox 21"/>
          <p:cNvSpPr txBox="1"/>
          <p:nvPr/>
        </p:nvSpPr>
        <p:spPr>
          <a:xfrm>
            <a:off x="3691214" y="2990850"/>
            <a:ext cx="8059601" cy="194310"/>
          </a:xfrm>
          <a:prstGeom prst="rect">
            <a:avLst/>
          </a:prstGeom>
          <a:noFill/>
        </p:spPr>
        <p:txBody>
          <a:bodyPr wrap="none" lIns="0" rIns="0" tIns="0" bIns="0">
            <a:spAutoFit/>
          </a:bodyPr>
          <a:lstStyle/>
          <a:p>
            <a:r>
              <a:rPr sz="1150" b="0">
                <a:solidFill>
                  <a:srgbClr val="2E2E2E"/>
                </a:solidFill>
                <a:latin typeface="Calibri"/>
              </a:rPr>
              <a:t>X higher value than protected cultivation segment in 2036. Among floriculture by cultivation method, open-field cultivation segment is</a:t>
            </a:r>
          </a:p>
        </p:txBody>
      </p:sp>
      <p:sp>
        <p:nvSpPr>
          <p:cNvPr id="23" name="TextBox 22"/>
          <p:cNvSpPr txBox="1"/>
          <p:nvPr/>
        </p:nvSpPr>
        <p:spPr>
          <a:xfrm>
            <a:off x="276225" y="316611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155886"/>
            <a:ext cx="134549" cy="195707"/>
          </a:xfrm>
          <a:prstGeom prst="rect">
            <a:avLst/>
          </a:prstGeom>
        </p:spPr>
      </p:pic>
      <p:sp>
        <p:nvSpPr>
          <p:cNvPr id="25" name="TextBox 24"/>
          <p:cNvSpPr txBox="1"/>
          <p:nvPr/>
        </p:nvSpPr>
        <p:spPr>
          <a:xfrm>
            <a:off x="288649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7548711" cy="194310"/>
          </a:xfrm>
          <a:prstGeom prst="rect">
            <a:avLst/>
          </a:prstGeom>
          <a:noFill/>
        </p:spPr>
        <p:txBody>
          <a:bodyPr wrap="none" lIns="0" rIns="0" tIns="0" bIns="0">
            <a:spAutoFit/>
          </a:bodyPr>
          <a:lstStyle/>
          <a:p>
            <a:r>
              <a:rPr sz="1150" b="0">
                <a:solidFill>
                  <a:srgbClr val="2E2E2E"/>
                </a:solidFill>
                <a:latin typeface="Calibri"/>
              </a:rPr>
              <a:t>In terms of value share by cultivation method, the open-field cultivation segment is expected to dominate the market, gaining</a:t>
            </a:r>
          </a:p>
        </p:txBody>
      </p:sp>
      <p:pic>
        <p:nvPicPr>
          <p:cNvPr id="27" name="Picture 26" descr="lock.png"/>
          <p:cNvPicPr>
            <a:picLocks noChangeAspect="1"/>
          </p:cNvPicPr>
          <p:nvPr/>
        </p:nvPicPr>
        <p:blipFill>
          <a:blip r:embed="rId4"/>
          <a:stretch>
            <a:fillRect/>
          </a:stretch>
        </p:blipFill>
        <p:spPr>
          <a:xfrm>
            <a:off x="7774090" y="3383724"/>
            <a:ext cx="134549" cy="195707"/>
          </a:xfrm>
          <a:prstGeom prst="rect">
            <a:avLst/>
          </a:prstGeom>
        </p:spPr>
      </p:pic>
      <p:sp>
        <p:nvSpPr>
          <p:cNvPr id="28" name="TextBox 27"/>
          <p:cNvSpPr txBox="1"/>
          <p:nvPr/>
        </p:nvSpPr>
        <p:spPr>
          <a:xfrm>
            <a:off x="7949199"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44342" y="3383724"/>
            <a:ext cx="134549" cy="195707"/>
          </a:xfrm>
          <a:prstGeom prst="rect">
            <a:avLst/>
          </a:prstGeom>
        </p:spPr>
      </p:pic>
      <p:sp>
        <p:nvSpPr>
          <p:cNvPr id="30" name="TextBox 29"/>
          <p:cNvSpPr txBox="1"/>
          <p:nvPr/>
        </p:nvSpPr>
        <p:spPr>
          <a:xfrm>
            <a:off x="9519452" y="3393947"/>
            <a:ext cx="1820242" cy="194310"/>
          </a:xfrm>
          <a:prstGeom prst="rect">
            <a:avLst/>
          </a:prstGeom>
          <a:noFill/>
        </p:spPr>
        <p:txBody>
          <a:bodyPr wrap="none" lIns="0" rIns="0" tIns="0" bIns="0">
            <a:spAutoFit/>
          </a:bodyPr>
          <a:lstStyle/>
          <a:p>
            <a:r>
              <a:rPr sz="1150" b="0">
                <a:solidFill>
                  <a:srgbClr val="2E2E2E"/>
                </a:solidFill>
                <a:latin typeface="Calibri"/>
              </a:rPr>
              <a:t>share by 2036. The protected</a:t>
            </a:r>
          </a:p>
        </p:txBody>
      </p:sp>
      <p:sp>
        <p:nvSpPr>
          <p:cNvPr id="31" name="TextBox 30"/>
          <p:cNvSpPr txBox="1"/>
          <p:nvPr/>
        </p:nvSpPr>
        <p:spPr>
          <a:xfrm>
            <a:off x="276225" y="3569207"/>
            <a:ext cx="2385900" cy="194310"/>
          </a:xfrm>
          <a:prstGeom prst="rect">
            <a:avLst/>
          </a:prstGeom>
          <a:noFill/>
        </p:spPr>
        <p:txBody>
          <a:bodyPr wrap="none" lIns="0" rIns="0" tIns="0" bIns="0">
            <a:spAutoFit/>
          </a:bodyPr>
          <a:lstStyle/>
          <a:p>
            <a:r>
              <a:rPr sz="1150" b="0">
                <a:solidFill>
                  <a:srgbClr val="2E2E2E"/>
                </a:solidFill>
                <a:latin typeface="Calibri"/>
              </a:rPr>
              <a:t>cultivation segment is expected to lose</a:t>
            </a:r>
          </a:p>
        </p:txBody>
      </p:sp>
      <p:pic>
        <p:nvPicPr>
          <p:cNvPr id="32" name="Picture 31" descr="lock.png"/>
          <p:cNvPicPr>
            <a:picLocks noChangeAspect="1"/>
          </p:cNvPicPr>
          <p:nvPr/>
        </p:nvPicPr>
        <p:blipFill>
          <a:blip r:embed="rId4"/>
          <a:stretch>
            <a:fillRect/>
          </a:stretch>
        </p:blipFill>
        <p:spPr>
          <a:xfrm>
            <a:off x="2611279" y="3558984"/>
            <a:ext cx="134549" cy="195707"/>
          </a:xfrm>
          <a:prstGeom prst="rect">
            <a:avLst/>
          </a:prstGeom>
        </p:spPr>
      </p:pic>
      <p:sp>
        <p:nvSpPr>
          <p:cNvPr id="33" name="TextBox 32"/>
          <p:cNvSpPr txBox="1"/>
          <p:nvPr/>
        </p:nvSpPr>
        <p:spPr>
          <a:xfrm>
            <a:off x="2786389"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373893" y="3558984"/>
            <a:ext cx="134549" cy="195707"/>
          </a:xfrm>
          <a:prstGeom prst="rect">
            <a:avLst/>
          </a:prstGeom>
        </p:spPr>
      </p:pic>
      <p:sp>
        <p:nvSpPr>
          <p:cNvPr id="35" name="TextBox 34"/>
          <p:cNvSpPr txBox="1"/>
          <p:nvPr/>
        </p:nvSpPr>
        <p:spPr>
          <a:xfrm>
            <a:off x="5549002"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Cultivation Method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Cultivation Method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22957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22481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14861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Protected Cultivation</a:t>
            </a:r>
          </a:p>
        </p:txBody>
      </p:sp>
      <p:sp>
        <p:nvSpPr>
          <p:cNvPr id="18" name="BPS Value 1"/>
          <p:cNvSpPr txBox="1"/>
          <p:nvPr/>
        </p:nvSpPr>
        <p:spPr>
          <a:xfrm>
            <a:off x="6896100" y="221052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51576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51100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4348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Open-Field Cultivation</a:t>
            </a:r>
          </a:p>
        </p:txBody>
      </p:sp>
      <p:sp>
        <p:nvSpPr>
          <p:cNvPr id="22" name="BPS Value 2"/>
          <p:cNvSpPr txBox="1"/>
          <p:nvPr/>
        </p:nvSpPr>
        <p:spPr>
          <a:xfrm>
            <a:off x="6896100" y="449671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Cultivation Method</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872358" cy="194310"/>
          </a:xfrm>
          <a:prstGeom prst="rect">
            <a:avLst/>
          </a:prstGeom>
          <a:noFill/>
        </p:spPr>
        <p:txBody>
          <a:bodyPr wrap="none" lIns="0" rIns="0" tIns="0" bIns="0">
            <a:spAutoFit/>
          </a:bodyPr>
          <a:lstStyle/>
          <a:p>
            <a:r>
              <a:rPr sz="1150" b="0">
                <a:solidFill>
                  <a:srgbClr val="2E2E2E"/>
                </a:solidFill>
                <a:latin typeface="Calibri"/>
              </a:rPr>
              <a:t>Among floriculture by cultivation method, open-field cultivation</a:t>
            </a:r>
          </a:p>
        </p:txBody>
      </p:sp>
      <p:sp>
        <p:nvSpPr>
          <p:cNvPr id="30" name="TextBox 2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1" name="Picture 30" descr="lock.png"/>
          <p:cNvPicPr>
            <a:picLocks noChangeAspect="1"/>
          </p:cNvPicPr>
          <p:nvPr/>
        </p:nvPicPr>
        <p:blipFill>
          <a:blip r:embed="rId5"/>
          <a:stretch>
            <a:fillRect/>
          </a:stretch>
        </p:blipFill>
        <p:spPr>
          <a:xfrm>
            <a:off x="10935343" y="1565211"/>
            <a:ext cx="134549" cy="195707"/>
          </a:xfrm>
          <a:prstGeom prst="rect">
            <a:avLst/>
          </a:prstGeom>
        </p:spPr>
      </p:pic>
      <p:sp>
        <p:nvSpPr>
          <p:cNvPr id="32" name="TextBox 3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3" name="TextBox 32"/>
          <p:cNvSpPr txBox="1"/>
          <p:nvPr/>
        </p:nvSpPr>
        <p:spPr>
          <a:xfrm>
            <a:off x="7829550" y="1750695"/>
            <a:ext cx="4017267" cy="194310"/>
          </a:xfrm>
          <a:prstGeom prst="rect">
            <a:avLst/>
          </a:prstGeom>
          <a:noFill/>
        </p:spPr>
        <p:txBody>
          <a:bodyPr wrap="none" lIns="0" rIns="0" tIns="0" bIns="0">
            <a:spAutoFit/>
          </a:bodyPr>
          <a:lstStyle/>
          <a:p>
            <a:r>
              <a:rPr sz="1150" b="0">
                <a:solidFill>
                  <a:srgbClr val="2E2E2E"/>
                </a:solidFill>
                <a:latin typeface="Calibri"/>
              </a:rPr>
              <a:t>forecast period. In terms of value share by cultivation method, the</a:t>
            </a:r>
          </a:p>
        </p:txBody>
      </p:sp>
      <p:sp>
        <p:nvSpPr>
          <p:cNvPr id="34" name="TextBox 33"/>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open-field cultivation segment is expected to dominate the market,</a:t>
            </a:r>
          </a:p>
        </p:txBody>
      </p:sp>
      <p:sp>
        <p:nvSpPr>
          <p:cNvPr id="35" name="TextBox 34"/>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36" name="Picture 35" descr="lock.png"/>
          <p:cNvPicPr>
            <a:picLocks noChangeAspect="1"/>
          </p:cNvPicPr>
          <p:nvPr/>
        </p:nvPicPr>
        <p:blipFill>
          <a:blip r:embed="rId5"/>
          <a:stretch>
            <a:fillRect/>
          </a:stretch>
        </p:blipFill>
        <p:spPr>
          <a:xfrm>
            <a:off x="8283070" y="2090991"/>
            <a:ext cx="134549" cy="195707"/>
          </a:xfrm>
          <a:prstGeom prst="rect">
            <a:avLst/>
          </a:prstGeom>
        </p:spPr>
      </p:pic>
      <p:sp>
        <p:nvSpPr>
          <p:cNvPr id="37" name="TextBox 36"/>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8" name="Picture 37" descr="lock.png"/>
          <p:cNvPicPr>
            <a:picLocks noChangeAspect="1"/>
          </p:cNvPicPr>
          <p:nvPr/>
        </p:nvPicPr>
        <p:blipFill>
          <a:blip r:embed="rId5"/>
          <a:stretch>
            <a:fillRect/>
          </a:stretch>
        </p:blipFill>
        <p:spPr>
          <a:xfrm>
            <a:off x="9853322" y="2090991"/>
            <a:ext cx="134549" cy="195707"/>
          </a:xfrm>
          <a:prstGeom prst="rect">
            <a:avLst/>
          </a:prstGeom>
        </p:spPr>
      </p:pic>
      <p:sp>
        <p:nvSpPr>
          <p:cNvPr id="39" name="TextBox 38"/>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TextBox 39"/>
          <p:cNvSpPr txBox="1"/>
          <p:nvPr/>
        </p:nvSpPr>
        <p:spPr>
          <a:xfrm>
            <a:off x="7829550" y="2329053"/>
            <a:ext cx="3259918" cy="194310"/>
          </a:xfrm>
          <a:prstGeom prst="rect">
            <a:avLst/>
          </a:prstGeom>
          <a:noFill/>
        </p:spPr>
        <p:txBody>
          <a:bodyPr wrap="none" lIns="0" rIns="0" tIns="0" bIns="0">
            <a:spAutoFit/>
          </a:bodyPr>
          <a:lstStyle/>
          <a:p>
            <a:r>
              <a:rPr sz="1150" b="0">
                <a:solidFill>
                  <a:srgbClr val="2E2E2E"/>
                </a:solidFill>
                <a:latin typeface="Calibri"/>
              </a:rPr>
              <a:t>The protected cultivation segment is expected to lose</a:t>
            </a:r>
          </a:p>
        </p:txBody>
      </p:sp>
      <p:pic>
        <p:nvPicPr>
          <p:cNvPr id="41" name="Picture 40" descr="lock.png"/>
          <p:cNvPicPr>
            <a:picLocks noChangeAspect="1"/>
          </p:cNvPicPr>
          <p:nvPr/>
        </p:nvPicPr>
        <p:blipFill>
          <a:blip r:embed="rId5"/>
          <a:stretch>
            <a:fillRect/>
          </a:stretch>
        </p:blipFill>
        <p:spPr>
          <a:xfrm>
            <a:off x="11038622" y="2318829"/>
            <a:ext cx="134549" cy="195707"/>
          </a:xfrm>
          <a:prstGeom prst="rect">
            <a:avLst/>
          </a:prstGeom>
        </p:spPr>
      </p:pic>
      <p:sp>
        <p:nvSpPr>
          <p:cNvPr id="42" name="TextBox 41"/>
          <p:cNvSpPr txBox="1"/>
          <p:nvPr/>
        </p:nvSpPr>
        <p:spPr>
          <a:xfrm>
            <a:off x="11213732"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3" name="TextBox 42"/>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44" name="Picture 43" descr="lock.png"/>
          <p:cNvPicPr>
            <a:picLocks noChangeAspect="1"/>
          </p:cNvPicPr>
          <p:nvPr/>
        </p:nvPicPr>
        <p:blipFill>
          <a:blip r:embed="rId5"/>
          <a:stretch>
            <a:fillRect/>
          </a:stretch>
        </p:blipFill>
        <p:spPr>
          <a:xfrm>
            <a:off x="9861950" y="2494089"/>
            <a:ext cx="134549" cy="195707"/>
          </a:xfrm>
          <a:prstGeom prst="rect">
            <a:avLst/>
          </a:prstGeom>
        </p:spPr>
      </p:pic>
      <p:sp>
        <p:nvSpPr>
          <p:cNvPr id="45" name="TextBox 44"/>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Supermarkets &amp; Hypermarkets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Florists &amp; Specialty Flower Shops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 Sales to Commercial &amp; Inst…</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 E-commerce</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Retail Channels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Garden Centers &amp; Plant Nurseries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17_621_605E5C.png"/>
          <p:cNvPicPr>
            <a:picLocks noChangeAspect="1"/>
          </p:cNvPicPr>
          <p:nvPr/>
        </p:nvPicPr>
        <p:blipFill>
          <a:blip r:embed="rId4"/>
          <a:stretch>
            <a:fillRect/>
          </a:stretch>
        </p:blipFill>
        <p:spPr>
          <a:xfrm>
            <a:off x="1948202" y="2286582"/>
            <a:ext cx="1409020" cy="361950"/>
          </a:xfrm>
          <a:prstGeom prst="rect">
            <a:avLst/>
          </a:prstGeom>
        </p:spPr>
      </p:pic>
      <p:pic>
        <p:nvPicPr>
          <p:cNvPr id="78" name="Picture 77" descr="23_906_605E5C.png"/>
          <p:cNvPicPr>
            <a:picLocks noChangeAspect="1"/>
          </p:cNvPicPr>
          <p:nvPr/>
        </p:nvPicPr>
        <p:blipFill>
          <a:blip r:embed="rId5"/>
          <a:stretch>
            <a:fillRect/>
          </a:stretch>
        </p:blipFill>
        <p:spPr>
          <a:xfrm>
            <a:off x="1948202" y="2779432"/>
            <a:ext cx="1409020" cy="361950"/>
          </a:xfrm>
          <a:prstGeom prst="rect">
            <a:avLst/>
          </a:prstGeom>
        </p:spPr>
      </p:pic>
      <p:pic>
        <p:nvPicPr>
          <p:cNvPr id="79" name="Picture 78" descr="3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12_439_605E5C.png"/>
          <p:cNvPicPr>
            <a:picLocks noChangeAspect="1"/>
          </p:cNvPicPr>
          <p:nvPr/>
        </p:nvPicPr>
        <p:blipFill>
          <a:blip r:embed="rId7"/>
          <a:stretch>
            <a:fillRect/>
          </a:stretch>
        </p:blipFill>
        <p:spPr>
          <a:xfrm>
            <a:off x="3634127" y="2286582"/>
            <a:ext cx="1409020" cy="361950"/>
          </a:xfrm>
          <a:prstGeom prst="rect">
            <a:avLst/>
          </a:prstGeom>
        </p:spPr>
      </p:pic>
      <p:pic>
        <p:nvPicPr>
          <p:cNvPr id="81" name="Picture 80" descr="19_766_605E5C.png"/>
          <p:cNvPicPr>
            <a:picLocks noChangeAspect="1"/>
          </p:cNvPicPr>
          <p:nvPr/>
        </p:nvPicPr>
        <p:blipFill>
          <a:blip r:embed="rId8"/>
          <a:stretch>
            <a:fillRect/>
          </a:stretch>
        </p:blipFill>
        <p:spPr>
          <a:xfrm>
            <a:off x="3634127" y="2779432"/>
            <a:ext cx="1409020" cy="361950"/>
          </a:xfrm>
          <a:prstGeom prst="rect">
            <a:avLst/>
          </a:prstGeom>
        </p:spPr>
      </p:pic>
      <p:pic>
        <p:nvPicPr>
          <p:cNvPr id="82" name="Picture 81" descr="4_7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0_747_605E5C.png"/>
          <p:cNvPicPr>
            <a:picLocks noChangeAspect="1"/>
          </p:cNvPicPr>
          <p:nvPr/>
        </p:nvPicPr>
        <p:blipFill>
          <a:blip r:embed="rId10"/>
          <a:stretch>
            <a:fillRect/>
          </a:stretch>
        </p:blipFill>
        <p:spPr>
          <a:xfrm>
            <a:off x="5320052" y="2286582"/>
            <a:ext cx="1409020" cy="361950"/>
          </a:xfrm>
          <a:prstGeom prst="rect">
            <a:avLst/>
          </a:prstGeom>
        </p:spPr>
      </p:pic>
      <p:pic>
        <p:nvPicPr>
          <p:cNvPr id="84" name="Picture 83" descr="18_819_605E5C.png"/>
          <p:cNvPicPr>
            <a:picLocks noChangeAspect="1"/>
          </p:cNvPicPr>
          <p:nvPr/>
        </p:nvPicPr>
        <p:blipFill>
          <a:blip r:embed="rId11"/>
          <a:stretch>
            <a:fillRect/>
          </a:stretch>
        </p:blipFill>
        <p:spPr>
          <a:xfrm>
            <a:off x="5320052" y="2779432"/>
            <a:ext cx="1409020" cy="361950"/>
          </a:xfrm>
          <a:prstGeom prst="rect">
            <a:avLst/>
          </a:prstGeom>
        </p:spPr>
      </p:pic>
      <p:pic>
        <p:nvPicPr>
          <p:cNvPr id="85" name="Picture 84" descr="5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7_476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6_227_605E5C.png"/>
          <p:cNvPicPr>
            <a:picLocks noChangeAspect="1"/>
          </p:cNvPicPr>
          <p:nvPr/>
        </p:nvPicPr>
        <p:blipFill>
          <a:blip r:embed="rId14"/>
          <a:stretch>
            <a:fillRect/>
          </a:stretch>
        </p:blipFill>
        <p:spPr>
          <a:xfrm>
            <a:off x="7005977" y="2779432"/>
            <a:ext cx="1409020" cy="361950"/>
          </a:xfrm>
          <a:prstGeom prst="rect">
            <a:avLst/>
          </a:prstGeom>
        </p:spPr>
      </p:pic>
      <p:pic>
        <p:nvPicPr>
          <p:cNvPr id="88" name="Picture 87" descr="8_1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6_04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1_623_605E5C.png"/>
          <p:cNvPicPr>
            <a:picLocks noChangeAspect="1"/>
          </p:cNvPicPr>
          <p:nvPr/>
        </p:nvPicPr>
        <p:blipFill>
          <a:blip r:embed="rId17"/>
          <a:stretch>
            <a:fillRect/>
          </a:stretch>
        </p:blipFill>
        <p:spPr>
          <a:xfrm>
            <a:off x="8691902" y="2779432"/>
            <a:ext cx="1409020" cy="361950"/>
          </a:xfrm>
          <a:prstGeom prst="rect">
            <a:avLst/>
          </a:prstGeom>
        </p:spPr>
      </p:pic>
      <p:pic>
        <p:nvPicPr>
          <p:cNvPr id="91" name="Picture 90" descr="6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5_677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7_393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2_7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07853" cy="186689"/>
          </a:xfrm>
          <a:prstGeom prst="rect">
            <a:avLst/>
          </a:prstGeom>
          <a:noFill/>
        </p:spPr>
        <p:txBody>
          <a:bodyPr wrap="none" lIns="0" rIns="0" tIns="0" bIns="0">
            <a:spAutoFit/>
          </a:bodyPr>
          <a:lstStyle/>
          <a:p>
            <a:r>
              <a:rPr sz="1100" b="0">
                <a:solidFill>
                  <a:srgbClr val="2E2E2E"/>
                </a:solidFill>
                <a:latin typeface="Calibri"/>
              </a:rPr>
              <a:t>Among floriculture by distribution channel, online</a:t>
            </a:r>
          </a:p>
        </p:txBody>
      </p:sp>
      <p:sp>
        <p:nvSpPr>
          <p:cNvPr id="102" name="TextBox 101"/>
          <p:cNvSpPr txBox="1"/>
          <p:nvPr/>
        </p:nvSpPr>
        <p:spPr>
          <a:xfrm>
            <a:off x="485775" y="4397077"/>
            <a:ext cx="2909490" cy="186689"/>
          </a:xfrm>
          <a:prstGeom prst="rect">
            <a:avLst/>
          </a:prstGeom>
          <a:noFill/>
        </p:spPr>
        <p:txBody>
          <a:bodyPr wrap="none" lIns="0" rIns="0" tIns="0" bIns="0">
            <a:spAutoFit/>
          </a:bodyPr>
          <a:lstStyle/>
          <a:p>
            <a:r>
              <a:rPr sz="1100" b="0">
                <a:solidFill>
                  <a:srgbClr val="2E2E2E"/>
                </a:solidFill>
                <a:latin typeface="Calibri"/>
              </a:rPr>
              <a:t>/ e-commerce segment is expected to witness the</a:t>
            </a:r>
          </a:p>
        </p:txBody>
      </p:sp>
      <p:sp>
        <p:nvSpPr>
          <p:cNvPr id="103" name="TextBox 102"/>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104" name="Picture 103" descr="lock.png"/>
          <p:cNvPicPr>
            <a:picLocks noChangeAspect="1"/>
          </p:cNvPicPr>
          <p:nvPr/>
        </p:nvPicPr>
        <p:blipFill>
          <a:blip r:embed="rId22"/>
          <a:stretch>
            <a:fillRect/>
          </a:stretch>
        </p:blipFill>
        <p:spPr>
          <a:xfrm>
            <a:off x="1424607" y="4554938"/>
            <a:ext cx="128699" cy="187198"/>
          </a:xfrm>
          <a:prstGeom prst="rect">
            <a:avLst/>
          </a:prstGeom>
        </p:spPr>
      </p:pic>
      <p:sp>
        <p:nvSpPr>
          <p:cNvPr id="105" name="TextBox 104"/>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106" name="TextBox 105"/>
          <p:cNvSpPr txBox="1"/>
          <p:nvPr/>
        </p:nvSpPr>
        <p:spPr>
          <a:xfrm>
            <a:off x="485775" y="4732357"/>
            <a:ext cx="2834456" cy="186689"/>
          </a:xfrm>
          <a:prstGeom prst="rect">
            <a:avLst/>
          </a:prstGeom>
          <a:noFill/>
        </p:spPr>
        <p:txBody>
          <a:bodyPr wrap="none" lIns="0" rIns="0" tIns="0" bIns="0">
            <a:spAutoFit/>
          </a:bodyPr>
          <a:lstStyle/>
          <a:p>
            <a:r>
              <a:rPr sz="1100" b="0">
                <a:solidFill>
                  <a:srgbClr val="2E2E2E"/>
                </a:solidFill>
                <a:latin typeface="Calibri"/>
              </a:rPr>
              <a:t>terms of value share by distribution channel, the</a:t>
            </a:r>
          </a:p>
        </p:txBody>
      </p:sp>
      <p:sp>
        <p:nvSpPr>
          <p:cNvPr id="107" name="TextBox 106"/>
          <p:cNvSpPr txBox="1"/>
          <p:nvPr/>
        </p:nvSpPr>
        <p:spPr>
          <a:xfrm>
            <a:off x="485775" y="4899997"/>
            <a:ext cx="2448371" cy="186689"/>
          </a:xfrm>
          <a:prstGeom prst="rect">
            <a:avLst/>
          </a:prstGeom>
          <a:noFill/>
        </p:spPr>
        <p:txBody>
          <a:bodyPr wrap="none" lIns="0" rIns="0" tIns="0" bIns="0">
            <a:spAutoFit/>
          </a:bodyPr>
          <a:lstStyle/>
          <a:p>
            <a:r>
              <a:rPr sz="1100" b="0">
                <a:solidFill>
                  <a:srgbClr val="2E2E2E"/>
                </a:solidFill>
                <a:latin typeface="Calibri"/>
              </a:rPr>
              <a:t>supermarkets &amp; hypermarkets segment is</a:t>
            </a:r>
          </a:p>
        </p:txBody>
      </p:sp>
      <p:sp>
        <p:nvSpPr>
          <p:cNvPr id="108" name="TextBox 107"/>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09" name="Picture 108" descr="lock.png"/>
          <p:cNvPicPr>
            <a:picLocks noChangeAspect="1"/>
          </p:cNvPicPr>
          <p:nvPr/>
        </p:nvPicPr>
        <p:blipFill>
          <a:blip r:embed="rId22"/>
          <a:stretch>
            <a:fillRect/>
          </a:stretch>
        </p:blipFill>
        <p:spPr>
          <a:xfrm>
            <a:off x="2822716" y="5057858"/>
            <a:ext cx="128699" cy="187198"/>
          </a:xfrm>
          <a:prstGeom prst="rect">
            <a:avLst/>
          </a:prstGeom>
        </p:spPr>
      </p:pic>
      <p:sp>
        <p:nvSpPr>
          <p:cNvPr id="110" name="TextBox 109"/>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457921" cy="186689"/>
          </a:xfrm>
          <a:prstGeom prst="rect">
            <a:avLst/>
          </a:prstGeom>
          <a:noFill/>
        </p:spPr>
        <p:txBody>
          <a:bodyPr wrap="none" lIns="0" rIns="0" tIns="0" bIns="0">
            <a:spAutoFit/>
          </a:bodyPr>
          <a:lstStyle/>
          <a:p>
            <a:r>
              <a:rPr sz="1100" b="0">
                <a:solidFill>
                  <a:srgbClr val="2E2E2E"/>
                </a:solidFill>
                <a:latin typeface="Calibri"/>
              </a:rPr>
              <a:t>Supermarkets &amp; hypermarkets segment is</a:t>
            </a:r>
          </a:p>
        </p:txBody>
      </p:sp>
      <p:sp>
        <p:nvSpPr>
          <p:cNvPr id="115" name="TextBox 114"/>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6" name="Picture 115" descr="lock.png"/>
          <p:cNvPicPr>
            <a:picLocks noChangeAspect="1"/>
          </p:cNvPicPr>
          <p:nvPr/>
        </p:nvPicPr>
        <p:blipFill>
          <a:blip r:embed="rId22"/>
          <a:stretch>
            <a:fillRect/>
          </a:stretch>
        </p:blipFill>
        <p:spPr>
          <a:xfrm>
            <a:off x="1678376" y="5611070"/>
            <a:ext cx="128699" cy="187198"/>
          </a:xfrm>
          <a:prstGeom prst="rect">
            <a:avLst/>
          </a:prstGeom>
        </p:spPr>
      </p:pic>
      <p:sp>
        <p:nvSpPr>
          <p:cNvPr id="117" name="TextBox 116"/>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18" name="TextBox 117"/>
          <p:cNvSpPr txBox="1"/>
          <p:nvPr/>
        </p:nvSpPr>
        <p:spPr>
          <a:xfrm>
            <a:off x="485775" y="5788489"/>
            <a:ext cx="2889026" cy="186689"/>
          </a:xfrm>
          <a:prstGeom prst="rect">
            <a:avLst/>
          </a:prstGeom>
          <a:noFill/>
        </p:spPr>
        <p:txBody>
          <a:bodyPr wrap="none" lIns="0" rIns="0" tIns="0" bIns="0">
            <a:spAutoFit/>
          </a:bodyPr>
          <a:lstStyle/>
          <a:p>
            <a:r>
              <a:rPr sz="1100" b="0">
                <a:solidFill>
                  <a:srgbClr val="2E2E2E"/>
                </a:solidFill>
                <a:latin typeface="Calibri"/>
              </a:rPr>
              <a:t>florists &amp; specialty flower shops segment in 2036.</a:t>
            </a:r>
          </a:p>
        </p:txBody>
      </p:sp>
      <p:sp>
        <p:nvSpPr>
          <p:cNvPr id="119" name="TextBox 118"/>
          <p:cNvSpPr txBox="1"/>
          <p:nvPr/>
        </p:nvSpPr>
        <p:spPr>
          <a:xfrm>
            <a:off x="3838575" y="4229437"/>
            <a:ext cx="1983432" cy="186689"/>
          </a:xfrm>
          <a:prstGeom prst="rect">
            <a:avLst/>
          </a:prstGeom>
          <a:noFill/>
        </p:spPr>
        <p:txBody>
          <a:bodyPr wrap="none" lIns="0" rIns="0" tIns="0" bIns="0">
            <a:spAutoFit/>
          </a:bodyPr>
          <a:lstStyle/>
          <a:p>
            <a:r>
              <a:rPr sz="1100" b="0">
                <a:solidFill>
                  <a:srgbClr val="2E2E2E"/>
                </a:solidFill>
                <a:latin typeface="Calibri"/>
              </a:rPr>
              <a:t>● Supermarkets &amp; Hypermarkets:</a:t>
            </a:r>
          </a:p>
        </p:txBody>
      </p:sp>
      <p:pic>
        <p:nvPicPr>
          <p:cNvPr id="120" name="Picture 119" descr="lock.png"/>
          <p:cNvPicPr>
            <a:picLocks noChangeAspect="1"/>
          </p:cNvPicPr>
          <p:nvPr/>
        </p:nvPicPr>
        <p:blipFill>
          <a:blip r:embed="rId22"/>
          <a:stretch>
            <a:fillRect/>
          </a:stretch>
        </p:blipFill>
        <p:spPr>
          <a:xfrm>
            <a:off x="5770059" y="4219658"/>
            <a:ext cx="128699" cy="187198"/>
          </a:xfrm>
          <a:prstGeom prst="rect">
            <a:avLst/>
          </a:prstGeom>
        </p:spPr>
      </p:pic>
      <p:sp>
        <p:nvSpPr>
          <p:cNvPr id="121" name="TextBox 120"/>
          <p:cNvSpPr txBox="1"/>
          <p:nvPr/>
        </p:nvSpPr>
        <p:spPr>
          <a:xfrm>
            <a:off x="593755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797005" y="4219658"/>
            <a:ext cx="128699" cy="187198"/>
          </a:xfrm>
          <a:prstGeom prst="rect">
            <a:avLst/>
          </a:prstGeom>
        </p:spPr>
      </p:pic>
      <p:sp>
        <p:nvSpPr>
          <p:cNvPr id="123" name="TextBox 122"/>
          <p:cNvSpPr txBox="1"/>
          <p:nvPr/>
        </p:nvSpPr>
        <p:spPr>
          <a:xfrm>
            <a:off x="6964500"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24" name="TextBox 123"/>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25" name="TextBox 124"/>
          <p:cNvSpPr txBox="1"/>
          <p:nvPr/>
        </p:nvSpPr>
        <p:spPr>
          <a:xfrm>
            <a:off x="3838575" y="4615009"/>
            <a:ext cx="2093664" cy="186689"/>
          </a:xfrm>
          <a:prstGeom prst="rect">
            <a:avLst/>
          </a:prstGeom>
          <a:noFill/>
        </p:spPr>
        <p:txBody>
          <a:bodyPr wrap="none" lIns="0" rIns="0" tIns="0" bIns="0">
            <a:spAutoFit/>
          </a:bodyPr>
          <a:lstStyle/>
          <a:p>
            <a:r>
              <a:rPr sz="1100" b="0">
                <a:solidFill>
                  <a:srgbClr val="2E2E2E"/>
                </a:solidFill>
                <a:latin typeface="Calibri"/>
              </a:rPr>
              <a:t>● Florists &amp; Specialty Flower Shops:</a:t>
            </a:r>
          </a:p>
        </p:txBody>
      </p:sp>
      <p:pic>
        <p:nvPicPr>
          <p:cNvPr id="126" name="Picture 125" descr="lock.png"/>
          <p:cNvPicPr>
            <a:picLocks noChangeAspect="1"/>
          </p:cNvPicPr>
          <p:nvPr/>
        </p:nvPicPr>
        <p:blipFill>
          <a:blip r:embed="rId22"/>
          <a:stretch>
            <a:fillRect/>
          </a:stretch>
        </p:blipFill>
        <p:spPr>
          <a:xfrm>
            <a:off x="5880291" y="4605230"/>
            <a:ext cx="128699" cy="187198"/>
          </a:xfrm>
          <a:prstGeom prst="rect">
            <a:avLst/>
          </a:prstGeom>
        </p:spPr>
      </p:pic>
      <p:sp>
        <p:nvSpPr>
          <p:cNvPr id="127" name="TextBox 126"/>
          <p:cNvSpPr txBox="1"/>
          <p:nvPr/>
        </p:nvSpPr>
        <p:spPr>
          <a:xfrm>
            <a:off x="604778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6907237" y="4605230"/>
            <a:ext cx="128699" cy="187198"/>
          </a:xfrm>
          <a:prstGeom prst="rect">
            <a:avLst/>
          </a:prstGeom>
        </p:spPr>
      </p:pic>
      <p:sp>
        <p:nvSpPr>
          <p:cNvPr id="129" name="TextBox 128"/>
          <p:cNvSpPr txBox="1"/>
          <p:nvPr/>
        </p:nvSpPr>
        <p:spPr>
          <a:xfrm>
            <a:off x="7074732"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30" name="TextBox 129"/>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1" name="TextBox 130"/>
          <p:cNvSpPr txBox="1"/>
          <p:nvPr/>
        </p:nvSpPr>
        <p:spPr>
          <a:xfrm>
            <a:off x="3838575" y="5000581"/>
            <a:ext cx="3086844" cy="186689"/>
          </a:xfrm>
          <a:prstGeom prst="rect">
            <a:avLst/>
          </a:prstGeom>
          <a:noFill/>
        </p:spPr>
        <p:txBody>
          <a:bodyPr wrap="none" lIns="0" rIns="0" tIns="0" bIns="0">
            <a:spAutoFit/>
          </a:bodyPr>
          <a:lstStyle/>
          <a:p>
            <a:r>
              <a:rPr sz="1100" b="1">
                <a:solidFill>
                  <a:srgbClr val="008189"/>
                </a:solidFill>
                <a:latin typeface="Calibri"/>
              </a:rPr>
              <a:t>● Direct Sales to Commercial &amp; Institutional Buyers:</a:t>
            </a:r>
          </a:p>
        </p:txBody>
      </p:sp>
      <p:pic>
        <p:nvPicPr>
          <p:cNvPr id="132" name="Picture 131" descr="lock.png"/>
          <p:cNvPicPr>
            <a:picLocks noChangeAspect="1"/>
          </p:cNvPicPr>
          <p:nvPr/>
        </p:nvPicPr>
        <p:blipFill>
          <a:blip r:embed="rId22"/>
          <a:stretch>
            <a:fillRect/>
          </a:stretch>
        </p:blipFill>
        <p:spPr>
          <a:xfrm>
            <a:off x="6873470" y="4990801"/>
            <a:ext cx="128699" cy="187198"/>
          </a:xfrm>
          <a:prstGeom prst="rect">
            <a:avLst/>
          </a:prstGeom>
        </p:spPr>
      </p:pic>
      <p:sp>
        <p:nvSpPr>
          <p:cNvPr id="133" name="TextBox 132"/>
          <p:cNvSpPr txBox="1"/>
          <p:nvPr/>
        </p:nvSpPr>
        <p:spPr>
          <a:xfrm>
            <a:off x="7040966" y="5000581"/>
            <a:ext cx="857374" cy="186689"/>
          </a:xfrm>
          <a:prstGeom prst="rect">
            <a:avLst/>
          </a:prstGeom>
          <a:noFill/>
        </p:spPr>
        <p:txBody>
          <a:bodyPr wrap="none" lIns="0" rIns="0" tIns="0" bIns="0">
            <a:spAutoFit/>
          </a:bodyPr>
          <a:lstStyle/>
          <a:p>
            <a:r>
              <a:rPr sz="1100" b="1">
                <a:solidFill>
                  <a:srgbClr val="008189"/>
                </a:solidFill>
                <a:latin typeface="Calibri"/>
              </a:rPr>
              <a:t>of 2026 value</a:t>
            </a:r>
          </a:p>
        </p:txBody>
      </p:sp>
      <p:sp>
        <p:nvSpPr>
          <p:cNvPr id="134" name="TextBox 133"/>
          <p:cNvSpPr txBox="1"/>
          <p:nvPr/>
        </p:nvSpPr>
        <p:spPr>
          <a:xfrm>
            <a:off x="3838575" y="5168221"/>
            <a:ext cx="113580" cy="186689"/>
          </a:xfrm>
          <a:prstGeom prst="rect">
            <a:avLst/>
          </a:prstGeom>
          <a:noFill/>
        </p:spPr>
        <p:txBody>
          <a:bodyPr wrap="none" lIns="0" rIns="0" tIns="0" bIns="0">
            <a:spAutoFit/>
          </a:bodyPr>
          <a:lstStyle/>
          <a:p>
            <a:r>
              <a:rPr sz="1100" b="1">
                <a:solidFill>
                  <a:srgbClr val="008189"/>
                </a:solidFill>
                <a:latin typeface="Calibri"/>
              </a:rPr>
              <a:t>·</a:t>
            </a:r>
          </a:p>
        </p:txBody>
      </p:sp>
      <p:pic>
        <p:nvPicPr>
          <p:cNvPr id="135" name="Picture 134" descr="lock.png"/>
          <p:cNvPicPr>
            <a:picLocks noChangeAspect="1"/>
          </p:cNvPicPr>
          <p:nvPr/>
        </p:nvPicPr>
        <p:blipFill>
          <a:blip r:embed="rId22"/>
          <a:stretch>
            <a:fillRect/>
          </a:stretch>
        </p:blipFill>
        <p:spPr>
          <a:xfrm>
            <a:off x="3900207" y="5158441"/>
            <a:ext cx="128699" cy="187198"/>
          </a:xfrm>
          <a:prstGeom prst="rect">
            <a:avLst/>
          </a:prstGeom>
        </p:spPr>
      </p:pic>
      <p:sp>
        <p:nvSpPr>
          <p:cNvPr id="136" name="TextBox 135"/>
          <p:cNvSpPr txBox="1"/>
          <p:nvPr/>
        </p:nvSpPr>
        <p:spPr>
          <a:xfrm>
            <a:off x="4067703" y="5168221"/>
            <a:ext cx="1284633" cy="186689"/>
          </a:xfrm>
          <a:prstGeom prst="rect">
            <a:avLst/>
          </a:prstGeom>
          <a:noFill/>
        </p:spPr>
        <p:txBody>
          <a:bodyPr wrap="none" lIns="0" rIns="0" tIns="0" bIns="0">
            <a:spAutoFit/>
          </a:bodyPr>
          <a:lstStyle/>
          <a:p>
            <a:r>
              <a:rPr sz="1100" b="1">
                <a:solidFill>
                  <a:srgbClr val="008189"/>
                </a:solidFill>
                <a:latin typeface="Calibri"/>
              </a:rPr>
              <a:t>CAGR serves a niche.</a:t>
            </a:r>
          </a:p>
        </p:txBody>
      </p:sp>
      <p:sp>
        <p:nvSpPr>
          <p:cNvPr id="137" name="TextBox 136"/>
          <p:cNvSpPr txBox="1"/>
          <p:nvPr/>
        </p:nvSpPr>
        <p:spPr>
          <a:xfrm>
            <a:off x="3838575" y="5386153"/>
            <a:ext cx="1434425" cy="186689"/>
          </a:xfrm>
          <a:prstGeom prst="rect">
            <a:avLst/>
          </a:prstGeom>
          <a:noFill/>
        </p:spPr>
        <p:txBody>
          <a:bodyPr wrap="none" lIns="0" rIns="0" tIns="0" bIns="0">
            <a:spAutoFit/>
          </a:bodyPr>
          <a:lstStyle/>
          <a:p>
            <a:r>
              <a:rPr sz="1100" b="0">
                <a:solidFill>
                  <a:srgbClr val="2E2E2E"/>
                </a:solidFill>
                <a:latin typeface="Calibri"/>
              </a:rPr>
              <a:t>● Online / E-commerce:</a:t>
            </a:r>
          </a:p>
        </p:txBody>
      </p:sp>
      <p:pic>
        <p:nvPicPr>
          <p:cNvPr id="138" name="Picture 137" descr="lock.png"/>
          <p:cNvPicPr>
            <a:picLocks noChangeAspect="1"/>
          </p:cNvPicPr>
          <p:nvPr/>
        </p:nvPicPr>
        <p:blipFill>
          <a:blip r:embed="rId22"/>
          <a:stretch>
            <a:fillRect/>
          </a:stretch>
        </p:blipFill>
        <p:spPr>
          <a:xfrm>
            <a:off x="5221051" y="5376373"/>
            <a:ext cx="128699" cy="187198"/>
          </a:xfrm>
          <a:prstGeom prst="rect">
            <a:avLst/>
          </a:prstGeom>
        </p:spPr>
      </p:pic>
      <p:sp>
        <p:nvSpPr>
          <p:cNvPr id="139" name="TextBox 138"/>
          <p:cNvSpPr txBox="1"/>
          <p:nvPr/>
        </p:nvSpPr>
        <p:spPr>
          <a:xfrm>
            <a:off x="5388547"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6247997" y="5376373"/>
            <a:ext cx="128699" cy="187198"/>
          </a:xfrm>
          <a:prstGeom prst="rect">
            <a:avLst/>
          </a:prstGeom>
        </p:spPr>
      </p:pic>
      <p:sp>
        <p:nvSpPr>
          <p:cNvPr id="141" name="TextBox 140"/>
          <p:cNvSpPr txBox="1"/>
          <p:nvPr/>
        </p:nvSpPr>
        <p:spPr>
          <a:xfrm>
            <a:off x="6415493" y="538615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2" name="TextBox 141"/>
          <p:cNvSpPr txBox="1"/>
          <p:nvPr/>
        </p:nvSpPr>
        <p:spPr>
          <a:xfrm>
            <a:off x="3838575" y="5604085"/>
            <a:ext cx="1465560" cy="186689"/>
          </a:xfrm>
          <a:prstGeom prst="rect">
            <a:avLst/>
          </a:prstGeom>
          <a:noFill/>
        </p:spPr>
        <p:txBody>
          <a:bodyPr wrap="none" lIns="0" rIns="0" tIns="0" bIns="0">
            <a:spAutoFit/>
          </a:bodyPr>
          <a:lstStyle/>
          <a:p>
            <a:r>
              <a:rPr sz="1100" b="0">
                <a:solidFill>
                  <a:srgbClr val="2E2E2E"/>
                </a:solidFill>
                <a:latin typeface="Calibri"/>
              </a:rPr>
              <a:t>● Other Retail Channels:</a:t>
            </a:r>
          </a:p>
        </p:txBody>
      </p:sp>
      <p:pic>
        <p:nvPicPr>
          <p:cNvPr id="143" name="Picture 142" descr="lock.png"/>
          <p:cNvPicPr>
            <a:picLocks noChangeAspect="1"/>
          </p:cNvPicPr>
          <p:nvPr/>
        </p:nvPicPr>
        <p:blipFill>
          <a:blip r:embed="rId22"/>
          <a:stretch>
            <a:fillRect/>
          </a:stretch>
        </p:blipFill>
        <p:spPr>
          <a:xfrm>
            <a:off x="5252186" y="5594305"/>
            <a:ext cx="128699" cy="187198"/>
          </a:xfrm>
          <a:prstGeom prst="rect">
            <a:avLst/>
          </a:prstGeom>
        </p:spPr>
      </p:pic>
      <p:sp>
        <p:nvSpPr>
          <p:cNvPr id="144" name="TextBox 143"/>
          <p:cNvSpPr txBox="1"/>
          <p:nvPr/>
        </p:nvSpPr>
        <p:spPr>
          <a:xfrm>
            <a:off x="5419682"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6279132" y="5594305"/>
            <a:ext cx="128699" cy="187198"/>
          </a:xfrm>
          <a:prstGeom prst="rect">
            <a:avLst/>
          </a:prstGeom>
        </p:spPr>
      </p:pic>
      <p:sp>
        <p:nvSpPr>
          <p:cNvPr id="146" name="TextBox 145"/>
          <p:cNvSpPr txBox="1"/>
          <p:nvPr/>
        </p:nvSpPr>
        <p:spPr>
          <a:xfrm>
            <a:off x="6446628" y="560408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7" name="TextBox 146"/>
          <p:cNvSpPr txBox="1"/>
          <p:nvPr/>
        </p:nvSpPr>
        <p:spPr>
          <a:xfrm>
            <a:off x="3838575" y="5822017"/>
            <a:ext cx="2142504" cy="186689"/>
          </a:xfrm>
          <a:prstGeom prst="rect">
            <a:avLst/>
          </a:prstGeom>
          <a:noFill/>
        </p:spPr>
        <p:txBody>
          <a:bodyPr wrap="none" lIns="0" rIns="0" tIns="0" bIns="0">
            <a:spAutoFit/>
          </a:bodyPr>
          <a:lstStyle/>
          <a:p>
            <a:r>
              <a:rPr sz="1100" b="0">
                <a:solidFill>
                  <a:srgbClr val="2E2E2E"/>
                </a:solidFill>
                <a:latin typeface="Calibri"/>
              </a:rPr>
              <a:t>● Garden Centers &amp; Plant Nurseries:</a:t>
            </a:r>
          </a:p>
        </p:txBody>
      </p:sp>
      <p:pic>
        <p:nvPicPr>
          <p:cNvPr id="148" name="Picture 147" descr="lock.png"/>
          <p:cNvPicPr>
            <a:picLocks noChangeAspect="1"/>
          </p:cNvPicPr>
          <p:nvPr/>
        </p:nvPicPr>
        <p:blipFill>
          <a:blip r:embed="rId22"/>
          <a:stretch>
            <a:fillRect/>
          </a:stretch>
        </p:blipFill>
        <p:spPr>
          <a:xfrm>
            <a:off x="5929131" y="5812237"/>
            <a:ext cx="128699" cy="187198"/>
          </a:xfrm>
          <a:prstGeom prst="rect">
            <a:avLst/>
          </a:prstGeom>
        </p:spPr>
      </p:pic>
      <p:sp>
        <p:nvSpPr>
          <p:cNvPr id="149" name="TextBox 148"/>
          <p:cNvSpPr txBox="1"/>
          <p:nvPr/>
        </p:nvSpPr>
        <p:spPr>
          <a:xfrm>
            <a:off x="6096627" y="582201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0" name="Picture 149" descr="lock.png"/>
          <p:cNvPicPr>
            <a:picLocks noChangeAspect="1"/>
          </p:cNvPicPr>
          <p:nvPr/>
        </p:nvPicPr>
        <p:blipFill>
          <a:blip r:embed="rId22"/>
          <a:stretch>
            <a:fillRect/>
          </a:stretch>
        </p:blipFill>
        <p:spPr>
          <a:xfrm>
            <a:off x="6956077" y="5812237"/>
            <a:ext cx="128699" cy="187198"/>
          </a:xfrm>
          <a:prstGeom prst="rect">
            <a:avLst/>
          </a:prstGeom>
        </p:spPr>
      </p:pic>
      <p:sp>
        <p:nvSpPr>
          <p:cNvPr id="151" name="TextBox 150"/>
          <p:cNvSpPr txBox="1"/>
          <p:nvPr/>
        </p:nvSpPr>
        <p:spPr>
          <a:xfrm>
            <a:off x="7123573" y="582201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52" name="TextBox 151"/>
          <p:cNvSpPr txBox="1"/>
          <p:nvPr/>
        </p:nvSpPr>
        <p:spPr>
          <a:xfrm>
            <a:off x="3838575" y="5989657"/>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53" name="TextBox 152"/>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54" name="TextBox 153"/>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55" name="Picture 154" descr="lock.png"/>
          <p:cNvPicPr>
            <a:picLocks noChangeAspect="1"/>
          </p:cNvPicPr>
          <p:nvPr/>
        </p:nvPicPr>
        <p:blipFill>
          <a:blip r:embed="rId22"/>
          <a:stretch>
            <a:fillRect/>
          </a:stretch>
        </p:blipFill>
        <p:spPr>
          <a:xfrm>
            <a:off x="9651852" y="6007677"/>
            <a:ext cx="134549" cy="195707"/>
          </a:xfrm>
          <a:prstGeom prst="rect">
            <a:avLst/>
          </a:prstGeom>
        </p:spPr>
      </p:pic>
      <p:sp>
        <p:nvSpPr>
          <p:cNvPr id="156" name="TextBox 155"/>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283032" cy="186689"/>
          </a:xfrm>
          <a:prstGeom prst="rect">
            <a:avLst/>
          </a:prstGeom>
          <a:noFill/>
        </p:spPr>
        <p:txBody>
          <a:bodyPr wrap="none" lIns="0" rIns="0" tIns="0" bIns="0">
            <a:spAutoFit/>
          </a:bodyPr>
          <a:lstStyle/>
          <a:p>
            <a:r>
              <a:rPr sz="1100" b="0">
                <a:solidFill>
                  <a:srgbClr val="2E2E2E"/>
                </a:solidFill>
                <a:latin typeface="Calibri"/>
              </a:rPr>
              <a:t>Supermarkets &amp; hypermarkets followed by online / e-commerce are expected to be the two most attractive distribution channel segments in the global floriculture market in terms of value over the</a:t>
            </a:r>
          </a:p>
        </p:txBody>
      </p:sp>
      <p:sp>
        <p:nvSpPr>
          <p:cNvPr id="20" name="TextBox 19"/>
          <p:cNvSpPr txBox="1"/>
          <p:nvPr/>
        </p:nvSpPr>
        <p:spPr>
          <a:xfrm>
            <a:off x="257175" y="5861685"/>
            <a:ext cx="5570594" cy="186689"/>
          </a:xfrm>
          <a:prstGeom prst="rect">
            <a:avLst/>
          </a:prstGeom>
          <a:noFill/>
        </p:spPr>
        <p:txBody>
          <a:bodyPr wrap="none" lIns="0" rIns="0" tIns="0" bIns="0">
            <a:spAutoFit/>
          </a:bodyPr>
          <a:lstStyle/>
          <a:p>
            <a:r>
              <a:rPr sz="1100" b="0">
                <a:solidFill>
                  <a:srgbClr val="2E2E2E"/>
                </a:solidFill>
                <a:latin typeface="Calibri"/>
              </a:rPr>
              <a:t>forecast period. Supermarkets &amp; hypermarkets and online / e-commerce exhibit a CAGR index of</a:t>
            </a:r>
          </a:p>
        </p:txBody>
      </p:sp>
      <p:pic>
        <p:nvPicPr>
          <p:cNvPr id="21" name="Picture 20" descr="lock.png"/>
          <p:cNvPicPr>
            <a:picLocks noChangeAspect="1"/>
          </p:cNvPicPr>
          <p:nvPr/>
        </p:nvPicPr>
        <p:blipFill>
          <a:blip r:embed="rId6"/>
          <a:stretch>
            <a:fillRect/>
          </a:stretch>
        </p:blipFill>
        <p:spPr>
          <a:xfrm>
            <a:off x="5775821" y="5851905"/>
            <a:ext cx="128699" cy="187198"/>
          </a:xfrm>
          <a:prstGeom prst="rect">
            <a:avLst/>
          </a:prstGeom>
        </p:spPr>
      </p:pic>
      <p:sp>
        <p:nvSpPr>
          <p:cNvPr id="22" name="TextBox 21"/>
          <p:cNvSpPr txBox="1"/>
          <p:nvPr/>
        </p:nvSpPr>
        <p:spPr>
          <a:xfrm>
            <a:off x="594331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181211" y="5851905"/>
            <a:ext cx="128699" cy="187198"/>
          </a:xfrm>
          <a:prstGeom prst="rect">
            <a:avLst/>
          </a:prstGeom>
        </p:spPr>
      </p:pic>
      <p:sp>
        <p:nvSpPr>
          <p:cNvPr id="24" name="TextBox 23"/>
          <p:cNvSpPr txBox="1"/>
          <p:nvPr/>
        </p:nvSpPr>
        <p:spPr>
          <a:xfrm>
            <a:off x="634870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957680" y="5851905"/>
            <a:ext cx="128699" cy="187198"/>
          </a:xfrm>
          <a:prstGeom prst="rect">
            <a:avLst/>
          </a:prstGeom>
        </p:spPr>
      </p:pic>
      <p:sp>
        <p:nvSpPr>
          <p:cNvPr id="26" name="TextBox 25"/>
          <p:cNvSpPr txBox="1"/>
          <p:nvPr/>
        </p:nvSpPr>
        <p:spPr>
          <a:xfrm>
            <a:off x="812517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8363071" y="5851905"/>
            <a:ext cx="128699" cy="187198"/>
          </a:xfrm>
          <a:prstGeom prst="rect">
            <a:avLst/>
          </a:prstGeom>
        </p:spPr>
      </p:pic>
      <p:sp>
        <p:nvSpPr>
          <p:cNvPr id="28" name="TextBox 27"/>
          <p:cNvSpPr txBox="1"/>
          <p:nvPr/>
        </p:nvSpPr>
        <p:spPr>
          <a:xfrm>
            <a:off x="8530566"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1084971" y="5851905"/>
            <a:ext cx="128699" cy="187198"/>
          </a:xfrm>
          <a:prstGeom prst="rect">
            <a:avLst/>
          </a:prstGeom>
        </p:spPr>
      </p:pic>
      <p:sp>
        <p:nvSpPr>
          <p:cNvPr id="30" name="TextBox 29"/>
          <p:cNvSpPr txBox="1"/>
          <p:nvPr/>
        </p:nvSpPr>
        <p:spPr>
          <a:xfrm>
            <a:off x="11252466"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1" name="TextBox 30"/>
          <p:cNvSpPr txBox="1"/>
          <p:nvPr/>
        </p:nvSpPr>
        <p:spPr>
          <a:xfrm>
            <a:off x="257175" y="6029325"/>
            <a:ext cx="11677650" cy="186689"/>
          </a:xfrm>
          <a:prstGeom prst="rect">
            <a:avLst/>
          </a:prstGeom>
          <a:noFill/>
        </p:spPr>
        <p:txBody>
          <a:bodyPr wrap="none" lIns="0" rIns="0" tIns="0" bIns="0">
            <a:spAutoFit/>
          </a:bodyPr>
          <a:lstStyle/>
          <a:p>
            <a:r>
              <a:rPr sz="1100" b="0">
                <a:solidFill>
                  <a:srgbClr val="2E2E2E"/>
                </a:solidFill>
                <a:latin typeface="Calibri"/>
              </a:rPr>
              <a:t>The garden centers &amp; plant nurseries segment is expected to be less attractive as compared to other segments over the forecast period, owing to its lower CAGR and incremental opportunity. Bubbles right</a:t>
            </a:r>
          </a:p>
        </p:txBody>
      </p:sp>
      <p:sp>
        <p:nvSpPr>
          <p:cNvPr id="32" name="TextBox 31"/>
          <p:cNvSpPr txBox="1"/>
          <p:nvPr/>
        </p:nvSpPr>
        <p:spPr>
          <a:xfrm>
            <a:off x="257175" y="6196965"/>
            <a:ext cx="3593785" cy="186689"/>
          </a:xfrm>
          <a:prstGeom prst="rect">
            <a:avLst/>
          </a:prstGeom>
          <a:noFill/>
        </p:spPr>
        <p:txBody>
          <a:bodyPr wrap="none" lIns="0" rIns="0" tIns="0" bIns="0">
            <a:spAutoFit/>
          </a:bodyPr>
          <a:lstStyle/>
          <a:p>
            <a:r>
              <a:rPr sz="1100" b="0">
                <a:solidFill>
                  <a:srgbClr val="2E2E2E"/>
                </a:solidFill>
                <a:latin typeface="Calibri"/>
              </a:rPr>
              <a:t>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Direct Sales to Commercial &amp; Institutional Buyers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Florists &amp; Specialty Flower Shops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Supermarkets &amp; Hypermarkets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Garden Centers &amp; Plant Nurseries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Online / E-commerce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Retail Channels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Distribution Channel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742646" cy="194310"/>
          </a:xfrm>
          <a:prstGeom prst="rect">
            <a:avLst/>
          </a:prstGeom>
          <a:noFill/>
        </p:spPr>
        <p:txBody>
          <a:bodyPr wrap="none" lIns="0" rIns="0" tIns="0" bIns="0">
            <a:spAutoFit/>
          </a:bodyPr>
          <a:lstStyle/>
          <a:p>
            <a:r>
              <a:rPr sz="1150" b="0">
                <a:solidFill>
                  <a:srgbClr val="2E2E2E"/>
                </a:solidFill>
                <a:latin typeface="Calibri"/>
              </a:rPr>
              <a:t>By 2036, online / e-commerce segment is anticipated to witness an increase of</a:t>
            </a:r>
          </a:p>
        </p:txBody>
      </p:sp>
      <p:pic>
        <p:nvPicPr>
          <p:cNvPr id="24" name="Picture 23" descr="lock.png"/>
          <p:cNvPicPr>
            <a:picLocks noChangeAspect="1"/>
          </p:cNvPicPr>
          <p:nvPr/>
        </p:nvPicPr>
        <p:blipFill>
          <a:blip r:embed="rId6"/>
          <a:stretch>
            <a:fillRect/>
          </a:stretch>
        </p:blipFill>
        <p:spPr>
          <a:xfrm>
            <a:off x="10997350" y="1588021"/>
            <a:ext cx="134549" cy="195707"/>
          </a:xfrm>
          <a:prstGeom prst="rect">
            <a:avLst/>
          </a:prstGeom>
        </p:spPr>
      </p:pic>
      <p:sp>
        <p:nvSpPr>
          <p:cNvPr id="25" name="TextBox 24"/>
          <p:cNvSpPr txBox="1"/>
          <p:nvPr/>
        </p:nvSpPr>
        <p:spPr>
          <a:xfrm>
            <a:off x="11172459"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6" name="TextBox 25"/>
          <p:cNvSpPr txBox="1"/>
          <p:nvPr/>
        </p:nvSpPr>
        <p:spPr>
          <a:xfrm>
            <a:off x="6305550" y="1773505"/>
            <a:ext cx="5398752" cy="194310"/>
          </a:xfrm>
          <a:prstGeom prst="rect">
            <a:avLst/>
          </a:prstGeom>
          <a:noFill/>
        </p:spPr>
        <p:txBody>
          <a:bodyPr wrap="none" lIns="0" rIns="0" tIns="0" bIns="0">
            <a:spAutoFit/>
          </a:bodyPr>
          <a:lstStyle/>
          <a:p>
            <a:r>
              <a:rPr sz="1150" b="0">
                <a:solidFill>
                  <a:srgbClr val="2E2E2E"/>
                </a:solidFill>
                <a:latin typeface="Calibri"/>
              </a:rPr>
              <a:t>of value as compared to 2026. The online / e-commerce segment is expected to create an</a:t>
            </a:r>
          </a:p>
        </p:txBody>
      </p:sp>
      <p:sp>
        <p:nvSpPr>
          <p:cNvPr id="27" name="TextBox 26"/>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938541"/>
            <a:ext cx="134549" cy="195707"/>
          </a:xfrm>
          <a:prstGeom prst="rect">
            <a:avLst/>
          </a:prstGeom>
        </p:spPr>
      </p:pic>
      <p:sp>
        <p:nvSpPr>
          <p:cNvPr id="29" name="TextBox 28"/>
          <p:cNvSpPr txBox="1"/>
          <p:nvPr/>
        </p:nvSpPr>
        <p:spPr>
          <a:xfrm>
            <a:off x="8386692" y="1948765"/>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30" name="TextBox 29"/>
          <p:cNvSpPr txBox="1"/>
          <p:nvPr/>
        </p:nvSpPr>
        <p:spPr>
          <a:xfrm>
            <a:off x="6305550" y="2176603"/>
            <a:ext cx="5200501" cy="194310"/>
          </a:xfrm>
          <a:prstGeom prst="rect">
            <a:avLst/>
          </a:prstGeom>
          <a:noFill/>
        </p:spPr>
        <p:txBody>
          <a:bodyPr wrap="none" lIns="0" rIns="0" tIns="0" bIns="0">
            <a:spAutoFit/>
          </a:bodyPr>
          <a:lstStyle/>
          <a:p>
            <a:r>
              <a:rPr sz="1150" b="0">
                <a:solidFill>
                  <a:srgbClr val="2E2E2E"/>
                </a:solidFill>
                <a:latin typeface="Calibri"/>
              </a:rPr>
              <a:t>The direct sales to commercial &amp; institutional buyers segment is expected to create an</a:t>
            </a:r>
          </a:p>
        </p:txBody>
      </p:sp>
      <p:sp>
        <p:nvSpPr>
          <p:cNvPr id="31" name="TextBox 30"/>
          <p:cNvSpPr txBox="1"/>
          <p:nvPr/>
        </p:nvSpPr>
        <p:spPr>
          <a:xfrm>
            <a:off x="6305550" y="2351863"/>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2" name="Picture 31" descr="lock.png"/>
          <p:cNvPicPr>
            <a:picLocks noChangeAspect="1"/>
          </p:cNvPicPr>
          <p:nvPr/>
        </p:nvPicPr>
        <p:blipFill>
          <a:blip r:embed="rId6"/>
          <a:stretch>
            <a:fillRect/>
          </a:stretch>
        </p:blipFill>
        <p:spPr>
          <a:xfrm>
            <a:off x="8211582" y="2341639"/>
            <a:ext cx="134549" cy="195707"/>
          </a:xfrm>
          <a:prstGeom prst="rect">
            <a:avLst/>
          </a:prstGeom>
        </p:spPr>
      </p:pic>
      <p:sp>
        <p:nvSpPr>
          <p:cNvPr id="33" name="TextBox 32"/>
          <p:cNvSpPr txBox="1"/>
          <p:nvPr/>
        </p:nvSpPr>
        <p:spPr>
          <a:xfrm>
            <a:off x="8386692" y="2351863"/>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34" name="TextBox 33"/>
          <p:cNvSpPr txBox="1"/>
          <p:nvPr/>
        </p:nvSpPr>
        <p:spPr>
          <a:xfrm>
            <a:off x="6305550" y="2527123"/>
            <a:ext cx="4960887" cy="194310"/>
          </a:xfrm>
          <a:prstGeom prst="rect">
            <a:avLst/>
          </a:prstGeom>
          <a:noFill/>
        </p:spPr>
        <p:txBody>
          <a:bodyPr wrap="none" lIns="0" rIns="0" tIns="0" bIns="0">
            <a:spAutoFit/>
          </a:bodyPr>
          <a:lstStyle/>
          <a:p>
            <a:r>
              <a:rPr sz="1150" b="0">
                <a:solidFill>
                  <a:srgbClr val="2E2E2E"/>
                </a:solidFill>
                <a:latin typeface="Calibri"/>
              </a:rPr>
              <a:t>The florists &amp; specialty flower shops segment is expected to create an incremental</a:t>
            </a:r>
          </a:p>
        </p:txBody>
      </p:sp>
      <p:sp>
        <p:nvSpPr>
          <p:cNvPr id="35" name="TextBox 34"/>
          <p:cNvSpPr txBox="1"/>
          <p:nvPr/>
        </p:nvSpPr>
        <p:spPr>
          <a:xfrm>
            <a:off x="6305550" y="270238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6" name="Picture 35" descr="lock.png"/>
          <p:cNvPicPr>
            <a:picLocks noChangeAspect="1"/>
          </p:cNvPicPr>
          <p:nvPr/>
        </p:nvPicPr>
        <p:blipFill>
          <a:blip r:embed="rId6"/>
          <a:stretch>
            <a:fillRect/>
          </a:stretch>
        </p:blipFill>
        <p:spPr>
          <a:xfrm>
            <a:off x="7463647" y="2692159"/>
            <a:ext cx="134549" cy="195707"/>
          </a:xfrm>
          <a:prstGeom prst="rect">
            <a:avLst/>
          </a:prstGeom>
        </p:spPr>
      </p:pic>
      <p:sp>
        <p:nvSpPr>
          <p:cNvPr id="37" name="TextBox 36"/>
          <p:cNvSpPr txBox="1"/>
          <p:nvPr/>
        </p:nvSpPr>
        <p:spPr>
          <a:xfrm>
            <a:off x="7638756" y="2702383"/>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Distribution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Distribution Channel (US$ Mn)</a:t>
            </a:r>
          </a:p>
        </p:txBody>
      </p:sp>
      <p:graphicFrame>
        <p:nvGraphicFramePr>
          <p:cNvPr id="12" name="Table 11"/>
          <p:cNvGraphicFramePr>
            <a:graphicFrameLocks noGrp="1"/>
          </p:cNvGraphicFramePr>
          <p:nvPr/>
        </p:nvGraphicFramePr>
        <p:xfrm>
          <a:off x="152400" y="1238250"/>
          <a:ext cx="11887198" cy="1971675"/>
        </p:xfrm>
        <a:graphic>
          <a:graphicData uri="http://schemas.openxmlformats.org/drawingml/2006/table">
            <a:tbl>
              <a:tblPr>
                <a:tableStyleId>{5C22544A-7EE6-4342-B048-85BDC9FD1C3A}</a:tableStyleId>
              </a:tblPr>
              <a:tblGrid>
                <a:gridCol w="3088292"/>
                <a:gridCol w="514960"/>
                <a:gridCol w="514960"/>
                <a:gridCol w="514960"/>
                <a:gridCol w="514960"/>
                <a:gridCol w="514960"/>
                <a:gridCol w="514960"/>
                <a:gridCol w="514960"/>
                <a:gridCol w="514960"/>
                <a:gridCol w="514960"/>
                <a:gridCol w="514960"/>
                <a:gridCol w="514960"/>
                <a:gridCol w="514960"/>
                <a:gridCol w="514960"/>
                <a:gridCol w="514960"/>
                <a:gridCol w="514960"/>
                <a:gridCol w="514960"/>
                <a:gridCol w="559546"/>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Direct Sales to Commercial &amp; Institutional Buyers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Florists &amp; Specialty Flower Shops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Supermarkets &amp; Hypermarkets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Garden Centers &amp; Plant Nurseries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Online /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Retail Channels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Distribution Channel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453454" y="2080450"/>
            <a:ext cx="366712" cy="533399"/>
          </a:xfrm>
          <a:prstGeom prst="rect">
            <a:avLst/>
          </a:prstGeom>
        </p:spPr>
      </p:pic>
      <p:sp>
        <p:nvSpPr>
          <p:cNvPr id="20" name="TextBox 19"/>
          <p:cNvSpPr txBox="1"/>
          <p:nvPr/>
        </p:nvSpPr>
        <p:spPr>
          <a:xfrm>
            <a:off x="276225" y="3971925"/>
            <a:ext cx="3820728" cy="194310"/>
          </a:xfrm>
          <a:prstGeom prst="rect">
            <a:avLst/>
          </a:prstGeom>
          <a:noFill/>
        </p:spPr>
        <p:txBody>
          <a:bodyPr wrap="none" lIns="0" rIns="0" tIns="0" bIns="0">
            <a:spAutoFit/>
          </a:bodyPr>
          <a:lstStyle/>
          <a:p>
            <a:r>
              <a:rPr sz="1150" b="0">
                <a:solidFill>
                  <a:srgbClr val="2E2E2E"/>
                </a:solidFill>
                <a:latin typeface="Calibri"/>
              </a:rPr>
              <a:t>Supermarkets &amp; hypermarkets segment is projected to register</a:t>
            </a:r>
          </a:p>
        </p:txBody>
      </p:sp>
      <p:pic>
        <p:nvPicPr>
          <p:cNvPr id="21" name="Picture 20" descr="lock.png"/>
          <p:cNvPicPr>
            <a:picLocks noChangeAspect="1"/>
          </p:cNvPicPr>
          <p:nvPr/>
        </p:nvPicPr>
        <p:blipFill>
          <a:blip r:embed="rId4"/>
          <a:stretch>
            <a:fillRect/>
          </a:stretch>
        </p:blipFill>
        <p:spPr>
          <a:xfrm>
            <a:off x="4046106" y="3961701"/>
            <a:ext cx="134549" cy="195707"/>
          </a:xfrm>
          <a:prstGeom prst="rect">
            <a:avLst/>
          </a:prstGeom>
        </p:spPr>
      </p:pic>
      <p:sp>
        <p:nvSpPr>
          <p:cNvPr id="22" name="TextBox 21"/>
          <p:cNvSpPr txBox="1"/>
          <p:nvPr/>
        </p:nvSpPr>
        <p:spPr>
          <a:xfrm>
            <a:off x="4221216" y="3971925"/>
            <a:ext cx="7279146" cy="194310"/>
          </a:xfrm>
          <a:prstGeom prst="rect">
            <a:avLst/>
          </a:prstGeom>
          <a:noFill/>
        </p:spPr>
        <p:txBody>
          <a:bodyPr wrap="none" lIns="0" rIns="0" tIns="0" bIns="0">
            <a:spAutoFit/>
          </a:bodyPr>
          <a:lstStyle/>
          <a:p>
            <a:r>
              <a:rPr sz="1150" b="0">
                <a:solidFill>
                  <a:srgbClr val="2E2E2E"/>
                </a:solidFill>
                <a:latin typeface="Calibri"/>
              </a:rPr>
              <a:t>X higher value than florists &amp; specialty flower shops segment in 2036. Among floriculture by distribution channel, online /</a:t>
            </a:r>
          </a:p>
        </p:txBody>
      </p:sp>
      <p:sp>
        <p:nvSpPr>
          <p:cNvPr id="23" name="TextBox 22"/>
          <p:cNvSpPr txBox="1"/>
          <p:nvPr/>
        </p:nvSpPr>
        <p:spPr>
          <a:xfrm>
            <a:off x="276225" y="4147185"/>
            <a:ext cx="3937949" cy="194310"/>
          </a:xfrm>
          <a:prstGeom prst="rect">
            <a:avLst/>
          </a:prstGeom>
          <a:noFill/>
        </p:spPr>
        <p:txBody>
          <a:bodyPr wrap="none" lIns="0" rIns="0" tIns="0" bIns="0">
            <a:spAutoFit/>
          </a:bodyPr>
          <a:lstStyle/>
          <a:p>
            <a:r>
              <a:rPr sz="1150" b="0">
                <a:solidFill>
                  <a:srgbClr val="2E2E2E"/>
                </a:solidFill>
                <a:latin typeface="Calibri"/>
              </a:rPr>
              <a:t>e-commerce segment is expected to witness the highest CAGR of</a:t>
            </a:r>
          </a:p>
        </p:txBody>
      </p:sp>
      <p:pic>
        <p:nvPicPr>
          <p:cNvPr id="24" name="Picture 23" descr="lock.png"/>
          <p:cNvPicPr>
            <a:picLocks noChangeAspect="1"/>
          </p:cNvPicPr>
          <p:nvPr/>
        </p:nvPicPr>
        <p:blipFill>
          <a:blip r:embed="rId4"/>
          <a:stretch>
            <a:fillRect/>
          </a:stretch>
        </p:blipFill>
        <p:spPr>
          <a:xfrm>
            <a:off x="4163328" y="4136961"/>
            <a:ext cx="134549" cy="195707"/>
          </a:xfrm>
          <a:prstGeom prst="rect">
            <a:avLst/>
          </a:prstGeom>
        </p:spPr>
      </p:pic>
      <p:sp>
        <p:nvSpPr>
          <p:cNvPr id="25" name="TextBox 24"/>
          <p:cNvSpPr txBox="1"/>
          <p:nvPr/>
        </p:nvSpPr>
        <p:spPr>
          <a:xfrm>
            <a:off x="433843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8070440"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supermarkets &amp; hypermarkets segment is expected to dominate the market, losing</a:t>
            </a:r>
          </a:p>
        </p:txBody>
      </p:sp>
      <p:pic>
        <p:nvPicPr>
          <p:cNvPr id="27" name="Picture 26" descr="lock.png"/>
          <p:cNvPicPr>
            <a:picLocks noChangeAspect="1"/>
          </p:cNvPicPr>
          <p:nvPr/>
        </p:nvPicPr>
        <p:blipFill>
          <a:blip r:embed="rId4"/>
          <a:stretch>
            <a:fillRect/>
          </a:stretch>
        </p:blipFill>
        <p:spPr>
          <a:xfrm>
            <a:off x="8295819" y="4364799"/>
            <a:ext cx="134549" cy="195707"/>
          </a:xfrm>
          <a:prstGeom prst="rect">
            <a:avLst/>
          </a:prstGeom>
        </p:spPr>
      </p:pic>
      <p:sp>
        <p:nvSpPr>
          <p:cNvPr id="28" name="TextBox 27"/>
          <p:cNvSpPr txBox="1"/>
          <p:nvPr/>
        </p:nvSpPr>
        <p:spPr>
          <a:xfrm>
            <a:off x="847092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866072" y="4364799"/>
            <a:ext cx="134549" cy="195707"/>
          </a:xfrm>
          <a:prstGeom prst="rect">
            <a:avLst/>
          </a:prstGeom>
        </p:spPr>
      </p:pic>
      <p:sp>
        <p:nvSpPr>
          <p:cNvPr id="30" name="TextBox 29"/>
          <p:cNvSpPr txBox="1"/>
          <p:nvPr/>
        </p:nvSpPr>
        <p:spPr>
          <a:xfrm>
            <a:off x="10041181"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Distribution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4418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3942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632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Garden Centers &amp; Plant Nurseries</a:t>
            </a:r>
          </a:p>
        </p:txBody>
      </p:sp>
      <p:sp>
        <p:nvSpPr>
          <p:cNvPr id="18" name="BPS Value 1"/>
          <p:cNvSpPr txBox="1"/>
          <p:nvPr/>
        </p:nvSpPr>
        <p:spPr>
          <a:xfrm>
            <a:off x="6896100" y="182513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8898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842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080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Retail Channels</a:t>
            </a:r>
          </a:p>
        </p:txBody>
      </p:sp>
      <p:sp>
        <p:nvSpPr>
          <p:cNvPr id="22" name="BPS Value 2"/>
          <p:cNvSpPr txBox="1"/>
          <p:nvPr/>
        </p:nvSpPr>
        <p:spPr>
          <a:xfrm>
            <a:off x="6896100" y="226993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94045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93569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8594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 E-commerce</a:t>
            </a:r>
          </a:p>
        </p:txBody>
      </p:sp>
      <p:sp>
        <p:nvSpPr>
          <p:cNvPr id="26" name="BPS Value 3"/>
          <p:cNvSpPr txBox="1"/>
          <p:nvPr/>
        </p:nvSpPr>
        <p:spPr>
          <a:xfrm>
            <a:off x="6896100" y="292140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76026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75550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67930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 Sales to Commercial &amp; Institutional Buyers</a:t>
            </a:r>
          </a:p>
        </p:txBody>
      </p:sp>
      <p:sp>
        <p:nvSpPr>
          <p:cNvPr id="30" name="BPS Value 4"/>
          <p:cNvSpPr txBox="1"/>
          <p:nvPr/>
        </p:nvSpPr>
        <p:spPr>
          <a:xfrm>
            <a:off x="6896100" y="374121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66285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6580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58189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Florists &amp; Specialty Flower Shops</a:t>
            </a:r>
          </a:p>
        </p:txBody>
      </p:sp>
      <p:sp>
        <p:nvSpPr>
          <p:cNvPr id="34" name="BPS Value 5"/>
          <p:cNvSpPr txBox="1"/>
          <p:nvPr/>
        </p:nvSpPr>
        <p:spPr>
          <a:xfrm>
            <a:off x="6896100" y="46438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68443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5090922" y="56796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6034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Supermarkets &amp; Hypermarkets</a:t>
            </a:r>
          </a:p>
        </p:txBody>
      </p:sp>
      <p:sp>
        <p:nvSpPr>
          <p:cNvPr id="38" name="BPS Value 6"/>
          <p:cNvSpPr txBox="1"/>
          <p:nvPr/>
        </p:nvSpPr>
        <p:spPr>
          <a:xfrm>
            <a:off x="6896100" y="56653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Distribution Channel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907445" cy="194310"/>
          </a:xfrm>
          <a:prstGeom prst="rect">
            <a:avLst/>
          </a:prstGeom>
          <a:noFill/>
        </p:spPr>
        <p:txBody>
          <a:bodyPr wrap="none" lIns="0" rIns="0" tIns="0" bIns="0">
            <a:spAutoFit/>
          </a:bodyPr>
          <a:lstStyle/>
          <a:p>
            <a:r>
              <a:rPr sz="1150" b="0">
                <a:solidFill>
                  <a:srgbClr val="2E2E2E"/>
                </a:solidFill>
                <a:latin typeface="Calibri"/>
              </a:rPr>
              <a:t>Among floriculture by distribution channel, online / e-commerce</a:t>
            </a:r>
          </a:p>
        </p:txBody>
      </p:sp>
      <p:sp>
        <p:nvSpPr>
          <p:cNvPr id="46" name="TextBox 45"/>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7" name="Picture 46" descr="lock.png"/>
          <p:cNvPicPr>
            <a:picLocks noChangeAspect="1"/>
          </p:cNvPicPr>
          <p:nvPr/>
        </p:nvPicPr>
        <p:blipFill>
          <a:blip r:embed="rId5"/>
          <a:stretch>
            <a:fillRect/>
          </a:stretch>
        </p:blipFill>
        <p:spPr>
          <a:xfrm>
            <a:off x="10935343" y="1565211"/>
            <a:ext cx="134549" cy="195707"/>
          </a:xfrm>
          <a:prstGeom prst="rect">
            <a:avLst/>
          </a:prstGeom>
        </p:spPr>
      </p:pic>
      <p:sp>
        <p:nvSpPr>
          <p:cNvPr id="48" name="TextBox 47"/>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9" name="TextBox 48"/>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50" name="TextBox 49"/>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supermarkets &amp;</a:t>
            </a:r>
          </a:p>
        </p:txBody>
      </p:sp>
      <p:sp>
        <p:nvSpPr>
          <p:cNvPr id="51" name="TextBox 50"/>
          <p:cNvSpPr txBox="1"/>
          <p:nvPr/>
        </p:nvSpPr>
        <p:spPr>
          <a:xfrm>
            <a:off x="7829550" y="2153793"/>
            <a:ext cx="4024114" cy="194310"/>
          </a:xfrm>
          <a:prstGeom prst="rect">
            <a:avLst/>
          </a:prstGeom>
          <a:noFill/>
        </p:spPr>
        <p:txBody>
          <a:bodyPr wrap="none" lIns="0" rIns="0" tIns="0" bIns="0">
            <a:spAutoFit/>
          </a:bodyPr>
          <a:lstStyle/>
          <a:p>
            <a:r>
              <a:rPr sz="1150" b="0">
                <a:solidFill>
                  <a:srgbClr val="2E2E2E"/>
                </a:solidFill>
                <a:latin typeface="Calibri"/>
              </a:rPr>
              <a:t>hypermarkets segment is expected to dominate the market, losing</a:t>
            </a:r>
          </a:p>
        </p:txBody>
      </p:sp>
      <p:pic>
        <p:nvPicPr>
          <p:cNvPr id="52" name="Picture 51" descr="lock.png"/>
          <p:cNvPicPr>
            <a:picLocks noChangeAspect="1"/>
          </p:cNvPicPr>
          <p:nvPr/>
        </p:nvPicPr>
        <p:blipFill>
          <a:blip r:embed="rId5"/>
          <a:stretch>
            <a:fillRect/>
          </a:stretch>
        </p:blipFill>
        <p:spPr>
          <a:xfrm>
            <a:off x="7815470" y="2318829"/>
            <a:ext cx="134549" cy="195707"/>
          </a:xfrm>
          <a:prstGeom prst="rect">
            <a:avLst/>
          </a:prstGeom>
        </p:spPr>
      </p:pic>
      <p:sp>
        <p:nvSpPr>
          <p:cNvPr id="53" name="TextBox 52"/>
          <p:cNvSpPr txBox="1"/>
          <p:nvPr/>
        </p:nvSpPr>
        <p:spPr>
          <a:xfrm>
            <a:off x="7990579"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9385722" y="2318829"/>
            <a:ext cx="134549" cy="195707"/>
          </a:xfrm>
          <a:prstGeom prst="rect">
            <a:avLst/>
          </a:prstGeom>
        </p:spPr>
      </p:pic>
      <p:sp>
        <p:nvSpPr>
          <p:cNvPr id="55" name="TextBox 54"/>
          <p:cNvSpPr txBox="1"/>
          <p:nvPr/>
        </p:nvSpPr>
        <p:spPr>
          <a:xfrm>
            <a:off x="956083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 Use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End Use,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 segment categorizes the market by end use.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Personal Gifting &amp; Celebrations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Hospitality &amp; Commercial Decorati…</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Weddings &amp; Special Events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Funeral &amp; Memorial Services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 Use split shows how demand is distributed across end use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2_616_605E5C.png"/>
          <p:cNvPicPr>
            <a:picLocks noChangeAspect="1"/>
          </p:cNvPicPr>
          <p:nvPr/>
        </p:nvPicPr>
        <p:blipFill>
          <a:blip r:embed="rId4"/>
          <a:stretch>
            <a:fillRect/>
          </a:stretch>
        </p:blipFill>
        <p:spPr>
          <a:xfrm>
            <a:off x="2369684" y="2286582"/>
            <a:ext cx="1409020" cy="361950"/>
          </a:xfrm>
          <a:prstGeom prst="rect">
            <a:avLst/>
          </a:prstGeom>
        </p:spPr>
      </p:pic>
      <p:pic>
        <p:nvPicPr>
          <p:cNvPr id="64" name="Picture 63" descr="24_028_605E5C.png"/>
          <p:cNvPicPr>
            <a:picLocks noChangeAspect="1"/>
          </p:cNvPicPr>
          <p:nvPr/>
        </p:nvPicPr>
        <p:blipFill>
          <a:blip r:embed="rId5"/>
          <a:stretch>
            <a:fillRect/>
          </a:stretch>
        </p:blipFill>
        <p:spPr>
          <a:xfrm>
            <a:off x="2369684" y="2779432"/>
            <a:ext cx="1409020" cy="361950"/>
          </a:xfrm>
          <a:prstGeom prst="rect">
            <a:avLst/>
          </a:prstGeom>
        </p:spPr>
      </p:pic>
      <p:pic>
        <p:nvPicPr>
          <p:cNvPr id="65" name="Picture 64" descr="6_7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2_391_605E5C.png"/>
          <p:cNvPicPr>
            <a:picLocks noChangeAspect="1"/>
          </p:cNvPicPr>
          <p:nvPr/>
        </p:nvPicPr>
        <p:blipFill>
          <a:blip r:embed="rId7"/>
          <a:stretch>
            <a:fillRect/>
          </a:stretch>
        </p:blipFill>
        <p:spPr>
          <a:xfrm>
            <a:off x="4898572" y="2286582"/>
            <a:ext cx="1409020" cy="361950"/>
          </a:xfrm>
          <a:prstGeom prst="rect">
            <a:avLst/>
          </a:prstGeom>
        </p:spPr>
      </p:pic>
      <p:pic>
        <p:nvPicPr>
          <p:cNvPr id="67" name="Picture 66" descr="21_323_605E5C.png"/>
          <p:cNvPicPr>
            <a:picLocks noChangeAspect="1"/>
          </p:cNvPicPr>
          <p:nvPr/>
        </p:nvPicPr>
        <p:blipFill>
          <a:blip r:embed="rId8"/>
          <a:stretch>
            <a:fillRect/>
          </a:stretch>
        </p:blipFill>
        <p:spPr>
          <a:xfrm>
            <a:off x="4898572" y="2779432"/>
            <a:ext cx="1409020" cy="361950"/>
          </a:xfrm>
          <a:prstGeom prst="rect">
            <a:avLst/>
          </a:prstGeom>
        </p:spPr>
      </p:pic>
      <p:pic>
        <p:nvPicPr>
          <p:cNvPr id="68" name="Picture 67" descr="5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0_942_605E5C.png"/>
          <p:cNvPicPr>
            <a:picLocks noChangeAspect="1"/>
          </p:cNvPicPr>
          <p:nvPr/>
        </p:nvPicPr>
        <p:blipFill>
          <a:blip r:embed="rId10"/>
          <a:stretch>
            <a:fillRect/>
          </a:stretch>
        </p:blipFill>
        <p:spPr>
          <a:xfrm>
            <a:off x="7427459" y="2286582"/>
            <a:ext cx="1409020" cy="361950"/>
          </a:xfrm>
          <a:prstGeom prst="rect">
            <a:avLst/>
          </a:prstGeom>
        </p:spPr>
      </p:pic>
      <p:pic>
        <p:nvPicPr>
          <p:cNvPr id="70" name="Picture 69" descr="16_056_605E5C.png"/>
          <p:cNvPicPr>
            <a:picLocks noChangeAspect="1"/>
          </p:cNvPicPr>
          <p:nvPr/>
        </p:nvPicPr>
        <p:blipFill>
          <a:blip r:embed="rId11"/>
          <a:stretch>
            <a:fillRect/>
          </a:stretch>
        </p:blipFill>
        <p:spPr>
          <a:xfrm>
            <a:off x="7427459" y="2779432"/>
            <a:ext cx="1409020" cy="361950"/>
          </a:xfrm>
          <a:prstGeom prst="rect">
            <a:avLst/>
          </a:prstGeom>
        </p:spPr>
      </p:pic>
      <p:pic>
        <p:nvPicPr>
          <p:cNvPr id="71" name="Picture 70" descr="3_9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10_129_605E5C.png"/>
          <p:cNvPicPr>
            <a:picLocks noChangeAspect="1"/>
          </p:cNvPicPr>
          <p:nvPr/>
        </p:nvPicPr>
        <p:blipFill>
          <a:blip r:embed="rId13"/>
          <a:stretch>
            <a:fillRect/>
          </a:stretch>
        </p:blipFill>
        <p:spPr>
          <a:xfrm>
            <a:off x="9956346" y="2286582"/>
            <a:ext cx="1409020" cy="361950"/>
          </a:xfrm>
          <a:prstGeom prst="rect">
            <a:avLst/>
          </a:prstGeom>
        </p:spPr>
      </p:pic>
      <p:pic>
        <p:nvPicPr>
          <p:cNvPr id="73" name="Picture 72" descr="15_246_605E5C.png"/>
          <p:cNvPicPr>
            <a:picLocks noChangeAspect="1"/>
          </p:cNvPicPr>
          <p:nvPr/>
        </p:nvPicPr>
        <p:blipFill>
          <a:blip r:embed="rId14"/>
          <a:stretch>
            <a:fillRect/>
          </a:stretch>
        </p:blipFill>
        <p:spPr>
          <a:xfrm>
            <a:off x="9956346" y="2779432"/>
            <a:ext cx="1409020" cy="361950"/>
          </a:xfrm>
          <a:prstGeom prst="rect">
            <a:avLst/>
          </a:prstGeom>
        </p:spPr>
      </p:pic>
      <p:pic>
        <p:nvPicPr>
          <p:cNvPr id="74" name="Picture 73" descr="4_2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887116" cy="186689"/>
          </a:xfrm>
          <a:prstGeom prst="rect">
            <a:avLst/>
          </a:prstGeom>
          <a:noFill/>
        </p:spPr>
        <p:txBody>
          <a:bodyPr wrap="none" lIns="0" rIns="0" tIns="0" bIns="0">
            <a:spAutoFit/>
          </a:bodyPr>
          <a:lstStyle/>
          <a:p>
            <a:r>
              <a:rPr sz="1100" b="0">
                <a:solidFill>
                  <a:srgbClr val="2E2E2E"/>
                </a:solidFill>
                <a:latin typeface="Calibri"/>
              </a:rPr>
              <a:t>Among floriculture by end use, other institutional</a:t>
            </a:r>
          </a:p>
        </p:txBody>
      </p:sp>
      <p:sp>
        <p:nvSpPr>
          <p:cNvPr id="80" name="TextBox 79"/>
          <p:cNvSpPr txBox="1"/>
          <p:nvPr/>
        </p:nvSpPr>
        <p:spPr>
          <a:xfrm>
            <a:off x="485775" y="4397077"/>
            <a:ext cx="2792983" cy="186689"/>
          </a:xfrm>
          <a:prstGeom prst="rect">
            <a:avLst/>
          </a:prstGeom>
          <a:noFill/>
        </p:spPr>
        <p:txBody>
          <a:bodyPr wrap="none" lIns="0" rIns="0" tIns="0" bIns="0">
            <a:spAutoFit/>
          </a:bodyPr>
          <a:lstStyle/>
          <a:p>
            <a:r>
              <a:rPr sz="1100" b="0">
                <a:solidFill>
                  <a:srgbClr val="2E2E2E"/>
                </a:solidFill>
                <a:latin typeface="Calibri"/>
              </a:rPr>
              <a:t>applications segment is expected to witness the</a:t>
            </a:r>
          </a:p>
        </p:txBody>
      </p:sp>
      <p:sp>
        <p:nvSpPr>
          <p:cNvPr id="81" name="TextBox 80"/>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82" name="Picture 81" descr="lock.png"/>
          <p:cNvPicPr>
            <a:picLocks noChangeAspect="1"/>
          </p:cNvPicPr>
          <p:nvPr/>
        </p:nvPicPr>
        <p:blipFill>
          <a:blip r:embed="rId16"/>
          <a:stretch>
            <a:fillRect/>
          </a:stretch>
        </p:blipFill>
        <p:spPr>
          <a:xfrm>
            <a:off x="1424607" y="4554938"/>
            <a:ext cx="128699" cy="187198"/>
          </a:xfrm>
          <a:prstGeom prst="rect">
            <a:avLst/>
          </a:prstGeom>
        </p:spPr>
      </p:pic>
      <p:sp>
        <p:nvSpPr>
          <p:cNvPr id="83" name="TextBox 82"/>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84" name="TextBox 83"/>
          <p:cNvSpPr txBox="1"/>
          <p:nvPr/>
        </p:nvSpPr>
        <p:spPr>
          <a:xfrm>
            <a:off x="485775" y="4732357"/>
            <a:ext cx="2663378" cy="186689"/>
          </a:xfrm>
          <a:prstGeom prst="rect">
            <a:avLst/>
          </a:prstGeom>
          <a:noFill/>
        </p:spPr>
        <p:txBody>
          <a:bodyPr wrap="none" lIns="0" rIns="0" tIns="0" bIns="0">
            <a:spAutoFit/>
          </a:bodyPr>
          <a:lstStyle/>
          <a:p>
            <a:r>
              <a:rPr sz="1100" b="0">
                <a:solidFill>
                  <a:srgbClr val="2E2E2E"/>
                </a:solidFill>
                <a:latin typeface="Calibri"/>
              </a:rPr>
              <a:t>terms of value share by end use, the personal</a:t>
            </a:r>
          </a:p>
        </p:txBody>
      </p:sp>
      <p:sp>
        <p:nvSpPr>
          <p:cNvPr id="85" name="TextBox 84"/>
          <p:cNvSpPr txBox="1"/>
          <p:nvPr/>
        </p:nvSpPr>
        <p:spPr>
          <a:xfrm>
            <a:off x="485775" y="4899997"/>
            <a:ext cx="2641550" cy="186689"/>
          </a:xfrm>
          <a:prstGeom prst="rect">
            <a:avLst/>
          </a:prstGeom>
          <a:noFill/>
        </p:spPr>
        <p:txBody>
          <a:bodyPr wrap="none" lIns="0" rIns="0" tIns="0" bIns="0">
            <a:spAutoFit/>
          </a:bodyPr>
          <a:lstStyle/>
          <a:p>
            <a:r>
              <a:rPr sz="1100" b="0">
                <a:solidFill>
                  <a:srgbClr val="2E2E2E"/>
                </a:solidFill>
                <a:latin typeface="Calibri"/>
              </a:rPr>
              <a:t>gifting &amp; celebrations segment is expected to</a:t>
            </a:r>
          </a:p>
        </p:txBody>
      </p:sp>
      <p:sp>
        <p:nvSpPr>
          <p:cNvPr id="86" name="TextBox 8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87" name="Picture 86" descr="lock.png"/>
          <p:cNvPicPr>
            <a:picLocks noChangeAspect="1"/>
          </p:cNvPicPr>
          <p:nvPr/>
        </p:nvPicPr>
        <p:blipFill>
          <a:blip r:embed="rId16"/>
          <a:stretch>
            <a:fillRect/>
          </a:stretch>
        </p:blipFill>
        <p:spPr>
          <a:xfrm>
            <a:off x="2194339" y="5057858"/>
            <a:ext cx="128699" cy="187198"/>
          </a:xfrm>
          <a:prstGeom prst="rect">
            <a:avLst/>
          </a:prstGeom>
        </p:spPr>
      </p:pic>
      <p:sp>
        <p:nvSpPr>
          <p:cNvPr id="88" name="TextBox 8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9" name="TextBox 8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90" name="Picture 89" descr="lock.png"/>
          <p:cNvPicPr>
            <a:picLocks noChangeAspect="1"/>
          </p:cNvPicPr>
          <p:nvPr/>
        </p:nvPicPr>
        <p:blipFill>
          <a:blip r:embed="rId16"/>
          <a:stretch>
            <a:fillRect/>
          </a:stretch>
        </p:blipFill>
        <p:spPr>
          <a:xfrm>
            <a:off x="1330764" y="5225498"/>
            <a:ext cx="128699" cy="187198"/>
          </a:xfrm>
          <a:prstGeom prst="rect">
            <a:avLst/>
          </a:prstGeom>
        </p:spPr>
      </p:pic>
      <p:sp>
        <p:nvSpPr>
          <p:cNvPr id="91" name="TextBox 9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458466" cy="186689"/>
          </a:xfrm>
          <a:prstGeom prst="rect">
            <a:avLst/>
          </a:prstGeom>
          <a:noFill/>
        </p:spPr>
        <p:txBody>
          <a:bodyPr wrap="none" lIns="0" rIns="0" tIns="0" bIns="0">
            <a:spAutoFit/>
          </a:bodyPr>
          <a:lstStyle/>
          <a:p>
            <a:r>
              <a:rPr sz="1100" b="0">
                <a:solidFill>
                  <a:srgbClr val="2E2E2E"/>
                </a:solidFill>
                <a:latin typeface="Calibri"/>
              </a:rPr>
              <a:t>Personal gifting &amp; celebrations segment is</a:t>
            </a:r>
          </a:p>
        </p:txBody>
      </p:sp>
      <p:sp>
        <p:nvSpPr>
          <p:cNvPr id="93" name="TextBox 92"/>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94" name="Picture 93" descr="lock.png"/>
          <p:cNvPicPr>
            <a:picLocks noChangeAspect="1"/>
          </p:cNvPicPr>
          <p:nvPr/>
        </p:nvPicPr>
        <p:blipFill>
          <a:blip r:embed="rId16"/>
          <a:stretch>
            <a:fillRect/>
          </a:stretch>
        </p:blipFill>
        <p:spPr>
          <a:xfrm>
            <a:off x="1678376" y="5611070"/>
            <a:ext cx="128699" cy="187198"/>
          </a:xfrm>
          <a:prstGeom prst="rect">
            <a:avLst/>
          </a:prstGeom>
        </p:spPr>
      </p:pic>
      <p:sp>
        <p:nvSpPr>
          <p:cNvPr id="95" name="TextBox 94"/>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96" name="TextBox 95"/>
          <p:cNvSpPr txBox="1"/>
          <p:nvPr/>
        </p:nvSpPr>
        <p:spPr>
          <a:xfrm>
            <a:off x="485775" y="5788489"/>
            <a:ext cx="2804988" cy="186689"/>
          </a:xfrm>
          <a:prstGeom prst="rect">
            <a:avLst/>
          </a:prstGeom>
          <a:noFill/>
        </p:spPr>
        <p:txBody>
          <a:bodyPr wrap="none" lIns="0" rIns="0" tIns="0" bIns="0">
            <a:spAutoFit/>
          </a:bodyPr>
          <a:lstStyle/>
          <a:p>
            <a:r>
              <a:rPr sz="1100" b="0">
                <a:solidFill>
                  <a:srgbClr val="2E2E2E"/>
                </a:solidFill>
                <a:latin typeface="Calibri"/>
              </a:rPr>
              <a:t>hospitality &amp; commercial decoration segment in</a:t>
            </a:r>
          </a:p>
        </p:txBody>
      </p:sp>
      <p:sp>
        <p:nvSpPr>
          <p:cNvPr id="97" name="TextBox 96"/>
          <p:cNvSpPr txBox="1"/>
          <p:nvPr/>
        </p:nvSpPr>
        <p:spPr>
          <a:xfrm>
            <a:off x="485775" y="595612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98" name="TextBox 97"/>
          <p:cNvSpPr txBox="1"/>
          <p:nvPr/>
        </p:nvSpPr>
        <p:spPr>
          <a:xfrm>
            <a:off x="3838575" y="4229437"/>
            <a:ext cx="2007989" cy="186689"/>
          </a:xfrm>
          <a:prstGeom prst="rect">
            <a:avLst/>
          </a:prstGeom>
          <a:noFill/>
        </p:spPr>
        <p:txBody>
          <a:bodyPr wrap="none" lIns="0" rIns="0" tIns="0" bIns="0">
            <a:spAutoFit/>
          </a:bodyPr>
          <a:lstStyle/>
          <a:p>
            <a:r>
              <a:rPr sz="1100" b="0">
                <a:solidFill>
                  <a:srgbClr val="2E2E2E"/>
                </a:solidFill>
                <a:latin typeface="Calibri"/>
              </a:rPr>
              <a:t>● Personal Gifting &amp; Celebrations:</a:t>
            </a:r>
          </a:p>
        </p:txBody>
      </p:sp>
      <p:pic>
        <p:nvPicPr>
          <p:cNvPr id="99" name="Picture 98" descr="lock.png"/>
          <p:cNvPicPr>
            <a:picLocks noChangeAspect="1"/>
          </p:cNvPicPr>
          <p:nvPr/>
        </p:nvPicPr>
        <p:blipFill>
          <a:blip r:embed="rId16"/>
          <a:stretch>
            <a:fillRect/>
          </a:stretch>
        </p:blipFill>
        <p:spPr>
          <a:xfrm>
            <a:off x="5794615" y="4219658"/>
            <a:ext cx="128699" cy="187198"/>
          </a:xfrm>
          <a:prstGeom prst="rect">
            <a:avLst/>
          </a:prstGeom>
        </p:spPr>
      </p:pic>
      <p:sp>
        <p:nvSpPr>
          <p:cNvPr id="100" name="TextBox 99"/>
          <p:cNvSpPr txBox="1"/>
          <p:nvPr/>
        </p:nvSpPr>
        <p:spPr>
          <a:xfrm>
            <a:off x="596211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6"/>
          <a:stretch>
            <a:fillRect/>
          </a:stretch>
        </p:blipFill>
        <p:spPr>
          <a:xfrm>
            <a:off x="6821561" y="4219658"/>
            <a:ext cx="128699" cy="187198"/>
          </a:xfrm>
          <a:prstGeom prst="rect">
            <a:avLst/>
          </a:prstGeom>
        </p:spPr>
      </p:pic>
      <p:sp>
        <p:nvSpPr>
          <p:cNvPr id="102" name="TextBox 101"/>
          <p:cNvSpPr txBox="1"/>
          <p:nvPr/>
        </p:nvSpPr>
        <p:spPr>
          <a:xfrm>
            <a:off x="6989057"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3" name="TextBox 102"/>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4" name="TextBox 103"/>
          <p:cNvSpPr txBox="1"/>
          <p:nvPr/>
        </p:nvSpPr>
        <p:spPr>
          <a:xfrm>
            <a:off x="3838575" y="4615009"/>
            <a:ext cx="2339503" cy="186689"/>
          </a:xfrm>
          <a:prstGeom prst="rect">
            <a:avLst/>
          </a:prstGeom>
          <a:noFill/>
        </p:spPr>
        <p:txBody>
          <a:bodyPr wrap="none" lIns="0" rIns="0" tIns="0" bIns="0">
            <a:spAutoFit/>
          </a:bodyPr>
          <a:lstStyle/>
          <a:p>
            <a:r>
              <a:rPr sz="1100" b="0">
                <a:solidFill>
                  <a:srgbClr val="2E2E2E"/>
                </a:solidFill>
                <a:latin typeface="Calibri"/>
              </a:rPr>
              <a:t>● Hospitality &amp; Commercial Decoration:</a:t>
            </a:r>
          </a:p>
        </p:txBody>
      </p:sp>
      <p:pic>
        <p:nvPicPr>
          <p:cNvPr id="105" name="Picture 104" descr="lock.png"/>
          <p:cNvPicPr>
            <a:picLocks noChangeAspect="1"/>
          </p:cNvPicPr>
          <p:nvPr/>
        </p:nvPicPr>
        <p:blipFill>
          <a:blip r:embed="rId16"/>
          <a:stretch>
            <a:fillRect/>
          </a:stretch>
        </p:blipFill>
        <p:spPr>
          <a:xfrm>
            <a:off x="6126130" y="4605230"/>
            <a:ext cx="128699" cy="187198"/>
          </a:xfrm>
          <a:prstGeom prst="rect">
            <a:avLst/>
          </a:prstGeom>
        </p:spPr>
      </p:pic>
      <p:sp>
        <p:nvSpPr>
          <p:cNvPr id="106" name="TextBox 105"/>
          <p:cNvSpPr txBox="1"/>
          <p:nvPr/>
        </p:nvSpPr>
        <p:spPr>
          <a:xfrm>
            <a:off x="629362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7153076" y="4605230"/>
            <a:ext cx="128699" cy="187198"/>
          </a:xfrm>
          <a:prstGeom prst="rect">
            <a:avLst/>
          </a:prstGeom>
        </p:spPr>
      </p:pic>
      <p:sp>
        <p:nvSpPr>
          <p:cNvPr id="108" name="TextBox 107"/>
          <p:cNvSpPr txBox="1"/>
          <p:nvPr/>
        </p:nvSpPr>
        <p:spPr>
          <a:xfrm>
            <a:off x="7320572"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9" name="TextBox 108"/>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0" name="TextBox 109"/>
          <p:cNvSpPr txBox="1"/>
          <p:nvPr/>
        </p:nvSpPr>
        <p:spPr>
          <a:xfrm>
            <a:off x="3838575" y="5000581"/>
            <a:ext cx="1759642" cy="186689"/>
          </a:xfrm>
          <a:prstGeom prst="rect">
            <a:avLst/>
          </a:prstGeom>
          <a:noFill/>
        </p:spPr>
        <p:txBody>
          <a:bodyPr wrap="none" lIns="0" rIns="0" tIns="0" bIns="0">
            <a:spAutoFit/>
          </a:bodyPr>
          <a:lstStyle/>
          <a:p>
            <a:r>
              <a:rPr sz="1100" b="0">
                <a:solidFill>
                  <a:srgbClr val="2E2E2E"/>
                </a:solidFill>
                <a:latin typeface="Calibri"/>
              </a:rPr>
              <a:t>● Weddings &amp; Special Events:</a:t>
            </a:r>
          </a:p>
        </p:txBody>
      </p:sp>
      <p:pic>
        <p:nvPicPr>
          <p:cNvPr id="111" name="Picture 110" descr="lock.png"/>
          <p:cNvPicPr>
            <a:picLocks noChangeAspect="1"/>
          </p:cNvPicPr>
          <p:nvPr/>
        </p:nvPicPr>
        <p:blipFill>
          <a:blip r:embed="rId16"/>
          <a:stretch>
            <a:fillRect/>
          </a:stretch>
        </p:blipFill>
        <p:spPr>
          <a:xfrm>
            <a:off x="5546269" y="4990801"/>
            <a:ext cx="128699" cy="187198"/>
          </a:xfrm>
          <a:prstGeom prst="rect">
            <a:avLst/>
          </a:prstGeom>
        </p:spPr>
      </p:pic>
      <p:sp>
        <p:nvSpPr>
          <p:cNvPr id="112" name="TextBox 111"/>
          <p:cNvSpPr txBox="1"/>
          <p:nvPr/>
        </p:nvSpPr>
        <p:spPr>
          <a:xfrm>
            <a:off x="5713765"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6"/>
          <a:stretch>
            <a:fillRect/>
          </a:stretch>
        </p:blipFill>
        <p:spPr>
          <a:xfrm>
            <a:off x="6573215" y="4990801"/>
            <a:ext cx="128699" cy="187198"/>
          </a:xfrm>
          <a:prstGeom prst="rect">
            <a:avLst/>
          </a:prstGeom>
        </p:spPr>
      </p:pic>
      <p:sp>
        <p:nvSpPr>
          <p:cNvPr id="114" name="TextBox 113"/>
          <p:cNvSpPr txBox="1"/>
          <p:nvPr/>
        </p:nvSpPr>
        <p:spPr>
          <a:xfrm>
            <a:off x="6740711" y="500058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5" name="TextBox 114"/>
          <p:cNvSpPr txBox="1"/>
          <p:nvPr/>
        </p:nvSpPr>
        <p:spPr>
          <a:xfrm>
            <a:off x="3838575" y="516822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6" name="TextBox 115"/>
          <p:cNvSpPr txBox="1"/>
          <p:nvPr/>
        </p:nvSpPr>
        <p:spPr>
          <a:xfrm>
            <a:off x="3838575" y="5386153"/>
            <a:ext cx="1863650" cy="186689"/>
          </a:xfrm>
          <a:prstGeom prst="rect">
            <a:avLst/>
          </a:prstGeom>
          <a:noFill/>
        </p:spPr>
        <p:txBody>
          <a:bodyPr wrap="none" lIns="0" rIns="0" tIns="0" bIns="0">
            <a:spAutoFit/>
          </a:bodyPr>
          <a:lstStyle/>
          <a:p>
            <a:r>
              <a:rPr sz="1100" b="0">
                <a:solidFill>
                  <a:srgbClr val="2E2E2E"/>
                </a:solidFill>
                <a:latin typeface="Calibri"/>
              </a:rPr>
              <a:t>● Funeral &amp; Memorial Services:</a:t>
            </a:r>
          </a:p>
        </p:txBody>
      </p:sp>
      <p:pic>
        <p:nvPicPr>
          <p:cNvPr id="117" name="Picture 116" descr="lock.png"/>
          <p:cNvPicPr>
            <a:picLocks noChangeAspect="1"/>
          </p:cNvPicPr>
          <p:nvPr/>
        </p:nvPicPr>
        <p:blipFill>
          <a:blip r:embed="rId16"/>
          <a:stretch>
            <a:fillRect/>
          </a:stretch>
        </p:blipFill>
        <p:spPr>
          <a:xfrm>
            <a:off x="5650277" y="5376373"/>
            <a:ext cx="128699" cy="187198"/>
          </a:xfrm>
          <a:prstGeom prst="rect">
            <a:avLst/>
          </a:prstGeom>
        </p:spPr>
      </p:pic>
      <p:sp>
        <p:nvSpPr>
          <p:cNvPr id="118" name="TextBox 117"/>
          <p:cNvSpPr txBox="1"/>
          <p:nvPr/>
        </p:nvSpPr>
        <p:spPr>
          <a:xfrm>
            <a:off x="5817773"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9" name="Picture 118" descr="lock.png"/>
          <p:cNvPicPr>
            <a:picLocks noChangeAspect="1"/>
          </p:cNvPicPr>
          <p:nvPr/>
        </p:nvPicPr>
        <p:blipFill>
          <a:blip r:embed="rId16"/>
          <a:stretch>
            <a:fillRect/>
          </a:stretch>
        </p:blipFill>
        <p:spPr>
          <a:xfrm>
            <a:off x="6677223" y="5376373"/>
            <a:ext cx="128699" cy="187198"/>
          </a:xfrm>
          <a:prstGeom prst="rect">
            <a:avLst/>
          </a:prstGeom>
        </p:spPr>
      </p:pic>
      <p:sp>
        <p:nvSpPr>
          <p:cNvPr id="120" name="TextBox 119"/>
          <p:cNvSpPr txBox="1"/>
          <p:nvPr/>
        </p:nvSpPr>
        <p:spPr>
          <a:xfrm>
            <a:off x="6844719" y="5386153"/>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1" name="TextBox 120"/>
          <p:cNvSpPr txBox="1"/>
          <p:nvPr/>
        </p:nvSpPr>
        <p:spPr>
          <a:xfrm>
            <a:off x="3838575" y="555379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2" name="TextBox 121"/>
          <p:cNvSpPr txBox="1"/>
          <p:nvPr/>
        </p:nvSpPr>
        <p:spPr>
          <a:xfrm>
            <a:off x="8524875" y="5842641"/>
            <a:ext cx="2887377" cy="194310"/>
          </a:xfrm>
          <a:prstGeom prst="rect">
            <a:avLst/>
          </a:prstGeom>
          <a:noFill/>
        </p:spPr>
        <p:txBody>
          <a:bodyPr wrap="none" lIns="0" rIns="0" tIns="0" bIns="0">
            <a:spAutoFit/>
          </a:bodyPr>
          <a:lstStyle/>
          <a:p>
            <a:r>
              <a:rPr sz="1150" b="1">
                <a:solidFill>
                  <a:srgbClr val="0B2E4A"/>
                </a:solidFill>
                <a:latin typeface="Calibri"/>
              </a:rPr>
              <a:t>The End Use segment is projected to grow at a</a:t>
            </a:r>
          </a:p>
        </p:txBody>
      </p:sp>
      <p:sp>
        <p:nvSpPr>
          <p:cNvPr id="123" name="TextBox 12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24" name="Picture 123" descr="lock.png"/>
          <p:cNvPicPr>
            <a:picLocks noChangeAspect="1"/>
          </p:cNvPicPr>
          <p:nvPr/>
        </p:nvPicPr>
        <p:blipFill>
          <a:blip r:embed="rId16"/>
          <a:stretch>
            <a:fillRect/>
          </a:stretch>
        </p:blipFill>
        <p:spPr>
          <a:xfrm>
            <a:off x="9048826" y="6007677"/>
            <a:ext cx="134549" cy="195707"/>
          </a:xfrm>
          <a:prstGeom prst="rect">
            <a:avLst/>
          </a:prstGeom>
        </p:spPr>
      </p:pic>
      <p:sp>
        <p:nvSpPr>
          <p:cNvPr id="125" name="TextBox 12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End Use,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 segment categorizes the market by end use.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Landscaping &amp; Gardening</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333375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523875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Residential &amp; Home Decoration</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670560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8610600" y="1773916"/>
            <a:ext cx="3257550"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Institutional Applications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10077450"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6" name="Picture 45" descr="7_357_605E5C.png"/>
          <p:cNvPicPr>
            <a:picLocks noChangeAspect="1"/>
          </p:cNvPicPr>
          <p:nvPr/>
        </p:nvPicPr>
        <p:blipFill>
          <a:blip r:embed="rId4"/>
          <a:stretch>
            <a:fillRect/>
          </a:stretch>
        </p:blipFill>
        <p:spPr>
          <a:xfrm>
            <a:off x="2897811" y="2286582"/>
            <a:ext cx="1195728" cy="361950"/>
          </a:xfrm>
          <a:prstGeom prst="rect">
            <a:avLst/>
          </a:prstGeom>
        </p:spPr>
      </p:pic>
      <p:pic>
        <p:nvPicPr>
          <p:cNvPr id="47" name="Picture 46" descr="9_516_605E5C.png"/>
          <p:cNvPicPr>
            <a:picLocks noChangeAspect="1"/>
          </p:cNvPicPr>
          <p:nvPr/>
        </p:nvPicPr>
        <p:blipFill>
          <a:blip r:embed="rId5"/>
          <a:stretch>
            <a:fillRect/>
          </a:stretch>
        </p:blipFill>
        <p:spPr>
          <a:xfrm>
            <a:off x="2897811" y="2779432"/>
            <a:ext cx="1195728" cy="361950"/>
          </a:xfrm>
          <a:prstGeom prst="rect">
            <a:avLst/>
          </a:prstGeom>
        </p:spPr>
      </p:pic>
      <p:pic>
        <p:nvPicPr>
          <p:cNvPr id="48" name="Picture 47" descr="2_6__605E5C.png"/>
          <p:cNvPicPr>
            <a:picLocks noChangeAspect="1"/>
          </p:cNvPicPr>
          <p:nvPr/>
        </p:nvPicPr>
        <p:blipFill>
          <a:blip r:embed="rId6"/>
          <a:stretch>
            <a:fillRect/>
          </a:stretch>
        </p:blipFill>
        <p:spPr>
          <a:xfrm>
            <a:off x="3004457" y="3272281"/>
            <a:ext cx="982436" cy="361950"/>
          </a:xfrm>
          <a:prstGeom prst="rect">
            <a:avLst/>
          </a:prstGeom>
        </p:spPr>
      </p:pic>
      <p:pic>
        <p:nvPicPr>
          <p:cNvPr id="49" name="Picture 48" descr="5_024_605E5C.png"/>
          <p:cNvPicPr>
            <a:picLocks noChangeAspect="1"/>
          </p:cNvPicPr>
          <p:nvPr/>
        </p:nvPicPr>
        <p:blipFill>
          <a:blip r:embed="rId7"/>
          <a:stretch>
            <a:fillRect/>
          </a:stretch>
        </p:blipFill>
        <p:spPr>
          <a:xfrm>
            <a:off x="6269661" y="2286582"/>
            <a:ext cx="1195728" cy="361950"/>
          </a:xfrm>
          <a:prstGeom prst="rect">
            <a:avLst/>
          </a:prstGeom>
        </p:spPr>
      </p:pic>
      <p:pic>
        <p:nvPicPr>
          <p:cNvPr id="50" name="Picture 49" descr="8_132_605E5C.png"/>
          <p:cNvPicPr>
            <a:picLocks noChangeAspect="1"/>
          </p:cNvPicPr>
          <p:nvPr/>
        </p:nvPicPr>
        <p:blipFill>
          <a:blip r:embed="rId8"/>
          <a:stretch>
            <a:fillRect/>
          </a:stretch>
        </p:blipFill>
        <p:spPr>
          <a:xfrm>
            <a:off x="6269661" y="2779432"/>
            <a:ext cx="1195728" cy="361950"/>
          </a:xfrm>
          <a:prstGeom prst="rect">
            <a:avLst/>
          </a:prstGeom>
        </p:spPr>
      </p:pic>
      <p:pic>
        <p:nvPicPr>
          <p:cNvPr id="51" name="Picture 50" descr="4_9__605E5C.png"/>
          <p:cNvPicPr>
            <a:picLocks noChangeAspect="1"/>
          </p:cNvPicPr>
          <p:nvPr/>
        </p:nvPicPr>
        <p:blipFill>
          <a:blip r:embed="rId9"/>
          <a:stretch>
            <a:fillRect/>
          </a:stretch>
        </p:blipFill>
        <p:spPr>
          <a:xfrm>
            <a:off x="6376307" y="3272281"/>
            <a:ext cx="982436" cy="361950"/>
          </a:xfrm>
          <a:prstGeom prst="rect">
            <a:avLst/>
          </a:prstGeom>
        </p:spPr>
      </p:pic>
      <p:pic>
        <p:nvPicPr>
          <p:cNvPr id="52" name="Picture 51" descr="1_540_605E5C.png"/>
          <p:cNvPicPr>
            <a:picLocks noChangeAspect="1"/>
          </p:cNvPicPr>
          <p:nvPr/>
        </p:nvPicPr>
        <p:blipFill>
          <a:blip r:embed="rId10"/>
          <a:stretch>
            <a:fillRect/>
          </a:stretch>
        </p:blipFill>
        <p:spPr>
          <a:xfrm>
            <a:off x="9641511" y="2286582"/>
            <a:ext cx="1195728" cy="361950"/>
          </a:xfrm>
          <a:prstGeom prst="rect">
            <a:avLst/>
          </a:prstGeom>
        </p:spPr>
      </p:pic>
      <p:pic>
        <p:nvPicPr>
          <p:cNvPr id="53" name="Picture 52" descr="3_434_605E5C.png"/>
          <p:cNvPicPr>
            <a:picLocks noChangeAspect="1"/>
          </p:cNvPicPr>
          <p:nvPr/>
        </p:nvPicPr>
        <p:blipFill>
          <a:blip r:embed="rId11"/>
          <a:stretch>
            <a:fillRect/>
          </a:stretch>
        </p:blipFill>
        <p:spPr>
          <a:xfrm>
            <a:off x="9641511" y="2779432"/>
            <a:ext cx="1195728" cy="361950"/>
          </a:xfrm>
          <a:prstGeom prst="rect">
            <a:avLst/>
          </a:prstGeom>
        </p:spPr>
      </p:pic>
      <p:pic>
        <p:nvPicPr>
          <p:cNvPr id="54" name="Picture 53" descr="8_3__605E5C.png"/>
          <p:cNvPicPr>
            <a:picLocks noChangeAspect="1"/>
          </p:cNvPicPr>
          <p:nvPr/>
        </p:nvPicPr>
        <p:blipFill>
          <a:blip r:embed="rId12"/>
          <a:stretch>
            <a:fillRect/>
          </a:stretch>
        </p:blipFill>
        <p:spPr>
          <a:xfrm>
            <a:off x="9748157" y="3272281"/>
            <a:ext cx="982436" cy="361950"/>
          </a:xfrm>
          <a:prstGeom prst="rect">
            <a:avLst/>
          </a:prstGeom>
        </p:spPr>
      </p:pic>
      <p:pic>
        <p:nvPicPr>
          <p:cNvPr id="55" name="Picture 54" descr="lock.png"/>
          <p:cNvPicPr>
            <a:picLocks noChangeAspect="1"/>
          </p:cNvPicPr>
          <p:nvPr/>
        </p:nvPicPr>
        <p:blipFill>
          <a:blip r:embed="rId13"/>
          <a:stretch>
            <a:fillRect/>
          </a:stretch>
        </p:blipFill>
        <p:spPr>
          <a:xfrm>
            <a:off x="3402330" y="2827057"/>
            <a:ext cx="183356" cy="266700"/>
          </a:xfrm>
          <a:prstGeom prst="rect">
            <a:avLst/>
          </a:prstGeom>
        </p:spPr>
      </p:pic>
      <p:pic>
        <p:nvPicPr>
          <p:cNvPr id="56" name="Picture 55" descr="lock.png"/>
          <p:cNvPicPr>
            <a:picLocks noChangeAspect="1"/>
          </p:cNvPicPr>
          <p:nvPr/>
        </p:nvPicPr>
        <p:blipFill>
          <a:blip r:embed="rId13"/>
          <a:stretch>
            <a:fillRect/>
          </a:stretch>
        </p:blipFill>
        <p:spPr>
          <a:xfrm>
            <a:off x="6774180" y="2827057"/>
            <a:ext cx="183356" cy="266700"/>
          </a:xfrm>
          <a:prstGeom prst="rect">
            <a:avLst/>
          </a:prstGeom>
        </p:spPr>
      </p:pic>
      <p:pic>
        <p:nvPicPr>
          <p:cNvPr id="57" name="Picture 56" descr="lock.png"/>
          <p:cNvPicPr>
            <a:picLocks noChangeAspect="1"/>
          </p:cNvPicPr>
          <p:nvPr/>
        </p:nvPicPr>
        <p:blipFill>
          <a:blip r:embed="rId13"/>
          <a:stretch>
            <a:fillRect/>
          </a:stretch>
        </p:blipFill>
        <p:spPr>
          <a:xfrm>
            <a:off x="10146030" y="2827057"/>
            <a:ext cx="183356" cy="266700"/>
          </a:xfrm>
          <a:prstGeom prst="rect">
            <a:avLst/>
          </a:prstGeom>
        </p:spPr>
      </p:pic>
      <p:sp>
        <p:nvSpPr>
          <p:cNvPr id="58" name="TextBox 57"/>
          <p:cNvSpPr txBox="1"/>
          <p:nvPr/>
        </p:nvSpPr>
        <p:spPr>
          <a:xfrm>
            <a:off x="485775" y="4229437"/>
            <a:ext cx="1677292" cy="186689"/>
          </a:xfrm>
          <a:prstGeom prst="rect">
            <a:avLst/>
          </a:prstGeom>
          <a:noFill/>
        </p:spPr>
        <p:txBody>
          <a:bodyPr wrap="none" lIns="0" rIns="0" tIns="0" bIns="0">
            <a:spAutoFit/>
          </a:bodyPr>
          <a:lstStyle/>
          <a:p>
            <a:r>
              <a:rPr sz="1100" b="0">
                <a:solidFill>
                  <a:srgbClr val="2E2E2E"/>
                </a:solidFill>
                <a:latin typeface="Calibri"/>
              </a:rPr>
              <a:t>● Landscaping &amp; Gardening:</a:t>
            </a:r>
          </a:p>
        </p:txBody>
      </p:sp>
      <p:pic>
        <p:nvPicPr>
          <p:cNvPr id="59" name="Picture 58" descr="lock.png"/>
          <p:cNvPicPr>
            <a:picLocks noChangeAspect="1"/>
          </p:cNvPicPr>
          <p:nvPr/>
        </p:nvPicPr>
        <p:blipFill>
          <a:blip r:embed="rId13"/>
          <a:stretch>
            <a:fillRect/>
          </a:stretch>
        </p:blipFill>
        <p:spPr>
          <a:xfrm>
            <a:off x="2111119" y="4219658"/>
            <a:ext cx="128699" cy="187198"/>
          </a:xfrm>
          <a:prstGeom prst="rect">
            <a:avLst/>
          </a:prstGeom>
        </p:spPr>
      </p:pic>
      <p:sp>
        <p:nvSpPr>
          <p:cNvPr id="60" name="TextBox 59"/>
          <p:cNvSpPr txBox="1"/>
          <p:nvPr/>
        </p:nvSpPr>
        <p:spPr>
          <a:xfrm>
            <a:off x="227861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1" name="Picture 60" descr="lock.png"/>
          <p:cNvPicPr>
            <a:picLocks noChangeAspect="1"/>
          </p:cNvPicPr>
          <p:nvPr/>
        </p:nvPicPr>
        <p:blipFill>
          <a:blip r:embed="rId13"/>
          <a:stretch>
            <a:fillRect/>
          </a:stretch>
        </p:blipFill>
        <p:spPr>
          <a:xfrm>
            <a:off x="3138065" y="4219658"/>
            <a:ext cx="128699" cy="187198"/>
          </a:xfrm>
          <a:prstGeom prst="rect">
            <a:avLst/>
          </a:prstGeom>
        </p:spPr>
      </p:pic>
      <p:sp>
        <p:nvSpPr>
          <p:cNvPr id="62" name="TextBox 61"/>
          <p:cNvSpPr txBox="1"/>
          <p:nvPr/>
        </p:nvSpPr>
        <p:spPr>
          <a:xfrm>
            <a:off x="3305561"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3" name="TextBox 62"/>
          <p:cNvSpPr txBox="1"/>
          <p:nvPr/>
        </p:nvSpPr>
        <p:spPr>
          <a:xfrm>
            <a:off x="485775" y="4447369"/>
            <a:ext cx="2018630" cy="186689"/>
          </a:xfrm>
          <a:prstGeom prst="rect">
            <a:avLst/>
          </a:prstGeom>
          <a:noFill/>
        </p:spPr>
        <p:txBody>
          <a:bodyPr wrap="none" lIns="0" rIns="0" tIns="0" bIns="0">
            <a:spAutoFit/>
          </a:bodyPr>
          <a:lstStyle/>
          <a:p>
            <a:r>
              <a:rPr sz="1100" b="0">
                <a:solidFill>
                  <a:srgbClr val="2E2E2E"/>
                </a:solidFill>
                <a:latin typeface="Calibri"/>
              </a:rPr>
              <a:t>● Residential &amp; Home Decoration:</a:t>
            </a:r>
          </a:p>
        </p:txBody>
      </p:sp>
      <p:pic>
        <p:nvPicPr>
          <p:cNvPr id="64" name="Picture 63" descr="lock.png"/>
          <p:cNvPicPr>
            <a:picLocks noChangeAspect="1"/>
          </p:cNvPicPr>
          <p:nvPr/>
        </p:nvPicPr>
        <p:blipFill>
          <a:blip r:embed="rId13"/>
          <a:stretch>
            <a:fillRect/>
          </a:stretch>
        </p:blipFill>
        <p:spPr>
          <a:xfrm>
            <a:off x="2452456" y="4437590"/>
            <a:ext cx="128699" cy="187198"/>
          </a:xfrm>
          <a:prstGeom prst="rect">
            <a:avLst/>
          </a:prstGeom>
        </p:spPr>
      </p:pic>
      <p:sp>
        <p:nvSpPr>
          <p:cNvPr id="65" name="TextBox 64"/>
          <p:cNvSpPr txBox="1"/>
          <p:nvPr/>
        </p:nvSpPr>
        <p:spPr>
          <a:xfrm>
            <a:off x="261995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6" name="Picture 65" descr="lock.png"/>
          <p:cNvPicPr>
            <a:picLocks noChangeAspect="1"/>
          </p:cNvPicPr>
          <p:nvPr/>
        </p:nvPicPr>
        <p:blipFill>
          <a:blip r:embed="rId13"/>
          <a:stretch>
            <a:fillRect/>
          </a:stretch>
        </p:blipFill>
        <p:spPr>
          <a:xfrm>
            <a:off x="3479402" y="4437590"/>
            <a:ext cx="128699" cy="187198"/>
          </a:xfrm>
          <a:prstGeom prst="rect">
            <a:avLst/>
          </a:prstGeom>
        </p:spPr>
      </p:pic>
      <p:sp>
        <p:nvSpPr>
          <p:cNvPr id="67" name="TextBox 66"/>
          <p:cNvSpPr txBox="1"/>
          <p:nvPr/>
        </p:nvSpPr>
        <p:spPr>
          <a:xfrm>
            <a:off x="3646898"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8" name="TextBox 67"/>
          <p:cNvSpPr txBox="1"/>
          <p:nvPr/>
        </p:nvSpPr>
        <p:spPr>
          <a:xfrm>
            <a:off x="485775" y="4665301"/>
            <a:ext cx="2010717" cy="186689"/>
          </a:xfrm>
          <a:prstGeom prst="rect">
            <a:avLst/>
          </a:prstGeom>
          <a:noFill/>
        </p:spPr>
        <p:txBody>
          <a:bodyPr wrap="none" lIns="0" rIns="0" tIns="0" bIns="0">
            <a:spAutoFit/>
          </a:bodyPr>
          <a:lstStyle/>
          <a:p>
            <a:r>
              <a:rPr sz="1100" b="0">
                <a:solidFill>
                  <a:srgbClr val="2E2E2E"/>
                </a:solidFill>
                <a:latin typeface="Calibri"/>
              </a:rPr>
              <a:t>● Other Institutional Applications:</a:t>
            </a:r>
          </a:p>
        </p:txBody>
      </p:sp>
      <p:pic>
        <p:nvPicPr>
          <p:cNvPr id="69" name="Picture 68" descr="lock.png"/>
          <p:cNvPicPr>
            <a:picLocks noChangeAspect="1"/>
          </p:cNvPicPr>
          <p:nvPr/>
        </p:nvPicPr>
        <p:blipFill>
          <a:blip r:embed="rId13"/>
          <a:stretch>
            <a:fillRect/>
          </a:stretch>
        </p:blipFill>
        <p:spPr>
          <a:xfrm>
            <a:off x="2444544" y="4655522"/>
            <a:ext cx="128699" cy="187198"/>
          </a:xfrm>
          <a:prstGeom prst="rect">
            <a:avLst/>
          </a:prstGeom>
        </p:spPr>
      </p:pic>
      <p:sp>
        <p:nvSpPr>
          <p:cNvPr id="70" name="TextBox 69"/>
          <p:cNvSpPr txBox="1"/>
          <p:nvPr/>
        </p:nvSpPr>
        <p:spPr>
          <a:xfrm>
            <a:off x="261203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1" name="Picture 70" descr="lock.png"/>
          <p:cNvPicPr>
            <a:picLocks noChangeAspect="1"/>
          </p:cNvPicPr>
          <p:nvPr/>
        </p:nvPicPr>
        <p:blipFill>
          <a:blip r:embed="rId13"/>
          <a:stretch>
            <a:fillRect/>
          </a:stretch>
        </p:blipFill>
        <p:spPr>
          <a:xfrm>
            <a:off x="3471490" y="4655522"/>
            <a:ext cx="128699" cy="187198"/>
          </a:xfrm>
          <a:prstGeom prst="rect">
            <a:avLst/>
          </a:prstGeom>
        </p:spPr>
      </p:pic>
      <p:sp>
        <p:nvSpPr>
          <p:cNvPr id="72" name="TextBox 71"/>
          <p:cNvSpPr txBox="1"/>
          <p:nvPr/>
        </p:nvSpPr>
        <p:spPr>
          <a:xfrm>
            <a:off x="363898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End Use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 Use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69389" cy="186689"/>
          </a:xfrm>
          <a:prstGeom prst="rect">
            <a:avLst/>
          </a:prstGeom>
          <a:noFill/>
        </p:spPr>
        <p:txBody>
          <a:bodyPr wrap="none" lIns="0" rIns="0" tIns="0" bIns="0">
            <a:spAutoFit/>
          </a:bodyPr>
          <a:lstStyle/>
          <a:p>
            <a:r>
              <a:rPr sz="1100" b="0">
                <a:solidFill>
                  <a:srgbClr val="2E2E2E"/>
                </a:solidFill>
                <a:latin typeface="Calibri"/>
              </a:rPr>
              <a:t>Personal gifting &amp; celebrations followed by hospitality &amp; commercial decoration are expected to be the two most attractive end use segments in the global floriculture market in terms of value over the</a:t>
            </a:r>
          </a:p>
        </p:txBody>
      </p:sp>
      <p:sp>
        <p:nvSpPr>
          <p:cNvPr id="20" name="TextBox 19"/>
          <p:cNvSpPr txBox="1"/>
          <p:nvPr/>
        </p:nvSpPr>
        <p:spPr>
          <a:xfrm>
            <a:off x="257175" y="5861685"/>
            <a:ext cx="6452178" cy="186689"/>
          </a:xfrm>
          <a:prstGeom prst="rect">
            <a:avLst/>
          </a:prstGeom>
          <a:noFill/>
        </p:spPr>
        <p:txBody>
          <a:bodyPr wrap="none" lIns="0" rIns="0" tIns="0" bIns="0">
            <a:spAutoFit/>
          </a:bodyPr>
          <a:lstStyle/>
          <a:p>
            <a:r>
              <a:rPr sz="1100" b="0">
                <a:solidFill>
                  <a:srgbClr val="2E2E2E"/>
                </a:solidFill>
                <a:latin typeface="Calibri"/>
              </a:rPr>
              <a:t>forecast period. Personal gifting &amp; celebrations and hospitality &amp; commercial decoration exhibit a CAGR index of</a:t>
            </a:r>
          </a:p>
        </p:txBody>
      </p:sp>
      <p:pic>
        <p:nvPicPr>
          <p:cNvPr id="21" name="Picture 20" descr="lock.png"/>
          <p:cNvPicPr>
            <a:picLocks noChangeAspect="1"/>
          </p:cNvPicPr>
          <p:nvPr/>
        </p:nvPicPr>
        <p:blipFill>
          <a:blip r:embed="rId6"/>
          <a:stretch>
            <a:fillRect/>
          </a:stretch>
        </p:blipFill>
        <p:spPr>
          <a:xfrm>
            <a:off x="6657404" y="5851905"/>
            <a:ext cx="128699" cy="187198"/>
          </a:xfrm>
          <a:prstGeom prst="rect">
            <a:avLst/>
          </a:prstGeom>
        </p:spPr>
      </p:pic>
      <p:sp>
        <p:nvSpPr>
          <p:cNvPr id="22" name="TextBox 21"/>
          <p:cNvSpPr txBox="1"/>
          <p:nvPr/>
        </p:nvSpPr>
        <p:spPr>
          <a:xfrm>
            <a:off x="682490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062795" y="5851905"/>
            <a:ext cx="128699" cy="187198"/>
          </a:xfrm>
          <a:prstGeom prst="rect">
            <a:avLst/>
          </a:prstGeom>
        </p:spPr>
      </p:pic>
      <p:sp>
        <p:nvSpPr>
          <p:cNvPr id="24" name="TextBox 23"/>
          <p:cNvSpPr txBox="1"/>
          <p:nvPr/>
        </p:nvSpPr>
        <p:spPr>
          <a:xfrm>
            <a:off x="723029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839264" y="5851905"/>
            <a:ext cx="128699" cy="187198"/>
          </a:xfrm>
          <a:prstGeom prst="rect">
            <a:avLst/>
          </a:prstGeom>
        </p:spPr>
      </p:pic>
      <p:sp>
        <p:nvSpPr>
          <p:cNvPr id="26" name="TextBox 25"/>
          <p:cNvSpPr txBox="1"/>
          <p:nvPr/>
        </p:nvSpPr>
        <p:spPr>
          <a:xfrm>
            <a:off x="900676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244654" y="5851905"/>
            <a:ext cx="128699" cy="187198"/>
          </a:xfrm>
          <a:prstGeom prst="rect">
            <a:avLst/>
          </a:prstGeom>
        </p:spPr>
      </p:pic>
      <p:sp>
        <p:nvSpPr>
          <p:cNvPr id="28" name="TextBox 27"/>
          <p:cNvSpPr txBox="1"/>
          <p:nvPr/>
        </p:nvSpPr>
        <p:spPr>
          <a:xfrm>
            <a:off x="9412150"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019545"/>
            <a:ext cx="128699" cy="187198"/>
          </a:xfrm>
          <a:prstGeom prst="rect">
            <a:avLst/>
          </a:prstGeom>
        </p:spPr>
      </p:pic>
      <p:sp>
        <p:nvSpPr>
          <p:cNvPr id="31" name="TextBox 30"/>
          <p:cNvSpPr txBox="1"/>
          <p:nvPr/>
        </p:nvSpPr>
        <p:spPr>
          <a:xfrm>
            <a:off x="1047285" y="6029325"/>
            <a:ext cx="10511118" cy="186689"/>
          </a:xfrm>
          <a:prstGeom prst="rect">
            <a:avLst/>
          </a:prstGeom>
          <a:noFill/>
        </p:spPr>
        <p:txBody>
          <a:bodyPr wrap="none" lIns="0" rIns="0" tIns="0" bIns="0">
            <a:spAutoFit/>
          </a:bodyPr>
          <a:lstStyle/>
          <a:p>
            <a:r>
              <a:rPr sz="1100" b="0">
                <a:solidFill>
                  <a:srgbClr val="2E2E2E"/>
                </a:solidFill>
                <a:latin typeface="Calibri"/>
              </a:rPr>
              <a:t>. The landscaping &amp; gardening segment is expected to be less attractive as compared to other segments over the forecast period, owing to its lower CAGR and incremental opportunity.</a:t>
            </a:r>
          </a:p>
        </p:txBody>
      </p:sp>
      <p:sp>
        <p:nvSpPr>
          <p:cNvPr id="32" name="TextBox 31"/>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Personal Gifting &amp; Celebrations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Residential &amp; Home Decoration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Weddings &amp; Special Events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Hospitality &amp; Commercial Decoration</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Funeral &amp; Memorial Services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Landscaping &amp; Gardening</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Institutional Applications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End Use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5322282" cy="194310"/>
          </a:xfrm>
          <a:prstGeom prst="rect">
            <a:avLst/>
          </a:prstGeom>
          <a:noFill/>
        </p:spPr>
        <p:txBody>
          <a:bodyPr wrap="none" lIns="0" rIns="0" tIns="0" bIns="0">
            <a:spAutoFit/>
          </a:bodyPr>
          <a:lstStyle/>
          <a:p>
            <a:r>
              <a:rPr sz="1150" b="0">
                <a:solidFill>
                  <a:srgbClr val="2E2E2E"/>
                </a:solidFill>
                <a:latin typeface="Calibri"/>
              </a:rPr>
              <a:t>By 2036, personal gifting &amp; celebrations segment is anticipated to witness an increase of</a:t>
            </a:r>
          </a:p>
        </p:txBody>
      </p:sp>
      <p:pic>
        <p:nvPicPr>
          <p:cNvPr id="28" name="Picture 27" descr="lock.png"/>
          <p:cNvPicPr>
            <a:picLocks noChangeAspect="1"/>
          </p:cNvPicPr>
          <p:nvPr/>
        </p:nvPicPr>
        <p:blipFill>
          <a:blip r:embed="rId7"/>
          <a:stretch>
            <a:fillRect/>
          </a:stretch>
        </p:blipFill>
        <p:spPr>
          <a:xfrm>
            <a:off x="6291470" y="4451286"/>
            <a:ext cx="134549" cy="195707"/>
          </a:xfrm>
          <a:prstGeom prst="rect">
            <a:avLst/>
          </a:prstGeom>
        </p:spPr>
      </p:pic>
      <p:sp>
        <p:nvSpPr>
          <p:cNvPr id="29" name="TextBox 28"/>
          <p:cNvSpPr txBox="1"/>
          <p:nvPr/>
        </p:nvSpPr>
        <p:spPr>
          <a:xfrm>
            <a:off x="6466579" y="4461510"/>
            <a:ext cx="5282083"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personal gifting &amp; celebrations segment is</a:t>
            </a:r>
          </a:p>
        </p:txBody>
      </p:sp>
      <p:sp>
        <p:nvSpPr>
          <p:cNvPr id="30" name="TextBox 29"/>
          <p:cNvSpPr txBox="1"/>
          <p:nvPr/>
        </p:nvSpPr>
        <p:spPr>
          <a:xfrm>
            <a:off x="6305550" y="463677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1" name="Picture 30" descr="lock.png"/>
          <p:cNvPicPr>
            <a:picLocks noChangeAspect="1"/>
          </p:cNvPicPr>
          <p:nvPr/>
        </p:nvPicPr>
        <p:blipFill>
          <a:blip r:embed="rId7"/>
          <a:stretch>
            <a:fillRect/>
          </a:stretch>
        </p:blipFill>
        <p:spPr>
          <a:xfrm>
            <a:off x="9540010" y="4626546"/>
            <a:ext cx="134549" cy="195707"/>
          </a:xfrm>
          <a:prstGeom prst="rect">
            <a:avLst/>
          </a:prstGeom>
        </p:spPr>
      </p:pic>
      <p:sp>
        <p:nvSpPr>
          <p:cNvPr id="32" name="TextBox 31"/>
          <p:cNvSpPr txBox="1"/>
          <p:nvPr/>
        </p:nvSpPr>
        <p:spPr>
          <a:xfrm>
            <a:off x="9715119" y="4636770"/>
            <a:ext cx="1847056" cy="194310"/>
          </a:xfrm>
          <a:prstGeom prst="rect">
            <a:avLst/>
          </a:prstGeom>
          <a:noFill/>
        </p:spPr>
        <p:txBody>
          <a:bodyPr wrap="none" lIns="0" rIns="0" tIns="0" bIns="0">
            <a:spAutoFit/>
          </a:bodyPr>
          <a:lstStyle/>
          <a:p>
            <a:r>
              <a:rPr sz="1150" b="0">
                <a:solidFill>
                  <a:srgbClr val="2E2E2E"/>
                </a:solidFill>
                <a:latin typeface="Calibri"/>
              </a:rPr>
              <a:t>Mn for the overall floriculture</a:t>
            </a:r>
          </a:p>
        </p:txBody>
      </p:sp>
      <p:sp>
        <p:nvSpPr>
          <p:cNvPr id="33" name="TextBox 32"/>
          <p:cNvSpPr txBox="1"/>
          <p:nvPr/>
        </p:nvSpPr>
        <p:spPr>
          <a:xfrm>
            <a:off x="6305550" y="4812029"/>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4" name="TextBox 33"/>
          <p:cNvSpPr txBox="1"/>
          <p:nvPr/>
        </p:nvSpPr>
        <p:spPr>
          <a:xfrm>
            <a:off x="6305550" y="5039867"/>
            <a:ext cx="5239580" cy="194310"/>
          </a:xfrm>
          <a:prstGeom prst="rect">
            <a:avLst/>
          </a:prstGeom>
          <a:noFill/>
        </p:spPr>
        <p:txBody>
          <a:bodyPr wrap="none" lIns="0" rIns="0" tIns="0" bIns="0">
            <a:spAutoFit/>
          </a:bodyPr>
          <a:lstStyle/>
          <a:p>
            <a:r>
              <a:rPr sz="1150" b="0">
                <a:solidFill>
                  <a:srgbClr val="2E2E2E"/>
                </a:solidFill>
                <a:latin typeface="Calibri"/>
              </a:rPr>
              <a:t>The hospitality &amp; commercial decoration segment is expected to create an incremental</a:t>
            </a:r>
          </a:p>
        </p:txBody>
      </p:sp>
      <p:sp>
        <p:nvSpPr>
          <p:cNvPr id="35" name="TextBox 34"/>
          <p:cNvSpPr txBox="1"/>
          <p:nvPr/>
        </p:nvSpPr>
        <p:spPr>
          <a:xfrm>
            <a:off x="6305550" y="521512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6" name="Picture 35" descr="lock.png"/>
          <p:cNvPicPr>
            <a:picLocks noChangeAspect="1"/>
          </p:cNvPicPr>
          <p:nvPr/>
        </p:nvPicPr>
        <p:blipFill>
          <a:blip r:embed="rId7"/>
          <a:stretch>
            <a:fillRect/>
          </a:stretch>
        </p:blipFill>
        <p:spPr>
          <a:xfrm>
            <a:off x="7463647" y="5204904"/>
            <a:ext cx="134549" cy="195707"/>
          </a:xfrm>
          <a:prstGeom prst="rect">
            <a:avLst/>
          </a:prstGeom>
        </p:spPr>
      </p:pic>
      <p:sp>
        <p:nvSpPr>
          <p:cNvPr id="37" name="TextBox 36"/>
          <p:cNvSpPr txBox="1"/>
          <p:nvPr/>
        </p:nvSpPr>
        <p:spPr>
          <a:xfrm>
            <a:off x="7638756" y="5215127"/>
            <a:ext cx="4196122"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 The funeral</a:t>
            </a:r>
          </a:p>
        </p:txBody>
      </p:sp>
      <p:sp>
        <p:nvSpPr>
          <p:cNvPr id="38" name="TextBox 37"/>
          <p:cNvSpPr txBox="1"/>
          <p:nvPr/>
        </p:nvSpPr>
        <p:spPr>
          <a:xfrm>
            <a:off x="6305550" y="5390387"/>
            <a:ext cx="5198219" cy="194310"/>
          </a:xfrm>
          <a:prstGeom prst="rect">
            <a:avLst/>
          </a:prstGeom>
          <a:noFill/>
        </p:spPr>
        <p:txBody>
          <a:bodyPr wrap="none" lIns="0" rIns="0" tIns="0" bIns="0">
            <a:spAutoFit/>
          </a:bodyPr>
          <a:lstStyle/>
          <a:p>
            <a:r>
              <a:rPr sz="1150" b="0">
                <a:solidFill>
                  <a:srgbClr val="2E2E2E"/>
                </a:solidFill>
                <a:latin typeface="Calibri"/>
              </a:rPr>
              <a:t>&amp; memorial services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6291470" y="5555424"/>
            <a:ext cx="134549" cy="195707"/>
          </a:xfrm>
          <a:prstGeom prst="rect">
            <a:avLst/>
          </a:prstGeom>
        </p:spPr>
      </p:pic>
      <p:sp>
        <p:nvSpPr>
          <p:cNvPr id="40" name="TextBox 39"/>
          <p:cNvSpPr txBox="1"/>
          <p:nvPr/>
        </p:nvSpPr>
        <p:spPr>
          <a:xfrm>
            <a:off x="6466579" y="5565647"/>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41"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 Use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 Use, 2021–2036, highlighting the sub-segments driving growth</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 Use (US$ Mn)</a:t>
            </a:r>
          </a:p>
        </p:txBody>
      </p:sp>
      <p:graphicFrame>
        <p:nvGraphicFramePr>
          <p:cNvPr id="12" name="Table 11"/>
          <p:cNvGraphicFramePr>
            <a:graphicFrameLocks noGrp="1"/>
          </p:cNvGraphicFramePr>
          <p:nvPr/>
        </p:nvGraphicFramePr>
        <p:xfrm>
          <a:off x="152400" y="1238250"/>
          <a:ext cx="11887201" cy="2219326"/>
        </p:xfrm>
        <a:graphic>
          <a:graphicData uri="http://schemas.openxmlformats.org/drawingml/2006/table">
            <a:tbl>
              <a:tblPr>
                <a:tableStyleId>{5C22544A-7EE6-4342-B048-85BDC9FD1C3A}</a:tableStyleId>
              </a:tblPr>
              <a:tblGrid>
                <a:gridCol w="2362509"/>
                <a:gridCol w="560276"/>
                <a:gridCol w="560276"/>
                <a:gridCol w="560276"/>
                <a:gridCol w="560276"/>
                <a:gridCol w="560276"/>
                <a:gridCol w="560276"/>
                <a:gridCol w="560276"/>
                <a:gridCol w="560276"/>
                <a:gridCol w="560276"/>
                <a:gridCol w="560276"/>
                <a:gridCol w="560276"/>
                <a:gridCol w="560276"/>
                <a:gridCol w="560276"/>
                <a:gridCol w="560276"/>
                <a:gridCol w="560276"/>
                <a:gridCol w="560276"/>
                <a:gridCol w="560276"/>
              </a:tblGrid>
              <a:tr h="246126">
                <a:tc>
                  <a:txBody>
                    <a:bodyPr wrap="none"/>
                    <a:lstStyle/>
                    <a:p>
                      <a:pPr algn="l"/>
                      <a:r>
                        <a:rPr sz="1100" b="1">
                          <a:solidFill>
                            <a:srgbClr val="0B2E4A"/>
                          </a:solidFill>
                          <a:latin typeface="Calibri"/>
                        </a:rPr>
                        <a:t>End Use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Personal Gifting &amp; Celebrations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Residential &amp; Home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Weddings &amp; Special Events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Hospitality &amp; Commercial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Funeral &amp; Memorial Services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Landscaping &amp; Gardening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Other Institutional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End Use</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90564" y="2204276"/>
            <a:ext cx="366712" cy="533400"/>
          </a:xfrm>
          <a:prstGeom prst="rect">
            <a:avLst/>
          </a:prstGeom>
        </p:spPr>
      </p:pic>
      <p:sp>
        <p:nvSpPr>
          <p:cNvPr id="20" name="TextBox 19"/>
          <p:cNvSpPr txBox="1"/>
          <p:nvPr/>
        </p:nvSpPr>
        <p:spPr>
          <a:xfrm>
            <a:off x="276225" y="4219575"/>
            <a:ext cx="3821298" cy="194310"/>
          </a:xfrm>
          <a:prstGeom prst="rect">
            <a:avLst/>
          </a:prstGeom>
          <a:noFill/>
        </p:spPr>
        <p:txBody>
          <a:bodyPr wrap="none" lIns="0" rIns="0" tIns="0" bIns="0">
            <a:spAutoFit/>
          </a:bodyPr>
          <a:lstStyle/>
          <a:p>
            <a:r>
              <a:rPr sz="1150" b="0">
                <a:solidFill>
                  <a:srgbClr val="2E2E2E"/>
                </a:solidFill>
                <a:latin typeface="Calibri"/>
              </a:rPr>
              <a:t>Personal gifting &amp; celebrations segment is projected to register</a:t>
            </a:r>
          </a:p>
        </p:txBody>
      </p:sp>
      <p:pic>
        <p:nvPicPr>
          <p:cNvPr id="21" name="Picture 20" descr="lock.png"/>
          <p:cNvPicPr>
            <a:picLocks noChangeAspect="1"/>
          </p:cNvPicPr>
          <p:nvPr/>
        </p:nvPicPr>
        <p:blipFill>
          <a:blip r:embed="rId4"/>
          <a:stretch>
            <a:fillRect/>
          </a:stretch>
        </p:blipFill>
        <p:spPr>
          <a:xfrm>
            <a:off x="4046677" y="4209351"/>
            <a:ext cx="134549" cy="195707"/>
          </a:xfrm>
          <a:prstGeom prst="rect">
            <a:avLst/>
          </a:prstGeom>
        </p:spPr>
      </p:pic>
      <p:sp>
        <p:nvSpPr>
          <p:cNvPr id="22" name="TextBox 21"/>
          <p:cNvSpPr txBox="1"/>
          <p:nvPr/>
        </p:nvSpPr>
        <p:spPr>
          <a:xfrm>
            <a:off x="4221786" y="4219575"/>
            <a:ext cx="7446590" cy="194310"/>
          </a:xfrm>
          <a:prstGeom prst="rect">
            <a:avLst/>
          </a:prstGeom>
          <a:noFill/>
        </p:spPr>
        <p:txBody>
          <a:bodyPr wrap="none" lIns="0" rIns="0" tIns="0" bIns="0">
            <a:spAutoFit/>
          </a:bodyPr>
          <a:lstStyle/>
          <a:p>
            <a:r>
              <a:rPr sz="1150" b="0">
                <a:solidFill>
                  <a:srgbClr val="2E2E2E"/>
                </a:solidFill>
                <a:latin typeface="Calibri"/>
              </a:rPr>
              <a:t>X higher value than hospitality &amp; commercial decoration segment in 2036. Among floriculture by end use, other institutional</a:t>
            </a:r>
          </a:p>
        </p:txBody>
      </p:sp>
      <p:sp>
        <p:nvSpPr>
          <p:cNvPr id="23" name="TextBox 22"/>
          <p:cNvSpPr txBox="1"/>
          <p:nvPr/>
        </p:nvSpPr>
        <p:spPr>
          <a:xfrm>
            <a:off x="276225" y="4394835"/>
            <a:ext cx="3905715" cy="194310"/>
          </a:xfrm>
          <a:prstGeom prst="rect">
            <a:avLst/>
          </a:prstGeom>
          <a:noFill/>
        </p:spPr>
        <p:txBody>
          <a:bodyPr wrap="none" lIns="0" rIns="0" tIns="0" bIns="0">
            <a:spAutoFit/>
          </a:bodyPr>
          <a:lstStyle/>
          <a:p>
            <a:r>
              <a:rPr sz="1150" b="0">
                <a:solidFill>
                  <a:srgbClr val="2E2E2E"/>
                </a:solidFill>
                <a:latin typeface="Calibri"/>
              </a:rPr>
              <a:t>applications segment is expected to witness the highest CAGR of</a:t>
            </a:r>
          </a:p>
        </p:txBody>
      </p:sp>
      <p:pic>
        <p:nvPicPr>
          <p:cNvPr id="24" name="Picture 23" descr="lock.png"/>
          <p:cNvPicPr>
            <a:picLocks noChangeAspect="1"/>
          </p:cNvPicPr>
          <p:nvPr/>
        </p:nvPicPr>
        <p:blipFill>
          <a:blip r:embed="rId4"/>
          <a:stretch>
            <a:fillRect/>
          </a:stretch>
        </p:blipFill>
        <p:spPr>
          <a:xfrm>
            <a:off x="4131094" y="4384611"/>
            <a:ext cx="134549" cy="195707"/>
          </a:xfrm>
          <a:prstGeom prst="rect">
            <a:avLst/>
          </a:prstGeom>
        </p:spPr>
      </p:pic>
      <p:sp>
        <p:nvSpPr>
          <p:cNvPr id="25" name="TextBox 24"/>
          <p:cNvSpPr txBox="1"/>
          <p:nvPr/>
        </p:nvSpPr>
        <p:spPr>
          <a:xfrm>
            <a:off x="4306204"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7436606" cy="194310"/>
          </a:xfrm>
          <a:prstGeom prst="rect">
            <a:avLst/>
          </a:prstGeom>
          <a:noFill/>
        </p:spPr>
        <p:txBody>
          <a:bodyPr wrap="none" lIns="0" rIns="0" tIns="0" bIns="0">
            <a:spAutoFit/>
          </a:bodyPr>
          <a:lstStyle/>
          <a:p>
            <a:r>
              <a:rPr sz="1150" b="0">
                <a:solidFill>
                  <a:srgbClr val="2E2E2E"/>
                </a:solidFill>
                <a:latin typeface="Calibri"/>
              </a:rPr>
              <a:t>In terms of value share by end use, the personal gifting &amp; celebrations segment is expected to dominate the market, gaining</a:t>
            </a:r>
          </a:p>
        </p:txBody>
      </p:sp>
      <p:pic>
        <p:nvPicPr>
          <p:cNvPr id="27" name="Picture 26" descr="lock.png"/>
          <p:cNvPicPr>
            <a:picLocks noChangeAspect="1"/>
          </p:cNvPicPr>
          <p:nvPr/>
        </p:nvPicPr>
        <p:blipFill>
          <a:blip r:embed="rId4"/>
          <a:stretch>
            <a:fillRect/>
          </a:stretch>
        </p:blipFill>
        <p:spPr>
          <a:xfrm>
            <a:off x="7661985" y="4612449"/>
            <a:ext cx="134549" cy="195707"/>
          </a:xfrm>
          <a:prstGeom prst="rect">
            <a:avLst/>
          </a:prstGeom>
        </p:spPr>
      </p:pic>
      <p:sp>
        <p:nvSpPr>
          <p:cNvPr id="28" name="TextBox 27"/>
          <p:cNvSpPr txBox="1"/>
          <p:nvPr/>
        </p:nvSpPr>
        <p:spPr>
          <a:xfrm>
            <a:off x="7837094"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232237" y="4612449"/>
            <a:ext cx="134549" cy="195707"/>
          </a:xfrm>
          <a:prstGeom prst="rect">
            <a:avLst/>
          </a:prstGeom>
        </p:spPr>
      </p:pic>
      <p:sp>
        <p:nvSpPr>
          <p:cNvPr id="30" name="TextBox 29"/>
          <p:cNvSpPr txBox="1"/>
          <p:nvPr/>
        </p:nvSpPr>
        <p:spPr>
          <a:xfrm>
            <a:off x="9407347" y="4622672"/>
            <a:ext cx="2067557" cy="194310"/>
          </a:xfrm>
          <a:prstGeom prst="rect">
            <a:avLst/>
          </a:prstGeom>
          <a:noFill/>
        </p:spPr>
        <p:txBody>
          <a:bodyPr wrap="none" lIns="0" rIns="0" tIns="0" bIns="0">
            <a:spAutoFit/>
          </a:bodyPr>
          <a:lstStyle/>
          <a:p>
            <a:r>
              <a:rPr sz="1150" b="0">
                <a:solidFill>
                  <a:srgbClr val="2E2E2E"/>
                </a:solidFill>
                <a:latin typeface="Calibri"/>
              </a:rPr>
              <a:t>share by 2036. The landscaping &amp;</a:t>
            </a:r>
          </a:p>
        </p:txBody>
      </p:sp>
      <p:sp>
        <p:nvSpPr>
          <p:cNvPr id="31" name="TextBox 30"/>
          <p:cNvSpPr txBox="1"/>
          <p:nvPr/>
        </p:nvSpPr>
        <p:spPr>
          <a:xfrm>
            <a:off x="276225" y="4797932"/>
            <a:ext cx="2353667" cy="194310"/>
          </a:xfrm>
          <a:prstGeom prst="rect">
            <a:avLst/>
          </a:prstGeom>
          <a:noFill/>
        </p:spPr>
        <p:txBody>
          <a:bodyPr wrap="none" lIns="0" rIns="0" tIns="0" bIns="0">
            <a:spAutoFit/>
          </a:bodyPr>
          <a:lstStyle/>
          <a:p>
            <a:r>
              <a:rPr sz="1150" b="0">
                <a:solidFill>
                  <a:srgbClr val="2E2E2E"/>
                </a:solidFill>
                <a:latin typeface="Calibri"/>
              </a:rPr>
              <a:t>gardening segment is expected to lose</a:t>
            </a:r>
          </a:p>
        </p:txBody>
      </p:sp>
      <p:pic>
        <p:nvPicPr>
          <p:cNvPr id="32" name="Picture 31" descr="lock.png"/>
          <p:cNvPicPr>
            <a:picLocks noChangeAspect="1"/>
          </p:cNvPicPr>
          <p:nvPr/>
        </p:nvPicPr>
        <p:blipFill>
          <a:blip r:embed="rId4"/>
          <a:stretch>
            <a:fillRect/>
          </a:stretch>
        </p:blipFill>
        <p:spPr>
          <a:xfrm>
            <a:off x="2579046" y="4787709"/>
            <a:ext cx="134549" cy="195707"/>
          </a:xfrm>
          <a:prstGeom prst="rect">
            <a:avLst/>
          </a:prstGeom>
        </p:spPr>
      </p:pic>
      <p:sp>
        <p:nvSpPr>
          <p:cNvPr id="33" name="TextBox 32"/>
          <p:cNvSpPr txBox="1"/>
          <p:nvPr/>
        </p:nvSpPr>
        <p:spPr>
          <a:xfrm>
            <a:off x="2754155"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341659" y="4787709"/>
            <a:ext cx="134549" cy="195707"/>
          </a:xfrm>
          <a:prstGeom prst="rect">
            <a:avLst/>
          </a:prstGeom>
        </p:spPr>
      </p:pic>
      <p:sp>
        <p:nvSpPr>
          <p:cNvPr id="35" name="TextBox 34"/>
          <p:cNvSpPr txBox="1"/>
          <p:nvPr/>
        </p:nvSpPr>
        <p:spPr>
          <a:xfrm>
            <a:off x="5516769"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End Use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 Use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 Use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589877"/>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58511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50891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Institutional Applications</a:t>
            </a:r>
          </a:p>
        </p:txBody>
      </p:sp>
      <p:sp>
        <p:nvSpPr>
          <p:cNvPr id="18" name="BPS Value 1"/>
          <p:cNvSpPr txBox="1"/>
          <p:nvPr/>
        </p:nvSpPr>
        <p:spPr>
          <a:xfrm>
            <a:off x="6896100" y="157082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187015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86539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7891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Residential &amp; Home Decoration</a:t>
            </a:r>
          </a:p>
        </p:txBody>
      </p:sp>
      <p:sp>
        <p:nvSpPr>
          <p:cNvPr id="22" name="BPS Value 2"/>
          <p:cNvSpPr txBox="1"/>
          <p:nvPr/>
        </p:nvSpPr>
        <p:spPr>
          <a:xfrm>
            <a:off x="6896100" y="185110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29782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2930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168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Landscaping &amp; Gardening</a:t>
            </a:r>
          </a:p>
        </p:txBody>
      </p:sp>
      <p:sp>
        <p:nvSpPr>
          <p:cNvPr id="26" name="BPS Value 3"/>
          <p:cNvSpPr txBox="1"/>
          <p:nvPr/>
        </p:nvSpPr>
        <p:spPr>
          <a:xfrm>
            <a:off x="6896100" y="22787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289789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289313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8169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Funeral &amp; Memorial Services</a:t>
            </a:r>
          </a:p>
        </p:txBody>
      </p:sp>
      <p:sp>
        <p:nvSpPr>
          <p:cNvPr id="30" name="BPS Value 4"/>
          <p:cNvSpPr txBox="1"/>
          <p:nvPr/>
        </p:nvSpPr>
        <p:spPr>
          <a:xfrm>
            <a:off x="6896100" y="287884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65646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6517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5755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Weddings &amp; Special Events</a:t>
            </a:r>
          </a:p>
        </p:txBody>
      </p:sp>
      <p:sp>
        <p:nvSpPr>
          <p:cNvPr id="34" name="BPS Value 5"/>
          <p:cNvSpPr txBox="1"/>
          <p:nvPr/>
        </p:nvSpPr>
        <p:spPr>
          <a:xfrm>
            <a:off x="6896100" y="363741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456230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455754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448134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Hospitality &amp; Commercial Decoration</a:t>
            </a:r>
          </a:p>
        </p:txBody>
      </p:sp>
      <p:sp>
        <p:nvSpPr>
          <p:cNvPr id="38" name="BPS Value 6"/>
          <p:cNvSpPr txBox="1"/>
          <p:nvPr/>
        </p:nvSpPr>
        <p:spPr>
          <a:xfrm>
            <a:off x="6896100" y="454325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566135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565658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55803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Personal Gifting &amp; Celebrations</a:t>
            </a:r>
          </a:p>
        </p:txBody>
      </p:sp>
      <p:sp>
        <p:nvSpPr>
          <p:cNvPr id="42" name="BPS Value 7"/>
          <p:cNvSpPr txBox="1"/>
          <p:nvPr/>
        </p:nvSpPr>
        <p:spPr>
          <a:xfrm>
            <a:off x="6896100" y="564230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End Use</a:t>
            </a:r>
          </a:p>
        </p:txBody>
      </p:sp>
      <p:sp>
        <p:nvSpPr>
          <p:cNvPr id="45" name="Rectangle 4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557843" y="3751325"/>
            <a:ext cx="275034" cy="400050"/>
          </a:xfrm>
          <a:prstGeom prst="rect">
            <a:avLst/>
          </a:prstGeom>
        </p:spPr>
      </p:pic>
      <p:sp>
        <p:nvSpPr>
          <p:cNvPr id="49" name="TextBox 48"/>
          <p:cNvSpPr txBox="1"/>
          <p:nvPr/>
        </p:nvSpPr>
        <p:spPr>
          <a:xfrm>
            <a:off x="7829550" y="1400175"/>
            <a:ext cx="3763962" cy="194310"/>
          </a:xfrm>
          <a:prstGeom prst="rect">
            <a:avLst/>
          </a:prstGeom>
          <a:noFill/>
        </p:spPr>
        <p:txBody>
          <a:bodyPr wrap="none" lIns="0" rIns="0" tIns="0" bIns="0">
            <a:spAutoFit/>
          </a:bodyPr>
          <a:lstStyle/>
          <a:p>
            <a:r>
              <a:rPr sz="1150" b="0">
                <a:solidFill>
                  <a:srgbClr val="2E2E2E"/>
                </a:solidFill>
                <a:latin typeface="Calibri"/>
              </a:rPr>
              <a:t>Among floriculture by end use, other institutional applications</a:t>
            </a:r>
          </a:p>
        </p:txBody>
      </p:sp>
      <p:sp>
        <p:nvSpPr>
          <p:cNvPr id="50" name="TextBox 4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1" name="Picture 50" descr="lock.png"/>
          <p:cNvPicPr>
            <a:picLocks noChangeAspect="1"/>
          </p:cNvPicPr>
          <p:nvPr/>
        </p:nvPicPr>
        <p:blipFill>
          <a:blip r:embed="rId5"/>
          <a:stretch>
            <a:fillRect/>
          </a:stretch>
        </p:blipFill>
        <p:spPr>
          <a:xfrm>
            <a:off x="10935343" y="1565211"/>
            <a:ext cx="134549" cy="195707"/>
          </a:xfrm>
          <a:prstGeom prst="rect">
            <a:avLst/>
          </a:prstGeom>
        </p:spPr>
      </p:pic>
      <p:sp>
        <p:nvSpPr>
          <p:cNvPr id="52" name="TextBox 5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3" name="TextBox 52"/>
          <p:cNvSpPr txBox="1"/>
          <p:nvPr/>
        </p:nvSpPr>
        <p:spPr>
          <a:xfrm>
            <a:off x="7829550" y="1750695"/>
            <a:ext cx="3901740"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 use, the personal</a:t>
            </a:r>
          </a:p>
        </p:txBody>
      </p:sp>
      <p:sp>
        <p:nvSpPr>
          <p:cNvPr id="54" name="TextBox 53"/>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gifting &amp; celebrations segment is expected to dominate the market,</a:t>
            </a:r>
          </a:p>
        </p:txBody>
      </p:sp>
      <p:sp>
        <p:nvSpPr>
          <p:cNvPr id="55" name="TextBox 54"/>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56" name="Picture 55" descr="lock.png"/>
          <p:cNvPicPr>
            <a:picLocks noChangeAspect="1"/>
          </p:cNvPicPr>
          <p:nvPr/>
        </p:nvPicPr>
        <p:blipFill>
          <a:blip r:embed="rId5"/>
          <a:stretch>
            <a:fillRect/>
          </a:stretch>
        </p:blipFill>
        <p:spPr>
          <a:xfrm>
            <a:off x="8283070" y="2090991"/>
            <a:ext cx="134549" cy="195707"/>
          </a:xfrm>
          <a:prstGeom prst="rect">
            <a:avLst/>
          </a:prstGeom>
        </p:spPr>
      </p:pic>
      <p:sp>
        <p:nvSpPr>
          <p:cNvPr id="57" name="TextBox 56"/>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9853322" y="2090991"/>
            <a:ext cx="134549" cy="195707"/>
          </a:xfrm>
          <a:prstGeom prst="rect">
            <a:avLst/>
          </a:prstGeom>
        </p:spPr>
      </p:pic>
      <p:sp>
        <p:nvSpPr>
          <p:cNvPr id="59" name="TextBox 58"/>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329053"/>
            <a:ext cx="3475000" cy="194310"/>
          </a:xfrm>
          <a:prstGeom prst="rect">
            <a:avLst/>
          </a:prstGeom>
          <a:noFill/>
        </p:spPr>
        <p:txBody>
          <a:bodyPr wrap="none" lIns="0" rIns="0" tIns="0" bIns="0">
            <a:spAutoFit/>
          </a:bodyPr>
          <a:lstStyle/>
          <a:p>
            <a:r>
              <a:rPr sz="1150" b="0">
                <a:solidFill>
                  <a:srgbClr val="2E2E2E"/>
                </a:solidFill>
                <a:latin typeface="Calibri"/>
              </a:rPr>
              <a:t>The landscaping &amp; gardening segment is expected to lose</a:t>
            </a:r>
          </a:p>
        </p:txBody>
      </p:sp>
      <p:pic>
        <p:nvPicPr>
          <p:cNvPr id="61" name="Picture 60" descr="lock.png"/>
          <p:cNvPicPr>
            <a:picLocks noChangeAspect="1"/>
          </p:cNvPicPr>
          <p:nvPr/>
        </p:nvPicPr>
        <p:blipFill>
          <a:blip r:embed="rId5"/>
          <a:stretch>
            <a:fillRect/>
          </a:stretch>
        </p:blipFill>
        <p:spPr>
          <a:xfrm>
            <a:off x="11253704" y="2318829"/>
            <a:ext cx="134549" cy="195707"/>
          </a:xfrm>
          <a:prstGeom prst="rect">
            <a:avLst/>
          </a:prstGeom>
        </p:spPr>
      </p:pic>
      <p:sp>
        <p:nvSpPr>
          <p:cNvPr id="62" name="TextBox 61"/>
          <p:cNvSpPr txBox="1"/>
          <p:nvPr/>
        </p:nvSpPr>
        <p:spPr>
          <a:xfrm>
            <a:off x="11428813"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63" name="TextBox 62"/>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64" name="Picture 63" descr="lock.png"/>
          <p:cNvPicPr>
            <a:picLocks noChangeAspect="1"/>
          </p:cNvPicPr>
          <p:nvPr/>
        </p:nvPicPr>
        <p:blipFill>
          <a:blip r:embed="rId5"/>
          <a:stretch>
            <a:fillRect/>
          </a:stretch>
        </p:blipFill>
        <p:spPr>
          <a:xfrm>
            <a:off x="10161752" y="2494089"/>
            <a:ext cx="134549" cy="195707"/>
          </a:xfrm>
          <a:prstGeom prst="rect">
            <a:avLst/>
          </a:prstGeom>
        </p:spPr>
      </p:pic>
      <p:sp>
        <p:nvSpPr>
          <p:cNvPr id="65" name="TextBox 64"/>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Cultivation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Flower Species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Cultivation Method</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Cultivation Method,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cultivation method sub-segments</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Cultivation Method, 2026E and 2036F (US$ Mn)</a:t>
            </a:r>
          </a:p>
        </p:txBody>
      </p:sp>
      <p:graphicFrame>
        <p:nvGraphicFramePr>
          <p:cNvPr id="12" name="Table 11"/>
          <p:cNvGraphicFramePr>
            <a:graphicFrameLocks noGrp="1"/>
          </p:cNvGraphicFramePr>
          <p:nvPr/>
        </p:nvGraphicFramePr>
        <p:xfrm>
          <a:off x="152400" y="1238250"/>
          <a:ext cx="11887203" cy="2466975"/>
        </p:xfrm>
        <a:graphic>
          <a:graphicData uri="http://schemas.openxmlformats.org/drawingml/2006/table">
            <a:tbl>
              <a:tblPr>
                <a:tableStyleId>{5C22544A-7EE6-4342-B048-85BDC9FD1C3A}</a:tableStyleId>
              </a:tblPr>
              <a:tblGrid>
                <a:gridCol w="5414961"/>
                <a:gridCol w="1078707"/>
                <a:gridCol w="1078707"/>
                <a:gridCol w="1078707"/>
                <a:gridCol w="1078707"/>
                <a:gridCol w="1078707"/>
                <a:gridCol w="1078707"/>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Protected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Open-Field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7286625"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1052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Product Type → Cultivation Method, 2036F (US$ Mn)</a:t>
            </a:r>
          </a:p>
        </p:txBody>
      </p:sp>
      <p:sp>
        <p:nvSpPr>
          <p:cNvPr id="16" name="Freeform 15"/>
          <p:cNvSpPr/>
          <p:nvPr/>
        </p:nvSpPr>
        <p:spPr>
          <a:xfrm>
            <a:off x="2057400" y="4371975"/>
            <a:ext cx="3743325" cy="342900"/>
          </a:xfrm>
          <a:custGeom>
            <a:avLst/>
            <a:gdLst/>
            <a:ahLst/>
            <a:cxnLst/>
            <a:rect l="l" t="t" r="r" b="b"/>
            <a:pathLst>
              <a:path w="393" h="36">
                <a:moveTo>
                  <a:pt x="0" y="0"/>
                </a:moveTo>
                <a:lnTo>
                  <a:pt x="16" y="0"/>
                </a:lnTo>
                <a:lnTo>
                  <a:pt x="33" y="0"/>
                </a:lnTo>
                <a:lnTo>
                  <a:pt x="49" y="1"/>
                </a:lnTo>
                <a:lnTo>
                  <a:pt x="65" y="1"/>
                </a:lnTo>
                <a:lnTo>
                  <a:pt x="82" y="2"/>
                </a:lnTo>
                <a:lnTo>
                  <a:pt x="98" y="2"/>
                </a:lnTo>
                <a:lnTo>
                  <a:pt x="114" y="3"/>
                </a:lnTo>
                <a:lnTo>
                  <a:pt x="131" y="4"/>
                </a:lnTo>
                <a:lnTo>
                  <a:pt x="147" y="5"/>
                </a:lnTo>
                <a:lnTo>
                  <a:pt x="164" y="6"/>
                </a:lnTo>
                <a:lnTo>
                  <a:pt x="180" y="7"/>
                </a:lnTo>
                <a:lnTo>
                  <a:pt x="196" y="7"/>
                </a:lnTo>
                <a:lnTo>
                  <a:pt x="213" y="8"/>
                </a:lnTo>
                <a:lnTo>
                  <a:pt x="229" y="9"/>
                </a:lnTo>
                <a:lnTo>
                  <a:pt x="246" y="10"/>
                </a:lnTo>
                <a:lnTo>
                  <a:pt x="262" y="11"/>
                </a:lnTo>
                <a:lnTo>
                  <a:pt x="278" y="12"/>
                </a:lnTo>
                <a:lnTo>
                  <a:pt x="295" y="13"/>
                </a:lnTo>
                <a:lnTo>
                  <a:pt x="311" y="13"/>
                </a:lnTo>
                <a:lnTo>
                  <a:pt x="327" y="14"/>
                </a:lnTo>
                <a:lnTo>
                  <a:pt x="344" y="14"/>
                </a:lnTo>
                <a:lnTo>
                  <a:pt x="360" y="15"/>
                </a:lnTo>
                <a:lnTo>
                  <a:pt x="377" y="15"/>
                </a:lnTo>
                <a:lnTo>
                  <a:pt x="393" y="15"/>
                </a:lnTo>
                <a:lnTo>
                  <a:pt x="393" y="36"/>
                </a:lnTo>
                <a:lnTo>
                  <a:pt x="377" y="36"/>
                </a:lnTo>
                <a:lnTo>
                  <a:pt x="360" y="35"/>
                </a:lnTo>
                <a:lnTo>
                  <a:pt x="344" y="35"/>
                </a:lnTo>
                <a:lnTo>
                  <a:pt x="327" y="35"/>
                </a:lnTo>
                <a:lnTo>
                  <a:pt x="311" y="34"/>
                </a:lnTo>
                <a:lnTo>
                  <a:pt x="295" y="33"/>
                </a:lnTo>
                <a:lnTo>
                  <a:pt x="278" y="33"/>
                </a:lnTo>
                <a:lnTo>
                  <a:pt x="262" y="32"/>
                </a:lnTo>
                <a:lnTo>
                  <a:pt x="246" y="31"/>
                </a:lnTo>
                <a:lnTo>
                  <a:pt x="229" y="30"/>
                </a:lnTo>
                <a:lnTo>
                  <a:pt x="213" y="29"/>
                </a:lnTo>
                <a:lnTo>
                  <a:pt x="196" y="28"/>
                </a:lnTo>
                <a:lnTo>
                  <a:pt x="180" y="27"/>
                </a:lnTo>
                <a:lnTo>
                  <a:pt x="164" y="26"/>
                </a:lnTo>
                <a:lnTo>
                  <a:pt x="147" y="25"/>
                </a:lnTo>
                <a:lnTo>
                  <a:pt x="131" y="25"/>
                </a:lnTo>
                <a:lnTo>
                  <a:pt x="114" y="24"/>
                </a:lnTo>
                <a:lnTo>
                  <a:pt x="98" y="23"/>
                </a:lnTo>
                <a:lnTo>
                  <a:pt x="82" y="22"/>
                </a:lnTo>
                <a:lnTo>
                  <a:pt x="65" y="22"/>
                </a:lnTo>
                <a:lnTo>
                  <a:pt x="49" y="21"/>
                </a:lnTo>
                <a:lnTo>
                  <a:pt x="33" y="21"/>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572000"/>
            <a:ext cx="3743325" cy="1438275"/>
          </a:xfrm>
          <a:custGeom>
            <a:avLst/>
            <a:gdLst/>
            <a:ahLst/>
            <a:cxnLst/>
            <a:rect l="l" t="t" r="r" b="b"/>
            <a:pathLst>
              <a:path w="393" h="151">
                <a:moveTo>
                  <a:pt x="0" y="0"/>
                </a:moveTo>
                <a:lnTo>
                  <a:pt x="16" y="0"/>
                </a:lnTo>
                <a:lnTo>
                  <a:pt x="33" y="2"/>
                </a:lnTo>
                <a:lnTo>
                  <a:pt x="49" y="6"/>
                </a:lnTo>
                <a:lnTo>
                  <a:pt x="65" y="10"/>
                </a:lnTo>
                <a:lnTo>
                  <a:pt x="82" y="16"/>
                </a:lnTo>
                <a:lnTo>
                  <a:pt x="98" y="22"/>
                </a:lnTo>
                <a:lnTo>
                  <a:pt x="114" y="29"/>
                </a:lnTo>
                <a:lnTo>
                  <a:pt x="131" y="37"/>
                </a:lnTo>
                <a:lnTo>
                  <a:pt x="147" y="45"/>
                </a:lnTo>
                <a:lnTo>
                  <a:pt x="164" y="54"/>
                </a:lnTo>
                <a:lnTo>
                  <a:pt x="180" y="63"/>
                </a:lnTo>
                <a:lnTo>
                  <a:pt x="196" y="72"/>
                </a:lnTo>
                <a:lnTo>
                  <a:pt x="213" y="81"/>
                </a:lnTo>
                <a:lnTo>
                  <a:pt x="229" y="90"/>
                </a:lnTo>
                <a:lnTo>
                  <a:pt x="246" y="99"/>
                </a:lnTo>
                <a:lnTo>
                  <a:pt x="262" y="107"/>
                </a:lnTo>
                <a:lnTo>
                  <a:pt x="278" y="115"/>
                </a:lnTo>
                <a:lnTo>
                  <a:pt x="295" y="122"/>
                </a:lnTo>
                <a:lnTo>
                  <a:pt x="311" y="128"/>
                </a:lnTo>
                <a:lnTo>
                  <a:pt x="327" y="134"/>
                </a:lnTo>
                <a:lnTo>
                  <a:pt x="344" y="138"/>
                </a:lnTo>
                <a:lnTo>
                  <a:pt x="360" y="142"/>
                </a:lnTo>
                <a:lnTo>
                  <a:pt x="377" y="144"/>
                </a:lnTo>
                <a:lnTo>
                  <a:pt x="393" y="144"/>
                </a:lnTo>
                <a:lnTo>
                  <a:pt x="393" y="151"/>
                </a:lnTo>
                <a:lnTo>
                  <a:pt x="377" y="150"/>
                </a:lnTo>
                <a:lnTo>
                  <a:pt x="360" y="148"/>
                </a:lnTo>
                <a:lnTo>
                  <a:pt x="344" y="145"/>
                </a:lnTo>
                <a:lnTo>
                  <a:pt x="327" y="140"/>
                </a:lnTo>
                <a:lnTo>
                  <a:pt x="311" y="135"/>
                </a:lnTo>
                <a:lnTo>
                  <a:pt x="295" y="128"/>
                </a:lnTo>
                <a:lnTo>
                  <a:pt x="278" y="121"/>
                </a:lnTo>
                <a:lnTo>
                  <a:pt x="262" y="113"/>
                </a:lnTo>
                <a:lnTo>
                  <a:pt x="246" y="105"/>
                </a:lnTo>
                <a:lnTo>
                  <a:pt x="229" y="97"/>
                </a:lnTo>
                <a:lnTo>
                  <a:pt x="213" y="88"/>
                </a:lnTo>
                <a:lnTo>
                  <a:pt x="196" y="79"/>
                </a:lnTo>
                <a:lnTo>
                  <a:pt x="180" y="70"/>
                </a:lnTo>
                <a:lnTo>
                  <a:pt x="164" y="61"/>
                </a:lnTo>
                <a:lnTo>
                  <a:pt x="147" y="52"/>
                </a:lnTo>
                <a:lnTo>
                  <a:pt x="131" y="44"/>
                </a:lnTo>
                <a:lnTo>
                  <a:pt x="114" y="36"/>
                </a:lnTo>
                <a:lnTo>
                  <a:pt x="98" y="29"/>
                </a:lnTo>
                <a:lnTo>
                  <a:pt x="82" y="23"/>
                </a:lnTo>
                <a:lnTo>
                  <a:pt x="65" y="17"/>
                </a:lnTo>
                <a:lnTo>
                  <a:pt x="49" y="13"/>
                </a:lnTo>
                <a:lnTo>
                  <a:pt x="33" y="9"/>
                </a:lnTo>
                <a:lnTo>
                  <a:pt x="16" y="7"/>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86300"/>
            <a:ext cx="3743325" cy="219075"/>
          </a:xfrm>
          <a:custGeom>
            <a:avLst/>
            <a:gdLst/>
            <a:ahLst/>
            <a:cxnLst/>
            <a:rect l="l" t="t" r="r" b="b"/>
            <a:pathLst>
              <a:path w="393" h="23">
                <a:moveTo>
                  <a:pt x="0" y="0"/>
                </a:moveTo>
                <a:lnTo>
                  <a:pt x="16" y="0"/>
                </a:lnTo>
                <a:lnTo>
                  <a:pt x="33" y="0"/>
                </a:lnTo>
                <a:lnTo>
                  <a:pt x="49" y="0"/>
                </a:lnTo>
                <a:lnTo>
                  <a:pt x="65" y="0"/>
                </a:lnTo>
                <a:lnTo>
                  <a:pt x="82" y="1"/>
                </a:lnTo>
                <a:lnTo>
                  <a:pt x="98" y="1"/>
                </a:lnTo>
                <a:lnTo>
                  <a:pt x="114" y="1"/>
                </a:lnTo>
                <a:lnTo>
                  <a:pt x="131" y="1"/>
                </a:lnTo>
                <a:lnTo>
                  <a:pt x="147" y="1"/>
                </a:lnTo>
                <a:lnTo>
                  <a:pt x="164" y="1"/>
                </a:lnTo>
                <a:lnTo>
                  <a:pt x="180" y="1"/>
                </a:lnTo>
                <a:lnTo>
                  <a:pt x="196" y="1"/>
                </a:lnTo>
                <a:lnTo>
                  <a:pt x="213" y="2"/>
                </a:lnTo>
                <a:lnTo>
                  <a:pt x="229" y="2"/>
                </a:lnTo>
                <a:lnTo>
                  <a:pt x="246" y="2"/>
                </a:lnTo>
                <a:lnTo>
                  <a:pt x="262" y="2"/>
                </a:lnTo>
                <a:lnTo>
                  <a:pt x="278" y="2"/>
                </a:lnTo>
                <a:lnTo>
                  <a:pt x="295" y="2"/>
                </a:lnTo>
                <a:lnTo>
                  <a:pt x="311" y="2"/>
                </a:lnTo>
                <a:lnTo>
                  <a:pt x="327" y="2"/>
                </a:lnTo>
                <a:lnTo>
                  <a:pt x="344" y="3"/>
                </a:lnTo>
                <a:lnTo>
                  <a:pt x="360" y="3"/>
                </a:lnTo>
                <a:lnTo>
                  <a:pt x="377" y="3"/>
                </a:lnTo>
                <a:lnTo>
                  <a:pt x="393" y="3"/>
                </a:lnTo>
                <a:lnTo>
                  <a:pt x="393" y="23"/>
                </a:lnTo>
                <a:lnTo>
                  <a:pt x="377" y="23"/>
                </a:lnTo>
                <a:lnTo>
                  <a:pt x="360" y="23"/>
                </a:lnTo>
                <a:lnTo>
                  <a:pt x="344" y="23"/>
                </a:lnTo>
                <a:lnTo>
                  <a:pt x="327" y="23"/>
                </a:lnTo>
                <a:lnTo>
                  <a:pt x="311" y="23"/>
                </a:lnTo>
                <a:lnTo>
                  <a:pt x="295" y="23"/>
                </a:lnTo>
                <a:lnTo>
                  <a:pt x="278" y="23"/>
                </a:lnTo>
                <a:lnTo>
                  <a:pt x="262" y="23"/>
                </a:lnTo>
                <a:lnTo>
                  <a:pt x="246" y="23"/>
                </a:lnTo>
                <a:lnTo>
                  <a:pt x="229" y="22"/>
                </a:lnTo>
                <a:lnTo>
                  <a:pt x="213" y="22"/>
                </a:lnTo>
                <a:lnTo>
                  <a:pt x="196" y="22"/>
                </a:lnTo>
                <a:lnTo>
                  <a:pt x="180" y="22"/>
                </a:lnTo>
                <a:lnTo>
                  <a:pt x="164" y="22"/>
                </a:lnTo>
                <a:lnTo>
                  <a:pt x="147" y="22"/>
                </a:lnTo>
                <a:lnTo>
                  <a:pt x="131" y="22"/>
                </a:lnTo>
                <a:lnTo>
                  <a:pt x="114" y="21"/>
                </a:lnTo>
                <a:lnTo>
                  <a:pt x="98" y="21"/>
                </a:lnTo>
                <a:lnTo>
                  <a:pt x="82" y="21"/>
                </a:lnTo>
                <a:lnTo>
                  <a:pt x="65" y="21"/>
                </a:lnTo>
                <a:lnTo>
                  <a:pt x="49" y="21"/>
                </a:lnTo>
                <a:lnTo>
                  <a:pt x="33" y="21"/>
                </a:lnTo>
                <a:lnTo>
                  <a:pt x="16" y="21"/>
                </a:lnTo>
                <a:lnTo>
                  <a:pt x="0" y="2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886325"/>
            <a:ext cx="3743325" cy="1190625"/>
          </a:xfrm>
          <a:custGeom>
            <a:avLst/>
            <a:gdLst/>
            <a:ahLst/>
            <a:cxnLst/>
            <a:rect l="l" t="t" r="r" b="b"/>
            <a:pathLst>
              <a:path w="393" h="125">
                <a:moveTo>
                  <a:pt x="0" y="0"/>
                </a:moveTo>
                <a:lnTo>
                  <a:pt x="16" y="1"/>
                </a:lnTo>
                <a:lnTo>
                  <a:pt x="33" y="2"/>
                </a:lnTo>
                <a:lnTo>
                  <a:pt x="49" y="5"/>
                </a:lnTo>
                <a:lnTo>
                  <a:pt x="65" y="9"/>
                </a:lnTo>
                <a:lnTo>
                  <a:pt x="82" y="13"/>
                </a:lnTo>
                <a:lnTo>
                  <a:pt x="98" y="18"/>
                </a:lnTo>
                <a:lnTo>
                  <a:pt x="114" y="24"/>
                </a:lnTo>
                <a:lnTo>
                  <a:pt x="131" y="31"/>
                </a:lnTo>
                <a:lnTo>
                  <a:pt x="147" y="37"/>
                </a:lnTo>
                <a:lnTo>
                  <a:pt x="164" y="44"/>
                </a:lnTo>
                <a:lnTo>
                  <a:pt x="180" y="52"/>
                </a:lnTo>
                <a:lnTo>
                  <a:pt x="196" y="59"/>
                </a:lnTo>
                <a:lnTo>
                  <a:pt x="213" y="66"/>
                </a:lnTo>
                <a:lnTo>
                  <a:pt x="229" y="74"/>
                </a:lnTo>
                <a:lnTo>
                  <a:pt x="246" y="81"/>
                </a:lnTo>
                <a:lnTo>
                  <a:pt x="262" y="87"/>
                </a:lnTo>
                <a:lnTo>
                  <a:pt x="278" y="94"/>
                </a:lnTo>
                <a:lnTo>
                  <a:pt x="295" y="100"/>
                </a:lnTo>
                <a:lnTo>
                  <a:pt x="311" y="105"/>
                </a:lnTo>
                <a:lnTo>
                  <a:pt x="327" y="109"/>
                </a:lnTo>
                <a:lnTo>
                  <a:pt x="344" y="113"/>
                </a:lnTo>
                <a:lnTo>
                  <a:pt x="360" y="116"/>
                </a:lnTo>
                <a:lnTo>
                  <a:pt x="377" y="117"/>
                </a:lnTo>
                <a:lnTo>
                  <a:pt x="393" y="118"/>
                </a:lnTo>
                <a:lnTo>
                  <a:pt x="393" y="125"/>
                </a:lnTo>
                <a:lnTo>
                  <a:pt x="377" y="124"/>
                </a:lnTo>
                <a:lnTo>
                  <a:pt x="360" y="122"/>
                </a:lnTo>
                <a:lnTo>
                  <a:pt x="344" y="120"/>
                </a:lnTo>
                <a:lnTo>
                  <a:pt x="327" y="116"/>
                </a:lnTo>
                <a:lnTo>
                  <a:pt x="311" y="111"/>
                </a:lnTo>
                <a:lnTo>
                  <a:pt x="295" y="106"/>
                </a:lnTo>
                <a:lnTo>
                  <a:pt x="278" y="100"/>
                </a:lnTo>
                <a:lnTo>
                  <a:pt x="262" y="94"/>
                </a:lnTo>
                <a:lnTo>
                  <a:pt x="246" y="87"/>
                </a:lnTo>
                <a:lnTo>
                  <a:pt x="229" y="80"/>
                </a:lnTo>
                <a:lnTo>
                  <a:pt x="213" y="73"/>
                </a:lnTo>
                <a:lnTo>
                  <a:pt x="196" y="66"/>
                </a:lnTo>
                <a:lnTo>
                  <a:pt x="180" y="58"/>
                </a:lnTo>
                <a:lnTo>
                  <a:pt x="164" y="51"/>
                </a:lnTo>
                <a:lnTo>
                  <a:pt x="147" y="44"/>
                </a:lnTo>
                <a:lnTo>
                  <a:pt x="131" y="37"/>
                </a:lnTo>
                <a:lnTo>
                  <a:pt x="114" y="31"/>
                </a:lnTo>
                <a:lnTo>
                  <a:pt x="98" y="25"/>
                </a:lnTo>
                <a:lnTo>
                  <a:pt x="82" y="20"/>
                </a:lnTo>
                <a:lnTo>
                  <a:pt x="65" y="15"/>
                </a:lnTo>
                <a:lnTo>
                  <a:pt x="49" y="12"/>
                </a:lnTo>
                <a:lnTo>
                  <a:pt x="33" y="9"/>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905375"/>
            <a:ext cx="3743325" cy="295275"/>
          </a:xfrm>
          <a:custGeom>
            <a:avLst/>
            <a:gdLst/>
            <a:ahLst/>
            <a:cxnLst/>
            <a:rect l="l" t="t" r="r" b="b"/>
            <a:pathLst>
              <a:path w="393" h="31">
                <a:moveTo>
                  <a:pt x="0" y="11"/>
                </a:moveTo>
                <a:lnTo>
                  <a:pt x="16" y="11"/>
                </a:lnTo>
                <a:lnTo>
                  <a:pt x="33" y="10"/>
                </a:lnTo>
                <a:lnTo>
                  <a:pt x="49" y="10"/>
                </a:lnTo>
                <a:lnTo>
                  <a:pt x="65" y="10"/>
                </a:lnTo>
                <a:lnTo>
                  <a:pt x="82" y="9"/>
                </a:lnTo>
                <a:lnTo>
                  <a:pt x="98" y="9"/>
                </a:lnTo>
                <a:lnTo>
                  <a:pt x="114" y="8"/>
                </a:lnTo>
                <a:lnTo>
                  <a:pt x="131" y="8"/>
                </a:lnTo>
                <a:lnTo>
                  <a:pt x="147" y="7"/>
                </a:lnTo>
                <a:lnTo>
                  <a:pt x="164" y="7"/>
                </a:lnTo>
                <a:lnTo>
                  <a:pt x="180" y="6"/>
                </a:lnTo>
                <a:lnTo>
                  <a:pt x="196" y="5"/>
                </a:lnTo>
                <a:lnTo>
                  <a:pt x="213" y="5"/>
                </a:lnTo>
                <a:lnTo>
                  <a:pt x="229" y="4"/>
                </a:lnTo>
                <a:lnTo>
                  <a:pt x="246" y="4"/>
                </a:lnTo>
                <a:lnTo>
                  <a:pt x="262" y="3"/>
                </a:lnTo>
                <a:lnTo>
                  <a:pt x="278" y="2"/>
                </a:lnTo>
                <a:lnTo>
                  <a:pt x="295" y="2"/>
                </a:lnTo>
                <a:lnTo>
                  <a:pt x="311" y="1"/>
                </a:lnTo>
                <a:lnTo>
                  <a:pt x="327" y="1"/>
                </a:lnTo>
                <a:lnTo>
                  <a:pt x="344" y="1"/>
                </a:lnTo>
                <a:lnTo>
                  <a:pt x="360" y="0"/>
                </a:lnTo>
                <a:lnTo>
                  <a:pt x="377" y="0"/>
                </a:lnTo>
                <a:lnTo>
                  <a:pt x="393" y="0"/>
                </a:lnTo>
                <a:lnTo>
                  <a:pt x="393" y="21"/>
                </a:lnTo>
                <a:lnTo>
                  <a:pt x="377" y="21"/>
                </a:lnTo>
                <a:lnTo>
                  <a:pt x="360" y="21"/>
                </a:lnTo>
                <a:lnTo>
                  <a:pt x="344" y="21"/>
                </a:lnTo>
                <a:lnTo>
                  <a:pt x="327" y="22"/>
                </a:lnTo>
                <a:lnTo>
                  <a:pt x="311" y="22"/>
                </a:lnTo>
                <a:lnTo>
                  <a:pt x="295" y="22"/>
                </a:lnTo>
                <a:lnTo>
                  <a:pt x="278" y="23"/>
                </a:lnTo>
                <a:lnTo>
                  <a:pt x="262" y="24"/>
                </a:lnTo>
                <a:lnTo>
                  <a:pt x="246" y="24"/>
                </a:lnTo>
                <a:lnTo>
                  <a:pt x="229" y="25"/>
                </a:lnTo>
                <a:lnTo>
                  <a:pt x="213" y="25"/>
                </a:lnTo>
                <a:lnTo>
                  <a:pt x="196" y="26"/>
                </a:lnTo>
                <a:lnTo>
                  <a:pt x="180" y="27"/>
                </a:lnTo>
                <a:lnTo>
                  <a:pt x="164" y="27"/>
                </a:lnTo>
                <a:lnTo>
                  <a:pt x="147" y="28"/>
                </a:lnTo>
                <a:lnTo>
                  <a:pt x="131" y="29"/>
                </a:lnTo>
                <a:lnTo>
                  <a:pt x="114" y="29"/>
                </a:lnTo>
                <a:lnTo>
                  <a:pt x="98" y="30"/>
                </a:lnTo>
                <a:lnTo>
                  <a:pt x="82" y="30"/>
                </a:lnTo>
                <a:lnTo>
                  <a:pt x="65" y="30"/>
                </a:lnTo>
                <a:lnTo>
                  <a:pt x="49" y="31"/>
                </a:lnTo>
                <a:lnTo>
                  <a:pt x="33" y="31"/>
                </a:lnTo>
                <a:lnTo>
                  <a:pt x="16" y="31"/>
                </a:lnTo>
                <a:lnTo>
                  <a:pt x="0" y="3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200650"/>
            <a:ext cx="3743325" cy="933450"/>
          </a:xfrm>
          <a:custGeom>
            <a:avLst/>
            <a:gdLst/>
            <a:ahLst/>
            <a:cxnLst/>
            <a:rect l="l" t="t" r="r" b="b"/>
            <a:pathLst>
              <a:path w="393" h="98">
                <a:moveTo>
                  <a:pt x="0" y="0"/>
                </a:moveTo>
                <a:lnTo>
                  <a:pt x="16" y="1"/>
                </a:lnTo>
                <a:lnTo>
                  <a:pt x="33" y="2"/>
                </a:lnTo>
                <a:lnTo>
                  <a:pt x="49" y="4"/>
                </a:lnTo>
                <a:lnTo>
                  <a:pt x="65" y="7"/>
                </a:lnTo>
                <a:lnTo>
                  <a:pt x="82" y="10"/>
                </a:lnTo>
                <a:lnTo>
                  <a:pt x="98" y="14"/>
                </a:lnTo>
                <a:lnTo>
                  <a:pt x="114" y="19"/>
                </a:lnTo>
                <a:lnTo>
                  <a:pt x="131" y="24"/>
                </a:lnTo>
                <a:lnTo>
                  <a:pt x="147" y="29"/>
                </a:lnTo>
                <a:lnTo>
                  <a:pt x="164" y="35"/>
                </a:lnTo>
                <a:lnTo>
                  <a:pt x="180" y="40"/>
                </a:lnTo>
                <a:lnTo>
                  <a:pt x="196" y="46"/>
                </a:lnTo>
                <a:lnTo>
                  <a:pt x="213" y="52"/>
                </a:lnTo>
                <a:lnTo>
                  <a:pt x="229" y="57"/>
                </a:lnTo>
                <a:lnTo>
                  <a:pt x="246" y="63"/>
                </a:lnTo>
                <a:lnTo>
                  <a:pt x="262" y="68"/>
                </a:lnTo>
                <a:lnTo>
                  <a:pt x="278" y="73"/>
                </a:lnTo>
                <a:lnTo>
                  <a:pt x="295" y="77"/>
                </a:lnTo>
                <a:lnTo>
                  <a:pt x="311" y="81"/>
                </a:lnTo>
                <a:lnTo>
                  <a:pt x="327" y="85"/>
                </a:lnTo>
                <a:lnTo>
                  <a:pt x="344" y="88"/>
                </a:lnTo>
                <a:lnTo>
                  <a:pt x="360" y="90"/>
                </a:lnTo>
                <a:lnTo>
                  <a:pt x="377" y="91"/>
                </a:lnTo>
                <a:lnTo>
                  <a:pt x="393" y="92"/>
                </a:lnTo>
                <a:lnTo>
                  <a:pt x="393" y="98"/>
                </a:lnTo>
                <a:lnTo>
                  <a:pt x="377" y="98"/>
                </a:lnTo>
                <a:lnTo>
                  <a:pt x="360" y="97"/>
                </a:lnTo>
                <a:lnTo>
                  <a:pt x="344" y="94"/>
                </a:lnTo>
                <a:lnTo>
                  <a:pt x="327" y="92"/>
                </a:lnTo>
                <a:lnTo>
                  <a:pt x="311" y="88"/>
                </a:lnTo>
                <a:lnTo>
                  <a:pt x="295" y="84"/>
                </a:lnTo>
                <a:lnTo>
                  <a:pt x="278" y="80"/>
                </a:lnTo>
                <a:lnTo>
                  <a:pt x="262" y="75"/>
                </a:lnTo>
                <a:lnTo>
                  <a:pt x="246" y="69"/>
                </a:lnTo>
                <a:lnTo>
                  <a:pt x="229" y="64"/>
                </a:lnTo>
                <a:lnTo>
                  <a:pt x="213" y="58"/>
                </a:lnTo>
                <a:lnTo>
                  <a:pt x="196" y="53"/>
                </a:lnTo>
                <a:lnTo>
                  <a:pt x="180" y="47"/>
                </a:lnTo>
                <a:lnTo>
                  <a:pt x="164" y="41"/>
                </a:lnTo>
                <a:lnTo>
                  <a:pt x="147" y="36"/>
                </a:lnTo>
                <a:lnTo>
                  <a:pt x="131" y="31"/>
                </a:lnTo>
                <a:lnTo>
                  <a:pt x="114" y="26"/>
                </a:lnTo>
                <a:lnTo>
                  <a:pt x="98" y="21"/>
                </a:lnTo>
                <a:lnTo>
                  <a:pt x="82" y="17"/>
                </a:lnTo>
                <a:lnTo>
                  <a:pt x="65" y="14"/>
                </a:lnTo>
                <a:lnTo>
                  <a:pt x="49" y="11"/>
                </a:lnTo>
                <a:lnTo>
                  <a:pt x="33" y="9"/>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105400"/>
            <a:ext cx="3743325" cy="409575"/>
          </a:xfrm>
          <a:custGeom>
            <a:avLst/>
            <a:gdLst/>
            <a:ahLst/>
            <a:cxnLst/>
            <a:rect l="l" t="t" r="r" b="b"/>
            <a:pathLst>
              <a:path w="393" h="43">
                <a:moveTo>
                  <a:pt x="0" y="23"/>
                </a:moveTo>
                <a:lnTo>
                  <a:pt x="16" y="23"/>
                </a:lnTo>
                <a:lnTo>
                  <a:pt x="33" y="22"/>
                </a:lnTo>
                <a:lnTo>
                  <a:pt x="49" y="22"/>
                </a:lnTo>
                <a:lnTo>
                  <a:pt x="65" y="21"/>
                </a:lnTo>
                <a:lnTo>
                  <a:pt x="82" y="20"/>
                </a:lnTo>
                <a:lnTo>
                  <a:pt x="98" y="19"/>
                </a:lnTo>
                <a:lnTo>
                  <a:pt x="114" y="18"/>
                </a:lnTo>
                <a:lnTo>
                  <a:pt x="131" y="17"/>
                </a:lnTo>
                <a:lnTo>
                  <a:pt x="147" y="16"/>
                </a:lnTo>
                <a:lnTo>
                  <a:pt x="164" y="14"/>
                </a:lnTo>
                <a:lnTo>
                  <a:pt x="180" y="13"/>
                </a:lnTo>
                <a:lnTo>
                  <a:pt x="196" y="11"/>
                </a:lnTo>
                <a:lnTo>
                  <a:pt x="213" y="10"/>
                </a:lnTo>
                <a:lnTo>
                  <a:pt x="229" y="9"/>
                </a:lnTo>
                <a:lnTo>
                  <a:pt x="246" y="7"/>
                </a:lnTo>
                <a:lnTo>
                  <a:pt x="262" y="6"/>
                </a:lnTo>
                <a:lnTo>
                  <a:pt x="278" y="5"/>
                </a:lnTo>
                <a:lnTo>
                  <a:pt x="295" y="3"/>
                </a:lnTo>
                <a:lnTo>
                  <a:pt x="311" y="2"/>
                </a:lnTo>
                <a:lnTo>
                  <a:pt x="327" y="2"/>
                </a:lnTo>
                <a:lnTo>
                  <a:pt x="344" y="1"/>
                </a:lnTo>
                <a:lnTo>
                  <a:pt x="360" y="0"/>
                </a:lnTo>
                <a:lnTo>
                  <a:pt x="377" y="0"/>
                </a:lnTo>
                <a:lnTo>
                  <a:pt x="393" y="0"/>
                </a:lnTo>
                <a:lnTo>
                  <a:pt x="393" y="20"/>
                </a:lnTo>
                <a:lnTo>
                  <a:pt x="377" y="21"/>
                </a:lnTo>
                <a:lnTo>
                  <a:pt x="360" y="21"/>
                </a:lnTo>
                <a:lnTo>
                  <a:pt x="344" y="21"/>
                </a:lnTo>
                <a:lnTo>
                  <a:pt x="327" y="22"/>
                </a:lnTo>
                <a:lnTo>
                  <a:pt x="311" y="23"/>
                </a:lnTo>
                <a:lnTo>
                  <a:pt x="295" y="24"/>
                </a:lnTo>
                <a:lnTo>
                  <a:pt x="278" y="25"/>
                </a:lnTo>
                <a:lnTo>
                  <a:pt x="262" y="26"/>
                </a:lnTo>
                <a:lnTo>
                  <a:pt x="246" y="28"/>
                </a:lnTo>
                <a:lnTo>
                  <a:pt x="229" y="29"/>
                </a:lnTo>
                <a:lnTo>
                  <a:pt x="213" y="31"/>
                </a:lnTo>
                <a:lnTo>
                  <a:pt x="196" y="32"/>
                </a:lnTo>
                <a:lnTo>
                  <a:pt x="180" y="33"/>
                </a:lnTo>
                <a:lnTo>
                  <a:pt x="164" y="35"/>
                </a:lnTo>
                <a:lnTo>
                  <a:pt x="147" y="36"/>
                </a:lnTo>
                <a:lnTo>
                  <a:pt x="131" y="38"/>
                </a:lnTo>
                <a:lnTo>
                  <a:pt x="114" y="39"/>
                </a:lnTo>
                <a:lnTo>
                  <a:pt x="98" y="40"/>
                </a:lnTo>
                <a:lnTo>
                  <a:pt x="82" y="41"/>
                </a:lnTo>
                <a:lnTo>
                  <a:pt x="65" y="42"/>
                </a:lnTo>
                <a:lnTo>
                  <a:pt x="49" y="42"/>
                </a:lnTo>
                <a:lnTo>
                  <a:pt x="33" y="43"/>
                </a:lnTo>
                <a:lnTo>
                  <a:pt x="16" y="43"/>
                </a:lnTo>
                <a:lnTo>
                  <a:pt x="0" y="4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514975"/>
            <a:ext cx="3743325" cy="685800"/>
          </a:xfrm>
          <a:custGeom>
            <a:avLst/>
            <a:gdLst/>
            <a:ahLst/>
            <a:cxnLst/>
            <a:rect l="l" t="t" r="r" b="b"/>
            <a:pathLst>
              <a:path w="393" h="72">
                <a:moveTo>
                  <a:pt x="0" y="0"/>
                </a:moveTo>
                <a:lnTo>
                  <a:pt x="16" y="1"/>
                </a:lnTo>
                <a:lnTo>
                  <a:pt x="33" y="2"/>
                </a:lnTo>
                <a:lnTo>
                  <a:pt x="49" y="3"/>
                </a:lnTo>
                <a:lnTo>
                  <a:pt x="65" y="5"/>
                </a:lnTo>
                <a:lnTo>
                  <a:pt x="82" y="8"/>
                </a:lnTo>
                <a:lnTo>
                  <a:pt x="98" y="11"/>
                </a:lnTo>
                <a:lnTo>
                  <a:pt x="114" y="14"/>
                </a:lnTo>
                <a:lnTo>
                  <a:pt x="131" y="17"/>
                </a:lnTo>
                <a:lnTo>
                  <a:pt x="147" y="21"/>
                </a:lnTo>
                <a:lnTo>
                  <a:pt x="164" y="25"/>
                </a:lnTo>
                <a:lnTo>
                  <a:pt x="180" y="29"/>
                </a:lnTo>
                <a:lnTo>
                  <a:pt x="196" y="33"/>
                </a:lnTo>
                <a:lnTo>
                  <a:pt x="213" y="37"/>
                </a:lnTo>
                <a:lnTo>
                  <a:pt x="229" y="41"/>
                </a:lnTo>
                <a:lnTo>
                  <a:pt x="246" y="45"/>
                </a:lnTo>
                <a:lnTo>
                  <a:pt x="262" y="49"/>
                </a:lnTo>
                <a:lnTo>
                  <a:pt x="278" y="52"/>
                </a:lnTo>
                <a:lnTo>
                  <a:pt x="295" y="55"/>
                </a:lnTo>
                <a:lnTo>
                  <a:pt x="311" y="58"/>
                </a:lnTo>
                <a:lnTo>
                  <a:pt x="327" y="61"/>
                </a:lnTo>
                <a:lnTo>
                  <a:pt x="344" y="63"/>
                </a:lnTo>
                <a:lnTo>
                  <a:pt x="360" y="64"/>
                </a:lnTo>
                <a:lnTo>
                  <a:pt x="377" y="65"/>
                </a:lnTo>
                <a:lnTo>
                  <a:pt x="393" y="65"/>
                </a:lnTo>
                <a:lnTo>
                  <a:pt x="393" y="72"/>
                </a:lnTo>
                <a:lnTo>
                  <a:pt x="377" y="72"/>
                </a:lnTo>
                <a:lnTo>
                  <a:pt x="360" y="71"/>
                </a:lnTo>
                <a:lnTo>
                  <a:pt x="344" y="69"/>
                </a:lnTo>
                <a:lnTo>
                  <a:pt x="327" y="67"/>
                </a:lnTo>
                <a:lnTo>
                  <a:pt x="311" y="65"/>
                </a:lnTo>
                <a:lnTo>
                  <a:pt x="295" y="62"/>
                </a:lnTo>
                <a:lnTo>
                  <a:pt x="278" y="59"/>
                </a:lnTo>
                <a:lnTo>
                  <a:pt x="262" y="55"/>
                </a:lnTo>
                <a:lnTo>
                  <a:pt x="246" y="51"/>
                </a:lnTo>
                <a:lnTo>
                  <a:pt x="229" y="48"/>
                </a:lnTo>
                <a:lnTo>
                  <a:pt x="213" y="44"/>
                </a:lnTo>
                <a:lnTo>
                  <a:pt x="196" y="40"/>
                </a:lnTo>
                <a:lnTo>
                  <a:pt x="180" y="36"/>
                </a:lnTo>
                <a:lnTo>
                  <a:pt x="164" y="32"/>
                </a:lnTo>
                <a:lnTo>
                  <a:pt x="147" y="28"/>
                </a:lnTo>
                <a:lnTo>
                  <a:pt x="131" y="24"/>
                </a:lnTo>
                <a:lnTo>
                  <a:pt x="114" y="20"/>
                </a:lnTo>
                <a:lnTo>
                  <a:pt x="98" y="17"/>
                </a:lnTo>
                <a:lnTo>
                  <a:pt x="82" y="14"/>
                </a:lnTo>
                <a:lnTo>
                  <a:pt x="65" y="12"/>
                </a:lnTo>
                <a:lnTo>
                  <a:pt x="49" y="10"/>
                </a:lnTo>
                <a:lnTo>
                  <a:pt x="33" y="8"/>
                </a:lnTo>
                <a:lnTo>
                  <a:pt x="16" y="7"/>
                </a:lnTo>
                <a:lnTo>
                  <a:pt x="0" y="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5295900"/>
            <a:ext cx="3743325" cy="542925"/>
          </a:xfrm>
          <a:custGeom>
            <a:avLst/>
            <a:gdLst/>
            <a:ahLst/>
            <a:cxnLst/>
            <a:rect l="l" t="t" r="r" b="b"/>
            <a:pathLst>
              <a:path w="393" h="57">
                <a:moveTo>
                  <a:pt x="0" y="36"/>
                </a:moveTo>
                <a:lnTo>
                  <a:pt x="16" y="36"/>
                </a:lnTo>
                <a:lnTo>
                  <a:pt x="33" y="35"/>
                </a:lnTo>
                <a:lnTo>
                  <a:pt x="49" y="35"/>
                </a:lnTo>
                <a:lnTo>
                  <a:pt x="65" y="34"/>
                </a:lnTo>
                <a:lnTo>
                  <a:pt x="82" y="32"/>
                </a:lnTo>
                <a:lnTo>
                  <a:pt x="98" y="31"/>
                </a:lnTo>
                <a:lnTo>
                  <a:pt x="114" y="29"/>
                </a:lnTo>
                <a:lnTo>
                  <a:pt x="131" y="27"/>
                </a:lnTo>
                <a:lnTo>
                  <a:pt x="147" y="25"/>
                </a:lnTo>
                <a:lnTo>
                  <a:pt x="164" y="23"/>
                </a:lnTo>
                <a:lnTo>
                  <a:pt x="180" y="21"/>
                </a:lnTo>
                <a:lnTo>
                  <a:pt x="196" y="18"/>
                </a:lnTo>
                <a:lnTo>
                  <a:pt x="213" y="16"/>
                </a:lnTo>
                <a:lnTo>
                  <a:pt x="229" y="14"/>
                </a:lnTo>
                <a:lnTo>
                  <a:pt x="246" y="12"/>
                </a:lnTo>
                <a:lnTo>
                  <a:pt x="262" y="10"/>
                </a:lnTo>
                <a:lnTo>
                  <a:pt x="278" y="8"/>
                </a:lnTo>
                <a:lnTo>
                  <a:pt x="295" y="6"/>
                </a:lnTo>
                <a:lnTo>
                  <a:pt x="311" y="4"/>
                </a:lnTo>
                <a:lnTo>
                  <a:pt x="327" y="3"/>
                </a:lnTo>
                <a:lnTo>
                  <a:pt x="344" y="2"/>
                </a:lnTo>
                <a:lnTo>
                  <a:pt x="360" y="1"/>
                </a:lnTo>
                <a:lnTo>
                  <a:pt x="377" y="1"/>
                </a:lnTo>
                <a:lnTo>
                  <a:pt x="393" y="0"/>
                </a:lnTo>
                <a:lnTo>
                  <a:pt x="393" y="21"/>
                </a:lnTo>
                <a:lnTo>
                  <a:pt x="377" y="21"/>
                </a:lnTo>
                <a:lnTo>
                  <a:pt x="360" y="22"/>
                </a:lnTo>
                <a:lnTo>
                  <a:pt x="344" y="23"/>
                </a:lnTo>
                <a:lnTo>
                  <a:pt x="327" y="24"/>
                </a:lnTo>
                <a:lnTo>
                  <a:pt x="311" y="25"/>
                </a:lnTo>
                <a:lnTo>
                  <a:pt x="295" y="27"/>
                </a:lnTo>
                <a:lnTo>
                  <a:pt x="278" y="28"/>
                </a:lnTo>
                <a:lnTo>
                  <a:pt x="262" y="30"/>
                </a:lnTo>
                <a:lnTo>
                  <a:pt x="246" y="32"/>
                </a:lnTo>
                <a:lnTo>
                  <a:pt x="229" y="35"/>
                </a:lnTo>
                <a:lnTo>
                  <a:pt x="213" y="37"/>
                </a:lnTo>
                <a:lnTo>
                  <a:pt x="196" y="39"/>
                </a:lnTo>
                <a:lnTo>
                  <a:pt x="180" y="41"/>
                </a:lnTo>
                <a:lnTo>
                  <a:pt x="164" y="43"/>
                </a:lnTo>
                <a:lnTo>
                  <a:pt x="147" y="45"/>
                </a:lnTo>
                <a:lnTo>
                  <a:pt x="131" y="48"/>
                </a:lnTo>
                <a:lnTo>
                  <a:pt x="114" y="49"/>
                </a:lnTo>
                <a:lnTo>
                  <a:pt x="98" y="51"/>
                </a:lnTo>
                <a:lnTo>
                  <a:pt x="82" y="53"/>
                </a:lnTo>
                <a:lnTo>
                  <a:pt x="65" y="54"/>
                </a:lnTo>
                <a:lnTo>
                  <a:pt x="49" y="55"/>
                </a:lnTo>
                <a:lnTo>
                  <a:pt x="33" y="56"/>
                </a:lnTo>
                <a:lnTo>
                  <a:pt x="16" y="57"/>
                </a:lnTo>
                <a:lnTo>
                  <a:pt x="0" y="5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838825"/>
            <a:ext cx="3743325" cy="428625"/>
          </a:xfrm>
          <a:custGeom>
            <a:avLst/>
            <a:gdLst/>
            <a:ahLst/>
            <a:cxnLst/>
            <a:rect l="l" t="t" r="r" b="b"/>
            <a:pathLst>
              <a:path w="393" h="45">
                <a:moveTo>
                  <a:pt x="0" y="0"/>
                </a:moveTo>
                <a:lnTo>
                  <a:pt x="16" y="0"/>
                </a:lnTo>
                <a:lnTo>
                  <a:pt x="33" y="1"/>
                </a:lnTo>
                <a:lnTo>
                  <a:pt x="49" y="1"/>
                </a:lnTo>
                <a:lnTo>
                  <a:pt x="65" y="3"/>
                </a:lnTo>
                <a:lnTo>
                  <a:pt x="82" y="4"/>
                </a:lnTo>
                <a:lnTo>
                  <a:pt x="98" y="6"/>
                </a:lnTo>
                <a:lnTo>
                  <a:pt x="114" y="8"/>
                </a:lnTo>
                <a:lnTo>
                  <a:pt x="131" y="10"/>
                </a:lnTo>
                <a:lnTo>
                  <a:pt x="147" y="12"/>
                </a:lnTo>
                <a:lnTo>
                  <a:pt x="164" y="14"/>
                </a:lnTo>
                <a:lnTo>
                  <a:pt x="180" y="17"/>
                </a:lnTo>
                <a:lnTo>
                  <a:pt x="196" y="19"/>
                </a:lnTo>
                <a:lnTo>
                  <a:pt x="213" y="21"/>
                </a:lnTo>
                <a:lnTo>
                  <a:pt x="229" y="24"/>
                </a:lnTo>
                <a:lnTo>
                  <a:pt x="246" y="26"/>
                </a:lnTo>
                <a:lnTo>
                  <a:pt x="262" y="28"/>
                </a:lnTo>
                <a:lnTo>
                  <a:pt x="278" y="30"/>
                </a:lnTo>
                <a:lnTo>
                  <a:pt x="295" y="32"/>
                </a:lnTo>
                <a:lnTo>
                  <a:pt x="311" y="34"/>
                </a:lnTo>
                <a:lnTo>
                  <a:pt x="327" y="35"/>
                </a:lnTo>
                <a:lnTo>
                  <a:pt x="344" y="36"/>
                </a:lnTo>
                <a:lnTo>
                  <a:pt x="360" y="37"/>
                </a:lnTo>
                <a:lnTo>
                  <a:pt x="377" y="38"/>
                </a:lnTo>
                <a:lnTo>
                  <a:pt x="393" y="38"/>
                </a:lnTo>
                <a:lnTo>
                  <a:pt x="393" y="45"/>
                </a:lnTo>
                <a:lnTo>
                  <a:pt x="377" y="44"/>
                </a:lnTo>
                <a:lnTo>
                  <a:pt x="360" y="44"/>
                </a:lnTo>
                <a:lnTo>
                  <a:pt x="344" y="43"/>
                </a:lnTo>
                <a:lnTo>
                  <a:pt x="327" y="42"/>
                </a:lnTo>
                <a:lnTo>
                  <a:pt x="311" y="40"/>
                </a:lnTo>
                <a:lnTo>
                  <a:pt x="295" y="39"/>
                </a:lnTo>
                <a:lnTo>
                  <a:pt x="278" y="37"/>
                </a:lnTo>
                <a:lnTo>
                  <a:pt x="262" y="35"/>
                </a:lnTo>
                <a:lnTo>
                  <a:pt x="246" y="33"/>
                </a:lnTo>
                <a:lnTo>
                  <a:pt x="229" y="30"/>
                </a:lnTo>
                <a:lnTo>
                  <a:pt x="213" y="28"/>
                </a:lnTo>
                <a:lnTo>
                  <a:pt x="196" y="26"/>
                </a:lnTo>
                <a:lnTo>
                  <a:pt x="180" y="23"/>
                </a:lnTo>
                <a:lnTo>
                  <a:pt x="164" y="21"/>
                </a:lnTo>
                <a:lnTo>
                  <a:pt x="147" y="19"/>
                </a:lnTo>
                <a:lnTo>
                  <a:pt x="131" y="16"/>
                </a:lnTo>
                <a:lnTo>
                  <a:pt x="114" y="14"/>
                </a:lnTo>
                <a:lnTo>
                  <a:pt x="98" y="12"/>
                </a:lnTo>
                <a:lnTo>
                  <a:pt x="82" y="11"/>
                </a:lnTo>
                <a:lnTo>
                  <a:pt x="65" y="9"/>
                </a:lnTo>
                <a:lnTo>
                  <a:pt x="49" y="8"/>
                </a:lnTo>
                <a:lnTo>
                  <a:pt x="33" y="7"/>
                </a:lnTo>
                <a:lnTo>
                  <a:pt x="16" y="7"/>
                </a:lnTo>
                <a:lnTo>
                  <a:pt x="0" y="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495925"/>
            <a:ext cx="3743325" cy="657225"/>
          </a:xfrm>
          <a:custGeom>
            <a:avLst/>
            <a:gdLst/>
            <a:ahLst/>
            <a:cxnLst/>
            <a:rect l="l" t="t" r="r" b="b"/>
            <a:pathLst>
              <a:path w="393" h="69">
                <a:moveTo>
                  <a:pt x="0" y="48"/>
                </a:moveTo>
                <a:lnTo>
                  <a:pt x="16" y="48"/>
                </a:lnTo>
                <a:lnTo>
                  <a:pt x="33" y="47"/>
                </a:lnTo>
                <a:lnTo>
                  <a:pt x="49" y="46"/>
                </a:lnTo>
                <a:lnTo>
                  <a:pt x="65" y="45"/>
                </a:lnTo>
                <a:lnTo>
                  <a:pt x="82" y="43"/>
                </a:lnTo>
                <a:lnTo>
                  <a:pt x="98" y="41"/>
                </a:lnTo>
                <a:lnTo>
                  <a:pt x="114" y="38"/>
                </a:lnTo>
                <a:lnTo>
                  <a:pt x="131" y="36"/>
                </a:lnTo>
                <a:lnTo>
                  <a:pt x="147" y="33"/>
                </a:lnTo>
                <a:lnTo>
                  <a:pt x="164" y="30"/>
                </a:lnTo>
                <a:lnTo>
                  <a:pt x="180" y="27"/>
                </a:lnTo>
                <a:lnTo>
                  <a:pt x="196" y="24"/>
                </a:lnTo>
                <a:lnTo>
                  <a:pt x="213" y="21"/>
                </a:lnTo>
                <a:lnTo>
                  <a:pt x="229" y="18"/>
                </a:lnTo>
                <a:lnTo>
                  <a:pt x="246" y="15"/>
                </a:lnTo>
                <a:lnTo>
                  <a:pt x="262" y="13"/>
                </a:lnTo>
                <a:lnTo>
                  <a:pt x="278" y="10"/>
                </a:lnTo>
                <a:lnTo>
                  <a:pt x="295" y="8"/>
                </a:lnTo>
                <a:lnTo>
                  <a:pt x="311" y="6"/>
                </a:lnTo>
                <a:lnTo>
                  <a:pt x="327" y="4"/>
                </a:lnTo>
                <a:lnTo>
                  <a:pt x="344" y="2"/>
                </a:lnTo>
                <a:lnTo>
                  <a:pt x="360" y="1"/>
                </a:lnTo>
                <a:lnTo>
                  <a:pt x="377" y="0"/>
                </a:lnTo>
                <a:lnTo>
                  <a:pt x="393" y="0"/>
                </a:lnTo>
                <a:lnTo>
                  <a:pt x="393" y="21"/>
                </a:lnTo>
                <a:lnTo>
                  <a:pt x="377" y="21"/>
                </a:lnTo>
                <a:lnTo>
                  <a:pt x="360" y="22"/>
                </a:lnTo>
                <a:lnTo>
                  <a:pt x="344" y="23"/>
                </a:lnTo>
                <a:lnTo>
                  <a:pt x="327" y="24"/>
                </a:lnTo>
                <a:lnTo>
                  <a:pt x="311" y="26"/>
                </a:lnTo>
                <a:lnTo>
                  <a:pt x="295" y="28"/>
                </a:lnTo>
                <a:lnTo>
                  <a:pt x="278" y="31"/>
                </a:lnTo>
                <a:lnTo>
                  <a:pt x="262" y="33"/>
                </a:lnTo>
                <a:lnTo>
                  <a:pt x="246" y="36"/>
                </a:lnTo>
                <a:lnTo>
                  <a:pt x="229" y="39"/>
                </a:lnTo>
                <a:lnTo>
                  <a:pt x="213" y="42"/>
                </a:lnTo>
                <a:lnTo>
                  <a:pt x="196" y="45"/>
                </a:lnTo>
                <a:lnTo>
                  <a:pt x="180" y="48"/>
                </a:lnTo>
                <a:lnTo>
                  <a:pt x="164" y="51"/>
                </a:lnTo>
                <a:lnTo>
                  <a:pt x="147" y="54"/>
                </a:lnTo>
                <a:lnTo>
                  <a:pt x="131" y="57"/>
                </a:lnTo>
                <a:lnTo>
                  <a:pt x="114" y="59"/>
                </a:lnTo>
                <a:lnTo>
                  <a:pt x="98" y="62"/>
                </a:lnTo>
                <a:lnTo>
                  <a:pt x="82" y="64"/>
                </a:lnTo>
                <a:lnTo>
                  <a:pt x="65" y="65"/>
                </a:lnTo>
                <a:lnTo>
                  <a:pt x="49" y="67"/>
                </a:lnTo>
                <a:lnTo>
                  <a:pt x="33" y="68"/>
                </a:lnTo>
                <a:lnTo>
                  <a:pt x="16" y="69"/>
                </a:lnTo>
                <a:lnTo>
                  <a:pt x="0" y="6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6153150"/>
            <a:ext cx="3743325" cy="171450"/>
          </a:xfrm>
          <a:custGeom>
            <a:avLst/>
            <a:gdLst/>
            <a:ahLst/>
            <a:cxnLst/>
            <a:rect l="l" t="t" r="r" b="b"/>
            <a:pathLst>
              <a:path w="393" h="18">
                <a:moveTo>
                  <a:pt x="0" y="0"/>
                </a:moveTo>
                <a:lnTo>
                  <a:pt x="16" y="0"/>
                </a:lnTo>
                <a:lnTo>
                  <a:pt x="33" y="0"/>
                </a:lnTo>
                <a:lnTo>
                  <a:pt x="49" y="1"/>
                </a:lnTo>
                <a:lnTo>
                  <a:pt x="65" y="1"/>
                </a:lnTo>
                <a:lnTo>
                  <a:pt x="82" y="1"/>
                </a:lnTo>
                <a:lnTo>
                  <a:pt x="98" y="2"/>
                </a:lnTo>
                <a:lnTo>
                  <a:pt x="114" y="2"/>
                </a:lnTo>
                <a:lnTo>
                  <a:pt x="131" y="3"/>
                </a:lnTo>
                <a:lnTo>
                  <a:pt x="147" y="4"/>
                </a:lnTo>
                <a:lnTo>
                  <a:pt x="164" y="4"/>
                </a:lnTo>
                <a:lnTo>
                  <a:pt x="180" y="5"/>
                </a:lnTo>
                <a:lnTo>
                  <a:pt x="196" y="6"/>
                </a:lnTo>
                <a:lnTo>
                  <a:pt x="213" y="7"/>
                </a:lnTo>
                <a:lnTo>
                  <a:pt x="229" y="7"/>
                </a:lnTo>
                <a:lnTo>
                  <a:pt x="246" y="8"/>
                </a:lnTo>
                <a:lnTo>
                  <a:pt x="262" y="9"/>
                </a:lnTo>
                <a:lnTo>
                  <a:pt x="278" y="9"/>
                </a:lnTo>
                <a:lnTo>
                  <a:pt x="295" y="10"/>
                </a:lnTo>
                <a:lnTo>
                  <a:pt x="311" y="10"/>
                </a:lnTo>
                <a:lnTo>
                  <a:pt x="327" y="11"/>
                </a:lnTo>
                <a:lnTo>
                  <a:pt x="344" y="11"/>
                </a:lnTo>
                <a:lnTo>
                  <a:pt x="360" y="11"/>
                </a:lnTo>
                <a:lnTo>
                  <a:pt x="377" y="12"/>
                </a:lnTo>
                <a:lnTo>
                  <a:pt x="393" y="12"/>
                </a:lnTo>
                <a:lnTo>
                  <a:pt x="393" y="18"/>
                </a:lnTo>
                <a:lnTo>
                  <a:pt x="377" y="18"/>
                </a:lnTo>
                <a:lnTo>
                  <a:pt x="360" y="18"/>
                </a:lnTo>
                <a:lnTo>
                  <a:pt x="344" y="18"/>
                </a:lnTo>
                <a:lnTo>
                  <a:pt x="327" y="17"/>
                </a:lnTo>
                <a:lnTo>
                  <a:pt x="311" y="17"/>
                </a:lnTo>
                <a:lnTo>
                  <a:pt x="295" y="17"/>
                </a:lnTo>
                <a:lnTo>
                  <a:pt x="278" y="16"/>
                </a:lnTo>
                <a:lnTo>
                  <a:pt x="262" y="15"/>
                </a:lnTo>
                <a:lnTo>
                  <a:pt x="246" y="15"/>
                </a:lnTo>
                <a:lnTo>
                  <a:pt x="229" y="14"/>
                </a:lnTo>
                <a:lnTo>
                  <a:pt x="213" y="13"/>
                </a:lnTo>
                <a:lnTo>
                  <a:pt x="196" y="13"/>
                </a:lnTo>
                <a:lnTo>
                  <a:pt x="180" y="12"/>
                </a:lnTo>
                <a:lnTo>
                  <a:pt x="164" y="11"/>
                </a:lnTo>
                <a:lnTo>
                  <a:pt x="147" y="10"/>
                </a:lnTo>
                <a:lnTo>
                  <a:pt x="131" y="10"/>
                </a:lnTo>
                <a:lnTo>
                  <a:pt x="114" y="9"/>
                </a:lnTo>
                <a:lnTo>
                  <a:pt x="98" y="9"/>
                </a:lnTo>
                <a:lnTo>
                  <a:pt x="82" y="8"/>
                </a:lnTo>
                <a:lnTo>
                  <a:pt x="65" y="8"/>
                </a:lnTo>
                <a:lnTo>
                  <a:pt x="49" y="7"/>
                </a:lnTo>
                <a:lnTo>
                  <a:pt x="33" y="7"/>
                </a:lnTo>
                <a:lnTo>
                  <a:pt x="16" y="7"/>
                </a:lnTo>
                <a:lnTo>
                  <a:pt x="0" y="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5695950"/>
            <a:ext cx="3743325" cy="771525"/>
          </a:xfrm>
          <a:custGeom>
            <a:avLst/>
            <a:gdLst/>
            <a:ahLst/>
            <a:cxnLst/>
            <a:rect l="l" t="t" r="r" b="b"/>
            <a:pathLst>
              <a:path w="393" h="81">
                <a:moveTo>
                  <a:pt x="0" y="61"/>
                </a:moveTo>
                <a:lnTo>
                  <a:pt x="16" y="60"/>
                </a:lnTo>
                <a:lnTo>
                  <a:pt x="33" y="60"/>
                </a:lnTo>
                <a:lnTo>
                  <a:pt x="49" y="58"/>
                </a:lnTo>
                <a:lnTo>
                  <a:pt x="65" y="56"/>
                </a:lnTo>
                <a:lnTo>
                  <a:pt x="82" y="54"/>
                </a:lnTo>
                <a:lnTo>
                  <a:pt x="98" y="51"/>
                </a:lnTo>
                <a:lnTo>
                  <a:pt x="114" y="48"/>
                </a:lnTo>
                <a:lnTo>
                  <a:pt x="131" y="45"/>
                </a:lnTo>
                <a:lnTo>
                  <a:pt x="147" y="41"/>
                </a:lnTo>
                <a:lnTo>
                  <a:pt x="164" y="38"/>
                </a:lnTo>
                <a:lnTo>
                  <a:pt x="180" y="34"/>
                </a:lnTo>
                <a:lnTo>
                  <a:pt x="196" y="30"/>
                </a:lnTo>
                <a:lnTo>
                  <a:pt x="213" y="26"/>
                </a:lnTo>
                <a:lnTo>
                  <a:pt x="229" y="23"/>
                </a:lnTo>
                <a:lnTo>
                  <a:pt x="246" y="19"/>
                </a:lnTo>
                <a:lnTo>
                  <a:pt x="262" y="16"/>
                </a:lnTo>
                <a:lnTo>
                  <a:pt x="278" y="12"/>
                </a:lnTo>
                <a:lnTo>
                  <a:pt x="295" y="9"/>
                </a:lnTo>
                <a:lnTo>
                  <a:pt x="311" y="7"/>
                </a:lnTo>
                <a:lnTo>
                  <a:pt x="327" y="4"/>
                </a:lnTo>
                <a:lnTo>
                  <a:pt x="344" y="2"/>
                </a:lnTo>
                <a:lnTo>
                  <a:pt x="360" y="1"/>
                </a:lnTo>
                <a:lnTo>
                  <a:pt x="377" y="0"/>
                </a:lnTo>
                <a:lnTo>
                  <a:pt x="393" y="0"/>
                </a:lnTo>
                <a:lnTo>
                  <a:pt x="393" y="20"/>
                </a:lnTo>
                <a:lnTo>
                  <a:pt x="377" y="21"/>
                </a:lnTo>
                <a:lnTo>
                  <a:pt x="360" y="22"/>
                </a:lnTo>
                <a:lnTo>
                  <a:pt x="344" y="23"/>
                </a:lnTo>
                <a:lnTo>
                  <a:pt x="327" y="25"/>
                </a:lnTo>
                <a:lnTo>
                  <a:pt x="311" y="27"/>
                </a:lnTo>
                <a:lnTo>
                  <a:pt x="295" y="30"/>
                </a:lnTo>
                <a:lnTo>
                  <a:pt x="278" y="33"/>
                </a:lnTo>
                <a:lnTo>
                  <a:pt x="262" y="36"/>
                </a:lnTo>
                <a:lnTo>
                  <a:pt x="246" y="40"/>
                </a:lnTo>
                <a:lnTo>
                  <a:pt x="229" y="43"/>
                </a:lnTo>
                <a:lnTo>
                  <a:pt x="213" y="47"/>
                </a:lnTo>
                <a:lnTo>
                  <a:pt x="196" y="51"/>
                </a:lnTo>
                <a:lnTo>
                  <a:pt x="180" y="55"/>
                </a:lnTo>
                <a:lnTo>
                  <a:pt x="164" y="58"/>
                </a:lnTo>
                <a:lnTo>
                  <a:pt x="147" y="62"/>
                </a:lnTo>
                <a:lnTo>
                  <a:pt x="131" y="66"/>
                </a:lnTo>
                <a:lnTo>
                  <a:pt x="114" y="69"/>
                </a:lnTo>
                <a:lnTo>
                  <a:pt x="98" y="72"/>
                </a:lnTo>
                <a:lnTo>
                  <a:pt x="82" y="74"/>
                </a:lnTo>
                <a:lnTo>
                  <a:pt x="65" y="77"/>
                </a:lnTo>
                <a:lnTo>
                  <a:pt x="49" y="79"/>
                </a:lnTo>
                <a:lnTo>
                  <a:pt x="33" y="80"/>
                </a:lnTo>
                <a:lnTo>
                  <a:pt x="16" y="81"/>
                </a:lnTo>
                <a:lnTo>
                  <a:pt x="0" y="8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6324600"/>
            <a:ext cx="3743325" cy="209550"/>
          </a:xfrm>
          <a:custGeom>
            <a:avLst/>
            <a:gdLst/>
            <a:ahLst/>
            <a:cxnLst/>
            <a:rect l="l" t="t" r="r" b="b"/>
            <a:pathLst>
              <a:path w="393" h="22">
                <a:moveTo>
                  <a:pt x="0" y="15"/>
                </a:moveTo>
                <a:lnTo>
                  <a:pt x="16" y="15"/>
                </a:lnTo>
                <a:lnTo>
                  <a:pt x="33" y="15"/>
                </a:lnTo>
                <a:lnTo>
                  <a:pt x="49" y="15"/>
                </a:lnTo>
                <a:lnTo>
                  <a:pt x="65" y="14"/>
                </a:lnTo>
                <a:lnTo>
                  <a:pt x="82" y="14"/>
                </a:lnTo>
                <a:lnTo>
                  <a:pt x="98" y="13"/>
                </a:lnTo>
                <a:lnTo>
                  <a:pt x="114" y="12"/>
                </a:lnTo>
                <a:lnTo>
                  <a:pt x="131" y="11"/>
                </a:lnTo>
                <a:lnTo>
                  <a:pt x="147" y="11"/>
                </a:lnTo>
                <a:lnTo>
                  <a:pt x="164" y="10"/>
                </a:lnTo>
                <a:lnTo>
                  <a:pt x="180" y="9"/>
                </a:lnTo>
                <a:lnTo>
                  <a:pt x="196" y="8"/>
                </a:lnTo>
                <a:lnTo>
                  <a:pt x="213" y="7"/>
                </a:lnTo>
                <a:lnTo>
                  <a:pt x="229" y="6"/>
                </a:lnTo>
                <a:lnTo>
                  <a:pt x="246" y="5"/>
                </a:lnTo>
                <a:lnTo>
                  <a:pt x="262" y="4"/>
                </a:lnTo>
                <a:lnTo>
                  <a:pt x="278" y="3"/>
                </a:lnTo>
                <a:lnTo>
                  <a:pt x="295" y="3"/>
                </a:lnTo>
                <a:lnTo>
                  <a:pt x="311" y="2"/>
                </a:lnTo>
                <a:lnTo>
                  <a:pt x="327" y="1"/>
                </a:lnTo>
                <a:lnTo>
                  <a:pt x="344" y="1"/>
                </a:lnTo>
                <a:lnTo>
                  <a:pt x="360" y="1"/>
                </a:lnTo>
                <a:lnTo>
                  <a:pt x="377" y="0"/>
                </a:lnTo>
                <a:lnTo>
                  <a:pt x="393" y="0"/>
                </a:lnTo>
                <a:lnTo>
                  <a:pt x="393" y="7"/>
                </a:lnTo>
                <a:lnTo>
                  <a:pt x="377" y="7"/>
                </a:lnTo>
                <a:lnTo>
                  <a:pt x="360" y="7"/>
                </a:lnTo>
                <a:lnTo>
                  <a:pt x="344" y="8"/>
                </a:lnTo>
                <a:lnTo>
                  <a:pt x="327" y="8"/>
                </a:lnTo>
                <a:lnTo>
                  <a:pt x="311" y="9"/>
                </a:lnTo>
                <a:lnTo>
                  <a:pt x="295" y="9"/>
                </a:lnTo>
                <a:lnTo>
                  <a:pt x="278" y="10"/>
                </a:lnTo>
                <a:lnTo>
                  <a:pt x="262" y="11"/>
                </a:lnTo>
                <a:lnTo>
                  <a:pt x="246" y="12"/>
                </a:lnTo>
                <a:lnTo>
                  <a:pt x="229" y="13"/>
                </a:lnTo>
                <a:lnTo>
                  <a:pt x="213" y="14"/>
                </a:lnTo>
                <a:lnTo>
                  <a:pt x="196" y="14"/>
                </a:lnTo>
                <a:lnTo>
                  <a:pt x="180" y="15"/>
                </a:lnTo>
                <a:lnTo>
                  <a:pt x="164" y="16"/>
                </a:lnTo>
                <a:lnTo>
                  <a:pt x="147" y="17"/>
                </a:lnTo>
                <a:lnTo>
                  <a:pt x="131" y="18"/>
                </a:lnTo>
                <a:lnTo>
                  <a:pt x="114" y="19"/>
                </a:lnTo>
                <a:lnTo>
                  <a:pt x="98" y="20"/>
                </a:lnTo>
                <a:lnTo>
                  <a:pt x="82" y="20"/>
                </a:lnTo>
                <a:lnTo>
                  <a:pt x="65" y="21"/>
                </a:lnTo>
                <a:lnTo>
                  <a:pt x="49" y="21"/>
                </a:lnTo>
                <a:lnTo>
                  <a:pt x="33" y="22"/>
                </a:lnTo>
                <a:lnTo>
                  <a:pt x="16" y="22"/>
                </a:lnTo>
                <a:lnTo>
                  <a:pt x="0" y="2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4371975"/>
            <a:ext cx="114300" cy="259896"/>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41195" y="4689021"/>
            <a:ext cx="114300" cy="25989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5006068"/>
            <a:ext cx="114300" cy="25989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5323114"/>
            <a:ext cx="114300" cy="259896"/>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5640161"/>
            <a:ext cx="114300" cy="259896"/>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957207"/>
            <a:ext cx="114300" cy="25989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6274254"/>
            <a:ext cx="114300" cy="259896"/>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4514850"/>
            <a:ext cx="114300" cy="137498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5946982"/>
            <a:ext cx="114300" cy="44429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7175" y="443048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474753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5012191"/>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5329238"/>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569867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257175" y="5963331"/>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257175" y="633276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513090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609769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Rounded Rectangle 47"/>
          <p:cNvSpPr/>
          <p:nvPr/>
        </p:nvSpPr>
        <p:spPr>
          <a:xfrm>
            <a:off x="7581900" y="4048125"/>
            <a:ext cx="4457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15250" y="413385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0" name="Rectangle 49"/>
          <p:cNvSpPr/>
          <p:nvPr/>
        </p:nvSpPr>
        <p:spPr>
          <a:xfrm>
            <a:off x="7715250" y="43719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5250" y="4457700"/>
            <a:ext cx="41910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8616791" y="2451481"/>
            <a:ext cx="366712" cy="533400"/>
          </a:xfrm>
          <a:prstGeom prst="rect">
            <a:avLst/>
          </a:prstGeom>
        </p:spPr>
      </p:pic>
      <p:sp>
        <p:nvSpPr>
          <p:cNvPr id="54" name="TextBox 53"/>
          <p:cNvSpPr txBox="1"/>
          <p:nvPr/>
        </p:nvSpPr>
        <p:spPr>
          <a:xfrm>
            <a:off x="756112" y="4441573"/>
            <a:ext cx="1074181" cy="139750"/>
          </a:xfrm>
          <a:prstGeom prst="rect">
            <a:avLst/>
          </a:prstGeom>
          <a:noFill/>
        </p:spPr>
        <p:txBody>
          <a:bodyPr wrap="none" lIns="0" rIns="0" tIns="0" bIns="0">
            <a:spAutoFit/>
          </a:bodyPr>
          <a:lstStyle/>
          <a:p>
            <a:r>
              <a:rPr sz="791" b="1">
                <a:solidFill>
                  <a:srgbClr val="2E2E2E"/>
                </a:solidFill>
                <a:latin typeface="Calibri"/>
              </a:rPr>
              <a:t>Potted Flowering Plants</a:t>
            </a:r>
          </a:p>
        </p:txBody>
      </p:sp>
      <p:pic>
        <p:nvPicPr>
          <p:cNvPr id="55" name="Picture 54" descr="lock.png"/>
          <p:cNvPicPr>
            <a:picLocks noChangeAspect="1"/>
          </p:cNvPicPr>
          <p:nvPr/>
        </p:nvPicPr>
        <p:blipFill>
          <a:blip r:embed="rId4"/>
          <a:stretch>
            <a:fillRect/>
          </a:stretch>
        </p:blipFill>
        <p:spPr>
          <a:xfrm>
            <a:off x="1771555" y="4434532"/>
            <a:ext cx="92663" cy="134782"/>
          </a:xfrm>
          <a:prstGeom prst="rect">
            <a:avLst/>
          </a:prstGeom>
        </p:spPr>
      </p:pic>
      <p:sp>
        <p:nvSpPr>
          <p:cNvPr id="56" name="TextBox 55"/>
          <p:cNvSpPr txBox="1"/>
          <p:nvPr/>
        </p:nvSpPr>
        <p:spPr>
          <a:xfrm>
            <a:off x="871252" y="4758619"/>
            <a:ext cx="959041" cy="139750"/>
          </a:xfrm>
          <a:prstGeom prst="rect">
            <a:avLst/>
          </a:prstGeom>
          <a:noFill/>
        </p:spPr>
        <p:txBody>
          <a:bodyPr wrap="none" lIns="0" rIns="0" tIns="0" bIns="0">
            <a:spAutoFit/>
          </a:bodyPr>
          <a:lstStyle/>
          <a:p>
            <a:r>
              <a:rPr sz="791" b="1">
                <a:solidFill>
                  <a:srgbClr val="2E2E2E"/>
                </a:solidFill>
                <a:latin typeface="Calibri"/>
              </a:rPr>
              <a:t>Potted Foliage Plants</a:t>
            </a:r>
          </a:p>
        </p:txBody>
      </p:sp>
      <p:pic>
        <p:nvPicPr>
          <p:cNvPr id="57" name="Picture 56" descr="lock.png"/>
          <p:cNvPicPr>
            <a:picLocks noChangeAspect="1"/>
          </p:cNvPicPr>
          <p:nvPr/>
        </p:nvPicPr>
        <p:blipFill>
          <a:blip r:embed="rId4"/>
          <a:stretch>
            <a:fillRect/>
          </a:stretch>
        </p:blipFill>
        <p:spPr>
          <a:xfrm>
            <a:off x="1771555" y="4751578"/>
            <a:ext cx="92663" cy="134782"/>
          </a:xfrm>
          <a:prstGeom prst="rect">
            <a:avLst/>
          </a:prstGeom>
        </p:spPr>
      </p:pic>
      <p:sp>
        <p:nvSpPr>
          <p:cNvPr id="58" name="TextBox 57"/>
          <p:cNvSpPr txBox="1"/>
          <p:nvPr/>
        </p:nvSpPr>
        <p:spPr>
          <a:xfrm>
            <a:off x="382952" y="5015315"/>
            <a:ext cx="1482042" cy="139750"/>
          </a:xfrm>
          <a:prstGeom prst="rect">
            <a:avLst/>
          </a:prstGeom>
          <a:noFill/>
        </p:spPr>
        <p:txBody>
          <a:bodyPr wrap="none" lIns="0" rIns="0" tIns="0" bIns="0">
            <a:spAutoFit/>
          </a:bodyPr>
          <a:lstStyle/>
          <a:p>
            <a:r>
              <a:rPr sz="791" b="1">
                <a:solidFill>
                  <a:srgbClr val="2E2E2E"/>
                </a:solidFill>
                <a:latin typeface="Calibri"/>
              </a:rPr>
              <a:t>Bedding &amp; Garden Flowering Plants</a:t>
            </a:r>
          </a:p>
        </p:txBody>
      </p:sp>
      <p:pic>
        <p:nvPicPr>
          <p:cNvPr id="59" name="Picture 58" descr="lock.png"/>
          <p:cNvPicPr>
            <a:picLocks noChangeAspect="1"/>
          </p:cNvPicPr>
          <p:nvPr/>
        </p:nvPicPr>
        <p:blipFill>
          <a:blip r:embed="rId4"/>
          <a:stretch>
            <a:fillRect/>
          </a:stretch>
        </p:blipFill>
        <p:spPr>
          <a:xfrm>
            <a:off x="1771555" y="5128975"/>
            <a:ext cx="92663" cy="134782"/>
          </a:xfrm>
          <a:prstGeom prst="rect">
            <a:avLst/>
          </a:prstGeom>
        </p:spPr>
      </p:pic>
      <p:sp>
        <p:nvSpPr>
          <p:cNvPr id="60" name="TextBox 59"/>
          <p:cNvSpPr txBox="1"/>
          <p:nvPr/>
        </p:nvSpPr>
        <p:spPr>
          <a:xfrm>
            <a:off x="313015" y="5332362"/>
            <a:ext cx="1551979" cy="139750"/>
          </a:xfrm>
          <a:prstGeom prst="rect">
            <a:avLst/>
          </a:prstGeom>
          <a:noFill/>
        </p:spPr>
        <p:txBody>
          <a:bodyPr wrap="none" lIns="0" rIns="0" tIns="0" bIns="0">
            <a:spAutoFit/>
          </a:bodyPr>
          <a:lstStyle/>
          <a:p>
            <a:r>
              <a:rPr sz="791" b="1">
                <a:solidFill>
                  <a:srgbClr val="2E2E2E"/>
                </a:solidFill>
                <a:latin typeface="Calibri"/>
              </a:rPr>
              <a:t>Young Plants &amp; Propagation Material</a:t>
            </a:r>
          </a:p>
        </p:txBody>
      </p:sp>
      <p:pic>
        <p:nvPicPr>
          <p:cNvPr id="61" name="Picture 60" descr="lock.png"/>
          <p:cNvPicPr>
            <a:picLocks noChangeAspect="1"/>
          </p:cNvPicPr>
          <p:nvPr/>
        </p:nvPicPr>
        <p:blipFill>
          <a:blip r:embed="rId4"/>
          <a:stretch>
            <a:fillRect/>
          </a:stretch>
        </p:blipFill>
        <p:spPr>
          <a:xfrm>
            <a:off x="1771555" y="5446022"/>
            <a:ext cx="92663" cy="134782"/>
          </a:xfrm>
          <a:prstGeom prst="rect">
            <a:avLst/>
          </a:prstGeom>
        </p:spPr>
      </p:pic>
      <p:sp>
        <p:nvSpPr>
          <p:cNvPr id="62" name="TextBox 61"/>
          <p:cNvSpPr txBox="1"/>
          <p:nvPr/>
        </p:nvSpPr>
        <p:spPr>
          <a:xfrm>
            <a:off x="879503" y="5709759"/>
            <a:ext cx="950790" cy="139750"/>
          </a:xfrm>
          <a:prstGeom prst="rect">
            <a:avLst/>
          </a:prstGeom>
          <a:noFill/>
        </p:spPr>
        <p:txBody>
          <a:bodyPr wrap="none" lIns="0" rIns="0" tIns="0" bIns="0">
            <a:spAutoFit/>
          </a:bodyPr>
          <a:lstStyle/>
          <a:p>
            <a:r>
              <a:rPr sz="791" b="1">
                <a:solidFill>
                  <a:srgbClr val="2E2E2E"/>
                </a:solidFill>
                <a:latin typeface="Calibri"/>
              </a:rPr>
              <a:t>Cut Foliage &amp; Greens</a:t>
            </a:r>
          </a:p>
        </p:txBody>
      </p:sp>
      <p:pic>
        <p:nvPicPr>
          <p:cNvPr id="63" name="Picture 62" descr="lock.png"/>
          <p:cNvPicPr>
            <a:picLocks noChangeAspect="1"/>
          </p:cNvPicPr>
          <p:nvPr/>
        </p:nvPicPr>
        <p:blipFill>
          <a:blip r:embed="rId4"/>
          <a:stretch>
            <a:fillRect/>
          </a:stretch>
        </p:blipFill>
        <p:spPr>
          <a:xfrm>
            <a:off x="1771555" y="5702718"/>
            <a:ext cx="92663" cy="134782"/>
          </a:xfrm>
          <a:prstGeom prst="rect">
            <a:avLst/>
          </a:prstGeom>
        </p:spPr>
      </p:pic>
      <p:sp>
        <p:nvSpPr>
          <p:cNvPr id="64" name="TextBox 63"/>
          <p:cNvSpPr txBox="1"/>
          <p:nvPr/>
        </p:nvSpPr>
        <p:spPr>
          <a:xfrm>
            <a:off x="468213" y="5966455"/>
            <a:ext cx="1396781" cy="139750"/>
          </a:xfrm>
          <a:prstGeom prst="rect">
            <a:avLst/>
          </a:prstGeom>
          <a:noFill/>
        </p:spPr>
        <p:txBody>
          <a:bodyPr wrap="none" lIns="0" rIns="0" tIns="0" bIns="0">
            <a:spAutoFit/>
          </a:bodyPr>
          <a:lstStyle/>
          <a:p>
            <a:r>
              <a:rPr sz="791" b="1">
                <a:solidFill>
                  <a:srgbClr val="2E2E2E"/>
                </a:solidFill>
                <a:latin typeface="Calibri"/>
              </a:rPr>
              <a:t>Flower Bulbs, Corms, Rhizomes &amp;</a:t>
            </a:r>
          </a:p>
        </p:txBody>
      </p:sp>
      <p:sp>
        <p:nvSpPr>
          <p:cNvPr id="65" name="TextBox 64"/>
          <p:cNvSpPr txBox="1"/>
          <p:nvPr/>
        </p:nvSpPr>
        <p:spPr>
          <a:xfrm>
            <a:off x="1469630" y="6087156"/>
            <a:ext cx="360664" cy="139750"/>
          </a:xfrm>
          <a:prstGeom prst="rect">
            <a:avLst/>
          </a:prstGeom>
          <a:noFill/>
        </p:spPr>
        <p:txBody>
          <a:bodyPr wrap="none" lIns="0" rIns="0" tIns="0" bIns="0">
            <a:spAutoFit/>
          </a:bodyPr>
          <a:lstStyle/>
          <a:p>
            <a:r>
              <a:rPr sz="791" b="1">
                <a:solidFill>
                  <a:srgbClr val="2E2E2E"/>
                </a:solidFill>
                <a:latin typeface="Calibri"/>
              </a:rPr>
              <a:t>Tubers</a:t>
            </a:r>
          </a:p>
        </p:txBody>
      </p:sp>
      <p:pic>
        <p:nvPicPr>
          <p:cNvPr id="66" name="Picture 65" descr="lock.png"/>
          <p:cNvPicPr>
            <a:picLocks noChangeAspect="1"/>
          </p:cNvPicPr>
          <p:nvPr/>
        </p:nvPicPr>
        <p:blipFill>
          <a:blip r:embed="rId4"/>
          <a:stretch>
            <a:fillRect/>
          </a:stretch>
        </p:blipFill>
        <p:spPr>
          <a:xfrm>
            <a:off x="1771555" y="6080115"/>
            <a:ext cx="92663" cy="134782"/>
          </a:xfrm>
          <a:prstGeom prst="rect">
            <a:avLst/>
          </a:prstGeom>
        </p:spPr>
      </p:pic>
      <p:sp>
        <p:nvSpPr>
          <p:cNvPr id="67" name="TextBox 66"/>
          <p:cNvSpPr txBox="1"/>
          <p:nvPr/>
        </p:nvSpPr>
        <p:spPr>
          <a:xfrm>
            <a:off x="1262568" y="6343851"/>
            <a:ext cx="567725" cy="139750"/>
          </a:xfrm>
          <a:prstGeom prst="rect">
            <a:avLst/>
          </a:prstGeom>
          <a:noFill/>
        </p:spPr>
        <p:txBody>
          <a:bodyPr wrap="none" lIns="0" rIns="0" tIns="0" bIns="0">
            <a:spAutoFit/>
          </a:bodyPr>
          <a:lstStyle/>
          <a:p>
            <a:r>
              <a:rPr sz="791" b="1">
                <a:solidFill>
                  <a:srgbClr val="2E2E2E"/>
                </a:solidFill>
                <a:latin typeface="Calibri"/>
              </a:rPr>
              <a:t>Cut Flowers</a:t>
            </a:r>
          </a:p>
        </p:txBody>
      </p:sp>
      <p:pic>
        <p:nvPicPr>
          <p:cNvPr id="68" name="Picture 67" descr="lock.png"/>
          <p:cNvPicPr>
            <a:picLocks noChangeAspect="1"/>
          </p:cNvPicPr>
          <p:nvPr/>
        </p:nvPicPr>
        <p:blipFill>
          <a:blip r:embed="rId4"/>
          <a:stretch>
            <a:fillRect/>
          </a:stretch>
        </p:blipFill>
        <p:spPr>
          <a:xfrm>
            <a:off x="1771555" y="6336810"/>
            <a:ext cx="92663" cy="134782"/>
          </a:xfrm>
          <a:prstGeom prst="rect">
            <a:avLst/>
          </a:prstGeom>
        </p:spPr>
      </p:pic>
      <p:sp>
        <p:nvSpPr>
          <p:cNvPr id="69" name="TextBox 68"/>
          <p:cNvSpPr txBox="1"/>
          <p:nvPr/>
        </p:nvSpPr>
        <p:spPr>
          <a:xfrm>
            <a:off x="5972175" y="5141990"/>
            <a:ext cx="1013674" cy="139750"/>
          </a:xfrm>
          <a:prstGeom prst="rect">
            <a:avLst/>
          </a:prstGeom>
          <a:noFill/>
        </p:spPr>
        <p:txBody>
          <a:bodyPr wrap="none" lIns="0" rIns="0" tIns="0" bIns="0">
            <a:spAutoFit/>
          </a:bodyPr>
          <a:lstStyle/>
          <a:p>
            <a:r>
              <a:rPr sz="791" b="1">
                <a:solidFill>
                  <a:srgbClr val="2E2E2E"/>
                </a:solidFill>
                <a:latin typeface="Calibri"/>
              </a:rPr>
              <a:t>Open-Field Cultivation</a:t>
            </a:r>
          </a:p>
        </p:txBody>
      </p:sp>
      <p:pic>
        <p:nvPicPr>
          <p:cNvPr id="70" name="Picture 69" descr="lock.png"/>
          <p:cNvPicPr>
            <a:picLocks noChangeAspect="1"/>
          </p:cNvPicPr>
          <p:nvPr/>
        </p:nvPicPr>
        <p:blipFill>
          <a:blip r:embed="rId4"/>
          <a:stretch>
            <a:fillRect/>
          </a:stretch>
        </p:blipFill>
        <p:spPr>
          <a:xfrm>
            <a:off x="6927110" y="5134949"/>
            <a:ext cx="92663" cy="134782"/>
          </a:xfrm>
          <a:prstGeom prst="rect">
            <a:avLst/>
          </a:prstGeom>
        </p:spPr>
      </p:pic>
      <p:sp>
        <p:nvSpPr>
          <p:cNvPr id="71" name="TextBox 70"/>
          <p:cNvSpPr txBox="1"/>
          <p:nvPr/>
        </p:nvSpPr>
        <p:spPr>
          <a:xfrm>
            <a:off x="5972175" y="6108778"/>
            <a:ext cx="966525" cy="139750"/>
          </a:xfrm>
          <a:prstGeom prst="rect">
            <a:avLst/>
          </a:prstGeom>
          <a:noFill/>
        </p:spPr>
        <p:txBody>
          <a:bodyPr wrap="none" lIns="0" rIns="0" tIns="0" bIns="0">
            <a:spAutoFit/>
          </a:bodyPr>
          <a:lstStyle/>
          <a:p>
            <a:r>
              <a:rPr sz="791" b="1">
                <a:solidFill>
                  <a:srgbClr val="2E2E2E"/>
                </a:solidFill>
                <a:latin typeface="Calibri"/>
              </a:rPr>
              <a:t>Protected Cultivation</a:t>
            </a:r>
          </a:p>
        </p:txBody>
      </p:sp>
      <p:pic>
        <p:nvPicPr>
          <p:cNvPr id="72" name="Picture 71" descr="lock.png"/>
          <p:cNvPicPr>
            <a:picLocks noChangeAspect="1"/>
          </p:cNvPicPr>
          <p:nvPr/>
        </p:nvPicPr>
        <p:blipFill>
          <a:blip r:embed="rId4"/>
          <a:stretch>
            <a:fillRect/>
          </a:stretch>
        </p:blipFill>
        <p:spPr>
          <a:xfrm>
            <a:off x="6879961" y="6101737"/>
            <a:ext cx="92663" cy="134782"/>
          </a:xfrm>
          <a:prstGeom prst="rect">
            <a:avLst/>
          </a:prstGeom>
        </p:spPr>
      </p:pic>
      <p:sp>
        <p:nvSpPr>
          <p:cNvPr id="73" name="TextBox 72"/>
          <p:cNvSpPr txBox="1"/>
          <p:nvPr/>
        </p:nvSpPr>
        <p:spPr>
          <a:xfrm>
            <a:off x="7715250" y="4467225"/>
            <a:ext cx="3847827" cy="194310"/>
          </a:xfrm>
          <a:prstGeom prst="rect">
            <a:avLst/>
          </a:prstGeom>
          <a:noFill/>
        </p:spPr>
        <p:txBody>
          <a:bodyPr wrap="none" lIns="0" rIns="0" tIns="0" bIns="0">
            <a:spAutoFit/>
          </a:bodyPr>
          <a:lstStyle/>
          <a:p>
            <a:r>
              <a:rPr sz="1150" b="0">
                <a:solidFill>
                  <a:srgbClr val="2E2E2E"/>
                </a:solidFill>
                <a:latin typeface="Calibri"/>
              </a:rPr>
              <a:t>Potted flowering plants segment is projected to account for the</a:t>
            </a:r>
          </a:p>
        </p:txBody>
      </p:sp>
      <p:sp>
        <p:nvSpPr>
          <p:cNvPr id="74" name="TextBox 73"/>
          <p:cNvSpPr txBox="1"/>
          <p:nvPr/>
        </p:nvSpPr>
        <p:spPr>
          <a:xfrm>
            <a:off x="7715250" y="4642485"/>
            <a:ext cx="3842977" cy="194310"/>
          </a:xfrm>
          <a:prstGeom prst="rect">
            <a:avLst/>
          </a:prstGeom>
          <a:noFill/>
        </p:spPr>
        <p:txBody>
          <a:bodyPr wrap="none" lIns="0" rIns="0" tIns="0" bIns="0">
            <a:spAutoFit/>
          </a:bodyPr>
          <a:lstStyle/>
          <a:p>
            <a:r>
              <a:rPr sz="1150" b="0">
                <a:solidFill>
                  <a:srgbClr val="2E2E2E"/>
                </a:solidFill>
                <a:latin typeface="Calibri"/>
              </a:rPr>
              <a:t>largest share of the global floriculture market, led by open-field</a:t>
            </a:r>
          </a:p>
        </p:txBody>
      </p:sp>
      <p:sp>
        <p:nvSpPr>
          <p:cNvPr id="75" name="TextBox 74"/>
          <p:cNvSpPr txBox="1"/>
          <p:nvPr/>
        </p:nvSpPr>
        <p:spPr>
          <a:xfrm>
            <a:off x="7715250" y="4817745"/>
            <a:ext cx="1123652" cy="194310"/>
          </a:xfrm>
          <a:prstGeom prst="rect">
            <a:avLst/>
          </a:prstGeom>
          <a:noFill/>
        </p:spPr>
        <p:txBody>
          <a:bodyPr wrap="none" lIns="0" rIns="0" tIns="0" bIns="0">
            <a:spAutoFit/>
          </a:bodyPr>
          <a:lstStyle/>
          <a:p>
            <a:r>
              <a:rPr sz="1150" b="0">
                <a:solidFill>
                  <a:srgbClr val="2E2E2E"/>
                </a:solidFill>
                <a:latin typeface="Calibri"/>
              </a:rPr>
              <a:t>cultivation at US$</a:t>
            </a:r>
          </a:p>
        </p:txBody>
      </p:sp>
      <p:pic>
        <p:nvPicPr>
          <p:cNvPr id="76" name="Picture 75" descr="lock.png"/>
          <p:cNvPicPr>
            <a:picLocks noChangeAspect="1"/>
          </p:cNvPicPr>
          <p:nvPr/>
        </p:nvPicPr>
        <p:blipFill>
          <a:blip r:embed="rId4"/>
          <a:stretch>
            <a:fillRect/>
          </a:stretch>
        </p:blipFill>
        <p:spPr>
          <a:xfrm>
            <a:off x="8788056" y="4807521"/>
            <a:ext cx="134549" cy="195707"/>
          </a:xfrm>
          <a:prstGeom prst="rect">
            <a:avLst/>
          </a:prstGeom>
        </p:spPr>
      </p:pic>
      <p:sp>
        <p:nvSpPr>
          <p:cNvPr id="77" name="TextBox 76"/>
          <p:cNvSpPr txBox="1"/>
          <p:nvPr/>
        </p:nvSpPr>
        <p:spPr>
          <a:xfrm>
            <a:off x="8963165" y="4817745"/>
            <a:ext cx="2372493" cy="194310"/>
          </a:xfrm>
          <a:prstGeom prst="rect">
            <a:avLst/>
          </a:prstGeom>
          <a:noFill/>
        </p:spPr>
        <p:txBody>
          <a:bodyPr wrap="none" lIns="0" rIns="0" tIns="0" bIns="0">
            <a:spAutoFit/>
          </a:bodyPr>
          <a:lstStyle/>
          <a:p>
            <a:r>
              <a:rPr sz="1150" b="0">
                <a:solidFill>
                  <a:srgbClr val="2E2E2E"/>
                </a:solidFill>
                <a:latin typeface="Calibri"/>
              </a:rPr>
              <a:t>Mn in 2036. 'Potted Flowering Plants ×</a:t>
            </a:r>
          </a:p>
        </p:txBody>
      </p:sp>
      <p:sp>
        <p:nvSpPr>
          <p:cNvPr id="78" name="TextBox 77"/>
          <p:cNvSpPr txBox="1"/>
          <p:nvPr/>
        </p:nvSpPr>
        <p:spPr>
          <a:xfrm>
            <a:off x="7715250" y="4993004"/>
            <a:ext cx="3828715" cy="194310"/>
          </a:xfrm>
          <a:prstGeom prst="rect">
            <a:avLst/>
          </a:prstGeom>
          <a:noFill/>
        </p:spPr>
        <p:txBody>
          <a:bodyPr wrap="none" lIns="0" rIns="0" tIns="0" bIns="0">
            <a:spAutoFit/>
          </a:bodyPr>
          <a:lstStyle/>
          <a:p>
            <a:r>
              <a:rPr sz="1150" b="0">
                <a:solidFill>
                  <a:srgbClr val="2E2E2E"/>
                </a:solidFill>
                <a:latin typeface="Calibri"/>
              </a:rPr>
              <a:t>Open-Field Cultivation' is the single largest cross-sectional cell (</a:t>
            </a:r>
          </a:p>
        </p:txBody>
      </p:sp>
      <p:pic>
        <p:nvPicPr>
          <p:cNvPr id="79" name="Picture 78" descr="lock.png"/>
          <p:cNvPicPr>
            <a:picLocks noChangeAspect="1"/>
          </p:cNvPicPr>
          <p:nvPr/>
        </p:nvPicPr>
        <p:blipFill>
          <a:blip r:embed="rId4"/>
          <a:stretch>
            <a:fillRect/>
          </a:stretch>
        </p:blipFill>
        <p:spPr>
          <a:xfrm>
            <a:off x="11493119" y="4982781"/>
            <a:ext cx="134549" cy="195707"/>
          </a:xfrm>
          <a:prstGeom prst="rect">
            <a:avLst/>
          </a:prstGeom>
        </p:spPr>
      </p:pic>
      <p:sp>
        <p:nvSpPr>
          <p:cNvPr id="80" name="TextBox 79"/>
          <p:cNvSpPr txBox="1"/>
          <p:nvPr/>
        </p:nvSpPr>
        <p:spPr>
          <a:xfrm>
            <a:off x="7715250" y="5168264"/>
            <a:ext cx="3687799" cy="194310"/>
          </a:xfrm>
          <a:prstGeom prst="rect">
            <a:avLst/>
          </a:prstGeom>
          <a:noFill/>
        </p:spPr>
        <p:txBody>
          <a:bodyPr wrap="none" lIns="0" rIns="0" tIns="0" bIns="0">
            <a:spAutoFit/>
          </a:bodyPr>
          <a:lstStyle/>
          <a:p>
            <a:r>
              <a:rPr sz="1150" b="0">
                <a:solidFill>
                  <a:srgbClr val="2E2E2E"/>
                </a:solidFill>
                <a:latin typeface="Calibri"/>
              </a:rPr>
              <a:t>US$ Mn, 2026E), while 'Potted Flowering Plants × Open-Field</a:t>
            </a:r>
          </a:p>
        </p:txBody>
      </p:sp>
      <p:sp>
        <p:nvSpPr>
          <p:cNvPr id="81" name="TextBox 80"/>
          <p:cNvSpPr txBox="1"/>
          <p:nvPr/>
        </p:nvSpPr>
        <p:spPr>
          <a:xfrm>
            <a:off x="7715250" y="5343524"/>
            <a:ext cx="3132963" cy="194310"/>
          </a:xfrm>
          <a:prstGeom prst="rect">
            <a:avLst/>
          </a:prstGeom>
          <a:noFill/>
        </p:spPr>
        <p:txBody>
          <a:bodyPr wrap="none" lIns="0" rIns="0" tIns="0" bIns="0">
            <a:spAutoFit/>
          </a:bodyPr>
          <a:lstStyle/>
          <a:p>
            <a:r>
              <a:rPr sz="1150" b="0">
                <a:solidFill>
                  <a:srgbClr val="2E2E2E"/>
                </a:solidFill>
                <a:latin typeface="Calibri"/>
              </a:rPr>
              <a:t>Cultivation' records the fastest growth at a CAGR of</a:t>
            </a:r>
          </a:p>
        </p:txBody>
      </p:sp>
      <p:pic>
        <p:nvPicPr>
          <p:cNvPr id="82" name="Picture 81" descr="lock.png"/>
          <p:cNvPicPr>
            <a:picLocks noChangeAspect="1"/>
          </p:cNvPicPr>
          <p:nvPr/>
        </p:nvPicPr>
        <p:blipFill>
          <a:blip r:embed="rId4"/>
          <a:stretch>
            <a:fillRect/>
          </a:stretch>
        </p:blipFill>
        <p:spPr>
          <a:xfrm>
            <a:off x="10797366" y="5333301"/>
            <a:ext cx="134549" cy="195707"/>
          </a:xfrm>
          <a:prstGeom prst="rect">
            <a:avLst/>
          </a:prstGeom>
        </p:spPr>
      </p:pic>
      <p:sp>
        <p:nvSpPr>
          <p:cNvPr id="83" name="TextBox 82"/>
          <p:cNvSpPr txBox="1"/>
          <p:nvPr/>
        </p:nvSpPr>
        <p:spPr>
          <a:xfrm>
            <a:off x="10972476" y="5343524"/>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84" name="TextBox 83"/>
          <p:cNvSpPr txBox="1"/>
          <p:nvPr/>
        </p:nvSpPr>
        <p:spPr>
          <a:xfrm>
            <a:off x="7715250" y="5518784"/>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85" name="TextBox 84"/>
          <p:cNvSpPr txBox="1"/>
          <p:nvPr/>
        </p:nvSpPr>
        <p:spPr>
          <a:xfrm>
            <a:off x="7715250" y="5746622"/>
            <a:ext cx="3904307" cy="194310"/>
          </a:xfrm>
          <a:prstGeom prst="rect">
            <a:avLst/>
          </a:prstGeom>
          <a:noFill/>
        </p:spPr>
        <p:txBody>
          <a:bodyPr wrap="none" lIns="0" rIns="0" tIns="0" bIns="0">
            <a:spAutoFit/>
          </a:bodyPr>
          <a:lstStyle/>
          <a:p>
            <a:r>
              <a:rPr sz="1150" b="0">
                <a:solidFill>
                  <a:srgbClr val="2E2E2E"/>
                </a:solidFill>
                <a:latin typeface="Calibri"/>
              </a:rPr>
              <a:t>Combined, the top three product type × cultivation method cells</a:t>
            </a:r>
          </a:p>
        </p:txBody>
      </p:sp>
      <p:sp>
        <p:nvSpPr>
          <p:cNvPr id="86" name="TextBox 85"/>
          <p:cNvSpPr txBox="1"/>
          <p:nvPr/>
        </p:nvSpPr>
        <p:spPr>
          <a:xfrm>
            <a:off x="7715250" y="592188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87" name="Picture 86" descr="lock.png"/>
          <p:cNvPicPr>
            <a:picLocks noChangeAspect="1"/>
          </p:cNvPicPr>
          <p:nvPr/>
        </p:nvPicPr>
        <p:blipFill>
          <a:blip r:embed="rId4"/>
          <a:stretch>
            <a:fillRect/>
          </a:stretch>
        </p:blipFill>
        <p:spPr>
          <a:xfrm>
            <a:off x="10004949" y="5911659"/>
            <a:ext cx="134549" cy="195707"/>
          </a:xfrm>
          <a:prstGeom prst="rect">
            <a:avLst/>
          </a:prstGeom>
        </p:spPr>
      </p:pic>
      <p:sp>
        <p:nvSpPr>
          <p:cNvPr id="88" name="TextBox 87"/>
          <p:cNvSpPr txBox="1"/>
          <p:nvPr/>
        </p:nvSpPr>
        <p:spPr>
          <a:xfrm>
            <a:off x="10180058" y="592188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Type × Cultivation Method,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cultivation method sub-segments</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Product Type × Cultivation Method, 2026E (% of each row)</a:t>
            </a:r>
          </a:p>
        </p:txBody>
      </p:sp>
      <p:graphicFrame>
        <p:nvGraphicFramePr>
          <p:cNvPr id="12" name="Table 11"/>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4403396"/>
                <a:gridCol w="2494601"/>
                <a:gridCol w="2494601"/>
                <a:gridCol w="2494601"/>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Protected Cultivation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Open-Field Cultivation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7286625"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576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Cultivation Method Mix by Product Type, 2026E (% share)</a:t>
            </a:r>
          </a:p>
        </p:txBody>
      </p:sp>
      <p:graphicFrame>
        <p:nvGraphicFramePr>
          <p:cNvPr id="16" name="Chart 15"/>
          <p:cNvGraphicFramePr>
            <a:graphicFrameLocks noGrp="1"/>
          </p:cNvGraphicFramePr>
          <p:nvPr/>
        </p:nvGraphicFramePr>
        <p:xfrm>
          <a:off x="238125" y="4086225"/>
          <a:ext cx="7096125" cy="24860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800475"/>
            <a:ext cx="445770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862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1243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210050"/>
            <a:ext cx="419100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8111007" y="2204276"/>
            <a:ext cx="366712" cy="533399"/>
          </a:xfrm>
          <a:prstGeom prst="rect">
            <a:avLst/>
          </a:prstGeom>
        </p:spPr>
      </p:pic>
      <p:pic>
        <p:nvPicPr>
          <p:cNvPr id="23" name="Picture 22" descr="lock.png"/>
          <p:cNvPicPr>
            <a:picLocks noChangeAspect="1"/>
          </p:cNvPicPr>
          <p:nvPr/>
        </p:nvPicPr>
        <p:blipFill>
          <a:blip r:embed="rId5"/>
          <a:stretch>
            <a:fillRect/>
          </a:stretch>
        </p:blipFill>
        <p:spPr>
          <a:xfrm>
            <a:off x="3778538" y="4610957"/>
            <a:ext cx="305026" cy="443674"/>
          </a:xfrm>
          <a:prstGeom prst="rect">
            <a:avLst/>
          </a:prstGeom>
        </p:spPr>
      </p:pic>
      <p:sp>
        <p:nvSpPr>
          <p:cNvPr id="24" name="TextBox 23"/>
          <p:cNvSpPr txBox="1"/>
          <p:nvPr/>
        </p:nvSpPr>
        <p:spPr>
          <a:xfrm>
            <a:off x="7715250" y="4219575"/>
            <a:ext cx="4171950" cy="194310"/>
          </a:xfrm>
          <a:prstGeom prst="rect">
            <a:avLst/>
          </a:prstGeom>
          <a:noFill/>
        </p:spPr>
        <p:txBody>
          <a:bodyPr wrap="none" lIns="0" rIns="0" tIns="0" bIns="0">
            <a:spAutoFit/>
          </a:bodyPr>
          <a:lstStyle/>
          <a:p>
            <a:r>
              <a:rPr sz="1150" b="0">
                <a:solidFill>
                  <a:srgbClr val="2E2E2E"/>
                </a:solidFill>
                <a:latin typeface="Calibri"/>
              </a:rPr>
              <a:t>▪ 'Open-Field Cultivation' holds the highest share of 'Potted Flowering</a:t>
            </a:r>
          </a:p>
        </p:txBody>
      </p:sp>
      <p:sp>
        <p:nvSpPr>
          <p:cNvPr id="25" name="TextBox 24"/>
          <p:cNvSpPr txBox="1"/>
          <p:nvPr/>
        </p:nvSpPr>
        <p:spPr>
          <a:xfrm>
            <a:off x="7715250" y="4394835"/>
            <a:ext cx="622461" cy="194310"/>
          </a:xfrm>
          <a:prstGeom prst="rect">
            <a:avLst/>
          </a:prstGeom>
          <a:noFill/>
        </p:spPr>
        <p:txBody>
          <a:bodyPr wrap="none" lIns="0" rIns="0" tIns="0" bIns="0">
            <a:spAutoFit/>
          </a:bodyPr>
          <a:lstStyle/>
          <a:p>
            <a:r>
              <a:rPr sz="1150" b="0">
                <a:solidFill>
                  <a:srgbClr val="2E2E2E"/>
                </a:solidFill>
                <a:latin typeface="Calibri"/>
              </a:rPr>
              <a:t>Plants' at</a:t>
            </a:r>
          </a:p>
        </p:txBody>
      </p:sp>
      <p:pic>
        <p:nvPicPr>
          <p:cNvPr id="26" name="Picture 25" descr="lock.png"/>
          <p:cNvPicPr>
            <a:picLocks noChangeAspect="1"/>
          </p:cNvPicPr>
          <p:nvPr/>
        </p:nvPicPr>
        <p:blipFill>
          <a:blip r:embed="rId5"/>
          <a:stretch>
            <a:fillRect/>
          </a:stretch>
        </p:blipFill>
        <p:spPr>
          <a:xfrm>
            <a:off x="8286865" y="4384611"/>
            <a:ext cx="134549" cy="195707"/>
          </a:xfrm>
          <a:prstGeom prst="rect">
            <a:avLst/>
          </a:prstGeom>
        </p:spPr>
      </p:pic>
      <p:sp>
        <p:nvSpPr>
          <p:cNvPr id="27" name="TextBox 26"/>
          <p:cNvSpPr txBox="1"/>
          <p:nvPr/>
        </p:nvSpPr>
        <p:spPr>
          <a:xfrm>
            <a:off x="8461974" y="43948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622672"/>
            <a:ext cx="3955938" cy="194310"/>
          </a:xfrm>
          <a:prstGeom prst="rect">
            <a:avLst/>
          </a:prstGeom>
          <a:noFill/>
        </p:spPr>
        <p:txBody>
          <a:bodyPr wrap="none" lIns="0" rIns="0" tIns="0" bIns="0">
            <a:spAutoFit/>
          </a:bodyPr>
          <a:lstStyle/>
          <a:p>
            <a:r>
              <a:rPr sz="1150" b="0">
                <a:solidFill>
                  <a:srgbClr val="2E2E2E"/>
                </a:solidFill>
                <a:latin typeface="Calibri"/>
              </a:rPr>
              <a:t>▪ 'Potted Flowering Plants' is the most concentrated product type</a:t>
            </a:r>
          </a:p>
        </p:txBody>
      </p:sp>
      <p:sp>
        <p:nvSpPr>
          <p:cNvPr id="29" name="TextBox 28"/>
          <p:cNvSpPr txBox="1"/>
          <p:nvPr/>
        </p:nvSpPr>
        <p:spPr>
          <a:xfrm>
            <a:off x="7715250" y="479793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787709"/>
            <a:ext cx="134549" cy="195707"/>
          </a:xfrm>
          <a:prstGeom prst="rect">
            <a:avLst/>
          </a:prstGeom>
        </p:spPr>
      </p:pic>
      <p:sp>
        <p:nvSpPr>
          <p:cNvPr id="31" name="TextBox 30"/>
          <p:cNvSpPr txBox="1"/>
          <p:nvPr/>
        </p:nvSpPr>
        <p:spPr>
          <a:xfrm>
            <a:off x="9018219" y="4797932"/>
            <a:ext cx="2387327" cy="194310"/>
          </a:xfrm>
          <a:prstGeom prst="rect">
            <a:avLst/>
          </a:prstGeom>
          <a:noFill/>
        </p:spPr>
        <p:txBody>
          <a:bodyPr wrap="none" lIns="0" rIns="0" tIns="0" bIns="0">
            <a:spAutoFit/>
          </a:bodyPr>
          <a:lstStyle/>
          <a:p>
            <a:r>
              <a:rPr sz="1150" b="0">
                <a:solidFill>
                  <a:srgbClr val="2E2E2E"/>
                </a:solidFill>
                <a:latin typeface="Calibri"/>
              </a:rPr>
              <a:t>of its value via 'Open-Field Cultivation'.</a:t>
            </a:r>
          </a:p>
        </p:txBody>
      </p:sp>
      <p:sp>
        <p:nvSpPr>
          <p:cNvPr id="32" name="TextBox 31"/>
          <p:cNvSpPr txBox="1"/>
          <p:nvPr/>
        </p:nvSpPr>
        <p:spPr>
          <a:xfrm>
            <a:off x="7715250" y="5025770"/>
            <a:ext cx="1998240" cy="194310"/>
          </a:xfrm>
          <a:prstGeom prst="rect">
            <a:avLst/>
          </a:prstGeom>
          <a:noFill/>
        </p:spPr>
        <p:txBody>
          <a:bodyPr wrap="none" lIns="0" rIns="0" tIns="0" bIns="0">
            <a:spAutoFit/>
          </a:bodyPr>
          <a:lstStyle/>
          <a:p>
            <a:r>
              <a:rPr sz="1150" b="0">
                <a:solidFill>
                  <a:srgbClr val="2E2E2E"/>
                </a:solidFill>
                <a:latin typeface="Calibri"/>
              </a:rPr>
              <a:t>▪ 'Open-Field Cultivation' gains +</a:t>
            </a:r>
          </a:p>
        </p:txBody>
      </p:sp>
      <p:pic>
        <p:nvPicPr>
          <p:cNvPr id="33" name="Picture 32" descr="lock.png"/>
          <p:cNvPicPr>
            <a:picLocks noChangeAspect="1"/>
          </p:cNvPicPr>
          <p:nvPr/>
        </p:nvPicPr>
        <p:blipFill>
          <a:blip r:embed="rId5"/>
          <a:stretch>
            <a:fillRect/>
          </a:stretch>
        </p:blipFill>
        <p:spPr>
          <a:xfrm>
            <a:off x="9662644" y="5015547"/>
            <a:ext cx="134549" cy="195707"/>
          </a:xfrm>
          <a:prstGeom prst="rect">
            <a:avLst/>
          </a:prstGeom>
        </p:spPr>
      </p:pic>
      <p:sp>
        <p:nvSpPr>
          <p:cNvPr id="34" name="TextBox 33"/>
          <p:cNvSpPr txBox="1"/>
          <p:nvPr/>
        </p:nvSpPr>
        <p:spPr>
          <a:xfrm>
            <a:off x="9837754" y="5025770"/>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5" name="TextBox 34"/>
          <p:cNvSpPr txBox="1"/>
          <p:nvPr/>
        </p:nvSpPr>
        <p:spPr>
          <a:xfrm>
            <a:off x="7715250" y="520103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6" name="lockshield_16"/>
          <p:cNvSpPr/>
          <p:nvPr/>
        </p:nvSpPr>
        <p:spPr>
          <a:xfrm>
            <a:off x="238125" y="4086225"/>
            <a:ext cx="7096125" cy="24860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Cultivation Method,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Cultivation Method, 2026E–2036F</a:t>
            </a:r>
          </a:p>
        </p:txBody>
      </p:sp>
      <p:graphicFrame>
        <p:nvGraphicFramePr>
          <p:cNvPr id="12" name="Table 11"/>
          <p:cNvGraphicFramePr>
            <a:graphicFrameLocks noGrp="1"/>
          </p:cNvGraphicFramePr>
          <p:nvPr/>
        </p:nvGraphicFramePr>
        <p:xfrm>
          <a:off x="152400" y="1238250"/>
          <a:ext cx="11887200" cy="2466975"/>
        </p:xfrm>
        <a:graphic>
          <a:graphicData uri="http://schemas.openxmlformats.org/drawingml/2006/table">
            <a:tbl>
              <a:tblPr>
                <a:tableStyleId>{5C22544A-7EE6-4342-B048-85BDC9FD1C3A}</a:tableStyleId>
              </a:tblPr>
              <a:tblGrid>
                <a:gridCol w="5032422"/>
                <a:gridCol w="1142463"/>
                <a:gridCol w="1142463"/>
                <a:gridCol w="1142463"/>
                <a:gridCol w="1142463"/>
                <a:gridCol w="1142463"/>
                <a:gridCol w="1142463"/>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Protected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Open-Field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5600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719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53340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'Potted Flowering Plants × Open-Field Cultivation' ranks highest (5/5); 'Cut Flowers × Protected Cultivation'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8425520" y="2451481"/>
            <a:ext cx="366712" cy="533400"/>
          </a:xfrm>
          <a:prstGeom prst="rect">
            <a:avLst/>
          </a:prstGeom>
        </p:spPr>
      </p:pic>
      <p:sp>
        <p:nvSpPr>
          <p:cNvPr id="32" name="TextBox 31"/>
          <p:cNvSpPr txBox="1"/>
          <p:nvPr/>
        </p:nvSpPr>
        <p:spPr>
          <a:xfrm>
            <a:off x="276225" y="4467225"/>
            <a:ext cx="3128670" cy="194310"/>
          </a:xfrm>
          <a:prstGeom prst="rect">
            <a:avLst/>
          </a:prstGeom>
          <a:noFill/>
        </p:spPr>
        <p:txBody>
          <a:bodyPr wrap="none" lIns="0" rIns="0" tIns="0" bIns="0">
            <a:spAutoFit/>
          </a:bodyPr>
          <a:lstStyle/>
          <a:p>
            <a:r>
              <a:rPr sz="1150" b="0">
                <a:solidFill>
                  <a:srgbClr val="2E2E2E"/>
                </a:solidFill>
                <a:latin typeface="Calibri"/>
              </a:rPr>
              <a:t>▪ 1. Potted Foliage Plants × Open-Field Cultivation –</a:t>
            </a:r>
          </a:p>
        </p:txBody>
      </p:sp>
      <p:pic>
        <p:nvPicPr>
          <p:cNvPr id="33" name="Picture 32" descr="lock.png"/>
          <p:cNvPicPr>
            <a:picLocks noChangeAspect="1"/>
          </p:cNvPicPr>
          <p:nvPr/>
        </p:nvPicPr>
        <p:blipFill>
          <a:blip r:embed="rId4"/>
          <a:stretch>
            <a:fillRect/>
          </a:stretch>
        </p:blipFill>
        <p:spPr>
          <a:xfrm>
            <a:off x="3354049" y="4457001"/>
            <a:ext cx="134549" cy="195707"/>
          </a:xfrm>
          <a:prstGeom prst="rect">
            <a:avLst/>
          </a:prstGeom>
        </p:spPr>
      </p:pic>
      <p:sp>
        <p:nvSpPr>
          <p:cNvPr id="34" name="TextBox 33"/>
          <p:cNvSpPr txBox="1"/>
          <p:nvPr/>
        </p:nvSpPr>
        <p:spPr>
          <a:xfrm>
            <a:off x="3529159" y="44672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591310" y="4457001"/>
            <a:ext cx="134549" cy="195707"/>
          </a:xfrm>
          <a:prstGeom prst="rect">
            <a:avLst/>
          </a:prstGeom>
        </p:spPr>
      </p:pic>
      <p:sp>
        <p:nvSpPr>
          <p:cNvPr id="36" name="TextBox 35"/>
          <p:cNvSpPr txBox="1"/>
          <p:nvPr/>
        </p:nvSpPr>
        <p:spPr>
          <a:xfrm>
            <a:off x="3766420" y="44672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695063"/>
            <a:ext cx="3291011" cy="194310"/>
          </a:xfrm>
          <a:prstGeom prst="rect">
            <a:avLst/>
          </a:prstGeom>
          <a:noFill/>
        </p:spPr>
        <p:txBody>
          <a:bodyPr wrap="none" lIns="0" rIns="0" tIns="0" bIns="0">
            <a:spAutoFit/>
          </a:bodyPr>
          <a:lstStyle/>
          <a:p>
            <a:r>
              <a:rPr sz="1150" b="0">
                <a:solidFill>
                  <a:srgbClr val="2E2E2E"/>
                </a:solidFill>
                <a:latin typeface="Calibri"/>
              </a:rPr>
              <a:t>▪ 2. Potted Flowering Plants × Open-Field Cultivation –</a:t>
            </a:r>
          </a:p>
        </p:txBody>
      </p:sp>
      <p:pic>
        <p:nvPicPr>
          <p:cNvPr id="38" name="Picture 37" descr="lock.png"/>
          <p:cNvPicPr>
            <a:picLocks noChangeAspect="1"/>
          </p:cNvPicPr>
          <p:nvPr/>
        </p:nvPicPr>
        <p:blipFill>
          <a:blip r:embed="rId4"/>
          <a:stretch>
            <a:fillRect/>
          </a:stretch>
        </p:blipFill>
        <p:spPr>
          <a:xfrm>
            <a:off x="3516390" y="4684839"/>
            <a:ext cx="134549" cy="195707"/>
          </a:xfrm>
          <a:prstGeom prst="rect">
            <a:avLst/>
          </a:prstGeom>
        </p:spPr>
      </p:pic>
      <p:sp>
        <p:nvSpPr>
          <p:cNvPr id="39" name="TextBox 38"/>
          <p:cNvSpPr txBox="1"/>
          <p:nvPr/>
        </p:nvSpPr>
        <p:spPr>
          <a:xfrm>
            <a:off x="3691499" y="46950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753651" y="4684839"/>
            <a:ext cx="134549" cy="195707"/>
          </a:xfrm>
          <a:prstGeom prst="rect">
            <a:avLst/>
          </a:prstGeom>
        </p:spPr>
      </p:pic>
      <p:sp>
        <p:nvSpPr>
          <p:cNvPr id="41" name="TextBox 40"/>
          <p:cNvSpPr txBox="1"/>
          <p:nvPr/>
        </p:nvSpPr>
        <p:spPr>
          <a:xfrm>
            <a:off x="3928760" y="46950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922900"/>
            <a:ext cx="4072321" cy="194310"/>
          </a:xfrm>
          <a:prstGeom prst="rect">
            <a:avLst/>
          </a:prstGeom>
          <a:noFill/>
        </p:spPr>
        <p:txBody>
          <a:bodyPr wrap="none" lIns="0" rIns="0" tIns="0" bIns="0">
            <a:spAutoFit/>
          </a:bodyPr>
          <a:lstStyle/>
          <a:p>
            <a:r>
              <a:rPr sz="1150" b="0">
                <a:solidFill>
                  <a:srgbClr val="2E2E2E"/>
                </a:solidFill>
                <a:latin typeface="Calibri"/>
              </a:rPr>
              <a:t>▪ 3. Young Plants &amp; Propagation Material × Open-Field Cultivation –</a:t>
            </a:r>
          </a:p>
        </p:txBody>
      </p:sp>
      <p:pic>
        <p:nvPicPr>
          <p:cNvPr id="43" name="Picture 42" descr="lock.png"/>
          <p:cNvPicPr>
            <a:picLocks noChangeAspect="1"/>
          </p:cNvPicPr>
          <p:nvPr/>
        </p:nvPicPr>
        <p:blipFill>
          <a:blip r:embed="rId4"/>
          <a:stretch>
            <a:fillRect/>
          </a:stretch>
        </p:blipFill>
        <p:spPr>
          <a:xfrm>
            <a:off x="4297700" y="4912677"/>
            <a:ext cx="134549" cy="195707"/>
          </a:xfrm>
          <a:prstGeom prst="rect">
            <a:avLst/>
          </a:prstGeom>
        </p:spPr>
      </p:pic>
      <p:sp>
        <p:nvSpPr>
          <p:cNvPr id="44" name="TextBox 43"/>
          <p:cNvSpPr txBox="1"/>
          <p:nvPr/>
        </p:nvSpPr>
        <p:spPr>
          <a:xfrm>
            <a:off x="4472810" y="49229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4534961" y="4912677"/>
            <a:ext cx="134549" cy="195707"/>
          </a:xfrm>
          <a:prstGeom prst="rect">
            <a:avLst/>
          </a:prstGeom>
        </p:spPr>
      </p:pic>
      <p:sp>
        <p:nvSpPr>
          <p:cNvPr id="46" name="TextBox 45"/>
          <p:cNvSpPr txBox="1"/>
          <p:nvPr/>
        </p:nvSpPr>
        <p:spPr>
          <a:xfrm>
            <a:off x="4710071" y="492290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5150738"/>
            <a:ext cx="4301380" cy="194310"/>
          </a:xfrm>
          <a:prstGeom prst="rect">
            <a:avLst/>
          </a:prstGeom>
          <a:noFill/>
        </p:spPr>
        <p:txBody>
          <a:bodyPr wrap="none" lIns="0" rIns="0" tIns="0" bIns="0">
            <a:spAutoFit/>
          </a:bodyPr>
          <a:lstStyle/>
          <a:p>
            <a:r>
              <a:rPr sz="1150" b="0">
                <a:solidFill>
                  <a:srgbClr val="2E2E2E"/>
                </a:solidFill>
                <a:latin typeface="Calibri"/>
              </a:rPr>
              <a:t>▪ 4. Flower Bulbs, Corms, Rhizomes &amp; Tubers × Open-Field Cultivation –</a:t>
            </a:r>
          </a:p>
        </p:txBody>
      </p:sp>
      <p:pic>
        <p:nvPicPr>
          <p:cNvPr id="48" name="Picture 47" descr="lock.png"/>
          <p:cNvPicPr>
            <a:picLocks noChangeAspect="1"/>
          </p:cNvPicPr>
          <p:nvPr/>
        </p:nvPicPr>
        <p:blipFill>
          <a:blip r:embed="rId4"/>
          <a:stretch>
            <a:fillRect/>
          </a:stretch>
        </p:blipFill>
        <p:spPr>
          <a:xfrm>
            <a:off x="4526759" y="5140515"/>
            <a:ext cx="134549" cy="195707"/>
          </a:xfrm>
          <a:prstGeom prst="rect">
            <a:avLst/>
          </a:prstGeom>
        </p:spPr>
      </p:pic>
      <p:sp>
        <p:nvSpPr>
          <p:cNvPr id="49" name="TextBox 48"/>
          <p:cNvSpPr txBox="1"/>
          <p:nvPr/>
        </p:nvSpPr>
        <p:spPr>
          <a:xfrm>
            <a:off x="4701869" y="515073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764020" y="5140515"/>
            <a:ext cx="134549" cy="195707"/>
          </a:xfrm>
          <a:prstGeom prst="rect">
            <a:avLst/>
          </a:prstGeom>
        </p:spPr>
      </p:pic>
      <p:sp>
        <p:nvSpPr>
          <p:cNvPr id="51" name="TextBox 50"/>
          <p:cNvSpPr txBox="1"/>
          <p:nvPr/>
        </p:nvSpPr>
        <p:spPr>
          <a:xfrm>
            <a:off x="4939130" y="515073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5378576"/>
            <a:ext cx="3125247" cy="194310"/>
          </a:xfrm>
          <a:prstGeom prst="rect">
            <a:avLst/>
          </a:prstGeom>
          <a:noFill/>
        </p:spPr>
        <p:txBody>
          <a:bodyPr wrap="none" lIns="0" rIns="0" tIns="0" bIns="0">
            <a:spAutoFit/>
          </a:bodyPr>
          <a:lstStyle/>
          <a:p>
            <a:r>
              <a:rPr sz="1150" b="0">
                <a:solidFill>
                  <a:srgbClr val="2E2E2E"/>
                </a:solidFill>
                <a:latin typeface="Calibri"/>
              </a:rPr>
              <a:t>▪ 5. Cut Foliage &amp; Greens × Open-Field Cultivation –</a:t>
            </a:r>
          </a:p>
        </p:txBody>
      </p:sp>
      <p:pic>
        <p:nvPicPr>
          <p:cNvPr id="53" name="Picture 52" descr="lock.png"/>
          <p:cNvPicPr>
            <a:picLocks noChangeAspect="1"/>
          </p:cNvPicPr>
          <p:nvPr/>
        </p:nvPicPr>
        <p:blipFill>
          <a:blip r:embed="rId4"/>
          <a:stretch>
            <a:fillRect/>
          </a:stretch>
        </p:blipFill>
        <p:spPr>
          <a:xfrm>
            <a:off x="3350626" y="5368353"/>
            <a:ext cx="134549" cy="195707"/>
          </a:xfrm>
          <a:prstGeom prst="rect">
            <a:avLst/>
          </a:prstGeom>
        </p:spPr>
      </p:pic>
      <p:sp>
        <p:nvSpPr>
          <p:cNvPr id="54" name="TextBox 53"/>
          <p:cNvSpPr txBox="1"/>
          <p:nvPr/>
        </p:nvSpPr>
        <p:spPr>
          <a:xfrm>
            <a:off x="3525736" y="537857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587887" y="5368353"/>
            <a:ext cx="134549" cy="195707"/>
          </a:xfrm>
          <a:prstGeom prst="rect">
            <a:avLst/>
          </a:prstGeom>
        </p:spPr>
      </p:pic>
      <p:sp>
        <p:nvSpPr>
          <p:cNvPr id="56" name="TextBox 55"/>
          <p:cNvSpPr txBox="1"/>
          <p:nvPr/>
        </p:nvSpPr>
        <p:spPr>
          <a:xfrm>
            <a:off x="3762996" y="537857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4467225"/>
            <a:ext cx="1657350" cy="194310"/>
          </a:xfrm>
          <a:prstGeom prst="rect">
            <a:avLst/>
          </a:prstGeom>
          <a:noFill/>
        </p:spPr>
        <p:txBody>
          <a:bodyPr wrap="none" lIns="0" rIns="0" tIns="0" bIns="0">
            <a:spAutoFit/>
          </a:bodyPr>
          <a:lstStyle/>
          <a:p>
            <a:r>
              <a:rPr sz="1150" b="0">
                <a:solidFill>
                  <a:srgbClr val="2E2E2E"/>
                </a:solidFill>
                <a:latin typeface="Calibri"/>
              </a:rPr>
              <a:t>▪ 'Potted Flowering Plants ×</a:t>
            </a:r>
          </a:p>
        </p:txBody>
      </p:sp>
      <p:sp>
        <p:nvSpPr>
          <p:cNvPr id="58" name="TextBox 57"/>
          <p:cNvSpPr txBox="1"/>
          <p:nvPr/>
        </p:nvSpPr>
        <p:spPr>
          <a:xfrm>
            <a:off x="6029325" y="4642485"/>
            <a:ext cx="1436290" cy="194310"/>
          </a:xfrm>
          <a:prstGeom prst="rect">
            <a:avLst/>
          </a:prstGeom>
          <a:noFill/>
        </p:spPr>
        <p:txBody>
          <a:bodyPr wrap="none" lIns="0" rIns="0" tIns="0" bIns="0">
            <a:spAutoFit/>
          </a:bodyPr>
          <a:lstStyle/>
          <a:p>
            <a:r>
              <a:rPr sz="1150" b="0">
                <a:solidFill>
                  <a:srgbClr val="2E2E2E"/>
                </a:solidFill>
                <a:latin typeface="Calibri"/>
              </a:rPr>
              <a:t>Open-Field Cultivation'</a:t>
            </a:r>
          </a:p>
        </p:txBody>
      </p:sp>
      <p:sp>
        <p:nvSpPr>
          <p:cNvPr id="59" name="TextBox 58"/>
          <p:cNvSpPr txBox="1"/>
          <p:nvPr/>
        </p:nvSpPr>
        <p:spPr>
          <a:xfrm>
            <a:off x="6029325" y="4817745"/>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0" name="Picture 59" descr="lock.png"/>
          <p:cNvPicPr>
            <a:picLocks noChangeAspect="1"/>
          </p:cNvPicPr>
          <p:nvPr/>
        </p:nvPicPr>
        <p:blipFill>
          <a:blip r:embed="rId4"/>
          <a:stretch>
            <a:fillRect/>
          </a:stretch>
        </p:blipFill>
        <p:spPr>
          <a:xfrm>
            <a:off x="6335083" y="4807521"/>
            <a:ext cx="134549" cy="195707"/>
          </a:xfrm>
          <a:prstGeom prst="rect">
            <a:avLst/>
          </a:prstGeom>
        </p:spPr>
      </p:pic>
      <p:sp>
        <p:nvSpPr>
          <p:cNvPr id="61" name="TextBox 60"/>
          <p:cNvSpPr txBox="1"/>
          <p:nvPr/>
        </p:nvSpPr>
        <p:spPr>
          <a:xfrm>
            <a:off x="6510192" y="4817745"/>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2" name="TextBox 61"/>
          <p:cNvSpPr txBox="1"/>
          <p:nvPr/>
        </p:nvSpPr>
        <p:spPr>
          <a:xfrm>
            <a:off x="6029325" y="499300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3" name="Picture 62" descr="lock.png"/>
          <p:cNvPicPr>
            <a:picLocks noChangeAspect="1"/>
          </p:cNvPicPr>
          <p:nvPr/>
        </p:nvPicPr>
        <p:blipFill>
          <a:blip r:embed="rId4"/>
          <a:stretch>
            <a:fillRect/>
          </a:stretch>
        </p:blipFill>
        <p:spPr>
          <a:xfrm>
            <a:off x="6127418" y="4982781"/>
            <a:ext cx="134549" cy="195707"/>
          </a:xfrm>
          <a:prstGeom prst="rect">
            <a:avLst/>
          </a:prstGeom>
        </p:spPr>
      </p:pic>
      <p:sp>
        <p:nvSpPr>
          <p:cNvPr id="64" name="TextBox 63"/>
          <p:cNvSpPr txBox="1"/>
          <p:nvPr/>
        </p:nvSpPr>
        <p:spPr>
          <a:xfrm>
            <a:off x="6302527" y="499300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5" name="TextBox 64"/>
          <p:cNvSpPr txBox="1"/>
          <p:nvPr/>
        </p:nvSpPr>
        <p:spPr>
          <a:xfrm>
            <a:off x="6029325" y="516826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6" name="TextBox 65"/>
          <p:cNvSpPr txBox="1"/>
          <p:nvPr/>
        </p:nvSpPr>
        <p:spPr>
          <a:xfrm>
            <a:off x="8124825" y="4467225"/>
            <a:ext cx="1657350" cy="194310"/>
          </a:xfrm>
          <a:prstGeom prst="rect">
            <a:avLst/>
          </a:prstGeom>
          <a:noFill/>
        </p:spPr>
        <p:txBody>
          <a:bodyPr wrap="none" lIns="0" rIns="0" tIns="0" bIns="0">
            <a:spAutoFit/>
          </a:bodyPr>
          <a:lstStyle/>
          <a:p>
            <a:r>
              <a:rPr sz="1150" b="0">
                <a:solidFill>
                  <a:srgbClr val="2E2E2E"/>
                </a:solidFill>
                <a:latin typeface="Calibri"/>
              </a:rPr>
              <a:t>▪ 'Potted Flowering Plants ×</a:t>
            </a:r>
          </a:p>
        </p:txBody>
      </p:sp>
      <p:sp>
        <p:nvSpPr>
          <p:cNvPr id="67" name="TextBox 66"/>
          <p:cNvSpPr txBox="1"/>
          <p:nvPr/>
        </p:nvSpPr>
        <p:spPr>
          <a:xfrm>
            <a:off x="8124825" y="4642485"/>
            <a:ext cx="1436290" cy="194310"/>
          </a:xfrm>
          <a:prstGeom prst="rect">
            <a:avLst/>
          </a:prstGeom>
          <a:noFill/>
        </p:spPr>
        <p:txBody>
          <a:bodyPr wrap="none" lIns="0" rIns="0" tIns="0" bIns="0">
            <a:spAutoFit/>
          </a:bodyPr>
          <a:lstStyle/>
          <a:p>
            <a:r>
              <a:rPr sz="1150" b="0">
                <a:solidFill>
                  <a:srgbClr val="2E2E2E"/>
                </a:solidFill>
                <a:latin typeface="Calibri"/>
              </a:rPr>
              <a:t>Open-Field Cultivation'</a:t>
            </a:r>
          </a:p>
        </p:txBody>
      </p:sp>
      <p:sp>
        <p:nvSpPr>
          <p:cNvPr id="68" name="TextBox 67"/>
          <p:cNvSpPr txBox="1"/>
          <p:nvPr/>
        </p:nvSpPr>
        <p:spPr>
          <a:xfrm>
            <a:off x="8124825" y="4817745"/>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9" name="Picture 68" descr="lock.png"/>
          <p:cNvPicPr>
            <a:picLocks noChangeAspect="1"/>
          </p:cNvPicPr>
          <p:nvPr/>
        </p:nvPicPr>
        <p:blipFill>
          <a:blip r:embed="rId4"/>
          <a:stretch>
            <a:fillRect/>
          </a:stretch>
        </p:blipFill>
        <p:spPr>
          <a:xfrm>
            <a:off x="8763474" y="4807521"/>
            <a:ext cx="134549" cy="195707"/>
          </a:xfrm>
          <a:prstGeom prst="rect">
            <a:avLst/>
          </a:prstGeom>
        </p:spPr>
      </p:pic>
      <p:sp>
        <p:nvSpPr>
          <p:cNvPr id="70" name="TextBox 69"/>
          <p:cNvSpPr txBox="1"/>
          <p:nvPr/>
        </p:nvSpPr>
        <p:spPr>
          <a:xfrm>
            <a:off x="8938584" y="481774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1" name="Picture 70" descr="lock.png"/>
          <p:cNvPicPr>
            <a:picLocks noChangeAspect="1"/>
          </p:cNvPicPr>
          <p:nvPr/>
        </p:nvPicPr>
        <p:blipFill>
          <a:blip r:embed="rId4"/>
          <a:stretch>
            <a:fillRect/>
          </a:stretch>
        </p:blipFill>
        <p:spPr>
          <a:xfrm>
            <a:off x="9334179" y="4807521"/>
            <a:ext cx="134549" cy="195707"/>
          </a:xfrm>
          <a:prstGeom prst="rect">
            <a:avLst/>
          </a:prstGeom>
        </p:spPr>
      </p:pic>
      <p:sp>
        <p:nvSpPr>
          <p:cNvPr id="72" name="TextBox 71"/>
          <p:cNvSpPr txBox="1"/>
          <p:nvPr/>
        </p:nvSpPr>
        <p:spPr>
          <a:xfrm>
            <a:off x="8124825" y="499300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3" name="TextBox 72"/>
          <p:cNvSpPr txBox="1"/>
          <p:nvPr/>
        </p:nvSpPr>
        <p:spPr>
          <a:xfrm>
            <a:off x="8124825" y="516826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Flower Species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Flower Species, 2026E vs 2036F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flower species sub-segments</a:t>
            </a:r>
          </a:p>
        </p:txBody>
      </p:sp>
      <p:sp>
        <p:nvSpPr>
          <p:cNvPr id="10" name="Rounded Rectangle 9"/>
          <p:cNvSpPr/>
          <p:nvPr/>
        </p:nvSpPr>
        <p:spPr>
          <a:xfrm>
            <a:off x="142875" y="981075"/>
            <a:ext cx="11906250" cy="2038350"/>
          </a:xfrm>
          <a:prstGeom prst="roundRect">
            <a:avLst>
              <a:gd name="adj" fmla="val 373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Flower Species, 2026E and 2036F (US$ Mn)</a:t>
            </a:r>
          </a:p>
        </p:txBody>
      </p:sp>
      <p:graphicFrame>
        <p:nvGraphicFramePr>
          <p:cNvPr id="12" name="Table 11"/>
          <p:cNvGraphicFramePr>
            <a:graphicFrameLocks noGrp="1"/>
          </p:cNvGraphicFramePr>
          <p:nvPr/>
        </p:nvGraphicFramePr>
        <p:xfrm>
          <a:off x="152400" y="1238250"/>
          <a:ext cx="11912299" cy="1571625"/>
        </p:xfrm>
        <a:graphic>
          <a:graphicData uri="http://schemas.openxmlformats.org/drawingml/2006/table">
            <a:tbl>
              <a:tblPr>
                <a:tableStyleId>{5C22544A-7EE6-4342-B048-85BDC9FD1C3A}</a:tableStyleId>
              </a:tblPr>
              <a:tblGrid>
                <a:gridCol w="1638300"/>
                <a:gridCol w="394902"/>
                <a:gridCol w="390266"/>
                <a:gridCol w="394902"/>
                <a:gridCol w="390266"/>
                <a:gridCol w="394902"/>
                <a:gridCol w="390266"/>
                <a:gridCol w="394902"/>
                <a:gridCol w="390266"/>
                <a:gridCol w="394902"/>
                <a:gridCol w="390266"/>
                <a:gridCol w="394902"/>
                <a:gridCol w="390266"/>
                <a:gridCol w="394902"/>
                <a:gridCol w="390266"/>
                <a:gridCol w="394902"/>
                <a:gridCol w="390266"/>
                <a:gridCol w="394902"/>
                <a:gridCol w="390266"/>
                <a:gridCol w="394902"/>
                <a:gridCol w="390266"/>
                <a:gridCol w="394902"/>
                <a:gridCol w="390266"/>
                <a:gridCol w="394902"/>
                <a:gridCol w="390266"/>
                <a:gridCol w="394902"/>
                <a:gridCol w="457081"/>
              </a:tblGrid>
              <a:tr h="438912">
                <a:tc rowSpan="2">
                  <a:txBody>
                    <a:bodyPr wrap="none"/>
                    <a:lstStyle/>
                    <a:p>
                      <a:pPr algn="l"/>
                      <a:r>
                        <a:rPr sz="1100" b="1">
                          <a:solidFill>
                            <a:srgbClr val="0B2E4A"/>
                          </a:solidFill>
                          <a:latin typeface="Calibri"/>
                        </a:rPr>
                        <a:t>Product Type</a:t>
                      </a: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Roses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Carnations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Chrysanthe</a:t>
                      </a:r>
                      <a:endParaRPr sz="1100"/>
                    </a:p>
                    <a:p>
                      <a:pPr algn="ctr"/>
                      <a:r>
                        <a:rPr sz="1100" b="1">
                          <a:solidFill>
                            <a:srgbClr val="0B2E4A"/>
                          </a:solidFill>
                          <a:latin typeface="Calibri"/>
                        </a:rPr>
                        <a:t>mums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Lilies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Alstroemeria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Hydrangeas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Gerbera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Orchids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Tulips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Lisianthus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Peonies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Others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r>
              <a:tr h="249047">
                <a:tc vMerge="1">
                  <a:txBody>
                    <a:bodyPr wrap="none"/>
                    <a:lstStyle/>
                    <a:p>
                      <a:pPr algn="l"/>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r>
              <a:tr h="249047">
                <a:tc>
                  <a:txBody>
                    <a:bodyPr wrap="none"/>
                    <a:lstStyle/>
                    <a:p>
                      <a:pPr algn="l"/>
                      <a:r>
                        <a:rPr sz="1100" b="1">
                          <a:solidFill>
                            <a:srgbClr val="2E2E2E"/>
                          </a:solidFill>
                          <a:latin typeface="Calibri"/>
                        </a:rPr>
                        <a:t>Cut Flowers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4619">
                <a:tc>
                  <a:txBody>
                    <a:bodyPr wrap="none"/>
                    <a:lstStyle/>
                    <a:p>
                      <a:pPr algn="l"/>
                      <a:r>
                        <a:rPr sz="1100" b="1">
                          <a:solidFill>
                            <a:srgbClr val="2E2E2E"/>
                          </a:solidFill>
                          <a:latin typeface="Calibri"/>
                        </a:rPr>
                        <a:t>Potted</a:t>
                      </a:r>
                      <a:endParaRPr sz="1100"/>
                    </a:p>
                    <a:p>
                      <a:pPr algn="l"/>
                      <a:r>
                        <a:rPr sz="1100" b="1">
                          <a:solidFill>
                            <a:srgbClr val="2E2E2E"/>
                          </a:solidFill>
                          <a:latin typeface="Calibri"/>
                        </a:rPr>
                        <a:t>Flowering</a:t>
                      </a:r>
                      <a:endParaRPr sz="1100"/>
                    </a:p>
                    <a:p>
                      <a:pPr algn="l"/>
                      <a:r>
                        <a:rPr sz="1100" b="1">
                          <a:solidFill>
                            <a:srgbClr val="2E2E2E"/>
                          </a:solidFill>
                          <a:latin typeface="Calibri"/>
                        </a:rPr>
                        <a:t>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bl>
          </a:graphicData>
        </a:graphic>
      </p:graphicFrame>
      <p:sp>
        <p:nvSpPr>
          <p:cNvPr id="13" name="TextBox 12"/>
          <p:cNvSpPr txBox="1"/>
          <p:nvPr/>
        </p:nvSpPr>
        <p:spPr>
          <a:xfrm>
            <a:off x="219075" y="2819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430830" y="2101342"/>
            <a:ext cx="366712" cy="5334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Flower Species, 2026E vs 2036F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flower species sub-segments</a:t>
            </a:r>
          </a:p>
        </p:txBody>
      </p:sp>
      <p:sp>
        <p:nvSpPr>
          <p:cNvPr id="10" name="Rounded Rectangle 9"/>
          <p:cNvSpPr/>
          <p:nvPr/>
        </p:nvSpPr>
        <p:spPr>
          <a:xfrm>
            <a:off x="142875" y="981075"/>
            <a:ext cx="11906250" cy="5143500"/>
          </a:xfrm>
          <a:prstGeom prst="roundRect">
            <a:avLst>
              <a:gd name="adj" fmla="val 14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Type × Flower Species, 2026E and 2036F (US$ Mn)</a:t>
            </a:r>
          </a:p>
        </p:txBody>
      </p:sp>
      <p:graphicFrame>
        <p:nvGraphicFramePr>
          <p:cNvPr id="12" name="Table 11"/>
          <p:cNvGraphicFramePr>
            <a:graphicFrameLocks noGrp="1"/>
          </p:cNvGraphicFramePr>
          <p:nvPr/>
        </p:nvGraphicFramePr>
        <p:xfrm>
          <a:off x="152400" y="1238250"/>
          <a:ext cx="11955374" cy="4676776"/>
        </p:xfrm>
        <a:graphic>
          <a:graphicData uri="http://schemas.openxmlformats.org/drawingml/2006/table">
            <a:tbl>
              <a:tblPr>
                <a:tableStyleId>{5C22544A-7EE6-4342-B048-85BDC9FD1C3A}</a:tableStyleId>
              </a:tblPr>
              <a:tblGrid>
                <a:gridCol w="2476505"/>
                <a:gridCol w="355529"/>
                <a:gridCol w="351355"/>
                <a:gridCol w="355529"/>
                <a:gridCol w="388920"/>
                <a:gridCol w="355529"/>
                <a:gridCol w="351355"/>
                <a:gridCol w="355529"/>
                <a:gridCol w="388920"/>
                <a:gridCol w="355529"/>
                <a:gridCol w="351355"/>
                <a:gridCol w="355529"/>
                <a:gridCol w="351355"/>
                <a:gridCol w="355529"/>
                <a:gridCol w="388920"/>
                <a:gridCol w="355529"/>
                <a:gridCol w="351355"/>
                <a:gridCol w="355529"/>
                <a:gridCol w="388920"/>
                <a:gridCol w="355529"/>
                <a:gridCol w="351355"/>
                <a:gridCol w="355529"/>
                <a:gridCol w="351355"/>
                <a:gridCol w="355529"/>
                <a:gridCol w="351355"/>
                <a:gridCol w="388920"/>
                <a:gridCol w="457081"/>
              </a:tblGrid>
              <a:tr h="438912">
                <a:tc rowSpan="2">
                  <a:txBody>
                    <a:bodyPr wrap="none"/>
                    <a:lstStyle/>
                    <a:p>
                      <a:pPr algn="l"/>
                      <a:r>
                        <a:rPr sz="1100" b="1">
                          <a:solidFill>
                            <a:srgbClr val="0B2E4A"/>
                          </a:solidFill>
                          <a:latin typeface="Calibri"/>
                        </a:rPr>
                        <a:t>Product</a:t>
                      </a:r>
                      <a:endParaRPr sz="1100"/>
                    </a:p>
                    <a:p>
                      <a:pPr algn="l"/>
                      <a:r>
                        <a:rPr sz="1100" b="1">
                          <a:solidFill>
                            <a:srgbClr val="0B2E4A"/>
                          </a:solidFill>
                          <a:latin typeface="Calibri"/>
                        </a:rPr>
                        <a:t>Type</a:t>
                      </a: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Roses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Carnations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Chrysanthe</a:t>
                      </a:r>
                      <a:endParaRPr sz="1100"/>
                    </a:p>
                    <a:p>
                      <a:pPr algn="ctr"/>
                      <a:r>
                        <a:rPr sz="1100" b="1">
                          <a:solidFill>
                            <a:srgbClr val="0B2E4A"/>
                          </a:solidFill>
                          <a:latin typeface="Calibri"/>
                        </a:rPr>
                        <a:t>mums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Lilies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Alstroemeria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Hydrangeas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Gerbera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Orchids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Tulips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Lisianthus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Peonies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Others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r>
              <a:tr h="247378">
                <a:tc vMerge="1">
                  <a:txBody>
                    <a:bodyPr wrap="none"/>
                    <a:lstStyle/>
                    <a:p>
                      <a:pPr algn="l"/>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r>
              <a:tr h="632950">
                <a:tc>
                  <a:txBody>
                    <a:bodyPr wrap="none"/>
                    <a:lstStyle/>
                    <a:p>
                      <a:pPr algn="l"/>
                      <a:r>
                        <a:rPr sz="1100" b="1">
                          <a:solidFill>
                            <a:srgbClr val="2E2E2E"/>
                          </a:solidFill>
                          <a:latin typeface="Calibri"/>
                        </a:rPr>
                        <a:t>Potted</a:t>
                      </a:r>
                      <a:endParaRPr sz="1100"/>
                    </a:p>
                    <a:p>
                      <a:pPr algn="l"/>
                      <a:r>
                        <a:rPr sz="1100" b="1">
                          <a:solidFill>
                            <a:srgbClr val="2E2E2E"/>
                          </a:solidFill>
                          <a:latin typeface="Calibri"/>
                        </a:rPr>
                        <a:t>Foliage</a:t>
                      </a:r>
                      <a:endParaRPr sz="1100"/>
                    </a:p>
                    <a:p>
                      <a:pPr algn="l"/>
                      <a:r>
                        <a:rPr sz="1100" b="1">
                          <a:solidFill>
                            <a:srgbClr val="2E2E2E"/>
                          </a:solidFill>
                          <a:latin typeface="Calibri"/>
                        </a:rPr>
                        <a:t>Plants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825736">
                <a:tc>
                  <a:txBody>
                    <a:bodyPr wrap="none"/>
                    <a:lstStyle/>
                    <a:p>
                      <a:pPr algn="l"/>
                      <a:r>
                        <a:rPr sz="1100" b="1">
                          <a:solidFill>
                            <a:srgbClr val="2E2E2E"/>
                          </a:solidFill>
                          <a:latin typeface="Calibri"/>
                        </a:rPr>
                        <a:t>Bedding &amp;</a:t>
                      </a:r>
                      <a:endParaRPr sz="1100"/>
                    </a:p>
                    <a:p>
                      <a:pPr algn="l"/>
                      <a:r>
                        <a:rPr sz="1100" b="1">
                          <a:solidFill>
                            <a:srgbClr val="2E2E2E"/>
                          </a:solidFill>
                          <a:latin typeface="Calibri"/>
                        </a:rPr>
                        <a:t>Garden</a:t>
                      </a:r>
                      <a:endParaRPr sz="1100"/>
                    </a:p>
                    <a:p>
                      <a:pPr algn="l"/>
                      <a:r>
                        <a:rPr sz="1100" b="1">
                          <a:solidFill>
                            <a:srgbClr val="2E2E2E"/>
                          </a:solidFill>
                          <a:latin typeface="Calibri"/>
                        </a:rPr>
                        <a:t>Flowering</a:t>
                      </a:r>
                      <a:endParaRPr sz="1100"/>
                    </a:p>
                    <a:p>
                      <a:pPr algn="l"/>
                      <a:r>
                        <a:rPr sz="1100" b="1">
                          <a:solidFill>
                            <a:srgbClr val="2E2E2E"/>
                          </a:solidFill>
                          <a:latin typeface="Calibri"/>
                        </a:rPr>
                        <a:t>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40164">
                <a:tc>
                  <a:txBody>
                    <a:bodyPr wrap="none"/>
                    <a:lstStyle/>
                    <a:p>
                      <a:pPr algn="l"/>
                      <a:r>
                        <a:rPr sz="1100" b="1">
                          <a:solidFill>
                            <a:srgbClr val="2E2E2E"/>
                          </a:solidFill>
                          <a:latin typeface="Calibri"/>
                        </a:rPr>
                        <a:t>Cut Foliage</a:t>
                      </a:r>
                      <a:endParaRPr sz="1100"/>
                    </a:p>
                    <a:p>
                      <a:pPr algn="l"/>
                      <a:r>
                        <a:rPr sz="1100" b="1">
                          <a:solidFill>
                            <a:srgbClr val="2E2E2E"/>
                          </a:solidFill>
                          <a:latin typeface="Calibri"/>
                        </a:rPr>
                        <a:t>&amp; Greens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825736">
                <a:tc>
                  <a:txBody>
                    <a:bodyPr wrap="none"/>
                    <a:lstStyle/>
                    <a:p>
                      <a:pPr algn="l"/>
                      <a:r>
                        <a:rPr sz="1100" b="1">
                          <a:solidFill>
                            <a:srgbClr val="2E2E2E"/>
                          </a:solidFill>
                          <a:latin typeface="Calibri"/>
                        </a:rPr>
                        <a:t>Young</a:t>
                      </a:r>
                      <a:endParaRPr sz="1100"/>
                    </a:p>
                    <a:p>
                      <a:pPr algn="l"/>
                      <a:r>
                        <a:rPr sz="1100" b="1">
                          <a:solidFill>
                            <a:srgbClr val="2E2E2E"/>
                          </a:solidFill>
                          <a:latin typeface="Calibri"/>
                        </a:rPr>
                        <a:t>Plants &amp;</a:t>
                      </a:r>
                      <a:endParaRPr sz="1100"/>
                    </a:p>
                    <a:p>
                      <a:pPr algn="l"/>
                      <a:r>
                        <a:rPr sz="1100" b="1">
                          <a:solidFill>
                            <a:srgbClr val="2E2E2E"/>
                          </a:solidFill>
                          <a:latin typeface="Calibri"/>
                        </a:rPr>
                        <a:t>Propagation</a:t>
                      </a:r>
                      <a:endParaRPr sz="1100"/>
                    </a:p>
                    <a:p>
                      <a:pPr algn="l"/>
                      <a:r>
                        <a:rPr sz="1100" b="1">
                          <a:solidFill>
                            <a:srgbClr val="2E2E2E"/>
                          </a:solidFill>
                          <a:latin typeface="Calibri"/>
                        </a:rPr>
                        <a:t>Material</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1018522">
                <a:tc>
                  <a:txBody>
                    <a:bodyPr wrap="none"/>
                    <a:lstStyle/>
                    <a:p>
                      <a:pPr algn="l"/>
                      <a:r>
                        <a:rPr sz="1100" b="1">
                          <a:solidFill>
                            <a:srgbClr val="2E2E2E"/>
                          </a:solidFill>
                          <a:latin typeface="Calibri"/>
                        </a:rPr>
                        <a:t>Flower</a:t>
                      </a:r>
                      <a:endParaRPr sz="1100"/>
                    </a:p>
                    <a:p>
                      <a:pPr algn="l"/>
                      <a:r>
                        <a:rPr sz="1100" b="1">
                          <a:solidFill>
                            <a:srgbClr val="2E2E2E"/>
                          </a:solidFill>
                          <a:latin typeface="Calibri"/>
                        </a:rPr>
                        <a:t>Bulbs,</a:t>
                      </a:r>
                      <a:endParaRPr sz="1100"/>
                    </a:p>
                    <a:p>
                      <a:pPr algn="l"/>
                      <a:r>
                        <a:rPr sz="1100" b="1">
                          <a:solidFill>
                            <a:srgbClr val="2E2E2E"/>
                          </a:solidFill>
                          <a:latin typeface="Calibri"/>
                        </a:rPr>
                        <a:t>Corms,</a:t>
                      </a:r>
                      <a:endParaRPr sz="1100"/>
                    </a:p>
                    <a:p>
                      <a:pPr algn="l"/>
                      <a:r>
                        <a:rPr sz="1100" b="1">
                          <a:solidFill>
                            <a:srgbClr val="2E2E2E"/>
                          </a:solidFill>
                          <a:latin typeface="Calibri"/>
                        </a:rPr>
                        <a:t>Rhizomes &amp;</a:t>
                      </a:r>
                      <a:endParaRPr sz="1100"/>
                    </a:p>
                    <a:p>
                      <a:pPr algn="l"/>
                      <a:r>
                        <a:rPr sz="1100" b="1">
                          <a:solidFill>
                            <a:srgbClr val="2E2E2E"/>
                          </a:solidFill>
                          <a:latin typeface="Calibri"/>
                        </a:rPr>
                        <a:t>Tubers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378">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322912" y="3653083"/>
            <a:ext cx="366712" cy="5334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Type × Flower Species, 2026E vs 2036F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type sub-segment across flower species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Product Type → Flower Species, 2036F (US$ Mn)</a:t>
            </a:r>
          </a:p>
        </p:txBody>
      </p:sp>
      <p:sp>
        <p:nvSpPr>
          <p:cNvPr id="12" name="Freeform 11"/>
          <p:cNvSpPr/>
          <p:nvPr/>
        </p:nvSpPr>
        <p:spPr>
          <a:xfrm>
            <a:off x="2057400" y="1304925"/>
            <a:ext cx="3743325" cy="266700"/>
          </a:xfrm>
          <a:custGeom>
            <a:avLst/>
            <a:gdLst/>
            <a:ahLst/>
            <a:cxnLst/>
            <a:rect l="l" t="t" r="r" b="b"/>
            <a:pathLst>
              <a:path w="393" h="28">
                <a:moveTo>
                  <a:pt x="0" y="15"/>
                </a:moveTo>
                <a:lnTo>
                  <a:pt x="16" y="15"/>
                </a:lnTo>
                <a:lnTo>
                  <a:pt x="33" y="15"/>
                </a:lnTo>
                <a:lnTo>
                  <a:pt x="49" y="14"/>
                </a:lnTo>
                <a:lnTo>
                  <a:pt x="65" y="14"/>
                </a:lnTo>
                <a:lnTo>
                  <a:pt x="82" y="13"/>
                </a:lnTo>
                <a:lnTo>
                  <a:pt x="98" y="13"/>
                </a:lnTo>
                <a:lnTo>
                  <a:pt x="114" y="12"/>
                </a:lnTo>
                <a:lnTo>
                  <a:pt x="131" y="11"/>
                </a:lnTo>
                <a:lnTo>
                  <a:pt x="147" y="10"/>
                </a:lnTo>
                <a:lnTo>
                  <a:pt x="164" y="9"/>
                </a:lnTo>
                <a:lnTo>
                  <a:pt x="180" y="8"/>
                </a:lnTo>
                <a:lnTo>
                  <a:pt x="196" y="7"/>
                </a:lnTo>
                <a:lnTo>
                  <a:pt x="213" y="7"/>
                </a:lnTo>
                <a:lnTo>
                  <a:pt x="229" y="6"/>
                </a:lnTo>
                <a:lnTo>
                  <a:pt x="246" y="5"/>
                </a:lnTo>
                <a:lnTo>
                  <a:pt x="262" y="4"/>
                </a:lnTo>
                <a:lnTo>
                  <a:pt x="278" y="3"/>
                </a:lnTo>
                <a:lnTo>
                  <a:pt x="295" y="2"/>
                </a:lnTo>
                <a:lnTo>
                  <a:pt x="311" y="2"/>
                </a:lnTo>
                <a:lnTo>
                  <a:pt x="327" y="1"/>
                </a:lnTo>
                <a:lnTo>
                  <a:pt x="344" y="1"/>
                </a:lnTo>
                <a:lnTo>
                  <a:pt x="360" y="0"/>
                </a:lnTo>
                <a:lnTo>
                  <a:pt x="377" y="0"/>
                </a:lnTo>
                <a:lnTo>
                  <a:pt x="393" y="0"/>
                </a:lnTo>
                <a:lnTo>
                  <a:pt x="393" y="13"/>
                </a:lnTo>
                <a:lnTo>
                  <a:pt x="377" y="13"/>
                </a:lnTo>
                <a:lnTo>
                  <a:pt x="360" y="14"/>
                </a:lnTo>
                <a:lnTo>
                  <a:pt x="344" y="14"/>
                </a:lnTo>
                <a:lnTo>
                  <a:pt x="327" y="14"/>
                </a:lnTo>
                <a:lnTo>
                  <a:pt x="311" y="15"/>
                </a:lnTo>
                <a:lnTo>
                  <a:pt x="295" y="16"/>
                </a:lnTo>
                <a:lnTo>
                  <a:pt x="278" y="16"/>
                </a:lnTo>
                <a:lnTo>
                  <a:pt x="262" y="17"/>
                </a:lnTo>
                <a:lnTo>
                  <a:pt x="246" y="18"/>
                </a:lnTo>
                <a:lnTo>
                  <a:pt x="229" y="19"/>
                </a:lnTo>
                <a:lnTo>
                  <a:pt x="213" y="20"/>
                </a:lnTo>
                <a:lnTo>
                  <a:pt x="196" y="21"/>
                </a:lnTo>
                <a:lnTo>
                  <a:pt x="180" y="22"/>
                </a:lnTo>
                <a:lnTo>
                  <a:pt x="164" y="23"/>
                </a:lnTo>
                <a:lnTo>
                  <a:pt x="147" y="24"/>
                </a:lnTo>
                <a:lnTo>
                  <a:pt x="131" y="24"/>
                </a:lnTo>
                <a:lnTo>
                  <a:pt x="114" y="25"/>
                </a:lnTo>
                <a:lnTo>
                  <a:pt x="98" y="26"/>
                </a:lnTo>
                <a:lnTo>
                  <a:pt x="82" y="27"/>
                </a:lnTo>
                <a:lnTo>
                  <a:pt x="65" y="27"/>
                </a:lnTo>
                <a:lnTo>
                  <a:pt x="49" y="28"/>
                </a:lnTo>
                <a:lnTo>
                  <a:pt x="33" y="28"/>
                </a:lnTo>
                <a:lnTo>
                  <a:pt x="16" y="28"/>
                </a:lnTo>
                <a:lnTo>
                  <a:pt x="0" y="2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71625"/>
            <a:ext cx="3743325" cy="790575"/>
          </a:xfrm>
          <a:custGeom>
            <a:avLst/>
            <a:gdLst/>
            <a:ahLst/>
            <a:cxnLst/>
            <a:rect l="l" t="t" r="r" b="b"/>
            <a:pathLst>
              <a:path w="393" h="83">
                <a:moveTo>
                  <a:pt x="0" y="0"/>
                </a:moveTo>
                <a:lnTo>
                  <a:pt x="16" y="1"/>
                </a:lnTo>
                <a:lnTo>
                  <a:pt x="33" y="2"/>
                </a:lnTo>
                <a:lnTo>
                  <a:pt x="49" y="3"/>
                </a:lnTo>
                <a:lnTo>
                  <a:pt x="65" y="6"/>
                </a:lnTo>
                <a:lnTo>
                  <a:pt x="82" y="8"/>
                </a:lnTo>
                <a:lnTo>
                  <a:pt x="98" y="11"/>
                </a:lnTo>
                <a:lnTo>
                  <a:pt x="114" y="15"/>
                </a:lnTo>
                <a:lnTo>
                  <a:pt x="131" y="19"/>
                </a:lnTo>
                <a:lnTo>
                  <a:pt x="147" y="23"/>
                </a:lnTo>
                <a:lnTo>
                  <a:pt x="164" y="27"/>
                </a:lnTo>
                <a:lnTo>
                  <a:pt x="180" y="31"/>
                </a:lnTo>
                <a:lnTo>
                  <a:pt x="196" y="36"/>
                </a:lnTo>
                <a:lnTo>
                  <a:pt x="213" y="40"/>
                </a:lnTo>
                <a:lnTo>
                  <a:pt x="229" y="44"/>
                </a:lnTo>
                <a:lnTo>
                  <a:pt x="246" y="49"/>
                </a:lnTo>
                <a:lnTo>
                  <a:pt x="262" y="53"/>
                </a:lnTo>
                <a:lnTo>
                  <a:pt x="278" y="56"/>
                </a:lnTo>
                <a:lnTo>
                  <a:pt x="295" y="60"/>
                </a:lnTo>
                <a:lnTo>
                  <a:pt x="311" y="63"/>
                </a:lnTo>
                <a:lnTo>
                  <a:pt x="327" y="66"/>
                </a:lnTo>
                <a:lnTo>
                  <a:pt x="344" y="68"/>
                </a:lnTo>
                <a:lnTo>
                  <a:pt x="360" y="70"/>
                </a:lnTo>
                <a:lnTo>
                  <a:pt x="377" y="71"/>
                </a:lnTo>
                <a:lnTo>
                  <a:pt x="393" y="71"/>
                </a:lnTo>
                <a:lnTo>
                  <a:pt x="393" y="83"/>
                </a:lnTo>
                <a:lnTo>
                  <a:pt x="377" y="83"/>
                </a:lnTo>
                <a:lnTo>
                  <a:pt x="360" y="81"/>
                </a:lnTo>
                <a:lnTo>
                  <a:pt x="344" y="80"/>
                </a:lnTo>
                <a:lnTo>
                  <a:pt x="327" y="78"/>
                </a:lnTo>
                <a:lnTo>
                  <a:pt x="311" y="75"/>
                </a:lnTo>
                <a:lnTo>
                  <a:pt x="295" y="72"/>
                </a:lnTo>
                <a:lnTo>
                  <a:pt x="278" y="68"/>
                </a:lnTo>
                <a:lnTo>
                  <a:pt x="262" y="65"/>
                </a:lnTo>
                <a:lnTo>
                  <a:pt x="246" y="60"/>
                </a:lnTo>
                <a:lnTo>
                  <a:pt x="229" y="56"/>
                </a:lnTo>
                <a:lnTo>
                  <a:pt x="213" y="52"/>
                </a:lnTo>
                <a:lnTo>
                  <a:pt x="196" y="48"/>
                </a:lnTo>
                <a:lnTo>
                  <a:pt x="180" y="43"/>
                </a:lnTo>
                <a:lnTo>
                  <a:pt x="164" y="39"/>
                </a:lnTo>
                <a:lnTo>
                  <a:pt x="147" y="35"/>
                </a:lnTo>
                <a:lnTo>
                  <a:pt x="131" y="30"/>
                </a:lnTo>
                <a:lnTo>
                  <a:pt x="114" y="27"/>
                </a:lnTo>
                <a:lnTo>
                  <a:pt x="98" y="23"/>
                </a:lnTo>
                <a:lnTo>
                  <a:pt x="82" y="20"/>
                </a:lnTo>
                <a:lnTo>
                  <a:pt x="65" y="17"/>
                </a:lnTo>
                <a:lnTo>
                  <a:pt x="49" y="15"/>
                </a:lnTo>
                <a:lnTo>
                  <a:pt x="33" y="14"/>
                </a:lnTo>
                <a:lnTo>
                  <a:pt x="16" y="13"/>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85925"/>
            <a:ext cx="3743325" cy="1485900"/>
          </a:xfrm>
          <a:custGeom>
            <a:avLst/>
            <a:gdLst/>
            <a:ahLst/>
            <a:cxnLst/>
            <a:rect l="l" t="t" r="r" b="b"/>
            <a:pathLst>
              <a:path w="393" h="156">
                <a:moveTo>
                  <a:pt x="0" y="0"/>
                </a:moveTo>
                <a:lnTo>
                  <a:pt x="16" y="1"/>
                </a:lnTo>
                <a:lnTo>
                  <a:pt x="33" y="3"/>
                </a:lnTo>
                <a:lnTo>
                  <a:pt x="49" y="7"/>
                </a:lnTo>
                <a:lnTo>
                  <a:pt x="65" y="11"/>
                </a:lnTo>
                <a:lnTo>
                  <a:pt x="82" y="17"/>
                </a:lnTo>
                <a:lnTo>
                  <a:pt x="98" y="23"/>
                </a:lnTo>
                <a:lnTo>
                  <a:pt x="114" y="31"/>
                </a:lnTo>
                <a:lnTo>
                  <a:pt x="131" y="39"/>
                </a:lnTo>
                <a:lnTo>
                  <a:pt x="147" y="47"/>
                </a:lnTo>
                <a:lnTo>
                  <a:pt x="164" y="56"/>
                </a:lnTo>
                <a:lnTo>
                  <a:pt x="180" y="65"/>
                </a:lnTo>
                <a:lnTo>
                  <a:pt x="196" y="74"/>
                </a:lnTo>
                <a:lnTo>
                  <a:pt x="213" y="83"/>
                </a:lnTo>
                <a:lnTo>
                  <a:pt x="229" y="92"/>
                </a:lnTo>
                <a:lnTo>
                  <a:pt x="246" y="101"/>
                </a:lnTo>
                <a:lnTo>
                  <a:pt x="262" y="110"/>
                </a:lnTo>
                <a:lnTo>
                  <a:pt x="278" y="118"/>
                </a:lnTo>
                <a:lnTo>
                  <a:pt x="295" y="125"/>
                </a:lnTo>
                <a:lnTo>
                  <a:pt x="311" y="131"/>
                </a:lnTo>
                <a:lnTo>
                  <a:pt x="327" y="137"/>
                </a:lnTo>
                <a:lnTo>
                  <a:pt x="344" y="142"/>
                </a:lnTo>
                <a:lnTo>
                  <a:pt x="360" y="145"/>
                </a:lnTo>
                <a:lnTo>
                  <a:pt x="377" y="147"/>
                </a:lnTo>
                <a:lnTo>
                  <a:pt x="393" y="148"/>
                </a:lnTo>
                <a:lnTo>
                  <a:pt x="393" y="156"/>
                </a:lnTo>
                <a:lnTo>
                  <a:pt x="377" y="155"/>
                </a:lnTo>
                <a:lnTo>
                  <a:pt x="360" y="153"/>
                </a:lnTo>
                <a:lnTo>
                  <a:pt x="344" y="150"/>
                </a:lnTo>
                <a:lnTo>
                  <a:pt x="327" y="145"/>
                </a:lnTo>
                <a:lnTo>
                  <a:pt x="311" y="140"/>
                </a:lnTo>
                <a:lnTo>
                  <a:pt x="295" y="133"/>
                </a:lnTo>
                <a:lnTo>
                  <a:pt x="278" y="126"/>
                </a:lnTo>
                <a:lnTo>
                  <a:pt x="262" y="118"/>
                </a:lnTo>
                <a:lnTo>
                  <a:pt x="246" y="109"/>
                </a:lnTo>
                <a:lnTo>
                  <a:pt x="229" y="100"/>
                </a:lnTo>
                <a:lnTo>
                  <a:pt x="213" y="91"/>
                </a:lnTo>
                <a:lnTo>
                  <a:pt x="196" y="82"/>
                </a:lnTo>
                <a:lnTo>
                  <a:pt x="180" y="73"/>
                </a:lnTo>
                <a:lnTo>
                  <a:pt x="164" y="64"/>
                </a:lnTo>
                <a:lnTo>
                  <a:pt x="147" y="55"/>
                </a:lnTo>
                <a:lnTo>
                  <a:pt x="131" y="47"/>
                </a:lnTo>
                <a:lnTo>
                  <a:pt x="114" y="39"/>
                </a:lnTo>
                <a:lnTo>
                  <a:pt x="98" y="31"/>
                </a:lnTo>
                <a:lnTo>
                  <a:pt x="82" y="25"/>
                </a:lnTo>
                <a:lnTo>
                  <a:pt x="65" y="19"/>
                </a:lnTo>
                <a:lnTo>
                  <a:pt x="49" y="15"/>
                </a:lnTo>
                <a:lnTo>
                  <a:pt x="33" y="11"/>
                </a:lnTo>
                <a:lnTo>
                  <a:pt x="16" y="9"/>
                </a:lnTo>
                <a:lnTo>
                  <a:pt x="0" y="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62125"/>
            <a:ext cx="3743325" cy="2000250"/>
          </a:xfrm>
          <a:custGeom>
            <a:avLst/>
            <a:gdLst/>
            <a:ahLst/>
            <a:cxnLst/>
            <a:rect l="l" t="t" r="r" b="b"/>
            <a:pathLst>
              <a:path w="393" h="210">
                <a:moveTo>
                  <a:pt x="0" y="0"/>
                </a:moveTo>
                <a:lnTo>
                  <a:pt x="16" y="1"/>
                </a:lnTo>
                <a:lnTo>
                  <a:pt x="33" y="4"/>
                </a:lnTo>
                <a:lnTo>
                  <a:pt x="49" y="9"/>
                </a:lnTo>
                <a:lnTo>
                  <a:pt x="65" y="15"/>
                </a:lnTo>
                <a:lnTo>
                  <a:pt x="82" y="23"/>
                </a:lnTo>
                <a:lnTo>
                  <a:pt x="98" y="32"/>
                </a:lnTo>
                <a:lnTo>
                  <a:pt x="114" y="42"/>
                </a:lnTo>
                <a:lnTo>
                  <a:pt x="131" y="53"/>
                </a:lnTo>
                <a:lnTo>
                  <a:pt x="147" y="64"/>
                </a:lnTo>
                <a:lnTo>
                  <a:pt x="164" y="76"/>
                </a:lnTo>
                <a:lnTo>
                  <a:pt x="180" y="89"/>
                </a:lnTo>
                <a:lnTo>
                  <a:pt x="196" y="101"/>
                </a:lnTo>
                <a:lnTo>
                  <a:pt x="213" y="114"/>
                </a:lnTo>
                <a:lnTo>
                  <a:pt x="229" y="126"/>
                </a:lnTo>
                <a:lnTo>
                  <a:pt x="246" y="138"/>
                </a:lnTo>
                <a:lnTo>
                  <a:pt x="262" y="150"/>
                </a:lnTo>
                <a:lnTo>
                  <a:pt x="278" y="161"/>
                </a:lnTo>
                <a:lnTo>
                  <a:pt x="295" y="171"/>
                </a:lnTo>
                <a:lnTo>
                  <a:pt x="311" y="180"/>
                </a:lnTo>
                <a:lnTo>
                  <a:pt x="327" y="187"/>
                </a:lnTo>
                <a:lnTo>
                  <a:pt x="344" y="194"/>
                </a:lnTo>
                <a:lnTo>
                  <a:pt x="360" y="198"/>
                </a:lnTo>
                <a:lnTo>
                  <a:pt x="377" y="201"/>
                </a:lnTo>
                <a:lnTo>
                  <a:pt x="393" y="202"/>
                </a:lnTo>
                <a:lnTo>
                  <a:pt x="393" y="210"/>
                </a:lnTo>
                <a:lnTo>
                  <a:pt x="377" y="209"/>
                </a:lnTo>
                <a:lnTo>
                  <a:pt x="360" y="206"/>
                </a:lnTo>
                <a:lnTo>
                  <a:pt x="344" y="201"/>
                </a:lnTo>
                <a:lnTo>
                  <a:pt x="327" y="195"/>
                </a:lnTo>
                <a:lnTo>
                  <a:pt x="311" y="188"/>
                </a:lnTo>
                <a:lnTo>
                  <a:pt x="295" y="179"/>
                </a:lnTo>
                <a:lnTo>
                  <a:pt x="278" y="169"/>
                </a:lnTo>
                <a:lnTo>
                  <a:pt x="262" y="158"/>
                </a:lnTo>
                <a:lnTo>
                  <a:pt x="246" y="146"/>
                </a:lnTo>
                <a:lnTo>
                  <a:pt x="229" y="134"/>
                </a:lnTo>
                <a:lnTo>
                  <a:pt x="213" y="122"/>
                </a:lnTo>
                <a:lnTo>
                  <a:pt x="196" y="109"/>
                </a:lnTo>
                <a:lnTo>
                  <a:pt x="180" y="96"/>
                </a:lnTo>
                <a:lnTo>
                  <a:pt x="164" y="84"/>
                </a:lnTo>
                <a:lnTo>
                  <a:pt x="147" y="72"/>
                </a:lnTo>
                <a:lnTo>
                  <a:pt x="131" y="60"/>
                </a:lnTo>
                <a:lnTo>
                  <a:pt x="114" y="50"/>
                </a:lnTo>
                <a:lnTo>
                  <a:pt x="98" y="40"/>
                </a:lnTo>
                <a:lnTo>
                  <a:pt x="82" y="31"/>
                </a:lnTo>
                <a:lnTo>
                  <a:pt x="65" y="23"/>
                </a:lnTo>
                <a:lnTo>
                  <a:pt x="49" y="17"/>
                </a:lnTo>
                <a:lnTo>
                  <a:pt x="33" y="12"/>
                </a:lnTo>
                <a:lnTo>
                  <a:pt x="16" y="9"/>
                </a:lnTo>
                <a:lnTo>
                  <a:pt x="0" y="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1838325"/>
            <a:ext cx="3743325" cy="2486025"/>
          </a:xfrm>
          <a:custGeom>
            <a:avLst/>
            <a:gdLst/>
            <a:ahLst/>
            <a:cxnLst/>
            <a:rect l="l" t="t" r="r" b="b"/>
            <a:pathLst>
              <a:path w="393" h="261">
                <a:moveTo>
                  <a:pt x="0" y="0"/>
                </a:moveTo>
                <a:lnTo>
                  <a:pt x="16" y="1"/>
                </a:lnTo>
                <a:lnTo>
                  <a:pt x="33" y="5"/>
                </a:lnTo>
                <a:lnTo>
                  <a:pt x="49" y="11"/>
                </a:lnTo>
                <a:lnTo>
                  <a:pt x="65" y="19"/>
                </a:lnTo>
                <a:lnTo>
                  <a:pt x="82" y="28"/>
                </a:lnTo>
                <a:lnTo>
                  <a:pt x="98" y="40"/>
                </a:lnTo>
                <a:lnTo>
                  <a:pt x="114" y="52"/>
                </a:lnTo>
                <a:lnTo>
                  <a:pt x="131" y="66"/>
                </a:lnTo>
                <a:lnTo>
                  <a:pt x="147" y="81"/>
                </a:lnTo>
                <a:lnTo>
                  <a:pt x="164" y="96"/>
                </a:lnTo>
                <a:lnTo>
                  <a:pt x="180" y="111"/>
                </a:lnTo>
                <a:lnTo>
                  <a:pt x="196" y="127"/>
                </a:lnTo>
                <a:lnTo>
                  <a:pt x="213" y="143"/>
                </a:lnTo>
                <a:lnTo>
                  <a:pt x="229" y="159"/>
                </a:lnTo>
                <a:lnTo>
                  <a:pt x="246" y="174"/>
                </a:lnTo>
                <a:lnTo>
                  <a:pt x="262" y="189"/>
                </a:lnTo>
                <a:lnTo>
                  <a:pt x="278" y="202"/>
                </a:lnTo>
                <a:lnTo>
                  <a:pt x="295" y="215"/>
                </a:lnTo>
                <a:lnTo>
                  <a:pt x="311" y="226"/>
                </a:lnTo>
                <a:lnTo>
                  <a:pt x="327" y="236"/>
                </a:lnTo>
                <a:lnTo>
                  <a:pt x="344" y="244"/>
                </a:lnTo>
                <a:lnTo>
                  <a:pt x="360" y="250"/>
                </a:lnTo>
                <a:lnTo>
                  <a:pt x="377" y="253"/>
                </a:lnTo>
                <a:lnTo>
                  <a:pt x="393" y="255"/>
                </a:lnTo>
                <a:lnTo>
                  <a:pt x="393" y="261"/>
                </a:lnTo>
                <a:lnTo>
                  <a:pt x="377" y="260"/>
                </a:lnTo>
                <a:lnTo>
                  <a:pt x="360" y="256"/>
                </a:lnTo>
                <a:lnTo>
                  <a:pt x="344" y="250"/>
                </a:lnTo>
                <a:lnTo>
                  <a:pt x="327" y="242"/>
                </a:lnTo>
                <a:lnTo>
                  <a:pt x="311" y="233"/>
                </a:lnTo>
                <a:lnTo>
                  <a:pt x="295" y="221"/>
                </a:lnTo>
                <a:lnTo>
                  <a:pt x="278" y="209"/>
                </a:lnTo>
                <a:lnTo>
                  <a:pt x="262" y="195"/>
                </a:lnTo>
                <a:lnTo>
                  <a:pt x="246" y="181"/>
                </a:lnTo>
                <a:lnTo>
                  <a:pt x="229" y="165"/>
                </a:lnTo>
                <a:lnTo>
                  <a:pt x="213" y="150"/>
                </a:lnTo>
                <a:lnTo>
                  <a:pt x="196" y="134"/>
                </a:lnTo>
                <a:lnTo>
                  <a:pt x="180" y="118"/>
                </a:lnTo>
                <a:lnTo>
                  <a:pt x="164" y="102"/>
                </a:lnTo>
                <a:lnTo>
                  <a:pt x="147" y="87"/>
                </a:lnTo>
                <a:lnTo>
                  <a:pt x="131" y="73"/>
                </a:lnTo>
                <a:lnTo>
                  <a:pt x="114" y="59"/>
                </a:lnTo>
                <a:lnTo>
                  <a:pt x="98" y="46"/>
                </a:lnTo>
                <a:lnTo>
                  <a:pt x="82" y="35"/>
                </a:lnTo>
                <a:lnTo>
                  <a:pt x="65" y="25"/>
                </a:lnTo>
                <a:lnTo>
                  <a:pt x="49" y="18"/>
                </a:lnTo>
                <a:lnTo>
                  <a:pt x="33" y="12"/>
                </a:lnTo>
                <a:lnTo>
                  <a:pt x="16" y="8"/>
                </a:lnTo>
                <a:lnTo>
                  <a:pt x="0" y="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1905000"/>
            <a:ext cx="3743325" cy="2914650"/>
          </a:xfrm>
          <a:custGeom>
            <a:avLst/>
            <a:gdLst/>
            <a:ahLst/>
            <a:cxnLst/>
            <a:rect l="l" t="t" r="r" b="b"/>
            <a:pathLst>
              <a:path w="393" h="306">
                <a:moveTo>
                  <a:pt x="0" y="0"/>
                </a:moveTo>
                <a:lnTo>
                  <a:pt x="16" y="1"/>
                </a:lnTo>
                <a:lnTo>
                  <a:pt x="33" y="6"/>
                </a:lnTo>
                <a:lnTo>
                  <a:pt x="49" y="13"/>
                </a:lnTo>
                <a:lnTo>
                  <a:pt x="65" y="22"/>
                </a:lnTo>
                <a:lnTo>
                  <a:pt x="82" y="33"/>
                </a:lnTo>
                <a:lnTo>
                  <a:pt x="98" y="47"/>
                </a:lnTo>
                <a:lnTo>
                  <a:pt x="114" y="61"/>
                </a:lnTo>
                <a:lnTo>
                  <a:pt x="131" y="78"/>
                </a:lnTo>
                <a:lnTo>
                  <a:pt x="147" y="95"/>
                </a:lnTo>
                <a:lnTo>
                  <a:pt x="164" y="113"/>
                </a:lnTo>
                <a:lnTo>
                  <a:pt x="180" y="131"/>
                </a:lnTo>
                <a:lnTo>
                  <a:pt x="196" y="150"/>
                </a:lnTo>
                <a:lnTo>
                  <a:pt x="213" y="169"/>
                </a:lnTo>
                <a:lnTo>
                  <a:pt x="229" y="187"/>
                </a:lnTo>
                <a:lnTo>
                  <a:pt x="246" y="205"/>
                </a:lnTo>
                <a:lnTo>
                  <a:pt x="262" y="222"/>
                </a:lnTo>
                <a:lnTo>
                  <a:pt x="278" y="239"/>
                </a:lnTo>
                <a:lnTo>
                  <a:pt x="295" y="253"/>
                </a:lnTo>
                <a:lnTo>
                  <a:pt x="311" y="267"/>
                </a:lnTo>
                <a:lnTo>
                  <a:pt x="327" y="278"/>
                </a:lnTo>
                <a:lnTo>
                  <a:pt x="344" y="287"/>
                </a:lnTo>
                <a:lnTo>
                  <a:pt x="360" y="294"/>
                </a:lnTo>
                <a:lnTo>
                  <a:pt x="377" y="299"/>
                </a:lnTo>
                <a:lnTo>
                  <a:pt x="393" y="300"/>
                </a:lnTo>
                <a:lnTo>
                  <a:pt x="393" y="306"/>
                </a:lnTo>
                <a:lnTo>
                  <a:pt x="377" y="304"/>
                </a:lnTo>
                <a:lnTo>
                  <a:pt x="360" y="300"/>
                </a:lnTo>
                <a:lnTo>
                  <a:pt x="344" y="293"/>
                </a:lnTo>
                <a:lnTo>
                  <a:pt x="327" y="284"/>
                </a:lnTo>
                <a:lnTo>
                  <a:pt x="311" y="272"/>
                </a:lnTo>
                <a:lnTo>
                  <a:pt x="295" y="259"/>
                </a:lnTo>
                <a:lnTo>
                  <a:pt x="278" y="244"/>
                </a:lnTo>
                <a:lnTo>
                  <a:pt x="262" y="228"/>
                </a:lnTo>
                <a:lnTo>
                  <a:pt x="246" y="211"/>
                </a:lnTo>
                <a:lnTo>
                  <a:pt x="229" y="193"/>
                </a:lnTo>
                <a:lnTo>
                  <a:pt x="213" y="174"/>
                </a:lnTo>
                <a:lnTo>
                  <a:pt x="196" y="156"/>
                </a:lnTo>
                <a:lnTo>
                  <a:pt x="180" y="137"/>
                </a:lnTo>
                <a:lnTo>
                  <a:pt x="164" y="118"/>
                </a:lnTo>
                <a:lnTo>
                  <a:pt x="147" y="100"/>
                </a:lnTo>
                <a:lnTo>
                  <a:pt x="131" y="83"/>
                </a:lnTo>
                <a:lnTo>
                  <a:pt x="114" y="67"/>
                </a:lnTo>
                <a:lnTo>
                  <a:pt x="98" y="52"/>
                </a:lnTo>
                <a:lnTo>
                  <a:pt x="82" y="39"/>
                </a:lnTo>
                <a:lnTo>
                  <a:pt x="65" y="27"/>
                </a:lnTo>
                <a:lnTo>
                  <a:pt x="49" y="18"/>
                </a:lnTo>
                <a:lnTo>
                  <a:pt x="33" y="11"/>
                </a:lnTo>
                <a:lnTo>
                  <a:pt x="16" y="7"/>
                </a:lnTo>
                <a:lnTo>
                  <a:pt x="0" y="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952625"/>
            <a:ext cx="3743325" cy="3286125"/>
          </a:xfrm>
          <a:custGeom>
            <a:avLst/>
            <a:gdLst/>
            <a:ahLst/>
            <a:cxnLst/>
            <a:rect l="l" t="t" r="r" b="b"/>
            <a:pathLst>
              <a:path w="393" h="345">
                <a:moveTo>
                  <a:pt x="0" y="0"/>
                </a:moveTo>
                <a:lnTo>
                  <a:pt x="16" y="2"/>
                </a:lnTo>
                <a:lnTo>
                  <a:pt x="33" y="7"/>
                </a:lnTo>
                <a:lnTo>
                  <a:pt x="49" y="15"/>
                </a:lnTo>
                <a:lnTo>
                  <a:pt x="65" y="25"/>
                </a:lnTo>
                <a:lnTo>
                  <a:pt x="82" y="38"/>
                </a:lnTo>
                <a:lnTo>
                  <a:pt x="98" y="53"/>
                </a:lnTo>
                <a:lnTo>
                  <a:pt x="114" y="70"/>
                </a:lnTo>
                <a:lnTo>
                  <a:pt x="131" y="88"/>
                </a:lnTo>
                <a:lnTo>
                  <a:pt x="147" y="108"/>
                </a:lnTo>
                <a:lnTo>
                  <a:pt x="164" y="128"/>
                </a:lnTo>
                <a:lnTo>
                  <a:pt x="180" y="149"/>
                </a:lnTo>
                <a:lnTo>
                  <a:pt x="196" y="170"/>
                </a:lnTo>
                <a:lnTo>
                  <a:pt x="213" y="191"/>
                </a:lnTo>
                <a:lnTo>
                  <a:pt x="229" y="212"/>
                </a:lnTo>
                <a:lnTo>
                  <a:pt x="246" y="233"/>
                </a:lnTo>
                <a:lnTo>
                  <a:pt x="262" y="252"/>
                </a:lnTo>
                <a:lnTo>
                  <a:pt x="278" y="270"/>
                </a:lnTo>
                <a:lnTo>
                  <a:pt x="295" y="287"/>
                </a:lnTo>
                <a:lnTo>
                  <a:pt x="311" y="302"/>
                </a:lnTo>
                <a:lnTo>
                  <a:pt x="327" y="315"/>
                </a:lnTo>
                <a:lnTo>
                  <a:pt x="344" y="325"/>
                </a:lnTo>
                <a:lnTo>
                  <a:pt x="360" y="333"/>
                </a:lnTo>
                <a:lnTo>
                  <a:pt x="377" y="338"/>
                </a:lnTo>
                <a:lnTo>
                  <a:pt x="393" y="340"/>
                </a:lnTo>
                <a:lnTo>
                  <a:pt x="393" y="345"/>
                </a:lnTo>
                <a:lnTo>
                  <a:pt x="377" y="343"/>
                </a:lnTo>
                <a:lnTo>
                  <a:pt x="360" y="338"/>
                </a:lnTo>
                <a:lnTo>
                  <a:pt x="344" y="330"/>
                </a:lnTo>
                <a:lnTo>
                  <a:pt x="327" y="320"/>
                </a:lnTo>
                <a:lnTo>
                  <a:pt x="311" y="307"/>
                </a:lnTo>
                <a:lnTo>
                  <a:pt x="295" y="292"/>
                </a:lnTo>
                <a:lnTo>
                  <a:pt x="278" y="275"/>
                </a:lnTo>
                <a:lnTo>
                  <a:pt x="262" y="257"/>
                </a:lnTo>
                <a:lnTo>
                  <a:pt x="246" y="237"/>
                </a:lnTo>
                <a:lnTo>
                  <a:pt x="229" y="217"/>
                </a:lnTo>
                <a:lnTo>
                  <a:pt x="213" y="196"/>
                </a:lnTo>
                <a:lnTo>
                  <a:pt x="196" y="175"/>
                </a:lnTo>
                <a:lnTo>
                  <a:pt x="180" y="154"/>
                </a:lnTo>
                <a:lnTo>
                  <a:pt x="164" y="133"/>
                </a:lnTo>
                <a:lnTo>
                  <a:pt x="147" y="113"/>
                </a:lnTo>
                <a:lnTo>
                  <a:pt x="131" y="93"/>
                </a:lnTo>
                <a:lnTo>
                  <a:pt x="114" y="75"/>
                </a:lnTo>
                <a:lnTo>
                  <a:pt x="98" y="58"/>
                </a:lnTo>
                <a:lnTo>
                  <a:pt x="82" y="43"/>
                </a:lnTo>
                <a:lnTo>
                  <a:pt x="65" y="30"/>
                </a:lnTo>
                <a:lnTo>
                  <a:pt x="49" y="20"/>
                </a:lnTo>
                <a:lnTo>
                  <a:pt x="33" y="12"/>
                </a:lnTo>
                <a:lnTo>
                  <a:pt x="16" y="7"/>
                </a:lnTo>
                <a:lnTo>
                  <a:pt x="0" y="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000250"/>
            <a:ext cx="3743325" cy="3609975"/>
          </a:xfrm>
          <a:custGeom>
            <a:avLst/>
            <a:gdLst/>
            <a:ahLst/>
            <a:cxnLst/>
            <a:rect l="l" t="t" r="r" b="b"/>
            <a:pathLst>
              <a:path w="393" h="379">
                <a:moveTo>
                  <a:pt x="0" y="0"/>
                </a:moveTo>
                <a:lnTo>
                  <a:pt x="16" y="2"/>
                </a:lnTo>
                <a:lnTo>
                  <a:pt x="33" y="8"/>
                </a:lnTo>
                <a:lnTo>
                  <a:pt x="49" y="16"/>
                </a:lnTo>
                <a:lnTo>
                  <a:pt x="65" y="28"/>
                </a:lnTo>
                <a:lnTo>
                  <a:pt x="82" y="42"/>
                </a:lnTo>
                <a:lnTo>
                  <a:pt x="98" y="59"/>
                </a:lnTo>
                <a:lnTo>
                  <a:pt x="114" y="77"/>
                </a:lnTo>
                <a:lnTo>
                  <a:pt x="131" y="98"/>
                </a:lnTo>
                <a:lnTo>
                  <a:pt x="147" y="119"/>
                </a:lnTo>
                <a:lnTo>
                  <a:pt x="164" y="141"/>
                </a:lnTo>
                <a:lnTo>
                  <a:pt x="180" y="165"/>
                </a:lnTo>
                <a:lnTo>
                  <a:pt x="196" y="188"/>
                </a:lnTo>
                <a:lnTo>
                  <a:pt x="213" y="211"/>
                </a:lnTo>
                <a:lnTo>
                  <a:pt x="229" y="235"/>
                </a:lnTo>
                <a:lnTo>
                  <a:pt x="246" y="257"/>
                </a:lnTo>
                <a:lnTo>
                  <a:pt x="262" y="278"/>
                </a:lnTo>
                <a:lnTo>
                  <a:pt x="278" y="299"/>
                </a:lnTo>
                <a:lnTo>
                  <a:pt x="295" y="317"/>
                </a:lnTo>
                <a:lnTo>
                  <a:pt x="311" y="334"/>
                </a:lnTo>
                <a:lnTo>
                  <a:pt x="327" y="348"/>
                </a:lnTo>
                <a:lnTo>
                  <a:pt x="344" y="360"/>
                </a:lnTo>
                <a:lnTo>
                  <a:pt x="360" y="368"/>
                </a:lnTo>
                <a:lnTo>
                  <a:pt x="377" y="374"/>
                </a:lnTo>
                <a:lnTo>
                  <a:pt x="393" y="376"/>
                </a:lnTo>
                <a:lnTo>
                  <a:pt x="393" y="379"/>
                </a:lnTo>
                <a:lnTo>
                  <a:pt x="377" y="377"/>
                </a:lnTo>
                <a:lnTo>
                  <a:pt x="360" y="372"/>
                </a:lnTo>
                <a:lnTo>
                  <a:pt x="344" y="363"/>
                </a:lnTo>
                <a:lnTo>
                  <a:pt x="327" y="351"/>
                </a:lnTo>
                <a:lnTo>
                  <a:pt x="311" y="337"/>
                </a:lnTo>
                <a:lnTo>
                  <a:pt x="295" y="321"/>
                </a:lnTo>
                <a:lnTo>
                  <a:pt x="278" y="302"/>
                </a:lnTo>
                <a:lnTo>
                  <a:pt x="262" y="282"/>
                </a:lnTo>
                <a:lnTo>
                  <a:pt x="246" y="260"/>
                </a:lnTo>
                <a:lnTo>
                  <a:pt x="229" y="238"/>
                </a:lnTo>
                <a:lnTo>
                  <a:pt x="213" y="215"/>
                </a:lnTo>
                <a:lnTo>
                  <a:pt x="196" y="191"/>
                </a:lnTo>
                <a:lnTo>
                  <a:pt x="180" y="168"/>
                </a:lnTo>
                <a:lnTo>
                  <a:pt x="164" y="145"/>
                </a:lnTo>
                <a:lnTo>
                  <a:pt x="147" y="122"/>
                </a:lnTo>
                <a:lnTo>
                  <a:pt x="131" y="101"/>
                </a:lnTo>
                <a:lnTo>
                  <a:pt x="114" y="81"/>
                </a:lnTo>
                <a:lnTo>
                  <a:pt x="98" y="62"/>
                </a:lnTo>
                <a:lnTo>
                  <a:pt x="82" y="46"/>
                </a:lnTo>
                <a:lnTo>
                  <a:pt x="65" y="31"/>
                </a:lnTo>
                <a:lnTo>
                  <a:pt x="49" y="20"/>
                </a:lnTo>
                <a:lnTo>
                  <a:pt x="33" y="11"/>
                </a:lnTo>
                <a:lnTo>
                  <a:pt x="16" y="5"/>
                </a:lnTo>
                <a:lnTo>
                  <a:pt x="0" y="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028825"/>
            <a:ext cx="3743325" cy="3857625"/>
          </a:xfrm>
          <a:custGeom>
            <a:avLst/>
            <a:gdLst/>
            <a:ahLst/>
            <a:cxnLst/>
            <a:rect l="l" t="t" r="r" b="b"/>
            <a:pathLst>
              <a:path w="393" h="405">
                <a:moveTo>
                  <a:pt x="0" y="0"/>
                </a:moveTo>
                <a:lnTo>
                  <a:pt x="16" y="3"/>
                </a:lnTo>
                <a:lnTo>
                  <a:pt x="33" y="8"/>
                </a:lnTo>
                <a:lnTo>
                  <a:pt x="49" y="18"/>
                </a:lnTo>
                <a:lnTo>
                  <a:pt x="65" y="30"/>
                </a:lnTo>
                <a:lnTo>
                  <a:pt x="82" y="46"/>
                </a:lnTo>
                <a:lnTo>
                  <a:pt x="98" y="63"/>
                </a:lnTo>
                <a:lnTo>
                  <a:pt x="114" y="83"/>
                </a:lnTo>
                <a:lnTo>
                  <a:pt x="131" y="105"/>
                </a:lnTo>
                <a:lnTo>
                  <a:pt x="147" y="128"/>
                </a:lnTo>
                <a:lnTo>
                  <a:pt x="164" y="152"/>
                </a:lnTo>
                <a:lnTo>
                  <a:pt x="180" y="176"/>
                </a:lnTo>
                <a:lnTo>
                  <a:pt x="196" y="201"/>
                </a:lnTo>
                <a:lnTo>
                  <a:pt x="213" y="227"/>
                </a:lnTo>
                <a:lnTo>
                  <a:pt x="229" y="251"/>
                </a:lnTo>
                <a:lnTo>
                  <a:pt x="246" y="275"/>
                </a:lnTo>
                <a:lnTo>
                  <a:pt x="262" y="298"/>
                </a:lnTo>
                <a:lnTo>
                  <a:pt x="278" y="320"/>
                </a:lnTo>
                <a:lnTo>
                  <a:pt x="295" y="340"/>
                </a:lnTo>
                <a:lnTo>
                  <a:pt x="311" y="357"/>
                </a:lnTo>
                <a:lnTo>
                  <a:pt x="327" y="373"/>
                </a:lnTo>
                <a:lnTo>
                  <a:pt x="344" y="385"/>
                </a:lnTo>
                <a:lnTo>
                  <a:pt x="360" y="395"/>
                </a:lnTo>
                <a:lnTo>
                  <a:pt x="377" y="400"/>
                </a:lnTo>
                <a:lnTo>
                  <a:pt x="393" y="402"/>
                </a:lnTo>
                <a:lnTo>
                  <a:pt x="393" y="405"/>
                </a:lnTo>
                <a:lnTo>
                  <a:pt x="377" y="403"/>
                </a:lnTo>
                <a:lnTo>
                  <a:pt x="360" y="397"/>
                </a:lnTo>
                <a:lnTo>
                  <a:pt x="344" y="388"/>
                </a:lnTo>
                <a:lnTo>
                  <a:pt x="327" y="375"/>
                </a:lnTo>
                <a:lnTo>
                  <a:pt x="311" y="360"/>
                </a:lnTo>
                <a:lnTo>
                  <a:pt x="295" y="342"/>
                </a:lnTo>
                <a:lnTo>
                  <a:pt x="278" y="322"/>
                </a:lnTo>
                <a:lnTo>
                  <a:pt x="262" y="301"/>
                </a:lnTo>
                <a:lnTo>
                  <a:pt x="246" y="278"/>
                </a:lnTo>
                <a:lnTo>
                  <a:pt x="229" y="254"/>
                </a:lnTo>
                <a:lnTo>
                  <a:pt x="213" y="229"/>
                </a:lnTo>
                <a:lnTo>
                  <a:pt x="196" y="204"/>
                </a:lnTo>
                <a:lnTo>
                  <a:pt x="180" y="179"/>
                </a:lnTo>
                <a:lnTo>
                  <a:pt x="164" y="154"/>
                </a:lnTo>
                <a:lnTo>
                  <a:pt x="147" y="130"/>
                </a:lnTo>
                <a:lnTo>
                  <a:pt x="131" y="107"/>
                </a:lnTo>
                <a:lnTo>
                  <a:pt x="114" y="85"/>
                </a:lnTo>
                <a:lnTo>
                  <a:pt x="98" y="66"/>
                </a:lnTo>
                <a:lnTo>
                  <a:pt x="82" y="48"/>
                </a:lnTo>
                <a:lnTo>
                  <a:pt x="65" y="33"/>
                </a:lnTo>
                <a:lnTo>
                  <a:pt x="49" y="20"/>
                </a:lnTo>
                <a:lnTo>
                  <a:pt x="33" y="11"/>
                </a:lnTo>
                <a:lnTo>
                  <a:pt x="16" y="5"/>
                </a:lnTo>
                <a:lnTo>
                  <a:pt x="0" y="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057400"/>
            <a:ext cx="3743325" cy="4038600"/>
          </a:xfrm>
          <a:custGeom>
            <a:avLst/>
            <a:gdLst/>
            <a:ahLst/>
            <a:cxnLst/>
            <a:rect l="l" t="t" r="r" b="b"/>
            <a:pathLst>
              <a:path w="393" h="424">
                <a:moveTo>
                  <a:pt x="0" y="0"/>
                </a:moveTo>
                <a:lnTo>
                  <a:pt x="16" y="2"/>
                </a:lnTo>
                <a:lnTo>
                  <a:pt x="33" y="8"/>
                </a:lnTo>
                <a:lnTo>
                  <a:pt x="49" y="18"/>
                </a:lnTo>
                <a:lnTo>
                  <a:pt x="65" y="31"/>
                </a:lnTo>
                <a:lnTo>
                  <a:pt x="82" y="47"/>
                </a:lnTo>
                <a:lnTo>
                  <a:pt x="98" y="66"/>
                </a:lnTo>
                <a:lnTo>
                  <a:pt x="114" y="87"/>
                </a:lnTo>
                <a:lnTo>
                  <a:pt x="131" y="109"/>
                </a:lnTo>
                <a:lnTo>
                  <a:pt x="147" y="133"/>
                </a:lnTo>
                <a:lnTo>
                  <a:pt x="164" y="158"/>
                </a:lnTo>
                <a:lnTo>
                  <a:pt x="180" y="184"/>
                </a:lnTo>
                <a:lnTo>
                  <a:pt x="196" y="211"/>
                </a:lnTo>
                <a:lnTo>
                  <a:pt x="213" y="237"/>
                </a:lnTo>
                <a:lnTo>
                  <a:pt x="229" y="263"/>
                </a:lnTo>
                <a:lnTo>
                  <a:pt x="246" y="288"/>
                </a:lnTo>
                <a:lnTo>
                  <a:pt x="262" y="312"/>
                </a:lnTo>
                <a:lnTo>
                  <a:pt x="278" y="335"/>
                </a:lnTo>
                <a:lnTo>
                  <a:pt x="295" y="356"/>
                </a:lnTo>
                <a:lnTo>
                  <a:pt x="311" y="374"/>
                </a:lnTo>
                <a:lnTo>
                  <a:pt x="327" y="390"/>
                </a:lnTo>
                <a:lnTo>
                  <a:pt x="344" y="403"/>
                </a:lnTo>
                <a:lnTo>
                  <a:pt x="360" y="413"/>
                </a:lnTo>
                <a:lnTo>
                  <a:pt x="377" y="419"/>
                </a:lnTo>
                <a:lnTo>
                  <a:pt x="393" y="422"/>
                </a:lnTo>
                <a:lnTo>
                  <a:pt x="393" y="424"/>
                </a:lnTo>
                <a:lnTo>
                  <a:pt x="377" y="422"/>
                </a:lnTo>
                <a:lnTo>
                  <a:pt x="360" y="415"/>
                </a:lnTo>
                <a:lnTo>
                  <a:pt x="344" y="406"/>
                </a:lnTo>
                <a:lnTo>
                  <a:pt x="327" y="392"/>
                </a:lnTo>
                <a:lnTo>
                  <a:pt x="311" y="376"/>
                </a:lnTo>
                <a:lnTo>
                  <a:pt x="295" y="358"/>
                </a:lnTo>
                <a:lnTo>
                  <a:pt x="278" y="337"/>
                </a:lnTo>
                <a:lnTo>
                  <a:pt x="262" y="314"/>
                </a:lnTo>
                <a:lnTo>
                  <a:pt x="246" y="290"/>
                </a:lnTo>
                <a:lnTo>
                  <a:pt x="229" y="265"/>
                </a:lnTo>
                <a:lnTo>
                  <a:pt x="213" y="239"/>
                </a:lnTo>
                <a:lnTo>
                  <a:pt x="196" y="213"/>
                </a:lnTo>
                <a:lnTo>
                  <a:pt x="180" y="186"/>
                </a:lnTo>
                <a:lnTo>
                  <a:pt x="164" y="161"/>
                </a:lnTo>
                <a:lnTo>
                  <a:pt x="147" y="135"/>
                </a:lnTo>
                <a:lnTo>
                  <a:pt x="131" y="111"/>
                </a:lnTo>
                <a:lnTo>
                  <a:pt x="114" y="89"/>
                </a:lnTo>
                <a:lnTo>
                  <a:pt x="98" y="68"/>
                </a:lnTo>
                <a:lnTo>
                  <a:pt x="82" y="49"/>
                </a:lnTo>
                <a:lnTo>
                  <a:pt x="65" y="33"/>
                </a:lnTo>
                <a:lnTo>
                  <a:pt x="49" y="20"/>
                </a:lnTo>
                <a:lnTo>
                  <a:pt x="33" y="10"/>
                </a:lnTo>
                <a:lnTo>
                  <a:pt x="16" y="4"/>
                </a:lnTo>
                <a:lnTo>
                  <a:pt x="0" y="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2076450"/>
            <a:ext cx="3743325" cy="4210050"/>
          </a:xfrm>
          <a:custGeom>
            <a:avLst/>
            <a:gdLst/>
            <a:ahLst/>
            <a:cxnLst/>
            <a:rect l="l" t="t" r="r" b="b"/>
            <a:pathLst>
              <a:path w="393" h="442">
                <a:moveTo>
                  <a:pt x="0" y="0"/>
                </a:moveTo>
                <a:lnTo>
                  <a:pt x="16" y="2"/>
                </a:lnTo>
                <a:lnTo>
                  <a:pt x="33" y="9"/>
                </a:lnTo>
                <a:lnTo>
                  <a:pt x="49" y="19"/>
                </a:lnTo>
                <a:lnTo>
                  <a:pt x="65" y="32"/>
                </a:lnTo>
                <a:lnTo>
                  <a:pt x="82" y="49"/>
                </a:lnTo>
                <a:lnTo>
                  <a:pt x="98" y="69"/>
                </a:lnTo>
                <a:lnTo>
                  <a:pt x="114" y="90"/>
                </a:lnTo>
                <a:lnTo>
                  <a:pt x="131" y="114"/>
                </a:lnTo>
                <a:lnTo>
                  <a:pt x="147" y="139"/>
                </a:lnTo>
                <a:lnTo>
                  <a:pt x="164" y="165"/>
                </a:lnTo>
                <a:lnTo>
                  <a:pt x="180" y="192"/>
                </a:lnTo>
                <a:lnTo>
                  <a:pt x="196" y="220"/>
                </a:lnTo>
                <a:lnTo>
                  <a:pt x="213" y="247"/>
                </a:lnTo>
                <a:lnTo>
                  <a:pt x="229" y="274"/>
                </a:lnTo>
                <a:lnTo>
                  <a:pt x="246" y="301"/>
                </a:lnTo>
                <a:lnTo>
                  <a:pt x="262" y="326"/>
                </a:lnTo>
                <a:lnTo>
                  <a:pt x="278" y="350"/>
                </a:lnTo>
                <a:lnTo>
                  <a:pt x="295" y="371"/>
                </a:lnTo>
                <a:lnTo>
                  <a:pt x="311" y="391"/>
                </a:lnTo>
                <a:lnTo>
                  <a:pt x="327" y="407"/>
                </a:lnTo>
                <a:lnTo>
                  <a:pt x="344" y="421"/>
                </a:lnTo>
                <a:lnTo>
                  <a:pt x="360" y="431"/>
                </a:lnTo>
                <a:lnTo>
                  <a:pt x="377" y="438"/>
                </a:lnTo>
                <a:lnTo>
                  <a:pt x="393" y="440"/>
                </a:lnTo>
                <a:lnTo>
                  <a:pt x="393" y="442"/>
                </a:lnTo>
                <a:lnTo>
                  <a:pt x="377" y="440"/>
                </a:lnTo>
                <a:lnTo>
                  <a:pt x="360" y="433"/>
                </a:lnTo>
                <a:lnTo>
                  <a:pt x="344" y="423"/>
                </a:lnTo>
                <a:lnTo>
                  <a:pt x="327" y="409"/>
                </a:lnTo>
                <a:lnTo>
                  <a:pt x="311" y="392"/>
                </a:lnTo>
                <a:lnTo>
                  <a:pt x="295" y="373"/>
                </a:lnTo>
                <a:lnTo>
                  <a:pt x="278" y="351"/>
                </a:lnTo>
                <a:lnTo>
                  <a:pt x="262" y="328"/>
                </a:lnTo>
                <a:lnTo>
                  <a:pt x="246" y="303"/>
                </a:lnTo>
                <a:lnTo>
                  <a:pt x="229" y="276"/>
                </a:lnTo>
                <a:lnTo>
                  <a:pt x="213" y="249"/>
                </a:lnTo>
                <a:lnTo>
                  <a:pt x="196" y="222"/>
                </a:lnTo>
                <a:lnTo>
                  <a:pt x="180" y="194"/>
                </a:lnTo>
                <a:lnTo>
                  <a:pt x="164" y="167"/>
                </a:lnTo>
                <a:lnTo>
                  <a:pt x="147" y="141"/>
                </a:lnTo>
                <a:lnTo>
                  <a:pt x="131" y="116"/>
                </a:lnTo>
                <a:lnTo>
                  <a:pt x="114" y="92"/>
                </a:lnTo>
                <a:lnTo>
                  <a:pt x="98" y="70"/>
                </a:lnTo>
                <a:lnTo>
                  <a:pt x="82" y="51"/>
                </a:lnTo>
                <a:lnTo>
                  <a:pt x="65" y="34"/>
                </a:lnTo>
                <a:lnTo>
                  <a:pt x="49" y="21"/>
                </a:lnTo>
                <a:lnTo>
                  <a:pt x="33" y="10"/>
                </a:lnTo>
                <a:lnTo>
                  <a:pt x="16" y="4"/>
                </a:lnTo>
                <a:lnTo>
                  <a:pt x="0" y="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2095500"/>
            <a:ext cx="3743325" cy="4362450"/>
          </a:xfrm>
          <a:custGeom>
            <a:avLst/>
            <a:gdLst/>
            <a:ahLst/>
            <a:cxnLst/>
            <a:rect l="l" t="t" r="r" b="b"/>
            <a:pathLst>
              <a:path w="393" h="458">
                <a:moveTo>
                  <a:pt x="0" y="0"/>
                </a:moveTo>
                <a:lnTo>
                  <a:pt x="16" y="2"/>
                </a:lnTo>
                <a:lnTo>
                  <a:pt x="33" y="9"/>
                </a:lnTo>
                <a:lnTo>
                  <a:pt x="49" y="19"/>
                </a:lnTo>
                <a:lnTo>
                  <a:pt x="65" y="34"/>
                </a:lnTo>
                <a:lnTo>
                  <a:pt x="82" y="51"/>
                </a:lnTo>
                <a:lnTo>
                  <a:pt x="98" y="71"/>
                </a:lnTo>
                <a:lnTo>
                  <a:pt x="114" y="94"/>
                </a:lnTo>
                <a:lnTo>
                  <a:pt x="131" y="118"/>
                </a:lnTo>
                <a:lnTo>
                  <a:pt x="147" y="144"/>
                </a:lnTo>
                <a:lnTo>
                  <a:pt x="164" y="172"/>
                </a:lnTo>
                <a:lnTo>
                  <a:pt x="180" y="200"/>
                </a:lnTo>
                <a:lnTo>
                  <a:pt x="196" y="228"/>
                </a:lnTo>
                <a:lnTo>
                  <a:pt x="213" y="257"/>
                </a:lnTo>
                <a:lnTo>
                  <a:pt x="229" y="285"/>
                </a:lnTo>
                <a:lnTo>
                  <a:pt x="246" y="312"/>
                </a:lnTo>
                <a:lnTo>
                  <a:pt x="262" y="338"/>
                </a:lnTo>
                <a:lnTo>
                  <a:pt x="278" y="363"/>
                </a:lnTo>
                <a:lnTo>
                  <a:pt x="295" y="385"/>
                </a:lnTo>
                <a:lnTo>
                  <a:pt x="311" y="406"/>
                </a:lnTo>
                <a:lnTo>
                  <a:pt x="327" y="423"/>
                </a:lnTo>
                <a:lnTo>
                  <a:pt x="344" y="437"/>
                </a:lnTo>
                <a:lnTo>
                  <a:pt x="360" y="448"/>
                </a:lnTo>
                <a:lnTo>
                  <a:pt x="377" y="454"/>
                </a:lnTo>
                <a:lnTo>
                  <a:pt x="393" y="457"/>
                </a:lnTo>
                <a:lnTo>
                  <a:pt x="393" y="458"/>
                </a:lnTo>
                <a:lnTo>
                  <a:pt x="377" y="456"/>
                </a:lnTo>
                <a:lnTo>
                  <a:pt x="360" y="449"/>
                </a:lnTo>
                <a:lnTo>
                  <a:pt x="344" y="438"/>
                </a:lnTo>
                <a:lnTo>
                  <a:pt x="327" y="424"/>
                </a:lnTo>
                <a:lnTo>
                  <a:pt x="311" y="407"/>
                </a:lnTo>
                <a:lnTo>
                  <a:pt x="295" y="387"/>
                </a:lnTo>
                <a:lnTo>
                  <a:pt x="278" y="364"/>
                </a:lnTo>
                <a:lnTo>
                  <a:pt x="262" y="340"/>
                </a:lnTo>
                <a:lnTo>
                  <a:pt x="246" y="313"/>
                </a:lnTo>
                <a:lnTo>
                  <a:pt x="229" y="286"/>
                </a:lnTo>
                <a:lnTo>
                  <a:pt x="213" y="258"/>
                </a:lnTo>
                <a:lnTo>
                  <a:pt x="196" y="230"/>
                </a:lnTo>
                <a:lnTo>
                  <a:pt x="180" y="201"/>
                </a:lnTo>
                <a:lnTo>
                  <a:pt x="164" y="173"/>
                </a:lnTo>
                <a:lnTo>
                  <a:pt x="147" y="146"/>
                </a:lnTo>
                <a:lnTo>
                  <a:pt x="131" y="120"/>
                </a:lnTo>
                <a:lnTo>
                  <a:pt x="114" y="95"/>
                </a:lnTo>
                <a:lnTo>
                  <a:pt x="98" y="72"/>
                </a:lnTo>
                <a:lnTo>
                  <a:pt x="82" y="52"/>
                </a:lnTo>
                <a:lnTo>
                  <a:pt x="65" y="35"/>
                </a:lnTo>
                <a:lnTo>
                  <a:pt x="49" y="21"/>
                </a:lnTo>
                <a:lnTo>
                  <a:pt x="33" y="10"/>
                </a:lnTo>
                <a:lnTo>
                  <a:pt x="16" y="3"/>
                </a:lnTo>
                <a:lnTo>
                  <a:pt x="0" y="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1428750"/>
            <a:ext cx="3743325" cy="857250"/>
          </a:xfrm>
          <a:custGeom>
            <a:avLst/>
            <a:gdLst/>
            <a:ahLst/>
            <a:cxnLst/>
            <a:rect l="l" t="t" r="r" b="b"/>
            <a:pathLst>
              <a:path w="393" h="90">
                <a:moveTo>
                  <a:pt x="0" y="77"/>
                </a:moveTo>
                <a:lnTo>
                  <a:pt x="16" y="77"/>
                </a:lnTo>
                <a:lnTo>
                  <a:pt x="33" y="75"/>
                </a:lnTo>
                <a:lnTo>
                  <a:pt x="49" y="74"/>
                </a:lnTo>
                <a:lnTo>
                  <a:pt x="65" y="71"/>
                </a:lnTo>
                <a:lnTo>
                  <a:pt x="82" y="68"/>
                </a:lnTo>
                <a:lnTo>
                  <a:pt x="98" y="65"/>
                </a:lnTo>
                <a:lnTo>
                  <a:pt x="114" y="61"/>
                </a:lnTo>
                <a:lnTo>
                  <a:pt x="131" y="57"/>
                </a:lnTo>
                <a:lnTo>
                  <a:pt x="147" y="53"/>
                </a:lnTo>
                <a:lnTo>
                  <a:pt x="164" y="48"/>
                </a:lnTo>
                <a:lnTo>
                  <a:pt x="180" y="43"/>
                </a:lnTo>
                <a:lnTo>
                  <a:pt x="196" y="39"/>
                </a:lnTo>
                <a:lnTo>
                  <a:pt x="213" y="34"/>
                </a:lnTo>
                <a:lnTo>
                  <a:pt x="229" y="29"/>
                </a:lnTo>
                <a:lnTo>
                  <a:pt x="246" y="25"/>
                </a:lnTo>
                <a:lnTo>
                  <a:pt x="262" y="20"/>
                </a:lnTo>
                <a:lnTo>
                  <a:pt x="278" y="16"/>
                </a:lnTo>
                <a:lnTo>
                  <a:pt x="295" y="12"/>
                </a:lnTo>
                <a:lnTo>
                  <a:pt x="311" y="9"/>
                </a:lnTo>
                <a:lnTo>
                  <a:pt x="327" y="6"/>
                </a:lnTo>
                <a:lnTo>
                  <a:pt x="344" y="4"/>
                </a:lnTo>
                <a:lnTo>
                  <a:pt x="360" y="2"/>
                </a:lnTo>
                <a:lnTo>
                  <a:pt x="377" y="1"/>
                </a:lnTo>
                <a:lnTo>
                  <a:pt x="393" y="0"/>
                </a:lnTo>
                <a:lnTo>
                  <a:pt x="393" y="14"/>
                </a:lnTo>
                <a:lnTo>
                  <a:pt x="377" y="14"/>
                </a:lnTo>
                <a:lnTo>
                  <a:pt x="360" y="15"/>
                </a:lnTo>
                <a:lnTo>
                  <a:pt x="344" y="17"/>
                </a:lnTo>
                <a:lnTo>
                  <a:pt x="327" y="19"/>
                </a:lnTo>
                <a:lnTo>
                  <a:pt x="311" y="22"/>
                </a:lnTo>
                <a:lnTo>
                  <a:pt x="295" y="26"/>
                </a:lnTo>
                <a:lnTo>
                  <a:pt x="278" y="29"/>
                </a:lnTo>
                <a:lnTo>
                  <a:pt x="262" y="33"/>
                </a:lnTo>
                <a:lnTo>
                  <a:pt x="246" y="38"/>
                </a:lnTo>
                <a:lnTo>
                  <a:pt x="229" y="42"/>
                </a:lnTo>
                <a:lnTo>
                  <a:pt x="213" y="47"/>
                </a:lnTo>
                <a:lnTo>
                  <a:pt x="196" y="52"/>
                </a:lnTo>
                <a:lnTo>
                  <a:pt x="180" y="57"/>
                </a:lnTo>
                <a:lnTo>
                  <a:pt x="164" y="61"/>
                </a:lnTo>
                <a:lnTo>
                  <a:pt x="147" y="66"/>
                </a:lnTo>
                <a:lnTo>
                  <a:pt x="131" y="70"/>
                </a:lnTo>
                <a:lnTo>
                  <a:pt x="114" y="75"/>
                </a:lnTo>
                <a:lnTo>
                  <a:pt x="98" y="78"/>
                </a:lnTo>
                <a:lnTo>
                  <a:pt x="82" y="82"/>
                </a:lnTo>
                <a:lnTo>
                  <a:pt x="65" y="85"/>
                </a:lnTo>
                <a:lnTo>
                  <a:pt x="49" y="87"/>
                </a:lnTo>
                <a:lnTo>
                  <a:pt x="33" y="89"/>
                </a:lnTo>
                <a:lnTo>
                  <a:pt x="16" y="90"/>
                </a:lnTo>
                <a:lnTo>
                  <a:pt x="0" y="9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2286000"/>
            <a:ext cx="3743325" cy="190500"/>
          </a:xfrm>
          <a:custGeom>
            <a:avLst/>
            <a:gdLst/>
            <a:ahLst/>
            <a:cxnLst/>
            <a:rect l="l" t="t" r="r" b="b"/>
            <a:pathLst>
              <a:path w="393" h="20">
                <a:moveTo>
                  <a:pt x="0" y="0"/>
                </a:moveTo>
                <a:lnTo>
                  <a:pt x="16" y="0"/>
                </a:lnTo>
                <a:lnTo>
                  <a:pt x="33" y="0"/>
                </a:lnTo>
                <a:lnTo>
                  <a:pt x="49" y="1"/>
                </a:lnTo>
                <a:lnTo>
                  <a:pt x="65" y="1"/>
                </a:lnTo>
                <a:lnTo>
                  <a:pt x="82" y="1"/>
                </a:lnTo>
                <a:lnTo>
                  <a:pt x="98" y="1"/>
                </a:lnTo>
                <a:lnTo>
                  <a:pt x="114" y="2"/>
                </a:lnTo>
                <a:lnTo>
                  <a:pt x="131" y="2"/>
                </a:lnTo>
                <a:lnTo>
                  <a:pt x="147" y="3"/>
                </a:lnTo>
                <a:lnTo>
                  <a:pt x="164" y="3"/>
                </a:lnTo>
                <a:lnTo>
                  <a:pt x="180" y="4"/>
                </a:lnTo>
                <a:lnTo>
                  <a:pt x="196" y="4"/>
                </a:lnTo>
                <a:lnTo>
                  <a:pt x="213" y="5"/>
                </a:lnTo>
                <a:lnTo>
                  <a:pt x="229" y="5"/>
                </a:lnTo>
                <a:lnTo>
                  <a:pt x="246" y="5"/>
                </a:lnTo>
                <a:lnTo>
                  <a:pt x="262" y="6"/>
                </a:lnTo>
                <a:lnTo>
                  <a:pt x="278" y="6"/>
                </a:lnTo>
                <a:lnTo>
                  <a:pt x="295" y="7"/>
                </a:lnTo>
                <a:lnTo>
                  <a:pt x="311" y="7"/>
                </a:lnTo>
                <a:lnTo>
                  <a:pt x="327" y="7"/>
                </a:lnTo>
                <a:lnTo>
                  <a:pt x="344" y="8"/>
                </a:lnTo>
                <a:lnTo>
                  <a:pt x="360" y="8"/>
                </a:lnTo>
                <a:lnTo>
                  <a:pt x="377" y="8"/>
                </a:lnTo>
                <a:lnTo>
                  <a:pt x="393" y="8"/>
                </a:lnTo>
                <a:lnTo>
                  <a:pt x="393" y="20"/>
                </a:lnTo>
                <a:lnTo>
                  <a:pt x="377" y="20"/>
                </a:lnTo>
                <a:lnTo>
                  <a:pt x="360" y="20"/>
                </a:lnTo>
                <a:lnTo>
                  <a:pt x="344" y="19"/>
                </a:lnTo>
                <a:lnTo>
                  <a:pt x="327" y="19"/>
                </a:lnTo>
                <a:lnTo>
                  <a:pt x="311" y="19"/>
                </a:lnTo>
                <a:lnTo>
                  <a:pt x="295" y="19"/>
                </a:lnTo>
                <a:lnTo>
                  <a:pt x="278" y="18"/>
                </a:lnTo>
                <a:lnTo>
                  <a:pt x="262" y="18"/>
                </a:lnTo>
                <a:lnTo>
                  <a:pt x="246" y="17"/>
                </a:lnTo>
                <a:lnTo>
                  <a:pt x="229" y="17"/>
                </a:lnTo>
                <a:lnTo>
                  <a:pt x="213" y="16"/>
                </a:lnTo>
                <a:lnTo>
                  <a:pt x="196" y="16"/>
                </a:lnTo>
                <a:lnTo>
                  <a:pt x="180" y="15"/>
                </a:lnTo>
                <a:lnTo>
                  <a:pt x="164" y="15"/>
                </a:lnTo>
                <a:lnTo>
                  <a:pt x="147" y="15"/>
                </a:lnTo>
                <a:lnTo>
                  <a:pt x="131" y="14"/>
                </a:lnTo>
                <a:lnTo>
                  <a:pt x="114" y="14"/>
                </a:lnTo>
                <a:lnTo>
                  <a:pt x="98" y="13"/>
                </a:lnTo>
                <a:lnTo>
                  <a:pt x="82" y="13"/>
                </a:lnTo>
                <a:lnTo>
                  <a:pt x="65" y="13"/>
                </a:lnTo>
                <a:lnTo>
                  <a:pt x="49" y="12"/>
                </a:lnTo>
                <a:lnTo>
                  <a:pt x="33" y="12"/>
                </a:lnTo>
                <a:lnTo>
                  <a:pt x="16" y="12"/>
                </a:lnTo>
                <a:lnTo>
                  <a:pt x="0" y="1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2400300"/>
            <a:ext cx="3743325" cy="847725"/>
          </a:xfrm>
          <a:custGeom>
            <a:avLst/>
            <a:gdLst/>
            <a:ahLst/>
            <a:cxnLst/>
            <a:rect l="l" t="t" r="r" b="b"/>
            <a:pathLst>
              <a:path w="393" h="89">
                <a:moveTo>
                  <a:pt x="0" y="0"/>
                </a:moveTo>
                <a:lnTo>
                  <a:pt x="16" y="1"/>
                </a:lnTo>
                <a:lnTo>
                  <a:pt x="33" y="2"/>
                </a:lnTo>
                <a:lnTo>
                  <a:pt x="49" y="4"/>
                </a:lnTo>
                <a:lnTo>
                  <a:pt x="65" y="6"/>
                </a:lnTo>
                <a:lnTo>
                  <a:pt x="82" y="9"/>
                </a:lnTo>
                <a:lnTo>
                  <a:pt x="98" y="13"/>
                </a:lnTo>
                <a:lnTo>
                  <a:pt x="114" y="17"/>
                </a:lnTo>
                <a:lnTo>
                  <a:pt x="131" y="21"/>
                </a:lnTo>
                <a:lnTo>
                  <a:pt x="147" y="26"/>
                </a:lnTo>
                <a:lnTo>
                  <a:pt x="164" y="31"/>
                </a:lnTo>
                <a:lnTo>
                  <a:pt x="180" y="36"/>
                </a:lnTo>
                <a:lnTo>
                  <a:pt x="196" y="41"/>
                </a:lnTo>
                <a:lnTo>
                  <a:pt x="213" y="46"/>
                </a:lnTo>
                <a:lnTo>
                  <a:pt x="229" y="51"/>
                </a:lnTo>
                <a:lnTo>
                  <a:pt x="246" y="56"/>
                </a:lnTo>
                <a:lnTo>
                  <a:pt x="262" y="60"/>
                </a:lnTo>
                <a:lnTo>
                  <a:pt x="278" y="64"/>
                </a:lnTo>
                <a:lnTo>
                  <a:pt x="295" y="68"/>
                </a:lnTo>
                <a:lnTo>
                  <a:pt x="311" y="72"/>
                </a:lnTo>
                <a:lnTo>
                  <a:pt x="327" y="75"/>
                </a:lnTo>
                <a:lnTo>
                  <a:pt x="344" y="78"/>
                </a:lnTo>
                <a:lnTo>
                  <a:pt x="360" y="80"/>
                </a:lnTo>
                <a:lnTo>
                  <a:pt x="377" y="81"/>
                </a:lnTo>
                <a:lnTo>
                  <a:pt x="393" y="81"/>
                </a:lnTo>
                <a:lnTo>
                  <a:pt x="393" y="89"/>
                </a:lnTo>
                <a:lnTo>
                  <a:pt x="377" y="89"/>
                </a:lnTo>
                <a:lnTo>
                  <a:pt x="360" y="88"/>
                </a:lnTo>
                <a:lnTo>
                  <a:pt x="344" y="86"/>
                </a:lnTo>
                <a:lnTo>
                  <a:pt x="327" y="83"/>
                </a:lnTo>
                <a:lnTo>
                  <a:pt x="311" y="80"/>
                </a:lnTo>
                <a:lnTo>
                  <a:pt x="295" y="77"/>
                </a:lnTo>
                <a:lnTo>
                  <a:pt x="278" y="73"/>
                </a:lnTo>
                <a:lnTo>
                  <a:pt x="262" y="68"/>
                </a:lnTo>
                <a:lnTo>
                  <a:pt x="246" y="64"/>
                </a:lnTo>
                <a:lnTo>
                  <a:pt x="229" y="59"/>
                </a:lnTo>
                <a:lnTo>
                  <a:pt x="213" y="54"/>
                </a:lnTo>
                <a:lnTo>
                  <a:pt x="196" y="49"/>
                </a:lnTo>
                <a:lnTo>
                  <a:pt x="180" y="44"/>
                </a:lnTo>
                <a:lnTo>
                  <a:pt x="164" y="39"/>
                </a:lnTo>
                <a:lnTo>
                  <a:pt x="147" y="34"/>
                </a:lnTo>
                <a:lnTo>
                  <a:pt x="131" y="29"/>
                </a:lnTo>
                <a:lnTo>
                  <a:pt x="114" y="25"/>
                </a:lnTo>
                <a:lnTo>
                  <a:pt x="98" y="21"/>
                </a:lnTo>
                <a:lnTo>
                  <a:pt x="82" y="17"/>
                </a:lnTo>
                <a:lnTo>
                  <a:pt x="65" y="14"/>
                </a:lnTo>
                <a:lnTo>
                  <a:pt x="49" y="12"/>
                </a:lnTo>
                <a:lnTo>
                  <a:pt x="33" y="10"/>
                </a:lnTo>
                <a:lnTo>
                  <a:pt x="16" y="9"/>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476500"/>
            <a:ext cx="3743325" cy="1362075"/>
          </a:xfrm>
          <a:custGeom>
            <a:avLst/>
            <a:gdLst/>
            <a:ahLst/>
            <a:cxnLst/>
            <a:rect l="l" t="t" r="r" b="b"/>
            <a:pathLst>
              <a:path w="393" h="143">
                <a:moveTo>
                  <a:pt x="0" y="0"/>
                </a:moveTo>
                <a:lnTo>
                  <a:pt x="16" y="1"/>
                </a:lnTo>
                <a:lnTo>
                  <a:pt x="33" y="3"/>
                </a:lnTo>
                <a:lnTo>
                  <a:pt x="49" y="6"/>
                </a:lnTo>
                <a:lnTo>
                  <a:pt x="65" y="10"/>
                </a:lnTo>
                <a:lnTo>
                  <a:pt x="82" y="15"/>
                </a:lnTo>
                <a:lnTo>
                  <a:pt x="98" y="21"/>
                </a:lnTo>
                <a:lnTo>
                  <a:pt x="114" y="28"/>
                </a:lnTo>
                <a:lnTo>
                  <a:pt x="131" y="35"/>
                </a:lnTo>
                <a:lnTo>
                  <a:pt x="147" y="43"/>
                </a:lnTo>
                <a:lnTo>
                  <a:pt x="164" y="51"/>
                </a:lnTo>
                <a:lnTo>
                  <a:pt x="180" y="59"/>
                </a:lnTo>
                <a:lnTo>
                  <a:pt x="196" y="68"/>
                </a:lnTo>
                <a:lnTo>
                  <a:pt x="213" y="76"/>
                </a:lnTo>
                <a:lnTo>
                  <a:pt x="229" y="84"/>
                </a:lnTo>
                <a:lnTo>
                  <a:pt x="246" y="92"/>
                </a:lnTo>
                <a:lnTo>
                  <a:pt x="262" y="100"/>
                </a:lnTo>
                <a:lnTo>
                  <a:pt x="278" y="107"/>
                </a:lnTo>
                <a:lnTo>
                  <a:pt x="295" y="114"/>
                </a:lnTo>
                <a:lnTo>
                  <a:pt x="311" y="120"/>
                </a:lnTo>
                <a:lnTo>
                  <a:pt x="327" y="125"/>
                </a:lnTo>
                <a:lnTo>
                  <a:pt x="344" y="129"/>
                </a:lnTo>
                <a:lnTo>
                  <a:pt x="360" y="133"/>
                </a:lnTo>
                <a:lnTo>
                  <a:pt x="377" y="135"/>
                </a:lnTo>
                <a:lnTo>
                  <a:pt x="393" y="135"/>
                </a:lnTo>
                <a:lnTo>
                  <a:pt x="393" y="143"/>
                </a:lnTo>
                <a:lnTo>
                  <a:pt x="377" y="142"/>
                </a:lnTo>
                <a:lnTo>
                  <a:pt x="360" y="140"/>
                </a:lnTo>
                <a:lnTo>
                  <a:pt x="344" y="137"/>
                </a:lnTo>
                <a:lnTo>
                  <a:pt x="327" y="133"/>
                </a:lnTo>
                <a:lnTo>
                  <a:pt x="311" y="128"/>
                </a:lnTo>
                <a:lnTo>
                  <a:pt x="295" y="122"/>
                </a:lnTo>
                <a:lnTo>
                  <a:pt x="278" y="115"/>
                </a:lnTo>
                <a:lnTo>
                  <a:pt x="262" y="108"/>
                </a:lnTo>
                <a:lnTo>
                  <a:pt x="246" y="100"/>
                </a:lnTo>
                <a:lnTo>
                  <a:pt x="229" y="92"/>
                </a:lnTo>
                <a:lnTo>
                  <a:pt x="213" y="84"/>
                </a:lnTo>
                <a:lnTo>
                  <a:pt x="196" y="75"/>
                </a:lnTo>
                <a:lnTo>
                  <a:pt x="180" y="67"/>
                </a:lnTo>
                <a:lnTo>
                  <a:pt x="164" y="59"/>
                </a:lnTo>
                <a:lnTo>
                  <a:pt x="147" y="51"/>
                </a:lnTo>
                <a:lnTo>
                  <a:pt x="131" y="43"/>
                </a:lnTo>
                <a:lnTo>
                  <a:pt x="114" y="36"/>
                </a:lnTo>
                <a:lnTo>
                  <a:pt x="98" y="29"/>
                </a:lnTo>
                <a:lnTo>
                  <a:pt x="82" y="23"/>
                </a:lnTo>
                <a:lnTo>
                  <a:pt x="65" y="18"/>
                </a:lnTo>
                <a:lnTo>
                  <a:pt x="49" y="14"/>
                </a:lnTo>
                <a:lnTo>
                  <a:pt x="33" y="11"/>
                </a:lnTo>
                <a:lnTo>
                  <a:pt x="16" y="9"/>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2552700"/>
            <a:ext cx="3743325" cy="1838325"/>
          </a:xfrm>
          <a:custGeom>
            <a:avLst/>
            <a:gdLst/>
            <a:ahLst/>
            <a:cxnLst/>
            <a:rect l="l" t="t" r="r" b="b"/>
            <a:pathLst>
              <a:path w="393" h="193">
                <a:moveTo>
                  <a:pt x="0" y="0"/>
                </a:moveTo>
                <a:lnTo>
                  <a:pt x="16" y="1"/>
                </a:lnTo>
                <a:lnTo>
                  <a:pt x="33" y="4"/>
                </a:lnTo>
                <a:lnTo>
                  <a:pt x="49" y="8"/>
                </a:lnTo>
                <a:lnTo>
                  <a:pt x="65" y="14"/>
                </a:lnTo>
                <a:lnTo>
                  <a:pt x="82" y="21"/>
                </a:lnTo>
                <a:lnTo>
                  <a:pt x="98" y="29"/>
                </a:lnTo>
                <a:lnTo>
                  <a:pt x="114" y="38"/>
                </a:lnTo>
                <a:lnTo>
                  <a:pt x="131" y="48"/>
                </a:lnTo>
                <a:lnTo>
                  <a:pt x="147" y="59"/>
                </a:lnTo>
                <a:lnTo>
                  <a:pt x="164" y="70"/>
                </a:lnTo>
                <a:lnTo>
                  <a:pt x="180" y="81"/>
                </a:lnTo>
                <a:lnTo>
                  <a:pt x="196" y="93"/>
                </a:lnTo>
                <a:lnTo>
                  <a:pt x="213" y="105"/>
                </a:lnTo>
                <a:lnTo>
                  <a:pt x="229" y="116"/>
                </a:lnTo>
                <a:lnTo>
                  <a:pt x="246" y="127"/>
                </a:lnTo>
                <a:lnTo>
                  <a:pt x="262" y="138"/>
                </a:lnTo>
                <a:lnTo>
                  <a:pt x="278" y="148"/>
                </a:lnTo>
                <a:lnTo>
                  <a:pt x="295" y="157"/>
                </a:lnTo>
                <a:lnTo>
                  <a:pt x="311" y="165"/>
                </a:lnTo>
                <a:lnTo>
                  <a:pt x="327" y="172"/>
                </a:lnTo>
                <a:lnTo>
                  <a:pt x="344" y="178"/>
                </a:lnTo>
                <a:lnTo>
                  <a:pt x="360" y="183"/>
                </a:lnTo>
                <a:lnTo>
                  <a:pt x="377" y="185"/>
                </a:lnTo>
                <a:lnTo>
                  <a:pt x="393" y="186"/>
                </a:lnTo>
                <a:lnTo>
                  <a:pt x="393" y="193"/>
                </a:lnTo>
                <a:lnTo>
                  <a:pt x="377" y="192"/>
                </a:lnTo>
                <a:lnTo>
                  <a:pt x="360" y="189"/>
                </a:lnTo>
                <a:lnTo>
                  <a:pt x="344" y="185"/>
                </a:lnTo>
                <a:lnTo>
                  <a:pt x="327" y="179"/>
                </a:lnTo>
                <a:lnTo>
                  <a:pt x="311" y="172"/>
                </a:lnTo>
                <a:lnTo>
                  <a:pt x="295" y="164"/>
                </a:lnTo>
                <a:lnTo>
                  <a:pt x="278" y="155"/>
                </a:lnTo>
                <a:lnTo>
                  <a:pt x="262" y="145"/>
                </a:lnTo>
                <a:lnTo>
                  <a:pt x="246" y="134"/>
                </a:lnTo>
                <a:lnTo>
                  <a:pt x="229" y="123"/>
                </a:lnTo>
                <a:lnTo>
                  <a:pt x="213" y="111"/>
                </a:lnTo>
                <a:lnTo>
                  <a:pt x="196" y="100"/>
                </a:lnTo>
                <a:lnTo>
                  <a:pt x="180" y="88"/>
                </a:lnTo>
                <a:lnTo>
                  <a:pt x="164" y="77"/>
                </a:lnTo>
                <a:lnTo>
                  <a:pt x="147" y="66"/>
                </a:lnTo>
                <a:lnTo>
                  <a:pt x="131" y="55"/>
                </a:lnTo>
                <a:lnTo>
                  <a:pt x="114" y="45"/>
                </a:lnTo>
                <a:lnTo>
                  <a:pt x="98" y="36"/>
                </a:lnTo>
                <a:lnTo>
                  <a:pt x="82" y="28"/>
                </a:lnTo>
                <a:lnTo>
                  <a:pt x="65" y="20"/>
                </a:lnTo>
                <a:lnTo>
                  <a:pt x="49" y="15"/>
                </a:lnTo>
                <a:lnTo>
                  <a:pt x="33" y="10"/>
                </a:lnTo>
                <a:lnTo>
                  <a:pt x="16" y="8"/>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2619375"/>
            <a:ext cx="3743325" cy="2247900"/>
          </a:xfrm>
          <a:custGeom>
            <a:avLst/>
            <a:gdLst/>
            <a:ahLst/>
            <a:cxnLst/>
            <a:rect l="l" t="t" r="r" b="b"/>
            <a:pathLst>
              <a:path w="393" h="236">
                <a:moveTo>
                  <a:pt x="0" y="0"/>
                </a:moveTo>
                <a:lnTo>
                  <a:pt x="16" y="1"/>
                </a:lnTo>
                <a:lnTo>
                  <a:pt x="33" y="4"/>
                </a:lnTo>
                <a:lnTo>
                  <a:pt x="49" y="10"/>
                </a:lnTo>
                <a:lnTo>
                  <a:pt x="65" y="17"/>
                </a:lnTo>
                <a:lnTo>
                  <a:pt x="82" y="26"/>
                </a:lnTo>
                <a:lnTo>
                  <a:pt x="98" y="36"/>
                </a:lnTo>
                <a:lnTo>
                  <a:pt x="114" y="47"/>
                </a:lnTo>
                <a:lnTo>
                  <a:pt x="131" y="60"/>
                </a:lnTo>
                <a:lnTo>
                  <a:pt x="147" y="73"/>
                </a:lnTo>
                <a:lnTo>
                  <a:pt x="164" y="87"/>
                </a:lnTo>
                <a:lnTo>
                  <a:pt x="180" y="101"/>
                </a:lnTo>
                <a:lnTo>
                  <a:pt x="196" y="115"/>
                </a:lnTo>
                <a:lnTo>
                  <a:pt x="213" y="130"/>
                </a:lnTo>
                <a:lnTo>
                  <a:pt x="229" y="144"/>
                </a:lnTo>
                <a:lnTo>
                  <a:pt x="246" y="158"/>
                </a:lnTo>
                <a:lnTo>
                  <a:pt x="262" y="171"/>
                </a:lnTo>
                <a:lnTo>
                  <a:pt x="278" y="183"/>
                </a:lnTo>
                <a:lnTo>
                  <a:pt x="295" y="195"/>
                </a:lnTo>
                <a:lnTo>
                  <a:pt x="311" y="205"/>
                </a:lnTo>
                <a:lnTo>
                  <a:pt x="327" y="214"/>
                </a:lnTo>
                <a:lnTo>
                  <a:pt x="344" y="221"/>
                </a:lnTo>
                <a:lnTo>
                  <a:pt x="360" y="226"/>
                </a:lnTo>
                <a:lnTo>
                  <a:pt x="377" y="230"/>
                </a:lnTo>
                <a:lnTo>
                  <a:pt x="393" y="231"/>
                </a:lnTo>
                <a:lnTo>
                  <a:pt x="393" y="236"/>
                </a:lnTo>
                <a:lnTo>
                  <a:pt x="377" y="235"/>
                </a:lnTo>
                <a:lnTo>
                  <a:pt x="360" y="232"/>
                </a:lnTo>
                <a:lnTo>
                  <a:pt x="344" y="226"/>
                </a:lnTo>
                <a:lnTo>
                  <a:pt x="327" y="219"/>
                </a:lnTo>
                <a:lnTo>
                  <a:pt x="311" y="210"/>
                </a:lnTo>
                <a:lnTo>
                  <a:pt x="295" y="200"/>
                </a:lnTo>
                <a:lnTo>
                  <a:pt x="278" y="189"/>
                </a:lnTo>
                <a:lnTo>
                  <a:pt x="262" y="176"/>
                </a:lnTo>
                <a:lnTo>
                  <a:pt x="246" y="163"/>
                </a:lnTo>
                <a:lnTo>
                  <a:pt x="229" y="149"/>
                </a:lnTo>
                <a:lnTo>
                  <a:pt x="213" y="135"/>
                </a:lnTo>
                <a:lnTo>
                  <a:pt x="196" y="121"/>
                </a:lnTo>
                <a:lnTo>
                  <a:pt x="180" y="106"/>
                </a:lnTo>
                <a:lnTo>
                  <a:pt x="164" y="92"/>
                </a:lnTo>
                <a:lnTo>
                  <a:pt x="147" y="78"/>
                </a:lnTo>
                <a:lnTo>
                  <a:pt x="131" y="65"/>
                </a:lnTo>
                <a:lnTo>
                  <a:pt x="114" y="53"/>
                </a:lnTo>
                <a:lnTo>
                  <a:pt x="98" y="41"/>
                </a:lnTo>
                <a:lnTo>
                  <a:pt x="82" y="31"/>
                </a:lnTo>
                <a:lnTo>
                  <a:pt x="65" y="22"/>
                </a:lnTo>
                <a:lnTo>
                  <a:pt x="49" y="15"/>
                </a:lnTo>
                <a:lnTo>
                  <a:pt x="33" y="10"/>
                </a:lnTo>
                <a:lnTo>
                  <a:pt x="16" y="6"/>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2667000"/>
            <a:ext cx="3743325" cy="2619375"/>
          </a:xfrm>
          <a:custGeom>
            <a:avLst/>
            <a:gdLst/>
            <a:ahLst/>
            <a:cxnLst/>
            <a:rect l="l" t="t" r="r" b="b"/>
            <a:pathLst>
              <a:path w="393" h="275">
                <a:moveTo>
                  <a:pt x="0" y="0"/>
                </a:moveTo>
                <a:lnTo>
                  <a:pt x="16" y="2"/>
                </a:lnTo>
                <a:lnTo>
                  <a:pt x="33" y="5"/>
                </a:lnTo>
                <a:lnTo>
                  <a:pt x="49" y="12"/>
                </a:lnTo>
                <a:lnTo>
                  <a:pt x="65" y="20"/>
                </a:lnTo>
                <a:lnTo>
                  <a:pt x="82" y="30"/>
                </a:lnTo>
                <a:lnTo>
                  <a:pt x="98" y="42"/>
                </a:lnTo>
                <a:lnTo>
                  <a:pt x="114" y="56"/>
                </a:lnTo>
                <a:lnTo>
                  <a:pt x="131" y="70"/>
                </a:lnTo>
                <a:lnTo>
                  <a:pt x="147" y="86"/>
                </a:lnTo>
                <a:lnTo>
                  <a:pt x="164" y="102"/>
                </a:lnTo>
                <a:lnTo>
                  <a:pt x="180" y="118"/>
                </a:lnTo>
                <a:lnTo>
                  <a:pt x="196" y="135"/>
                </a:lnTo>
                <a:lnTo>
                  <a:pt x="213" y="152"/>
                </a:lnTo>
                <a:lnTo>
                  <a:pt x="229" y="169"/>
                </a:lnTo>
                <a:lnTo>
                  <a:pt x="246" y="185"/>
                </a:lnTo>
                <a:lnTo>
                  <a:pt x="262" y="200"/>
                </a:lnTo>
                <a:lnTo>
                  <a:pt x="278" y="215"/>
                </a:lnTo>
                <a:lnTo>
                  <a:pt x="295" y="228"/>
                </a:lnTo>
                <a:lnTo>
                  <a:pt x="311" y="240"/>
                </a:lnTo>
                <a:lnTo>
                  <a:pt x="327" y="250"/>
                </a:lnTo>
                <a:lnTo>
                  <a:pt x="344" y="258"/>
                </a:lnTo>
                <a:lnTo>
                  <a:pt x="360" y="265"/>
                </a:lnTo>
                <a:lnTo>
                  <a:pt x="377" y="269"/>
                </a:lnTo>
                <a:lnTo>
                  <a:pt x="393" y="270"/>
                </a:lnTo>
                <a:lnTo>
                  <a:pt x="393" y="275"/>
                </a:lnTo>
                <a:lnTo>
                  <a:pt x="377" y="274"/>
                </a:lnTo>
                <a:lnTo>
                  <a:pt x="360" y="270"/>
                </a:lnTo>
                <a:lnTo>
                  <a:pt x="344" y="263"/>
                </a:lnTo>
                <a:lnTo>
                  <a:pt x="327" y="255"/>
                </a:lnTo>
                <a:lnTo>
                  <a:pt x="311" y="245"/>
                </a:lnTo>
                <a:lnTo>
                  <a:pt x="295" y="233"/>
                </a:lnTo>
                <a:lnTo>
                  <a:pt x="278" y="220"/>
                </a:lnTo>
                <a:lnTo>
                  <a:pt x="262" y="205"/>
                </a:lnTo>
                <a:lnTo>
                  <a:pt x="246" y="190"/>
                </a:lnTo>
                <a:lnTo>
                  <a:pt x="229" y="173"/>
                </a:lnTo>
                <a:lnTo>
                  <a:pt x="213" y="157"/>
                </a:lnTo>
                <a:lnTo>
                  <a:pt x="196" y="140"/>
                </a:lnTo>
                <a:lnTo>
                  <a:pt x="180" y="123"/>
                </a:lnTo>
                <a:lnTo>
                  <a:pt x="164" y="107"/>
                </a:lnTo>
                <a:lnTo>
                  <a:pt x="147" y="91"/>
                </a:lnTo>
                <a:lnTo>
                  <a:pt x="131" y="75"/>
                </a:lnTo>
                <a:lnTo>
                  <a:pt x="114" y="61"/>
                </a:lnTo>
                <a:lnTo>
                  <a:pt x="98" y="47"/>
                </a:lnTo>
                <a:lnTo>
                  <a:pt x="82" y="35"/>
                </a:lnTo>
                <a:lnTo>
                  <a:pt x="65" y="25"/>
                </a:lnTo>
                <a:lnTo>
                  <a:pt x="49" y="17"/>
                </a:lnTo>
                <a:lnTo>
                  <a:pt x="33" y="10"/>
                </a:lnTo>
                <a:lnTo>
                  <a:pt x="16" y="6"/>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2714625"/>
            <a:ext cx="3743325" cy="2933700"/>
          </a:xfrm>
          <a:custGeom>
            <a:avLst/>
            <a:gdLst/>
            <a:ahLst/>
            <a:cxnLst/>
            <a:rect l="l" t="t" r="r" b="b"/>
            <a:pathLst>
              <a:path w="393" h="308">
                <a:moveTo>
                  <a:pt x="0" y="0"/>
                </a:moveTo>
                <a:lnTo>
                  <a:pt x="16" y="2"/>
                </a:lnTo>
                <a:lnTo>
                  <a:pt x="33" y="6"/>
                </a:lnTo>
                <a:lnTo>
                  <a:pt x="49" y="13"/>
                </a:lnTo>
                <a:lnTo>
                  <a:pt x="65" y="23"/>
                </a:lnTo>
                <a:lnTo>
                  <a:pt x="82" y="34"/>
                </a:lnTo>
                <a:lnTo>
                  <a:pt x="98" y="48"/>
                </a:lnTo>
                <a:lnTo>
                  <a:pt x="114" y="63"/>
                </a:lnTo>
                <a:lnTo>
                  <a:pt x="131" y="79"/>
                </a:lnTo>
                <a:lnTo>
                  <a:pt x="147" y="96"/>
                </a:lnTo>
                <a:lnTo>
                  <a:pt x="164" y="115"/>
                </a:lnTo>
                <a:lnTo>
                  <a:pt x="180" y="133"/>
                </a:lnTo>
                <a:lnTo>
                  <a:pt x="196" y="152"/>
                </a:lnTo>
                <a:lnTo>
                  <a:pt x="213" y="171"/>
                </a:lnTo>
                <a:lnTo>
                  <a:pt x="229" y="190"/>
                </a:lnTo>
                <a:lnTo>
                  <a:pt x="246" y="208"/>
                </a:lnTo>
                <a:lnTo>
                  <a:pt x="262" y="225"/>
                </a:lnTo>
                <a:lnTo>
                  <a:pt x="278" y="242"/>
                </a:lnTo>
                <a:lnTo>
                  <a:pt x="295" y="257"/>
                </a:lnTo>
                <a:lnTo>
                  <a:pt x="311" y="270"/>
                </a:lnTo>
                <a:lnTo>
                  <a:pt x="327" y="282"/>
                </a:lnTo>
                <a:lnTo>
                  <a:pt x="344" y="291"/>
                </a:lnTo>
                <a:lnTo>
                  <a:pt x="360" y="298"/>
                </a:lnTo>
                <a:lnTo>
                  <a:pt x="377" y="303"/>
                </a:lnTo>
                <a:lnTo>
                  <a:pt x="393" y="304"/>
                </a:lnTo>
                <a:lnTo>
                  <a:pt x="393" y="308"/>
                </a:lnTo>
                <a:lnTo>
                  <a:pt x="377" y="306"/>
                </a:lnTo>
                <a:lnTo>
                  <a:pt x="360" y="302"/>
                </a:lnTo>
                <a:lnTo>
                  <a:pt x="344" y="295"/>
                </a:lnTo>
                <a:lnTo>
                  <a:pt x="327" y="285"/>
                </a:lnTo>
                <a:lnTo>
                  <a:pt x="311" y="273"/>
                </a:lnTo>
                <a:lnTo>
                  <a:pt x="295" y="260"/>
                </a:lnTo>
                <a:lnTo>
                  <a:pt x="278" y="245"/>
                </a:lnTo>
                <a:lnTo>
                  <a:pt x="262" y="229"/>
                </a:lnTo>
                <a:lnTo>
                  <a:pt x="246" y="211"/>
                </a:lnTo>
                <a:lnTo>
                  <a:pt x="229" y="193"/>
                </a:lnTo>
                <a:lnTo>
                  <a:pt x="213" y="175"/>
                </a:lnTo>
                <a:lnTo>
                  <a:pt x="196" y="156"/>
                </a:lnTo>
                <a:lnTo>
                  <a:pt x="180" y="137"/>
                </a:lnTo>
                <a:lnTo>
                  <a:pt x="164" y="118"/>
                </a:lnTo>
                <a:lnTo>
                  <a:pt x="147" y="100"/>
                </a:lnTo>
                <a:lnTo>
                  <a:pt x="131" y="82"/>
                </a:lnTo>
                <a:lnTo>
                  <a:pt x="114" y="66"/>
                </a:lnTo>
                <a:lnTo>
                  <a:pt x="98" y="51"/>
                </a:lnTo>
                <a:lnTo>
                  <a:pt x="82" y="38"/>
                </a:lnTo>
                <a:lnTo>
                  <a:pt x="65" y="26"/>
                </a:lnTo>
                <a:lnTo>
                  <a:pt x="49" y="17"/>
                </a:lnTo>
                <a:lnTo>
                  <a:pt x="33" y="9"/>
                </a:lnTo>
                <a:lnTo>
                  <a:pt x="16" y="5"/>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2743200"/>
            <a:ext cx="3743325" cy="3162300"/>
          </a:xfrm>
          <a:custGeom>
            <a:avLst/>
            <a:gdLst/>
            <a:ahLst/>
            <a:cxnLst/>
            <a:rect l="l" t="t" r="r" b="b"/>
            <a:pathLst>
              <a:path w="393" h="332">
                <a:moveTo>
                  <a:pt x="0" y="0"/>
                </a:moveTo>
                <a:lnTo>
                  <a:pt x="16" y="2"/>
                </a:lnTo>
                <a:lnTo>
                  <a:pt x="33" y="7"/>
                </a:lnTo>
                <a:lnTo>
                  <a:pt x="49" y="15"/>
                </a:lnTo>
                <a:lnTo>
                  <a:pt x="65" y="25"/>
                </a:lnTo>
                <a:lnTo>
                  <a:pt x="82" y="37"/>
                </a:lnTo>
                <a:lnTo>
                  <a:pt x="98" y="52"/>
                </a:lnTo>
                <a:lnTo>
                  <a:pt x="114" y="68"/>
                </a:lnTo>
                <a:lnTo>
                  <a:pt x="131" y="86"/>
                </a:lnTo>
                <a:lnTo>
                  <a:pt x="147" y="105"/>
                </a:lnTo>
                <a:lnTo>
                  <a:pt x="164" y="124"/>
                </a:lnTo>
                <a:lnTo>
                  <a:pt x="180" y="145"/>
                </a:lnTo>
                <a:lnTo>
                  <a:pt x="196" y="165"/>
                </a:lnTo>
                <a:lnTo>
                  <a:pt x="213" y="186"/>
                </a:lnTo>
                <a:lnTo>
                  <a:pt x="229" y="206"/>
                </a:lnTo>
                <a:lnTo>
                  <a:pt x="246" y="226"/>
                </a:lnTo>
                <a:lnTo>
                  <a:pt x="262" y="244"/>
                </a:lnTo>
                <a:lnTo>
                  <a:pt x="278" y="262"/>
                </a:lnTo>
                <a:lnTo>
                  <a:pt x="295" y="278"/>
                </a:lnTo>
                <a:lnTo>
                  <a:pt x="311" y="293"/>
                </a:lnTo>
                <a:lnTo>
                  <a:pt x="327" y="305"/>
                </a:lnTo>
                <a:lnTo>
                  <a:pt x="344" y="316"/>
                </a:lnTo>
                <a:lnTo>
                  <a:pt x="360" y="323"/>
                </a:lnTo>
                <a:lnTo>
                  <a:pt x="377" y="328"/>
                </a:lnTo>
                <a:lnTo>
                  <a:pt x="393" y="330"/>
                </a:lnTo>
                <a:lnTo>
                  <a:pt x="393" y="332"/>
                </a:lnTo>
                <a:lnTo>
                  <a:pt x="377" y="330"/>
                </a:lnTo>
                <a:lnTo>
                  <a:pt x="360" y="326"/>
                </a:lnTo>
                <a:lnTo>
                  <a:pt x="344" y="318"/>
                </a:lnTo>
                <a:lnTo>
                  <a:pt x="327" y="308"/>
                </a:lnTo>
                <a:lnTo>
                  <a:pt x="311" y="295"/>
                </a:lnTo>
                <a:lnTo>
                  <a:pt x="295" y="281"/>
                </a:lnTo>
                <a:lnTo>
                  <a:pt x="278" y="264"/>
                </a:lnTo>
                <a:lnTo>
                  <a:pt x="262" y="247"/>
                </a:lnTo>
                <a:lnTo>
                  <a:pt x="246" y="228"/>
                </a:lnTo>
                <a:lnTo>
                  <a:pt x="229" y="208"/>
                </a:lnTo>
                <a:lnTo>
                  <a:pt x="213" y="188"/>
                </a:lnTo>
                <a:lnTo>
                  <a:pt x="196" y="167"/>
                </a:lnTo>
                <a:lnTo>
                  <a:pt x="180" y="147"/>
                </a:lnTo>
                <a:lnTo>
                  <a:pt x="164" y="127"/>
                </a:lnTo>
                <a:lnTo>
                  <a:pt x="147" y="107"/>
                </a:lnTo>
                <a:lnTo>
                  <a:pt x="131" y="88"/>
                </a:lnTo>
                <a:lnTo>
                  <a:pt x="114" y="70"/>
                </a:lnTo>
                <a:lnTo>
                  <a:pt x="98" y="54"/>
                </a:lnTo>
                <a:lnTo>
                  <a:pt x="82" y="40"/>
                </a:lnTo>
                <a:lnTo>
                  <a:pt x="65" y="27"/>
                </a:lnTo>
                <a:lnTo>
                  <a:pt x="49" y="17"/>
                </a:lnTo>
                <a:lnTo>
                  <a:pt x="33" y="9"/>
                </a:lnTo>
                <a:lnTo>
                  <a:pt x="16" y="4"/>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2771775"/>
            <a:ext cx="3743325" cy="3343275"/>
          </a:xfrm>
          <a:custGeom>
            <a:avLst/>
            <a:gdLst/>
            <a:ahLst/>
            <a:cxnLst/>
            <a:rect l="l" t="t" r="r" b="b"/>
            <a:pathLst>
              <a:path w="393" h="351">
                <a:moveTo>
                  <a:pt x="0" y="0"/>
                </a:moveTo>
                <a:lnTo>
                  <a:pt x="16" y="2"/>
                </a:lnTo>
                <a:lnTo>
                  <a:pt x="33" y="7"/>
                </a:lnTo>
                <a:lnTo>
                  <a:pt x="49" y="15"/>
                </a:lnTo>
                <a:lnTo>
                  <a:pt x="65" y="26"/>
                </a:lnTo>
                <a:lnTo>
                  <a:pt x="82" y="39"/>
                </a:lnTo>
                <a:lnTo>
                  <a:pt x="98" y="54"/>
                </a:lnTo>
                <a:lnTo>
                  <a:pt x="114" y="72"/>
                </a:lnTo>
                <a:lnTo>
                  <a:pt x="131" y="90"/>
                </a:lnTo>
                <a:lnTo>
                  <a:pt x="147" y="110"/>
                </a:lnTo>
                <a:lnTo>
                  <a:pt x="164" y="131"/>
                </a:lnTo>
                <a:lnTo>
                  <a:pt x="180" y="152"/>
                </a:lnTo>
                <a:lnTo>
                  <a:pt x="196" y="174"/>
                </a:lnTo>
                <a:lnTo>
                  <a:pt x="213" y="196"/>
                </a:lnTo>
                <a:lnTo>
                  <a:pt x="229" y="217"/>
                </a:lnTo>
                <a:lnTo>
                  <a:pt x="246" y="238"/>
                </a:lnTo>
                <a:lnTo>
                  <a:pt x="262" y="258"/>
                </a:lnTo>
                <a:lnTo>
                  <a:pt x="278" y="277"/>
                </a:lnTo>
                <a:lnTo>
                  <a:pt x="295" y="294"/>
                </a:lnTo>
                <a:lnTo>
                  <a:pt x="311" y="310"/>
                </a:lnTo>
                <a:lnTo>
                  <a:pt x="327" y="323"/>
                </a:lnTo>
                <a:lnTo>
                  <a:pt x="344" y="334"/>
                </a:lnTo>
                <a:lnTo>
                  <a:pt x="360" y="342"/>
                </a:lnTo>
                <a:lnTo>
                  <a:pt x="377" y="347"/>
                </a:lnTo>
                <a:lnTo>
                  <a:pt x="393" y="349"/>
                </a:lnTo>
                <a:lnTo>
                  <a:pt x="393" y="351"/>
                </a:lnTo>
                <a:lnTo>
                  <a:pt x="377" y="349"/>
                </a:lnTo>
                <a:lnTo>
                  <a:pt x="360" y="344"/>
                </a:lnTo>
                <a:lnTo>
                  <a:pt x="344" y="336"/>
                </a:lnTo>
                <a:lnTo>
                  <a:pt x="327" y="325"/>
                </a:lnTo>
                <a:lnTo>
                  <a:pt x="311" y="312"/>
                </a:lnTo>
                <a:lnTo>
                  <a:pt x="295" y="296"/>
                </a:lnTo>
                <a:lnTo>
                  <a:pt x="278" y="279"/>
                </a:lnTo>
                <a:lnTo>
                  <a:pt x="262" y="260"/>
                </a:lnTo>
                <a:lnTo>
                  <a:pt x="246" y="240"/>
                </a:lnTo>
                <a:lnTo>
                  <a:pt x="229" y="220"/>
                </a:lnTo>
                <a:lnTo>
                  <a:pt x="213" y="198"/>
                </a:lnTo>
                <a:lnTo>
                  <a:pt x="196" y="176"/>
                </a:lnTo>
                <a:lnTo>
                  <a:pt x="180" y="155"/>
                </a:lnTo>
                <a:lnTo>
                  <a:pt x="164" y="133"/>
                </a:lnTo>
                <a:lnTo>
                  <a:pt x="147" y="112"/>
                </a:lnTo>
                <a:lnTo>
                  <a:pt x="131" y="92"/>
                </a:lnTo>
                <a:lnTo>
                  <a:pt x="114" y="74"/>
                </a:lnTo>
                <a:lnTo>
                  <a:pt x="98" y="56"/>
                </a:lnTo>
                <a:lnTo>
                  <a:pt x="82" y="41"/>
                </a:lnTo>
                <a:lnTo>
                  <a:pt x="65" y="28"/>
                </a:lnTo>
                <a:lnTo>
                  <a:pt x="49" y="17"/>
                </a:lnTo>
                <a:lnTo>
                  <a:pt x="33" y="9"/>
                </a:lnTo>
                <a:lnTo>
                  <a:pt x="16" y="4"/>
                </a:lnTo>
                <a:lnTo>
                  <a:pt x="0" y="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2790825"/>
            <a:ext cx="3743325" cy="3514725"/>
          </a:xfrm>
          <a:custGeom>
            <a:avLst/>
            <a:gdLst/>
            <a:ahLst/>
            <a:cxnLst/>
            <a:rect l="l" t="t" r="r" b="b"/>
            <a:pathLst>
              <a:path w="393" h="369">
                <a:moveTo>
                  <a:pt x="0" y="0"/>
                </a:moveTo>
                <a:lnTo>
                  <a:pt x="16" y="2"/>
                </a:lnTo>
                <a:lnTo>
                  <a:pt x="33" y="7"/>
                </a:lnTo>
                <a:lnTo>
                  <a:pt x="49" y="16"/>
                </a:lnTo>
                <a:lnTo>
                  <a:pt x="65" y="27"/>
                </a:lnTo>
                <a:lnTo>
                  <a:pt x="82" y="41"/>
                </a:lnTo>
                <a:lnTo>
                  <a:pt x="98" y="57"/>
                </a:lnTo>
                <a:lnTo>
                  <a:pt x="114" y="75"/>
                </a:lnTo>
                <a:lnTo>
                  <a:pt x="131" y="95"/>
                </a:lnTo>
                <a:lnTo>
                  <a:pt x="147" y="116"/>
                </a:lnTo>
                <a:lnTo>
                  <a:pt x="164" y="138"/>
                </a:lnTo>
                <a:lnTo>
                  <a:pt x="180" y="160"/>
                </a:lnTo>
                <a:lnTo>
                  <a:pt x="196" y="183"/>
                </a:lnTo>
                <a:lnTo>
                  <a:pt x="213" y="206"/>
                </a:lnTo>
                <a:lnTo>
                  <a:pt x="229" y="229"/>
                </a:lnTo>
                <a:lnTo>
                  <a:pt x="246" y="251"/>
                </a:lnTo>
                <a:lnTo>
                  <a:pt x="262" y="272"/>
                </a:lnTo>
                <a:lnTo>
                  <a:pt x="278" y="291"/>
                </a:lnTo>
                <a:lnTo>
                  <a:pt x="295" y="310"/>
                </a:lnTo>
                <a:lnTo>
                  <a:pt x="311" y="326"/>
                </a:lnTo>
                <a:lnTo>
                  <a:pt x="327" y="340"/>
                </a:lnTo>
                <a:lnTo>
                  <a:pt x="344" y="351"/>
                </a:lnTo>
                <a:lnTo>
                  <a:pt x="360" y="360"/>
                </a:lnTo>
                <a:lnTo>
                  <a:pt x="377" y="365"/>
                </a:lnTo>
                <a:lnTo>
                  <a:pt x="393" y="367"/>
                </a:lnTo>
                <a:lnTo>
                  <a:pt x="393" y="369"/>
                </a:lnTo>
                <a:lnTo>
                  <a:pt x="377" y="367"/>
                </a:lnTo>
                <a:lnTo>
                  <a:pt x="360" y="361"/>
                </a:lnTo>
                <a:lnTo>
                  <a:pt x="344" y="353"/>
                </a:lnTo>
                <a:lnTo>
                  <a:pt x="327" y="341"/>
                </a:lnTo>
                <a:lnTo>
                  <a:pt x="311" y="328"/>
                </a:lnTo>
                <a:lnTo>
                  <a:pt x="295" y="311"/>
                </a:lnTo>
                <a:lnTo>
                  <a:pt x="278" y="293"/>
                </a:lnTo>
                <a:lnTo>
                  <a:pt x="262" y="274"/>
                </a:lnTo>
                <a:lnTo>
                  <a:pt x="246" y="253"/>
                </a:lnTo>
                <a:lnTo>
                  <a:pt x="229" y="231"/>
                </a:lnTo>
                <a:lnTo>
                  <a:pt x="213" y="208"/>
                </a:lnTo>
                <a:lnTo>
                  <a:pt x="196" y="185"/>
                </a:lnTo>
                <a:lnTo>
                  <a:pt x="180" y="162"/>
                </a:lnTo>
                <a:lnTo>
                  <a:pt x="164" y="140"/>
                </a:lnTo>
                <a:lnTo>
                  <a:pt x="147" y="118"/>
                </a:lnTo>
                <a:lnTo>
                  <a:pt x="131" y="97"/>
                </a:lnTo>
                <a:lnTo>
                  <a:pt x="114" y="77"/>
                </a:lnTo>
                <a:lnTo>
                  <a:pt x="98" y="59"/>
                </a:lnTo>
                <a:lnTo>
                  <a:pt x="82" y="43"/>
                </a:lnTo>
                <a:lnTo>
                  <a:pt x="65" y="29"/>
                </a:lnTo>
                <a:lnTo>
                  <a:pt x="49" y="17"/>
                </a:lnTo>
                <a:lnTo>
                  <a:pt x="33" y="9"/>
                </a:lnTo>
                <a:lnTo>
                  <a:pt x="16" y="4"/>
                </a:lnTo>
                <a:lnTo>
                  <a:pt x="0" y="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2809875"/>
            <a:ext cx="3743325" cy="3657600"/>
          </a:xfrm>
          <a:custGeom>
            <a:avLst/>
            <a:gdLst/>
            <a:ahLst/>
            <a:cxnLst/>
            <a:rect l="l" t="t" r="r" b="b"/>
            <a:pathLst>
              <a:path w="393" h="384">
                <a:moveTo>
                  <a:pt x="0" y="0"/>
                </a:moveTo>
                <a:lnTo>
                  <a:pt x="16" y="2"/>
                </a:lnTo>
                <a:lnTo>
                  <a:pt x="33" y="7"/>
                </a:lnTo>
                <a:lnTo>
                  <a:pt x="49" y="16"/>
                </a:lnTo>
                <a:lnTo>
                  <a:pt x="65" y="28"/>
                </a:lnTo>
                <a:lnTo>
                  <a:pt x="82" y="43"/>
                </a:lnTo>
                <a:lnTo>
                  <a:pt x="98" y="60"/>
                </a:lnTo>
                <a:lnTo>
                  <a:pt x="114" y="79"/>
                </a:lnTo>
                <a:lnTo>
                  <a:pt x="131" y="99"/>
                </a:lnTo>
                <a:lnTo>
                  <a:pt x="147" y="121"/>
                </a:lnTo>
                <a:lnTo>
                  <a:pt x="164" y="144"/>
                </a:lnTo>
                <a:lnTo>
                  <a:pt x="180" y="167"/>
                </a:lnTo>
                <a:lnTo>
                  <a:pt x="196" y="191"/>
                </a:lnTo>
                <a:lnTo>
                  <a:pt x="213" y="215"/>
                </a:lnTo>
                <a:lnTo>
                  <a:pt x="229" y="239"/>
                </a:lnTo>
                <a:lnTo>
                  <a:pt x="246" y="262"/>
                </a:lnTo>
                <a:lnTo>
                  <a:pt x="262" y="284"/>
                </a:lnTo>
                <a:lnTo>
                  <a:pt x="278" y="304"/>
                </a:lnTo>
                <a:lnTo>
                  <a:pt x="295" y="323"/>
                </a:lnTo>
                <a:lnTo>
                  <a:pt x="311" y="340"/>
                </a:lnTo>
                <a:lnTo>
                  <a:pt x="327" y="355"/>
                </a:lnTo>
                <a:lnTo>
                  <a:pt x="344" y="367"/>
                </a:lnTo>
                <a:lnTo>
                  <a:pt x="360" y="376"/>
                </a:lnTo>
                <a:lnTo>
                  <a:pt x="377" y="381"/>
                </a:lnTo>
                <a:lnTo>
                  <a:pt x="393" y="383"/>
                </a:lnTo>
                <a:lnTo>
                  <a:pt x="393" y="384"/>
                </a:lnTo>
                <a:lnTo>
                  <a:pt x="377" y="382"/>
                </a:lnTo>
                <a:lnTo>
                  <a:pt x="360" y="377"/>
                </a:lnTo>
                <a:lnTo>
                  <a:pt x="344" y="368"/>
                </a:lnTo>
                <a:lnTo>
                  <a:pt x="327" y="356"/>
                </a:lnTo>
                <a:lnTo>
                  <a:pt x="311" y="341"/>
                </a:lnTo>
                <a:lnTo>
                  <a:pt x="295" y="325"/>
                </a:lnTo>
                <a:lnTo>
                  <a:pt x="278" y="306"/>
                </a:lnTo>
                <a:lnTo>
                  <a:pt x="262" y="285"/>
                </a:lnTo>
                <a:lnTo>
                  <a:pt x="246" y="263"/>
                </a:lnTo>
                <a:lnTo>
                  <a:pt x="229" y="240"/>
                </a:lnTo>
                <a:lnTo>
                  <a:pt x="213" y="217"/>
                </a:lnTo>
                <a:lnTo>
                  <a:pt x="196" y="193"/>
                </a:lnTo>
                <a:lnTo>
                  <a:pt x="180" y="169"/>
                </a:lnTo>
                <a:lnTo>
                  <a:pt x="164" y="145"/>
                </a:lnTo>
                <a:lnTo>
                  <a:pt x="147" y="122"/>
                </a:lnTo>
                <a:lnTo>
                  <a:pt x="131" y="100"/>
                </a:lnTo>
                <a:lnTo>
                  <a:pt x="114" y="80"/>
                </a:lnTo>
                <a:lnTo>
                  <a:pt x="98" y="61"/>
                </a:lnTo>
                <a:lnTo>
                  <a:pt x="82" y="44"/>
                </a:lnTo>
                <a:lnTo>
                  <a:pt x="65" y="29"/>
                </a:lnTo>
                <a:lnTo>
                  <a:pt x="49" y="17"/>
                </a:lnTo>
                <a:lnTo>
                  <a:pt x="33" y="9"/>
                </a:lnTo>
                <a:lnTo>
                  <a:pt x="16" y="3"/>
                </a:lnTo>
                <a:lnTo>
                  <a:pt x="0" y="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1562100"/>
            <a:ext cx="3743325" cy="1438275"/>
          </a:xfrm>
          <a:custGeom>
            <a:avLst/>
            <a:gdLst/>
            <a:ahLst/>
            <a:cxnLst/>
            <a:rect l="l" t="t" r="r" b="b"/>
            <a:pathLst>
              <a:path w="393" h="151">
                <a:moveTo>
                  <a:pt x="0" y="138"/>
                </a:moveTo>
                <a:lnTo>
                  <a:pt x="16" y="137"/>
                </a:lnTo>
                <a:lnTo>
                  <a:pt x="33" y="135"/>
                </a:lnTo>
                <a:lnTo>
                  <a:pt x="49" y="132"/>
                </a:lnTo>
                <a:lnTo>
                  <a:pt x="65" y="128"/>
                </a:lnTo>
                <a:lnTo>
                  <a:pt x="82" y="122"/>
                </a:lnTo>
                <a:lnTo>
                  <a:pt x="98" y="116"/>
                </a:lnTo>
                <a:lnTo>
                  <a:pt x="114" y="110"/>
                </a:lnTo>
                <a:lnTo>
                  <a:pt x="131" y="102"/>
                </a:lnTo>
                <a:lnTo>
                  <a:pt x="147" y="94"/>
                </a:lnTo>
                <a:lnTo>
                  <a:pt x="164" y="86"/>
                </a:lnTo>
                <a:lnTo>
                  <a:pt x="180" y="77"/>
                </a:lnTo>
                <a:lnTo>
                  <a:pt x="196" y="69"/>
                </a:lnTo>
                <a:lnTo>
                  <a:pt x="213" y="60"/>
                </a:lnTo>
                <a:lnTo>
                  <a:pt x="229" y="52"/>
                </a:lnTo>
                <a:lnTo>
                  <a:pt x="246" y="43"/>
                </a:lnTo>
                <a:lnTo>
                  <a:pt x="262" y="35"/>
                </a:lnTo>
                <a:lnTo>
                  <a:pt x="278" y="28"/>
                </a:lnTo>
                <a:lnTo>
                  <a:pt x="295" y="21"/>
                </a:lnTo>
                <a:lnTo>
                  <a:pt x="311" y="15"/>
                </a:lnTo>
                <a:lnTo>
                  <a:pt x="327" y="10"/>
                </a:lnTo>
                <a:lnTo>
                  <a:pt x="344" y="6"/>
                </a:lnTo>
                <a:lnTo>
                  <a:pt x="360" y="2"/>
                </a:lnTo>
                <a:lnTo>
                  <a:pt x="377" y="0"/>
                </a:lnTo>
                <a:lnTo>
                  <a:pt x="393" y="0"/>
                </a:lnTo>
                <a:lnTo>
                  <a:pt x="393" y="13"/>
                </a:lnTo>
                <a:lnTo>
                  <a:pt x="377" y="14"/>
                </a:lnTo>
                <a:lnTo>
                  <a:pt x="360" y="16"/>
                </a:lnTo>
                <a:lnTo>
                  <a:pt x="344" y="19"/>
                </a:lnTo>
                <a:lnTo>
                  <a:pt x="327" y="23"/>
                </a:lnTo>
                <a:lnTo>
                  <a:pt x="311" y="28"/>
                </a:lnTo>
                <a:lnTo>
                  <a:pt x="295" y="34"/>
                </a:lnTo>
                <a:lnTo>
                  <a:pt x="278" y="41"/>
                </a:lnTo>
                <a:lnTo>
                  <a:pt x="262" y="49"/>
                </a:lnTo>
                <a:lnTo>
                  <a:pt x="246" y="57"/>
                </a:lnTo>
                <a:lnTo>
                  <a:pt x="229" y="65"/>
                </a:lnTo>
                <a:lnTo>
                  <a:pt x="213" y="73"/>
                </a:lnTo>
                <a:lnTo>
                  <a:pt x="196" y="82"/>
                </a:lnTo>
                <a:lnTo>
                  <a:pt x="180" y="91"/>
                </a:lnTo>
                <a:lnTo>
                  <a:pt x="164" y="99"/>
                </a:lnTo>
                <a:lnTo>
                  <a:pt x="147" y="107"/>
                </a:lnTo>
                <a:lnTo>
                  <a:pt x="131" y="115"/>
                </a:lnTo>
                <a:lnTo>
                  <a:pt x="114" y="123"/>
                </a:lnTo>
                <a:lnTo>
                  <a:pt x="98" y="130"/>
                </a:lnTo>
                <a:lnTo>
                  <a:pt x="82" y="136"/>
                </a:lnTo>
                <a:lnTo>
                  <a:pt x="65" y="141"/>
                </a:lnTo>
                <a:lnTo>
                  <a:pt x="49" y="145"/>
                </a:lnTo>
                <a:lnTo>
                  <a:pt x="33" y="149"/>
                </a:lnTo>
                <a:lnTo>
                  <a:pt x="16" y="151"/>
                </a:lnTo>
                <a:lnTo>
                  <a:pt x="0" y="15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2476500"/>
            <a:ext cx="3743325" cy="638175"/>
          </a:xfrm>
          <a:custGeom>
            <a:avLst/>
            <a:gdLst/>
            <a:ahLst/>
            <a:cxnLst/>
            <a:rect l="l" t="t" r="r" b="b"/>
            <a:pathLst>
              <a:path w="393" h="67">
                <a:moveTo>
                  <a:pt x="0" y="55"/>
                </a:moveTo>
                <a:lnTo>
                  <a:pt x="16" y="55"/>
                </a:lnTo>
                <a:lnTo>
                  <a:pt x="33" y="54"/>
                </a:lnTo>
                <a:lnTo>
                  <a:pt x="49" y="53"/>
                </a:lnTo>
                <a:lnTo>
                  <a:pt x="65" y="51"/>
                </a:lnTo>
                <a:lnTo>
                  <a:pt x="82" y="49"/>
                </a:lnTo>
                <a:lnTo>
                  <a:pt x="98" y="47"/>
                </a:lnTo>
                <a:lnTo>
                  <a:pt x="114" y="44"/>
                </a:lnTo>
                <a:lnTo>
                  <a:pt x="131" y="41"/>
                </a:lnTo>
                <a:lnTo>
                  <a:pt x="147" y="38"/>
                </a:lnTo>
                <a:lnTo>
                  <a:pt x="164" y="34"/>
                </a:lnTo>
                <a:lnTo>
                  <a:pt x="180" y="31"/>
                </a:lnTo>
                <a:lnTo>
                  <a:pt x="196" y="28"/>
                </a:lnTo>
                <a:lnTo>
                  <a:pt x="213" y="24"/>
                </a:lnTo>
                <a:lnTo>
                  <a:pt x="229" y="21"/>
                </a:lnTo>
                <a:lnTo>
                  <a:pt x="246" y="17"/>
                </a:lnTo>
                <a:lnTo>
                  <a:pt x="262" y="14"/>
                </a:lnTo>
                <a:lnTo>
                  <a:pt x="278" y="11"/>
                </a:lnTo>
                <a:lnTo>
                  <a:pt x="295" y="8"/>
                </a:lnTo>
                <a:lnTo>
                  <a:pt x="311" y="6"/>
                </a:lnTo>
                <a:lnTo>
                  <a:pt x="327" y="4"/>
                </a:lnTo>
                <a:lnTo>
                  <a:pt x="344" y="2"/>
                </a:lnTo>
                <a:lnTo>
                  <a:pt x="360" y="1"/>
                </a:lnTo>
                <a:lnTo>
                  <a:pt x="377" y="0"/>
                </a:lnTo>
                <a:lnTo>
                  <a:pt x="393" y="0"/>
                </a:lnTo>
                <a:lnTo>
                  <a:pt x="393" y="12"/>
                </a:lnTo>
                <a:lnTo>
                  <a:pt x="377" y="12"/>
                </a:lnTo>
                <a:lnTo>
                  <a:pt x="360" y="13"/>
                </a:lnTo>
                <a:lnTo>
                  <a:pt x="344" y="14"/>
                </a:lnTo>
                <a:lnTo>
                  <a:pt x="327" y="16"/>
                </a:lnTo>
                <a:lnTo>
                  <a:pt x="311" y="18"/>
                </a:lnTo>
                <a:lnTo>
                  <a:pt x="295" y="20"/>
                </a:lnTo>
                <a:lnTo>
                  <a:pt x="278" y="23"/>
                </a:lnTo>
                <a:lnTo>
                  <a:pt x="262" y="26"/>
                </a:lnTo>
                <a:lnTo>
                  <a:pt x="246" y="29"/>
                </a:lnTo>
                <a:lnTo>
                  <a:pt x="229" y="32"/>
                </a:lnTo>
                <a:lnTo>
                  <a:pt x="213" y="36"/>
                </a:lnTo>
                <a:lnTo>
                  <a:pt x="196" y="39"/>
                </a:lnTo>
                <a:lnTo>
                  <a:pt x="180" y="43"/>
                </a:lnTo>
                <a:lnTo>
                  <a:pt x="164" y="46"/>
                </a:lnTo>
                <a:lnTo>
                  <a:pt x="147" y="50"/>
                </a:lnTo>
                <a:lnTo>
                  <a:pt x="131" y="53"/>
                </a:lnTo>
                <a:lnTo>
                  <a:pt x="114" y="56"/>
                </a:lnTo>
                <a:lnTo>
                  <a:pt x="98" y="58"/>
                </a:lnTo>
                <a:lnTo>
                  <a:pt x="82" y="61"/>
                </a:lnTo>
                <a:lnTo>
                  <a:pt x="65" y="63"/>
                </a:lnTo>
                <a:lnTo>
                  <a:pt x="49" y="65"/>
                </a:lnTo>
                <a:lnTo>
                  <a:pt x="33" y="66"/>
                </a:lnTo>
                <a:lnTo>
                  <a:pt x="16" y="67"/>
                </a:lnTo>
                <a:lnTo>
                  <a:pt x="0" y="6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3114675"/>
            <a:ext cx="3743325" cy="209550"/>
          </a:xfrm>
          <a:custGeom>
            <a:avLst/>
            <a:gdLst/>
            <a:ahLst/>
            <a:cxnLst/>
            <a:rect l="l" t="t" r="r" b="b"/>
            <a:pathLst>
              <a:path w="393" h="22">
                <a:moveTo>
                  <a:pt x="0" y="0"/>
                </a:moveTo>
                <a:lnTo>
                  <a:pt x="16" y="0"/>
                </a:lnTo>
                <a:lnTo>
                  <a:pt x="33" y="0"/>
                </a:lnTo>
                <a:lnTo>
                  <a:pt x="49" y="1"/>
                </a:lnTo>
                <a:lnTo>
                  <a:pt x="65" y="1"/>
                </a:lnTo>
                <a:lnTo>
                  <a:pt x="82" y="2"/>
                </a:lnTo>
                <a:lnTo>
                  <a:pt x="98" y="2"/>
                </a:lnTo>
                <a:lnTo>
                  <a:pt x="114" y="3"/>
                </a:lnTo>
                <a:lnTo>
                  <a:pt x="131" y="4"/>
                </a:lnTo>
                <a:lnTo>
                  <a:pt x="147" y="5"/>
                </a:lnTo>
                <a:lnTo>
                  <a:pt x="164" y="5"/>
                </a:lnTo>
                <a:lnTo>
                  <a:pt x="180" y="6"/>
                </a:lnTo>
                <a:lnTo>
                  <a:pt x="196" y="7"/>
                </a:lnTo>
                <a:lnTo>
                  <a:pt x="213" y="8"/>
                </a:lnTo>
                <a:lnTo>
                  <a:pt x="229" y="9"/>
                </a:lnTo>
                <a:lnTo>
                  <a:pt x="246" y="10"/>
                </a:lnTo>
                <a:lnTo>
                  <a:pt x="262" y="11"/>
                </a:lnTo>
                <a:lnTo>
                  <a:pt x="278" y="11"/>
                </a:lnTo>
                <a:lnTo>
                  <a:pt x="295" y="12"/>
                </a:lnTo>
                <a:lnTo>
                  <a:pt x="311" y="13"/>
                </a:lnTo>
                <a:lnTo>
                  <a:pt x="327" y="13"/>
                </a:lnTo>
                <a:lnTo>
                  <a:pt x="344" y="14"/>
                </a:lnTo>
                <a:lnTo>
                  <a:pt x="360" y="14"/>
                </a:lnTo>
                <a:lnTo>
                  <a:pt x="377" y="14"/>
                </a:lnTo>
                <a:lnTo>
                  <a:pt x="393" y="14"/>
                </a:lnTo>
                <a:lnTo>
                  <a:pt x="393" y="22"/>
                </a:lnTo>
                <a:lnTo>
                  <a:pt x="377" y="22"/>
                </a:lnTo>
                <a:lnTo>
                  <a:pt x="360" y="22"/>
                </a:lnTo>
                <a:lnTo>
                  <a:pt x="344" y="22"/>
                </a:lnTo>
                <a:lnTo>
                  <a:pt x="327" y="21"/>
                </a:lnTo>
                <a:lnTo>
                  <a:pt x="311" y="21"/>
                </a:lnTo>
                <a:lnTo>
                  <a:pt x="295" y="20"/>
                </a:lnTo>
                <a:lnTo>
                  <a:pt x="278" y="19"/>
                </a:lnTo>
                <a:lnTo>
                  <a:pt x="262" y="19"/>
                </a:lnTo>
                <a:lnTo>
                  <a:pt x="246" y="18"/>
                </a:lnTo>
                <a:lnTo>
                  <a:pt x="229" y="17"/>
                </a:lnTo>
                <a:lnTo>
                  <a:pt x="213" y="16"/>
                </a:lnTo>
                <a:lnTo>
                  <a:pt x="196" y="15"/>
                </a:lnTo>
                <a:lnTo>
                  <a:pt x="180" y="14"/>
                </a:lnTo>
                <a:lnTo>
                  <a:pt x="164" y="13"/>
                </a:lnTo>
                <a:lnTo>
                  <a:pt x="147" y="13"/>
                </a:lnTo>
                <a:lnTo>
                  <a:pt x="131" y="12"/>
                </a:lnTo>
                <a:lnTo>
                  <a:pt x="114" y="11"/>
                </a:lnTo>
                <a:lnTo>
                  <a:pt x="98" y="10"/>
                </a:lnTo>
                <a:lnTo>
                  <a:pt x="82" y="10"/>
                </a:lnTo>
                <a:lnTo>
                  <a:pt x="65" y="9"/>
                </a:lnTo>
                <a:lnTo>
                  <a:pt x="49" y="9"/>
                </a:lnTo>
                <a:lnTo>
                  <a:pt x="33" y="8"/>
                </a:lnTo>
                <a:lnTo>
                  <a:pt x="16" y="8"/>
                </a:lnTo>
                <a:lnTo>
                  <a:pt x="0" y="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190875"/>
            <a:ext cx="3743325" cy="723900"/>
          </a:xfrm>
          <a:custGeom>
            <a:avLst/>
            <a:gdLst/>
            <a:ahLst/>
            <a:cxnLst/>
            <a:rect l="l" t="t" r="r" b="b"/>
            <a:pathLst>
              <a:path w="393" h="76">
                <a:moveTo>
                  <a:pt x="0" y="0"/>
                </a:moveTo>
                <a:lnTo>
                  <a:pt x="16" y="1"/>
                </a:lnTo>
                <a:lnTo>
                  <a:pt x="33" y="2"/>
                </a:lnTo>
                <a:lnTo>
                  <a:pt x="49" y="3"/>
                </a:lnTo>
                <a:lnTo>
                  <a:pt x="65" y="5"/>
                </a:lnTo>
                <a:lnTo>
                  <a:pt x="82" y="8"/>
                </a:lnTo>
                <a:lnTo>
                  <a:pt x="98" y="11"/>
                </a:lnTo>
                <a:lnTo>
                  <a:pt x="114" y="14"/>
                </a:lnTo>
                <a:lnTo>
                  <a:pt x="131" y="18"/>
                </a:lnTo>
                <a:lnTo>
                  <a:pt x="147" y="22"/>
                </a:lnTo>
                <a:lnTo>
                  <a:pt x="164" y="26"/>
                </a:lnTo>
                <a:lnTo>
                  <a:pt x="180" y="30"/>
                </a:lnTo>
                <a:lnTo>
                  <a:pt x="196" y="34"/>
                </a:lnTo>
                <a:lnTo>
                  <a:pt x="213" y="38"/>
                </a:lnTo>
                <a:lnTo>
                  <a:pt x="229" y="42"/>
                </a:lnTo>
                <a:lnTo>
                  <a:pt x="246" y="46"/>
                </a:lnTo>
                <a:lnTo>
                  <a:pt x="262" y="50"/>
                </a:lnTo>
                <a:lnTo>
                  <a:pt x="278" y="54"/>
                </a:lnTo>
                <a:lnTo>
                  <a:pt x="295" y="57"/>
                </a:lnTo>
                <a:lnTo>
                  <a:pt x="311" y="60"/>
                </a:lnTo>
                <a:lnTo>
                  <a:pt x="327" y="63"/>
                </a:lnTo>
                <a:lnTo>
                  <a:pt x="344" y="65"/>
                </a:lnTo>
                <a:lnTo>
                  <a:pt x="360" y="67"/>
                </a:lnTo>
                <a:lnTo>
                  <a:pt x="377" y="68"/>
                </a:lnTo>
                <a:lnTo>
                  <a:pt x="393" y="68"/>
                </a:lnTo>
                <a:lnTo>
                  <a:pt x="393" y="76"/>
                </a:lnTo>
                <a:lnTo>
                  <a:pt x="377" y="75"/>
                </a:lnTo>
                <a:lnTo>
                  <a:pt x="360" y="74"/>
                </a:lnTo>
                <a:lnTo>
                  <a:pt x="344" y="73"/>
                </a:lnTo>
                <a:lnTo>
                  <a:pt x="327" y="71"/>
                </a:lnTo>
                <a:lnTo>
                  <a:pt x="311" y="68"/>
                </a:lnTo>
                <a:lnTo>
                  <a:pt x="295" y="65"/>
                </a:lnTo>
                <a:lnTo>
                  <a:pt x="278" y="62"/>
                </a:lnTo>
                <a:lnTo>
                  <a:pt x="262" y="58"/>
                </a:lnTo>
                <a:lnTo>
                  <a:pt x="246" y="54"/>
                </a:lnTo>
                <a:lnTo>
                  <a:pt x="229" y="50"/>
                </a:lnTo>
                <a:lnTo>
                  <a:pt x="213" y="46"/>
                </a:lnTo>
                <a:lnTo>
                  <a:pt x="196" y="42"/>
                </a:lnTo>
                <a:lnTo>
                  <a:pt x="180" y="38"/>
                </a:lnTo>
                <a:lnTo>
                  <a:pt x="164" y="33"/>
                </a:lnTo>
                <a:lnTo>
                  <a:pt x="147" y="29"/>
                </a:lnTo>
                <a:lnTo>
                  <a:pt x="131" y="25"/>
                </a:lnTo>
                <a:lnTo>
                  <a:pt x="114" y="22"/>
                </a:lnTo>
                <a:lnTo>
                  <a:pt x="98" y="19"/>
                </a:lnTo>
                <a:lnTo>
                  <a:pt x="82" y="16"/>
                </a:lnTo>
                <a:lnTo>
                  <a:pt x="65" y="13"/>
                </a:lnTo>
                <a:lnTo>
                  <a:pt x="49" y="11"/>
                </a:lnTo>
                <a:lnTo>
                  <a:pt x="33" y="9"/>
                </a:lnTo>
                <a:lnTo>
                  <a:pt x="16" y="8"/>
                </a:lnTo>
                <a:lnTo>
                  <a:pt x="0" y="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3267075"/>
            <a:ext cx="3743325" cy="1190625"/>
          </a:xfrm>
          <a:custGeom>
            <a:avLst/>
            <a:gdLst/>
            <a:ahLst/>
            <a:cxnLst/>
            <a:rect l="l" t="t" r="r" b="b"/>
            <a:pathLst>
              <a:path w="393" h="125">
                <a:moveTo>
                  <a:pt x="0" y="0"/>
                </a:moveTo>
                <a:lnTo>
                  <a:pt x="16" y="1"/>
                </a:lnTo>
                <a:lnTo>
                  <a:pt x="33" y="2"/>
                </a:lnTo>
                <a:lnTo>
                  <a:pt x="49" y="5"/>
                </a:lnTo>
                <a:lnTo>
                  <a:pt x="65" y="9"/>
                </a:lnTo>
                <a:lnTo>
                  <a:pt x="82" y="13"/>
                </a:lnTo>
                <a:lnTo>
                  <a:pt x="98" y="18"/>
                </a:lnTo>
                <a:lnTo>
                  <a:pt x="114" y="24"/>
                </a:lnTo>
                <a:lnTo>
                  <a:pt x="131" y="31"/>
                </a:lnTo>
                <a:lnTo>
                  <a:pt x="147" y="37"/>
                </a:lnTo>
                <a:lnTo>
                  <a:pt x="164" y="44"/>
                </a:lnTo>
                <a:lnTo>
                  <a:pt x="180" y="52"/>
                </a:lnTo>
                <a:lnTo>
                  <a:pt x="196" y="59"/>
                </a:lnTo>
                <a:lnTo>
                  <a:pt x="213" y="66"/>
                </a:lnTo>
                <a:lnTo>
                  <a:pt x="229" y="74"/>
                </a:lnTo>
                <a:lnTo>
                  <a:pt x="246" y="81"/>
                </a:lnTo>
                <a:lnTo>
                  <a:pt x="262" y="87"/>
                </a:lnTo>
                <a:lnTo>
                  <a:pt x="278" y="94"/>
                </a:lnTo>
                <a:lnTo>
                  <a:pt x="295" y="100"/>
                </a:lnTo>
                <a:lnTo>
                  <a:pt x="311" y="105"/>
                </a:lnTo>
                <a:lnTo>
                  <a:pt x="327" y="109"/>
                </a:lnTo>
                <a:lnTo>
                  <a:pt x="344" y="113"/>
                </a:lnTo>
                <a:lnTo>
                  <a:pt x="360" y="116"/>
                </a:lnTo>
                <a:lnTo>
                  <a:pt x="377" y="117"/>
                </a:lnTo>
                <a:lnTo>
                  <a:pt x="393" y="118"/>
                </a:lnTo>
                <a:lnTo>
                  <a:pt x="393" y="125"/>
                </a:lnTo>
                <a:lnTo>
                  <a:pt x="377" y="124"/>
                </a:lnTo>
                <a:lnTo>
                  <a:pt x="360" y="122"/>
                </a:lnTo>
                <a:lnTo>
                  <a:pt x="344" y="120"/>
                </a:lnTo>
                <a:lnTo>
                  <a:pt x="327" y="116"/>
                </a:lnTo>
                <a:lnTo>
                  <a:pt x="311" y="111"/>
                </a:lnTo>
                <a:lnTo>
                  <a:pt x="295" y="106"/>
                </a:lnTo>
                <a:lnTo>
                  <a:pt x="278" y="100"/>
                </a:lnTo>
                <a:lnTo>
                  <a:pt x="262" y="94"/>
                </a:lnTo>
                <a:lnTo>
                  <a:pt x="246" y="87"/>
                </a:lnTo>
                <a:lnTo>
                  <a:pt x="229" y="80"/>
                </a:lnTo>
                <a:lnTo>
                  <a:pt x="213" y="73"/>
                </a:lnTo>
                <a:lnTo>
                  <a:pt x="196" y="66"/>
                </a:lnTo>
                <a:lnTo>
                  <a:pt x="180" y="58"/>
                </a:lnTo>
                <a:lnTo>
                  <a:pt x="164" y="51"/>
                </a:lnTo>
                <a:lnTo>
                  <a:pt x="147" y="44"/>
                </a:lnTo>
                <a:lnTo>
                  <a:pt x="131" y="37"/>
                </a:lnTo>
                <a:lnTo>
                  <a:pt x="114" y="31"/>
                </a:lnTo>
                <a:lnTo>
                  <a:pt x="98" y="25"/>
                </a:lnTo>
                <a:lnTo>
                  <a:pt x="82" y="20"/>
                </a:lnTo>
                <a:lnTo>
                  <a:pt x="65" y="15"/>
                </a:lnTo>
                <a:lnTo>
                  <a:pt x="49" y="12"/>
                </a:lnTo>
                <a:lnTo>
                  <a:pt x="33" y="9"/>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3333750"/>
            <a:ext cx="3743325" cy="1590675"/>
          </a:xfrm>
          <a:custGeom>
            <a:avLst/>
            <a:gdLst/>
            <a:ahLst/>
            <a:cxnLst/>
            <a:rect l="l" t="t" r="r" b="b"/>
            <a:pathLst>
              <a:path w="393" h="167">
                <a:moveTo>
                  <a:pt x="0" y="0"/>
                </a:moveTo>
                <a:lnTo>
                  <a:pt x="16" y="0"/>
                </a:lnTo>
                <a:lnTo>
                  <a:pt x="33" y="3"/>
                </a:lnTo>
                <a:lnTo>
                  <a:pt x="49" y="7"/>
                </a:lnTo>
                <a:lnTo>
                  <a:pt x="65" y="12"/>
                </a:lnTo>
                <a:lnTo>
                  <a:pt x="82" y="18"/>
                </a:lnTo>
                <a:lnTo>
                  <a:pt x="98" y="25"/>
                </a:lnTo>
                <a:lnTo>
                  <a:pt x="114" y="33"/>
                </a:lnTo>
                <a:lnTo>
                  <a:pt x="131" y="42"/>
                </a:lnTo>
                <a:lnTo>
                  <a:pt x="147" y="51"/>
                </a:lnTo>
                <a:lnTo>
                  <a:pt x="164" y="60"/>
                </a:lnTo>
                <a:lnTo>
                  <a:pt x="180" y="70"/>
                </a:lnTo>
                <a:lnTo>
                  <a:pt x="196" y="81"/>
                </a:lnTo>
                <a:lnTo>
                  <a:pt x="213" y="91"/>
                </a:lnTo>
                <a:lnTo>
                  <a:pt x="229" y="101"/>
                </a:lnTo>
                <a:lnTo>
                  <a:pt x="246" y="110"/>
                </a:lnTo>
                <a:lnTo>
                  <a:pt x="262" y="119"/>
                </a:lnTo>
                <a:lnTo>
                  <a:pt x="278" y="128"/>
                </a:lnTo>
                <a:lnTo>
                  <a:pt x="295" y="136"/>
                </a:lnTo>
                <a:lnTo>
                  <a:pt x="311" y="143"/>
                </a:lnTo>
                <a:lnTo>
                  <a:pt x="327" y="149"/>
                </a:lnTo>
                <a:lnTo>
                  <a:pt x="344" y="154"/>
                </a:lnTo>
                <a:lnTo>
                  <a:pt x="360" y="158"/>
                </a:lnTo>
                <a:lnTo>
                  <a:pt x="377" y="161"/>
                </a:lnTo>
                <a:lnTo>
                  <a:pt x="393" y="161"/>
                </a:lnTo>
                <a:lnTo>
                  <a:pt x="393" y="167"/>
                </a:lnTo>
                <a:lnTo>
                  <a:pt x="377" y="166"/>
                </a:lnTo>
                <a:lnTo>
                  <a:pt x="360" y="164"/>
                </a:lnTo>
                <a:lnTo>
                  <a:pt x="344" y="160"/>
                </a:lnTo>
                <a:lnTo>
                  <a:pt x="327" y="155"/>
                </a:lnTo>
                <a:lnTo>
                  <a:pt x="311" y="149"/>
                </a:lnTo>
                <a:lnTo>
                  <a:pt x="295" y="142"/>
                </a:lnTo>
                <a:lnTo>
                  <a:pt x="278" y="134"/>
                </a:lnTo>
                <a:lnTo>
                  <a:pt x="262" y="125"/>
                </a:lnTo>
                <a:lnTo>
                  <a:pt x="246" y="116"/>
                </a:lnTo>
                <a:lnTo>
                  <a:pt x="229" y="106"/>
                </a:lnTo>
                <a:lnTo>
                  <a:pt x="213" y="96"/>
                </a:lnTo>
                <a:lnTo>
                  <a:pt x="196" y="86"/>
                </a:lnTo>
                <a:lnTo>
                  <a:pt x="180" y="76"/>
                </a:lnTo>
                <a:lnTo>
                  <a:pt x="164" y="66"/>
                </a:lnTo>
                <a:lnTo>
                  <a:pt x="147" y="56"/>
                </a:lnTo>
                <a:lnTo>
                  <a:pt x="131" y="47"/>
                </a:lnTo>
                <a:lnTo>
                  <a:pt x="114" y="38"/>
                </a:lnTo>
                <a:lnTo>
                  <a:pt x="98" y="30"/>
                </a:lnTo>
                <a:lnTo>
                  <a:pt x="82" y="23"/>
                </a:lnTo>
                <a:lnTo>
                  <a:pt x="65" y="17"/>
                </a:lnTo>
                <a:lnTo>
                  <a:pt x="49" y="12"/>
                </a:lnTo>
                <a:lnTo>
                  <a:pt x="33" y="8"/>
                </a:lnTo>
                <a:lnTo>
                  <a:pt x="16" y="6"/>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057400" y="3381375"/>
            <a:ext cx="3743325" cy="1952625"/>
          </a:xfrm>
          <a:custGeom>
            <a:avLst/>
            <a:gdLst/>
            <a:ahLst/>
            <a:cxnLst/>
            <a:rect l="l" t="t" r="r" b="b"/>
            <a:pathLst>
              <a:path w="393" h="205">
                <a:moveTo>
                  <a:pt x="0" y="0"/>
                </a:moveTo>
                <a:lnTo>
                  <a:pt x="16" y="1"/>
                </a:lnTo>
                <a:lnTo>
                  <a:pt x="33" y="4"/>
                </a:lnTo>
                <a:lnTo>
                  <a:pt x="49" y="9"/>
                </a:lnTo>
                <a:lnTo>
                  <a:pt x="65" y="15"/>
                </a:lnTo>
                <a:lnTo>
                  <a:pt x="82" y="23"/>
                </a:lnTo>
                <a:lnTo>
                  <a:pt x="98" y="31"/>
                </a:lnTo>
                <a:lnTo>
                  <a:pt x="114" y="41"/>
                </a:lnTo>
                <a:lnTo>
                  <a:pt x="131" y="52"/>
                </a:lnTo>
                <a:lnTo>
                  <a:pt x="147" y="63"/>
                </a:lnTo>
                <a:lnTo>
                  <a:pt x="164" y="75"/>
                </a:lnTo>
                <a:lnTo>
                  <a:pt x="180" y="88"/>
                </a:lnTo>
                <a:lnTo>
                  <a:pt x="196" y="100"/>
                </a:lnTo>
                <a:lnTo>
                  <a:pt x="213" y="113"/>
                </a:lnTo>
                <a:lnTo>
                  <a:pt x="229" y="125"/>
                </a:lnTo>
                <a:lnTo>
                  <a:pt x="246" y="137"/>
                </a:lnTo>
                <a:lnTo>
                  <a:pt x="262" y="148"/>
                </a:lnTo>
                <a:lnTo>
                  <a:pt x="278" y="159"/>
                </a:lnTo>
                <a:lnTo>
                  <a:pt x="295" y="169"/>
                </a:lnTo>
                <a:lnTo>
                  <a:pt x="311" y="178"/>
                </a:lnTo>
                <a:lnTo>
                  <a:pt x="327" y="185"/>
                </a:lnTo>
                <a:lnTo>
                  <a:pt x="344" y="191"/>
                </a:lnTo>
                <a:lnTo>
                  <a:pt x="360" y="196"/>
                </a:lnTo>
                <a:lnTo>
                  <a:pt x="377" y="199"/>
                </a:lnTo>
                <a:lnTo>
                  <a:pt x="393" y="200"/>
                </a:lnTo>
                <a:lnTo>
                  <a:pt x="393" y="205"/>
                </a:lnTo>
                <a:lnTo>
                  <a:pt x="377" y="204"/>
                </a:lnTo>
                <a:lnTo>
                  <a:pt x="360" y="201"/>
                </a:lnTo>
                <a:lnTo>
                  <a:pt x="344" y="196"/>
                </a:lnTo>
                <a:lnTo>
                  <a:pt x="327" y="190"/>
                </a:lnTo>
                <a:lnTo>
                  <a:pt x="311" y="183"/>
                </a:lnTo>
                <a:lnTo>
                  <a:pt x="295" y="174"/>
                </a:lnTo>
                <a:lnTo>
                  <a:pt x="278" y="164"/>
                </a:lnTo>
                <a:lnTo>
                  <a:pt x="262" y="153"/>
                </a:lnTo>
                <a:lnTo>
                  <a:pt x="246" y="142"/>
                </a:lnTo>
                <a:lnTo>
                  <a:pt x="229" y="130"/>
                </a:lnTo>
                <a:lnTo>
                  <a:pt x="213" y="118"/>
                </a:lnTo>
                <a:lnTo>
                  <a:pt x="196" y="105"/>
                </a:lnTo>
                <a:lnTo>
                  <a:pt x="180" y="93"/>
                </a:lnTo>
                <a:lnTo>
                  <a:pt x="164" y="80"/>
                </a:lnTo>
                <a:lnTo>
                  <a:pt x="147" y="68"/>
                </a:lnTo>
                <a:lnTo>
                  <a:pt x="131" y="57"/>
                </a:lnTo>
                <a:lnTo>
                  <a:pt x="114" y="46"/>
                </a:lnTo>
                <a:lnTo>
                  <a:pt x="98" y="36"/>
                </a:lnTo>
                <a:lnTo>
                  <a:pt x="82" y="28"/>
                </a:lnTo>
                <a:lnTo>
                  <a:pt x="65" y="20"/>
                </a:lnTo>
                <a:lnTo>
                  <a:pt x="49" y="14"/>
                </a:lnTo>
                <a:lnTo>
                  <a:pt x="33" y="9"/>
                </a:lnTo>
                <a:lnTo>
                  <a:pt x="16" y="6"/>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057400" y="3429000"/>
            <a:ext cx="3743325" cy="2247900"/>
          </a:xfrm>
          <a:custGeom>
            <a:avLst/>
            <a:gdLst/>
            <a:ahLst/>
            <a:cxnLst/>
            <a:rect l="l" t="t" r="r" b="b"/>
            <a:pathLst>
              <a:path w="393" h="236">
                <a:moveTo>
                  <a:pt x="0" y="0"/>
                </a:moveTo>
                <a:lnTo>
                  <a:pt x="16" y="1"/>
                </a:lnTo>
                <a:lnTo>
                  <a:pt x="33" y="5"/>
                </a:lnTo>
                <a:lnTo>
                  <a:pt x="49" y="10"/>
                </a:lnTo>
                <a:lnTo>
                  <a:pt x="65" y="17"/>
                </a:lnTo>
                <a:lnTo>
                  <a:pt x="82" y="26"/>
                </a:lnTo>
                <a:lnTo>
                  <a:pt x="98" y="36"/>
                </a:lnTo>
                <a:lnTo>
                  <a:pt x="114" y="48"/>
                </a:lnTo>
                <a:lnTo>
                  <a:pt x="131" y="60"/>
                </a:lnTo>
                <a:lnTo>
                  <a:pt x="147" y="74"/>
                </a:lnTo>
                <a:lnTo>
                  <a:pt x="164" y="88"/>
                </a:lnTo>
                <a:lnTo>
                  <a:pt x="180" y="102"/>
                </a:lnTo>
                <a:lnTo>
                  <a:pt x="196" y="116"/>
                </a:lnTo>
                <a:lnTo>
                  <a:pt x="213" y="131"/>
                </a:lnTo>
                <a:lnTo>
                  <a:pt x="229" y="145"/>
                </a:lnTo>
                <a:lnTo>
                  <a:pt x="246" y="159"/>
                </a:lnTo>
                <a:lnTo>
                  <a:pt x="262" y="172"/>
                </a:lnTo>
                <a:lnTo>
                  <a:pt x="278" y="185"/>
                </a:lnTo>
                <a:lnTo>
                  <a:pt x="295" y="196"/>
                </a:lnTo>
                <a:lnTo>
                  <a:pt x="311" y="207"/>
                </a:lnTo>
                <a:lnTo>
                  <a:pt x="327" y="215"/>
                </a:lnTo>
                <a:lnTo>
                  <a:pt x="344" y="223"/>
                </a:lnTo>
                <a:lnTo>
                  <a:pt x="360" y="228"/>
                </a:lnTo>
                <a:lnTo>
                  <a:pt x="377" y="231"/>
                </a:lnTo>
                <a:lnTo>
                  <a:pt x="393" y="233"/>
                </a:lnTo>
                <a:lnTo>
                  <a:pt x="393" y="236"/>
                </a:lnTo>
                <a:lnTo>
                  <a:pt x="377" y="235"/>
                </a:lnTo>
                <a:lnTo>
                  <a:pt x="360" y="231"/>
                </a:lnTo>
                <a:lnTo>
                  <a:pt x="344" y="226"/>
                </a:lnTo>
                <a:lnTo>
                  <a:pt x="327" y="219"/>
                </a:lnTo>
                <a:lnTo>
                  <a:pt x="311" y="210"/>
                </a:lnTo>
                <a:lnTo>
                  <a:pt x="295" y="200"/>
                </a:lnTo>
                <a:lnTo>
                  <a:pt x="278" y="188"/>
                </a:lnTo>
                <a:lnTo>
                  <a:pt x="262" y="176"/>
                </a:lnTo>
                <a:lnTo>
                  <a:pt x="246" y="162"/>
                </a:lnTo>
                <a:lnTo>
                  <a:pt x="229" y="149"/>
                </a:lnTo>
                <a:lnTo>
                  <a:pt x="213" y="134"/>
                </a:lnTo>
                <a:lnTo>
                  <a:pt x="196" y="120"/>
                </a:lnTo>
                <a:lnTo>
                  <a:pt x="180" y="105"/>
                </a:lnTo>
                <a:lnTo>
                  <a:pt x="164" y="91"/>
                </a:lnTo>
                <a:lnTo>
                  <a:pt x="147" y="77"/>
                </a:lnTo>
                <a:lnTo>
                  <a:pt x="131" y="64"/>
                </a:lnTo>
                <a:lnTo>
                  <a:pt x="114" y="51"/>
                </a:lnTo>
                <a:lnTo>
                  <a:pt x="98" y="40"/>
                </a:lnTo>
                <a:lnTo>
                  <a:pt x="82" y="30"/>
                </a:lnTo>
                <a:lnTo>
                  <a:pt x="65" y="21"/>
                </a:lnTo>
                <a:lnTo>
                  <a:pt x="49" y="13"/>
                </a:lnTo>
                <a:lnTo>
                  <a:pt x="33" y="8"/>
                </a:lnTo>
                <a:lnTo>
                  <a:pt x="16" y="5"/>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057400" y="3457575"/>
            <a:ext cx="3743325" cy="2466975"/>
          </a:xfrm>
          <a:custGeom>
            <a:avLst/>
            <a:gdLst/>
            <a:ahLst/>
            <a:cxnLst/>
            <a:rect l="l" t="t" r="r" b="b"/>
            <a:pathLst>
              <a:path w="393" h="259">
                <a:moveTo>
                  <a:pt x="0" y="0"/>
                </a:moveTo>
                <a:lnTo>
                  <a:pt x="16" y="2"/>
                </a:lnTo>
                <a:lnTo>
                  <a:pt x="33" y="6"/>
                </a:lnTo>
                <a:lnTo>
                  <a:pt x="49" y="12"/>
                </a:lnTo>
                <a:lnTo>
                  <a:pt x="65" y="20"/>
                </a:lnTo>
                <a:lnTo>
                  <a:pt x="82" y="29"/>
                </a:lnTo>
                <a:lnTo>
                  <a:pt x="98" y="41"/>
                </a:lnTo>
                <a:lnTo>
                  <a:pt x="114" y="53"/>
                </a:lnTo>
                <a:lnTo>
                  <a:pt x="131" y="67"/>
                </a:lnTo>
                <a:lnTo>
                  <a:pt x="147" y="82"/>
                </a:lnTo>
                <a:lnTo>
                  <a:pt x="164" y="97"/>
                </a:lnTo>
                <a:lnTo>
                  <a:pt x="180" y="113"/>
                </a:lnTo>
                <a:lnTo>
                  <a:pt x="196" y="129"/>
                </a:lnTo>
                <a:lnTo>
                  <a:pt x="213" y="145"/>
                </a:lnTo>
                <a:lnTo>
                  <a:pt x="229" y="161"/>
                </a:lnTo>
                <a:lnTo>
                  <a:pt x="246" y="176"/>
                </a:lnTo>
                <a:lnTo>
                  <a:pt x="262" y="191"/>
                </a:lnTo>
                <a:lnTo>
                  <a:pt x="278" y="204"/>
                </a:lnTo>
                <a:lnTo>
                  <a:pt x="295" y="217"/>
                </a:lnTo>
                <a:lnTo>
                  <a:pt x="311" y="228"/>
                </a:lnTo>
                <a:lnTo>
                  <a:pt x="327" y="238"/>
                </a:lnTo>
                <a:lnTo>
                  <a:pt x="344" y="246"/>
                </a:lnTo>
                <a:lnTo>
                  <a:pt x="360" y="252"/>
                </a:lnTo>
                <a:lnTo>
                  <a:pt x="377" y="256"/>
                </a:lnTo>
                <a:lnTo>
                  <a:pt x="393" y="257"/>
                </a:lnTo>
                <a:lnTo>
                  <a:pt x="393" y="259"/>
                </a:lnTo>
                <a:lnTo>
                  <a:pt x="377" y="258"/>
                </a:lnTo>
                <a:lnTo>
                  <a:pt x="360" y="254"/>
                </a:lnTo>
                <a:lnTo>
                  <a:pt x="344" y="248"/>
                </a:lnTo>
                <a:lnTo>
                  <a:pt x="327" y="240"/>
                </a:lnTo>
                <a:lnTo>
                  <a:pt x="311" y="231"/>
                </a:lnTo>
                <a:lnTo>
                  <a:pt x="295" y="219"/>
                </a:lnTo>
                <a:lnTo>
                  <a:pt x="278" y="207"/>
                </a:lnTo>
                <a:lnTo>
                  <a:pt x="262" y="193"/>
                </a:lnTo>
                <a:lnTo>
                  <a:pt x="246" y="178"/>
                </a:lnTo>
                <a:lnTo>
                  <a:pt x="229" y="163"/>
                </a:lnTo>
                <a:lnTo>
                  <a:pt x="213" y="147"/>
                </a:lnTo>
                <a:lnTo>
                  <a:pt x="196" y="131"/>
                </a:lnTo>
                <a:lnTo>
                  <a:pt x="180" y="115"/>
                </a:lnTo>
                <a:lnTo>
                  <a:pt x="164" y="99"/>
                </a:lnTo>
                <a:lnTo>
                  <a:pt x="147" y="84"/>
                </a:lnTo>
                <a:lnTo>
                  <a:pt x="131" y="69"/>
                </a:lnTo>
                <a:lnTo>
                  <a:pt x="114" y="56"/>
                </a:lnTo>
                <a:lnTo>
                  <a:pt x="98" y="43"/>
                </a:lnTo>
                <a:lnTo>
                  <a:pt x="82" y="32"/>
                </a:lnTo>
                <a:lnTo>
                  <a:pt x="65" y="22"/>
                </a:lnTo>
                <a:lnTo>
                  <a:pt x="49" y="14"/>
                </a:lnTo>
                <a:lnTo>
                  <a:pt x="33" y="8"/>
                </a:lnTo>
                <a:lnTo>
                  <a:pt x="16" y="4"/>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2057400" y="3486150"/>
            <a:ext cx="3743325" cy="2647950"/>
          </a:xfrm>
          <a:custGeom>
            <a:avLst/>
            <a:gdLst/>
            <a:ahLst/>
            <a:cxnLst/>
            <a:rect l="l" t="t" r="r" b="b"/>
            <a:pathLst>
              <a:path w="393" h="278">
                <a:moveTo>
                  <a:pt x="0" y="0"/>
                </a:moveTo>
                <a:lnTo>
                  <a:pt x="16" y="1"/>
                </a:lnTo>
                <a:lnTo>
                  <a:pt x="33" y="5"/>
                </a:lnTo>
                <a:lnTo>
                  <a:pt x="49" y="12"/>
                </a:lnTo>
                <a:lnTo>
                  <a:pt x="65" y="20"/>
                </a:lnTo>
                <a:lnTo>
                  <a:pt x="82" y="31"/>
                </a:lnTo>
                <a:lnTo>
                  <a:pt x="98" y="43"/>
                </a:lnTo>
                <a:lnTo>
                  <a:pt x="114" y="57"/>
                </a:lnTo>
                <a:lnTo>
                  <a:pt x="131" y="71"/>
                </a:lnTo>
                <a:lnTo>
                  <a:pt x="147" y="87"/>
                </a:lnTo>
                <a:lnTo>
                  <a:pt x="164" y="104"/>
                </a:lnTo>
                <a:lnTo>
                  <a:pt x="180" y="121"/>
                </a:lnTo>
                <a:lnTo>
                  <a:pt x="196" y="138"/>
                </a:lnTo>
                <a:lnTo>
                  <a:pt x="213" y="155"/>
                </a:lnTo>
                <a:lnTo>
                  <a:pt x="229" y="172"/>
                </a:lnTo>
                <a:lnTo>
                  <a:pt x="246" y="188"/>
                </a:lnTo>
                <a:lnTo>
                  <a:pt x="262" y="204"/>
                </a:lnTo>
                <a:lnTo>
                  <a:pt x="278" y="219"/>
                </a:lnTo>
                <a:lnTo>
                  <a:pt x="295" y="233"/>
                </a:lnTo>
                <a:lnTo>
                  <a:pt x="311" y="245"/>
                </a:lnTo>
                <a:lnTo>
                  <a:pt x="327" y="255"/>
                </a:lnTo>
                <a:lnTo>
                  <a:pt x="344" y="264"/>
                </a:lnTo>
                <a:lnTo>
                  <a:pt x="360" y="270"/>
                </a:lnTo>
                <a:lnTo>
                  <a:pt x="377" y="274"/>
                </a:lnTo>
                <a:lnTo>
                  <a:pt x="393" y="276"/>
                </a:lnTo>
                <a:lnTo>
                  <a:pt x="393" y="278"/>
                </a:lnTo>
                <a:lnTo>
                  <a:pt x="377" y="276"/>
                </a:lnTo>
                <a:lnTo>
                  <a:pt x="360" y="272"/>
                </a:lnTo>
                <a:lnTo>
                  <a:pt x="344" y="266"/>
                </a:lnTo>
                <a:lnTo>
                  <a:pt x="327" y="257"/>
                </a:lnTo>
                <a:lnTo>
                  <a:pt x="311" y="247"/>
                </a:lnTo>
                <a:lnTo>
                  <a:pt x="295" y="235"/>
                </a:lnTo>
                <a:lnTo>
                  <a:pt x="278" y="221"/>
                </a:lnTo>
                <a:lnTo>
                  <a:pt x="262" y="206"/>
                </a:lnTo>
                <a:lnTo>
                  <a:pt x="246" y="190"/>
                </a:lnTo>
                <a:lnTo>
                  <a:pt x="229" y="174"/>
                </a:lnTo>
                <a:lnTo>
                  <a:pt x="213" y="157"/>
                </a:lnTo>
                <a:lnTo>
                  <a:pt x="196" y="140"/>
                </a:lnTo>
                <a:lnTo>
                  <a:pt x="180" y="123"/>
                </a:lnTo>
                <a:lnTo>
                  <a:pt x="164" y="106"/>
                </a:lnTo>
                <a:lnTo>
                  <a:pt x="147" y="89"/>
                </a:lnTo>
                <a:lnTo>
                  <a:pt x="131" y="73"/>
                </a:lnTo>
                <a:lnTo>
                  <a:pt x="114" y="59"/>
                </a:lnTo>
                <a:lnTo>
                  <a:pt x="98" y="45"/>
                </a:lnTo>
                <a:lnTo>
                  <a:pt x="82" y="33"/>
                </a:lnTo>
                <a:lnTo>
                  <a:pt x="65" y="22"/>
                </a:lnTo>
                <a:lnTo>
                  <a:pt x="49" y="14"/>
                </a:lnTo>
                <a:lnTo>
                  <a:pt x="33" y="7"/>
                </a:lnTo>
                <a:lnTo>
                  <a:pt x="16" y="3"/>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2057400" y="3505200"/>
            <a:ext cx="3743325" cy="2819400"/>
          </a:xfrm>
          <a:custGeom>
            <a:avLst/>
            <a:gdLst/>
            <a:ahLst/>
            <a:cxnLst/>
            <a:rect l="l" t="t" r="r" b="b"/>
            <a:pathLst>
              <a:path w="393" h="296">
                <a:moveTo>
                  <a:pt x="0" y="0"/>
                </a:moveTo>
                <a:lnTo>
                  <a:pt x="16" y="1"/>
                </a:lnTo>
                <a:lnTo>
                  <a:pt x="33" y="6"/>
                </a:lnTo>
                <a:lnTo>
                  <a:pt x="49" y="12"/>
                </a:lnTo>
                <a:lnTo>
                  <a:pt x="65" y="22"/>
                </a:lnTo>
                <a:lnTo>
                  <a:pt x="82" y="33"/>
                </a:lnTo>
                <a:lnTo>
                  <a:pt x="98" y="46"/>
                </a:lnTo>
                <a:lnTo>
                  <a:pt x="114" y="60"/>
                </a:lnTo>
                <a:lnTo>
                  <a:pt x="131" y="76"/>
                </a:lnTo>
                <a:lnTo>
                  <a:pt x="147" y="93"/>
                </a:lnTo>
                <a:lnTo>
                  <a:pt x="164" y="110"/>
                </a:lnTo>
                <a:lnTo>
                  <a:pt x="180" y="128"/>
                </a:lnTo>
                <a:lnTo>
                  <a:pt x="196" y="147"/>
                </a:lnTo>
                <a:lnTo>
                  <a:pt x="213" y="165"/>
                </a:lnTo>
                <a:lnTo>
                  <a:pt x="229" y="183"/>
                </a:lnTo>
                <a:lnTo>
                  <a:pt x="246" y="201"/>
                </a:lnTo>
                <a:lnTo>
                  <a:pt x="262" y="218"/>
                </a:lnTo>
                <a:lnTo>
                  <a:pt x="278" y="233"/>
                </a:lnTo>
                <a:lnTo>
                  <a:pt x="295" y="248"/>
                </a:lnTo>
                <a:lnTo>
                  <a:pt x="311" y="261"/>
                </a:lnTo>
                <a:lnTo>
                  <a:pt x="327" y="272"/>
                </a:lnTo>
                <a:lnTo>
                  <a:pt x="344" y="281"/>
                </a:lnTo>
                <a:lnTo>
                  <a:pt x="360" y="288"/>
                </a:lnTo>
                <a:lnTo>
                  <a:pt x="377" y="292"/>
                </a:lnTo>
                <a:lnTo>
                  <a:pt x="393" y="294"/>
                </a:lnTo>
                <a:lnTo>
                  <a:pt x="393" y="296"/>
                </a:lnTo>
                <a:lnTo>
                  <a:pt x="377" y="294"/>
                </a:lnTo>
                <a:lnTo>
                  <a:pt x="360" y="290"/>
                </a:lnTo>
                <a:lnTo>
                  <a:pt x="344" y="283"/>
                </a:lnTo>
                <a:lnTo>
                  <a:pt x="327" y="274"/>
                </a:lnTo>
                <a:lnTo>
                  <a:pt x="311" y="263"/>
                </a:lnTo>
                <a:lnTo>
                  <a:pt x="295" y="250"/>
                </a:lnTo>
                <a:lnTo>
                  <a:pt x="278" y="235"/>
                </a:lnTo>
                <a:lnTo>
                  <a:pt x="262" y="219"/>
                </a:lnTo>
                <a:lnTo>
                  <a:pt x="246" y="203"/>
                </a:lnTo>
                <a:lnTo>
                  <a:pt x="229" y="185"/>
                </a:lnTo>
                <a:lnTo>
                  <a:pt x="213" y="167"/>
                </a:lnTo>
                <a:lnTo>
                  <a:pt x="196" y="149"/>
                </a:lnTo>
                <a:lnTo>
                  <a:pt x="180" y="130"/>
                </a:lnTo>
                <a:lnTo>
                  <a:pt x="164" y="112"/>
                </a:lnTo>
                <a:lnTo>
                  <a:pt x="147" y="95"/>
                </a:lnTo>
                <a:lnTo>
                  <a:pt x="131" y="78"/>
                </a:lnTo>
                <a:lnTo>
                  <a:pt x="114" y="62"/>
                </a:lnTo>
                <a:lnTo>
                  <a:pt x="98" y="48"/>
                </a:lnTo>
                <a:lnTo>
                  <a:pt x="82" y="35"/>
                </a:lnTo>
                <a:lnTo>
                  <a:pt x="65" y="23"/>
                </a:lnTo>
                <a:lnTo>
                  <a:pt x="49" y="14"/>
                </a:lnTo>
                <a:lnTo>
                  <a:pt x="33" y="7"/>
                </a:lnTo>
                <a:lnTo>
                  <a:pt x="16" y="3"/>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2057400" y="3524250"/>
            <a:ext cx="3743325" cy="2962275"/>
          </a:xfrm>
          <a:custGeom>
            <a:avLst/>
            <a:gdLst/>
            <a:ahLst/>
            <a:cxnLst/>
            <a:rect l="l" t="t" r="r" b="b"/>
            <a:pathLst>
              <a:path w="393" h="311">
                <a:moveTo>
                  <a:pt x="0" y="0"/>
                </a:moveTo>
                <a:lnTo>
                  <a:pt x="16" y="1"/>
                </a:lnTo>
                <a:lnTo>
                  <a:pt x="33" y="6"/>
                </a:lnTo>
                <a:lnTo>
                  <a:pt x="49" y="13"/>
                </a:lnTo>
                <a:lnTo>
                  <a:pt x="65" y="23"/>
                </a:lnTo>
                <a:lnTo>
                  <a:pt x="82" y="34"/>
                </a:lnTo>
                <a:lnTo>
                  <a:pt x="98" y="48"/>
                </a:lnTo>
                <a:lnTo>
                  <a:pt x="114" y="63"/>
                </a:lnTo>
                <a:lnTo>
                  <a:pt x="131" y="80"/>
                </a:lnTo>
                <a:lnTo>
                  <a:pt x="147" y="98"/>
                </a:lnTo>
                <a:lnTo>
                  <a:pt x="164" y="116"/>
                </a:lnTo>
                <a:lnTo>
                  <a:pt x="180" y="135"/>
                </a:lnTo>
                <a:lnTo>
                  <a:pt x="196" y="155"/>
                </a:lnTo>
                <a:lnTo>
                  <a:pt x="213" y="174"/>
                </a:lnTo>
                <a:lnTo>
                  <a:pt x="229" y="193"/>
                </a:lnTo>
                <a:lnTo>
                  <a:pt x="246" y="211"/>
                </a:lnTo>
                <a:lnTo>
                  <a:pt x="262" y="229"/>
                </a:lnTo>
                <a:lnTo>
                  <a:pt x="278" y="246"/>
                </a:lnTo>
                <a:lnTo>
                  <a:pt x="295" y="261"/>
                </a:lnTo>
                <a:lnTo>
                  <a:pt x="311" y="275"/>
                </a:lnTo>
                <a:lnTo>
                  <a:pt x="327" y="286"/>
                </a:lnTo>
                <a:lnTo>
                  <a:pt x="344" y="296"/>
                </a:lnTo>
                <a:lnTo>
                  <a:pt x="360" y="303"/>
                </a:lnTo>
                <a:lnTo>
                  <a:pt x="377" y="308"/>
                </a:lnTo>
                <a:lnTo>
                  <a:pt x="393" y="309"/>
                </a:lnTo>
                <a:lnTo>
                  <a:pt x="393" y="311"/>
                </a:lnTo>
                <a:lnTo>
                  <a:pt x="377" y="309"/>
                </a:lnTo>
                <a:lnTo>
                  <a:pt x="360" y="305"/>
                </a:lnTo>
                <a:lnTo>
                  <a:pt x="344" y="297"/>
                </a:lnTo>
                <a:lnTo>
                  <a:pt x="327" y="288"/>
                </a:lnTo>
                <a:lnTo>
                  <a:pt x="311" y="276"/>
                </a:lnTo>
                <a:lnTo>
                  <a:pt x="295" y="262"/>
                </a:lnTo>
                <a:lnTo>
                  <a:pt x="278" y="247"/>
                </a:lnTo>
                <a:lnTo>
                  <a:pt x="262" y="230"/>
                </a:lnTo>
                <a:lnTo>
                  <a:pt x="246" y="213"/>
                </a:lnTo>
                <a:lnTo>
                  <a:pt x="229" y="194"/>
                </a:lnTo>
                <a:lnTo>
                  <a:pt x="213" y="175"/>
                </a:lnTo>
                <a:lnTo>
                  <a:pt x="196" y="156"/>
                </a:lnTo>
                <a:lnTo>
                  <a:pt x="180" y="137"/>
                </a:lnTo>
                <a:lnTo>
                  <a:pt x="164" y="118"/>
                </a:lnTo>
                <a:lnTo>
                  <a:pt x="147" y="99"/>
                </a:lnTo>
                <a:lnTo>
                  <a:pt x="131" y="81"/>
                </a:lnTo>
                <a:lnTo>
                  <a:pt x="114" y="65"/>
                </a:lnTo>
                <a:lnTo>
                  <a:pt x="98" y="49"/>
                </a:lnTo>
                <a:lnTo>
                  <a:pt x="82" y="36"/>
                </a:lnTo>
                <a:lnTo>
                  <a:pt x="65" y="24"/>
                </a:lnTo>
                <a:lnTo>
                  <a:pt x="49" y="14"/>
                </a:lnTo>
                <a:lnTo>
                  <a:pt x="33" y="7"/>
                </a:lnTo>
                <a:lnTo>
                  <a:pt x="16" y="3"/>
                </a:lnTo>
                <a:lnTo>
                  <a:pt x="0" y="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2057400" y="1685925"/>
            <a:ext cx="3743325" cy="2028825"/>
          </a:xfrm>
          <a:custGeom>
            <a:avLst/>
            <a:gdLst/>
            <a:ahLst/>
            <a:cxnLst/>
            <a:rect l="l" t="t" r="r" b="b"/>
            <a:pathLst>
              <a:path w="393" h="213">
                <a:moveTo>
                  <a:pt x="0" y="200"/>
                </a:moveTo>
                <a:lnTo>
                  <a:pt x="16" y="199"/>
                </a:lnTo>
                <a:lnTo>
                  <a:pt x="33" y="196"/>
                </a:lnTo>
                <a:lnTo>
                  <a:pt x="49" y="191"/>
                </a:lnTo>
                <a:lnTo>
                  <a:pt x="65" y="185"/>
                </a:lnTo>
                <a:lnTo>
                  <a:pt x="82" y="178"/>
                </a:lnTo>
                <a:lnTo>
                  <a:pt x="98" y="169"/>
                </a:lnTo>
                <a:lnTo>
                  <a:pt x="114" y="159"/>
                </a:lnTo>
                <a:lnTo>
                  <a:pt x="131" y="148"/>
                </a:lnTo>
                <a:lnTo>
                  <a:pt x="147" y="137"/>
                </a:lnTo>
                <a:lnTo>
                  <a:pt x="164" y="125"/>
                </a:lnTo>
                <a:lnTo>
                  <a:pt x="180" y="112"/>
                </a:lnTo>
                <a:lnTo>
                  <a:pt x="196" y="100"/>
                </a:lnTo>
                <a:lnTo>
                  <a:pt x="213" y="87"/>
                </a:lnTo>
                <a:lnTo>
                  <a:pt x="229" y="75"/>
                </a:lnTo>
                <a:lnTo>
                  <a:pt x="246" y="63"/>
                </a:lnTo>
                <a:lnTo>
                  <a:pt x="262" y="52"/>
                </a:lnTo>
                <a:lnTo>
                  <a:pt x="278" y="41"/>
                </a:lnTo>
                <a:lnTo>
                  <a:pt x="295" y="31"/>
                </a:lnTo>
                <a:lnTo>
                  <a:pt x="311" y="22"/>
                </a:lnTo>
                <a:lnTo>
                  <a:pt x="327" y="15"/>
                </a:lnTo>
                <a:lnTo>
                  <a:pt x="344" y="8"/>
                </a:lnTo>
                <a:lnTo>
                  <a:pt x="360" y="4"/>
                </a:lnTo>
                <a:lnTo>
                  <a:pt x="377" y="1"/>
                </a:lnTo>
                <a:lnTo>
                  <a:pt x="393" y="0"/>
                </a:lnTo>
                <a:lnTo>
                  <a:pt x="393" y="13"/>
                </a:lnTo>
                <a:lnTo>
                  <a:pt x="377" y="14"/>
                </a:lnTo>
                <a:lnTo>
                  <a:pt x="360" y="17"/>
                </a:lnTo>
                <a:lnTo>
                  <a:pt x="344" y="22"/>
                </a:lnTo>
                <a:lnTo>
                  <a:pt x="327" y="28"/>
                </a:lnTo>
                <a:lnTo>
                  <a:pt x="311" y="36"/>
                </a:lnTo>
                <a:lnTo>
                  <a:pt x="295" y="44"/>
                </a:lnTo>
                <a:lnTo>
                  <a:pt x="278" y="54"/>
                </a:lnTo>
                <a:lnTo>
                  <a:pt x="262" y="65"/>
                </a:lnTo>
                <a:lnTo>
                  <a:pt x="246" y="76"/>
                </a:lnTo>
                <a:lnTo>
                  <a:pt x="229" y="88"/>
                </a:lnTo>
                <a:lnTo>
                  <a:pt x="213" y="101"/>
                </a:lnTo>
                <a:lnTo>
                  <a:pt x="196" y="113"/>
                </a:lnTo>
                <a:lnTo>
                  <a:pt x="180" y="126"/>
                </a:lnTo>
                <a:lnTo>
                  <a:pt x="164" y="138"/>
                </a:lnTo>
                <a:lnTo>
                  <a:pt x="147" y="150"/>
                </a:lnTo>
                <a:lnTo>
                  <a:pt x="131" y="161"/>
                </a:lnTo>
                <a:lnTo>
                  <a:pt x="114" y="172"/>
                </a:lnTo>
                <a:lnTo>
                  <a:pt x="98" y="182"/>
                </a:lnTo>
                <a:lnTo>
                  <a:pt x="82" y="191"/>
                </a:lnTo>
                <a:lnTo>
                  <a:pt x="65" y="198"/>
                </a:lnTo>
                <a:lnTo>
                  <a:pt x="49" y="205"/>
                </a:lnTo>
                <a:lnTo>
                  <a:pt x="33" y="209"/>
                </a:lnTo>
                <a:lnTo>
                  <a:pt x="16" y="212"/>
                </a:lnTo>
                <a:lnTo>
                  <a:pt x="0" y="21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057400" y="2590800"/>
            <a:ext cx="3743325" cy="1238250"/>
          </a:xfrm>
          <a:custGeom>
            <a:avLst/>
            <a:gdLst/>
            <a:ahLst/>
            <a:cxnLst/>
            <a:rect l="l" t="t" r="r" b="b"/>
            <a:pathLst>
              <a:path w="393" h="130">
                <a:moveTo>
                  <a:pt x="0" y="118"/>
                </a:moveTo>
                <a:lnTo>
                  <a:pt x="16" y="118"/>
                </a:lnTo>
                <a:lnTo>
                  <a:pt x="33" y="116"/>
                </a:lnTo>
                <a:lnTo>
                  <a:pt x="49" y="113"/>
                </a:lnTo>
                <a:lnTo>
                  <a:pt x="65" y="109"/>
                </a:lnTo>
                <a:lnTo>
                  <a:pt x="82" y="105"/>
                </a:lnTo>
                <a:lnTo>
                  <a:pt x="98" y="100"/>
                </a:lnTo>
                <a:lnTo>
                  <a:pt x="114" y="94"/>
                </a:lnTo>
                <a:lnTo>
                  <a:pt x="131" y="88"/>
                </a:lnTo>
                <a:lnTo>
                  <a:pt x="147" y="81"/>
                </a:lnTo>
                <a:lnTo>
                  <a:pt x="164" y="74"/>
                </a:lnTo>
                <a:lnTo>
                  <a:pt x="180" y="66"/>
                </a:lnTo>
                <a:lnTo>
                  <a:pt x="196" y="59"/>
                </a:lnTo>
                <a:lnTo>
                  <a:pt x="213" y="52"/>
                </a:lnTo>
                <a:lnTo>
                  <a:pt x="229" y="44"/>
                </a:lnTo>
                <a:lnTo>
                  <a:pt x="246" y="37"/>
                </a:lnTo>
                <a:lnTo>
                  <a:pt x="262" y="30"/>
                </a:lnTo>
                <a:lnTo>
                  <a:pt x="278" y="24"/>
                </a:lnTo>
                <a:lnTo>
                  <a:pt x="295" y="18"/>
                </a:lnTo>
                <a:lnTo>
                  <a:pt x="311" y="13"/>
                </a:lnTo>
                <a:lnTo>
                  <a:pt x="327" y="8"/>
                </a:lnTo>
                <a:lnTo>
                  <a:pt x="344" y="5"/>
                </a:lnTo>
                <a:lnTo>
                  <a:pt x="360" y="2"/>
                </a:lnTo>
                <a:lnTo>
                  <a:pt x="377" y="0"/>
                </a:lnTo>
                <a:lnTo>
                  <a:pt x="393" y="0"/>
                </a:lnTo>
                <a:lnTo>
                  <a:pt x="393" y="11"/>
                </a:lnTo>
                <a:lnTo>
                  <a:pt x="377" y="12"/>
                </a:lnTo>
                <a:lnTo>
                  <a:pt x="360" y="14"/>
                </a:lnTo>
                <a:lnTo>
                  <a:pt x="344" y="17"/>
                </a:lnTo>
                <a:lnTo>
                  <a:pt x="327" y="20"/>
                </a:lnTo>
                <a:lnTo>
                  <a:pt x="311" y="25"/>
                </a:lnTo>
                <a:lnTo>
                  <a:pt x="295" y="30"/>
                </a:lnTo>
                <a:lnTo>
                  <a:pt x="278" y="36"/>
                </a:lnTo>
                <a:lnTo>
                  <a:pt x="262" y="42"/>
                </a:lnTo>
                <a:lnTo>
                  <a:pt x="246" y="49"/>
                </a:lnTo>
                <a:lnTo>
                  <a:pt x="229" y="56"/>
                </a:lnTo>
                <a:lnTo>
                  <a:pt x="213" y="63"/>
                </a:lnTo>
                <a:lnTo>
                  <a:pt x="196" y="71"/>
                </a:lnTo>
                <a:lnTo>
                  <a:pt x="180" y="78"/>
                </a:lnTo>
                <a:lnTo>
                  <a:pt x="164" y="86"/>
                </a:lnTo>
                <a:lnTo>
                  <a:pt x="147" y="93"/>
                </a:lnTo>
                <a:lnTo>
                  <a:pt x="131" y="99"/>
                </a:lnTo>
                <a:lnTo>
                  <a:pt x="114" y="106"/>
                </a:lnTo>
                <a:lnTo>
                  <a:pt x="98" y="112"/>
                </a:lnTo>
                <a:lnTo>
                  <a:pt x="82" y="117"/>
                </a:lnTo>
                <a:lnTo>
                  <a:pt x="65" y="121"/>
                </a:lnTo>
                <a:lnTo>
                  <a:pt x="49" y="125"/>
                </a:lnTo>
                <a:lnTo>
                  <a:pt x="33" y="128"/>
                </a:lnTo>
                <a:lnTo>
                  <a:pt x="16" y="130"/>
                </a:lnTo>
                <a:lnTo>
                  <a:pt x="0" y="13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2057400" y="3324225"/>
            <a:ext cx="3743325" cy="581025"/>
          </a:xfrm>
          <a:custGeom>
            <a:avLst/>
            <a:gdLst/>
            <a:ahLst/>
            <a:cxnLst/>
            <a:rect l="l" t="t" r="r" b="b"/>
            <a:pathLst>
              <a:path w="393" h="61">
                <a:moveTo>
                  <a:pt x="0" y="53"/>
                </a:moveTo>
                <a:lnTo>
                  <a:pt x="16" y="53"/>
                </a:lnTo>
                <a:lnTo>
                  <a:pt x="33" y="52"/>
                </a:lnTo>
                <a:lnTo>
                  <a:pt x="49" y="51"/>
                </a:lnTo>
                <a:lnTo>
                  <a:pt x="65" y="49"/>
                </a:lnTo>
                <a:lnTo>
                  <a:pt x="82" y="47"/>
                </a:lnTo>
                <a:lnTo>
                  <a:pt x="98" y="45"/>
                </a:lnTo>
                <a:lnTo>
                  <a:pt x="114" y="42"/>
                </a:lnTo>
                <a:lnTo>
                  <a:pt x="131" y="39"/>
                </a:lnTo>
                <a:lnTo>
                  <a:pt x="147" y="36"/>
                </a:lnTo>
                <a:lnTo>
                  <a:pt x="164" y="33"/>
                </a:lnTo>
                <a:lnTo>
                  <a:pt x="180" y="30"/>
                </a:lnTo>
                <a:lnTo>
                  <a:pt x="196" y="27"/>
                </a:lnTo>
                <a:lnTo>
                  <a:pt x="213" y="23"/>
                </a:lnTo>
                <a:lnTo>
                  <a:pt x="229" y="20"/>
                </a:lnTo>
                <a:lnTo>
                  <a:pt x="246" y="17"/>
                </a:lnTo>
                <a:lnTo>
                  <a:pt x="262" y="14"/>
                </a:lnTo>
                <a:lnTo>
                  <a:pt x="278" y="11"/>
                </a:lnTo>
                <a:lnTo>
                  <a:pt x="295" y="9"/>
                </a:lnTo>
                <a:lnTo>
                  <a:pt x="311" y="6"/>
                </a:lnTo>
                <a:lnTo>
                  <a:pt x="327" y="4"/>
                </a:lnTo>
                <a:lnTo>
                  <a:pt x="344" y="3"/>
                </a:lnTo>
                <a:lnTo>
                  <a:pt x="360" y="1"/>
                </a:lnTo>
                <a:lnTo>
                  <a:pt x="377" y="1"/>
                </a:lnTo>
                <a:lnTo>
                  <a:pt x="393" y="0"/>
                </a:lnTo>
                <a:lnTo>
                  <a:pt x="393" y="8"/>
                </a:lnTo>
                <a:lnTo>
                  <a:pt x="377" y="9"/>
                </a:lnTo>
                <a:lnTo>
                  <a:pt x="360" y="9"/>
                </a:lnTo>
                <a:lnTo>
                  <a:pt x="344" y="11"/>
                </a:lnTo>
                <a:lnTo>
                  <a:pt x="327" y="12"/>
                </a:lnTo>
                <a:lnTo>
                  <a:pt x="311" y="14"/>
                </a:lnTo>
                <a:lnTo>
                  <a:pt x="295" y="17"/>
                </a:lnTo>
                <a:lnTo>
                  <a:pt x="278" y="19"/>
                </a:lnTo>
                <a:lnTo>
                  <a:pt x="262" y="22"/>
                </a:lnTo>
                <a:lnTo>
                  <a:pt x="246" y="25"/>
                </a:lnTo>
                <a:lnTo>
                  <a:pt x="229" y="28"/>
                </a:lnTo>
                <a:lnTo>
                  <a:pt x="213" y="31"/>
                </a:lnTo>
                <a:lnTo>
                  <a:pt x="196" y="35"/>
                </a:lnTo>
                <a:lnTo>
                  <a:pt x="180" y="38"/>
                </a:lnTo>
                <a:lnTo>
                  <a:pt x="164" y="41"/>
                </a:lnTo>
                <a:lnTo>
                  <a:pt x="147" y="44"/>
                </a:lnTo>
                <a:lnTo>
                  <a:pt x="131" y="47"/>
                </a:lnTo>
                <a:lnTo>
                  <a:pt x="114" y="50"/>
                </a:lnTo>
                <a:lnTo>
                  <a:pt x="98" y="53"/>
                </a:lnTo>
                <a:lnTo>
                  <a:pt x="82" y="55"/>
                </a:lnTo>
                <a:lnTo>
                  <a:pt x="65" y="57"/>
                </a:lnTo>
                <a:lnTo>
                  <a:pt x="49" y="59"/>
                </a:lnTo>
                <a:lnTo>
                  <a:pt x="33" y="60"/>
                </a:lnTo>
                <a:lnTo>
                  <a:pt x="16" y="61"/>
                </a:lnTo>
                <a:lnTo>
                  <a:pt x="0" y="6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057400" y="3905250"/>
            <a:ext cx="3743325" cy="76200"/>
          </a:xfrm>
          <a:custGeom>
            <a:avLst/>
            <a:gdLst/>
            <a:ahLst/>
            <a:cxnLst/>
            <a:rect l="l" t="t" r="r" b="b"/>
            <a:pathLst>
              <a:path w="393" h="8">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1"/>
                </a:lnTo>
                <a:lnTo>
                  <a:pt x="262" y="1"/>
                </a:lnTo>
                <a:lnTo>
                  <a:pt x="278" y="1"/>
                </a:lnTo>
                <a:lnTo>
                  <a:pt x="295" y="1"/>
                </a:lnTo>
                <a:lnTo>
                  <a:pt x="311" y="1"/>
                </a:lnTo>
                <a:lnTo>
                  <a:pt x="327" y="1"/>
                </a:lnTo>
                <a:lnTo>
                  <a:pt x="344" y="1"/>
                </a:lnTo>
                <a:lnTo>
                  <a:pt x="360" y="1"/>
                </a:lnTo>
                <a:lnTo>
                  <a:pt x="377" y="1"/>
                </a:lnTo>
                <a:lnTo>
                  <a:pt x="393" y="1"/>
                </a:lnTo>
                <a:lnTo>
                  <a:pt x="393" y="8"/>
                </a:lnTo>
                <a:lnTo>
                  <a:pt x="377" y="8"/>
                </a:lnTo>
                <a:lnTo>
                  <a:pt x="360" y="8"/>
                </a:lnTo>
                <a:lnTo>
                  <a:pt x="344" y="8"/>
                </a:lnTo>
                <a:lnTo>
                  <a:pt x="327" y="8"/>
                </a:lnTo>
                <a:lnTo>
                  <a:pt x="311" y="8"/>
                </a:lnTo>
                <a:lnTo>
                  <a:pt x="295" y="8"/>
                </a:lnTo>
                <a:lnTo>
                  <a:pt x="278" y="8"/>
                </a:lnTo>
                <a:lnTo>
                  <a:pt x="262" y="8"/>
                </a:lnTo>
                <a:lnTo>
                  <a:pt x="246" y="8"/>
                </a:lnTo>
                <a:lnTo>
                  <a:pt x="229" y="8"/>
                </a:lnTo>
                <a:lnTo>
                  <a:pt x="213" y="8"/>
                </a:lnTo>
                <a:lnTo>
                  <a:pt x="196" y="8"/>
                </a:lnTo>
                <a:lnTo>
                  <a:pt x="180" y="8"/>
                </a:lnTo>
                <a:lnTo>
                  <a:pt x="164" y="8"/>
                </a:lnTo>
                <a:lnTo>
                  <a:pt x="147" y="8"/>
                </a:lnTo>
                <a:lnTo>
                  <a:pt x="131" y="8"/>
                </a:lnTo>
                <a:lnTo>
                  <a:pt x="114" y="8"/>
                </a:lnTo>
                <a:lnTo>
                  <a:pt x="98" y="8"/>
                </a:lnTo>
                <a:lnTo>
                  <a:pt x="82" y="8"/>
                </a:lnTo>
                <a:lnTo>
                  <a:pt x="65" y="8"/>
                </a:lnTo>
                <a:lnTo>
                  <a:pt x="49" y="8"/>
                </a:lnTo>
                <a:lnTo>
                  <a:pt x="33" y="8"/>
                </a:lnTo>
                <a:lnTo>
                  <a:pt x="16" y="8"/>
                </a:lnTo>
                <a:lnTo>
                  <a:pt x="0" y="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2057400" y="3981450"/>
            <a:ext cx="3743325" cy="533400"/>
          </a:xfrm>
          <a:custGeom>
            <a:avLst/>
            <a:gdLst/>
            <a:ahLst/>
            <a:cxnLst/>
            <a:rect l="l" t="t" r="r" b="b"/>
            <a:pathLst>
              <a:path w="393" h="56">
                <a:moveTo>
                  <a:pt x="0" y="0"/>
                </a:moveTo>
                <a:lnTo>
                  <a:pt x="16" y="0"/>
                </a:lnTo>
                <a:lnTo>
                  <a:pt x="33" y="1"/>
                </a:lnTo>
                <a:lnTo>
                  <a:pt x="49" y="2"/>
                </a:lnTo>
                <a:lnTo>
                  <a:pt x="65" y="4"/>
                </a:lnTo>
                <a:lnTo>
                  <a:pt x="82" y="6"/>
                </a:lnTo>
                <a:lnTo>
                  <a:pt x="98" y="8"/>
                </a:lnTo>
                <a:lnTo>
                  <a:pt x="114" y="10"/>
                </a:lnTo>
                <a:lnTo>
                  <a:pt x="131" y="13"/>
                </a:lnTo>
                <a:lnTo>
                  <a:pt x="147" y="16"/>
                </a:lnTo>
                <a:lnTo>
                  <a:pt x="164" y="19"/>
                </a:lnTo>
                <a:lnTo>
                  <a:pt x="180" y="22"/>
                </a:lnTo>
                <a:lnTo>
                  <a:pt x="196" y="25"/>
                </a:lnTo>
                <a:lnTo>
                  <a:pt x="213" y="28"/>
                </a:lnTo>
                <a:lnTo>
                  <a:pt x="229" y="31"/>
                </a:lnTo>
                <a:lnTo>
                  <a:pt x="246" y="34"/>
                </a:lnTo>
                <a:lnTo>
                  <a:pt x="262" y="37"/>
                </a:lnTo>
                <a:lnTo>
                  <a:pt x="278" y="39"/>
                </a:lnTo>
                <a:lnTo>
                  <a:pt x="295" y="42"/>
                </a:lnTo>
                <a:lnTo>
                  <a:pt x="311" y="44"/>
                </a:lnTo>
                <a:lnTo>
                  <a:pt x="327" y="46"/>
                </a:lnTo>
                <a:lnTo>
                  <a:pt x="344" y="47"/>
                </a:lnTo>
                <a:lnTo>
                  <a:pt x="360" y="49"/>
                </a:lnTo>
                <a:lnTo>
                  <a:pt x="377" y="49"/>
                </a:lnTo>
                <a:lnTo>
                  <a:pt x="393" y="50"/>
                </a:lnTo>
                <a:lnTo>
                  <a:pt x="393" y="56"/>
                </a:lnTo>
                <a:lnTo>
                  <a:pt x="377" y="56"/>
                </a:lnTo>
                <a:lnTo>
                  <a:pt x="360" y="55"/>
                </a:lnTo>
                <a:lnTo>
                  <a:pt x="344" y="54"/>
                </a:lnTo>
                <a:lnTo>
                  <a:pt x="327" y="53"/>
                </a:lnTo>
                <a:lnTo>
                  <a:pt x="311" y="51"/>
                </a:lnTo>
                <a:lnTo>
                  <a:pt x="295" y="49"/>
                </a:lnTo>
                <a:lnTo>
                  <a:pt x="278" y="46"/>
                </a:lnTo>
                <a:lnTo>
                  <a:pt x="262" y="43"/>
                </a:lnTo>
                <a:lnTo>
                  <a:pt x="246" y="41"/>
                </a:lnTo>
                <a:lnTo>
                  <a:pt x="229" y="38"/>
                </a:lnTo>
                <a:lnTo>
                  <a:pt x="213" y="35"/>
                </a:lnTo>
                <a:lnTo>
                  <a:pt x="196" y="31"/>
                </a:lnTo>
                <a:lnTo>
                  <a:pt x="180" y="28"/>
                </a:lnTo>
                <a:lnTo>
                  <a:pt x="164" y="25"/>
                </a:lnTo>
                <a:lnTo>
                  <a:pt x="147" y="22"/>
                </a:lnTo>
                <a:lnTo>
                  <a:pt x="131" y="20"/>
                </a:lnTo>
                <a:lnTo>
                  <a:pt x="114" y="17"/>
                </a:lnTo>
                <a:lnTo>
                  <a:pt x="98" y="14"/>
                </a:lnTo>
                <a:lnTo>
                  <a:pt x="82" y="12"/>
                </a:lnTo>
                <a:lnTo>
                  <a:pt x="65" y="10"/>
                </a:lnTo>
                <a:lnTo>
                  <a:pt x="49" y="9"/>
                </a:lnTo>
                <a:lnTo>
                  <a:pt x="33" y="8"/>
                </a:lnTo>
                <a:lnTo>
                  <a:pt x="16" y="7"/>
                </a:lnTo>
                <a:lnTo>
                  <a:pt x="0" y="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2057400" y="4048125"/>
            <a:ext cx="3743325" cy="923925"/>
          </a:xfrm>
          <a:custGeom>
            <a:avLst/>
            <a:gdLst/>
            <a:ahLst/>
            <a:cxnLst/>
            <a:rect l="l" t="t" r="r" b="b"/>
            <a:pathLst>
              <a:path w="393" h="97">
                <a:moveTo>
                  <a:pt x="0" y="0"/>
                </a:moveTo>
                <a:lnTo>
                  <a:pt x="16" y="0"/>
                </a:lnTo>
                <a:lnTo>
                  <a:pt x="33" y="1"/>
                </a:lnTo>
                <a:lnTo>
                  <a:pt x="49" y="4"/>
                </a:lnTo>
                <a:lnTo>
                  <a:pt x="65" y="6"/>
                </a:lnTo>
                <a:lnTo>
                  <a:pt x="82" y="10"/>
                </a:lnTo>
                <a:lnTo>
                  <a:pt x="98" y="14"/>
                </a:lnTo>
                <a:lnTo>
                  <a:pt x="114" y="19"/>
                </a:lnTo>
                <a:lnTo>
                  <a:pt x="131" y="24"/>
                </a:lnTo>
                <a:lnTo>
                  <a:pt x="147" y="29"/>
                </a:lnTo>
                <a:lnTo>
                  <a:pt x="164" y="34"/>
                </a:lnTo>
                <a:lnTo>
                  <a:pt x="180" y="40"/>
                </a:lnTo>
                <a:lnTo>
                  <a:pt x="196" y="46"/>
                </a:lnTo>
                <a:lnTo>
                  <a:pt x="213" y="52"/>
                </a:lnTo>
                <a:lnTo>
                  <a:pt x="229" y="57"/>
                </a:lnTo>
                <a:lnTo>
                  <a:pt x="246" y="63"/>
                </a:lnTo>
                <a:lnTo>
                  <a:pt x="262" y="68"/>
                </a:lnTo>
                <a:lnTo>
                  <a:pt x="278" y="73"/>
                </a:lnTo>
                <a:lnTo>
                  <a:pt x="295" y="78"/>
                </a:lnTo>
                <a:lnTo>
                  <a:pt x="311" y="82"/>
                </a:lnTo>
                <a:lnTo>
                  <a:pt x="327" y="85"/>
                </a:lnTo>
                <a:lnTo>
                  <a:pt x="344" y="88"/>
                </a:lnTo>
                <a:lnTo>
                  <a:pt x="360" y="90"/>
                </a:lnTo>
                <a:lnTo>
                  <a:pt x="377" y="91"/>
                </a:lnTo>
                <a:lnTo>
                  <a:pt x="393" y="92"/>
                </a:lnTo>
                <a:lnTo>
                  <a:pt x="393" y="97"/>
                </a:lnTo>
                <a:lnTo>
                  <a:pt x="377" y="97"/>
                </a:lnTo>
                <a:lnTo>
                  <a:pt x="360" y="96"/>
                </a:lnTo>
                <a:lnTo>
                  <a:pt x="344" y="94"/>
                </a:lnTo>
                <a:lnTo>
                  <a:pt x="327" y="91"/>
                </a:lnTo>
                <a:lnTo>
                  <a:pt x="311" y="87"/>
                </a:lnTo>
                <a:lnTo>
                  <a:pt x="295" y="83"/>
                </a:lnTo>
                <a:lnTo>
                  <a:pt x="278" y="78"/>
                </a:lnTo>
                <a:lnTo>
                  <a:pt x="262" y="74"/>
                </a:lnTo>
                <a:lnTo>
                  <a:pt x="246" y="68"/>
                </a:lnTo>
                <a:lnTo>
                  <a:pt x="229" y="63"/>
                </a:lnTo>
                <a:lnTo>
                  <a:pt x="213" y="57"/>
                </a:lnTo>
                <a:lnTo>
                  <a:pt x="196" y="51"/>
                </a:lnTo>
                <a:lnTo>
                  <a:pt x="180" y="46"/>
                </a:lnTo>
                <a:lnTo>
                  <a:pt x="164" y="40"/>
                </a:lnTo>
                <a:lnTo>
                  <a:pt x="147" y="34"/>
                </a:lnTo>
                <a:lnTo>
                  <a:pt x="131" y="29"/>
                </a:lnTo>
                <a:lnTo>
                  <a:pt x="114" y="24"/>
                </a:lnTo>
                <a:lnTo>
                  <a:pt x="98" y="20"/>
                </a:lnTo>
                <a:lnTo>
                  <a:pt x="82" y="16"/>
                </a:lnTo>
                <a:lnTo>
                  <a:pt x="65" y="12"/>
                </a:lnTo>
                <a:lnTo>
                  <a:pt x="49" y="9"/>
                </a:lnTo>
                <a:lnTo>
                  <a:pt x="33" y="7"/>
                </a:lnTo>
                <a:lnTo>
                  <a:pt x="16" y="6"/>
                </a:lnTo>
                <a:lnTo>
                  <a:pt x="0" y="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2057400" y="4095750"/>
            <a:ext cx="3743325" cy="1285875"/>
          </a:xfrm>
          <a:custGeom>
            <a:avLst/>
            <a:gdLst/>
            <a:ahLst/>
            <a:cxnLst/>
            <a:rect l="l" t="t" r="r" b="b"/>
            <a:pathLst>
              <a:path w="393" h="135">
                <a:moveTo>
                  <a:pt x="0" y="0"/>
                </a:moveTo>
                <a:lnTo>
                  <a:pt x="16" y="1"/>
                </a:lnTo>
                <a:lnTo>
                  <a:pt x="33" y="3"/>
                </a:lnTo>
                <a:lnTo>
                  <a:pt x="49" y="6"/>
                </a:lnTo>
                <a:lnTo>
                  <a:pt x="65" y="10"/>
                </a:lnTo>
                <a:lnTo>
                  <a:pt x="82" y="15"/>
                </a:lnTo>
                <a:lnTo>
                  <a:pt x="98" y="20"/>
                </a:lnTo>
                <a:lnTo>
                  <a:pt x="114" y="27"/>
                </a:lnTo>
                <a:lnTo>
                  <a:pt x="131" y="34"/>
                </a:lnTo>
                <a:lnTo>
                  <a:pt x="147" y="41"/>
                </a:lnTo>
                <a:lnTo>
                  <a:pt x="164" y="49"/>
                </a:lnTo>
                <a:lnTo>
                  <a:pt x="180" y="57"/>
                </a:lnTo>
                <a:lnTo>
                  <a:pt x="196" y="65"/>
                </a:lnTo>
                <a:lnTo>
                  <a:pt x="213" y="73"/>
                </a:lnTo>
                <a:lnTo>
                  <a:pt x="229" y="81"/>
                </a:lnTo>
                <a:lnTo>
                  <a:pt x="246" y="89"/>
                </a:lnTo>
                <a:lnTo>
                  <a:pt x="262" y="96"/>
                </a:lnTo>
                <a:lnTo>
                  <a:pt x="278" y="103"/>
                </a:lnTo>
                <a:lnTo>
                  <a:pt x="295" y="110"/>
                </a:lnTo>
                <a:lnTo>
                  <a:pt x="311" y="115"/>
                </a:lnTo>
                <a:lnTo>
                  <a:pt x="327" y="120"/>
                </a:lnTo>
                <a:lnTo>
                  <a:pt x="344" y="124"/>
                </a:lnTo>
                <a:lnTo>
                  <a:pt x="360" y="127"/>
                </a:lnTo>
                <a:lnTo>
                  <a:pt x="377" y="129"/>
                </a:lnTo>
                <a:lnTo>
                  <a:pt x="393" y="130"/>
                </a:lnTo>
                <a:lnTo>
                  <a:pt x="393" y="135"/>
                </a:lnTo>
                <a:lnTo>
                  <a:pt x="377" y="134"/>
                </a:lnTo>
                <a:lnTo>
                  <a:pt x="360" y="132"/>
                </a:lnTo>
                <a:lnTo>
                  <a:pt x="344" y="129"/>
                </a:lnTo>
                <a:lnTo>
                  <a:pt x="327" y="125"/>
                </a:lnTo>
                <a:lnTo>
                  <a:pt x="311" y="120"/>
                </a:lnTo>
                <a:lnTo>
                  <a:pt x="295" y="115"/>
                </a:lnTo>
                <a:lnTo>
                  <a:pt x="278" y="108"/>
                </a:lnTo>
                <a:lnTo>
                  <a:pt x="262" y="101"/>
                </a:lnTo>
                <a:lnTo>
                  <a:pt x="246" y="94"/>
                </a:lnTo>
                <a:lnTo>
                  <a:pt x="229" y="86"/>
                </a:lnTo>
                <a:lnTo>
                  <a:pt x="213" y="78"/>
                </a:lnTo>
                <a:lnTo>
                  <a:pt x="196" y="70"/>
                </a:lnTo>
                <a:lnTo>
                  <a:pt x="180" y="62"/>
                </a:lnTo>
                <a:lnTo>
                  <a:pt x="164" y="54"/>
                </a:lnTo>
                <a:lnTo>
                  <a:pt x="147" y="46"/>
                </a:lnTo>
                <a:lnTo>
                  <a:pt x="131" y="39"/>
                </a:lnTo>
                <a:lnTo>
                  <a:pt x="114" y="32"/>
                </a:lnTo>
                <a:lnTo>
                  <a:pt x="98" y="25"/>
                </a:lnTo>
                <a:lnTo>
                  <a:pt x="82" y="20"/>
                </a:lnTo>
                <a:lnTo>
                  <a:pt x="65" y="15"/>
                </a:lnTo>
                <a:lnTo>
                  <a:pt x="49" y="11"/>
                </a:lnTo>
                <a:lnTo>
                  <a:pt x="33" y="8"/>
                </a:lnTo>
                <a:lnTo>
                  <a:pt x="16" y="6"/>
                </a:lnTo>
                <a:lnTo>
                  <a:pt x="0" y="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2057400" y="4143375"/>
            <a:ext cx="3743325" cy="1562100"/>
          </a:xfrm>
          <a:custGeom>
            <a:avLst/>
            <a:gdLst/>
            <a:ahLst/>
            <a:cxnLst/>
            <a:rect l="l" t="t" r="r" b="b"/>
            <a:pathLst>
              <a:path w="393" h="164">
                <a:moveTo>
                  <a:pt x="0" y="0"/>
                </a:moveTo>
                <a:lnTo>
                  <a:pt x="16" y="1"/>
                </a:lnTo>
                <a:lnTo>
                  <a:pt x="33" y="3"/>
                </a:lnTo>
                <a:lnTo>
                  <a:pt x="49" y="7"/>
                </a:lnTo>
                <a:lnTo>
                  <a:pt x="65" y="12"/>
                </a:lnTo>
                <a:lnTo>
                  <a:pt x="82" y="18"/>
                </a:lnTo>
                <a:lnTo>
                  <a:pt x="98" y="25"/>
                </a:lnTo>
                <a:lnTo>
                  <a:pt x="114" y="33"/>
                </a:lnTo>
                <a:lnTo>
                  <a:pt x="131" y="42"/>
                </a:lnTo>
                <a:lnTo>
                  <a:pt x="147" y="51"/>
                </a:lnTo>
                <a:lnTo>
                  <a:pt x="164" y="61"/>
                </a:lnTo>
                <a:lnTo>
                  <a:pt x="180" y="71"/>
                </a:lnTo>
                <a:lnTo>
                  <a:pt x="196" y="81"/>
                </a:lnTo>
                <a:lnTo>
                  <a:pt x="213" y="91"/>
                </a:lnTo>
                <a:lnTo>
                  <a:pt x="229" y="100"/>
                </a:lnTo>
                <a:lnTo>
                  <a:pt x="246" y="110"/>
                </a:lnTo>
                <a:lnTo>
                  <a:pt x="262" y="119"/>
                </a:lnTo>
                <a:lnTo>
                  <a:pt x="278" y="128"/>
                </a:lnTo>
                <a:lnTo>
                  <a:pt x="295" y="136"/>
                </a:lnTo>
                <a:lnTo>
                  <a:pt x="311" y="143"/>
                </a:lnTo>
                <a:lnTo>
                  <a:pt x="327" y="149"/>
                </a:lnTo>
                <a:lnTo>
                  <a:pt x="344" y="154"/>
                </a:lnTo>
                <a:lnTo>
                  <a:pt x="360" y="158"/>
                </a:lnTo>
                <a:lnTo>
                  <a:pt x="377" y="160"/>
                </a:lnTo>
                <a:lnTo>
                  <a:pt x="393" y="161"/>
                </a:lnTo>
                <a:lnTo>
                  <a:pt x="393" y="164"/>
                </a:lnTo>
                <a:lnTo>
                  <a:pt x="377" y="164"/>
                </a:lnTo>
                <a:lnTo>
                  <a:pt x="360" y="161"/>
                </a:lnTo>
                <a:lnTo>
                  <a:pt x="344" y="157"/>
                </a:lnTo>
                <a:lnTo>
                  <a:pt x="327" y="152"/>
                </a:lnTo>
                <a:lnTo>
                  <a:pt x="311" y="146"/>
                </a:lnTo>
                <a:lnTo>
                  <a:pt x="295" y="139"/>
                </a:lnTo>
                <a:lnTo>
                  <a:pt x="278" y="131"/>
                </a:lnTo>
                <a:lnTo>
                  <a:pt x="262" y="123"/>
                </a:lnTo>
                <a:lnTo>
                  <a:pt x="246" y="113"/>
                </a:lnTo>
                <a:lnTo>
                  <a:pt x="229" y="104"/>
                </a:lnTo>
                <a:lnTo>
                  <a:pt x="213" y="94"/>
                </a:lnTo>
                <a:lnTo>
                  <a:pt x="196" y="84"/>
                </a:lnTo>
                <a:lnTo>
                  <a:pt x="180" y="74"/>
                </a:lnTo>
                <a:lnTo>
                  <a:pt x="164" y="64"/>
                </a:lnTo>
                <a:lnTo>
                  <a:pt x="147" y="54"/>
                </a:lnTo>
                <a:lnTo>
                  <a:pt x="131" y="45"/>
                </a:lnTo>
                <a:lnTo>
                  <a:pt x="114" y="37"/>
                </a:lnTo>
                <a:lnTo>
                  <a:pt x="98" y="29"/>
                </a:lnTo>
                <a:lnTo>
                  <a:pt x="82" y="22"/>
                </a:lnTo>
                <a:lnTo>
                  <a:pt x="65" y="15"/>
                </a:lnTo>
                <a:lnTo>
                  <a:pt x="49" y="10"/>
                </a:lnTo>
                <a:lnTo>
                  <a:pt x="33" y="7"/>
                </a:lnTo>
                <a:lnTo>
                  <a:pt x="16" y="4"/>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2057400" y="4171950"/>
            <a:ext cx="3743325" cy="1781175"/>
          </a:xfrm>
          <a:custGeom>
            <a:avLst/>
            <a:gdLst/>
            <a:ahLst/>
            <a:cxnLst/>
            <a:rect l="l" t="t" r="r" b="b"/>
            <a:pathLst>
              <a:path w="393" h="187">
                <a:moveTo>
                  <a:pt x="0" y="0"/>
                </a:moveTo>
                <a:lnTo>
                  <a:pt x="16" y="1"/>
                </a:lnTo>
                <a:lnTo>
                  <a:pt x="33" y="4"/>
                </a:lnTo>
                <a:lnTo>
                  <a:pt x="49" y="8"/>
                </a:lnTo>
                <a:lnTo>
                  <a:pt x="65" y="14"/>
                </a:lnTo>
                <a:lnTo>
                  <a:pt x="82" y="21"/>
                </a:lnTo>
                <a:lnTo>
                  <a:pt x="98" y="29"/>
                </a:lnTo>
                <a:lnTo>
                  <a:pt x="114" y="38"/>
                </a:lnTo>
                <a:lnTo>
                  <a:pt x="131" y="48"/>
                </a:lnTo>
                <a:lnTo>
                  <a:pt x="147" y="59"/>
                </a:lnTo>
                <a:lnTo>
                  <a:pt x="164" y="70"/>
                </a:lnTo>
                <a:lnTo>
                  <a:pt x="180" y="81"/>
                </a:lnTo>
                <a:lnTo>
                  <a:pt x="196" y="92"/>
                </a:lnTo>
                <a:lnTo>
                  <a:pt x="213" y="104"/>
                </a:lnTo>
                <a:lnTo>
                  <a:pt x="229" y="115"/>
                </a:lnTo>
                <a:lnTo>
                  <a:pt x="246" y="126"/>
                </a:lnTo>
                <a:lnTo>
                  <a:pt x="262" y="137"/>
                </a:lnTo>
                <a:lnTo>
                  <a:pt x="278" y="147"/>
                </a:lnTo>
                <a:lnTo>
                  <a:pt x="295" y="156"/>
                </a:lnTo>
                <a:lnTo>
                  <a:pt x="311" y="164"/>
                </a:lnTo>
                <a:lnTo>
                  <a:pt x="327" y="171"/>
                </a:lnTo>
                <a:lnTo>
                  <a:pt x="344" y="176"/>
                </a:lnTo>
                <a:lnTo>
                  <a:pt x="360" y="181"/>
                </a:lnTo>
                <a:lnTo>
                  <a:pt x="377" y="183"/>
                </a:lnTo>
                <a:lnTo>
                  <a:pt x="393" y="184"/>
                </a:lnTo>
                <a:lnTo>
                  <a:pt x="393" y="187"/>
                </a:lnTo>
                <a:lnTo>
                  <a:pt x="377" y="186"/>
                </a:lnTo>
                <a:lnTo>
                  <a:pt x="360" y="183"/>
                </a:lnTo>
                <a:lnTo>
                  <a:pt x="344" y="179"/>
                </a:lnTo>
                <a:lnTo>
                  <a:pt x="327" y="173"/>
                </a:lnTo>
                <a:lnTo>
                  <a:pt x="311" y="166"/>
                </a:lnTo>
                <a:lnTo>
                  <a:pt x="295" y="158"/>
                </a:lnTo>
                <a:lnTo>
                  <a:pt x="278" y="149"/>
                </a:lnTo>
                <a:lnTo>
                  <a:pt x="262" y="139"/>
                </a:lnTo>
                <a:lnTo>
                  <a:pt x="246" y="129"/>
                </a:lnTo>
                <a:lnTo>
                  <a:pt x="229" y="118"/>
                </a:lnTo>
                <a:lnTo>
                  <a:pt x="213" y="106"/>
                </a:lnTo>
                <a:lnTo>
                  <a:pt x="196" y="95"/>
                </a:lnTo>
                <a:lnTo>
                  <a:pt x="180" y="83"/>
                </a:lnTo>
                <a:lnTo>
                  <a:pt x="164" y="72"/>
                </a:lnTo>
                <a:lnTo>
                  <a:pt x="147" y="61"/>
                </a:lnTo>
                <a:lnTo>
                  <a:pt x="131" y="50"/>
                </a:lnTo>
                <a:lnTo>
                  <a:pt x="114" y="41"/>
                </a:lnTo>
                <a:lnTo>
                  <a:pt x="98" y="32"/>
                </a:lnTo>
                <a:lnTo>
                  <a:pt x="82" y="23"/>
                </a:lnTo>
                <a:lnTo>
                  <a:pt x="65" y="16"/>
                </a:lnTo>
                <a:lnTo>
                  <a:pt x="49" y="11"/>
                </a:lnTo>
                <a:lnTo>
                  <a:pt x="33" y="6"/>
                </a:lnTo>
                <a:lnTo>
                  <a:pt x="16" y="4"/>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057400" y="4200525"/>
            <a:ext cx="3743325" cy="1952625"/>
          </a:xfrm>
          <a:custGeom>
            <a:avLst/>
            <a:gdLst/>
            <a:ahLst/>
            <a:cxnLst/>
            <a:rect l="l" t="t" r="r" b="b"/>
            <a:pathLst>
              <a:path w="393" h="205">
                <a:moveTo>
                  <a:pt x="0" y="0"/>
                </a:moveTo>
                <a:lnTo>
                  <a:pt x="16" y="1"/>
                </a:lnTo>
                <a:lnTo>
                  <a:pt x="33" y="4"/>
                </a:lnTo>
                <a:lnTo>
                  <a:pt x="49" y="9"/>
                </a:lnTo>
                <a:lnTo>
                  <a:pt x="65" y="15"/>
                </a:lnTo>
                <a:lnTo>
                  <a:pt x="82" y="23"/>
                </a:lnTo>
                <a:lnTo>
                  <a:pt x="98" y="32"/>
                </a:lnTo>
                <a:lnTo>
                  <a:pt x="114" y="42"/>
                </a:lnTo>
                <a:lnTo>
                  <a:pt x="131" y="52"/>
                </a:lnTo>
                <a:lnTo>
                  <a:pt x="147" y="64"/>
                </a:lnTo>
                <a:lnTo>
                  <a:pt x="164" y="76"/>
                </a:lnTo>
                <a:lnTo>
                  <a:pt x="180" y="89"/>
                </a:lnTo>
                <a:lnTo>
                  <a:pt x="196" y="101"/>
                </a:lnTo>
                <a:lnTo>
                  <a:pt x="213" y="114"/>
                </a:lnTo>
                <a:lnTo>
                  <a:pt x="229" y="126"/>
                </a:lnTo>
                <a:lnTo>
                  <a:pt x="246" y="139"/>
                </a:lnTo>
                <a:lnTo>
                  <a:pt x="262" y="150"/>
                </a:lnTo>
                <a:lnTo>
                  <a:pt x="278" y="161"/>
                </a:lnTo>
                <a:lnTo>
                  <a:pt x="295" y="171"/>
                </a:lnTo>
                <a:lnTo>
                  <a:pt x="311" y="180"/>
                </a:lnTo>
                <a:lnTo>
                  <a:pt x="327" y="188"/>
                </a:lnTo>
                <a:lnTo>
                  <a:pt x="344" y="194"/>
                </a:lnTo>
                <a:lnTo>
                  <a:pt x="360" y="199"/>
                </a:lnTo>
                <a:lnTo>
                  <a:pt x="377" y="202"/>
                </a:lnTo>
                <a:lnTo>
                  <a:pt x="393" y="203"/>
                </a:lnTo>
                <a:lnTo>
                  <a:pt x="393" y="205"/>
                </a:lnTo>
                <a:lnTo>
                  <a:pt x="377" y="204"/>
                </a:lnTo>
                <a:lnTo>
                  <a:pt x="360" y="201"/>
                </a:lnTo>
                <a:lnTo>
                  <a:pt x="344" y="196"/>
                </a:lnTo>
                <a:lnTo>
                  <a:pt x="327" y="190"/>
                </a:lnTo>
                <a:lnTo>
                  <a:pt x="311" y="182"/>
                </a:lnTo>
                <a:lnTo>
                  <a:pt x="295" y="173"/>
                </a:lnTo>
                <a:lnTo>
                  <a:pt x="278" y="163"/>
                </a:lnTo>
                <a:lnTo>
                  <a:pt x="262" y="152"/>
                </a:lnTo>
                <a:lnTo>
                  <a:pt x="246" y="141"/>
                </a:lnTo>
                <a:lnTo>
                  <a:pt x="229" y="128"/>
                </a:lnTo>
                <a:lnTo>
                  <a:pt x="213" y="116"/>
                </a:lnTo>
                <a:lnTo>
                  <a:pt x="196" y="103"/>
                </a:lnTo>
                <a:lnTo>
                  <a:pt x="180" y="91"/>
                </a:lnTo>
                <a:lnTo>
                  <a:pt x="164" y="78"/>
                </a:lnTo>
                <a:lnTo>
                  <a:pt x="147" y="66"/>
                </a:lnTo>
                <a:lnTo>
                  <a:pt x="131" y="54"/>
                </a:lnTo>
                <a:lnTo>
                  <a:pt x="114" y="44"/>
                </a:lnTo>
                <a:lnTo>
                  <a:pt x="98" y="34"/>
                </a:lnTo>
                <a:lnTo>
                  <a:pt x="82" y="25"/>
                </a:lnTo>
                <a:lnTo>
                  <a:pt x="65" y="17"/>
                </a:lnTo>
                <a:lnTo>
                  <a:pt x="49" y="11"/>
                </a:lnTo>
                <a:lnTo>
                  <a:pt x="33" y="6"/>
                </a:lnTo>
                <a:lnTo>
                  <a:pt x="16" y="3"/>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2057400" y="4219575"/>
            <a:ext cx="3743325" cy="2114550"/>
          </a:xfrm>
          <a:custGeom>
            <a:avLst/>
            <a:gdLst/>
            <a:ahLst/>
            <a:cxnLst/>
            <a:rect l="l" t="t" r="r" b="b"/>
            <a:pathLst>
              <a:path w="393" h="222">
                <a:moveTo>
                  <a:pt x="0" y="0"/>
                </a:moveTo>
                <a:lnTo>
                  <a:pt x="16" y="1"/>
                </a:lnTo>
                <a:lnTo>
                  <a:pt x="33" y="4"/>
                </a:lnTo>
                <a:lnTo>
                  <a:pt x="49" y="9"/>
                </a:lnTo>
                <a:lnTo>
                  <a:pt x="65" y="16"/>
                </a:lnTo>
                <a:lnTo>
                  <a:pt x="82" y="25"/>
                </a:lnTo>
                <a:lnTo>
                  <a:pt x="98" y="34"/>
                </a:lnTo>
                <a:lnTo>
                  <a:pt x="114" y="45"/>
                </a:lnTo>
                <a:lnTo>
                  <a:pt x="131" y="57"/>
                </a:lnTo>
                <a:lnTo>
                  <a:pt x="147" y="70"/>
                </a:lnTo>
                <a:lnTo>
                  <a:pt x="164" y="83"/>
                </a:lnTo>
                <a:lnTo>
                  <a:pt x="180" y="96"/>
                </a:lnTo>
                <a:lnTo>
                  <a:pt x="196" y="110"/>
                </a:lnTo>
                <a:lnTo>
                  <a:pt x="213" y="124"/>
                </a:lnTo>
                <a:lnTo>
                  <a:pt x="229" y="138"/>
                </a:lnTo>
                <a:lnTo>
                  <a:pt x="246" y="151"/>
                </a:lnTo>
                <a:lnTo>
                  <a:pt x="262" y="163"/>
                </a:lnTo>
                <a:lnTo>
                  <a:pt x="278" y="175"/>
                </a:lnTo>
                <a:lnTo>
                  <a:pt x="295" y="186"/>
                </a:lnTo>
                <a:lnTo>
                  <a:pt x="311" y="196"/>
                </a:lnTo>
                <a:lnTo>
                  <a:pt x="327" y="204"/>
                </a:lnTo>
                <a:lnTo>
                  <a:pt x="344" y="211"/>
                </a:lnTo>
                <a:lnTo>
                  <a:pt x="360" y="216"/>
                </a:lnTo>
                <a:lnTo>
                  <a:pt x="377" y="219"/>
                </a:lnTo>
                <a:lnTo>
                  <a:pt x="393" y="221"/>
                </a:lnTo>
                <a:lnTo>
                  <a:pt x="393" y="222"/>
                </a:lnTo>
                <a:lnTo>
                  <a:pt x="377" y="221"/>
                </a:lnTo>
                <a:lnTo>
                  <a:pt x="360" y="218"/>
                </a:lnTo>
                <a:lnTo>
                  <a:pt x="344" y="213"/>
                </a:lnTo>
                <a:lnTo>
                  <a:pt x="327" y="206"/>
                </a:lnTo>
                <a:lnTo>
                  <a:pt x="311" y="198"/>
                </a:lnTo>
                <a:lnTo>
                  <a:pt x="295" y="188"/>
                </a:lnTo>
                <a:lnTo>
                  <a:pt x="278" y="177"/>
                </a:lnTo>
                <a:lnTo>
                  <a:pt x="262" y="165"/>
                </a:lnTo>
                <a:lnTo>
                  <a:pt x="246" y="153"/>
                </a:lnTo>
                <a:lnTo>
                  <a:pt x="229" y="139"/>
                </a:lnTo>
                <a:lnTo>
                  <a:pt x="213" y="126"/>
                </a:lnTo>
                <a:lnTo>
                  <a:pt x="196" y="112"/>
                </a:lnTo>
                <a:lnTo>
                  <a:pt x="180" y="98"/>
                </a:lnTo>
                <a:lnTo>
                  <a:pt x="164" y="85"/>
                </a:lnTo>
                <a:lnTo>
                  <a:pt x="147" y="71"/>
                </a:lnTo>
                <a:lnTo>
                  <a:pt x="131" y="59"/>
                </a:lnTo>
                <a:lnTo>
                  <a:pt x="114" y="47"/>
                </a:lnTo>
                <a:lnTo>
                  <a:pt x="98" y="36"/>
                </a:lnTo>
                <a:lnTo>
                  <a:pt x="82" y="26"/>
                </a:lnTo>
                <a:lnTo>
                  <a:pt x="65" y="18"/>
                </a:lnTo>
                <a:lnTo>
                  <a:pt x="49" y="11"/>
                </a:lnTo>
                <a:lnTo>
                  <a:pt x="33" y="6"/>
                </a:lnTo>
                <a:lnTo>
                  <a:pt x="16" y="3"/>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2057400" y="4238625"/>
            <a:ext cx="3743325" cy="2257425"/>
          </a:xfrm>
          <a:custGeom>
            <a:avLst/>
            <a:gdLst/>
            <a:ahLst/>
            <a:cxnLst/>
            <a:rect l="l" t="t" r="r" b="b"/>
            <a:pathLst>
              <a:path w="393" h="237">
                <a:moveTo>
                  <a:pt x="0" y="0"/>
                </a:moveTo>
                <a:lnTo>
                  <a:pt x="16" y="1"/>
                </a:lnTo>
                <a:lnTo>
                  <a:pt x="33" y="4"/>
                </a:lnTo>
                <a:lnTo>
                  <a:pt x="49" y="10"/>
                </a:lnTo>
                <a:lnTo>
                  <a:pt x="65" y="17"/>
                </a:lnTo>
                <a:lnTo>
                  <a:pt x="82" y="26"/>
                </a:lnTo>
                <a:lnTo>
                  <a:pt x="98" y="37"/>
                </a:lnTo>
                <a:lnTo>
                  <a:pt x="114" y="48"/>
                </a:lnTo>
                <a:lnTo>
                  <a:pt x="131" y="61"/>
                </a:lnTo>
                <a:lnTo>
                  <a:pt x="147" y="74"/>
                </a:lnTo>
                <a:lnTo>
                  <a:pt x="164" y="88"/>
                </a:lnTo>
                <a:lnTo>
                  <a:pt x="180" y="103"/>
                </a:lnTo>
                <a:lnTo>
                  <a:pt x="196" y="118"/>
                </a:lnTo>
                <a:lnTo>
                  <a:pt x="213" y="132"/>
                </a:lnTo>
                <a:lnTo>
                  <a:pt x="229" y="147"/>
                </a:lnTo>
                <a:lnTo>
                  <a:pt x="246" y="161"/>
                </a:lnTo>
                <a:lnTo>
                  <a:pt x="262" y="175"/>
                </a:lnTo>
                <a:lnTo>
                  <a:pt x="278" y="187"/>
                </a:lnTo>
                <a:lnTo>
                  <a:pt x="295" y="199"/>
                </a:lnTo>
                <a:lnTo>
                  <a:pt x="311" y="209"/>
                </a:lnTo>
                <a:lnTo>
                  <a:pt x="327" y="218"/>
                </a:lnTo>
                <a:lnTo>
                  <a:pt x="344" y="226"/>
                </a:lnTo>
                <a:lnTo>
                  <a:pt x="360" y="231"/>
                </a:lnTo>
                <a:lnTo>
                  <a:pt x="377" y="235"/>
                </a:lnTo>
                <a:lnTo>
                  <a:pt x="393" y="236"/>
                </a:lnTo>
                <a:lnTo>
                  <a:pt x="393" y="237"/>
                </a:lnTo>
                <a:lnTo>
                  <a:pt x="377" y="236"/>
                </a:lnTo>
                <a:lnTo>
                  <a:pt x="360" y="232"/>
                </a:lnTo>
                <a:lnTo>
                  <a:pt x="344" y="227"/>
                </a:lnTo>
                <a:lnTo>
                  <a:pt x="327" y="220"/>
                </a:lnTo>
                <a:lnTo>
                  <a:pt x="311" y="211"/>
                </a:lnTo>
                <a:lnTo>
                  <a:pt x="295" y="200"/>
                </a:lnTo>
                <a:lnTo>
                  <a:pt x="278" y="189"/>
                </a:lnTo>
                <a:lnTo>
                  <a:pt x="262" y="176"/>
                </a:lnTo>
                <a:lnTo>
                  <a:pt x="246" y="162"/>
                </a:lnTo>
                <a:lnTo>
                  <a:pt x="229" y="148"/>
                </a:lnTo>
                <a:lnTo>
                  <a:pt x="213" y="134"/>
                </a:lnTo>
                <a:lnTo>
                  <a:pt x="196" y="119"/>
                </a:lnTo>
                <a:lnTo>
                  <a:pt x="180" y="104"/>
                </a:lnTo>
                <a:lnTo>
                  <a:pt x="164" y="90"/>
                </a:lnTo>
                <a:lnTo>
                  <a:pt x="147" y="76"/>
                </a:lnTo>
                <a:lnTo>
                  <a:pt x="131" y="62"/>
                </a:lnTo>
                <a:lnTo>
                  <a:pt x="114" y="50"/>
                </a:lnTo>
                <a:lnTo>
                  <a:pt x="98" y="38"/>
                </a:lnTo>
                <a:lnTo>
                  <a:pt x="82" y="27"/>
                </a:lnTo>
                <a:lnTo>
                  <a:pt x="65" y="18"/>
                </a:lnTo>
                <a:lnTo>
                  <a:pt x="49" y="11"/>
                </a:lnTo>
                <a:lnTo>
                  <a:pt x="33" y="6"/>
                </a:lnTo>
                <a:lnTo>
                  <a:pt x="16" y="2"/>
                </a:lnTo>
                <a:lnTo>
                  <a:pt x="0" y="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057400" y="1809750"/>
            <a:ext cx="3743325" cy="2619375"/>
          </a:xfrm>
          <a:custGeom>
            <a:avLst/>
            <a:gdLst/>
            <a:ahLst/>
            <a:cxnLst/>
            <a:rect l="l" t="t" r="r" b="b"/>
            <a:pathLst>
              <a:path w="393" h="275">
                <a:moveTo>
                  <a:pt x="0" y="262"/>
                </a:moveTo>
                <a:lnTo>
                  <a:pt x="16" y="261"/>
                </a:lnTo>
                <a:lnTo>
                  <a:pt x="33" y="257"/>
                </a:lnTo>
                <a:lnTo>
                  <a:pt x="49" y="251"/>
                </a:lnTo>
                <a:lnTo>
                  <a:pt x="65" y="243"/>
                </a:lnTo>
                <a:lnTo>
                  <a:pt x="82" y="233"/>
                </a:lnTo>
                <a:lnTo>
                  <a:pt x="98" y="221"/>
                </a:lnTo>
                <a:lnTo>
                  <a:pt x="114" y="208"/>
                </a:lnTo>
                <a:lnTo>
                  <a:pt x="131" y="194"/>
                </a:lnTo>
                <a:lnTo>
                  <a:pt x="147" y="179"/>
                </a:lnTo>
                <a:lnTo>
                  <a:pt x="164" y="163"/>
                </a:lnTo>
                <a:lnTo>
                  <a:pt x="180" y="147"/>
                </a:lnTo>
                <a:lnTo>
                  <a:pt x="196" y="131"/>
                </a:lnTo>
                <a:lnTo>
                  <a:pt x="213" y="115"/>
                </a:lnTo>
                <a:lnTo>
                  <a:pt x="229" y="99"/>
                </a:lnTo>
                <a:lnTo>
                  <a:pt x="246" y="83"/>
                </a:lnTo>
                <a:lnTo>
                  <a:pt x="262" y="68"/>
                </a:lnTo>
                <a:lnTo>
                  <a:pt x="278" y="54"/>
                </a:lnTo>
                <a:lnTo>
                  <a:pt x="295" y="41"/>
                </a:lnTo>
                <a:lnTo>
                  <a:pt x="311" y="29"/>
                </a:lnTo>
                <a:lnTo>
                  <a:pt x="327" y="20"/>
                </a:lnTo>
                <a:lnTo>
                  <a:pt x="344" y="11"/>
                </a:lnTo>
                <a:lnTo>
                  <a:pt x="360" y="5"/>
                </a:lnTo>
                <a:lnTo>
                  <a:pt x="377" y="1"/>
                </a:lnTo>
                <a:lnTo>
                  <a:pt x="393" y="0"/>
                </a:lnTo>
                <a:lnTo>
                  <a:pt x="393" y="13"/>
                </a:lnTo>
                <a:lnTo>
                  <a:pt x="377" y="15"/>
                </a:lnTo>
                <a:lnTo>
                  <a:pt x="360" y="19"/>
                </a:lnTo>
                <a:lnTo>
                  <a:pt x="344" y="25"/>
                </a:lnTo>
                <a:lnTo>
                  <a:pt x="327" y="33"/>
                </a:lnTo>
                <a:lnTo>
                  <a:pt x="311" y="43"/>
                </a:lnTo>
                <a:lnTo>
                  <a:pt x="295" y="54"/>
                </a:lnTo>
                <a:lnTo>
                  <a:pt x="278" y="67"/>
                </a:lnTo>
                <a:lnTo>
                  <a:pt x="262" y="81"/>
                </a:lnTo>
                <a:lnTo>
                  <a:pt x="246" y="96"/>
                </a:lnTo>
                <a:lnTo>
                  <a:pt x="229" y="112"/>
                </a:lnTo>
                <a:lnTo>
                  <a:pt x="213" y="128"/>
                </a:lnTo>
                <a:lnTo>
                  <a:pt x="196" y="144"/>
                </a:lnTo>
                <a:lnTo>
                  <a:pt x="180" y="161"/>
                </a:lnTo>
                <a:lnTo>
                  <a:pt x="164" y="177"/>
                </a:lnTo>
                <a:lnTo>
                  <a:pt x="147" y="192"/>
                </a:lnTo>
                <a:lnTo>
                  <a:pt x="131" y="207"/>
                </a:lnTo>
                <a:lnTo>
                  <a:pt x="114" y="221"/>
                </a:lnTo>
                <a:lnTo>
                  <a:pt x="98" y="234"/>
                </a:lnTo>
                <a:lnTo>
                  <a:pt x="82" y="246"/>
                </a:lnTo>
                <a:lnTo>
                  <a:pt x="65" y="256"/>
                </a:lnTo>
                <a:lnTo>
                  <a:pt x="49" y="264"/>
                </a:lnTo>
                <a:lnTo>
                  <a:pt x="33" y="270"/>
                </a:lnTo>
                <a:lnTo>
                  <a:pt x="16" y="274"/>
                </a:lnTo>
                <a:lnTo>
                  <a:pt x="0" y="27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2057400" y="2695575"/>
            <a:ext cx="3743325" cy="1847850"/>
          </a:xfrm>
          <a:custGeom>
            <a:avLst/>
            <a:gdLst/>
            <a:ahLst/>
            <a:cxnLst/>
            <a:rect l="l" t="t" r="r" b="b"/>
            <a:pathLst>
              <a:path w="393" h="194">
                <a:moveTo>
                  <a:pt x="0" y="182"/>
                </a:moveTo>
                <a:lnTo>
                  <a:pt x="16" y="181"/>
                </a:lnTo>
                <a:lnTo>
                  <a:pt x="33" y="179"/>
                </a:lnTo>
                <a:lnTo>
                  <a:pt x="49" y="174"/>
                </a:lnTo>
                <a:lnTo>
                  <a:pt x="65" y="169"/>
                </a:lnTo>
                <a:lnTo>
                  <a:pt x="82" y="162"/>
                </a:lnTo>
                <a:lnTo>
                  <a:pt x="98" y="154"/>
                </a:lnTo>
                <a:lnTo>
                  <a:pt x="114" y="145"/>
                </a:lnTo>
                <a:lnTo>
                  <a:pt x="131" y="135"/>
                </a:lnTo>
                <a:lnTo>
                  <a:pt x="147" y="125"/>
                </a:lnTo>
                <a:lnTo>
                  <a:pt x="164" y="114"/>
                </a:lnTo>
                <a:lnTo>
                  <a:pt x="180" y="103"/>
                </a:lnTo>
                <a:lnTo>
                  <a:pt x="196" y="91"/>
                </a:lnTo>
                <a:lnTo>
                  <a:pt x="213" y="80"/>
                </a:lnTo>
                <a:lnTo>
                  <a:pt x="229" y="69"/>
                </a:lnTo>
                <a:lnTo>
                  <a:pt x="246" y="58"/>
                </a:lnTo>
                <a:lnTo>
                  <a:pt x="262" y="48"/>
                </a:lnTo>
                <a:lnTo>
                  <a:pt x="278" y="38"/>
                </a:lnTo>
                <a:lnTo>
                  <a:pt x="295" y="29"/>
                </a:lnTo>
                <a:lnTo>
                  <a:pt x="311" y="21"/>
                </a:lnTo>
                <a:lnTo>
                  <a:pt x="327" y="14"/>
                </a:lnTo>
                <a:lnTo>
                  <a:pt x="344" y="8"/>
                </a:lnTo>
                <a:lnTo>
                  <a:pt x="360" y="4"/>
                </a:lnTo>
                <a:lnTo>
                  <a:pt x="377" y="1"/>
                </a:lnTo>
                <a:lnTo>
                  <a:pt x="393" y="0"/>
                </a:lnTo>
                <a:lnTo>
                  <a:pt x="393" y="12"/>
                </a:lnTo>
                <a:lnTo>
                  <a:pt x="377" y="13"/>
                </a:lnTo>
                <a:lnTo>
                  <a:pt x="360" y="16"/>
                </a:lnTo>
                <a:lnTo>
                  <a:pt x="344" y="20"/>
                </a:lnTo>
                <a:lnTo>
                  <a:pt x="327" y="26"/>
                </a:lnTo>
                <a:lnTo>
                  <a:pt x="311" y="33"/>
                </a:lnTo>
                <a:lnTo>
                  <a:pt x="295" y="41"/>
                </a:lnTo>
                <a:lnTo>
                  <a:pt x="278" y="50"/>
                </a:lnTo>
                <a:lnTo>
                  <a:pt x="262" y="59"/>
                </a:lnTo>
                <a:lnTo>
                  <a:pt x="246" y="70"/>
                </a:lnTo>
                <a:lnTo>
                  <a:pt x="229" y="81"/>
                </a:lnTo>
                <a:lnTo>
                  <a:pt x="213" y="92"/>
                </a:lnTo>
                <a:lnTo>
                  <a:pt x="196" y="103"/>
                </a:lnTo>
                <a:lnTo>
                  <a:pt x="180" y="115"/>
                </a:lnTo>
                <a:lnTo>
                  <a:pt x="164" y="126"/>
                </a:lnTo>
                <a:lnTo>
                  <a:pt x="147" y="137"/>
                </a:lnTo>
                <a:lnTo>
                  <a:pt x="131" y="147"/>
                </a:lnTo>
                <a:lnTo>
                  <a:pt x="114" y="157"/>
                </a:lnTo>
                <a:lnTo>
                  <a:pt x="98" y="166"/>
                </a:lnTo>
                <a:lnTo>
                  <a:pt x="82" y="174"/>
                </a:lnTo>
                <a:lnTo>
                  <a:pt x="65" y="181"/>
                </a:lnTo>
                <a:lnTo>
                  <a:pt x="49" y="186"/>
                </a:lnTo>
                <a:lnTo>
                  <a:pt x="33" y="191"/>
                </a:lnTo>
                <a:lnTo>
                  <a:pt x="16" y="193"/>
                </a:lnTo>
                <a:lnTo>
                  <a:pt x="0" y="19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2057400" y="3400425"/>
            <a:ext cx="3743325" cy="1219200"/>
          </a:xfrm>
          <a:custGeom>
            <a:avLst/>
            <a:gdLst/>
            <a:ahLst/>
            <a:cxnLst/>
            <a:rect l="l" t="t" r="r" b="b"/>
            <a:pathLst>
              <a:path w="393" h="128">
                <a:moveTo>
                  <a:pt x="0" y="120"/>
                </a:moveTo>
                <a:lnTo>
                  <a:pt x="16" y="120"/>
                </a:lnTo>
                <a:lnTo>
                  <a:pt x="33" y="118"/>
                </a:lnTo>
                <a:lnTo>
                  <a:pt x="49" y="115"/>
                </a:lnTo>
                <a:lnTo>
                  <a:pt x="65" y="111"/>
                </a:lnTo>
                <a:lnTo>
                  <a:pt x="82" y="107"/>
                </a:lnTo>
                <a:lnTo>
                  <a:pt x="98" y="101"/>
                </a:lnTo>
                <a:lnTo>
                  <a:pt x="114" y="96"/>
                </a:lnTo>
                <a:lnTo>
                  <a:pt x="131" y="89"/>
                </a:lnTo>
                <a:lnTo>
                  <a:pt x="147" y="82"/>
                </a:lnTo>
                <a:lnTo>
                  <a:pt x="164" y="75"/>
                </a:lnTo>
                <a:lnTo>
                  <a:pt x="180" y="68"/>
                </a:lnTo>
                <a:lnTo>
                  <a:pt x="196" y="60"/>
                </a:lnTo>
                <a:lnTo>
                  <a:pt x="213" y="53"/>
                </a:lnTo>
                <a:lnTo>
                  <a:pt x="229" y="45"/>
                </a:lnTo>
                <a:lnTo>
                  <a:pt x="246" y="38"/>
                </a:lnTo>
                <a:lnTo>
                  <a:pt x="262" y="31"/>
                </a:lnTo>
                <a:lnTo>
                  <a:pt x="278" y="25"/>
                </a:lnTo>
                <a:lnTo>
                  <a:pt x="295" y="19"/>
                </a:lnTo>
                <a:lnTo>
                  <a:pt x="311" y="14"/>
                </a:lnTo>
                <a:lnTo>
                  <a:pt x="327" y="9"/>
                </a:lnTo>
                <a:lnTo>
                  <a:pt x="344" y="5"/>
                </a:lnTo>
                <a:lnTo>
                  <a:pt x="360" y="3"/>
                </a:lnTo>
                <a:lnTo>
                  <a:pt x="377" y="1"/>
                </a:lnTo>
                <a:lnTo>
                  <a:pt x="393" y="0"/>
                </a:lnTo>
                <a:lnTo>
                  <a:pt x="393" y="8"/>
                </a:lnTo>
                <a:lnTo>
                  <a:pt x="377" y="9"/>
                </a:lnTo>
                <a:lnTo>
                  <a:pt x="360" y="11"/>
                </a:lnTo>
                <a:lnTo>
                  <a:pt x="344" y="13"/>
                </a:lnTo>
                <a:lnTo>
                  <a:pt x="327" y="17"/>
                </a:lnTo>
                <a:lnTo>
                  <a:pt x="311" y="22"/>
                </a:lnTo>
                <a:lnTo>
                  <a:pt x="295" y="27"/>
                </a:lnTo>
                <a:lnTo>
                  <a:pt x="278" y="33"/>
                </a:lnTo>
                <a:lnTo>
                  <a:pt x="262" y="39"/>
                </a:lnTo>
                <a:lnTo>
                  <a:pt x="246" y="46"/>
                </a:lnTo>
                <a:lnTo>
                  <a:pt x="229" y="53"/>
                </a:lnTo>
                <a:lnTo>
                  <a:pt x="213" y="61"/>
                </a:lnTo>
                <a:lnTo>
                  <a:pt x="196" y="68"/>
                </a:lnTo>
                <a:lnTo>
                  <a:pt x="180" y="76"/>
                </a:lnTo>
                <a:lnTo>
                  <a:pt x="164" y="83"/>
                </a:lnTo>
                <a:lnTo>
                  <a:pt x="147" y="90"/>
                </a:lnTo>
                <a:lnTo>
                  <a:pt x="131" y="97"/>
                </a:lnTo>
                <a:lnTo>
                  <a:pt x="114" y="104"/>
                </a:lnTo>
                <a:lnTo>
                  <a:pt x="98" y="109"/>
                </a:lnTo>
                <a:lnTo>
                  <a:pt x="82" y="115"/>
                </a:lnTo>
                <a:lnTo>
                  <a:pt x="65" y="119"/>
                </a:lnTo>
                <a:lnTo>
                  <a:pt x="49" y="123"/>
                </a:lnTo>
                <a:lnTo>
                  <a:pt x="33" y="126"/>
                </a:lnTo>
                <a:lnTo>
                  <a:pt x="16" y="128"/>
                </a:lnTo>
                <a:lnTo>
                  <a:pt x="0" y="12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057400" y="3981450"/>
            <a:ext cx="3743325" cy="714375"/>
          </a:xfrm>
          <a:custGeom>
            <a:avLst/>
            <a:gdLst/>
            <a:ahLst/>
            <a:cxnLst/>
            <a:rect l="l" t="t" r="r" b="b"/>
            <a:pathLst>
              <a:path w="393" h="75">
                <a:moveTo>
                  <a:pt x="0" y="67"/>
                </a:moveTo>
                <a:lnTo>
                  <a:pt x="16" y="67"/>
                </a:lnTo>
                <a:lnTo>
                  <a:pt x="33" y="66"/>
                </a:lnTo>
                <a:lnTo>
                  <a:pt x="49" y="64"/>
                </a:lnTo>
                <a:lnTo>
                  <a:pt x="65" y="62"/>
                </a:lnTo>
                <a:lnTo>
                  <a:pt x="82" y="60"/>
                </a:lnTo>
                <a:lnTo>
                  <a:pt x="98" y="57"/>
                </a:lnTo>
                <a:lnTo>
                  <a:pt x="114" y="53"/>
                </a:lnTo>
                <a:lnTo>
                  <a:pt x="131" y="50"/>
                </a:lnTo>
                <a:lnTo>
                  <a:pt x="147" y="46"/>
                </a:lnTo>
                <a:lnTo>
                  <a:pt x="164" y="42"/>
                </a:lnTo>
                <a:lnTo>
                  <a:pt x="180" y="38"/>
                </a:lnTo>
                <a:lnTo>
                  <a:pt x="196" y="34"/>
                </a:lnTo>
                <a:lnTo>
                  <a:pt x="213" y="30"/>
                </a:lnTo>
                <a:lnTo>
                  <a:pt x="229" y="26"/>
                </a:lnTo>
                <a:lnTo>
                  <a:pt x="246" y="22"/>
                </a:lnTo>
                <a:lnTo>
                  <a:pt x="262" y="18"/>
                </a:lnTo>
                <a:lnTo>
                  <a:pt x="278" y="14"/>
                </a:lnTo>
                <a:lnTo>
                  <a:pt x="295" y="11"/>
                </a:lnTo>
                <a:lnTo>
                  <a:pt x="311" y="8"/>
                </a:lnTo>
                <a:lnTo>
                  <a:pt x="327" y="5"/>
                </a:lnTo>
                <a:lnTo>
                  <a:pt x="344" y="3"/>
                </a:lnTo>
                <a:lnTo>
                  <a:pt x="360" y="2"/>
                </a:lnTo>
                <a:lnTo>
                  <a:pt x="377" y="1"/>
                </a:lnTo>
                <a:lnTo>
                  <a:pt x="393" y="0"/>
                </a:lnTo>
                <a:lnTo>
                  <a:pt x="393" y="8"/>
                </a:lnTo>
                <a:lnTo>
                  <a:pt x="377" y="8"/>
                </a:lnTo>
                <a:lnTo>
                  <a:pt x="360" y="9"/>
                </a:lnTo>
                <a:lnTo>
                  <a:pt x="344" y="11"/>
                </a:lnTo>
                <a:lnTo>
                  <a:pt x="327" y="13"/>
                </a:lnTo>
                <a:lnTo>
                  <a:pt x="311" y="16"/>
                </a:lnTo>
                <a:lnTo>
                  <a:pt x="295" y="19"/>
                </a:lnTo>
                <a:lnTo>
                  <a:pt x="278" y="22"/>
                </a:lnTo>
                <a:lnTo>
                  <a:pt x="262" y="25"/>
                </a:lnTo>
                <a:lnTo>
                  <a:pt x="246" y="29"/>
                </a:lnTo>
                <a:lnTo>
                  <a:pt x="229" y="33"/>
                </a:lnTo>
                <a:lnTo>
                  <a:pt x="213" y="37"/>
                </a:lnTo>
                <a:lnTo>
                  <a:pt x="196" y="42"/>
                </a:lnTo>
                <a:lnTo>
                  <a:pt x="180" y="46"/>
                </a:lnTo>
                <a:lnTo>
                  <a:pt x="164" y="50"/>
                </a:lnTo>
                <a:lnTo>
                  <a:pt x="147" y="54"/>
                </a:lnTo>
                <a:lnTo>
                  <a:pt x="131" y="58"/>
                </a:lnTo>
                <a:lnTo>
                  <a:pt x="114" y="61"/>
                </a:lnTo>
                <a:lnTo>
                  <a:pt x="98" y="65"/>
                </a:lnTo>
                <a:lnTo>
                  <a:pt x="82" y="67"/>
                </a:lnTo>
                <a:lnTo>
                  <a:pt x="65" y="70"/>
                </a:lnTo>
                <a:lnTo>
                  <a:pt x="49" y="72"/>
                </a:lnTo>
                <a:lnTo>
                  <a:pt x="33" y="74"/>
                </a:lnTo>
                <a:lnTo>
                  <a:pt x="16" y="75"/>
                </a:lnTo>
                <a:lnTo>
                  <a:pt x="0" y="7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2057400" y="4514850"/>
            <a:ext cx="3743325" cy="247650"/>
          </a:xfrm>
          <a:custGeom>
            <a:avLst/>
            <a:gdLst/>
            <a:ahLst/>
            <a:cxnLst/>
            <a:rect l="l" t="t" r="r" b="b"/>
            <a:pathLst>
              <a:path w="393" h="26">
                <a:moveTo>
                  <a:pt x="0" y="19"/>
                </a:moveTo>
                <a:lnTo>
                  <a:pt x="16" y="19"/>
                </a:lnTo>
                <a:lnTo>
                  <a:pt x="33" y="19"/>
                </a:lnTo>
                <a:lnTo>
                  <a:pt x="49" y="18"/>
                </a:lnTo>
                <a:lnTo>
                  <a:pt x="65" y="18"/>
                </a:lnTo>
                <a:lnTo>
                  <a:pt x="82" y="17"/>
                </a:lnTo>
                <a:lnTo>
                  <a:pt x="98" y="16"/>
                </a:lnTo>
                <a:lnTo>
                  <a:pt x="114" y="15"/>
                </a:lnTo>
                <a:lnTo>
                  <a:pt x="131" y="14"/>
                </a:lnTo>
                <a:lnTo>
                  <a:pt x="147" y="13"/>
                </a:lnTo>
                <a:lnTo>
                  <a:pt x="164" y="12"/>
                </a:lnTo>
                <a:lnTo>
                  <a:pt x="180" y="11"/>
                </a:lnTo>
                <a:lnTo>
                  <a:pt x="196" y="10"/>
                </a:lnTo>
                <a:lnTo>
                  <a:pt x="213" y="8"/>
                </a:lnTo>
                <a:lnTo>
                  <a:pt x="229" y="7"/>
                </a:lnTo>
                <a:lnTo>
                  <a:pt x="246" y="6"/>
                </a:lnTo>
                <a:lnTo>
                  <a:pt x="262" y="5"/>
                </a:lnTo>
                <a:lnTo>
                  <a:pt x="278" y="4"/>
                </a:lnTo>
                <a:lnTo>
                  <a:pt x="295" y="3"/>
                </a:lnTo>
                <a:lnTo>
                  <a:pt x="311" y="2"/>
                </a:lnTo>
                <a:lnTo>
                  <a:pt x="327" y="2"/>
                </a:lnTo>
                <a:lnTo>
                  <a:pt x="344" y="1"/>
                </a:lnTo>
                <a:lnTo>
                  <a:pt x="360" y="1"/>
                </a:lnTo>
                <a:lnTo>
                  <a:pt x="377" y="0"/>
                </a:lnTo>
                <a:lnTo>
                  <a:pt x="393" y="0"/>
                </a:lnTo>
                <a:lnTo>
                  <a:pt x="393" y="7"/>
                </a:lnTo>
                <a:lnTo>
                  <a:pt x="377" y="7"/>
                </a:lnTo>
                <a:lnTo>
                  <a:pt x="360" y="7"/>
                </a:lnTo>
                <a:lnTo>
                  <a:pt x="344" y="8"/>
                </a:lnTo>
                <a:lnTo>
                  <a:pt x="327" y="8"/>
                </a:lnTo>
                <a:lnTo>
                  <a:pt x="311" y="9"/>
                </a:lnTo>
                <a:lnTo>
                  <a:pt x="295" y="10"/>
                </a:lnTo>
                <a:lnTo>
                  <a:pt x="278" y="11"/>
                </a:lnTo>
                <a:lnTo>
                  <a:pt x="262" y="12"/>
                </a:lnTo>
                <a:lnTo>
                  <a:pt x="246" y="13"/>
                </a:lnTo>
                <a:lnTo>
                  <a:pt x="229" y="14"/>
                </a:lnTo>
                <a:lnTo>
                  <a:pt x="213" y="15"/>
                </a:lnTo>
                <a:lnTo>
                  <a:pt x="196" y="16"/>
                </a:lnTo>
                <a:lnTo>
                  <a:pt x="180" y="17"/>
                </a:lnTo>
                <a:lnTo>
                  <a:pt x="164" y="19"/>
                </a:lnTo>
                <a:lnTo>
                  <a:pt x="147" y="20"/>
                </a:lnTo>
                <a:lnTo>
                  <a:pt x="131" y="21"/>
                </a:lnTo>
                <a:lnTo>
                  <a:pt x="114" y="22"/>
                </a:lnTo>
                <a:lnTo>
                  <a:pt x="98" y="23"/>
                </a:lnTo>
                <a:lnTo>
                  <a:pt x="82" y="24"/>
                </a:lnTo>
                <a:lnTo>
                  <a:pt x="65" y="24"/>
                </a:lnTo>
                <a:lnTo>
                  <a:pt x="49" y="25"/>
                </a:lnTo>
                <a:lnTo>
                  <a:pt x="33" y="25"/>
                </a:lnTo>
                <a:lnTo>
                  <a:pt x="16" y="26"/>
                </a:lnTo>
                <a:lnTo>
                  <a:pt x="0" y="2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2057400" y="4762500"/>
            <a:ext cx="3743325" cy="266700"/>
          </a:xfrm>
          <a:custGeom>
            <a:avLst/>
            <a:gdLst/>
            <a:ahLst/>
            <a:cxnLst/>
            <a:rect l="l" t="t" r="r" b="b"/>
            <a:pathLst>
              <a:path w="393" h="28">
                <a:moveTo>
                  <a:pt x="0" y="0"/>
                </a:moveTo>
                <a:lnTo>
                  <a:pt x="16" y="0"/>
                </a:lnTo>
                <a:lnTo>
                  <a:pt x="33" y="0"/>
                </a:lnTo>
                <a:lnTo>
                  <a:pt x="49" y="1"/>
                </a:lnTo>
                <a:lnTo>
                  <a:pt x="65" y="1"/>
                </a:lnTo>
                <a:lnTo>
                  <a:pt x="82" y="2"/>
                </a:lnTo>
                <a:lnTo>
                  <a:pt x="98" y="3"/>
                </a:lnTo>
                <a:lnTo>
                  <a:pt x="114" y="4"/>
                </a:lnTo>
                <a:lnTo>
                  <a:pt x="131" y="6"/>
                </a:lnTo>
                <a:lnTo>
                  <a:pt x="147" y="7"/>
                </a:lnTo>
                <a:lnTo>
                  <a:pt x="164" y="8"/>
                </a:lnTo>
                <a:lnTo>
                  <a:pt x="180" y="10"/>
                </a:lnTo>
                <a:lnTo>
                  <a:pt x="196" y="11"/>
                </a:lnTo>
                <a:lnTo>
                  <a:pt x="213" y="12"/>
                </a:lnTo>
                <a:lnTo>
                  <a:pt x="229" y="14"/>
                </a:lnTo>
                <a:lnTo>
                  <a:pt x="246" y="15"/>
                </a:lnTo>
                <a:lnTo>
                  <a:pt x="262" y="17"/>
                </a:lnTo>
                <a:lnTo>
                  <a:pt x="278" y="18"/>
                </a:lnTo>
                <a:lnTo>
                  <a:pt x="295" y="19"/>
                </a:lnTo>
                <a:lnTo>
                  <a:pt x="311" y="20"/>
                </a:lnTo>
                <a:lnTo>
                  <a:pt x="327" y="21"/>
                </a:lnTo>
                <a:lnTo>
                  <a:pt x="344" y="21"/>
                </a:lnTo>
                <a:lnTo>
                  <a:pt x="360" y="22"/>
                </a:lnTo>
                <a:lnTo>
                  <a:pt x="377" y="22"/>
                </a:lnTo>
                <a:lnTo>
                  <a:pt x="393" y="22"/>
                </a:lnTo>
                <a:lnTo>
                  <a:pt x="393" y="28"/>
                </a:lnTo>
                <a:lnTo>
                  <a:pt x="377" y="28"/>
                </a:lnTo>
                <a:lnTo>
                  <a:pt x="360" y="28"/>
                </a:lnTo>
                <a:lnTo>
                  <a:pt x="344" y="27"/>
                </a:lnTo>
                <a:lnTo>
                  <a:pt x="327" y="26"/>
                </a:lnTo>
                <a:lnTo>
                  <a:pt x="311" y="25"/>
                </a:lnTo>
                <a:lnTo>
                  <a:pt x="295" y="24"/>
                </a:lnTo>
                <a:lnTo>
                  <a:pt x="278" y="23"/>
                </a:lnTo>
                <a:lnTo>
                  <a:pt x="262" y="22"/>
                </a:lnTo>
                <a:lnTo>
                  <a:pt x="246" y="21"/>
                </a:lnTo>
                <a:lnTo>
                  <a:pt x="229" y="19"/>
                </a:lnTo>
                <a:lnTo>
                  <a:pt x="213" y="18"/>
                </a:lnTo>
                <a:lnTo>
                  <a:pt x="196" y="17"/>
                </a:lnTo>
                <a:lnTo>
                  <a:pt x="180" y="15"/>
                </a:lnTo>
                <a:lnTo>
                  <a:pt x="164" y="14"/>
                </a:lnTo>
                <a:lnTo>
                  <a:pt x="147" y="12"/>
                </a:lnTo>
                <a:lnTo>
                  <a:pt x="131" y="11"/>
                </a:lnTo>
                <a:lnTo>
                  <a:pt x="114" y="10"/>
                </a:lnTo>
                <a:lnTo>
                  <a:pt x="98" y="9"/>
                </a:lnTo>
                <a:lnTo>
                  <a:pt x="82" y="8"/>
                </a:lnTo>
                <a:lnTo>
                  <a:pt x="65" y="7"/>
                </a:lnTo>
                <a:lnTo>
                  <a:pt x="49" y="6"/>
                </a:lnTo>
                <a:lnTo>
                  <a:pt x="33" y="6"/>
                </a:lnTo>
                <a:lnTo>
                  <a:pt x="16" y="5"/>
                </a:lnTo>
                <a:lnTo>
                  <a:pt x="0" y="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2057400" y="4810125"/>
            <a:ext cx="3743325" cy="619125"/>
          </a:xfrm>
          <a:custGeom>
            <a:avLst/>
            <a:gdLst/>
            <a:ahLst/>
            <a:cxnLst/>
            <a:rect l="l" t="t" r="r" b="b"/>
            <a:pathLst>
              <a:path w="393" h="65">
                <a:moveTo>
                  <a:pt x="0" y="0"/>
                </a:moveTo>
                <a:lnTo>
                  <a:pt x="16" y="0"/>
                </a:lnTo>
                <a:lnTo>
                  <a:pt x="33" y="1"/>
                </a:lnTo>
                <a:lnTo>
                  <a:pt x="49" y="3"/>
                </a:lnTo>
                <a:lnTo>
                  <a:pt x="65" y="5"/>
                </a:lnTo>
                <a:lnTo>
                  <a:pt x="82" y="7"/>
                </a:lnTo>
                <a:lnTo>
                  <a:pt x="98" y="9"/>
                </a:lnTo>
                <a:lnTo>
                  <a:pt x="114" y="12"/>
                </a:lnTo>
                <a:lnTo>
                  <a:pt x="131" y="16"/>
                </a:lnTo>
                <a:lnTo>
                  <a:pt x="147" y="19"/>
                </a:lnTo>
                <a:lnTo>
                  <a:pt x="164" y="23"/>
                </a:lnTo>
                <a:lnTo>
                  <a:pt x="180" y="26"/>
                </a:lnTo>
                <a:lnTo>
                  <a:pt x="196" y="30"/>
                </a:lnTo>
                <a:lnTo>
                  <a:pt x="213" y="34"/>
                </a:lnTo>
                <a:lnTo>
                  <a:pt x="229" y="37"/>
                </a:lnTo>
                <a:lnTo>
                  <a:pt x="246" y="41"/>
                </a:lnTo>
                <a:lnTo>
                  <a:pt x="262" y="44"/>
                </a:lnTo>
                <a:lnTo>
                  <a:pt x="278" y="48"/>
                </a:lnTo>
                <a:lnTo>
                  <a:pt x="295" y="51"/>
                </a:lnTo>
                <a:lnTo>
                  <a:pt x="311" y="53"/>
                </a:lnTo>
                <a:lnTo>
                  <a:pt x="327" y="56"/>
                </a:lnTo>
                <a:lnTo>
                  <a:pt x="344" y="57"/>
                </a:lnTo>
                <a:lnTo>
                  <a:pt x="360" y="59"/>
                </a:lnTo>
                <a:lnTo>
                  <a:pt x="377" y="60"/>
                </a:lnTo>
                <a:lnTo>
                  <a:pt x="393" y="60"/>
                </a:lnTo>
                <a:lnTo>
                  <a:pt x="393" y="65"/>
                </a:lnTo>
                <a:lnTo>
                  <a:pt x="377" y="65"/>
                </a:lnTo>
                <a:lnTo>
                  <a:pt x="360" y="64"/>
                </a:lnTo>
                <a:lnTo>
                  <a:pt x="344" y="62"/>
                </a:lnTo>
                <a:lnTo>
                  <a:pt x="327" y="60"/>
                </a:lnTo>
                <a:lnTo>
                  <a:pt x="311" y="58"/>
                </a:lnTo>
                <a:lnTo>
                  <a:pt x="295" y="56"/>
                </a:lnTo>
                <a:lnTo>
                  <a:pt x="278" y="53"/>
                </a:lnTo>
                <a:lnTo>
                  <a:pt x="262" y="49"/>
                </a:lnTo>
                <a:lnTo>
                  <a:pt x="246" y="46"/>
                </a:lnTo>
                <a:lnTo>
                  <a:pt x="229" y="42"/>
                </a:lnTo>
                <a:lnTo>
                  <a:pt x="213" y="39"/>
                </a:lnTo>
                <a:lnTo>
                  <a:pt x="196" y="35"/>
                </a:lnTo>
                <a:lnTo>
                  <a:pt x="180" y="31"/>
                </a:lnTo>
                <a:lnTo>
                  <a:pt x="164" y="28"/>
                </a:lnTo>
                <a:lnTo>
                  <a:pt x="147" y="24"/>
                </a:lnTo>
                <a:lnTo>
                  <a:pt x="131" y="21"/>
                </a:lnTo>
                <a:lnTo>
                  <a:pt x="114" y="17"/>
                </a:lnTo>
                <a:lnTo>
                  <a:pt x="98" y="14"/>
                </a:lnTo>
                <a:lnTo>
                  <a:pt x="82" y="12"/>
                </a:lnTo>
                <a:lnTo>
                  <a:pt x="65" y="10"/>
                </a:lnTo>
                <a:lnTo>
                  <a:pt x="49" y="8"/>
                </a:lnTo>
                <a:lnTo>
                  <a:pt x="33" y="6"/>
                </a:lnTo>
                <a:lnTo>
                  <a:pt x="16" y="5"/>
                </a:lnTo>
                <a:lnTo>
                  <a:pt x="0" y="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2057400" y="4857750"/>
            <a:ext cx="3743325" cy="885825"/>
          </a:xfrm>
          <a:custGeom>
            <a:avLst/>
            <a:gdLst/>
            <a:ahLst/>
            <a:cxnLst/>
            <a:rect l="l" t="t" r="r" b="b"/>
            <a:pathLst>
              <a:path w="393" h="93">
                <a:moveTo>
                  <a:pt x="0" y="0"/>
                </a:moveTo>
                <a:lnTo>
                  <a:pt x="16" y="1"/>
                </a:lnTo>
                <a:lnTo>
                  <a:pt x="33" y="2"/>
                </a:lnTo>
                <a:lnTo>
                  <a:pt x="49" y="4"/>
                </a:lnTo>
                <a:lnTo>
                  <a:pt x="65" y="7"/>
                </a:lnTo>
                <a:lnTo>
                  <a:pt x="82" y="10"/>
                </a:lnTo>
                <a:lnTo>
                  <a:pt x="98" y="14"/>
                </a:lnTo>
                <a:lnTo>
                  <a:pt x="114" y="18"/>
                </a:lnTo>
                <a:lnTo>
                  <a:pt x="131" y="23"/>
                </a:lnTo>
                <a:lnTo>
                  <a:pt x="147" y="28"/>
                </a:lnTo>
                <a:lnTo>
                  <a:pt x="164" y="34"/>
                </a:lnTo>
                <a:lnTo>
                  <a:pt x="180" y="39"/>
                </a:lnTo>
                <a:lnTo>
                  <a:pt x="196" y="45"/>
                </a:lnTo>
                <a:lnTo>
                  <a:pt x="213" y="50"/>
                </a:lnTo>
                <a:lnTo>
                  <a:pt x="229" y="56"/>
                </a:lnTo>
                <a:lnTo>
                  <a:pt x="246" y="61"/>
                </a:lnTo>
                <a:lnTo>
                  <a:pt x="262" y="66"/>
                </a:lnTo>
                <a:lnTo>
                  <a:pt x="278" y="71"/>
                </a:lnTo>
                <a:lnTo>
                  <a:pt x="295" y="75"/>
                </a:lnTo>
                <a:lnTo>
                  <a:pt x="311" y="79"/>
                </a:lnTo>
                <a:lnTo>
                  <a:pt x="327" y="83"/>
                </a:lnTo>
                <a:lnTo>
                  <a:pt x="344" y="86"/>
                </a:lnTo>
                <a:lnTo>
                  <a:pt x="360" y="88"/>
                </a:lnTo>
                <a:lnTo>
                  <a:pt x="377" y="89"/>
                </a:lnTo>
                <a:lnTo>
                  <a:pt x="393" y="89"/>
                </a:lnTo>
                <a:lnTo>
                  <a:pt x="393" y="93"/>
                </a:lnTo>
                <a:lnTo>
                  <a:pt x="377" y="92"/>
                </a:lnTo>
                <a:lnTo>
                  <a:pt x="360" y="91"/>
                </a:lnTo>
                <a:lnTo>
                  <a:pt x="344" y="89"/>
                </a:lnTo>
                <a:lnTo>
                  <a:pt x="327" y="86"/>
                </a:lnTo>
                <a:lnTo>
                  <a:pt x="311" y="83"/>
                </a:lnTo>
                <a:lnTo>
                  <a:pt x="295" y="79"/>
                </a:lnTo>
                <a:lnTo>
                  <a:pt x="278" y="74"/>
                </a:lnTo>
                <a:lnTo>
                  <a:pt x="262" y="70"/>
                </a:lnTo>
                <a:lnTo>
                  <a:pt x="246" y="64"/>
                </a:lnTo>
                <a:lnTo>
                  <a:pt x="229" y="59"/>
                </a:lnTo>
                <a:lnTo>
                  <a:pt x="213" y="54"/>
                </a:lnTo>
                <a:lnTo>
                  <a:pt x="196" y="48"/>
                </a:lnTo>
                <a:lnTo>
                  <a:pt x="180" y="43"/>
                </a:lnTo>
                <a:lnTo>
                  <a:pt x="164" y="37"/>
                </a:lnTo>
                <a:lnTo>
                  <a:pt x="147" y="32"/>
                </a:lnTo>
                <a:lnTo>
                  <a:pt x="131" y="27"/>
                </a:lnTo>
                <a:lnTo>
                  <a:pt x="114" y="22"/>
                </a:lnTo>
                <a:lnTo>
                  <a:pt x="98" y="17"/>
                </a:lnTo>
                <a:lnTo>
                  <a:pt x="82" y="13"/>
                </a:lnTo>
                <a:lnTo>
                  <a:pt x="65" y="10"/>
                </a:lnTo>
                <a:lnTo>
                  <a:pt x="49" y="7"/>
                </a:lnTo>
                <a:lnTo>
                  <a:pt x="33" y="5"/>
                </a:lnTo>
                <a:lnTo>
                  <a:pt x="16" y="4"/>
                </a:lnTo>
                <a:lnTo>
                  <a:pt x="0" y="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2057400" y="4886325"/>
            <a:ext cx="3743325" cy="1085850"/>
          </a:xfrm>
          <a:custGeom>
            <a:avLst/>
            <a:gdLst/>
            <a:ahLst/>
            <a:cxnLst/>
            <a:rect l="l" t="t" r="r" b="b"/>
            <a:pathLst>
              <a:path w="393" h="114">
                <a:moveTo>
                  <a:pt x="0" y="0"/>
                </a:moveTo>
                <a:lnTo>
                  <a:pt x="16" y="1"/>
                </a:lnTo>
                <a:lnTo>
                  <a:pt x="33" y="3"/>
                </a:lnTo>
                <a:lnTo>
                  <a:pt x="49" y="5"/>
                </a:lnTo>
                <a:lnTo>
                  <a:pt x="65" y="9"/>
                </a:lnTo>
                <a:lnTo>
                  <a:pt x="82" y="13"/>
                </a:lnTo>
                <a:lnTo>
                  <a:pt x="98" y="18"/>
                </a:lnTo>
                <a:lnTo>
                  <a:pt x="114" y="23"/>
                </a:lnTo>
                <a:lnTo>
                  <a:pt x="131" y="29"/>
                </a:lnTo>
                <a:lnTo>
                  <a:pt x="147" y="36"/>
                </a:lnTo>
                <a:lnTo>
                  <a:pt x="164" y="42"/>
                </a:lnTo>
                <a:lnTo>
                  <a:pt x="180" y="49"/>
                </a:lnTo>
                <a:lnTo>
                  <a:pt x="196" y="56"/>
                </a:lnTo>
                <a:lnTo>
                  <a:pt x="213" y="63"/>
                </a:lnTo>
                <a:lnTo>
                  <a:pt x="229" y="70"/>
                </a:lnTo>
                <a:lnTo>
                  <a:pt x="246" y="77"/>
                </a:lnTo>
                <a:lnTo>
                  <a:pt x="262" y="83"/>
                </a:lnTo>
                <a:lnTo>
                  <a:pt x="278" y="89"/>
                </a:lnTo>
                <a:lnTo>
                  <a:pt x="295" y="94"/>
                </a:lnTo>
                <a:lnTo>
                  <a:pt x="311" y="99"/>
                </a:lnTo>
                <a:lnTo>
                  <a:pt x="327" y="103"/>
                </a:lnTo>
                <a:lnTo>
                  <a:pt x="344" y="107"/>
                </a:lnTo>
                <a:lnTo>
                  <a:pt x="360" y="110"/>
                </a:lnTo>
                <a:lnTo>
                  <a:pt x="377" y="111"/>
                </a:lnTo>
                <a:lnTo>
                  <a:pt x="393" y="112"/>
                </a:lnTo>
                <a:lnTo>
                  <a:pt x="393" y="114"/>
                </a:lnTo>
                <a:lnTo>
                  <a:pt x="377" y="113"/>
                </a:lnTo>
                <a:lnTo>
                  <a:pt x="360" y="112"/>
                </a:lnTo>
                <a:lnTo>
                  <a:pt x="344" y="109"/>
                </a:lnTo>
                <a:lnTo>
                  <a:pt x="327" y="106"/>
                </a:lnTo>
                <a:lnTo>
                  <a:pt x="311" y="102"/>
                </a:lnTo>
                <a:lnTo>
                  <a:pt x="295" y="97"/>
                </a:lnTo>
                <a:lnTo>
                  <a:pt x="278" y="91"/>
                </a:lnTo>
                <a:lnTo>
                  <a:pt x="262" y="85"/>
                </a:lnTo>
                <a:lnTo>
                  <a:pt x="246" y="79"/>
                </a:lnTo>
                <a:lnTo>
                  <a:pt x="229" y="72"/>
                </a:lnTo>
                <a:lnTo>
                  <a:pt x="213" y="65"/>
                </a:lnTo>
                <a:lnTo>
                  <a:pt x="196" y="58"/>
                </a:lnTo>
                <a:lnTo>
                  <a:pt x="180" y="51"/>
                </a:lnTo>
                <a:lnTo>
                  <a:pt x="164" y="45"/>
                </a:lnTo>
                <a:lnTo>
                  <a:pt x="147" y="38"/>
                </a:lnTo>
                <a:lnTo>
                  <a:pt x="131" y="32"/>
                </a:lnTo>
                <a:lnTo>
                  <a:pt x="114" y="26"/>
                </a:lnTo>
                <a:lnTo>
                  <a:pt x="98" y="20"/>
                </a:lnTo>
                <a:lnTo>
                  <a:pt x="82" y="15"/>
                </a:lnTo>
                <a:lnTo>
                  <a:pt x="65" y="11"/>
                </a:lnTo>
                <a:lnTo>
                  <a:pt x="49" y="8"/>
                </a:lnTo>
                <a:lnTo>
                  <a:pt x="33" y="5"/>
                </a:lnTo>
                <a:lnTo>
                  <a:pt x="16" y="3"/>
                </a:lnTo>
                <a:lnTo>
                  <a:pt x="0" y="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2057400" y="4914900"/>
            <a:ext cx="3743325" cy="1257300"/>
          </a:xfrm>
          <a:custGeom>
            <a:avLst/>
            <a:gdLst/>
            <a:ahLst/>
            <a:cxnLst/>
            <a:rect l="l" t="t" r="r" b="b"/>
            <a:pathLst>
              <a:path w="393" h="132">
                <a:moveTo>
                  <a:pt x="0" y="0"/>
                </a:moveTo>
                <a:lnTo>
                  <a:pt x="16" y="0"/>
                </a:lnTo>
                <a:lnTo>
                  <a:pt x="33" y="2"/>
                </a:lnTo>
                <a:lnTo>
                  <a:pt x="49" y="5"/>
                </a:lnTo>
                <a:lnTo>
                  <a:pt x="65" y="9"/>
                </a:lnTo>
                <a:lnTo>
                  <a:pt x="82" y="14"/>
                </a:lnTo>
                <a:lnTo>
                  <a:pt x="98" y="20"/>
                </a:lnTo>
                <a:lnTo>
                  <a:pt x="114" y="27"/>
                </a:lnTo>
                <a:lnTo>
                  <a:pt x="131" y="34"/>
                </a:lnTo>
                <a:lnTo>
                  <a:pt x="147" y="41"/>
                </a:lnTo>
                <a:lnTo>
                  <a:pt x="164" y="49"/>
                </a:lnTo>
                <a:lnTo>
                  <a:pt x="180" y="57"/>
                </a:lnTo>
                <a:lnTo>
                  <a:pt x="196" y="65"/>
                </a:lnTo>
                <a:lnTo>
                  <a:pt x="213" y="73"/>
                </a:lnTo>
                <a:lnTo>
                  <a:pt x="229" y="81"/>
                </a:lnTo>
                <a:lnTo>
                  <a:pt x="246" y="89"/>
                </a:lnTo>
                <a:lnTo>
                  <a:pt x="262" y="96"/>
                </a:lnTo>
                <a:lnTo>
                  <a:pt x="278" y="103"/>
                </a:lnTo>
                <a:lnTo>
                  <a:pt x="295" y="110"/>
                </a:lnTo>
                <a:lnTo>
                  <a:pt x="311" y="115"/>
                </a:lnTo>
                <a:lnTo>
                  <a:pt x="327" y="120"/>
                </a:lnTo>
                <a:lnTo>
                  <a:pt x="344" y="124"/>
                </a:lnTo>
                <a:lnTo>
                  <a:pt x="360" y="127"/>
                </a:lnTo>
                <a:lnTo>
                  <a:pt x="377" y="129"/>
                </a:lnTo>
                <a:lnTo>
                  <a:pt x="393" y="130"/>
                </a:lnTo>
                <a:lnTo>
                  <a:pt x="393" y="132"/>
                </a:lnTo>
                <a:lnTo>
                  <a:pt x="377" y="131"/>
                </a:lnTo>
                <a:lnTo>
                  <a:pt x="360" y="129"/>
                </a:lnTo>
                <a:lnTo>
                  <a:pt x="344" y="126"/>
                </a:lnTo>
                <a:lnTo>
                  <a:pt x="327" y="122"/>
                </a:lnTo>
                <a:lnTo>
                  <a:pt x="311" y="117"/>
                </a:lnTo>
                <a:lnTo>
                  <a:pt x="295" y="112"/>
                </a:lnTo>
                <a:lnTo>
                  <a:pt x="278" y="105"/>
                </a:lnTo>
                <a:lnTo>
                  <a:pt x="262" y="98"/>
                </a:lnTo>
                <a:lnTo>
                  <a:pt x="246" y="91"/>
                </a:lnTo>
                <a:lnTo>
                  <a:pt x="229" y="83"/>
                </a:lnTo>
                <a:lnTo>
                  <a:pt x="213" y="75"/>
                </a:lnTo>
                <a:lnTo>
                  <a:pt x="196" y="67"/>
                </a:lnTo>
                <a:lnTo>
                  <a:pt x="180" y="59"/>
                </a:lnTo>
                <a:lnTo>
                  <a:pt x="164" y="51"/>
                </a:lnTo>
                <a:lnTo>
                  <a:pt x="147" y="43"/>
                </a:lnTo>
                <a:lnTo>
                  <a:pt x="131" y="36"/>
                </a:lnTo>
                <a:lnTo>
                  <a:pt x="114" y="29"/>
                </a:lnTo>
                <a:lnTo>
                  <a:pt x="98" y="22"/>
                </a:lnTo>
                <a:lnTo>
                  <a:pt x="82" y="16"/>
                </a:lnTo>
                <a:lnTo>
                  <a:pt x="65" y="11"/>
                </a:lnTo>
                <a:lnTo>
                  <a:pt x="49" y="7"/>
                </a:lnTo>
                <a:lnTo>
                  <a:pt x="33" y="4"/>
                </a:lnTo>
                <a:lnTo>
                  <a:pt x="16" y="3"/>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2057400" y="4933950"/>
            <a:ext cx="3743325" cy="1419225"/>
          </a:xfrm>
          <a:custGeom>
            <a:avLst/>
            <a:gdLst/>
            <a:ahLst/>
            <a:cxnLst/>
            <a:rect l="l" t="t" r="r" b="b"/>
            <a:pathLst>
              <a:path w="393" h="149">
                <a:moveTo>
                  <a:pt x="0" y="0"/>
                </a:moveTo>
                <a:lnTo>
                  <a:pt x="16" y="1"/>
                </a:lnTo>
                <a:lnTo>
                  <a:pt x="33" y="3"/>
                </a:lnTo>
                <a:lnTo>
                  <a:pt x="49" y="6"/>
                </a:lnTo>
                <a:lnTo>
                  <a:pt x="65" y="11"/>
                </a:lnTo>
                <a:lnTo>
                  <a:pt x="82" y="16"/>
                </a:lnTo>
                <a:lnTo>
                  <a:pt x="98" y="23"/>
                </a:lnTo>
                <a:lnTo>
                  <a:pt x="114" y="30"/>
                </a:lnTo>
                <a:lnTo>
                  <a:pt x="131" y="38"/>
                </a:lnTo>
                <a:lnTo>
                  <a:pt x="147" y="47"/>
                </a:lnTo>
                <a:lnTo>
                  <a:pt x="164" y="55"/>
                </a:lnTo>
                <a:lnTo>
                  <a:pt x="180" y="64"/>
                </a:lnTo>
                <a:lnTo>
                  <a:pt x="196" y="74"/>
                </a:lnTo>
                <a:lnTo>
                  <a:pt x="213" y="83"/>
                </a:lnTo>
                <a:lnTo>
                  <a:pt x="229" y="92"/>
                </a:lnTo>
                <a:lnTo>
                  <a:pt x="246" y="101"/>
                </a:lnTo>
                <a:lnTo>
                  <a:pt x="262" y="109"/>
                </a:lnTo>
                <a:lnTo>
                  <a:pt x="278" y="117"/>
                </a:lnTo>
                <a:lnTo>
                  <a:pt x="295" y="124"/>
                </a:lnTo>
                <a:lnTo>
                  <a:pt x="311" y="131"/>
                </a:lnTo>
                <a:lnTo>
                  <a:pt x="327" y="136"/>
                </a:lnTo>
                <a:lnTo>
                  <a:pt x="344" y="141"/>
                </a:lnTo>
                <a:lnTo>
                  <a:pt x="360" y="144"/>
                </a:lnTo>
                <a:lnTo>
                  <a:pt x="377" y="147"/>
                </a:lnTo>
                <a:lnTo>
                  <a:pt x="393" y="147"/>
                </a:lnTo>
                <a:lnTo>
                  <a:pt x="393" y="149"/>
                </a:lnTo>
                <a:lnTo>
                  <a:pt x="377" y="148"/>
                </a:lnTo>
                <a:lnTo>
                  <a:pt x="360" y="146"/>
                </a:lnTo>
                <a:lnTo>
                  <a:pt x="344" y="143"/>
                </a:lnTo>
                <a:lnTo>
                  <a:pt x="327" y="138"/>
                </a:lnTo>
                <a:lnTo>
                  <a:pt x="311" y="133"/>
                </a:lnTo>
                <a:lnTo>
                  <a:pt x="295" y="126"/>
                </a:lnTo>
                <a:lnTo>
                  <a:pt x="278" y="119"/>
                </a:lnTo>
                <a:lnTo>
                  <a:pt x="262" y="111"/>
                </a:lnTo>
                <a:lnTo>
                  <a:pt x="246" y="102"/>
                </a:lnTo>
                <a:lnTo>
                  <a:pt x="229" y="94"/>
                </a:lnTo>
                <a:lnTo>
                  <a:pt x="213" y="85"/>
                </a:lnTo>
                <a:lnTo>
                  <a:pt x="196" y="75"/>
                </a:lnTo>
                <a:lnTo>
                  <a:pt x="180" y="66"/>
                </a:lnTo>
                <a:lnTo>
                  <a:pt x="164" y="57"/>
                </a:lnTo>
                <a:lnTo>
                  <a:pt x="147" y="48"/>
                </a:lnTo>
                <a:lnTo>
                  <a:pt x="131" y="40"/>
                </a:lnTo>
                <a:lnTo>
                  <a:pt x="114" y="32"/>
                </a:lnTo>
                <a:lnTo>
                  <a:pt x="98" y="25"/>
                </a:lnTo>
                <a:lnTo>
                  <a:pt x="82" y="18"/>
                </a:lnTo>
                <a:lnTo>
                  <a:pt x="65" y="13"/>
                </a:lnTo>
                <a:lnTo>
                  <a:pt x="49" y="8"/>
                </a:lnTo>
                <a:lnTo>
                  <a:pt x="33" y="5"/>
                </a:lnTo>
                <a:lnTo>
                  <a:pt x="16" y="2"/>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057400" y="4953000"/>
            <a:ext cx="3743325" cy="1552575"/>
          </a:xfrm>
          <a:custGeom>
            <a:avLst/>
            <a:gdLst/>
            <a:ahLst/>
            <a:cxnLst/>
            <a:rect l="l" t="t" r="r" b="b"/>
            <a:pathLst>
              <a:path w="393" h="163">
                <a:moveTo>
                  <a:pt x="0" y="0"/>
                </a:moveTo>
                <a:lnTo>
                  <a:pt x="16" y="1"/>
                </a:lnTo>
                <a:lnTo>
                  <a:pt x="33" y="3"/>
                </a:lnTo>
                <a:lnTo>
                  <a:pt x="49" y="7"/>
                </a:lnTo>
                <a:lnTo>
                  <a:pt x="65" y="12"/>
                </a:lnTo>
                <a:lnTo>
                  <a:pt x="82" y="18"/>
                </a:lnTo>
                <a:lnTo>
                  <a:pt x="98" y="25"/>
                </a:lnTo>
                <a:lnTo>
                  <a:pt x="114" y="33"/>
                </a:lnTo>
                <a:lnTo>
                  <a:pt x="131" y="42"/>
                </a:lnTo>
                <a:lnTo>
                  <a:pt x="147" y="51"/>
                </a:lnTo>
                <a:lnTo>
                  <a:pt x="164" y="61"/>
                </a:lnTo>
                <a:lnTo>
                  <a:pt x="180" y="71"/>
                </a:lnTo>
                <a:lnTo>
                  <a:pt x="196" y="81"/>
                </a:lnTo>
                <a:lnTo>
                  <a:pt x="213" y="91"/>
                </a:lnTo>
                <a:lnTo>
                  <a:pt x="229" y="101"/>
                </a:lnTo>
                <a:lnTo>
                  <a:pt x="246" y="111"/>
                </a:lnTo>
                <a:lnTo>
                  <a:pt x="262" y="120"/>
                </a:lnTo>
                <a:lnTo>
                  <a:pt x="278" y="129"/>
                </a:lnTo>
                <a:lnTo>
                  <a:pt x="295" y="137"/>
                </a:lnTo>
                <a:lnTo>
                  <a:pt x="311" y="144"/>
                </a:lnTo>
                <a:lnTo>
                  <a:pt x="327" y="150"/>
                </a:lnTo>
                <a:lnTo>
                  <a:pt x="344" y="155"/>
                </a:lnTo>
                <a:lnTo>
                  <a:pt x="360" y="159"/>
                </a:lnTo>
                <a:lnTo>
                  <a:pt x="377" y="161"/>
                </a:lnTo>
                <a:lnTo>
                  <a:pt x="393" y="162"/>
                </a:lnTo>
                <a:lnTo>
                  <a:pt x="393" y="163"/>
                </a:lnTo>
                <a:lnTo>
                  <a:pt x="377" y="163"/>
                </a:lnTo>
                <a:lnTo>
                  <a:pt x="360" y="160"/>
                </a:lnTo>
                <a:lnTo>
                  <a:pt x="344" y="156"/>
                </a:lnTo>
                <a:lnTo>
                  <a:pt x="327" y="151"/>
                </a:lnTo>
                <a:lnTo>
                  <a:pt x="311" y="145"/>
                </a:lnTo>
                <a:lnTo>
                  <a:pt x="295" y="138"/>
                </a:lnTo>
                <a:lnTo>
                  <a:pt x="278" y="130"/>
                </a:lnTo>
                <a:lnTo>
                  <a:pt x="262" y="121"/>
                </a:lnTo>
                <a:lnTo>
                  <a:pt x="246" y="112"/>
                </a:lnTo>
                <a:lnTo>
                  <a:pt x="229" y="102"/>
                </a:lnTo>
                <a:lnTo>
                  <a:pt x="213" y="92"/>
                </a:lnTo>
                <a:lnTo>
                  <a:pt x="196" y="82"/>
                </a:lnTo>
                <a:lnTo>
                  <a:pt x="180" y="72"/>
                </a:lnTo>
                <a:lnTo>
                  <a:pt x="164" y="62"/>
                </a:lnTo>
                <a:lnTo>
                  <a:pt x="147" y="52"/>
                </a:lnTo>
                <a:lnTo>
                  <a:pt x="131" y="43"/>
                </a:lnTo>
                <a:lnTo>
                  <a:pt x="114" y="34"/>
                </a:lnTo>
                <a:lnTo>
                  <a:pt x="98" y="26"/>
                </a:lnTo>
                <a:lnTo>
                  <a:pt x="82" y="19"/>
                </a:lnTo>
                <a:lnTo>
                  <a:pt x="65" y="13"/>
                </a:lnTo>
                <a:lnTo>
                  <a:pt x="49" y="8"/>
                </a:lnTo>
                <a:lnTo>
                  <a:pt x="33" y="4"/>
                </a:lnTo>
                <a:lnTo>
                  <a:pt x="16" y="2"/>
                </a:lnTo>
                <a:lnTo>
                  <a:pt x="0" y="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2057400" y="1933575"/>
            <a:ext cx="3743325" cy="3209925"/>
          </a:xfrm>
          <a:custGeom>
            <a:avLst/>
            <a:gdLst/>
            <a:ahLst/>
            <a:cxnLst/>
            <a:rect l="l" t="t" r="r" b="b"/>
            <a:pathLst>
              <a:path w="393" h="337">
                <a:moveTo>
                  <a:pt x="0" y="324"/>
                </a:moveTo>
                <a:lnTo>
                  <a:pt x="16" y="322"/>
                </a:lnTo>
                <a:lnTo>
                  <a:pt x="33" y="318"/>
                </a:lnTo>
                <a:lnTo>
                  <a:pt x="49" y="310"/>
                </a:lnTo>
                <a:lnTo>
                  <a:pt x="65" y="300"/>
                </a:lnTo>
                <a:lnTo>
                  <a:pt x="82" y="288"/>
                </a:lnTo>
                <a:lnTo>
                  <a:pt x="98" y="273"/>
                </a:lnTo>
                <a:lnTo>
                  <a:pt x="114" y="257"/>
                </a:lnTo>
                <a:lnTo>
                  <a:pt x="131" y="240"/>
                </a:lnTo>
                <a:lnTo>
                  <a:pt x="147" y="222"/>
                </a:lnTo>
                <a:lnTo>
                  <a:pt x="164" y="202"/>
                </a:lnTo>
                <a:lnTo>
                  <a:pt x="180" y="182"/>
                </a:lnTo>
                <a:lnTo>
                  <a:pt x="196" y="162"/>
                </a:lnTo>
                <a:lnTo>
                  <a:pt x="213" y="142"/>
                </a:lnTo>
                <a:lnTo>
                  <a:pt x="229" y="122"/>
                </a:lnTo>
                <a:lnTo>
                  <a:pt x="246" y="103"/>
                </a:lnTo>
                <a:lnTo>
                  <a:pt x="262" y="84"/>
                </a:lnTo>
                <a:lnTo>
                  <a:pt x="278" y="67"/>
                </a:lnTo>
                <a:lnTo>
                  <a:pt x="295" y="51"/>
                </a:lnTo>
                <a:lnTo>
                  <a:pt x="311" y="37"/>
                </a:lnTo>
                <a:lnTo>
                  <a:pt x="327" y="24"/>
                </a:lnTo>
                <a:lnTo>
                  <a:pt x="344" y="14"/>
                </a:lnTo>
                <a:lnTo>
                  <a:pt x="360" y="7"/>
                </a:lnTo>
                <a:lnTo>
                  <a:pt x="377" y="2"/>
                </a:lnTo>
                <a:lnTo>
                  <a:pt x="393" y="0"/>
                </a:lnTo>
                <a:lnTo>
                  <a:pt x="393" y="14"/>
                </a:lnTo>
                <a:lnTo>
                  <a:pt x="377" y="15"/>
                </a:lnTo>
                <a:lnTo>
                  <a:pt x="360" y="20"/>
                </a:lnTo>
                <a:lnTo>
                  <a:pt x="344" y="28"/>
                </a:lnTo>
                <a:lnTo>
                  <a:pt x="327" y="38"/>
                </a:lnTo>
                <a:lnTo>
                  <a:pt x="311" y="50"/>
                </a:lnTo>
                <a:lnTo>
                  <a:pt x="295" y="64"/>
                </a:lnTo>
                <a:lnTo>
                  <a:pt x="278" y="80"/>
                </a:lnTo>
                <a:lnTo>
                  <a:pt x="262" y="98"/>
                </a:lnTo>
                <a:lnTo>
                  <a:pt x="246" y="116"/>
                </a:lnTo>
                <a:lnTo>
                  <a:pt x="229" y="135"/>
                </a:lnTo>
                <a:lnTo>
                  <a:pt x="213" y="155"/>
                </a:lnTo>
                <a:lnTo>
                  <a:pt x="196" y="175"/>
                </a:lnTo>
                <a:lnTo>
                  <a:pt x="180" y="196"/>
                </a:lnTo>
                <a:lnTo>
                  <a:pt x="164" y="216"/>
                </a:lnTo>
                <a:lnTo>
                  <a:pt x="147" y="235"/>
                </a:lnTo>
                <a:lnTo>
                  <a:pt x="131" y="253"/>
                </a:lnTo>
                <a:lnTo>
                  <a:pt x="114" y="271"/>
                </a:lnTo>
                <a:lnTo>
                  <a:pt x="98" y="287"/>
                </a:lnTo>
                <a:lnTo>
                  <a:pt x="82" y="301"/>
                </a:lnTo>
                <a:lnTo>
                  <a:pt x="65" y="313"/>
                </a:lnTo>
                <a:lnTo>
                  <a:pt x="49" y="323"/>
                </a:lnTo>
                <a:lnTo>
                  <a:pt x="33" y="331"/>
                </a:lnTo>
                <a:lnTo>
                  <a:pt x="16" y="336"/>
                </a:lnTo>
                <a:lnTo>
                  <a:pt x="0" y="33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2057400" y="2809875"/>
            <a:ext cx="3743325" cy="2447925"/>
          </a:xfrm>
          <a:custGeom>
            <a:avLst/>
            <a:gdLst/>
            <a:ahLst/>
            <a:cxnLst/>
            <a:rect l="l" t="t" r="r" b="b"/>
            <a:pathLst>
              <a:path w="393" h="257">
                <a:moveTo>
                  <a:pt x="0" y="245"/>
                </a:moveTo>
                <a:lnTo>
                  <a:pt x="16" y="244"/>
                </a:lnTo>
                <a:lnTo>
                  <a:pt x="33" y="240"/>
                </a:lnTo>
                <a:lnTo>
                  <a:pt x="49" y="235"/>
                </a:lnTo>
                <a:lnTo>
                  <a:pt x="65" y="227"/>
                </a:lnTo>
                <a:lnTo>
                  <a:pt x="82" y="218"/>
                </a:lnTo>
                <a:lnTo>
                  <a:pt x="98" y="207"/>
                </a:lnTo>
                <a:lnTo>
                  <a:pt x="114" y="195"/>
                </a:lnTo>
                <a:lnTo>
                  <a:pt x="131" y="182"/>
                </a:lnTo>
                <a:lnTo>
                  <a:pt x="147" y="168"/>
                </a:lnTo>
                <a:lnTo>
                  <a:pt x="164" y="153"/>
                </a:lnTo>
                <a:lnTo>
                  <a:pt x="180" y="138"/>
                </a:lnTo>
                <a:lnTo>
                  <a:pt x="196" y="123"/>
                </a:lnTo>
                <a:lnTo>
                  <a:pt x="213" y="108"/>
                </a:lnTo>
                <a:lnTo>
                  <a:pt x="229" y="92"/>
                </a:lnTo>
                <a:lnTo>
                  <a:pt x="246" y="78"/>
                </a:lnTo>
                <a:lnTo>
                  <a:pt x="262" y="64"/>
                </a:lnTo>
                <a:lnTo>
                  <a:pt x="278" y="51"/>
                </a:lnTo>
                <a:lnTo>
                  <a:pt x="295" y="39"/>
                </a:lnTo>
                <a:lnTo>
                  <a:pt x="311" y="28"/>
                </a:lnTo>
                <a:lnTo>
                  <a:pt x="327" y="18"/>
                </a:lnTo>
                <a:lnTo>
                  <a:pt x="344" y="11"/>
                </a:lnTo>
                <a:lnTo>
                  <a:pt x="360" y="5"/>
                </a:lnTo>
                <a:lnTo>
                  <a:pt x="377" y="2"/>
                </a:lnTo>
                <a:lnTo>
                  <a:pt x="393" y="0"/>
                </a:lnTo>
                <a:lnTo>
                  <a:pt x="393" y="12"/>
                </a:lnTo>
                <a:lnTo>
                  <a:pt x="377" y="13"/>
                </a:lnTo>
                <a:lnTo>
                  <a:pt x="360" y="17"/>
                </a:lnTo>
                <a:lnTo>
                  <a:pt x="344" y="23"/>
                </a:lnTo>
                <a:lnTo>
                  <a:pt x="327" y="30"/>
                </a:lnTo>
                <a:lnTo>
                  <a:pt x="311" y="40"/>
                </a:lnTo>
                <a:lnTo>
                  <a:pt x="295" y="50"/>
                </a:lnTo>
                <a:lnTo>
                  <a:pt x="278" y="63"/>
                </a:lnTo>
                <a:lnTo>
                  <a:pt x="262" y="76"/>
                </a:lnTo>
                <a:lnTo>
                  <a:pt x="246" y="90"/>
                </a:lnTo>
                <a:lnTo>
                  <a:pt x="229" y="104"/>
                </a:lnTo>
                <a:lnTo>
                  <a:pt x="213" y="119"/>
                </a:lnTo>
                <a:lnTo>
                  <a:pt x="196" y="135"/>
                </a:lnTo>
                <a:lnTo>
                  <a:pt x="180" y="150"/>
                </a:lnTo>
                <a:lnTo>
                  <a:pt x="164" y="165"/>
                </a:lnTo>
                <a:lnTo>
                  <a:pt x="147" y="180"/>
                </a:lnTo>
                <a:lnTo>
                  <a:pt x="131" y="194"/>
                </a:lnTo>
                <a:lnTo>
                  <a:pt x="114" y="207"/>
                </a:lnTo>
                <a:lnTo>
                  <a:pt x="98" y="219"/>
                </a:lnTo>
                <a:lnTo>
                  <a:pt x="82" y="230"/>
                </a:lnTo>
                <a:lnTo>
                  <a:pt x="65" y="239"/>
                </a:lnTo>
                <a:lnTo>
                  <a:pt x="49" y="247"/>
                </a:lnTo>
                <a:lnTo>
                  <a:pt x="33" y="252"/>
                </a:lnTo>
                <a:lnTo>
                  <a:pt x="16" y="256"/>
                </a:lnTo>
                <a:lnTo>
                  <a:pt x="0" y="25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057400" y="3476625"/>
            <a:ext cx="3743325" cy="1857375"/>
          </a:xfrm>
          <a:custGeom>
            <a:avLst/>
            <a:gdLst/>
            <a:ahLst/>
            <a:cxnLst/>
            <a:rect l="l" t="t" r="r" b="b"/>
            <a:pathLst>
              <a:path w="393" h="195">
                <a:moveTo>
                  <a:pt x="0" y="187"/>
                </a:moveTo>
                <a:lnTo>
                  <a:pt x="16" y="186"/>
                </a:lnTo>
                <a:lnTo>
                  <a:pt x="33" y="183"/>
                </a:lnTo>
                <a:lnTo>
                  <a:pt x="49" y="179"/>
                </a:lnTo>
                <a:lnTo>
                  <a:pt x="65" y="173"/>
                </a:lnTo>
                <a:lnTo>
                  <a:pt x="82" y="166"/>
                </a:lnTo>
                <a:lnTo>
                  <a:pt x="98" y="158"/>
                </a:lnTo>
                <a:lnTo>
                  <a:pt x="114" y="149"/>
                </a:lnTo>
                <a:lnTo>
                  <a:pt x="131" y="139"/>
                </a:lnTo>
                <a:lnTo>
                  <a:pt x="147" y="128"/>
                </a:lnTo>
                <a:lnTo>
                  <a:pt x="164" y="117"/>
                </a:lnTo>
                <a:lnTo>
                  <a:pt x="180" y="105"/>
                </a:lnTo>
                <a:lnTo>
                  <a:pt x="196" y="94"/>
                </a:lnTo>
                <a:lnTo>
                  <a:pt x="213" y="82"/>
                </a:lnTo>
                <a:lnTo>
                  <a:pt x="229" y="71"/>
                </a:lnTo>
                <a:lnTo>
                  <a:pt x="246" y="59"/>
                </a:lnTo>
                <a:lnTo>
                  <a:pt x="262" y="49"/>
                </a:lnTo>
                <a:lnTo>
                  <a:pt x="278" y="39"/>
                </a:lnTo>
                <a:lnTo>
                  <a:pt x="295" y="30"/>
                </a:lnTo>
                <a:lnTo>
                  <a:pt x="311" y="21"/>
                </a:lnTo>
                <a:lnTo>
                  <a:pt x="327" y="14"/>
                </a:lnTo>
                <a:lnTo>
                  <a:pt x="344" y="8"/>
                </a:lnTo>
                <a:lnTo>
                  <a:pt x="360" y="4"/>
                </a:lnTo>
                <a:lnTo>
                  <a:pt x="377" y="1"/>
                </a:lnTo>
                <a:lnTo>
                  <a:pt x="393" y="0"/>
                </a:lnTo>
                <a:lnTo>
                  <a:pt x="393" y="8"/>
                </a:lnTo>
                <a:lnTo>
                  <a:pt x="377" y="9"/>
                </a:lnTo>
                <a:lnTo>
                  <a:pt x="360" y="12"/>
                </a:lnTo>
                <a:lnTo>
                  <a:pt x="344" y="16"/>
                </a:lnTo>
                <a:lnTo>
                  <a:pt x="327" y="22"/>
                </a:lnTo>
                <a:lnTo>
                  <a:pt x="311" y="29"/>
                </a:lnTo>
                <a:lnTo>
                  <a:pt x="295" y="38"/>
                </a:lnTo>
                <a:lnTo>
                  <a:pt x="278" y="47"/>
                </a:lnTo>
                <a:lnTo>
                  <a:pt x="262" y="57"/>
                </a:lnTo>
                <a:lnTo>
                  <a:pt x="246" y="68"/>
                </a:lnTo>
                <a:lnTo>
                  <a:pt x="229" y="79"/>
                </a:lnTo>
                <a:lnTo>
                  <a:pt x="213" y="90"/>
                </a:lnTo>
                <a:lnTo>
                  <a:pt x="196" y="102"/>
                </a:lnTo>
                <a:lnTo>
                  <a:pt x="180" y="113"/>
                </a:lnTo>
                <a:lnTo>
                  <a:pt x="164" y="125"/>
                </a:lnTo>
                <a:lnTo>
                  <a:pt x="147" y="136"/>
                </a:lnTo>
                <a:lnTo>
                  <a:pt x="131" y="147"/>
                </a:lnTo>
                <a:lnTo>
                  <a:pt x="114" y="157"/>
                </a:lnTo>
                <a:lnTo>
                  <a:pt x="98" y="166"/>
                </a:lnTo>
                <a:lnTo>
                  <a:pt x="82" y="174"/>
                </a:lnTo>
                <a:lnTo>
                  <a:pt x="65" y="181"/>
                </a:lnTo>
                <a:lnTo>
                  <a:pt x="49" y="187"/>
                </a:lnTo>
                <a:lnTo>
                  <a:pt x="33" y="192"/>
                </a:lnTo>
                <a:lnTo>
                  <a:pt x="16" y="194"/>
                </a:lnTo>
                <a:lnTo>
                  <a:pt x="0" y="19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2057400" y="4057650"/>
            <a:ext cx="3743325" cy="1352550"/>
          </a:xfrm>
          <a:custGeom>
            <a:avLst/>
            <a:gdLst/>
            <a:ahLst/>
            <a:cxnLst/>
            <a:rect l="l" t="t" r="r" b="b"/>
            <a:pathLst>
              <a:path w="393" h="142">
                <a:moveTo>
                  <a:pt x="0" y="134"/>
                </a:moveTo>
                <a:lnTo>
                  <a:pt x="16" y="134"/>
                </a:lnTo>
                <a:lnTo>
                  <a:pt x="33" y="132"/>
                </a:lnTo>
                <a:lnTo>
                  <a:pt x="49" y="128"/>
                </a:lnTo>
                <a:lnTo>
                  <a:pt x="65" y="124"/>
                </a:lnTo>
                <a:lnTo>
                  <a:pt x="82" y="119"/>
                </a:lnTo>
                <a:lnTo>
                  <a:pt x="98" y="113"/>
                </a:lnTo>
                <a:lnTo>
                  <a:pt x="114" y="107"/>
                </a:lnTo>
                <a:lnTo>
                  <a:pt x="131" y="99"/>
                </a:lnTo>
                <a:lnTo>
                  <a:pt x="147" y="92"/>
                </a:lnTo>
                <a:lnTo>
                  <a:pt x="164" y="84"/>
                </a:lnTo>
                <a:lnTo>
                  <a:pt x="180" y="76"/>
                </a:lnTo>
                <a:lnTo>
                  <a:pt x="196" y="67"/>
                </a:lnTo>
                <a:lnTo>
                  <a:pt x="213" y="59"/>
                </a:lnTo>
                <a:lnTo>
                  <a:pt x="229" y="51"/>
                </a:lnTo>
                <a:lnTo>
                  <a:pt x="246" y="43"/>
                </a:lnTo>
                <a:lnTo>
                  <a:pt x="262" y="35"/>
                </a:lnTo>
                <a:lnTo>
                  <a:pt x="278" y="28"/>
                </a:lnTo>
                <a:lnTo>
                  <a:pt x="295" y="21"/>
                </a:lnTo>
                <a:lnTo>
                  <a:pt x="311" y="15"/>
                </a:lnTo>
                <a:lnTo>
                  <a:pt x="327" y="10"/>
                </a:lnTo>
                <a:lnTo>
                  <a:pt x="344" y="6"/>
                </a:lnTo>
                <a:lnTo>
                  <a:pt x="360" y="3"/>
                </a:lnTo>
                <a:lnTo>
                  <a:pt x="377" y="1"/>
                </a:lnTo>
                <a:lnTo>
                  <a:pt x="393" y="0"/>
                </a:lnTo>
                <a:lnTo>
                  <a:pt x="393" y="8"/>
                </a:lnTo>
                <a:lnTo>
                  <a:pt x="377" y="9"/>
                </a:lnTo>
                <a:lnTo>
                  <a:pt x="360" y="10"/>
                </a:lnTo>
                <a:lnTo>
                  <a:pt x="344" y="14"/>
                </a:lnTo>
                <a:lnTo>
                  <a:pt x="327" y="18"/>
                </a:lnTo>
                <a:lnTo>
                  <a:pt x="311" y="23"/>
                </a:lnTo>
                <a:lnTo>
                  <a:pt x="295" y="29"/>
                </a:lnTo>
                <a:lnTo>
                  <a:pt x="278" y="35"/>
                </a:lnTo>
                <a:lnTo>
                  <a:pt x="262" y="43"/>
                </a:lnTo>
                <a:lnTo>
                  <a:pt x="246" y="50"/>
                </a:lnTo>
                <a:lnTo>
                  <a:pt x="229" y="58"/>
                </a:lnTo>
                <a:lnTo>
                  <a:pt x="213" y="67"/>
                </a:lnTo>
                <a:lnTo>
                  <a:pt x="196" y="75"/>
                </a:lnTo>
                <a:lnTo>
                  <a:pt x="180" y="83"/>
                </a:lnTo>
                <a:lnTo>
                  <a:pt x="164" y="92"/>
                </a:lnTo>
                <a:lnTo>
                  <a:pt x="147" y="100"/>
                </a:lnTo>
                <a:lnTo>
                  <a:pt x="131" y="107"/>
                </a:lnTo>
                <a:lnTo>
                  <a:pt x="114" y="114"/>
                </a:lnTo>
                <a:lnTo>
                  <a:pt x="98" y="121"/>
                </a:lnTo>
                <a:lnTo>
                  <a:pt x="82" y="127"/>
                </a:lnTo>
                <a:lnTo>
                  <a:pt x="65" y="132"/>
                </a:lnTo>
                <a:lnTo>
                  <a:pt x="49" y="136"/>
                </a:lnTo>
                <a:lnTo>
                  <a:pt x="33" y="139"/>
                </a:lnTo>
                <a:lnTo>
                  <a:pt x="16" y="141"/>
                </a:lnTo>
                <a:lnTo>
                  <a:pt x="0" y="14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2057400" y="4581525"/>
            <a:ext cx="3743325" cy="895350"/>
          </a:xfrm>
          <a:custGeom>
            <a:avLst/>
            <a:gdLst/>
            <a:ahLst/>
            <a:cxnLst/>
            <a:rect l="l" t="t" r="r" b="b"/>
            <a:pathLst>
              <a:path w="393" h="94">
                <a:moveTo>
                  <a:pt x="0" y="87"/>
                </a:moveTo>
                <a:lnTo>
                  <a:pt x="16" y="87"/>
                </a:lnTo>
                <a:lnTo>
                  <a:pt x="33" y="85"/>
                </a:lnTo>
                <a:lnTo>
                  <a:pt x="49" y="83"/>
                </a:lnTo>
                <a:lnTo>
                  <a:pt x="65" y="81"/>
                </a:lnTo>
                <a:lnTo>
                  <a:pt x="82" y="77"/>
                </a:lnTo>
                <a:lnTo>
                  <a:pt x="98" y="73"/>
                </a:lnTo>
                <a:lnTo>
                  <a:pt x="114" y="69"/>
                </a:lnTo>
                <a:lnTo>
                  <a:pt x="131" y="64"/>
                </a:lnTo>
                <a:lnTo>
                  <a:pt x="147" y="59"/>
                </a:lnTo>
                <a:lnTo>
                  <a:pt x="164" y="54"/>
                </a:lnTo>
                <a:lnTo>
                  <a:pt x="180" y="49"/>
                </a:lnTo>
                <a:lnTo>
                  <a:pt x="196" y="43"/>
                </a:lnTo>
                <a:lnTo>
                  <a:pt x="213" y="38"/>
                </a:lnTo>
                <a:lnTo>
                  <a:pt x="229" y="33"/>
                </a:lnTo>
                <a:lnTo>
                  <a:pt x="246" y="28"/>
                </a:lnTo>
                <a:lnTo>
                  <a:pt x="262" y="23"/>
                </a:lnTo>
                <a:lnTo>
                  <a:pt x="278" y="18"/>
                </a:lnTo>
                <a:lnTo>
                  <a:pt x="295" y="14"/>
                </a:lnTo>
                <a:lnTo>
                  <a:pt x="311" y="10"/>
                </a:lnTo>
                <a:lnTo>
                  <a:pt x="327" y="6"/>
                </a:lnTo>
                <a:lnTo>
                  <a:pt x="344" y="4"/>
                </a:lnTo>
                <a:lnTo>
                  <a:pt x="360" y="2"/>
                </a:lnTo>
                <a:lnTo>
                  <a:pt x="377" y="0"/>
                </a:lnTo>
                <a:lnTo>
                  <a:pt x="393" y="0"/>
                </a:lnTo>
                <a:lnTo>
                  <a:pt x="393" y="7"/>
                </a:lnTo>
                <a:lnTo>
                  <a:pt x="377" y="7"/>
                </a:lnTo>
                <a:lnTo>
                  <a:pt x="360" y="8"/>
                </a:lnTo>
                <a:lnTo>
                  <a:pt x="344" y="10"/>
                </a:lnTo>
                <a:lnTo>
                  <a:pt x="327" y="13"/>
                </a:lnTo>
                <a:lnTo>
                  <a:pt x="311" y="16"/>
                </a:lnTo>
                <a:lnTo>
                  <a:pt x="295" y="20"/>
                </a:lnTo>
                <a:lnTo>
                  <a:pt x="278" y="25"/>
                </a:lnTo>
                <a:lnTo>
                  <a:pt x="262" y="29"/>
                </a:lnTo>
                <a:lnTo>
                  <a:pt x="246" y="34"/>
                </a:lnTo>
                <a:lnTo>
                  <a:pt x="229" y="39"/>
                </a:lnTo>
                <a:lnTo>
                  <a:pt x="213" y="45"/>
                </a:lnTo>
                <a:lnTo>
                  <a:pt x="196" y="50"/>
                </a:lnTo>
                <a:lnTo>
                  <a:pt x="180" y="56"/>
                </a:lnTo>
                <a:lnTo>
                  <a:pt x="164" y="61"/>
                </a:lnTo>
                <a:lnTo>
                  <a:pt x="147" y="66"/>
                </a:lnTo>
                <a:lnTo>
                  <a:pt x="131" y="71"/>
                </a:lnTo>
                <a:lnTo>
                  <a:pt x="114" y="76"/>
                </a:lnTo>
                <a:lnTo>
                  <a:pt x="98" y="80"/>
                </a:lnTo>
                <a:lnTo>
                  <a:pt x="82" y="84"/>
                </a:lnTo>
                <a:lnTo>
                  <a:pt x="65" y="87"/>
                </a:lnTo>
                <a:lnTo>
                  <a:pt x="49" y="90"/>
                </a:lnTo>
                <a:lnTo>
                  <a:pt x="33" y="92"/>
                </a:lnTo>
                <a:lnTo>
                  <a:pt x="16" y="93"/>
                </a:lnTo>
                <a:lnTo>
                  <a:pt x="0" y="9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2057400" y="5029200"/>
            <a:ext cx="3743325" cy="495300"/>
          </a:xfrm>
          <a:custGeom>
            <a:avLst/>
            <a:gdLst/>
            <a:ahLst/>
            <a:cxnLst/>
            <a:rect l="l" t="t" r="r" b="b"/>
            <a:pathLst>
              <a:path w="393" h="52">
                <a:moveTo>
                  <a:pt x="0" y="47"/>
                </a:moveTo>
                <a:lnTo>
                  <a:pt x="16" y="46"/>
                </a:lnTo>
                <a:lnTo>
                  <a:pt x="33" y="46"/>
                </a:lnTo>
                <a:lnTo>
                  <a:pt x="49" y="45"/>
                </a:lnTo>
                <a:lnTo>
                  <a:pt x="65" y="43"/>
                </a:lnTo>
                <a:lnTo>
                  <a:pt x="82" y="41"/>
                </a:lnTo>
                <a:lnTo>
                  <a:pt x="98" y="39"/>
                </a:lnTo>
                <a:lnTo>
                  <a:pt x="114" y="37"/>
                </a:lnTo>
                <a:lnTo>
                  <a:pt x="131" y="35"/>
                </a:lnTo>
                <a:lnTo>
                  <a:pt x="147" y="32"/>
                </a:lnTo>
                <a:lnTo>
                  <a:pt x="164" y="29"/>
                </a:lnTo>
                <a:lnTo>
                  <a:pt x="180" y="26"/>
                </a:lnTo>
                <a:lnTo>
                  <a:pt x="196" y="23"/>
                </a:lnTo>
                <a:lnTo>
                  <a:pt x="213" y="20"/>
                </a:lnTo>
                <a:lnTo>
                  <a:pt x="229" y="18"/>
                </a:lnTo>
                <a:lnTo>
                  <a:pt x="246" y="15"/>
                </a:lnTo>
                <a:lnTo>
                  <a:pt x="262" y="12"/>
                </a:lnTo>
                <a:lnTo>
                  <a:pt x="278" y="10"/>
                </a:lnTo>
                <a:lnTo>
                  <a:pt x="295" y="7"/>
                </a:lnTo>
                <a:lnTo>
                  <a:pt x="311" y="5"/>
                </a:lnTo>
                <a:lnTo>
                  <a:pt x="327" y="3"/>
                </a:lnTo>
                <a:lnTo>
                  <a:pt x="344" y="2"/>
                </a:lnTo>
                <a:lnTo>
                  <a:pt x="360" y="1"/>
                </a:lnTo>
                <a:lnTo>
                  <a:pt x="377" y="0"/>
                </a:lnTo>
                <a:lnTo>
                  <a:pt x="393" y="0"/>
                </a:lnTo>
                <a:lnTo>
                  <a:pt x="393" y="6"/>
                </a:lnTo>
                <a:lnTo>
                  <a:pt x="377" y="6"/>
                </a:lnTo>
                <a:lnTo>
                  <a:pt x="360" y="6"/>
                </a:lnTo>
                <a:lnTo>
                  <a:pt x="344" y="8"/>
                </a:lnTo>
                <a:lnTo>
                  <a:pt x="327" y="9"/>
                </a:lnTo>
                <a:lnTo>
                  <a:pt x="311" y="11"/>
                </a:lnTo>
                <a:lnTo>
                  <a:pt x="295" y="13"/>
                </a:lnTo>
                <a:lnTo>
                  <a:pt x="278" y="15"/>
                </a:lnTo>
                <a:lnTo>
                  <a:pt x="262" y="18"/>
                </a:lnTo>
                <a:lnTo>
                  <a:pt x="246" y="20"/>
                </a:lnTo>
                <a:lnTo>
                  <a:pt x="229" y="23"/>
                </a:lnTo>
                <a:lnTo>
                  <a:pt x="213" y="26"/>
                </a:lnTo>
                <a:lnTo>
                  <a:pt x="196" y="29"/>
                </a:lnTo>
                <a:lnTo>
                  <a:pt x="180" y="32"/>
                </a:lnTo>
                <a:lnTo>
                  <a:pt x="164" y="35"/>
                </a:lnTo>
                <a:lnTo>
                  <a:pt x="147" y="37"/>
                </a:lnTo>
                <a:lnTo>
                  <a:pt x="131" y="40"/>
                </a:lnTo>
                <a:lnTo>
                  <a:pt x="114" y="43"/>
                </a:lnTo>
                <a:lnTo>
                  <a:pt x="98" y="45"/>
                </a:lnTo>
                <a:lnTo>
                  <a:pt x="82" y="47"/>
                </a:lnTo>
                <a:lnTo>
                  <a:pt x="65" y="49"/>
                </a:lnTo>
                <a:lnTo>
                  <a:pt x="49" y="50"/>
                </a:lnTo>
                <a:lnTo>
                  <a:pt x="33" y="51"/>
                </a:lnTo>
                <a:lnTo>
                  <a:pt x="16" y="52"/>
                </a:lnTo>
                <a:lnTo>
                  <a:pt x="0" y="5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2057400" y="5429250"/>
            <a:ext cx="3743325" cy="142875"/>
          </a:xfrm>
          <a:custGeom>
            <a:avLst/>
            <a:gdLst/>
            <a:ahLst/>
            <a:cxnLst/>
            <a:rect l="l" t="t" r="r" b="b"/>
            <a:pathLst>
              <a:path w="393" h="15">
                <a:moveTo>
                  <a:pt x="0" y="10"/>
                </a:moveTo>
                <a:lnTo>
                  <a:pt x="16" y="10"/>
                </a:lnTo>
                <a:lnTo>
                  <a:pt x="33" y="10"/>
                </a:lnTo>
                <a:lnTo>
                  <a:pt x="49" y="10"/>
                </a:lnTo>
                <a:lnTo>
                  <a:pt x="65" y="9"/>
                </a:lnTo>
                <a:lnTo>
                  <a:pt x="82" y="9"/>
                </a:lnTo>
                <a:lnTo>
                  <a:pt x="98" y="9"/>
                </a:lnTo>
                <a:lnTo>
                  <a:pt x="114" y="8"/>
                </a:lnTo>
                <a:lnTo>
                  <a:pt x="131" y="7"/>
                </a:lnTo>
                <a:lnTo>
                  <a:pt x="147" y="7"/>
                </a:lnTo>
                <a:lnTo>
                  <a:pt x="164" y="6"/>
                </a:lnTo>
                <a:lnTo>
                  <a:pt x="180" y="6"/>
                </a:lnTo>
                <a:lnTo>
                  <a:pt x="196" y="5"/>
                </a:lnTo>
                <a:lnTo>
                  <a:pt x="213" y="4"/>
                </a:lnTo>
                <a:lnTo>
                  <a:pt x="229" y="4"/>
                </a:lnTo>
                <a:lnTo>
                  <a:pt x="246" y="3"/>
                </a:lnTo>
                <a:lnTo>
                  <a:pt x="262" y="3"/>
                </a:lnTo>
                <a:lnTo>
                  <a:pt x="278" y="2"/>
                </a:lnTo>
                <a:lnTo>
                  <a:pt x="295" y="2"/>
                </a:lnTo>
                <a:lnTo>
                  <a:pt x="311" y="1"/>
                </a:lnTo>
                <a:lnTo>
                  <a:pt x="327" y="1"/>
                </a:lnTo>
                <a:lnTo>
                  <a:pt x="344" y="0"/>
                </a:lnTo>
                <a:lnTo>
                  <a:pt x="360" y="0"/>
                </a:lnTo>
                <a:lnTo>
                  <a:pt x="377" y="0"/>
                </a:lnTo>
                <a:lnTo>
                  <a:pt x="393" y="0"/>
                </a:lnTo>
                <a:lnTo>
                  <a:pt x="393" y="5"/>
                </a:lnTo>
                <a:lnTo>
                  <a:pt x="377" y="5"/>
                </a:lnTo>
                <a:lnTo>
                  <a:pt x="360" y="5"/>
                </a:lnTo>
                <a:lnTo>
                  <a:pt x="344" y="5"/>
                </a:lnTo>
                <a:lnTo>
                  <a:pt x="327" y="6"/>
                </a:lnTo>
                <a:lnTo>
                  <a:pt x="311" y="6"/>
                </a:lnTo>
                <a:lnTo>
                  <a:pt x="295" y="6"/>
                </a:lnTo>
                <a:lnTo>
                  <a:pt x="278" y="7"/>
                </a:lnTo>
                <a:lnTo>
                  <a:pt x="262" y="8"/>
                </a:lnTo>
                <a:lnTo>
                  <a:pt x="246" y="8"/>
                </a:lnTo>
                <a:lnTo>
                  <a:pt x="229" y="9"/>
                </a:lnTo>
                <a:lnTo>
                  <a:pt x="213" y="9"/>
                </a:lnTo>
                <a:lnTo>
                  <a:pt x="196" y="10"/>
                </a:lnTo>
                <a:lnTo>
                  <a:pt x="180" y="11"/>
                </a:lnTo>
                <a:lnTo>
                  <a:pt x="164" y="11"/>
                </a:lnTo>
                <a:lnTo>
                  <a:pt x="147" y="12"/>
                </a:lnTo>
                <a:lnTo>
                  <a:pt x="131" y="12"/>
                </a:lnTo>
                <a:lnTo>
                  <a:pt x="114" y="13"/>
                </a:lnTo>
                <a:lnTo>
                  <a:pt x="98" y="14"/>
                </a:lnTo>
                <a:lnTo>
                  <a:pt x="82" y="14"/>
                </a:lnTo>
                <a:lnTo>
                  <a:pt x="65" y="14"/>
                </a:lnTo>
                <a:lnTo>
                  <a:pt x="49" y="15"/>
                </a:lnTo>
                <a:lnTo>
                  <a:pt x="33" y="15"/>
                </a:lnTo>
                <a:lnTo>
                  <a:pt x="16" y="15"/>
                </a:lnTo>
                <a:lnTo>
                  <a:pt x="0" y="1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2057400" y="5572125"/>
            <a:ext cx="3743325" cy="200025"/>
          </a:xfrm>
          <a:custGeom>
            <a:avLst/>
            <a:gdLst/>
            <a:ahLst/>
            <a:cxnLst/>
            <a:rect l="l" t="t" r="r" b="b"/>
            <a:pathLst>
              <a:path w="393" h="21">
                <a:moveTo>
                  <a:pt x="0" y="0"/>
                </a:moveTo>
                <a:lnTo>
                  <a:pt x="16" y="0"/>
                </a:lnTo>
                <a:lnTo>
                  <a:pt x="33" y="0"/>
                </a:lnTo>
                <a:lnTo>
                  <a:pt x="49" y="1"/>
                </a:lnTo>
                <a:lnTo>
                  <a:pt x="65" y="1"/>
                </a:lnTo>
                <a:lnTo>
                  <a:pt x="82" y="2"/>
                </a:lnTo>
                <a:lnTo>
                  <a:pt x="98" y="3"/>
                </a:lnTo>
                <a:lnTo>
                  <a:pt x="114" y="4"/>
                </a:lnTo>
                <a:lnTo>
                  <a:pt x="131" y="5"/>
                </a:lnTo>
                <a:lnTo>
                  <a:pt x="147" y="6"/>
                </a:lnTo>
                <a:lnTo>
                  <a:pt x="164" y="7"/>
                </a:lnTo>
                <a:lnTo>
                  <a:pt x="180" y="8"/>
                </a:lnTo>
                <a:lnTo>
                  <a:pt x="196" y="9"/>
                </a:lnTo>
                <a:lnTo>
                  <a:pt x="213" y="10"/>
                </a:lnTo>
                <a:lnTo>
                  <a:pt x="229" y="11"/>
                </a:lnTo>
                <a:lnTo>
                  <a:pt x="246" y="12"/>
                </a:lnTo>
                <a:lnTo>
                  <a:pt x="262" y="13"/>
                </a:lnTo>
                <a:lnTo>
                  <a:pt x="278" y="14"/>
                </a:lnTo>
                <a:lnTo>
                  <a:pt x="295" y="15"/>
                </a:lnTo>
                <a:lnTo>
                  <a:pt x="311" y="16"/>
                </a:lnTo>
                <a:lnTo>
                  <a:pt x="327" y="16"/>
                </a:lnTo>
                <a:lnTo>
                  <a:pt x="344" y="17"/>
                </a:lnTo>
                <a:lnTo>
                  <a:pt x="360" y="17"/>
                </a:lnTo>
                <a:lnTo>
                  <a:pt x="377" y="18"/>
                </a:lnTo>
                <a:lnTo>
                  <a:pt x="393" y="18"/>
                </a:lnTo>
                <a:lnTo>
                  <a:pt x="393" y="21"/>
                </a:lnTo>
                <a:lnTo>
                  <a:pt x="377" y="21"/>
                </a:lnTo>
                <a:lnTo>
                  <a:pt x="360" y="21"/>
                </a:lnTo>
                <a:lnTo>
                  <a:pt x="344" y="20"/>
                </a:lnTo>
                <a:lnTo>
                  <a:pt x="327" y="20"/>
                </a:lnTo>
                <a:lnTo>
                  <a:pt x="311" y="19"/>
                </a:lnTo>
                <a:lnTo>
                  <a:pt x="295" y="18"/>
                </a:lnTo>
                <a:lnTo>
                  <a:pt x="278" y="17"/>
                </a:lnTo>
                <a:lnTo>
                  <a:pt x="262" y="17"/>
                </a:lnTo>
                <a:lnTo>
                  <a:pt x="246" y="16"/>
                </a:lnTo>
                <a:lnTo>
                  <a:pt x="229" y="14"/>
                </a:lnTo>
                <a:lnTo>
                  <a:pt x="213" y="13"/>
                </a:lnTo>
                <a:lnTo>
                  <a:pt x="196" y="12"/>
                </a:lnTo>
                <a:lnTo>
                  <a:pt x="180" y="11"/>
                </a:lnTo>
                <a:lnTo>
                  <a:pt x="164" y="10"/>
                </a:lnTo>
                <a:lnTo>
                  <a:pt x="147" y="9"/>
                </a:lnTo>
                <a:lnTo>
                  <a:pt x="131" y="8"/>
                </a:lnTo>
                <a:lnTo>
                  <a:pt x="114" y="7"/>
                </a:lnTo>
                <a:lnTo>
                  <a:pt x="98" y="6"/>
                </a:lnTo>
                <a:lnTo>
                  <a:pt x="82" y="5"/>
                </a:lnTo>
                <a:lnTo>
                  <a:pt x="65" y="5"/>
                </a:lnTo>
                <a:lnTo>
                  <a:pt x="49" y="4"/>
                </a:lnTo>
                <a:lnTo>
                  <a:pt x="33" y="4"/>
                </a:lnTo>
                <a:lnTo>
                  <a:pt x="16" y="4"/>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2057400" y="5600700"/>
            <a:ext cx="3743325" cy="390525"/>
          </a:xfrm>
          <a:custGeom>
            <a:avLst/>
            <a:gdLst/>
            <a:ahLst/>
            <a:cxnLst/>
            <a:rect l="l" t="t" r="r" b="b"/>
            <a:pathLst>
              <a:path w="393" h="41">
                <a:moveTo>
                  <a:pt x="0" y="0"/>
                </a:moveTo>
                <a:lnTo>
                  <a:pt x="16" y="1"/>
                </a:lnTo>
                <a:lnTo>
                  <a:pt x="33" y="1"/>
                </a:lnTo>
                <a:lnTo>
                  <a:pt x="49" y="2"/>
                </a:lnTo>
                <a:lnTo>
                  <a:pt x="65" y="3"/>
                </a:lnTo>
                <a:lnTo>
                  <a:pt x="82" y="5"/>
                </a:lnTo>
                <a:lnTo>
                  <a:pt x="98" y="7"/>
                </a:lnTo>
                <a:lnTo>
                  <a:pt x="114" y="8"/>
                </a:lnTo>
                <a:lnTo>
                  <a:pt x="131" y="10"/>
                </a:lnTo>
                <a:lnTo>
                  <a:pt x="147" y="13"/>
                </a:lnTo>
                <a:lnTo>
                  <a:pt x="164" y="15"/>
                </a:lnTo>
                <a:lnTo>
                  <a:pt x="180" y="17"/>
                </a:lnTo>
                <a:lnTo>
                  <a:pt x="196" y="20"/>
                </a:lnTo>
                <a:lnTo>
                  <a:pt x="213" y="22"/>
                </a:lnTo>
                <a:lnTo>
                  <a:pt x="229" y="25"/>
                </a:lnTo>
                <a:lnTo>
                  <a:pt x="246" y="27"/>
                </a:lnTo>
                <a:lnTo>
                  <a:pt x="262" y="29"/>
                </a:lnTo>
                <a:lnTo>
                  <a:pt x="278" y="31"/>
                </a:lnTo>
                <a:lnTo>
                  <a:pt x="295" y="33"/>
                </a:lnTo>
                <a:lnTo>
                  <a:pt x="311" y="35"/>
                </a:lnTo>
                <a:lnTo>
                  <a:pt x="327" y="36"/>
                </a:lnTo>
                <a:lnTo>
                  <a:pt x="344" y="37"/>
                </a:lnTo>
                <a:lnTo>
                  <a:pt x="360" y="38"/>
                </a:lnTo>
                <a:lnTo>
                  <a:pt x="377" y="39"/>
                </a:lnTo>
                <a:lnTo>
                  <a:pt x="393" y="39"/>
                </a:lnTo>
                <a:lnTo>
                  <a:pt x="393" y="41"/>
                </a:lnTo>
                <a:lnTo>
                  <a:pt x="377" y="41"/>
                </a:lnTo>
                <a:lnTo>
                  <a:pt x="360" y="41"/>
                </a:lnTo>
                <a:lnTo>
                  <a:pt x="344" y="40"/>
                </a:lnTo>
                <a:lnTo>
                  <a:pt x="327" y="38"/>
                </a:lnTo>
                <a:lnTo>
                  <a:pt x="311" y="37"/>
                </a:lnTo>
                <a:lnTo>
                  <a:pt x="295" y="35"/>
                </a:lnTo>
                <a:lnTo>
                  <a:pt x="278" y="33"/>
                </a:lnTo>
                <a:lnTo>
                  <a:pt x="262" y="31"/>
                </a:lnTo>
                <a:lnTo>
                  <a:pt x="246" y="29"/>
                </a:lnTo>
                <a:lnTo>
                  <a:pt x="229" y="27"/>
                </a:lnTo>
                <a:lnTo>
                  <a:pt x="213" y="24"/>
                </a:lnTo>
                <a:lnTo>
                  <a:pt x="196" y="22"/>
                </a:lnTo>
                <a:lnTo>
                  <a:pt x="180" y="20"/>
                </a:lnTo>
                <a:lnTo>
                  <a:pt x="164" y="17"/>
                </a:lnTo>
                <a:lnTo>
                  <a:pt x="147" y="15"/>
                </a:lnTo>
                <a:lnTo>
                  <a:pt x="131" y="13"/>
                </a:lnTo>
                <a:lnTo>
                  <a:pt x="114" y="11"/>
                </a:lnTo>
                <a:lnTo>
                  <a:pt x="98" y="9"/>
                </a:lnTo>
                <a:lnTo>
                  <a:pt x="82" y="7"/>
                </a:lnTo>
                <a:lnTo>
                  <a:pt x="65" y="6"/>
                </a:lnTo>
                <a:lnTo>
                  <a:pt x="49" y="4"/>
                </a:lnTo>
                <a:lnTo>
                  <a:pt x="33" y="4"/>
                </a:lnTo>
                <a:lnTo>
                  <a:pt x="16" y="3"/>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2057400" y="5629275"/>
            <a:ext cx="3743325" cy="561975"/>
          </a:xfrm>
          <a:custGeom>
            <a:avLst/>
            <a:gdLst/>
            <a:ahLst/>
            <a:cxnLst/>
            <a:rect l="l" t="t" r="r" b="b"/>
            <a:pathLst>
              <a:path w="393" h="59">
                <a:moveTo>
                  <a:pt x="0" y="0"/>
                </a:moveTo>
                <a:lnTo>
                  <a:pt x="16" y="0"/>
                </a:lnTo>
                <a:lnTo>
                  <a:pt x="33" y="1"/>
                </a:lnTo>
                <a:lnTo>
                  <a:pt x="49" y="2"/>
                </a:lnTo>
                <a:lnTo>
                  <a:pt x="65" y="4"/>
                </a:lnTo>
                <a:lnTo>
                  <a:pt x="82" y="6"/>
                </a:lnTo>
                <a:lnTo>
                  <a:pt x="98" y="9"/>
                </a:lnTo>
                <a:lnTo>
                  <a:pt x="114" y="12"/>
                </a:lnTo>
                <a:lnTo>
                  <a:pt x="131" y="15"/>
                </a:lnTo>
                <a:lnTo>
                  <a:pt x="147" y="18"/>
                </a:lnTo>
                <a:lnTo>
                  <a:pt x="164" y="21"/>
                </a:lnTo>
                <a:lnTo>
                  <a:pt x="180" y="25"/>
                </a:lnTo>
                <a:lnTo>
                  <a:pt x="196" y="28"/>
                </a:lnTo>
                <a:lnTo>
                  <a:pt x="213" y="32"/>
                </a:lnTo>
                <a:lnTo>
                  <a:pt x="229" y="35"/>
                </a:lnTo>
                <a:lnTo>
                  <a:pt x="246" y="39"/>
                </a:lnTo>
                <a:lnTo>
                  <a:pt x="262" y="42"/>
                </a:lnTo>
                <a:lnTo>
                  <a:pt x="278" y="45"/>
                </a:lnTo>
                <a:lnTo>
                  <a:pt x="295" y="48"/>
                </a:lnTo>
                <a:lnTo>
                  <a:pt x="311" y="51"/>
                </a:lnTo>
                <a:lnTo>
                  <a:pt x="327" y="53"/>
                </a:lnTo>
                <a:lnTo>
                  <a:pt x="344" y="54"/>
                </a:lnTo>
                <a:lnTo>
                  <a:pt x="360" y="56"/>
                </a:lnTo>
                <a:lnTo>
                  <a:pt x="377" y="57"/>
                </a:lnTo>
                <a:lnTo>
                  <a:pt x="393" y="57"/>
                </a:lnTo>
                <a:lnTo>
                  <a:pt x="393" y="59"/>
                </a:lnTo>
                <a:lnTo>
                  <a:pt x="377" y="59"/>
                </a:lnTo>
                <a:lnTo>
                  <a:pt x="360" y="58"/>
                </a:lnTo>
                <a:lnTo>
                  <a:pt x="344" y="57"/>
                </a:lnTo>
                <a:lnTo>
                  <a:pt x="327" y="55"/>
                </a:lnTo>
                <a:lnTo>
                  <a:pt x="311" y="53"/>
                </a:lnTo>
                <a:lnTo>
                  <a:pt x="295" y="50"/>
                </a:lnTo>
                <a:lnTo>
                  <a:pt x="278" y="47"/>
                </a:lnTo>
                <a:lnTo>
                  <a:pt x="262" y="44"/>
                </a:lnTo>
                <a:lnTo>
                  <a:pt x="246" y="41"/>
                </a:lnTo>
                <a:lnTo>
                  <a:pt x="229" y="37"/>
                </a:lnTo>
                <a:lnTo>
                  <a:pt x="213" y="34"/>
                </a:lnTo>
                <a:lnTo>
                  <a:pt x="196" y="30"/>
                </a:lnTo>
                <a:lnTo>
                  <a:pt x="180" y="27"/>
                </a:lnTo>
                <a:lnTo>
                  <a:pt x="164" y="23"/>
                </a:lnTo>
                <a:lnTo>
                  <a:pt x="147" y="20"/>
                </a:lnTo>
                <a:lnTo>
                  <a:pt x="131" y="17"/>
                </a:lnTo>
                <a:lnTo>
                  <a:pt x="114" y="14"/>
                </a:lnTo>
                <a:lnTo>
                  <a:pt x="98" y="11"/>
                </a:lnTo>
                <a:lnTo>
                  <a:pt x="82" y="8"/>
                </a:lnTo>
                <a:lnTo>
                  <a:pt x="65" y="6"/>
                </a:lnTo>
                <a:lnTo>
                  <a:pt x="49" y="4"/>
                </a:lnTo>
                <a:lnTo>
                  <a:pt x="33" y="3"/>
                </a:lnTo>
                <a:lnTo>
                  <a:pt x="16" y="2"/>
                </a:lnTo>
                <a:lnTo>
                  <a:pt x="0" y="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057400" y="5648325"/>
            <a:ext cx="3743325" cy="723900"/>
          </a:xfrm>
          <a:custGeom>
            <a:avLst/>
            <a:gdLst/>
            <a:ahLst/>
            <a:cxnLst/>
            <a:rect l="l" t="t" r="r" b="b"/>
            <a:pathLst>
              <a:path w="393" h="76">
                <a:moveTo>
                  <a:pt x="0" y="0"/>
                </a:moveTo>
                <a:lnTo>
                  <a:pt x="16" y="0"/>
                </a:lnTo>
                <a:lnTo>
                  <a:pt x="33" y="1"/>
                </a:lnTo>
                <a:lnTo>
                  <a:pt x="49" y="3"/>
                </a:lnTo>
                <a:lnTo>
                  <a:pt x="65" y="5"/>
                </a:lnTo>
                <a:lnTo>
                  <a:pt x="82" y="8"/>
                </a:lnTo>
                <a:lnTo>
                  <a:pt x="98" y="11"/>
                </a:lnTo>
                <a:lnTo>
                  <a:pt x="114" y="15"/>
                </a:lnTo>
                <a:lnTo>
                  <a:pt x="131" y="19"/>
                </a:lnTo>
                <a:lnTo>
                  <a:pt x="147" y="23"/>
                </a:lnTo>
                <a:lnTo>
                  <a:pt x="164" y="28"/>
                </a:lnTo>
                <a:lnTo>
                  <a:pt x="180" y="32"/>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4"/>
                </a:lnTo>
                <a:lnTo>
                  <a:pt x="393" y="76"/>
                </a:lnTo>
                <a:lnTo>
                  <a:pt x="377" y="76"/>
                </a:lnTo>
                <a:lnTo>
                  <a:pt x="360" y="75"/>
                </a:lnTo>
                <a:lnTo>
                  <a:pt x="344" y="73"/>
                </a:lnTo>
                <a:lnTo>
                  <a:pt x="327" y="70"/>
                </a:lnTo>
                <a:lnTo>
                  <a:pt x="311" y="68"/>
                </a:lnTo>
                <a:lnTo>
                  <a:pt x="295" y="64"/>
                </a:lnTo>
                <a:lnTo>
                  <a:pt x="278" y="61"/>
                </a:lnTo>
                <a:lnTo>
                  <a:pt x="262" y="57"/>
                </a:lnTo>
                <a:lnTo>
                  <a:pt x="246" y="52"/>
                </a:lnTo>
                <a:lnTo>
                  <a:pt x="229" y="48"/>
                </a:lnTo>
                <a:lnTo>
                  <a:pt x="213" y="43"/>
                </a:lnTo>
                <a:lnTo>
                  <a:pt x="196" y="39"/>
                </a:lnTo>
                <a:lnTo>
                  <a:pt x="180" y="34"/>
                </a:lnTo>
                <a:lnTo>
                  <a:pt x="164" y="30"/>
                </a:lnTo>
                <a:lnTo>
                  <a:pt x="147" y="25"/>
                </a:lnTo>
                <a:lnTo>
                  <a:pt x="131" y="21"/>
                </a:lnTo>
                <a:lnTo>
                  <a:pt x="114" y="17"/>
                </a:lnTo>
                <a:lnTo>
                  <a:pt x="98" y="13"/>
                </a:lnTo>
                <a:lnTo>
                  <a:pt x="82" y="10"/>
                </a:lnTo>
                <a:lnTo>
                  <a:pt x="65" y="7"/>
                </a:lnTo>
                <a:lnTo>
                  <a:pt x="49" y="5"/>
                </a:lnTo>
                <a:lnTo>
                  <a:pt x="33" y="3"/>
                </a:lnTo>
                <a:lnTo>
                  <a:pt x="16" y="2"/>
                </a:lnTo>
                <a:lnTo>
                  <a:pt x="0" y="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2057400" y="5667375"/>
            <a:ext cx="3743325" cy="857250"/>
          </a:xfrm>
          <a:custGeom>
            <a:avLst/>
            <a:gdLst/>
            <a:ahLst/>
            <a:cxnLst/>
            <a:rect l="l" t="t" r="r" b="b"/>
            <a:pathLst>
              <a:path w="393" h="90">
                <a:moveTo>
                  <a:pt x="0" y="0"/>
                </a:moveTo>
                <a:lnTo>
                  <a:pt x="16" y="0"/>
                </a:lnTo>
                <a:lnTo>
                  <a:pt x="33" y="1"/>
                </a:lnTo>
                <a:lnTo>
                  <a:pt x="49" y="3"/>
                </a:lnTo>
                <a:lnTo>
                  <a:pt x="65" y="6"/>
                </a:lnTo>
                <a:lnTo>
                  <a:pt x="82" y="10"/>
                </a:lnTo>
                <a:lnTo>
                  <a:pt x="98" y="14"/>
                </a:lnTo>
                <a:lnTo>
                  <a:pt x="114" y="18"/>
                </a:lnTo>
                <a:lnTo>
                  <a:pt x="131" y="23"/>
                </a:lnTo>
                <a:lnTo>
                  <a:pt x="147" y="28"/>
                </a:lnTo>
                <a:lnTo>
                  <a:pt x="164" y="33"/>
                </a:lnTo>
                <a:lnTo>
                  <a:pt x="180" y="38"/>
                </a:lnTo>
                <a:lnTo>
                  <a:pt x="196" y="44"/>
                </a:lnTo>
                <a:lnTo>
                  <a:pt x="213" y="50"/>
                </a:lnTo>
                <a:lnTo>
                  <a:pt x="229" y="55"/>
                </a:lnTo>
                <a:lnTo>
                  <a:pt x="246" y="60"/>
                </a:lnTo>
                <a:lnTo>
                  <a:pt x="262" y="65"/>
                </a:lnTo>
                <a:lnTo>
                  <a:pt x="278" y="70"/>
                </a:lnTo>
                <a:lnTo>
                  <a:pt x="295" y="75"/>
                </a:lnTo>
                <a:lnTo>
                  <a:pt x="311" y="78"/>
                </a:lnTo>
                <a:lnTo>
                  <a:pt x="327" y="82"/>
                </a:lnTo>
                <a:lnTo>
                  <a:pt x="344" y="85"/>
                </a:lnTo>
                <a:lnTo>
                  <a:pt x="360" y="87"/>
                </a:lnTo>
                <a:lnTo>
                  <a:pt x="377" y="88"/>
                </a:lnTo>
                <a:lnTo>
                  <a:pt x="393" y="88"/>
                </a:lnTo>
                <a:lnTo>
                  <a:pt x="393" y="90"/>
                </a:lnTo>
                <a:lnTo>
                  <a:pt x="377" y="89"/>
                </a:lnTo>
                <a:lnTo>
                  <a:pt x="360" y="88"/>
                </a:lnTo>
                <a:lnTo>
                  <a:pt x="344" y="86"/>
                </a:lnTo>
                <a:lnTo>
                  <a:pt x="327" y="83"/>
                </a:lnTo>
                <a:lnTo>
                  <a:pt x="311" y="80"/>
                </a:lnTo>
                <a:lnTo>
                  <a:pt x="295" y="76"/>
                </a:lnTo>
                <a:lnTo>
                  <a:pt x="278" y="71"/>
                </a:lnTo>
                <a:lnTo>
                  <a:pt x="262" y="67"/>
                </a:lnTo>
                <a:lnTo>
                  <a:pt x="246" y="62"/>
                </a:lnTo>
                <a:lnTo>
                  <a:pt x="229" y="56"/>
                </a:lnTo>
                <a:lnTo>
                  <a:pt x="213" y="51"/>
                </a:lnTo>
                <a:lnTo>
                  <a:pt x="196" y="45"/>
                </a:lnTo>
                <a:lnTo>
                  <a:pt x="180" y="40"/>
                </a:lnTo>
                <a:lnTo>
                  <a:pt x="164" y="34"/>
                </a:lnTo>
                <a:lnTo>
                  <a:pt x="147" y="29"/>
                </a:lnTo>
                <a:lnTo>
                  <a:pt x="131" y="24"/>
                </a:lnTo>
                <a:lnTo>
                  <a:pt x="114" y="19"/>
                </a:lnTo>
                <a:lnTo>
                  <a:pt x="98" y="15"/>
                </a:lnTo>
                <a:lnTo>
                  <a:pt x="82" y="11"/>
                </a:lnTo>
                <a:lnTo>
                  <a:pt x="65" y="8"/>
                </a:lnTo>
                <a:lnTo>
                  <a:pt x="49" y="5"/>
                </a:lnTo>
                <a:lnTo>
                  <a:pt x="33" y="3"/>
                </a:lnTo>
                <a:lnTo>
                  <a:pt x="16" y="1"/>
                </a:lnTo>
                <a:lnTo>
                  <a:pt x="0" y="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2057400" y="2066925"/>
            <a:ext cx="3743325" cy="3790950"/>
          </a:xfrm>
          <a:custGeom>
            <a:avLst/>
            <a:gdLst/>
            <a:ahLst/>
            <a:cxnLst/>
            <a:rect l="l" t="t" r="r" b="b"/>
            <a:pathLst>
              <a:path w="393" h="398">
                <a:moveTo>
                  <a:pt x="0" y="385"/>
                </a:moveTo>
                <a:lnTo>
                  <a:pt x="16" y="383"/>
                </a:lnTo>
                <a:lnTo>
                  <a:pt x="33" y="377"/>
                </a:lnTo>
                <a:lnTo>
                  <a:pt x="49" y="368"/>
                </a:lnTo>
                <a:lnTo>
                  <a:pt x="65" y="356"/>
                </a:lnTo>
                <a:lnTo>
                  <a:pt x="82" y="342"/>
                </a:lnTo>
                <a:lnTo>
                  <a:pt x="98" y="325"/>
                </a:lnTo>
                <a:lnTo>
                  <a:pt x="114" y="306"/>
                </a:lnTo>
                <a:lnTo>
                  <a:pt x="131" y="285"/>
                </a:lnTo>
                <a:lnTo>
                  <a:pt x="147" y="263"/>
                </a:lnTo>
                <a:lnTo>
                  <a:pt x="164" y="240"/>
                </a:lnTo>
                <a:lnTo>
                  <a:pt x="180" y="216"/>
                </a:lnTo>
                <a:lnTo>
                  <a:pt x="196" y="192"/>
                </a:lnTo>
                <a:lnTo>
                  <a:pt x="213" y="168"/>
                </a:lnTo>
                <a:lnTo>
                  <a:pt x="229" y="145"/>
                </a:lnTo>
                <a:lnTo>
                  <a:pt x="246" y="122"/>
                </a:lnTo>
                <a:lnTo>
                  <a:pt x="262" y="100"/>
                </a:lnTo>
                <a:lnTo>
                  <a:pt x="278" y="79"/>
                </a:lnTo>
                <a:lnTo>
                  <a:pt x="295" y="60"/>
                </a:lnTo>
                <a:lnTo>
                  <a:pt x="311" y="43"/>
                </a:lnTo>
                <a:lnTo>
                  <a:pt x="327" y="28"/>
                </a:lnTo>
                <a:lnTo>
                  <a:pt x="344" y="16"/>
                </a:lnTo>
                <a:lnTo>
                  <a:pt x="360" y="7"/>
                </a:lnTo>
                <a:lnTo>
                  <a:pt x="377" y="2"/>
                </a:lnTo>
                <a:lnTo>
                  <a:pt x="393" y="0"/>
                </a:lnTo>
                <a:lnTo>
                  <a:pt x="393" y="13"/>
                </a:lnTo>
                <a:lnTo>
                  <a:pt x="377" y="15"/>
                </a:lnTo>
                <a:lnTo>
                  <a:pt x="360" y="21"/>
                </a:lnTo>
                <a:lnTo>
                  <a:pt x="344" y="30"/>
                </a:lnTo>
                <a:lnTo>
                  <a:pt x="327" y="42"/>
                </a:lnTo>
                <a:lnTo>
                  <a:pt x="311" y="56"/>
                </a:lnTo>
                <a:lnTo>
                  <a:pt x="295" y="73"/>
                </a:lnTo>
                <a:lnTo>
                  <a:pt x="278" y="92"/>
                </a:lnTo>
                <a:lnTo>
                  <a:pt x="262" y="113"/>
                </a:lnTo>
                <a:lnTo>
                  <a:pt x="246" y="135"/>
                </a:lnTo>
                <a:lnTo>
                  <a:pt x="229" y="158"/>
                </a:lnTo>
                <a:lnTo>
                  <a:pt x="213" y="182"/>
                </a:lnTo>
                <a:lnTo>
                  <a:pt x="196" y="206"/>
                </a:lnTo>
                <a:lnTo>
                  <a:pt x="180" y="230"/>
                </a:lnTo>
                <a:lnTo>
                  <a:pt x="164" y="253"/>
                </a:lnTo>
                <a:lnTo>
                  <a:pt x="147" y="276"/>
                </a:lnTo>
                <a:lnTo>
                  <a:pt x="131" y="298"/>
                </a:lnTo>
                <a:lnTo>
                  <a:pt x="114" y="319"/>
                </a:lnTo>
                <a:lnTo>
                  <a:pt x="98" y="338"/>
                </a:lnTo>
                <a:lnTo>
                  <a:pt x="82" y="355"/>
                </a:lnTo>
                <a:lnTo>
                  <a:pt x="65" y="370"/>
                </a:lnTo>
                <a:lnTo>
                  <a:pt x="49" y="382"/>
                </a:lnTo>
                <a:lnTo>
                  <a:pt x="33" y="391"/>
                </a:lnTo>
                <a:lnTo>
                  <a:pt x="16" y="396"/>
                </a:lnTo>
                <a:lnTo>
                  <a:pt x="0" y="39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057400" y="2924175"/>
            <a:ext cx="3743325" cy="3048000"/>
          </a:xfrm>
          <a:custGeom>
            <a:avLst/>
            <a:gdLst/>
            <a:ahLst/>
            <a:cxnLst/>
            <a:rect l="l" t="t" r="r" b="b"/>
            <a:pathLst>
              <a:path w="393" h="320">
                <a:moveTo>
                  <a:pt x="0" y="308"/>
                </a:moveTo>
                <a:lnTo>
                  <a:pt x="16" y="307"/>
                </a:lnTo>
                <a:lnTo>
                  <a:pt x="33" y="302"/>
                </a:lnTo>
                <a:lnTo>
                  <a:pt x="49" y="295"/>
                </a:lnTo>
                <a:lnTo>
                  <a:pt x="65" y="285"/>
                </a:lnTo>
                <a:lnTo>
                  <a:pt x="82" y="274"/>
                </a:lnTo>
                <a:lnTo>
                  <a:pt x="98" y="260"/>
                </a:lnTo>
                <a:lnTo>
                  <a:pt x="114" y="245"/>
                </a:lnTo>
                <a:lnTo>
                  <a:pt x="131" y="228"/>
                </a:lnTo>
                <a:lnTo>
                  <a:pt x="147" y="211"/>
                </a:lnTo>
                <a:lnTo>
                  <a:pt x="164" y="192"/>
                </a:lnTo>
                <a:lnTo>
                  <a:pt x="180" y="173"/>
                </a:lnTo>
                <a:lnTo>
                  <a:pt x="196" y="154"/>
                </a:lnTo>
                <a:lnTo>
                  <a:pt x="213" y="135"/>
                </a:lnTo>
                <a:lnTo>
                  <a:pt x="229" y="116"/>
                </a:lnTo>
                <a:lnTo>
                  <a:pt x="246" y="98"/>
                </a:lnTo>
                <a:lnTo>
                  <a:pt x="262" y="80"/>
                </a:lnTo>
                <a:lnTo>
                  <a:pt x="278" y="64"/>
                </a:lnTo>
                <a:lnTo>
                  <a:pt x="295" y="48"/>
                </a:lnTo>
                <a:lnTo>
                  <a:pt x="311" y="35"/>
                </a:lnTo>
                <a:lnTo>
                  <a:pt x="327" y="23"/>
                </a:lnTo>
                <a:lnTo>
                  <a:pt x="344" y="13"/>
                </a:lnTo>
                <a:lnTo>
                  <a:pt x="360" y="6"/>
                </a:lnTo>
                <a:lnTo>
                  <a:pt x="377" y="2"/>
                </a:lnTo>
                <a:lnTo>
                  <a:pt x="393" y="0"/>
                </a:lnTo>
                <a:lnTo>
                  <a:pt x="393" y="12"/>
                </a:lnTo>
                <a:lnTo>
                  <a:pt x="377" y="14"/>
                </a:lnTo>
                <a:lnTo>
                  <a:pt x="360" y="18"/>
                </a:lnTo>
                <a:lnTo>
                  <a:pt x="344" y="25"/>
                </a:lnTo>
                <a:lnTo>
                  <a:pt x="327" y="35"/>
                </a:lnTo>
                <a:lnTo>
                  <a:pt x="311" y="47"/>
                </a:lnTo>
                <a:lnTo>
                  <a:pt x="295" y="60"/>
                </a:lnTo>
                <a:lnTo>
                  <a:pt x="278" y="75"/>
                </a:lnTo>
                <a:lnTo>
                  <a:pt x="262" y="92"/>
                </a:lnTo>
                <a:lnTo>
                  <a:pt x="246" y="110"/>
                </a:lnTo>
                <a:lnTo>
                  <a:pt x="229" y="128"/>
                </a:lnTo>
                <a:lnTo>
                  <a:pt x="213" y="147"/>
                </a:lnTo>
                <a:lnTo>
                  <a:pt x="196" y="166"/>
                </a:lnTo>
                <a:lnTo>
                  <a:pt x="180" y="185"/>
                </a:lnTo>
                <a:lnTo>
                  <a:pt x="164" y="204"/>
                </a:lnTo>
                <a:lnTo>
                  <a:pt x="147" y="223"/>
                </a:lnTo>
                <a:lnTo>
                  <a:pt x="131" y="240"/>
                </a:lnTo>
                <a:lnTo>
                  <a:pt x="114" y="257"/>
                </a:lnTo>
                <a:lnTo>
                  <a:pt x="98" y="272"/>
                </a:lnTo>
                <a:lnTo>
                  <a:pt x="82" y="286"/>
                </a:lnTo>
                <a:lnTo>
                  <a:pt x="65" y="297"/>
                </a:lnTo>
                <a:lnTo>
                  <a:pt x="49" y="307"/>
                </a:lnTo>
                <a:lnTo>
                  <a:pt x="33" y="314"/>
                </a:lnTo>
                <a:lnTo>
                  <a:pt x="16" y="319"/>
                </a:lnTo>
                <a:lnTo>
                  <a:pt x="0" y="32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2057400" y="3552825"/>
            <a:ext cx="3743325" cy="2495550"/>
          </a:xfrm>
          <a:custGeom>
            <a:avLst/>
            <a:gdLst/>
            <a:ahLst/>
            <a:cxnLst/>
            <a:rect l="l" t="t" r="r" b="b"/>
            <a:pathLst>
              <a:path w="393" h="262">
                <a:moveTo>
                  <a:pt x="0" y="254"/>
                </a:moveTo>
                <a:lnTo>
                  <a:pt x="16" y="253"/>
                </a:lnTo>
                <a:lnTo>
                  <a:pt x="33" y="249"/>
                </a:lnTo>
                <a:lnTo>
                  <a:pt x="49" y="243"/>
                </a:lnTo>
                <a:lnTo>
                  <a:pt x="65" y="235"/>
                </a:lnTo>
                <a:lnTo>
                  <a:pt x="82" y="226"/>
                </a:lnTo>
                <a:lnTo>
                  <a:pt x="98" y="215"/>
                </a:lnTo>
                <a:lnTo>
                  <a:pt x="114" y="202"/>
                </a:lnTo>
                <a:lnTo>
                  <a:pt x="131" y="188"/>
                </a:lnTo>
                <a:lnTo>
                  <a:pt x="147" y="174"/>
                </a:lnTo>
                <a:lnTo>
                  <a:pt x="164" y="159"/>
                </a:lnTo>
                <a:lnTo>
                  <a:pt x="180" y="143"/>
                </a:lnTo>
                <a:lnTo>
                  <a:pt x="196" y="127"/>
                </a:lnTo>
                <a:lnTo>
                  <a:pt x="213" y="111"/>
                </a:lnTo>
                <a:lnTo>
                  <a:pt x="229" y="96"/>
                </a:lnTo>
                <a:lnTo>
                  <a:pt x="246" y="81"/>
                </a:lnTo>
                <a:lnTo>
                  <a:pt x="262" y="66"/>
                </a:lnTo>
                <a:lnTo>
                  <a:pt x="278" y="53"/>
                </a:lnTo>
                <a:lnTo>
                  <a:pt x="295" y="40"/>
                </a:lnTo>
                <a:lnTo>
                  <a:pt x="311" y="29"/>
                </a:lnTo>
                <a:lnTo>
                  <a:pt x="327" y="19"/>
                </a:lnTo>
                <a:lnTo>
                  <a:pt x="344" y="11"/>
                </a:lnTo>
                <a:lnTo>
                  <a:pt x="360" y="5"/>
                </a:lnTo>
                <a:lnTo>
                  <a:pt x="377" y="2"/>
                </a:lnTo>
                <a:lnTo>
                  <a:pt x="393" y="0"/>
                </a:lnTo>
                <a:lnTo>
                  <a:pt x="393" y="8"/>
                </a:lnTo>
                <a:lnTo>
                  <a:pt x="377" y="10"/>
                </a:lnTo>
                <a:lnTo>
                  <a:pt x="360" y="13"/>
                </a:lnTo>
                <a:lnTo>
                  <a:pt x="344" y="19"/>
                </a:lnTo>
                <a:lnTo>
                  <a:pt x="327" y="27"/>
                </a:lnTo>
                <a:lnTo>
                  <a:pt x="311" y="37"/>
                </a:lnTo>
                <a:lnTo>
                  <a:pt x="295" y="48"/>
                </a:lnTo>
                <a:lnTo>
                  <a:pt x="278" y="61"/>
                </a:lnTo>
                <a:lnTo>
                  <a:pt x="262" y="74"/>
                </a:lnTo>
                <a:lnTo>
                  <a:pt x="246" y="89"/>
                </a:lnTo>
                <a:lnTo>
                  <a:pt x="229" y="104"/>
                </a:lnTo>
                <a:lnTo>
                  <a:pt x="213" y="120"/>
                </a:lnTo>
                <a:lnTo>
                  <a:pt x="196" y="135"/>
                </a:lnTo>
                <a:lnTo>
                  <a:pt x="180" y="151"/>
                </a:lnTo>
                <a:lnTo>
                  <a:pt x="164" y="167"/>
                </a:lnTo>
                <a:lnTo>
                  <a:pt x="147" y="182"/>
                </a:lnTo>
                <a:lnTo>
                  <a:pt x="131" y="196"/>
                </a:lnTo>
                <a:lnTo>
                  <a:pt x="114" y="210"/>
                </a:lnTo>
                <a:lnTo>
                  <a:pt x="98" y="223"/>
                </a:lnTo>
                <a:lnTo>
                  <a:pt x="82" y="234"/>
                </a:lnTo>
                <a:lnTo>
                  <a:pt x="65" y="243"/>
                </a:lnTo>
                <a:lnTo>
                  <a:pt x="49" y="251"/>
                </a:lnTo>
                <a:lnTo>
                  <a:pt x="33" y="257"/>
                </a:lnTo>
                <a:lnTo>
                  <a:pt x="16" y="261"/>
                </a:lnTo>
                <a:lnTo>
                  <a:pt x="0" y="26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057400" y="4133850"/>
            <a:ext cx="3743325" cy="1990725"/>
          </a:xfrm>
          <a:custGeom>
            <a:avLst/>
            <a:gdLst/>
            <a:ahLst/>
            <a:cxnLst/>
            <a:rect l="l" t="t" r="r" b="b"/>
            <a:pathLst>
              <a:path w="393" h="209">
                <a:moveTo>
                  <a:pt x="0" y="201"/>
                </a:moveTo>
                <a:lnTo>
                  <a:pt x="16" y="200"/>
                </a:lnTo>
                <a:lnTo>
                  <a:pt x="33" y="197"/>
                </a:lnTo>
                <a:lnTo>
                  <a:pt x="49" y="193"/>
                </a:lnTo>
                <a:lnTo>
                  <a:pt x="65" y="186"/>
                </a:lnTo>
                <a:lnTo>
                  <a:pt x="82" y="179"/>
                </a:lnTo>
                <a:lnTo>
                  <a:pt x="98" y="170"/>
                </a:lnTo>
                <a:lnTo>
                  <a:pt x="114" y="160"/>
                </a:lnTo>
                <a:lnTo>
                  <a:pt x="131" y="149"/>
                </a:lnTo>
                <a:lnTo>
                  <a:pt x="147" y="137"/>
                </a:lnTo>
                <a:lnTo>
                  <a:pt x="164" y="125"/>
                </a:lnTo>
                <a:lnTo>
                  <a:pt x="180" y="113"/>
                </a:lnTo>
                <a:lnTo>
                  <a:pt x="196" y="101"/>
                </a:lnTo>
                <a:lnTo>
                  <a:pt x="213" y="88"/>
                </a:lnTo>
                <a:lnTo>
                  <a:pt x="229" y="76"/>
                </a:lnTo>
                <a:lnTo>
                  <a:pt x="246" y="64"/>
                </a:lnTo>
                <a:lnTo>
                  <a:pt x="262" y="52"/>
                </a:lnTo>
                <a:lnTo>
                  <a:pt x="278" y="41"/>
                </a:lnTo>
                <a:lnTo>
                  <a:pt x="295" y="31"/>
                </a:lnTo>
                <a:lnTo>
                  <a:pt x="311" y="22"/>
                </a:lnTo>
                <a:lnTo>
                  <a:pt x="327" y="15"/>
                </a:lnTo>
                <a:lnTo>
                  <a:pt x="344" y="9"/>
                </a:lnTo>
                <a:lnTo>
                  <a:pt x="360" y="4"/>
                </a:lnTo>
                <a:lnTo>
                  <a:pt x="377" y="1"/>
                </a:lnTo>
                <a:lnTo>
                  <a:pt x="393" y="0"/>
                </a:lnTo>
                <a:lnTo>
                  <a:pt x="393" y="8"/>
                </a:lnTo>
                <a:lnTo>
                  <a:pt x="377" y="9"/>
                </a:lnTo>
                <a:lnTo>
                  <a:pt x="360" y="12"/>
                </a:lnTo>
                <a:lnTo>
                  <a:pt x="344" y="16"/>
                </a:lnTo>
                <a:lnTo>
                  <a:pt x="327" y="23"/>
                </a:lnTo>
                <a:lnTo>
                  <a:pt x="311" y="30"/>
                </a:lnTo>
                <a:lnTo>
                  <a:pt x="295" y="39"/>
                </a:lnTo>
                <a:lnTo>
                  <a:pt x="278" y="49"/>
                </a:lnTo>
                <a:lnTo>
                  <a:pt x="262" y="60"/>
                </a:lnTo>
                <a:lnTo>
                  <a:pt x="246" y="71"/>
                </a:lnTo>
                <a:lnTo>
                  <a:pt x="229" y="83"/>
                </a:lnTo>
                <a:lnTo>
                  <a:pt x="213" y="96"/>
                </a:lnTo>
                <a:lnTo>
                  <a:pt x="196" y="108"/>
                </a:lnTo>
                <a:lnTo>
                  <a:pt x="180" y="121"/>
                </a:lnTo>
                <a:lnTo>
                  <a:pt x="164" y="133"/>
                </a:lnTo>
                <a:lnTo>
                  <a:pt x="147" y="145"/>
                </a:lnTo>
                <a:lnTo>
                  <a:pt x="131" y="157"/>
                </a:lnTo>
                <a:lnTo>
                  <a:pt x="114" y="168"/>
                </a:lnTo>
                <a:lnTo>
                  <a:pt x="98" y="177"/>
                </a:lnTo>
                <a:lnTo>
                  <a:pt x="82" y="186"/>
                </a:lnTo>
                <a:lnTo>
                  <a:pt x="65" y="194"/>
                </a:lnTo>
                <a:lnTo>
                  <a:pt x="49" y="200"/>
                </a:lnTo>
                <a:lnTo>
                  <a:pt x="33" y="205"/>
                </a:lnTo>
                <a:lnTo>
                  <a:pt x="16" y="208"/>
                </a:lnTo>
                <a:lnTo>
                  <a:pt x="0" y="20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2057400" y="4648200"/>
            <a:ext cx="3743325" cy="1543050"/>
          </a:xfrm>
          <a:custGeom>
            <a:avLst/>
            <a:gdLst/>
            <a:ahLst/>
            <a:cxnLst/>
            <a:rect l="l" t="t" r="r" b="b"/>
            <a:pathLst>
              <a:path w="393" h="162">
                <a:moveTo>
                  <a:pt x="0" y="155"/>
                </a:moveTo>
                <a:lnTo>
                  <a:pt x="16" y="154"/>
                </a:lnTo>
                <a:lnTo>
                  <a:pt x="33" y="152"/>
                </a:lnTo>
                <a:lnTo>
                  <a:pt x="49" y="148"/>
                </a:lnTo>
                <a:lnTo>
                  <a:pt x="65" y="143"/>
                </a:lnTo>
                <a:lnTo>
                  <a:pt x="82" y="138"/>
                </a:lnTo>
                <a:lnTo>
                  <a:pt x="98" y="131"/>
                </a:lnTo>
                <a:lnTo>
                  <a:pt x="114" y="123"/>
                </a:lnTo>
                <a:lnTo>
                  <a:pt x="131" y="115"/>
                </a:lnTo>
                <a:lnTo>
                  <a:pt x="147" y="106"/>
                </a:lnTo>
                <a:lnTo>
                  <a:pt x="164" y="97"/>
                </a:lnTo>
                <a:lnTo>
                  <a:pt x="180" y="87"/>
                </a:lnTo>
                <a:lnTo>
                  <a:pt x="196" y="77"/>
                </a:lnTo>
                <a:lnTo>
                  <a:pt x="213" y="68"/>
                </a:lnTo>
                <a:lnTo>
                  <a:pt x="229" y="58"/>
                </a:lnTo>
                <a:lnTo>
                  <a:pt x="246" y="49"/>
                </a:lnTo>
                <a:lnTo>
                  <a:pt x="262" y="40"/>
                </a:lnTo>
                <a:lnTo>
                  <a:pt x="278" y="32"/>
                </a:lnTo>
                <a:lnTo>
                  <a:pt x="295" y="24"/>
                </a:lnTo>
                <a:lnTo>
                  <a:pt x="311" y="17"/>
                </a:lnTo>
                <a:lnTo>
                  <a:pt x="327" y="11"/>
                </a:lnTo>
                <a:lnTo>
                  <a:pt x="344" y="6"/>
                </a:lnTo>
                <a:lnTo>
                  <a:pt x="360" y="3"/>
                </a:lnTo>
                <a:lnTo>
                  <a:pt x="377" y="0"/>
                </a:lnTo>
                <a:lnTo>
                  <a:pt x="393" y="0"/>
                </a:lnTo>
                <a:lnTo>
                  <a:pt x="393" y="6"/>
                </a:lnTo>
                <a:lnTo>
                  <a:pt x="377" y="7"/>
                </a:lnTo>
                <a:lnTo>
                  <a:pt x="360" y="9"/>
                </a:lnTo>
                <a:lnTo>
                  <a:pt x="344" y="13"/>
                </a:lnTo>
                <a:lnTo>
                  <a:pt x="327" y="18"/>
                </a:lnTo>
                <a:lnTo>
                  <a:pt x="311" y="24"/>
                </a:lnTo>
                <a:lnTo>
                  <a:pt x="295" y="31"/>
                </a:lnTo>
                <a:lnTo>
                  <a:pt x="278" y="38"/>
                </a:lnTo>
                <a:lnTo>
                  <a:pt x="262" y="47"/>
                </a:lnTo>
                <a:lnTo>
                  <a:pt x="246" y="55"/>
                </a:lnTo>
                <a:lnTo>
                  <a:pt x="229" y="65"/>
                </a:lnTo>
                <a:lnTo>
                  <a:pt x="213" y="74"/>
                </a:lnTo>
                <a:lnTo>
                  <a:pt x="196" y="84"/>
                </a:lnTo>
                <a:lnTo>
                  <a:pt x="180" y="94"/>
                </a:lnTo>
                <a:lnTo>
                  <a:pt x="164" y="103"/>
                </a:lnTo>
                <a:lnTo>
                  <a:pt x="147" y="112"/>
                </a:lnTo>
                <a:lnTo>
                  <a:pt x="131" y="121"/>
                </a:lnTo>
                <a:lnTo>
                  <a:pt x="114" y="130"/>
                </a:lnTo>
                <a:lnTo>
                  <a:pt x="98" y="137"/>
                </a:lnTo>
                <a:lnTo>
                  <a:pt x="82" y="144"/>
                </a:lnTo>
                <a:lnTo>
                  <a:pt x="65" y="150"/>
                </a:lnTo>
                <a:lnTo>
                  <a:pt x="49" y="155"/>
                </a:lnTo>
                <a:lnTo>
                  <a:pt x="33" y="159"/>
                </a:lnTo>
                <a:lnTo>
                  <a:pt x="16" y="161"/>
                </a:lnTo>
                <a:lnTo>
                  <a:pt x="0" y="16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2057400" y="5086350"/>
            <a:ext cx="3743325" cy="1152525"/>
          </a:xfrm>
          <a:custGeom>
            <a:avLst/>
            <a:gdLst/>
            <a:ahLst/>
            <a:cxnLst/>
            <a:rect l="l" t="t" r="r" b="b"/>
            <a:pathLst>
              <a:path w="393" h="121">
                <a:moveTo>
                  <a:pt x="0" y="116"/>
                </a:moveTo>
                <a:lnTo>
                  <a:pt x="16" y="115"/>
                </a:lnTo>
                <a:lnTo>
                  <a:pt x="33" y="113"/>
                </a:lnTo>
                <a:lnTo>
                  <a:pt x="49" y="111"/>
                </a:lnTo>
                <a:lnTo>
                  <a:pt x="65" y="107"/>
                </a:lnTo>
                <a:lnTo>
                  <a:pt x="82" y="103"/>
                </a:lnTo>
                <a:lnTo>
                  <a:pt x="98" y="97"/>
                </a:lnTo>
                <a:lnTo>
                  <a:pt x="114" y="92"/>
                </a:lnTo>
                <a:lnTo>
                  <a:pt x="131" y="86"/>
                </a:lnTo>
                <a:lnTo>
                  <a:pt x="147" y="79"/>
                </a:lnTo>
                <a:lnTo>
                  <a:pt x="164" y="72"/>
                </a:lnTo>
                <a:lnTo>
                  <a:pt x="180" y="65"/>
                </a:lnTo>
                <a:lnTo>
                  <a:pt x="196" y="58"/>
                </a:lnTo>
                <a:lnTo>
                  <a:pt x="213" y="50"/>
                </a:lnTo>
                <a:lnTo>
                  <a:pt x="229" y="43"/>
                </a:lnTo>
                <a:lnTo>
                  <a:pt x="246" y="36"/>
                </a:lnTo>
                <a:lnTo>
                  <a:pt x="262" y="30"/>
                </a:lnTo>
                <a:lnTo>
                  <a:pt x="278" y="23"/>
                </a:lnTo>
                <a:lnTo>
                  <a:pt x="295" y="18"/>
                </a:lnTo>
                <a:lnTo>
                  <a:pt x="311" y="13"/>
                </a:lnTo>
                <a:lnTo>
                  <a:pt x="327" y="8"/>
                </a:lnTo>
                <a:lnTo>
                  <a:pt x="344" y="5"/>
                </a:lnTo>
                <a:lnTo>
                  <a:pt x="360" y="2"/>
                </a:lnTo>
                <a:lnTo>
                  <a:pt x="377" y="0"/>
                </a:lnTo>
                <a:lnTo>
                  <a:pt x="393" y="0"/>
                </a:lnTo>
                <a:lnTo>
                  <a:pt x="393" y="5"/>
                </a:lnTo>
                <a:lnTo>
                  <a:pt x="377" y="6"/>
                </a:lnTo>
                <a:lnTo>
                  <a:pt x="360" y="7"/>
                </a:lnTo>
                <a:lnTo>
                  <a:pt x="344" y="10"/>
                </a:lnTo>
                <a:lnTo>
                  <a:pt x="327" y="14"/>
                </a:lnTo>
                <a:lnTo>
                  <a:pt x="311" y="18"/>
                </a:lnTo>
                <a:lnTo>
                  <a:pt x="295" y="23"/>
                </a:lnTo>
                <a:lnTo>
                  <a:pt x="278" y="29"/>
                </a:lnTo>
                <a:lnTo>
                  <a:pt x="262" y="35"/>
                </a:lnTo>
                <a:lnTo>
                  <a:pt x="246" y="42"/>
                </a:lnTo>
                <a:lnTo>
                  <a:pt x="229" y="49"/>
                </a:lnTo>
                <a:lnTo>
                  <a:pt x="213" y="56"/>
                </a:lnTo>
                <a:lnTo>
                  <a:pt x="196" y="63"/>
                </a:lnTo>
                <a:lnTo>
                  <a:pt x="180" y="70"/>
                </a:lnTo>
                <a:lnTo>
                  <a:pt x="164" y="77"/>
                </a:lnTo>
                <a:lnTo>
                  <a:pt x="147" y="84"/>
                </a:lnTo>
                <a:lnTo>
                  <a:pt x="131" y="91"/>
                </a:lnTo>
                <a:lnTo>
                  <a:pt x="114" y="97"/>
                </a:lnTo>
                <a:lnTo>
                  <a:pt x="98" y="103"/>
                </a:lnTo>
                <a:lnTo>
                  <a:pt x="82" y="108"/>
                </a:lnTo>
                <a:lnTo>
                  <a:pt x="65" y="113"/>
                </a:lnTo>
                <a:lnTo>
                  <a:pt x="49" y="116"/>
                </a:lnTo>
                <a:lnTo>
                  <a:pt x="33" y="119"/>
                </a:lnTo>
                <a:lnTo>
                  <a:pt x="16" y="121"/>
                </a:lnTo>
                <a:lnTo>
                  <a:pt x="0" y="12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2057400" y="5476875"/>
            <a:ext cx="3743325" cy="809625"/>
          </a:xfrm>
          <a:custGeom>
            <a:avLst/>
            <a:gdLst/>
            <a:ahLst/>
            <a:cxnLst/>
            <a:rect l="l" t="t" r="r" b="b"/>
            <a:pathLst>
              <a:path w="393" h="85">
                <a:moveTo>
                  <a:pt x="0" y="80"/>
                </a:moveTo>
                <a:lnTo>
                  <a:pt x="16" y="80"/>
                </a:lnTo>
                <a:lnTo>
                  <a:pt x="33" y="79"/>
                </a:lnTo>
                <a:lnTo>
                  <a:pt x="49" y="77"/>
                </a:lnTo>
                <a:lnTo>
                  <a:pt x="65" y="74"/>
                </a:lnTo>
                <a:lnTo>
                  <a:pt x="82" y="71"/>
                </a:lnTo>
                <a:lnTo>
                  <a:pt x="98" y="68"/>
                </a:lnTo>
                <a:lnTo>
                  <a:pt x="114" y="64"/>
                </a:lnTo>
                <a:lnTo>
                  <a:pt x="131" y="59"/>
                </a:lnTo>
                <a:lnTo>
                  <a:pt x="147" y="55"/>
                </a:lnTo>
                <a:lnTo>
                  <a:pt x="164" y="50"/>
                </a:lnTo>
                <a:lnTo>
                  <a:pt x="180" y="45"/>
                </a:lnTo>
                <a:lnTo>
                  <a:pt x="196" y="40"/>
                </a:lnTo>
                <a:lnTo>
                  <a:pt x="213" y="35"/>
                </a:lnTo>
                <a:lnTo>
                  <a:pt x="229" y="30"/>
                </a:lnTo>
                <a:lnTo>
                  <a:pt x="246" y="25"/>
                </a:lnTo>
                <a:lnTo>
                  <a:pt x="262" y="21"/>
                </a:lnTo>
                <a:lnTo>
                  <a:pt x="278" y="16"/>
                </a:lnTo>
                <a:lnTo>
                  <a:pt x="295" y="12"/>
                </a:lnTo>
                <a:lnTo>
                  <a:pt x="311" y="9"/>
                </a:lnTo>
                <a:lnTo>
                  <a:pt x="327" y="6"/>
                </a:lnTo>
                <a:lnTo>
                  <a:pt x="344" y="3"/>
                </a:lnTo>
                <a:lnTo>
                  <a:pt x="360" y="1"/>
                </a:lnTo>
                <a:lnTo>
                  <a:pt x="377" y="0"/>
                </a:lnTo>
                <a:lnTo>
                  <a:pt x="393" y="0"/>
                </a:lnTo>
                <a:lnTo>
                  <a:pt x="393" y="5"/>
                </a:lnTo>
                <a:lnTo>
                  <a:pt x="377" y="5"/>
                </a:lnTo>
                <a:lnTo>
                  <a:pt x="360" y="6"/>
                </a:lnTo>
                <a:lnTo>
                  <a:pt x="344" y="8"/>
                </a:lnTo>
                <a:lnTo>
                  <a:pt x="327" y="11"/>
                </a:lnTo>
                <a:lnTo>
                  <a:pt x="311" y="14"/>
                </a:lnTo>
                <a:lnTo>
                  <a:pt x="295" y="17"/>
                </a:lnTo>
                <a:lnTo>
                  <a:pt x="278" y="21"/>
                </a:lnTo>
                <a:lnTo>
                  <a:pt x="262" y="26"/>
                </a:lnTo>
                <a:lnTo>
                  <a:pt x="246" y="30"/>
                </a:lnTo>
                <a:lnTo>
                  <a:pt x="229" y="35"/>
                </a:lnTo>
                <a:lnTo>
                  <a:pt x="213" y="40"/>
                </a:lnTo>
                <a:lnTo>
                  <a:pt x="196" y="45"/>
                </a:lnTo>
                <a:lnTo>
                  <a:pt x="180" y="50"/>
                </a:lnTo>
                <a:lnTo>
                  <a:pt x="164" y="55"/>
                </a:lnTo>
                <a:lnTo>
                  <a:pt x="147" y="60"/>
                </a:lnTo>
                <a:lnTo>
                  <a:pt x="131" y="64"/>
                </a:lnTo>
                <a:lnTo>
                  <a:pt x="114" y="69"/>
                </a:lnTo>
                <a:lnTo>
                  <a:pt x="98" y="73"/>
                </a:lnTo>
                <a:lnTo>
                  <a:pt x="82" y="76"/>
                </a:lnTo>
                <a:lnTo>
                  <a:pt x="65" y="79"/>
                </a:lnTo>
                <a:lnTo>
                  <a:pt x="49" y="82"/>
                </a:lnTo>
                <a:lnTo>
                  <a:pt x="33" y="84"/>
                </a:lnTo>
                <a:lnTo>
                  <a:pt x="16" y="85"/>
                </a:lnTo>
                <a:lnTo>
                  <a:pt x="0" y="85"/>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2057400" y="5772150"/>
            <a:ext cx="3743325" cy="542925"/>
          </a:xfrm>
          <a:custGeom>
            <a:avLst/>
            <a:gdLst/>
            <a:ahLst/>
            <a:cxnLst/>
            <a:rect l="l" t="t" r="r" b="b"/>
            <a:pathLst>
              <a:path w="393" h="57">
                <a:moveTo>
                  <a:pt x="0" y="54"/>
                </a:moveTo>
                <a:lnTo>
                  <a:pt x="16" y="54"/>
                </a:lnTo>
                <a:lnTo>
                  <a:pt x="33" y="53"/>
                </a:lnTo>
                <a:lnTo>
                  <a:pt x="49" y="52"/>
                </a:lnTo>
                <a:lnTo>
                  <a:pt x="65" y="50"/>
                </a:lnTo>
                <a:lnTo>
                  <a:pt x="82" y="48"/>
                </a:lnTo>
                <a:lnTo>
                  <a:pt x="98" y="46"/>
                </a:lnTo>
                <a:lnTo>
                  <a:pt x="114" y="43"/>
                </a:lnTo>
                <a:lnTo>
                  <a:pt x="131" y="40"/>
                </a:lnTo>
                <a:lnTo>
                  <a:pt x="147" y="37"/>
                </a:lnTo>
                <a:lnTo>
                  <a:pt x="164" y="34"/>
                </a:lnTo>
                <a:lnTo>
                  <a:pt x="180" y="30"/>
                </a:lnTo>
                <a:lnTo>
                  <a:pt x="196" y="27"/>
                </a:lnTo>
                <a:lnTo>
                  <a:pt x="213" y="24"/>
                </a:lnTo>
                <a:lnTo>
                  <a:pt x="229" y="20"/>
                </a:lnTo>
                <a:lnTo>
                  <a:pt x="246" y="17"/>
                </a:lnTo>
                <a:lnTo>
                  <a:pt x="262" y="14"/>
                </a:lnTo>
                <a:lnTo>
                  <a:pt x="278" y="11"/>
                </a:lnTo>
                <a:lnTo>
                  <a:pt x="295" y="9"/>
                </a:lnTo>
                <a:lnTo>
                  <a:pt x="311" y="6"/>
                </a:lnTo>
                <a:lnTo>
                  <a:pt x="327" y="4"/>
                </a:lnTo>
                <a:lnTo>
                  <a:pt x="344" y="2"/>
                </a:lnTo>
                <a:lnTo>
                  <a:pt x="360" y="1"/>
                </a:lnTo>
                <a:lnTo>
                  <a:pt x="377" y="0"/>
                </a:lnTo>
                <a:lnTo>
                  <a:pt x="393" y="0"/>
                </a:lnTo>
                <a:lnTo>
                  <a:pt x="393" y="3"/>
                </a:lnTo>
                <a:lnTo>
                  <a:pt x="377" y="4"/>
                </a:lnTo>
                <a:lnTo>
                  <a:pt x="360" y="5"/>
                </a:lnTo>
                <a:lnTo>
                  <a:pt x="344" y="6"/>
                </a:lnTo>
                <a:lnTo>
                  <a:pt x="327" y="7"/>
                </a:lnTo>
                <a:lnTo>
                  <a:pt x="311" y="10"/>
                </a:lnTo>
                <a:lnTo>
                  <a:pt x="295" y="12"/>
                </a:lnTo>
                <a:lnTo>
                  <a:pt x="278" y="15"/>
                </a:lnTo>
                <a:lnTo>
                  <a:pt x="262" y="17"/>
                </a:lnTo>
                <a:lnTo>
                  <a:pt x="246" y="21"/>
                </a:lnTo>
                <a:lnTo>
                  <a:pt x="229" y="24"/>
                </a:lnTo>
                <a:lnTo>
                  <a:pt x="213" y="27"/>
                </a:lnTo>
                <a:lnTo>
                  <a:pt x="196" y="30"/>
                </a:lnTo>
                <a:lnTo>
                  <a:pt x="180" y="34"/>
                </a:lnTo>
                <a:lnTo>
                  <a:pt x="164" y="37"/>
                </a:lnTo>
                <a:lnTo>
                  <a:pt x="147" y="40"/>
                </a:lnTo>
                <a:lnTo>
                  <a:pt x="131" y="43"/>
                </a:lnTo>
                <a:lnTo>
                  <a:pt x="114" y="46"/>
                </a:lnTo>
                <a:lnTo>
                  <a:pt x="98" y="49"/>
                </a:lnTo>
                <a:lnTo>
                  <a:pt x="82" y="51"/>
                </a:lnTo>
                <a:lnTo>
                  <a:pt x="65" y="53"/>
                </a:lnTo>
                <a:lnTo>
                  <a:pt x="49" y="55"/>
                </a:lnTo>
                <a:lnTo>
                  <a:pt x="33" y="56"/>
                </a:lnTo>
                <a:lnTo>
                  <a:pt x="16" y="57"/>
                </a:lnTo>
                <a:lnTo>
                  <a:pt x="0" y="57"/>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2057400" y="5991225"/>
            <a:ext cx="3743325" cy="352425"/>
          </a:xfrm>
          <a:custGeom>
            <a:avLst/>
            <a:gdLst/>
            <a:ahLst/>
            <a:cxnLst/>
            <a:rect l="l" t="t" r="r" b="b"/>
            <a:pathLst>
              <a:path w="393" h="37">
                <a:moveTo>
                  <a:pt x="0" y="34"/>
                </a:moveTo>
                <a:lnTo>
                  <a:pt x="16" y="34"/>
                </a:lnTo>
                <a:lnTo>
                  <a:pt x="33" y="34"/>
                </a:lnTo>
                <a:lnTo>
                  <a:pt x="49" y="33"/>
                </a:lnTo>
                <a:lnTo>
                  <a:pt x="65" y="32"/>
                </a:lnTo>
                <a:lnTo>
                  <a:pt x="82" y="31"/>
                </a:lnTo>
                <a:lnTo>
                  <a:pt x="98" y="29"/>
                </a:lnTo>
                <a:lnTo>
                  <a:pt x="114" y="27"/>
                </a:lnTo>
                <a:lnTo>
                  <a:pt x="131" y="26"/>
                </a:lnTo>
                <a:lnTo>
                  <a:pt x="147" y="24"/>
                </a:lnTo>
                <a:lnTo>
                  <a:pt x="164" y="22"/>
                </a:lnTo>
                <a:lnTo>
                  <a:pt x="180" y="20"/>
                </a:lnTo>
                <a:lnTo>
                  <a:pt x="196" y="17"/>
                </a:lnTo>
                <a:lnTo>
                  <a:pt x="213" y="15"/>
                </a:lnTo>
                <a:lnTo>
                  <a:pt x="229" y="13"/>
                </a:lnTo>
                <a:lnTo>
                  <a:pt x="246" y="11"/>
                </a:lnTo>
                <a:lnTo>
                  <a:pt x="262" y="9"/>
                </a:lnTo>
                <a:lnTo>
                  <a:pt x="278" y="7"/>
                </a:lnTo>
                <a:lnTo>
                  <a:pt x="295" y="6"/>
                </a:lnTo>
                <a:lnTo>
                  <a:pt x="311" y="4"/>
                </a:lnTo>
                <a:lnTo>
                  <a:pt x="327" y="3"/>
                </a:lnTo>
                <a:lnTo>
                  <a:pt x="344" y="2"/>
                </a:lnTo>
                <a:lnTo>
                  <a:pt x="360" y="1"/>
                </a:lnTo>
                <a:lnTo>
                  <a:pt x="377" y="0"/>
                </a:lnTo>
                <a:lnTo>
                  <a:pt x="393" y="0"/>
                </a:lnTo>
                <a:lnTo>
                  <a:pt x="393" y="3"/>
                </a:lnTo>
                <a:lnTo>
                  <a:pt x="377" y="3"/>
                </a:lnTo>
                <a:lnTo>
                  <a:pt x="360" y="3"/>
                </a:lnTo>
                <a:lnTo>
                  <a:pt x="344" y="4"/>
                </a:lnTo>
                <a:lnTo>
                  <a:pt x="327" y="5"/>
                </a:lnTo>
                <a:lnTo>
                  <a:pt x="311" y="6"/>
                </a:lnTo>
                <a:lnTo>
                  <a:pt x="295" y="8"/>
                </a:lnTo>
                <a:lnTo>
                  <a:pt x="278" y="10"/>
                </a:lnTo>
                <a:lnTo>
                  <a:pt x="262" y="11"/>
                </a:lnTo>
                <a:lnTo>
                  <a:pt x="246" y="13"/>
                </a:lnTo>
                <a:lnTo>
                  <a:pt x="229" y="15"/>
                </a:lnTo>
                <a:lnTo>
                  <a:pt x="213" y="18"/>
                </a:lnTo>
                <a:lnTo>
                  <a:pt x="196" y="20"/>
                </a:lnTo>
                <a:lnTo>
                  <a:pt x="180" y="22"/>
                </a:lnTo>
                <a:lnTo>
                  <a:pt x="164" y="24"/>
                </a:lnTo>
                <a:lnTo>
                  <a:pt x="147" y="26"/>
                </a:lnTo>
                <a:lnTo>
                  <a:pt x="131" y="28"/>
                </a:lnTo>
                <a:lnTo>
                  <a:pt x="114" y="30"/>
                </a:lnTo>
                <a:lnTo>
                  <a:pt x="98" y="31"/>
                </a:lnTo>
                <a:lnTo>
                  <a:pt x="82" y="33"/>
                </a:lnTo>
                <a:lnTo>
                  <a:pt x="65" y="34"/>
                </a:lnTo>
                <a:lnTo>
                  <a:pt x="49" y="35"/>
                </a:lnTo>
                <a:lnTo>
                  <a:pt x="33" y="36"/>
                </a:lnTo>
                <a:lnTo>
                  <a:pt x="16" y="37"/>
                </a:lnTo>
                <a:lnTo>
                  <a:pt x="0" y="37"/>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2057400" y="6191250"/>
            <a:ext cx="3743325" cy="171450"/>
          </a:xfrm>
          <a:custGeom>
            <a:avLst/>
            <a:gdLst/>
            <a:ahLst/>
            <a:cxnLst/>
            <a:rect l="l" t="t" r="r" b="b"/>
            <a:pathLst>
              <a:path w="393" h="18">
                <a:moveTo>
                  <a:pt x="0" y="16"/>
                </a:moveTo>
                <a:lnTo>
                  <a:pt x="16" y="16"/>
                </a:lnTo>
                <a:lnTo>
                  <a:pt x="33" y="15"/>
                </a:lnTo>
                <a:lnTo>
                  <a:pt x="49" y="15"/>
                </a:lnTo>
                <a:lnTo>
                  <a:pt x="65" y="15"/>
                </a:lnTo>
                <a:lnTo>
                  <a:pt x="82" y="14"/>
                </a:lnTo>
                <a:lnTo>
                  <a:pt x="98" y="13"/>
                </a:lnTo>
                <a:lnTo>
                  <a:pt x="114" y="13"/>
                </a:lnTo>
                <a:lnTo>
                  <a:pt x="131" y="12"/>
                </a:lnTo>
                <a:lnTo>
                  <a:pt x="147" y="11"/>
                </a:lnTo>
                <a:lnTo>
                  <a:pt x="164" y="10"/>
                </a:lnTo>
                <a:lnTo>
                  <a:pt x="180" y="9"/>
                </a:lnTo>
                <a:lnTo>
                  <a:pt x="196" y="8"/>
                </a:lnTo>
                <a:lnTo>
                  <a:pt x="213" y="7"/>
                </a:lnTo>
                <a:lnTo>
                  <a:pt x="229" y="6"/>
                </a:lnTo>
                <a:lnTo>
                  <a:pt x="246" y="5"/>
                </a:lnTo>
                <a:lnTo>
                  <a:pt x="262" y="4"/>
                </a:lnTo>
                <a:lnTo>
                  <a:pt x="278" y="3"/>
                </a:lnTo>
                <a:lnTo>
                  <a:pt x="295" y="2"/>
                </a:lnTo>
                <a:lnTo>
                  <a:pt x="311" y="2"/>
                </a:lnTo>
                <a:lnTo>
                  <a:pt x="327" y="1"/>
                </a:lnTo>
                <a:lnTo>
                  <a:pt x="344" y="1"/>
                </a:lnTo>
                <a:lnTo>
                  <a:pt x="360" y="0"/>
                </a:lnTo>
                <a:lnTo>
                  <a:pt x="377" y="0"/>
                </a:lnTo>
                <a:lnTo>
                  <a:pt x="393" y="0"/>
                </a:lnTo>
                <a:lnTo>
                  <a:pt x="393" y="2"/>
                </a:lnTo>
                <a:lnTo>
                  <a:pt x="377" y="2"/>
                </a:lnTo>
                <a:lnTo>
                  <a:pt x="360" y="2"/>
                </a:lnTo>
                <a:lnTo>
                  <a:pt x="344" y="3"/>
                </a:lnTo>
                <a:lnTo>
                  <a:pt x="327" y="3"/>
                </a:lnTo>
                <a:lnTo>
                  <a:pt x="311" y="4"/>
                </a:lnTo>
                <a:lnTo>
                  <a:pt x="295" y="5"/>
                </a:lnTo>
                <a:lnTo>
                  <a:pt x="278" y="5"/>
                </a:lnTo>
                <a:lnTo>
                  <a:pt x="262" y="6"/>
                </a:lnTo>
                <a:lnTo>
                  <a:pt x="246" y="7"/>
                </a:lnTo>
                <a:lnTo>
                  <a:pt x="229" y="8"/>
                </a:lnTo>
                <a:lnTo>
                  <a:pt x="213" y="9"/>
                </a:lnTo>
                <a:lnTo>
                  <a:pt x="196" y="10"/>
                </a:lnTo>
                <a:lnTo>
                  <a:pt x="180" y="11"/>
                </a:lnTo>
                <a:lnTo>
                  <a:pt x="164" y="12"/>
                </a:lnTo>
                <a:lnTo>
                  <a:pt x="147" y="13"/>
                </a:lnTo>
                <a:lnTo>
                  <a:pt x="131" y="14"/>
                </a:lnTo>
                <a:lnTo>
                  <a:pt x="114" y="15"/>
                </a:lnTo>
                <a:lnTo>
                  <a:pt x="98" y="15"/>
                </a:lnTo>
                <a:lnTo>
                  <a:pt x="82" y="16"/>
                </a:lnTo>
                <a:lnTo>
                  <a:pt x="65" y="17"/>
                </a:lnTo>
                <a:lnTo>
                  <a:pt x="49" y="17"/>
                </a:lnTo>
                <a:lnTo>
                  <a:pt x="33" y="18"/>
                </a:lnTo>
                <a:lnTo>
                  <a:pt x="16" y="18"/>
                </a:lnTo>
                <a:lnTo>
                  <a:pt x="0" y="1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2057400" y="6362700"/>
            <a:ext cx="3743325" cy="28575"/>
          </a:xfrm>
          <a:custGeom>
            <a:avLst/>
            <a:gdLst/>
            <a:ahLst/>
            <a:cxnLst/>
            <a:rect l="l" t="t" r="r" b="b"/>
            <a:pathLst>
              <a:path w="393" h="3">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1"/>
                </a:lnTo>
                <a:lnTo>
                  <a:pt x="246" y="1"/>
                </a:lnTo>
                <a:lnTo>
                  <a:pt x="262" y="1"/>
                </a:lnTo>
                <a:lnTo>
                  <a:pt x="278" y="1"/>
                </a:lnTo>
                <a:lnTo>
                  <a:pt x="295" y="1"/>
                </a:lnTo>
                <a:lnTo>
                  <a:pt x="311" y="1"/>
                </a:lnTo>
                <a:lnTo>
                  <a:pt x="327" y="1"/>
                </a:lnTo>
                <a:lnTo>
                  <a:pt x="344" y="1"/>
                </a:lnTo>
                <a:lnTo>
                  <a:pt x="360" y="1"/>
                </a:lnTo>
                <a:lnTo>
                  <a:pt x="377" y="1"/>
                </a:lnTo>
                <a:lnTo>
                  <a:pt x="393" y="1"/>
                </a:lnTo>
                <a:lnTo>
                  <a:pt x="393" y="3"/>
                </a:lnTo>
                <a:lnTo>
                  <a:pt x="377" y="3"/>
                </a:lnTo>
                <a:lnTo>
                  <a:pt x="360" y="3"/>
                </a:lnTo>
                <a:lnTo>
                  <a:pt x="344" y="3"/>
                </a:lnTo>
                <a:lnTo>
                  <a:pt x="327" y="3"/>
                </a:lnTo>
                <a:lnTo>
                  <a:pt x="311" y="3"/>
                </a:lnTo>
                <a:lnTo>
                  <a:pt x="295" y="3"/>
                </a:lnTo>
                <a:lnTo>
                  <a:pt x="278" y="3"/>
                </a:lnTo>
                <a:lnTo>
                  <a:pt x="262" y="3"/>
                </a:lnTo>
                <a:lnTo>
                  <a:pt x="246" y="2"/>
                </a:lnTo>
                <a:lnTo>
                  <a:pt x="229" y="2"/>
                </a:lnTo>
                <a:lnTo>
                  <a:pt x="213" y="2"/>
                </a:lnTo>
                <a:lnTo>
                  <a:pt x="196" y="2"/>
                </a:lnTo>
                <a:lnTo>
                  <a:pt x="180" y="2"/>
                </a:lnTo>
                <a:lnTo>
                  <a:pt x="164" y="2"/>
                </a:lnTo>
                <a:lnTo>
                  <a:pt x="147" y="2"/>
                </a:lnTo>
                <a:lnTo>
                  <a:pt x="131" y="2"/>
                </a:lnTo>
                <a:lnTo>
                  <a:pt x="114" y="2"/>
                </a:lnTo>
                <a:lnTo>
                  <a:pt x="98" y="2"/>
                </a:lnTo>
                <a:lnTo>
                  <a:pt x="82" y="2"/>
                </a:lnTo>
                <a:lnTo>
                  <a:pt x="65" y="2"/>
                </a:lnTo>
                <a:lnTo>
                  <a:pt x="49" y="2"/>
                </a:lnTo>
                <a:lnTo>
                  <a:pt x="33" y="2"/>
                </a:lnTo>
                <a:lnTo>
                  <a:pt x="16" y="2"/>
                </a:lnTo>
                <a:lnTo>
                  <a:pt x="0" y="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2057400" y="6381750"/>
            <a:ext cx="3743325" cy="152400"/>
          </a:xfrm>
          <a:custGeom>
            <a:avLst/>
            <a:gdLst/>
            <a:ahLst/>
            <a:cxnLst/>
            <a:rect l="l" t="t" r="r" b="b"/>
            <a:pathLst>
              <a:path w="393" h="16">
                <a:moveTo>
                  <a:pt x="0" y="0"/>
                </a:moveTo>
                <a:lnTo>
                  <a:pt x="16" y="0"/>
                </a:lnTo>
                <a:lnTo>
                  <a:pt x="33" y="0"/>
                </a:lnTo>
                <a:lnTo>
                  <a:pt x="49" y="0"/>
                </a:lnTo>
                <a:lnTo>
                  <a:pt x="65" y="1"/>
                </a:lnTo>
                <a:lnTo>
                  <a:pt x="82" y="1"/>
                </a:lnTo>
                <a:lnTo>
                  <a:pt x="98" y="2"/>
                </a:lnTo>
                <a:lnTo>
                  <a:pt x="114" y="3"/>
                </a:lnTo>
                <a:lnTo>
                  <a:pt x="131" y="4"/>
                </a:lnTo>
                <a:lnTo>
                  <a:pt x="147" y="4"/>
                </a:lnTo>
                <a:lnTo>
                  <a:pt x="164" y="5"/>
                </a:lnTo>
                <a:lnTo>
                  <a:pt x="180" y="6"/>
                </a:lnTo>
                <a:lnTo>
                  <a:pt x="196" y="7"/>
                </a:lnTo>
                <a:lnTo>
                  <a:pt x="213" y="8"/>
                </a:lnTo>
                <a:lnTo>
                  <a:pt x="229" y="9"/>
                </a:lnTo>
                <a:lnTo>
                  <a:pt x="246" y="10"/>
                </a:lnTo>
                <a:lnTo>
                  <a:pt x="262" y="11"/>
                </a:lnTo>
                <a:lnTo>
                  <a:pt x="278" y="12"/>
                </a:lnTo>
                <a:lnTo>
                  <a:pt x="295" y="12"/>
                </a:lnTo>
                <a:lnTo>
                  <a:pt x="311" y="13"/>
                </a:lnTo>
                <a:lnTo>
                  <a:pt x="327" y="14"/>
                </a:lnTo>
                <a:lnTo>
                  <a:pt x="344" y="14"/>
                </a:lnTo>
                <a:lnTo>
                  <a:pt x="360" y="14"/>
                </a:lnTo>
                <a:lnTo>
                  <a:pt x="377" y="15"/>
                </a:lnTo>
                <a:lnTo>
                  <a:pt x="393" y="15"/>
                </a:lnTo>
                <a:lnTo>
                  <a:pt x="393" y="16"/>
                </a:lnTo>
                <a:lnTo>
                  <a:pt x="377" y="16"/>
                </a:lnTo>
                <a:lnTo>
                  <a:pt x="360" y="16"/>
                </a:lnTo>
                <a:lnTo>
                  <a:pt x="344" y="15"/>
                </a:lnTo>
                <a:lnTo>
                  <a:pt x="327" y="15"/>
                </a:lnTo>
                <a:lnTo>
                  <a:pt x="311" y="14"/>
                </a:lnTo>
                <a:lnTo>
                  <a:pt x="295" y="14"/>
                </a:lnTo>
                <a:lnTo>
                  <a:pt x="278" y="13"/>
                </a:lnTo>
                <a:lnTo>
                  <a:pt x="262" y="12"/>
                </a:lnTo>
                <a:lnTo>
                  <a:pt x="246" y="11"/>
                </a:lnTo>
                <a:lnTo>
                  <a:pt x="229" y="10"/>
                </a:lnTo>
                <a:lnTo>
                  <a:pt x="213" y="9"/>
                </a:lnTo>
                <a:lnTo>
                  <a:pt x="196" y="8"/>
                </a:lnTo>
                <a:lnTo>
                  <a:pt x="180" y="8"/>
                </a:lnTo>
                <a:lnTo>
                  <a:pt x="164" y="7"/>
                </a:lnTo>
                <a:lnTo>
                  <a:pt x="147" y="6"/>
                </a:lnTo>
                <a:lnTo>
                  <a:pt x="131" y="5"/>
                </a:lnTo>
                <a:lnTo>
                  <a:pt x="114" y="4"/>
                </a:lnTo>
                <a:lnTo>
                  <a:pt x="98" y="3"/>
                </a:lnTo>
                <a:lnTo>
                  <a:pt x="82" y="3"/>
                </a:lnTo>
                <a:lnTo>
                  <a:pt x="65" y="2"/>
                </a:lnTo>
                <a:lnTo>
                  <a:pt x="49" y="2"/>
                </a:lnTo>
                <a:lnTo>
                  <a:pt x="33" y="1"/>
                </a:lnTo>
                <a:lnTo>
                  <a:pt x="16" y="1"/>
                </a:lnTo>
                <a:lnTo>
                  <a:pt x="0" y="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941195" y="1447800"/>
            <a:ext cx="114300" cy="6572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941195" y="2162175"/>
            <a:ext cx="114300" cy="6572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941195" y="2876550"/>
            <a:ext cx="114300" cy="6572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941195" y="3590925"/>
            <a:ext cx="114300" cy="6572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941195" y="4305300"/>
            <a:ext cx="114300" cy="6572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41195" y="5019675"/>
            <a:ext cx="114300" cy="6572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941195" y="5734050"/>
            <a:ext cx="114300" cy="6572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800725" y="1304925"/>
            <a:ext cx="114300" cy="88576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800725" y="2247836"/>
            <a:ext cx="114300" cy="79137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5800725" y="3096357"/>
            <a:ext cx="114300" cy="53698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800725" y="3690494"/>
            <a:ext cx="114300" cy="51566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5800725" y="4263304"/>
            <a:ext cx="114300" cy="44534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800725" y="4765798"/>
            <a:ext cx="114300" cy="3689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800725" y="5191887"/>
            <a:ext cx="114300" cy="3309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800725" y="5580009"/>
            <a:ext cx="114300" cy="22521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5800725" y="5862373"/>
            <a:ext cx="114300" cy="15379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5800725" y="6073322"/>
            <a:ext cx="114300" cy="1372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800725" y="6267711"/>
            <a:ext cx="114300" cy="12166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800725" y="6446523"/>
            <a:ext cx="114300" cy="8762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57175" y="17049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6" name="TextBox 115"/>
          <p:cNvSpPr txBox="1"/>
          <p:nvPr/>
        </p:nvSpPr>
        <p:spPr>
          <a:xfrm>
            <a:off x="257175" y="24193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7" name="TextBox 116"/>
          <p:cNvSpPr txBox="1"/>
          <p:nvPr/>
        </p:nvSpPr>
        <p:spPr>
          <a:xfrm>
            <a:off x="257175" y="313372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8" name="TextBox 117"/>
          <p:cNvSpPr txBox="1"/>
          <p:nvPr/>
        </p:nvSpPr>
        <p:spPr>
          <a:xfrm>
            <a:off x="257175" y="379571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9" name="TextBox 118"/>
          <p:cNvSpPr txBox="1"/>
          <p:nvPr/>
        </p:nvSpPr>
        <p:spPr>
          <a:xfrm>
            <a:off x="257175" y="45624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20" name="TextBox 119"/>
          <p:cNvSpPr txBox="1"/>
          <p:nvPr/>
        </p:nvSpPr>
        <p:spPr>
          <a:xfrm>
            <a:off x="257175" y="522446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21" name="TextBox 120"/>
          <p:cNvSpPr txBox="1"/>
          <p:nvPr/>
        </p:nvSpPr>
        <p:spPr>
          <a:xfrm>
            <a:off x="257175" y="5938838"/>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22" name="TextBox 121"/>
          <p:cNvSpPr txBox="1"/>
          <p:nvPr/>
        </p:nvSpPr>
        <p:spPr>
          <a:xfrm>
            <a:off x="5972175" y="1676368"/>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3" name="TextBox 122"/>
          <p:cNvSpPr txBox="1"/>
          <p:nvPr/>
        </p:nvSpPr>
        <p:spPr>
          <a:xfrm>
            <a:off x="5972175" y="2572084"/>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4" name="TextBox 123"/>
          <p:cNvSpPr txBox="1"/>
          <p:nvPr/>
        </p:nvSpPr>
        <p:spPr>
          <a:xfrm>
            <a:off x="5972175" y="329341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5" name="TextBox 124"/>
          <p:cNvSpPr txBox="1"/>
          <p:nvPr/>
        </p:nvSpPr>
        <p:spPr>
          <a:xfrm>
            <a:off x="5972175" y="3876886"/>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6" name="TextBox 125"/>
          <p:cNvSpPr txBox="1"/>
          <p:nvPr/>
        </p:nvSpPr>
        <p:spPr>
          <a:xfrm>
            <a:off x="5972175" y="4414538"/>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7" name="TextBox 126"/>
          <p:cNvSpPr txBox="1"/>
          <p:nvPr/>
        </p:nvSpPr>
        <p:spPr>
          <a:xfrm>
            <a:off x="5972175" y="487883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8" name="TextBox 127"/>
          <p:cNvSpPr txBox="1"/>
          <p:nvPr/>
        </p:nvSpPr>
        <p:spPr>
          <a:xfrm>
            <a:off x="5972175" y="528593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9" name="TextBox 128"/>
          <p:cNvSpPr txBox="1"/>
          <p:nvPr/>
        </p:nvSpPr>
        <p:spPr>
          <a:xfrm>
            <a:off x="5972175" y="5621178"/>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0" name="TextBox 129"/>
          <p:cNvSpPr txBox="1"/>
          <p:nvPr/>
        </p:nvSpPr>
        <p:spPr>
          <a:xfrm>
            <a:off x="5972175" y="586783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1" name="TextBox 130"/>
          <p:cNvSpPr txBox="1"/>
          <p:nvPr/>
        </p:nvSpPr>
        <p:spPr>
          <a:xfrm>
            <a:off x="5972175" y="6070504"/>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2" name="TextBox 131"/>
          <p:cNvSpPr txBox="1"/>
          <p:nvPr/>
        </p:nvSpPr>
        <p:spPr>
          <a:xfrm>
            <a:off x="5972175" y="623887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3" name="TextBox 132"/>
          <p:cNvSpPr txBox="1"/>
          <p:nvPr/>
        </p:nvSpPr>
        <p:spPr>
          <a:xfrm>
            <a:off x="5972175" y="639127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4" name="Rounded Rectangle 133"/>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136" name="Rectangle 135"/>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38" name="TextBox 1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39" name="TextBox 138"/>
          <p:cNvSpPr txBox="1"/>
          <p:nvPr/>
        </p:nvSpPr>
        <p:spPr>
          <a:xfrm>
            <a:off x="1262568" y="1716062"/>
            <a:ext cx="567725" cy="139750"/>
          </a:xfrm>
          <a:prstGeom prst="rect">
            <a:avLst/>
          </a:prstGeom>
          <a:noFill/>
        </p:spPr>
        <p:txBody>
          <a:bodyPr wrap="none" lIns="0" rIns="0" tIns="0" bIns="0">
            <a:spAutoFit/>
          </a:bodyPr>
          <a:lstStyle/>
          <a:p>
            <a:r>
              <a:rPr sz="791" b="1">
                <a:solidFill>
                  <a:srgbClr val="2E2E2E"/>
                </a:solidFill>
                <a:latin typeface="Calibri"/>
              </a:rPr>
              <a:t>Cut Flowers</a:t>
            </a:r>
          </a:p>
        </p:txBody>
      </p:sp>
      <p:pic>
        <p:nvPicPr>
          <p:cNvPr id="140" name="Picture 139" descr="lock.png"/>
          <p:cNvPicPr>
            <a:picLocks noChangeAspect="1"/>
          </p:cNvPicPr>
          <p:nvPr/>
        </p:nvPicPr>
        <p:blipFill>
          <a:blip r:embed="rId4"/>
          <a:stretch>
            <a:fillRect/>
          </a:stretch>
        </p:blipFill>
        <p:spPr>
          <a:xfrm>
            <a:off x="1771555" y="1709021"/>
            <a:ext cx="92663" cy="134782"/>
          </a:xfrm>
          <a:prstGeom prst="rect">
            <a:avLst/>
          </a:prstGeom>
        </p:spPr>
      </p:pic>
      <p:sp>
        <p:nvSpPr>
          <p:cNvPr id="141" name="TextBox 140"/>
          <p:cNvSpPr txBox="1"/>
          <p:nvPr/>
        </p:nvSpPr>
        <p:spPr>
          <a:xfrm>
            <a:off x="756112" y="2430437"/>
            <a:ext cx="1074181" cy="139750"/>
          </a:xfrm>
          <a:prstGeom prst="rect">
            <a:avLst/>
          </a:prstGeom>
          <a:noFill/>
        </p:spPr>
        <p:txBody>
          <a:bodyPr wrap="none" lIns="0" rIns="0" tIns="0" bIns="0">
            <a:spAutoFit/>
          </a:bodyPr>
          <a:lstStyle/>
          <a:p>
            <a:r>
              <a:rPr sz="791" b="1">
                <a:solidFill>
                  <a:srgbClr val="2E2E2E"/>
                </a:solidFill>
                <a:latin typeface="Calibri"/>
              </a:rPr>
              <a:t>Potted Flowering Plants</a:t>
            </a:r>
          </a:p>
        </p:txBody>
      </p:sp>
      <p:pic>
        <p:nvPicPr>
          <p:cNvPr id="142" name="Picture 141" descr="lock.png"/>
          <p:cNvPicPr>
            <a:picLocks noChangeAspect="1"/>
          </p:cNvPicPr>
          <p:nvPr/>
        </p:nvPicPr>
        <p:blipFill>
          <a:blip r:embed="rId4"/>
          <a:stretch>
            <a:fillRect/>
          </a:stretch>
        </p:blipFill>
        <p:spPr>
          <a:xfrm>
            <a:off x="1771555" y="2423396"/>
            <a:ext cx="92663" cy="134782"/>
          </a:xfrm>
          <a:prstGeom prst="rect">
            <a:avLst/>
          </a:prstGeom>
        </p:spPr>
      </p:pic>
      <p:sp>
        <p:nvSpPr>
          <p:cNvPr id="143" name="TextBox 142"/>
          <p:cNvSpPr txBox="1"/>
          <p:nvPr/>
        </p:nvSpPr>
        <p:spPr>
          <a:xfrm>
            <a:off x="871252" y="3144812"/>
            <a:ext cx="959041" cy="139750"/>
          </a:xfrm>
          <a:prstGeom prst="rect">
            <a:avLst/>
          </a:prstGeom>
          <a:noFill/>
        </p:spPr>
        <p:txBody>
          <a:bodyPr wrap="none" lIns="0" rIns="0" tIns="0" bIns="0">
            <a:spAutoFit/>
          </a:bodyPr>
          <a:lstStyle/>
          <a:p>
            <a:r>
              <a:rPr sz="791" b="1">
                <a:solidFill>
                  <a:srgbClr val="2E2E2E"/>
                </a:solidFill>
                <a:latin typeface="Calibri"/>
              </a:rPr>
              <a:t>Potted Foliage Plants</a:t>
            </a:r>
          </a:p>
        </p:txBody>
      </p:sp>
      <p:pic>
        <p:nvPicPr>
          <p:cNvPr id="144" name="Picture 143" descr="lock.png"/>
          <p:cNvPicPr>
            <a:picLocks noChangeAspect="1"/>
          </p:cNvPicPr>
          <p:nvPr/>
        </p:nvPicPr>
        <p:blipFill>
          <a:blip r:embed="rId4"/>
          <a:stretch>
            <a:fillRect/>
          </a:stretch>
        </p:blipFill>
        <p:spPr>
          <a:xfrm>
            <a:off x="1771555" y="3137771"/>
            <a:ext cx="92663" cy="134782"/>
          </a:xfrm>
          <a:prstGeom prst="rect">
            <a:avLst/>
          </a:prstGeom>
        </p:spPr>
      </p:pic>
      <p:sp>
        <p:nvSpPr>
          <p:cNvPr id="145" name="TextBox 144"/>
          <p:cNvSpPr txBox="1"/>
          <p:nvPr/>
        </p:nvSpPr>
        <p:spPr>
          <a:xfrm>
            <a:off x="382952" y="3798837"/>
            <a:ext cx="1482042" cy="139750"/>
          </a:xfrm>
          <a:prstGeom prst="rect">
            <a:avLst/>
          </a:prstGeom>
          <a:noFill/>
        </p:spPr>
        <p:txBody>
          <a:bodyPr wrap="none" lIns="0" rIns="0" tIns="0" bIns="0">
            <a:spAutoFit/>
          </a:bodyPr>
          <a:lstStyle/>
          <a:p>
            <a:r>
              <a:rPr sz="791" b="1">
                <a:solidFill>
                  <a:srgbClr val="2E2E2E"/>
                </a:solidFill>
                <a:latin typeface="Calibri"/>
              </a:rPr>
              <a:t>Bedding &amp; Garden Flowering Plants</a:t>
            </a:r>
          </a:p>
        </p:txBody>
      </p:sp>
      <p:pic>
        <p:nvPicPr>
          <p:cNvPr id="146" name="Picture 145" descr="lock.png"/>
          <p:cNvPicPr>
            <a:picLocks noChangeAspect="1"/>
          </p:cNvPicPr>
          <p:nvPr/>
        </p:nvPicPr>
        <p:blipFill>
          <a:blip r:embed="rId4"/>
          <a:stretch>
            <a:fillRect/>
          </a:stretch>
        </p:blipFill>
        <p:spPr>
          <a:xfrm>
            <a:off x="1771555" y="3912497"/>
            <a:ext cx="92663" cy="134782"/>
          </a:xfrm>
          <a:prstGeom prst="rect">
            <a:avLst/>
          </a:prstGeom>
        </p:spPr>
      </p:pic>
      <p:sp>
        <p:nvSpPr>
          <p:cNvPr id="147" name="TextBox 146"/>
          <p:cNvSpPr txBox="1"/>
          <p:nvPr/>
        </p:nvSpPr>
        <p:spPr>
          <a:xfrm>
            <a:off x="879503" y="4573562"/>
            <a:ext cx="950790" cy="139750"/>
          </a:xfrm>
          <a:prstGeom prst="rect">
            <a:avLst/>
          </a:prstGeom>
          <a:noFill/>
        </p:spPr>
        <p:txBody>
          <a:bodyPr wrap="none" lIns="0" rIns="0" tIns="0" bIns="0">
            <a:spAutoFit/>
          </a:bodyPr>
          <a:lstStyle/>
          <a:p>
            <a:r>
              <a:rPr sz="791" b="1">
                <a:solidFill>
                  <a:srgbClr val="2E2E2E"/>
                </a:solidFill>
                <a:latin typeface="Calibri"/>
              </a:rPr>
              <a:t>Cut Foliage &amp; Greens</a:t>
            </a:r>
          </a:p>
        </p:txBody>
      </p:sp>
      <p:pic>
        <p:nvPicPr>
          <p:cNvPr id="148" name="Picture 147" descr="lock.png"/>
          <p:cNvPicPr>
            <a:picLocks noChangeAspect="1"/>
          </p:cNvPicPr>
          <p:nvPr/>
        </p:nvPicPr>
        <p:blipFill>
          <a:blip r:embed="rId4"/>
          <a:stretch>
            <a:fillRect/>
          </a:stretch>
        </p:blipFill>
        <p:spPr>
          <a:xfrm>
            <a:off x="1771555" y="4566521"/>
            <a:ext cx="92663" cy="134782"/>
          </a:xfrm>
          <a:prstGeom prst="rect">
            <a:avLst/>
          </a:prstGeom>
        </p:spPr>
      </p:pic>
      <p:sp>
        <p:nvSpPr>
          <p:cNvPr id="149" name="TextBox 148"/>
          <p:cNvSpPr txBox="1"/>
          <p:nvPr/>
        </p:nvSpPr>
        <p:spPr>
          <a:xfrm>
            <a:off x="313015" y="5227587"/>
            <a:ext cx="1551979" cy="139750"/>
          </a:xfrm>
          <a:prstGeom prst="rect">
            <a:avLst/>
          </a:prstGeom>
          <a:noFill/>
        </p:spPr>
        <p:txBody>
          <a:bodyPr wrap="none" lIns="0" rIns="0" tIns="0" bIns="0">
            <a:spAutoFit/>
          </a:bodyPr>
          <a:lstStyle/>
          <a:p>
            <a:r>
              <a:rPr sz="791" b="1">
                <a:solidFill>
                  <a:srgbClr val="2E2E2E"/>
                </a:solidFill>
                <a:latin typeface="Calibri"/>
              </a:rPr>
              <a:t>Young Plants &amp; Propagation Material</a:t>
            </a:r>
          </a:p>
        </p:txBody>
      </p:sp>
      <p:pic>
        <p:nvPicPr>
          <p:cNvPr id="150" name="Picture 149" descr="lock.png"/>
          <p:cNvPicPr>
            <a:picLocks noChangeAspect="1"/>
          </p:cNvPicPr>
          <p:nvPr/>
        </p:nvPicPr>
        <p:blipFill>
          <a:blip r:embed="rId4"/>
          <a:stretch>
            <a:fillRect/>
          </a:stretch>
        </p:blipFill>
        <p:spPr>
          <a:xfrm>
            <a:off x="1771555" y="5341247"/>
            <a:ext cx="92663" cy="134782"/>
          </a:xfrm>
          <a:prstGeom prst="rect">
            <a:avLst/>
          </a:prstGeom>
        </p:spPr>
      </p:pic>
      <p:sp>
        <p:nvSpPr>
          <p:cNvPr id="151" name="TextBox 150"/>
          <p:cNvSpPr txBox="1"/>
          <p:nvPr/>
        </p:nvSpPr>
        <p:spPr>
          <a:xfrm>
            <a:off x="468213" y="5941962"/>
            <a:ext cx="1396781" cy="139750"/>
          </a:xfrm>
          <a:prstGeom prst="rect">
            <a:avLst/>
          </a:prstGeom>
          <a:noFill/>
        </p:spPr>
        <p:txBody>
          <a:bodyPr wrap="none" lIns="0" rIns="0" tIns="0" bIns="0">
            <a:spAutoFit/>
          </a:bodyPr>
          <a:lstStyle/>
          <a:p>
            <a:r>
              <a:rPr sz="791" b="1">
                <a:solidFill>
                  <a:srgbClr val="2E2E2E"/>
                </a:solidFill>
                <a:latin typeface="Calibri"/>
              </a:rPr>
              <a:t>Flower Bulbs, Corms, Rhizomes &amp;</a:t>
            </a:r>
          </a:p>
        </p:txBody>
      </p:sp>
      <p:sp>
        <p:nvSpPr>
          <p:cNvPr id="152" name="TextBox 151"/>
          <p:cNvSpPr txBox="1"/>
          <p:nvPr/>
        </p:nvSpPr>
        <p:spPr>
          <a:xfrm>
            <a:off x="1469630" y="6062663"/>
            <a:ext cx="360664" cy="139750"/>
          </a:xfrm>
          <a:prstGeom prst="rect">
            <a:avLst/>
          </a:prstGeom>
          <a:noFill/>
        </p:spPr>
        <p:txBody>
          <a:bodyPr wrap="none" lIns="0" rIns="0" tIns="0" bIns="0">
            <a:spAutoFit/>
          </a:bodyPr>
          <a:lstStyle/>
          <a:p>
            <a:r>
              <a:rPr sz="791" b="1">
                <a:solidFill>
                  <a:srgbClr val="2E2E2E"/>
                </a:solidFill>
                <a:latin typeface="Calibri"/>
              </a:rPr>
              <a:t>Tubers</a:t>
            </a:r>
          </a:p>
        </p:txBody>
      </p:sp>
      <p:pic>
        <p:nvPicPr>
          <p:cNvPr id="153" name="Picture 152" descr="lock.png"/>
          <p:cNvPicPr>
            <a:picLocks noChangeAspect="1"/>
          </p:cNvPicPr>
          <p:nvPr/>
        </p:nvPicPr>
        <p:blipFill>
          <a:blip r:embed="rId4"/>
          <a:stretch>
            <a:fillRect/>
          </a:stretch>
        </p:blipFill>
        <p:spPr>
          <a:xfrm>
            <a:off x="1771555" y="6055622"/>
            <a:ext cx="92663" cy="134782"/>
          </a:xfrm>
          <a:prstGeom prst="rect">
            <a:avLst/>
          </a:prstGeom>
        </p:spPr>
      </p:pic>
      <p:sp>
        <p:nvSpPr>
          <p:cNvPr id="154" name="TextBox 153"/>
          <p:cNvSpPr txBox="1"/>
          <p:nvPr/>
        </p:nvSpPr>
        <p:spPr>
          <a:xfrm>
            <a:off x="5972175" y="1687455"/>
            <a:ext cx="416849" cy="139750"/>
          </a:xfrm>
          <a:prstGeom prst="rect">
            <a:avLst/>
          </a:prstGeom>
          <a:noFill/>
        </p:spPr>
        <p:txBody>
          <a:bodyPr wrap="none" lIns="0" rIns="0" tIns="0" bIns="0">
            <a:spAutoFit/>
          </a:bodyPr>
          <a:lstStyle/>
          <a:p>
            <a:r>
              <a:rPr sz="791" b="1">
                <a:solidFill>
                  <a:srgbClr val="2E2E2E"/>
                </a:solidFill>
                <a:latin typeface="Calibri"/>
              </a:rPr>
              <a:t>Gerbera</a:t>
            </a:r>
          </a:p>
        </p:txBody>
      </p:sp>
      <p:pic>
        <p:nvPicPr>
          <p:cNvPr id="155" name="Picture 154" descr="lock.png"/>
          <p:cNvPicPr>
            <a:picLocks noChangeAspect="1"/>
          </p:cNvPicPr>
          <p:nvPr/>
        </p:nvPicPr>
        <p:blipFill>
          <a:blip r:embed="rId4"/>
          <a:stretch>
            <a:fillRect/>
          </a:stretch>
        </p:blipFill>
        <p:spPr>
          <a:xfrm>
            <a:off x="6330285" y="1680414"/>
            <a:ext cx="92663" cy="134782"/>
          </a:xfrm>
          <a:prstGeom prst="rect">
            <a:avLst/>
          </a:prstGeom>
        </p:spPr>
      </p:pic>
      <p:sp>
        <p:nvSpPr>
          <p:cNvPr id="156" name="TextBox 155"/>
          <p:cNvSpPr txBox="1"/>
          <p:nvPr/>
        </p:nvSpPr>
        <p:spPr>
          <a:xfrm>
            <a:off x="5972175" y="2583171"/>
            <a:ext cx="526470" cy="139750"/>
          </a:xfrm>
          <a:prstGeom prst="rect">
            <a:avLst/>
          </a:prstGeom>
          <a:noFill/>
        </p:spPr>
        <p:txBody>
          <a:bodyPr wrap="none" lIns="0" rIns="0" tIns="0" bIns="0">
            <a:spAutoFit/>
          </a:bodyPr>
          <a:lstStyle/>
          <a:p>
            <a:r>
              <a:rPr sz="791" b="1">
                <a:solidFill>
                  <a:srgbClr val="2E2E2E"/>
                </a:solidFill>
                <a:latin typeface="Calibri"/>
              </a:rPr>
              <a:t>Carnations</a:t>
            </a:r>
          </a:p>
        </p:txBody>
      </p:sp>
      <p:pic>
        <p:nvPicPr>
          <p:cNvPr id="157" name="Picture 156" descr="lock.png"/>
          <p:cNvPicPr>
            <a:picLocks noChangeAspect="1"/>
          </p:cNvPicPr>
          <p:nvPr/>
        </p:nvPicPr>
        <p:blipFill>
          <a:blip r:embed="rId4"/>
          <a:stretch>
            <a:fillRect/>
          </a:stretch>
        </p:blipFill>
        <p:spPr>
          <a:xfrm>
            <a:off x="6439906" y="2576130"/>
            <a:ext cx="92663" cy="134782"/>
          </a:xfrm>
          <a:prstGeom prst="rect">
            <a:avLst/>
          </a:prstGeom>
        </p:spPr>
      </p:pic>
      <p:sp>
        <p:nvSpPr>
          <p:cNvPr id="158" name="TextBox 157"/>
          <p:cNvSpPr txBox="1"/>
          <p:nvPr/>
        </p:nvSpPr>
        <p:spPr>
          <a:xfrm>
            <a:off x="5972175" y="3304500"/>
            <a:ext cx="316658" cy="139750"/>
          </a:xfrm>
          <a:prstGeom prst="rect">
            <a:avLst/>
          </a:prstGeom>
          <a:noFill/>
        </p:spPr>
        <p:txBody>
          <a:bodyPr wrap="none" lIns="0" rIns="0" tIns="0" bIns="0">
            <a:spAutoFit/>
          </a:bodyPr>
          <a:lstStyle/>
          <a:p>
            <a:r>
              <a:rPr sz="791" b="0">
                <a:solidFill>
                  <a:srgbClr val="6C7A89"/>
                </a:solidFill>
                <a:latin typeface="Calibri"/>
              </a:rPr>
              <a:t>Tulips</a:t>
            </a:r>
          </a:p>
        </p:txBody>
      </p:sp>
      <p:pic>
        <p:nvPicPr>
          <p:cNvPr id="159" name="Picture 158" descr="lock.png"/>
          <p:cNvPicPr>
            <a:picLocks noChangeAspect="1"/>
          </p:cNvPicPr>
          <p:nvPr/>
        </p:nvPicPr>
        <p:blipFill>
          <a:blip r:embed="rId4"/>
          <a:stretch>
            <a:fillRect/>
          </a:stretch>
        </p:blipFill>
        <p:spPr>
          <a:xfrm>
            <a:off x="6230094" y="3297459"/>
            <a:ext cx="92663" cy="134782"/>
          </a:xfrm>
          <a:prstGeom prst="rect">
            <a:avLst/>
          </a:prstGeom>
        </p:spPr>
      </p:pic>
      <p:sp>
        <p:nvSpPr>
          <p:cNvPr id="160" name="TextBox 159"/>
          <p:cNvSpPr txBox="1"/>
          <p:nvPr/>
        </p:nvSpPr>
        <p:spPr>
          <a:xfrm>
            <a:off x="5972175" y="3887973"/>
            <a:ext cx="277367" cy="139750"/>
          </a:xfrm>
          <a:prstGeom prst="rect">
            <a:avLst/>
          </a:prstGeom>
          <a:noFill/>
        </p:spPr>
        <p:txBody>
          <a:bodyPr wrap="none" lIns="0" rIns="0" tIns="0" bIns="0">
            <a:spAutoFit/>
          </a:bodyPr>
          <a:lstStyle/>
          <a:p>
            <a:r>
              <a:rPr sz="791" b="0">
                <a:solidFill>
                  <a:srgbClr val="6C7A89"/>
                </a:solidFill>
                <a:latin typeface="Calibri"/>
              </a:rPr>
              <a:t>Lilies</a:t>
            </a:r>
          </a:p>
        </p:txBody>
      </p:sp>
      <p:pic>
        <p:nvPicPr>
          <p:cNvPr id="161" name="Picture 160" descr="lock.png"/>
          <p:cNvPicPr>
            <a:picLocks noChangeAspect="1"/>
          </p:cNvPicPr>
          <p:nvPr/>
        </p:nvPicPr>
        <p:blipFill>
          <a:blip r:embed="rId4"/>
          <a:stretch>
            <a:fillRect/>
          </a:stretch>
        </p:blipFill>
        <p:spPr>
          <a:xfrm>
            <a:off x="6190804" y="3880932"/>
            <a:ext cx="92663" cy="134782"/>
          </a:xfrm>
          <a:prstGeom prst="rect">
            <a:avLst/>
          </a:prstGeom>
        </p:spPr>
      </p:pic>
      <p:sp>
        <p:nvSpPr>
          <p:cNvPr id="162" name="TextBox 161"/>
          <p:cNvSpPr txBox="1"/>
          <p:nvPr/>
        </p:nvSpPr>
        <p:spPr>
          <a:xfrm>
            <a:off x="5972175" y="4425625"/>
            <a:ext cx="394846" cy="139750"/>
          </a:xfrm>
          <a:prstGeom prst="rect">
            <a:avLst/>
          </a:prstGeom>
          <a:noFill/>
        </p:spPr>
        <p:txBody>
          <a:bodyPr wrap="none" lIns="0" rIns="0" tIns="0" bIns="0">
            <a:spAutoFit/>
          </a:bodyPr>
          <a:lstStyle/>
          <a:p>
            <a:r>
              <a:rPr sz="791" b="1">
                <a:solidFill>
                  <a:srgbClr val="2E2E2E"/>
                </a:solidFill>
                <a:latin typeface="Calibri"/>
              </a:rPr>
              <a:t>Orchids</a:t>
            </a:r>
          </a:p>
        </p:txBody>
      </p:sp>
      <p:pic>
        <p:nvPicPr>
          <p:cNvPr id="163" name="Picture 162" descr="lock.png"/>
          <p:cNvPicPr>
            <a:picLocks noChangeAspect="1"/>
          </p:cNvPicPr>
          <p:nvPr/>
        </p:nvPicPr>
        <p:blipFill>
          <a:blip r:embed="rId4"/>
          <a:stretch>
            <a:fillRect/>
          </a:stretch>
        </p:blipFill>
        <p:spPr>
          <a:xfrm>
            <a:off x="6308283" y="4418584"/>
            <a:ext cx="92663" cy="134782"/>
          </a:xfrm>
          <a:prstGeom prst="rect">
            <a:avLst/>
          </a:prstGeom>
        </p:spPr>
      </p:pic>
      <p:sp>
        <p:nvSpPr>
          <p:cNvPr id="164" name="TextBox 163"/>
          <p:cNvSpPr txBox="1"/>
          <p:nvPr/>
        </p:nvSpPr>
        <p:spPr>
          <a:xfrm>
            <a:off x="5972175" y="4889917"/>
            <a:ext cx="404080" cy="139750"/>
          </a:xfrm>
          <a:prstGeom prst="rect">
            <a:avLst/>
          </a:prstGeom>
          <a:noFill/>
        </p:spPr>
        <p:txBody>
          <a:bodyPr wrap="none" lIns="0" rIns="0" tIns="0" bIns="0">
            <a:spAutoFit/>
          </a:bodyPr>
          <a:lstStyle/>
          <a:p>
            <a:r>
              <a:rPr sz="791" b="1">
                <a:solidFill>
                  <a:srgbClr val="2E2E2E"/>
                </a:solidFill>
                <a:latin typeface="Calibri"/>
              </a:rPr>
              <a:t>Peonies</a:t>
            </a:r>
          </a:p>
        </p:txBody>
      </p:sp>
      <p:pic>
        <p:nvPicPr>
          <p:cNvPr id="165" name="Picture 164" descr="lock.png"/>
          <p:cNvPicPr>
            <a:picLocks noChangeAspect="1"/>
          </p:cNvPicPr>
          <p:nvPr/>
        </p:nvPicPr>
        <p:blipFill>
          <a:blip r:embed="rId4"/>
          <a:stretch>
            <a:fillRect/>
          </a:stretch>
        </p:blipFill>
        <p:spPr>
          <a:xfrm>
            <a:off x="6317516" y="4882876"/>
            <a:ext cx="92663" cy="134782"/>
          </a:xfrm>
          <a:prstGeom prst="rect">
            <a:avLst/>
          </a:prstGeom>
        </p:spPr>
      </p:pic>
      <p:sp>
        <p:nvSpPr>
          <p:cNvPr id="166" name="TextBox 165"/>
          <p:cNvSpPr txBox="1"/>
          <p:nvPr/>
        </p:nvSpPr>
        <p:spPr>
          <a:xfrm>
            <a:off x="5972175" y="5297022"/>
            <a:ext cx="312533" cy="139750"/>
          </a:xfrm>
          <a:prstGeom prst="rect">
            <a:avLst/>
          </a:prstGeom>
          <a:noFill/>
        </p:spPr>
        <p:txBody>
          <a:bodyPr wrap="none" lIns="0" rIns="0" tIns="0" bIns="0">
            <a:spAutoFit/>
          </a:bodyPr>
          <a:lstStyle/>
          <a:p>
            <a:r>
              <a:rPr sz="791" b="0">
                <a:solidFill>
                  <a:srgbClr val="6C7A89"/>
                </a:solidFill>
                <a:latin typeface="Calibri"/>
              </a:rPr>
              <a:t>Roses</a:t>
            </a:r>
          </a:p>
        </p:txBody>
      </p:sp>
      <p:pic>
        <p:nvPicPr>
          <p:cNvPr id="167" name="Picture 166" descr="lock.png"/>
          <p:cNvPicPr>
            <a:picLocks noChangeAspect="1"/>
          </p:cNvPicPr>
          <p:nvPr/>
        </p:nvPicPr>
        <p:blipFill>
          <a:blip r:embed="rId4"/>
          <a:stretch>
            <a:fillRect/>
          </a:stretch>
        </p:blipFill>
        <p:spPr>
          <a:xfrm>
            <a:off x="6225969" y="5289981"/>
            <a:ext cx="92663" cy="134782"/>
          </a:xfrm>
          <a:prstGeom prst="rect">
            <a:avLst/>
          </a:prstGeom>
        </p:spPr>
      </p:pic>
      <p:sp>
        <p:nvSpPr>
          <p:cNvPr id="168" name="TextBox 167"/>
          <p:cNvSpPr txBox="1"/>
          <p:nvPr/>
        </p:nvSpPr>
        <p:spPr>
          <a:xfrm>
            <a:off x="5972175" y="5632265"/>
            <a:ext cx="495234" cy="139750"/>
          </a:xfrm>
          <a:prstGeom prst="rect">
            <a:avLst/>
          </a:prstGeom>
          <a:noFill/>
        </p:spPr>
        <p:txBody>
          <a:bodyPr wrap="none" lIns="0" rIns="0" tIns="0" bIns="0">
            <a:spAutoFit/>
          </a:bodyPr>
          <a:lstStyle/>
          <a:p>
            <a:r>
              <a:rPr sz="791" b="1">
                <a:solidFill>
                  <a:srgbClr val="2E2E2E"/>
                </a:solidFill>
                <a:latin typeface="Calibri"/>
              </a:rPr>
              <a:t>Lisianthus</a:t>
            </a:r>
          </a:p>
        </p:txBody>
      </p:sp>
      <p:pic>
        <p:nvPicPr>
          <p:cNvPr id="169" name="Picture 168" descr="lock.png"/>
          <p:cNvPicPr>
            <a:picLocks noChangeAspect="1"/>
          </p:cNvPicPr>
          <p:nvPr/>
        </p:nvPicPr>
        <p:blipFill>
          <a:blip r:embed="rId4"/>
          <a:stretch>
            <a:fillRect/>
          </a:stretch>
        </p:blipFill>
        <p:spPr>
          <a:xfrm>
            <a:off x="6408670" y="5625224"/>
            <a:ext cx="92663" cy="134782"/>
          </a:xfrm>
          <a:prstGeom prst="rect">
            <a:avLst/>
          </a:prstGeom>
        </p:spPr>
      </p:pic>
      <p:sp>
        <p:nvSpPr>
          <p:cNvPr id="170" name="TextBox 169"/>
          <p:cNvSpPr txBox="1"/>
          <p:nvPr/>
        </p:nvSpPr>
        <p:spPr>
          <a:xfrm>
            <a:off x="5972175" y="5878922"/>
            <a:ext cx="620178" cy="139750"/>
          </a:xfrm>
          <a:prstGeom prst="rect">
            <a:avLst/>
          </a:prstGeom>
          <a:noFill/>
        </p:spPr>
        <p:txBody>
          <a:bodyPr wrap="none" lIns="0" rIns="0" tIns="0" bIns="0">
            <a:spAutoFit/>
          </a:bodyPr>
          <a:lstStyle/>
          <a:p>
            <a:r>
              <a:rPr sz="791" b="1">
                <a:solidFill>
                  <a:srgbClr val="2E2E2E"/>
                </a:solidFill>
                <a:latin typeface="Calibri"/>
              </a:rPr>
              <a:t>Alstroemeria</a:t>
            </a:r>
          </a:p>
        </p:txBody>
      </p:sp>
      <p:pic>
        <p:nvPicPr>
          <p:cNvPr id="171" name="Picture 170" descr="lock.png"/>
          <p:cNvPicPr>
            <a:picLocks noChangeAspect="1"/>
          </p:cNvPicPr>
          <p:nvPr/>
        </p:nvPicPr>
        <p:blipFill>
          <a:blip r:embed="rId4"/>
          <a:stretch>
            <a:fillRect/>
          </a:stretch>
        </p:blipFill>
        <p:spPr>
          <a:xfrm>
            <a:off x="6533614" y="5871881"/>
            <a:ext cx="92663" cy="134782"/>
          </a:xfrm>
          <a:prstGeom prst="rect">
            <a:avLst/>
          </a:prstGeom>
        </p:spPr>
      </p:pic>
      <p:sp>
        <p:nvSpPr>
          <p:cNvPr id="172" name="TextBox 171"/>
          <p:cNvSpPr txBox="1"/>
          <p:nvPr/>
        </p:nvSpPr>
        <p:spPr>
          <a:xfrm>
            <a:off x="5972175" y="6081591"/>
            <a:ext cx="569100" cy="139750"/>
          </a:xfrm>
          <a:prstGeom prst="rect">
            <a:avLst/>
          </a:prstGeom>
          <a:noFill/>
        </p:spPr>
        <p:txBody>
          <a:bodyPr wrap="none" lIns="0" rIns="0" tIns="0" bIns="0">
            <a:spAutoFit/>
          </a:bodyPr>
          <a:lstStyle/>
          <a:p>
            <a:r>
              <a:rPr sz="791" b="1">
                <a:solidFill>
                  <a:srgbClr val="2E2E2E"/>
                </a:solidFill>
                <a:latin typeface="Calibri"/>
              </a:rPr>
              <a:t>Hydrangeas</a:t>
            </a:r>
          </a:p>
        </p:txBody>
      </p:sp>
      <p:pic>
        <p:nvPicPr>
          <p:cNvPr id="173" name="Picture 172" descr="lock.png"/>
          <p:cNvPicPr>
            <a:picLocks noChangeAspect="1"/>
          </p:cNvPicPr>
          <p:nvPr/>
        </p:nvPicPr>
        <p:blipFill>
          <a:blip r:embed="rId4"/>
          <a:stretch>
            <a:fillRect/>
          </a:stretch>
        </p:blipFill>
        <p:spPr>
          <a:xfrm>
            <a:off x="6482537" y="6074550"/>
            <a:ext cx="92663" cy="134782"/>
          </a:xfrm>
          <a:prstGeom prst="rect">
            <a:avLst/>
          </a:prstGeom>
        </p:spPr>
      </p:pic>
      <p:sp>
        <p:nvSpPr>
          <p:cNvPr id="174" name="TextBox 173"/>
          <p:cNvSpPr txBox="1"/>
          <p:nvPr/>
        </p:nvSpPr>
        <p:spPr>
          <a:xfrm>
            <a:off x="5972175" y="6249962"/>
            <a:ext cx="353984" cy="139750"/>
          </a:xfrm>
          <a:prstGeom prst="rect">
            <a:avLst/>
          </a:prstGeom>
          <a:noFill/>
        </p:spPr>
        <p:txBody>
          <a:bodyPr wrap="none" lIns="0" rIns="0" tIns="0" bIns="0">
            <a:spAutoFit/>
          </a:bodyPr>
          <a:lstStyle/>
          <a:p>
            <a:r>
              <a:rPr sz="791" b="0">
                <a:solidFill>
                  <a:srgbClr val="6C7A89"/>
                </a:solidFill>
                <a:latin typeface="Calibri"/>
              </a:rPr>
              <a:t>Others</a:t>
            </a:r>
          </a:p>
        </p:txBody>
      </p:sp>
      <p:pic>
        <p:nvPicPr>
          <p:cNvPr id="175" name="Picture 174" descr="lock.png"/>
          <p:cNvPicPr>
            <a:picLocks noChangeAspect="1"/>
          </p:cNvPicPr>
          <p:nvPr/>
        </p:nvPicPr>
        <p:blipFill>
          <a:blip r:embed="rId4"/>
          <a:stretch>
            <a:fillRect/>
          </a:stretch>
        </p:blipFill>
        <p:spPr>
          <a:xfrm>
            <a:off x="6267420" y="6242921"/>
            <a:ext cx="92663" cy="134782"/>
          </a:xfrm>
          <a:prstGeom prst="rect">
            <a:avLst/>
          </a:prstGeom>
        </p:spPr>
      </p:pic>
      <p:sp>
        <p:nvSpPr>
          <p:cNvPr id="176" name="TextBox 175"/>
          <p:cNvSpPr txBox="1"/>
          <p:nvPr/>
        </p:nvSpPr>
        <p:spPr>
          <a:xfrm>
            <a:off x="5972175" y="6402362"/>
            <a:ext cx="808380" cy="139750"/>
          </a:xfrm>
          <a:prstGeom prst="rect">
            <a:avLst/>
          </a:prstGeom>
          <a:noFill/>
        </p:spPr>
        <p:txBody>
          <a:bodyPr wrap="none" lIns="0" rIns="0" tIns="0" bIns="0">
            <a:spAutoFit/>
          </a:bodyPr>
          <a:lstStyle/>
          <a:p>
            <a:r>
              <a:rPr sz="791" b="1">
                <a:solidFill>
                  <a:srgbClr val="2E2E2E"/>
                </a:solidFill>
                <a:latin typeface="Calibri"/>
              </a:rPr>
              <a:t>Chrysanthemums</a:t>
            </a:r>
          </a:p>
        </p:txBody>
      </p:sp>
      <p:pic>
        <p:nvPicPr>
          <p:cNvPr id="177" name="Picture 176" descr="lock.png"/>
          <p:cNvPicPr>
            <a:picLocks noChangeAspect="1"/>
          </p:cNvPicPr>
          <p:nvPr/>
        </p:nvPicPr>
        <p:blipFill>
          <a:blip r:embed="rId4"/>
          <a:stretch>
            <a:fillRect/>
          </a:stretch>
        </p:blipFill>
        <p:spPr>
          <a:xfrm>
            <a:off x="6721816" y="6395321"/>
            <a:ext cx="92663" cy="134782"/>
          </a:xfrm>
          <a:prstGeom prst="rect">
            <a:avLst/>
          </a:prstGeom>
        </p:spPr>
      </p:pic>
      <p:sp>
        <p:nvSpPr>
          <p:cNvPr id="178" name="TextBox 177"/>
          <p:cNvSpPr txBox="1"/>
          <p:nvPr/>
        </p:nvSpPr>
        <p:spPr>
          <a:xfrm>
            <a:off x="7715250" y="1400175"/>
            <a:ext cx="4083446" cy="194310"/>
          </a:xfrm>
          <a:prstGeom prst="rect">
            <a:avLst/>
          </a:prstGeom>
          <a:noFill/>
        </p:spPr>
        <p:txBody>
          <a:bodyPr wrap="none" lIns="0" rIns="0" tIns="0" bIns="0">
            <a:spAutoFit/>
          </a:bodyPr>
          <a:lstStyle/>
          <a:p>
            <a:r>
              <a:rPr sz="1150" b="0">
                <a:solidFill>
                  <a:srgbClr val="2E2E2E"/>
                </a:solidFill>
                <a:latin typeface="Calibri"/>
              </a:rPr>
              <a:t>Cut flowers segment is projected to account for the largest share of</a:t>
            </a:r>
          </a:p>
        </p:txBody>
      </p:sp>
      <p:sp>
        <p:nvSpPr>
          <p:cNvPr id="179" name="TextBox 178"/>
          <p:cNvSpPr txBox="1"/>
          <p:nvPr/>
        </p:nvSpPr>
        <p:spPr>
          <a:xfrm>
            <a:off x="7715250" y="1575435"/>
            <a:ext cx="3166355" cy="194310"/>
          </a:xfrm>
          <a:prstGeom prst="rect">
            <a:avLst/>
          </a:prstGeom>
          <a:noFill/>
        </p:spPr>
        <p:txBody>
          <a:bodyPr wrap="none" lIns="0" rIns="0" tIns="0" bIns="0">
            <a:spAutoFit/>
          </a:bodyPr>
          <a:lstStyle/>
          <a:p>
            <a:r>
              <a:rPr sz="1150" b="0">
                <a:solidFill>
                  <a:srgbClr val="2E2E2E"/>
                </a:solidFill>
                <a:latin typeface="Calibri"/>
              </a:rPr>
              <a:t>the global floriculture market, led by gerbera at US$</a:t>
            </a:r>
          </a:p>
        </p:txBody>
      </p:sp>
      <p:pic>
        <p:nvPicPr>
          <p:cNvPr id="180" name="Picture 179" descr="lock.png"/>
          <p:cNvPicPr>
            <a:picLocks noChangeAspect="1"/>
          </p:cNvPicPr>
          <p:nvPr/>
        </p:nvPicPr>
        <p:blipFill>
          <a:blip r:embed="rId4"/>
          <a:stretch>
            <a:fillRect/>
          </a:stretch>
        </p:blipFill>
        <p:spPr>
          <a:xfrm>
            <a:off x="10830759" y="1565211"/>
            <a:ext cx="134549" cy="195707"/>
          </a:xfrm>
          <a:prstGeom prst="rect">
            <a:avLst/>
          </a:prstGeom>
        </p:spPr>
      </p:pic>
      <p:sp>
        <p:nvSpPr>
          <p:cNvPr id="181" name="TextBox 180"/>
          <p:cNvSpPr txBox="1"/>
          <p:nvPr/>
        </p:nvSpPr>
        <p:spPr>
          <a:xfrm>
            <a:off x="11005868" y="157543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182" name="TextBox 181"/>
          <p:cNvSpPr txBox="1"/>
          <p:nvPr/>
        </p:nvSpPr>
        <p:spPr>
          <a:xfrm>
            <a:off x="7715250" y="1750695"/>
            <a:ext cx="3345780" cy="194310"/>
          </a:xfrm>
          <a:prstGeom prst="rect">
            <a:avLst/>
          </a:prstGeom>
          <a:noFill/>
        </p:spPr>
        <p:txBody>
          <a:bodyPr wrap="none" lIns="0" rIns="0" tIns="0" bIns="0">
            <a:spAutoFit/>
          </a:bodyPr>
          <a:lstStyle/>
          <a:p>
            <a:r>
              <a:rPr sz="1150" b="0">
                <a:solidFill>
                  <a:srgbClr val="2E2E2E"/>
                </a:solidFill>
                <a:latin typeface="Calibri"/>
              </a:rPr>
              <a:t>'Potted Flowering Plants × Gerbera' is the single largest</a:t>
            </a:r>
          </a:p>
        </p:txBody>
      </p:sp>
      <p:sp>
        <p:nvSpPr>
          <p:cNvPr id="183" name="TextBox 182"/>
          <p:cNvSpPr txBox="1"/>
          <p:nvPr/>
        </p:nvSpPr>
        <p:spPr>
          <a:xfrm>
            <a:off x="7715250" y="1925955"/>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184" name="Picture 183" descr="lock.png"/>
          <p:cNvPicPr>
            <a:picLocks noChangeAspect="1"/>
          </p:cNvPicPr>
          <p:nvPr/>
        </p:nvPicPr>
        <p:blipFill>
          <a:blip r:embed="rId4"/>
          <a:stretch>
            <a:fillRect/>
          </a:stretch>
        </p:blipFill>
        <p:spPr>
          <a:xfrm>
            <a:off x="8933535" y="1915731"/>
            <a:ext cx="134549" cy="195707"/>
          </a:xfrm>
          <a:prstGeom prst="rect">
            <a:avLst/>
          </a:prstGeom>
        </p:spPr>
      </p:pic>
      <p:sp>
        <p:nvSpPr>
          <p:cNvPr id="185" name="TextBox 184"/>
          <p:cNvSpPr txBox="1"/>
          <p:nvPr/>
        </p:nvSpPr>
        <p:spPr>
          <a:xfrm>
            <a:off x="9108645" y="1925955"/>
            <a:ext cx="2703958" cy="194310"/>
          </a:xfrm>
          <a:prstGeom prst="rect">
            <a:avLst/>
          </a:prstGeom>
          <a:noFill/>
        </p:spPr>
        <p:txBody>
          <a:bodyPr wrap="none" lIns="0" rIns="0" tIns="0" bIns="0">
            <a:spAutoFit/>
          </a:bodyPr>
          <a:lstStyle/>
          <a:p>
            <a:r>
              <a:rPr sz="1150" b="0">
                <a:solidFill>
                  <a:srgbClr val="2E2E2E"/>
                </a:solidFill>
                <a:latin typeface="Calibri"/>
              </a:rPr>
              <a:t>US$ Mn, 2026E), while 'Cut Flowers × Tulips'</a:t>
            </a:r>
          </a:p>
        </p:txBody>
      </p:sp>
      <p:sp>
        <p:nvSpPr>
          <p:cNvPr id="186" name="TextBox 185"/>
          <p:cNvSpPr txBox="1"/>
          <p:nvPr/>
        </p:nvSpPr>
        <p:spPr>
          <a:xfrm>
            <a:off x="7715250" y="2101215"/>
            <a:ext cx="2424392" cy="194310"/>
          </a:xfrm>
          <a:prstGeom prst="rect">
            <a:avLst/>
          </a:prstGeom>
          <a:noFill/>
        </p:spPr>
        <p:txBody>
          <a:bodyPr wrap="none" lIns="0" rIns="0" tIns="0" bIns="0">
            <a:spAutoFit/>
          </a:bodyPr>
          <a:lstStyle/>
          <a:p>
            <a:r>
              <a:rPr sz="1150" b="0">
                <a:solidFill>
                  <a:srgbClr val="2E2E2E"/>
                </a:solidFill>
                <a:latin typeface="Calibri"/>
              </a:rPr>
              <a:t>records the fastest growth at a CAGR of</a:t>
            </a:r>
          </a:p>
        </p:txBody>
      </p:sp>
      <p:pic>
        <p:nvPicPr>
          <p:cNvPr id="187" name="Picture 186" descr="lock.png"/>
          <p:cNvPicPr>
            <a:picLocks noChangeAspect="1"/>
          </p:cNvPicPr>
          <p:nvPr/>
        </p:nvPicPr>
        <p:blipFill>
          <a:blip r:embed="rId4"/>
          <a:stretch>
            <a:fillRect/>
          </a:stretch>
        </p:blipFill>
        <p:spPr>
          <a:xfrm>
            <a:off x="10088796" y="2090991"/>
            <a:ext cx="134549" cy="195707"/>
          </a:xfrm>
          <a:prstGeom prst="rect">
            <a:avLst/>
          </a:prstGeom>
        </p:spPr>
      </p:pic>
      <p:sp>
        <p:nvSpPr>
          <p:cNvPr id="188" name="TextBox 187"/>
          <p:cNvSpPr txBox="1"/>
          <p:nvPr/>
        </p:nvSpPr>
        <p:spPr>
          <a:xfrm>
            <a:off x="10263905" y="210121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89" name="TextBox 188"/>
          <p:cNvSpPr txBox="1"/>
          <p:nvPr/>
        </p:nvSpPr>
        <p:spPr>
          <a:xfrm>
            <a:off x="7715250" y="2329053"/>
            <a:ext cx="4171950" cy="194310"/>
          </a:xfrm>
          <a:prstGeom prst="rect">
            <a:avLst/>
          </a:prstGeom>
          <a:noFill/>
        </p:spPr>
        <p:txBody>
          <a:bodyPr wrap="none" lIns="0" rIns="0" tIns="0" bIns="0">
            <a:spAutoFit/>
          </a:bodyPr>
          <a:lstStyle/>
          <a:p>
            <a:r>
              <a:rPr sz="1150" b="0">
                <a:solidFill>
                  <a:srgbClr val="2E2E2E"/>
                </a:solidFill>
                <a:latin typeface="Calibri"/>
              </a:rPr>
              <a:t>Combined, the top three product type × flower species cells generate</a:t>
            </a:r>
          </a:p>
        </p:txBody>
      </p:sp>
      <p:sp>
        <p:nvSpPr>
          <p:cNvPr id="190" name="TextBox 189"/>
          <p:cNvSpPr txBox="1"/>
          <p:nvPr/>
        </p:nvSpPr>
        <p:spPr>
          <a:xfrm>
            <a:off x="7715250" y="2504313"/>
            <a:ext cx="1773745" cy="194310"/>
          </a:xfrm>
          <a:prstGeom prst="rect">
            <a:avLst/>
          </a:prstGeom>
          <a:noFill/>
        </p:spPr>
        <p:txBody>
          <a:bodyPr wrap="none" lIns="0" rIns="0" tIns="0" bIns="0">
            <a:spAutoFit/>
          </a:bodyPr>
          <a:lstStyle/>
          <a:p>
            <a:r>
              <a:rPr sz="1150" b="0">
                <a:solidFill>
                  <a:srgbClr val="2E2E2E"/>
                </a:solidFill>
                <a:latin typeface="Calibri"/>
              </a:rPr>
              <a:t>an absolute $ opportunity of</a:t>
            </a:r>
          </a:p>
        </p:txBody>
      </p:sp>
      <p:pic>
        <p:nvPicPr>
          <p:cNvPr id="191" name="Picture 190" descr="lock.png"/>
          <p:cNvPicPr>
            <a:picLocks noChangeAspect="1"/>
          </p:cNvPicPr>
          <p:nvPr/>
        </p:nvPicPr>
        <p:blipFill>
          <a:blip r:embed="rId4"/>
          <a:stretch>
            <a:fillRect/>
          </a:stretch>
        </p:blipFill>
        <p:spPr>
          <a:xfrm>
            <a:off x="9438149" y="2494089"/>
            <a:ext cx="134549" cy="195707"/>
          </a:xfrm>
          <a:prstGeom prst="rect">
            <a:avLst/>
          </a:prstGeom>
        </p:spPr>
      </p:pic>
      <p:sp>
        <p:nvSpPr>
          <p:cNvPr id="192" name="TextBox 191"/>
          <p:cNvSpPr txBox="1"/>
          <p:nvPr/>
        </p:nvSpPr>
        <p:spPr>
          <a:xfrm>
            <a:off x="9613259" y="2504313"/>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Type × Flower Species,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flower species sub-segments</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Product Type × Flower Species, 2026E (% of each row)</a:t>
            </a:r>
          </a:p>
        </p:txBody>
      </p:sp>
      <p:graphicFrame>
        <p:nvGraphicFramePr>
          <p:cNvPr id="12" name="Table 11"/>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2746475"/>
                <a:gridCol w="489174"/>
                <a:gridCol w="807883"/>
                <a:gridCol w="1247754"/>
                <a:gridCol w="504978"/>
                <a:gridCol w="952751"/>
                <a:gridCol w="876366"/>
                <a:gridCol w="641944"/>
                <a:gridCol w="607702"/>
                <a:gridCol w="494442"/>
                <a:gridCol w="760472"/>
                <a:gridCol w="620872"/>
                <a:gridCol w="552389"/>
                <a:gridCol w="583997"/>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Roses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Carnations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Chrysanthemums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Lilies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Alstroemeria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Hydrangeas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Gerbera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Orchids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Tulips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Lisianthus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Peonies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Others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7286625"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576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Flower Species Mix by Product Type, 2026E (% share)</a:t>
            </a:r>
          </a:p>
        </p:txBody>
      </p:sp>
      <p:graphicFrame>
        <p:nvGraphicFramePr>
          <p:cNvPr id="16" name="Chart 15"/>
          <p:cNvGraphicFramePr>
            <a:graphicFrameLocks noGrp="1"/>
          </p:cNvGraphicFramePr>
          <p:nvPr/>
        </p:nvGraphicFramePr>
        <p:xfrm>
          <a:off x="238125" y="4086225"/>
          <a:ext cx="7096125" cy="24860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800475"/>
            <a:ext cx="445770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862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1243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210050"/>
            <a:ext cx="419100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282547" y="2204276"/>
            <a:ext cx="366712" cy="533400"/>
          </a:xfrm>
          <a:prstGeom prst="rect">
            <a:avLst/>
          </a:prstGeom>
        </p:spPr>
      </p:pic>
      <p:pic>
        <p:nvPicPr>
          <p:cNvPr id="23" name="Picture 22" descr="lock.png"/>
          <p:cNvPicPr>
            <a:picLocks noChangeAspect="1"/>
          </p:cNvPicPr>
          <p:nvPr/>
        </p:nvPicPr>
        <p:blipFill>
          <a:blip r:embed="rId5"/>
          <a:stretch>
            <a:fillRect/>
          </a:stretch>
        </p:blipFill>
        <p:spPr>
          <a:xfrm>
            <a:off x="3778538" y="4610957"/>
            <a:ext cx="305026" cy="443674"/>
          </a:xfrm>
          <a:prstGeom prst="rect">
            <a:avLst/>
          </a:prstGeom>
        </p:spPr>
      </p:pic>
      <p:sp>
        <p:nvSpPr>
          <p:cNvPr id="24" name="TextBox 23"/>
          <p:cNvSpPr txBox="1"/>
          <p:nvPr/>
        </p:nvSpPr>
        <p:spPr>
          <a:xfrm>
            <a:off x="7715250" y="4219575"/>
            <a:ext cx="3943672" cy="194310"/>
          </a:xfrm>
          <a:prstGeom prst="rect">
            <a:avLst/>
          </a:prstGeom>
          <a:noFill/>
        </p:spPr>
        <p:txBody>
          <a:bodyPr wrap="none" lIns="0" rIns="0" tIns="0" bIns="0">
            <a:spAutoFit/>
          </a:bodyPr>
          <a:lstStyle/>
          <a:p>
            <a:r>
              <a:rPr sz="1150" b="0">
                <a:solidFill>
                  <a:srgbClr val="2E2E2E"/>
                </a:solidFill>
                <a:latin typeface="Calibri"/>
              </a:rPr>
              <a:t>▪ 'Gerbera' holds the highest share of 'Potted Flowering Plants' at</a:t>
            </a:r>
          </a:p>
        </p:txBody>
      </p:sp>
      <p:pic>
        <p:nvPicPr>
          <p:cNvPr id="25" name="Picture 24" descr="lock.png"/>
          <p:cNvPicPr>
            <a:picLocks noChangeAspect="1"/>
          </p:cNvPicPr>
          <p:nvPr/>
        </p:nvPicPr>
        <p:blipFill>
          <a:blip r:embed="rId5"/>
          <a:stretch>
            <a:fillRect/>
          </a:stretch>
        </p:blipFill>
        <p:spPr>
          <a:xfrm>
            <a:off x="11608076" y="4209351"/>
            <a:ext cx="134549" cy="195707"/>
          </a:xfrm>
          <a:prstGeom prst="rect">
            <a:avLst/>
          </a:prstGeom>
        </p:spPr>
      </p:pic>
      <p:sp>
        <p:nvSpPr>
          <p:cNvPr id="26" name="TextBox 25"/>
          <p:cNvSpPr txBox="1"/>
          <p:nvPr/>
        </p:nvSpPr>
        <p:spPr>
          <a:xfrm>
            <a:off x="7715250" y="43948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4622672"/>
            <a:ext cx="3955938" cy="194310"/>
          </a:xfrm>
          <a:prstGeom prst="rect">
            <a:avLst/>
          </a:prstGeom>
          <a:noFill/>
        </p:spPr>
        <p:txBody>
          <a:bodyPr wrap="none" lIns="0" rIns="0" tIns="0" bIns="0">
            <a:spAutoFit/>
          </a:bodyPr>
          <a:lstStyle/>
          <a:p>
            <a:r>
              <a:rPr sz="1150" b="0">
                <a:solidFill>
                  <a:srgbClr val="2E2E2E"/>
                </a:solidFill>
                <a:latin typeface="Calibri"/>
              </a:rPr>
              <a:t>▪ 'Potted Flowering Plants' is the most concentrated product type</a:t>
            </a:r>
          </a:p>
        </p:txBody>
      </p:sp>
      <p:sp>
        <p:nvSpPr>
          <p:cNvPr id="28" name="TextBox 27"/>
          <p:cNvSpPr txBox="1"/>
          <p:nvPr/>
        </p:nvSpPr>
        <p:spPr>
          <a:xfrm>
            <a:off x="7715250" y="479793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9" name="Picture 28" descr="lock.png"/>
          <p:cNvPicPr>
            <a:picLocks noChangeAspect="1"/>
          </p:cNvPicPr>
          <p:nvPr/>
        </p:nvPicPr>
        <p:blipFill>
          <a:blip r:embed="rId5"/>
          <a:stretch>
            <a:fillRect/>
          </a:stretch>
        </p:blipFill>
        <p:spPr>
          <a:xfrm>
            <a:off x="8843110" y="4787709"/>
            <a:ext cx="134549" cy="195707"/>
          </a:xfrm>
          <a:prstGeom prst="rect">
            <a:avLst/>
          </a:prstGeom>
        </p:spPr>
      </p:pic>
      <p:sp>
        <p:nvSpPr>
          <p:cNvPr id="30" name="TextBox 29"/>
          <p:cNvSpPr txBox="1"/>
          <p:nvPr/>
        </p:nvSpPr>
        <p:spPr>
          <a:xfrm>
            <a:off x="9018219" y="4797932"/>
            <a:ext cx="1545828" cy="194310"/>
          </a:xfrm>
          <a:prstGeom prst="rect">
            <a:avLst/>
          </a:prstGeom>
          <a:noFill/>
        </p:spPr>
        <p:txBody>
          <a:bodyPr wrap="none" lIns="0" rIns="0" tIns="0" bIns="0">
            <a:spAutoFit/>
          </a:bodyPr>
          <a:lstStyle/>
          <a:p>
            <a:r>
              <a:rPr sz="1150" b="0">
                <a:solidFill>
                  <a:srgbClr val="2E2E2E"/>
                </a:solidFill>
                <a:latin typeface="Calibri"/>
              </a:rPr>
              <a:t>of its value via 'Gerbera'.</a:t>
            </a:r>
          </a:p>
        </p:txBody>
      </p:sp>
      <p:sp>
        <p:nvSpPr>
          <p:cNvPr id="31" name="TextBox 30"/>
          <p:cNvSpPr txBox="1"/>
          <p:nvPr/>
        </p:nvSpPr>
        <p:spPr>
          <a:xfrm>
            <a:off x="7715250" y="5025770"/>
            <a:ext cx="1156741" cy="194310"/>
          </a:xfrm>
          <a:prstGeom prst="rect">
            <a:avLst/>
          </a:prstGeom>
          <a:noFill/>
        </p:spPr>
        <p:txBody>
          <a:bodyPr wrap="none" lIns="0" rIns="0" tIns="0" bIns="0">
            <a:spAutoFit/>
          </a:bodyPr>
          <a:lstStyle/>
          <a:p>
            <a:r>
              <a:rPr sz="1150" b="0">
                <a:solidFill>
                  <a:srgbClr val="2E2E2E"/>
                </a:solidFill>
                <a:latin typeface="Calibri"/>
              </a:rPr>
              <a:t>▪ 'Gerbera' gains +</a:t>
            </a:r>
          </a:p>
        </p:txBody>
      </p:sp>
      <p:pic>
        <p:nvPicPr>
          <p:cNvPr id="32" name="Picture 31" descr="lock.png"/>
          <p:cNvPicPr>
            <a:picLocks noChangeAspect="1"/>
          </p:cNvPicPr>
          <p:nvPr/>
        </p:nvPicPr>
        <p:blipFill>
          <a:blip r:embed="rId5"/>
          <a:stretch>
            <a:fillRect/>
          </a:stretch>
        </p:blipFill>
        <p:spPr>
          <a:xfrm>
            <a:off x="8821145" y="5015547"/>
            <a:ext cx="134549" cy="195707"/>
          </a:xfrm>
          <a:prstGeom prst="rect">
            <a:avLst/>
          </a:prstGeom>
        </p:spPr>
      </p:pic>
      <p:sp>
        <p:nvSpPr>
          <p:cNvPr id="33" name="TextBox 32"/>
          <p:cNvSpPr txBox="1"/>
          <p:nvPr/>
        </p:nvSpPr>
        <p:spPr>
          <a:xfrm>
            <a:off x="8996255" y="5025770"/>
            <a:ext cx="2602123" cy="194310"/>
          </a:xfrm>
          <a:prstGeom prst="rect">
            <a:avLst/>
          </a:prstGeom>
          <a:noFill/>
        </p:spPr>
        <p:txBody>
          <a:bodyPr wrap="none" lIns="0" rIns="0" tIns="0" bIns="0">
            <a:spAutoFit/>
          </a:bodyPr>
          <a:lstStyle/>
          <a:p>
            <a:r>
              <a:rPr sz="1150" b="0">
                <a:solidFill>
                  <a:srgbClr val="2E2E2E"/>
                </a:solidFill>
                <a:latin typeface="Calibri"/>
              </a:rPr>
              <a:t>BPS of share of the Global cross-section by</a:t>
            </a:r>
          </a:p>
        </p:txBody>
      </p:sp>
      <p:sp>
        <p:nvSpPr>
          <p:cNvPr id="34" name="TextBox 33"/>
          <p:cNvSpPr txBox="1"/>
          <p:nvPr/>
        </p:nvSpPr>
        <p:spPr>
          <a:xfrm>
            <a:off x="7715250" y="5201030"/>
            <a:ext cx="476482" cy="194310"/>
          </a:xfrm>
          <a:prstGeom prst="rect">
            <a:avLst/>
          </a:prstGeom>
          <a:noFill/>
        </p:spPr>
        <p:txBody>
          <a:bodyPr wrap="none" lIns="0" rIns="0" tIns="0" bIns="0">
            <a:spAutoFit/>
          </a:bodyPr>
          <a:lstStyle/>
          <a:p>
            <a:r>
              <a:rPr sz="1150" b="0">
                <a:solidFill>
                  <a:srgbClr val="2E2E2E"/>
                </a:solidFill>
                <a:latin typeface="Calibri"/>
              </a:rPr>
              <a:t>2036F.</a:t>
            </a:r>
          </a:p>
        </p:txBody>
      </p:sp>
      <p:sp>
        <p:nvSpPr>
          <p:cNvPr id="35" name="lockshield_16"/>
          <p:cNvSpPr/>
          <p:nvPr/>
        </p:nvSpPr>
        <p:spPr>
          <a:xfrm>
            <a:off x="238125" y="4086225"/>
            <a:ext cx="7096125" cy="24860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Type × Flower Species,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3895725"/>
          </a:xfrm>
          <a:prstGeom prst="roundRect">
            <a:avLst>
              <a:gd name="adj" fmla="val 19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Flower Species, 2026E–2036F</a:t>
            </a:r>
          </a:p>
        </p:txBody>
      </p:sp>
      <p:graphicFrame>
        <p:nvGraphicFramePr>
          <p:cNvPr id="12" name="Table 11"/>
          <p:cNvGraphicFramePr>
            <a:graphicFrameLocks noGrp="1"/>
          </p:cNvGraphicFramePr>
          <p:nvPr/>
        </p:nvGraphicFramePr>
        <p:xfrm>
          <a:off x="152400" y="1238250"/>
          <a:ext cx="11915735" cy="3428997"/>
        </p:xfrm>
        <a:graphic>
          <a:graphicData uri="http://schemas.openxmlformats.org/drawingml/2006/table">
            <a:tbl>
              <a:tblPr>
                <a:tableStyleId>{5C22544A-7EE6-4342-B048-85BDC9FD1C3A}</a:tableStyleId>
              </a:tblPr>
              <a:tblGrid>
                <a:gridCol w="2476497"/>
                <a:gridCol w="355497"/>
                <a:gridCol w="362282"/>
                <a:gridCol w="355497"/>
                <a:gridCol w="362282"/>
                <a:gridCol w="357770"/>
                <a:gridCol w="362282"/>
                <a:gridCol w="355497"/>
                <a:gridCol w="362282"/>
                <a:gridCol w="355497"/>
                <a:gridCol w="362282"/>
                <a:gridCol w="357770"/>
                <a:gridCol w="362282"/>
                <a:gridCol w="355497"/>
                <a:gridCol w="362282"/>
                <a:gridCol w="355497"/>
                <a:gridCol w="362282"/>
                <a:gridCol w="355497"/>
                <a:gridCol w="362282"/>
                <a:gridCol w="357770"/>
                <a:gridCol w="362282"/>
                <a:gridCol w="357770"/>
                <a:gridCol w="362282"/>
                <a:gridCol w="357770"/>
                <a:gridCol w="362282"/>
                <a:gridCol w="423705"/>
                <a:gridCol w="390820"/>
              </a:tblGrid>
              <a:tr h="438912">
                <a:tc rowSpan="2">
                  <a:txBody>
                    <a:bodyPr wrap="none"/>
                    <a:lstStyle/>
                    <a:p>
                      <a:pPr algn="l"/>
                      <a:r>
                        <a:rPr sz="1100" b="1">
                          <a:solidFill>
                            <a:srgbClr val="0B2E4A"/>
                          </a:solidFill>
                          <a:latin typeface="Calibri"/>
                        </a:rPr>
                        <a:t>Product Type</a:t>
                      </a: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Roses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Carnations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Chrysanthe</a:t>
                      </a:r>
                      <a:endParaRPr sz="1100"/>
                    </a:p>
                    <a:p>
                      <a:pPr algn="ctr"/>
                      <a:r>
                        <a:rPr sz="1100" b="1">
                          <a:solidFill>
                            <a:srgbClr val="0B2E4A"/>
                          </a:solidFill>
                          <a:latin typeface="Calibri"/>
                        </a:rPr>
                        <a:t>mums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Lilies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Alstroemeri</a:t>
                      </a:r>
                      <a:endParaRPr sz="1100"/>
                    </a:p>
                    <a:p>
                      <a:pPr algn="ctr"/>
                      <a:r>
                        <a:rPr sz="1100" b="1">
                          <a:solidFill>
                            <a:srgbClr val="0B2E4A"/>
                          </a:solidFill>
                          <a:latin typeface="Calibri"/>
                        </a:rPr>
                        <a:t>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Hydrangeas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Gerbera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Orchids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Tulips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Lisianthus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Peonies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Others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r>
              <a:tr h="439335">
                <a:tc vMerge="1">
                  <a:txBody>
                    <a:bodyPr wrap="none"/>
                    <a:lstStyle/>
                    <a:p>
                      <a:pPr algn="l"/>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r>
              <a:tr h="246549">
                <a:tc>
                  <a:txBody>
                    <a:bodyPr wrap="none"/>
                    <a:lstStyle/>
                    <a:p>
                      <a:pPr algn="l"/>
                      <a:r>
                        <a:rPr sz="1100" b="1">
                          <a:solidFill>
                            <a:srgbClr val="2E2E2E"/>
                          </a:solidFill>
                          <a:latin typeface="Calibri"/>
                        </a:rPr>
                        <a:t>Cut Flowers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549">
                <a:tc>
                  <a:txBody>
                    <a:bodyPr wrap="none"/>
                    <a:lstStyle/>
                    <a:p>
                      <a:pPr algn="l"/>
                      <a:r>
                        <a:rPr sz="1100" b="1">
                          <a:solidFill>
                            <a:srgbClr val="2E2E2E"/>
                          </a:solidFill>
                          <a:latin typeface="Calibri"/>
                        </a:rPr>
                        <a:t>Potted Flowering 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549">
                <a:tc>
                  <a:txBody>
                    <a:bodyPr wrap="none"/>
                    <a:lstStyle/>
                    <a:p>
                      <a:pPr algn="l"/>
                      <a:r>
                        <a:rPr sz="1100" b="1">
                          <a:solidFill>
                            <a:srgbClr val="2E2E2E"/>
                          </a:solidFill>
                          <a:latin typeface="Calibri"/>
                        </a:rPr>
                        <a:t>Potted Foliage Plants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335">
                <a:tc>
                  <a:txBody>
                    <a:bodyPr wrap="none"/>
                    <a:lstStyle/>
                    <a:p>
                      <a:pPr algn="l"/>
                      <a:r>
                        <a:rPr sz="1100" b="1">
                          <a:solidFill>
                            <a:srgbClr val="2E2E2E"/>
                          </a:solidFill>
                          <a:latin typeface="Calibri"/>
                        </a:rPr>
                        <a:t>Bedding &amp; Garden</a:t>
                      </a:r>
                      <a:endParaRPr sz="1100"/>
                    </a:p>
                    <a:p>
                      <a:pPr algn="l"/>
                      <a:r>
                        <a:rPr sz="1100" b="1">
                          <a:solidFill>
                            <a:srgbClr val="2E2E2E"/>
                          </a:solidFill>
                          <a:latin typeface="Calibri"/>
                        </a:rPr>
                        <a:t>Flowering 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549">
                <a:tc>
                  <a:txBody>
                    <a:bodyPr wrap="none"/>
                    <a:lstStyle/>
                    <a:p>
                      <a:pPr algn="l"/>
                      <a:r>
                        <a:rPr sz="1100" b="1">
                          <a:solidFill>
                            <a:srgbClr val="2E2E2E"/>
                          </a:solidFill>
                          <a:latin typeface="Calibri"/>
                        </a:rPr>
                        <a:t>Cut Foliage &amp; Greens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335">
                <a:tc>
                  <a:txBody>
                    <a:bodyPr wrap="none"/>
                    <a:lstStyle/>
                    <a:p>
                      <a:pPr algn="l"/>
                      <a:r>
                        <a:rPr sz="1100" b="1">
                          <a:solidFill>
                            <a:srgbClr val="2E2E2E"/>
                          </a:solidFill>
                          <a:latin typeface="Calibri"/>
                        </a:rPr>
                        <a:t>Young Plants &amp; Propagation</a:t>
                      </a:r>
                      <a:endParaRPr sz="1100"/>
                    </a:p>
                    <a:p>
                      <a:pPr algn="l"/>
                      <a:r>
                        <a:rPr sz="1100" b="1">
                          <a:solidFill>
                            <a:srgbClr val="2E2E2E"/>
                          </a:solidFill>
                          <a:latin typeface="Calibri"/>
                        </a:rPr>
                        <a:t>Material</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335">
                <a:tc>
                  <a:txBody>
                    <a:bodyPr wrap="none"/>
                    <a:lstStyle/>
                    <a:p>
                      <a:pPr algn="l"/>
                      <a:r>
                        <a:rPr sz="1100" b="1">
                          <a:solidFill>
                            <a:srgbClr val="2E2E2E"/>
                          </a:solidFill>
                          <a:latin typeface="Calibri"/>
                        </a:rPr>
                        <a:t>Flower Bulbs, Corms,</a:t>
                      </a:r>
                      <a:endParaRPr sz="1100"/>
                    </a:p>
                    <a:p>
                      <a:pPr algn="l"/>
                      <a:r>
                        <a:rPr sz="1100" b="1">
                          <a:solidFill>
                            <a:srgbClr val="2E2E2E"/>
                          </a:solidFill>
                          <a:latin typeface="Calibri"/>
                        </a:rPr>
                        <a:t>Rhizomes &amp; Tubers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549">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4676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10150"/>
            <a:ext cx="56007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958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53340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19725"/>
            <a:ext cx="5334000" cy="11334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5010150"/>
            <a:ext cx="19431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50958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53340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5419725"/>
            <a:ext cx="1676400" cy="1133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5010150"/>
            <a:ext cx="19431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50958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53340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5419725"/>
            <a:ext cx="1676400" cy="1133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5010150"/>
            <a:ext cx="19431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50958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53340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5419725"/>
            <a:ext cx="1676400" cy="11334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'Cut Flowers × Gerbera' ranks highest (5/5); 'Cut Flowers × Hydrangeas'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6776904" y="3125172"/>
            <a:ext cx="366712" cy="533400"/>
          </a:xfrm>
          <a:prstGeom prst="rect">
            <a:avLst/>
          </a:prstGeom>
        </p:spPr>
      </p:pic>
      <p:sp>
        <p:nvSpPr>
          <p:cNvPr id="32" name="TextBox 31"/>
          <p:cNvSpPr txBox="1"/>
          <p:nvPr/>
        </p:nvSpPr>
        <p:spPr>
          <a:xfrm>
            <a:off x="276225" y="5429250"/>
            <a:ext cx="1663650" cy="186689"/>
          </a:xfrm>
          <a:prstGeom prst="rect">
            <a:avLst/>
          </a:prstGeom>
          <a:noFill/>
        </p:spPr>
        <p:txBody>
          <a:bodyPr wrap="none" lIns="0" rIns="0" tIns="0" bIns="0">
            <a:spAutoFit/>
          </a:bodyPr>
          <a:lstStyle/>
          <a:p>
            <a:r>
              <a:rPr sz="1100" b="0">
                <a:solidFill>
                  <a:srgbClr val="2E2E2E"/>
                </a:solidFill>
                <a:latin typeface="Calibri"/>
              </a:rPr>
              <a:t>▪ 1. Cut Flowers × Gerbera –</a:t>
            </a:r>
          </a:p>
        </p:txBody>
      </p:sp>
      <p:pic>
        <p:nvPicPr>
          <p:cNvPr id="33" name="Picture 32" descr="lock.png"/>
          <p:cNvPicPr>
            <a:picLocks noChangeAspect="1"/>
          </p:cNvPicPr>
          <p:nvPr/>
        </p:nvPicPr>
        <p:blipFill>
          <a:blip r:embed="rId4"/>
          <a:stretch>
            <a:fillRect/>
          </a:stretch>
        </p:blipFill>
        <p:spPr>
          <a:xfrm>
            <a:off x="1887926" y="5419470"/>
            <a:ext cx="128699" cy="187198"/>
          </a:xfrm>
          <a:prstGeom prst="rect">
            <a:avLst/>
          </a:prstGeom>
        </p:spPr>
      </p:pic>
      <p:sp>
        <p:nvSpPr>
          <p:cNvPr id="34" name="TextBox 33"/>
          <p:cNvSpPr txBox="1"/>
          <p:nvPr/>
        </p:nvSpPr>
        <p:spPr>
          <a:xfrm>
            <a:off x="2055422" y="542925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2114872" y="5419470"/>
            <a:ext cx="128699" cy="187198"/>
          </a:xfrm>
          <a:prstGeom prst="rect">
            <a:avLst/>
          </a:prstGeom>
        </p:spPr>
      </p:pic>
      <p:sp>
        <p:nvSpPr>
          <p:cNvPr id="36" name="TextBox 35"/>
          <p:cNvSpPr txBox="1"/>
          <p:nvPr/>
        </p:nvSpPr>
        <p:spPr>
          <a:xfrm>
            <a:off x="2282368" y="542925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7" name="TextBox 36"/>
          <p:cNvSpPr txBox="1"/>
          <p:nvPr/>
        </p:nvSpPr>
        <p:spPr>
          <a:xfrm>
            <a:off x="276225" y="5647182"/>
            <a:ext cx="2346325" cy="186689"/>
          </a:xfrm>
          <a:prstGeom prst="rect">
            <a:avLst/>
          </a:prstGeom>
          <a:noFill/>
        </p:spPr>
        <p:txBody>
          <a:bodyPr wrap="none" lIns="0" rIns="0" tIns="0" bIns="0">
            <a:spAutoFit/>
          </a:bodyPr>
          <a:lstStyle/>
          <a:p>
            <a:r>
              <a:rPr sz="1100" b="0">
                <a:solidFill>
                  <a:srgbClr val="2E2E2E"/>
                </a:solidFill>
                <a:latin typeface="Calibri"/>
              </a:rPr>
              <a:t>▪ 2. Potted Flowering Plants × Gerbera –</a:t>
            </a:r>
          </a:p>
        </p:txBody>
      </p:sp>
      <p:pic>
        <p:nvPicPr>
          <p:cNvPr id="38" name="Picture 37" descr="lock.png"/>
          <p:cNvPicPr>
            <a:picLocks noChangeAspect="1"/>
          </p:cNvPicPr>
          <p:nvPr/>
        </p:nvPicPr>
        <p:blipFill>
          <a:blip r:embed="rId4"/>
          <a:stretch>
            <a:fillRect/>
          </a:stretch>
        </p:blipFill>
        <p:spPr>
          <a:xfrm>
            <a:off x="2570601" y="5637402"/>
            <a:ext cx="128699" cy="187198"/>
          </a:xfrm>
          <a:prstGeom prst="rect">
            <a:avLst/>
          </a:prstGeom>
        </p:spPr>
      </p:pic>
      <p:sp>
        <p:nvSpPr>
          <p:cNvPr id="39" name="TextBox 38"/>
          <p:cNvSpPr txBox="1"/>
          <p:nvPr/>
        </p:nvSpPr>
        <p:spPr>
          <a:xfrm>
            <a:off x="2738097" y="564718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797546" y="5637402"/>
            <a:ext cx="128699" cy="187198"/>
          </a:xfrm>
          <a:prstGeom prst="rect">
            <a:avLst/>
          </a:prstGeom>
        </p:spPr>
      </p:pic>
      <p:sp>
        <p:nvSpPr>
          <p:cNvPr id="41" name="TextBox 40"/>
          <p:cNvSpPr txBox="1"/>
          <p:nvPr/>
        </p:nvSpPr>
        <p:spPr>
          <a:xfrm>
            <a:off x="2965042" y="5647182"/>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2" name="TextBox 41"/>
          <p:cNvSpPr txBox="1"/>
          <p:nvPr/>
        </p:nvSpPr>
        <p:spPr>
          <a:xfrm>
            <a:off x="276225" y="5865114"/>
            <a:ext cx="3006080" cy="186689"/>
          </a:xfrm>
          <a:prstGeom prst="rect">
            <a:avLst/>
          </a:prstGeom>
          <a:noFill/>
        </p:spPr>
        <p:txBody>
          <a:bodyPr wrap="none" lIns="0" rIns="0" tIns="0" bIns="0">
            <a:spAutoFit/>
          </a:bodyPr>
          <a:lstStyle/>
          <a:p>
            <a:r>
              <a:rPr sz="1100" b="0">
                <a:solidFill>
                  <a:srgbClr val="2E2E2E"/>
                </a:solidFill>
                <a:latin typeface="Calibri"/>
              </a:rPr>
              <a:t>▪ 3. Bedding &amp; Garden Flowering Plants × Gerbera –</a:t>
            </a:r>
          </a:p>
        </p:txBody>
      </p:sp>
      <p:pic>
        <p:nvPicPr>
          <p:cNvPr id="43" name="Picture 42" descr="lock.png"/>
          <p:cNvPicPr>
            <a:picLocks noChangeAspect="1"/>
          </p:cNvPicPr>
          <p:nvPr/>
        </p:nvPicPr>
        <p:blipFill>
          <a:blip r:embed="rId4"/>
          <a:stretch>
            <a:fillRect/>
          </a:stretch>
        </p:blipFill>
        <p:spPr>
          <a:xfrm>
            <a:off x="3230356" y="5855334"/>
            <a:ext cx="128699" cy="187198"/>
          </a:xfrm>
          <a:prstGeom prst="rect">
            <a:avLst/>
          </a:prstGeom>
        </p:spPr>
      </p:pic>
      <p:sp>
        <p:nvSpPr>
          <p:cNvPr id="44" name="TextBox 43"/>
          <p:cNvSpPr txBox="1"/>
          <p:nvPr/>
        </p:nvSpPr>
        <p:spPr>
          <a:xfrm>
            <a:off x="3397852" y="586511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457301" y="5855334"/>
            <a:ext cx="128699" cy="187198"/>
          </a:xfrm>
          <a:prstGeom prst="rect">
            <a:avLst/>
          </a:prstGeom>
        </p:spPr>
      </p:pic>
      <p:sp>
        <p:nvSpPr>
          <p:cNvPr id="46" name="TextBox 45"/>
          <p:cNvSpPr txBox="1"/>
          <p:nvPr/>
        </p:nvSpPr>
        <p:spPr>
          <a:xfrm>
            <a:off x="3624797" y="5865114"/>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7" name="TextBox 46"/>
          <p:cNvSpPr txBox="1"/>
          <p:nvPr/>
        </p:nvSpPr>
        <p:spPr>
          <a:xfrm>
            <a:off x="276225" y="6083046"/>
            <a:ext cx="2191042" cy="186689"/>
          </a:xfrm>
          <a:prstGeom prst="rect">
            <a:avLst/>
          </a:prstGeom>
          <a:noFill/>
        </p:spPr>
        <p:txBody>
          <a:bodyPr wrap="none" lIns="0" rIns="0" tIns="0" bIns="0">
            <a:spAutoFit/>
          </a:bodyPr>
          <a:lstStyle/>
          <a:p>
            <a:r>
              <a:rPr sz="1100" b="0">
                <a:solidFill>
                  <a:srgbClr val="2E2E2E"/>
                </a:solidFill>
                <a:latin typeface="Calibri"/>
              </a:rPr>
              <a:t>▪ 4. Potted Foliage Plants × Gerbera –</a:t>
            </a:r>
          </a:p>
        </p:txBody>
      </p:sp>
      <p:pic>
        <p:nvPicPr>
          <p:cNvPr id="48" name="Picture 47" descr="lock.png"/>
          <p:cNvPicPr>
            <a:picLocks noChangeAspect="1"/>
          </p:cNvPicPr>
          <p:nvPr/>
        </p:nvPicPr>
        <p:blipFill>
          <a:blip r:embed="rId4"/>
          <a:stretch>
            <a:fillRect/>
          </a:stretch>
        </p:blipFill>
        <p:spPr>
          <a:xfrm>
            <a:off x="2415319" y="6073266"/>
            <a:ext cx="128699" cy="187198"/>
          </a:xfrm>
          <a:prstGeom prst="rect">
            <a:avLst/>
          </a:prstGeom>
        </p:spPr>
      </p:pic>
      <p:sp>
        <p:nvSpPr>
          <p:cNvPr id="49" name="TextBox 48"/>
          <p:cNvSpPr txBox="1"/>
          <p:nvPr/>
        </p:nvSpPr>
        <p:spPr>
          <a:xfrm>
            <a:off x="2582815" y="608304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2642264" y="6073266"/>
            <a:ext cx="128699" cy="187198"/>
          </a:xfrm>
          <a:prstGeom prst="rect">
            <a:avLst/>
          </a:prstGeom>
        </p:spPr>
      </p:pic>
      <p:sp>
        <p:nvSpPr>
          <p:cNvPr id="51" name="TextBox 50"/>
          <p:cNvSpPr txBox="1"/>
          <p:nvPr/>
        </p:nvSpPr>
        <p:spPr>
          <a:xfrm>
            <a:off x="2809760" y="6083046"/>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2" name="TextBox 51"/>
          <p:cNvSpPr txBox="1"/>
          <p:nvPr/>
        </p:nvSpPr>
        <p:spPr>
          <a:xfrm>
            <a:off x="276225" y="6300978"/>
            <a:ext cx="2187768" cy="186689"/>
          </a:xfrm>
          <a:prstGeom prst="rect">
            <a:avLst/>
          </a:prstGeom>
          <a:noFill/>
        </p:spPr>
        <p:txBody>
          <a:bodyPr wrap="none" lIns="0" rIns="0" tIns="0" bIns="0">
            <a:spAutoFit/>
          </a:bodyPr>
          <a:lstStyle/>
          <a:p>
            <a:r>
              <a:rPr sz="1100" b="0">
                <a:solidFill>
                  <a:srgbClr val="2E2E2E"/>
                </a:solidFill>
                <a:latin typeface="Calibri"/>
              </a:rPr>
              <a:t>▪ 5. Cut Foliage &amp; Greens × Gerbera –</a:t>
            </a:r>
          </a:p>
        </p:txBody>
      </p:sp>
      <p:pic>
        <p:nvPicPr>
          <p:cNvPr id="53" name="Picture 52" descr="lock.png"/>
          <p:cNvPicPr>
            <a:picLocks noChangeAspect="1"/>
          </p:cNvPicPr>
          <p:nvPr/>
        </p:nvPicPr>
        <p:blipFill>
          <a:blip r:embed="rId4"/>
          <a:stretch>
            <a:fillRect/>
          </a:stretch>
        </p:blipFill>
        <p:spPr>
          <a:xfrm>
            <a:off x="2412044" y="6291198"/>
            <a:ext cx="128699" cy="187198"/>
          </a:xfrm>
          <a:prstGeom prst="rect">
            <a:avLst/>
          </a:prstGeom>
        </p:spPr>
      </p:pic>
      <p:sp>
        <p:nvSpPr>
          <p:cNvPr id="54" name="TextBox 53"/>
          <p:cNvSpPr txBox="1"/>
          <p:nvPr/>
        </p:nvSpPr>
        <p:spPr>
          <a:xfrm>
            <a:off x="2579540" y="630097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2638990" y="6291198"/>
            <a:ext cx="128699" cy="187198"/>
          </a:xfrm>
          <a:prstGeom prst="rect">
            <a:avLst/>
          </a:prstGeom>
        </p:spPr>
      </p:pic>
      <p:sp>
        <p:nvSpPr>
          <p:cNvPr id="56" name="TextBox 55"/>
          <p:cNvSpPr txBox="1"/>
          <p:nvPr/>
        </p:nvSpPr>
        <p:spPr>
          <a:xfrm>
            <a:off x="2806486" y="6300978"/>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7" name="TextBox 56"/>
          <p:cNvSpPr txBox="1"/>
          <p:nvPr/>
        </p:nvSpPr>
        <p:spPr>
          <a:xfrm>
            <a:off x="6029325" y="5429250"/>
            <a:ext cx="1550392" cy="194310"/>
          </a:xfrm>
          <a:prstGeom prst="rect">
            <a:avLst/>
          </a:prstGeom>
          <a:noFill/>
        </p:spPr>
        <p:txBody>
          <a:bodyPr wrap="none" lIns="0" rIns="0" tIns="0" bIns="0">
            <a:spAutoFit/>
          </a:bodyPr>
          <a:lstStyle/>
          <a:p>
            <a:r>
              <a:rPr sz="1150" b="0">
                <a:solidFill>
                  <a:srgbClr val="2E2E2E"/>
                </a:solidFill>
                <a:latin typeface="Calibri"/>
              </a:rPr>
              <a:t>▪ 'Cut Flowers × Gerbera'</a:t>
            </a:r>
          </a:p>
        </p:txBody>
      </p:sp>
      <p:sp>
        <p:nvSpPr>
          <p:cNvPr id="58" name="TextBox 57"/>
          <p:cNvSpPr txBox="1"/>
          <p:nvPr/>
        </p:nvSpPr>
        <p:spPr>
          <a:xfrm>
            <a:off x="6029325" y="5604510"/>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59" name="Picture 58" descr="lock.png"/>
          <p:cNvPicPr>
            <a:picLocks noChangeAspect="1"/>
          </p:cNvPicPr>
          <p:nvPr/>
        </p:nvPicPr>
        <p:blipFill>
          <a:blip r:embed="rId4"/>
          <a:stretch>
            <a:fillRect/>
          </a:stretch>
        </p:blipFill>
        <p:spPr>
          <a:xfrm>
            <a:off x="6335083" y="5594286"/>
            <a:ext cx="134549" cy="195707"/>
          </a:xfrm>
          <a:prstGeom prst="rect">
            <a:avLst/>
          </a:prstGeom>
        </p:spPr>
      </p:pic>
      <p:sp>
        <p:nvSpPr>
          <p:cNvPr id="60" name="TextBox 59"/>
          <p:cNvSpPr txBox="1"/>
          <p:nvPr/>
        </p:nvSpPr>
        <p:spPr>
          <a:xfrm>
            <a:off x="6510192" y="5604510"/>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1" name="TextBox 60"/>
          <p:cNvSpPr txBox="1"/>
          <p:nvPr/>
        </p:nvSpPr>
        <p:spPr>
          <a:xfrm>
            <a:off x="6029325" y="5779770"/>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6127418" y="5769546"/>
            <a:ext cx="134549" cy="195707"/>
          </a:xfrm>
          <a:prstGeom prst="rect">
            <a:avLst/>
          </a:prstGeom>
        </p:spPr>
      </p:pic>
      <p:sp>
        <p:nvSpPr>
          <p:cNvPr id="63" name="TextBox 62"/>
          <p:cNvSpPr txBox="1"/>
          <p:nvPr/>
        </p:nvSpPr>
        <p:spPr>
          <a:xfrm>
            <a:off x="6302527" y="5779770"/>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4" name="TextBox 63"/>
          <p:cNvSpPr txBox="1"/>
          <p:nvPr/>
        </p:nvSpPr>
        <p:spPr>
          <a:xfrm>
            <a:off x="6029325" y="595502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5" name="TextBox 64"/>
          <p:cNvSpPr txBox="1"/>
          <p:nvPr/>
        </p:nvSpPr>
        <p:spPr>
          <a:xfrm>
            <a:off x="8124825" y="5429250"/>
            <a:ext cx="1413185" cy="194310"/>
          </a:xfrm>
          <a:prstGeom prst="rect">
            <a:avLst/>
          </a:prstGeom>
          <a:noFill/>
        </p:spPr>
        <p:txBody>
          <a:bodyPr wrap="none" lIns="0" rIns="0" tIns="0" bIns="0">
            <a:spAutoFit/>
          </a:bodyPr>
          <a:lstStyle/>
          <a:p>
            <a:r>
              <a:rPr sz="1150" b="0">
                <a:solidFill>
                  <a:srgbClr val="2E2E2E"/>
                </a:solidFill>
                <a:latin typeface="Calibri"/>
              </a:rPr>
              <a:t>▪ 'Cut Flowers × Tulips'</a:t>
            </a:r>
          </a:p>
        </p:txBody>
      </p:sp>
      <p:sp>
        <p:nvSpPr>
          <p:cNvPr id="66" name="TextBox 65"/>
          <p:cNvSpPr txBox="1"/>
          <p:nvPr/>
        </p:nvSpPr>
        <p:spPr>
          <a:xfrm>
            <a:off x="8124825" y="5604510"/>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7" name="Picture 66" descr="lock.png"/>
          <p:cNvPicPr>
            <a:picLocks noChangeAspect="1"/>
          </p:cNvPicPr>
          <p:nvPr/>
        </p:nvPicPr>
        <p:blipFill>
          <a:blip r:embed="rId4"/>
          <a:stretch>
            <a:fillRect/>
          </a:stretch>
        </p:blipFill>
        <p:spPr>
          <a:xfrm>
            <a:off x="8763474" y="5594286"/>
            <a:ext cx="134549" cy="195707"/>
          </a:xfrm>
          <a:prstGeom prst="rect">
            <a:avLst/>
          </a:prstGeom>
        </p:spPr>
      </p:pic>
      <p:sp>
        <p:nvSpPr>
          <p:cNvPr id="68" name="TextBox 67"/>
          <p:cNvSpPr txBox="1"/>
          <p:nvPr/>
        </p:nvSpPr>
        <p:spPr>
          <a:xfrm>
            <a:off x="8938584" y="5604510"/>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9334179" y="5594286"/>
            <a:ext cx="134549" cy="195707"/>
          </a:xfrm>
          <a:prstGeom prst="rect">
            <a:avLst/>
          </a:prstGeom>
        </p:spPr>
      </p:pic>
      <p:sp>
        <p:nvSpPr>
          <p:cNvPr id="70" name="TextBox 69"/>
          <p:cNvSpPr txBox="1"/>
          <p:nvPr/>
        </p:nvSpPr>
        <p:spPr>
          <a:xfrm>
            <a:off x="8124825" y="5779770"/>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1" name="TextBox 70"/>
          <p:cNvSpPr txBox="1"/>
          <p:nvPr/>
        </p:nvSpPr>
        <p:spPr>
          <a:xfrm>
            <a:off x="8124825" y="595502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476500"/>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278130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943350"/>
            <a:ext cx="5067300" cy="182753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Flower Species</a:t>
            </a:r>
          </a:p>
        </p:txBody>
      </p:sp>
      <p:sp>
        <p:nvSpPr>
          <p:cNvPr id="8" name="TextBox 7"/>
          <p:cNvSpPr txBox="1"/>
          <p:nvPr/>
        </p:nvSpPr>
        <p:spPr>
          <a:xfrm>
            <a:off x="6096000" y="3943350"/>
            <a:ext cx="5067300" cy="186690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Cultivation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 Use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Cultivation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 × Flower Species</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Summary, By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332137" cy="186689"/>
          </a:xfrm>
          <a:prstGeom prst="rect">
            <a:avLst/>
          </a:prstGeom>
          <a:noFill/>
        </p:spPr>
        <p:txBody>
          <a:bodyPr wrap="none" lIns="0" rIns="0" tIns="0" bIns="0">
            <a:spAutoFit/>
          </a:bodyPr>
          <a:lstStyle/>
          <a:p>
            <a:r>
              <a:rPr sz="1100" b="0">
                <a:solidFill>
                  <a:srgbClr val="2E2E2E"/>
                </a:solidFill>
                <a:latin typeface="Calibri"/>
              </a:rPr>
              <a:t>North America floriculture market is projected to register</a:t>
            </a:r>
          </a:p>
        </p:txBody>
      </p:sp>
      <p:pic>
        <p:nvPicPr>
          <p:cNvPr id="35" name="Picture 34" descr="lock.png"/>
          <p:cNvPicPr>
            <a:picLocks noChangeAspect="1"/>
          </p:cNvPicPr>
          <p:nvPr/>
        </p:nvPicPr>
        <p:blipFill>
          <a:blip r:embed="rId6"/>
          <a:stretch>
            <a:fillRect/>
          </a:stretch>
        </p:blipFill>
        <p:spPr>
          <a:xfrm>
            <a:off x="11328814" y="2037208"/>
            <a:ext cx="128699" cy="187198"/>
          </a:xfrm>
          <a:prstGeom prst="rect">
            <a:avLst/>
          </a:prstGeom>
        </p:spPr>
      </p:pic>
      <p:sp>
        <p:nvSpPr>
          <p:cNvPr id="36" name="TextBox 35"/>
          <p:cNvSpPr txBox="1"/>
          <p:nvPr/>
        </p:nvSpPr>
        <p:spPr>
          <a:xfrm>
            <a:off x="11496310"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7" name="TextBox 36"/>
          <p:cNvSpPr txBox="1"/>
          <p:nvPr/>
        </p:nvSpPr>
        <p:spPr>
          <a:xfrm>
            <a:off x="8048625" y="2214627"/>
            <a:ext cx="3575521" cy="186689"/>
          </a:xfrm>
          <a:prstGeom prst="rect">
            <a:avLst/>
          </a:prstGeom>
          <a:noFill/>
        </p:spPr>
        <p:txBody>
          <a:bodyPr wrap="none" lIns="0" rIns="0" tIns="0" bIns="0">
            <a:spAutoFit/>
          </a:bodyPr>
          <a:lstStyle/>
          <a:p>
            <a:r>
              <a:rPr sz="1100" b="0">
                <a:solidFill>
                  <a:srgbClr val="2E2E2E"/>
                </a:solidFill>
                <a:latin typeface="Calibri"/>
              </a:rPr>
              <a:t>increase in volume by the end of forecast period, 2036. North</a:t>
            </a:r>
          </a:p>
        </p:txBody>
      </p:sp>
      <p:sp>
        <p:nvSpPr>
          <p:cNvPr id="38" name="TextBox 37"/>
          <p:cNvSpPr txBox="1"/>
          <p:nvPr/>
        </p:nvSpPr>
        <p:spPr>
          <a:xfrm>
            <a:off x="8048625" y="2382267"/>
            <a:ext cx="2603351" cy="186689"/>
          </a:xfrm>
          <a:prstGeom prst="rect">
            <a:avLst/>
          </a:prstGeom>
          <a:noFill/>
        </p:spPr>
        <p:txBody>
          <a:bodyPr wrap="none" lIns="0" rIns="0" tIns="0" bIns="0">
            <a:spAutoFit/>
          </a:bodyPr>
          <a:lstStyle/>
          <a:p>
            <a:r>
              <a:rPr sz="1100" b="0">
                <a:solidFill>
                  <a:srgbClr val="2E2E2E"/>
                </a:solidFill>
                <a:latin typeface="Calibri"/>
              </a:rPr>
              <a:t>America floriculture market volume stood at</a:t>
            </a:r>
          </a:p>
        </p:txBody>
      </p:sp>
      <p:pic>
        <p:nvPicPr>
          <p:cNvPr id="39" name="Picture 38" descr="lock.png"/>
          <p:cNvPicPr>
            <a:picLocks noChangeAspect="1"/>
          </p:cNvPicPr>
          <p:nvPr/>
        </p:nvPicPr>
        <p:blipFill>
          <a:blip r:embed="rId6"/>
          <a:stretch>
            <a:fillRect/>
          </a:stretch>
        </p:blipFill>
        <p:spPr>
          <a:xfrm>
            <a:off x="10600027" y="2372488"/>
            <a:ext cx="128699" cy="187198"/>
          </a:xfrm>
          <a:prstGeom prst="rect">
            <a:avLst/>
          </a:prstGeom>
        </p:spPr>
      </p:pic>
      <p:sp>
        <p:nvSpPr>
          <p:cNvPr id="40" name="TextBox 39"/>
          <p:cNvSpPr txBox="1"/>
          <p:nvPr/>
        </p:nvSpPr>
        <p:spPr>
          <a:xfrm>
            <a:off x="10767523" y="2382267"/>
            <a:ext cx="1050280" cy="186689"/>
          </a:xfrm>
          <a:prstGeom prst="rect">
            <a:avLst/>
          </a:prstGeom>
          <a:noFill/>
        </p:spPr>
        <p:txBody>
          <a:bodyPr wrap="none" lIns="0" rIns="0" tIns="0" bIns="0">
            <a:spAutoFit/>
          </a:bodyPr>
          <a:lstStyle/>
          <a:p>
            <a:r>
              <a:rPr sz="1100" b="0">
                <a:solidFill>
                  <a:srgbClr val="2E2E2E"/>
                </a:solidFill>
                <a:latin typeface="Calibri"/>
              </a:rPr>
              <a:t>Mn Units in 2025</a:t>
            </a:r>
          </a:p>
        </p:txBody>
      </p:sp>
      <p:sp>
        <p:nvSpPr>
          <p:cNvPr id="41" name="TextBox 40"/>
          <p:cNvSpPr txBox="1"/>
          <p:nvPr/>
        </p:nvSpPr>
        <p:spPr>
          <a:xfrm>
            <a:off x="8048625" y="2549907"/>
            <a:ext cx="1463923" cy="186689"/>
          </a:xfrm>
          <a:prstGeom prst="rect">
            <a:avLst/>
          </a:prstGeom>
          <a:noFill/>
        </p:spPr>
        <p:txBody>
          <a:bodyPr wrap="none" lIns="0" rIns="0" tIns="0" bIns="0">
            <a:spAutoFit/>
          </a:bodyPr>
          <a:lstStyle/>
          <a:p>
            <a:r>
              <a:rPr sz="1100" b="0">
                <a:solidFill>
                  <a:srgbClr val="2E2E2E"/>
                </a:solidFill>
                <a:latin typeface="Calibri"/>
              </a:rPr>
              <a:t>and is expected to reach</a:t>
            </a:r>
          </a:p>
        </p:txBody>
      </p:sp>
      <p:pic>
        <p:nvPicPr>
          <p:cNvPr id="42" name="Picture 41" descr="lock.png"/>
          <p:cNvPicPr>
            <a:picLocks noChangeAspect="1"/>
          </p:cNvPicPr>
          <p:nvPr/>
        </p:nvPicPr>
        <p:blipFill>
          <a:blip r:embed="rId6"/>
          <a:stretch>
            <a:fillRect/>
          </a:stretch>
        </p:blipFill>
        <p:spPr>
          <a:xfrm>
            <a:off x="9460599" y="2540128"/>
            <a:ext cx="128699" cy="187198"/>
          </a:xfrm>
          <a:prstGeom prst="rect">
            <a:avLst/>
          </a:prstGeom>
        </p:spPr>
      </p:pic>
      <p:sp>
        <p:nvSpPr>
          <p:cNvPr id="43" name="TextBox 42"/>
          <p:cNvSpPr txBox="1"/>
          <p:nvPr/>
        </p:nvSpPr>
        <p:spPr>
          <a:xfrm>
            <a:off x="9628095" y="2549907"/>
            <a:ext cx="2107017" cy="186689"/>
          </a:xfrm>
          <a:prstGeom prst="rect">
            <a:avLst/>
          </a:prstGeom>
          <a:noFill/>
        </p:spPr>
        <p:txBody>
          <a:bodyPr wrap="none" lIns="0" rIns="0" tIns="0" bIns="0">
            <a:spAutoFit/>
          </a:bodyPr>
          <a:lstStyle/>
          <a:p>
            <a:r>
              <a:rPr sz="1100" b="0">
                <a:solidFill>
                  <a:srgbClr val="2E2E2E"/>
                </a:solidFill>
                <a:latin typeface="Calibri"/>
              </a:rPr>
              <a:t>Mn Units by 2036 end, at a CAGR of</a:t>
            </a:r>
          </a:p>
        </p:txBody>
      </p:sp>
      <p:pic>
        <p:nvPicPr>
          <p:cNvPr id="44" name="Picture 43" descr="lock.png"/>
          <p:cNvPicPr>
            <a:picLocks noChangeAspect="1"/>
          </p:cNvPicPr>
          <p:nvPr/>
        </p:nvPicPr>
        <p:blipFill>
          <a:blip r:embed="rId6"/>
          <a:stretch>
            <a:fillRect/>
          </a:stretch>
        </p:blipFill>
        <p:spPr>
          <a:xfrm>
            <a:off x="8035157" y="2707768"/>
            <a:ext cx="128699" cy="187198"/>
          </a:xfrm>
          <a:prstGeom prst="rect">
            <a:avLst/>
          </a:prstGeom>
        </p:spPr>
      </p:pic>
      <p:sp>
        <p:nvSpPr>
          <p:cNvPr id="45" name="TextBox 44"/>
          <p:cNvSpPr txBox="1"/>
          <p:nvPr/>
        </p:nvSpPr>
        <p:spPr>
          <a:xfrm>
            <a:off x="82026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7" name="TextBox 46"/>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8" name="TextBox 47"/>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49" name="Picture 48" descr="lock.png"/>
          <p:cNvPicPr>
            <a:picLocks noChangeAspect="1"/>
          </p:cNvPicPr>
          <p:nvPr/>
        </p:nvPicPr>
        <p:blipFill>
          <a:blip r:embed="rId6"/>
          <a:stretch>
            <a:fillRect/>
          </a:stretch>
        </p:blipFill>
        <p:spPr>
          <a:xfrm>
            <a:off x="10136079" y="4446251"/>
            <a:ext cx="134549" cy="195707"/>
          </a:xfrm>
          <a:prstGeom prst="rect">
            <a:avLst/>
          </a:prstGeom>
        </p:spPr>
      </p:pic>
      <p:sp>
        <p:nvSpPr>
          <p:cNvPr id="50" name="TextBox 49"/>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678671" cy="194310"/>
          </a:xfrm>
          <a:prstGeom prst="rect">
            <a:avLst/>
          </a:prstGeom>
          <a:noFill/>
        </p:spPr>
        <p:txBody>
          <a:bodyPr wrap="none" lIns="0" rIns="0" tIns="0" bIns="0">
            <a:spAutoFit/>
          </a:bodyPr>
          <a:lstStyle/>
          <a:p>
            <a:r>
              <a:rPr sz="1150" b="0">
                <a:solidFill>
                  <a:srgbClr val="2E2E2E"/>
                </a:solidFill>
                <a:latin typeface="Calibri"/>
              </a:rPr>
              <a:t>▪ Demand concentrates in 'Cut Flowers' within Product Type.</a:t>
            </a:r>
          </a:p>
        </p:txBody>
      </p:sp>
      <p:sp>
        <p:nvSpPr>
          <p:cNvPr id="52" name="TextBox 51"/>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cxnSp>
        <p:nvCxnSpPr>
          <p:cNvPr id="12" name="Connector 11"/>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03404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1015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6" name="Connector 25"/>
          <p:cNvCxnSpPr/>
          <p:nvPr/>
        </p:nvCxnSpPr>
        <p:spPr>
          <a:xfrm flipV="1">
            <a:off x="1157968" y="1853217"/>
            <a:ext cx="0" cy="39368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6523" y="224690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26523" y="185321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38893" y="1959869"/>
            <a:ext cx="438150" cy="19655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38893" y="206083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700817"/>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159454" y="2032130"/>
            <a:ext cx="0" cy="35898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28009" y="239111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28009" y="203213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40379" y="2129339"/>
            <a:ext cx="438150" cy="17922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940379" y="222139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658711" y="1879730"/>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160939" y="2669068"/>
            <a:ext cx="0" cy="24152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029494"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029494" y="266906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2941864" y="2734457"/>
            <a:ext cx="438150" cy="12058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941864" y="279638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660196" y="2516668"/>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162425" y="1729050"/>
            <a:ext cx="0" cy="41814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030980" y="214719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30980" y="172905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943350" y="1842363"/>
            <a:ext cx="438150" cy="20875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943350" y="194961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661682" y="1576650"/>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163911" y="1643073"/>
            <a:ext cx="0" cy="43042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32466" y="207349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32466"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944836" y="1759627"/>
            <a:ext cx="438150" cy="21489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944836" y="187000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663168" y="1490673"/>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6165396" y="2471640"/>
            <a:ext cx="0" cy="27741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033951" y="27490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33951" y="247164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5946321" y="2546739"/>
            <a:ext cx="438150" cy="13850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946321" y="261787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664654" y="2319240"/>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2" name="Connector 61"/>
          <p:cNvCxnSpPr/>
          <p:nvPr/>
        </p:nvCxnSpPr>
        <p:spPr>
          <a:xfrm flipV="1">
            <a:off x="7166882" y="2290706"/>
            <a:ext cx="0" cy="30870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035437" y="259941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35437" y="229070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947807" y="2374227"/>
            <a:ext cx="438150" cy="15413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947807" y="245336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666139" y="213830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8" name="TextBox 67"/>
          <p:cNvSpPr txBox="1"/>
          <p:nvPr/>
        </p:nvSpPr>
        <p:spPr>
          <a:xfrm>
            <a:off x="657225"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Flowers</a:t>
            </a:r>
          </a:p>
        </p:txBody>
      </p:sp>
      <p:sp>
        <p:nvSpPr>
          <p:cNvPr id="69" name="TextBox 68"/>
          <p:cNvSpPr txBox="1"/>
          <p:nvPr/>
        </p:nvSpPr>
        <p:spPr>
          <a:xfrm>
            <a:off x="1658711"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Potted Flowering Plan…</a:t>
            </a:r>
          </a:p>
        </p:txBody>
      </p:sp>
      <p:sp>
        <p:nvSpPr>
          <p:cNvPr id="70" name="TextBox 69"/>
          <p:cNvSpPr txBox="1"/>
          <p:nvPr/>
        </p:nvSpPr>
        <p:spPr>
          <a:xfrm>
            <a:off x="2660196"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Potted Foliage Plants</a:t>
            </a:r>
          </a:p>
        </p:txBody>
      </p:sp>
      <p:sp>
        <p:nvSpPr>
          <p:cNvPr id="71" name="TextBox 70"/>
          <p:cNvSpPr txBox="1"/>
          <p:nvPr/>
        </p:nvSpPr>
        <p:spPr>
          <a:xfrm>
            <a:off x="3661682"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Bedding &amp; Garden Flow…</a:t>
            </a:r>
          </a:p>
        </p:txBody>
      </p:sp>
      <p:sp>
        <p:nvSpPr>
          <p:cNvPr id="72" name="TextBox 71"/>
          <p:cNvSpPr txBox="1"/>
          <p:nvPr/>
        </p:nvSpPr>
        <p:spPr>
          <a:xfrm>
            <a:off x="4663168"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Foliage &amp; Greens</a:t>
            </a:r>
          </a:p>
        </p:txBody>
      </p:sp>
      <p:sp>
        <p:nvSpPr>
          <p:cNvPr id="73" name="TextBox 72"/>
          <p:cNvSpPr txBox="1"/>
          <p:nvPr/>
        </p:nvSpPr>
        <p:spPr>
          <a:xfrm>
            <a:off x="5664654"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Young Plants &amp; Propag…</a:t>
            </a:r>
          </a:p>
        </p:txBody>
      </p:sp>
      <p:sp>
        <p:nvSpPr>
          <p:cNvPr id="74" name="TextBox 73"/>
          <p:cNvSpPr txBox="1"/>
          <p:nvPr/>
        </p:nvSpPr>
        <p:spPr>
          <a:xfrm>
            <a:off x="6666139" y="3129290"/>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Flower Bulbs, Corms,…</a:t>
            </a:r>
          </a:p>
        </p:txBody>
      </p:sp>
      <p:sp>
        <p:nvSpPr>
          <p:cNvPr id="75" name="Rounded Rectangle 74"/>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77" name="Connector 76"/>
          <p:cNvCxnSpPr/>
          <p:nvPr/>
        </p:nvCxnSpPr>
        <p:spPr>
          <a:xfrm>
            <a:off x="619125" y="432465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19125" y="475888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19125" y="56273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19125" y="606157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19125" y="4324658"/>
            <a:ext cx="0" cy="1736915"/>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90550" y="432465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0550" y="475888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90550" y="56273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90550" y="60615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8" name="FMI Scale tick"/>
          <p:cNvSpPr txBox="1"/>
          <p:nvPr/>
        </p:nvSpPr>
        <p:spPr>
          <a:xfrm>
            <a:off x="138112" y="4257983"/>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89" name="FMI Scale tick"/>
          <p:cNvSpPr txBox="1"/>
          <p:nvPr/>
        </p:nvSpPr>
        <p:spPr>
          <a:xfrm>
            <a:off x="138112" y="4692212"/>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90"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91" name="FMI Scale tick"/>
          <p:cNvSpPr txBox="1"/>
          <p:nvPr/>
        </p:nvSpPr>
        <p:spPr>
          <a:xfrm>
            <a:off x="164306" y="5560670"/>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92" name="FMI Scale tick"/>
          <p:cNvSpPr txBox="1"/>
          <p:nvPr/>
        </p:nvSpPr>
        <p:spPr>
          <a:xfrm>
            <a:off x="164306" y="5994898"/>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93" name="Connector 92"/>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2152650" y="5193116"/>
            <a:ext cx="457200" cy="33284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MI Data Label"/>
          <p:cNvSpPr txBox="1"/>
          <p:nvPr/>
        </p:nvSpPr>
        <p:spPr>
          <a:xfrm>
            <a:off x="619125" y="5535483"/>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6" name="Rectangle 95"/>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MI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8" name="TextBox 97"/>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99" name="TextBox 98"/>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100" name="Rounded Rectangle 99"/>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02" name="Rectangle 101"/>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4" name="TextBox 10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05" name="Picture 104" descr="lock.png"/>
          <p:cNvPicPr>
            <a:picLocks noChangeAspect="1"/>
          </p:cNvPicPr>
          <p:nvPr/>
        </p:nvPicPr>
        <p:blipFill>
          <a:blip r:embed="rId4"/>
          <a:stretch>
            <a:fillRect/>
          </a:stretch>
        </p:blipFill>
        <p:spPr>
          <a:xfrm>
            <a:off x="1093618" y="1673893"/>
            <a:ext cx="128699" cy="187198"/>
          </a:xfrm>
          <a:prstGeom prst="rect">
            <a:avLst/>
          </a:prstGeom>
        </p:spPr>
      </p:pic>
      <p:pic>
        <p:nvPicPr>
          <p:cNvPr id="106" name="Picture 105" descr="lock.png"/>
          <p:cNvPicPr>
            <a:picLocks noChangeAspect="1"/>
          </p:cNvPicPr>
          <p:nvPr/>
        </p:nvPicPr>
        <p:blipFill>
          <a:blip r:embed="rId4"/>
          <a:stretch>
            <a:fillRect/>
          </a:stretch>
        </p:blipFill>
        <p:spPr>
          <a:xfrm>
            <a:off x="2095104" y="1852806"/>
            <a:ext cx="128699" cy="187198"/>
          </a:xfrm>
          <a:prstGeom prst="rect">
            <a:avLst/>
          </a:prstGeom>
        </p:spPr>
      </p:pic>
      <p:pic>
        <p:nvPicPr>
          <p:cNvPr id="107" name="Picture 106" descr="lock.png"/>
          <p:cNvPicPr>
            <a:picLocks noChangeAspect="1"/>
          </p:cNvPicPr>
          <p:nvPr/>
        </p:nvPicPr>
        <p:blipFill>
          <a:blip r:embed="rId4"/>
          <a:stretch>
            <a:fillRect/>
          </a:stretch>
        </p:blipFill>
        <p:spPr>
          <a:xfrm>
            <a:off x="3096589" y="2489744"/>
            <a:ext cx="128699" cy="187198"/>
          </a:xfrm>
          <a:prstGeom prst="rect">
            <a:avLst/>
          </a:prstGeom>
        </p:spPr>
      </p:pic>
      <p:pic>
        <p:nvPicPr>
          <p:cNvPr id="108" name="Picture 107" descr="lock.png"/>
          <p:cNvPicPr>
            <a:picLocks noChangeAspect="1"/>
          </p:cNvPicPr>
          <p:nvPr/>
        </p:nvPicPr>
        <p:blipFill>
          <a:blip r:embed="rId4"/>
          <a:stretch>
            <a:fillRect/>
          </a:stretch>
        </p:blipFill>
        <p:spPr>
          <a:xfrm>
            <a:off x="4098075" y="1549726"/>
            <a:ext cx="128699" cy="187198"/>
          </a:xfrm>
          <a:prstGeom prst="rect">
            <a:avLst/>
          </a:prstGeom>
        </p:spPr>
      </p:pic>
      <p:pic>
        <p:nvPicPr>
          <p:cNvPr id="109" name="Picture 108" descr="lock.png"/>
          <p:cNvPicPr>
            <a:picLocks noChangeAspect="1"/>
          </p:cNvPicPr>
          <p:nvPr/>
        </p:nvPicPr>
        <p:blipFill>
          <a:blip r:embed="rId4"/>
          <a:stretch>
            <a:fillRect/>
          </a:stretch>
        </p:blipFill>
        <p:spPr>
          <a:xfrm>
            <a:off x="5099561" y="1463749"/>
            <a:ext cx="128699" cy="187198"/>
          </a:xfrm>
          <a:prstGeom prst="rect">
            <a:avLst/>
          </a:prstGeom>
        </p:spPr>
      </p:pic>
      <p:pic>
        <p:nvPicPr>
          <p:cNvPr id="110" name="Picture 109" descr="lock.png"/>
          <p:cNvPicPr>
            <a:picLocks noChangeAspect="1"/>
          </p:cNvPicPr>
          <p:nvPr/>
        </p:nvPicPr>
        <p:blipFill>
          <a:blip r:embed="rId4"/>
          <a:stretch>
            <a:fillRect/>
          </a:stretch>
        </p:blipFill>
        <p:spPr>
          <a:xfrm>
            <a:off x="6101047" y="2292316"/>
            <a:ext cx="128699" cy="187198"/>
          </a:xfrm>
          <a:prstGeom prst="rect">
            <a:avLst/>
          </a:prstGeom>
        </p:spPr>
      </p:pic>
      <p:pic>
        <p:nvPicPr>
          <p:cNvPr id="111" name="Picture 110" descr="lock.png"/>
          <p:cNvPicPr>
            <a:picLocks noChangeAspect="1"/>
          </p:cNvPicPr>
          <p:nvPr/>
        </p:nvPicPr>
        <p:blipFill>
          <a:blip r:embed="rId4"/>
          <a:stretch>
            <a:fillRect/>
          </a:stretch>
        </p:blipFill>
        <p:spPr>
          <a:xfrm>
            <a:off x="7102532" y="2111382"/>
            <a:ext cx="128699" cy="187198"/>
          </a:xfrm>
          <a:prstGeom prst="rect">
            <a:avLst/>
          </a:prstGeom>
        </p:spPr>
      </p:pic>
      <p:pic>
        <p:nvPicPr>
          <p:cNvPr id="112" name="Picture 111" descr="lock.png"/>
          <p:cNvPicPr>
            <a:picLocks noChangeAspect="1"/>
          </p:cNvPicPr>
          <p:nvPr/>
        </p:nvPicPr>
        <p:blipFill>
          <a:blip r:embed="rId4"/>
          <a:stretch>
            <a:fillRect/>
          </a:stretch>
        </p:blipFill>
        <p:spPr>
          <a:xfrm>
            <a:off x="2316900" y="5508559"/>
            <a:ext cx="128699" cy="187198"/>
          </a:xfrm>
          <a:prstGeom prst="rect">
            <a:avLst/>
          </a:prstGeom>
        </p:spPr>
      </p:pic>
      <p:pic>
        <p:nvPicPr>
          <p:cNvPr id="113" name="Picture 112" descr="lock.png"/>
          <p:cNvPicPr>
            <a:picLocks noChangeAspect="1"/>
          </p:cNvPicPr>
          <p:nvPr/>
        </p:nvPicPr>
        <p:blipFill>
          <a:blip r:embed="rId4"/>
          <a:stretch>
            <a:fillRect/>
          </a:stretch>
        </p:blipFill>
        <p:spPr>
          <a:xfrm>
            <a:off x="5841150" y="4267488"/>
            <a:ext cx="128699" cy="187198"/>
          </a:xfrm>
          <a:prstGeom prst="rect">
            <a:avLst/>
          </a:prstGeom>
        </p:spPr>
      </p:pic>
      <p:sp>
        <p:nvSpPr>
          <p:cNvPr id="114" name="TextBox 113"/>
          <p:cNvSpPr txBox="1"/>
          <p:nvPr/>
        </p:nvSpPr>
        <p:spPr>
          <a:xfrm>
            <a:off x="8048625" y="1471995"/>
            <a:ext cx="3547169" cy="194310"/>
          </a:xfrm>
          <a:prstGeom prst="rect">
            <a:avLst/>
          </a:prstGeom>
          <a:noFill/>
        </p:spPr>
        <p:txBody>
          <a:bodyPr wrap="none" lIns="0" rIns="0" tIns="0" bIns="0">
            <a:spAutoFit/>
          </a:bodyPr>
          <a:lstStyle/>
          <a:p>
            <a:r>
              <a:rPr sz="1150" b="0">
                <a:solidFill>
                  <a:srgbClr val="2E2E2E"/>
                </a:solidFill>
                <a:latin typeface="Calibri"/>
              </a:rPr>
              <a:t>Cut foliage &amp; greens segment is expected to command the</a:t>
            </a:r>
          </a:p>
        </p:txBody>
      </p:sp>
      <p:sp>
        <p:nvSpPr>
          <p:cNvPr id="115" name="TextBox 114"/>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16" name="Picture 115" descr="lock.png"/>
          <p:cNvPicPr>
            <a:picLocks noChangeAspect="1"/>
          </p:cNvPicPr>
          <p:nvPr/>
        </p:nvPicPr>
        <p:blipFill>
          <a:blip r:embed="rId4"/>
          <a:stretch>
            <a:fillRect/>
          </a:stretch>
        </p:blipFill>
        <p:spPr>
          <a:xfrm>
            <a:off x="9764678" y="1637031"/>
            <a:ext cx="134549" cy="195707"/>
          </a:xfrm>
          <a:prstGeom prst="rect">
            <a:avLst/>
          </a:prstGeom>
        </p:spPr>
      </p:pic>
      <p:sp>
        <p:nvSpPr>
          <p:cNvPr id="117" name="TextBox 116"/>
          <p:cNvSpPr txBox="1"/>
          <p:nvPr/>
        </p:nvSpPr>
        <p:spPr>
          <a:xfrm>
            <a:off x="9939788"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18" name="TextBox 117"/>
          <p:cNvSpPr txBox="1"/>
          <p:nvPr/>
        </p:nvSpPr>
        <p:spPr>
          <a:xfrm>
            <a:off x="8048625" y="1822515"/>
            <a:ext cx="2805794" cy="194310"/>
          </a:xfrm>
          <a:prstGeom prst="rect">
            <a:avLst/>
          </a:prstGeom>
          <a:noFill/>
        </p:spPr>
        <p:txBody>
          <a:bodyPr wrap="none" lIns="0" rIns="0" tIns="0" bIns="0">
            <a:spAutoFit/>
          </a:bodyPr>
          <a:lstStyle/>
          <a:p>
            <a:r>
              <a:rPr sz="1150" b="0">
                <a:solidFill>
                  <a:srgbClr val="2E2E2E"/>
                </a:solidFill>
                <a:latin typeface="Calibri"/>
              </a:rPr>
              <a:t>selling price of floriculture is estimated at US$</a:t>
            </a:r>
          </a:p>
        </p:txBody>
      </p:sp>
      <p:pic>
        <p:nvPicPr>
          <p:cNvPr id="119" name="Picture 118" descr="lock.png"/>
          <p:cNvPicPr>
            <a:picLocks noChangeAspect="1"/>
          </p:cNvPicPr>
          <p:nvPr/>
        </p:nvPicPr>
        <p:blipFill>
          <a:blip r:embed="rId4"/>
          <a:stretch>
            <a:fillRect/>
          </a:stretch>
        </p:blipFill>
        <p:spPr>
          <a:xfrm>
            <a:off x="10803573" y="1812291"/>
            <a:ext cx="134549" cy="195707"/>
          </a:xfrm>
          <a:prstGeom prst="rect">
            <a:avLst/>
          </a:prstGeom>
        </p:spPr>
      </p:pic>
      <p:sp>
        <p:nvSpPr>
          <p:cNvPr id="120" name="TextBox 119"/>
          <p:cNvSpPr txBox="1"/>
          <p:nvPr/>
        </p:nvSpPr>
        <p:spPr>
          <a:xfrm>
            <a:off x="10978682" y="182251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21" name="TextBox 120"/>
          <p:cNvSpPr txBox="1"/>
          <p:nvPr/>
        </p:nvSpPr>
        <p:spPr>
          <a:xfrm>
            <a:off x="8048625" y="1997775"/>
            <a:ext cx="2474614" cy="194310"/>
          </a:xfrm>
          <a:prstGeom prst="rect">
            <a:avLst/>
          </a:prstGeom>
          <a:noFill/>
        </p:spPr>
        <p:txBody>
          <a:bodyPr wrap="none" lIns="0" rIns="0" tIns="0" bIns="0">
            <a:spAutoFit/>
          </a:bodyPr>
          <a:lstStyle/>
          <a:p>
            <a:r>
              <a:rPr sz="1150" b="0">
                <a:solidFill>
                  <a:srgbClr val="2E2E2E"/>
                </a:solidFill>
                <a:latin typeface="Calibri"/>
              </a:rPr>
              <a:t>2025 and is projected to increase to US$</a:t>
            </a:r>
          </a:p>
        </p:txBody>
      </p:sp>
      <p:pic>
        <p:nvPicPr>
          <p:cNvPr id="122" name="Picture 121" descr="lock.png"/>
          <p:cNvPicPr>
            <a:picLocks noChangeAspect="1"/>
          </p:cNvPicPr>
          <p:nvPr/>
        </p:nvPicPr>
        <p:blipFill>
          <a:blip r:embed="rId4"/>
          <a:stretch>
            <a:fillRect/>
          </a:stretch>
        </p:blipFill>
        <p:spPr>
          <a:xfrm>
            <a:off x="10472393" y="1987551"/>
            <a:ext cx="134549" cy="195707"/>
          </a:xfrm>
          <a:prstGeom prst="rect">
            <a:avLst/>
          </a:prstGeom>
        </p:spPr>
      </p:pic>
      <p:sp>
        <p:nvSpPr>
          <p:cNvPr id="123" name="TextBox 122"/>
          <p:cNvSpPr txBox="1"/>
          <p:nvPr/>
        </p:nvSpPr>
        <p:spPr>
          <a:xfrm>
            <a:off x="10647503" y="199777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24" name="TextBox 123"/>
          <p:cNvSpPr txBox="1"/>
          <p:nvPr/>
        </p:nvSpPr>
        <p:spPr>
          <a:xfrm>
            <a:off x="8048625" y="222561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25" name="TextBox 124"/>
          <p:cNvSpPr txBox="1"/>
          <p:nvPr/>
        </p:nvSpPr>
        <p:spPr>
          <a:xfrm>
            <a:off x="8048625" y="240087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26" name="Picture 125" descr="lock.png"/>
          <p:cNvPicPr>
            <a:picLocks noChangeAspect="1"/>
          </p:cNvPicPr>
          <p:nvPr/>
        </p:nvPicPr>
        <p:blipFill>
          <a:blip r:embed="rId4"/>
          <a:stretch>
            <a:fillRect/>
          </a:stretch>
        </p:blipFill>
        <p:spPr>
          <a:xfrm>
            <a:off x="8034545" y="2565909"/>
            <a:ext cx="134549" cy="195707"/>
          </a:xfrm>
          <a:prstGeom prst="rect">
            <a:avLst/>
          </a:prstGeom>
        </p:spPr>
      </p:pic>
      <p:sp>
        <p:nvSpPr>
          <p:cNvPr id="127" name="TextBox 126"/>
          <p:cNvSpPr txBox="1"/>
          <p:nvPr/>
        </p:nvSpPr>
        <p:spPr>
          <a:xfrm>
            <a:off x="8209654" y="2576133"/>
            <a:ext cx="3195451" cy="194310"/>
          </a:xfrm>
          <a:prstGeom prst="rect">
            <a:avLst/>
          </a:prstGeom>
          <a:noFill/>
        </p:spPr>
        <p:txBody>
          <a:bodyPr wrap="none" lIns="0" rIns="0" tIns="0" bIns="0">
            <a:spAutoFit/>
          </a:bodyPr>
          <a:lstStyle/>
          <a:p>
            <a:r>
              <a:rPr sz="1150" b="0">
                <a:solidFill>
                  <a:srgbClr val="2E2E2E"/>
                </a:solidFill>
                <a:latin typeface="Calibri"/>
              </a:rPr>
              <a:t>US$/Units, 1 of 2 countries price above and 1 below.</a:t>
            </a:r>
          </a:p>
        </p:txBody>
      </p:sp>
      <p:sp>
        <p:nvSpPr>
          <p:cNvPr id="128" name="TextBox 127"/>
          <p:cNvSpPr txBox="1"/>
          <p:nvPr/>
        </p:nvSpPr>
        <p:spPr>
          <a:xfrm>
            <a:off x="8048625" y="2803971"/>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29" name="Picture 128" descr="lock.png"/>
          <p:cNvPicPr>
            <a:picLocks noChangeAspect="1"/>
          </p:cNvPicPr>
          <p:nvPr/>
        </p:nvPicPr>
        <p:blipFill>
          <a:blip r:embed="rId4"/>
          <a:stretch>
            <a:fillRect/>
          </a:stretch>
        </p:blipFill>
        <p:spPr>
          <a:xfrm>
            <a:off x="9675109" y="2793747"/>
            <a:ext cx="134549" cy="195707"/>
          </a:xfrm>
          <a:prstGeom prst="rect">
            <a:avLst/>
          </a:prstGeom>
        </p:spPr>
      </p:pic>
      <p:sp>
        <p:nvSpPr>
          <p:cNvPr id="130" name="TextBox 129"/>
          <p:cNvSpPr txBox="1"/>
          <p:nvPr/>
        </p:nvSpPr>
        <p:spPr>
          <a:xfrm>
            <a:off x="9850218" y="2803971"/>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31" name="TextBox 130"/>
          <p:cNvSpPr txBox="1"/>
          <p:nvPr/>
        </p:nvSpPr>
        <p:spPr>
          <a:xfrm>
            <a:off x="8048625" y="297923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32" name="Picture 131" descr="lock.png"/>
          <p:cNvPicPr>
            <a:picLocks noChangeAspect="1"/>
          </p:cNvPicPr>
          <p:nvPr/>
        </p:nvPicPr>
        <p:blipFill>
          <a:blip r:embed="rId4"/>
          <a:stretch>
            <a:fillRect/>
          </a:stretch>
        </p:blipFill>
        <p:spPr>
          <a:xfrm>
            <a:off x="8840741" y="2969007"/>
            <a:ext cx="134549" cy="195707"/>
          </a:xfrm>
          <a:prstGeom prst="rect">
            <a:avLst/>
          </a:prstGeom>
        </p:spPr>
      </p:pic>
      <p:sp>
        <p:nvSpPr>
          <p:cNvPr id="133" name="TextBox 132"/>
          <p:cNvSpPr txBox="1"/>
          <p:nvPr/>
        </p:nvSpPr>
        <p:spPr>
          <a:xfrm>
            <a:off x="9015850" y="297923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34" name="TextBox 133"/>
          <p:cNvSpPr txBox="1"/>
          <p:nvPr/>
        </p:nvSpPr>
        <p:spPr>
          <a:xfrm>
            <a:off x="8048625" y="315449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3046469"/>
          </a:xfrm>
          <a:prstGeom prst="roundRect">
            <a:avLst>
              <a:gd name="adj" fmla="val 25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560694"/>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729117"/>
            <a:ext cx="4133850" cy="1827269"/>
          </a:xfrm>
          <a:prstGeom prst="roundRect">
            <a:avLst>
              <a:gd name="adj" fmla="val 41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814842"/>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505296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138692"/>
            <a:ext cx="3867150" cy="134149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39641" cy="186689"/>
          </a:xfrm>
          <a:prstGeom prst="rect">
            <a:avLst/>
          </a:prstGeom>
          <a:noFill/>
        </p:spPr>
        <p:txBody>
          <a:bodyPr wrap="none" lIns="0" rIns="0" tIns="0" bIns="0">
            <a:spAutoFit/>
          </a:bodyPr>
          <a:lstStyle/>
          <a:p>
            <a:r>
              <a:rPr sz="1100" b="0">
                <a:solidFill>
                  <a:srgbClr val="2E2E2E"/>
                </a:solidFill>
                <a:latin typeface="Calibri"/>
              </a:rPr>
              <a:t>Floriculture market value in North America is expected to increase</a:t>
            </a:r>
          </a:p>
        </p:txBody>
      </p:sp>
      <p:pic>
        <p:nvPicPr>
          <p:cNvPr id="35" name="Picture 34" descr="lock.png"/>
          <p:cNvPicPr>
            <a:picLocks noChangeAspect="1"/>
          </p:cNvPicPr>
          <p:nvPr/>
        </p:nvPicPr>
        <p:blipFill>
          <a:blip r:embed="rId6"/>
          <a:stretch>
            <a:fillRect/>
          </a:stretch>
        </p:blipFill>
        <p:spPr>
          <a:xfrm>
            <a:off x="8035157" y="2204848"/>
            <a:ext cx="128699" cy="187198"/>
          </a:xfrm>
          <a:prstGeom prst="rect">
            <a:avLst/>
          </a:prstGeom>
        </p:spPr>
      </p:pic>
      <p:sp>
        <p:nvSpPr>
          <p:cNvPr id="36" name="TextBox 35"/>
          <p:cNvSpPr txBox="1"/>
          <p:nvPr/>
        </p:nvSpPr>
        <p:spPr>
          <a:xfrm>
            <a:off x="8202653" y="2214627"/>
            <a:ext cx="3547144" cy="186689"/>
          </a:xfrm>
          <a:prstGeom prst="rect">
            <a:avLst/>
          </a:prstGeom>
          <a:noFill/>
        </p:spPr>
        <p:txBody>
          <a:bodyPr wrap="none" lIns="0" rIns="0" tIns="0" bIns="0">
            <a:spAutoFit/>
          </a:bodyPr>
          <a:lstStyle/>
          <a:p>
            <a:r>
              <a:rPr sz="1100" b="0">
                <a:solidFill>
                  <a:srgbClr val="2E2E2E"/>
                </a:solidFill>
                <a:latin typeface="Calibri"/>
              </a:rPr>
              <a:t>X between 2025 and 2036. In 2025, the floriculture market in</a:t>
            </a:r>
          </a:p>
        </p:txBody>
      </p:sp>
      <p:sp>
        <p:nvSpPr>
          <p:cNvPr id="37" name="TextBox 36"/>
          <p:cNvSpPr txBox="1"/>
          <p:nvPr/>
        </p:nvSpPr>
        <p:spPr>
          <a:xfrm>
            <a:off x="8048625" y="2382267"/>
            <a:ext cx="1974974" cy="186689"/>
          </a:xfrm>
          <a:prstGeom prst="rect">
            <a:avLst/>
          </a:prstGeom>
          <a:noFill/>
        </p:spPr>
        <p:txBody>
          <a:bodyPr wrap="none" lIns="0" rIns="0" tIns="0" bIns="0">
            <a:spAutoFit/>
          </a:bodyPr>
          <a:lstStyle/>
          <a:p>
            <a:r>
              <a:rPr sz="1100" b="0">
                <a:solidFill>
                  <a:srgbClr val="2E2E2E"/>
                </a:solidFill>
                <a:latin typeface="Calibri"/>
              </a:rPr>
              <a:t>North America was valued at US$</a:t>
            </a:r>
          </a:p>
        </p:txBody>
      </p:sp>
      <p:pic>
        <p:nvPicPr>
          <p:cNvPr id="38" name="Picture 37" descr="lock.png"/>
          <p:cNvPicPr>
            <a:picLocks noChangeAspect="1"/>
          </p:cNvPicPr>
          <p:nvPr/>
        </p:nvPicPr>
        <p:blipFill>
          <a:blip r:embed="rId6"/>
          <a:stretch>
            <a:fillRect/>
          </a:stretch>
        </p:blipFill>
        <p:spPr>
          <a:xfrm>
            <a:off x="9971650" y="2372488"/>
            <a:ext cx="128699" cy="187198"/>
          </a:xfrm>
          <a:prstGeom prst="rect">
            <a:avLst/>
          </a:prstGeom>
        </p:spPr>
      </p:pic>
      <p:sp>
        <p:nvSpPr>
          <p:cNvPr id="39" name="TextBox 38"/>
          <p:cNvSpPr txBox="1"/>
          <p:nvPr/>
        </p:nvSpPr>
        <p:spPr>
          <a:xfrm>
            <a:off x="10139146" y="2382267"/>
            <a:ext cx="1388343" cy="186689"/>
          </a:xfrm>
          <a:prstGeom prst="rect">
            <a:avLst/>
          </a:prstGeom>
          <a:noFill/>
        </p:spPr>
        <p:txBody>
          <a:bodyPr wrap="none" lIns="0" rIns="0" tIns="0" bIns="0">
            <a:spAutoFit/>
          </a:bodyPr>
          <a:lstStyle/>
          <a:p>
            <a:r>
              <a:rPr sz="1100" b="0">
                <a:solidFill>
                  <a:srgbClr val="2E2E2E"/>
                </a:solidFill>
                <a:latin typeface="Calibri"/>
              </a:rPr>
              <a:t>Mn and is estimated to</a:t>
            </a:r>
          </a:p>
        </p:txBody>
      </p:sp>
      <p:sp>
        <p:nvSpPr>
          <p:cNvPr id="40" name="TextBox 39"/>
          <p:cNvSpPr txBox="1"/>
          <p:nvPr/>
        </p:nvSpPr>
        <p:spPr>
          <a:xfrm>
            <a:off x="8048625" y="2549907"/>
            <a:ext cx="982067" cy="186689"/>
          </a:xfrm>
          <a:prstGeom prst="rect">
            <a:avLst/>
          </a:prstGeom>
          <a:noFill/>
        </p:spPr>
        <p:txBody>
          <a:bodyPr wrap="none" lIns="0" rIns="0" tIns="0" bIns="0">
            <a:spAutoFit/>
          </a:bodyPr>
          <a:lstStyle/>
          <a:p>
            <a:r>
              <a:rPr sz="1100" b="0">
                <a:solidFill>
                  <a:srgbClr val="2E2E2E"/>
                </a:solidFill>
                <a:latin typeface="Calibri"/>
              </a:rPr>
              <a:t>account for US$</a:t>
            </a:r>
          </a:p>
        </p:txBody>
      </p:sp>
      <p:pic>
        <p:nvPicPr>
          <p:cNvPr id="41" name="Picture 40" descr="lock.png"/>
          <p:cNvPicPr>
            <a:picLocks noChangeAspect="1"/>
          </p:cNvPicPr>
          <p:nvPr/>
        </p:nvPicPr>
        <p:blipFill>
          <a:blip r:embed="rId6"/>
          <a:stretch>
            <a:fillRect/>
          </a:stretch>
        </p:blipFill>
        <p:spPr>
          <a:xfrm>
            <a:off x="8978743" y="2540128"/>
            <a:ext cx="128699" cy="187198"/>
          </a:xfrm>
          <a:prstGeom prst="rect">
            <a:avLst/>
          </a:prstGeom>
        </p:spPr>
      </p:pic>
      <p:sp>
        <p:nvSpPr>
          <p:cNvPr id="42" name="TextBox 41"/>
          <p:cNvSpPr txBox="1"/>
          <p:nvPr/>
        </p:nvSpPr>
        <p:spPr>
          <a:xfrm>
            <a:off x="9146239" y="2549907"/>
            <a:ext cx="2403078" cy="186689"/>
          </a:xfrm>
          <a:prstGeom prst="rect">
            <a:avLst/>
          </a:prstGeom>
          <a:noFill/>
        </p:spPr>
        <p:txBody>
          <a:bodyPr wrap="none" lIns="0" rIns="0" tIns="0" bIns="0">
            <a:spAutoFit/>
          </a:bodyPr>
          <a:lstStyle/>
          <a:p>
            <a:r>
              <a:rPr sz="1100" b="0">
                <a:solidFill>
                  <a:srgbClr val="2E2E2E"/>
                </a:solidFill>
                <a:latin typeface="Calibri"/>
              </a:rPr>
              <a:t>Mn by the end of 2026, reflecting a Y-o-Y</a:t>
            </a:r>
          </a:p>
        </p:txBody>
      </p:sp>
      <p:sp>
        <p:nvSpPr>
          <p:cNvPr id="43" name="TextBox 42"/>
          <p:cNvSpPr txBox="1"/>
          <p:nvPr/>
        </p:nvSpPr>
        <p:spPr>
          <a:xfrm>
            <a:off x="8048625" y="2717547"/>
            <a:ext cx="896391" cy="186689"/>
          </a:xfrm>
          <a:prstGeom prst="rect">
            <a:avLst/>
          </a:prstGeom>
          <a:noFill/>
        </p:spPr>
        <p:txBody>
          <a:bodyPr wrap="none" lIns="0" rIns="0" tIns="0" bIns="0">
            <a:spAutoFit/>
          </a:bodyPr>
          <a:lstStyle/>
          <a:p>
            <a:r>
              <a:rPr sz="1100" b="0">
                <a:solidFill>
                  <a:srgbClr val="2E2E2E"/>
                </a:solidFill>
                <a:latin typeface="Calibri"/>
              </a:rPr>
              <a:t>growth rate of</a:t>
            </a:r>
          </a:p>
        </p:txBody>
      </p:sp>
      <p:pic>
        <p:nvPicPr>
          <p:cNvPr id="44" name="Picture 43" descr="lock.png"/>
          <p:cNvPicPr>
            <a:picLocks noChangeAspect="1"/>
          </p:cNvPicPr>
          <p:nvPr/>
        </p:nvPicPr>
        <p:blipFill>
          <a:blip r:embed="rId6"/>
          <a:stretch>
            <a:fillRect/>
          </a:stretch>
        </p:blipFill>
        <p:spPr>
          <a:xfrm>
            <a:off x="8893068" y="2707768"/>
            <a:ext cx="128699" cy="187198"/>
          </a:xfrm>
          <a:prstGeom prst="rect">
            <a:avLst/>
          </a:prstGeom>
        </p:spPr>
      </p:pic>
      <p:sp>
        <p:nvSpPr>
          <p:cNvPr id="45" name="TextBox 44"/>
          <p:cNvSpPr txBox="1"/>
          <p:nvPr/>
        </p:nvSpPr>
        <p:spPr>
          <a:xfrm>
            <a:off x="9060564"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7" name="Picture 46" descr="lock.png"/>
          <p:cNvPicPr>
            <a:picLocks noChangeAspect="1"/>
          </p:cNvPicPr>
          <p:nvPr/>
        </p:nvPicPr>
        <p:blipFill>
          <a:blip r:embed="rId6"/>
          <a:stretch>
            <a:fillRect/>
          </a:stretch>
        </p:blipFill>
        <p:spPr>
          <a:xfrm>
            <a:off x="8035157" y="3093340"/>
            <a:ext cx="128699" cy="187198"/>
          </a:xfrm>
          <a:prstGeom prst="rect">
            <a:avLst/>
          </a:prstGeom>
        </p:spPr>
      </p:pic>
      <p:sp>
        <p:nvSpPr>
          <p:cNvPr id="48" name="TextBox 47"/>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9" name="Picture 48" descr="lock.png"/>
          <p:cNvPicPr>
            <a:picLocks noChangeAspect="1"/>
          </p:cNvPicPr>
          <p:nvPr/>
        </p:nvPicPr>
        <p:blipFill>
          <a:blip r:embed="rId6"/>
          <a:stretch>
            <a:fillRect/>
          </a:stretch>
        </p:blipFill>
        <p:spPr>
          <a:xfrm>
            <a:off x="9646261" y="3093340"/>
            <a:ext cx="128699" cy="187198"/>
          </a:xfrm>
          <a:prstGeom prst="rect">
            <a:avLst/>
          </a:prstGeom>
        </p:spPr>
      </p:pic>
      <p:sp>
        <p:nvSpPr>
          <p:cNvPr id="50" name="TextBox 49"/>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1" name="TextBox 50"/>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2" name="Picture 51" descr="lock.png"/>
          <p:cNvPicPr>
            <a:picLocks noChangeAspect="1"/>
          </p:cNvPicPr>
          <p:nvPr/>
        </p:nvPicPr>
        <p:blipFill>
          <a:blip r:embed="rId6"/>
          <a:stretch>
            <a:fillRect/>
          </a:stretch>
        </p:blipFill>
        <p:spPr>
          <a:xfrm>
            <a:off x="8035157" y="3428620"/>
            <a:ext cx="128699" cy="187198"/>
          </a:xfrm>
          <a:prstGeom prst="rect">
            <a:avLst/>
          </a:prstGeom>
        </p:spPr>
      </p:pic>
      <p:sp>
        <p:nvSpPr>
          <p:cNvPr id="53" name="TextBox 52"/>
          <p:cNvSpPr txBox="1"/>
          <p:nvPr/>
        </p:nvSpPr>
        <p:spPr>
          <a:xfrm>
            <a:off x="8202653" y="3438399"/>
            <a:ext cx="3335684" cy="186689"/>
          </a:xfrm>
          <a:prstGeom prst="rect">
            <a:avLst/>
          </a:prstGeom>
          <a:noFill/>
        </p:spPr>
        <p:txBody>
          <a:bodyPr wrap="none" lIns="0" rIns="0" tIns="0" bIns="0">
            <a:spAutoFit/>
          </a:bodyPr>
          <a:lstStyle/>
          <a:p>
            <a:r>
              <a:rPr sz="1100" b="0">
                <a:solidFill>
                  <a:srgbClr val="2E2E2E"/>
                </a:solidFill>
                <a:latin typeface="Calibri"/>
              </a:rPr>
              <a:t>Mn for the overall floriculture market from 2025 to 2036.</a:t>
            </a:r>
          </a:p>
        </p:txBody>
      </p:sp>
      <p:sp>
        <p:nvSpPr>
          <p:cNvPr id="54" name="TextBox 53"/>
          <p:cNvSpPr txBox="1"/>
          <p:nvPr/>
        </p:nvSpPr>
        <p:spPr>
          <a:xfrm>
            <a:off x="8048625" y="365633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5" name="Picture 54" descr="lock.png"/>
          <p:cNvPicPr>
            <a:picLocks noChangeAspect="1"/>
          </p:cNvPicPr>
          <p:nvPr/>
        </p:nvPicPr>
        <p:blipFill>
          <a:blip r:embed="rId6"/>
          <a:stretch>
            <a:fillRect/>
          </a:stretch>
        </p:blipFill>
        <p:spPr>
          <a:xfrm>
            <a:off x="10833861" y="3646552"/>
            <a:ext cx="128699" cy="187198"/>
          </a:xfrm>
          <a:prstGeom prst="rect">
            <a:avLst/>
          </a:prstGeom>
        </p:spPr>
      </p:pic>
      <p:sp>
        <p:nvSpPr>
          <p:cNvPr id="56" name="TextBox 55"/>
          <p:cNvSpPr txBox="1"/>
          <p:nvPr/>
        </p:nvSpPr>
        <p:spPr>
          <a:xfrm>
            <a:off x="11001357" y="365633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7" name="TextBox 56"/>
          <p:cNvSpPr txBox="1"/>
          <p:nvPr/>
        </p:nvSpPr>
        <p:spPr>
          <a:xfrm>
            <a:off x="8048625" y="5148217"/>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8" name="Picture 57" descr="lock.png"/>
          <p:cNvPicPr>
            <a:picLocks noChangeAspect="1"/>
          </p:cNvPicPr>
          <p:nvPr/>
        </p:nvPicPr>
        <p:blipFill>
          <a:blip r:embed="rId6"/>
          <a:stretch>
            <a:fillRect/>
          </a:stretch>
        </p:blipFill>
        <p:spPr>
          <a:xfrm>
            <a:off x="10136079" y="5137993"/>
            <a:ext cx="134549" cy="195707"/>
          </a:xfrm>
          <a:prstGeom prst="rect">
            <a:avLst/>
          </a:prstGeom>
        </p:spPr>
      </p:pic>
      <p:sp>
        <p:nvSpPr>
          <p:cNvPr id="59" name="TextBox 58"/>
          <p:cNvSpPr txBox="1"/>
          <p:nvPr/>
        </p:nvSpPr>
        <p:spPr>
          <a:xfrm>
            <a:off x="10311188" y="5148217"/>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0" name="TextBox 59"/>
          <p:cNvSpPr txBox="1"/>
          <p:nvPr/>
        </p:nvSpPr>
        <p:spPr>
          <a:xfrm>
            <a:off x="8048625" y="5376055"/>
            <a:ext cx="3678671" cy="194310"/>
          </a:xfrm>
          <a:prstGeom prst="rect">
            <a:avLst/>
          </a:prstGeom>
          <a:noFill/>
        </p:spPr>
        <p:txBody>
          <a:bodyPr wrap="none" lIns="0" rIns="0" tIns="0" bIns="0">
            <a:spAutoFit/>
          </a:bodyPr>
          <a:lstStyle/>
          <a:p>
            <a:r>
              <a:rPr sz="1150" b="0">
                <a:solidFill>
                  <a:srgbClr val="2E2E2E"/>
                </a:solidFill>
                <a:latin typeface="Calibri"/>
              </a:rPr>
              <a:t>▪ Demand concentrates in 'Cut Flowers' within Product Type.</a:t>
            </a:r>
          </a:p>
        </p:txBody>
      </p:sp>
      <p:sp>
        <p:nvSpPr>
          <p:cNvPr id="61" name="TextBox 60"/>
          <p:cNvSpPr txBox="1"/>
          <p:nvPr/>
        </p:nvSpPr>
        <p:spPr>
          <a:xfrm>
            <a:off x="8048625" y="5603893"/>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2" name="TextBox 61"/>
          <p:cNvSpPr txBox="1"/>
          <p:nvPr/>
        </p:nvSpPr>
        <p:spPr>
          <a:xfrm>
            <a:off x="8048625" y="5831730"/>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3"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010707" cy="194310"/>
          </a:xfrm>
          <a:prstGeom prst="rect">
            <a:avLst/>
          </a:prstGeom>
          <a:noFill/>
        </p:spPr>
        <p:txBody>
          <a:bodyPr wrap="none" lIns="0" rIns="0" tIns="0" bIns="0">
            <a:spAutoFit/>
          </a:bodyPr>
          <a:lstStyle/>
          <a:p>
            <a:r>
              <a:rPr sz="1150" b="0">
                <a:solidFill>
                  <a:srgbClr val="2E2E2E"/>
                </a:solidFill>
                <a:latin typeface="Calibri"/>
              </a:rPr>
              <a:t>Floriculture market value in North America is expected to increase</a:t>
            </a:r>
          </a:p>
        </p:txBody>
      </p:sp>
      <p:pic>
        <p:nvPicPr>
          <p:cNvPr id="32" name="Picture 31" descr="lock.png"/>
          <p:cNvPicPr>
            <a:picLocks noChangeAspect="1"/>
          </p:cNvPicPr>
          <p:nvPr/>
        </p:nvPicPr>
        <p:blipFill>
          <a:blip r:embed="rId6"/>
          <a:stretch>
            <a:fillRect/>
          </a:stretch>
        </p:blipFill>
        <p:spPr>
          <a:xfrm>
            <a:off x="4236086" y="4866576"/>
            <a:ext cx="134549" cy="195707"/>
          </a:xfrm>
          <a:prstGeom prst="rect">
            <a:avLst/>
          </a:prstGeom>
        </p:spPr>
      </p:pic>
      <p:sp>
        <p:nvSpPr>
          <p:cNvPr id="33" name="TextBox 32"/>
          <p:cNvSpPr txBox="1"/>
          <p:nvPr/>
        </p:nvSpPr>
        <p:spPr>
          <a:xfrm>
            <a:off x="4411195" y="4876800"/>
            <a:ext cx="5723086" cy="194310"/>
          </a:xfrm>
          <a:prstGeom prst="rect">
            <a:avLst/>
          </a:prstGeom>
          <a:noFill/>
        </p:spPr>
        <p:txBody>
          <a:bodyPr wrap="none" lIns="0" rIns="0" tIns="0" bIns="0">
            <a:spAutoFit/>
          </a:bodyPr>
          <a:lstStyle/>
          <a:p>
            <a:r>
              <a:rPr sz="1150" b="0">
                <a:solidFill>
                  <a:srgbClr val="2E2E2E"/>
                </a:solidFill>
                <a:latin typeface="Calibri"/>
              </a:rPr>
              <a:t>X between 2025 and 2036. In 2025, the floriculture market in North America was valued at US$</a:t>
            </a:r>
          </a:p>
        </p:txBody>
      </p:sp>
      <p:pic>
        <p:nvPicPr>
          <p:cNvPr id="34" name="Picture 33" descr="lock.png"/>
          <p:cNvPicPr>
            <a:picLocks noChangeAspect="1"/>
          </p:cNvPicPr>
          <p:nvPr/>
        </p:nvPicPr>
        <p:blipFill>
          <a:blip r:embed="rId6"/>
          <a:stretch>
            <a:fillRect/>
          </a:stretch>
        </p:blipFill>
        <p:spPr>
          <a:xfrm>
            <a:off x="10083435" y="4866576"/>
            <a:ext cx="134549" cy="195707"/>
          </a:xfrm>
          <a:prstGeom prst="rect">
            <a:avLst/>
          </a:prstGeom>
        </p:spPr>
      </p:pic>
      <p:sp>
        <p:nvSpPr>
          <p:cNvPr id="35" name="TextBox 34"/>
          <p:cNvSpPr txBox="1"/>
          <p:nvPr/>
        </p:nvSpPr>
        <p:spPr>
          <a:xfrm>
            <a:off x="10258544" y="4876800"/>
            <a:ext cx="1447986" cy="194310"/>
          </a:xfrm>
          <a:prstGeom prst="rect">
            <a:avLst/>
          </a:prstGeom>
          <a:noFill/>
        </p:spPr>
        <p:txBody>
          <a:bodyPr wrap="none" lIns="0" rIns="0" tIns="0" bIns="0">
            <a:spAutoFit/>
          </a:bodyPr>
          <a:lstStyle/>
          <a:p>
            <a:r>
              <a:rPr sz="1150" b="0">
                <a:solidFill>
                  <a:srgbClr val="2E2E2E"/>
                </a:solidFill>
                <a:latin typeface="Calibri"/>
              </a:rPr>
              <a:t>Mn and is estimated to</a:t>
            </a:r>
          </a:p>
        </p:txBody>
      </p:sp>
      <p:sp>
        <p:nvSpPr>
          <p:cNvPr id="36" name="TextBox 35"/>
          <p:cNvSpPr txBox="1"/>
          <p:nvPr/>
        </p:nvSpPr>
        <p:spPr>
          <a:xfrm>
            <a:off x="276225" y="5052060"/>
            <a:ext cx="1023242" cy="194310"/>
          </a:xfrm>
          <a:prstGeom prst="rect">
            <a:avLst/>
          </a:prstGeom>
          <a:noFill/>
        </p:spPr>
        <p:txBody>
          <a:bodyPr wrap="none" lIns="0" rIns="0" tIns="0" bIns="0">
            <a:spAutoFit/>
          </a:bodyPr>
          <a:lstStyle/>
          <a:p>
            <a:r>
              <a:rPr sz="1150" b="0">
                <a:solidFill>
                  <a:srgbClr val="2E2E2E"/>
                </a:solidFill>
                <a:latin typeface="Calibri"/>
              </a:rPr>
              <a:t>account for US$</a:t>
            </a:r>
          </a:p>
        </p:txBody>
      </p:sp>
      <p:pic>
        <p:nvPicPr>
          <p:cNvPr id="37" name="Picture 36" descr="lock.png"/>
          <p:cNvPicPr>
            <a:picLocks noChangeAspect="1"/>
          </p:cNvPicPr>
          <p:nvPr/>
        </p:nvPicPr>
        <p:blipFill>
          <a:blip r:embed="rId6"/>
          <a:stretch>
            <a:fillRect/>
          </a:stretch>
        </p:blipFill>
        <p:spPr>
          <a:xfrm>
            <a:off x="1248621" y="5041836"/>
            <a:ext cx="134549" cy="195707"/>
          </a:xfrm>
          <a:prstGeom prst="rect">
            <a:avLst/>
          </a:prstGeom>
        </p:spPr>
      </p:pic>
      <p:sp>
        <p:nvSpPr>
          <p:cNvPr id="38" name="TextBox 37"/>
          <p:cNvSpPr txBox="1"/>
          <p:nvPr/>
        </p:nvSpPr>
        <p:spPr>
          <a:xfrm>
            <a:off x="1423731"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9" name="Picture 38" descr="lock.png"/>
          <p:cNvPicPr>
            <a:picLocks noChangeAspect="1"/>
          </p:cNvPicPr>
          <p:nvPr/>
        </p:nvPicPr>
        <p:blipFill>
          <a:blip r:embed="rId6"/>
          <a:stretch>
            <a:fillRect/>
          </a:stretch>
        </p:blipFill>
        <p:spPr>
          <a:xfrm>
            <a:off x="4772293" y="5041836"/>
            <a:ext cx="134549" cy="195707"/>
          </a:xfrm>
          <a:prstGeom prst="rect">
            <a:avLst/>
          </a:prstGeom>
        </p:spPr>
      </p:pic>
      <p:sp>
        <p:nvSpPr>
          <p:cNvPr id="40" name="TextBox 39"/>
          <p:cNvSpPr txBox="1"/>
          <p:nvPr/>
        </p:nvSpPr>
        <p:spPr>
          <a:xfrm>
            <a:off x="4947402"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1" name="Picture 40" descr="lock.png"/>
          <p:cNvPicPr>
            <a:picLocks noChangeAspect="1"/>
          </p:cNvPicPr>
          <p:nvPr/>
        </p:nvPicPr>
        <p:blipFill>
          <a:blip r:embed="rId6"/>
          <a:stretch>
            <a:fillRect/>
          </a:stretch>
        </p:blipFill>
        <p:spPr>
          <a:xfrm>
            <a:off x="8612881" y="5041836"/>
            <a:ext cx="134549" cy="195707"/>
          </a:xfrm>
          <a:prstGeom prst="rect">
            <a:avLst/>
          </a:prstGeom>
        </p:spPr>
      </p:pic>
      <p:sp>
        <p:nvSpPr>
          <p:cNvPr id="42" name="TextBox 41"/>
          <p:cNvSpPr txBox="1"/>
          <p:nvPr/>
        </p:nvSpPr>
        <p:spPr>
          <a:xfrm>
            <a:off x="8787990" y="5052060"/>
            <a:ext cx="1560072" cy="194310"/>
          </a:xfrm>
          <a:prstGeom prst="rect">
            <a:avLst/>
          </a:prstGeom>
          <a:noFill/>
        </p:spPr>
        <p:txBody>
          <a:bodyPr wrap="none" lIns="0" rIns="0" tIns="0" bIns="0">
            <a:spAutoFit/>
          </a:bodyPr>
          <a:lstStyle/>
          <a:p>
            <a:r>
              <a:rPr sz="1150" b="0">
                <a:solidFill>
                  <a:srgbClr val="2E2E2E"/>
                </a:solidFill>
                <a:latin typeface="Calibri"/>
              </a:rPr>
              <a:t>Mn by 2036 at a CAGR of</a:t>
            </a:r>
          </a:p>
        </p:txBody>
      </p:sp>
      <p:pic>
        <p:nvPicPr>
          <p:cNvPr id="43" name="Picture 42" descr="lock.png"/>
          <p:cNvPicPr>
            <a:picLocks noChangeAspect="1"/>
          </p:cNvPicPr>
          <p:nvPr/>
        </p:nvPicPr>
        <p:blipFill>
          <a:blip r:embed="rId6"/>
          <a:stretch>
            <a:fillRect/>
          </a:stretch>
        </p:blipFill>
        <p:spPr>
          <a:xfrm>
            <a:off x="10297217" y="5041836"/>
            <a:ext cx="134549" cy="195707"/>
          </a:xfrm>
          <a:prstGeom prst="rect">
            <a:avLst/>
          </a:prstGeom>
        </p:spPr>
      </p:pic>
      <p:sp>
        <p:nvSpPr>
          <p:cNvPr id="44" name="TextBox 43"/>
          <p:cNvSpPr txBox="1"/>
          <p:nvPr/>
        </p:nvSpPr>
        <p:spPr>
          <a:xfrm>
            <a:off x="10472326" y="5052060"/>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5" name="TextBox 44"/>
          <p:cNvSpPr txBox="1"/>
          <p:nvPr/>
        </p:nvSpPr>
        <p:spPr>
          <a:xfrm>
            <a:off x="276225" y="5227320"/>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6" name="TextBox 45"/>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7" name="Picture 46" descr="lock.png"/>
          <p:cNvPicPr>
            <a:picLocks noChangeAspect="1"/>
          </p:cNvPicPr>
          <p:nvPr/>
        </p:nvPicPr>
        <p:blipFill>
          <a:blip r:embed="rId6"/>
          <a:stretch>
            <a:fillRect/>
          </a:stretch>
        </p:blipFill>
        <p:spPr>
          <a:xfrm>
            <a:off x="4539310" y="5444934"/>
            <a:ext cx="134549" cy="195707"/>
          </a:xfrm>
          <a:prstGeom prst="rect">
            <a:avLst/>
          </a:prstGeom>
        </p:spPr>
      </p:pic>
      <p:sp>
        <p:nvSpPr>
          <p:cNvPr id="48" name="TextBox 47"/>
          <p:cNvSpPr txBox="1"/>
          <p:nvPr/>
        </p:nvSpPr>
        <p:spPr>
          <a:xfrm>
            <a:off x="4714420" y="5455157"/>
            <a:ext cx="6403416"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2025 to 2036. Absolute $ value for 2026 is estimated to be US$</a:t>
            </a:r>
          </a:p>
        </p:txBody>
      </p:sp>
      <p:pic>
        <p:nvPicPr>
          <p:cNvPr id="49" name="Picture 48" descr="lock.png"/>
          <p:cNvPicPr>
            <a:picLocks noChangeAspect="1"/>
          </p:cNvPicPr>
          <p:nvPr/>
        </p:nvPicPr>
        <p:blipFill>
          <a:blip r:embed="rId6"/>
          <a:stretch>
            <a:fillRect/>
          </a:stretch>
        </p:blipFill>
        <p:spPr>
          <a:xfrm>
            <a:off x="11066991" y="5444934"/>
            <a:ext cx="134549" cy="195707"/>
          </a:xfrm>
          <a:prstGeom prst="rect">
            <a:avLst/>
          </a:prstGeom>
        </p:spPr>
      </p:pic>
      <p:sp>
        <p:nvSpPr>
          <p:cNvPr id="50" name="TextBox 49"/>
          <p:cNvSpPr txBox="1"/>
          <p:nvPr/>
        </p:nvSpPr>
        <p:spPr>
          <a:xfrm>
            <a:off x="11242100" y="5455157"/>
            <a:ext cx="314672"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51" name="TextBox 50"/>
          <p:cNvSpPr txBox="1"/>
          <p:nvPr/>
        </p:nvSpPr>
        <p:spPr>
          <a:xfrm>
            <a:off x="276225" y="5630417"/>
            <a:ext cx="3480134" cy="194310"/>
          </a:xfrm>
          <a:prstGeom prst="rect">
            <a:avLst/>
          </a:prstGeom>
          <a:noFill/>
        </p:spPr>
        <p:txBody>
          <a:bodyPr wrap="none" lIns="0" rIns="0" tIns="0" bIns="0">
            <a:spAutoFit/>
          </a:bodyPr>
          <a:lstStyle/>
          <a:p>
            <a:r>
              <a:rPr sz="1150" b="0">
                <a:solidFill>
                  <a:srgbClr val="2E2E2E"/>
                </a:solidFill>
                <a:latin typeface="Calibri"/>
              </a:rPr>
              <a:t>North America floriculture market is projected to register</a:t>
            </a:r>
          </a:p>
        </p:txBody>
      </p:sp>
      <p:pic>
        <p:nvPicPr>
          <p:cNvPr id="52" name="Picture 51" descr="lock.png"/>
          <p:cNvPicPr>
            <a:picLocks noChangeAspect="1"/>
          </p:cNvPicPr>
          <p:nvPr/>
        </p:nvPicPr>
        <p:blipFill>
          <a:blip r:embed="rId6"/>
          <a:stretch>
            <a:fillRect/>
          </a:stretch>
        </p:blipFill>
        <p:spPr>
          <a:xfrm>
            <a:off x="3705513" y="5620194"/>
            <a:ext cx="134549" cy="195707"/>
          </a:xfrm>
          <a:prstGeom prst="rect">
            <a:avLst/>
          </a:prstGeom>
        </p:spPr>
      </p:pic>
      <p:sp>
        <p:nvSpPr>
          <p:cNvPr id="53" name="TextBox 52"/>
          <p:cNvSpPr txBox="1"/>
          <p:nvPr/>
        </p:nvSpPr>
        <p:spPr>
          <a:xfrm>
            <a:off x="3880623"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4" name="TextBox 53"/>
          <p:cNvSpPr txBox="1"/>
          <p:nvPr/>
        </p:nvSpPr>
        <p:spPr>
          <a:xfrm>
            <a:off x="276225" y="5858255"/>
            <a:ext cx="3099606" cy="194310"/>
          </a:xfrm>
          <a:prstGeom prst="rect">
            <a:avLst/>
          </a:prstGeom>
          <a:noFill/>
        </p:spPr>
        <p:txBody>
          <a:bodyPr wrap="none" lIns="0" rIns="0" tIns="0" bIns="0">
            <a:spAutoFit/>
          </a:bodyPr>
          <a:lstStyle/>
          <a:p>
            <a:r>
              <a:rPr sz="1150" b="0">
                <a:solidFill>
                  <a:srgbClr val="2E2E2E"/>
                </a:solidFill>
                <a:latin typeface="Calibri"/>
              </a:rPr>
              <a:t>North America floriculture market volume stood at</a:t>
            </a:r>
          </a:p>
        </p:txBody>
      </p:sp>
      <p:pic>
        <p:nvPicPr>
          <p:cNvPr id="55" name="Picture 54" descr="lock.png"/>
          <p:cNvPicPr>
            <a:picLocks noChangeAspect="1"/>
          </p:cNvPicPr>
          <p:nvPr/>
        </p:nvPicPr>
        <p:blipFill>
          <a:blip r:embed="rId6"/>
          <a:stretch>
            <a:fillRect/>
          </a:stretch>
        </p:blipFill>
        <p:spPr>
          <a:xfrm>
            <a:off x="3324985" y="5848032"/>
            <a:ext cx="134549" cy="195707"/>
          </a:xfrm>
          <a:prstGeom prst="rect">
            <a:avLst/>
          </a:prstGeom>
        </p:spPr>
      </p:pic>
      <p:sp>
        <p:nvSpPr>
          <p:cNvPr id="56" name="TextBox 55"/>
          <p:cNvSpPr txBox="1"/>
          <p:nvPr/>
        </p:nvSpPr>
        <p:spPr>
          <a:xfrm>
            <a:off x="3500094" y="5858255"/>
            <a:ext cx="2578447" cy="194310"/>
          </a:xfrm>
          <a:prstGeom prst="rect">
            <a:avLst/>
          </a:prstGeom>
          <a:noFill/>
        </p:spPr>
        <p:txBody>
          <a:bodyPr wrap="none" lIns="0" rIns="0" tIns="0" bIns="0">
            <a:spAutoFit/>
          </a:bodyPr>
          <a:lstStyle/>
          <a:p>
            <a:r>
              <a:rPr sz="1150" b="0">
                <a:solidFill>
                  <a:srgbClr val="2E2E2E"/>
                </a:solidFill>
                <a:latin typeface="Calibri"/>
              </a:rPr>
              <a:t>Mn Units in 2025 and is expected to reach</a:t>
            </a:r>
          </a:p>
        </p:txBody>
      </p:sp>
      <p:pic>
        <p:nvPicPr>
          <p:cNvPr id="57" name="Picture 56" descr="lock.png"/>
          <p:cNvPicPr>
            <a:picLocks noChangeAspect="1"/>
          </p:cNvPicPr>
          <p:nvPr/>
        </p:nvPicPr>
        <p:blipFill>
          <a:blip r:embed="rId6"/>
          <a:stretch>
            <a:fillRect/>
          </a:stretch>
        </p:blipFill>
        <p:spPr>
          <a:xfrm>
            <a:off x="6027695" y="5848032"/>
            <a:ext cx="134549" cy="195707"/>
          </a:xfrm>
          <a:prstGeom prst="rect">
            <a:avLst/>
          </a:prstGeom>
        </p:spPr>
      </p:pic>
      <p:sp>
        <p:nvSpPr>
          <p:cNvPr id="58" name="TextBox 57"/>
          <p:cNvSpPr txBox="1"/>
          <p:nvPr/>
        </p:nvSpPr>
        <p:spPr>
          <a:xfrm>
            <a:off x="6202804" y="5858255"/>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59" name="Picture 58" descr="lock.png"/>
          <p:cNvPicPr>
            <a:picLocks noChangeAspect="1"/>
          </p:cNvPicPr>
          <p:nvPr/>
        </p:nvPicPr>
        <p:blipFill>
          <a:blip r:embed="rId6"/>
          <a:stretch>
            <a:fillRect/>
          </a:stretch>
        </p:blipFill>
        <p:spPr>
          <a:xfrm>
            <a:off x="8351285" y="5848032"/>
            <a:ext cx="134549" cy="195707"/>
          </a:xfrm>
          <a:prstGeom prst="rect">
            <a:avLst/>
          </a:prstGeom>
        </p:spPr>
      </p:pic>
      <p:sp>
        <p:nvSpPr>
          <p:cNvPr id="60" name="TextBox 59"/>
          <p:cNvSpPr txBox="1"/>
          <p:nvPr/>
        </p:nvSpPr>
        <p:spPr>
          <a:xfrm>
            <a:off x="8526395" y="5858255"/>
            <a:ext cx="3164073"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a:t>
            </a:r>
          </a:p>
        </p:txBody>
      </p:sp>
      <p:sp>
        <p:nvSpPr>
          <p:cNvPr id="61" name="TextBox 60"/>
          <p:cNvSpPr txBox="1"/>
          <p:nvPr/>
        </p:nvSpPr>
        <p:spPr>
          <a:xfrm>
            <a:off x="276225" y="6033515"/>
            <a:ext cx="3932832" cy="194310"/>
          </a:xfrm>
          <a:prstGeom prst="rect">
            <a:avLst/>
          </a:prstGeom>
          <a:noFill/>
        </p:spPr>
        <p:txBody>
          <a:bodyPr wrap="none" lIns="0" rIns="0" tIns="0" bIns="0">
            <a:spAutoFit/>
          </a:bodyPr>
          <a:lstStyle/>
          <a:p>
            <a:r>
              <a:rPr sz="1150" b="0">
                <a:solidFill>
                  <a:srgbClr val="2E2E2E"/>
                </a:solidFill>
                <a:latin typeface="Calibri"/>
              </a:rPr>
              <a:t>the forecast period, owing to an increase in average selling price.</a:t>
            </a:r>
          </a:p>
        </p:txBody>
      </p:sp>
      <p:sp>
        <p:nvSpPr>
          <p:cNvPr id="62"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3091856"/>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4384867"/>
            <a:ext cx="3743325" cy="1493742"/>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2838939"/>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131738"/>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2965425" cy="186689"/>
          </a:xfrm>
          <a:prstGeom prst="rect">
            <a:avLst/>
          </a:prstGeom>
          <a:noFill/>
        </p:spPr>
        <p:txBody>
          <a:bodyPr wrap="none" lIns="0" rIns="0" tIns="0" bIns="0">
            <a:spAutoFit/>
          </a:bodyPr>
          <a:lstStyle/>
          <a:p>
            <a:r>
              <a:rPr sz="1100" b="0">
                <a:solidFill>
                  <a:srgbClr val="2E2E2E"/>
                </a:solidFill>
                <a:latin typeface="Calibri"/>
              </a:rPr>
              <a:t>The U.S. floriculture market is projected to register</a:t>
            </a:r>
          </a:p>
        </p:txBody>
      </p:sp>
      <p:pic>
        <p:nvPicPr>
          <p:cNvPr id="35" name="Picture 34" descr="lock.png"/>
          <p:cNvPicPr>
            <a:picLocks noChangeAspect="1"/>
          </p:cNvPicPr>
          <p:nvPr/>
        </p:nvPicPr>
        <p:blipFill>
          <a:blip r:embed="rId6"/>
          <a:stretch>
            <a:fillRect/>
          </a:stretch>
        </p:blipFill>
        <p:spPr>
          <a:xfrm>
            <a:off x="3170651" y="6150795"/>
            <a:ext cx="128699" cy="187198"/>
          </a:xfrm>
          <a:prstGeom prst="rect">
            <a:avLst/>
          </a:prstGeom>
        </p:spPr>
      </p:pic>
      <p:sp>
        <p:nvSpPr>
          <p:cNvPr id="36" name="TextBox 35"/>
          <p:cNvSpPr txBox="1"/>
          <p:nvPr/>
        </p:nvSpPr>
        <p:spPr>
          <a:xfrm>
            <a:off x="3338147"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7625960" y="6150795"/>
            <a:ext cx="128699" cy="187198"/>
          </a:xfrm>
          <a:prstGeom prst="rect">
            <a:avLst/>
          </a:prstGeom>
        </p:spPr>
      </p:pic>
      <p:sp>
        <p:nvSpPr>
          <p:cNvPr id="38" name="TextBox 37"/>
          <p:cNvSpPr txBox="1"/>
          <p:nvPr/>
        </p:nvSpPr>
        <p:spPr>
          <a:xfrm>
            <a:off x="7793456"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8531487" y="6150795"/>
            <a:ext cx="128699" cy="187198"/>
          </a:xfrm>
          <a:prstGeom prst="rect">
            <a:avLst/>
          </a:prstGeom>
        </p:spPr>
      </p:pic>
      <p:sp>
        <p:nvSpPr>
          <p:cNvPr id="40" name="TextBox 39"/>
          <p:cNvSpPr txBox="1"/>
          <p:nvPr/>
        </p:nvSpPr>
        <p:spPr>
          <a:xfrm>
            <a:off x="8698983" y="6160574"/>
            <a:ext cx="1569789" cy="186689"/>
          </a:xfrm>
          <a:prstGeom prst="rect">
            <a:avLst/>
          </a:prstGeom>
          <a:noFill/>
        </p:spPr>
        <p:txBody>
          <a:bodyPr wrap="none" lIns="0" rIns="0" tIns="0" bIns="0">
            <a:spAutoFit/>
          </a:bodyPr>
          <a:lstStyle/>
          <a:p>
            <a:r>
              <a:rPr sz="1100" b="0">
                <a:solidFill>
                  <a:srgbClr val="2E2E2E"/>
                </a:solidFill>
                <a:latin typeface="Calibri"/>
              </a:rPr>
              <a:t>against the North America</a:t>
            </a:r>
          </a:p>
        </p:txBody>
      </p:sp>
      <p:sp>
        <p:nvSpPr>
          <p:cNvPr id="41" name="TextBox 40"/>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42" name="Picture 41" descr="lock.png"/>
          <p:cNvPicPr>
            <a:picLocks noChangeAspect="1"/>
          </p:cNvPicPr>
          <p:nvPr/>
        </p:nvPicPr>
        <p:blipFill>
          <a:blip r:embed="rId6"/>
          <a:stretch>
            <a:fillRect/>
          </a:stretch>
        </p:blipFill>
        <p:spPr>
          <a:xfrm>
            <a:off x="3785386" y="6318435"/>
            <a:ext cx="128699" cy="187198"/>
          </a:xfrm>
          <a:prstGeom prst="rect">
            <a:avLst/>
          </a:prstGeom>
        </p:spPr>
      </p:pic>
      <p:sp>
        <p:nvSpPr>
          <p:cNvPr id="43" name="TextBox 42"/>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212880" y="6318435"/>
            <a:ext cx="128699" cy="187198"/>
          </a:xfrm>
          <a:prstGeom prst="rect">
            <a:avLst/>
          </a:prstGeom>
        </p:spPr>
      </p:pic>
      <p:sp>
        <p:nvSpPr>
          <p:cNvPr id="45" name="TextBox 44"/>
          <p:cNvSpPr txBox="1"/>
          <p:nvPr/>
        </p:nvSpPr>
        <p:spPr>
          <a:xfrm>
            <a:off x="7380376"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'Cut Flowers'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7 product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2958975" cy="194310"/>
          </a:xfrm>
          <a:prstGeom prst="rect">
            <a:avLst/>
          </a:prstGeom>
          <a:noFill/>
        </p:spPr>
        <p:txBody>
          <a:bodyPr wrap="none" lIns="0" rIns="0" tIns="0" bIns="0">
            <a:spAutoFit/>
          </a:bodyPr>
          <a:lstStyle/>
          <a:p>
            <a:r>
              <a:rPr sz="1150" b="0">
                <a:solidFill>
                  <a:srgbClr val="2E2E2E"/>
                </a:solidFill>
                <a:latin typeface="Calibri"/>
              </a:rPr>
              <a:t>Global floriculture market is expected to witness</a:t>
            </a:r>
          </a:p>
        </p:txBody>
      </p:sp>
      <p:pic>
        <p:nvPicPr>
          <p:cNvPr id="32" name="Picture 31" descr="lock.png"/>
          <p:cNvPicPr>
            <a:picLocks noChangeAspect="1"/>
          </p:cNvPicPr>
          <p:nvPr/>
        </p:nvPicPr>
        <p:blipFill>
          <a:blip r:embed="rId4"/>
          <a:stretch>
            <a:fillRect/>
          </a:stretch>
        </p:blipFill>
        <p:spPr>
          <a:xfrm>
            <a:off x="3184354" y="1389951"/>
            <a:ext cx="134549" cy="195707"/>
          </a:xfrm>
          <a:prstGeom prst="rect">
            <a:avLst/>
          </a:prstGeom>
        </p:spPr>
      </p:pic>
      <p:sp>
        <p:nvSpPr>
          <p:cNvPr id="33" name="TextBox 32"/>
          <p:cNvSpPr txBox="1"/>
          <p:nvPr/>
        </p:nvSpPr>
        <p:spPr>
          <a:xfrm>
            <a:off x="3359464" y="1400175"/>
            <a:ext cx="4847642" cy="194310"/>
          </a:xfrm>
          <a:prstGeom prst="rect">
            <a:avLst/>
          </a:prstGeom>
          <a:noFill/>
        </p:spPr>
        <p:txBody>
          <a:bodyPr wrap="none" lIns="0" rIns="0" tIns="0" bIns="0">
            <a:spAutoFit/>
          </a:bodyPr>
          <a:lstStyle/>
          <a:p>
            <a:r>
              <a:rPr sz="1150" b="0">
                <a:solidFill>
                  <a:srgbClr val="2E2E2E"/>
                </a:solidFill>
                <a:latin typeface="Calibri"/>
              </a:rPr>
              <a:t>X increase in revenue by 2036 end. Global floriculture market accounted for US$</a:t>
            </a:r>
          </a:p>
        </p:txBody>
      </p:sp>
      <p:pic>
        <p:nvPicPr>
          <p:cNvPr id="34" name="Picture 33" descr="lock.png"/>
          <p:cNvPicPr>
            <a:picLocks noChangeAspect="1"/>
          </p:cNvPicPr>
          <p:nvPr/>
        </p:nvPicPr>
        <p:blipFill>
          <a:blip r:embed="rId4"/>
          <a:stretch>
            <a:fillRect/>
          </a:stretch>
        </p:blipFill>
        <p:spPr>
          <a:xfrm>
            <a:off x="8156260" y="1389951"/>
            <a:ext cx="134549" cy="195707"/>
          </a:xfrm>
          <a:prstGeom prst="rect">
            <a:avLst/>
          </a:prstGeom>
        </p:spPr>
      </p:pic>
      <p:sp>
        <p:nvSpPr>
          <p:cNvPr id="35" name="TextBox 34"/>
          <p:cNvSpPr txBox="1"/>
          <p:nvPr/>
        </p:nvSpPr>
        <p:spPr>
          <a:xfrm>
            <a:off x="8331369" y="1400175"/>
            <a:ext cx="2992350" cy="194310"/>
          </a:xfrm>
          <a:prstGeom prst="rect">
            <a:avLst/>
          </a:prstGeom>
          <a:noFill/>
        </p:spPr>
        <p:txBody>
          <a:bodyPr wrap="none" lIns="0" rIns="0" tIns="0" bIns="0">
            <a:spAutoFit/>
          </a:bodyPr>
          <a:lstStyle/>
          <a:p>
            <a:r>
              <a:rPr sz="1150" b="0">
                <a:solidFill>
                  <a:srgbClr val="2E2E2E"/>
                </a:solidFill>
                <a:latin typeface="Calibri"/>
              </a:rPr>
              <a:t>Mn in 2025, which is expected to increase to US$</a:t>
            </a:r>
          </a:p>
        </p:txBody>
      </p:sp>
      <p:pic>
        <p:nvPicPr>
          <p:cNvPr id="36" name="Picture 35" descr="lock.png"/>
          <p:cNvPicPr>
            <a:picLocks noChangeAspect="1"/>
          </p:cNvPicPr>
          <p:nvPr/>
        </p:nvPicPr>
        <p:blipFill>
          <a:blip r:embed="rId4"/>
          <a:stretch>
            <a:fillRect/>
          </a:stretch>
        </p:blipFill>
        <p:spPr>
          <a:xfrm>
            <a:off x="262145" y="1565211"/>
            <a:ext cx="134549" cy="195707"/>
          </a:xfrm>
          <a:prstGeom prst="rect">
            <a:avLst/>
          </a:prstGeom>
        </p:spPr>
      </p:pic>
      <p:sp>
        <p:nvSpPr>
          <p:cNvPr id="37" name="TextBox 36"/>
          <p:cNvSpPr txBox="1"/>
          <p:nvPr/>
        </p:nvSpPr>
        <p:spPr>
          <a:xfrm>
            <a:off x="437254"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8" name="Picture 37" descr="lock.png"/>
          <p:cNvPicPr>
            <a:picLocks noChangeAspect="1"/>
          </p:cNvPicPr>
          <p:nvPr/>
        </p:nvPicPr>
        <p:blipFill>
          <a:blip r:embed="rId4"/>
          <a:stretch>
            <a:fillRect/>
          </a:stretch>
        </p:blipFill>
        <p:spPr>
          <a:xfrm>
            <a:off x="1913962" y="1565211"/>
            <a:ext cx="134549" cy="195707"/>
          </a:xfrm>
          <a:prstGeom prst="rect">
            <a:avLst/>
          </a:prstGeom>
        </p:spPr>
      </p:pic>
      <p:sp>
        <p:nvSpPr>
          <p:cNvPr id="39" name="TextBox 38"/>
          <p:cNvSpPr txBox="1"/>
          <p:nvPr/>
        </p:nvSpPr>
        <p:spPr>
          <a:xfrm>
            <a:off x="2089071"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0" name="TextBox 39"/>
          <p:cNvSpPr txBox="1"/>
          <p:nvPr/>
        </p:nvSpPr>
        <p:spPr>
          <a:xfrm>
            <a:off x="276225" y="1803273"/>
            <a:ext cx="11555958" cy="194310"/>
          </a:xfrm>
          <a:prstGeom prst="rect">
            <a:avLst/>
          </a:prstGeom>
          <a:noFill/>
        </p:spPr>
        <p:txBody>
          <a:bodyPr wrap="none" lIns="0" rIns="0" tIns="0" bIns="0">
            <a:spAutoFit/>
          </a:bodyPr>
          <a:lstStyle/>
          <a:p>
            <a:r>
              <a:rPr sz="1150" b="0">
                <a:solidFill>
                  <a:srgbClr val="2E2E2E"/>
                </a:solidFill>
                <a:latin typeface="Calibri"/>
              </a:rPr>
              <a:t>The global floriculture market has been analysed on the basis of product type, flower species, cultivation method and distribution channel across the globe. U.S. is expected to remain the largest</a:t>
            </a:r>
          </a:p>
        </p:txBody>
      </p:sp>
      <p:sp>
        <p:nvSpPr>
          <p:cNvPr id="41" name="TextBox 40"/>
          <p:cNvSpPr txBox="1"/>
          <p:nvPr/>
        </p:nvSpPr>
        <p:spPr>
          <a:xfrm>
            <a:off x="276225" y="1978533"/>
            <a:ext cx="5724494" cy="194310"/>
          </a:xfrm>
          <a:prstGeom prst="rect">
            <a:avLst/>
          </a:prstGeom>
          <a:noFill/>
        </p:spPr>
        <p:txBody>
          <a:bodyPr wrap="none" lIns="0" rIns="0" tIns="0" bIns="0">
            <a:spAutoFit/>
          </a:bodyPr>
          <a:lstStyle/>
          <a:p>
            <a:r>
              <a:rPr sz="1150" b="0">
                <a:solidFill>
                  <a:srgbClr val="2E2E2E"/>
                </a:solidFill>
                <a:latin typeface="Calibri"/>
              </a:rPr>
              <a:t>market for floriculture, while demand in Canada is projected to increase at the highest CAGR of</a:t>
            </a:r>
          </a:p>
        </p:txBody>
      </p:sp>
      <p:pic>
        <p:nvPicPr>
          <p:cNvPr id="42" name="Picture 41" descr="lock.png"/>
          <p:cNvPicPr>
            <a:picLocks noChangeAspect="1"/>
          </p:cNvPicPr>
          <p:nvPr/>
        </p:nvPicPr>
        <p:blipFill>
          <a:blip r:embed="rId4"/>
          <a:stretch>
            <a:fillRect/>
          </a:stretch>
        </p:blipFill>
        <p:spPr>
          <a:xfrm>
            <a:off x="5949873" y="1968309"/>
            <a:ext cx="134549" cy="195707"/>
          </a:xfrm>
          <a:prstGeom prst="rect">
            <a:avLst/>
          </a:prstGeom>
        </p:spPr>
      </p:pic>
      <p:sp>
        <p:nvSpPr>
          <p:cNvPr id="43" name="TextBox 42"/>
          <p:cNvSpPr txBox="1"/>
          <p:nvPr/>
        </p:nvSpPr>
        <p:spPr>
          <a:xfrm>
            <a:off x="6124982"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4" name="TextBox 43"/>
          <p:cNvSpPr txBox="1"/>
          <p:nvPr/>
        </p:nvSpPr>
        <p:spPr>
          <a:xfrm>
            <a:off x="276225" y="3219450"/>
            <a:ext cx="5652628"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type category 'Cut Flowers' holds</a:t>
            </a:r>
          </a:p>
        </p:txBody>
      </p:sp>
      <p:pic>
        <p:nvPicPr>
          <p:cNvPr id="45" name="Picture 44" descr="lock.png"/>
          <p:cNvPicPr>
            <a:picLocks noChangeAspect="1"/>
          </p:cNvPicPr>
          <p:nvPr/>
        </p:nvPicPr>
        <p:blipFill>
          <a:blip r:embed="rId4"/>
          <a:stretch>
            <a:fillRect/>
          </a:stretch>
        </p:blipFill>
        <p:spPr>
          <a:xfrm>
            <a:off x="5878007" y="3209226"/>
            <a:ext cx="134549" cy="195707"/>
          </a:xfrm>
          <a:prstGeom prst="rect">
            <a:avLst/>
          </a:prstGeom>
        </p:spPr>
      </p:pic>
      <p:sp>
        <p:nvSpPr>
          <p:cNvPr id="46" name="TextBox 45"/>
          <p:cNvSpPr txBox="1"/>
          <p:nvPr/>
        </p:nvSpPr>
        <p:spPr>
          <a:xfrm>
            <a:off x="6053116"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7" name="TextBox 46"/>
          <p:cNvSpPr txBox="1"/>
          <p:nvPr/>
        </p:nvSpPr>
        <p:spPr>
          <a:xfrm>
            <a:off x="276225" y="3447287"/>
            <a:ext cx="5029919" cy="194310"/>
          </a:xfrm>
          <a:prstGeom prst="rect">
            <a:avLst/>
          </a:prstGeom>
          <a:noFill/>
        </p:spPr>
        <p:txBody>
          <a:bodyPr wrap="none" lIns="0" rIns="0" tIns="0" bIns="0">
            <a:spAutoFit/>
          </a:bodyPr>
          <a:lstStyle/>
          <a:p>
            <a:r>
              <a:rPr sz="1150" b="0">
                <a:solidFill>
                  <a:srgbClr val="2E2E2E"/>
                </a:solidFill>
                <a:latin typeface="Calibri"/>
              </a:rPr>
              <a:t>▪ Demand spans 2 countries and 7 segmentation lenses (7 product type categories).</a:t>
            </a:r>
          </a:p>
        </p:txBody>
      </p:sp>
      <p:sp>
        <p:nvSpPr>
          <p:cNvPr id="48" name="TextBox 47"/>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49" name="Picture 48" descr="lock.png"/>
          <p:cNvPicPr>
            <a:picLocks noChangeAspect="1"/>
          </p:cNvPicPr>
          <p:nvPr/>
        </p:nvPicPr>
        <p:blipFill>
          <a:blip r:embed="rId4"/>
          <a:stretch>
            <a:fillRect/>
          </a:stretch>
        </p:blipFill>
        <p:spPr>
          <a:xfrm>
            <a:off x="2514293" y="3664902"/>
            <a:ext cx="134549" cy="195707"/>
          </a:xfrm>
          <a:prstGeom prst="rect">
            <a:avLst/>
          </a:prstGeom>
        </p:spPr>
      </p:pic>
      <p:sp>
        <p:nvSpPr>
          <p:cNvPr id="50" name="TextBox 49"/>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1" name="TextBox 50"/>
          <p:cNvSpPr txBox="1"/>
          <p:nvPr/>
        </p:nvSpPr>
        <p:spPr>
          <a:xfrm>
            <a:off x="276225" y="4924425"/>
            <a:ext cx="2371352" cy="194310"/>
          </a:xfrm>
          <a:prstGeom prst="rect">
            <a:avLst/>
          </a:prstGeom>
          <a:noFill/>
        </p:spPr>
        <p:txBody>
          <a:bodyPr wrap="none" lIns="0" rIns="0" tIns="0" bIns="0">
            <a:spAutoFit/>
          </a:bodyPr>
          <a:lstStyle/>
          <a:p>
            <a:r>
              <a:rPr sz="1150" b="0">
                <a:solidFill>
                  <a:srgbClr val="2E2E2E"/>
                </a:solidFill>
                <a:latin typeface="Calibri"/>
              </a:rPr>
              <a:t>▪ Accelerating uptake of 'Cut Flowers' (</a:t>
            </a:r>
          </a:p>
        </p:txBody>
      </p:sp>
      <p:pic>
        <p:nvPicPr>
          <p:cNvPr id="52" name="Picture 51" descr="lock.png"/>
          <p:cNvPicPr>
            <a:picLocks noChangeAspect="1"/>
          </p:cNvPicPr>
          <p:nvPr/>
        </p:nvPicPr>
        <p:blipFill>
          <a:blip r:embed="rId4"/>
          <a:stretch>
            <a:fillRect/>
          </a:stretch>
        </p:blipFill>
        <p:spPr>
          <a:xfrm>
            <a:off x="2596731" y="4914201"/>
            <a:ext cx="134549" cy="195707"/>
          </a:xfrm>
          <a:prstGeom prst="rect">
            <a:avLst/>
          </a:prstGeom>
        </p:spPr>
      </p:pic>
      <p:sp>
        <p:nvSpPr>
          <p:cNvPr id="53" name="TextBox 52"/>
          <p:cNvSpPr txBox="1"/>
          <p:nvPr/>
        </p:nvSpPr>
        <p:spPr>
          <a:xfrm>
            <a:off x="2771841" y="49244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5152263"/>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5" name="Picture 54" descr="lock.png"/>
          <p:cNvPicPr>
            <a:picLocks noChangeAspect="1"/>
          </p:cNvPicPr>
          <p:nvPr/>
        </p:nvPicPr>
        <p:blipFill>
          <a:blip r:embed="rId4"/>
          <a:stretch>
            <a:fillRect/>
          </a:stretch>
        </p:blipFill>
        <p:spPr>
          <a:xfrm>
            <a:off x="2371889" y="5142039"/>
            <a:ext cx="134549" cy="195707"/>
          </a:xfrm>
          <a:prstGeom prst="rect">
            <a:avLst/>
          </a:prstGeom>
        </p:spPr>
      </p:pic>
      <p:sp>
        <p:nvSpPr>
          <p:cNvPr id="56" name="TextBox 55"/>
          <p:cNvSpPr txBox="1"/>
          <p:nvPr/>
        </p:nvSpPr>
        <p:spPr>
          <a:xfrm>
            <a:off x="2546998" y="51522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276225" y="5380100"/>
            <a:ext cx="3439312" cy="194310"/>
          </a:xfrm>
          <a:prstGeom prst="rect">
            <a:avLst/>
          </a:prstGeom>
          <a:noFill/>
        </p:spPr>
        <p:txBody>
          <a:bodyPr wrap="none" lIns="0" rIns="0" tIns="0" bIns="0">
            <a:spAutoFit/>
          </a:bodyPr>
          <a:lstStyle/>
          <a:p>
            <a:r>
              <a:rPr sz="1150" b="0">
                <a:solidFill>
                  <a:srgbClr val="2E2E2E"/>
                </a:solidFill>
                <a:latin typeface="Calibri"/>
              </a:rPr>
              <a:t>▪ Momentum in Online / E-commerce within distribution</a:t>
            </a:r>
          </a:p>
        </p:txBody>
      </p:sp>
      <p:sp>
        <p:nvSpPr>
          <p:cNvPr id="58" name="TextBox 57"/>
          <p:cNvSpPr txBox="1"/>
          <p:nvPr/>
        </p:nvSpPr>
        <p:spPr>
          <a:xfrm>
            <a:off x="276225" y="5555360"/>
            <a:ext cx="621890" cy="194310"/>
          </a:xfrm>
          <a:prstGeom prst="rect">
            <a:avLst/>
          </a:prstGeom>
          <a:noFill/>
        </p:spPr>
        <p:txBody>
          <a:bodyPr wrap="none" lIns="0" rIns="0" tIns="0" bIns="0">
            <a:spAutoFit/>
          </a:bodyPr>
          <a:lstStyle/>
          <a:p>
            <a:r>
              <a:rPr sz="1150" b="0">
                <a:solidFill>
                  <a:srgbClr val="2E2E2E"/>
                </a:solidFill>
                <a:latin typeface="Calibri"/>
              </a:rPr>
              <a:t>channel (</a:t>
            </a:r>
          </a:p>
        </p:txBody>
      </p:sp>
      <p:pic>
        <p:nvPicPr>
          <p:cNvPr id="59" name="Picture 58" descr="lock.png"/>
          <p:cNvPicPr>
            <a:picLocks noChangeAspect="1"/>
          </p:cNvPicPr>
          <p:nvPr/>
        </p:nvPicPr>
        <p:blipFill>
          <a:blip r:embed="rId4"/>
          <a:stretch>
            <a:fillRect/>
          </a:stretch>
        </p:blipFill>
        <p:spPr>
          <a:xfrm>
            <a:off x="847269" y="5545137"/>
            <a:ext cx="134549" cy="195707"/>
          </a:xfrm>
          <a:prstGeom prst="rect">
            <a:avLst/>
          </a:prstGeom>
        </p:spPr>
      </p:pic>
      <p:sp>
        <p:nvSpPr>
          <p:cNvPr id="60" name="TextBox 59"/>
          <p:cNvSpPr txBox="1"/>
          <p:nvPr/>
        </p:nvSpPr>
        <p:spPr>
          <a:xfrm>
            <a:off x="1022378" y="55553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4924425"/>
            <a:ext cx="3219127" cy="194310"/>
          </a:xfrm>
          <a:prstGeom prst="rect">
            <a:avLst/>
          </a:prstGeom>
          <a:noFill/>
        </p:spPr>
        <p:txBody>
          <a:bodyPr wrap="none" lIns="0" rIns="0" tIns="0" bIns="0">
            <a:spAutoFit/>
          </a:bodyPr>
          <a:lstStyle/>
          <a:p>
            <a:r>
              <a:rPr sz="1150" b="0">
                <a:solidFill>
                  <a:srgbClr val="2E2E2E"/>
                </a:solidFill>
                <a:latin typeface="Calibri"/>
              </a:rPr>
              <a:t>▪ Slower momentum in 'Bedding &amp; Garden Flowering</a:t>
            </a:r>
          </a:p>
        </p:txBody>
      </p:sp>
      <p:sp>
        <p:nvSpPr>
          <p:cNvPr id="62" name="TextBox 61"/>
          <p:cNvSpPr txBox="1"/>
          <p:nvPr/>
        </p:nvSpPr>
        <p:spPr>
          <a:xfrm>
            <a:off x="4371975" y="5099685"/>
            <a:ext cx="547724" cy="194310"/>
          </a:xfrm>
          <a:prstGeom prst="rect">
            <a:avLst/>
          </a:prstGeom>
          <a:noFill/>
        </p:spPr>
        <p:txBody>
          <a:bodyPr wrap="none" lIns="0" rIns="0" tIns="0" bIns="0">
            <a:spAutoFit/>
          </a:bodyPr>
          <a:lstStyle/>
          <a:p>
            <a:r>
              <a:rPr sz="1150" b="0">
                <a:solidFill>
                  <a:srgbClr val="2E2E2E"/>
                </a:solidFill>
                <a:latin typeface="Calibri"/>
              </a:rPr>
              <a:t>Plants' (</a:t>
            </a:r>
          </a:p>
        </p:txBody>
      </p:sp>
      <p:pic>
        <p:nvPicPr>
          <p:cNvPr id="63" name="Picture 62" descr="lock.png"/>
          <p:cNvPicPr>
            <a:picLocks noChangeAspect="1"/>
          </p:cNvPicPr>
          <p:nvPr/>
        </p:nvPicPr>
        <p:blipFill>
          <a:blip r:embed="rId4"/>
          <a:stretch>
            <a:fillRect/>
          </a:stretch>
        </p:blipFill>
        <p:spPr>
          <a:xfrm>
            <a:off x="4868853" y="5089461"/>
            <a:ext cx="134549" cy="195707"/>
          </a:xfrm>
          <a:prstGeom prst="rect">
            <a:avLst/>
          </a:prstGeom>
        </p:spPr>
      </p:pic>
      <p:sp>
        <p:nvSpPr>
          <p:cNvPr id="64" name="TextBox 63"/>
          <p:cNvSpPr txBox="1"/>
          <p:nvPr/>
        </p:nvSpPr>
        <p:spPr>
          <a:xfrm>
            <a:off x="5043962"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92559"/>
            <a:ext cx="134549" cy="195707"/>
          </a:xfrm>
          <a:prstGeom prst="rect">
            <a:avLst/>
          </a:prstGeom>
        </p:spPr>
      </p:pic>
      <p:sp>
        <p:nvSpPr>
          <p:cNvPr id="68" name="TextBox 67"/>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730620"/>
            <a:ext cx="3380866" cy="194310"/>
          </a:xfrm>
          <a:prstGeom prst="rect">
            <a:avLst/>
          </a:prstGeom>
          <a:noFill/>
        </p:spPr>
        <p:txBody>
          <a:bodyPr wrap="none" lIns="0" rIns="0" tIns="0" bIns="0">
            <a:spAutoFit/>
          </a:bodyPr>
          <a:lstStyle/>
          <a:p>
            <a:r>
              <a:rPr sz="1150" b="0">
                <a:solidFill>
                  <a:srgbClr val="2E2E2E"/>
                </a:solidFill>
                <a:latin typeface="Calibri"/>
              </a:rPr>
              <a:t>▪ Value concentration in 'Cut Flowers' raises barriers for</a:t>
            </a:r>
          </a:p>
        </p:txBody>
      </p:sp>
      <p:sp>
        <p:nvSpPr>
          <p:cNvPr id="70" name="TextBox 69"/>
          <p:cNvSpPr txBox="1"/>
          <p:nvPr/>
        </p:nvSpPr>
        <p:spPr>
          <a:xfrm>
            <a:off x="4371975" y="5905880"/>
            <a:ext cx="902295" cy="194310"/>
          </a:xfrm>
          <a:prstGeom prst="rect">
            <a:avLst/>
          </a:prstGeom>
          <a:noFill/>
        </p:spPr>
        <p:txBody>
          <a:bodyPr wrap="none" lIns="0" rIns="0" tIns="0" bIns="0">
            <a:spAutoFit/>
          </a:bodyPr>
          <a:lstStyle/>
          <a:p>
            <a:r>
              <a:rPr sz="1150" b="0">
                <a:solidFill>
                  <a:srgbClr val="2E2E2E"/>
                </a:solidFill>
                <a:latin typeface="Calibri"/>
              </a:rPr>
              <a:t>new entrants.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'Cut Flowers' and Canada.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 and Canada.</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1714127" cy="186689"/>
          </a:xfrm>
          <a:prstGeom prst="rect">
            <a:avLst/>
          </a:prstGeom>
          <a:noFill/>
        </p:spPr>
        <p:txBody>
          <a:bodyPr wrap="none" lIns="0" rIns="0" tIns="0" bIns="0">
            <a:spAutoFit/>
          </a:bodyPr>
          <a:lstStyle/>
          <a:p>
            <a:r>
              <a:rPr sz="1100" b="0">
                <a:solidFill>
                  <a:srgbClr val="2E2E2E"/>
                </a:solidFill>
                <a:latin typeface="Calibri"/>
              </a:rPr>
              <a:t>▪ Lead category 'Cut Flowers'</a:t>
            </a:r>
          </a:p>
        </p:txBody>
      </p:sp>
      <p:pic>
        <p:nvPicPr>
          <p:cNvPr id="41" name="Picture 40" descr="lock.png"/>
          <p:cNvPicPr>
            <a:picLocks noChangeAspect="1"/>
          </p:cNvPicPr>
          <p:nvPr/>
        </p:nvPicPr>
        <p:blipFill>
          <a:blip r:embed="rId5"/>
          <a:stretch>
            <a:fillRect/>
          </a:stretch>
        </p:blipFill>
        <p:spPr>
          <a:xfrm>
            <a:off x="7967729" y="1826260"/>
            <a:ext cx="128699" cy="187198"/>
          </a:xfrm>
          <a:prstGeom prst="rect">
            <a:avLst/>
          </a:prstGeom>
        </p:spPr>
      </p:pic>
      <p:sp>
        <p:nvSpPr>
          <p:cNvPr id="42" name="TextBox 41"/>
          <p:cNvSpPr txBox="1"/>
          <p:nvPr/>
        </p:nvSpPr>
        <p:spPr>
          <a:xfrm>
            <a:off x="8135225"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4" name="Picture 43" descr="lock.png"/>
          <p:cNvPicPr>
            <a:picLocks noChangeAspect="1"/>
          </p:cNvPicPr>
          <p:nvPr/>
        </p:nvPicPr>
        <p:blipFill>
          <a:blip r:embed="rId5"/>
          <a:stretch>
            <a:fillRect/>
          </a:stretch>
        </p:blipFill>
        <p:spPr>
          <a:xfrm>
            <a:off x="7405655" y="2044192"/>
            <a:ext cx="128699" cy="187198"/>
          </a:xfrm>
          <a:prstGeom prst="rect">
            <a:avLst/>
          </a:prstGeom>
        </p:spPr>
      </p:pic>
      <p:sp>
        <p:nvSpPr>
          <p:cNvPr id="45" name="TextBox 44"/>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194695"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'Cut Flowers' (</a:t>
            </a:r>
          </a:p>
        </p:txBody>
      </p:sp>
      <p:pic>
        <p:nvPicPr>
          <p:cNvPr id="50" name="Picture 49" descr="lock.png"/>
          <p:cNvPicPr>
            <a:picLocks noChangeAspect="1"/>
          </p:cNvPicPr>
          <p:nvPr/>
        </p:nvPicPr>
        <p:blipFill>
          <a:blip r:embed="rId5"/>
          <a:stretch>
            <a:fillRect/>
          </a:stretch>
        </p:blipFill>
        <p:spPr>
          <a:xfrm>
            <a:off x="4420074" y="3304476"/>
            <a:ext cx="134549" cy="195707"/>
          </a:xfrm>
          <a:prstGeom prst="rect">
            <a:avLst/>
          </a:prstGeom>
        </p:spPr>
      </p:pic>
      <p:sp>
        <p:nvSpPr>
          <p:cNvPr id="51" name="TextBox 50"/>
          <p:cNvSpPr txBox="1"/>
          <p:nvPr/>
        </p:nvSpPr>
        <p:spPr>
          <a:xfrm>
            <a:off x="4595184"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2" name="TextBox 51"/>
          <p:cNvSpPr txBox="1"/>
          <p:nvPr/>
        </p:nvSpPr>
        <p:spPr>
          <a:xfrm>
            <a:off x="276225" y="3542537"/>
            <a:ext cx="679226" cy="194310"/>
          </a:xfrm>
          <a:prstGeom prst="rect">
            <a:avLst/>
          </a:prstGeom>
          <a:noFill/>
        </p:spPr>
        <p:txBody>
          <a:bodyPr wrap="none" lIns="0" rIns="0" tIns="0" bIns="0">
            <a:spAutoFit/>
          </a:bodyPr>
          <a:lstStyle/>
          <a:p>
            <a:r>
              <a:rPr sz="1150" b="0">
                <a:solidFill>
                  <a:srgbClr val="2E2E2E"/>
                </a:solidFill>
                <a:latin typeface="Calibri"/>
              </a:rPr>
              <a:t>▪ Canada (</a:t>
            </a:r>
          </a:p>
        </p:txBody>
      </p:sp>
      <p:pic>
        <p:nvPicPr>
          <p:cNvPr id="53" name="Picture 52" descr="lock.png"/>
          <p:cNvPicPr>
            <a:picLocks noChangeAspect="1"/>
          </p:cNvPicPr>
          <p:nvPr/>
        </p:nvPicPr>
        <p:blipFill>
          <a:blip r:embed="rId5"/>
          <a:stretch>
            <a:fillRect/>
          </a:stretch>
        </p:blipFill>
        <p:spPr>
          <a:xfrm>
            <a:off x="904605" y="3532314"/>
            <a:ext cx="134549" cy="195707"/>
          </a:xfrm>
          <a:prstGeom prst="rect">
            <a:avLst/>
          </a:prstGeom>
        </p:spPr>
      </p:pic>
      <p:sp>
        <p:nvSpPr>
          <p:cNvPr id="54" name="TextBox 53"/>
          <p:cNvSpPr txBox="1"/>
          <p:nvPr/>
        </p:nvSpPr>
        <p:spPr>
          <a:xfrm>
            <a:off x="1079714" y="3542537"/>
            <a:ext cx="2362224" cy="194310"/>
          </a:xfrm>
          <a:prstGeom prst="rect">
            <a:avLst/>
          </a:prstGeom>
          <a:noFill/>
        </p:spPr>
        <p:txBody>
          <a:bodyPr wrap="none" lIns="0" rIns="0" tIns="0" bIns="0">
            <a:spAutoFit/>
          </a:bodyPr>
          <a:lstStyle/>
          <a:p>
            <a:r>
              <a:rPr sz="1150" b="0">
                <a:solidFill>
                  <a:srgbClr val="2E2E2E"/>
                </a:solidFill>
                <a:latin typeface="Calibri"/>
              </a:rPr>
              <a:t>) is a priority country for new capacity.</a:t>
            </a:r>
          </a:p>
        </p:txBody>
      </p:sp>
      <p:sp>
        <p:nvSpPr>
          <p:cNvPr id="55" name="TextBox 54"/>
          <p:cNvSpPr txBox="1"/>
          <p:nvPr/>
        </p:nvSpPr>
        <p:spPr>
          <a:xfrm>
            <a:off x="276225" y="3770375"/>
            <a:ext cx="2708808" cy="194310"/>
          </a:xfrm>
          <a:prstGeom prst="rect">
            <a:avLst/>
          </a:prstGeom>
          <a:noFill/>
        </p:spPr>
        <p:txBody>
          <a:bodyPr wrap="none" lIns="0" rIns="0" tIns="0" bIns="0">
            <a:spAutoFit/>
          </a:bodyPr>
          <a:lstStyle/>
          <a:p>
            <a:r>
              <a:rPr sz="1150" b="0">
                <a:solidFill>
                  <a:srgbClr val="2E2E2E"/>
                </a:solidFill>
                <a:latin typeface="Calibri"/>
              </a:rPr>
              <a:t>▪ Scale players anchor around 'Cut Flowers' (</a:t>
            </a:r>
          </a:p>
        </p:txBody>
      </p:sp>
      <p:pic>
        <p:nvPicPr>
          <p:cNvPr id="56" name="Picture 55" descr="lock.png"/>
          <p:cNvPicPr>
            <a:picLocks noChangeAspect="1"/>
          </p:cNvPicPr>
          <p:nvPr/>
        </p:nvPicPr>
        <p:blipFill>
          <a:blip r:embed="rId5"/>
          <a:stretch>
            <a:fillRect/>
          </a:stretch>
        </p:blipFill>
        <p:spPr>
          <a:xfrm>
            <a:off x="2934187" y="3760152"/>
            <a:ext cx="134549" cy="195707"/>
          </a:xfrm>
          <a:prstGeom prst="rect">
            <a:avLst/>
          </a:prstGeom>
        </p:spPr>
      </p:pic>
      <p:sp>
        <p:nvSpPr>
          <p:cNvPr id="57" name="TextBox 56"/>
          <p:cNvSpPr txBox="1"/>
          <p:nvPr/>
        </p:nvSpPr>
        <p:spPr>
          <a:xfrm>
            <a:off x="3109296"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8" name="TextBox 57"/>
          <p:cNvSpPr txBox="1"/>
          <p:nvPr/>
        </p:nvSpPr>
        <p:spPr>
          <a:xfrm>
            <a:off x="6305550" y="3314700"/>
            <a:ext cx="4609455" cy="194310"/>
          </a:xfrm>
          <a:prstGeom prst="rect">
            <a:avLst/>
          </a:prstGeom>
          <a:noFill/>
        </p:spPr>
        <p:txBody>
          <a:bodyPr wrap="none" lIns="0" rIns="0" tIns="0" bIns="0">
            <a:spAutoFit/>
          </a:bodyPr>
          <a:lstStyle/>
          <a:p>
            <a:r>
              <a:rPr sz="1150" b="0">
                <a:solidFill>
                  <a:srgbClr val="2E2E2E"/>
                </a:solidFill>
                <a:latin typeface="Calibri"/>
              </a:rPr>
              <a:t>▪ R&amp;D aligns with the migration to 'Cut Flowers' and adjacent premium tiers.</a:t>
            </a:r>
          </a:p>
        </p:txBody>
      </p:sp>
      <p:sp>
        <p:nvSpPr>
          <p:cNvPr id="59" name="TextBox 58"/>
          <p:cNvSpPr txBox="1"/>
          <p:nvPr/>
        </p:nvSpPr>
        <p:spPr>
          <a:xfrm>
            <a:off x="6305550" y="3542537"/>
            <a:ext cx="4603179" cy="194310"/>
          </a:xfrm>
          <a:prstGeom prst="rect">
            <a:avLst/>
          </a:prstGeom>
          <a:noFill/>
        </p:spPr>
        <p:txBody>
          <a:bodyPr wrap="none" lIns="0" rIns="0" tIns="0" bIns="0">
            <a:spAutoFit/>
          </a:bodyPr>
          <a:lstStyle/>
          <a:p>
            <a:r>
              <a:rPr sz="1150" b="0">
                <a:solidFill>
                  <a:srgbClr val="2E2E2E"/>
                </a:solidFill>
                <a:latin typeface="Calibri"/>
              </a:rPr>
              <a:t>▪ Development spend targets product type categories gaining share to 2036.</a:t>
            </a:r>
          </a:p>
        </p:txBody>
      </p:sp>
      <p:sp>
        <p:nvSpPr>
          <p:cNvPr id="60" name="TextBox 59"/>
          <p:cNvSpPr txBox="1"/>
          <p:nvPr/>
        </p:nvSpPr>
        <p:spPr>
          <a:xfrm>
            <a:off x="6305550" y="3770375"/>
            <a:ext cx="1663352" cy="194310"/>
          </a:xfrm>
          <a:prstGeom prst="rect">
            <a:avLst/>
          </a:prstGeom>
          <a:noFill/>
        </p:spPr>
        <p:txBody>
          <a:bodyPr wrap="none" lIns="0" rIns="0" t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rIns="0" t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'Cut Flowers' tier and Online / E-commerce within distribution channel.</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954041" cy="194310"/>
          </a:xfrm>
          <a:prstGeom prst="rect">
            <a:avLst/>
          </a:prstGeom>
          <a:noFill/>
        </p:spPr>
        <p:txBody>
          <a:bodyPr wrap="none" lIns="0" rIns="0" tIns="0" bIns="0">
            <a:spAutoFit/>
          </a:bodyPr>
          <a:lstStyle/>
          <a:p>
            <a:r>
              <a:rPr sz="1150" b="0">
                <a:solidFill>
                  <a:srgbClr val="2E2E2E"/>
                </a:solidFill>
                <a:latin typeface="Calibri"/>
              </a:rPr>
              <a:t>▪ Balance scale in 'Cut Flowers' with targeted growth in 'Cut Flowers', pursuing the</a:t>
            </a:r>
          </a:p>
        </p:txBody>
      </p:sp>
      <p:pic>
        <p:nvPicPr>
          <p:cNvPr id="32" name="Picture 31" descr="lock.png"/>
          <p:cNvPicPr>
            <a:picLocks noChangeAspect="1"/>
          </p:cNvPicPr>
          <p:nvPr/>
        </p:nvPicPr>
        <p:blipFill>
          <a:blip r:embed="rId4"/>
          <a:stretch>
            <a:fillRect/>
          </a:stretch>
        </p:blipFill>
        <p:spPr>
          <a:xfrm>
            <a:off x="5179420" y="1389951"/>
            <a:ext cx="134549" cy="195707"/>
          </a:xfrm>
          <a:prstGeom prst="rect">
            <a:avLst/>
          </a:prstGeom>
        </p:spPr>
      </p:pic>
      <p:sp>
        <p:nvSpPr>
          <p:cNvPr id="33" name="TextBox 32"/>
          <p:cNvSpPr txBox="1"/>
          <p:nvPr/>
        </p:nvSpPr>
        <p:spPr>
          <a:xfrm>
            <a:off x="5354530" y="1400175"/>
            <a:ext cx="409929"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4" name="TextBox 33"/>
          <p:cNvSpPr txBox="1"/>
          <p:nvPr/>
        </p:nvSpPr>
        <p:spPr>
          <a:xfrm>
            <a:off x="276225" y="1575435"/>
            <a:ext cx="1184981" cy="194310"/>
          </a:xfrm>
          <a:prstGeom prst="rect">
            <a:avLst/>
          </a:prstGeom>
          <a:noFill/>
        </p:spPr>
        <p:txBody>
          <a:bodyPr wrap="none" lIns="0" rIns="0" tIns="0" bIns="0">
            <a:spAutoFit/>
          </a:bodyPr>
          <a:lstStyle/>
          <a:p>
            <a:r>
              <a:rPr sz="1150" b="0">
                <a:solidFill>
                  <a:srgbClr val="2E2E2E"/>
                </a:solidFill>
                <a:latin typeface="Calibri"/>
              </a:rPr>
              <a:t>trajectory to 2036.</a:t>
            </a:r>
          </a:p>
        </p:txBody>
      </p:sp>
      <p:sp>
        <p:nvSpPr>
          <p:cNvPr id="35" name="TextBox 34"/>
          <p:cNvSpPr txBox="1"/>
          <p:nvPr/>
        </p:nvSpPr>
        <p:spPr>
          <a:xfrm>
            <a:off x="276225" y="3276600"/>
            <a:ext cx="1570074" cy="194310"/>
          </a:xfrm>
          <a:prstGeom prst="rect">
            <a:avLst/>
          </a:prstGeom>
          <a:noFill/>
        </p:spPr>
        <p:txBody>
          <a:bodyPr wrap="none" lIns="0" rIns="0" tIns="0" bIns="0">
            <a:spAutoFit/>
          </a:bodyPr>
          <a:lstStyle/>
          <a:p>
            <a:r>
              <a:rPr sz="1150" b="0">
                <a:solidFill>
                  <a:srgbClr val="2E2E2E"/>
                </a:solidFill>
                <a:latin typeface="Calibri"/>
              </a:rPr>
              <a:t>▪ Prioritise 'Cut Flowers' (</a:t>
            </a:r>
          </a:p>
        </p:txBody>
      </p:sp>
      <p:pic>
        <p:nvPicPr>
          <p:cNvPr id="36" name="Picture 35" descr="lock.png"/>
          <p:cNvPicPr>
            <a:picLocks noChangeAspect="1"/>
          </p:cNvPicPr>
          <p:nvPr/>
        </p:nvPicPr>
        <p:blipFill>
          <a:blip r:embed="rId4"/>
          <a:stretch>
            <a:fillRect/>
          </a:stretch>
        </p:blipFill>
        <p:spPr>
          <a:xfrm>
            <a:off x="1795453" y="3266376"/>
            <a:ext cx="134549" cy="195707"/>
          </a:xfrm>
          <a:prstGeom prst="rect">
            <a:avLst/>
          </a:prstGeom>
        </p:spPr>
      </p:pic>
      <p:sp>
        <p:nvSpPr>
          <p:cNvPr id="37" name="TextBox 36"/>
          <p:cNvSpPr txBox="1"/>
          <p:nvPr/>
        </p:nvSpPr>
        <p:spPr>
          <a:xfrm>
            <a:off x="1970562" y="3276600"/>
            <a:ext cx="1460251" cy="194310"/>
          </a:xfrm>
          <a:prstGeom prst="rect">
            <a:avLst/>
          </a:prstGeom>
          <a:noFill/>
        </p:spPr>
        <p:txBody>
          <a:bodyPr wrap="none" lIns="0" rIns="0" tIns="0" bIns="0">
            <a:spAutoFit/>
          </a:bodyPr>
          <a:lstStyle/>
          <a:p>
            <a:r>
              <a:rPr sz="1150" b="0">
                <a:solidFill>
                  <a:srgbClr val="2E2E2E"/>
                </a:solidFill>
                <a:latin typeface="Calibri"/>
              </a:rPr>
              <a:t>); 'Cut Flowers' anchors</a:t>
            </a:r>
          </a:p>
        </p:txBody>
      </p:sp>
      <p:pic>
        <p:nvPicPr>
          <p:cNvPr id="38" name="Picture 37" descr="lock.png"/>
          <p:cNvPicPr>
            <a:picLocks noChangeAspect="1"/>
          </p:cNvPicPr>
          <p:nvPr/>
        </p:nvPicPr>
        <p:blipFill>
          <a:blip r:embed="rId4"/>
          <a:stretch>
            <a:fillRect/>
          </a:stretch>
        </p:blipFill>
        <p:spPr>
          <a:xfrm>
            <a:off x="3379968" y="3266376"/>
            <a:ext cx="134549" cy="195707"/>
          </a:xfrm>
          <a:prstGeom prst="rect">
            <a:avLst/>
          </a:prstGeom>
        </p:spPr>
      </p:pic>
      <p:sp>
        <p:nvSpPr>
          <p:cNvPr id="39" name="TextBox 38"/>
          <p:cNvSpPr txBox="1"/>
          <p:nvPr/>
        </p:nvSpPr>
        <p:spPr>
          <a:xfrm>
            <a:off x="3555078"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7660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1" name="Picture 40" descr="lock.png"/>
          <p:cNvPicPr>
            <a:picLocks noChangeAspect="1"/>
          </p:cNvPicPr>
          <p:nvPr/>
        </p:nvPicPr>
        <p:blipFill>
          <a:blip r:embed="rId4"/>
          <a:stretch>
            <a:fillRect/>
          </a:stretch>
        </p:blipFill>
        <p:spPr>
          <a:xfrm>
            <a:off x="7338135" y="3266376"/>
            <a:ext cx="134549" cy="195707"/>
          </a:xfrm>
          <a:prstGeom prst="rect">
            <a:avLst/>
          </a:prstGeom>
        </p:spPr>
      </p:pic>
      <p:sp>
        <p:nvSpPr>
          <p:cNvPr id="42" name="TextBox 41"/>
          <p:cNvSpPr txBox="1"/>
          <p:nvPr/>
        </p:nvSpPr>
        <p:spPr>
          <a:xfrm>
            <a:off x="7513244" y="327660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3" name="Picture 42" descr="lock.png"/>
          <p:cNvPicPr>
            <a:picLocks noChangeAspect="1"/>
          </p:cNvPicPr>
          <p:nvPr/>
        </p:nvPicPr>
        <p:blipFill>
          <a:blip r:embed="rId4"/>
          <a:stretch>
            <a:fillRect/>
          </a:stretch>
        </p:blipFill>
        <p:spPr>
          <a:xfrm>
            <a:off x="9234718" y="3266376"/>
            <a:ext cx="134549" cy="195707"/>
          </a:xfrm>
          <a:prstGeom prst="rect">
            <a:avLst/>
          </a:prstGeom>
        </p:spPr>
      </p:pic>
      <p:sp>
        <p:nvSpPr>
          <p:cNvPr id="44" name="TextBox 43"/>
          <p:cNvSpPr txBox="1"/>
          <p:nvPr/>
        </p:nvSpPr>
        <p:spPr>
          <a:xfrm>
            <a:off x="9409827"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4972050"/>
            <a:ext cx="1158738" cy="194310"/>
          </a:xfrm>
          <a:prstGeom prst="rect">
            <a:avLst/>
          </a:prstGeom>
          <a:noFill/>
        </p:spPr>
        <p:txBody>
          <a:bodyPr wrap="none" lIns="0" rIns="0" tIns="0" bIns="0">
            <a:spAutoFit/>
          </a:bodyPr>
          <a:lstStyle/>
          <a:p>
            <a:r>
              <a:rPr sz="1150" b="0">
                <a:solidFill>
                  <a:srgbClr val="2E2E2E"/>
                </a:solidFill>
                <a:latin typeface="Calibri"/>
              </a:rPr>
              <a:t>▪ Floriculture adds</a:t>
            </a:r>
          </a:p>
        </p:txBody>
      </p:sp>
      <p:pic>
        <p:nvPicPr>
          <p:cNvPr id="46" name="Picture 45" descr="lock.png"/>
          <p:cNvPicPr>
            <a:picLocks noChangeAspect="1"/>
          </p:cNvPicPr>
          <p:nvPr/>
        </p:nvPicPr>
        <p:blipFill>
          <a:blip r:embed="rId4"/>
          <a:stretch>
            <a:fillRect/>
          </a:stretch>
        </p:blipFill>
        <p:spPr>
          <a:xfrm>
            <a:off x="1384117" y="4961826"/>
            <a:ext cx="134549" cy="195707"/>
          </a:xfrm>
          <a:prstGeom prst="rect">
            <a:avLst/>
          </a:prstGeom>
        </p:spPr>
      </p:pic>
      <p:sp>
        <p:nvSpPr>
          <p:cNvPr id="47" name="TextBox 46"/>
          <p:cNvSpPr txBox="1"/>
          <p:nvPr/>
        </p:nvSpPr>
        <p:spPr>
          <a:xfrm>
            <a:off x="1559226"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3323488" y="4961826"/>
            <a:ext cx="134549" cy="195707"/>
          </a:xfrm>
          <a:prstGeom prst="rect">
            <a:avLst/>
          </a:prstGeom>
        </p:spPr>
      </p:pic>
      <p:sp>
        <p:nvSpPr>
          <p:cNvPr id="49" name="TextBox 48"/>
          <p:cNvSpPr txBox="1"/>
          <p:nvPr/>
        </p:nvSpPr>
        <p:spPr>
          <a:xfrm>
            <a:off x="3498597"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199888"/>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1" name="TextBox 50"/>
          <p:cNvSpPr txBox="1"/>
          <p:nvPr/>
        </p:nvSpPr>
        <p:spPr>
          <a:xfrm>
            <a:off x="276225" y="5427725"/>
            <a:ext cx="4061482" cy="194310"/>
          </a:xfrm>
          <a:prstGeom prst="rect">
            <a:avLst/>
          </a:prstGeom>
          <a:noFill/>
        </p:spPr>
        <p:txBody>
          <a:bodyPr wrap="none" lIns="0" rIns="0" tIns="0" bIns="0">
            <a:spAutoFit/>
          </a:bodyPr>
          <a:lstStyle/>
          <a:p>
            <a:r>
              <a:rPr sz="1150" b="0">
                <a:solidFill>
                  <a:srgbClr val="2E2E2E"/>
                </a:solidFill>
                <a:latin typeface="Calibri"/>
              </a:rPr>
              <a:t>▪ Defend share in 'Cut Flowers' as the value anchor of the portfolio.</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Floriculture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40138"/>
            <a:ext cx="635826" cy="865162"/>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97606"/>
            <a:ext cx="635826" cy="1207694"/>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58561"/>
            <a:ext cx="635826" cy="1346739"/>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64256"/>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59481"/>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707081"/>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602306"/>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49906"/>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45131"/>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Floriculture Market Attractiveness Analysis By Region, 2026–2036</a:t>
            </a:r>
          </a:p>
        </p:txBody>
      </p:sp>
      <p:graphicFrame>
        <p:nvGraphicFramePr>
          <p:cNvPr id="36" name="Chart 35"/>
          <p:cNvGraphicFramePr>
            <a:graphicFrameLocks noGrp="1"/>
          </p:cNvGraphicFramePr>
          <p:nvPr/>
        </p:nvGraphicFramePr>
        <p:xfrm>
          <a:off x="6267450" y="2095500"/>
          <a:ext cx="5686425" cy="266700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9384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85632"/>
            <a:ext cx="108107" cy="157246"/>
          </a:xfrm>
          <a:prstGeom prst="rect">
            <a:avLst/>
          </a:prstGeom>
        </p:spPr>
      </p:pic>
      <p:sp>
        <p:nvSpPr>
          <p:cNvPr id="56" name="TextBox 55"/>
          <p:cNvSpPr txBox="1"/>
          <p:nvPr/>
        </p:nvSpPr>
        <p:spPr>
          <a:xfrm>
            <a:off x="2032418" y="263667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28457"/>
            <a:ext cx="108107" cy="157246"/>
          </a:xfrm>
          <a:prstGeom prst="rect">
            <a:avLst/>
          </a:prstGeom>
        </p:spPr>
      </p:pic>
      <p:sp>
        <p:nvSpPr>
          <p:cNvPr id="58" name="TextBox 57"/>
          <p:cNvSpPr txBox="1"/>
          <p:nvPr/>
        </p:nvSpPr>
        <p:spPr>
          <a:xfrm>
            <a:off x="2032418" y="237949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71282"/>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095500"/>
            <a:ext cx="5686425" cy="2667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Floriculture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4"/>
          <a:stretch>
            <a:fillRect/>
          </a:stretch>
        </p:blipFill>
        <p:spPr>
          <a:xfrm>
            <a:off x="4250888" y="2339922"/>
            <a:ext cx="175498" cy="255270"/>
          </a:xfrm>
          <a:prstGeom prst="rect">
            <a:avLst/>
          </a:prstGeom>
        </p:spPr>
      </p:pic>
      <p:pic>
        <p:nvPicPr>
          <p:cNvPr id="50" name="Picture 49" descr="lock.png"/>
          <p:cNvPicPr>
            <a:picLocks noChangeAspect="1"/>
          </p:cNvPicPr>
          <p:nvPr/>
        </p:nvPicPr>
        <p:blipFill>
          <a:blip r:embed="rId4"/>
          <a:stretch>
            <a:fillRect/>
          </a:stretch>
        </p:blipFill>
        <p:spPr>
          <a:xfrm>
            <a:off x="4250888" y="283277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332562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23399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83277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3325622"/>
            <a:ext cx="175498" cy="255270"/>
          </a:xfrm>
          <a:prstGeom prst="rect">
            <a:avLst/>
          </a:prstGeom>
        </p:spPr>
      </p:pic>
      <p:sp>
        <p:nvSpPr>
          <p:cNvPr id="55" name="TextBox 54"/>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The U.S. floriculture market is projected to register</a:t>
            </a:r>
          </a:p>
        </p:txBody>
      </p:sp>
      <p:pic>
        <p:nvPicPr>
          <p:cNvPr id="56" name="Picture 55" descr="lock.png"/>
          <p:cNvPicPr>
            <a:picLocks noChangeAspect="1"/>
          </p:cNvPicPr>
          <p:nvPr/>
        </p:nvPicPr>
        <p:blipFill>
          <a:blip r:embed="rId4"/>
          <a:stretch>
            <a:fillRect/>
          </a:stretch>
        </p:blipFill>
        <p:spPr>
          <a:xfrm>
            <a:off x="472307" y="4387298"/>
            <a:ext cx="128699" cy="187198"/>
          </a:xfrm>
          <a:prstGeom prst="rect">
            <a:avLst/>
          </a:prstGeom>
        </p:spPr>
      </p:pic>
      <p:sp>
        <p:nvSpPr>
          <p:cNvPr id="57" name="TextBox 56"/>
          <p:cNvSpPr txBox="1"/>
          <p:nvPr/>
        </p:nvSpPr>
        <p:spPr>
          <a:xfrm>
            <a:off x="639803" y="4397077"/>
            <a:ext cx="2550690" cy="186689"/>
          </a:xfrm>
          <a:prstGeom prst="rect">
            <a:avLst/>
          </a:prstGeom>
          <a:noFill/>
        </p:spPr>
        <p:txBody>
          <a:bodyPr wrap="none" lIns="0" rIns="0" tIns="0" bIns="0">
            <a:spAutoFit/>
          </a:bodyPr>
          <a:lstStyle/>
          <a:p>
            <a:r>
              <a:rPr sz="1100" b="0">
                <a:solidFill>
                  <a:srgbClr val="2E2E2E"/>
                </a:solidFill>
                <a:latin typeface="Calibri"/>
              </a:rPr>
              <a:t>X higher value than Canada in 2036. Among</a:t>
            </a:r>
          </a:p>
        </p:txBody>
      </p:sp>
      <p:sp>
        <p:nvSpPr>
          <p:cNvPr id="58" name="TextBox 57"/>
          <p:cNvSpPr txBox="1"/>
          <p:nvPr/>
        </p:nvSpPr>
        <p:spPr>
          <a:xfrm>
            <a:off x="485775" y="4564717"/>
            <a:ext cx="2660922" cy="186689"/>
          </a:xfrm>
          <a:prstGeom prst="rect">
            <a:avLst/>
          </a:prstGeom>
          <a:noFill/>
        </p:spPr>
        <p:txBody>
          <a:bodyPr wrap="none" lIns="0" rIns="0" tIns="0" bIns="0">
            <a:spAutoFit/>
          </a:bodyPr>
          <a:lstStyle/>
          <a:p>
            <a:r>
              <a:rPr sz="1100" b="0">
                <a:solidFill>
                  <a:srgbClr val="2E2E2E"/>
                </a:solidFill>
                <a:latin typeface="Calibri"/>
              </a:rPr>
              <a:t>floriculture by country, Canada is expected to</a:t>
            </a:r>
          </a:p>
        </p:txBody>
      </p:sp>
      <p:sp>
        <p:nvSpPr>
          <p:cNvPr id="59" name="TextBox 58"/>
          <p:cNvSpPr txBox="1"/>
          <p:nvPr/>
        </p:nvSpPr>
        <p:spPr>
          <a:xfrm>
            <a:off x="485775" y="473235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60" name="Picture 59" descr="lock.png"/>
          <p:cNvPicPr>
            <a:picLocks noChangeAspect="1"/>
          </p:cNvPicPr>
          <p:nvPr/>
        </p:nvPicPr>
        <p:blipFill>
          <a:blip r:embed="rId4"/>
          <a:stretch>
            <a:fillRect/>
          </a:stretch>
        </p:blipFill>
        <p:spPr>
          <a:xfrm>
            <a:off x="2108919" y="4722578"/>
            <a:ext cx="128699" cy="187198"/>
          </a:xfrm>
          <a:prstGeom prst="rect">
            <a:avLst/>
          </a:prstGeom>
        </p:spPr>
      </p:pic>
      <p:sp>
        <p:nvSpPr>
          <p:cNvPr id="61" name="TextBox 60"/>
          <p:cNvSpPr txBox="1"/>
          <p:nvPr/>
        </p:nvSpPr>
        <p:spPr>
          <a:xfrm>
            <a:off x="2276415" y="473235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2" name="TextBox 61"/>
          <p:cNvSpPr txBox="1"/>
          <p:nvPr/>
        </p:nvSpPr>
        <p:spPr>
          <a:xfrm>
            <a:off x="485775" y="489999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63" name="TextBox 62"/>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4" name="TextBox 63"/>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5" name="Picture 64" descr="lock.png"/>
          <p:cNvPicPr>
            <a:picLocks noChangeAspect="1"/>
          </p:cNvPicPr>
          <p:nvPr/>
        </p:nvPicPr>
        <p:blipFill>
          <a:blip r:embed="rId4"/>
          <a:stretch>
            <a:fillRect/>
          </a:stretch>
        </p:blipFill>
        <p:spPr>
          <a:xfrm>
            <a:off x="2268827" y="5275790"/>
            <a:ext cx="128699" cy="187198"/>
          </a:xfrm>
          <a:prstGeom prst="rect">
            <a:avLst/>
          </a:prstGeom>
        </p:spPr>
      </p:pic>
      <p:sp>
        <p:nvSpPr>
          <p:cNvPr id="66" name="TextBox 65"/>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7" name="TextBox 66"/>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8" name="Picture 67" descr="lock.png"/>
          <p:cNvPicPr>
            <a:picLocks noChangeAspect="1"/>
          </p:cNvPicPr>
          <p:nvPr/>
        </p:nvPicPr>
        <p:blipFill>
          <a:blip r:embed="rId4"/>
          <a:stretch>
            <a:fillRect/>
          </a:stretch>
        </p:blipFill>
        <p:spPr>
          <a:xfrm>
            <a:off x="1330764" y="5443430"/>
            <a:ext cx="128699" cy="187198"/>
          </a:xfrm>
          <a:prstGeom prst="rect">
            <a:avLst/>
          </a:prstGeom>
        </p:spPr>
      </p:pic>
      <p:sp>
        <p:nvSpPr>
          <p:cNvPr id="69" name="TextBox 68"/>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1" name="Picture 70" descr="lock.png"/>
          <p:cNvPicPr>
            <a:picLocks noChangeAspect="1"/>
          </p:cNvPicPr>
          <p:nvPr/>
        </p:nvPicPr>
        <p:blipFill>
          <a:blip r:embed="rId4"/>
          <a:stretch>
            <a:fillRect/>
          </a:stretch>
        </p:blipFill>
        <p:spPr>
          <a:xfrm>
            <a:off x="4240453" y="4219658"/>
            <a:ext cx="128699" cy="187198"/>
          </a:xfrm>
          <a:prstGeom prst="rect">
            <a:avLst/>
          </a:prstGeom>
        </p:spPr>
      </p:pic>
      <p:sp>
        <p:nvSpPr>
          <p:cNvPr id="72" name="TextBox 71"/>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3" name="Picture 72" descr="lock.png"/>
          <p:cNvPicPr>
            <a:picLocks noChangeAspect="1"/>
          </p:cNvPicPr>
          <p:nvPr/>
        </p:nvPicPr>
        <p:blipFill>
          <a:blip r:embed="rId4"/>
          <a:stretch>
            <a:fillRect/>
          </a:stretch>
        </p:blipFill>
        <p:spPr>
          <a:xfrm>
            <a:off x="5267399" y="4219658"/>
            <a:ext cx="128699" cy="187198"/>
          </a:xfrm>
          <a:prstGeom prst="rect">
            <a:avLst/>
          </a:prstGeom>
        </p:spPr>
      </p:pic>
      <p:sp>
        <p:nvSpPr>
          <p:cNvPr id="74" name="TextBox 73"/>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5" name="TextBox 74"/>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6" name="Picture 75" descr="lock.png"/>
          <p:cNvPicPr>
            <a:picLocks noChangeAspect="1"/>
          </p:cNvPicPr>
          <p:nvPr/>
        </p:nvPicPr>
        <p:blipFill>
          <a:blip r:embed="rId4"/>
          <a:stretch>
            <a:fillRect/>
          </a:stretch>
        </p:blipFill>
        <p:spPr>
          <a:xfrm>
            <a:off x="4437997" y="4437590"/>
            <a:ext cx="128699" cy="187198"/>
          </a:xfrm>
          <a:prstGeom prst="rect">
            <a:avLst/>
          </a:prstGeom>
        </p:spPr>
      </p:pic>
      <p:sp>
        <p:nvSpPr>
          <p:cNvPr id="77" name="TextBox 76"/>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4"/>
          <a:stretch>
            <a:fillRect/>
          </a:stretch>
        </p:blipFill>
        <p:spPr>
          <a:xfrm>
            <a:off x="5464943" y="4437590"/>
            <a:ext cx="128699" cy="187198"/>
          </a:xfrm>
          <a:prstGeom prst="rect">
            <a:avLst/>
          </a:prstGeom>
        </p:spPr>
      </p:pic>
      <p:sp>
        <p:nvSpPr>
          <p:cNvPr id="79" name="TextBox 78"/>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0" name="TextBox 79"/>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1" name="TextBox 80"/>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2" name="Picture 81" descr="lock.png"/>
          <p:cNvPicPr>
            <a:picLocks noChangeAspect="1"/>
          </p:cNvPicPr>
          <p:nvPr/>
        </p:nvPicPr>
        <p:blipFill>
          <a:blip r:embed="rId4"/>
          <a:stretch>
            <a:fillRect/>
          </a:stretch>
        </p:blipFill>
        <p:spPr>
          <a:xfrm>
            <a:off x="9048826" y="6007677"/>
            <a:ext cx="134549" cy="195707"/>
          </a:xfrm>
          <a:prstGeom prst="rect">
            <a:avLst/>
          </a:prstGeom>
        </p:spPr>
      </p:pic>
      <p:sp>
        <p:nvSpPr>
          <p:cNvPr id="83" name="TextBox 82"/>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Analysis, By Country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325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6614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096753" cy="194310"/>
          </a:xfrm>
          <a:prstGeom prst="rect">
            <a:avLst/>
          </a:prstGeom>
          <a:noFill/>
        </p:spPr>
        <p:txBody>
          <a:bodyPr wrap="none" lIns="0" rIns="0" tIns="0" bIns="0">
            <a:spAutoFit/>
          </a:bodyPr>
          <a:lstStyle/>
          <a:p>
            <a:r>
              <a:rPr sz="1150" b="0">
                <a:solidFill>
                  <a:srgbClr val="2E2E2E"/>
                </a:solidFill>
                <a:latin typeface="Calibri"/>
              </a:rPr>
              <a:t>The U.S. floriculture market is projected to register</a:t>
            </a:r>
          </a:p>
        </p:txBody>
      </p:sp>
      <p:pic>
        <p:nvPicPr>
          <p:cNvPr id="36" name="Picture 35" descr="lock.png"/>
          <p:cNvPicPr>
            <a:picLocks noChangeAspect="1"/>
          </p:cNvPicPr>
          <p:nvPr/>
        </p:nvPicPr>
        <p:blipFill>
          <a:blip r:embed="rId5"/>
          <a:stretch>
            <a:fillRect/>
          </a:stretch>
        </p:blipFill>
        <p:spPr>
          <a:xfrm>
            <a:off x="10284907" y="1389951"/>
            <a:ext cx="134549" cy="195707"/>
          </a:xfrm>
          <a:prstGeom prst="rect">
            <a:avLst/>
          </a:prstGeom>
        </p:spPr>
      </p:pic>
      <p:sp>
        <p:nvSpPr>
          <p:cNvPr id="37" name="TextBox 36"/>
          <p:cNvSpPr txBox="1"/>
          <p:nvPr/>
        </p:nvSpPr>
        <p:spPr>
          <a:xfrm>
            <a:off x="10460016" y="1400175"/>
            <a:ext cx="1346150" cy="194310"/>
          </a:xfrm>
          <a:prstGeom prst="rect">
            <a:avLst/>
          </a:prstGeom>
          <a:noFill/>
        </p:spPr>
        <p:txBody>
          <a:bodyPr wrap="none" lIns="0" rIns="0" tIns="0" bIns="0">
            <a:spAutoFit/>
          </a:bodyPr>
          <a:lstStyle/>
          <a:p>
            <a:r>
              <a:rPr sz="1150" b="0">
                <a:solidFill>
                  <a:srgbClr val="2E2E2E"/>
                </a:solidFill>
                <a:latin typeface="Calibri"/>
              </a:rPr>
              <a:t>X higher volume than</a:t>
            </a:r>
          </a:p>
        </p:txBody>
      </p:sp>
      <p:sp>
        <p:nvSpPr>
          <p:cNvPr id="38" name="TextBox 37"/>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Canada in 2036. Among floriculture by country, Canada is expected to witness</a:t>
            </a:r>
          </a:p>
        </p:txBody>
      </p:sp>
      <p:sp>
        <p:nvSpPr>
          <p:cNvPr id="39" name="TextBox 38"/>
          <p:cNvSpPr txBox="1"/>
          <p:nvPr/>
        </p:nvSpPr>
        <p:spPr>
          <a:xfrm>
            <a:off x="7239000" y="175069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40" name="Picture 39" descr="lock.png"/>
          <p:cNvPicPr>
            <a:picLocks noChangeAspect="1"/>
          </p:cNvPicPr>
          <p:nvPr/>
        </p:nvPicPr>
        <p:blipFill>
          <a:blip r:embed="rId5"/>
          <a:stretch>
            <a:fillRect/>
          </a:stretch>
        </p:blipFill>
        <p:spPr>
          <a:xfrm>
            <a:off x="8452133" y="1740471"/>
            <a:ext cx="134549" cy="195707"/>
          </a:xfrm>
          <a:prstGeom prst="rect">
            <a:avLst/>
          </a:prstGeom>
        </p:spPr>
      </p:pic>
      <p:sp>
        <p:nvSpPr>
          <p:cNvPr id="41" name="TextBox 40"/>
          <p:cNvSpPr txBox="1"/>
          <p:nvPr/>
        </p:nvSpPr>
        <p:spPr>
          <a:xfrm>
            <a:off x="8627242"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239000" y="197853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3" name="TextBox 42"/>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4" name="Picture 43" descr="lock.png"/>
          <p:cNvPicPr>
            <a:picLocks noChangeAspect="1"/>
          </p:cNvPicPr>
          <p:nvPr/>
        </p:nvPicPr>
        <p:blipFill>
          <a:blip r:embed="rId5"/>
          <a:stretch>
            <a:fillRect/>
          </a:stretch>
        </p:blipFill>
        <p:spPr>
          <a:xfrm>
            <a:off x="8106708" y="2143569"/>
            <a:ext cx="134549" cy="195707"/>
          </a:xfrm>
          <a:prstGeom prst="rect">
            <a:avLst/>
          </a:prstGeom>
        </p:spPr>
      </p:pic>
      <p:sp>
        <p:nvSpPr>
          <p:cNvPr id="45" name="TextBox 44"/>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6" name="Picture 45" descr="lock.png"/>
          <p:cNvPicPr>
            <a:picLocks noChangeAspect="1"/>
          </p:cNvPicPr>
          <p:nvPr/>
        </p:nvPicPr>
        <p:blipFill>
          <a:blip r:embed="rId5"/>
          <a:stretch>
            <a:fillRect/>
          </a:stretch>
        </p:blipFill>
        <p:spPr>
          <a:xfrm>
            <a:off x="9676961" y="2143569"/>
            <a:ext cx="134549" cy="195707"/>
          </a:xfrm>
          <a:prstGeom prst="rect">
            <a:avLst/>
          </a:prstGeom>
        </p:spPr>
      </p:pic>
      <p:sp>
        <p:nvSpPr>
          <p:cNvPr id="47" name="TextBox 46"/>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5936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546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7840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403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929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881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8119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738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096753" cy="194310"/>
          </a:xfrm>
          <a:prstGeom prst="rect">
            <a:avLst/>
          </a:prstGeom>
          <a:noFill/>
        </p:spPr>
        <p:txBody>
          <a:bodyPr wrap="none" lIns="0" rIns="0" tIns="0" bIns="0">
            <a:spAutoFit/>
          </a:bodyPr>
          <a:lstStyle/>
          <a:p>
            <a:r>
              <a:rPr sz="1150" b="0">
                <a:solidFill>
                  <a:srgbClr val="2E2E2E"/>
                </a:solidFill>
                <a:latin typeface="Calibri"/>
              </a:rPr>
              <a:t>The U.S. floriculture market is projected to register</a:t>
            </a:r>
          </a:p>
        </p:txBody>
      </p:sp>
      <p:pic>
        <p:nvPicPr>
          <p:cNvPr id="36" name="Picture 35" descr="lock.png"/>
          <p:cNvPicPr>
            <a:picLocks noChangeAspect="1"/>
          </p:cNvPicPr>
          <p:nvPr/>
        </p:nvPicPr>
        <p:blipFill>
          <a:blip r:embed="rId5"/>
          <a:stretch>
            <a:fillRect/>
          </a:stretch>
        </p:blipFill>
        <p:spPr>
          <a:xfrm>
            <a:off x="10284907" y="1389951"/>
            <a:ext cx="134549" cy="195707"/>
          </a:xfrm>
          <a:prstGeom prst="rect">
            <a:avLst/>
          </a:prstGeom>
        </p:spPr>
      </p:pic>
      <p:sp>
        <p:nvSpPr>
          <p:cNvPr id="37" name="TextBox 36"/>
          <p:cNvSpPr txBox="1"/>
          <p:nvPr/>
        </p:nvSpPr>
        <p:spPr>
          <a:xfrm>
            <a:off x="10460016" y="1400175"/>
            <a:ext cx="1222350" cy="194310"/>
          </a:xfrm>
          <a:prstGeom prst="rect">
            <a:avLst/>
          </a:prstGeom>
          <a:noFill/>
        </p:spPr>
        <p:txBody>
          <a:bodyPr wrap="none" lIns="0" rIns="0" tIns="0" bIns="0">
            <a:spAutoFit/>
          </a:bodyPr>
          <a:lstStyle/>
          <a:p>
            <a:r>
              <a:rPr sz="1150" b="0">
                <a:solidFill>
                  <a:srgbClr val="2E2E2E"/>
                </a:solidFill>
                <a:latin typeface="Calibri"/>
              </a:rPr>
              <a:t>X higher value than</a:t>
            </a:r>
          </a:p>
        </p:txBody>
      </p:sp>
      <p:sp>
        <p:nvSpPr>
          <p:cNvPr id="38" name="TextBox 37"/>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Canada in 2036. Among floriculture by country, Canada is expected to witness</a:t>
            </a:r>
          </a:p>
        </p:txBody>
      </p:sp>
      <p:sp>
        <p:nvSpPr>
          <p:cNvPr id="39" name="TextBox 38"/>
          <p:cNvSpPr txBox="1"/>
          <p:nvPr/>
        </p:nvSpPr>
        <p:spPr>
          <a:xfrm>
            <a:off x="7239000" y="175069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40" name="Picture 39" descr="lock.png"/>
          <p:cNvPicPr>
            <a:picLocks noChangeAspect="1"/>
          </p:cNvPicPr>
          <p:nvPr/>
        </p:nvPicPr>
        <p:blipFill>
          <a:blip r:embed="rId5"/>
          <a:stretch>
            <a:fillRect/>
          </a:stretch>
        </p:blipFill>
        <p:spPr>
          <a:xfrm>
            <a:off x="8452133" y="1740471"/>
            <a:ext cx="134549" cy="195707"/>
          </a:xfrm>
          <a:prstGeom prst="rect">
            <a:avLst/>
          </a:prstGeom>
        </p:spPr>
      </p:pic>
      <p:sp>
        <p:nvSpPr>
          <p:cNvPr id="41" name="TextBox 40"/>
          <p:cNvSpPr txBox="1"/>
          <p:nvPr/>
        </p:nvSpPr>
        <p:spPr>
          <a:xfrm>
            <a:off x="8627242"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239000" y="197853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3" name="TextBox 42"/>
          <p:cNvSpPr txBox="1"/>
          <p:nvPr/>
        </p:nvSpPr>
        <p:spPr>
          <a:xfrm>
            <a:off x="7239000" y="215379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4" name="Picture 43" descr="lock.png"/>
          <p:cNvPicPr>
            <a:picLocks noChangeAspect="1"/>
          </p:cNvPicPr>
          <p:nvPr/>
        </p:nvPicPr>
        <p:blipFill>
          <a:blip r:embed="rId5"/>
          <a:stretch>
            <a:fillRect/>
          </a:stretch>
        </p:blipFill>
        <p:spPr>
          <a:xfrm>
            <a:off x="7611222" y="2143569"/>
            <a:ext cx="134549" cy="195707"/>
          </a:xfrm>
          <a:prstGeom prst="rect">
            <a:avLst/>
          </a:prstGeom>
        </p:spPr>
      </p:pic>
      <p:sp>
        <p:nvSpPr>
          <p:cNvPr id="45" name="TextBox 44"/>
          <p:cNvSpPr txBox="1"/>
          <p:nvPr/>
        </p:nvSpPr>
        <p:spPr>
          <a:xfrm>
            <a:off x="7786331"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6" name="Picture 45" descr="lock.png"/>
          <p:cNvPicPr>
            <a:picLocks noChangeAspect="1"/>
          </p:cNvPicPr>
          <p:nvPr/>
        </p:nvPicPr>
        <p:blipFill>
          <a:blip r:embed="rId5"/>
          <a:stretch>
            <a:fillRect/>
          </a:stretch>
        </p:blipFill>
        <p:spPr>
          <a:xfrm>
            <a:off x="9181475" y="2143569"/>
            <a:ext cx="134549" cy="195707"/>
          </a:xfrm>
          <a:prstGeom prst="rect">
            <a:avLst/>
          </a:prstGeom>
        </p:spPr>
      </p:pic>
      <p:sp>
        <p:nvSpPr>
          <p:cNvPr id="47" name="TextBox 46"/>
          <p:cNvSpPr txBox="1"/>
          <p:nvPr/>
        </p:nvSpPr>
        <p:spPr>
          <a:xfrm>
            <a:off x="9356584"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8"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Share Analysis, By Country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(Mn Units)</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3096753" cy="194310"/>
          </a:xfrm>
          <a:prstGeom prst="rect">
            <a:avLst/>
          </a:prstGeom>
          <a:noFill/>
        </p:spPr>
        <p:txBody>
          <a:bodyPr wrap="none" lIns="0" rIns="0" tIns="0" bIns="0">
            <a:spAutoFit/>
          </a:bodyPr>
          <a:lstStyle/>
          <a:p>
            <a:r>
              <a:rPr sz="1150" b="0">
                <a:solidFill>
                  <a:srgbClr val="2E2E2E"/>
                </a:solidFill>
                <a:latin typeface="Calibri"/>
              </a:rPr>
              <a:t>The U.S. floriculture market is projected to register</a:t>
            </a:r>
          </a:p>
        </p:txBody>
      </p:sp>
      <p:pic>
        <p:nvPicPr>
          <p:cNvPr id="21" name="Picture 20" descr="lock.png"/>
          <p:cNvPicPr>
            <a:picLocks noChangeAspect="1"/>
          </p:cNvPicPr>
          <p:nvPr/>
        </p:nvPicPr>
        <p:blipFill>
          <a:blip r:embed="rId4"/>
          <a:stretch>
            <a:fillRect/>
          </a:stretch>
        </p:blipFill>
        <p:spPr>
          <a:xfrm>
            <a:off x="3322132" y="2980626"/>
            <a:ext cx="134549" cy="195707"/>
          </a:xfrm>
          <a:prstGeom prst="rect">
            <a:avLst/>
          </a:prstGeom>
        </p:spPr>
      </p:pic>
      <p:sp>
        <p:nvSpPr>
          <p:cNvPr id="22" name="TextBox 21"/>
          <p:cNvSpPr txBox="1"/>
          <p:nvPr/>
        </p:nvSpPr>
        <p:spPr>
          <a:xfrm>
            <a:off x="3497241" y="2990850"/>
            <a:ext cx="7226927" cy="194310"/>
          </a:xfrm>
          <a:prstGeom prst="rect">
            <a:avLst/>
          </a:prstGeom>
          <a:noFill/>
        </p:spPr>
        <p:txBody>
          <a:bodyPr wrap="none" lIns="0" rIns="0" tIns="0" bIns="0">
            <a:spAutoFit/>
          </a:bodyPr>
          <a:lstStyle/>
          <a:p>
            <a:r>
              <a:rPr sz="1150" b="0">
                <a:solidFill>
                  <a:srgbClr val="2E2E2E"/>
                </a:solidFill>
                <a:latin typeface="Calibri"/>
              </a:rPr>
              <a:t>X higher volume than Canada in 2036. Among floriculture by country, Canada is expected to witness the highest CAGR of</a:t>
            </a:r>
          </a:p>
        </p:txBody>
      </p:sp>
      <p:pic>
        <p:nvPicPr>
          <p:cNvPr id="23" name="Picture 22" descr="lock.png"/>
          <p:cNvPicPr>
            <a:picLocks noChangeAspect="1"/>
          </p:cNvPicPr>
          <p:nvPr/>
        </p:nvPicPr>
        <p:blipFill>
          <a:blip r:embed="rId4"/>
          <a:stretch>
            <a:fillRect/>
          </a:stretch>
        </p:blipFill>
        <p:spPr>
          <a:xfrm>
            <a:off x="10673322" y="2980626"/>
            <a:ext cx="134549" cy="195707"/>
          </a:xfrm>
          <a:prstGeom prst="rect">
            <a:avLst/>
          </a:prstGeom>
        </p:spPr>
      </p:pic>
      <p:sp>
        <p:nvSpPr>
          <p:cNvPr id="24" name="TextBox 23"/>
          <p:cNvSpPr txBox="1"/>
          <p:nvPr/>
        </p:nvSpPr>
        <p:spPr>
          <a:xfrm>
            <a:off x="10848432" y="2990850"/>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25" name="TextBox 24"/>
          <p:cNvSpPr txBox="1"/>
          <p:nvPr/>
        </p:nvSpPr>
        <p:spPr>
          <a:xfrm>
            <a:off x="276225" y="3166110"/>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26" name="TextBox 25"/>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332316" y="3383724"/>
            <a:ext cx="134549" cy="195707"/>
          </a:xfrm>
          <a:prstGeom prst="rect">
            <a:avLst/>
          </a:prstGeom>
        </p:spPr>
      </p:pic>
      <p:sp>
        <p:nvSpPr>
          <p:cNvPr id="28" name="TextBox 27"/>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902569" y="3383724"/>
            <a:ext cx="134549" cy="195707"/>
          </a:xfrm>
          <a:prstGeom prst="rect">
            <a:avLst/>
          </a:prstGeom>
        </p:spPr>
      </p:pic>
      <p:sp>
        <p:nvSpPr>
          <p:cNvPr id="30" name="TextBox 29"/>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3096753" cy="194310"/>
          </a:xfrm>
          <a:prstGeom prst="rect">
            <a:avLst/>
          </a:prstGeom>
          <a:noFill/>
        </p:spPr>
        <p:txBody>
          <a:bodyPr wrap="none" lIns="0" rIns="0" tIns="0" bIns="0">
            <a:spAutoFit/>
          </a:bodyPr>
          <a:lstStyle/>
          <a:p>
            <a:r>
              <a:rPr sz="1150" b="0">
                <a:solidFill>
                  <a:srgbClr val="2E2E2E"/>
                </a:solidFill>
                <a:latin typeface="Calibri"/>
              </a:rPr>
              <a:t>The U.S. floriculture market is projected to register</a:t>
            </a:r>
          </a:p>
        </p:txBody>
      </p:sp>
      <p:pic>
        <p:nvPicPr>
          <p:cNvPr id="21" name="Picture 20" descr="lock.png"/>
          <p:cNvPicPr>
            <a:picLocks noChangeAspect="1"/>
          </p:cNvPicPr>
          <p:nvPr/>
        </p:nvPicPr>
        <p:blipFill>
          <a:blip r:embed="rId4"/>
          <a:stretch>
            <a:fillRect/>
          </a:stretch>
        </p:blipFill>
        <p:spPr>
          <a:xfrm>
            <a:off x="3322132" y="2980626"/>
            <a:ext cx="134549" cy="195707"/>
          </a:xfrm>
          <a:prstGeom prst="rect">
            <a:avLst/>
          </a:prstGeom>
        </p:spPr>
      </p:pic>
      <p:sp>
        <p:nvSpPr>
          <p:cNvPr id="22" name="TextBox 21"/>
          <p:cNvSpPr txBox="1"/>
          <p:nvPr/>
        </p:nvSpPr>
        <p:spPr>
          <a:xfrm>
            <a:off x="3497241" y="2990850"/>
            <a:ext cx="7103126" cy="194310"/>
          </a:xfrm>
          <a:prstGeom prst="rect">
            <a:avLst/>
          </a:prstGeom>
          <a:noFill/>
        </p:spPr>
        <p:txBody>
          <a:bodyPr wrap="none" lIns="0" rIns="0" tIns="0" bIns="0">
            <a:spAutoFit/>
          </a:bodyPr>
          <a:lstStyle/>
          <a:p>
            <a:r>
              <a:rPr sz="1150" b="0">
                <a:solidFill>
                  <a:srgbClr val="2E2E2E"/>
                </a:solidFill>
                <a:latin typeface="Calibri"/>
              </a:rPr>
              <a:t>X higher value than Canada in 2036. Among floriculture by country, Canada is expected to witness the highest CAGR of</a:t>
            </a:r>
          </a:p>
        </p:txBody>
      </p:sp>
      <p:pic>
        <p:nvPicPr>
          <p:cNvPr id="23" name="Picture 22" descr="lock.png"/>
          <p:cNvPicPr>
            <a:picLocks noChangeAspect="1"/>
          </p:cNvPicPr>
          <p:nvPr/>
        </p:nvPicPr>
        <p:blipFill>
          <a:blip r:embed="rId4"/>
          <a:stretch>
            <a:fillRect/>
          </a:stretch>
        </p:blipFill>
        <p:spPr>
          <a:xfrm>
            <a:off x="10549522" y="2980626"/>
            <a:ext cx="134549" cy="195707"/>
          </a:xfrm>
          <a:prstGeom prst="rect">
            <a:avLst/>
          </a:prstGeom>
        </p:spPr>
      </p:pic>
      <p:sp>
        <p:nvSpPr>
          <p:cNvPr id="24" name="TextBox 23"/>
          <p:cNvSpPr txBox="1"/>
          <p:nvPr/>
        </p:nvSpPr>
        <p:spPr>
          <a:xfrm>
            <a:off x="10724631" y="2990850"/>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25" name="TextBox 24"/>
          <p:cNvSpPr txBox="1"/>
          <p:nvPr/>
        </p:nvSpPr>
        <p:spPr>
          <a:xfrm>
            <a:off x="276225" y="3166110"/>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26" name="TextBox 25"/>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208516" y="3383724"/>
            <a:ext cx="134549" cy="195707"/>
          </a:xfrm>
          <a:prstGeom prst="rect">
            <a:avLst/>
          </a:prstGeom>
        </p:spPr>
      </p:pic>
      <p:sp>
        <p:nvSpPr>
          <p:cNvPr id="28" name="TextBox 27"/>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778769" y="3383724"/>
            <a:ext cx="134549" cy="195707"/>
          </a:xfrm>
          <a:prstGeom prst="rect">
            <a:avLst/>
          </a:prstGeom>
        </p:spPr>
      </p:pic>
      <p:sp>
        <p:nvSpPr>
          <p:cNvPr id="30" name="TextBox 29"/>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(Mn Units)</a:t>
            </a:r>
          </a:p>
        </p:txBody>
      </p:sp>
      <p:graphicFrame>
        <p:nvGraphicFramePr>
          <p:cNvPr id="12" name="Chart 11"/>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5" name="Chart 14"/>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6058646" y="2026489"/>
            <a:ext cx="363375" cy="528545"/>
          </a:xfrm>
          <a:prstGeom prst="rect">
            <a:avLst/>
          </a:prstGeom>
        </p:spPr>
      </p:pic>
      <p:pic>
        <p:nvPicPr>
          <p:cNvPr id="18" name="Picture 17" descr="lock.png"/>
          <p:cNvPicPr>
            <a:picLocks noChangeAspect="1"/>
          </p:cNvPicPr>
          <p:nvPr/>
        </p:nvPicPr>
        <p:blipFill>
          <a:blip r:embed="rId6"/>
          <a:stretch>
            <a:fillRect/>
          </a:stretch>
        </p:blipFill>
        <p:spPr>
          <a:xfrm>
            <a:off x="6058646" y="4912564"/>
            <a:ext cx="363375" cy="528545"/>
          </a:xfrm>
          <a:prstGeom prst="rect">
            <a:avLst/>
          </a:prstGeom>
        </p:spPr>
      </p:pic>
      <p:sp>
        <p:nvSpPr>
          <p:cNvPr id="19" name="lockshield_12"/>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Floriculture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2" name="Rectangle 11"/>
          <p:cNvSpPr/>
          <p:nvPr/>
        </p:nvSpPr>
        <p:spPr>
          <a:xfrm>
            <a:off x="238125" y="1266825"/>
            <a:ext cx="7899386"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8137511" y="1266825"/>
            <a:ext cx="3816364"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4130192" y="3919537"/>
            <a:ext cx="115252" cy="167639"/>
          </a:xfrm>
          <a:prstGeom prst="rect">
            <a:avLst/>
          </a:prstGeom>
        </p:spPr>
      </p:pic>
      <p:pic>
        <p:nvPicPr>
          <p:cNvPr id="16" name="Picture 15" descr="lock.png"/>
          <p:cNvPicPr>
            <a:picLocks noChangeAspect="1"/>
          </p:cNvPicPr>
          <p:nvPr/>
        </p:nvPicPr>
        <p:blipFill>
          <a:blip r:embed="rId4"/>
          <a:stretch>
            <a:fillRect/>
          </a:stretch>
        </p:blipFill>
        <p:spPr>
          <a:xfrm>
            <a:off x="9988066" y="3919537"/>
            <a:ext cx="115252" cy="167639"/>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Flower Species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Cultivation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Flowers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Bedding &amp; Garden Flowering Plants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Foliage &amp; Greens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Potted Flowering Plants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3_885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6_922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5_9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3_408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4_021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1_7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_383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5_392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4_8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2_90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4_199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3_7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778794" cy="186689"/>
          </a:xfrm>
          <a:prstGeom prst="rect">
            <a:avLst/>
          </a:prstGeom>
          <a:noFill/>
        </p:spPr>
        <p:txBody>
          <a:bodyPr wrap="none" lIns="0" rIns="0" tIns="0" bIns="0">
            <a:spAutoFit/>
          </a:bodyPr>
          <a:lstStyle/>
          <a:p>
            <a:r>
              <a:rPr sz="1100" b="0">
                <a:solidFill>
                  <a:srgbClr val="2E2E2E"/>
                </a:solidFill>
                <a:latin typeface="Calibri"/>
              </a:rPr>
              <a:t>Among floriculture by product type, cut flowers</a:t>
            </a:r>
          </a:p>
        </p:txBody>
      </p:sp>
      <p:sp>
        <p:nvSpPr>
          <p:cNvPr id="80" name="TextBox 79"/>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81" name="TextBox 80"/>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82" name="Picture 81" descr="lock.png"/>
          <p:cNvPicPr>
            <a:picLocks noChangeAspect="1"/>
          </p:cNvPicPr>
          <p:nvPr/>
        </p:nvPicPr>
        <p:blipFill>
          <a:blip r:embed="rId16"/>
          <a:stretch>
            <a:fillRect/>
          </a:stretch>
        </p:blipFill>
        <p:spPr>
          <a:xfrm>
            <a:off x="626261" y="4554938"/>
            <a:ext cx="128699" cy="187198"/>
          </a:xfrm>
          <a:prstGeom prst="rect">
            <a:avLst/>
          </a:prstGeom>
        </p:spPr>
      </p:pic>
      <p:sp>
        <p:nvSpPr>
          <p:cNvPr id="83" name="TextBox 82"/>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84" name="TextBox 83"/>
          <p:cNvSpPr txBox="1"/>
          <p:nvPr/>
        </p:nvSpPr>
        <p:spPr>
          <a:xfrm>
            <a:off x="485775" y="4732357"/>
            <a:ext cx="2885206" cy="186689"/>
          </a:xfrm>
          <a:prstGeom prst="rect">
            <a:avLst/>
          </a:prstGeom>
          <a:noFill/>
        </p:spPr>
        <p:txBody>
          <a:bodyPr wrap="none" lIns="0" rIns="0" tIns="0" bIns="0">
            <a:spAutoFit/>
          </a:bodyPr>
          <a:lstStyle/>
          <a:p>
            <a:r>
              <a:rPr sz="1100" b="0">
                <a:solidFill>
                  <a:srgbClr val="2E2E2E"/>
                </a:solidFill>
                <a:latin typeface="Calibri"/>
              </a:rPr>
              <a:t>share by product type, the cut flowers segment is</a:t>
            </a:r>
          </a:p>
        </p:txBody>
      </p:sp>
      <p:sp>
        <p:nvSpPr>
          <p:cNvPr id="85" name="TextBox 84"/>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6" name="Picture 85" descr="lock.png"/>
          <p:cNvPicPr>
            <a:picLocks noChangeAspect="1"/>
          </p:cNvPicPr>
          <p:nvPr/>
        </p:nvPicPr>
        <p:blipFill>
          <a:blip r:embed="rId16"/>
          <a:stretch>
            <a:fillRect/>
          </a:stretch>
        </p:blipFill>
        <p:spPr>
          <a:xfrm>
            <a:off x="2900479" y="4890217"/>
            <a:ext cx="128699" cy="187198"/>
          </a:xfrm>
          <a:prstGeom prst="rect">
            <a:avLst/>
          </a:prstGeom>
        </p:spPr>
      </p:pic>
      <p:sp>
        <p:nvSpPr>
          <p:cNvPr id="87" name="TextBox 86"/>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8" name="TextBox 87"/>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9" name="Picture 88" descr="lock.png"/>
          <p:cNvPicPr>
            <a:picLocks noChangeAspect="1"/>
          </p:cNvPicPr>
          <p:nvPr/>
        </p:nvPicPr>
        <p:blipFill>
          <a:blip r:embed="rId16"/>
          <a:stretch>
            <a:fillRect/>
          </a:stretch>
        </p:blipFill>
        <p:spPr>
          <a:xfrm>
            <a:off x="1576057" y="5057858"/>
            <a:ext cx="128699" cy="187198"/>
          </a:xfrm>
          <a:prstGeom prst="rect">
            <a:avLst/>
          </a:prstGeom>
        </p:spPr>
      </p:pic>
      <p:sp>
        <p:nvSpPr>
          <p:cNvPr id="90" name="TextBox 89"/>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1" name="TextBox 90"/>
          <p:cNvSpPr txBox="1"/>
          <p:nvPr/>
        </p:nvSpPr>
        <p:spPr>
          <a:xfrm>
            <a:off x="485775" y="5285569"/>
            <a:ext cx="2565424" cy="186689"/>
          </a:xfrm>
          <a:prstGeom prst="rect">
            <a:avLst/>
          </a:prstGeom>
          <a:noFill/>
        </p:spPr>
        <p:txBody>
          <a:bodyPr wrap="none" lIns="0" rIns="0" tIns="0" bIns="0">
            <a:spAutoFit/>
          </a:bodyPr>
          <a:lstStyle/>
          <a:p>
            <a:r>
              <a:rPr sz="1100" b="0">
                <a:solidFill>
                  <a:srgbClr val="2E2E2E"/>
                </a:solidFill>
                <a:latin typeface="Calibri"/>
              </a:rPr>
              <a:t>Cut flowers segment is projected to register</a:t>
            </a:r>
          </a:p>
        </p:txBody>
      </p:sp>
      <p:pic>
        <p:nvPicPr>
          <p:cNvPr id="92" name="Picture 91" descr="lock.png"/>
          <p:cNvPicPr>
            <a:picLocks noChangeAspect="1"/>
          </p:cNvPicPr>
          <p:nvPr/>
        </p:nvPicPr>
        <p:blipFill>
          <a:blip r:embed="rId16"/>
          <a:stretch>
            <a:fillRect/>
          </a:stretch>
        </p:blipFill>
        <p:spPr>
          <a:xfrm>
            <a:off x="2999251" y="5275790"/>
            <a:ext cx="128699" cy="187198"/>
          </a:xfrm>
          <a:prstGeom prst="rect">
            <a:avLst/>
          </a:prstGeom>
        </p:spPr>
      </p:pic>
      <p:sp>
        <p:nvSpPr>
          <p:cNvPr id="93" name="TextBox 92"/>
          <p:cNvSpPr txBox="1"/>
          <p:nvPr/>
        </p:nvSpPr>
        <p:spPr>
          <a:xfrm>
            <a:off x="3166747"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94" name="TextBox 93"/>
          <p:cNvSpPr txBox="1"/>
          <p:nvPr/>
        </p:nvSpPr>
        <p:spPr>
          <a:xfrm>
            <a:off x="485775" y="5453209"/>
            <a:ext cx="2894483" cy="186689"/>
          </a:xfrm>
          <a:prstGeom prst="rect">
            <a:avLst/>
          </a:prstGeom>
          <a:noFill/>
        </p:spPr>
        <p:txBody>
          <a:bodyPr wrap="none" lIns="0" rIns="0" tIns="0" bIns="0">
            <a:spAutoFit/>
          </a:bodyPr>
          <a:lstStyle/>
          <a:p>
            <a:r>
              <a:rPr sz="1100" b="0">
                <a:solidFill>
                  <a:srgbClr val="2E2E2E"/>
                </a:solidFill>
                <a:latin typeface="Calibri"/>
              </a:rPr>
              <a:t>higher value than cut foliage &amp; greens segment in</a:t>
            </a:r>
          </a:p>
        </p:txBody>
      </p:sp>
      <p:sp>
        <p:nvSpPr>
          <p:cNvPr id="95" name="TextBox 94"/>
          <p:cNvSpPr txBox="1"/>
          <p:nvPr/>
        </p:nvSpPr>
        <p:spPr>
          <a:xfrm>
            <a:off x="485775" y="562084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96" name="TextBox 95"/>
          <p:cNvSpPr txBox="1"/>
          <p:nvPr/>
        </p:nvSpPr>
        <p:spPr>
          <a:xfrm>
            <a:off x="3838575" y="4229437"/>
            <a:ext cx="898847" cy="186689"/>
          </a:xfrm>
          <a:prstGeom prst="rect">
            <a:avLst/>
          </a:prstGeom>
          <a:noFill/>
        </p:spPr>
        <p:txBody>
          <a:bodyPr wrap="none" lIns="0" rIns="0" tIns="0" bIns="0">
            <a:spAutoFit/>
          </a:bodyPr>
          <a:lstStyle/>
          <a:p>
            <a:r>
              <a:rPr sz="1100" b="0">
                <a:solidFill>
                  <a:srgbClr val="2E2E2E"/>
                </a:solidFill>
                <a:latin typeface="Calibri"/>
              </a:rPr>
              <a:t>● Cut Flowers:</a:t>
            </a:r>
          </a:p>
        </p:txBody>
      </p:sp>
      <p:pic>
        <p:nvPicPr>
          <p:cNvPr id="97" name="Picture 96" descr="lock.png"/>
          <p:cNvPicPr>
            <a:picLocks noChangeAspect="1"/>
          </p:cNvPicPr>
          <p:nvPr/>
        </p:nvPicPr>
        <p:blipFill>
          <a:blip r:embed="rId16"/>
          <a:stretch>
            <a:fillRect/>
          </a:stretch>
        </p:blipFill>
        <p:spPr>
          <a:xfrm>
            <a:off x="4685474" y="4219658"/>
            <a:ext cx="128699" cy="187198"/>
          </a:xfrm>
          <a:prstGeom prst="rect">
            <a:avLst/>
          </a:prstGeom>
        </p:spPr>
      </p:pic>
      <p:sp>
        <p:nvSpPr>
          <p:cNvPr id="98" name="TextBox 97"/>
          <p:cNvSpPr txBox="1"/>
          <p:nvPr/>
        </p:nvSpPr>
        <p:spPr>
          <a:xfrm>
            <a:off x="485296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6"/>
          <a:stretch>
            <a:fillRect/>
          </a:stretch>
        </p:blipFill>
        <p:spPr>
          <a:xfrm>
            <a:off x="5712420" y="4219658"/>
            <a:ext cx="128699" cy="187198"/>
          </a:xfrm>
          <a:prstGeom prst="rect">
            <a:avLst/>
          </a:prstGeom>
        </p:spPr>
      </p:pic>
      <p:sp>
        <p:nvSpPr>
          <p:cNvPr id="100" name="TextBox 99"/>
          <p:cNvSpPr txBox="1"/>
          <p:nvPr/>
        </p:nvSpPr>
        <p:spPr>
          <a:xfrm>
            <a:off x="587991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1" name="TextBox 100"/>
          <p:cNvSpPr txBox="1"/>
          <p:nvPr/>
        </p:nvSpPr>
        <p:spPr>
          <a:xfrm>
            <a:off x="3838575" y="4447369"/>
            <a:ext cx="2241277" cy="186689"/>
          </a:xfrm>
          <a:prstGeom prst="rect">
            <a:avLst/>
          </a:prstGeom>
          <a:noFill/>
        </p:spPr>
        <p:txBody>
          <a:bodyPr wrap="none" lIns="0" rIns="0" tIns="0" bIns="0">
            <a:spAutoFit/>
          </a:bodyPr>
          <a:lstStyle/>
          <a:p>
            <a:r>
              <a:rPr sz="1100" b="0">
                <a:solidFill>
                  <a:srgbClr val="2E2E2E"/>
                </a:solidFill>
                <a:latin typeface="Calibri"/>
              </a:rPr>
              <a:t>● Bedding &amp; Garden Flowering Plants:</a:t>
            </a:r>
          </a:p>
        </p:txBody>
      </p:sp>
      <p:pic>
        <p:nvPicPr>
          <p:cNvPr id="102" name="Picture 101" descr="lock.png"/>
          <p:cNvPicPr>
            <a:picLocks noChangeAspect="1"/>
          </p:cNvPicPr>
          <p:nvPr/>
        </p:nvPicPr>
        <p:blipFill>
          <a:blip r:embed="rId16"/>
          <a:stretch>
            <a:fillRect/>
          </a:stretch>
        </p:blipFill>
        <p:spPr>
          <a:xfrm>
            <a:off x="6027903" y="4437590"/>
            <a:ext cx="128699" cy="187198"/>
          </a:xfrm>
          <a:prstGeom prst="rect">
            <a:avLst/>
          </a:prstGeom>
        </p:spPr>
      </p:pic>
      <p:sp>
        <p:nvSpPr>
          <p:cNvPr id="103" name="TextBox 102"/>
          <p:cNvSpPr txBox="1"/>
          <p:nvPr/>
        </p:nvSpPr>
        <p:spPr>
          <a:xfrm>
            <a:off x="619539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7054849" y="4437590"/>
            <a:ext cx="128699" cy="187198"/>
          </a:xfrm>
          <a:prstGeom prst="rect">
            <a:avLst/>
          </a:prstGeom>
        </p:spPr>
      </p:pic>
      <p:sp>
        <p:nvSpPr>
          <p:cNvPr id="105" name="TextBox 104"/>
          <p:cNvSpPr txBox="1"/>
          <p:nvPr/>
        </p:nvSpPr>
        <p:spPr>
          <a:xfrm>
            <a:off x="7222345" y="444736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6" name="TextBox 105"/>
          <p:cNvSpPr txBox="1"/>
          <p:nvPr/>
        </p:nvSpPr>
        <p:spPr>
          <a:xfrm>
            <a:off x="3838575" y="461500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07" name="TextBox 106"/>
          <p:cNvSpPr txBox="1"/>
          <p:nvPr/>
        </p:nvSpPr>
        <p:spPr>
          <a:xfrm>
            <a:off x="3838575" y="4832941"/>
            <a:ext cx="1422965" cy="186689"/>
          </a:xfrm>
          <a:prstGeom prst="rect">
            <a:avLst/>
          </a:prstGeom>
          <a:noFill/>
        </p:spPr>
        <p:txBody>
          <a:bodyPr wrap="none" lIns="0" rIns="0" tIns="0" bIns="0">
            <a:spAutoFit/>
          </a:bodyPr>
          <a:lstStyle/>
          <a:p>
            <a:r>
              <a:rPr sz="1100" b="0">
                <a:solidFill>
                  <a:srgbClr val="2E2E2E"/>
                </a:solidFill>
                <a:latin typeface="Calibri"/>
              </a:rPr>
              <a:t>● Cut Foliage &amp; Greens:</a:t>
            </a:r>
          </a:p>
        </p:txBody>
      </p:sp>
      <p:pic>
        <p:nvPicPr>
          <p:cNvPr id="108" name="Picture 107" descr="lock.png"/>
          <p:cNvPicPr>
            <a:picLocks noChangeAspect="1"/>
          </p:cNvPicPr>
          <p:nvPr/>
        </p:nvPicPr>
        <p:blipFill>
          <a:blip r:embed="rId16"/>
          <a:stretch>
            <a:fillRect/>
          </a:stretch>
        </p:blipFill>
        <p:spPr>
          <a:xfrm>
            <a:off x="5209592" y="4823162"/>
            <a:ext cx="128699" cy="187198"/>
          </a:xfrm>
          <a:prstGeom prst="rect">
            <a:avLst/>
          </a:prstGeom>
        </p:spPr>
      </p:pic>
      <p:sp>
        <p:nvSpPr>
          <p:cNvPr id="109" name="TextBox 108"/>
          <p:cNvSpPr txBox="1"/>
          <p:nvPr/>
        </p:nvSpPr>
        <p:spPr>
          <a:xfrm>
            <a:off x="5377087"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6"/>
          <a:stretch>
            <a:fillRect/>
          </a:stretch>
        </p:blipFill>
        <p:spPr>
          <a:xfrm>
            <a:off x="6236538" y="4823162"/>
            <a:ext cx="128699" cy="187198"/>
          </a:xfrm>
          <a:prstGeom prst="rect">
            <a:avLst/>
          </a:prstGeom>
        </p:spPr>
      </p:pic>
      <p:sp>
        <p:nvSpPr>
          <p:cNvPr id="111" name="TextBox 110"/>
          <p:cNvSpPr txBox="1"/>
          <p:nvPr/>
        </p:nvSpPr>
        <p:spPr>
          <a:xfrm>
            <a:off x="6404033"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2" name="TextBox 111"/>
          <p:cNvSpPr txBox="1"/>
          <p:nvPr/>
        </p:nvSpPr>
        <p:spPr>
          <a:xfrm>
            <a:off x="3838575" y="5050872"/>
            <a:ext cx="1581522" cy="186689"/>
          </a:xfrm>
          <a:prstGeom prst="rect">
            <a:avLst/>
          </a:prstGeom>
          <a:noFill/>
        </p:spPr>
        <p:txBody>
          <a:bodyPr wrap="none" lIns="0" rIns="0" tIns="0" bIns="0">
            <a:spAutoFit/>
          </a:bodyPr>
          <a:lstStyle/>
          <a:p>
            <a:r>
              <a:rPr sz="1100" b="0">
                <a:solidFill>
                  <a:srgbClr val="2E2E2E"/>
                </a:solidFill>
                <a:latin typeface="Calibri"/>
              </a:rPr>
              <a:t>● Potted Flowering Plants:</a:t>
            </a:r>
          </a:p>
        </p:txBody>
      </p:sp>
      <p:pic>
        <p:nvPicPr>
          <p:cNvPr id="113" name="Picture 112" descr="lock.png"/>
          <p:cNvPicPr>
            <a:picLocks noChangeAspect="1"/>
          </p:cNvPicPr>
          <p:nvPr/>
        </p:nvPicPr>
        <p:blipFill>
          <a:blip r:embed="rId16"/>
          <a:stretch>
            <a:fillRect/>
          </a:stretch>
        </p:blipFill>
        <p:spPr>
          <a:xfrm>
            <a:off x="5368148" y="5041093"/>
            <a:ext cx="128699" cy="187198"/>
          </a:xfrm>
          <a:prstGeom prst="rect">
            <a:avLst/>
          </a:prstGeom>
        </p:spPr>
      </p:pic>
      <p:sp>
        <p:nvSpPr>
          <p:cNvPr id="114" name="TextBox 113"/>
          <p:cNvSpPr txBox="1"/>
          <p:nvPr/>
        </p:nvSpPr>
        <p:spPr>
          <a:xfrm>
            <a:off x="5535644"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6"/>
          <a:stretch>
            <a:fillRect/>
          </a:stretch>
        </p:blipFill>
        <p:spPr>
          <a:xfrm>
            <a:off x="6395094" y="5041093"/>
            <a:ext cx="128699" cy="187198"/>
          </a:xfrm>
          <a:prstGeom prst="rect">
            <a:avLst/>
          </a:prstGeom>
        </p:spPr>
      </p:pic>
      <p:sp>
        <p:nvSpPr>
          <p:cNvPr id="116" name="TextBox 115"/>
          <p:cNvSpPr txBox="1"/>
          <p:nvPr/>
        </p:nvSpPr>
        <p:spPr>
          <a:xfrm>
            <a:off x="6562590"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Type segment is projected to grow at a</a:t>
            </a:r>
          </a:p>
        </p:txBody>
      </p:sp>
      <p:sp>
        <p:nvSpPr>
          <p:cNvPr id="118" name="TextBox 11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9" name="Picture 118" descr="lock.png"/>
          <p:cNvPicPr>
            <a:picLocks noChangeAspect="1"/>
          </p:cNvPicPr>
          <p:nvPr/>
        </p:nvPicPr>
        <p:blipFill>
          <a:blip r:embed="rId16"/>
          <a:stretch>
            <a:fillRect/>
          </a:stretch>
        </p:blipFill>
        <p:spPr>
          <a:xfrm>
            <a:off x="9048826" y="6007677"/>
            <a:ext cx="134549" cy="195707"/>
          </a:xfrm>
          <a:prstGeom prst="rect">
            <a:avLst/>
          </a:prstGeom>
        </p:spPr>
      </p:pic>
      <p:sp>
        <p:nvSpPr>
          <p:cNvPr id="120" name="TextBox 11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Type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Product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Young Plants &amp; Propagation Materi…</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333375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523875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Flower Bulbs, Corms, Rhizomes &amp; T…</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670560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8610600" y="1773916"/>
            <a:ext cx="3257550"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Potted Foliage Plants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10077450"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6" name="Picture 45" descr="2_368_605E5C.png"/>
          <p:cNvPicPr>
            <a:picLocks noChangeAspect="1"/>
          </p:cNvPicPr>
          <p:nvPr/>
        </p:nvPicPr>
        <p:blipFill>
          <a:blip r:embed="rId4"/>
          <a:stretch>
            <a:fillRect/>
          </a:stretch>
        </p:blipFill>
        <p:spPr>
          <a:xfrm>
            <a:off x="2897811" y="2286582"/>
            <a:ext cx="1195728" cy="361950"/>
          </a:xfrm>
          <a:prstGeom prst="rect">
            <a:avLst/>
          </a:prstGeom>
        </p:spPr>
      </p:pic>
      <p:pic>
        <p:nvPicPr>
          <p:cNvPr id="47" name="Picture 46" descr="3_007_605E5C.png"/>
          <p:cNvPicPr>
            <a:picLocks noChangeAspect="1"/>
          </p:cNvPicPr>
          <p:nvPr/>
        </p:nvPicPr>
        <p:blipFill>
          <a:blip r:embed="rId5"/>
          <a:stretch>
            <a:fillRect/>
          </a:stretch>
        </p:blipFill>
        <p:spPr>
          <a:xfrm>
            <a:off x="2897811" y="2779432"/>
            <a:ext cx="1195728" cy="361950"/>
          </a:xfrm>
          <a:prstGeom prst="rect">
            <a:avLst/>
          </a:prstGeom>
        </p:spPr>
      </p:pic>
      <p:pic>
        <p:nvPicPr>
          <p:cNvPr id="48" name="Picture 47" descr="2_4__605E5C.png"/>
          <p:cNvPicPr>
            <a:picLocks noChangeAspect="1"/>
          </p:cNvPicPr>
          <p:nvPr/>
        </p:nvPicPr>
        <p:blipFill>
          <a:blip r:embed="rId6"/>
          <a:stretch>
            <a:fillRect/>
          </a:stretch>
        </p:blipFill>
        <p:spPr>
          <a:xfrm>
            <a:off x="3004457" y="3272281"/>
            <a:ext cx="982436" cy="361950"/>
          </a:xfrm>
          <a:prstGeom prst="rect">
            <a:avLst/>
          </a:prstGeom>
        </p:spPr>
      </p:pic>
      <p:pic>
        <p:nvPicPr>
          <p:cNvPr id="49" name="Picture 48" descr="2_016_605E5C.png"/>
          <p:cNvPicPr>
            <a:picLocks noChangeAspect="1"/>
          </p:cNvPicPr>
          <p:nvPr/>
        </p:nvPicPr>
        <p:blipFill>
          <a:blip r:embed="rId7"/>
          <a:stretch>
            <a:fillRect/>
          </a:stretch>
        </p:blipFill>
        <p:spPr>
          <a:xfrm>
            <a:off x="6269661" y="2286582"/>
            <a:ext cx="1195728" cy="361950"/>
          </a:xfrm>
          <a:prstGeom prst="rect">
            <a:avLst/>
          </a:prstGeom>
        </p:spPr>
      </p:pic>
      <p:pic>
        <p:nvPicPr>
          <p:cNvPr id="50" name="Picture 49" descr="3_579_605E5C.png"/>
          <p:cNvPicPr>
            <a:picLocks noChangeAspect="1"/>
          </p:cNvPicPr>
          <p:nvPr/>
        </p:nvPicPr>
        <p:blipFill>
          <a:blip r:embed="rId8"/>
          <a:stretch>
            <a:fillRect/>
          </a:stretch>
        </p:blipFill>
        <p:spPr>
          <a:xfrm>
            <a:off x="6269661" y="2779432"/>
            <a:ext cx="1195728" cy="361950"/>
          </a:xfrm>
          <a:prstGeom prst="rect">
            <a:avLst/>
          </a:prstGeom>
        </p:spPr>
      </p:pic>
      <p:pic>
        <p:nvPicPr>
          <p:cNvPr id="51" name="Picture 50" descr="5_9__605E5C.png"/>
          <p:cNvPicPr>
            <a:picLocks noChangeAspect="1"/>
          </p:cNvPicPr>
          <p:nvPr/>
        </p:nvPicPr>
        <p:blipFill>
          <a:blip r:embed="rId9"/>
          <a:stretch>
            <a:fillRect/>
          </a:stretch>
        </p:blipFill>
        <p:spPr>
          <a:xfrm>
            <a:off x="6376307" y="3272281"/>
            <a:ext cx="982436" cy="361950"/>
          </a:xfrm>
          <a:prstGeom prst="rect">
            <a:avLst/>
          </a:prstGeom>
        </p:spPr>
      </p:pic>
      <p:pic>
        <p:nvPicPr>
          <p:cNvPr id="52" name="Picture 51" descr="1_877_605E5C.png"/>
          <p:cNvPicPr>
            <a:picLocks noChangeAspect="1"/>
          </p:cNvPicPr>
          <p:nvPr/>
        </p:nvPicPr>
        <p:blipFill>
          <a:blip r:embed="rId10"/>
          <a:stretch>
            <a:fillRect/>
          </a:stretch>
        </p:blipFill>
        <p:spPr>
          <a:xfrm>
            <a:off x="9641511" y="2286582"/>
            <a:ext cx="1195728" cy="361950"/>
          </a:xfrm>
          <a:prstGeom prst="rect">
            <a:avLst/>
          </a:prstGeom>
        </p:spPr>
      </p:pic>
      <p:pic>
        <p:nvPicPr>
          <p:cNvPr id="53" name="Picture 52" descr="2_540_605E5C.png"/>
          <p:cNvPicPr>
            <a:picLocks noChangeAspect="1"/>
          </p:cNvPicPr>
          <p:nvPr/>
        </p:nvPicPr>
        <p:blipFill>
          <a:blip r:embed="rId11"/>
          <a:stretch>
            <a:fillRect/>
          </a:stretch>
        </p:blipFill>
        <p:spPr>
          <a:xfrm>
            <a:off x="9641511" y="2779432"/>
            <a:ext cx="1195728" cy="361950"/>
          </a:xfrm>
          <a:prstGeom prst="rect">
            <a:avLst/>
          </a:prstGeom>
        </p:spPr>
      </p:pic>
      <p:pic>
        <p:nvPicPr>
          <p:cNvPr id="54" name="Picture 53" descr="3_1__605E5C.png"/>
          <p:cNvPicPr>
            <a:picLocks noChangeAspect="1"/>
          </p:cNvPicPr>
          <p:nvPr/>
        </p:nvPicPr>
        <p:blipFill>
          <a:blip r:embed="rId12"/>
          <a:stretch>
            <a:fillRect/>
          </a:stretch>
        </p:blipFill>
        <p:spPr>
          <a:xfrm>
            <a:off x="9748157" y="3272281"/>
            <a:ext cx="982436" cy="361950"/>
          </a:xfrm>
          <a:prstGeom prst="rect">
            <a:avLst/>
          </a:prstGeom>
        </p:spPr>
      </p:pic>
      <p:pic>
        <p:nvPicPr>
          <p:cNvPr id="55" name="Picture 54" descr="lock.png"/>
          <p:cNvPicPr>
            <a:picLocks noChangeAspect="1"/>
          </p:cNvPicPr>
          <p:nvPr/>
        </p:nvPicPr>
        <p:blipFill>
          <a:blip r:embed="rId13"/>
          <a:stretch>
            <a:fillRect/>
          </a:stretch>
        </p:blipFill>
        <p:spPr>
          <a:xfrm>
            <a:off x="3402330" y="2827057"/>
            <a:ext cx="183356" cy="266700"/>
          </a:xfrm>
          <a:prstGeom prst="rect">
            <a:avLst/>
          </a:prstGeom>
        </p:spPr>
      </p:pic>
      <p:pic>
        <p:nvPicPr>
          <p:cNvPr id="56" name="Picture 55" descr="lock.png"/>
          <p:cNvPicPr>
            <a:picLocks noChangeAspect="1"/>
          </p:cNvPicPr>
          <p:nvPr/>
        </p:nvPicPr>
        <p:blipFill>
          <a:blip r:embed="rId13"/>
          <a:stretch>
            <a:fillRect/>
          </a:stretch>
        </p:blipFill>
        <p:spPr>
          <a:xfrm>
            <a:off x="6774180" y="2827057"/>
            <a:ext cx="183356" cy="266700"/>
          </a:xfrm>
          <a:prstGeom prst="rect">
            <a:avLst/>
          </a:prstGeom>
        </p:spPr>
      </p:pic>
      <p:pic>
        <p:nvPicPr>
          <p:cNvPr id="57" name="Picture 56" descr="lock.png"/>
          <p:cNvPicPr>
            <a:picLocks noChangeAspect="1"/>
          </p:cNvPicPr>
          <p:nvPr/>
        </p:nvPicPr>
        <p:blipFill>
          <a:blip r:embed="rId13"/>
          <a:stretch>
            <a:fillRect/>
          </a:stretch>
        </p:blipFill>
        <p:spPr>
          <a:xfrm>
            <a:off x="10146030" y="2827057"/>
            <a:ext cx="183356" cy="266700"/>
          </a:xfrm>
          <a:prstGeom prst="rect">
            <a:avLst/>
          </a:prstGeom>
        </p:spPr>
      </p:pic>
      <p:sp>
        <p:nvSpPr>
          <p:cNvPr id="58" name="TextBox 57"/>
          <p:cNvSpPr txBox="1"/>
          <p:nvPr/>
        </p:nvSpPr>
        <p:spPr>
          <a:xfrm>
            <a:off x="485775" y="4229437"/>
            <a:ext cx="2328862" cy="186689"/>
          </a:xfrm>
          <a:prstGeom prst="rect">
            <a:avLst/>
          </a:prstGeom>
          <a:noFill/>
        </p:spPr>
        <p:txBody>
          <a:bodyPr wrap="none" lIns="0" rIns="0" tIns="0" bIns="0">
            <a:spAutoFit/>
          </a:bodyPr>
          <a:lstStyle/>
          <a:p>
            <a:r>
              <a:rPr sz="1100" b="0">
                <a:solidFill>
                  <a:srgbClr val="2E2E2E"/>
                </a:solidFill>
                <a:latin typeface="Calibri"/>
              </a:rPr>
              <a:t>● Young Plants &amp; Propagation Material:</a:t>
            </a:r>
          </a:p>
        </p:txBody>
      </p:sp>
      <p:pic>
        <p:nvPicPr>
          <p:cNvPr id="59" name="Picture 58" descr="lock.png"/>
          <p:cNvPicPr>
            <a:picLocks noChangeAspect="1"/>
          </p:cNvPicPr>
          <p:nvPr/>
        </p:nvPicPr>
        <p:blipFill>
          <a:blip r:embed="rId13"/>
          <a:stretch>
            <a:fillRect/>
          </a:stretch>
        </p:blipFill>
        <p:spPr>
          <a:xfrm>
            <a:off x="2762689" y="4219658"/>
            <a:ext cx="128699" cy="187198"/>
          </a:xfrm>
          <a:prstGeom prst="rect">
            <a:avLst/>
          </a:prstGeom>
        </p:spPr>
      </p:pic>
      <p:sp>
        <p:nvSpPr>
          <p:cNvPr id="60" name="TextBox 59"/>
          <p:cNvSpPr txBox="1"/>
          <p:nvPr/>
        </p:nvSpPr>
        <p:spPr>
          <a:xfrm>
            <a:off x="293018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1" name="Picture 60" descr="lock.png"/>
          <p:cNvPicPr>
            <a:picLocks noChangeAspect="1"/>
          </p:cNvPicPr>
          <p:nvPr/>
        </p:nvPicPr>
        <p:blipFill>
          <a:blip r:embed="rId13"/>
          <a:stretch>
            <a:fillRect/>
          </a:stretch>
        </p:blipFill>
        <p:spPr>
          <a:xfrm>
            <a:off x="3789635" y="4219658"/>
            <a:ext cx="128699" cy="187198"/>
          </a:xfrm>
          <a:prstGeom prst="rect">
            <a:avLst/>
          </a:prstGeom>
        </p:spPr>
      </p:pic>
      <p:sp>
        <p:nvSpPr>
          <p:cNvPr id="62" name="TextBox 61"/>
          <p:cNvSpPr txBox="1"/>
          <p:nvPr/>
        </p:nvSpPr>
        <p:spPr>
          <a:xfrm>
            <a:off x="3957130"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3" name="TextBox 62"/>
          <p:cNvSpPr txBox="1"/>
          <p:nvPr/>
        </p:nvSpPr>
        <p:spPr>
          <a:xfrm>
            <a:off x="485775" y="4447369"/>
            <a:ext cx="2547962" cy="186689"/>
          </a:xfrm>
          <a:prstGeom prst="rect">
            <a:avLst/>
          </a:prstGeom>
          <a:noFill/>
        </p:spPr>
        <p:txBody>
          <a:bodyPr wrap="none" lIns="0" rIns="0" tIns="0" bIns="0">
            <a:spAutoFit/>
          </a:bodyPr>
          <a:lstStyle/>
          <a:p>
            <a:r>
              <a:rPr sz="1100" b="0">
                <a:solidFill>
                  <a:srgbClr val="2E2E2E"/>
                </a:solidFill>
                <a:latin typeface="Calibri"/>
              </a:rPr>
              <a:t>● Flower Bulbs, Corms, Rhizomes &amp; Tubers:</a:t>
            </a:r>
          </a:p>
        </p:txBody>
      </p:sp>
      <p:pic>
        <p:nvPicPr>
          <p:cNvPr id="64" name="Picture 63" descr="lock.png"/>
          <p:cNvPicPr>
            <a:picLocks noChangeAspect="1"/>
          </p:cNvPicPr>
          <p:nvPr/>
        </p:nvPicPr>
        <p:blipFill>
          <a:blip r:embed="rId13"/>
          <a:stretch>
            <a:fillRect/>
          </a:stretch>
        </p:blipFill>
        <p:spPr>
          <a:xfrm>
            <a:off x="2981788" y="4437590"/>
            <a:ext cx="128699" cy="187198"/>
          </a:xfrm>
          <a:prstGeom prst="rect">
            <a:avLst/>
          </a:prstGeom>
        </p:spPr>
      </p:pic>
      <p:sp>
        <p:nvSpPr>
          <p:cNvPr id="65" name="TextBox 64"/>
          <p:cNvSpPr txBox="1"/>
          <p:nvPr/>
        </p:nvSpPr>
        <p:spPr>
          <a:xfrm>
            <a:off x="3149284"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6" name="Picture 65" descr="lock.png"/>
          <p:cNvPicPr>
            <a:picLocks noChangeAspect="1"/>
          </p:cNvPicPr>
          <p:nvPr/>
        </p:nvPicPr>
        <p:blipFill>
          <a:blip r:embed="rId13"/>
          <a:stretch>
            <a:fillRect/>
          </a:stretch>
        </p:blipFill>
        <p:spPr>
          <a:xfrm>
            <a:off x="4008734" y="4437590"/>
            <a:ext cx="128699" cy="187198"/>
          </a:xfrm>
          <a:prstGeom prst="rect">
            <a:avLst/>
          </a:prstGeom>
        </p:spPr>
      </p:pic>
      <p:sp>
        <p:nvSpPr>
          <p:cNvPr id="67" name="TextBox 66"/>
          <p:cNvSpPr txBox="1"/>
          <p:nvPr/>
        </p:nvSpPr>
        <p:spPr>
          <a:xfrm>
            <a:off x="4176230"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8" name="TextBox 67"/>
          <p:cNvSpPr txBox="1"/>
          <p:nvPr/>
        </p:nvSpPr>
        <p:spPr>
          <a:xfrm>
            <a:off x="485775" y="4665301"/>
            <a:ext cx="1426239" cy="186689"/>
          </a:xfrm>
          <a:prstGeom prst="rect">
            <a:avLst/>
          </a:prstGeom>
          <a:noFill/>
        </p:spPr>
        <p:txBody>
          <a:bodyPr wrap="none" lIns="0" rIns="0" tIns="0" bIns="0">
            <a:spAutoFit/>
          </a:bodyPr>
          <a:lstStyle/>
          <a:p>
            <a:r>
              <a:rPr sz="1100" b="0">
                <a:solidFill>
                  <a:srgbClr val="2E2E2E"/>
                </a:solidFill>
                <a:latin typeface="Calibri"/>
              </a:rPr>
              <a:t>● Potted Foliage Plants:</a:t>
            </a:r>
          </a:p>
        </p:txBody>
      </p:sp>
      <p:pic>
        <p:nvPicPr>
          <p:cNvPr id="69" name="Picture 68" descr="lock.png"/>
          <p:cNvPicPr>
            <a:picLocks noChangeAspect="1"/>
          </p:cNvPicPr>
          <p:nvPr/>
        </p:nvPicPr>
        <p:blipFill>
          <a:blip r:embed="rId13"/>
          <a:stretch>
            <a:fillRect/>
          </a:stretch>
        </p:blipFill>
        <p:spPr>
          <a:xfrm>
            <a:off x="1860066" y="4655522"/>
            <a:ext cx="128699" cy="187198"/>
          </a:xfrm>
          <a:prstGeom prst="rect">
            <a:avLst/>
          </a:prstGeom>
        </p:spPr>
      </p:pic>
      <p:sp>
        <p:nvSpPr>
          <p:cNvPr id="70" name="TextBox 69"/>
          <p:cNvSpPr txBox="1"/>
          <p:nvPr/>
        </p:nvSpPr>
        <p:spPr>
          <a:xfrm>
            <a:off x="2027562"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1" name="Picture 70" descr="lock.png"/>
          <p:cNvPicPr>
            <a:picLocks noChangeAspect="1"/>
          </p:cNvPicPr>
          <p:nvPr/>
        </p:nvPicPr>
        <p:blipFill>
          <a:blip r:embed="rId13"/>
          <a:stretch>
            <a:fillRect/>
          </a:stretch>
        </p:blipFill>
        <p:spPr>
          <a:xfrm>
            <a:off x="2887012" y="4655522"/>
            <a:ext cx="128699" cy="187198"/>
          </a:xfrm>
          <a:prstGeom prst="rect">
            <a:avLst/>
          </a:prstGeom>
        </p:spPr>
      </p:pic>
      <p:sp>
        <p:nvSpPr>
          <p:cNvPr id="72" name="TextBox 71"/>
          <p:cNvSpPr txBox="1"/>
          <p:nvPr/>
        </p:nvSpPr>
        <p:spPr>
          <a:xfrm>
            <a:off x="3054508"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78257" cy="186689"/>
          </a:xfrm>
          <a:prstGeom prst="rect">
            <a:avLst/>
          </a:prstGeom>
          <a:noFill/>
        </p:spPr>
        <p:txBody>
          <a:bodyPr wrap="none" lIns="0" rIns="0" tIns="0" bIns="0">
            <a:spAutoFit/>
          </a:bodyPr>
          <a:lstStyle/>
          <a:p>
            <a:r>
              <a:rPr sz="1100" b="0">
                <a:solidFill>
                  <a:srgbClr val="2E2E2E"/>
                </a:solidFill>
                <a:latin typeface="Calibri"/>
              </a:rPr>
              <a:t>Cut flowers followed by cut foliage &amp; greens are expected to be the two most attractive product type segments in the North America floriculture market in terms of value over the forecast period. Cut</a:t>
            </a:r>
          </a:p>
        </p:txBody>
      </p:sp>
      <p:sp>
        <p:nvSpPr>
          <p:cNvPr id="20" name="TextBox 19"/>
          <p:cNvSpPr txBox="1"/>
          <p:nvPr/>
        </p:nvSpPr>
        <p:spPr>
          <a:xfrm>
            <a:off x="257175" y="5861685"/>
            <a:ext cx="3266636" cy="186689"/>
          </a:xfrm>
          <a:prstGeom prst="rect">
            <a:avLst/>
          </a:prstGeom>
          <a:noFill/>
        </p:spPr>
        <p:txBody>
          <a:bodyPr wrap="none" lIns="0" rIns="0" tIns="0" bIns="0">
            <a:spAutoFit/>
          </a:bodyPr>
          <a:lstStyle/>
          <a:p>
            <a:r>
              <a:rPr sz="1100" b="0">
                <a:solidFill>
                  <a:srgbClr val="2E2E2E"/>
                </a:solidFill>
                <a:latin typeface="Calibri"/>
              </a:rPr>
              <a:t>flowers and cut foliage &amp; greens exhibit a CAGR index of</a:t>
            </a:r>
          </a:p>
        </p:txBody>
      </p:sp>
      <p:pic>
        <p:nvPicPr>
          <p:cNvPr id="21" name="Picture 20" descr="lock.png"/>
          <p:cNvPicPr>
            <a:picLocks noChangeAspect="1"/>
          </p:cNvPicPr>
          <p:nvPr/>
        </p:nvPicPr>
        <p:blipFill>
          <a:blip r:embed="rId6"/>
          <a:stretch>
            <a:fillRect/>
          </a:stretch>
        </p:blipFill>
        <p:spPr>
          <a:xfrm>
            <a:off x="3471862" y="5851905"/>
            <a:ext cx="128699" cy="187198"/>
          </a:xfrm>
          <a:prstGeom prst="rect">
            <a:avLst/>
          </a:prstGeom>
        </p:spPr>
      </p:pic>
      <p:sp>
        <p:nvSpPr>
          <p:cNvPr id="22" name="TextBox 21"/>
          <p:cNvSpPr txBox="1"/>
          <p:nvPr/>
        </p:nvSpPr>
        <p:spPr>
          <a:xfrm>
            <a:off x="363935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877253" y="5851905"/>
            <a:ext cx="128699" cy="187198"/>
          </a:xfrm>
          <a:prstGeom prst="rect">
            <a:avLst/>
          </a:prstGeom>
        </p:spPr>
      </p:pic>
      <p:sp>
        <p:nvSpPr>
          <p:cNvPr id="24" name="TextBox 23"/>
          <p:cNvSpPr txBox="1"/>
          <p:nvPr/>
        </p:nvSpPr>
        <p:spPr>
          <a:xfrm>
            <a:off x="404474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653722" y="5851905"/>
            <a:ext cx="128699" cy="187198"/>
          </a:xfrm>
          <a:prstGeom prst="rect">
            <a:avLst/>
          </a:prstGeom>
        </p:spPr>
      </p:pic>
      <p:sp>
        <p:nvSpPr>
          <p:cNvPr id="26" name="TextBox 25"/>
          <p:cNvSpPr txBox="1"/>
          <p:nvPr/>
        </p:nvSpPr>
        <p:spPr>
          <a:xfrm>
            <a:off x="582121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059112" y="5851905"/>
            <a:ext cx="128699" cy="187198"/>
          </a:xfrm>
          <a:prstGeom prst="rect">
            <a:avLst/>
          </a:prstGeom>
        </p:spPr>
      </p:pic>
      <p:sp>
        <p:nvSpPr>
          <p:cNvPr id="28" name="TextBox 27"/>
          <p:cNvSpPr txBox="1"/>
          <p:nvPr/>
        </p:nvSpPr>
        <p:spPr>
          <a:xfrm>
            <a:off x="622660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781012" y="5851905"/>
            <a:ext cx="128699" cy="187198"/>
          </a:xfrm>
          <a:prstGeom prst="rect">
            <a:avLst/>
          </a:prstGeom>
        </p:spPr>
      </p:pic>
      <p:sp>
        <p:nvSpPr>
          <p:cNvPr id="30" name="TextBox 29"/>
          <p:cNvSpPr txBox="1"/>
          <p:nvPr/>
        </p:nvSpPr>
        <p:spPr>
          <a:xfrm>
            <a:off x="8948508" y="5861685"/>
            <a:ext cx="2204715" cy="186689"/>
          </a:xfrm>
          <a:prstGeom prst="rect">
            <a:avLst/>
          </a:prstGeom>
          <a:noFill/>
        </p:spPr>
        <p:txBody>
          <a:bodyPr wrap="none" lIns="0" rIns="0" tIns="0" bIns="0">
            <a:spAutoFit/>
          </a:bodyPr>
          <a:lstStyle/>
          <a:p>
            <a:r>
              <a:rPr sz="1100" b="0">
                <a:solidFill>
                  <a:srgbClr val="2E2E2E"/>
                </a:solidFill>
                <a:latin typeface="Calibri"/>
              </a:rPr>
              <a:t>. The potted foliage plants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Cut Flowers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Potted Flowering Plants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Potted Foliage Plants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Bedding &amp; Garden Flowering Plants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Cut Foliage &amp; Greens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Young Plants &amp; Propagation Material</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Flower Bulbs, Corms, Rhizomes &amp; Tubers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Product Type</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484320"/>
            <a:ext cx="4162439" cy="194310"/>
          </a:xfrm>
          <a:prstGeom prst="rect">
            <a:avLst/>
          </a:prstGeom>
          <a:noFill/>
        </p:spPr>
        <p:txBody>
          <a:bodyPr wrap="none" lIns="0" rIns="0" tIns="0" bIns="0">
            <a:spAutoFit/>
          </a:bodyPr>
          <a:lstStyle/>
          <a:p>
            <a:r>
              <a:rPr sz="1150" b="0">
                <a:solidFill>
                  <a:srgbClr val="2E2E2E"/>
                </a:solidFill>
                <a:latin typeface="Calibri"/>
              </a:rPr>
              <a:t>By 2036, cut flowers segment is anticipated to witness an increase of</a:t>
            </a:r>
          </a:p>
        </p:txBody>
      </p:sp>
      <p:pic>
        <p:nvPicPr>
          <p:cNvPr id="28" name="Picture 27" descr="lock.png"/>
          <p:cNvPicPr>
            <a:picLocks noChangeAspect="1"/>
          </p:cNvPicPr>
          <p:nvPr/>
        </p:nvPicPr>
        <p:blipFill>
          <a:blip r:embed="rId7"/>
          <a:stretch>
            <a:fillRect/>
          </a:stretch>
        </p:blipFill>
        <p:spPr>
          <a:xfrm>
            <a:off x="10417143" y="4474096"/>
            <a:ext cx="134549" cy="195707"/>
          </a:xfrm>
          <a:prstGeom prst="rect">
            <a:avLst/>
          </a:prstGeom>
        </p:spPr>
      </p:pic>
      <p:sp>
        <p:nvSpPr>
          <p:cNvPr id="29" name="TextBox 28"/>
          <p:cNvSpPr txBox="1"/>
          <p:nvPr/>
        </p:nvSpPr>
        <p:spPr>
          <a:xfrm>
            <a:off x="10592253" y="4484320"/>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30" name="TextBox 29"/>
          <p:cNvSpPr txBox="1"/>
          <p:nvPr/>
        </p:nvSpPr>
        <p:spPr>
          <a:xfrm>
            <a:off x="6305550" y="4659580"/>
            <a:ext cx="5059870" cy="194310"/>
          </a:xfrm>
          <a:prstGeom prst="rect">
            <a:avLst/>
          </a:prstGeom>
          <a:noFill/>
        </p:spPr>
        <p:txBody>
          <a:bodyPr wrap="none" lIns="0" rIns="0" tIns="0" bIns="0">
            <a:spAutoFit/>
          </a:bodyPr>
          <a:lstStyle/>
          <a:p>
            <a:r>
              <a:rPr sz="1150" b="0">
                <a:solidFill>
                  <a:srgbClr val="2E2E2E"/>
                </a:solidFill>
                <a:latin typeface="Calibri"/>
              </a:rPr>
              <a:t>as compared to 2026. The cut flowers segment is expected to create an incremental</a:t>
            </a:r>
          </a:p>
        </p:txBody>
      </p:sp>
      <p:sp>
        <p:nvSpPr>
          <p:cNvPr id="31" name="TextBox 30"/>
          <p:cNvSpPr txBox="1"/>
          <p:nvPr/>
        </p:nvSpPr>
        <p:spPr>
          <a:xfrm>
            <a:off x="6305550" y="483484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824616"/>
            <a:ext cx="134549" cy="195707"/>
          </a:xfrm>
          <a:prstGeom prst="rect">
            <a:avLst/>
          </a:prstGeom>
        </p:spPr>
      </p:pic>
      <p:sp>
        <p:nvSpPr>
          <p:cNvPr id="33" name="TextBox 32"/>
          <p:cNvSpPr txBox="1"/>
          <p:nvPr/>
        </p:nvSpPr>
        <p:spPr>
          <a:xfrm>
            <a:off x="7638756" y="4834840"/>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34" name="TextBox 33"/>
          <p:cNvSpPr txBox="1"/>
          <p:nvPr/>
        </p:nvSpPr>
        <p:spPr>
          <a:xfrm>
            <a:off x="6305550" y="5062678"/>
            <a:ext cx="5428704" cy="194310"/>
          </a:xfrm>
          <a:prstGeom prst="rect">
            <a:avLst/>
          </a:prstGeom>
          <a:noFill/>
        </p:spPr>
        <p:txBody>
          <a:bodyPr wrap="none" lIns="0" rIns="0" tIns="0" bIns="0">
            <a:spAutoFit/>
          </a:bodyPr>
          <a:lstStyle/>
          <a:p>
            <a:r>
              <a:rPr sz="1150" b="0">
                <a:solidFill>
                  <a:srgbClr val="2E2E2E"/>
                </a:solidFill>
                <a:latin typeface="Calibri"/>
              </a:rPr>
              <a:t>The cut foliage &amp; greens segment is expected to create an incremental opportunity of US$</a:t>
            </a:r>
          </a:p>
        </p:txBody>
      </p:sp>
      <p:pic>
        <p:nvPicPr>
          <p:cNvPr id="35" name="Picture 34" descr="lock.png"/>
          <p:cNvPicPr>
            <a:picLocks noChangeAspect="1"/>
          </p:cNvPicPr>
          <p:nvPr/>
        </p:nvPicPr>
        <p:blipFill>
          <a:blip r:embed="rId7"/>
          <a:stretch>
            <a:fillRect/>
          </a:stretch>
        </p:blipFill>
        <p:spPr>
          <a:xfrm>
            <a:off x="6291470" y="5227714"/>
            <a:ext cx="134549" cy="195707"/>
          </a:xfrm>
          <a:prstGeom prst="rect">
            <a:avLst/>
          </a:prstGeom>
        </p:spPr>
      </p:pic>
      <p:sp>
        <p:nvSpPr>
          <p:cNvPr id="36" name="TextBox 35"/>
          <p:cNvSpPr txBox="1"/>
          <p:nvPr/>
        </p:nvSpPr>
        <p:spPr>
          <a:xfrm>
            <a:off x="6466579" y="5237938"/>
            <a:ext cx="497800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 The flower bulbs, corms,</a:t>
            </a:r>
          </a:p>
        </p:txBody>
      </p:sp>
      <p:sp>
        <p:nvSpPr>
          <p:cNvPr id="37" name="TextBox 36"/>
          <p:cNvSpPr txBox="1"/>
          <p:nvPr/>
        </p:nvSpPr>
        <p:spPr>
          <a:xfrm>
            <a:off x="6305550" y="5413197"/>
            <a:ext cx="5080694" cy="194310"/>
          </a:xfrm>
          <a:prstGeom prst="rect">
            <a:avLst/>
          </a:prstGeom>
          <a:noFill/>
        </p:spPr>
        <p:txBody>
          <a:bodyPr wrap="none" lIns="0" rIns="0" tIns="0" bIns="0">
            <a:spAutoFit/>
          </a:bodyPr>
          <a:lstStyle/>
          <a:p>
            <a:r>
              <a:rPr sz="1150" b="0">
                <a:solidFill>
                  <a:srgbClr val="2E2E2E"/>
                </a:solidFill>
                <a:latin typeface="Calibri"/>
              </a:rPr>
              <a:t>rhizomes &amp; tubers segment is expected to create an incremental opportunity of US$</a:t>
            </a:r>
          </a:p>
        </p:txBody>
      </p:sp>
      <p:pic>
        <p:nvPicPr>
          <p:cNvPr id="38" name="Picture 37" descr="lock.png"/>
          <p:cNvPicPr>
            <a:picLocks noChangeAspect="1"/>
          </p:cNvPicPr>
          <p:nvPr/>
        </p:nvPicPr>
        <p:blipFill>
          <a:blip r:embed="rId7"/>
          <a:stretch>
            <a:fillRect/>
          </a:stretch>
        </p:blipFill>
        <p:spPr>
          <a:xfrm>
            <a:off x="11335398" y="5402974"/>
            <a:ext cx="134549" cy="195707"/>
          </a:xfrm>
          <a:prstGeom prst="rect">
            <a:avLst/>
          </a:prstGeom>
        </p:spPr>
      </p:pic>
      <p:sp>
        <p:nvSpPr>
          <p:cNvPr id="39" name="TextBox 38"/>
          <p:cNvSpPr txBox="1"/>
          <p:nvPr/>
        </p:nvSpPr>
        <p:spPr>
          <a:xfrm>
            <a:off x="11510507" y="5413197"/>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40" name="TextBox 39"/>
          <p:cNvSpPr txBox="1"/>
          <p:nvPr/>
        </p:nvSpPr>
        <p:spPr>
          <a:xfrm>
            <a:off x="6305550" y="5588457"/>
            <a:ext cx="3249079" cy="194310"/>
          </a:xfrm>
          <a:prstGeom prst="rect">
            <a:avLst/>
          </a:prstGeom>
          <a:noFill/>
        </p:spPr>
        <p:txBody>
          <a:bodyPr wrap="none" lIns="0" rIns="0" tIns="0" bIns="0">
            <a:spAutoFit/>
          </a:bodyPr>
          <a:lstStyle/>
          <a:p>
            <a:r>
              <a:rPr sz="1150" b="0">
                <a:solidFill>
                  <a:srgbClr val="2E2E2E"/>
                </a:solidFill>
                <a:latin typeface="Calibri"/>
              </a:rPr>
              <a:t>for the overall floriculture market from 2026 to 2036.</a:t>
            </a:r>
          </a:p>
        </p:txBody>
      </p:sp>
      <p:sp>
        <p:nvSpPr>
          <p:cNvPr id="41"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Type, 2021–2036, highlighting the sub-segments driving growth</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(US$ Mn)</a:t>
            </a:r>
          </a:p>
        </p:txBody>
      </p:sp>
      <p:graphicFrame>
        <p:nvGraphicFramePr>
          <p:cNvPr id="12" name="Table 11"/>
          <p:cNvGraphicFramePr>
            <a:graphicFrameLocks noGrp="1"/>
          </p:cNvGraphicFramePr>
          <p:nvPr/>
        </p:nvGraphicFramePr>
        <p:xfrm>
          <a:off x="152400" y="1238250"/>
          <a:ext cx="11887207" cy="2219326"/>
        </p:xfrm>
        <a:graphic>
          <a:graphicData uri="http://schemas.openxmlformats.org/drawingml/2006/table">
            <a:tbl>
              <a:tblPr>
                <a:tableStyleId>{5C22544A-7EE6-4342-B048-85BDC9FD1C3A}</a:tableStyleId>
              </a:tblPr>
              <a:tblGrid>
                <a:gridCol w="2699309"/>
                <a:gridCol w="537726"/>
                <a:gridCol w="537726"/>
                <a:gridCol w="537726"/>
                <a:gridCol w="537726"/>
                <a:gridCol w="537726"/>
                <a:gridCol w="537726"/>
                <a:gridCol w="537726"/>
                <a:gridCol w="537726"/>
                <a:gridCol w="537726"/>
                <a:gridCol w="537726"/>
                <a:gridCol w="537726"/>
                <a:gridCol w="537726"/>
                <a:gridCol w="537726"/>
                <a:gridCol w="537726"/>
                <a:gridCol w="537726"/>
                <a:gridCol w="537726"/>
                <a:gridCol w="584282"/>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Type</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258968" y="2204276"/>
            <a:ext cx="366712" cy="533400"/>
          </a:xfrm>
          <a:prstGeom prst="rect">
            <a:avLst/>
          </a:prstGeom>
        </p:spPr>
      </p:pic>
      <p:sp>
        <p:nvSpPr>
          <p:cNvPr id="20" name="TextBox 19"/>
          <p:cNvSpPr txBox="1"/>
          <p:nvPr/>
        </p:nvSpPr>
        <p:spPr>
          <a:xfrm>
            <a:off x="276225" y="4219575"/>
            <a:ext cx="2678571" cy="194310"/>
          </a:xfrm>
          <a:prstGeom prst="rect">
            <a:avLst/>
          </a:prstGeom>
          <a:noFill/>
        </p:spPr>
        <p:txBody>
          <a:bodyPr wrap="none" lIns="0" rIns="0" tIns="0" bIns="0">
            <a:spAutoFit/>
          </a:bodyPr>
          <a:lstStyle/>
          <a:p>
            <a:r>
              <a:rPr sz="1150" b="0">
                <a:solidFill>
                  <a:srgbClr val="2E2E2E"/>
                </a:solidFill>
                <a:latin typeface="Calibri"/>
              </a:rPr>
              <a:t>Cut flowers segment is projected to register</a:t>
            </a:r>
          </a:p>
        </p:txBody>
      </p:sp>
      <p:pic>
        <p:nvPicPr>
          <p:cNvPr id="21" name="Picture 20" descr="lock.png"/>
          <p:cNvPicPr>
            <a:picLocks noChangeAspect="1"/>
          </p:cNvPicPr>
          <p:nvPr/>
        </p:nvPicPr>
        <p:blipFill>
          <a:blip r:embed="rId4"/>
          <a:stretch>
            <a:fillRect/>
          </a:stretch>
        </p:blipFill>
        <p:spPr>
          <a:xfrm>
            <a:off x="2903950" y="4209351"/>
            <a:ext cx="134549" cy="195707"/>
          </a:xfrm>
          <a:prstGeom prst="rect">
            <a:avLst/>
          </a:prstGeom>
        </p:spPr>
      </p:pic>
      <p:sp>
        <p:nvSpPr>
          <p:cNvPr id="22" name="TextBox 21"/>
          <p:cNvSpPr txBox="1"/>
          <p:nvPr/>
        </p:nvSpPr>
        <p:spPr>
          <a:xfrm>
            <a:off x="3079059" y="4219575"/>
            <a:ext cx="8480921" cy="194310"/>
          </a:xfrm>
          <a:prstGeom prst="rect">
            <a:avLst/>
          </a:prstGeom>
          <a:noFill/>
        </p:spPr>
        <p:txBody>
          <a:bodyPr wrap="none" lIns="0" rIns="0" tIns="0" bIns="0">
            <a:spAutoFit/>
          </a:bodyPr>
          <a:lstStyle/>
          <a:p>
            <a:r>
              <a:rPr sz="1150" b="0">
                <a:solidFill>
                  <a:srgbClr val="2E2E2E"/>
                </a:solidFill>
                <a:latin typeface="Calibri"/>
              </a:rPr>
              <a:t>X higher value than cut foliage &amp; greens segment in 2036. Among floriculture by product type, cut flowers segment is expected to witness the</a:t>
            </a:r>
          </a:p>
        </p:txBody>
      </p:sp>
      <p:sp>
        <p:nvSpPr>
          <p:cNvPr id="23" name="TextBox 22"/>
          <p:cNvSpPr txBox="1"/>
          <p:nvPr/>
        </p:nvSpPr>
        <p:spPr>
          <a:xfrm>
            <a:off x="276225" y="439483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4" name="Picture 23" descr="lock.png"/>
          <p:cNvPicPr>
            <a:picLocks noChangeAspect="1"/>
          </p:cNvPicPr>
          <p:nvPr/>
        </p:nvPicPr>
        <p:blipFill>
          <a:blip r:embed="rId4"/>
          <a:stretch>
            <a:fillRect/>
          </a:stretch>
        </p:blipFill>
        <p:spPr>
          <a:xfrm>
            <a:off x="1257732" y="4384611"/>
            <a:ext cx="134549" cy="195707"/>
          </a:xfrm>
          <a:prstGeom prst="rect">
            <a:avLst/>
          </a:prstGeom>
        </p:spPr>
      </p:pic>
      <p:sp>
        <p:nvSpPr>
          <p:cNvPr id="25" name="TextBox 24"/>
          <p:cNvSpPr txBox="1"/>
          <p:nvPr/>
        </p:nvSpPr>
        <p:spPr>
          <a:xfrm>
            <a:off x="1432841"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6577992" cy="194310"/>
          </a:xfrm>
          <a:prstGeom prst="rect">
            <a:avLst/>
          </a:prstGeom>
          <a:noFill/>
        </p:spPr>
        <p:txBody>
          <a:bodyPr wrap="none" lIns="0" rIns="0" tIns="0" bIns="0">
            <a:spAutoFit/>
          </a:bodyPr>
          <a:lstStyle/>
          <a:p>
            <a:r>
              <a:rPr sz="1150" b="0">
                <a:solidFill>
                  <a:srgbClr val="2E2E2E"/>
                </a:solidFill>
                <a:latin typeface="Calibri"/>
              </a:rPr>
              <a:t>In terms of value share by product type, the cut flowers segment is expected to dominate the market, gaining</a:t>
            </a:r>
          </a:p>
        </p:txBody>
      </p:sp>
      <p:pic>
        <p:nvPicPr>
          <p:cNvPr id="27" name="Picture 26" descr="lock.png"/>
          <p:cNvPicPr>
            <a:picLocks noChangeAspect="1"/>
          </p:cNvPicPr>
          <p:nvPr/>
        </p:nvPicPr>
        <p:blipFill>
          <a:blip r:embed="rId4"/>
          <a:stretch>
            <a:fillRect/>
          </a:stretch>
        </p:blipFill>
        <p:spPr>
          <a:xfrm>
            <a:off x="6803371" y="4612449"/>
            <a:ext cx="134549" cy="195707"/>
          </a:xfrm>
          <a:prstGeom prst="rect">
            <a:avLst/>
          </a:prstGeom>
        </p:spPr>
      </p:pic>
      <p:sp>
        <p:nvSpPr>
          <p:cNvPr id="28" name="TextBox 27"/>
          <p:cNvSpPr txBox="1"/>
          <p:nvPr/>
        </p:nvSpPr>
        <p:spPr>
          <a:xfrm>
            <a:off x="6978480"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373623" y="4612449"/>
            <a:ext cx="134549" cy="195707"/>
          </a:xfrm>
          <a:prstGeom prst="rect">
            <a:avLst/>
          </a:prstGeom>
        </p:spPr>
      </p:pic>
      <p:sp>
        <p:nvSpPr>
          <p:cNvPr id="30" name="TextBox 29"/>
          <p:cNvSpPr txBox="1"/>
          <p:nvPr/>
        </p:nvSpPr>
        <p:spPr>
          <a:xfrm>
            <a:off x="8548732" y="4622672"/>
            <a:ext cx="2892511" cy="194310"/>
          </a:xfrm>
          <a:prstGeom prst="rect">
            <a:avLst/>
          </a:prstGeom>
          <a:noFill/>
        </p:spPr>
        <p:txBody>
          <a:bodyPr wrap="none" lIns="0" rIns="0" tIns="0" bIns="0">
            <a:spAutoFit/>
          </a:bodyPr>
          <a:lstStyle/>
          <a:p>
            <a:r>
              <a:rPr sz="1150" b="0">
                <a:solidFill>
                  <a:srgbClr val="2E2E2E"/>
                </a:solidFill>
                <a:latin typeface="Calibri"/>
              </a:rPr>
              <a:t>share by 2036. The bedding &amp; garden flowering</a:t>
            </a:r>
          </a:p>
        </p:txBody>
      </p:sp>
      <p:sp>
        <p:nvSpPr>
          <p:cNvPr id="31" name="TextBox 30"/>
          <p:cNvSpPr txBox="1"/>
          <p:nvPr/>
        </p:nvSpPr>
        <p:spPr>
          <a:xfrm>
            <a:off x="276225" y="4797932"/>
            <a:ext cx="2121755" cy="194310"/>
          </a:xfrm>
          <a:prstGeom prst="rect">
            <a:avLst/>
          </a:prstGeom>
          <a:noFill/>
        </p:spPr>
        <p:txBody>
          <a:bodyPr wrap="none" lIns="0" rIns="0" tIns="0" bIns="0">
            <a:spAutoFit/>
          </a:bodyPr>
          <a:lstStyle/>
          <a:p>
            <a:r>
              <a:rPr sz="1150" b="0">
                <a:solidFill>
                  <a:srgbClr val="2E2E2E"/>
                </a:solidFill>
                <a:latin typeface="Calibri"/>
              </a:rPr>
              <a:t>plants segment is expected to lose</a:t>
            </a:r>
          </a:p>
        </p:txBody>
      </p:sp>
      <p:pic>
        <p:nvPicPr>
          <p:cNvPr id="32" name="Picture 31" descr="lock.png"/>
          <p:cNvPicPr>
            <a:picLocks noChangeAspect="1"/>
          </p:cNvPicPr>
          <p:nvPr/>
        </p:nvPicPr>
        <p:blipFill>
          <a:blip r:embed="rId4"/>
          <a:stretch>
            <a:fillRect/>
          </a:stretch>
        </p:blipFill>
        <p:spPr>
          <a:xfrm>
            <a:off x="2347134" y="4787709"/>
            <a:ext cx="134549" cy="195707"/>
          </a:xfrm>
          <a:prstGeom prst="rect">
            <a:avLst/>
          </a:prstGeom>
        </p:spPr>
      </p:pic>
      <p:sp>
        <p:nvSpPr>
          <p:cNvPr id="33" name="TextBox 32"/>
          <p:cNvSpPr txBox="1"/>
          <p:nvPr/>
        </p:nvSpPr>
        <p:spPr>
          <a:xfrm>
            <a:off x="2522243"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109748" y="4787709"/>
            <a:ext cx="134549" cy="195707"/>
          </a:xfrm>
          <a:prstGeom prst="rect">
            <a:avLst/>
          </a:prstGeom>
        </p:spPr>
      </p:pic>
      <p:sp>
        <p:nvSpPr>
          <p:cNvPr id="35" name="TextBox 34"/>
          <p:cNvSpPr txBox="1"/>
          <p:nvPr/>
        </p:nvSpPr>
        <p:spPr>
          <a:xfrm>
            <a:off x="5284857"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67040"/>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6227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860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Potted Foliage Plants</a:t>
            </a:r>
          </a:p>
        </p:txBody>
      </p:sp>
      <p:sp>
        <p:nvSpPr>
          <p:cNvPr id="18" name="BPS Value 1"/>
          <p:cNvSpPr txBox="1"/>
          <p:nvPr/>
        </p:nvSpPr>
        <p:spPr>
          <a:xfrm>
            <a:off x="6896100" y="184799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9459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28982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136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Young Plants &amp; Propagation Material</a:t>
            </a:r>
          </a:p>
        </p:txBody>
      </p:sp>
      <p:sp>
        <p:nvSpPr>
          <p:cNvPr id="22" name="BPS Value 2"/>
          <p:cNvSpPr txBox="1"/>
          <p:nvPr/>
        </p:nvSpPr>
        <p:spPr>
          <a:xfrm>
            <a:off x="6896100" y="227554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80224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79747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7212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Flower Bulbs, Corms, Rhizomes &amp; Tubers</a:t>
            </a:r>
          </a:p>
        </p:txBody>
      </p:sp>
      <p:sp>
        <p:nvSpPr>
          <p:cNvPr id="26" name="BPS Value 3"/>
          <p:cNvSpPr txBox="1"/>
          <p:nvPr/>
        </p:nvSpPr>
        <p:spPr>
          <a:xfrm>
            <a:off x="6896100" y="27831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388095"/>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38333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3071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Bedding &amp; Garden Flowering Plants</a:t>
            </a:r>
          </a:p>
        </p:txBody>
      </p:sp>
      <p:sp>
        <p:nvSpPr>
          <p:cNvPr id="30" name="BPS Value 4"/>
          <p:cNvSpPr txBox="1"/>
          <p:nvPr/>
        </p:nvSpPr>
        <p:spPr>
          <a:xfrm>
            <a:off x="6896100" y="33690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02172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01695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9407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Potted Flowering Plants</a:t>
            </a:r>
          </a:p>
        </p:txBody>
      </p:sp>
      <p:sp>
        <p:nvSpPr>
          <p:cNvPr id="34" name="BPS Value 5"/>
          <p:cNvSpPr txBox="1"/>
          <p:nvPr/>
        </p:nvSpPr>
        <p:spPr>
          <a:xfrm>
            <a:off x="6896100" y="400267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476095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475619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467999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Foliage &amp; Greens</a:t>
            </a:r>
          </a:p>
        </p:txBody>
      </p:sp>
      <p:sp>
        <p:nvSpPr>
          <p:cNvPr id="38" name="BPS Value 6"/>
          <p:cNvSpPr txBox="1"/>
          <p:nvPr/>
        </p:nvSpPr>
        <p:spPr>
          <a:xfrm>
            <a:off x="6896100" y="474190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571009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57053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56291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Flowers</a:t>
            </a:r>
          </a:p>
        </p:txBody>
      </p:sp>
      <p:sp>
        <p:nvSpPr>
          <p:cNvPr id="42" name="BPS Value 7"/>
          <p:cNvSpPr txBox="1"/>
          <p:nvPr/>
        </p:nvSpPr>
        <p:spPr>
          <a:xfrm>
            <a:off x="6896100" y="56910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Type</a:t>
            </a:r>
          </a:p>
        </p:txBody>
      </p:sp>
      <p:sp>
        <p:nvSpPr>
          <p:cNvPr id="45" name="Rectangle 4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557843" y="3833622"/>
            <a:ext cx="275034" cy="400050"/>
          </a:xfrm>
          <a:prstGeom prst="rect">
            <a:avLst/>
          </a:prstGeom>
        </p:spPr>
      </p:pic>
      <p:sp>
        <p:nvSpPr>
          <p:cNvPr id="49" name="TextBox 48"/>
          <p:cNvSpPr txBox="1"/>
          <p:nvPr/>
        </p:nvSpPr>
        <p:spPr>
          <a:xfrm>
            <a:off x="7829550" y="1400175"/>
            <a:ext cx="3572271" cy="194310"/>
          </a:xfrm>
          <a:prstGeom prst="rect">
            <a:avLst/>
          </a:prstGeom>
          <a:noFill/>
        </p:spPr>
        <p:txBody>
          <a:bodyPr wrap="none" lIns="0" rIns="0" tIns="0" bIns="0">
            <a:spAutoFit/>
          </a:bodyPr>
          <a:lstStyle/>
          <a:p>
            <a:r>
              <a:rPr sz="1150" b="0">
                <a:solidFill>
                  <a:srgbClr val="2E2E2E"/>
                </a:solidFill>
                <a:latin typeface="Calibri"/>
              </a:rPr>
              <a:t>Among floriculture by product type, cut flowers segment is</a:t>
            </a:r>
          </a:p>
        </p:txBody>
      </p:sp>
      <p:sp>
        <p:nvSpPr>
          <p:cNvPr id="50" name="TextBox 49"/>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51" name="Picture 50" descr="lock.png"/>
          <p:cNvPicPr>
            <a:picLocks noChangeAspect="1"/>
          </p:cNvPicPr>
          <p:nvPr/>
        </p:nvPicPr>
        <p:blipFill>
          <a:blip r:embed="rId5"/>
          <a:stretch>
            <a:fillRect/>
          </a:stretch>
        </p:blipFill>
        <p:spPr>
          <a:xfrm>
            <a:off x="10264711" y="1565211"/>
            <a:ext cx="134549" cy="195707"/>
          </a:xfrm>
          <a:prstGeom prst="rect">
            <a:avLst/>
          </a:prstGeom>
        </p:spPr>
      </p:pic>
      <p:sp>
        <p:nvSpPr>
          <p:cNvPr id="52" name="TextBox 51"/>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53" name="TextBox 52"/>
          <p:cNvSpPr txBox="1"/>
          <p:nvPr/>
        </p:nvSpPr>
        <p:spPr>
          <a:xfrm>
            <a:off x="7829550" y="1750695"/>
            <a:ext cx="3832993" cy="194310"/>
          </a:xfrm>
          <a:prstGeom prst="rect">
            <a:avLst/>
          </a:prstGeom>
          <a:noFill/>
        </p:spPr>
        <p:txBody>
          <a:bodyPr wrap="none" lIns="0" rIns="0" tIns="0" bIns="0">
            <a:spAutoFit/>
          </a:bodyPr>
          <a:lstStyle/>
          <a:p>
            <a:r>
              <a:rPr sz="1150" b="0">
                <a:solidFill>
                  <a:srgbClr val="2E2E2E"/>
                </a:solidFill>
                <a:latin typeface="Calibri"/>
              </a:rPr>
              <a:t>period. In terms of value share by product type, the cut flowers</a:t>
            </a:r>
          </a:p>
        </p:txBody>
      </p:sp>
      <p:sp>
        <p:nvSpPr>
          <p:cNvPr id="54" name="TextBox 53"/>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55" name="Picture 54" descr="lock.png"/>
          <p:cNvPicPr>
            <a:picLocks noChangeAspect="1"/>
          </p:cNvPicPr>
          <p:nvPr/>
        </p:nvPicPr>
        <p:blipFill>
          <a:blip r:embed="rId5"/>
          <a:stretch>
            <a:fillRect/>
          </a:stretch>
        </p:blipFill>
        <p:spPr>
          <a:xfrm>
            <a:off x="11024645" y="1915731"/>
            <a:ext cx="134549" cy="195707"/>
          </a:xfrm>
          <a:prstGeom prst="rect">
            <a:avLst/>
          </a:prstGeom>
        </p:spPr>
      </p:pic>
      <p:sp>
        <p:nvSpPr>
          <p:cNvPr id="56" name="TextBox 55"/>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57" name="TextBox 56"/>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58" name="Picture 57" descr="lock.png"/>
          <p:cNvPicPr>
            <a:picLocks noChangeAspect="1"/>
          </p:cNvPicPr>
          <p:nvPr/>
        </p:nvPicPr>
        <p:blipFill>
          <a:blip r:embed="rId5"/>
          <a:stretch>
            <a:fillRect/>
          </a:stretch>
        </p:blipFill>
        <p:spPr>
          <a:xfrm>
            <a:off x="8712947" y="2090991"/>
            <a:ext cx="134549" cy="195707"/>
          </a:xfrm>
          <a:prstGeom prst="rect">
            <a:avLst/>
          </a:prstGeom>
        </p:spPr>
      </p:pic>
      <p:sp>
        <p:nvSpPr>
          <p:cNvPr id="59" name="TextBox 58"/>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329053"/>
            <a:ext cx="4057650" cy="194310"/>
          </a:xfrm>
          <a:prstGeom prst="rect">
            <a:avLst/>
          </a:prstGeom>
          <a:noFill/>
        </p:spPr>
        <p:txBody>
          <a:bodyPr wrap="none" lIns="0" rIns="0" tIns="0" bIns="0">
            <a:spAutoFit/>
          </a:bodyPr>
          <a:lstStyle/>
          <a:p>
            <a:r>
              <a:rPr sz="1150" b="0">
                <a:solidFill>
                  <a:srgbClr val="2E2E2E"/>
                </a:solidFill>
                <a:latin typeface="Calibri"/>
              </a:rPr>
              <a:t>The bedding &amp; garden flowering plants segment is expected to lose</a:t>
            </a:r>
          </a:p>
        </p:txBody>
      </p:sp>
      <p:pic>
        <p:nvPicPr>
          <p:cNvPr id="61" name="Picture 60" descr="lock.png"/>
          <p:cNvPicPr>
            <a:picLocks noChangeAspect="1"/>
          </p:cNvPicPr>
          <p:nvPr/>
        </p:nvPicPr>
        <p:blipFill>
          <a:blip r:embed="rId5"/>
          <a:stretch>
            <a:fillRect/>
          </a:stretch>
        </p:blipFill>
        <p:spPr>
          <a:xfrm>
            <a:off x="7815470" y="2494089"/>
            <a:ext cx="134549" cy="195707"/>
          </a:xfrm>
          <a:prstGeom prst="rect">
            <a:avLst/>
          </a:prstGeom>
        </p:spPr>
      </p:pic>
      <p:sp>
        <p:nvSpPr>
          <p:cNvPr id="62" name="TextBox 61"/>
          <p:cNvSpPr txBox="1"/>
          <p:nvPr/>
        </p:nvSpPr>
        <p:spPr>
          <a:xfrm>
            <a:off x="799057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3" name="Picture 62" descr="lock.png"/>
          <p:cNvPicPr>
            <a:picLocks noChangeAspect="1"/>
          </p:cNvPicPr>
          <p:nvPr/>
        </p:nvPicPr>
        <p:blipFill>
          <a:blip r:embed="rId5"/>
          <a:stretch>
            <a:fillRect/>
          </a:stretch>
        </p:blipFill>
        <p:spPr>
          <a:xfrm>
            <a:off x="10578084" y="2494089"/>
            <a:ext cx="134549" cy="195707"/>
          </a:xfrm>
          <a:prstGeom prst="rect">
            <a:avLst/>
          </a:prstGeom>
        </p:spPr>
      </p:pic>
      <p:sp>
        <p:nvSpPr>
          <p:cNvPr id="64" name="TextBox 63"/>
          <p:cNvSpPr txBox="1"/>
          <p:nvPr/>
        </p:nvSpPr>
        <p:spPr>
          <a:xfrm>
            <a:off x="1075319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Flower Species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Flower Species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Flower Species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12 sub-segments of Flower Species,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Flower Species segment categorizes the market by flower species.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69281" y="1773916"/>
            <a:ext cx="723900" cy="438089"/>
          </a:xfrm>
          <a:prstGeom prst="rect">
            <a:avLst/>
          </a:prstGeom>
          <a:noFill/>
        </p:spPr>
        <p:txBody>
          <a:bodyPr wrap="square" lIns="28575" rIns="28575" tIns="9525" bIns="9525" anchor="ctr">
            <a:spAutoFit/>
          </a:bodyPr>
          <a:lstStyle/>
          <a:p>
            <a:pPr algn="ctr"/>
            <a:r>
              <a:rPr sz="1100" b="1">
                <a:solidFill>
                  <a:srgbClr val="FFFFFF"/>
                </a:solidFill>
                <a:latin typeface="Calibri"/>
              </a:rPr>
              <a:t>Carnations</a:t>
            </a:r>
          </a:p>
        </p:txBody>
      </p:sp>
      <p:sp>
        <p:nvSpPr>
          <p:cNvPr id="22" name="Rectangle 21"/>
          <p:cNvSpPr/>
          <p:nvPr/>
        </p:nvSpPr>
        <p:spPr>
          <a:xfrm>
            <a:off x="18669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069306"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2709862"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09862"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7962"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Gerbera</a:t>
            </a:r>
          </a:p>
        </p:txBody>
      </p:sp>
      <p:sp>
        <p:nvSpPr>
          <p:cNvPr id="29" name="Rectangle 28"/>
          <p:cNvSpPr/>
          <p:nvPr/>
        </p:nvSpPr>
        <p:spPr>
          <a:xfrm>
            <a:off x="27098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27098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27098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2912269"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552825"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52825"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9092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Peonies</a:t>
            </a:r>
          </a:p>
        </p:txBody>
      </p:sp>
      <p:sp>
        <p:nvSpPr>
          <p:cNvPr id="36" name="Rectangle 35"/>
          <p:cNvSpPr/>
          <p:nvPr/>
        </p:nvSpPr>
        <p:spPr>
          <a:xfrm>
            <a:off x="35528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35528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35528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375523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4395788"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95788"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3888"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Lilies</a:t>
            </a:r>
          </a:p>
        </p:txBody>
      </p:sp>
      <p:sp>
        <p:nvSpPr>
          <p:cNvPr id="43" name="Rectangle 42"/>
          <p:cNvSpPr/>
          <p:nvPr/>
        </p:nvSpPr>
        <p:spPr>
          <a:xfrm>
            <a:off x="43957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43957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43957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4598194"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5238750"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38750"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76850"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Orchids</a:t>
            </a:r>
          </a:p>
        </p:txBody>
      </p:sp>
      <p:sp>
        <p:nvSpPr>
          <p:cNvPr id="50" name="Rectangle 49"/>
          <p:cNvSpPr/>
          <p:nvPr/>
        </p:nvSpPr>
        <p:spPr>
          <a:xfrm>
            <a:off x="523875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523875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523875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5441156"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6081712" y="1773916"/>
            <a:ext cx="728662"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081712" y="1992961"/>
            <a:ext cx="728662"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19812"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Tulips</a:t>
            </a:r>
          </a:p>
        </p:txBody>
      </p:sp>
      <p:sp>
        <p:nvSpPr>
          <p:cNvPr id="57" name="Rectangle 56"/>
          <p:cNvSpPr/>
          <p:nvPr/>
        </p:nvSpPr>
        <p:spPr>
          <a:xfrm>
            <a:off x="608171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608171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608171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6284119"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6924675" y="1773916"/>
            <a:ext cx="728662"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24675" y="1992961"/>
            <a:ext cx="728662"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6277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Roses</a:t>
            </a:r>
          </a:p>
        </p:txBody>
      </p:sp>
      <p:sp>
        <p:nvSpPr>
          <p:cNvPr id="64" name="Rectangle 63"/>
          <p:cNvSpPr/>
          <p:nvPr/>
        </p:nvSpPr>
        <p:spPr>
          <a:xfrm>
            <a:off x="692467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5" name="Rectangle 64"/>
          <p:cNvSpPr/>
          <p:nvPr/>
        </p:nvSpPr>
        <p:spPr>
          <a:xfrm>
            <a:off x="692467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692467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Oval 66"/>
          <p:cNvSpPr/>
          <p:nvPr/>
        </p:nvSpPr>
        <p:spPr>
          <a:xfrm>
            <a:off x="7127081"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8" name="Rounded Rectangle 67"/>
          <p:cNvSpPr/>
          <p:nvPr/>
        </p:nvSpPr>
        <p:spPr>
          <a:xfrm>
            <a:off x="7767638" y="1773916"/>
            <a:ext cx="728662"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767638" y="1992961"/>
            <a:ext cx="728662"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91450" y="1773916"/>
            <a:ext cx="681038" cy="438089"/>
          </a:xfrm>
          <a:prstGeom prst="rect">
            <a:avLst/>
          </a:prstGeom>
          <a:noFill/>
        </p:spPr>
        <p:txBody>
          <a:bodyPr wrap="square" lIns="28575" rIns="28575" tIns="9525" bIns="9525" anchor="ctr">
            <a:spAutoFit/>
          </a:bodyPr>
          <a:lstStyle/>
          <a:p>
            <a:pPr algn="ctr"/>
            <a:r>
              <a:rPr sz="1100" b="1">
                <a:solidFill>
                  <a:srgbClr val="FFFFFF"/>
                </a:solidFill>
                <a:latin typeface="Calibri"/>
              </a:rPr>
              <a:t>Lisianthus</a:t>
            </a:r>
          </a:p>
        </p:txBody>
      </p:sp>
      <p:sp>
        <p:nvSpPr>
          <p:cNvPr id="71" name="Rectangle 70"/>
          <p:cNvSpPr/>
          <p:nvPr/>
        </p:nvSpPr>
        <p:spPr>
          <a:xfrm>
            <a:off x="776763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72" name="Rectangle 71"/>
          <p:cNvSpPr/>
          <p:nvPr/>
        </p:nvSpPr>
        <p:spPr>
          <a:xfrm>
            <a:off x="776763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73" name="Rectangle 72"/>
          <p:cNvSpPr/>
          <p:nvPr/>
        </p:nvSpPr>
        <p:spPr>
          <a:xfrm>
            <a:off x="776763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74" name="Oval 73"/>
          <p:cNvSpPr/>
          <p:nvPr/>
        </p:nvSpPr>
        <p:spPr>
          <a:xfrm>
            <a:off x="797004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75" name="Rounded Rectangle 74"/>
          <p:cNvSpPr/>
          <p:nvPr/>
        </p:nvSpPr>
        <p:spPr>
          <a:xfrm>
            <a:off x="8610600" y="1773916"/>
            <a:ext cx="728662"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610600" y="1992961"/>
            <a:ext cx="728662"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582025" y="1773916"/>
            <a:ext cx="785812" cy="438089"/>
          </a:xfrm>
          <a:prstGeom prst="rect">
            <a:avLst/>
          </a:prstGeom>
          <a:noFill/>
        </p:spPr>
        <p:txBody>
          <a:bodyPr wrap="square" lIns="28575" rIns="28575" tIns="9525" bIns="9525" anchor="ctr">
            <a:spAutoFit/>
          </a:bodyPr>
          <a:lstStyle/>
          <a:p>
            <a:pPr algn="ctr"/>
            <a:r>
              <a:rPr sz="1100" b="1">
                <a:solidFill>
                  <a:srgbClr val="FFFFFF"/>
                </a:solidFill>
                <a:latin typeface="Calibri"/>
              </a:rPr>
              <a:t>Hydrangeas</a:t>
            </a:r>
          </a:p>
        </p:txBody>
      </p:sp>
      <p:sp>
        <p:nvSpPr>
          <p:cNvPr id="78" name="Rectangle 77"/>
          <p:cNvSpPr/>
          <p:nvPr/>
        </p:nvSpPr>
        <p:spPr>
          <a:xfrm>
            <a:off x="8610600"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79" name="Rectangle 78"/>
          <p:cNvSpPr/>
          <p:nvPr/>
        </p:nvSpPr>
        <p:spPr>
          <a:xfrm>
            <a:off x="8610600"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80" name="Rectangle 79"/>
          <p:cNvSpPr/>
          <p:nvPr/>
        </p:nvSpPr>
        <p:spPr>
          <a:xfrm>
            <a:off x="8610600"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81" name="Oval 80"/>
          <p:cNvSpPr/>
          <p:nvPr/>
        </p:nvSpPr>
        <p:spPr>
          <a:xfrm>
            <a:off x="881300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82" name="Rounded Rectangle 81"/>
          <p:cNvSpPr/>
          <p:nvPr/>
        </p:nvSpPr>
        <p:spPr>
          <a:xfrm>
            <a:off x="9453562" y="1773916"/>
            <a:ext cx="728662"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453562" y="1992961"/>
            <a:ext cx="728662"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90459" y="1773916"/>
            <a:ext cx="854869" cy="438089"/>
          </a:xfrm>
          <a:prstGeom prst="rect">
            <a:avLst/>
          </a:prstGeom>
          <a:noFill/>
        </p:spPr>
        <p:txBody>
          <a:bodyPr wrap="square" lIns="28575" rIns="28575" tIns="9525" bIns="9525" anchor="ctr">
            <a:spAutoFit/>
          </a:bodyPr>
          <a:lstStyle/>
          <a:p>
            <a:pPr algn="ctr"/>
            <a:r>
              <a:rPr sz="1100" b="1">
                <a:solidFill>
                  <a:srgbClr val="FFFFFF"/>
                </a:solidFill>
                <a:latin typeface="Calibri"/>
              </a:rPr>
              <a:t>Alstroemeria</a:t>
            </a:r>
          </a:p>
        </p:txBody>
      </p:sp>
      <p:sp>
        <p:nvSpPr>
          <p:cNvPr id="85" name="Rectangle 84"/>
          <p:cNvSpPr/>
          <p:nvPr/>
        </p:nvSpPr>
        <p:spPr>
          <a:xfrm>
            <a:off x="9453562"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86" name="Rectangle 85"/>
          <p:cNvSpPr/>
          <p:nvPr/>
        </p:nvSpPr>
        <p:spPr>
          <a:xfrm>
            <a:off x="9453562"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87" name="Rectangle 86"/>
          <p:cNvSpPr/>
          <p:nvPr/>
        </p:nvSpPr>
        <p:spPr>
          <a:xfrm>
            <a:off x="9453562"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88" name="Oval 87"/>
          <p:cNvSpPr/>
          <p:nvPr/>
        </p:nvSpPr>
        <p:spPr>
          <a:xfrm>
            <a:off x="9655969"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10</a:t>
            </a:r>
          </a:p>
        </p:txBody>
      </p:sp>
      <p:sp>
        <p:nvSpPr>
          <p:cNvPr id="89" name="Rounded Rectangle 88"/>
          <p:cNvSpPr/>
          <p:nvPr/>
        </p:nvSpPr>
        <p:spPr>
          <a:xfrm>
            <a:off x="10296525" y="1773916"/>
            <a:ext cx="728662"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296525" y="1992961"/>
            <a:ext cx="728662"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334625" y="1773916"/>
            <a:ext cx="652462"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Others</a:t>
            </a:r>
          </a:p>
        </p:txBody>
      </p:sp>
      <p:sp>
        <p:nvSpPr>
          <p:cNvPr id="92" name="Rectangle 91"/>
          <p:cNvSpPr/>
          <p:nvPr/>
        </p:nvSpPr>
        <p:spPr>
          <a:xfrm>
            <a:off x="10296525"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93" name="Rectangle 92"/>
          <p:cNvSpPr/>
          <p:nvPr/>
        </p:nvSpPr>
        <p:spPr>
          <a:xfrm>
            <a:off x="10296525"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94" name="Rectangle 93"/>
          <p:cNvSpPr/>
          <p:nvPr/>
        </p:nvSpPr>
        <p:spPr>
          <a:xfrm>
            <a:off x="10296525"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95" name="Oval 94"/>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11</a:t>
            </a:r>
          </a:p>
        </p:txBody>
      </p:sp>
      <p:sp>
        <p:nvSpPr>
          <p:cNvPr id="96" name="Rounded Rectangle 95"/>
          <p:cNvSpPr/>
          <p:nvPr/>
        </p:nvSpPr>
        <p:spPr>
          <a:xfrm>
            <a:off x="11139488" y="1773916"/>
            <a:ext cx="728662"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139488" y="1992961"/>
            <a:ext cx="728662"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943035" y="1773916"/>
            <a:ext cx="1121569" cy="438089"/>
          </a:xfrm>
          <a:prstGeom prst="rect">
            <a:avLst/>
          </a:prstGeom>
          <a:noFill/>
        </p:spPr>
        <p:txBody>
          <a:bodyPr wrap="square" lIns="28575" rIns="28575" tIns="9525" bIns="9525" anchor="ctr">
            <a:spAutoFit/>
          </a:bodyPr>
          <a:lstStyle/>
          <a:p>
            <a:pPr algn="ctr"/>
            <a:r>
              <a:rPr sz="1100" b="1">
                <a:solidFill>
                  <a:srgbClr val="FFFFFF"/>
                </a:solidFill>
                <a:latin typeface="Calibri"/>
              </a:rPr>
              <a:t>Chrysanthemums</a:t>
            </a:r>
          </a:p>
        </p:txBody>
      </p:sp>
      <p:sp>
        <p:nvSpPr>
          <p:cNvPr id="99" name="Rectangle 98"/>
          <p:cNvSpPr/>
          <p:nvPr/>
        </p:nvSpPr>
        <p:spPr>
          <a:xfrm>
            <a:off x="11139488" y="22302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100" name="Rectangle 99"/>
          <p:cNvSpPr/>
          <p:nvPr/>
        </p:nvSpPr>
        <p:spPr>
          <a:xfrm>
            <a:off x="11139488" y="2723109"/>
            <a:ext cx="728662"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101" name="Rectangle 100"/>
          <p:cNvSpPr/>
          <p:nvPr/>
        </p:nvSpPr>
        <p:spPr>
          <a:xfrm>
            <a:off x="11139488" y="3215959"/>
            <a:ext cx="728662"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102" name="Oval 101"/>
          <p:cNvSpPr/>
          <p:nvPr/>
        </p:nvSpPr>
        <p:spPr>
          <a:xfrm>
            <a:off x="11341894"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12</a:t>
            </a:r>
          </a:p>
        </p:txBody>
      </p:sp>
      <p:sp>
        <p:nvSpPr>
          <p:cNvPr id="103" name="Rounded Rectangle 10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105" name="Rectangle 10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107" name="Rounded Rectangle 10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109" name="Rectangle 10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111" name="Rounded Rectangle 11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113" name="Rectangle 11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Flower Species split shows how demand is distributed across flower species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115" name="Rectangle 11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117" name="TextBox 11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9" name="Picture 118" descr="3_320_605E5C.png"/>
          <p:cNvPicPr>
            <a:picLocks noChangeAspect="1"/>
          </p:cNvPicPr>
          <p:nvPr/>
        </p:nvPicPr>
        <p:blipFill>
          <a:blip r:embed="rId4"/>
          <a:stretch>
            <a:fillRect/>
          </a:stretch>
        </p:blipFill>
        <p:spPr>
          <a:xfrm>
            <a:off x="1633367" y="2286582"/>
            <a:ext cx="1195728" cy="361950"/>
          </a:xfrm>
          <a:prstGeom prst="rect">
            <a:avLst/>
          </a:prstGeom>
        </p:spPr>
      </p:pic>
      <p:pic>
        <p:nvPicPr>
          <p:cNvPr id="120" name="Picture 119" descr="5_707_605E5C.png"/>
          <p:cNvPicPr>
            <a:picLocks noChangeAspect="1"/>
          </p:cNvPicPr>
          <p:nvPr/>
        </p:nvPicPr>
        <p:blipFill>
          <a:blip r:embed="rId5"/>
          <a:stretch>
            <a:fillRect/>
          </a:stretch>
        </p:blipFill>
        <p:spPr>
          <a:xfrm>
            <a:off x="1633367" y="2779432"/>
            <a:ext cx="1195728" cy="361950"/>
          </a:xfrm>
          <a:prstGeom prst="rect">
            <a:avLst/>
          </a:prstGeom>
        </p:spPr>
      </p:pic>
      <p:pic>
        <p:nvPicPr>
          <p:cNvPr id="121" name="Picture 120" descr="5_6__605E5C.png"/>
          <p:cNvPicPr>
            <a:picLocks noChangeAspect="1"/>
          </p:cNvPicPr>
          <p:nvPr/>
        </p:nvPicPr>
        <p:blipFill>
          <a:blip r:embed="rId6"/>
          <a:stretch>
            <a:fillRect/>
          </a:stretch>
        </p:blipFill>
        <p:spPr>
          <a:xfrm>
            <a:off x="1740013" y="3272281"/>
            <a:ext cx="982436" cy="361950"/>
          </a:xfrm>
          <a:prstGeom prst="rect">
            <a:avLst/>
          </a:prstGeom>
        </p:spPr>
      </p:pic>
      <p:pic>
        <p:nvPicPr>
          <p:cNvPr id="122" name="Picture 121" descr="2_902_605E5C.png"/>
          <p:cNvPicPr>
            <a:picLocks noChangeAspect="1"/>
          </p:cNvPicPr>
          <p:nvPr/>
        </p:nvPicPr>
        <p:blipFill>
          <a:blip r:embed="rId7"/>
          <a:stretch>
            <a:fillRect/>
          </a:stretch>
        </p:blipFill>
        <p:spPr>
          <a:xfrm>
            <a:off x="2476329" y="2286582"/>
            <a:ext cx="1195728" cy="361950"/>
          </a:xfrm>
          <a:prstGeom prst="rect">
            <a:avLst/>
          </a:prstGeom>
        </p:spPr>
      </p:pic>
      <p:pic>
        <p:nvPicPr>
          <p:cNvPr id="123" name="Picture 122" descr="5_222_605E5C.png"/>
          <p:cNvPicPr>
            <a:picLocks noChangeAspect="1"/>
          </p:cNvPicPr>
          <p:nvPr/>
        </p:nvPicPr>
        <p:blipFill>
          <a:blip r:embed="rId8"/>
          <a:stretch>
            <a:fillRect/>
          </a:stretch>
        </p:blipFill>
        <p:spPr>
          <a:xfrm>
            <a:off x="2476329" y="2779432"/>
            <a:ext cx="1195728" cy="361950"/>
          </a:xfrm>
          <a:prstGeom prst="rect">
            <a:avLst/>
          </a:prstGeom>
        </p:spPr>
      </p:pic>
      <p:pic>
        <p:nvPicPr>
          <p:cNvPr id="124" name="Picture 123" descr="6_0__605E5C.png"/>
          <p:cNvPicPr>
            <a:picLocks noChangeAspect="1"/>
          </p:cNvPicPr>
          <p:nvPr/>
        </p:nvPicPr>
        <p:blipFill>
          <a:blip r:embed="rId9"/>
          <a:stretch>
            <a:fillRect/>
          </a:stretch>
        </p:blipFill>
        <p:spPr>
          <a:xfrm>
            <a:off x="2582975" y="3272281"/>
            <a:ext cx="982436" cy="361950"/>
          </a:xfrm>
          <a:prstGeom prst="rect">
            <a:avLst/>
          </a:prstGeom>
        </p:spPr>
      </p:pic>
      <p:pic>
        <p:nvPicPr>
          <p:cNvPr id="125" name="Picture 124" descr="2_398_605E5C.png"/>
          <p:cNvPicPr>
            <a:picLocks noChangeAspect="1"/>
          </p:cNvPicPr>
          <p:nvPr/>
        </p:nvPicPr>
        <p:blipFill>
          <a:blip r:embed="rId10"/>
          <a:stretch>
            <a:fillRect/>
          </a:stretch>
        </p:blipFill>
        <p:spPr>
          <a:xfrm>
            <a:off x="3319292" y="2286582"/>
            <a:ext cx="1195728" cy="361950"/>
          </a:xfrm>
          <a:prstGeom prst="rect">
            <a:avLst/>
          </a:prstGeom>
        </p:spPr>
      </p:pic>
      <p:pic>
        <p:nvPicPr>
          <p:cNvPr id="126" name="Picture 125" descr="2_489_605E5C.png"/>
          <p:cNvPicPr>
            <a:picLocks noChangeAspect="1"/>
          </p:cNvPicPr>
          <p:nvPr/>
        </p:nvPicPr>
        <p:blipFill>
          <a:blip r:embed="rId11"/>
          <a:stretch>
            <a:fillRect/>
          </a:stretch>
        </p:blipFill>
        <p:spPr>
          <a:xfrm>
            <a:off x="3319292" y="2779432"/>
            <a:ext cx="1195728" cy="361950"/>
          </a:xfrm>
          <a:prstGeom prst="rect">
            <a:avLst/>
          </a:prstGeom>
        </p:spPr>
      </p:pic>
      <p:pic>
        <p:nvPicPr>
          <p:cNvPr id="127" name="Picture 126" descr="0_4__605E5C.png"/>
          <p:cNvPicPr>
            <a:picLocks noChangeAspect="1"/>
          </p:cNvPicPr>
          <p:nvPr/>
        </p:nvPicPr>
        <p:blipFill>
          <a:blip r:embed="rId12"/>
          <a:stretch>
            <a:fillRect/>
          </a:stretch>
        </p:blipFill>
        <p:spPr>
          <a:xfrm>
            <a:off x="3425938" y="3272281"/>
            <a:ext cx="982436" cy="361950"/>
          </a:xfrm>
          <a:prstGeom prst="rect">
            <a:avLst/>
          </a:prstGeom>
        </p:spPr>
      </p:pic>
      <p:pic>
        <p:nvPicPr>
          <p:cNvPr id="128" name="Picture 127" descr="2_109_605E5C.png"/>
          <p:cNvPicPr>
            <a:picLocks noChangeAspect="1"/>
          </p:cNvPicPr>
          <p:nvPr/>
        </p:nvPicPr>
        <p:blipFill>
          <a:blip r:embed="rId13"/>
          <a:stretch>
            <a:fillRect/>
          </a:stretch>
        </p:blipFill>
        <p:spPr>
          <a:xfrm>
            <a:off x="4162255" y="2286582"/>
            <a:ext cx="1195728" cy="361950"/>
          </a:xfrm>
          <a:prstGeom prst="rect">
            <a:avLst/>
          </a:prstGeom>
        </p:spPr>
      </p:pic>
      <p:pic>
        <p:nvPicPr>
          <p:cNvPr id="129" name="Picture 128" descr="2_867_605E5C.png"/>
          <p:cNvPicPr>
            <a:picLocks noChangeAspect="1"/>
          </p:cNvPicPr>
          <p:nvPr/>
        </p:nvPicPr>
        <p:blipFill>
          <a:blip r:embed="rId14"/>
          <a:stretch>
            <a:fillRect/>
          </a:stretch>
        </p:blipFill>
        <p:spPr>
          <a:xfrm>
            <a:off x="4162255" y="2779432"/>
            <a:ext cx="1195728" cy="361950"/>
          </a:xfrm>
          <a:prstGeom prst="rect">
            <a:avLst/>
          </a:prstGeom>
        </p:spPr>
      </p:pic>
      <p:pic>
        <p:nvPicPr>
          <p:cNvPr id="130" name="Picture 129" descr="3_1__605E5C.png"/>
          <p:cNvPicPr>
            <a:picLocks noChangeAspect="1"/>
          </p:cNvPicPr>
          <p:nvPr/>
        </p:nvPicPr>
        <p:blipFill>
          <a:blip r:embed="rId15"/>
          <a:stretch>
            <a:fillRect/>
          </a:stretch>
        </p:blipFill>
        <p:spPr>
          <a:xfrm>
            <a:off x="4268901" y="3272281"/>
            <a:ext cx="982436" cy="361950"/>
          </a:xfrm>
          <a:prstGeom prst="rect">
            <a:avLst/>
          </a:prstGeom>
        </p:spPr>
      </p:pic>
      <p:pic>
        <p:nvPicPr>
          <p:cNvPr id="131" name="Picture 130" descr="1_806_605E5C.png"/>
          <p:cNvPicPr>
            <a:picLocks noChangeAspect="1"/>
          </p:cNvPicPr>
          <p:nvPr/>
        </p:nvPicPr>
        <p:blipFill>
          <a:blip r:embed="rId16"/>
          <a:stretch>
            <a:fillRect/>
          </a:stretch>
        </p:blipFill>
        <p:spPr>
          <a:xfrm>
            <a:off x="5005217" y="2286582"/>
            <a:ext cx="1195728" cy="361950"/>
          </a:xfrm>
          <a:prstGeom prst="rect">
            <a:avLst/>
          </a:prstGeom>
        </p:spPr>
      </p:pic>
      <p:pic>
        <p:nvPicPr>
          <p:cNvPr id="132" name="Picture 131" descr="2_897_605E5C.png"/>
          <p:cNvPicPr>
            <a:picLocks noChangeAspect="1"/>
          </p:cNvPicPr>
          <p:nvPr/>
        </p:nvPicPr>
        <p:blipFill>
          <a:blip r:embed="rId17"/>
          <a:stretch>
            <a:fillRect/>
          </a:stretch>
        </p:blipFill>
        <p:spPr>
          <a:xfrm>
            <a:off x="5005217" y="2779432"/>
            <a:ext cx="1195728" cy="361950"/>
          </a:xfrm>
          <a:prstGeom prst="rect">
            <a:avLst/>
          </a:prstGeom>
        </p:spPr>
      </p:pic>
      <p:pic>
        <p:nvPicPr>
          <p:cNvPr id="133" name="Picture 132" descr="4_8__605E5C.png"/>
          <p:cNvPicPr>
            <a:picLocks noChangeAspect="1"/>
          </p:cNvPicPr>
          <p:nvPr/>
        </p:nvPicPr>
        <p:blipFill>
          <a:blip r:embed="rId18"/>
          <a:stretch>
            <a:fillRect/>
          </a:stretch>
        </p:blipFill>
        <p:spPr>
          <a:xfrm>
            <a:off x="5111863" y="3272281"/>
            <a:ext cx="982436" cy="361950"/>
          </a:xfrm>
          <a:prstGeom prst="rect">
            <a:avLst/>
          </a:prstGeom>
        </p:spPr>
      </p:pic>
      <p:pic>
        <p:nvPicPr>
          <p:cNvPr id="134" name="Picture 133" descr="1_779_605E5C.png"/>
          <p:cNvPicPr>
            <a:picLocks noChangeAspect="1"/>
          </p:cNvPicPr>
          <p:nvPr/>
        </p:nvPicPr>
        <p:blipFill>
          <a:blip r:embed="rId19"/>
          <a:stretch>
            <a:fillRect/>
          </a:stretch>
        </p:blipFill>
        <p:spPr>
          <a:xfrm>
            <a:off x="5848179" y="2286582"/>
            <a:ext cx="1195728" cy="361950"/>
          </a:xfrm>
          <a:prstGeom prst="rect">
            <a:avLst/>
          </a:prstGeom>
        </p:spPr>
      </p:pic>
      <p:pic>
        <p:nvPicPr>
          <p:cNvPr id="135" name="Picture 134" descr="3_238_605E5C.png"/>
          <p:cNvPicPr>
            <a:picLocks noChangeAspect="1"/>
          </p:cNvPicPr>
          <p:nvPr/>
        </p:nvPicPr>
        <p:blipFill>
          <a:blip r:embed="rId20"/>
          <a:stretch>
            <a:fillRect/>
          </a:stretch>
        </p:blipFill>
        <p:spPr>
          <a:xfrm>
            <a:off x="5848179" y="2779432"/>
            <a:ext cx="1195728" cy="361950"/>
          </a:xfrm>
          <a:prstGeom prst="rect">
            <a:avLst/>
          </a:prstGeom>
        </p:spPr>
      </p:pic>
      <p:pic>
        <p:nvPicPr>
          <p:cNvPr id="136" name="Picture 135" descr="6_2__605E5C.png"/>
          <p:cNvPicPr>
            <a:picLocks noChangeAspect="1"/>
          </p:cNvPicPr>
          <p:nvPr/>
        </p:nvPicPr>
        <p:blipFill>
          <a:blip r:embed="rId21"/>
          <a:stretch>
            <a:fillRect/>
          </a:stretch>
        </p:blipFill>
        <p:spPr>
          <a:xfrm>
            <a:off x="5954825" y="3272281"/>
            <a:ext cx="982436" cy="361950"/>
          </a:xfrm>
          <a:prstGeom prst="rect">
            <a:avLst/>
          </a:prstGeom>
        </p:spPr>
      </p:pic>
      <p:pic>
        <p:nvPicPr>
          <p:cNvPr id="137" name="Picture 136" descr="1_744_605E5C.png"/>
          <p:cNvPicPr>
            <a:picLocks noChangeAspect="1"/>
          </p:cNvPicPr>
          <p:nvPr/>
        </p:nvPicPr>
        <p:blipFill>
          <a:blip r:embed="rId22"/>
          <a:stretch>
            <a:fillRect/>
          </a:stretch>
        </p:blipFill>
        <p:spPr>
          <a:xfrm>
            <a:off x="6691142" y="2286582"/>
            <a:ext cx="1195728" cy="361950"/>
          </a:xfrm>
          <a:prstGeom prst="rect">
            <a:avLst/>
          </a:prstGeom>
        </p:spPr>
      </p:pic>
      <p:pic>
        <p:nvPicPr>
          <p:cNvPr id="138" name="Picture 137" descr="2_305_605E5C.png"/>
          <p:cNvPicPr>
            <a:picLocks noChangeAspect="1"/>
          </p:cNvPicPr>
          <p:nvPr/>
        </p:nvPicPr>
        <p:blipFill>
          <a:blip r:embed="rId23"/>
          <a:stretch>
            <a:fillRect/>
          </a:stretch>
        </p:blipFill>
        <p:spPr>
          <a:xfrm>
            <a:off x="6691142" y="2779432"/>
            <a:ext cx="1195728" cy="361950"/>
          </a:xfrm>
          <a:prstGeom prst="rect">
            <a:avLst/>
          </a:prstGeom>
        </p:spPr>
      </p:pic>
      <p:pic>
        <p:nvPicPr>
          <p:cNvPr id="139" name="Picture 138" descr="2_8__605E5C.png"/>
          <p:cNvPicPr>
            <a:picLocks noChangeAspect="1"/>
          </p:cNvPicPr>
          <p:nvPr/>
        </p:nvPicPr>
        <p:blipFill>
          <a:blip r:embed="rId24"/>
          <a:stretch>
            <a:fillRect/>
          </a:stretch>
        </p:blipFill>
        <p:spPr>
          <a:xfrm>
            <a:off x="6797788" y="3272281"/>
            <a:ext cx="982436" cy="361950"/>
          </a:xfrm>
          <a:prstGeom prst="rect">
            <a:avLst/>
          </a:prstGeom>
        </p:spPr>
      </p:pic>
      <p:pic>
        <p:nvPicPr>
          <p:cNvPr id="140" name="Picture 139" descr="1_291_605E5C.png"/>
          <p:cNvPicPr>
            <a:picLocks noChangeAspect="1"/>
          </p:cNvPicPr>
          <p:nvPr/>
        </p:nvPicPr>
        <p:blipFill>
          <a:blip r:embed="rId25"/>
          <a:stretch>
            <a:fillRect/>
          </a:stretch>
        </p:blipFill>
        <p:spPr>
          <a:xfrm>
            <a:off x="7534105" y="2286582"/>
            <a:ext cx="1195728" cy="361950"/>
          </a:xfrm>
          <a:prstGeom prst="rect">
            <a:avLst/>
          </a:prstGeom>
        </p:spPr>
      </p:pic>
      <p:pic>
        <p:nvPicPr>
          <p:cNvPr id="141" name="Picture 140" descr="1_448_605E5C.png"/>
          <p:cNvPicPr>
            <a:picLocks noChangeAspect="1"/>
          </p:cNvPicPr>
          <p:nvPr/>
        </p:nvPicPr>
        <p:blipFill>
          <a:blip r:embed="rId26"/>
          <a:stretch>
            <a:fillRect/>
          </a:stretch>
        </p:blipFill>
        <p:spPr>
          <a:xfrm>
            <a:off x="7534105" y="2779432"/>
            <a:ext cx="1195728" cy="361950"/>
          </a:xfrm>
          <a:prstGeom prst="rect">
            <a:avLst/>
          </a:prstGeom>
        </p:spPr>
      </p:pic>
      <p:pic>
        <p:nvPicPr>
          <p:cNvPr id="142" name="Picture 141" descr="1_2__605E5C.png"/>
          <p:cNvPicPr>
            <a:picLocks noChangeAspect="1"/>
          </p:cNvPicPr>
          <p:nvPr/>
        </p:nvPicPr>
        <p:blipFill>
          <a:blip r:embed="rId27"/>
          <a:stretch>
            <a:fillRect/>
          </a:stretch>
        </p:blipFill>
        <p:spPr>
          <a:xfrm>
            <a:off x="7640751" y="3272281"/>
            <a:ext cx="982436" cy="361950"/>
          </a:xfrm>
          <a:prstGeom prst="rect">
            <a:avLst/>
          </a:prstGeom>
        </p:spPr>
      </p:pic>
      <p:pic>
        <p:nvPicPr>
          <p:cNvPr id="143" name="Picture 142" descr="788_4_605E5C.png"/>
          <p:cNvPicPr>
            <a:picLocks noChangeAspect="1"/>
          </p:cNvPicPr>
          <p:nvPr/>
        </p:nvPicPr>
        <p:blipFill>
          <a:blip r:embed="rId28"/>
          <a:stretch>
            <a:fillRect/>
          </a:stretch>
        </p:blipFill>
        <p:spPr>
          <a:xfrm>
            <a:off x="8377067" y="2286582"/>
            <a:ext cx="1195728" cy="361950"/>
          </a:xfrm>
          <a:prstGeom prst="rect">
            <a:avLst/>
          </a:prstGeom>
        </p:spPr>
      </p:pic>
      <p:pic>
        <p:nvPicPr>
          <p:cNvPr id="144" name="Picture 143" descr="932_5_605E5C.png"/>
          <p:cNvPicPr>
            <a:picLocks noChangeAspect="1"/>
          </p:cNvPicPr>
          <p:nvPr/>
        </p:nvPicPr>
        <p:blipFill>
          <a:blip r:embed="rId29"/>
          <a:stretch>
            <a:fillRect/>
          </a:stretch>
        </p:blipFill>
        <p:spPr>
          <a:xfrm>
            <a:off x="8377067" y="2779432"/>
            <a:ext cx="1195728" cy="361950"/>
          </a:xfrm>
          <a:prstGeom prst="rect">
            <a:avLst/>
          </a:prstGeom>
        </p:spPr>
      </p:pic>
      <p:pic>
        <p:nvPicPr>
          <p:cNvPr id="145" name="Picture 144" descr="1_7__605E5C.png"/>
          <p:cNvPicPr>
            <a:picLocks noChangeAspect="1"/>
          </p:cNvPicPr>
          <p:nvPr/>
        </p:nvPicPr>
        <p:blipFill>
          <a:blip r:embed="rId30"/>
          <a:stretch>
            <a:fillRect/>
          </a:stretch>
        </p:blipFill>
        <p:spPr>
          <a:xfrm>
            <a:off x="8483713" y="3272281"/>
            <a:ext cx="982436" cy="361950"/>
          </a:xfrm>
          <a:prstGeom prst="rect">
            <a:avLst/>
          </a:prstGeom>
        </p:spPr>
      </p:pic>
      <p:pic>
        <p:nvPicPr>
          <p:cNvPr id="146" name="Picture 145" descr="723_3_605E5C.png"/>
          <p:cNvPicPr>
            <a:picLocks noChangeAspect="1"/>
          </p:cNvPicPr>
          <p:nvPr/>
        </p:nvPicPr>
        <p:blipFill>
          <a:blip r:embed="rId31"/>
          <a:stretch>
            <a:fillRect/>
          </a:stretch>
        </p:blipFill>
        <p:spPr>
          <a:xfrm>
            <a:off x="9220029" y="2286582"/>
            <a:ext cx="1195728" cy="361950"/>
          </a:xfrm>
          <a:prstGeom prst="rect">
            <a:avLst/>
          </a:prstGeom>
        </p:spPr>
      </p:pic>
      <p:pic>
        <p:nvPicPr>
          <p:cNvPr id="147" name="Picture 146" descr="1_172_605E5C.png"/>
          <p:cNvPicPr>
            <a:picLocks noChangeAspect="1"/>
          </p:cNvPicPr>
          <p:nvPr/>
        </p:nvPicPr>
        <p:blipFill>
          <a:blip r:embed="rId32"/>
          <a:stretch>
            <a:fillRect/>
          </a:stretch>
        </p:blipFill>
        <p:spPr>
          <a:xfrm>
            <a:off x="9220029" y="2779432"/>
            <a:ext cx="1195728" cy="361950"/>
          </a:xfrm>
          <a:prstGeom prst="rect">
            <a:avLst/>
          </a:prstGeom>
        </p:spPr>
      </p:pic>
      <p:pic>
        <p:nvPicPr>
          <p:cNvPr id="148" name="Picture 147" descr="4_9__605E5C.png"/>
          <p:cNvPicPr>
            <a:picLocks noChangeAspect="1"/>
          </p:cNvPicPr>
          <p:nvPr/>
        </p:nvPicPr>
        <p:blipFill>
          <a:blip r:embed="rId33"/>
          <a:stretch>
            <a:fillRect/>
          </a:stretch>
        </p:blipFill>
        <p:spPr>
          <a:xfrm>
            <a:off x="9326675" y="3272281"/>
            <a:ext cx="982436" cy="361950"/>
          </a:xfrm>
          <a:prstGeom prst="rect">
            <a:avLst/>
          </a:prstGeom>
        </p:spPr>
      </p:pic>
      <p:pic>
        <p:nvPicPr>
          <p:cNvPr id="149" name="Picture 148" descr="604_6_605E5C.png"/>
          <p:cNvPicPr>
            <a:picLocks noChangeAspect="1"/>
          </p:cNvPicPr>
          <p:nvPr/>
        </p:nvPicPr>
        <p:blipFill>
          <a:blip r:embed="rId34"/>
          <a:stretch>
            <a:fillRect/>
          </a:stretch>
        </p:blipFill>
        <p:spPr>
          <a:xfrm>
            <a:off x="10062992" y="2286582"/>
            <a:ext cx="1195728" cy="361950"/>
          </a:xfrm>
          <a:prstGeom prst="rect">
            <a:avLst/>
          </a:prstGeom>
        </p:spPr>
      </p:pic>
      <p:pic>
        <p:nvPicPr>
          <p:cNvPr id="150" name="Picture 149" descr="808_1_605E5C.png"/>
          <p:cNvPicPr>
            <a:picLocks noChangeAspect="1"/>
          </p:cNvPicPr>
          <p:nvPr/>
        </p:nvPicPr>
        <p:blipFill>
          <a:blip r:embed="rId35"/>
          <a:stretch>
            <a:fillRect/>
          </a:stretch>
        </p:blipFill>
        <p:spPr>
          <a:xfrm>
            <a:off x="10062992" y="2779432"/>
            <a:ext cx="1195728" cy="361950"/>
          </a:xfrm>
          <a:prstGeom prst="rect">
            <a:avLst/>
          </a:prstGeom>
        </p:spPr>
      </p:pic>
      <p:pic>
        <p:nvPicPr>
          <p:cNvPr id="151" name="Picture 150" descr="2_9__605E5C.png"/>
          <p:cNvPicPr>
            <a:picLocks noChangeAspect="1"/>
          </p:cNvPicPr>
          <p:nvPr/>
        </p:nvPicPr>
        <p:blipFill>
          <a:blip r:embed="rId36"/>
          <a:stretch>
            <a:fillRect/>
          </a:stretch>
        </p:blipFill>
        <p:spPr>
          <a:xfrm>
            <a:off x="10169638" y="3272281"/>
            <a:ext cx="982436" cy="361950"/>
          </a:xfrm>
          <a:prstGeom prst="rect">
            <a:avLst/>
          </a:prstGeom>
        </p:spPr>
      </p:pic>
      <p:pic>
        <p:nvPicPr>
          <p:cNvPr id="152" name="Picture 151" descr="378_2_605E5C.png"/>
          <p:cNvPicPr>
            <a:picLocks noChangeAspect="1"/>
          </p:cNvPicPr>
          <p:nvPr/>
        </p:nvPicPr>
        <p:blipFill>
          <a:blip r:embed="rId37"/>
          <a:stretch>
            <a:fillRect/>
          </a:stretch>
        </p:blipFill>
        <p:spPr>
          <a:xfrm>
            <a:off x="10905955" y="2286582"/>
            <a:ext cx="1195728" cy="361950"/>
          </a:xfrm>
          <a:prstGeom prst="rect">
            <a:avLst/>
          </a:prstGeom>
        </p:spPr>
      </p:pic>
      <p:pic>
        <p:nvPicPr>
          <p:cNvPr id="153" name="Picture 152" descr="575_6_605E5C.png"/>
          <p:cNvPicPr>
            <a:picLocks noChangeAspect="1"/>
          </p:cNvPicPr>
          <p:nvPr/>
        </p:nvPicPr>
        <p:blipFill>
          <a:blip r:embed="rId38"/>
          <a:stretch>
            <a:fillRect/>
          </a:stretch>
        </p:blipFill>
        <p:spPr>
          <a:xfrm>
            <a:off x="10905955" y="2779432"/>
            <a:ext cx="1195728" cy="361950"/>
          </a:xfrm>
          <a:prstGeom prst="rect">
            <a:avLst/>
          </a:prstGeom>
        </p:spPr>
      </p:pic>
      <p:pic>
        <p:nvPicPr>
          <p:cNvPr id="154" name="Picture 153" descr="4_3__605E5C.png"/>
          <p:cNvPicPr>
            <a:picLocks noChangeAspect="1"/>
          </p:cNvPicPr>
          <p:nvPr/>
        </p:nvPicPr>
        <p:blipFill>
          <a:blip r:embed="rId39"/>
          <a:stretch>
            <a:fillRect/>
          </a:stretch>
        </p:blipFill>
        <p:spPr>
          <a:xfrm>
            <a:off x="11012601" y="3272281"/>
            <a:ext cx="982436" cy="361950"/>
          </a:xfrm>
          <a:prstGeom prst="rect">
            <a:avLst/>
          </a:prstGeom>
        </p:spPr>
      </p:pic>
      <p:pic>
        <p:nvPicPr>
          <p:cNvPr id="155" name="Picture 154" descr="lock.png"/>
          <p:cNvPicPr>
            <a:picLocks noChangeAspect="1"/>
          </p:cNvPicPr>
          <p:nvPr/>
        </p:nvPicPr>
        <p:blipFill>
          <a:blip r:embed="rId40"/>
          <a:stretch>
            <a:fillRect/>
          </a:stretch>
        </p:blipFill>
        <p:spPr>
          <a:xfrm>
            <a:off x="2137886" y="2827057"/>
            <a:ext cx="183356" cy="266700"/>
          </a:xfrm>
          <a:prstGeom prst="rect">
            <a:avLst/>
          </a:prstGeom>
        </p:spPr>
      </p:pic>
      <p:pic>
        <p:nvPicPr>
          <p:cNvPr id="156" name="Picture 155" descr="lock.png"/>
          <p:cNvPicPr>
            <a:picLocks noChangeAspect="1"/>
          </p:cNvPicPr>
          <p:nvPr/>
        </p:nvPicPr>
        <p:blipFill>
          <a:blip r:embed="rId40"/>
          <a:stretch>
            <a:fillRect/>
          </a:stretch>
        </p:blipFill>
        <p:spPr>
          <a:xfrm>
            <a:off x="2980847" y="2827057"/>
            <a:ext cx="183356" cy="266700"/>
          </a:xfrm>
          <a:prstGeom prst="rect">
            <a:avLst/>
          </a:prstGeom>
        </p:spPr>
      </p:pic>
      <p:pic>
        <p:nvPicPr>
          <p:cNvPr id="157" name="Picture 156" descr="lock.png"/>
          <p:cNvPicPr>
            <a:picLocks noChangeAspect="1"/>
          </p:cNvPicPr>
          <p:nvPr/>
        </p:nvPicPr>
        <p:blipFill>
          <a:blip r:embed="rId40"/>
          <a:stretch>
            <a:fillRect/>
          </a:stretch>
        </p:blipFill>
        <p:spPr>
          <a:xfrm>
            <a:off x="3823811" y="2827057"/>
            <a:ext cx="183356" cy="266700"/>
          </a:xfrm>
          <a:prstGeom prst="rect">
            <a:avLst/>
          </a:prstGeom>
        </p:spPr>
      </p:pic>
      <p:pic>
        <p:nvPicPr>
          <p:cNvPr id="158" name="Picture 157" descr="lock.png"/>
          <p:cNvPicPr>
            <a:picLocks noChangeAspect="1"/>
          </p:cNvPicPr>
          <p:nvPr/>
        </p:nvPicPr>
        <p:blipFill>
          <a:blip r:embed="rId40"/>
          <a:stretch>
            <a:fillRect/>
          </a:stretch>
        </p:blipFill>
        <p:spPr>
          <a:xfrm>
            <a:off x="4666774" y="2827057"/>
            <a:ext cx="183356" cy="266700"/>
          </a:xfrm>
          <a:prstGeom prst="rect">
            <a:avLst/>
          </a:prstGeom>
        </p:spPr>
      </p:pic>
      <p:pic>
        <p:nvPicPr>
          <p:cNvPr id="159" name="Picture 158" descr="lock.png"/>
          <p:cNvPicPr>
            <a:picLocks noChangeAspect="1"/>
          </p:cNvPicPr>
          <p:nvPr/>
        </p:nvPicPr>
        <p:blipFill>
          <a:blip r:embed="rId40"/>
          <a:stretch>
            <a:fillRect/>
          </a:stretch>
        </p:blipFill>
        <p:spPr>
          <a:xfrm>
            <a:off x="5509736" y="2827057"/>
            <a:ext cx="183356" cy="266700"/>
          </a:xfrm>
          <a:prstGeom prst="rect">
            <a:avLst/>
          </a:prstGeom>
        </p:spPr>
      </p:pic>
      <p:pic>
        <p:nvPicPr>
          <p:cNvPr id="160" name="Picture 159" descr="lock.png"/>
          <p:cNvPicPr>
            <a:picLocks noChangeAspect="1"/>
          </p:cNvPicPr>
          <p:nvPr/>
        </p:nvPicPr>
        <p:blipFill>
          <a:blip r:embed="rId40"/>
          <a:stretch>
            <a:fillRect/>
          </a:stretch>
        </p:blipFill>
        <p:spPr>
          <a:xfrm>
            <a:off x="6352698" y="2827057"/>
            <a:ext cx="183356" cy="266700"/>
          </a:xfrm>
          <a:prstGeom prst="rect">
            <a:avLst/>
          </a:prstGeom>
        </p:spPr>
      </p:pic>
      <p:pic>
        <p:nvPicPr>
          <p:cNvPr id="161" name="Picture 160" descr="lock.png"/>
          <p:cNvPicPr>
            <a:picLocks noChangeAspect="1"/>
          </p:cNvPicPr>
          <p:nvPr/>
        </p:nvPicPr>
        <p:blipFill>
          <a:blip r:embed="rId40"/>
          <a:stretch>
            <a:fillRect/>
          </a:stretch>
        </p:blipFill>
        <p:spPr>
          <a:xfrm>
            <a:off x="7195661" y="2827057"/>
            <a:ext cx="183356" cy="266700"/>
          </a:xfrm>
          <a:prstGeom prst="rect">
            <a:avLst/>
          </a:prstGeom>
        </p:spPr>
      </p:pic>
      <p:pic>
        <p:nvPicPr>
          <p:cNvPr id="162" name="Picture 161" descr="lock.png"/>
          <p:cNvPicPr>
            <a:picLocks noChangeAspect="1"/>
          </p:cNvPicPr>
          <p:nvPr/>
        </p:nvPicPr>
        <p:blipFill>
          <a:blip r:embed="rId40"/>
          <a:stretch>
            <a:fillRect/>
          </a:stretch>
        </p:blipFill>
        <p:spPr>
          <a:xfrm>
            <a:off x="8038624" y="2827057"/>
            <a:ext cx="183356" cy="266700"/>
          </a:xfrm>
          <a:prstGeom prst="rect">
            <a:avLst/>
          </a:prstGeom>
        </p:spPr>
      </p:pic>
      <p:pic>
        <p:nvPicPr>
          <p:cNvPr id="163" name="Picture 162" descr="lock.png"/>
          <p:cNvPicPr>
            <a:picLocks noChangeAspect="1"/>
          </p:cNvPicPr>
          <p:nvPr/>
        </p:nvPicPr>
        <p:blipFill>
          <a:blip r:embed="rId40"/>
          <a:stretch>
            <a:fillRect/>
          </a:stretch>
        </p:blipFill>
        <p:spPr>
          <a:xfrm>
            <a:off x="8881586" y="2827057"/>
            <a:ext cx="183356" cy="266700"/>
          </a:xfrm>
          <a:prstGeom prst="rect">
            <a:avLst/>
          </a:prstGeom>
        </p:spPr>
      </p:pic>
      <p:pic>
        <p:nvPicPr>
          <p:cNvPr id="164" name="Picture 163" descr="lock.png"/>
          <p:cNvPicPr>
            <a:picLocks noChangeAspect="1"/>
          </p:cNvPicPr>
          <p:nvPr/>
        </p:nvPicPr>
        <p:blipFill>
          <a:blip r:embed="rId40"/>
          <a:stretch>
            <a:fillRect/>
          </a:stretch>
        </p:blipFill>
        <p:spPr>
          <a:xfrm>
            <a:off x="9724548" y="2827057"/>
            <a:ext cx="183356" cy="266700"/>
          </a:xfrm>
          <a:prstGeom prst="rect">
            <a:avLst/>
          </a:prstGeom>
        </p:spPr>
      </p:pic>
      <p:pic>
        <p:nvPicPr>
          <p:cNvPr id="165" name="Picture 164" descr="lock.png"/>
          <p:cNvPicPr>
            <a:picLocks noChangeAspect="1"/>
          </p:cNvPicPr>
          <p:nvPr/>
        </p:nvPicPr>
        <p:blipFill>
          <a:blip r:embed="rId40"/>
          <a:stretch>
            <a:fillRect/>
          </a:stretch>
        </p:blipFill>
        <p:spPr>
          <a:xfrm>
            <a:off x="10567511" y="2827057"/>
            <a:ext cx="183356" cy="266700"/>
          </a:xfrm>
          <a:prstGeom prst="rect">
            <a:avLst/>
          </a:prstGeom>
        </p:spPr>
      </p:pic>
      <p:pic>
        <p:nvPicPr>
          <p:cNvPr id="166" name="Picture 165" descr="lock.png"/>
          <p:cNvPicPr>
            <a:picLocks noChangeAspect="1"/>
          </p:cNvPicPr>
          <p:nvPr/>
        </p:nvPicPr>
        <p:blipFill>
          <a:blip r:embed="rId40"/>
          <a:stretch>
            <a:fillRect/>
          </a:stretch>
        </p:blipFill>
        <p:spPr>
          <a:xfrm>
            <a:off x="11410474" y="2827057"/>
            <a:ext cx="183356" cy="266700"/>
          </a:xfrm>
          <a:prstGeom prst="rect">
            <a:avLst/>
          </a:prstGeom>
        </p:spPr>
      </p:pic>
      <p:sp>
        <p:nvSpPr>
          <p:cNvPr id="167" name="TextBox 166"/>
          <p:cNvSpPr txBox="1"/>
          <p:nvPr/>
        </p:nvSpPr>
        <p:spPr>
          <a:xfrm>
            <a:off x="485775" y="4229437"/>
            <a:ext cx="2536775" cy="186689"/>
          </a:xfrm>
          <a:prstGeom prst="rect">
            <a:avLst/>
          </a:prstGeom>
          <a:noFill/>
        </p:spPr>
        <p:txBody>
          <a:bodyPr wrap="none" lIns="0" rIns="0" tIns="0" bIns="0">
            <a:spAutoFit/>
          </a:bodyPr>
          <a:lstStyle/>
          <a:p>
            <a:r>
              <a:rPr sz="1100" b="0">
                <a:solidFill>
                  <a:srgbClr val="2E2E2E"/>
                </a:solidFill>
                <a:latin typeface="Calibri"/>
              </a:rPr>
              <a:t>Among floriculture by flower species, tulips</a:t>
            </a:r>
          </a:p>
        </p:txBody>
      </p:sp>
      <p:sp>
        <p:nvSpPr>
          <p:cNvPr id="168" name="TextBox 167"/>
          <p:cNvSpPr txBox="1"/>
          <p:nvPr/>
        </p:nvSpPr>
        <p:spPr>
          <a:xfrm>
            <a:off x="485775" y="439707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169" name="TextBox 168"/>
          <p:cNvSpPr txBox="1"/>
          <p:nvPr/>
        </p:nvSpPr>
        <p:spPr>
          <a:xfrm>
            <a:off x="485775" y="456471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170" name="Picture 169" descr="lock.png"/>
          <p:cNvPicPr>
            <a:picLocks noChangeAspect="1"/>
          </p:cNvPicPr>
          <p:nvPr/>
        </p:nvPicPr>
        <p:blipFill>
          <a:blip r:embed="rId40"/>
          <a:stretch>
            <a:fillRect/>
          </a:stretch>
        </p:blipFill>
        <p:spPr>
          <a:xfrm>
            <a:off x="626261" y="4554938"/>
            <a:ext cx="128699" cy="187198"/>
          </a:xfrm>
          <a:prstGeom prst="rect">
            <a:avLst/>
          </a:prstGeom>
        </p:spPr>
      </p:pic>
      <p:sp>
        <p:nvSpPr>
          <p:cNvPr id="171" name="TextBox 170"/>
          <p:cNvSpPr txBox="1"/>
          <p:nvPr/>
        </p:nvSpPr>
        <p:spPr>
          <a:xfrm>
            <a:off x="793757" y="456471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172" name="TextBox 17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share by flower species, the carnations segment is</a:t>
            </a:r>
          </a:p>
        </p:txBody>
      </p:sp>
      <p:sp>
        <p:nvSpPr>
          <p:cNvPr id="173" name="TextBox 172"/>
          <p:cNvSpPr txBox="1"/>
          <p:nvPr/>
        </p:nvSpPr>
        <p:spPr>
          <a:xfrm>
            <a:off x="485775" y="489999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74" name="Picture 173" descr="lock.png"/>
          <p:cNvPicPr>
            <a:picLocks noChangeAspect="1"/>
          </p:cNvPicPr>
          <p:nvPr/>
        </p:nvPicPr>
        <p:blipFill>
          <a:blip r:embed="rId40"/>
          <a:stretch>
            <a:fillRect/>
          </a:stretch>
        </p:blipFill>
        <p:spPr>
          <a:xfrm>
            <a:off x="2900479" y="4890217"/>
            <a:ext cx="128699" cy="187198"/>
          </a:xfrm>
          <a:prstGeom prst="rect">
            <a:avLst/>
          </a:prstGeom>
        </p:spPr>
      </p:pic>
      <p:sp>
        <p:nvSpPr>
          <p:cNvPr id="175" name="TextBox 174"/>
          <p:cNvSpPr txBox="1"/>
          <p:nvPr/>
        </p:nvSpPr>
        <p:spPr>
          <a:xfrm>
            <a:off x="3067974" y="489999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76" name="TextBox 175"/>
          <p:cNvSpPr txBox="1"/>
          <p:nvPr/>
        </p:nvSpPr>
        <p:spPr>
          <a:xfrm>
            <a:off x="485775" y="506763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77" name="Picture 176" descr="lock.png"/>
          <p:cNvPicPr>
            <a:picLocks noChangeAspect="1"/>
          </p:cNvPicPr>
          <p:nvPr/>
        </p:nvPicPr>
        <p:blipFill>
          <a:blip r:embed="rId40"/>
          <a:stretch>
            <a:fillRect/>
          </a:stretch>
        </p:blipFill>
        <p:spPr>
          <a:xfrm>
            <a:off x="1576057" y="5057858"/>
            <a:ext cx="128699" cy="187198"/>
          </a:xfrm>
          <a:prstGeom prst="rect">
            <a:avLst/>
          </a:prstGeom>
        </p:spPr>
      </p:pic>
      <p:sp>
        <p:nvSpPr>
          <p:cNvPr id="178" name="TextBox 177"/>
          <p:cNvSpPr txBox="1"/>
          <p:nvPr/>
        </p:nvSpPr>
        <p:spPr>
          <a:xfrm>
            <a:off x="1743553"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79" name="TextBox 178"/>
          <p:cNvSpPr txBox="1"/>
          <p:nvPr/>
        </p:nvSpPr>
        <p:spPr>
          <a:xfrm>
            <a:off x="485775" y="5285569"/>
            <a:ext cx="2528862" cy="186689"/>
          </a:xfrm>
          <a:prstGeom prst="rect">
            <a:avLst/>
          </a:prstGeom>
          <a:noFill/>
        </p:spPr>
        <p:txBody>
          <a:bodyPr wrap="none" lIns="0" rIns="0" tIns="0" bIns="0">
            <a:spAutoFit/>
          </a:bodyPr>
          <a:lstStyle/>
          <a:p>
            <a:r>
              <a:rPr sz="1100" b="0">
                <a:solidFill>
                  <a:srgbClr val="2E2E2E"/>
                </a:solidFill>
                <a:latin typeface="Calibri"/>
              </a:rPr>
              <a:t>Carnations segment is projected to register</a:t>
            </a:r>
          </a:p>
        </p:txBody>
      </p:sp>
      <p:pic>
        <p:nvPicPr>
          <p:cNvPr id="180" name="Picture 179" descr="lock.png"/>
          <p:cNvPicPr>
            <a:picLocks noChangeAspect="1"/>
          </p:cNvPicPr>
          <p:nvPr/>
        </p:nvPicPr>
        <p:blipFill>
          <a:blip r:embed="rId40"/>
          <a:stretch>
            <a:fillRect/>
          </a:stretch>
        </p:blipFill>
        <p:spPr>
          <a:xfrm>
            <a:off x="2962689" y="5275790"/>
            <a:ext cx="128699" cy="187198"/>
          </a:xfrm>
          <a:prstGeom prst="rect">
            <a:avLst/>
          </a:prstGeom>
        </p:spPr>
      </p:pic>
      <p:sp>
        <p:nvSpPr>
          <p:cNvPr id="181" name="TextBox 180"/>
          <p:cNvSpPr txBox="1"/>
          <p:nvPr/>
        </p:nvSpPr>
        <p:spPr>
          <a:xfrm>
            <a:off x="3130185" y="528556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82" name="TextBox 181"/>
          <p:cNvSpPr txBox="1"/>
          <p:nvPr/>
        </p:nvSpPr>
        <p:spPr>
          <a:xfrm>
            <a:off x="485775" y="5453209"/>
            <a:ext cx="2553692" cy="186689"/>
          </a:xfrm>
          <a:prstGeom prst="rect">
            <a:avLst/>
          </a:prstGeom>
          <a:noFill/>
        </p:spPr>
        <p:txBody>
          <a:bodyPr wrap="none" lIns="0" rIns="0" tIns="0" bIns="0">
            <a:spAutoFit/>
          </a:bodyPr>
          <a:lstStyle/>
          <a:p>
            <a:r>
              <a:rPr sz="1100" b="0">
                <a:solidFill>
                  <a:srgbClr val="2E2E2E"/>
                </a:solidFill>
                <a:latin typeface="Calibri"/>
              </a:rPr>
              <a:t>higher value than gerbera segment in 2036.</a:t>
            </a:r>
          </a:p>
        </p:txBody>
      </p:sp>
      <p:sp>
        <p:nvSpPr>
          <p:cNvPr id="183" name="TextBox 182"/>
          <p:cNvSpPr txBox="1"/>
          <p:nvPr/>
        </p:nvSpPr>
        <p:spPr>
          <a:xfrm>
            <a:off x="3838575" y="4229437"/>
            <a:ext cx="657242" cy="146456"/>
          </a:xfrm>
          <a:prstGeom prst="rect">
            <a:avLst/>
          </a:prstGeom>
          <a:noFill/>
        </p:spPr>
        <p:txBody>
          <a:bodyPr wrap="none" lIns="0" rIns="0" tIns="0" bIns="0">
            <a:spAutoFit/>
          </a:bodyPr>
          <a:lstStyle/>
          <a:p>
            <a:r>
              <a:rPr sz="835" b="0">
                <a:solidFill>
                  <a:srgbClr val="2E2E2E"/>
                </a:solidFill>
                <a:latin typeface="Calibri"/>
              </a:rPr>
              <a:t>● Carnations:</a:t>
            </a:r>
          </a:p>
        </p:txBody>
      </p:sp>
      <p:pic>
        <p:nvPicPr>
          <p:cNvPr id="184" name="Picture 183" descr="lock.png"/>
          <p:cNvPicPr>
            <a:picLocks noChangeAspect="1"/>
          </p:cNvPicPr>
          <p:nvPr/>
        </p:nvPicPr>
        <p:blipFill>
          <a:blip r:embed="rId40"/>
          <a:stretch>
            <a:fillRect/>
          </a:stretch>
        </p:blipFill>
        <p:spPr>
          <a:xfrm>
            <a:off x="4438049" y="4222004"/>
            <a:ext cx="97811" cy="142270"/>
          </a:xfrm>
          <a:prstGeom prst="rect">
            <a:avLst/>
          </a:prstGeom>
        </p:spPr>
      </p:pic>
      <p:sp>
        <p:nvSpPr>
          <p:cNvPr id="185" name="TextBox 184"/>
          <p:cNvSpPr txBox="1"/>
          <p:nvPr/>
        </p:nvSpPr>
        <p:spPr>
          <a:xfrm>
            <a:off x="4565345" y="4229437"/>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86" name="Picture 185" descr="lock.png"/>
          <p:cNvPicPr>
            <a:picLocks noChangeAspect="1"/>
          </p:cNvPicPr>
          <p:nvPr/>
        </p:nvPicPr>
        <p:blipFill>
          <a:blip r:embed="rId40"/>
          <a:stretch>
            <a:fillRect/>
          </a:stretch>
        </p:blipFill>
        <p:spPr>
          <a:xfrm>
            <a:off x="5218528" y="4222004"/>
            <a:ext cx="97811" cy="142270"/>
          </a:xfrm>
          <a:prstGeom prst="rect">
            <a:avLst/>
          </a:prstGeom>
        </p:spPr>
      </p:pic>
      <p:sp>
        <p:nvSpPr>
          <p:cNvPr id="187" name="TextBox 186"/>
          <p:cNvSpPr txBox="1"/>
          <p:nvPr/>
        </p:nvSpPr>
        <p:spPr>
          <a:xfrm>
            <a:off x="5345824" y="4229437"/>
            <a:ext cx="1160924" cy="146456"/>
          </a:xfrm>
          <a:prstGeom prst="rect">
            <a:avLst/>
          </a:prstGeom>
          <a:noFill/>
        </p:spPr>
        <p:txBody>
          <a:bodyPr wrap="none" lIns="0" rIns="0" tIns="0" bIns="0">
            <a:spAutoFit/>
          </a:bodyPr>
          <a:lstStyle/>
          <a:p>
            <a:r>
              <a:rPr sz="835" b="0">
                <a:solidFill>
                  <a:srgbClr val="2E2E2E"/>
                </a:solidFill>
                <a:latin typeface="Calibri"/>
              </a:rPr>
              <a:t>CAGR leads the segment.</a:t>
            </a:r>
          </a:p>
        </p:txBody>
      </p:sp>
      <p:sp>
        <p:nvSpPr>
          <p:cNvPr id="188" name="TextBox 187"/>
          <p:cNvSpPr txBox="1"/>
          <p:nvPr/>
        </p:nvSpPr>
        <p:spPr>
          <a:xfrm>
            <a:off x="3838575" y="4395065"/>
            <a:ext cx="546301" cy="146456"/>
          </a:xfrm>
          <a:prstGeom prst="rect">
            <a:avLst/>
          </a:prstGeom>
          <a:noFill/>
        </p:spPr>
        <p:txBody>
          <a:bodyPr wrap="none" lIns="0" rIns="0" tIns="0" bIns="0">
            <a:spAutoFit/>
          </a:bodyPr>
          <a:lstStyle/>
          <a:p>
            <a:r>
              <a:rPr sz="835" b="0">
                <a:solidFill>
                  <a:srgbClr val="2E2E2E"/>
                </a:solidFill>
                <a:latin typeface="Calibri"/>
              </a:rPr>
              <a:t>● Gerbera:</a:t>
            </a:r>
          </a:p>
        </p:txBody>
      </p:sp>
      <p:pic>
        <p:nvPicPr>
          <p:cNvPr id="189" name="Picture 188" descr="lock.png"/>
          <p:cNvPicPr>
            <a:picLocks noChangeAspect="1"/>
          </p:cNvPicPr>
          <p:nvPr/>
        </p:nvPicPr>
        <p:blipFill>
          <a:blip r:embed="rId40"/>
          <a:stretch>
            <a:fillRect/>
          </a:stretch>
        </p:blipFill>
        <p:spPr>
          <a:xfrm>
            <a:off x="4327107" y="4387633"/>
            <a:ext cx="97811" cy="142270"/>
          </a:xfrm>
          <a:prstGeom prst="rect">
            <a:avLst/>
          </a:prstGeom>
        </p:spPr>
      </p:pic>
      <p:sp>
        <p:nvSpPr>
          <p:cNvPr id="190" name="TextBox 189"/>
          <p:cNvSpPr txBox="1"/>
          <p:nvPr/>
        </p:nvSpPr>
        <p:spPr>
          <a:xfrm>
            <a:off x="4454404" y="4395065"/>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91" name="Picture 190" descr="lock.png"/>
          <p:cNvPicPr>
            <a:picLocks noChangeAspect="1"/>
          </p:cNvPicPr>
          <p:nvPr/>
        </p:nvPicPr>
        <p:blipFill>
          <a:blip r:embed="rId40"/>
          <a:stretch>
            <a:fillRect/>
          </a:stretch>
        </p:blipFill>
        <p:spPr>
          <a:xfrm>
            <a:off x="5107586" y="4387633"/>
            <a:ext cx="97811" cy="142270"/>
          </a:xfrm>
          <a:prstGeom prst="rect">
            <a:avLst/>
          </a:prstGeom>
        </p:spPr>
      </p:pic>
      <p:sp>
        <p:nvSpPr>
          <p:cNvPr id="192" name="TextBox 191"/>
          <p:cNvSpPr txBox="1"/>
          <p:nvPr/>
        </p:nvSpPr>
        <p:spPr>
          <a:xfrm>
            <a:off x="5234883" y="4395065"/>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193" name="TextBox 192"/>
          <p:cNvSpPr txBox="1"/>
          <p:nvPr/>
        </p:nvSpPr>
        <p:spPr>
          <a:xfrm>
            <a:off x="3838575" y="4560693"/>
            <a:ext cx="531163" cy="146456"/>
          </a:xfrm>
          <a:prstGeom prst="rect">
            <a:avLst/>
          </a:prstGeom>
          <a:noFill/>
        </p:spPr>
        <p:txBody>
          <a:bodyPr wrap="none" lIns="0" rIns="0" tIns="0" bIns="0">
            <a:spAutoFit/>
          </a:bodyPr>
          <a:lstStyle/>
          <a:p>
            <a:r>
              <a:rPr sz="835" b="0">
                <a:solidFill>
                  <a:srgbClr val="2E2E2E"/>
                </a:solidFill>
                <a:latin typeface="Calibri"/>
              </a:rPr>
              <a:t>● Peonies:</a:t>
            </a:r>
          </a:p>
        </p:txBody>
      </p:sp>
      <p:pic>
        <p:nvPicPr>
          <p:cNvPr id="194" name="Picture 193" descr="lock.png"/>
          <p:cNvPicPr>
            <a:picLocks noChangeAspect="1"/>
          </p:cNvPicPr>
          <p:nvPr/>
        </p:nvPicPr>
        <p:blipFill>
          <a:blip r:embed="rId40"/>
          <a:stretch>
            <a:fillRect/>
          </a:stretch>
        </p:blipFill>
        <p:spPr>
          <a:xfrm>
            <a:off x="4311969" y="4553261"/>
            <a:ext cx="97811" cy="142270"/>
          </a:xfrm>
          <a:prstGeom prst="rect">
            <a:avLst/>
          </a:prstGeom>
        </p:spPr>
      </p:pic>
      <p:sp>
        <p:nvSpPr>
          <p:cNvPr id="195" name="TextBox 194"/>
          <p:cNvSpPr txBox="1"/>
          <p:nvPr/>
        </p:nvSpPr>
        <p:spPr>
          <a:xfrm>
            <a:off x="4439266" y="4560693"/>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196" name="Picture 195" descr="lock.png"/>
          <p:cNvPicPr>
            <a:picLocks noChangeAspect="1"/>
          </p:cNvPicPr>
          <p:nvPr/>
        </p:nvPicPr>
        <p:blipFill>
          <a:blip r:embed="rId40"/>
          <a:stretch>
            <a:fillRect/>
          </a:stretch>
        </p:blipFill>
        <p:spPr>
          <a:xfrm>
            <a:off x="5092448" y="4553261"/>
            <a:ext cx="97811" cy="142270"/>
          </a:xfrm>
          <a:prstGeom prst="rect">
            <a:avLst/>
          </a:prstGeom>
        </p:spPr>
      </p:pic>
      <p:sp>
        <p:nvSpPr>
          <p:cNvPr id="197" name="TextBox 196"/>
          <p:cNvSpPr txBox="1"/>
          <p:nvPr/>
        </p:nvSpPr>
        <p:spPr>
          <a:xfrm>
            <a:off x="5219745" y="4560693"/>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198" name="TextBox 197"/>
          <p:cNvSpPr txBox="1"/>
          <p:nvPr/>
        </p:nvSpPr>
        <p:spPr>
          <a:xfrm>
            <a:off x="3838575" y="4726321"/>
            <a:ext cx="405084" cy="146456"/>
          </a:xfrm>
          <a:prstGeom prst="rect">
            <a:avLst/>
          </a:prstGeom>
          <a:noFill/>
        </p:spPr>
        <p:txBody>
          <a:bodyPr wrap="none" lIns="0" rIns="0" tIns="0" bIns="0">
            <a:spAutoFit/>
          </a:bodyPr>
          <a:lstStyle/>
          <a:p>
            <a:r>
              <a:rPr sz="835" b="0">
                <a:solidFill>
                  <a:srgbClr val="2E2E2E"/>
                </a:solidFill>
                <a:latin typeface="Calibri"/>
              </a:rPr>
              <a:t>● Lilies:</a:t>
            </a:r>
          </a:p>
        </p:txBody>
      </p:sp>
      <p:pic>
        <p:nvPicPr>
          <p:cNvPr id="199" name="Picture 198" descr="lock.png"/>
          <p:cNvPicPr>
            <a:picLocks noChangeAspect="1"/>
          </p:cNvPicPr>
          <p:nvPr/>
        </p:nvPicPr>
        <p:blipFill>
          <a:blip r:embed="rId40"/>
          <a:stretch>
            <a:fillRect/>
          </a:stretch>
        </p:blipFill>
        <p:spPr>
          <a:xfrm>
            <a:off x="4185890" y="4718889"/>
            <a:ext cx="97811" cy="142270"/>
          </a:xfrm>
          <a:prstGeom prst="rect">
            <a:avLst/>
          </a:prstGeom>
        </p:spPr>
      </p:pic>
      <p:sp>
        <p:nvSpPr>
          <p:cNvPr id="200" name="TextBox 199"/>
          <p:cNvSpPr txBox="1"/>
          <p:nvPr/>
        </p:nvSpPr>
        <p:spPr>
          <a:xfrm>
            <a:off x="4313187" y="4726321"/>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01" name="Picture 200" descr="lock.png"/>
          <p:cNvPicPr>
            <a:picLocks noChangeAspect="1"/>
          </p:cNvPicPr>
          <p:nvPr/>
        </p:nvPicPr>
        <p:blipFill>
          <a:blip r:embed="rId40"/>
          <a:stretch>
            <a:fillRect/>
          </a:stretch>
        </p:blipFill>
        <p:spPr>
          <a:xfrm>
            <a:off x="4966369" y="4718889"/>
            <a:ext cx="97811" cy="142270"/>
          </a:xfrm>
          <a:prstGeom prst="rect">
            <a:avLst/>
          </a:prstGeom>
        </p:spPr>
      </p:pic>
      <p:sp>
        <p:nvSpPr>
          <p:cNvPr id="202" name="TextBox 201"/>
          <p:cNvSpPr txBox="1"/>
          <p:nvPr/>
        </p:nvSpPr>
        <p:spPr>
          <a:xfrm>
            <a:off x="5093666" y="4726321"/>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03" name="TextBox 202"/>
          <p:cNvSpPr txBox="1"/>
          <p:nvPr/>
        </p:nvSpPr>
        <p:spPr>
          <a:xfrm>
            <a:off x="3838575" y="4891950"/>
            <a:ext cx="522661" cy="146456"/>
          </a:xfrm>
          <a:prstGeom prst="rect">
            <a:avLst/>
          </a:prstGeom>
          <a:noFill/>
        </p:spPr>
        <p:txBody>
          <a:bodyPr wrap="none" lIns="0" rIns="0" tIns="0" bIns="0">
            <a:spAutoFit/>
          </a:bodyPr>
          <a:lstStyle/>
          <a:p>
            <a:r>
              <a:rPr sz="835" b="0">
                <a:solidFill>
                  <a:srgbClr val="2E2E2E"/>
                </a:solidFill>
                <a:latin typeface="Calibri"/>
              </a:rPr>
              <a:t>● Orchids:</a:t>
            </a:r>
          </a:p>
        </p:txBody>
      </p:sp>
      <p:pic>
        <p:nvPicPr>
          <p:cNvPr id="204" name="Picture 203" descr="lock.png"/>
          <p:cNvPicPr>
            <a:picLocks noChangeAspect="1"/>
          </p:cNvPicPr>
          <p:nvPr/>
        </p:nvPicPr>
        <p:blipFill>
          <a:blip r:embed="rId40"/>
          <a:stretch>
            <a:fillRect/>
          </a:stretch>
        </p:blipFill>
        <p:spPr>
          <a:xfrm>
            <a:off x="4303467" y="4884518"/>
            <a:ext cx="97811" cy="142270"/>
          </a:xfrm>
          <a:prstGeom prst="rect">
            <a:avLst/>
          </a:prstGeom>
        </p:spPr>
      </p:pic>
      <p:sp>
        <p:nvSpPr>
          <p:cNvPr id="205" name="TextBox 204"/>
          <p:cNvSpPr txBox="1"/>
          <p:nvPr/>
        </p:nvSpPr>
        <p:spPr>
          <a:xfrm>
            <a:off x="4430764" y="4891950"/>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06" name="Picture 205" descr="lock.png"/>
          <p:cNvPicPr>
            <a:picLocks noChangeAspect="1"/>
          </p:cNvPicPr>
          <p:nvPr/>
        </p:nvPicPr>
        <p:blipFill>
          <a:blip r:embed="rId40"/>
          <a:stretch>
            <a:fillRect/>
          </a:stretch>
        </p:blipFill>
        <p:spPr>
          <a:xfrm>
            <a:off x="5083946" y="4884518"/>
            <a:ext cx="97811" cy="142270"/>
          </a:xfrm>
          <a:prstGeom prst="rect">
            <a:avLst/>
          </a:prstGeom>
        </p:spPr>
      </p:pic>
      <p:sp>
        <p:nvSpPr>
          <p:cNvPr id="207" name="TextBox 206"/>
          <p:cNvSpPr txBox="1"/>
          <p:nvPr/>
        </p:nvSpPr>
        <p:spPr>
          <a:xfrm>
            <a:off x="5211243" y="4891950"/>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08" name="TextBox 207"/>
          <p:cNvSpPr txBox="1"/>
          <p:nvPr/>
        </p:nvSpPr>
        <p:spPr>
          <a:xfrm>
            <a:off x="3838575" y="5057578"/>
            <a:ext cx="446557" cy="146456"/>
          </a:xfrm>
          <a:prstGeom prst="rect">
            <a:avLst/>
          </a:prstGeom>
          <a:noFill/>
        </p:spPr>
        <p:txBody>
          <a:bodyPr wrap="none" lIns="0" rIns="0" tIns="0" bIns="0">
            <a:spAutoFit/>
          </a:bodyPr>
          <a:lstStyle/>
          <a:p>
            <a:r>
              <a:rPr sz="835" b="0">
                <a:solidFill>
                  <a:srgbClr val="2E2E2E"/>
                </a:solidFill>
                <a:latin typeface="Calibri"/>
              </a:rPr>
              <a:t>● Tulips:</a:t>
            </a:r>
          </a:p>
        </p:txBody>
      </p:sp>
      <p:pic>
        <p:nvPicPr>
          <p:cNvPr id="209" name="Picture 208" descr="lock.png"/>
          <p:cNvPicPr>
            <a:picLocks noChangeAspect="1"/>
          </p:cNvPicPr>
          <p:nvPr/>
        </p:nvPicPr>
        <p:blipFill>
          <a:blip r:embed="rId40"/>
          <a:stretch>
            <a:fillRect/>
          </a:stretch>
        </p:blipFill>
        <p:spPr>
          <a:xfrm>
            <a:off x="4227364" y="5050146"/>
            <a:ext cx="97811" cy="142270"/>
          </a:xfrm>
          <a:prstGeom prst="rect">
            <a:avLst/>
          </a:prstGeom>
        </p:spPr>
      </p:pic>
      <p:sp>
        <p:nvSpPr>
          <p:cNvPr id="210" name="TextBox 209"/>
          <p:cNvSpPr txBox="1"/>
          <p:nvPr/>
        </p:nvSpPr>
        <p:spPr>
          <a:xfrm>
            <a:off x="4354660" y="5057578"/>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11" name="Picture 210" descr="lock.png"/>
          <p:cNvPicPr>
            <a:picLocks noChangeAspect="1"/>
          </p:cNvPicPr>
          <p:nvPr/>
        </p:nvPicPr>
        <p:blipFill>
          <a:blip r:embed="rId40"/>
          <a:stretch>
            <a:fillRect/>
          </a:stretch>
        </p:blipFill>
        <p:spPr>
          <a:xfrm>
            <a:off x="5007843" y="5050146"/>
            <a:ext cx="97811" cy="142270"/>
          </a:xfrm>
          <a:prstGeom prst="rect">
            <a:avLst/>
          </a:prstGeom>
        </p:spPr>
      </p:pic>
      <p:sp>
        <p:nvSpPr>
          <p:cNvPr id="212" name="TextBox 211"/>
          <p:cNvSpPr txBox="1"/>
          <p:nvPr/>
        </p:nvSpPr>
        <p:spPr>
          <a:xfrm>
            <a:off x="5135139" y="5057578"/>
            <a:ext cx="944433" cy="146456"/>
          </a:xfrm>
          <a:prstGeom prst="rect">
            <a:avLst/>
          </a:prstGeom>
          <a:noFill/>
        </p:spPr>
        <p:txBody>
          <a:bodyPr wrap="none" lIns="0" rIns="0" tIns="0" bIns="0">
            <a:spAutoFit/>
          </a:bodyPr>
          <a:lstStyle/>
          <a:p>
            <a:r>
              <a:rPr sz="835" b="0">
                <a:solidFill>
                  <a:srgbClr val="2E2E2E"/>
                </a:solidFill>
                <a:latin typeface="Calibri"/>
              </a:rPr>
              <a:t>CAGR grows fastest.</a:t>
            </a:r>
          </a:p>
        </p:txBody>
      </p:sp>
      <p:sp>
        <p:nvSpPr>
          <p:cNvPr id="213" name="TextBox 212"/>
          <p:cNvSpPr txBox="1"/>
          <p:nvPr/>
        </p:nvSpPr>
        <p:spPr>
          <a:xfrm>
            <a:off x="3838575" y="5223206"/>
            <a:ext cx="442203" cy="146456"/>
          </a:xfrm>
          <a:prstGeom prst="rect">
            <a:avLst/>
          </a:prstGeom>
          <a:noFill/>
        </p:spPr>
        <p:txBody>
          <a:bodyPr wrap="none" lIns="0" rIns="0" tIns="0" bIns="0">
            <a:spAutoFit/>
          </a:bodyPr>
          <a:lstStyle/>
          <a:p>
            <a:r>
              <a:rPr sz="835" b="0">
                <a:solidFill>
                  <a:srgbClr val="2E2E2E"/>
                </a:solidFill>
                <a:latin typeface="Calibri"/>
              </a:rPr>
              <a:t>● Roses:</a:t>
            </a:r>
          </a:p>
        </p:txBody>
      </p:sp>
      <p:pic>
        <p:nvPicPr>
          <p:cNvPr id="214" name="Picture 213" descr="lock.png"/>
          <p:cNvPicPr>
            <a:picLocks noChangeAspect="1"/>
          </p:cNvPicPr>
          <p:nvPr/>
        </p:nvPicPr>
        <p:blipFill>
          <a:blip r:embed="rId40"/>
          <a:stretch>
            <a:fillRect/>
          </a:stretch>
        </p:blipFill>
        <p:spPr>
          <a:xfrm>
            <a:off x="4223009" y="5215774"/>
            <a:ext cx="97811" cy="142270"/>
          </a:xfrm>
          <a:prstGeom prst="rect">
            <a:avLst/>
          </a:prstGeom>
        </p:spPr>
      </p:pic>
      <p:sp>
        <p:nvSpPr>
          <p:cNvPr id="215" name="TextBox 214"/>
          <p:cNvSpPr txBox="1"/>
          <p:nvPr/>
        </p:nvSpPr>
        <p:spPr>
          <a:xfrm>
            <a:off x="4350306" y="5223206"/>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16" name="Picture 215" descr="lock.png"/>
          <p:cNvPicPr>
            <a:picLocks noChangeAspect="1"/>
          </p:cNvPicPr>
          <p:nvPr/>
        </p:nvPicPr>
        <p:blipFill>
          <a:blip r:embed="rId40"/>
          <a:stretch>
            <a:fillRect/>
          </a:stretch>
        </p:blipFill>
        <p:spPr>
          <a:xfrm>
            <a:off x="5003488" y="5215774"/>
            <a:ext cx="97811" cy="142270"/>
          </a:xfrm>
          <a:prstGeom prst="rect">
            <a:avLst/>
          </a:prstGeom>
        </p:spPr>
      </p:pic>
      <p:sp>
        <p:nvSpPr>
          <p:cNvPr id="217" name="TextBox 216"/>
          <p:cNvSpPr txBox="1"/>
          <p:nvPr/>
        </p:nvSpPr>
        <p:spPr>
          <a:xfrm>
            <a:off x="5130785" y="5223206"/>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18" name="TextBox 217"/>
          <p:cNvSpPr txBox="1"/>
          <p:nvPr/>
        </p:nvSpPr>
        <p:spPr>
          <a:xfrm>
            <a:off x="3838575" y="5388835"/>
            <a:ext cx="623027" cy="146456"/>
          </a:xfrm>
          <a:prstGeom prst="rect">
            <a:avLst/>
          </a:prstGeom>
          <a:noFill/>
        </p:spPr>
        <p:txBody>
          <a:bodyPr wrap="none" lIns="0" rIns="0" tIns="0" bIns="0">
            <a:spAutoFit/>
          </a:bodyPr>
          <a:lstStyle/>
          <a:p>
            <a:r>
              <a:rPr sz="835" b="0">
                <a:solidFill>
                  <a:srgbClr val="2E2E2E"/>
                </a:solidFill>
                <a:latin typeface="Calibri"/>
              </a:rPr>
              <a:t>● Lisianthus:</a:t>
            </a:r>
          </a:p>
        </p:txBody>
      </p:sp>
      <p:pic>
        <p:nvPicPr>
          <p:cNvPr id="219" name="Picture 218" descr="lock.png"/>
          <p:cNvPicPr>
            <a:picLocks noChangeAspect="1"/>
          </p:cNvPicPr>
          <p:nvPr/>
        </p:nvPicPr>
        <p:blipFill>
          <a:blip r:embed="rId40"/>
          <a:stretch>
            <a:fillRect/>
          </a:stretch>
        </p:blipFill>
        <p:spPr>
          <a:xfrm>
            <a:off x="4403833" y="5381403"/>
            <a:ext cx="97811" cy="142270"/>
          </a:xfrm>
          <a:prstGeom prst="rect">
            <a:avLst/>
          </a:prstGeom>
        </p:spPr>
      </p:pic>
      <p:sp>
        <p:nvSpPr>
          <p:cNvPr id="220" name="TextBox 219"/>
          <p:cNvSpPr txBox="1"/>
          <p:nvPr/>
        </p:nvSpPr>
        <p:spPr>
          <a:xfrm>
            <a:off x="4531130" y="5388835"/>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21" name="Picture 220" descr="lock.png"/>
          <p:cNvPicPr>
            <a:picLocks noChangeAspect="1"/>
          </p:cNvPicPr>
          <p:nvPr/>
        </p:nvPicPr>
        <p:blipFill>
          <a:blip r:embed="rId40"/>
          <a:stretch>
            <a:fillRect/>
          </a:stretch>
        </p:blipFill>
        <p:spPr>
          <a:xfrm>
            <a:off x="5184312" y="5381403"/>
            <a:ext cx="97811" cy="142270"/>
          </a:xfrm>
          <a:prstGeom prst="rect">
            <a:avLst/>
          </a:prstGeom>
        </p:spPr>
      </p:pic>
      <p:sp>
        <p:nvSpPr>
          <p:cNvPr id="222" name="TextBox 221"/>
          <p:cNvSpPr txBox="1"/>
          <p:nvPr/>
        </p:nvSpPr>
        <p:spPr>
          <a:xfrm>
            <a:off x="5311609" y="5388835"/>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23" name="TextBox 222"/>
          <p:cNvSpPr txBox="1"/>
          <p:nvPr/>
        </p:nvSpPr>
        <p:spPr>
          <a:xfrm>
            <a:off x="3838575" y="5554463"/>
            <a:ext cx="701619" cy="146456"/>
          </a:xfrm>
          <a:prstGeom prst="rect">
            <a:avLst/>
          </a:prstGeom>
          <a:noFill/>
        </p:spPr>
        <p:txBody>
          <a:bodyPr wrap="none" lIns="0" rIns="0" tIns="0" bIns="0">
            <a:spAutoFit/>
          </a:bodyPr>
          <a:lstStyle/>
          <a:p>
            <a:r>
              <a:rPr sz="835" b="0">
                <a:solidFill>
                  <a:srgbClr val="2E2E2E"/>
                </a:solidFill>
                <a:latin typeface="Calibri"/>
              </a:rPr>
              <a:t>● Hydrangeas:</a:t>
            </a:r>
          </a:p>
        </p:txBody>
      </p:sp>
      <p:pic>
        <p:nvPicPr>
          <p:cNvPr id="224" name="Picture 223" descr="lock.png"/>
          <p:cNvPicPr>
            <a:picLocks noChangeAspect="1"/>
          </p:cNvPicPr>
          <p:nvPr/>
        </p:nvPicPr>
        <p:blipFill>
          <a:blip r:embed="rId40"/>
          <a:stretch>
            <a:fillRect/>
          </a:stretch>
        </p:blipFill>
        <p:spPr>
          <a:xfrm>
            <a:off x="4482425" y="5547031"/>
            <a:ext cx="97811" cy="142270"/>
          </a:xfrm>
          <a:prstGeom prst="rect">
            <a:avLst/>
          </a:prstGeom>
        </p:spPr>
      </p:pic>
      <p:sp>
        <p:nvSpPr>
          <p:cNvPr id="225" name="TextBox 224"/>
          <p:cNvSpPr txBox="1"/>
          <p:nvPr/>
        </p:nvSpPr>
        <p:spPr>
          <a:xfrm>
            <a:off x="4609722" y="5554463"/>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26" name="Picture 225" descr="lock.png"/>
          <p:cNvPicPr>
            <a:picLocks noChangeAspect="1"/>
          </p:cNvPicPr>
          <p:nvPr/>
        </p:nvPicPr>
        <p:blipFill>
          <a:blip r:embed="rId40"/>
          <a:stretch>
            <a:fillRect/>
          </a:stretch>
        </p:blipFill>
        <p:spPr>
          <a:xfrm>
            <a:off x="5262904" y="5547031"/>
            <a:ext cx="97811" cy="142270"/>
          </a:xfrm>
          <a:prstGeom prst="rect">
            <a:avLst/>
          </a:prstGeom>
        </p:spPr>
      </p:pic>
      <p:sp>
        <p:nvSpPr>
          <p:cNvPr id="227" name="TextBox 226"/>
          <p:cNvSpPr txBox="1"/>
          <p:nvPr/>
        </p:nvSpPr>
        <p:spPr>
          <a:xfrm>
            <a:off x="5390201" y="5554463"/>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28" name="TextBox 227"/>
          <p:cNvSpPr txBox="1"/>
          <p:nvPr/>
        </p:nvSpPr>
        <p:spPr>
          <a:xfrm>
            <a:off x="3838575" y="5720091"/>
            <a:ext cx="751802" cy="146456"/>
          </a:xfrm>
          <a:prstGeom prst="rect">
            <a:avLst/>
          </a:prstGeom>
          <a:noFill/>
        </p:spPr>
        <p:txBody>
          <a:bodyPr wrap="none" lIns="0" rIns="0" tIns="0" bIns="0">
            <a:spAutoFit/>
          </a:bodyPr>
          <a:lstStyle/>
          <a:p>
            <a:r>
              <a:rPr sz="835" b="0">
                <a:solidFill>
                  <a:srgbClr val="2E2E2E"/>
                </a:solidFill>
                <a:latin typeface="Calibri"/>
              </a:rPr>
              <a:t>● Alstroemeria:</a:t>
            </a:r>
          </a:p>
        </p:txBody>
      </p:sp>
      <p:pic>
        <p:nvPicPr>
          <p:cNvPr id="229" name="Picture 228" descr="lock.png"/>
          <p:cNvPicPr>
            <a:picLocks noChangeAspect="1"/>
          </p:cNvPicPr>
          <p:nvPr/>
        </p:nvPicPr>
        <p:blipFill>
          <a:blip r:embed="rId40"/>
          <a:stretch>
            <a:fillRect/>
          </a:stretch>
        </p:blipFill>
        <p:spPr>
          <a:xfrm>
            <a:off x="4532608" y="5712659"/>
            <a:ext cx="97811" cy="142270"/>
          </a:xfrm>
          <a:prstGeom prst="rect">
            <a:avLst/>
          </a:prstGeom>
        </p:spPr>
      </p:pic>
      <p:sp>
        <p:nvSpPr>
          <p:cNvPr id="230" name="TextBox 229"/>
          <p:cNvSpPr txBox="1"/>
          <p:nvPr/>
        </p:nvSpPr>
        <p:spPr>
          <a:xfrm>
            <a:off x="4659905" y="5720091"/>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31" name="Picture 230" descr="lock.png"/>
          <p:cNvPicPr>
            <a:picLocks noChangeAspect="1"/>
          </p:cNvPicPr>
          <p:nvPr/>
        </p:nvPicPr>
        <p:blipFill>
          <a:blip r:embed="rId40"/>
          <a:stretch>
            <a:fillRect/>
          </a:stretch>
        </p:blipFill>
        <p:spPr>
          <a:xfrm>
            <a:off x="5313087" y="5712659"/>
            <a:ext cx="97811" cy="142270"/>
          </a:xfrm>
          <a:prstGeom prst="rect">
            <a:avLst/>
          </a:prstGeom>
        </p:spPr>
      </p:pic>
      <p:sp>
        <p:nvSpPr>
          <p:cNvPr id="232" name="TextBox 231"/>
          <p:cNvSpPr txBox="1"/>
          <p:nvPr/>
        </p:nvSpPr>
        <p:spPr>
          <a:xfrm>
            <a:off x="5440384" y="5720091"/>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33" name="TextBox 232"/>
          <p:cNvSpPr txBox="1"/>
          <p:nvPr/>
        </p:nvSpPr>
        <p:spPr>
          <a:xfrm>
            <a:off x="3838575" y="5885720"/>
            <a:ext cx="485957" cy="146456"/>
          </a:xfrm>
          <a:prstGeom prst="rect">
            <a:avLst/>
          </a:prstGeom>
          <a:noFill/>
        </p:spPr>
        <p:txBody>
          <a:bodyPr wrap="none" lIns="0" rIns="0" tIns="0" bIns="0">
            <a:spAutoFit/>
          </a:bodyPr>
          <a:lstStyle/>
          <a:p>
            <a:r>
              <a:rPr sz="835" b="0">
                <a:solidFill>
                  <a:srgbClr val="2E2E2E"/>
                </a:solidFill>
                <a:latin typeface="Calibri"/>
              </a:rPr>
              <a:t>● Others:</a:t>
            </a:r>
          </a:p>
        </p:txBody>
      </p:sp>
      <p:pic>
        <p:nvPicPr>
          <p:cNvPr id="234" name="Picture 233" descr="lock.png"/>
          <p:cNvPicPr>
            <a:picLocks noChangeAspect="1"/>
          </p:cNvPicPr>
          <p:nvPr/>
        </p:nvPicPr>
        <p:blipFill>
          <a:blip r:embed="rId40"/>
          <a:stretch>
            <a:fillRect/>
          </a:stretch>
        </p:blipFill>
        <p:spPr>
          <a:xfrm>
            <a:off x="4266763" y="5878288"/>
            <a:ext cx="97811" cy="142270"/>
          </a:xfrm>
          <a:prstGeom prst="rect">
            <a:avLst/>
          </a:prstGeom>
        </p:spPr>
      </p:pic>
      <p:sp>
        <p:nvSpPr>
          <p:cNvPr id="235" name="TextBox 234"/>
          <p:cNvSpPr txBox="1"/>
          <p:nvPr/>
        </p:nvSpPr>
        <p:spPr>
          <a:xfrm>
            <a:off x="4394060" y="5885720"/>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36" name="Picture 235" descr="lock.png"/>
          <p:cNvPicPr>
            <a:picLocks noChangeAspect="1"/>
          </p:cNvPicPr>
          <p:nvPr/>
        </p:nvPicPr>
        <p:blipFill>
          <a:blip r:embed="rId40"/>
          <a:stretch>
            <a:fillRect/>
          </a:stretch>
        </p:blipFill>
        <p:spPr>
          <a:xfrm>
            <a:off x="5047242" y="5878288"/>
            <a:ext cx="97811" cy="142270"/>
          </a:xfrm>
          <a:prstGeom prst="rect">
            <a:avLst/>
          </a:prstGeom>
        </p:spPr>
      </p:pic>
      <p:sp>
        <p:nvSpPr>
          <p:cNvPr id="237" name="TextBox 236"/>
          <p:cNvSpPr txBox="1"/>
          <p:nvPr/>
        </p:nvSpPr>
        <p:spPr>
          <a:xfrm>
            <a:off x="5174539" y="5885720"/>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38" name="TextBox 237"/>
          <p:cNvSpPr txBox="1"/>
          <p:nvPr/>
        </p:nvSpPr>
        <p:spPr>
          <a:xfrm>
            <a:off x="3838575" y="6051348"/>
            <a:ext cx="949630" cy="146456"/>
          </a:xfrm>
          <a:prstGeom prst="rect">
            <a:avLst/>
          </a:prstGeom>
          <a:noFill/>
        </p:spPr>
        <p:txBody>
          <a:bodyPr wrap="none" lIns="0" rIns="0" tIns="0" bIns="0">
            <a:spAutoFit/>
          </a:bodyPr>
          <a:lstStyle/>
          <a:p>
            <a:r>
              <a:rPr sz="835" b="0">
                <a:solidFill>
                  <a:srgbClr val="2E2E2E"/>
                </a:solidFill>
                <a:latin typeface="Calibri"/>
              </a:rPr>
              <a:t>● Chrysanthemums:</a:t>
            </a:r>
          </a:p>
        </p:txBody>
      </p:sp>
      <p:pic>
        <p:nvPicPr>
          <p:cNvPr id="239" name="Picture 238" descr="lock.png"/>
          <p:cNvPicPr>
            <a:picLocks noChangeAspect="1"/>
          </p:cNvPicPr>
          <p:nvPr/>
        </p:nvPicPr>
        <p:blipFill>
          <a:blip r:embed="rId40"/>
          <a:stretch>
            <a:fillRect/>
          </a:stretch>
        </p:blipFill>
        <p:spPr>
          <a:xfrm>
            <a:off x="4730436" y="6043916"/>
            <a:ext cx="97811" cy="142270"/>
          </a:xfrm>
          <a:prstGeom prst="rect">
            <a:avLst/>
          </a:prstGeom>
        </p:spPr>
      </p:pic>
      <p:sp>
        <p:nvSpPr>
          <p:cNvPr id="240" name="TextBox 239"/>
          <p:cNvSpPr txBox="1"/>
          <p:nvPr/>
        </p:nvSpPr>
        <p:spPr>
          <a:xfrm>
            <a:off x="4857733" y="6051348"/>
            <a:ext cx="710950" cy="146456"/>
          </a:xfrm>
          <a:prstGeom prst="rect">
            <a:avLst/>
          </a:prstGeom>
          <a:noFill/>
        </p:spPr>
        <p:txBody>
          <a:bodyPr wrap="none" lIns="0" rIns="0" tIns="0" bIns="0">
            <a:spAutoFit/>
          </a:bodyPr>
          <a:lstStyle/>
          <a:p>
            <a:r>
              <a:rPr sz="835" b="0">
                <a:solidFill>
                  <a:srgbClr val="2E2E2E"/>
                </a:solidFill>
                <a:latin typeface="Calibri"/>
              </a:rPr>
              <a:t>of 2026 value ·</a:t>
            </a:r>
          </a:p>
        </p:txBody>
      </p:sp>
      <p:pic>
        <p:nvPicPr>
          <p:cNvPr id="241" name="Picture 240" descr="lock.png"/>
          <p:cNvPicPr>
            <a:picLocks noChangeAspect="1"/>
          </p:cNvPicPr>
          <p:nvPr/>
        </p:nvPicPr>
        <p:blipFill>
          <a:blip r:embed="rId40"/>
          <a:stretch>
            <a:fillRect/>
          </a:stretch>
        </p:blipFill>
        <p:spPr>
          <a:xfrm>
            <a:off x="5510915" y="6043916"/>
            <a:ext cx="97811" cy="142270"/>
          </a:xfrm>
          <a:prstGeom prst="rect">
            <a:avLst/>
          </a:prstGeom>
        </p:spPr>
      </p:pic>
      <p:sp>
        <p:nvSpPr>
          <p:cNvPr id="242" name="TextBox 241"/>
          <p:cNvSpPr txBox="1"/>
          <p:nvPr/>
        </p:nvSpPr>
        <p:spPr>
          <a:xfrm>
            <a:off x="5638212" y="6051348"/>
            <a:ext cx="976160" cy="146456"/>
          </a:xfrm>
          <a:prstGeom prst="rect">
            <a:avLst/>
          </a:prstGeom>
          <a:noFill/>
        </p:spPr>
        <p:txBody>
          <a:bodyPr wrap="none" lIns="0" rIns="0" tIns="0" bIns="0">
            <a:spAutoFit/>
          </a:bodyPr>
          <a:lstStyle/>
          <a:p>
            <a:r>
              <a:rPr sz="835" b="0">
                <a:solidFill>
                  <a:srgbClr val="2E2E2E"/>
                </a:solidFill>
                <a:latin typeface="Calibri"/>
              </a:rPr>
              <a:t>CAGR serves a niche.</a:t>
            </a:r>
          </a:p>
        </p:txBody>
      </p:sp>
      <p:sp>
        <p:nvSpPr>
          <p:cNvPr id="243" name="TextBox 242"/>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Flower Species segment is projected to grow at</a:t>
            </a:r>
          </a:p>
        </p:txBody>
      </p:sp>
      <p:sp>
        <p:nvSpPr>
          <p:cNvPr id="244" name="TextBox 243"/>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245" name="Picture 244" descr="lock.png"/>
          <p:cNvPicPr>
            <a:picLocks noChangeAspect="1"/>
          </p:cNvPicPr>
          <p:nvPr/>
        </p:nvPicPr>
        <p:blipFill>
          <a:blip r:embed="rId40"/>
          <a:stretch>
            <a:fillRect/>
          </a:stretch>
        </p:blipFill>
        <p:spPr>
          <a:xfrm>
            <a:off x="9154084" y="6007677"/>
            <a:ext cx="134549" cy="195707"/>
          </a:xfrm>
          <a:prstGeom prst="rect">
            <a:avLst/>
          </a:prstGeom>
        </p:spPr>
      </p:pic>
      <p:sp>
        <p:nvSpPr>
          <p:cNvPr id="246" name="TextBox 245"/>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Flower Species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Flower Species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Flower Species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Flower Species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389717" cy="186689"/>
          </a:xfrm>
          <a:prstGeom prst="rect">
            <a:avLst/>
          </a:prstGeom>
          <a:noFill/>
        </p:spPr>
        <p:txBody>
          <a:bodyPr wrap="none" lIns="0" rIns="0" tIns="0" bIns="0">
            <a:spAutoFit/>
          </a:bodyPr>
          <a:lstStyle/>
          <a:p>
            <a:r>
              <a:rPr sz="1100" b="0">
                <a:solidFill>
                  <a:srgbClr val="2E2E2E"/>
                </a:solidFill>
                <a:latin typeface="Calibri"/>
              </a:rPr>
              <a:t>Carnations followed by gerbera are expected to be the two most attractive flower species segments in the North America floriculture market in terms of value over the forecast period. Carnations and</a:t>
            </a:r>
          </a:p>
        </p:txBody>
      </p:sp>
      <p:sp>
        <p:nvSpPr>
          <p:cNvPr id="20" name="TextBox 19"/>
          <p:cNvSpPr txBox="1"/>
          <p:nvPr/>
        </p:nvSpPr>
        <p:spPr>
          <a:xfrm>
            <a:off x="257175" y="5945505"/>
            <a:ext cx="1877003" cy="186689"/>
          </a:xfrm>
          <a:prstGeom prst="rect">
            <a:avLst/>
          </a:prstGeom>
          <a:noFill/>
        </p:spPr>
        <p:txBody>
          <a:bodyPr wrap="none" lIns="0" rIns="0" tIns="0" bIns="0">
            <a:spAutoFit/>
          </a:bodyPr>
          <a:lstStyle/>
          <a:p>
            <a:r>
              <a:rPr sz="1100" b="0">
                <a:solidFill>
                  <a:srgbClr val="2E2E2E"/>
                </a:solidFill>
                <a:latin typeface="Calibri"/>
              </a:rPr>
              <a:t>gerbera exhibit a CAGR index of</a:t>
            </a:r>
          </a:p>
        </p:txBody>
      </p:sp>
      <p:pic>
        <p:nvPicPr>
          <p:cNvPr id="21" name="Picture 20" descr="lock.png"/>
          <p:cNvPicPr>
            <a:picLocks noChangeAspect="1"/>
          </p:cNvPicPr>
          <p:nvPr/>
        </p:nvPicPr>
        <p:blipFill>
          <a:blip r:embed="rId6"/>
          <a:stretch>
            <a:fillRect/>
          </a:stretch>
        </p:blipFill>
        <p:spPr>
          <a:xfrm>
            <a:off x="2082229" y="5935726"/>
            <a:ext cx="128699" cy="187198"/>
          </a:xfrm>
          <a:prstGeom prst="rect">
            <a:avLst/>
          </a:prstGeom>
        </p:spPr>
      </p:pic>
      <p:sp>
        <p:nvSpPr>
          <p:cNvPr id="22" name="TextBox 21"/>
          <p:cNvSpPr txBox="1"/>
          <p:nvPr/>
        </p:nvSpPr>
        <p:spPr>
          <a:xfrm>
            <a:off x="224972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487620" y="5935726"/>
            <a:ext cx="128699" cy="187198"/>
          </a:xfrm>
          <a:prstGeom prst="rect">
            <a:avLst/>
          </a:prstGeom>
        </p:spPr>
      </p:pic>
      <p:sp>
        <p:nvSpPr>
          <p:cNvPr id="24" name="TextBox 23"/>
          <p:cNvSpPr txBox="1"/>
          <p:nvPr/>
        </p:nvSpPr>
        <p:spPr>
          <a:xfrm>
            <a:off x="2655115"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4264089" y="5935726"/>
            <a:ext cx="128699" cy="187198"/>
          </a:xfrm>
          <a:prstGeom prst="rect">
            <a:avLst/>
          </a:prstGeom>
        </p:spPr>
      </p:pic>
      <p:sp>
        <p:nvSpPr>
          <p:cNvPr id="26" name="TextBox 25"/>
          <p:cNvSpPr txBox="1"/>
          <p:nvPr/>
        </p:nvSpPr>
        <p:spPr>
          <a:xfrm>
            <a:off x="443158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4669479" y="5935726"/>
            <a:ext cx="128699" cy="187198"/>
          </a:xfrm>
          <a:prstGeom prst="rect">
            <a:avLst/>
          </a:prstGeom>
        </p:spPr>
      </p:pic>
      <p:sp>
        <p:nvSpPr>
          <p:cNvPr id="28" name="TextBox 27"/>
          <p:cNvSpPr txBox="1"/>
          <p:nvPr/>
        </p:nvSpPr>
        <p:spPr>
          <a:xfrm>
            <a:off x="4836975"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7391379" y="5935726"/>
            <a:ext cx="128699" cy="187198"/>
          </a:xfrm>
          <a:prstGeom prst="rect">
            <a:avLst/>
          </a:prstGeom>
        </p:spPr>
      </p:pic>
      <p:sp>
        <p:nvSpPr>
          <p:cNvPr id="30" name="TextBox 29"/>
          <p:cNvSpPr txBox="1"/>
          <p:nvPr/>
        </p:nvSpPr>
        <p:spPr>
          <a:xfrm>
            <a:off x="7558875" y="5945505"/>
            <a:ext cx="3538686" cy="186689"/>
          </a:xfrm>
          <a:prstGeom prst="rect">
            <a:avLst/>
          </a:prstGeom>
          <a:noFill/>
        </p:spPr>
        <p:txBody>
          <a:bodyPr wrap="none" lIns="0" rIns="0" tIns="0" bIns="0">
            <a:spAutoFit/>
          </a:bodyPr>
          <a:lstStyle/>
          <a:p>
            <a:r>
              <a:rPr sz="1100" b="0">
                <a:solidFill>
                  <a:srgbClr val="2E2E2E"/>
                </a:solidFill>
                <a:latin typeface="Calibri"/>
              </a:rPr>
              <a:t>. The hydrangeas segment is expected to be less attractive as</a:t>
            </a:r>
          </a:p>
        </p:txBody>
      </p:sp>
      <p:sp>
        <p:nvSpPr>
          <p:cNvPr id="31" name="TextBox 30"/>
          <p:cNvSpPr txBox="1"/>
          <p:nvPr/>
        </p:nvSpPr>
        <p:spPr>
          <a:xfrm>
            <a:off x="257175" y="611314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Flower Species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Flower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Roses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Carnations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Chrysanthemums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Lilies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Flower Species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Flower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Alstroemeria</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Hydrangeas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Gerbera</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Orchids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Flower Species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Flower Species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Tulips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Lisianthus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Peonies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Flower Species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Flower Species, 2021–2036, highlighting the sub-segments driving growth</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Flower Species (US$ Mn)</a:t>
            </a:r>
          </a:p>
        </p:txBody>
      </p:sp>
      <p:graphicFrame>
        <p:nvGraphicFramePr>
          <p:cNvPr id="12" name="Table 11"/>
          <p:cNvGraphicFramePr>
            <a:graphicFrameLocks noGrp="1"/>
          </p:cNvGraphicFramePr>
          <p:nvPr/>
        </p:nvGraphicFramePr>
        <p:xfrm>
          <a:off x="152400" y="1238250"/>
          <a:ext cx="11887206" cy="3448052"/>
        </p:xfrm>
        <a:graphic>
          <a:graphicData uri="http://schemas.openxmlformats.org/drawingml/2006/table">
            <a:tbl>
              <a:tblPr>
                <a:tableStyleId>{5C22544A-7EE6-4342-B048-85BDC9FD1C3A}</a:tableStyleId>
              </a:tblPr>
              <a:tblGrid>
                <a:gridCol w="1306338"/>
                <a:gridCol w="622404"/>
                <a:gridCol w="622404"/>
                <a:gridCol w="622404"/>
                <a:gridCol w="622404"/>
                <a:gridCol w="622404"/>
                <a:gridCol w="622404"/>
                <a:gridCol w="622404"/>
                <a:gridCol w="622404"/>
                <a:gridCol w="622404"/>
                <a:gridCol w="622404"/>
                <a:gridCol w="622404"/>
                <a:gridCol w="622404"/>
                <a:gridCol w="622404"/>
                <a:gridCol w="622404"/>
                <a:gridCol w="622404"/>
                <a:gridCol w="622404"/>
                <a:gridCol w="622404"/>
              </a:tblGrid>
              <a:tr h="246126">
                <a:tc>
                  <a:txBody>
                    <a:bodyPr wrap="none"/>
                    <a:lstStyle/>
                    <a:p>
                      <a:pPr algn="l"/>
                      <a:r>
                        <a:rPr sz="1100" b="1">
                          <a:solidFill>
                            <a:srgbClr val="0B2E4A"/>
                          </a:solidFill>
                          <a:latin typeface="Calibri"/>
                        </a:rPr>
                        <a:t>Flower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02">
                <a:tc>
                  <a:txBody>
                    <a:bodyPr wrap="none"/>
                    <a:lstStyle/>
                    <a:p>
                      <a:pPr algn="l"/>
                      <a:r>
                        <a:rPr sz="1100" b="1">
                          <a:solidFill>
                            <a:srgbClr val="2E2E2E"/>
                          </a:solidFill>
                          <a:latin typeface="Calibri"/>
                        </a:rPr>
                        <a:t>Roses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Carnations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Chrysanthemums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Lilies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Alstroemeria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Hydrangeas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Gerbera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Orchids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Tulips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Lisianthus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Peonies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Others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29200"/>
            <a:ext cx="11906250"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149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Flower Species</a:t>
            </a:r>
          </a:p>
        </p:txBody>
      </p:sp>
      <p:sp>
        <p:nvSpPr>
          <p:cNvPr id="16" name="Rectangle 15"/>
          <p:cNvSpPr/>
          <p:nvPr/>
        </p:nvSpPr>
        <p:spPr>
          <a:xfrm>
            <a:off x="276225" y="5353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38775"/>
            <a:ext cx="11639550"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62482" y="2818639"/>
            <a:ext cx="366712" cy="533400"/>
          </a:xfrm>
          <a:prstGeom prst="rect">
            <a:avLst/>
          </a:prstGeom>
        </p:spPr>
      </p:pic>
      <p:sp>
        <p:nvSpPr>
          <p:cNvPr id="20" name="TextBox 19"/>
          <p:cNvSpPr txBox="1"/>
          <p:nvPr/>
        </p:nvSpPr>
        <p:spPr>
          <a:xfrm>
            <a:off x="276225" y="5448300"/>
            <a:ext cx="2640347" cy="194310"/>
          </a:xfrm>
          <a:prstGeom prst="rect">
            <a:avLst/>
          </a:prstGeom>
          <a:noFill/>
        </p:spPr>
        <p:txBody>
          <a:bodyPr wrap="none" lIns="0" rIns="0" tIns="0" bIns="0">
            <a:spAutoFit/>
          </a:bodyPr>
          <a:lstStyle/>
          <a:p>
            <a:r>
              <a:rPr sz="1150" b="0">
                <a:solidFill>
                  <a:srgbClr val="2E2E2E"/>
                </a:solidFill>
                <a:latin typeface="Calibri"/>
              </a:rPr>
              <a:t>Carnations segment is projected to register</a:t>
            </a:r>
          </a:p>
        </p:txBody>
      </p:sp>
      <p:pic>
        <p:nvPicPr>
          <p:cNvPr id="21" name="Picture 20" descr="lock.png"/>
          <p:cNvPicPr>
            <a:picLocks noChangeAspect="1"/>
          </p:cNvPicPr>
          <p:nvPr/>
        </p:nvPicPr>
        <p:blipFill>
          <a:blip r:embed="rId4"/>
          <a:stretch>
            <a:fillRect/>
          </a:stretch>
        </p:blipFill>
        <p:spPr>
          <a:xfrm>
            <a:off x="2865726" y="5438076"/>
            <a:ext cx="134549" cy="195707"/>
          </a:xfrm>
          <a:prstGeom prst="rect">
            <a:avLst/>
          </a:prstGeom>
        </p:spPr>
      </p:pic>
      <p:sp>
        <p:nvSpPr>
          <p:cNvPr id="22" name="TextBox 21"/>
          <p:cNvSpPr txBox="1"/>
          <p:nvPr/>
        </p:nvSpPr>
        <p:spPr>
          <a:xfrm>
            <a:off x="3040835" y="5448300"/>
            <a:ext cx="8494310" cy="194310"/>
          </a:xfrm>
          <a:prstGeom prst="rect">
            <a:avLst/>
          </a:prstGeom>
          <a:noFill/>
        </p:spPr>
        <p:txBody>
          <a:bodyPr wrap="none" lIns="0" rIns="0" tIns="0" bIns="0">
            <a:spAutoFit/>
          </a:bodyPr>
          <a:lstStyle/>
          <a:p>
            <a:r>
              <a:rPr sz="1150" b="0">
                <a:solidFill>
                  <a:srgbClr val="2E2E2E"/>
                </a:solidFill>
                <a:latin typeface="Calibri"/>
              </a:rPr>
              <a:t>X higher value than gerbera segment in 2036. Among floriculture by flower species, tulips segment is expected to witness the highest CAGR of</a:t>
            </a:r>
          </a:p>
        </p:txBody>
      </p:sp>
      <p:pic>
        <p:nvPicPr>
          <p:cNvPr id="23" name="Picture 22" descr="lock.png"/>
          <p:cNvPicPr>
            <a:picLocks noChangeAspect="1"/>
          </p:cNvPicPr>
          <p:nvPr/>
        </p:nvPicPr>
        <p:blipFill>
          <a:blip r:embed="rId4"/>
          <a:stretch>
            <a:fillRect/>
          </a:stretch>
        </p:blipFill>
        <p:spPr>
          <a:xfrm>
            <a:off x="11484299" y="5438076"/>
            <a:ext cx="134549" cy="195707"/>
          </a:xfrm>
          <a:prstGeom prst="rect">
            <a:avLst/>
          </a:prstGeom>
        </p:spPr>
      </p:pic>
      <p:sp>
        <p:nvSpPr>
          <p:cNvPr id="24" name="TextBox 23"/>
          <p:cNvSpPr txBox="1"/>
          <p:nvPr/>
        </p:nvSpPr>
        <p:spPr>
          <a:xfrm>
            <a:off x="276225" y="56235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5" name="TextBox 24"/>
          <p:cNvSpPr txBox="1"/>
          <p:nvPr/>
        </p:nvSpPr>
        <p:spPr>
          <a:xfrm>
            <a:off x="276225" y="5851397"/>
            <a:ext cx="6621065" cy="194310"/>
          </a:xfrm>
          <a:prstGeom prst="rect">
            <a:avLst/>
          </a:prstGeom>
          <a:noFill/>
        </p:spPr>
        <p:txBody>
          <a:bodyPr wrap="none" lIns="0" rIns="0" tIns="0" bIns="0">
            <a:spAutoFit/>
          </a:bodyPr>
          <a:lstStyle/>
          <a:p>
            <a:r>
              <a:rPr sz="1150" b="0">
                <a:solidFill>
                  <a:srgbClr val="2E2E2E"/>
                </a:solidFill>
                <a:latin typeface="Calibri"/>
              </a:rPr>
              <a:t>In terms of value share by flower species, the carnations segment is expected to dominate the market, gaining</a:t>
            </a:r>
          </a:p>
        </p:txBody>
      </p:sp>
      <p:pic>
        <p:nvPicPr>
          <p:cNvPr id="26" name="Picture 25" descr="lock.png"/>
          <p:cNvPicPr>
            <a:picLocks noChangeAspect="1"/>
          </p:cNvPicPr>
          <p:nvPr/>
        </p:nvPicPr>
        <p:blipFill>
          <a:blip r:embed="rId4"/>
          <a:stretch>
            <a:fillRect/>
          </a:stretch>
        </p:blipFill>
        <p:spPr>
          <a:xfrm>
            <a:off x="6846444" y="5841174"/>
            <a:ext cx="134549" cy="195707"/>
          </a:xfrm>
          <a:prstGeom prst="rect">
            <a:avLst/>
          </a:prstGeom>
        </p:spPr>
      </p:pic>
      <p:sp>
        <p:nvSpPr>
          <p:cNvPr id="27" name="TextBox 26"/>
          <p:cNvSpPr txBox="1"/>
          <p:nvPr/>
        </p:nvSpPr>
        <p:spPr>
          <a:xfrm>
            <a:off x="7021553" y="58513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8" name="Picture 27" descr="lock.png"/>
          <p:cNvPicPr>
            <a:picLocks noChangeAspect="1"/>
          </p:cNvPicPr>
          <p:nvPr/>
        </p:nvPicPr>
        <p:blipFill>
          <a:blip r:embed="rId4"/>
          <a:stretch>
            <a:fillRect/>
          </a:stretch>
        </p:blipFill>
        <p:spPr>
          <a:xfrm>
            <a:off x="8416697" y="5841174"/>
            <a:ext cx="134549" cy="195707"/>
          </a:xfrm>
          <a:prstGeom prst="rect">
            <a:avLst/>
          </a:prstGeom>
        </p:spPr>
      </p:pic>
      <p:sp>
        <p:nvSpPr>
          <p:cNvPr id="29" name="TextBox 28"/>
          <p:cNvSpPr txBox="1"/>
          <p:nvPr/>
        </p:nvSpPr>
        <p:spPr>
          <a:xfrm>
            <a:off x="8591806" y="5851397"/>
            <a:ext cx="3108734" cy="194310"/>
          </a:xfrm>
          <a:prstGeom prst="rect">
            <a:avLst/>
          </a:prstGeom>
          <a:noFill/>
        </p:spPr>
        <p:txBody>
          <a:bodyPr wrap="none" lIns="0" rIns="0" tIns="0" bIns="0">
            <a:spAutoFit/>
          </a:bodyPr>
          <a:lstStyle/>
          <a:p>
            <a:r>
              <a:rPr sz="1150" b="0">
                <a:solidFill>
                  <a:srgbClr val="2E2E2E"/>
                </a:solidFill>
                <a:latin typeface="Calibri"/>
              </a:rPr>
              <a:t>share by 2036. The peonies segment is expected to</a:t>
            </a:r>
          </a:p>
        </p:txBody>
      </p:sp>
      <p:sp>
        <p:nvSpPr>
          <p:cNvPr id="30" name="TextBox 29"/>
          <p:cNvSpPr txBox="1"/>
          <p:nvPr/>
        </p:nvSpPr>
        <p:spPr>
          <a:xfrm>
            <a:off x="276225" y="602665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1" name="Picture 30" descr="lock.png"/>
          <p:cNvPicPr>
            <a:picLocks noChangeAspect="1"/>
          </p:cNvPicPr>
          <p:nvPr/>
        </p:nvPicPr>
        <p:blipFill>
          <a:blip r:embed="rId4"/>
          <a:stretch>
            <a:fillRect/>
          </a:stretch>
        </p:blipFill>
        <p:spPr>
          <a:xfrm>
            <a:off x="542047" y="6016434"/>
            <a:ext cx="134549" cy="195707"/>
          </a:xfrm>
          <a:prstGeom prst="rect">
            <a:avLst/>
          </a:prstGeom>
        </p:spPr>
      </p:pic>
      <p:sp>
        <p:nvSpPr>
          <p:cNvPr id="32" name="TextBox 31"/>
          <p:cNvSpPr txBox="1"/>
          <p:nvPr/>
        </p:nvSpPr>
        <p:spPr>
          <a:xfrm>
            <a:off x="717157" y="60266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3" name="Picture 32" descr="lock.png"/>
          <p:cNvPicPr>
            <a:picLocks noChangeAspect="1"/>
          </p:cNvPicPr>
          <p:nvPr/>
        </p:nvPicPr>
        <p:blipFill>
          <a:blip r:embed="rId4"/>
          <a:stretch>
            <a:fillRect/>
          </a:stretch>
        </p:blipFill>
        <p:spPr>
          <a:xfrm>
            <a:off x="3304661" y="6016434"/>
            <a:ext cx="134549" cy="195707"/>
          </a:xfrm>
          <a:prstGeom prst="rect">
            <a:avLst/>
          </a:prstGeom>
        </p:spPr>
      </p:pic>
      <p:sp>
        <p:nvSpPr>
          <p:cNvPr id="34" name="TextBox 33"/>
          <p:cNvSpPr txBox="1"/>
          <p:nvPr/>
        </p:nvSpPr>
        <p:spPr>
          <a:xfrm>
            <a:off x="3479771" y="60266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Flower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Flower Species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Flower Species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3318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5684" y="18331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903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Gerbera</a:t>
            </a:r>
          </a:p>
        </p:txBody>
      </p:sp>
      <p:sp>
        <p:nvSpPr>
          <p:cNvPr id="18" name="BPS Value 1"/>
          <p:cNvSpPr txBox="1"/>
          <p:nvPr/>
        </p:nvSpPr>
        <p:spPr>
          <a:xfrm>
            <a:off x="6896100" y="179031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00463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5684" y="20046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9617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Carnations</a:t>
            </a:r>
          </a:p>
        </p:txBody>
      </p:sp>
      <p:sp>
        <p:nvSpPr>
          <p:cNvPr id="22" name="BPS Value 2"/>
          <p:cNvSpPr txBox="1"/>
          <p:nvPr/>
        </p:nvSpPr>
        <p:spPr>
          <a:xfrm>
            <a:off x="6896100" y="196176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17608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5684" y="21760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1332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Tulips</a:t>
            </a:r>
          </a:p>
        </p:txBody>
      </p:sp>
      <p:sp>
        <p:nvSpPr>
          <p:cNvPr id="26" name="BPS Value 3"/>
          <p:cNvSpPr txBox="1"/>
          <p:nvPr/>
        </p:nvSpPr>
        <p:spPr>
          <a:xfrm>
            <a:off x="6896100" y="213321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234753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5684" y="23475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3046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Orchids</a:t>
            </a:r>
          </a:p>
        </p:txBody>
      </p:sp>
      <p:sp>
        <p:nvSpPr>
          <p:cNvPr id="30" name="BPS Value 4"/>
          <p:cNvSpPr txBox="1"/>
          <p:nvPr/>
        </p:nvSpPr>
        <p:spPr>
          <a:xfrm>
            <a:off x="6896100" y="230466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2518982"/>
            <a:ext cx="85725" cy="857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5684" y="251898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24761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Alstroemeria</a:t>
            </a:r>
          </a:p>
        </p:txBody>
      </p:sp>
      <p:sp>
        <p:nvSpPr>
          <p:cNvPr id="34" name="BPS Value 5"/>
          <p:cNvSpPr txBox="1"/>
          <p:nvPr/>
        </p:nvSpPr>
        <p:spPr>
          <a:xfrm>
            <a:off x="6896100" y="247611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2690432"/>
            <a:ext cx="85725" cy="85725"/>
          </a:xfrm>
          <a:prstGeom prst="rect">
            <a:avLst/>
          </a:prstGeom>
          <a:solidFill>
            <a:srgbClr val="5F5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5684" y="2690432"/>
            <a:ext cx="85725" cy="85725"/>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26475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Chrysanthemums</a:t>
            </a:r>
          </a:p>
        </p:txBody>
      </p:sp>
      <p:sp>
        <p:nvSpPr>
          <p:cNvPr id="38" name="BPS Value 6"/>
          <p:cNvSpPr txBox="1"/>
          <p:nvPr/>
        </p:nvSpPr>
        <p:spPr>
          <a:xfrm>
            <a:off x="6896100" y="2647569"/>
            <a:ext cx="514350" cy="171450"/>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2861882"/>
            <a:ext cx="85725" cy="85725"/>
          </a:xfrm>
          <a:prstGeom prst="rect">
            <a:avLst/>
          </a:prstGeom>
          <a:solidFill>
            <a:srgbClr val="B2B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rot="10800000">
            <a:off x="5095684" y="28618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28190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Others</a:t>
            </a:r>
          </a:p>
        </p:txBody>
      </p:sp>
      <p:sp>
        <p:nvSpPr>
          <p:cNvPr id="42" name="BPS Value 7"/>
          <p:cNvSpPr txBox="1"/>
          <p:nvPr/>
        </p:nvSpPr>
        <p:spPr>
          <a:xfrm>
            <a:off x="6896100" y="281901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3" name="FMI Legend Chip"/>
          <p:cNvSpPr/>
          <p:nvPr/>
        </p:nvSpPr>
        <p:spPr>
          <a:xfrm>
            <a:off x="4928997" y="3033332"/>
            <a:ext cx="85725" cy="8572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Isosceles Triangle 43"/>
          <p:cNvSpPr/>
          <p:nvPr/>
        </p:nvSpPr>
        <p:spPr>
          <a:xfrm rot="10800000">
            <a:off x="5095684" y="30333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PS Name 8"/>
          <p:cNvSpPr txBox="1"/>
          <p:nvPr/>
        </p:nvSpPr>
        <p:spPr>
          <a:xfrm>
            <a:off x="5233797" y="29904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Hydrangeas</a:t>
            </a:r>
          </a:p>
        </p:txBody>
      </p:sp>
      <p:sp>
        <p:nvSpPr>
          <p:cNvPr id="46" name="BPS Value 8"/>
          <p:cNvSpPr txBox="1"/>
          <p:nvPr/>
        </p:nvSpPr>
        <p:spPr>
          <a:xfrm>
            <a:off x="6896100" y="299046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7" name="FMI Legend Chip"/>
          <p:cNvSpPr/>
          <p:nvPr/>
        </p:nvSpPr>
        <p:spPr>
          <a:xfrm>
            <a:off x="4928997" y="320478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rot="10800000">
            <a:off x="5095684" y="32047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PS Name 9"/>
          <p:cNvSpPr txBox="1"/>
          <p:nvPr/>
        </p:nvSpPr>
        <p:spPr>
          <a:xfrm>
            <a:off x="5233797" y="31619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Lilies</a:t>
            </a:r>
          </a:p>
        </p:txBody>
      </p:sp>
      <p:sp>
        <p:nvSpPr>
          <p:cNvPr id="50" name="BPS Value 9"/>
          <p:cNvSpPr txBox="1"/>
          <p:nvPr/>
        </p:nvSpPr>
        <p:spPr>
          <a:xfrm>
            <a:off x="6896100" y="316191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1" name="FMI Legend Chip"/>
          <p:cNvSpPr/>
          <p:nvPr/>
        </p:nvSpPr>
        <p:spPr>
          <a:xfrm>
            <a:off x="4928997" y="337623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Isosceles Triangle 51"/>
          <p:cNvSpPr/>
          <p:nvPr/>
        </p:nvSpPr>
        <p:spPr>
          <a:xfrm rot="10800000">
            <a:off x="5095684" y="33762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PS Name 10"/>
          <p:cNvSpPr txBox="1"/>
          <p:nvPr/>
        </p:nvSpPr>
        <p:spPr>
          <a:xfrm>
            <a:off x="5233797" y="33333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Roses</a:t>
            </a:r>
          </a:p>
        </p:txBody>
      </p:sp>
      <p:sp>
        <p:nvSpPr>
          <p:cNvPr id="54" name="BPS Value 10"/>
          <p:cNvSpPr txBox="1"/>
          <p:nvPr/>
        </p:nvSpPr>
        <p:spPr>
          <a:xfrm>
            <a:off x="6896100" y="333336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5" name="FMI Legend Chip"/>
          <p:cNvSpPr/>
          <p:nvPr/>
        </p:nvSpPr>
        <p:spPr>
          <a:xfrm>
            <a:off x="4928997" y="3547682"/>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rot="10800000">
            <a:off x="5095684" y="354768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PS Name 11"/>
          <p:cNvSpPr txBox="1"/>
          <p:nvPr/>
        </p:nvSpPr>
        <p:spPr>
          <a:xfrm>
            <a:off x="5233797" y="350481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Lisianthus</a:t>
            </a:r>
          </a:p>
        </p:txBody>
      </p:sp>
      <p:sp>
        <p:nvSpPr>
          <p:cNvPr id="58" name="BPS Value 11"/>
          <p:cNvSpPr txBox="1"/>
          <p:nvPr/>
        </p:nvSpPr>
        <p:spPr>
          <a:xfrm>
            <a:off x="6896100" y="350481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59" name="FMI Legend Chip"/>
          <p:cNvSpPr/>
          <p:nvPr/>
        </p:nvSpPr>
        <p:spPr>
          <a:xfrm>
            <a:off x="4928997" y="371913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sosceles Triangle 59"/>
          <p:cNvSpPr/>
          <p:nvPr/>
        </p:nvSpPr>
        <p:spPr>
          <a:xfrm rot="10800000">
            <a:off x="5095684" y="3719132"/>
            <a:ext cx="85725" cy="85725"/>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PS Name 12"/>
          <p:cNvSpPr txBox="1"/>
          <p:nvPr/>
        </p:nvSpPr>
        <p:spPr>
          <a:xfrm>
            <a:off x="5233797" y="3676269"/>
            <a:ext cx="1662303" cy="171450"/>
          </a:xfrm>
          <a:prstGeom prst="rect">
            <a:avLst/>
          </a:prstGeom>
          <a:noFill/>
        </p:spPr>
        <p:txBody>
          <a:bodyPr wrap="none" lIns="19050" rIns="19050" tIns="0" bIns="0" anchor="ctr">
            <a:spAutoFit/>
          </a:bodyPr>
          <a:lstStyle/>
          <a:p>
            <a:pPr algn="l"/>
            <a:r>
              <a:rPr sz="900" b="0">
                <a:solidFill>
                  <a:srgbClr val="2E2E2E"/>
                </a:solidFill>
                <a:latin typeface="Calibri"/>
              </a:rPr>
              <a:t>Peonies</a:t>
            </a:r>
          </a:p>
        </p:txBody>
      </p:sp>
      <p:sp>
        <p:nvSpPr>
          <p:cNvPr id="62" name="BPS Value 12"/>
          <p:cNvSpPr txBox="1"/>
          <p:nvPr/>
        </p:nvSpPr>
        <p:spPr>
          <a:xfrm>
            <a:off x="6896100" y="3676269"/>
            <a:ext cx="514350" cy="171450"/>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63" name="Rounded Rectangle 6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Flower Species</a:t>
            </a:r>
          </a:p>
        </p:txBody>
      </p:sp>
      <p:sp>
        <p:nvSpPr>
          <p:cNvPr id="65" name="Rectangle 6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8" name="Picture 67" descr="lock.png"/>
          <p:cNvPicPr>
            <a:picLocks noChangeAspect="1"/>
          </p:cNvPicPr>
          <p:nvPr/>
        </p:nvPicPr>
        <p:blipFill>
          <a:blip r:embed="rId5"/>
          <a:stretch>
            <a:fillRect/>
          </a:stretch>
        </p:blipFill>
        <p:spPr>
          <a:xfrm>
            <a:off x="2557843" y="3833622"/>
            <a:ext cx="275034" cy="400050"/>
          </a:xfrm>
          <a:prstGeom prst="rect">
            <a:avLst/>
          </a:prstGeom>
        </p:spPr>
      </p:pic>
      <p:sp>
        <p:nvSpPr>
          <p:cNvPr id="69" name="TextBox 68"/>
          <p:cNvSpPr txBox="1"/>
          <p:nvPr/>
        </p:nvSpPr>
        <p:spPr>
          <a:xfrm>
            <a:off x="7829550" y="1400175"/>
            <a:ext cx="4057488" cy="194310"/>
          </a:xfrm>
          <a:prstGeom prst="rect">
            <a:avLst/>
          </a:prstGeom>
          <a:noFill/>
        </p:spPr>
        <p:txBody>
          <a:bodyPr wrap="none" lIns="0" rIns="0" tIns="0" bIns="0">
            <a:spAutoFit/>
          </a:bodyPr>
          <a:lstStyle/>
          <a:p>
            <a:r>
              <a:rPr sz="1150" b="0">
                <a:solidFill>
                  <a:srgbClr val="2E2E2E"/>
                </a:solidFill>
                <a:latin typeface="Calibri"/>
              </a:rPr>
              <a:t>Among floriculture by flower species, tulips segment is expected to</a:t>
            </a:r>
          </a:p>
        </p:txBody>
      </p:sp>
      <p:sp>
        <p:nvSpPr>
          <p:cNvPr id="70" name="TextBox 69"/>
          <p:cNvSpPr txBox="1"/>
          <p:nvPr/>
        </p:nvSpPr>
        <p:spPr>
          <a:xfrm>
            <a:off x="7829550"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71" name="Picture 70" descr="lock.png"/>
          <p:cNvPicPr>
            <a:picLocks noChangeAspect="1"/>
          </p:cNvPicPr>
          <p:nvPr/>
        </p:nvPicPr>
        <p:blipFill>
          <a:blip r:embed="rId5"/>
          <a:stretch>
            <a:fillRect/>
          </a:stretch>
        </p:blipFill>
        <p:spPr>
          <a:xfrm>
            <a:off x="9526474" y="1565211"/>
            <a:ext cx="134549" cy="195707"/>
          </a:xfrm>
          <a:prstGeom prst="rect">
            <a:avLst/>
          </a:prstGeom>
        </p:spPr>
      </p:pic>
      <p:sp>
        <p:nvSpPr>
          <p:cNvPr id="72" name="TextBox 71"/>
          <p:cNvSpPr txBox="1"/>
          <p:nvPr/>
        </p:nvSpPr>
        <p:spPr>
          <a:xfrm>
            <a:off x="9701583" y="1575435"/>
            <a:ext cx="2074974" cy="194310"/>
          </a:xfrm>
          <a:prstGeom prst="rect">
            <a:avLst/>
          </a:prstGeom>
          <a:noFill/>
        </p:spPr>
        <p:txBody>
          <a:bodyPr wrap="none" lIns="0" rIns="0" tIns="0" bIns="0">
            <a:spAutoFit/>
          </a:bodyPr>
          <a:lstStyle/>
          <a:p>
            <a:r>
              <a:rPr sz="1150" b="0">
                <a:solidFill>
                  <a:srgbClr val="2E2E2E"/>
                </a:solidFill>
                <a:latin typeface="Calibri"/>
              </a:rPr>
              <a:t>over the forecast period. In terms</a:t>
            </a:r>
          </a:p>
        </p:txBody>
      </p:sp>
      <p:sp>
        <p:nvSpPr>
          <p:cNvPr id="73" name="TextBox 72"/>
          <p:cNvSpPr txBox="1"/>
          <p:nvPr/>
        </p:nvSpPr>
        <p:spPr>
          <a:xfrm>
            <a:off x="7829550" y="1750695"/>
            <a:ext cx="3562573" cy="194310"/>
          </a:xfrm>
          <a:prstGeom prst="rect">
            <a:avLst/>
          </a:prstGeom>
          <a:noFill/>
        </p:spPr>
        <p:txBody>
          <a:bodyPr wrap="none" lIns="0" rIns="0" tIns="0" bIns="0">
            <a:spAutoFit/>
          </a:bodyPr>
          <a:lstStyle/>
          <a:p>
            <a:r>
              <a:rPr sz="1150" b="0">
                <a:solidFill>
                  <a:srgbClr val="2E2E2E"/>
                </a:solidFill>
                <a:latin typeface="Calibri"/>
              </a:rPr>
              <a:t>of value share by flower species, the carnations segment is</a:t>
            </a:r>
          </a:p>
        </p:txBody>
      </p:sp>
      <p:sp>
        <p:nvSpPr>
          <p:cNvPr id="74" name="TextBox 73"/>
          <p:cNvSpPr txBox="1"/>
          <p:nvPr/>
        </p:nvSpPr>
        <p:spPr>
          <a:xfrm>
            <a:off x="7829550" y="192595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75" name="Picture 74" descr="lock.png"/>
          <p:cNvPicPr>
            <a:picLocks noChangeAspect="1"/>
          </p:cNvPicPr>
          <p:nvPr/>
        </p:nvPicPr>
        <p:blipFill>
          <a:blip r:embed="rId5"/>
          <a:stretch>
            <a:fillRect/>
          </a:stretch>
        </p:blipFill>
        <p:spPr>
          <a:xfrm>
            <a:off x="10354013" y="1915731"/>
            <a:ext cx="134549" cy="195707"/>
          </a:xfrm>
          <a:prstGeom prst="rect">
            <a:avLst/>
          </a:prstGeom>
        </p:spPr>
      </p:pic>
      <p:sp>
        <p:nvSpPr>
          <p:cNvPr id="76" name="TextBox 75"/>
          <p:cNvSpPr txBox="1"/>
          <p:nvPr/>
        </p:nvSpPr>
        <p:spPr>
          <a:xfrm>
            <a:off x="10529122" y="192595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77" name="TextBox 76"/>
          <p:cNvSpPr txBox="1"/>
          <p:nvPr/>
        </p:nvSpPr>
        <p:spPr>
          <a:xfrm>
            <a:off x="7829550" y="210121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78" name="Picture 77" descr="lock.png"/>
          <p:cNvPicPr>
            <a:picLocks noChangeAspect="1"/>
          </p:cNvPicPr>
          <p:nvPr/>
        </p:nvPicPr>
        <p:blipFill>
          <a:blip r:embed="rId5"/>
          <a:stretch>
            <a:fillRect/>
          </a:stretch>
        </p:blipFill>
        <p:spPr>
          <a:xfrm>
            <a:off x="8027482" y="2090991"/>
            <a:ext cx="134549" cy="195707"/>
          </a:xfrm>
          <a:prstGeom prst="rect">
            <a:avLst/>
          </a:prstGeom>
        </p:spPr>
      </p:pic>
      <p:sp>
        <p:nvSpPr>
          <p:cNvPr id="79" name="TextBox 78"/>
          <p:cNvSpPr txBox="1"/>
          <p:nvPr/>
        </p:nvSpPr>
        <p:spPr>
          <a:xfrm>
            <a:off x="820259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80" name="TextBox 79"/>
          <p:cNvSpPr txBox="1"/>
          <p:nvPr/>
        </p:nvSpPr>
        <p:spPr>
          <a:xfrm>
            <a:off x="7829550" y="2329053"/>
            <a:ext cx="2479178" cy="194310"/>
          </a:xfrm>
          <a:prstGeom prst="rect">
            <a:avLst/>
          </a:prstGeom>
          <a:noFill/>
        </p:spPr>
        <p:txBody>
          <a:bodyPr wrap="none" lIns="0" rIns="0" tIns="0" bIns="0">
            <a:spAutoFit/>
          </a:bodyPr>
          <a:lstStyle/>
          <a:p>
            <a:r>
              <a:rPr sz="1150" b="0">
                <a:solidFill>
                  <a:srgbClr val="2E2E2E"/>
                </a:solidFill>
                <a:latin typeface="Calibri"/>
              </a:rPr>
              <a:t>The peonies segment is expected to lose</a:t>
            </a:r>
          </a:p>
        </p:txBody>
      </p:sp>
      <p:pic>
        <p:nvPicPr>
          <p:cNvPr id="81" name="Picture 80" descr="lock.png"/>
          <p:cNvPicPr>
            <a:picLocks noChangeAspect="1"/>
          </p:cNvPicPr>
          <p:nvPr/>
        </p:nvPicPr>
        <p:blipFill>
          <a:blip r:embed="rId5"/>
          <a:stretch>
            <a:fillRect/>
          </a:stretch>
        </p:blipFill>
        <p:spPr>
          <a:xfrm>
            <a:off x="10257882" y="2318829"/>
            <a:ext cx="134549" cy="195707"/>
          </a:xfrm>
          <a:prstGeom prst="rect">
            <a:avLst/>
          </a:prstGeom>
        </p:spPr>
      </p:pic>
      <p:sp>
        <p:nvSpPr>
          <p:cNvPr id="82" name="TextBox 81"/>
          <p:cNvSpPr txBox="1"/>
          <p:nvPr/>
        </p:nvSpPr>
        <p:spPr>
          <a:xfrm>
            <a:off x="10432992"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83" name="TextBox 82"/>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84" name="Picture 83" descr="lock.png"/>
          <p:cNvPicPr>
            <a:picLocks noChangeAspect="1"/>
          </p:cNvPicPr>
          <p:nvPr/>
        </p:nvPicPr>
        <p:blipFill>
          <a:blip r:embed="rId5"/>
          <a:stretch>
            <a:fillRect/>
          </a:stretch>
        </p:blipFill>
        <p:spPr>
          <a:xfrm>
            <a:off x="9114014" y="2494089"/>
            <a:ext cx="134549" cy="195707"/>
          </a:xfrm>
          <a:prstGeom prst="rect">
            <a:avLst/>
          </a:prstGeom>
        </p:spPr>
      </p:pic>
      <p:sp>
        <p:nvSpPr>
          <p:cNvPr id="85" name="TextBox 84"/>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8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Cultivation Method</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Cultivation Method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Cultivation Method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Cultivation Method,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Cultivation Method segment categorizes the market by cultivation method.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Open-Field Cultivation</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Protected Cultivation</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Cultivation Method split shows how demand is distributed across cultivation method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14_095_605E5C.png"/>
          <p:cNvPicPr>
            <a:picLocks noChangeAspect="1"/>
          </p:cNvPicPr>
          <p:nvPr/>
        </p:nvPicPr>
        <p:blipFill>
          <a:blip r:embed="rId4"/>
          <a:stretch>
            <a:fillRect/>
          </a:stretch>
        </p:blipFill>
        <p:spPr>
          <a:xfrm>
            <a:off x="3634127" y="2286582"/>
            <a:ext cx="1409020" cy="361950"/>
          </a:xfrm>
          <a:prstGeom prst="rect">
            <a:avLst/>
          </a:prstGeom>
        </p:spPr>
      </p:pic>
      <p:pic>
        <p:nvPicPr>
          <p:cNvPr id="50" name="Picture 49" descr="22_110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4_6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5_749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7_549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2_8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461195" cy="186689"/>
          </a:xfrm>
          <a:prstGeom prst="rect">
            <a:avLst/>
          </a:prstGeom>
          <a:noFill/>
        </p:spPr>
        <p:txBody>
          <a:bodyPr wrap="none" lIns="0" rIns="0" tIns="0" bIns="0">
            <a:spAutoFit/>
          </a:bodyPr>
          <a:lstStyle/>
          <a:p>
            <a:r>
              <a:rPr sz="1100" b="0">
                <a:solidFill>
                  <a:srgbClr val="2E2E2E"/>
                </a:solidFill>
                <a:latin typeface="Calibri"/>
              </a:rPr>
              <a:t>Among floriculture by cultivation method,</a:t>
            </a:r>
          </a:p>
        </p:txBody>
      </p:sp>
      <p:sp>
        <p:nvSpPr>
          <p:cNvPr id="58" name="TextBox 57"/>
          <p:cNvSpPr txBox="1"/>
          <p:nvPr/>
        </p:nvSpPr>
        <p:spPr>
          <a:xfrm>
            <a:off x="485775" y="4397077"/>
            <a:ext cx="2638276" cy="186689"/>
          </a:xfrm>
          <a:prstGeom prst="rect">
            <a:avLst/>
          </a:prstGeom>
          <a:noFill/>
        </p:spPr>
        <p:txBody>
          <a:bodyPr wrap="none" lIns="0" rIns="0" tIns="0" bIns="0">
            <a:spAutoFit/>
          </a:bodyPr>
          <a:lstStyle/>
          <a:p>
            <a:r>
              <a:rPr sz="1100" b="0">
                <a:solidFill>
                  <a:srgbClr val="2E2E2E"/>
                </a:solidFill>
                <a:latin typeface="Calibri"/>
              </a:rPr>
              <a:t>open-field cultivation segment is expected to</a:t>
            </a:r>
          </a:p>
        </p:txBody>
      </p:sp>
      <p:sp>
        <p:nvSpPr>
          <p:cNvPr id="59" name="TextBox 58"/>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60" name="Picture 59" descr="lock.png"/>
          <p:cNvPicPr>
            <a:picLocks noChangeAspect="1"/>
          </p:cNvPicPr>
          <p:nvPr/>
        </p:nvPicPr>
        <p:blipFill>
          <a:blip r:embed="rId10"/>
          <a:stretch>
            <a:fillRect/>
          </a:stretch>
        </p:blipFill>
        <p:spPr>
          <a:xfrm>
            <a:off x="2108919" y="4554938"/>
            <a:ext cx="128699" cy="187198"/>
          </a:xfrm>
          <a:prstGeom prst="rect">
            <a:avLst/>
          </a:prstGeom>
        </p:spPr>
      </p:pic>
      <p:sp>
        <p:nvSpPr>
          <p:cNvPr id="61" name="TextBox 60"/>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2" name="TextBox 61"/>
          <p:cNvSpPr txBox="1"/>
          <p:nvPr/>
        </p:nvSpPr>
        <p:spPr>
          <a:xfrm>
            <a:off x="485775" y="4732357"/>
            <a:ext cx="2615356" cy="186689"/>
          </a:xfrm>
          <a:prstGeom prst="rect">
            <a:avLst/>
          </a:prstGeom>
          <a:noFill/>
        </p:spPr>
        <p:txBody>
          <a:bodyPr wrap="none" lIns="0" rIns="0" tIns="0" bIns="0">
            <a:spAutoFit/>
          </a:bodyPr>
          <a:lstStyle/>
          <a:p>
            <a:r>
              <a:rPr sz="1100" b="0">
                <a:solidFill>
                  <a:srgbClr val="2E2E2E"/>
                </a:solidFill>
                <a:latin typeface="Calibri"/>
              </a:rPr>
              <a:t>period. In terms of value share by cultivation</a:t>
            </a:r>
          </a:p>
        </p:txBody>
      </p:sp>
      <p:sp>
        <p:nvSpPr>
          <p:cNvPr id="63" name="TextBox 62"/>
          <p:cNvSpPr txBox="1"/>
          <p:nvPr/>
        </p:nvSpPr>
        <p:spPr>
          <a:xfrm>
            <a:off x="485775" y="4899997"/>
            <a:ext cx="2668835" cy="186689"/>
          </a:xfrm>
          <a:prstGeom prst="rect">
            <a:avLst/>
          </a:prstGeom>
          <a:noFill/>
        </p:spPr>
        <p:txBody>
          <a:bodyPr wrap="none" lIns="0" rIns="0" tIns="0" bIns="0">
            <a:spAutoFit/>
          </a:bodyPr>
          <a:lstStyle/>
          <a:p>
            <a:r>
              <a:rPr sz="1100" b="0">
                <a:solidFill>
                  <a:srgbClr val="2E2E2E"/>
                </a:solidFill>
                <a:latin typeface="Calibri"/>
              </a:rPr>
              <a:t>method, the open-field cultivation segment is</a:t>
            </a:r>
          </a:p>
        </p:txBody>
      </p:sp>
      <p:sp>
        <p:nvSpPr>
          <p:cNvPr id="64" name="TextBox 63"/>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65" name="Picture 64" descr="lock.png"/>
          <p:cNvPicPr>
            <a:picLocks noChangeAspect="1"/>
          </p:cNvPicPr>
          <p:nvPr/>
        </p:nvPicPr>
        <p:blipFill>
          <a:blip r:embed="rId10"/>
          <a:stretch>
            <a:fillRect/>
          </a:stretch>
        </p:blipFill>
        <p:spPr>
          <a:xfrm>
            <a:off x="2900479" y="5057858"/>
            <a:ext cx="128699" cy="187198"/>
          </a:xfrm>
          <a:prstGeom prst="rect">
            <a:avLst/>
          </a:prstGeom>
        </p:spPr>
      </p:pic>
      <p:sp>
        <p:nvSpPr>
          <p:cNvPr id="66" name="TextBox 65"/>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67" name="TextBox 66"/>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68" name="Picture 67" descr="lock.png"/>
          <p:cNvPicPr>
            <a:picLocks noChangeAspect="1"/>
          </p:cNvPicPr>
          <p:nvPr/>
        </p:nvPicPr>
        <p:blipFill>
          <a:blip r:embed="rId10"/>
          <a:stretch>
            <a:fillRect/>
          </a:stretch>
        </p:blipFill>
        <p:spPr>
          <a:xfrm>
            <a:off x="1576057" y="5225498"/>
            <a:ext cx="128699" cy="187198"/>
          </a:xfrm>
          <a:prstGeom prst="rect">
            <a:avLst/>
          </a:prstGeom>
        </p:spPr>
      </p:pic>
      <p:sp>
        <p:nvSpPr>
          <p:cNvPr id="69" name="TextBox 68"/>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453209"/>
            <a:ext cx="2683023" cy="186689"/>
          </a:xfrm>
          <a:prstGeom prst="rect">
            <a:avLst/>
          </a:prstGeom>
          <a:noFill/>
        </p:spPr>
        <p:txBody>
          <a:bodyPr wrap="none" lIns="0" rIns="0" tIns="0" bIns="0">
            <a:spAutoFit/>
          </a:bodyPr>
          <a:lstStyle/>
          <a:p>
            <a:r>
              <a:rPr sz="1100" b="0">
                <a:solidFill>
                  <a:srgbClr val="2E2E2E"/>
                </a:solidFill>
                <a:latin typeface="Calibri"/>
              </a:rPr>
              <a:t>Open-field cultivation segment is projected to</a:t>
            </a:r>
          </a:p>
        </p:txBody>
      </p:sp>
      <p:sp>
        <p:nvSpPr>
          <p:cNvPr id="71" name="TextBox 70"/>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72" name="Picture 71" descr="lock.png"/>
          <p:cNvPicPr>
            <a:picLocks noChangeAspect="1"/>
          </p:cNvPicPr>
          <p:nvPr/>
        </p:nvPicPr>
        <p:blipFill>
          <a:blip r:embed="rId10"/>
          <a:stretch>
            <a:fillRect/>
          </a:stretch>
        </p:blipFill>
        <p:spPr>
          <a:xfrm>
            <a:off x="946316" y="5611070"/>
            <a:ext cx="128699" cy="187198"/>
          </a:xfrm>
          <a:prstGeom prst="rect">
            <a:avLst/>
          </a:prstGeom>
        </p:spPr>
      </p:pic>
      <p:sp>
        <p:nvSpPr>
          <p:cNvPr id="73" name="TextBox 72"/>
          <p:cNvSpPr txBox="1"/>
          <p:nvPr/>
        </p:nvSpPr>
        <p:spPr>
          <a:xfrm>
            <a:off x="1113812" y="5620849"/>
            <a:ext cx="1765696" cy="186689"/>
          </a:xfrm>
          <a:prstGeom prst="rect">
            <a:avLst/>
          </a:prstGeom>
          <a:noFill/>
        </p:spPr>
        <p:txBody>
          <a:bodyPr wrap="none" lIns="0" rIns="0" tIns="0" bIns="0">
            <a:spAutoFit/>
          </a:bodyPr>
          <a:lstStyle/>
          <a:p>
            <a:r>
              <a:rPr sz="1100" b="0">
                <a:solidFill>
                  <a:srgbClr val="2E2E2E"/>
                </a:solidFill>
                <a:latin typeface="Calibri"/>
              </a:rPr>
              <a:t>X higher value than protected</a:t>
            </a:r>
          </a:p>
        </p:txBody>
      </p:sp>
      <p:sp>
        <p:nvSpPr>
          <p:cNvPr id="74" name="TextBox 73"/>
          <p:cNvSpPr txBox="1"/>
          <p:nvPr/>
        </p:nvSpPr>
        <p:spPr>
          <a:xfrm>
            <a:off x="485775" y="5788489"/>
            <a:ext cx="1687115" cy="186689"/>
          </a:xfrm>
          <a:prstGeom prst="rect">
            <a:avLst/>
          </a:prstGeom>
          <a:noFill/>
        </p:spPr>
        <p:txBody>
          <a:bodyPr wrap="none" lIns="0" rIns="0" tIns="0" bIns="0">
            <a:spAutoFit/>
          </a:bodyPr>
          <a:lstStyle/>
          <a:p>
            <a:r>
              <a:rPr sz="1100" b="0">
                <a:solidFill>
                  <a:srgbClr val="2E2E2E"/>
                </a:solidFill>
                <a:latin typeface="Calibri"/>
              </a:rPr>
              <a:t>cultivation segment in 2036.</a:t>
            </a:r>
          </a:p>
        </p:txBody>
      </p:sp>
      <p:sp>
        <p:nvSpPr>
          <p:cNvPr id="75" name="TextBox 74"/>
          <p:cNvSpPr txBox="1"/>
          <p:nvPr/>
        </p:nvSpPr>
        <p:spPr>
          <a:xfrm>
            <a:off x="3838575" y="4229437"/>
            <a:ext cx="1499666" cy="186689"/>
          </a:xfrm>
          <a:prstGeom prst="rect">
            <a:avLst/>
          </a:prstGeom>
          <a:noFill/>
        </p:spPr>
        <p:txBody>
          <a:bodyPr wrap="none" lIns="0" rIns="0" tIns="0" bIns="0">
            <a:spAutoFit/>
          </a:bodyPr>
          <a:lstStyle/>
          <a:p>
            <a:r>
              <a:rPr sz="1100" b="0">
                <a:solidFill>
                  <a:srgbClr val="2E2E2E"/>
                </a:solidFill>
                <a:latin typeface="Calibri"/>
              </a:rPr>
              <a:t>● Open-Field Cultivation:</a:t>
            </a:r>
          </a:p>
        </p:txBody>
      </p:sp>
      <p:pic>
        <p:nvPicPr>
          <p:cNvPr id="76" name="Picture 75" descr="lock.png"/>
          <p:cNvPicPr>
            <a:picLocks noChangeAspect="1"/>
          </p:cNvPicPr>
          <p:nvPr/>
        </p:nvPicPr>
        <p:blipFill>
          <a:blip r:embed="rId10"/>
          <a:stretch>
            <a:fillRect/>
          </a:stretch>
        </p:blipFill>
        <p:spPr>
          <a:xfrm>
            <a:off x="5286293" y="4219658"/>
            <a:ext cx="128699" cy="187198"/>
          </a:xfrm>
          <a:prstGeom prst="rect">
            <a:avLst/>
          </a:prstGeom>
        </p:spPr>
      </p:pic>
      <p:sp>
        <p:nvSpPr>
          <p:cNvPr id="77" name="TextBox 76"/>
          <p:cNvSpPr txBox="1"/>
          <p:nvPr/>
        </p:nvSpPr>
        <p:spPr>
          <a:xfrm>
            <a:off x="545378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6313239" y="4219658"/>
            <a:ext cx="128699" cy="187198"/>
          </a:xfrm>
          <a:prstGeom prst="rect">
            <a:avLst/>
          </a:prstGeom>
        </p:spPr>
      </p:pic>
      <p:sp>
        <p:nvSpPr>
          <p:cNvPr id="79" name="TextBox 78"/>
          <p:cNvSpPr txBox="1"/>
          <p:nvPr/>
        </p:nvSpPr>
        <p:spPr>
          <a:xfrm>
            <a:off x="6480735"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80" name="TextBox 7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1" name="TextBox 80"/>
          <p:cNvSpPr txBox="1"/>
          <p:nvPr/>
        </p:nvSpPr>
        <p:spPr>
          <a:xfrm>
            <a:off x="3838575" y="4615009"/>
            <a:ext cx="1436910" cy="186689"/>
          </a:xfrm>
          <a:prstGeom prst="rect">
            <a:avLst/>
          </a:prstGeom>
          <a:noFill/>
        </p:spPr>
        <p:txBody>
          <a:bodyPr wrap="none" lIns="0" rIns="0" tIns="0" bIns="0">
            <a:spAutoFit/>
          </a:bodyPr>
          <a:lstStyle/>
          <a:p>
            <a:r>
              <a:rPr sz="1100" b="0">
                <a:solidFill>
                  <a:srgbClr val="2E2E2E"/>
                </a:solidFill>
                <a:latin typeface="Calibri"/>
              </a:rPr>
              <a:t>● Protected Cultivation:</a:t>
            </a:r>
          </a:p>
        </p:txBody>
      </p:sp>
      <p:pic>
        <p:nvPicPr>
          <p:cNvPr id="82" name="Picture 81" descr="lock.png"/>
          <p:cNvPicPr>
            <a:picLocks noChangeAspect="1"/>
          </p:cNvPicPr>
          <p:nvPr/>
        </p:nvPicPr>
        <p:blipFill>
          <a:blip r:embed="rId10"/>
          <a:stretch>
            <a:fillRect/>
          </a:stretch>
        </p:blipFill>
        <p:spPr>
          <a:xfrm>
            <a:off x="5223537" y="4605230"/>
            <a:ext cx="128699" cy="187198"/>
          </a:xfrm>
          <a:prstGeom prst="rect">
            <a:avLst/>
          </a:prstGeom>
        </p:spPr>
      </p:pic>
      <p:sp>
        <p:nvSpPr>
          <p:cNvPr id="83" name="TextBox 82"/>
          <p:cNvSpPr txBox="1"/>
          <p:nvPr/>
        </p:nvSpPr>
        <p:spPr>
          <a:xfrm>
            <a:off x="539103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10"/>
          <a:stretch>
            <a:fillRect/>
          </a:stretch>
        </p:blipFill>
        <p:spPr>
          <a:xfrm>
            <a:off x="6250483" y="4605230"/>
            <a:ext cx="128699" cy="187198"/>
          </a:xfrm>
          <a:prstGeom prst="rect">
            <a:avLst/>
          </a:prstGeom>
        </p:spPr>
      </p:pic>
      <p:sp>
        <p:nvSpPr>
          <p:cNvPr id="85" name="TextBox 84"/>
          <p:cNvSpPr txBox="1"/>
          <p:nvPr/>
        </p:nvSpPr>
        <p:spPr>
          <a:xfrm>
            <a:off x="6417979"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6" name="TextBox 85"/>
          <p:cNvSpPr txBox="1"/>
          <p:nvPr/>
        </p:nvSpPr>
        <p:spPr>
          <a:xfrm>
            <a:off x="8524875" y="5842641"/>
            <a:ext cx="2979799" cy="194310"/>
          </a:xfrm>
          <a:prstGeom prst="rect">
            <a:avLst/>
          </a:prstGeom>
          <a:noFill/>
        </p:spPr>
        <p:txBody>
          <a:bodyPr wrap="none" lIns="0" rIns="0" tIns="0" bIns="0">
            <a:spAutoFit/>
          </a:bodyPr>
          <a:lstStyle/>
          <a:p>
            <a:r>
              <a:rPr sz="1150" b="1">
                <a:solidFill>
                  <a:srgbClr val="0B2E4A"/>
                </a:solidFill>
                <a:latin typeface="Calibri"/>
              </a:rPr>
              <a:t>The Cultivation Method segment is projected to</a:t>
            </a:r>
          </a:p>
        </p:txBody>
      </p:sp>
      <p:sp>
        <p:nvSpPr>
          <p:cNvPr id="87" name="TextBox 8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8" name="Picture 87" descr="lock.png"/>
          <p:cNvPicPr>
            <a:picLocks noChangeAspect="1"/>
          </p:cNvPicPr>
          <p:nvPr/>
        </p:nvPicPr>
        <p:blipFill>
          <a:blip r:embed="rId10"/>
          <a:stretch>
            <a:fillRect/>
          </a:stretch>
        </p:blipFill>
        <p:spPr>
          <a:xfrm>
            <a:off x="9651852" y="6007677"/>
            <a:ext cx="134549" cy="195707"/>
          </a:xfrm>
          <a:prstGeom prst="rect">
            <a:avLst/>
          </a:prstGeom>
        </p:spPr>
      </p:pic>
      <p:sp>
        <p:nvSpPr>
          <p:cNvPr id="89" name="TextBox 8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Cultivation Method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Cultivation Method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Cultivation Method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Cultivation Method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Open-field cultivation followed by protected cultivation are expected to be the two most attractive cultivation method segments in the North America floriculture market in terms of value over the forecast</a:t>
            </a:r>
          </a:p>
        </p:txBody>
      </p:sp>
      <p:sp>
        <p:nvSpPr>
          <p:cNvPr id="20" name="TextBox 19"/>
          <p:cNvSpPr txBox="1"/>
          <p:nvPr/>
        </p:nvSpPr>
        <p:spPr>
          <a:xfrm>
            <a:off x="257175" y="5945505"/>
            <a:ext cx="4597060" cy="186689"/>
          </a:xfrm>
          <a:prstGeom prst="rect">
            <a:avLst/>
          </a:prstGeom>
          <a:noFill/>
        </p:spPr>
        <p:txBody>
          <a:bodyPr wrap="none" lIns="0" rIns="0" tIns="0" bIns="0">
            <a:spAutoFit/>
          </a:bodyPr>
          <a:lstStyle/>
          <a:p>
            <a:r>
              <a:rPr sz="1100" b="0">
                <a:solidFill>
                  <a:srgbClr val="2E2E2E"/>
                </a:solidFill>
                <a:latin typeface="Calibri"/>
              </a:rPr>
              <a:t>period. Open-Field cultivation and protected cultivation exhibit a CAGR index of</a:t>
            </a:r>
          </a:p>
        </p:txBody>
      </p:sp>
      <p:pic>
        <p:nvPicPr>
          <p:cNvPr id="21" name="Picture 20" descr="lock.png"/>
          <p:cNvPicPr>
            <a:picLocks noChangeAspect="1"/>
          </p:cNvPicPr>
          <p:nvPr/>
        </p:nvPicPr>
        <p:blipFill>
          <a:blip r:embed="rId6"/>
          <a:stretch>
            <a:fillRect/>
          </a:stretch>
        </p:blipFill>
        <p:spPr>
          <a:xfrm>
            <a:off x="4802287" y="5935726"/>
            <a:ext cx="128699" cy="187198"/>
          </a:xfrm>
          <a:prstGeom prst="rect">
            <a:avLst/>
          </a:prstGeom>
        </p:spPr>
      </p:pic>
      <p:sp>
        <p:nvSpPr>
          <p:cNvPr id="22" name="TextBox 21"/>
          <p:cNvSpPr txBox="1"/>
          <p:nvPr/>
        </p:nvSpPr>
        <p:spPr>
          <a:xfrm>
            <a:off x="496978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207677" y="5935726"/>
            <a:ext cx="128699" cy="187198"/>
          </a:xfrm>
          <a:prstGeom prst="rect">
            <a:avLst/>
          </a:prstGeom>
        </p:spPr>
      </p:pic>
      <p:sp>
        <p:nvSpPr>
          <p:cNvPr id="24" name="TextBox 23"/>
          <p:cNvSpPr txBox="1"/>
          <p:nvPr/>
        </p:nvSpPr>
        <p:spPr>
          <a:xfrm>
            <a:off x="5375173"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984146" y="5935726"/>
            <a:ext cx="128699" cy="187198"/>
          </a:xfrm>
          <a:prstGeom prst="rect">
            <a:avLst/>
          </a:prstGeom>
        </p:spPr>
      </p:pic>
      <p:sp>
        <p:nvSpPr>
          <p:cNvPr id="26" name="TextBox 25"/>
          <p:cNvSpPr txBox="1"/>
          <p:nvPr/>
        </p:nvSpPr>
        <p:spPr>
          <a:xfrm>
            <a:off x="715164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389536" y="5935726"/>
            <a:ext cx="128699" cy="187198"/>
          </a:xfrm>
          <a:prstGeom prst="rect">
            <a:avLst/>
          </a:prstGeom>
        </p:spPr>
      </p:pic>
      <p:sp>
        <p:nvSpPr>
          <p:cNvPr id="28" name="TextBox 27"/>
          <p:cNvSpPr txBox="1"/>
          <p:nvPr/>
        </p:nvSpPr>
        <p:spPr>
          <a:xfrm>
            <a:off x="7557032"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111436" y="5935726"/>
            <a:ext cx="128699" cy="187198"/>
          </a:xfrm>
          <a:prstGeom prst="rect">
            <a:avLst/>
          </a:prstGeom>
        </p:spPr>
      </p:pic>
      <p:sp>
        <p:nvSpPr>
          <p:cNvPr id="30" name="TextBox 29"/>
          <p:cNvSpPr txBox="1"/>
          <p:nvPr/>
        </p:nvSpPr>
        <p:spPr>
          <a:xfrm>
            <a:off x="10278932" y="5945505"/>
            <a:ext cx="1042367" cy="186689"/>
          </a:xfrm>
          <a:prstGeom prst="rect">
            <a:avLst/>
          </a:prstGeom>
          <a:noFill/>
        </p:spPr>
        <p:txBody>
          <a:bodyPr wrap="none" lIns="0" rIns="0" tIns="0" bIns="0">
            <a:spAutoFit/>
          </a:bodyPr>
          <a:lstStyle/>
          <a:p>
            <a:r>
              <a:rPr sz="1100" b="0">
                <a:solidFill>
                  <a:srgbClr val="2E2E2E"/>
                </a:solidFill>
                <a:latin typeface="Calibri"/>
              </a:rPr>
              <a:t>. Bubbles right of</a:t>
            </a:r>
          </a:p>
        </p:txBody>
      </p:sp>
      <p:sp>
        <p:nvSpPr>
          <p:cNvPr id="31" name="TextBox 30"/>
          <p:cNvSpPr txBox="1"/>
          <p:nvPr/>
        </p:nvSpPr>
        <p:spPr>
          <a:xfrm>
            <a:off x="257175" y="6113145"/>
            <a:ext cx="3445899" cy="186689"/>
          </a:xfrm>
          <a:prstGeom prst="rect">
            <a:avLst/>
          </a:prstGeom>
          <a:noFill/>
        </p:spPr>
        <p:txBody>
          <a:bodyPr wrap="none" lIns="0" rIns="0" tIns="0" bIns="0">
            <a:spAutoFit/>
          </a:bodyPr>
          <a:lstStyle/>
          <a:p>
            <a:r>
              <a:rPr sz="1100" b="0">
                <a:solidFill>
                  <a:srgbClr val="2E2E2E"/>
                </a:solidFill>
                <a:latin typeface="Calibri"/>
              </a:rPr>
              <a:t>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Cultivation Method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Protected Cultivation</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Open-Field Cultivation</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Cultivation Method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Cultivation Method,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Cultivation Method (US$ Mn)</a:t>
            </a:r>
          </a:p>
        </p:txBody>
      </p:sp>
      <p:graphicFrame>
        <p:nvGraphicFramePr>
          <p:cNvPr id="12" name="Table 11"/>
          <p:cNvGraphicFramePr>
            <a:graphicFrameLocks noGrp="1"/>
          </p:cNvGraphicFramePr>
          <p:nvPr/>
        </p:nvGraphicFramePr>
        <p:xfrm>
          <a:off x="152400" y="1238250"/>
          <a:ext cx="11887203" cy="990600"/>
        </p:xfrm>
        <a:graphic>
          <a:graphicData uri="http://schemas.openxmlformats.org/drawingml/2006/table">
            <a:tbl>
              <a:tblPr>
                <a:tableStyleId>{5C22544A-7EE6-4342-B048-85BDC9FD1C3A}</a:tableStyleId>
              </a:tblPr>
              <a:tblGrid>
                <a:gridCol w="1585934"/>
                <a:gridCol w="605957"/>
                <a:gridCol w="605957"/>
                <a:gridCol w="605957"/>
                <a:gridCol w="605957"/>
                <a:gridCol w="605957"/>
                <a:gridCol w="605957"/>
                <a:gridCol w="605957"/>
                <a:gridCol w="605957"/>
                <a:gridCol w="605957"/>
                <a:gridCol w="605957"/>
                <a:gridCol w="605957"/>
                <a:gridCol w="605957"/>
                <a:gridCol w="605957"/>
                <a:gridCol w="605957"/>
                <a:gridCol w="605957"/>
                <a:gridCol w="605957"/>
                <a:gridCol w="605957"/>
              </a:tblGrid>
              <a:tr h="246126">
                <a:tc>
                  <a:txBody>
                    <a:bodyPr wrap="none"/>
                    <a:lstStyle/>
                    <a:p>
                      <a:pPr algn="l"/>
                      <a:r>
                        <a:rPr sz="1100" b="1">
                          <a:solidFill>
                            <a:srgbClr val="0B2E4A"/>
                          </a:solidFill>
                          <a:latin typeface="Calibri"/>
                        </a:rPr>
                        <a:t>Cultivation Method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Protected Cultivation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Open-Field Cultivation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Cultivation Method</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2278" y="1589913"/>
            <a:ext cx="366712" cy="533400"/>
          </a:xfrm>
          <a:prstGeom prst="rect">
            <a:avLst/>
          </a:prstGeom>
        </p:spPr>
      </p:pic>
      <p:sp>
        <p:nvSpPr>
          <p:cNvPr id="20" name="TextBox 19"/>
          <p:cNvSpPr txBox="1"/>
          <p:nvPr/>
        </p:nvSpPr>
        <p:spPr>
          <a:xfrm>
            <a:off x="276225" y="2990850"/>
            <a:ext cx="3290726" cy="194310"/>
          </a:xfrm>
          <a:prstGeom prst="rect">
            <a:avLst/>
          </a:prstGeom>
          <a:noFill/>
        </p:spPr>
        <p:txBody>
          <a:bodyPr wrap="none" lIns="0" rIns="0" tIns="0" bIns="0">
            <a:spAutoFit/>
          </a:bodyPr>
          <a:lstStyle/>
          <a:p>
            <a:r>
              <a:rPr sz="1150" b="0">
                <a:solidFill>
                  <a:srgbClr val="2E2E2E"/>
                </a:solidFill>
                <a:latin typeface="Calibri"/>
              </a:rPr>
              <a:t>Open-field cultivation segment is projected to register</a:t>
            </a:r>
          </a:p>
        </p:txBody>
      </p:sp>
      <p:pic>
        <p:nvPicPr>
          <p:cNvPr id="21" name="Picture 20" descr="lock.png"/>
          <p:cNvPicPr>
            <a:picLocks noChangeAspect="1"/>
          </p:cNvPicPr>
          <p:nvPr/>
        </p:nvPicPr>
        <p:blipFill>
          <a:blip r:embed="rId4"/>
          <a:stretch>
            <a:fillRect/>
          </a:stretch>
        </p:blipFill>
        <p:spPr>
          <a:xfrm>
            <a:off x="3516105" y="2980626"/>
            <a:ext cx="134549" cy="195707"/>
          </a:xfrm>
          <a:prstGeom prst="rect">
            <a:avLst/>
          </a:prstGeom>
        </p:spPr>
      </p:pic>
      <p:sp>
        <p:nvSpPr>
          <p:cNvPr id="22" name="TextBox 21"/>
          <p:cNvSpPr txBox="1"/>
          <p:nvPr/>
        </p:nvSpPr>
        <p:spPr>
          <a:xfrm>
            <a:off x="3691214" y="2990850"/>
            <a:ext cx="8059601" cy="194310"/>
          </a:xfrm>
          <a:prstGeom prst="rect">
            <a:avLst/>
          </a:prstGeom>
          <a:noFill/>
        </p:spPr>
        <p:txBody>
          <a:bodyPr wrap="none" lIns="0" rIns="0" tIns="0" bIns="0">
            <a:spAutoFit/>
          </a:bodyPr>
          <a:lstStyle/>
          <a:p>
            <a:r>
              <a:rPr sz="1150" b="0">
                <a:solidFill>
                  <a:srgbClr val="2E2E2E"/>
                </a:solidFill>
                <a:latin typeface="Calibri"/>
              </a:rPr>
              <a:t>X higher value than protected cultivation segment in 2036. Among floriculture by cultivation method, open-field cultivation segment is</a:t>
            </a:r>
          </a:p>
        </p:txBody>
      </p:sp>
      <p:sp>
        <p:nvSpPr>
          <p:cNvPr id="23" name="TextBox 22"/>
          <p:cNvSpPr txBox="1"/>
          <p:nvPr/>
        </p:nvSpPr>
        <p:spPr>
          <a:xfrm>
            <a:off x="276225" y="316611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3155886"/>
            <a:ext cx="134549" cy="195707"/>
          </a:xfrm>
          <a:prstGeom prst="rect">
            <a:avLst/>
          </a:prstGeom>
        </p:spPr>
      </p:pic>
      <p:sp>
        <p:nvSpPr>
          <p:cNvPr id="25" name="TextBox 24"/>
          <p:cNvSpPr txBox="1"/>
          <p:nvPr/>
        </p:nvSpPr>
        <p:spPr>
          <a:xfrm>
            <a:off x="288649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7548711" cy="194310"/>
          </a:xfrm>
          <a:prstGeom prst="rect">
            <a:avLst/>
          </a:prstGeom>
          <a:noFill/>
        </p:spPr>
        <p:txBody>
          <a:bodyPr wrap="none" lIns="0" rIns="0" tIns="0" bIns="0">
            <a:spAutoFit/>
          </a:bodyPr>
          <a:lstStyle/>
          <a:p>
            <a:r>
              <a:rPr sz="1150" b="0">
                <a:solidFill>
                  <a:srgbClr val="2E2E2E"/>
                </a:solidFill>
                <a:latin typeface="Calibri"/>
              </a:rPr>
              <a:t>In terms of value share by cultivation method, the open-field cultivation segment is expected to dominate the market, gaining</a:t>
            </a:r>
          </a:p>
        </p:txBody>
      </p:sp>
      <p:pic>
        <p:nvPicPr>
          <p:cNvPr id="27" name="Picture 26" descr="lock.png"/>
          <p:cNvPicPr>
            <a:picLocks noChangeAspect="1"/>
          </p:cNvPicPr>
          <p:nvPr/>
        </p:nvPicPr>
        <p:blipFill>
          <a:blip r:embed="rId4"/>
          <a:stretch>
            <a:fillRect/>
          </a:stretch>
        </p:blipFill>
        <p:spPr>
          <a:xfrm>
            <a:off x="7774090" y="3383724"/>
            <a:ext cx="134549" cy="195707"/>
          </a:xfrm>
          <a:prstGeom prst="rect">
            <a:avLst/>
          </a:prstGeom>
        </p:spPr>
      </p:pic>
      <p:sp>
        <p:nvSpPr>
          <p:cNvPr id="28" name="TextBox 27"/>
          <p:cNvSpPr txBox="1"/>
          <p:nvPr/>
        </p:nvSpPr>
        <p:spPr>
          <a:xfrm>
            <a:off x="7949199"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44342" y="3383724"/>
            <a:ext cx="134549" cy="195707"/>
          </a:xfrm>
          <a:prstGeom prst="rect">
            <a:avLst/>
          </a:prstGeom>
        </p:spPr>
      </p:pic>
      <p:sp>
        <p:nvSpPr>
          <p:cNvPr id="30" name="TextBox 29"/>
          <p:cNvSpPr txBox="1"/>
          <p:nvPr/>
        </p:nvSpPr>
        <p:spPr>
          <a:xfrm>
            <a:off x="9519452" y="3393947"/>
            <a:ext cx="1820242" cy="194310"/>
          </a:xfrm>
          <a:prstGeom prst="rect">
            <a:avLst/>
          </a:prstGeom>
          <a:noFill/>
        </p:spPr>
        <p:txBody>
          <a:bodyPr wrap="none" lIns="0" rIns="0" tIns="0" bIns="0">
            <a:spAutoFit/>
          </a:bodyPr>
          <a:lstStyle/>
          <a:p>
            <a:r>
              <a:rPr sz="1150" b="0">
                <a:solidFill>
                  <a:srgbClr val="2E2E2E"/>
                </a:solidFill>
                <a:latin typeface="Calibri"/>
              </a:rPr>
              <a:t>share by 2036. The protected</a:t>
            </a:r>
          </a:p>
        </p:txBody>
      </p:sp>
      <p:sp>
        <p:nvSpPr>
          <p:cNvPr id="31" name="TextBox 30"/>
          <p:cNvSpPr txBox="1"/>
          <p:nvPr/>
        </p:nvSpPr>
        <p:spPr>
          <a:xfrm>
            <a:off x="276225" y="3569207"/>
            <a:ext cx="2385900" cy="194310"/>
          </a:xfrm>
          <a:prstGeom prst="rect">
            <a:avLst/>
          </a:prstGeom>
          <a:noFill/>
        </p:spPr>
        <p:txBody>
          <a:bodyPr wrap="none" lIns="0" rIns="0" tIns="0" bIns="0">
            <a:spAutoFit/>
          </a:bodyPr>
          <a:lstStyle/>
          <a:p>
            <a:r>
              <a:rPr sz="1150" b="0">
                <a:solidFill>
                  <a:srgbClr val="2E2E2E"/>
                </a:solidFill>
                <a:latin typeface="Calibri"/>
              </a:rPr>
              <a:t>cultivation segment is expected to lose</a:t>
            </a:r>
          </a:p>
        </p:txBody>
      </p:sp>
      <p:pic>
        <p:nvPicPr>
          <p:cNvPr id="32" name="Picture 31" descr="lock.png"/>
          <p:cNvPicPr>
            <a:picLocks noChangeAspect="1"/>
          </p:cNvPicPr>
          <p:nvPr/>
        </p:nvPicPr>
        <p:blipFill>
          <a:blip r:embed="rId4"/>
          <a:stretch>
            <a:fillRect/>
          </a:stretch>
        </p:blipFill>
        <p:spPr>
          <a:xfrm>
            <a:off x="2611279" y="3558984"/>
            <a:ext cx="134549" cy="195707"/>
          </a:xfrm>
          <a:prstGeom prst="rect">
            <a:avLst/>
          </a:prstGeom>
        </p:spPr>
      </p:pic>
      <p:sp>
        <p:nvSpPr>
          <p:cNvPr id="33" name="TextBox 32"/>
          <p:cNvSpPr txBox="1"/>
          <p:nvPr/>
        </p:nvSpPr>
        <p:spPr>
          <a:xfrm>
            <a:off x="2786389" y="35692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373893" y="3558984"/>
            <a:ext cx="134549" cy="195707"/>
          </a:xfrm>
          <a:prstGeom prst="rect">
            <a:avLst/>
          </a:prstGeom>
        </p:spPr>
      </p:pic>
      <p:sp>
        <p:nvSpPr>
          <p:cNvPr id="35" name="TextBox 34"/>
          <p:cNvSpPr txBox="1"/>
          <p:nvPr/>
        </p:nvSpPr>
        <p:spPr>
          <a:xfrm>
            <a:off x="5549002" y="35692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Cultivation Method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Cultivation Method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2531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224839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1721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Protected Cultivation</a:t>
            </a:r>
          </a:p>
        </p:txBody>
      </p:sp>
      <p:sp>
        <p:nvSpPr>
          <p:cNvPr id="18" name="BPS Value 1"/>
          <p:cNvSpPr txBox="1"/>
          <p:nvPr/>
        </p:nvSpPr>
        <p:spPr>
          <a:xfrm>
            <a:off x="6896100" y="22341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53935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53459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4583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Open-Field Cultivation</a:t>
            </a:r>
          </a:p>
        </p:txBody>
      </p:sp>
      <p:sp>
        <p:nvSpPr>
          <p:cNvPr id="22" name="BPS Value 2"/>
          <p:cNvSpPr txBox="1"/>
          <p:nvPr/>
        </p:nvSpPr>
        <p:spPr>
          <a:xfrm>
            <a:off x="6896100" y="45203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Cultivation Method</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872358" cy="194310"/>
          </a:xfrm>
          <a:prstGeom prst="rect">
            <a:avLst/>
          </a:prstGeom>
          <a:noFill/>
        </p:spPr>
        <p:txBody>
          <a:bodyPr wrap="none" lIns="0" rIns="0" tIns="0" bIns="0">
            <a:spAutoFit/>
          </a:bodyPr>
          <a:lstStyle/>
          <a:p>
            <a:r>
              <a:rPr sz="1150" b="0">
                <a:solidFill>
                  <a:srgbClr val="2E2E2E"/>
                </a:solidFill>
                <a:latin typeface="Calibri"/>
              </a:rPr>
              <a:t>Among floriculture by cultivation method, open-field cultivation</a:t>
            </a:r>
          </a:p>
        </p:txBody>
      </p:sp>
      <p:sp>
        <p:nvSpPr>
          <p:cNvPr id="30" name="TextBox 2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1" name="Picture 30" descr="lock.png"/>
          <p:cNvPicPr>
            <a:picLocks noChangeAspect="1"/>
          </p:cNvPicPr>
          <p:nvPr/>
        </p:nvPicPr>
        <p:blipFill>
          <a:blip r:embed="rId5"/>
          <a:stretch>
            <a:fillRect/>
          </a:stretch>
        </p:blipFill>
        <p:spPr>
          <a:xfrm>
            <a:off x="10935343" y="1565211"/>
            <a:ext cx="134549" cy="195707"/>
          </a:xfrm>
          <a:prstGeom prst="rect">
            <a:avLst/>
          </a:prstGeom>
        </p:spPr>
      </p:pic>
      <p:sp>
        <p:nvSpPr>
          <p:cNvPr id="32" name="TextBox 3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3" name="TextBox 32"/>
          <p:cNvSpPr txBox="1"/>
          <p:nvPr/>
        </p:nvSpPr>
        <p:spPr>
          <a:xfrm>
            <a:off x="7829550" y="1750695"/>
            <a:ext cx="4017267" cy="194310"/>
          </a:xfrm>
          <a:prstGeom prst="rect">
            <a:avLst/>
          </a:prstGeom>
          <a:noFill/>
        </p:spPr>
        <p:txBody>
          <a:bodyPr wrap="none" lIns="0" rIns="0" tIns="0" bIns="0">
            <a:spAutoFit/>
          </a:bodyPr>
          <a:lstStyle/>
          <a:p>
            <a:r>
              <a:rPr sz="1150" b="0">
                <a:solidFill>
                  <a:srgbClr val="2E2E2E"/>
                </a:solidFill>
                <a:latin typeface="Calibri"/>
              </a:rPr>
              <a:t>forecast period. In terms of value share by cultivation method, the</a:t>
            </a:r>
          </a:p>
        </p:txBody>
      </p:sp>
      <p:sp>
        <p:nvSpPr>
          <p:cNvPr id="34" name="TextBox 33"/>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open-field cultivation segment is expected to dominate the market,</a:t>
            </a:r>
          </a:p>
        </p:txBody>
      </p:sp>
      <p:sp>
        <p:nvSpPr>
          <p:cNvPr id="35" name="TextBox 34"/>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36" name="Picture 35" descr="lock.png"/>
          <p:cNvPicPr>
            <a:picLocks noChangeAspect="1"/>
          </p:cNvPicPr>
          <p:nvPr/>
        </p:nvPicPr>
        <p:blipFill>
          <a:blip r:embed="rId5"/>
          <a:stretch>
            <a:fillRect/>
          </a:stretch>
        </p:blipFill>
        <p:spPr>
          <a:xfrm>
            <a:off x="8283070" y="2090991"/>
            <a:ext cx="134549" cy="195707"/>
          </a:xfrm>
          <a:prstGeom prst="rect">
            <a:avLst/>
          </a:prstGeom>
        </p:spPr>
      </p:pic>
      <p:sp>
        <p:nvSpPr>
          <p:cNvPr id="37" name="TextBox 36"/>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8" name="Picture 37" descr="lock.png"/>
          <p:cNvPicPr>
            <a:picLocks noChangeAspect="1"/>
          </p:cNvPicPr>
          <p:nvPr/>
        </p:nvPicPr>
        <p:blipFill>
          <a:blip r:embed="rId5"/>
          <a:stretch>
            <a:fillRect/>
          </a:stretch>
        </p:blipFill>
        <p:spPr>
          <a:xfrm>
            <a:off x="9853322" y="2090991"/>
            <a:ext cx="134549" cy="195707"/>
          </a:xfrm>
          <a:prstGeom prst="rect">
            <a:avLst/>
          </a:prstGeom>
        </p:spPr>
      </p:pic>
      <p:sp>
        <p:nvSpPr>
          <p:cNvPr id="39" name="TextBox 38"/>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TextBox 39"/>
          <p:cNvSpPr txBox="1"/>
          <p:nvPr/>
        </p:nvSpPr>
        <p:spPr>
          <a:xfrm>
            <a:off x="7829550" y="2329053"/>
            <a:ext cx="3259918" cy="194310"/>
          </a:xfrm>
          <a:prstGeom prst="rect">
            <a:avLst/>
          </a:prstGeom>
          <a:noFill/>
        </p:spPr>
        <p:txBody>
          <a:bodyPr wrap="none" lIns="0" rIns="0" tIns="0" bIns="0">
            <a:spAutoFit/>
          </a:bodyPr>
          <a:lstStyle/>
          <a:p>
            <a:r>
              <a:rPr sz="1150" b="0">
                <a:solidFill>
                  <a:srgbClr val="2E2E2E"/>
                </a:solidFill>
                <a:latin typeface="Calibri"/>
              </a:rPr>
              <a:t>The protected cultivation segment is expected to lose</a:t>
            </a:r>
          </a:p>
        </p:txBody>
      </p:sp>
      <p:pic>
        <p:nvPicPr>
          <p:cNvPr id="41" name="Picture 40" descr="lock.png"/>
          <p:cNvPicPr>
            <a:picLocks noChangeAspect="1"/>
          </p:cNvPicPr>
          <p:nvPr/>
        </p:nvPicPr>
        <p:blipFill>
          <a:blip r:embed="rId5"/>
          <a:stretch>
            <a:fillRect/>
          </a:stretch>
        </p:blipFill>
        <p:spPr>
          <a:xfrm>
            <a:off x="11038622" y="2318829"/>
            <a:ext cx="134549" cy="195707"/>
          </a:xfrm>
          <a:prstGeom prst="rect">
            <a:avLst/>
          </a:prstGeom>
        </p:spPr>
      </p:pic>
      <p:sp>
        <p:nvSpPr>
          <p:cNvPr id="42" name="TextBox 41"/>
          <p:cNvSpPr txBox="1"/>
          <p:nvPr/>
        </p:nvSpPr>
        <p:spPr>
          <a:xfrm>
            <a:off x="11213732"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3" name="TextBox 42"/>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44" name="Picture 43" descr="lock.png"/>
          <p:cNvPicPr>
            <a:picLocks noChangeAspect="1"/>
          </p:cNvPicPr>
          <p:nvPr/>
        </p:nvPicPr>
        <p:blipFill>
          <a:blip r:embed="rId5"/>
          <a:stretch>
            <a:fillRect/>
          </a:stretch>
        </p:blipFill>
        <p:spPr>
          <a:xfrm>
            <a:off x="9861950" y="2494089"/>
            <a:ext cx="134549" cy="195707"/>
          </a:xfrm>
          <a:prstGeom prst="rect">
            <a:avLst/>
          </a:prstGeom>
        </p:spPr>
      </p:pic>
      <p:sp>
        <p:nvSpPr>
          <p:cNvPr id="45" name="TextBox 44"/>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Supermarkets &amp; Hypermarkets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 Sales to Commercial &amp; Inst…</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Florists &amp; Specialty Flower Shops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 E-commerce</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Retail Channels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Garden Centers &amp; Plant Nurseries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5_356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6_57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2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4_036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6_479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8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3_989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5_778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3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2_359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4_691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7_1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2_191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3_864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_913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2_274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1_7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07853" cy="186689"/>
          </a:xfrm>
          <a:prstGeom prst="rect">
            <a:avLst/>
          </a:prstGeom>
          <a:noFill/>
        </p:spPr>
        <p:txBody>
          <a:bodyPr wrap="none" lIns="0" rIns="0" tIns="0" bIns="0">
            <a:spAutoFit/>
          </a:bodyPr>
          <a:lstStyle/>
          <a:p>
            <a:r>
              <a:rPr sz="1100" b="0">
                <a:solidFill>
                  <a:srgbClr val="2E2E2E"/>
                </a:solidFill>
                <a:latin typeface="Calibri"/>
              </a:rPr>
              <a:t>Among floriculture by distribution channel, online</a:t>
            </a:r>
          </a:p>
        </p:txBody>
      </p:sp>
      <p:sp>
        <p:nvSpPr>
          <p:cNvPr id="102" name="TextBox 101"/>
          <p:cNvSpPr txBox="1"/>
          <p:nvPr/>
        </p:nvSpPr>
        <p:spPr>
          <a:xfrm>
            <a:off x="485775" y="4397077"/>
            <a:ext cx="2909490" cy="186689"/>
          </a:xfrm>
          <a:prstGeom prst="rect">
            <a:avLst/>
          </a:prstGeom>
          <a:noFill/>
        </p:spPr>
        <p:txBody>
          <a:bodyPr wrap="none" lIns="0" rIns="0" tIns="0" bIns="0">
            <a:spAutoFit/>
          </a:bodyPr>
          <a:lstStyle/>
          <a:p>
            <a:r>
              <a:rPr sz="1100" b="0">
                <a:solidFill>
                  <a:srgbClr val="2E2E2E"/>
                </a:solidFill>
                <a:latin typeface="Calibri"/>
              </a:rPr>
              <a:t>/ e-commerce segment is expected to witness the</a:t>
            </a:r>
          </a:p>
        </p:txBody>
      </p:sp>
      <p:sp>
        <p:nvSpPr>
          <p:cNvPr id="103" name="TextBox 102"/>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104" name="Picture 103" descr="lock.png"/>
          <p:cNvPicPr>
            <a:picLocks noChangeAspect="1"/>
          </p:cNvPicPr>
          <p:nvPr/>
        </p:nvPicPr>
        <p:blipFill>
          <a:blip r:embed="rId22"/>
          <a:stretch>
            <a:fillRect/>
          </a:stretch>
        </p:blipFill>
        <p:spPr>
          <a:xfrm>
            <a:off x="1424607" y="4554938"/>
            <a:ext cx="128699" cy="187198"/>
          </a:xfrm>
          <a:prstGeom prst="rect">
            <a:avLst/>
          </a:prstGeom>
        </p:spPr>
      </p:pic>
      <p:sp>
        <p:nvSpPr>
          <p:cNvPr id="105" name="TextBox 104"/>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106" name="TextBox 105"/>
          <p:cNvSpPr txBox="1"/>
          <p:nvPr/>
        </p:nvSpPr>
        <p:spPr>
          <a:xfrm>
            <a:off x="485775" y="4732357"/>
            <a:ext cx="2834456" cy="186689"/>
          </a:xfrm>
          <a:prstGeom prst="rect">
            <a:avLst/>
          </a:prstGeom>
          <a:noFill/>
        </p:spPr>
        <p:txBody>
          <a:bodyPr wrap="none" lIns="0" rIns="0" tIns="0" bIns="0">
            <a:spAutoFit/>
          </a:bodyPr>
          <a:lstStyle/>
          <a:p>
            <a:r>
              <a:rPr sz="1100" b="0">
                <a:solidFill>
                  <a:srgbClr val="2E2E2E"/>
                </a:solidFill>
                <a:latin typeface="Calibri"/>
              </a:rPr>
              <a:t>terms of value share by distribution channel, the</a:t>
            </a:r>
          </a:p>
        </p:txBody>
      </p:sp>
      <p:sp>
        <p:nvSpPr>
          <p:cNvPr id="107" name="TextBox 106"/>
          <p:cNvSpPr txBox="1"/>
          <p:nvPr/>
        </p:nvSpPr>
        <p:spPr>
          <a:xfrm>
            <a:off x="485775" y="4899997"/>
            <a:ext cx="2448371" cy="186689"/>
          </a:xfrm>
          <a:prstGeom prst="rect">
            <a:avLst/>
          </a:prstGeom>
          <a:noFill/>
        </p:spPr>
        <p:txBody>
          <a:bodyPr wrap="none" lIns="0" rIns="0" tIns="0" bIns="0">
            <a:spAutoFit/>
          </a:bodyPr>
          <a:lstStyle/>
          <a:p>
            <a:r>
              <a:rPr sz="1100" b="0">
                <a:solidFill>
                  <a:srgbClr val="2E2E2E"/>
                </a:solidFill>
                <a:latin typeface="Calibri"/>
              </a:rPr>
              <a:t>supermarkets &amp; hypermarkets segment is</a:t>
            </a:r>
          </a:p>
        </p:txBody>
      </p:sp>
      <p:sp>
        <p:nvSpPr>
          <p:cNvPr id="108" name="TextBox 107"/>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09" name="Picture 108" descr="lock.png"/>
          <p:cNvPicPr>
            <a:picLocks noChangeAspect="1"/>
          </p:cNvPicPr>
          <p:nvPr/>
        </p:nvPicPr>
        <p:blipFill>
          <a:blip r:embed="rId22"/>
          <a:stretch>
            <a:fillRect/>
          </a:stretch>
        </p:blipFill>
        <p:spPr>
          <a:xfrm>
            <a:off x="2822716" y="5057858"/>
            <a:ext cx="128699" cy="187198"/>
          </a:xfrm>
          <a:prstGeom prst="rect">
            <a:avLst/>
          </a:prstGeom>
        </p:spPr>
      </p:pic>
      <p:sp>
        <p:nvSpPr>
          <p:cNvPr id="110" name="TextBox 109"/>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457921" cy="186689"/>
          </a:xfrm>
          <a:prstGeom prst="rect">
            <a:avLst/>
          </a:prstGeom>
          <a:noFill/>
        </p:spPr>
        <p:txBody>
          <a:bodyPr wrap="none" lIns="0" rIns="0" tIns="0" bIns="0">
            <a:spAutoFit/>
          </a:bodyPr>
          <a:lstStyle/>
          <a:p>
            <a:r>
              <a:rPr sz="1100" b="0">
                <a:solidFill>
                  <a:srgbClr val="2E2E2E"/>
                </a:solidFill>
                <a:latin typeface="Calibri"/>
              </a:rPr>
              <a:t>Supermarkets &amp; hypermarkets segment is</a:t>
            </a:r>
          </a:p>
        </p:txBody>
      </p:sp>
      <p:sp>
        <p:nvSpPr>
          <p:cNvPr id="115" name="TextBox 114"/>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6" name="Picture 115" descr="lock.png"/>
          <p:cNvPicPr>
            <a:picLocks noChangeAspect="1"/>
          </p:cNvPicPr>
          <p:nvPr/>
        </p:nvPicPr>
        <p:blipFill>
          <a:blip r:embed="rId22"/>
          <a:stretch>
            <a:fillRect/>
          </a:stretch>
        </p:blipFill>
        <p:spPr>
          <a:xfrm>
            <a:off x="1678376" y="5611070"/>
            <a:ext cx="128699" cy="187198"/>
          </a:xfrm>
          <a:prstGeom prst="rect">
            <a:avLst/>
          </a:prstGeom>
        </p:spPr>
      </p:pic>
      <p:sp>
        <p:nvSpPr>
          <p:cNvPr id="117" name="TextBox 116"/>
          <p:cNvSpPr txBox="1"/>
          <p:nvPr/>
        </p:nvSpPr>
        <p:spPr>
          <a:xfrm>
            <a:off x="1845872" y="5620849"/>
            <a:ext cx="1534318" cy="186689"/>
          </a:xfrm>
          <a:prstGeom prst="rect">
            <a:avLst/>
          </a:prstGeom>
          <a:noFill/>
        </p:spPr>
        <p:txBody>
          <a:bodyPr wrap="none" lIns="0" rIns="0" tIns="0" bIns="0">
            <a:spAutoFit/>
          </a:bodyPr>
          <a:lstStyle/>
          <a:p>
            <a:r>
              <a:rPr sz="1100" b="0">
                <a:solidFill>
                  <a:srgbClr val="2E2E2E"/>
                </a:solidFill>
                <a:latin typeface="Calibri"/>
              </a:rPr>
              <a:t>X higher value than direct</a:t>
            </a:r>
          </a:p>
        </p:txBody>
      </p:sp>
      <p:sp>
        <p:nvSpPr>
          <p:cNvPr id="118" name="TextBox 117"/>
          <p:cNvSpPr txBox="1"/>
          <p:nvPr/>
        </p:nvSpPr>
        <p:spPr>
          <a:xfrm>
            <a:off x="485775" y="5788489"/>
            <a:ext cx="2914650" cy="186689"/>
          </a:xfrm>
          <a:prstGeom prst="rect">
            <a:avLst/>
          </a:prstGeom>
          <a:noFill/>
        </p:spPr>
        <p:txBody>
          <a:bodyPr wrap="none" lIns="0" rIns="0" tIns="0" bIns="0">
            <a:spAutoFit/>
          </a:bodyPr>
          <a:lstStyle/>
          <a:p>
            <a:r>
              <a:rPr sz="1100" b="0">
                <a:solidFill>
                  <a:srgbClr val="2E2E2E"/>
                </a:solidFill>
                <a:latin typeface="Calibri"/>
              </a:rPr>
              <a:t>sales to commercial &amp; institutional buyers segment</a:t>
            </a:r>
          </a:p>
        </p:txBody>
      </p:sp>
      <p:sp>
        <p:nvSpPr>
          <p:cNvPr id="119" name="TextBox 118"/>
          <p:cNvSpPr txBox="1"/>
          <p:nvPr/>
        </p:nvSpPr>
        <p:spPr>
          <a:xfrm>
            <a:off x="485775" y="5956129"/>
            <a:ext cx="532407" cy="186689"/>
          </a:xfrm>
          <a:prstGeom prst="rect">
            <a:avLst/>
          </a:prstGeom>
          <a:noFill/>
        </p:spPr>
        <p:txBody>
          <a:bodyPr wrap="none" lIns="0" rIns="0" tIns="0" bIns="0">
            <a:spAutoFit/>
          </a:bodyPr>
          <a:lstStyle/>
          <a:p>
            <a:r>
              <a:rPr sz="1100" b="0">
                <a:solidFill>
                  <a:srgbClr val="2E2E2E"/>
                </a:solidFill>
                <a:latin typeface="Calibri"/>
              </a:rPr>
              <a:t>in 2036.</a:t>
            </a:r>
          </a:p>
        </p:txBody>
      </p:sp>
      <p:sp>
        <p:nvSpPr>
          <p:cNvPr id="120" name="TextBox 119"/>
          <p:cNvSpPr txBox="1"/>
          <p:nvPr/>
        </p:nvSpPr>
        <p:spPr>
          <a:xfrm>
            <a:off x="3838575" y="4229437"/>
            <a:ext cx="1983432" cy="186689"/>
          </a:xfrm>
          <a:prstGeom prst="rect">
            <a:avLst/>
          </a:prstGeom>
          <a:noFill/>
        </p:spPr>
        <p:txBody>
          <a:bodyPr wrap="none" lIns="0" rIns="0" tIns="0" bIns="0">
            <a:spAutoFit/>
          </a:bodyPr>
          <a:lstStyle/>
          <a:p>
            <a:r>
              <a:rPr sz="1100" b="0">
                <a:solidFill>
                  <a:srgbClr val="2E2E2E"/>
                </a:solidFill>
                <a:latin typeface="Calibri"/>
              </a:rPr>
              <a:t>● Supermarkets &amp; Hypermarkets:</a:t>
            </a:r>
          </a:p>
        </p:txBody>
      </p:sp>
      <p:pic>
        <p:nvPicPr>
          <p:cNvPr id="121" name="Picture 120" descr="lock.png"/>
          <p:cNvPicPr>
            <a:picLocks noChangeAspect="1"/>
          </p:cNvPicPr>
          <p:nvPr/>
        </p:nvPicPr>
        <p:blipFill>
          <a:blip r:embed="rId22"/>
          <a:stretch>
            <a:fillRect/>
          </a:stretch>
        </p:blipFill>
        <p:spPr>
          <a:xfrm>
            <a:off x="5770059" y="4219658"/>
            <a:ext cx="128699" cy="187198"/>
          </a:xfrm>
          <a:prstGeom prst="rect">
            <a:avLst/>
          </a:prstGeom>
        </p:spPr>
      </p:pic>
      <p:sp>
        <p:nvSpPr>
          <p:cNvPr id="122" name="TextBox 121"/>
          <p:cNvSpPr txBox="1"/>
          <p:nvPr/>
        </p:nvSpPr>
        <p:spPr>
          <a:xfrm>
            <a:off x="593755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22"/>
          <a:stretch>
            <a:fillRect/>
          </a:stretch>
        </p:blipFill>
        <p:spPr>
          <a:xfrm>
            <a:off x="6797005" y="4219658"/>
            <a:ext cx="128699" cy="187198"/>
          </a:xfrm>
          <a:prstGeom prst="rect">
            <a:avLst/>
          </a:prstGeom>
        </p:spPr>
      </p:pic>
      <p:sp>
        <p:nvSpPr>
          <p:cNvPr id="124" name="TextBox 123"/>
          <p:cNvSpPr txBox="1"/>
          <p:nvPr/>
        </p:nvSpPr>
        <p:spPr>
          <a:xfrm>
            <a:off x="6964500"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25" name="TextBox 124"/>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26" name="TextBox 125"/>
          <p:cNvSpPr txBox="1"/>
          <p:nvPr/>
        </p:nvSpPr>
        <p:spPr>
          <a:xfrm>
            <a:off x="3838575" y="4615009"/>
            <a:ext cx="3086844" cy="186689"/>
          </a:xfrm>
          <a:prstGeom prst="rect">
            <a:avLst/>
          </a:prstGeom>
          <a:noFill/>
        </p:spPr>
        <p:txBody>
          <a:bodyPr wrap="none" lIns="0" rIns="0" tIns="0" bIns="0">
            <a:spAutoFit/>
          </a:bodyPr>
          <a:lstStyle/>
          <a:p>
            <a:r>
              <a:rPr sz="1100" b="1">
                <a:solidFill>
                  <a:srgbClr val="0E72AE"/>
                </a:solidFill>
                <a:latin typeface="Calibri"/>
              </a:rPr>
              <a:t>● Direct Sales to Commercial &amp; Institutional Buyers:</a:t>
            </a:r>
          </a:p>
        </p:txBody>
      </p:sp>
      <p:pic>
        <p:nvPicPr>
          <p:cNvPr id="127" name="Picture 126" descr="lock.png"/>
          <p:cNvPicPr>
            <a:picLocks noChangeAspect="1"/>
          </p:cNvPicPr>
          <p:nvPr/>
        </p:nvPicPr>
        <p:blipFill>
          <a:blip r:embed="rId22"/>
          <a:stretch>
            <a:fillRect/>
          </a:stretch>
        </p:blipFill>
        <p:spPr>
          <a:xfrm>
            <a:off x="6873470" y="4605230"/>
            <a:ext cx="128699" cy="187198"/>
          </a:xfrm>
          <a:prstGeom prst="rect">
            <a:avLst/>
          </a:prstGeom>
        </p:spPr>
      </p:pic>
      <p:sp>
        <p:nvSpPr>
          <p:cNvPr id="128" name="TextBox 127"/>
          <p:cNvSpPr txBox="1"/>
          <p:nvPr/>
        </p:nvSpPr>
        <p:spPr>
          <a:xfrm>
            <a:off x="7040966" y="4615009"/>
            <a:ext cx="857374" cy="186689"/>
          </a:xfrm>
          <a:prstGeom prst="rect">
            <a:avLst/>
          </a:prstGeom>
          <a:noFill/>
        </p:spPr>
        <p:txBody>
          <a:bodyPr wrap="none" lIns="0" rIns="0" tIns="0" bIns="0">
            <a:spAutoFit/>
          </a:bodyPr>
          <a:lstStyle/>
          <a:p>
            <a:r>
              <a:rPr sz="1100" b="1">
                <a:solidFill>
                  <a:srgbClr val="0E72AE"/>
                </a:solidFill>
                <a:latin typeface="Calibri"/>
              </a:rPr>
              <a:t>of 2026 value</a:t>
            </a:r>
          </a:p>
        </p:txBody>
      </p:sp>
      <p:sp>
        <p:nvSpPr>
          <p:cNvPr id="129" name="TextBox 128"/>
          <p:cNvSpPr txBox="1"/>
          <p:nvPr/>
        </p:nvSpPr>
        <p:spPr>
          <a:xfrm>
            <a:off x="3838575" y="4782649"/>
            <a:ext cx="113580" cy="186689"/>
          </a:xfrm>
          <a:prstGeom prst="rect">
            <a:avLst/>
          </a:prstGeom>
          <a:noFill/>
        </p:spPr>
        <p:txBody>
          <a:bodyPr wrap="none" lIns="0" rIns="0" tIns="0" bIns="0">
            <a:spAutoFit/>
          </a:bodyPr>
          <a:lstStyle/>
          <a:p>
            <a:r>
              <a:rPr sz="1100" b="1">
                <a:solidFill>
                  <a:srgbClr val="0E72AE"/>
                </a:solidFill>
                <a:latin typeface="Calibri"/>
              </a:rPr>
              <a:t>·</a:t>
            </a:r>
          </a:p>
        </p:txBody>
      </p:sp>
      <p:pic>
        <p:nvPicPr>
          <p:cNvPr id="130" name="Picture 129" descr="lock.png"/>
          <p:cNvPicPr>
            <a:picLocks noChangeAspect="1"/>
          </p:cNvPicPr>
          <p:nvPr/>
        </p:nvPicPr>
        <p:blipFill>
          <a:blip r:embed="rId22"/>
          <a:stretch>
            <a:fillRect/>
          </a:stretch>
        </p:blipFill>
        <p:spPr>
          <a:xfrm>
            <a:off x="3900207" y="4772870"/>
            <a:ext cx="128699" cy="187198"/>
          </a:xfrm>
          <a:prstGeom prst="rect">
            <a:avLst/>
          </a:prstGeom>
        </p:spPr>
      </p:pic>
      <p:sp>
        <p:nvSpPr>
          <p:cNvPr id="131" name="TextBox 130"/>
          <p:cNvSpPr txBox="1"/>
          <p:nvPr/>
        </p:nvSpPr>
        <p:spPr>
          <a:xfrm>
            <a:off x="4067703" y="4782649"/>
            <a:ext cx="1284633" cy="186689"/>
          </a:xfrm>
          <a:prstGeom prst="rect">
            <a:avLst/>
          </a:prstGeom>
          <a:noFill/>
        </p:spPr>
        <p:txBody>
          <a:bodyPr wrap="none" lIns="0" rIns="0" tIns="0" bIns="0">
            <a:spAutoFit/>
          </a:bodyPr>
          <a:lstStyle/>
          <a:p>
            <a:r>
              <a:rPr sz="1100" b="1">
                <a:solidFill>
                  <a:srgbClr val="0E72AE"/>
                </a:solidFill>
                <a:latin typeface="Calibri"/>
              </a:rPr>
              <a:t>CAGR serves a niche.</a:t>
            </a:r>
          </a:p>
        </p:txBody>
      </p:sp>
      <p:sp>
        <p:nvSpPr>
          <p:cNvPr id="132" name="TextBox 131"/>
          <p:cNvSpPr txBox="1"/>
          <p:nvPr/>
        </p:nvSpPr>
        <p:spPr>
          <a:xfrm>
            <a:off x="3838575" y="5000581"/>
            <a:ext cx="2093664" cy="186689"/>
          </a:xfrm>
          <a:prstGeom prst="rect">
            <a:avLst/>
          </a:prstGeom>
          <a:noFill/>
        </p:spPr>
        <p:txBody>
          <a:bodyPr wrap="none" lIns="0" rIns="0" tIns="0" bIns="0">
            <a:spAutoFit/>
          </a:bodyPr>
          <a:lstStyle/>
          <a:p>
            <a:r>
              <a:rPr sz="1100" b="0">
                <a:solidFill>
                  <a:srgbClr val="2E2E2E"/>
                </a:solidFill>
                <a:latin typeface="Calibri"/>
              </a:rPr>
              <a:t>● Florists &amp; Specialty Flower Shops:</a:t>
            </a:r>
          </a:p>
        </p:txBody>
      </p:sp>
      <p:pic>
        <p:nvPicPr>
          <p:cNvPr id="133" name="Picture 132" descr="lock.png"/>
          <p:cNvPicPr>
            <a:picLocks noChangeAspect="1"/>
          </p:cNvPicPr>
          <p:nvPr/>
        </p:nvPicPr>
        <p:blipFill>
          <a:blip r:embed="rId22"/>
          <a:stretch>
            <a:fillRect/>
          </a:stretch>
        </p:blipFill>
        <p:spPr>
          <a:xfrm>
            <a:off x="5880291" y="4990801"/>
            <a:ext cx="128699" cy="187198"/>
          </a:xfrm>
          <a:prstGeom prst="rect">
            <a:avLst/>
          </a:prstGeom>
        </p:spPr>
      </p:pic>
      <p:sp>
        <p:nvSpPr>
          <p:cNvPr id="134" name="TextBox 133"/>
          <p:cNvSpPr txBox="1"/>
          <p:nvPr/>
        </p:nvSpPr>
        <p:spPr>
          <a:xfrm>
            <a:off x="6047786"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6907237" y="4990801"/>
            <a:ext cx="128699" cy="187198"/>
          </a:xfrm>
          <a:prstGeom prst="rect">
            <a:avLst/>
          </a:prstGeom>
        </p:spPr>
      </p:pic>
      <p:sp>
        <p:nvSpPr>
          <p:cNvPr id="136" name="TextBox 135"/>
          <p:cNvSpPr txBox="1"/>
          <p:nvPr/>
        </p:nvSpPr>
        <p:spPr>
          <a:xfrm>
            <a:off x="7074732"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37" name="TextBox 136"/>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8" name="TextBox 137"/>
          <p:cNvSpPr txBox="1"/>
          <p:nvPr/>
        </p:nvSpPr>
        <p:spPr>
          <a:xfrm>
            <a:off x="3838575" y="5386153"/>
            <a:ext cx="1434425" cy="186689"/>
          </a:xfrm>
          <a:prstGeom prst="rect">
            <a:avLst/>
          </a:prstGeom>
          <a:noFill/>
        </p:spPr>
        <p:txBody>
          <a:bodyPr wrap="none" lIns="0" rIns="0" tIns="0" bIns="0">
            <a:spAutoFit/>
          </a:bodyPr>
          <a:lstStyle/>
          <a:p>
            <a:r>
              <a:rPr sz="1100" b="0">
                <a:solidFill>
                  <a:srgbClr val="2E2E2E"/>
                </a:solidFill>
                <a:latin typeface="Calibri"/>
              </a:rPr>
              <a:t>● Online / E-commerce:</a:t>
            </a:r>
          </a:p>
        </p:txBody>
      </p:sp>
      <p:pic>
        <p:nvPicPr>
          <p:cNvPr id="139" name="Picture 138" descr="lock.png"/>
          <p:cNvPicPr>
            <a:picLocks noChangeAspect="1"/>
          </p:cNvPicPr>
          <p:nvPr/>
        </p:nvPicPr>
        <p:blipFill>
          <a:blip r:embed="rId22"/>
          <a:stretch>
            <a:fillRect/>
          </a:stretch>
        </p:blipFill>
        <p:spPr>
          <a:xfrm>
            <a:off x="5221051" y="5376373"/>
            <a:ext cx="128699" cy="187198"/>
          </a:xfrm>
          <a:prstGeom prst="rect">
            <a:avLst/>
          </a:prstGeom>
        </p:spPr>
      </p:pic>
      <p:sp>
        <p:nvSpPr>
          <p:cNvPr id="140" name="TextBox 139"/>
          <p:cNvSpPr txBox="1"/>
          <p:nvPr/>
        </p:nvSpPr>
        <p:spPr>
          <a:xfrm>
            <a:off x="5388547"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6247997" y="5376373"/>
            <a:ext cx="128699" cy="187198"/>
          </a:xfrm>
          <a:prstGeom prst="rect">
            <a:avLst/>
          </a:prstGeom>
        </p:spPr>
      </p:pic>
      <p:sp>
        <p:nvSpPr>
          <p:cNvPr id="142" name="TextBox 141"/>
          <p:cNvSpPr txBox="1"/>
          <p:nvPr/>
        </p:nvSpPr>
        <p:spPr>
          <a:xfrm>
            <a:off x="6415493" y="538615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3" name="TextBox 142"/>
          <p:cNvSpPr txBox="1"/>
          <p:nvPr/>
        </p:nvSpPr>
        <p:spPr>
          <a:xfrm>
            <a:off x="3838575" y="5604085"/>
            <a:ext cx="1465560" cy="186689"/>
          </a:xfrm>
          <a:prstGeom prst="rect">
            <a:avLst/>
          </a:prstGeom>
          <a:noFill/>
        </p:spPr>
        <p:txBody>
          <a:bodyPr wrap="none" lIns="0" rIns="0" tIns="0" bIns="0">
            <a:spAutoFit/>
          </a:bodyPr>
          <a:lstStyle/>
          <a:p>
            <a:r>
              <a:rPr sz="1100" b="0">
                <a:solidFill>
                  <a:srgbClr val="2E2E2E"/>
                </a:solidFill>
                <a:latin typeface="Calibri"/>
              </a:rPr>
              <a:t>● Other Retail Channels:</a:t>
            </a:r>
          </a:p>
        </p:txBody>
      </p:sp>
      <p:pic>
        <p:nvPicPr>
          <p:cNvPr id="144" name="Picture 143" descr="lock.png"/>
          <p:cNvPicPr>
            <a:picLocks noChangeAspect="1"/>
          </p:cNvPicPr>
          <p:nvPr/>
        </p:nvPicPr>
        <p:blipFill>
          <a:blip r:embed="rId22"/>
          <a:stretch>
            <a:fillRect/>
          </a:stretch>
        </p:blipFill>
        <p:spPr>
          <a:xfrm>
            <a:off x="5252186" y="5594305"/>
            <a:ext cx="128699" cy="187198"/>
          </a:xfrm>
          <a:prstGeom prst="rect">
            <a:avLst/>
          </a:prstGeom>
        </p:spPr>
      </p:pic>
      <p:sp>
        <p:nvSpPr>
          <p:cNvPr id="145" name="TextBox 144"/>
          <p:cNvSpPr txBox="1"/>
          <p:nvPr/>
        </p:nvSpPr>
        <p:spPr>
          <a:xfrm>
            <a:off x="5419682"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6279132" y="5594305"/>
            <a:ext cx="128699" cy="187198"/>
          </a:xfrm>
          <a:prstGeom prst="rect">
            <a:avLst/>
          </a:prstGeom>
        </p:spPr>
      </p:pic>
      <p:sp>
        <p:nvSpPr>
          <p:cNvPr id="147" name="TextBox 146"/>
          <p:cNvSpPr txBox="1"/>
          <p:nvPr/>
        </p:nvSpPr>
        <p:spPr>
          <a:xfrm>
            <a:off x="6446628" y="560408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8" name="TextBox 147"/>
          <p:cNvSpPr txBox="1"/>
          <p:nvPr/>
        </p:nvSpPr>
        <p:spPr>
          <a:xfrm>
            <a:off x="3838575" y="5822017"/>
            <a:ext cx="2142504" cy="186689"/>
          </a:xfrm>
          <a:prstGeom prst="rect">
            <a:avLst/>
          </a:prstGeom>
          <a:noFill/>
        </p:spPr>
        <p:txBody>
          <a:bodyPr wrap="none" lIns="0" rIns="0" tIns="0" bIns="0">
            <a:spAutoFit/>
          </a:bodyPr>
          <a:lstStyle/>
          <a:p>
            <a:r>
              <a:rPr sz="1100" b="0">
                <a:solidFill>
                  <a:srgbClr val="2E2E2E"/>
                </a:solidFill>
                <a:latin typeface="Calibri"/>
              </a:rPr>
              <a:t>● Garden Centers &amp; Plant Nurseries:</a:t>
            </a:r>
          </a:p>
        </p:txBody>
      </p:sp>
      <p:pic>
        <p:nvPicPr>
          <p:cNvPr id="149" name="Picture 148" descr="lock.png"/>
          <p:cNvPicPr>
            <a:picLocks noChangeAspect="1"/>
          </p:cNvPicPr>
          <p:nvPr/>
        </p:nvPicPr>
        <p:blipFill>
          <a:blip r:embed="rId22"/>
          <a:stretch>
            <a:fillRect/>
          </a:stretch>
        </p:blipFill>
        <p:spPr>
          <a:xfrm>
            <a:off x="5929131" y="5812237"/>
            <a:ext cx="128699" cy="187198"/>
          </a:xfrm>
          <a:prstGeom prst="rect">
            <a:avLst/>
          </a:prstGeom>
        </p:spPr>
      </p:pic>
      <p:sp>
        <p:nvSpPr>
          <p:cNvPr id="150" name="TextBox 149"/>
          <p:cNvSpPr txBox="1"/>
          <p:nvPr/>
        </p:nvSpPr>
        <p:spPr>
          <a:xfrm>
            <a:off x="6096627" y="582201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1" name="Picture 150" descr="lock.png"/>
          <p:cNvPicPr>
            <a:picLocks noChangeAspect="1"/>
          </p:cNvPicPr>
          <p:nvPr/>
        </p:nvPicPr>
        <p:blipFill>
          <a:blip r:embed="rId22"/>
          <a:stretch>
            <a:fillRect/>
          </a:stretch>
        </p:blipFill>
        <p:spPr>
          <a:xfrm>
            <a:off x="6956077" y="5812237"/>
            <a:ext cx="128699" cy="187198"/>
          </a:xfrm>
          <a:prstGeom prst="rect">
            <a:avLst/>
          </a:prstGeom>
        </p:spPr>
      </p:pic>
      <p:sp>
        <p:nvSpPr>
          <p:cNvPr id="152" name="TextBox 151"/>
          <p:cNvSpPr txBox="1"/>
          <p:nvPr/>
        </p:nvSpPr>
        <p:spPr>
          <a:xfrm>
            <a:off x="7123573" y="582201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53" name="TextBox 152"/>
          <p:cNvSpPr txBox="1"/>
          <p:nvPr/>
        </p:nvSpPr>
        <p:spPr>
          <a:xfrm>
            <a:off x="3838575" y="5989657"/>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54" name="TextBox 153"/>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55" name="TextBox 154"/>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56" name="Picture 155" descr="lock.png"/>
          <p:cNvPicPr>
            <a:picLocks noChangeAspect="1"/>
          </p:cNvPicPr>
          <p:nvPr/>
        </p:nvPicPr>
        <p:blipFill>
          <a:blip r:embed="rId22"/>
          <a:stretch>
            <a:fillRect/>
          </a:stretch>
        </p:blipFill>
        <p:spPr>
          <a:xfrm>
            <a:off x="9651852" y="6007677"/>
            <a:ext cx="134549" cy="195707"/>
          </a:xfrm>
          <a:prstGeom prst="rect">
            <a:avLst/>
          </a:prstGeom>
        </p:spPr>
      </p:pic>
      <p:sp>
        <p:nvSpPr>
          <p:cNvPr id="157" name="TextBox 156"/>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441831" cy="186689"/>
          </a:xfrm>
          <a:prstGeom prst="rect">
            <a:avLst/>
          </a:prstGeom>
          <a:noFill/>
        </p:spPr>
        <p:txBody>
          <a:bodyPr wrap="none" lIns="0" rIns="0" tIns="0" bIns="0">
            <a:spAutoFit/>
          </a:bodyPr>
          <a:lstStyle/>
          <a:p>
            <a:r>
              <a:rPr sz="1100" b="0">
                <a:solidFill>
                  <a:srgbClr val="2E2E2E"/>
                </a:solidFill>
                <a:latin typeface="Calibri"/>
              </a:rPr>
              <a:t>Online / e-commerce followed by direct sales to commercial &amp; institutional buyers are expected to be the two most attractive distribution channel segments in the North America floriculture market in</a:t>
            </a:r>
          </a:p>
        </p:txBody>
      </p:sp>
      <p:sp>
        <p:nvSpPr>
          <p:cNvPr id="20" name="TextBox 19"/>
          <p:cNvSpPr txBox="1"/>
          <p:nvPr/>
        </p:nvSpPr>
        <p:spPr>
          <a:xfrm>
            <a:off x="257175" y="5861685"/>
            <a:ext cx="7951770" cy="186689"/>
          </a:xfrm>
          <a:prstGeom prst="rect">
            <a:avLst/>
          </a:prstGeom>
          <a:noFill/>
        </p:spPr>
        <p:txBody>
          <a:bodyPr wrap="none" lIns="0" rIns="0" tIns="0" bIns="0">
            <a:spAutoFit/>
          </a:bodyPr>
          <a:lstStyle/>
          <a:p>
            <a:r>
              <a:rPr sz="1100" b="0">
                <a:solidFill>
                  <a:srgbClr val="2E2E2E"/>
                </a:solidFill>
                <a:latin typeface="Calibri"/>
              </a:rPr>
              <a:t>terms of value over the forecast period. Online / e-commerce and direct sales to commercial &amp; institutional buyers exhibit a CAGR index of</a:t>
            </a:r>
          </a:p>
        </p:txBody>
      </p:sp>
      <p:pic>
        <p:nvPicPr>
          <p:cNvPr id="21" name="Picture 20" descr="lock.png"/>
          <p:cNvPicPr>
            <a:picLocks noChangeAspect="1"/>
          </p:cNvPicPr>
          <p:nvPr/>
        </p:nvPicPr>
        <p:blipFill>
          <a:blip r:embed="rId6"/>
          <a:stretch>
            <a:fillRect/>
          </a:stretch>
        </p:blipFill>
        <p:spPr>
          <a:xfrm>
            <a:off x="8156997" y="5851905"/>
            <a:ext cx="128699" cy="187198"/>
          </a:xfrm>
          <a:prstGeom prst="rect">
            <a:avLst/>
          </a:prstGeom>
        </p:spPr>
      </p:pic>
      <p:sp>
        <p:nvSpPr>
          <p:cNvPr id="22" name="TextBox 21"/>
          <p:cNvSpPr txBox="1"/>
          <p:nvPr/>
        </p:nvSpPr>
        <p:spPr>
          <a:xfrm>
            <a:off x="832449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8562387" y="5851905"/>
            <a:ext cx="128699" cy="187198"/>
          </a:xfrm>
          <a:prstGeom prst="rect">
            <a:avLst/>
          </a:prstGeom>
        </p:spPr>
      </p:pic>
      <p:sp>
        <p:nvSpPr>
          <p:cNvPr id="24" name="TextBox 23"/>
          <p:cNvSpPr txBox="1"/>
          <p:nvPr/>
        </p:nvSpPr>
        <p:spPr>
          <a:xfrm>
            <a:off x="872988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10338856" y="5851905"/>
            <a:ext cx="128699" cy="187198"/>
          </a:xfrm>
          <a:prstGeom prst="rect">
            <a:avLst/>
          </a:prstGeom>
        </p:spPr>
      </p:pic>
      <p:sp>
        <p:nvSpPr>
          <p:cNvPr id="26" name="TextBox 25"/>
          <p:cNvSpPr txBox="1"/>
          <p:nvPr/>
        </p:nvSpPr>
        <p:spPr>
          <a:xfrm>
            <a:off x="1050635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10744246" y="5851905"/>
            <a:ext cx="128699" cy="187198"/>
          </a:xfrm>
          <a:prstGeom prst="rect">
            <a:avLst/>
          </a:prstGeom>
        </p:spPr>
      </p:pic>
      <p:sp>
        <p:nvSpPr>
          <p:cNvPr id="28" name="TextBox 27"/>
          <p:cNvSpPr txBox="1"/>
          <p:nvPr/>
        </p:nvSpPr>
        <p:spPr>
          <a:xfrm>
            <a:off x="257175"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2811579" y="6019545"/>
            <a:ext cx="128699" cy="187198"/>
          </a:xfrm>
          <a:prstGeom prst="rect">
            <a:avLst/>
          </a:prstGeom>
        </p:spPr>
      </p:pic>
      <p:sp>
        <p:nvSpPr>
          <p:cNvPr id="30" name="TextBox 29"/>
          <p:cNvSpPr txBox="1"/>
          <p:nvPr/>
        </p:nvSpPr>
        <p:spPr>
          <a:xfrm>
            <a:off x="2979074" y="6029325"/>
            <a:ext cx="8914134" cy="186689"/>
          </a:xfrm>
          <a:prstGeom prst="rect">
            <a:avLst/>
          </a:prstGeom>
          <a:noFill/>
        </p:spPr>
        <p:txBody>
          <a:bodyPr wrap="none" lIns="0" rIns="0" tIns="0" bIns="0">
            <a:spAutoFit/>
          </a:bodyPr>
          <a:lstStyle/>
          <a:p>
            <a:r>
              <a:rPr sz="1100" b="0">
                <a:solidFill>
                  <a:srgbClr val="2E2E2E"/>
                </a:solidFill>
                <a:latin typeface="Calibri"/>
              </a:rPr>
              <a:t>. The garden centers &amp; plant nurseries segment is expected to be less attractive as compared to other segments over the forecast period, owing to its lower</a:t>
            </a:r>
          </a:p>
        </p:txBody>
      </p:sp>
      <p:sp>
        <p:nvSpPr>
          <p:cNvPr id="31" name="TextBox 30"/>
          <p:cNvSpPr txBox="1"/>
          <p:nvPr/>
        </p:nvSpPr>
        <p:spPr>
          <a:xfrm>
            <a:off x="257175" y="6196965"/>
            <a:ext cx="6434425" cy="186689"/>
          </a:xfrm>
          <a:prstGeom prst="rect">
            <a:avLst/>
          </a:prstGeom>
          <a:noFill/>
        </p:spPr>
        <p:txBody>
          <a:bodyPr wrap="none" lIns="0" rIns="0" tIns="0" bIns="0">
            <a:spAutoFit/>
          </a:bodyPr>
          <a:lstStyle/>
          <a:p>
            <a:r>
              <a:rPr sz="1100" b="0">
                <a:solidFill>
                  <a:srgbClr val="2E2E2E"/>
                </a:solidFill>
                <a:latin typeface="Calibri"/>
              </a:rPr>
              <a:t>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Distribution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Direct Sales to Commercial &amp; Institutional Buyers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Florists &amp; Specialty Flower Shops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Supermarkets &amp; Hypermarkets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Garden Centers &amp; Plant Nurseries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Distribution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Online / E-commerce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Retail Channels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Distribution Channel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5509408" cy="194310"/>
          </a:xfrm>
          <a:prstGeom prst="rect">
            <a:avLst/>
          </a:prstGeom>
          <a:noFill/>
        </p:spPr>
        <p:txBody>
          <a:bodyPr wrap="none" lIns="0" rIns="0" tIns="0" bIns="0">
            <a:spAutoFit/>
          </a:bodyPr>
          <a:lstStyle/>
          <a:p>
            <a:r>
              <a:rPr sz="1150" b="0">
                <a:solidFill>
                  <a:srgbClr val="2E2E2E"/>
                </a:solidFill>
                <a:latin typeface="Calibri"/>
              </a:rPr>
              <a:t>By 2036, direct sales to commercial &amp; institutional buyers segment is anticipated to witness</a:t>
            </a:r>
          </a:p>
        </p:txBody>
      </p:sp>
      <p:sp>
        <p:nvSpPr>
          <p:cNvPr id="24" name="TextBox 23"/>
          <p:cNvSpPr txBox="1"/>
          <p:nvPr/>
        </p:nvSpPr>
        <p:spPr>
          <a:xfrm>
            <a:off x="6305550" y="1773505"/>
            <a:ext cx="906288" cy="194310"/>
          </a:xfrm>
          <a:prstGeom prst="rect">
            <a:avLst/>
          </a:prstGeom>
          <a:noFill/>
        </p:spPr>
        <p:txBody>
          <a:bodyPr wrap="none" lIns="0" rIns="0" tIns="0" bIns="0">
            <a:spAutoFit/>
          </a:bodyPr>
          <a:lstStyle/>
          <a:p>
            <a:r>
              <a:rPr sz="1150" b="0">
                <a:solidFill>
                  <a:srgbClr val="2E2E2E"/>
                </a:solidFill>
                <a:latin typeface="Calibri"/>
              </a:rPr>
              <a:t>an increase of</a:t>
            </a:r>
          </a:p>
        </p:txBody>
      </p:sp>
      <p:pic>
        <p:nvPicPr>
          <p:cNvPr id="25" name="Picture 24" descr="lock.png"/>
          <p:cNvPicPr>
            <a:picLocks noChangeAspect="1"/>
          </p:cNvPicPr>
          <p:nvPr/>
        </p:nvPicPr>
        <p:blipFill>
          <a:blip r:embed="rId6"/>
          <a:stretch>
            <a:fillRect/>
          </a:stretch>
        </p:blipFill>
        <p:spPr>
          <a:xfrm>
            <a:off x="7160992" y="1763281"/>
            <a:ext cx="134549" cy="195707"/>
          </a:xfrm>
          <a:prstGeom prst="rect">
            <a:avLst/>
          </a:prstGeom>
        </p:spPr>
      </p:pic>
      <p:sp>
        <p:nvSpPr>
          <p:cNvPr id="26" name="TextBox 25"/>
          <p:cNvSpPr txBox="1"/>
          <p:nvPr/>
        </p:nvSpPr>
        <p:spPr>
          <a:xfrm>
            <a:off x="7336102" y="1773505"/>
            <a:ext cx="4479094"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direct sales to commercial &amp;</a:t>
            </a:r>
          </a:p>
        </p:txBody>
      </p:sp>
      <p:sp>
        <p:nvSpPr>
          <p:cNvPr id="27" name="TextBox 26"/>
          <p:cNvSpPr txBox="1"/>
          <p:nvPr/>
        </p:nvSpPr>
        <p:spPr>
          <a:xfrm>
            <a:off x="6305550" y="1948765"/>
            <a:ext cx="5138601" cy="194310"/>
          </a:xfrm>
          <a:prstGeom prst="rect">
            <a:avLst/>
          </a:prstGeom>
          <a:noFill/>
        </p:spPr>
        <p:txBody>
          <a:bodyPr wrap="none" lIns="0" rIns="0" tIns="0" bIns="0">
            <a:spAutoFit/>
          </a:bodyPr>
          <a:lstStyle/>
          <a:p>
            <a:r>
              <a:rPr sz="1150" b="0">
                <a:solidFill>
                  <a:srgbClr val="2E2E2E"/>
                </a:solidFill>
                <a:latin typeface="Calibri"/>
              </a:rPr>
              <a:t>institutional buyers segment is expected to create an incremental opportunity of US$</a:t>
            </a:r>
          </a:p>
        </p:txBody>
      </p:sp>
      <p:pic>
        <p:nvPicPr>
          <p:cNvPr id="28" name="Picture 27" descr="lock.png"/>
          <p:cNvPicPr>
            <a:picLocks noChangeAspect="1"/>
          </p:cNvPicPr>
          <p:nvPr/>
        </p:nvPicPr>
        <p:blipFill>
          <a:blip r:embed="rId6"/>
          <a:stretch>
            <a:fillRect/>
          </a:stretch>
        </p:blipFill>
        <p:spPr>
          <a:xfrm>
            <a:off x="11393305" y="1938541"/>
            <a:ext cx="134549" cy="195707"/>
          </a:xfrm>
          <a:prstGeom prst="rect">
            <a:avLst/>
          </a:prstGeom>
        </p:spPr>
      </p:pic>
      <p:sp>
        <p:nvSpPr>
          <p:cNvPr id="29" name="TextBox 28"/>
          <p:cNvSpPr txBox="1"/>
          <p:nvPr/>
        </p:nvSpPr>
        <p:spPr>
          <a:xfrm>
            <a:off x="11568414" y="1948765"/>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0" name="TextBox 29"/>
          <p:cNvSpPr txBox="1"/>
          <p:nvPr/>
        </p:nvSpPr>
        <p:spPr>
          <a:xfrm>
            <a:off x="6305550" y="2124025"/>
            <a:ext cx="3249079" cy="194310"/>
          </a:xfrm>
          <a:prstGeom prst="rect">
            <a:avLst/>
          </a:prstGeom>
          <a:noFill/>
        </p:spPr>
        <p:txBody>
          <a:bodyPr wrap="none" lIns="0" rIns="0" tIns="0" bIns="0">
            <a:spAutoFit/>
          </a:bodyPr>
          <a:lstStyle/>
          <a:p>
            <a:r>
              <a:rPr sz="1150" b="0">
                <a:solidFill>
                  <a:srgbClr val="2E2E2E"/>
                </a:solidFill>
                <a:latin typeface="Calibri"/>
              </a:rPr>
              <a:t>for the overall floriculture market from 2026 to 2036.</a:t>
            </a:r>
          </a:p>
        </p:txBody>
      </p:sp>
      <p:sp>
        <p:nvSpPr>
          <p:cNvPr id="31" name="TextBox 30"/>
          <p:cNvSpPr txBox="1"/>
          <p:nvPr/>
        </p:nvSpPr>
        <p:spPr>
          <a:xfrm>
            <a:off x="6305550" y="2351863"/>
            <a:ext cx="5484328" cy="194310"/>
          </a:xfrm>
          <a:prstGeom prst="rect">
            <a:avLst/>
          </a:prstGeom>
          <a:noFill/>
        </p:spPr>
        <p:txBody>
          <a:bodyPr wrap="none" lIns="0" rIns="0" tIns="0" bIns="0">
            <a:spAutoFit/>
          </a:bodyPr>
          <a:lstStyle/>
          <a:p>
            <a:r>
              <a:rPr sz="1150" b="0">
                <a:solidFill>
                  <a:srgbClr val="2E2E2E"/>
                </a:solidFill>
                <a:latin typeface="Calibri"/>
              </a:rPr>
              <a:t>The online / e-commerce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6291470" y="2516899"/>
            <a:ext cx="134549" cy="195707"/>
          </a:xfrm>
          <a:prstGeom prst="rect">
            <a:avLst/>
          </a:prstGeom>
        </p:spPr>
      </p:pic>
      <p:sp>
        <p:nvSpPr>
          <p:cNvPr id="33" name="TextBox 32"/>
          <p:cNvSpPr txBox="1"/>
          <p:nvPr/>
        </p:nvSpPr>
        <p:spPr>
          <a:xfrm>
            <a:off x="6466579" y="2527123"/>
            <a:ext cx="5276949"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 The florists &amp; specialty flower</a:t>
            </a:r>
          </a:p>
        </p:txBody>
      </p:sp>
      <p:sp>
        <p:nvSpPr>
          <p:cNvPr id="34" name="TextBox 33"/>
          <p:cNvSpPr txBox="1"/>
          <p:nvPr/>
        </p:nvSpPr>
        <p:spPr>
          <a:xfrm>
            <a:off x="6305550" y="2702383"/>
            <a:ext cx="4333614" cy="194310"/>
          </a:xfrm>
          <a:prstGeom prst="rect">
            <a:avLst/>
          </a:prstGeom>
          <a:noFill/>
        </p:spPr>
        <p:txBody>
          <a:bodyPr wrap="none" lIns="0" rIns="0" tIns="0" bIns="0">
            <a:spAutoFit/>
          </a:bodyPr>
          <a:lstStyle/>
          <a:p>
            <a:r>
              <a:rPr sz="1150" b="0">
                <a:solidFill>
                  <a:srgbClr val="2E2E2E"/>
                </a:solidFill>
                <a:latin typeface="Calibri"/>
              </a:rPr>
              <a:t>shops 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588318" y="2692159"/>
            <a:ext cx="134549" cy="195707"/>
          </a:xfrm>
          <a:prstGeom prst="rect">
            <a:avLst/>
          </a:prstGeom>
        </p:spPr>
      </p:pic>
      <p:sp>
        <p:nvSpPr>
          <p:cNvPr id="36" name="TextBox 35"/>
          <p:cNvSpPr txBox="1"/>
          <p:nvPr/>
        </p:nvSpPr>
        <p:spPr>
          <a:xfrm>
            <a:off x="10763427" y="270238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7" name="TextBox 36"/>
          <p:cNvSpPr txBox="1"/>
          <p:nvPr/>
        </p:nvSpPr>
        <p:spPr>
          <a:xfrm>
            <a:off x="6305550" y="2877643"/>
            <a:ext cx="2811784" cy="194310"/>
          </a:xfrm>
          <a:prstGeom prst="rect">
            <a:avLst/>
          </a:prstGeom>
          <a:noFill/>
        </p:spPr>
        <p:txBody>
          <a:bodyPr wrap="none" lIns="0" rIns="0" tIns="0" bIns="0">
            <a:spAutoFit/>
          </a:bodyPr>
          <a:lstStyle/>
          <a:p>
            <a:r>
              <a:rPr sz="1150" b="0">
                <a:solidFill>
                  <a:srgbClr val="2E2E2E"/>
                </a:solidFill>
                <a:latin typeface="Calibri"/>
              </a:rPr>
              <a:t>overall floriculture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Distribution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Distribution Channel (US$ Mn)</a:t>
            </a:r>
          </a:p>
        </p:txBody>
      </p:sp>
      <p:graphicFrame>
        <p:nvGraphicFramePr>
          <p:cNvPr id="12" name="Table 11"/>
          <p:cNvGraphicFramePr>
            <a:graphicFrameLocks noGrp="1"/>
          </p:cNvGraphicFramePr>
          <p:nvPr/>
        </p:nvGraphicFramePr>
        <p:xfrm>
          <a:off x="152400" y="1238250"/>
          <a:ext cx="11887198" cy="1971675"/>
        </p:xfrm>
        <a:graphic>
          <a:graphicData uri="http://schemas.openxmlformats.org/drawingml/2006/table">
            <a:tbl>
              <a:tblPr>
                <a:tableStyleId>{5C22544A-7EE6-4342-B048-85BDC9FD1C3A}</a:tableStyleId>
              </a:tblPr>
              <a:tblGrid>
                <a:gridCol w="3088292"/>
                <a:gridCol w="514960"/>
                <a:gridCol w="514960"/>
                <a:gridCol w="514960"/>
                <a:gridCol w="514960"/>
                <a:gridCol w="514960"/>
                <a:gridCol w="514960"/>
                <a:gridCol w="514960"/>
                <a:gridCol w="514960"/>
                <a:gridCol w="514960"/>
                <a:gridCol w="514960"/>
                <a:gridCol w="514960"/>
                <a:gridCol w="514960"/>
                <a:gridCol w="514960"/>
                <a:gridCol w="514960"/>
                <a:gridCol w="514960"/>
                <a:gridCol w="514960"/>
                <a:gridCol w="559546"/>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Direct Sales to Commercial &amp; Institutional Buyers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Florists &amp; Specialty Flower Shops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Supermarkets &amp; Hypermarkets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Garden Centers &amp; Plant Nurseries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Online /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Retail Channels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Distribution Channel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453454" y="2080450"/>
            <a:ext cx="366712" cy="533399"/>
          </a:xfrm>
          <a:prstGeom prst="rect">
            <a:avLst/>
          </a:prstGeom>
        </p:spPr>
      </p:pic>
      <p:sp>
        <p:nvSpPr>
          <p:cNvPr id="20" name="TextBox 19"/>
          <p:cNvSpPr txBox="1"/>
          <p:nvPr/>
        </p:nvSpPr>
        <p:spPr>
          <a:xfrm>
            <a:off x="276225" y="3971925"/>
            <a:ext cx="3820728" cy="194310"/>
          </a:xfrm>
          <a:prstGeom prst="rect">
            <a:avLst/>
          </a:prstGeom>
          <a:noFill/>
        </p:spPr>
        <p:txBody>
          <a:bodyPr wrap="none" lIns="0" rIns="0" tIns="0" bIns="0">
            <a:spAutoFit/>
          </a:bodyPr>
          <a:lstStyle/>
          <a:p>
            <a:r>
              <a:rPr sz="1150" b="0">
                <a:solidFill>
                  <a:srgbClr val="2E2E2E"/>
                </a:solidFill>
                <a:latin typeface="Calibri"/>
              </a:rPr>
              <a:t>Supermarkets &amp; hypermarkets segment is projected to register</a:t>
            </a:r>
          </a:p>
        </p:txBody>
      </p:sp>
      <p:pic>
        <p:nvPicPr>
          <p:cNvPr id="21" name="Picture 20" descr="lock.png"/>
          <p:cNvPicPr>
            <a:picLocks noChangeAspect="1"/>
          </p:cNvPicPr>
          <p:nvPr/>
        </p:nvPicPr>
        <p:blipFill>
          <a:blip r:embed="rId4"/>
          <a:stretch>
            <a:fillRect/>
          </a:stretch>
        </p:blipFill>
        <p:spPr>
          <a:xfrm>
            <a:off x="4046106" y="3961701"/>
            <a:ext cx="134549" cy="195707"/>
          </a:xfrm>
          <a:prstGeom prst="rect">
            <a:avLst/>
          </a:prstGeom>
        </p:spPr>
      </p:pic>
      <p:sp>
        <p:nvSpPr>
          <p:cNvPr id="22" name="TextBox 21"/>
          <p:cNvSpPr txBox="1"/>
          <p:nvPr/>
        </p:nvSpPr>
        <p:spPr>
          <a:xfrm>
            <a:off x="4221216" y="3971925"/>
            <a:ext cx="7235502" cy="194310"/>
          </a:xfrm>
          <a:prstGeom prst="rect">
            <a:avLst/>
          </a:prstGeom>
          <a:noFill/>
        </p:spPr>
        <p:txBody>
          <a:bodyPr wrap="none" lIns="0" rIns="0" tIns="0" bIns="0">
            <a:spAutoFit/>
          </a:bodyPr>
          <a:lstStyle/>
          <a:p>
            <a:r>
              <a:rPr sz="1150" b="0">
                <a:solidFill>
                  <a:srgbClr val="2E2E2E"/>
                </a:solidFill>
                <a:latin typeface="Calibri"/>
              </a:rPr>
              <a:t>X higher value than direct sales to commercial &amp; institutional buyers segment in 2036. Among floriculture by distribution</a:t>
            </a:r>
          </a:p>
        </p:txBody>
      </p:sp>
      <p:sp>
        <p:nvSpPr>
          <p:cNvPr id="23" name="TextBox 22"/>
          <p:cNvSpPr txBox="1"/>
          <p:nvPr/>
        </p:nvSpPr>
        <p:spPr>
          <a:xfrm>
            <a:off x="276225" y="4147185"/>
            <a:ext cx="4969142" cy="194310"/>
          </a:xfrm>
          <a:prstGeom prst="rect">
            <a:avLst/>
          </a:prstGeom>
          <a:noFill/>
        </p:spPr>
        <p:txBody>
          <a:bodyPr wrap="none" lIns="0" rIns="0" tIns="0" bIns="0">
            <a:spAutoFit/>
          </a:bodyPr>
          <a:lstStyle/>
          <a:p>
            <a:r>
              <a:rPr sz="1150" b="0">
                <a:solidFill>
                  <a:srgbClr val="2E2E2E"/>
                </a:solidFill>
                <a:latin typeface="Calibri"/>
              </a:rPr>
              <a:t>channel, online / e-commerce segment is expected to witness the highest CAGR of</a:t>
            </a:r>
          </a:p>
        </p:txBody>
      </p:sp>
      <p:pic>
        <p:nvPicPr>
          <p:cNvPr id="24" name="Picture 23" descr="lock.png"/>
          <p:cNvPicPr>
            <a:picLocks noChangeAspect="1"/>
          </p:cNvPicPr>
          <p:nvPr/>
        </p:nvPicPr>
        <p:blipFill>
          <a:blip r:embed="rId4"/>
          <a:stretch>
            <a:fillRect/>
          </a:stretch>
        </p:blipFill>
        <p:spPr>
          <a:xfrm>
            <a:off x="5194521" y="4136961"/>
            <a:ext cx="134549" cy="195707"/>
          </a:xfrm>
          <a:prstGeom prst="rect">
            <a:avLst/>
          </a:prstGeom>
        </p:spPr>
      </p:pic>
      <p:sp>
        <p:nvSpPr>
          <p:cNvPr id="25" name="TextBox 24"/>
          <p:cNvSpPr txBox="1"/>
          <p:nvPr/>
        </p:nvSpPr>
        <p:spPr>
          <a:xfrm>
            <a:off x="5369630"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8070440"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supermarkets &amp; hypermarkets segment is expected to dominate the market, losing</a:t>
            </a:r>
          </a:p>
        </p:txBody>
      </p:sp>
      <p:pic>
        <p:nvPicPr>
          <p:cNvPr id="27" name="Picture 26" descr="lock.png"/>
          <p:cNvPicPr>
            <a:picLocks noChangeAspect="1"/>
          </p:cNvPicPr>
          <p:nvPr/>
        </p:nvPicPr>
        <p:blipFill>
          <a:blip r:embed="rId4"/>
          <a:stretch>
            <a:fillRect/>
          </a:stretch>
        </p:blipFill>
        <p:spPr>
          <a:xfrm>
            <a:off x="8295819" y="4364799"/>
            <a:ext cx="134549" cy="195707"/>
          </a:xfrm>
          <a:prstGeom prst="rect">
            <a:avLst/>
          </a:prstGeom>
        </p:spPr>
      </p:pic>
      <p:sp>
        <p:nvSpPr>
          <p:cNvPr id="28" name="TextBox 27"/>
          <p:cNvSpPr txBox="1"/>
          <p:nvPr/>
        </p:nvSpPr>
        <p:spPr>
          <a:xfrm>
            <a:off x="847092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866072" y="4364799"/>
            <a:ext cx="134549" cy="195707"/>
          </a:xfrm>
          <a:prstGeom prst="rect">
            <a:avLst/>
          </a:prstGeom>
        </p:spPr>
      </p:pic>
      <p:sp>
        <p:nvSpPr>
          <p:cNvPr id="30" name="TextBox 29"/>
          <p:cNvSpPr txBox="1"/>
          <p:nvPr/>
        </p:nvSpPr>
        <p:spPr>
          <a:xfrm>
            <a:off x="10041181"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Distribution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4652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4175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6555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Garden Centers &amp; Plant Nurseries</a:t>
            </a:r>
          </a:p>
        </p:txBody>
      </p:sp>
      <p:sp>
        <p:nvSpPr>
          <p:cNvPr id="18" name="BPS Value 1"/>
          <p:cNvSpPr txBox="1"/>
          <p:nvPr/>
        </p:nvSpPr>
        <p:spPr>
          <a:xfrm>
            <a:off x="6896100" y="182747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31965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3148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2386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Retail Channels</a:t>
            </a:r>
          </a:p>
        </p:txBody>
      </p:sp>
      <p:sp>
        <p:nvSpPr>
          <p:cNvPr id="22" name="BPS Value 2"/>
          <p:cNvSpPr txBox="1"/>
          <p:nvPr/>
        </p:nvSpPr>
        <p:spPr>
          <a:xfrm>
            <a:off x="6896100" y="230060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97910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297434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89814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 E-commerce</a:t>
            </a:r>
          </a:p>
        </p:txBody>
      </p:sp>
      <p:sp>
        <p:nvSpPr>
          <p:cNvPr id="26" name="BPS Value 3"/>
          <p:cNvSpPr txBox="1"/>
          <p:nvPr/>
        </p:nvSpPr>
        <p:spPr>
          <a:xfrm>
            <a:off x="6896100" y="29600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378603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78127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7050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Florists &amp; Specialty Flower Shops</a:t>
            </a:r>
          </a:p>
        </p:txBody>
      </p:sp>
      <p:sp>
        <p:nvSpPr>
          <p:cNvPr id="30" name="BPS Value 4"/>
          <p:cNvSpPr txBox="1"/>
          <p:nvPr/>
        </p:nvSpPr>
        <p:spPr>
          <a:xfrm>
            <a:off x="6896100" y="376698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73083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72607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64987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 Sales to Commercial &amp; Institutional Buyers</a:t>
            </a:r>
          </a:p>
        </p:txBody>
      </p:sp>
      <p:sp>
        <p:nvSpPr>
          <p:cNvPr id="34" name="BPS Value 5"/>
          <p:cNvSpPr txBox="1"/>
          <p:nvPr/>
        </p:nvSpPr>
        <p:spPr>
          <a:xfrm>
            <a:off x="6896100" y="471178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73695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5090922" y="57321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6559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Supermarkets &amp; Hypermarkets</a:t>
            </a:r>
          </a:p>
        </p:txBody>
      </p:sp>
      <p:sp>
        <p:nvSpPr>
          <p:cNvPr id="38" name="BPS Value 6"/>
          <p:cNvSpPr txBox="1"/>
          <p:nvPr/>
        </p:nvSpPr>
        <p:spPr>
          <a:xfrm>
            <a:off x="6896100" y="57179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Distribution Channel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907445" cy="194310"/>
          </a:xfrm>
          <a:prstGeom prst="rect">
            <a:avLst/>
          </a:prstGeom>
          <a:noFill/>
        </p:spPr>
        <p:txBody>
          <a:bodyPr wrap="none" lIns="0" rIns="0" tIns="0" bIns="0">
            <a:spAutoFit/>
          </a:bodyPr>
          <a:lstStyle/>
          <a:p>
            <a:r>
              <a:rPr sz="1150" b="0">
                <a:solidFill>
                  <a:srgbClr val="2E2E2E"/>
                </a:solidFill>
                <a:latin typeface="Calibri"/>
              </a:rPr>
              <a:t>Among floriculture by distribution channel, online / e-commerce</a:t>
            </a:r>
          </a:p>
        </p:txBody>
      </p:sp>
      <p:sp>
        <p:nvSpPr>
          <p:cNvPr id="46" name="TextBox 45"/>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7" name="Picture 46" descr="lock.png"/>
          <p:cNvPicPr>
            <a:picLocks noChangeAspect="1"/>
          </p:cNvPicPr>
          <p:nvPr/>
        </p:nvPicPr>
        <p:blipFill>
          <a:blip r:embed="rId5"/>
          <a:stretch>
            <a:fillRect/>
          </a:stretch>
        </p:blipFill>
        <p:spPr>
          <a:xfrm>
            <a:off x="10935343" y="1565211"/>
            <a:ext cx="134549" cy="195707"/>
          </a:xfrm>
          <a:prstGeom prst="rect">
            <a:avLst/>
          </a:prstGeom>
        </p:spPr>
      </p:pic>
      <p:sp>
        <p:nvSpPr>
          <p:cNvPr id="48" name="TextBox 47"/>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9" name="TextBox 48"/>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50" name="TextBox 49"/>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supermarkets &amp;</a:t>
            </a:r>
          </a:p>
        </p:txBody>
      </p:sp>
      <p:sp>
        <p:nvSpPr>
          <p:cNvPr id="51" name="TextBox 50"/>
          <p:cNvSpPr txBox="1"/>
          <p:nvPr/>
        </p:nvSpPr>
        <p:spPr>
          <a:xfrm>
            <a:off x="7829550" y="2153793"/>
            <a:ext cx="4024114" cy="194310"/>
          </a:xfrm>
          <a:prstGeom prst="rect">
            <a:avLst/>
          </a:prstGeom>
          <a:noFill/>
        </p:spPr>
        <p:txBody>
          <a:bodyPr wrap="none" lIns="0" rIns="0" tIns="0" bIns="0">
            <a:spAutoFit/>
          </a:bodyPr>
          <a:lstStyle/>
          <a:p>
            <a:r>
              <a:rPr sz="1150" b="0">
                <a:solidFill>
                  <a:srgbClr val="2E2E2E"/>
                </a:solidFill>
                <a:latin typeface="Calibri"/>
              </a:rPr>
              <a:t>hypermarkets segment is expected to dominate the market, losing</a:t>
            </a:r>
          </a:p>
        </p:txBody>
      </p:sp>
      <p:pic>
        <p:nvPicPr>
          <p:cNvPr id="52" name="Picture 51" descr="lock.png"/>
          <p:cNvPicPr>
            <a:picLocks noChangeAspect="1"/>
          </p:cNvPicPr>
          <p:nvPr/>
        </p:nvPicPr>
        <p:blipFill>
          <a:blip r:embed="rId5"/>
          <a:stretch>
            <a:fillRect/>
          </a:stretch>
        </p:blipFill>
        <p:spPr>
          <a:xfrm>
            <a:off x="7815470" y="2318829"/>
            <a:ext cx="134549" cy="195707"/>
          </a:xfrm>
          <a:prstGeom prst="rect">
            <a:avLst/>
          </a:prstGeom>
        </p:spPr>
      </p:pic>
      <p:sp>
        <p:nvSpPr>
          <p:cNvPr id="53" name="TextBox 52"/>
          <p:cNvSpPr txBox="1"/>
          <p:nvPr/>
        </p:nvSpPr>
        <p:spPr>
          <a:xfrm>
            <a:off x="7990579"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9385722" y="2318829"/>
            <a:ext cx="134549" cy="195707"/>
          </a:xfrm>
          <a:prstGeom prst="rect">
            <a:avLst/>
          </a:prstGeom>
        </p:spPr>
      </p:pic>
      <p:sp>
        <p:nvSpPr>
          <p:cNvPr id="55" name="TextBox 54"/>
          <p:cNvSpPr txBox="1"/>
          <p:nvPr/>
        </p:nvSpPr>
        <p:spPr>
          <a:xfrm>
            <a:off x="956083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 Use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End Use,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 segment categorizes the market by end use.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Personal Gifting &amp; Celebrations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Weddings &amp; Special Events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Hospitality &amp; Commercial Decorati…</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Funeral &amp; Memorial Services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 Use split shows how demand is distributed across end use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4_40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7_717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5_8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3_990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5_401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3_1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_788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5_980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4_7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3_178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4_375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3_2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887116" cy="186689"/>
          </a:xfrm>
          <a:prstGeom prst="rect">
            <a:avLst/>
          </a:prstGeom>
          <a:noFill/>
        </p:spPr>
        <p:txBody>
          <a:bodyPr wrap="none" lIns="0" rIns="0" tIns="0" bIns="0">
            <a:spAutoFit/>
          </a:bodyPr>
          <a:lstStyle/>
          <a:p>
            <a:r>
              <a:rPr sz="1100" b="0">
                <a:solidFill>
                  <a:srgbClr val="2E2E2E"/>
                </a:solidFill>
                <a:latin typeface="Calibri"/>
              </a:rPr>
              <a:t>Among floriculture by end use, other institutional</a:t>
            </a:r>
          </a:p>
        </p:txBody>
      </p:sp>
      <p:sp>
        <p:nvSpPr>
          <p:cNvPr id="80" name="TextBox 79"/>
          <p:cNvSpPr txBox="1"/>
          <p:nvPr/>
        </p:nvSpPr>
        <p:spPr>
          <a:xfrm>
            <a:off x="485775" y="4397077"/>
            <a:ext cx="2792983" cy="186689"/>
          </a:xfrm>
          <a:prstGeom prst="rect">
            <a:avLst/>
          </a:prstGeom>
          <a:noFill/>
        </p:spPr>
        <p:txBody>
          <a:bodyPr wrap="none" lIns="0" rIns="0" tIns="0" bIns="0">
            <a:spAutoFit/>
          </a:bodyPr>
          <a:lstStyle/>
          <a:p>
            <a:r>
              <a:rPr sz="1100" b="0">
                <a:solidFill>
                  <a:srgbClr val="2E2E2E"/>
                </a:solidFill>
                <a:latin typeface="Calibri"/>
              </a:rPr>
              <a:t>applications segment is expected to witness the</a:t>
            </a:r>
          </a:p>
        </p:txBody>
      </p:sp>
      <p:sp>
        <p:nvSpPr>
          <p:cNvPr id="81" name="TextBox 80"/>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82" name="Picture 81" descr="lock.png"/>
          <p:cNvPicPr>
            <a:picLocks noChangeAspect="1"/>
          </p:cNvPicPr>
          <p:nvPr/>
        </p:nvPicPr>
        <p:blipFill>
          <a:blip r:embed="rId16"/>
          <a:stretch>
            <a:fillRect/>
          </a:stretch>
        </p:blipFill>
        <p:spPr>
          <a:xfrm>
            <a:off x="1424607" y="4554938"/>
            <a:ext cx="128699" cy="187198"/>
          </a:xfrm>
          <a:prstGeom prst="rect">
            <a:avLst/>
          </a:prstGeom>
        </p:spPr>
      </p:pic>
      <p:sp>
        <p:nvSpPr>
          <p:cNvPr id="83" name="TextBox 82"/>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84" name="TextBox 83"/>
          <p:cNvSpPr txBox="1"/>
          <p:nvPr/>
        </p:nvSpPr>
        <p:spPr>
          <a:xfrm>
            <a:off x="485775" y="4732357"/>
            <a:ext cx="2663378" cy="186689"/>
          </a:xfrm>
          <a:prstGeom prst="rect">
            <a:avLst/>
          </a:prstGeom>
          <a:noFill/>
        </p:spPr>
        <p:txBody>
          <a:bodyPr wrap="none" lIns="0" rIns="0" tIns="0" bIns="0">
            <a:spAutoFit/>
          </a:bodyPr>
          <a:lstStyle/>
          <a:p>
            <a:r>
              <a:rPr sz="1100" b="0">
                <a:solidFill>
                  <a:srgbClr val="2E2E2E"/>
                </a:solidFill>
                <a:latin typeface="Calibri"/>
              </a:rPr>
              <a:t>terms of value share by end use, the personal</a:t>
            </a:r>
          </a:p>
        </p:txBody>
      </p:sp>
      <p:sp>
        <p:nvSpPr>
          <p:cNvPr id="85" name="TextBox 84"/>
          <p:cNvSpPr txBox="1"/>
          <p:nvPr/>
        </p:nvSpPr>
        <p:spPr>
          <a:xfrm>
            <a:off x="485775" y="4899997"/>
            <a:ext cx="2641550" cy="186689"/>
          </a:xfrm>
          <a:prstGeom prst="rect">
            <a:avLst/>
          </a:prstGeom>
          <a:noFill/>
        </p:spPr>
        <p:txBody>
          <a:bodyPr wrap="none" lIns="0" rIns="0" tIns="0" bIns="0">
            <a:spAutoFit/>
          </a:bodyPr>
          <a:lstStyle/>
          <a:p>
            <a:r>
              <a:rPr sz="1100" b="0">
                <a:solidFill>
                  <a:srgbClr val="2E2E2E"/>
                </a:solidFill>
                <a:latin typeface="Calibri"/>
              </a:rPr>
              <a:t>gifting &amp; celebrations segment is expected to</a:t>
            </a:r>
          </a:p>
        </p:txBody>
      </p:sp>
      <p:sp>
        <p:nvSpPr>
          <p:cNvPr id="86" name="TextBox 8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87" name="Picture 86" descr="lock.png"/>
          <p:cNvPicPr>
            <a:picLocks noChangeAspect="1"/>
          </p:cNvPicPr>
          <p:nvPr/>
        </p:nvPicPr>
        <p:blipFill>
          <a:blip r:embed="rId16"/>
          <a:stretch>
            <a:fillRect/>
          </a:stretch>
        </p:blipFill>
        <p:spPr>
          <a:xfrm>
            <a:off x="2194339" y="5057858"/>
            <a:ext cx="128699" cy="187198"/>
          </a:xfrm>
          <a:prstGeom prst="rect">
            <a:avLst/>
          </a:prstGeom>
        </p:spPr>
      </p:pic>
      <p:sp>
        <p:nvSpPr>
          <p:cNvPr id="88" name="TextBox 8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9" name="TextBox 8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90" name="Picture 89" descr="lock.png"/>
          <p:cNvPicPr>
            <a:picLocks noChangeAspect="1"/>
          </p:cNvPicPr>
          <p:nvPr/>
        </p:nvPicPr>
        <p:blipFill>
          <a:blip r:embed="rId16"/>
          <a:stretch>
            <a:fillRect/>
          </a:stretch>
        </p:blipFill>
        <p:spPr>
          <a:xfrm>
            <a:off x="1330764" y="5225498"/>
            <a:ext cx="128699" cy="187198"/>
          </a:xfrm>
          <a:prstGeom prst="rect">
            <a:avLst/>
          </a:prstGeom>
        </p:spPr>
      </p:pic>
      <p:sp>
        <p:nvSpPr>
          <p:cNvPr id="91" name="TextBox 9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453209"/>
            <a:ext cx="2458466" cy="186689"/>
          </a:xfrm>
          <a:prstGeom prst="rect">
            <a:avLst/>
          </a:prstGeom>
          <a:noFill/>
        </p:spPr>
        <p:txBody>
          <a:bodyPr wrap="none" lIns="0" rIns="0" tIns="0" bIns="0">
            <a:spAutoFit/>
          </a:bodyPr>
          <a:lstStyle/>
          <a:p>
            <a:r>
              <a:rPr sz="1100" b="0">
                <a:solidFill>
                  <a:srgbClr val="2E2E2E"/>
                </a:solidFill>
                <a:latin typeface="Calibri"/>
              </a:rPr>
              <a:t>Personal gifting &amp; celebrations segment is</a:t>
            </a:r>
          </a:p>
        </p:txBody>
      </p:sp>
      <p:sp>
        <p:nvSpPr>
          <p:cNvPr id="93" name="TextBox 92"/>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94" name="Picture 93" descr="lock.png"/>
          <p:cNvPicPr>
            <a:picLocks noChangeAspect="1"/>
          </p:cNvPicPr>
          <p:nvPr/>
        </p:nvPicPr>
        <p:blipFill>
          <a:blip r:embed="rId16"/>
          <a:stretch>
            <a:fillRect/>
          </a:stretch>
        </p:blipFill>
        <p:spPr>
          <a:xfrm>
            <a:off x="1678376" y="5611070"/>
            <a:ext cx="128699" cy="187198"/>
          </a:xfrm>
          <a:prstGeom prst="rect">
            <a:avLst/>
          </a:prstGeom>
        </p:spPr>
      </p:pic>
      <p:sp>
        <p:nvSpPr>
          <p:cNvPr id="95" name="TextBox 94"/>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96" name="TextBox 95"/>
          <p:cNvSpPr txBox="1"/>
          <p:nvPr/>
        </p:nvSpPr>
        <p:spPr>
          <a:xfrm>
            <a:off x="485775" y="5788489"/>
            <a:ext cx="2804988" cy="186689"/>
          </a:xfrm>
          <a:prstGeom prst="rect">
            <a:avLst/>
          </a:prstGeom>
          <a:noFill/>
        </p:spPr>
        <p:txBody>
          <a:bodyPr wrap="none" lIns="0" rIns="0" tIns="0" bIns="0">
            <a:spAutoFit/>
          </a:bodyPr>
          <a:lstStyle/>
          <a:p>
            <a:r>
              <a:rPr sz="1100" b="0">
                <a:solidFill>
                  <a:srgbClr val="2E2E2E"/>
                </a:solidFill>
                <a:latin typeface="Calibri"/>
              </a:rPr>
              <a:t>hospitality &amp; commercial decoration segment in</a:t>
            </a:r>
          </a:p>
        </p:txBody>
      </p:sp>
      <p:sp>
        <p:nvSpPr>
          <p:cNvPr id="97" name="TextBox 96"/>
          <p:cNvSpPr txBox="1"/>
          <p:nvPr/>
        </p:nvSpPr>
        <p:spPr>
          <a:xfrm>
            <a:off x="485775" y="595612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98" name="TextBox 97"/>
          <p:cNvSpPr txBox="1"/>
          <p:nvPr/>
        </p:nvSpPr>
        <p:spPr>
          <a:xfrm>
            <a:off x="3838575" y="4229437"/>
            <a:ext cx="2007989" cy="186689"/>
          </a:xfrm>
          <a:prstGeom prst="rect">
            <a:avLst/>
          </a:prstGeom>
          <a:noFill/>
        </p:spPr>
        <p:txBody>
          <a:bodyPr wrap="none" lIns="0" rIns="0" tIns="0" bIns="0">
            <a:spAutoFit/>
          </a:bodyPr>
          <a:lstStyle/>
          <a:p>
            <a:r>
              <a:rPr sz="1100" b="0">
                <a:solidFill>
                  <a:srgbClr val="2E2E2E"/>
                </a:solidFill>
                <a:latin typeface="Calibri"/>
              </a:rPr>
              <a:t>● Personal Gifting &amp; Celebrations:</a:t>
            </a:r>
          </a:p>
        </p:txBody>
      </p:sp>
      <p:pic>
        <p:nvPicPr>
          <p:cNvPr id="99" name="Picture 98" descr="lock.png"/>
          <p:cNvPicPr>
            <a:picLocks noChangeAspect="1"/>
          </p:cNvPicPr>
          <p:nvPr/>
        </p:nvPicPr>
        <p:blipFill>
          <a:blip r:embed="rId16"/>
          <a:stretch>
            <a:fillRect/>
          </a:stretch>
        </p:blipFill>
        <p:spPr>
          <a:xfrm>
            <a:off x="5794615" y="4219658"/>
            <a:ext cx="128699" cy="187198"/>
          </a:xfrm>
          <a:prstGeom prst="rect">
            <a:avLst/>
          </a:prstGeom>
        </p:spPr>
      </p:pic>
      <p:sp>
        <p:nvSpPr>
          <p:cNvPr id="100" name="TextBox 99"/>
          <p:cNvSpPr txBox="1"/>
          <p:nvPr/>
        </p:nvSpPr>
        <p:spPr>
          <a:xfrm>
            <a:off x="596211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6"/>
          <a:stretch>
            <a:fillRect/>
          </a:stretch>
        </p:blipFill>
        <p:spPr>
          <a:xfrm>
            <a:off x="6821561" y="4219658"/>
            <a:ext cx="128699" cy="187198"/>
          </a:xfrm>
          <a:prstGeom prst="rect">
            <a:avLst/>
          </a:prstGeom>
        </p:spPr>
      </p:pic>
      <p:sp>
        <p:nvSpPr>
          <p:cNvPr id="102" name="TextBox 101"/>
          <p:cNvSpPr txBox="1"/>
          <p:nvPr/>
        </p:nvSpPr>
        <p:spPr>
          <a:xfrm>
            <a:off x="6989057"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3" name="TextBox 102"/>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4" name="TextBox 103"/>
          <p:cNvSpPr txBox="1"/>
          <p:nvPr/>
        </p:nvSpPr>
        <p:spPr>
          <a:xfrm>
            <a:off x="3838575" y="4615009"/>
            <a:ext cx="1759642" cy="186689"/>
          </a:xfrm>
          <a:prstGeom prst="rect">
            <a:avLst/>
          </a:prstGeom>
          <a:noFill/>
        </p:spPr>
        <p:txBody>
          <a:bodyPr wrap="none" lIns="0" rIns="0" tIns="0" bIns="0">
            <a:spAutoFit/>
          </a:bodyPr>
          <a:lstStyle/>
          <a:p>
            <a:r>
              <a:rPr sz="1100" b="0">
                <a:solidFill>
                  <a:srgbClr val="2E2E2E"/>
                </a:solidFill>
                <a:latin typeface="Calibri"/>
              </a:rPr>
              <a:t>● Weddings &amp; Special Events:</a:t>
            </a:r>
          </a:p>
        </p:txBody>
      </p:sp>
      <p:pic>
        <p:nvPicPr>
          <p:cNvPr id="105" name="Picture 104" descr="lock.png"/>
          <p:cNvPicPr>
            <a:picLocks noChangeAspect="1"/>
          </p:cNvPicPr>
          <p:nvPr/>
        </p:nvPicPr>
        <p:blipFill>
          <a:blip r:embed="rId16"/>
          <a:stretch>
            <a:fillRect/>
          </a:stretch>
        </p:blipFill>
        <p:spPr>
          <a:xfrm>
            <a:off x="5546269" y="4605230"/>
            <a:ext cx="128699" cy="187198"/>
          </a:xfrm>
          <a:prstGeom prst="rect">
            <a:avLst/>
          </a:prstGeom>
        </p:spPr>
      </p:pic>
      <p:sp>
        <p:nvSpPr>
          <p:cNvPr id="106" name="TextBox 105"/>
          <p:cNvSpPr txBox="1"/>
          <p:nvPr/>
        </p:nvSpPr>
        <p:spPr>
          <a:xfrm>
            <a:off x="571376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6573215" y="4605230"/>
            <a:ext cx="128699" cy="187198"/>
          </a:xfrm>
          <a:prstGeom prst="rect">
            <a:avLst/>
          </a:prstGeom>
        </p:spPr>
      </p:pic>
      <p:sp>
        <p:nvSpPr>
          <p:cNvPr id="108" name="TextBox 107"/>
          <p:cNvSpPr txBox="1"/>
          <p:nvPr/>
        </p:nvSpPr>
        <p:spPr>
          <a:xfrm>
            <a:off x="6740711"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9" name="TextBox 108"/>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0" name="TextBox 109"/>
          <p:cNvSpPr txBox="1"/>
          <p:nvPr/>
        </p:nvSpPr>
        <p:spPr>
          <a:xfrm>
            <a:off x="3838575" y="5000581"/>
            <a:ext cx="2339503" cy="186689"/>
          </a:xfrm>
          <a:prstGeom prst="rect">
            <a:avLst/>
          </a:prstGeom>
          <a:noFill/>
        </p:spPr>
        <p:txBody>
          <a:bodyPr wrap="none" lIns="0" rIns="0" tIns="0" bIns="0">
            <a:spAutoFit/>
          </a:bodyPr>
          <a:lstStyle/>
          <a:p>
            <a:r>
              <a:rPr sz="1100" b="0">
                <a:solidFill>
                  <a:srgbClr val="2E2E2E"/>
                </a:solidFill>
                <a:latin typeface="Calibri"/>
              </a:rPr>
              <a:t>● Hospitality &amp; Commercial Decoration:</a:t>
            </a:r>
          </a:p>
        </p:txBody>
      </p:sp>
      <p:pic>
        <p:nvPicPr>
          <p:cNvPr id="111" name="Picture 110" descr="lock.png"/>
          <p:cNvPicPr>
            <a:picLocks noChangeAspect="1"/>
          </p:cNvPicPr>
          <p:nvPr/>
        </p:nvPicPr>
        <p:blipFill>
          <a:blip r:embed="rId16"/>
          <a:stretch>
            <a:fillRect/>
          </a:stretch>
        </p:blipFill>
        <p:spPr>
          <a:xfrm>
            <a:off x="6126130" y="4990801"/>
            <a:ext cx="128699" cy="187198"/>
          </a:xfrm>
          <a:prstGeom prst="rect">
            <a:avLst/>
          </a:prstGeom>
        </p:spPr>
      </p:pic>
      <p:sp>
        <p:nvSpPr>
          <p:cNvPr id="112" name="TextBox 111"/>
          <p:cNvSpPr txBox="1"/>
          <p:nvPr/>
        </p:nvSpPr>
        <p:spPr>
          <a:xfrm>
            <a:off x="6293626"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6"/>
          <a:stretch>
            <a:fillRect/>
          </a:stretch>
        </p:blipFill>
        <p:spPr>
          <a:xfrm>
            <a:off x="7153076" y="4990801"/>
            <a:ext cx="128699" cy="187198"/>
          </a:xfrm>
          <a:prstGeom prst="rect">
            <a:avLst/>
          </a:prstGeom>
        </p:spPr>
      </p:pic>
      <p:sp>
        <p:nvSpPr>
          <p:cNvPr id="114" name="TextBox 113"/>
          <p:cNvSpPr txBox="1"/>
          <p:nvPr/>
        </p:nvSpPr>
        <p:spPr>
          <a:xfrm>
            <a:off x="7320572"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5" name="TextBox 114"/>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6" name="TextBox 115"/>
          <p:cNvSpPr txBox="1"/>
          <p:nvPr/>
        </p:nvSpPr>
        <p:spPr>
          <a:xfrm>
            <a:off x="3838575" y="5386153"/>
            <a:ext cx="1863650" cy="186689"/>
          </a:xfrm>
          <a:prstGeom prst="rect">
            <a:avLst/>
          </a:prstGeom>
          <a:noFill/>
        </p:spPr>
        <p:txBody>
          <a:bodyPr wrap="none" lIns="0" rIns="0" tIns="0" bIns="0">
            <a:spAutoFit/>
          </a:bodyPr>
          <a:lstStyle/>
          <a:p>
            <a:r>
              <a:rPr sz="1100" b="0">
                <a:solidFill>
                  <a:srgbClr val="2E2E2E"/>
                </a:solidFill>
                <a:latin typeface="Calibri"/>
              </a:rPr>
              <a:t>● Funeral &amp; Memorial Services:</a:t>
            </a:r>
          </a:p>
        </p:txBody>
      </p:sp>
      <p:pic>
        <p:nvPicPr>
          <p:cNvPr id="117" name="Picture 116" descr="lock.png"/>
          <p:cNvPicPr>
            <a:picLocks noChangeAspect="1"/>
          </p:cNvPicPr>
          <p:nvPr/>
        </p:nvPicPr>
        <p:blipFill>
          <a:blip r:embed="rId16"/>
          <a:stretch>
            <a:fillRect/>
          </a:stretch>
        </p:blipFill>
        <p:spPr>
          <a:xfrm>
            <a:off x="5650277" y="5376373"/>
            <a:ext cx="128699" cy="187198"/>
          </a:xfrm>
          <a:prstGeom prst="rect">
            <a:avLst/>
          </a:prstGeom>
        </p:spPr>
      </p:pic>
      <p:sp>
        <p:nvSpPr>
          <p:cNvPr id="118" name="TextBox 117"/>
          <p:cNvSpPr txBox="1"/>
          <p:nvPr/>
        </p:nvSpPr>
        <p:spPr>
          <a:xfrm>
            <a:off x="5817773"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9" name="Picture 118" descr="lock.png"/>
          <p:cNvPicPr>
            <a:picLocks noChangeAspect="1"/>
          </p:cNvPicPr>
          <p:nvPr/>
        </p:nvPicPr>
        <p:blipFill>
          <a:blip r:embed="rId16"/>
          <a:stretch>
            <a:fillRect/>
          </a:stretch>
        </p:blipFill>
        <p:spPr>
          <a:xfrm>
            <a:off x="6677223" y="5376373"/>
            <a:ext cx="128699" cy="187198"/>
          </a:xfrm>
          <a:prstGeom prst="rect">
            <a:avLst/>
          </a:prstGeom>
        </p:spPr>
      </p:pic>
      <p:sp>
        <p:nvSpPr>
          <p:cNvPr id="120" name="TextBox 119"/>
          <p:cNvSpPr txBox="1"/>
          <p:nvPr/>
        </p:nvSpPr>
        <p:spPr>
          <a:xfrm>
            <a:off x="6844719" y="5386153"/>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1" name="TextBox 120"/>
          <p:cNvSpPr txBox="1"/>
          <p:nvPr/>
        </p:nvSpPr>
        <p:spPr>
          <a:xfrm>
            <a:off x="3838575" y="555379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2" name="TextBox 121"/>
          <p:cNvSpPr txBox="1"/>
          <p:nvPr/>
        </p:nvSpPr>
        <p:spPr>
          <a:xfrm>
            <a:off x="8524875" y="5842641"/>
            <a:ext cx="2887377" cy="194310"/>
          </a:xfrm>
          <a:prstGeom prst="rect">
            <a:avLst/>
          </a:prstGeom>
          <a:noFill/>
        </p:spPr>
        <p:txBody>
          <a:bodyPr wrap="none" lIns="0" rIns="0" tIns="0" bIns="0">
            <a:spAutoFit/>
          </a:bodyPr>
          <a:lstStyle/>
          <a:p>
            <a:r>
              <a:rPr sz="1150" b="1">
                <a:solidFill>
                  <a:srgbClr val="0B2E4A"/>
                </a:solidFill>
                <a:latin typeface="Calibri"/>
              </a:rPr>
              <a:t>The End Use segment is projected to grow at a</a:t>
            </a:r>
          </a:p>
        </p:txBody>
      </p:sp>
      <p:sp>
        <p:nvSpPr>
          <p:cNvPr id="123" name="TextBox 12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24" name="Picture 123" descr="lock.png"/>
          <p:cNvPicPr>
            <a:picLocks noChangeAspect="1"/>
          </p:cNvPicPr>
          <p:nvPr/>
        </p:nvPicPr>
        <p:blipFill>
          <a:blip r:embed="rId16"/>
          <a:stretch>
            <a:fillRect/>
          </a:stretch>
        </p:blipFill>
        <p:spPr>
          <a:xfrm>
            <a:off x="9048826" y="6007677"/>
            <a:ext cx="134549" cy="195707"/>
          </a:xfrm>
          <a:prstGeom prst="rect">
            <a:avLst/>
          </a:prstGeom>
        </p:spPr>
      </p:pic>
      <p:sp>
        <p:nvSpPr>
          <p:cNvPr id="125" name="TextBox 12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End Use,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 segment categorizes the market by end use.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Landscaping &amp; Gardening</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333375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523875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Residential &amp; Home Decoration</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670560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8610600" y="1773916"/>
            <a:ext cx="3257550"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Institutional Applications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10077450"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6" name="Picture 45" descr="2_439_605E5C.png"/>
          <p:cNvPicPr>
            <a:picLocks noChangeAspect="1"/>
          </p:cNvPicPr>
          <p:nvPr/>
        </p:nvPicPr>
        <p:blipFill>
          <a:blip r:embed="rId4"/>
          <a:stretch>
            <a:fillRect/>
          </a:stretch>
        </p:blipFill>
        <p:spPr>
          <a:xfrm>
            <a:off x="2897811" y="2286582"/>
            <a:ext cx="1195728" cy="361950"/>
          </a:xfrm>
          <a:prstGeom prst="rect">
            <a:avLst/>
          </a:prstGeom>
        </p:spPr>
      </p:pic>
      <p:pic>
        <p:nvPicPr>
          <p:cNvPr id="47" name="Picture 46" descr="2_896_605E5C.png"/>
          <p:cNvPicPr>
            <a:picLocks noChangeAspect="1"/>
          </p:cNvPicPr>
          <p:nvPr/>
        </p:nvPicPr>
        <p:blipFill>
          <a:blip r:embed="rId5"/>
          <a:stretch>
            <a:fillRect/>
          </a:stretch>
        </p:blipFill>
        <p:spPr>
          <a:xfrm>
            <a:off x="2897811" y="2779432"/>
            <a:ext cx="1195728" cy="361950"/>
          </a:xfrm>
          <a:prstGeom prst="rect">
            <a:avLst/>
          </a:prstGeom>
        </p:spPr>
      </p:pic>
      <p:pic>
        <p:nvPicPr>
          <p:cNvPr id="48" name="Picture 47" descr="1_7__605E5C.png"/>
          <p:cNvPicPr>
            <a:picLocks noChangeAspect="1"/>
          </p:cNvPicPr>
          <p:nvPr/>
        </p:nvPicPr>
        <p:blipFill>
          <a:blip r:embed="rId6"/>
          <a:stretch>
            <a:fillRect/>
          </a:stretch>
        </p:blipFill>
        <p:spPr>
          <a:xfrm>
            <a:off x="3004457" y="3272281"/>
            <a:ext cx="982436" cy="361950"/>
          </a:xfrm>
          <a:prstGeom prst="rect">
            <a:avLst/>
          </a:prstGeom>
        </p:spPr>
      </p:pic>
      <p:pic>
        <p:nvPicPr>
          <p:cNvPr id="49" name="Picture 48" descr="1_552_605E5C.png"/>
          <p:cNvPicPr>
            <a:picLocks noChangeAspect="1"/>
          </p:cNvPicPr>
          <p:nvPr/>
        </p:nvPicPr>
        <p:blipFill>
          <a:blip r:embed="rId7"/>
          <a:stretch>
            <a:fillRect/>
          </a:stretch>
        </p:blipFill>
        <p:spPr>
          <a:xfrm>
            <a:off x="6269661" y="2286582"/>
            <a:ext cx="1195728" cy="361950"/>
          </a:xfrm>
          <a:prstGeom prst="rect">
            <a:avLst/>
          </a:prstGeom>
        </p:spPr>
      </p:pic>
      <p:pic>
        <p:nvPicPr>
          <p:cNvPr id="50" name="Picture 49" descr="2_296_605E5C.png"/>
          <p:cNvPicPr>
            <a:picLocks noChangeAspect="1"/>
          </p:cNvPicPr>
          <p:nvPr/>
        </p:nvPicPr>
        <p:blipFill>
          <a:blip r:embed="rId8"/>
          <a:stretch>
            <a:fillRect/>
          </a:stretch>
        </p:blipFill>
        <p:spPr>
          <a:xfrm>
            <a:off x="6269661" y="2779432"/>
            <a:ext cx="1195728" cy="361950"/>
          </a:xfrm>
          <a:prstGeom prst="rect">
            <a:avLst/>
          </a:prstGeom>
        </p:spPr>
      </p:pic>
      <p:pic>
        <p:nvPicPr>
          <p:cNvPr id="51" name="Picture 50" descr="4_0__605E5C.png"/>
          <p:cNvPicPr>
            <a:picLocks noChangeAspect="1"/>
          </p:cNvPicPr>
          <p:nvPr/>
        </p:nvPicPr>
        <p:blipFill>
          <a:blip r:embed="rId9"/>
          <a:stretch>
            <a:fillRect/>
          </a:stretch>
        </p:blipFill>
        <p:spPr>
          <a:xfrm>
            <a:off x="6376307" y="3272281"/>
            <a:ext cx="982436" cy="361950"/>
          </a:xfrm>
          <a:prstGeom prst="rect">
            <a:avLst/>
          </a:prstGeom>
        </p:spPr>
      </p:pic>
      <p:pic>
        <p:nvPicPr>
          <p:cNvPr id="52" name="Picture 51" descr="488_2_605E5C.png"/>
          <p:cNvPicPr>
            <a:picLocks noChangeAspect="1"/>
          </p:cNvPicPr>
          <p:nvPr/>
        </p:nvPicPr>
        <p:blipFill>
          <a:blip r:embed="rId10"/>
          <a:stretch>
            <a:fillRect/>
          </a:stretch>
        </p:blipFill>
        <p:spPr>
          <a:xfrm>
            <a:off x="9641511" y="2286582"/>
            <a:ext cx="1195728" cy="361950"/>
          </a:xfrm>
          <a:prstGeom prst="rect">
            <a:avLst/>
          </a:prstGeom>
        </p:spPr>
      </p:pic>
      <p:pic>
        <p:nvPicPr>
          <p:cNvPr id="53" name="Picture 52" descr="994_4_605E5C.png"/>
          <p:cNvPicPr>
            <a:picLocks noChangeAspect="1"/>
          </p:cNvPicPr>
          <p:nvPr/>
        </p:nvPicPr>
        <p:blipFill>
          <a:blip r:embed="rId11"/>
          <a:stretch>
            <a:fillRect/>
          </a:stretch>
        </p:blipFill>
        <p:spPr>
          <a:xfrm>
            <a:off x="9641511" y="2779432"/>
            <a:ext cx="1195728" cy="361950"/>
          </a:xfrm>
          <a:prstGeom prst="rect">
            <a:avLst/>
          </a:prstGeom>
        </p:spPr>
      </p:pic>
      <p:pic>
        <p:nvPicPr>
          <p:cNvPr id="54" name="Picture 53" descr="7_4__605E5C.png"/>
          <p:cNvPicPr>
            <a:picLocks noChangeAspect="1"/>
          </p:cNvPicPr>
          <p:nvPr/>
        </p:nvPicPr>
        <p:blipFill>
          <a:blip r:embed="rId12"/>
          <a:stretch>
            <a:fillRect/>
          </a:stretch>
        </p:blipFill>
        <p:spPr>
          <a:xfrm>
            <a:off x="9748157" y="3272281"/>
            <a:ext cx="982436" cy="361950"/>
          </a:xfrm>
          <a:prstGeom prst="rect">
            <a:avLst/>
          </a:prstGeom>
        </p:spPr>
      </p:pic>
      <p:pic>
        <p:nvPicPr>
          <p:cNvPr id="55" name="Picture 54" descr="lock.png"/>
          <p:cNvPicPr>
            <a:picLocks noChangeAspect="1"/>
          </p:cNvPicPr>
          <p:nvPr/>
        </p:nvPicPr>
        <p:blipFill>
          <a:blip r:embed="rId13"/>
          <a:stretch>
            <a:fillRect/>
          </a:stretch>
        </p:blipFill>
        <p:spPr>
          <a:xfrm>
            <a:off x="3402330" y="2827057"/>
            <a:ext cx="183356" cy="266700"/>
          </a:xfrm>
          <a:prstGeom prst="rect">
            <a:avLst/>
          </a:prstGeom>
        </p:spPr>
      </p:pic>
      <p:pic>
        <p:nvPicPr>
          <p:cNvPr id="56" name="Picture 55" descr="lock.png"/>
          <p:cNvPicPr>
            <a:picLocks noChangeAspect="1"/>
          </p:cNvPicPr>
          <p:nvPr/>
        </p:nvPicPr>
        <p:blipFill>
          <a:blip r:embed="rId13"/>
          <a:stretch>
            <a:fillRect/>
          </a:stretch>
        </p:blipFill>
        <p:spPr>
          <a:xfrm>
            <a:off x="6774180" y="2827057"/>
            <a:ext cx="183356" cy="266700"/>
          </a:xfrm>
          <a:prstGeom prst="rect">
            <a:avLst/>
          </a:prstGeom>
        </p:spPr>
      </p:pic>
      <p:pic>
        <p:nvPicPr>
          <p:cNvPr id="57" name="Picture 56" descr="lock.png"/>
          <p:cNvPicPr>
            <a:picLocks noChangeAspect="1"/>
          </p:cNvPicPr>
          <p:nvPr/>
        </p:nvPicPr>
        <p:blipFill>
          <a:blip r:embed="rId13"/>
          <a:stretch>
            <a:fillRect/>
          </a:stretch>
        </p:blipFill>
        <p:spPr>
          <a:xfrm>
            <a:off x="10146030" y="2827057"/>
            <a:ext cx="183356" cy="266700"/>
          </a:xfrm>
          <a:prstGeom prst="rect">
            <a:avLst/>
          </a:prstGeom>
        </p:spPr>
      </p:pic>
      <p:sp>
        <p:nvSpPr>
          <p:cNvPr id="58" name="TextBox 57"/>
          <p:cNvSpPr txBox="1"/>
          <p:nvPr/>
        </p:nvSpPr>
        <p:spPr>
          <a:xfrm>
            <a:off x="485775" y="4229437"/>
            <a:ext cx="1677292" cy="186689"/>
          </a:xfrm>
          <a:prstGeom prst="rect">
            <a:avLst/>
          </a:prstGeom>
          <a:noFill/>
        </p:spPr>
        <p:txBody>
          <a:bodyPr wrap="none" lIns="0" rIns="0" tIns="0" bIns="0">
            <a:spAutoFit/>
          </a:bodyPr>
          <a:lstStyle/>
          <a:p>
            <a:r>
              <a:rPr sz="1100" b="0">
                <a:solidFill>
                  <a:srgbClr val="2E2E2E"/>
                </a:solidFill>
                <a:latin typeface="Calibri"/>
              </a:rPr>
              <a:t>● Landscaping &amp; Gardening:</a:t>
            </a:r>
          </a:p>
        </p:txBody>
      </p:sp>
      <p:pic>
        <p:nvPicPr>
          <p:cNvPr id="59" name="Picture 58" descr="lock.png"/>
          <p:cNvPicPr>
            <a:picLocks noChangeAspect="1"/>
          </p:cNvPicPr>
          <p:nvPr/>
        </p:nvPicPr>
        <p:blipFill>
          <a:blip r:embed="rId13"/>
          <a:stretch>
            <a:fillRect/>
          </a:stretch>
        </p:blipFill>
        <p:spPr>
          <a:xfrm>
            <a:off x="2111119" y="4219658"/>
            <a:ext cx="128699" cy="187198"/>
          </a:xfrm>
          <a:prstGeom prst="rect">
            <a:avLst/>
          </a:prstGeom>
        </p:spPr>
      </p:pic>
      <p:sp>
        <p:nvSpPr>
          <p:cNvPr id="60" name="TextBox 59"/>
          <p:cNvSpPr txBox="1"/>
          <p:nvPr/>
        </p:nvSpPr>
        <p:spPr>
          <a:xfrm>
            <a:off x="227861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1" name="Picture 60" descr="lock.png"/>
          <p:cNvPicPr>
            <a:picLocks noChangeAspect="1"/>
          </p:cNvPicPr>
          <p:nvPr/>
        </p:nvPicPr>
        <p:blipFill>
          <a:blip r:embed="rId13"/>
          <a:stretch>
            <a:fillRect/>
          </a:stretch>
        </p:blipFill>
        <p:spPr>
          <a:xfrm>
            <a:off x="3138065" y="4219658"/>
            <a:ext cx="128699" cy="187198"/>
          </a:xfrm>
          <a:prstGeom prst="rect">
            <a:avLst/>
          </a:prstGeom>
        </p:spPr>
      </p:pic>
      <p:sp>
        <p:nvSpPr>
          <p:cNvPr id="62" name="TextBox 61"/>
          <p:cNvSpPr txBox="1"/>
          <p:nvPr/>
        </p:nvSpPr>
        <p:spPr>
          <a:xfrm>
            <a:off x="3305561"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3" name="TextBox 62"/>
          <p:cNvSpPr txBox="1"/>
          <p:nvPr/>
        </p:nvSpPr>
        <p:spPr>
          <a:xfrm>
            <a:off x="485775" y="4447369"/>
            <a:ext cx="2018630" cy="186689"/>
          </a:xfrm>
          <a:prstGeom prst="rect">
            <a:avLst/>
          </a:prstGeom>
          <a:noFill/>
        </p:spPr>
        <p:txBody>
          <a:bodyPr wrap="none" lIns="0" rIns="0" tIns="0" bIns="0">
            <a:spAutoFit/>
          </a:bodyPr>
          <a:lstStyle/>
          <a:p>
            <a:r>
              <a:rPr sz="1100" b="0">
                <a:solidFill>
                  <a:srgbClr val="2E2E2E"/>
                </a:solidFill>
                <a:latin typeface="Calibri"/>
              </a:rPr>
              <a:t>● Residential &amp; Home Decoration:</a:t>
            </a:r>
          </a:p>
        </p:txBody>
      </p:sp>
      <p:pic>
        <p:nvPicPr>
          <p:cNvPr id="64" name="Picture 63" descr="lock.png"/>
          <p:cNvPicPr>
            <a:picLocks noChangeAspect="1"/>
          </p:cNvPicPr>
          <p:nvPr/>
        </p:nvPicPr>
        <p:blipFill>
          <a:blip r:embed="rId13"/>
          <a:stretch>
            <a:fillRect/>
          </a:stretch>
        </p:blipFill>
        <p:spPr>
          <a:xfrm>
            <a:off x="2452456" y="4437590"/>
            <a:ext cx="128699" cy="187198"/>
          </a:xfrm>
          <a:prstGeom prst="rect">
            <a:avLst/>
          </a:prstGeom>
        </p:spPr>
      </p:pic>
      <p:sp>
        <p:nvSpPr>
          <p:cNvPr id="65" name="TextBox 64"/>
          <p:cNvSpPr txBox="1"/>
          <p:nvPr/>
        </p:nvSpPr>
        <p:spPr>
          <a:xfrm>
            <a:off x="261995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6" name="Picture 65" descr="lock.png"/>
          <p:cNvPicPr>
            <a:picLocks noChangeAspect="1"/>
          </p:cNvPicPr>
          <p:nvPr/>
        </p:nvPicPr>
        <p:blipFill>
          <a:blip r:embed="rId13"/>
          <a:stretch>
            <a:fillRect/>
          </a:stretch>
        </p:blipFill>
        <p:spPr>
          <a:xfrm>
            <a:off x="3479402" y="4437590"/>
            <a:ext cx="128699" cy="187198"/>
          </a:xfrm>
          <a:prstGeom prst="rect">
            <a:avLst/>
          </a:prstGeom>
        </p:spPr>
      </p:pic>
      <p:sp>
        <p:nvSpPr>
          <p:cNvPr id="67" name="TextBox 66"/>
          <p:cNvSpPr txBox="1"/>
          <p:nvPr/>
        </p:nvSpPr>
        <p:spPr>
          <a:xfrm>
            <a:off x="3646898"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8" name="TextBox 67"/>
          <p:cNvSpPr txBox="1"/>
          <p:nvPr/>
        </p:nvSpPr>
        <p:spPr>
          <a:xfrm>
            <a:off x="485775" y="4665301"/>
            <a:ext cx="2010717" cy="186689"/>
          </a:xfrm>
          <a:prstGeom prst="rect">
            <a:avLst/>
          </a:prstGeom>
          <a:noFill/>
        </p:spPr>
        <p:txBody>
          <a:bodyPr wrap="none" lIns="0" rIns="0" tIns="0" bIns="0">
            <a:spAutoFit/>
          </a:bodyPr>
          <a:lstStyle/>
          <a:p>
            <a:r>
              <a:rPr sz="1100" b="0">
                <a:solidFill>
                  <a:srgbClr val="2E2E2E"/>
                </a:solidFill>
                <a:latin typeface="Calibri"/>
              </a:rPr>
              <a:t>● Other Institutional Applications:</a:t>
            </a:r>
          </a:p>
        </p:txBody>
      </p:sp>
      <p:pic>
        <p:nvPicPr>
          <p:cNvPr id="69" name="Picture 68" descr="lock.png"/>
          <p:cNvPicPr>
            <a:picLocks noChangeAspect="1"/>
          </p:cNvPicPr>
          <p:nvPr/>
        </p:nvPicPr>
        <p:blipFill>
          <a:blip r:embed="rId13"/>
          <a:stretch>
            <a:fillRect/>
          </a:stretch>
        </p:blipFill>
        <p:spPr>
          <a:xfrm>
            <a:off x="2444544" y="4655522"/>
            <a:ext cx="128699" cy="187198"/>
          </a:xfrm>
          <a:prstGeom prst="rect">
            <a:avLst/>
          </a:prstGeom>
        </p:spPr>
      </p:pic>
      <p:sp>
        <p:nvSpPr>
          <p:cNvPr id="70" name="TextBox 69"/>
          <p:cNvSpPr txBox="1"/>
          <p:nvPr/>
        </p:nvSpPr>
        <p:spPr>
          <a:xfrm>
            <a:off x="261203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1" name="Picture 70" descr="lock.png"/>
          <p:cNvPicPr>
            <a:picLocks noChangeAspect="1"/>
          </p:cNvPicPr>
          <p:nvPr/>
        </p:nvPicPr>
        <p:blipFill>
          <a:blip r:embed="rId13"/>
          <a:stretch>
            <a:fillRect/>
          </a:stretch>
        </p:blipFill>
        <p:spPr>
          <a:xfrm>
            <a:off x="3471490" y="4655522"/>
            <a:ext cx="128699" cy="187198"/>
          </a:xfrm>
          <a:prstGeom prst="rect">
            <a:avLst/>
          </a:prstGeom>
        </p:spPr>
      </p:pic>
      <p:sp>
        <p:nvSpPr>
          <p:cNvPr id="72" name="TextBox 71"/>
          <p:cNvSpPr txBox="1"/>
          <p:nvPr/>
        </p:nvSpPr>
        <p:spPr>
          <a:xfrm>
            <a:off x="363898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End Use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 Use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Personal gifting &amp; celebrations followed by hospitality &amp; commercial decoration are expected to be the two most attractive end use segments in the North America floriculture market in terms of value over</a:t>
            </a:r>
          </a:p>
        </p:txBody>
      </p:sp>
      <p:sp>
        <p:nvSpPr>
          <p:cNvPr id="20" name="TextBox 19"/>
          <p:cNvSpPr txBox="1"/>
          <p:nvPr/>
        </p:nvSpPr>
        <p:spPr>
          <a:xfrm>
            <a:off x="257175" y="5861685"/>
            <a:ext cx="6673733" cy="186689"/>
          </a:xfrm>
          <a:prstGeom prst="rect">
            <a:avLst/>
          </a:prstGeom>
          <a:noFill/>
        </p:spPr>
        <p:txBody>
          <a:bodyPr wrap="none" lIns="0" rIns="0" tIns="0" bIns="0">
            <a:spAutoFit/>
          </a:bodyPr>
          <a:lstStyle/>
          <a:p>
            <a:r>
              <a:rPr sz="1100" b="0">
                <a:solidFill>
                  <a:srgbClr val="2E2E2E"/>
                </a:solidFill>
                <a:latin typeface="Calibri"/>
              </a:rPr>
              <a:t>the forecast period. Personal gifting &amp; celebrations and hospitality &amp; commercial decoration exhibit a CAGR index of</a:t>
            </a:r>
          </a:p>
        </p:txBody>
      </p:sp>
      <p:pic>
        <p:nvPicPr>
          <p:cNvPr id="21" name="Picture 20" descr="lock.png"/>
          <p:cNvPicPr>
            <a:picLocks noChangeAspect="1"/>
          </p:cNvPicPr>
          <p:nvPr/>
        </p:nvPicPr>
        <p:blipFill>
          <a:blip r:embed="rId6"/>
          <a:stretch>
            <a:fillRect/>
          </a:stretch>
        </p:blipFill>
        <p:spPr>
          <a:xfrm>
            <a:off x="6878960" y="5851905"/>
            <a:ext cx="128699" cy="187198"/>
          </a:xfrm>
          <a:prstGeom prst="rect">
            <a:avLst/>
          </a:prstGeom>
        </p:spPr>
      </p:pic>
      <p:sp>
        <p:nvSpPr>
          <p:cNvPr id="22" name="TextBox 21"/>
          <p:cNvSpPr txBox="1"/>
          <p:nvPr/>
        </p:nvSpPr>
        <p:spPr>
          <a:xfrm>
            <a:off x="704645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284350" y="5851905"/>
            <a:ext cx="128699" cy="187198"/>
          </a:xfrm>
          <a:prstGeom prst="rect">
            <a:avLst/>
          </a:prstGeom>
        </p:spPr>
      </p:pic>
      <p:sp>
        <p:nvSpPr>
          <p:cNvPr id="24" name="TextBox 23"/>
          <p:cNvSpPr txBox="1"/>
          <p:nvPr/>
        </p:nvSpPr>
        <p:spPr>
          <a:xfrm>
            <a:off x="7451846"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060819" y="5851905"/>
            <a:ext cx="128699" cy="187198"/>
          </a:xfrm>
          <a:prstGeom prst="rect">
            <a:avLst/>
          </a:prstGeom>
        </p:spPr>
      </p:pic>
      <p:sp>
        <p:nvSpPr>
          <p:cNvPr id="26" name="TextBox 25"/>
          <p:cNvSpPr txBox="1"/>
          <p:nvPr/>
        </p:nvSpPr>
        <p:spPr>
          <a:xfrm>
            <a:off x="922831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466209" y="5851905"/>
            <a:ext cx="128699" cy="187198"/>
          </a:xfrm>
          <a:prstGeom prst="rect">
            <a:avLst/>
          </a:prstGeom>
        </p:spPr>
      </p:pic>
      <p:sp>
        <p:nvSpPr>
          <p:cNvPr id="28" name="TextBox 27"/>
          <p:cNvSpPr txBox="1"/>
          <p:nvPr/>
        </p:nvSpPr>
        <p:spPr>
          <a:xfrm>
            <a:off x="9633705"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9" name="TextBox 28"/>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0" name="Picture 29" descr="lock.png"/>
          <p:cNvPicPr>
            <a:picLocks noChangeAspect="1"/>
          </p:cNvPicPr>
          <p:nvPr/>
        </p:nvPicPr>
        <p:blipFill>
          <a:blip r:embed="rId6"/>
          <a:stretch>
            <a:fillRect/>
          </a:stretch>
        </p:blipFill>
        <p:spPr>
          <a:xfrm>
            <a:off x="1402846" y="6019545"/>
            <a:ext cx="128699" cy="187198"/>
          </a:xfrm>
          <a:prstGeom prst="rect">
            <a:avLst/>
          </a:prstGeom>
        </p:spPr>
      </p:pic>
      <p:sp>
        <p:nvSpPr>
          <p:cNvPr id="31" name="TextBox 30"/>
          <p:cNvSpPr txBox="1"/>
          <p:nvPr/>
        </p:nvSpPr>
        <p:spPr>
          <a:xfrm>
            <a:off x="1570342" y="6029325"/>
            <a:ext cx="9765141" cy="186689"/>
          </a:xfrm>
          <a:prstGeom prst="rect">
            <a:avLst/>
          </a:prstGeom>
          <a:noFill/>
        </p:spPr>
        <p:txBody>
          <a:bodyPr wrap="none" lIns="0" rIns="0" tIns="0" bIns="0">
            <a:spAutoFit/>
          </a:bodyPr>
          <a:lstStyle/>
          <a:p>
            <a:r>
              <a:rPr sz="1100" b="0">
                <a:solidFill>
                  <a:srgbClr val="2E2E2E"/>
                </a:solidFill>
                <a:latin typeface="Calibri"/>
              </a:rPr>
              <a:t>. The landscaping &amp; gardening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Personal Gifting &amp; Celebrations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Residential &amp; Home Decoration</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Weddings &amp; Special Events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Hospitality &amp; Commercial Decoration</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Funeral &amp; Memorial Services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Landscaping &amp; Gardening</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Institutional Applications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End Use</a:t>
            </a:r>
          </a:p>
        </p:txBody>
      </p:sp>
      <p:sp>
        <p:nvSpPr>
          <p:cNvPr id="21" name="Rectangle 20"/>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286250"/>
            <a:ext cx="5322282" cy="194310"/>
          </a:xfrm>
          <a:prstGeom prst="rect">
            <a:avLst/>
          </a:prstGeom>
          <a:noFill/>
        </p:spPr>
        <p:txBody>
          <a:bodyPr wrap="none" lIns="0" rIns="0" tIns="0" bIns="0">
            <a:spAutoFit/>
          </a:bodyPr>
          <a:lstStyle/>
          <a:p>
            <a:r>
              <a:rPr sz="1150" b="0">
                <a:solidFill>
                  <a:srgbClr val="2E2E2E"/>
                </a:solidFill>
                <a:latin typeface="Calibri"/>
              </a:rPr>
              <a:t>By 2036, personal gifting &amp; celebrations segment is anticipated to witness an increase of</a:t>
            </a:r>
          </a:p>
        </p:txBody>
      </p:sp>
      <p:pic>
        <p:nvPicPr>
          <p:cNvPr id="28" name="Picture 27" descr="lock.png"/>
          <p:cNvPicPr>
            <a:picLocks noChangeAspect="1"/>
          </p:cNvPicPr>
          <p:nvPr/>
        </p:nvPicPr>
        <p:blipFill>
          <a:blip r:embed="rId7"/>
          <a:stretch>
            <a:fillRect/>
          </a:stretch>
        </p:blipFill>
        <p:spPr>
          <a:xfrm>
            <a:off x="6291470" y="4451286"/>
            <a:ext cx="134549" cy="195707"/>
          </a:xfrm>
          <a:prstGeom prst="rect">
            <a:avLst/>
          </a:prstGeom>
        </p:spPr>
      </p:pic>
      <p:sp>
        <p:nvSpPr>
          <p:cNvPr id="29" name="TextBox 28"/>
          <p:cNvSpPr txBox="1"/>
          <p:nvPr/>
        </p:nvSpPr>
        <p:spPr>
          <a:xfrm>
            <a:off x="6466579" y="4461510"/>
            <a:ext cx="5282083"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personal gifting &amp; celebrations segment is</a:t>
            </a:r>
          </a:p>
        </p:txBody>
      </p:sp>
      <p:sp>
        <p:nvSpPr>
          <p:cNvPr id="30" name="TextBox 29"/>
          <p:cNvSpPr txBox="1"/>
          <p:nvPr/>
        </p:nvSpPr>
        <p:spPr>
          <a:xfrm>
            <a:off x="6305550" y="463677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1" name="Picture 30" descr="lock.png"/>
          <p:cNvPicPr>
            <a:picLocks noChangeAspect="1"/>
          </p:cNvPicPr>
          <p:nvPr/>
        </p:nvPicPr>
        <p:blipFill>
          <a:blip r:embed="rId7"/>
          <a:stretch>
            <a:fillRect/>
          </a:stretch>
        </p:blipFill>
        <p:spPr>
          <a:xfrm>
            <a:off x="9540010" y="4626546"/>
            <a:ext cx="134549" cy="195707"/>
          </a:xfrm>
          <a:prstGeom prst="rect">
            <a:avLst/>
          </a:prstGeom>
        </p:spPr>
      </p:pic>
      <p:sp>
        <p:nvSpPr>
          <p:cNvPr id="32" name="TextBox 31"/>
          <p:cNvSpPr txBox="1"/>
          <p:nvPr/>
        </p:nvSpPr>
        <p:spPr>
          <a:xfrm>
            <a:off x="9715119" y="4636770"/>
            <a:ext cx="1847056" cy="194310"/>
          </a:xfrm>
          <a:prstGeom prst="rect">
            <a:avLst/>
          </a:prstGeom>
          <a:noFill/>
        </p:spPr>
        <p:txBody>
          <a:bodyPr wrap="none" lIns="0" rIns="0" tIns="0" bIns="0">
            <a:spAutoFit/>
          </a:bodyPr>
          <a:lstStyle/>
          <a:p>
            <a:r>
              <a:rPr sz="1150" b="0">
                <a:solidFill>
                  <a:srgbClr val="2E2E2E"/>
                </a:solidFill>
                <a:latin typeface="Calibri"/>
              </a:rPr>
              <a:t>Mn for the overall floriculture</a:t>
            </a:r>
          </a:p>
        </p:txBody>
      </p:sp>
      <p:sp>
        <p:nvSpPr>
          <p:cNvPr id="33" name="TextBox 32"/>
          <p:cNvSpPr txBox="1"/>
          <p:nvPr/>
        </p:nvSpPr>
        <p:spPr>
          <a:xfrm>
            <a:off x="6305550" y="4812029"/>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4" name="TextBox 33"/>
          <p:cNvSpPr txBox="1"/>
          <p:nvPr/>
        </p:nvSpPr>
        <p:spPr>
          <a:xfrm>
            <a:off x="6305550" y="5039867"/>
            <a:ext cx="5239580" cy="194310"/>
          </a:xfrm>
          <a:prstGeom prst="rect">
            <a:avLst/>
          </a:prstGeom>
          <a:noFill/>
        </p:spPr>
        <p:txBody>
          <a:bodyPr wrap="none" lIns="0" rIns="0" tIns="0" bIns="0">
            <a:spAutoFit/>
          </a:bodyPr>
          <a:lstStyle/>
          <a:p>
            <a:r>
              <a:rPr sz="1150" b="0">
                <a:solidFill>
                  <a:srgbClr val="2E2E2E"/>
                </a:solidFill>
                <a:latin typeface="Calibri"/>
              </a:rPr>
              <a:t>The hospitality &amp; commercial decoration segment is expected to create an incremental</a:t>
            </a:r>
          </a:p>
        </p:txBody>
      </p:sp>
      <p:sp>
        <p:nvSpPr>
          <p:cNvPr id="35" name="TextBox 34"/>
          <p:cNvSpPr txBox="1"/>
          <p:nvPr/>
        </p:nvSpPr>
        <p:spPr>
          <a:xfrm>
            <a:off x="6305550" y="521512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6" name="Picture 35" descr="lock.png"/>
          <p:cNvPicPr>
            <a:picLocks noChangeAspect="1"/>
          </p:cNvPicPr>
          <p:nvPr/>
        </p:nvPicPr>
        <p:blipFill>
          <a:blip r:embed="rId7"/>
          <a:stretch>
            <a:fillRect/>
          </a:stretch>
        </p:blipFill>
        <p:spPr>
          <a:xfrm>
            <a:off x="7463647" y="5204904"/>
            <a:ext cx="134549" cy="195707"/>
          </a:xfrm>
          <a:prstGeom prst="rect">
            <a:avLst/>
          </a:prstGeom>
        </p:spPr>
      </p:pic>
      <p:sp>
        <p:nvSpPr>
          <p:cNvPr id="37" name="TextBox 36"/>
          <p:cNvSpPr txBox="1"/>
          <p:nvPr/>
        </p:nvSpPr>
        <p:spPr>
          <a:xfrm>
            <a:off x="7638756" y="5215127"/>
            <a:ext cx="3737719"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 The</a:t>
            </a:r>
          </a:p>
        </p:txBody>
      </p:sp>
      <p:sp>
        <p:nvSpPr>
          <p:cNvPr id="38" name="TextBox 37"/>
          <p:cNvSpPr txBox="1"/>
          <p:nvPr/>
        </p:nvSpPr>
        <p:spPr>
          <a:xfrm>
            <a:off x="6305550" y="5390387"/>
            <a:ext cx="5554501" cy="194310"/>
          </a:xfrm>
          <a:prstGeom prst="rect">
            <a:avLst/>
          </a:prstGeom>
          <a:noFill/>
        </p:spPr>
        <p:txBody>
          <a:bodyPr wrap="none" lIns="0" rIns="0" tIns="0" bIns="0">
            <a:spAutoFit/>
          </a:bodyPr>
          <a:lstStyle/>
          <a:p>
            <a:r>
              <a:rPr sz="1150" b="0">
                <a:solidFill>
                  <a:srgbClr val="2E2E2E"/>
                </a:solidFill>
                <a:latin typeface="Calibri"/>
              </a:rPr>
              <a:t>weddings &amp; special events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6291470" y="5555424"/>
            <a:ext cx="134549" cy="195707"/>
          </a:xfrm>
          <a:prstGeom prst="rect">
            <a:avLst/>
          </a:prstGeom>
        </p:spPr>
      </p:pic>
      <p:sp>
        <p:nvSpPr>
          <p:cNvPr id="40" name="TextBox 39"/>
          <p:cNvSpPr txBox="1"/>
          <p:nvPr/>
        </p:nvSpPr>
        <p:spPr>
          <a:xfrm>
            <a:off x="6466579" y="5565647"/>
            <a:ext cx="3483843" cy="194310"/>
          </a:xfrm>
          <a:prstGeom prst="rect">
            <a:avLst/>
          </a:prstGeom>
          <a:noFill/>
        </p:spPr>
        <p:txBody>
          <a:bodyPr wrap="none" lIns="0" rIns="0" tIns="0" bIns="0">
            <a:spAutoFit/>
          </a:bodyPr>
          <a:lstStyle/>
          <a:p>
            <a:r>
              <a:rPr sz="1150" b="0">
                <a:solidFill>
                  <a:srgbClr val="2E2E2E"/>
                </a:solidFill>
                <a:latin typeface="Calibri"/>
              </a:rPr>
              <a:t>Mn for the overall floriculture market from 2026 to 2036.</a:t>
            </a:r>
          </a:p>
        </p:txBody>
      </p:sp>
      <p:sp>
        <p:nvSpPr>
          <p:cNvPr id="41"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 Use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 Use, 2021–2036, highlighting the sub-segments driving growth</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 Use (US$ Mn)</a:t>
            </a:r>
          </a:p>
        </p:txBody>
      </p:sp>
      <p:graphicFrame>
        <p:nvGraphicFramePr>
          <p:cNvPr id="12" name="Table 11"/>
          <p:cNvGraphicFramePr>
            <a:graphicFrameLocks noGrp="1"/>
          </p:cNvGraphicFramePr>
          <p:nvPr/>
        </p:nvGraphicFramePr>
        <p:xfrm>
          <a:off x="152400" y="1238250"/>
          <a:ext cx="11887201" cy="2219326"/>
        </p:xfrm>
        <a:graphic>
          <a:graphicData uri="http://schemas.openxmlformats.org/drawingml/2006/table">
            <a:tbl>
              <a:tblPr>
                <a:tableStyleId>{5C22544A-7EE6-4342-B048-85BDC9FD1C3A}</a:tableStyleId>
              </a:tblPr>
              <a:tblGrid>
                <a:gridCol w="2362509"/>
                <a:gridCol w="560276"/>
                <a:gridCol w="560276"/>
                <a:gridCol w="560276"/>
                <a:gridCol w="560276"/>
                <a:gridCol w="560276"/>
                <a:gridCol w="560276"/>
                <a:gridCol w="560276"/>
                <a:gridCol w="560276"/>
                <a:gridCol w="560276"/>
                <a:gridCol w="560276"/>
                <a:gridCol w="560276"/>
                <a:gridCol w="560276"/>
                <a:gridCol w="560276"/>
                <a:gridCol w="560276"/>
                <a:gridCol w="560276"/>
                <a:gridCol w="560276"/>
                <a:gridCol w="560276"/>
              </a:tblGrid>
              <a:tr h="246126">
                <a:tc>
                  <a:txBody>
                    <a:bodyPr wrap="none"/>
                    <a:lstStyle/>
                    <a:p>
                      <a:pPr algn="l"/>
                      <a:r>
                        <a:rPr sz="1100" b="1">
                          <a:solidFill>
                            <a:srgbClr val="0B2E4A"/>
                          </a:solidFill>
                          <a:latin typeface="Calibri"/>
                        </a:rPr>
                        <a:t>End Use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Personal Gifting &amp; Celebrations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Residential &amp; Home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Weddings &amp; Special Events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Hospitality &amp; Commercial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Funeral &amp; Memorial Services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Landscaping &amp; Gardening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Other Institutional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End Use</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90564" y="2204276"/>
            <a:ext cx="366712" cy="533400"/>
          </a:xfrm>
          <a:prstGeom prst="rect">
            <a:avLst/>
          </a:prstGeom>
        </p:spPr>
      </p:pic>
      <p:sp>
        <p:nvSpPr>
          <p:cNvPr id="20" name="TextBox 19"/>
          <p:cNvSpPr txBox="1"/>
          <p:nvPr/>
        </p:nvSpPr>
        <p:spPr>
          <a:xfrm>
            <a:off x="276225" y="4219575"/>
            <a:ext cx="3821298" cy="194310"/>
          </a:xfrm>
          <a:prstGeom prst="rect">
            <a:avLst/>
          </a:prstGeom>
          <a:noFill/>
        </p:spPr>
        <p:txBody>
          <a:bodyPr wrap="none" lIns="0" rIns="0" tIns="0" bIns="0">
            <a:spAutoFit/>
          </a:bodyPr>
          <a:lstStyle/>
          <a:p>
            <a:r>
              <a:rPr sz="1150" b="0">
                <a:solidFill>
                  <a:srgbClr val="2E2E2E"/>
                </a:solidFill>
                <a:latin typeface="Calibri"/>
              </a:rPr>
              <a:t>Personal gifting &amp; celebrations segment is projected to register</a:t>
            </a:r>
          </a:p>
        </p:txBody>
      </p:sp>
      <p:pic>
        <p:nvPicPr>
          <p:cNvPr id="21" name="Picture 20" descr="lock.png"/>
          <p:cNvPicPr>
            <a:picLocks noChangeAspect="1"/>
          </p:cNvPicPr>
          <p:nvPr/>
        </p:nvPicPr>
        <p:blipFill>
          <a:blip r:embed="rId4"/>
          <a:stretch>
            <a:fillRect/>
          </a:stretch>
        </p:blipFill>
        <p:spPr>
          <a:xfrm>
            <a:off x="4046677" y="4209351"/>
            <a:ext cx="134549" cy="195707"/>
          </a:xfrm>
          <a:prstGeom prst="rect">
            <a:avLst/>
          </a:prstGeom>
        </p:spPr>
      </p:pic>
      <p:sp>
        <p:nvSpPr>
          <p:cNvPr id="22" name="TextBox 21"/>
          <p:cNvSpPr txBox="1"/>
          <p:nvPr/>
        </p:nvSpPr>
        <p:spPr>
          <a:xfrm>
            <a:off x="4221786" y="4219575"/>
            <a:ext cx="7446590" cy="194310"/>
          </a:xfrm>
          <a:prstGeom prst="rect">
            <a:avLst/>
          </a:prstGeom>
          <a:noFill/>
        </p:spPr>
        <p:txBody>
          <a:bodyPr wrap="none" lIns="0" rIns="0" tIns="0" bIns="0">
            <a:spAutoFit/>
          </a:bodyPr>
          <a:lstStyle/>
          <a:p>
            <a:r>
              <a:rPr sz="1150" b="0">
                <a:solidFill>
                  <a:srgbClr val="2E2E2E"/>
                </a:solidFill>
                <a:latin typeface="Calibri"/>
              </a:rPr>
              <a:t>X higher value than hospitality &amp; commercial decoration segment in 2036. Among floriculture by end use, other institutional</a:t>
            </a:r>
          </a:p>
        </p:txBody>
      </p:sp>
      <p:sp>
        <p:nvSpPr>
          <p:cNvPr id="23" name="TextBox 22"/>
          <p:cNvSpPr txBox="1"/>
          <p:nvPr/>
        </p:nvSpPr>
        <p:spPr>
          <a:xfrm>
            <a:off x="276225" y="4394835"/>
            <a:ext cx="3905715" cy="194310"/>
          </a:xfrm>
          <a:prstGeom prst="rect">
            <a:avLst/>
          </a:prstGeom>
          <a:noFill/>
        </p:spPr>
        <p:txBody>
          <a:bodyPr wrap="none" lIns="0" rIns="0" tIns="0" bIns="0">
            <a:spAutoFit/>
          </a:bodyPr>
          <a:lstStyle/>
          <a:p>
            <a:r>
              <a:rPr sz="1150" b="0">
                <a:solidFill>
                  <a:srgbClr val="2E2E2E"/>
                </a:solidFill>
                <a:latin typeface="Calibri"/>
              </a:rPr>
              <a:t>applications segment is expected to witness the highest CAGR of</a:t>
            </a:r>
          </a:p>
        </p:txBody>
      </p:sp>
      <p:pic>
        <p:nvPicPr>
          <p:cNvPr id="24" name="Picture 23" descr="lock.png"/>
          <p:cNvPicPr>
            <a:picLocks noChangeAspect="1"/>
          </p:cNvPicPr>
          <p:nvPr/>
        </p:nvPicPr>
        <p:blipFill>
          <a:blip r:embed="rId4"/>
          <a:stretch>
            <a:fillRect/>
          </a:stretch>
        </p:blipFill>
        <p:spPr>
          <a:xfrm>
            <a:off x="4131094" y="4384611"/>
            <a:ext cx="134549" cy="195707"/>
          </a:xfrm>
          <a:prstGeom prst="rect">
            <a:avLst/>
          </a:prstGeom>
        </p:spPr>
      </p:pic>
      <p:sp>
        <p:nvSpPr>
          <p:cNvPr id="25" name="TextBox 24"/>
          <p:cNvSpPr txBox="1"/>
          <p:nvPr/>
        </p:nvSpPr>
        <p:spPr>
          <a:xfrm>
            <a:off x="4306204"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7436606" cy="194310"/>
          </a:xfrm>
          <a:prstGeom prst="rect">
            <a:avLst/>
          </a:prstGeom>
          <a:noFill/>
        </p:spPr>
        <p:txBody>
          <a:bodyPr wrap="none" lIns="0" rIns="0" tIns="0" bIns="0">
            <a:spAutoFit/>
          </a:bodyPr>
          <a:lstStyle/>
          <a:p>
            <a:r>
              <a:rPr sz="1150" b="0">
                <a:solidFill>
                  <a:srgbClr val="2E2E2E"/>
                </a:solidFill>
                <a:latin typeface="Calibri"/>
              </a:rPr>
              <a:t>In terms of value share by end use, the personal gifting &amp; celebrations segment is expected to dominate the market, gaining</a:t>
            </a:r>
          </a:p>
        </p:txBody>
      </p:sp>
      <p:pic>
        <p:nvPicPr>
          <p:cNvPr id="27" name="Picture 26" descr="lock.png"/>
          <p:cNvPicPr>
            <a:picLocks noChangeAspect="1"/>
          </p:cNvPicPr>
          <p:nvPr/>
        </p:nvPicPr>
        <p:blipFill>
          <a:blip r:embed="rId4"/>
          <a:stretch>
            <a:fillRect/>
          </a:stretch>
        </p:blipFill>
        <p:spPr>
          <a:xfrm>
            <a:off x="7661985" y="4612449"/>
            <a:ext cx="134549" cy="195707"/>
          </a:xfrm>
          <a:prstGeom prst="rect">
            <a:avLst/>
          </a:prstGeom>
        </p:spPr>
      </p:pic>
      <p:sp>
        <p:nvSpPr>
          <p:cNvPr id="28" name="TextBox 27"/>
          <p:cNvSpPr txBox="1"/>
          <p:nvPr/>
        </p:nvSpPr>
        <p:spPr>
          <a:xfrm>
            <a:off x="7837094"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232237" y="4612449"/>
            <a:ext cx="134549" cy="195707"/>
          </a:xfrm>
          <a:prstGeom prst="rect">
            <a:avLst/>
          </a:prstGeom>
        </p:spPr>
      </p:pic>
      <p:sp>
        <p:nvSpPr>
          <p:cNvPr id="30" name="TextBox 29"/>
          <p:cNvSpPr txBox="1"/>
          <p:nvPr/>
        </p:nvSpPr>
        <p:spPr>
          <a:xfrm>
            <a:off x="9407347" y="4622672"/>
            <a:ext cx="2067557" cy="194310"/>
          </a:xfrm>
          <a:prstGeom prst="rect">
            <a:avLst/>
          </a:prstGeom>
          <a:noFill/>
        </p:spPr>
        <p:txBody>
          <a:bodyPr wrap="none" lIns="0" rIns="0" tIns="0" bIns="0">
            <a:spAutoFit/>
          </a:bodyPr>
          <a:lstStyle/>
          <a:p>
            <a:r>
              <a:rPr sz="1150" b="0">
                <a:solidFill>
                  <a:srgbClr val="2E2E2E"/>
                </a:solidFill>
                <a:latin typeface="Calibri"/>
              </a:rPr>
              <a:t>share by 2036. The landscaping &amp;</a:t>
            </a:r>
          </a:p>
        </p:txBody>
      </p:sp>
      <p:sp>
        <p:nvSpPr>
          <p:cNvPr id="31" name="TextBox 30"/>
          <p:cNvSpPr txBox="1"/>
          <p:nvPr/>
        </p:nvSpPr>
        <p:spPr>
          <a:xfrm>
            <a:off x="276225" y="4797932"/>
            <a:ext cx="2353667" cy="194310"/>
          </a:xfrm>
          <a:prstGeom prst="rect">
            <a:avLst/>
          </a:prstGeom>
          <a:noFill/>
        </p:spPr>
        <p:txBody>
          <a:bodyPr wrap="none" lIns="0" rIns="0" tIns="0" bIns="0">
            <a:spAutoFit/>
          </a:bodyPr>
          <a:lstStyle/>
          <a:p>
            <a:r>
              <a:rPr sz="1150" b="0">
                <a:solidFill>
                  <a:srgbClr val="2E2E2E"/>
                </a:solidFill>
                <a:latin typeface="Calibri"/>
              </a:rPr>
              <a:t>gardening segment is expected to lose</a:t>
            </a:r>
          </a:p>
        </p:txBody>
      </p:sp>
      <p:pic>
        <p:nvPicPr>
          <p:cNvPr id="32" name="Picture 31" descr="lock.png"/>
          <p:cNvPicPr>
            <a:picLocks noChangeAspect="1"/>
          </p:cNvPicPr>
          <p:nvPr/>
        </p:nvPicPr>
        <p:blipFill>
          <a:blip r:embed="rId4"/>
          <a:stretch>
            <a:fillRect/>
          </a:stretch>
        </p:blipFill>
        <p:spPr>
          <a:xfrm>
            <a:off x="2579046" y="4787709"/>
            <a:ext cx="134549" cy="195707"/>
          </a:xfrm>
          <a:prstGeom prst="rect">
            <a:avLst/>
          </a:prstGeom>
        </p:spPr>
      </p:pic>
      <p:sp>
        <p:nvSpPr>
          <p:cNvPr id="33" name="TextBox 32"/>
          <p:cNvSpPr txBox="1"/>
          <p:nvPr/>
        </p:nvSpPr>
        <p:spPr>
          <a:xfrm>
            <a:off x="2754155"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341659" y="4787709"/>
            <a:ext cx="134549" cy="195707"/>
          </a:xfrm>
          <a:prstGeom prst="rect">
            <a:avLst/>
          </a:prstGeom>
        </p:spPr>
      </p:pic>
      <p:sp>
        <p:nvSpPr>
          <p:cNvPr id="35" name="TextBox 34"/>
          <p:cNvSpPr txBox="1"/>
          <p:nvPr/>
        </p:nvSpPr>
        <p:spPr>
          <a:xfrm>
            <a:off x="5516769"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End Use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 Use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End Use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47907"/>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74314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669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Institutional Applications</a:t>
            </a:r>
          </a:p>
        </p:txBody>
      </p:sp>
      <p:sp>
        <p:nvSpPr>
          <p:cNvPr id="18" name="BPS Value 1"/>
          <p:cNvSpPr txBox="1"/>
          <p:nvPr/>
        </p:nvSpPr>
        <p:spPr>
          <a:xfrm>
            <a:off x="6896100" y="172885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00153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9967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9205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Residential &amp; Home Decoration</a:t>
            </a:r>
          </a:p>
        </p:txBody>
      </p:sp>
      <p:sp>
        <p:nvSpPr>
          <p:cNvPr id="22" name="BPS Value 2"/>
          <p:cNvSpPr txBox="1"/>
          <p:nvPr/>
        </p:nvSpPr>
        <p:spPr>
          <a:xfrm>
            <a:off x="6896100" y="19824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40175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3969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3207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Landscaping &amp; Gardening</a:t>
            </a:r>
          </a:p>
        </p:txBody>
      </p:sp>
      <p:sp>
        <p:nvSpPr>
          <p:cNvPr id="26" name="BPS Value 3"/>
          <p:cNvSpPr txBox="1"/>
          <p:nvPr/>
        </p:nvSpPr>
        <p:spPr>
          <a:xfrm>
            <a:off x="6896100" y="23827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296222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295746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8812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Funeral &amp; Memorial Services</a:t>
            </a:r>
          </a:p>
        </p:txBody>
      </p:sp>
      <p:sp>
        <p:nvSpPr>
          <p:cNvPr id="30" name="BPS Value 4"/>
          <p:cNvSpPr txBox="1"/>
          <p:nvPr/>
        </p:nvSpPr>
        <p:spPr>
          <a:xfrm>
            <a:off x="6896100" y="294317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71575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71098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6347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Weddings &amp; Special Events</a:t>
            </a:r>
          </a:p>
        </p:txBody>
      </p:sp>
      <p:sp>
        <p:nvSpPr>
          <p:cNvPr id="34" name="BPS Value 5"/>
          <p:cNvSpPr txBox="1"/>
          <p:nvPr/>
        </p:nvSpPr>
        <p:spPr>
          <a:xfrm>
            <a:off x="6896100" y="36967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459303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458826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45120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Hospitality &amp; Commercial Decoration</a:t>
            </a:r>
          </a:p>
        </p:txBody>
      </p:sp>
      <p:sp>
        <p:nvSpPr>
          <p:cNvPr id="38" name="BPS Value 6"/>
          <p:cNvSpPr txBox="1"/>
          <p:nvPr/>
        </p:nvSpPr>
        <p:spPr>
          <a:xfrm>
            <a:off x="6896100" y="457398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FMI Legend Chip"/>
          <p:cNvSpPr/>
          <p:nvPr/>
        </p:nvSpPr>
        <p:spPr>
          <a:xfrm>
            <a:off x="4928997" y="564881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sosceles Triangle 39"/>
          <p:cNvSpPr/>
          <p:nvPr/>
        </p:nvSpPr>
        <p:spPr>
          <a:xfrm>
            <a:off x="5090922" y="564405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PS Name 7"/>
          <p:cNvSpPr txBox="1"/>
          <p:nvPr/>
        </p:nvSpPr>
        <p:spPr>
          <a:xfrm>
            <a:off x="5233797" y="55678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Personal Gifting &amp; Celebrations</a:t>
            </a:r>
          </a:p>
        </p:txBody>
      </p:sp>
      <p:sp>
        <p:nvSpPr>
          <p:cNvPr id="42" name="BPS Value 7"/>
          <p:cNvSpPr txBox="1"/>
          <p:nvPr/>
        </p:nvSpPr>
        <p:spPr>
          <a:xfrm>
            <a:off x="6896100" y="562976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3" name="Rounded Rectangle 4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End Use</a:t>
            </a:r>
          </a:p>
        </p:txBody>
      </p:sp>
      <p:sp>
        <p:nvSpPr>
          <p:cNvPr id="45" name="Rectangle 4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557843" y="3833622"/>
            <a:ext cx="275034" cy="400050"/>
          </a:xfrm>
          <a:prstGeom prst="rect">
            <a:avLst/>
          </a:prstGeom>
        </p:spPr>
      </p:pic>
      <p:sp>
        <p:nvSpPr>
          <p:cNvPr id="49" name="TextBox 48"/>
          <p:cNvSpPr txBox="1"/>
          <p:nvPr/>
        </p:nvSpPr>
        <p:spPr>
          <a:xfrm>
            <a:off x="7829550" y="1400175"/>
            <a:ext cx="3763962" cy="194310"/>
          </a:xfrm>
          <a:prstGeom prst="rect">
            <a:avLst/>
          </a:prstGeom>
          <a:noFill/>
        </p:spPr>
        <p:txBody>
          <a:bodyPr wrap="none" lIns="0" rIns="0" tIns="0" bIns="0">
            <a:spAutoFit/>
          </a:bodyPr>
          <a:lstStyle/>
          <a:p>
            <a:r>
              <a:rPr sz="1150" b="0">
                <a:solidFill>
                  <a:srgbClr val="2E2E2E"/>
                </a:solidFill>
                <a:latin typeface="Calibri"/>
              </a:rPr>
              <a:t>Among floriculture by end use, other institutional applications</a:t>
            </a:r>
          </a:p>
        </p:txBody>
      </p:sp>
      <p:sp>
        <p:nvSpPr>
          <p:cNvPr id="50" name="TextBox 4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1" name="Picture 50" descr="lock.png"/>
          <p:cNvPicPr>
            <a:picLocks noChangeAspect="1"/>
          </p:cNvPicPr>
          <p:nvPr/>
        </p:nvPicPr>
        <p:blipFill>
          <a:blip r:embed="rId5"/>
          <a:stretch>
            <a:fillRect/>
          </a:stretch>
        </p:blipFill>
        <p:spPr>
          <a:xfrm>
            <a:off x="10935343" y="1565211"/>
            <a:ext cx="134549" cy="195707"/>
          </a:xfrm>
          <a:prstGeom prst="rect">
            <a:avLst/>
          </a:prstGeom>
        </p:spPr>
      </p:pic>
      <p:sp>
        <p:nvSpPr>
          <p:cNvPr id="52" name="TextBox 5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3" name="TextBox 52"/>
          <p:cNvSpPr txBox="1"/>
          <p:nvPr/>
        </p:nvSpPr>
        <p:spPr>
          <a:xfrm>
            <a:off x="7829550" y="1750695"/>
            <a:ext cx="3901740"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 use, the personal</a:t>
            </a:r>
          </a:p>
        </p:txBody>
      </p:sp>
      <p:sp>
        <p:nvSpPr>
          <p:cNvPr id="54" name="TextBox 53"/>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gifting &amp; celebrations segment is expected to dominate the market,</a:t>
            </a:r>
          </a:p>
        </p:txBody>
      </p:sp>
      <p:sp>
        <p:nvSpPr>
          <p:cNvPr id="55" name="TextBox 54"/>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56" name="Picture 55" descr="lock.png"/>
          <p:cNvPicPr>
            <a:picLocks noChangeAspect="1"/>
          </p:cNvPicPr>
          <p:nvPr/>
        </p:nvPicPr>
        <p:blipFill>
          <a:blip r:embed="rId5"/>
          <a:stretch>
            <a:fillRect/>
          </a:stretch>
        </p:blipFill>
        <p:spPr>
          <a:xfrm>
            <a:off x="8283070" y="2090991"/>
            <a:ext cx="134549" cy="195707"/>
          </a:xfrm>
          <a:prstGeom prst="rect">
            <a:avLst/>
          </a:prstGeom>
        </p:spPr>
      </p:pic>
      <p:sp>
        <p:nvSpPr>
          <p:cNvPr id="57" name="TextBox 56"/>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9853322" y="2090991"/>
            <a:ext cx="134549" cy="195707"/>
          </a:xfrm>
          <a:prstGeom prst="rect">
            <a:avLst/>
          </a:prstGeom>
        </p:spPr>
      </p:pic>
      <p:sp>
        <p:nvSpPr>
          <p:cNvPr id="59" name="TextBox 58"/>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329053"/>
            <a:ext cx="3475000" cy="194310"/>
          </a:xfrm>
          <a:prstGeom prst="rect">
            <a:avLst/>
          </a:prstGeom>
          <a:noFill/>
        </p:spPr>
        <p:txBody>
          <a:bodyPr wrap="none" lIns="0" rIns="0" tIns="0" bIns="0">
            <a:spAutoFit/>
          </a:bodyPr>
          <a:lstStyle/>
          <a:p>
            <a:r>
              <a:rPr sz="1150" b="0">
                <a:solidFill>
                  <a:srgbClr val="2E2E2E"/>
                </a:solidFill>
                <a:latin typeface="Calibri"/>
              </a:rPr>
              <a:t>The landscaping &amp; gardening segment is expected to lose</a:t>
            </a:r>
          </a:p>
        </p:txBody>
      </p:sp>
      <p:pic>
        <p:nvPicPr>
          <p:cNvPr id="61" name="Picture 60" descr="lock.png"/>
          <p:cNvPicPr>
            <a:picLocks noChangeAspect="1"/>
          </p:cNvPicPr>
          <p:nvPr/>
        </p:nvPicPr>
        <p:blipFill>
          <a:blip r:embed="rId5"/>
          <a:stretch>
            <a:fillRect/>
          </a:stretch>
        </p:blipFill>
        <p:spPr>
          <a:xfrm>
            <a:off x="11253704" y="2318829"/>
            <a:ext cx="134549" cy="195707"/>
          </a:xfrm>
          <a:prstGeom prst="rect">
            <a:avLst/>
          </a:prstGeom>
        </p:spPr>
      </p:pic>
      <p:sp>
        <p:nvSpPr>
          <p:cNvPr id="62" name="TextBox 61"/>
          <p:cNvSpPr txBox="1"/>
          <p:nvPr/>
        </p:nvSpPr>
        <p:spPr>
          <a:xfrm>
            <a:off x="11428813"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63" name="TextBox 62"/>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64" name="Picture 63" descr="lock.png"/>
          <p:cNvPicPr>
            <a:picLocks noChangeAspect="1"/>
          </p:cNvPicPr>
          <p:nvPr/>
        </p:nvPicPr>
        <p:blipFill>
          <a:blip r:embed="rId5"/>
          <a:stretch>
            <a:fillRect/>
          </a:stretch>
        </p:blipFill>
        <p:spPr>
          <a:xfrm>
            <a:off x="10161752" y="2494089"/>
            <a:ext cx="134549" cy="195707"/>
          </a:xfrm>
          <a:prstGeom prst="rect">
            <a:avLst/>
          </a:prstGeom>
        </p:spPr>
      </p:pic>
      <p:sp>
        <p:nvSpPr>
          <p:cNvPr id="65" name="TextBox 64"/>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Cultivation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 × Flower Species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Cultivation Method</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Cultivation Method,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cultivation method sub-segments</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Type × Cultivation Method, 2026E and 2036F (US$ Mn)</a:t>
            </a:r>
          </a:p>
        </p:txBody>
      </p:sp>
      <p:graphicFrame>
        <p:nvGraphicFramePr>
          <p:cNvPr id="12" name="Table 11"/>
          <p:cNvGraphicFramePr>
            <a:graphicFrameLocks noGrp="1"/>
          </p:cNvGraphicFramePr>
          <p:nvPr/>
        </p:nvGraphicFramePr>
        <p:xfrm>
          <a:off x="152400" y="1238250"/>
          <a:ext cx="11887203" cy="2466975"/>
        </p:xfrm>
        <a:graphic>
          <a:graphicData uri="http://schemas.openxmlformats.org/drawingml/2006/table">
            <a:tbl>
              <a:tblPr>
                <a:tableStyleId>{5C22544A-7EE6-4342-B048-85BDC9FD1C3A}</a:tableStyleId>
              </a:tblPr>
              <a:tblGrid>
                <a:gridCol w="5414961"/>
                <a:gridCol w="1078707"/>
                <a:gridCol w="1078707"/>
                <a:gridCol w="1078707"/>
                <a:gridCol w="1078707"/>
                <a:gridCol w="1078707"/>
                <a:gridCol w="1078707"/>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Protected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Open-Field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7286625"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1052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Product Type → Cultivation Method, 2036F (US$ Mn)</a:t>
            </a:r>
          </a:p>
        </p:txBody>
      </p:sp>
      <p:sp>
        <p:nvSpPr>
          <p:cNvPr id="16" name="Freeform 15"/>
          <p:cNvSpPr/>
          <p:nvPr/>
        </p:nvSpPr>
        <p:spPr>
          <a:xfrm>
            <a:off x="2057400" y="4371975"/>
            <a:ext cx="3743325" cy="333375"/>
          </a:xfrm>
          <a:custGeom>
            <a:avLst/>
            <a:gdLst/>
            <a:ahLst/>
            <a:cxnLst/>
            <a:rect l="l" t="t" r="r" b="b"/>
            <a:pathLst>
              <a:path w="393" h="35">
                <a:moveTo>
                  <a:pt x="0" y="0"/>
                </a:moveTo>
                <a:lnTo>
                  <a:pt x="16" y="0"/>
                </a:lnTo>
                <a:lnTo>
                  <a:pt x="33" y="0"/>
                </a:lnTo>
                <a:lnTo>
                  <a:pt x="49" y="1"/>
                </a:lnTo>
                <a:lnTo>
                  <a:pt x="65" y="1"/>
                </a:lnTo>
                <a:lnTo>
                  <a:pt x="82" y="2"/>
                </a:lnTo>
                <a:lnTo>
                  <a:pt x="98" y="2"/>
                </a:lnTo>
                <a:lnTo>
                  <a:pt x="114" y="3"/>
                </a:lnTo>
                <a:lnTo>
                  <a:pt x="131" y="4"/>
                </a:lnTo>
                <a:lnTo>
                  <a:pt x="147" y="5"/>
                </a:lnTo>
                <a:lnTo>
                  <a:pt x="164" y="6"/>
                </a:lnTo>
                <a:lnTo>
                  <a:pt x="180" y="7"/>
                </a:lnTo>
                <a:lnTo>
                  <a:pt x="196" y="7"/>
                </a:lnTo>
                <a:lnTo>
                  <a:pt x="213" y="8"/>
                </a:lnTo>
                <a:lnTo>
                  <a:pt x="229" y="9"/>
                </a:lnTo>
                <a:lnTo>
                  <a:pt x="246" y="10"/>
                </a:lnTo>
                <a:lnTo>
                  <a:pt x="262" y="11"/>
                </a:lnTo>
                <a:lnTo>
                  <a:pt x="278" y="12"/>
                </a:lnTo>
                <a:lnTo>
                  <a:pt x="295" y="13"/>
                </a:lnTo>
                <a:lnTo>
                  <a:pt x="311" y="13"/>
                </a:lnTo>
                <a:lnTo>
                  <a:pt x="327" y="14"/>
                </a:lnTo>
                <a:lnTo>
                  <a:pt x="344" y="14"/>
                </a:lnTo>
                <a:lnTo>
                  <a:pt x="360" y="15"/>
                </a:lnTo>
                <a:lnTo>
                  <a:pt x="377" y="15"/>
                </a:lnTo>
                <a:lnTo>
                  <a:pt x="393" y="15"/>
                </a:lnTo>
                <a:lnTo>
                  <a:pt x="393" y="35"/>
                </a:lnTo>
                <a:lnTo>
                  <a:pt x="377" y="35"/>
                </a:lnTo>
                <a:lnTo>
                  <a:pt x="360" y="35"/>
                </a:lnTo>
                <a:lnTo>
                  <a:pt x="344" y="35"/>
                </a:lnTo>
                <a:lnTo>
                  <a:pt x="327" y="34"/>
                </a:lnTo>
                <a:lnTo>
                  <a:pt x="311" y="34"/>
                </a:lnTo>
                <a:lnTo>
                  <a:pt x="295" y="33"/>
                </a:lnTo>
                <a:lnTo>
                  <a:pt x="278" y="32"/>
                </a:lnTo>
                <a:lnTo>
                  <a:pt x="262" y="31"/>
                </a:lnTo>
                <a:lnTo>
                  <a:pt x="246" y="31"/>
                </a:lnTo>
                <a:lnTo>
                  <a:pt x="229" y="30"/>
                </a:lnTo>
                <a:lnTo>
                  <a:pt x="213" y="29"/>
                </a:lnTo>
                <a:lnTo>
                  <a:pt x="196" y="28"/>
                </a:lnTo>
                <a:lnTo>
                  <a:pt x="180" y="27"/>
                </a:lnTo>
                <a:lnTo>
                  <a:pt x="164" y="26"/>
                </a:lnTo>
                <a:lnTo>
                  <a:pt x="147" y="25"/>
                </a:lnTo>
                <a:lnTo>
                  <a:pt x="131" y="24"/>
                </a:lnTo>
                <a:lnTo>
                  <a:pt x="114" y="23"/>
                </a:lnTo>
                <a:lnTo>
                  <a:pt x="98" y="23"/>
                </a:lnTo>
                <a:lnTo>
                  <a:pt x="82" y="22"/>
                </a:lnTo>
                <a:lnTo>
                  <a:pt x="65" y="21"/>
                </a:lnTo>
                <a:lnTo>
                  <a:pt x="49" y="21"/>
                </a:lnTo>
                <a:lnTo>
                  <a:pt x="33" y="21"/>
                </a:lnTo>
                <a:lnTo>
                  <a:pt x="16" y="20"/>
                </a:lnTo>
                <a:lnTo>
                  <a:pt x="0" y="2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562475"/>
            <a:ext cx="3743325" cy="1428750"/>
          </a:xfrm>
          <a:custGeom>
            <a:avLst/>
            <a:gdLst/>
            <a:ahLst/>
            <a:cxnLst/>
            <a:rect l="l" t="t" r="r" b="b"/>
            <a:pathLst>
              <a:path w="393" h="150">
                <a:moveTo>
                  <a:pt x="0" y="0"/>
                </a:moveTo>
                <a:lnTo>
                  <a:pt x="16" y="1"/>
                </a:lnTo>
                <a:lnTo>
                  <a:pt x="33" y="3"/>
                </a:lnTo>
                <a:lnTo>
                  <a:pt x="49" y="6"/>
                </a:lnTo>
                <a:lnTo>
                  <a:pt x="65" y="11"/>
                </a:lnTo>
                <a:lnTo>
                  <a:pt x="82" y="16"/>
                </a:lnTo>
                <a:lnTo>
                  <a:pt x="98" y="23"/>
                </a:lnTo>
                <a:lnTo>
                  <a:pt x="114" y="30"/>
                </a:lnTo>
                <a:lnTo>
                  <a:pt x="131" y="37"/>
                </a:lnTo>
                <a:lnTo>
                  <a:pt x="147" y="46"/>
                </a:lnTo>
                <a:lnTo>
                  <a:pt x="164" y="54"/>
                </a:lnTo>
                <a:lnTo>
                  <a:pt x="180" y="63"/>
                </a:lnTo>
                <a:lnTo>
                  <a:pt x="196" y="72"/>
                </a:lnTo>
                <a:lnTo>
                  <a:pt x="213" y="81"/>
                </a:lnTo>
                <a:lnTo>
                  <a:pt x="229" y="90"/>
                </a:lnTo>
                <a:lnTo>
                  <a:pt x="246" y="98"/>
                </a:lnTo>
                <a:lnTo>
                  <a:pt x="262" y="106"/>
                </a:lnTo>
                <a:lnTo>
                  <a:pt x="278" y="114"/>
                </a:lnTo>
                <a:lnTo>
                  <a:pt x="295" y="121"/>
                </a:lnTo>
                <a:lnTo>
                  <a:pt x="311" y="127"/>
                </a:lnTo>
                <a:lnTo>
                  <a:pt x="327" y="133"/>
                </a:lnTo>
                <a:lnTo>
                  <a:pt x="344" y="137"/>
                </a:lnTo>
                <a:lnTo>
                  <a:pt x="360" y="141"/>
                </a:lnTo>
                <a:lnTo>
                  <a:pt x="377" y="143"/>
                </a:lnTo>
                <a:lnTo>
                  <a:pt x="393" y="143"/>
                </a:lnTo>
                <a:lnTo>
                  <a:pt x="393" y="150"/>
                </a:lnTo>
                <a:lnTo>
                  <a:pt x="377" y="150"/>
                </a:lnTo>
                <a:lnTo>
                  <a:pt x="360" y="148"/>
                </a:lnTo>
                <a:lnTo>
                  <a:pt x="344" y="144"/>
                </a:lnTo>
                <a:lnTo>
                  <a:pt x="327" y="140"/>
                </a:lnTo>
                <a:lnTo>
                  <a:pt x="311" y="134"/>
                </a:lnTo>
                <a:lnTo>
                  <a:pt x="295" y="128"/>
                </a:lnTo>
                <a:lnTo>
                  <a:pt x="278" y="121"/>
                </a:lnTo>
                <a:lnTo>
                  <a:pt x="262" y="113"/>
                </a:lnTo>
                <a:lnTo>
                  <a:pt x="246" y="105"/>
                </a:lnTo>
                <a:lnTo>
                  <a:pt x="229" y="97"/>
                </a:lnTo>
                <a:lnTo>
                  <a:pt x="213" y="88"/>
                </a:lnTo>
                <a:lnTo>
                  <a:pt x="196" y="79"/>
                </a:lnTo>
                <a:lnTo>
                  <a:pt x="180" y="70"/>
                </a:lnTo>
                <a:lnTo>
                  <a:pt x="164" y="61"/>
                </a:lnTo>
                <a:lnTo>
                  <a:pt x="147" y="53"/>
                </a:lnTo>
                <a:lnTo>
                  <a:pt x="131" y="44"/>
                </a:lnTo>
                <a:lnTo>
                  <a:pt x="114" y="37"/>
                </a:lnTo>
                <a:lnTo>
                  <a:pt x="98" y="30"/>
                </a:lnTo>
                <a:lnTo>
                  <a:pt x="82" y="23"/>
                </a:lnTo>
                <a:lnTo>
                  <a:pt x="65" y="18"/>
                </a:lnTo>
                <a:lnTo>
                  <a:pt x="49" y="13"/>
                </a:lnTo>
                <a:lnTo>
                  <a:pt x="33" y="10"/>
                </a:lnTo>
                <a:lnTo>
                  <a:pt x="16" y="8"/>
                </a:lnTo>
                <a:lnTo>
                  <a:pt x="0" y="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86300"/>
            <a:ext cx="3743325" cy="219075"/>
          </a:xfrm>
          <a:custGeom>
            <a:avLst/>
            <a:gdLst/>
            <a:ahLst/>
            <a:cxnLst/>
            <a:rect l="l" t="t" r="r" b="b"/>
            <a:pathLst>
              <a:path w="393" h="23">
                <a:moveTo>
                  <a:pt x="0" y="0"/>
                </a:moveTo>
                <a:lnTo>
                  <a:pt x="16" y="0"/>
                </a:lnTo>
                <a:lnTo>
                  <a:pt x="33" y="0"/>
                </a:lnTo>
                <a:lnTo>
                  <a:pt x="49" y="0"/>
                </a:lnTo>
                <a:lnTo>
                  <a:pt x="65" y="0"/>
                </a:lnTo>
                <a:lnTo>
                  <a:pt x="82" y="1"/>
                </a:lnTo>
                <a:lnTo>
                  <a:pt x="98" y="1"/>
                </a:lnTo>
                <a:lnTo>
                  <a:pt x="114" y="1"/>
                </a:lnTo>
                <a:lnTo>
                  <a:pt x="131" y="1"/>
                </a:lnTo>
                <a:lnTo>
                  <a:pt x="147" y="1"/>
                </a:lnTo>
                <a:lnTo>
                  <a:pt x="164" y="1"/>
                </a:lnTo>
                <a:lnTo>
                  <a:pt x="180" y="1"/>
                </a:lnTo>
                <a:lnTo>
                  <a:pt x="196" y="1"/>
                </a:lnTo>
                <a:lnTo>
                  <a:pt x="213" y="1"/>
                </a:lnTo>
                <a:lnTo>
                  <a:pt x="229" y="2"/>
                </a:lnTo>
                <a:lnTo>
                  <a:pt x="246" y="2"/>
                </a:lnTo>
                <a:lnTo>
                  <a:pt x="262" y="2"/>
                </a:lnTo>
                <a:lnTo>
                  <a:pt x="278" y="2"/>
                </a:lnTo>
                <a:lnTo>
                  <a:pt x="295" y="2"/>
                </a:lnTo>
                <a:lnTo>
                  <a:pt x="311" y="2"/>
                </a:lnTo>
                <a:lnTo>
                  <a:pt x="327" y="2"/>
                </a:lnTo>
                <a:lnTo>
                  <a:pt x="344" y="2"/>
                </a:lnTo>
                <a:lnTo>
                  <a:pt x="360" y="2"/>
                </a:lnTo>
                <a:lnTo>
                  <a:pt x="377" y="2"/>
                </a:lnTo>
                <a:lnTo>
                  <a:pt x="393" y="2"/>
                </a:lnTo>
                <a:lnTo>
                  <a:pt x="393" y="23"/>
                </a:lnTo>
                <a:lnTo>
                  <a:pt x="377" y="23"/>
                </a:lnTo>
                <a:lnTo>
                  <a:pt x="360" y="23"/>
                </a:lnTo>
                <a:lnTo>
                  <a:pt x="344" y="23"/>
                </a:lnTo>
                <a:lnTo>
                  <a:pt x="327" y="23"/>
                </a:lnTo>
                <a:lnTo>
                  <a:pt x="311" y="22"/>
                </a:lnTo>
                <a:lnTo>
                  <a:pt x="295" y="22"/>
                </a:lnTo>
                <a:lnTo>
                  <a:pt x="278" y="22"/>
                </a:lnTo>
                <a:lnTo>
                  <a:pt x="262" y="22"/>
                </a:lnTo>
                <a:lnTo>
                  <a:pt x="246" y="22"/>
                </a:lnTo>
                <a:lnTo>
                  <a:pt x="229" y="22"/>
                </a:lnTo>
                <a:lnTo>
                  <a:pt x="213" y="22"/>
                </a:lnTo>
                <a:lnTo>
                  <a:pt x="196" y="22"/>
                </a:lnTo>
                <a:lnTo>
                  <a:pt x="180" y="22"/>
                </a:lnTo>
                <a:lnTo>
                  <a:pt x="164" y="21"/>
                </a:lnTo>
                <a:lnTo>
                  <a:pt x="147" y="21"/>
                </a:lnTo>
                <a:lnTo>
                  <a:pt x="131" y="21"/>
                </a:lnTo>
                <a:lnTo>
                  <a:pt x="114" y="21"/>
                </a:lnTo>
                <a:lnTo>
                  <a:pt x="98" y="21"/>
                </a:lnTo>
                <a:lnTo>
                  <a:pt x="82" y="21"/>
                </a:lnTo>
                <a:lnTo>
                  <a:pt x="65" y="21"/>
                </a:lnTo>
                <a:lnTo>
                  <a:pt x="49" y="21"/>
                </a:lnTo>
                <a:lnTo>
                  <a:pt x="33" y="21"/>
                </a:lnTo>
                <a:lnTo>
                  <a:pt x="16" y="21"/>
                </a:lnTo>
                <a:lnTo>
                  <a:pt x="0" y="2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886325"/>
            <a:ext cx="3743325" cy="1171575"/>
          </a:xfrm>
          <a:custGeom>
            <a:avLst/>
            <a:gdLst/>
            <a:ahLst/>
            <a:cxnLst/>
            <a:rect l="l" t="t" r="r" b="b"/>
            <a:pathLst>
              <a:path w="393" h="123">
                <a:moveTo>
                  <a:pt x="0" y="0"/>
                </a:moveTo>
                <a:lnTo>
                  <a:pt x="16" y="0"/>
                </a:lnTo>
                <a:lnTo>
                  <a:pt x="33" y="2"/>
                </a:lnTo>
                <a:lnTo>
                  <a:pt x="49" y="5"/>
                </a:lnTo>
                <a:lnTo>
                  <a:pt x="65" y="8"/>
                </a:lnTo>
                <a:lnTo>
                  <a:pt x="82" y="13"/>
                </a:lnTo>
                <a:lnTo>
                  <a:pt x="98" y="18"/>
                </a:lnTo>
                <a:lnTo>
                  <a:pt x="114" y="24"/>
                </a:lnTo>
                <a:lnTo>
                  <a:pt x="131" y="30"/>
                </a:lnTo>
                <a:lnTo>
                  <a:pt x="147" y="37"/>
                </a:lnTo>
                <a:lnTo>
                  <a:pt x="164" y="44"/>
                </a:lnTo>
                <a:lnTo>
                  <a:pt x="180" y="51"/>
                </a:lnTo>
                <a:lnTo>
                  <a:pt x="196" y="58"/>
                </a:lnTo>
                <a:lnTo>
                  <a:pt x="213" y="65"/>
                </a:lnTo>
                <a:lnTo>
                  <a:pt x="229" y="72"/>
                </a:lnTo>
                <a:lnTo>
                  <a:pt x="246" y="79"/>
                </a:lnTo>
                <a:lnTo>
                  <a:pt x="262" y="86"/>
                </a:lnTo>
                <a:lnTo>
                  <a:pt x="278" y="92"/>
                </a:lnTo>
                <a:lnTo>
                  <a:pt x="295" y="98"/>
                </a:lnTo>
                <a:lnTo>
                  <a:pt x="311" y="103"/>
                </a:lnTo>
                <a:lnTo>
                  <a:pt x="327" y="108"/>
                </a:lnTo>
                <a:lnTo>
                  <a:pt x="344" y="111"/>
                </a:lnTo>
                <a:lnTo>
                  <a:pt x="360" y="114"/>
                </a:lnTo>
                <a:lnTo>
                  <a:pt x="377" y="116"/>
                </a:lnTo>
                <a:lnTo>
                  <a:pt x="393" y="116"/>
                </a:lnTo>
                <a:lnTo>
                  <a:pt x="393" y="123"/>
                </a:lnTo>
                <a:lnTo>
                  <a:pt x="377" y="123"/>
                </a:lnTo>
                <a:lnTo>
                  <a:pt x="360" y="121"/>
                </a:lnTo>
                <a:lnTo>
                  <a:pt x="344" y="118"/>
                </a:lnTo>
                <a:lnTo>
                  <a:pt x="327" y="115"/>
                </a:lnTo>
                <a:lnTo>
                  <a:pt x="311" y="110"/>
                </a:lnTo>
                <a:lnTo>
                  <a:pt x="295" y="105"/>
                </a:lnTo>
                <a:lnTo>
                  <a:pt x="278" y="99"/>
                </a:lnTo>
                <a:lnTo>
                  <a:pt x="262" y="93"/>
                </a:lnTo>
                <a:lnTo>
                  <a:pt x="246" y="86"/>
                </a:lnTo>
                <a:lnTo>
                  <a:pt x="229" y="79"/>
                </a:lnTo>
                <a:lnTo>
                  <a:pt x="213" y="72"/>
                </a:lnTo>
                <a:lnTo>
                  <a:pt x="196" y="65"/>
                </a:lnTo>
                <a:lnTo>
                  <a:pt x="180" y="58"/>
                </a:lnTo>
                <a:lnTo>
                  <a:pt x="164" y="50"/>
                </a:lnTo>
                <a:lnTo>
                  <a:pt x="147" y="43"/>
                </a:lnTo>
                <a:lnTo>
                  <a:pt x="131" y="37"/>
                </a:lnTo>
                <a:lnTo>
                  <a:pt x="114" y="31"/>
                </a:lnTo>
                <a:lnTo>
                  <a:pt x="98" y="25"/>
                </a:lnTo>
                <a:lnTo>
                  <a:pt x="82" y="20"/>
                </a:lnTo>
                <a:lnTo>
                  <a:pt x="65" y="15"/>
                </a:lnTo>
                <a:lnTo>
                  <a:pt x="49" y="12"/>
                </a:lnTo>
                <a:lnTo>
                  <a:pt x="33" y="9"/>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905375"/>
            <a:ext cx="3743325" cy="295275"/>
          </a:xfrm>
          <a:custGeom>
            <a:avLst/>
            <a:gdLst/>
            <a:ahLst/>
            <a:cxnLst/>
            <a:rect l="l" t="t" r="r" b="b"/>
            <a:pathLst>
              <a:path w="393" h="31">
                <a:moveTo>
                  <a:pt x="0" y="11"/>
                </a:moveTo>
                <a:lnTo>
                  <a:pt x="16" y="11"/>
                </a:lnTo>
                <a:lnTo>
                  <a:pt x="33" y="10"/>
                </a:lnTo>
                <a:lnTo>
                  <a:pt x="49" y="10"/>
                </a:lnTo>
                <a:lnTo>
                  <a:pt x="65" y="10"/>
                </a:lnTo>
                <a:lnTo>
                  <a:pt x="82" y="9"/>
                </a:lnTo>
                <a:lnTo>
                  <a:pt x="98" y="9"/>
                </a:lnTo>
                <a:lnTo>
                  <a:pt x="114" y="8"/>
                </a:lnTo>
                <a:lnTo>
                  <a:pt x="131" y="8"/>
                </a:lnTo>
                <a:lnTo>
                  <a:pt x="147" y="7"/>
                </a:lnTo>
                <a:lnTo>
                  <a:pt x="164" y="6"/>
                </a:lnTo>
                <a:lnTo>
                  <a:pt x="180" y="6"/>
                </a:lnTo>
                <a:lnTo>
                  <a:pt x="196" y="5"/>
                </a:lnTo>
                <a:lnTo>
                  <a:pt x="213" y="4"/>
                </a:lnTo>
                <a:lnTo>
                  <a:pt x="229" y="4"/>
                </a:lnTo>
                <a:lnTo>
                  <a:pt x="246" y="3"/>
                </a:lnTo>
                <a:lnTo>
                  <a:pt x="262" y="3"/>
                </a:lnTo>
                <a:lnTo>
                  <a:pt x="278" y="2"/>
                </a:lnTo>
                <a:lnTo>
                  <a:pt x="295" y="1"/>
                </a:lnTo>
                <a:lnTo>
                  <a:pt x="311" y="1"/>
                </a:lnTo>
                <a:lnTo>
                  <a:pt x="327" y="0"/>
                </a:lnTo>
                <a:lnTo>
                  <a:pt x="344" y="0"/>
                </a:lnTo>
                <a:lnTo>
                  <a:pt x="360" y="0"/>
                </a:lnTo>
                <a:lnTo>
                  <a:pt x="377" y="0"/>
                </a:lnTo>
                <a:lnTo>
                  <a:pt x="393" y="0"/>
                </a:lnTo>
                <a:lnTo>
                  <a:pt x="393" y="20"/>
                </a:lnTo>
                <a:lnTo>
                  <a:pt x="377" y="20"/>
                </a:lnTo>
                <a:lnTo>
                  <a:pt x="360" y="20"/>
                </a:lnTo>
                <a:lnTo>
                  <a:pt x="344" y="20"/>
                </a:lnTo>
                <a:lnTo>
                  <a:pt x="327" y="21"/>
                </a:lnTo>
                <a:lnTo>
                  <a:pt x="311" y="21"/>
                </a:lnTo>
                <a:lnTo>
                  <a:pt x="295" y="22"/>
                </a:lnTo>
                <a:lnTo>
                  <a:pt x="278" y="22"/>
                </a:lnTo>
                <a:lnTo>
                  <a:pt x="262" y="23"/>
                </a:lnTo>
                <a:lnTo>
                  <a:pt x="246" y="23"/>
                </a:lnTo>
                <a:lnTo>
                  <a:pt x="229" y="24"/>
                </a:lnTo>
                <a:lnTo>
                  <a:pt x="213" y="25"/>
                </a:lnTo>
                <a:lnTo>
                  <a:pt x="196" y="25"/>
                </a:lnTo>
                <a:lnTo>
                  <a:pt x="180" y="26"/>
                </a:lnTo>
                <a:lnTo>
                  <a:pt x="164" y="27"/>
                </a:lnTo>
                <a:lnTo>
                  <a:pt x="147" y="27"/>
                </a:lnTo>
                <a:lnTo>
                  <a:pt x="131" y="28"/>
                </a:lnTo>
                <a:lnTo>
                  <a:pt x="114" y="29"/>
                </a:lnTo>
                <a:lnTo>
                  <a:pt x="98" y="29"/>
                </a:lnTo>
                <a:lnTo>
                  <a:pt x="82" y="30"/>
                </a:lnTo>
                <a:lnTo>
                  <a:pt x="65" y="30"/>
                </a:lnTo>
                <a:lnTo>
                  <a:pt x="49" y="30"/>
                </a:lnTo>
                <a:lnTo>
                  <a:pt x="33" y="31"/>
                </a:lnTo>
                <a:lnTo>
                  <a:pt x="16" y="31"/>
                </a:lnTo>
                <a:lnTo>
                  <a:pt x="0" y="3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200650"/>
            <a:ext cx="3743325" cy="923925"/>
          </a:xfrm>
          <a:custGeom>
            <a:avLst/>
            <a:gdLst/>
            <a:ahLst/>
            <a:cxnLst/>
            <a:rect l="l" t="t" r="r" b="b"/>
            <a:pathLst>
              <a:path w="393" h="97">
                <a:moveTo>
                  <a:pt x="0" y="0"/>
                </a:moveTo>
                <a:lnTo>
                  <a:pt x="16" y="0"/>
                </a:lnTo>
                <a:lnTo>
                  <a:pt x="33" y="2"/>
                </a:lnTo>
                <a:lnTo>
                  <a:pt x="49" y="4"/>
                </a:lnTo>
                <a:lnTo>
                  <a:pt x="65" y="7"/>
                </a:lnTo>
                <a:lnTo>
                  <a:pt x="82" y="10"/>
                </a:lnTo>
                <a:lnTo>
                  <a:pt x="98" y="14"/>
                </a:lnTo>
                <a:lnTo>
                  <a:pt x="114" y="18"/>
                </a:lnTo>
                <a:lnTo>
                  <a:pt x="131" y="23"/>
                </a:lnTo>
                <a:lnTo>
                  <a:pt x="147" y="29"/>
                </a:lnTo>
                <a:lnTo>
                  <a:pt x="164" y="34"/>
                </a:lnTo>
                <a:lnTo>
                  <a:pt x="180" y="39"/>
                </a:lnTo>
                <a:lnTo>
                  <a:pt x="196" y="45"/>
                </a:lnTo>
                <a:lnTo>
                  <a:pt x="213" y="51"/>
                </a:lnTo>
                <a:lnTo>
                  <a:pt x="229" y="56"/>
                </a:lnTo>
                <a:lnTo>
                  <a:pt x="246" y="62"/>
                </a:lnTo>
                <a:lnTo>
                  <a:pt x="262" y="67"/>
                </a:lnTo>
                <a:lnTo>
                  <a:pt x="278" y="72"/>
                </a:lnTo>
                <a:lnTo>
                  <a:pt x="295" y="76"/>
                </a:lnTo>
                <a:lnTo>
                  <a:pt x="311" y="80"/>
                </a:lnTo>
                <a:lnTo>
                  <a:pt x="327" y="84"/>
                </a:lnTo>
                <a:lnTo>
                  <a:pt x="344" y="86"/>
                </a:lnTo>
                <a:lnTo>
                  <a:pt x="360" y="88"/>
                </a:lnTo>
                <a:lnTo>
                  <a:pt x="377" y="90"/>
                </a:lnTo>
                <a:lnTo>
                  <a:pt x="393" y="90"/>
                </a:lnTo>
                <a:lnTo>
                  <a:pt x="393" y="97"/>
                </a:lnTo>
                <a:lnTo>
                  <a:pt x="377" y="97"/>
                </a:lnTo>
                <a:lnTo>
                  <a:pt x="360" y="95"/>
                </a:lnTo>
                <a:lnTo>
                  <a:pt x="344" y="93"/>
                </a:lnTo>
                <a:lnTo>
                  <a:pt x="327" y="91"/>
                </a:lnTo>
                <a:lnTo>
                  <a:pt x="311" y="87"/>
                </a:lnTo>
                <a:lnTo>
                  <a:pt x="295" y="83"/>
                </a:lnTo>
                <a:lnTo>
                  <a:pt x="278" y="79"/>
                </a:lnTo>
                <a:lnTo>
                  <a:pt x="262" y="74"/>
                </a:lnTo>
                <a:lnTo>
                  <a:pt x="246" y="69"/>
                </a:lnTo>
                <a:lnTo>
                  <a:pt x="229" y="63"/>
                </a:lnTo>
                <a:lnTo>
                  <a:pt x="213" y="58"/>
                </a:lnTo>
                <a:lnTo>
                  <a:pt x="196" y="52"/>
                </a:lnTo>
                <a:lnTo>
                  <a:pt x="180" y="46"/>
                </a:lnTo>
                <a:lnTo>
                  <a:pt x="164" y="41"/>
                </a:lnTo>
                <a:lnTo>
                  <a:pt x="147" y="35"/>
                </a:lnTo>
                <a:lnTo>
                  <a:pt x="131" y="30"/>
                </a:lnTo>
                <a:lnTo>
                  <a:pt x="114" y="25"/>
                </a:lnTo>
                <a:lnTo>
                  <a:pt x="98" y="21"/>
                </a:lnTo>
                <a:lnTo>
                  <a:pt x="82" y="17"/>
                </a:lnTo>
                <a:lnTo>
                  <a:pt x="65" y="14"/>
                </a:lnTo>
                <a:lnTo>
                  <a:pt x="49" y="11"/>
                </a:lnTo>
                <a:lnTo>
                  <a:pt x="33" y="9"/>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095875"/>
            <a:ext cx="3743325" cy="419100"/>
          </a:xfrm>
          <a:custGeom>
            <a:avLst/>
            <a:gdLst/>
            <a:ahLst/>
            <a:cxnLst/>
            <a:rect l="l" t="t" r="r" b="b"/>
            <a:pathLst>
              <a:path w="393" h="44">
                <a:moveTo>
                  <a:pt x="0" y="24"/>
                </a:moveTo>
                <a:lnTo>
                  <a:pt x="16" y="24"/>
                </a:lnTo>
                <a:lnTo>
                  <a:pt x="33" y="23"/>
                </a:lnTo>
                <a:lnTo>
                  <a:pt x="49" y="23"/>
                </a:lnTo>
                <a:lnTo>
                  <a:pt x="65" y="22"/>
                </a:lnTo>
                <a:lnTo>
                  <a:pt x="82" y="21"/>
                </a:lnTo>
                <a:lnTo>
                  <a:pt x="98" y="20"/>
                </a:lnTo>
                <a:lnTo>
                  <a:pt x="114" y="19"/>
                </a:lnTo>
                <a:lnTo>
                  <a:pt x="131" y="18"/>
                </a:lnTo>
                <a:lnTo>
                  <a:pt x="147" y="16"/>
                </a:lnTo>
                <a:lnTo>
                  <a:pt x="164" y="15"/>
                </a:lnTo>
                <a:lnTo>
                  <a:pt x="180" y="13"/>
                </a:lnTo>
                <a:lnTo>
                  <a:pt x="196" y="12"/>
                </a:lnTo>
                <a:lnTo>
                  <a:pt x="213" y="10"/>
                </a:lnTo>
                <a:lnTo>
                  <a:pt x="229" y="9"/>
                </a:lnTo>
                <a:lnTo>
                  <a:pt x="246" y="8"/>
                </a:lnTo>
                <a:lnTo>
                  <a:pt x="262" y="6"/>
                </a:lnTo>
                <a:lnTo>
                  <a:pt x="278" y="5"/>
                </a:lnTo>
                <a:lnTo>
                  <a:pt x="295" y="4"/>
                </a:lnTo>
                <a:lnTo>
                  <a:pt x="311" y="3"/>
                </a:lnTo>
                <a:lnTo>
                  <a:pt x="327" y="2"/>
                </a:lnTo>
                <a:lnTo>
                  <a:pt x="344" y="1"/>
                </a:lnTo>
                <a:lnTo>
                  <a:pt x="360" y="0"/>
                </a:lnTo>
                <a:lnTo>
                  <a:pt x="377" y="0"/>
                </a:lnTo>
                <a:lnTo>
                  <a:pt x="393" y="0"/>
                </a:lnTo>
                <a:lnTo>
                  <a:pt x="393" y="20"/>
                </a:lnTo>
                <a:lnTo>
                  <a:pt x="377" y="20"/>
                </a:lnTo>
                <a:lnTo>
                  <a:pt x="360" y="21"/>
                </a:lnTo>
                <a:lnTo>
                  <a:pt x="344" y="21"/>
                </a:lnTo>
                <a:lnTo>
                  <a:pt x="327" y="22"/>
                </a:lnTo>
                <a:lnTo>
                  <a:pt x="311" y="23"/>
                </a:lnTo>
                <a:lnTo>
                  <a:pt x="295" y="24"/>
                </a:lnTo>
                <a:lnTo>
                  <a:pt x="278" y="25"/>
                </a:lnTo>
                <a:lnTo>
                  <a:pt x="262" y="27"/>
                </a:lnTo>
                <a:lnTo>
                  <a:pt x="246" y="28"/>
                </a:lnTo>
                <a:lnTo>
                  <a:pt x="229" y="29"/>
                </a:lnTo>
                <a:lnTo>
                  <a:pt x="213" y="31"/>
                </a:lnTo>
                <a:lnTo>
                  <a:pt x="196" y="32"/>
                </a:lnTo>
                <a:lnTo>
                  <a:pt x="180" y="34"/>
                </a:lnTo>
                <a:lnTo>
                  <a:pt x="164" y="35"/>
                </a:lnTo>
                <a:lnTo>
                  <a:pt x="147" y="37"/>
                </a:lnTo>
                <a:lnTo>
                  <a:pt x="131" y="38"/>
                </a:lnTo>
                <a:lnTo>
                  <a:pt x="114" y="39"/>
                </a:lnTo>
                <a:lnTo>
                  <a:pt x="98" y="40"/>
                </a:lnTo>
                <a:lnTo>
                  <a:pt x="82" y="42"/>
                </a:lnTo>
                <a:lnTo>
                  <a:pt x="65" y="42"/>
                </a:lnTo>
                <a:lnTo>
                  <a:pt x="49" y="43"/>
                </a:lnTo>
                <a:lnTo>
                  <a:pt x="33" y="44"/>
                </a:lnTo>
                <a:lnTo>
                  <a:pt x="16" y="44"/>
                </a:lnTo>
                <a:lnTo>
                  <a:pt x="0" y="4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514975"/>
            <a:ext cx="3743325" cy="676275"/>
          </a:xfrm>
          <a:custGeom>
            <a:avLst/>
            <a:gdLst/>
            <a:ahLst/>
            <a:cxnLst/>
            <a:rect l="l" t="t" r="r" b="b"/>
            <a:pathLst>
              <a:path w="393" h="71">
                <a:moveTo>
                  <a:pt x="0" y="0"/>
                </a:moveTo>
                <a:lnTo>
                  <a:pt x="16" y="1"/>
                </a:lnTo>
                <a:lnTo>
                  <a:pt x="33" y="1"/>
                </a:lnTo>
                <a:lnTo>
                  <a:pt x="49" y="3"/>
                </a:lnTo>
                <a:lnTo>
                  <a:pt x="65" y="5"/>
                </a:lnTo>
                <a:lnTo>
                  <a:pt x="82" y="7"/>
                </a:lnTo>
                <a:lnTo>
                  <a:pt x="98" y="10"/>
                </a:lnTo>
                <a:lnTo>
                  <a:pt x="114" y="13"/>
                </a:lnTo>
                <a:lnTo>
                  <a:pt x="131" y="17"/>
                </a:lnTo>
                <a:lnTo>
                  <a:pt x="147" y="20"/>
                </a:lnTo>
                <a:lnTo>
                  <a:pt x="164" y="24"/>
                </a:lnTo>
                <a:lnTo>
                  <a:pt x="180" y="28"/>
                </a:lnTo>
                <a:lnTo>
                  <a:pt x="196" y="32"/>
                </a:lnTo>
                <a:lnTo>
                  <a:pt x="213" y="36"/>
                </a:lnTo>
                <a:lnTo>
                  <a:pt x="229" y="40"/>
                </a:lnTo>
                <a:lnTo>
                  <a:pt x="246" y="44"/>
                </a:lnTo>
                <a:lnTo>
                  <a:pt x="262" y="48"/>
                </a:lnTo>
                <a:lnTo>
                  <a:pt x="278" y="51"/>
                </a:lnTo>
                <a:lnTo>
                  <a:pt x="295" y="54"/>
                </a:lnTo>
                <a:lnTo>
                  <a:pt x="311" y="57"/>
                </a:lnTo>
                <a:lnTo>
                  <a:pt x="327" y="59"/>
                </a:lnTo>
                <a:lnTo>
                  <a:pt x="344" y="61"/>
                </a:lnTo>
                <a:lnTo>
                  <a:pt x="360" y="63"/>
                </a:lnTo>
                <a:lnTo>
                  <a:pt x="377" y="64"/>
                </a:lnTo>
                <a:lnTo>
                  <a:pt x="393" y="64"/>
                </a:lnTo>
                <a:lnTo>
                  <a:pt x="393" y="71"/>
                </a:lnTo>
                <a:lnTo>
                  <a:pt x="377" y="71"/>
                </a:lnTo>
                <a:lnTo>
                  <a:pt x="360" y="70"/>
                </a:lnTo>
                <a:lnTo>
                  <a:pt x="344" y="68"/>
                </a:lnTo>
                <a:lnTo>
                  <a:pt x="327" y="66"/>
                </a:lnTo>
                <a:lnTo>
                  <a:pt x="311" y="64"/>
                </a:lnTo>
                <a:lnTo>
                  <a:pt x="295" y="61"/>
                </a:lnTo>
                <a:lnTo>
                  <a:pt x="278" y="58"/>
                </a:lnTo>
                <a:lnTo>
                  <a:pt x="262" y="55"/>
                </a:lnTo>
                <a:lnTo>
                  <a:pt x="246" y="51"/>
                </a:lnTo>
                <a:lnTo>
                  <a:pt x="229" y="47"/>
                </a:lnTo>
                <a:lnTo>
                  <a:pt x="213" y="43"/>
                </a:lnTo>
                <a:lnTo>
                  <a:pt x="196" y="39"/>
                </a:lnTo>
                <a:lnTo>
                  <a:pt x="180" y="35"/>
                </a:lnTo>
                <a:lnTo>
                  <a:pt x="164" y="31"/>
                </a:lnTo>
                <a:lnTo>
                  <a:pt x="147" y="27"/>
                </a:lnTo>
                <a:lnTo>
                  <a:pt x="131" y="24"/>
                </a:lnTo>
                <a:lnTo>
                  <a:pt x="114" y="20"/>
                </a:lnTo>
                <a:lnTo>
                  <a:pt x="98" y="17"/>
                </a:lnTo>
                <a:lnTo>
                  <a:pt x="82" y="14"/>
                </a:lnTo>
                <a:lnTo>
                  <a:pt x="65" y="12"/>
                </a:lnTo>
                <a:lnTo>
                  <a:pt x="49" y="10"/>
                </a:lnTo>
                <a:lnTo>
                  <a:pt x="33" y="8"/>
                </a:lnTo>
                <a:lnTo>
                  <a:pt x="16" y="7"/>
                </a:lnTo>
                <a:lnTo>
                  <a:pt x="0" y="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5286375"/>
            <a:ext cx="3743325" cy="542925"/>
          </a:xfrm>
          <a:custGeom>
            <a:avLst/>
            <a:gdLst/>
            <a:ahLst/>
            <a:cxnLst/>
            <a:rect l="l" t="t" r="r" b="b"/>
            <a:pathLst>
              <a:path w="393" h="57">
                <a:moveTo>
                  <a:pt x="0" y="37"/>
                </a:moveTo>
                <a:lnTo>
                  <a:pt x="16" y="37"/>
                </a:lnTo>
                <a:lnTo>
                  <a:pt x="33" y="36"/>
                </a:lnTo>
                <a:lnTo>
                  <a:pt x="49" y="36"/>
                </a:lnTo>
                <a:lnTo>
                  <a:pt x="65" y="34"/>
                </a:lnTo>
                <a:lnTo>
                  <a:pt x="82" y="33"/>
                </a:lnTo>
                <a:lnTo>
                  <a:pt x="98" y="31"/>
                </a:lnTo>
                <a:lnTo>
                  <a:pt x="114" y="30"/>
                </a:lnTo>
                <a:lnTo>
                  <a:pt x="131" y="28"/>
                </a:lnTo>
                <a:lnTo>
                  <a:pt x="147" y="26"/>
                </a:lnTo>
                <a:lnTo>
                  <a:pt x="164" y="23"/>
                </a:lnTo>
                <a:lnTo>
                  <a:pt x="180" y="21"/>
                </a:lnTo>
                <a:lnTo>
                  <a:pt x="196" y="19"/>
                </a:lnTo>
                <a:lnTo>
                  <a:pt x="213" y="16"/>
                </a:lnTo>
                <a:lnTo>
                  <a:pt x="229" y="14"/>
                </a:lnTo>
                <a:lnTo>
                  <a:pt x="246" y="12"/>
                </a:lnTo>
                <a:lnTo>
                  <a:pt x="262" y="10"/>
                </a:lnTo>
                <a:lnTo>
                  <a:pt x="278" y="8"/>
                </a:lnTo>
                <a:lnTo>
                  <a:pt x="295" y="6"/>
                </a:lnTo>
                <a:lnTo>
                  <a:pt x="311" y="4"/>
                </a:lnTo>
                <a:lnTo>
                  <a:pt x="327" y="3"/>
                </a:lnTo>
                <a:lnTo>
                  <a:pt x="344" y="2"/>
                </a:lnTo>
                <a:lnTo>
                  <a:pt x="360" y="1"/>
                </a:lnTo>
                <a:lnTo>
                  <a:pt x="377" y="1"/>
                </a:lnTo>
                <a:lnTo>
                  <a:pt x="393" y="0"/>
                </a:lnTo>
                <a:lnTo>
                  <a:pt x="393" y="21"/>
                </a:lnTo>
                <a:lnTo>
                  <a:pt x="377" y="21"/>
                </a:lnTo>
                <a:lnTo>
                  <a:pt x="360" y="21"/>
                </a:lnTo>
                <a:lnTo>
                  <a:pt x="344" y="22"/>
                </a:lnTo>
                <a:lnTo>
                  <a:pt x="327" y="23"/>
                </a:lnTo>
                <a:lnTo>
                  <a:pt x="311" y="25"/>
                </a:lnTo>
                <a:lnTo>
                  <a:pt x="295" y="26"/>
                </a:lnTo>
                <a:lnTo>
                  <a:pt x="278" y="28"/>
                </a:lnTo>
                <a:lnTo>
                  <a:pt x="262" y="30"/>
                </a:lnTo>
                <a:lnTo>
                  <a:pt x="246" y="32"/>
                </a:lnTo>
                <a:lnTo>
                  <a:pt x="229" y="35"/>
                </a:lnTo>
                <a:lnTo>
                  <a:pt x="213" y="37"/>
                </a:lnTo>
                <a:lnTo>
                  <a:pt x="196" y="39"/>
                </a:lnTo>
                <a:lnTo>
                  <a:pt x="180" y="41"/>
                </a:lnTo>
                <a:lnTo>
                  <a:pt x="164" y="44"/>
                </a:lnTo>
                <a:lnTo>
                  <a:pt x="147" y="46"/>
                </a:lnTo>
                <a:lnTo>
                  <a:pt x="131" y="48"/>
                </a:lnTo>
                <a:lnTo>
                  <a:pt x="114" y="50"/>
                </a:lnTo>
                <a:lnTo>
                  <a:pt x="98" y="52"/>
                </a:lnTo>
                <a:lnTo>
                  <a:pt x="82" y="53"/>
                </a:lnTo>
                <a:lnTo>
                  <a:pt x="65" y="55"/>
                </a:lnTo>
                <a:lnTo>
                  <a:pt x="49" y="56"/>
                </a:lnTo>
                <a:lnTo>
                  <a:pt x="33" y="57"/>
                </a:lnTo>
                <a:lnTo>
                  <a:pt x="16" y="57"/>
                </a:lnTo>
                <a:lnTo>
                  <a:pt x="0" y="5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829300"/>
            <a:ext cx="3743325" cy="428625"/>
          </a:xfrm>
          <a:custGeom>
            <a:avLst/>
            <a:gdLst/>
            <a:ahLst/>
            <a:cxnLst/>
            <a:rect l="l" t="t" r="r" b="b"/>
            <a:pathLst>
              <a:path w="393" h="45">
                <a:moveTo>
                  <a:pt x="0" y="0"/>
                </a:moveTo>
                <a:lnTo>
                  <a:pt x="16" y="1"/>
                </a:lnTo>
                <a:lnTo>
                  <a:pt x="33" y="1"/>
                </a:lnTo>
                <a:lnTo>
                  <a:pt x="49" y="2"/>
                </a:lnTo>
                <a:lnTo>
                  <a:pt x="65" y="3"/>
                </a:lnTo>
                <a:lnTo>
                  <a:pt x="82" y="5"/>
                </a:lnTo>
                <a:lnTo>
                  <a:pt x="98" y="6"/>
                </a:lnTo>
                <a:lnTo>
                  <a:pt x="114" y="8"/>
                </a:lnTo>
                <a:lnTo>
                  <a:pt x="131" y="10"/>
                </a:lnTo>
                <a:lnTo>
                  <a:pt x="147" y="12"/>
                </a:lnTo>
                <a:lnTo>
                  <a:pt x="164" y="15"/>
                </a:lnTo>
                <a:lnTo>
                  <a:pt x="180" y="17"/>
                </a:lnTo>
                <a:lnTo>
                  <a:pt x="196" y="19"/>
                </a:lnTo>
                <a:lnTo>
                  <a:pt x="213" y="22"/>
                </a:lnTo>
                <a:lnTo>
                  <a:pt x="229" y="24"/>
                </a:lnTo>
                <a:lnTo>
                  <a:pt x="246" y="26"/>
                </a:lnTo>
                <a:lnTo>
                  <a:pt x="262" y="28"/>
                </a:lnTo>
                <a:lnTo>
                  <a:pt x="278" y="30"/>
                </a:lnTo>
                <a:lnTo>
                  <a:pt x="295" y="32"/>
                </a:lnTo>
                <a:lnTo>
                  <a:pt x="311" y="34"/>
                </a:lnTo>
                <a:lnTo>
                  <a:pt x="327" y="35"/>
                </a:lnTo>
                <a:lnTo>
                  <a:pt x="344" y="37"/>
                </a:lnTo>
                <a:lnTo>
                  <a:pt x="360" y="37"/>
                </a:lnTo>
                <a:lnTo>
                  <a:pt x="377" y="38"/>
                </a:lnTo>
                <a:lnTo>
                  <a:pt x="393" y="38"/>
                </a:lnTo>
                <a:lnTo>
                  <a:pt x="393" y="45"/>
                </a:lnTo>
                <a:lnTo>
                  <a:pt x="377" y="45"/>
                </a:lnTo>
                <a:lnTo>
                  <a:pt x="360" y="44"/>
                </a:lnTo>
                <a:lnTo>
                  <a:pt x="344" y="43"/>
                </a:lnTo>
                <a:lnTo>
                  <a:pt x="327" y="42"/>
                </a:lnTo>
                <a:lnTo>
                  <a:pt x="311" y="41"/>
                </a:lnTo>
                <a:lnTo>
                  <a:pt x="295" y="39"/>
                </a:lnTo>
                <a:lnTo>
                  <a:pt x="278" y="37"/>
                </a:lnTo>
                <a:lnTo>
                  <a:pt x="262" y="35"/>
                </a:lnTo>
                <a:lnTo>
                  <a:pt x="246" y="33"/>
                </a:lnTo>
                <a:lnTo>
                  <a:pt x="229" y="31"/>
                </a:lnTo>
                <a:lnTo>
                  <a:pt x="213" y="29"/>
                </a:lnTo>
                <a:lnTo>
                  <a:pt x="196" y="26"/>
                </a:lnTo>
                <a:lnTo>
                  <a:pt x="180" y="24"/>
                </a:lnTo>
                <a:lnTo>
                  <a:pt x="164" y="22"/>
                </a:lnTo>
                <a:lnTo>
                  <a:pt x="147" y="19"/>
                </a:lnTo>
                <a:lnTo>
                  <a:pt x="131" y="17"/>
                </a:lnTo>
                <a:lnTo>
                  <a:pt x="114" y="15"/>
                </a:lnTo>
                <a:lnTo>
                  <a:pt x="98" y="13"/>
                </a:lnTo>
                <a:lnTo>
                  <a:pt x="82" y="12"/>
                </a:lnTo>
                <a:lnTo>
                  <a:pt x="65" y="10"/>
                </a:lnTo>
                <a:lnTo>
                  <a:pt x="49" y="9"/>
                </a:lnTo>
                <a:lnTo>
                  <a:pt x="33" y="8"/>
                </a:lnTo>
                <a:lnTo>
                  <a:pt x="16" y="8"/>
                </a:lnTo>
                <a:lnTo>
                  <a:pt x="0" y="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486400"/>
            <a:ext cx="3743325" cy="666750"/>
          </a:xfrm>
          <a:custGeom>
            <a:avLst/>
            <a:gdLst/>
            <a:ahLst/>
            <a:cxnLst/>
            <a:rect l="l" t="t" r="r" b="b"/>
            <a:pathLst>
              <a:path w="393" h="70">
                <a:moveTo>
                  <a:pt x="0" y="49"/>
                </a:moveTo>
                <a:lnTo>
                  <a:pt x="16" y="49"/>
                </a:lnTo>
                <a:lnTo>
                  <a:pt x="33" y="48"/>
                </a:lnTo>
                <a:lnTo>
                  <a:pt x="49" y="47"/>
                </a:lnTo>
                <a:lnTo>
                  <a:pt x="65" y="46"/>
                </a:lnTo>
                <a:lnTo>
                  <a:pt x="82" y="44"/>
                </a:lnTo>
                <a:lnTo>
                  <a:pt x="98" y="42"/>
                </a:lnTo>
                <a:lnTo>
                  <a:pt x="114" y="39"/>
                </a:lnTo>
                <a:lnTo>
                  <a:pt x="131" y="37"/>
                </a:lnTo>
                <a:lnTo>
                  <a:pt x="147" y="34"/>
                </a:lnTo>
                <a:lnTo>
                  <a:pt x="164" y="31"/>
                </a:lnTo>
                <a:lnTo>
                  <a:pt x="180" y="28"/>
                </a:lnTo>
                <a:lnTo>
                  <a:pt x="196" y="25"/>
                </a:lnTo>
                <a:lnTo>
                  <a:pt x="213" y="21"/>
                </a:lnTo>
                <a:lnTo>
                  <a:pt x="229" y="18"/>
                </a:lnTo>
                <a:lnTo>
                  <a:pt x="246" y="15"/>
                </a:lnTo>
                <a:lnTo>
                  <a:pt x="262" y="13"/>
                </a:lnTo>
                <a:lnTo>
                  <a:pt x="278" y="10"/>
                </a:lnTo>
                <a:lnTo>
                  <a:pt x="295" y="7"/>
                </a:lnTo>
                <a:lnTo>
                  <a:pt x="311" y="5"/>
                </a:lnTo>
                <a:lnTo>
                  <a:pt x="327" y="3"/>
                </a:lnTo>
                <a:lnTo>
                  <a:pt x="344" y="2"/>
                </a:lnTo>
                <a:lnTo>
                  <a:pt x="360" y="1"/>
                </a:lnTo>
                <a:lnTo>
                  <a:pt x="377" y="0"/>
                </a:lnTo>
                <a:lnTo>
                  <a:pt x="393" y="0"/>
                </a:lnTo>
                <a:lnTo>
                  <a:pt x="393" y="20"/>
                </a:lnTo>
                <a:lnTo>
                  <a:pt x="377" y="20"/>
                </a:lnTo>
                <a:lnTo>
                  <a:pt x="360" y="21"/>
                </a:lnTo>
                <a:lnTo>
                  <a:pt x="344" y="22"/>
                </a:lnTo>
                <a:lnTo>
                  <a:pt x="327" y="24"/>
                </a:lnTo>
                <a:lnTo>
                  <a:pt x="311" y="26"/>
                </a:lnTo>
                <a:lnTo>
                  <a:pt x="295" y="28"/>
                </a:lnTo>
                <a:lnTo>
                  <a:pt x="278" y="30"/>
                </a:lnTo>
                <a:lnTo>
                  <a:pt x="262" y="33"/>
                </a:lnTo>
                <a:lnTo>
                  <a:pt x="246" y="36"/>
                </a:lnTo>
                <a:lnTo>
                  <a:pt x="229" y="39"/>
                </a:lnTo>
                <a:lnTo>
                  <a:pt x="213" y="42"/>
                </a:lnTo>
                <a:lnTo>
                  <a:pt x="196" y="45"/>
                </a:lnTo>
                <a:lnTo>
                  <a:pt x="180" y="48"/>
                </a:lnTo>
                <a:lnTo>
                  <a:pt x="164" y="51"/>
                </a:lnTo>
                <a:lnTo>
                  <a:pt x="147" y="54"/>
                </a:lnTo>
                <a:lnTo>
                  <a:pt x="131" y="57"/>
                </a:lnTo>
                <a:lnTo>
                  <a:pt x="114" y="60"/>
                </a:lnTo>
                <a:lnTo>
                  <a:pt x="98" y="62"/>
                </a:lnTo>
                <a:lnTo>
                  <a:pt x="82" y="64"/>
                </a:lnTo>
                <a:lnTo>
                  <a:pt x="65" y="66"/>
                </a:lnTo>
                <a:lnTo>
                  <a:pt x="49" y="68"/>
                </a:lnTo>
                <a:lnTo>
                  <a:pt x="33" y="69"/>
                </a:lnTo>
                <a:lnTo>
                  <a:pt x="16" y="70"/>
                </a:lnTo>
                <a:lnTo>
                  <a:pt x="0" y="7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6153150"/>
            <a:ext cx="3743325" cy="171450"/>
          </a:xfrm>
          <a:custGeom>
            <a:avLst/>
            <a:gdLst/>
            <a:ahLst/>
            <a:cxnLst/>
            <a:rect l="l" t="t" r="r" b="b"/>
            <a:pathLst>
              <a:path w="393" h="18">
                <a:moveTo>
                  <a:pt x="0" y="0"/>
                </a:moveTo>
                <a:lnTo>
                  <a:pt x="16" y="0"/>
                </a:lnTo>
                <a:lnTo>
                  <a:pt x="33" y="0"/>
                </a:lnTo>
                <a:lnTo>
                  <a:pt x="49" y="0"/>
                </a:lnTo>
                <a:lnTo>
                  <a:pt x="65" y="1"/>
                </a:lnTo>
                <a:lnTo>
                  <a:pt x="82" y="1"/>
                </a:lnTo>
                <a:lnTo>
                  <a:pt x="98" y="2"/>
                </a:lnTo>
                <a:lnTo>
                  <a:pt x="114" y="2"/>
                </a:lnTo>
                <a:lnTo>
                  <a:pt x="131" y="3"/>
                </a:lnTo>
                <a:lnTo>
                  <a:pt x="147" y="3"/>
                </a:lnTo>
                <a:lnTo>
                  <a:pt x="164" y="4"/>
                </a:lnTo>
                <a:lnTo>
                  <a:pt x="180" y="5"/>
                </a:lnTo>
                <a:lnTo>
                  <a:pt x="196" y="5"/>
                </a:lnTo>
                <a:lnTo>
                  <a:pt x="213" y="6"/>
                </a:lnTo>
                <a:lnTo>
                  <a:pt x="229" y="7"/>
                </a:lnTo>
                <a:lnTo>
                  <a:pt x="246" y="8"/>
                </a:lnTo>
                <a:lnTo>
                  <a:pt x="262" y="8"/>
                </a:lnTo>
                <a:lnTo>
                  <a:pt x="278" y="9"/>
                </a:lnTo>
                <a:lnTo>
                  <a:pt x="295" y="9"/>
                </a:lnTo>
                <a:lnTo>
                  <a:pt x="311" y="10"/>
                </a:lnTo>
                <a:lnTo>
                  <a:pt x="327" y="10"/>
                </a:lnTo>
                <a:lnTo>
                  <a:pt x="344" y="11"/>
                </a:lnTo>
                <a:lnTo>
                  <a:pt x="360" y="11"/>
                </a:lnTo>
                <a:lnTo>
                  <a:pt x="377" y="11"/>
                </a:lnTo>
                <a:lnTo>
                  <a:pt x="393" y="11"/>
                </a:lnTo>
                <a:lnTo>
                  <a:pt x="393" y="18"/>
                </a:lnTo>
                <a:lnTo>
                  <a:pt x="377" y="18"/>
                </a:lnTo>
                <a:lnTo>
                  <a:pt x="360" y="18"/>
                </a:lnTo>
                <a:lnTo>
                  <a:pt x="344" y="18"/>
                </a:lnTo>
                <a:lnTo>
                  <a:pt x="327" y="17"/>
                </a:lnTo>
                <a:lnTo>
                  <a:pt x="311" y="17"/>
                </a:lnTo>
                <a:lnTo>
                  <a:pt x="295" y="16"/>
                </a:lnTo>
                <a:lnTo>
                  <a:pt x="278" y="16"/>
                </a:lnTo>
                <a:lnTo>
                  <a:pt x="262" y="15"/>
                </a:lnTo>
                <a:lnTo>
                  <a:pt x="246" y="14"/>
                </a:lnTo>
                <a:lnTo>
                  <a:pt x="229" y="14"/>
                </a:lnTo>
                <a:lnTo>
                  <a:pt x="213" y="13"/>
                </a:lnTo>
                <a:lnTo>
                  <a:pt x="196" y="12"/>
                </a:lnTo>
                <a:lnTo>
                  <a:pt x="180" y="12"/>
                </a:lnTo>
                <a:lnTo>
                  <a:pt x="164" y="11"/>
                </a:lnTo>
                <a:lnTo>
                  <a:pt x="147" y="10"/>
                </a:lnTo>
                <a:lnTo>
                  <a:pt x="131" y="10"/>
                </a:lnTo>
                <a:lnTo>
                  <a:pt x="114" y="9"/>
                </a:lnTo>
                <a:lnTo>
                  <a:pt x="98" y="8"/>
                </a:lnTo>
                <a:lnTo>
                  <a:pt x="82" y="8"/>
                </a:lnTo>
                <a:lnTo>
                  <a:pt x="65" y="8"/>
                </a:lnTo>
                <a:lnTo>
                  <a:pt x="49" y="7"/>
                </a:lnTo>
                <a:lnTo>
                  <a:pt x="33" y="7"/>
                </a:lnTo>
                <a:lnTo>
                  <a:pt x="16" y="7"/>
                </a:lnTo>
                <a:lnTo>
                  <a:pt x="0" y="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5676900"/>
            <a:ext cx="3743325" cy="790575"/>
          </a:xfrm>
          <a:custGeom>
            <a:avLst/>
            <a:gdLst/>
            <a:ahLst/>
            <a:cxnLst/>
            <a:rect l="l" t="t" r="r" b="b"/>
            <a:pathLst>
              <a:path w="393" h="83">
                <a:moveTo>
                  <a:pt x="0" y="63"/>
                </a:moveTo>
                <a:lnTo>
                  <a:pt x="16" y="62"/>
                </a:lnTo>
                <a:lnTo>
                  <a:pt x="33" y="61"/>
                </a:lnTo>
                <a:lnTo>
                  <a:pt x="49" y="60"/>
                </a:lnTo>
                <a:lnTo>
                  <a:pt x="65" y="58"/>
                </a:lnTo>
                <a:lnTo>
                  <a:pt x="82" y="56"/>
                </a:lnTo>
                <a:lnTo>
                  <a:pt x="98" y="53"/>
                </a:lnTo>
                <a:lnTo>
                  <a:pt x="114" y="50"/>
                </a:lnTo>
                <a:lnTo>
                  <a:pt x="131" y="46"/>
                </a:lnTo>
                <a:lnTo>
                  <a:pt x="147" y="43"/>
                </a:lnTo>
                <a:lnTo>
                  <a:pt x="164" y="39"/>
                </a:lnTo>
                <a:lnTo>
                  <a:pt x="180" y="35"/>
                </a:lnTo>
                <a:lnTo>
                  <a:pt x="196" y="31"/>
                </a:lnTo>
                <a:lnTo>
                  <a:pt x="213" y="27"/>
                </a:lnTo>
                <a:lnTo>
                  <a:pt x="229" y="24"/>
                </a:lnTo>
                <a:lnTo>
                  <a:pt x="246" y="20"/>
                </a:lnTo>
                <a:lnTo>
                  <a:pt x="262" y="16"/>
                </a:lnTo>
                <a:lnTo>
                  <a:pt x="278" y="13"/>
                </a:lnTo>
                <a:lnTo>
                  <a:pt x="295" y="10"/>
                </a:lnTo>
                <a:lnTo>
                  <a:pt x="311" y="7"/>
                </a:lnTo>
                <a:lnTo>
                  <a:pt x="327" y="5"/>
                </a:lnTo>
                <a:lnTo>
                  <a:pt x="344" y="3"/>
                </a:lnTo>
                <a:lnTo>
                  <a:pt x="360" y="1"/>
                </a:lnTo>
                <a:lnTo>
                  <a:pt x="377" y="0"/>
                </a:lnTo>
                <a:lnTo>
                  <a:pt x="393" y="0"/>
                </a:lnTo>
                <a:lnTo>
                  <a:pt x="393" y="20"/>
                </a:lnTo>
                <a:lnTo>
                  <a:pt x="377" y="21"/>
                </a:lnTo>
                <a:lnTo>
                  <a:pt x="360" y="22"/>
                </a:lnTo>
                <a:lnTo>
                  <a:pt x="344" y="23"/>
                </a:lnTo>
                <a:lnTo>
                  <a:pt x="327" y="25"/>
                </a:lnTo>
                <a:lnTo>
                  <a:pt x="311" y="27"/>
                </a:lnTo>
                <a:lnTo>
                  <a:pt x="295" y="30"/>
                </a:lnTo>
                <a:lnTo>
                  <a:pt x="278" y="33"/>
                </a:lnTo>
                <a:lnTo>
                  <a:pt x="262" y="37"/>
                </a:lnTo>
                <a:lnTo>
                  <a:pt x="246" y="40"/>
                </a:lnTo>
                <a:lnTo>
                  <a:pt x="229" y="44"/>
                </a:lnTo>
                <a:lnTo>
                  <a:pt x="213" y="48"/>
                </a:lnTo>
                <a:lnTo>
                  <a:pt x="196" y="52"/>
                </a:lnTo>
                <a:lnTo>
                  <a:pt x="180" y="56"/>
                </a:lnTo>
                <a:lnTo>
                  <a:pt x="164" y="59"/>
                </a:lnTo>
                <a:lnTo>
                  <a:pt x="147" y="63"/>
                </a:lnTo>
                <a:lnTo>
                  <a:pt x="131" y="67"/>
                </a:lnTo>
                <a:lnTo>
                  <a:pt x="114" y="70"/>
                </a:lnTo>
                <a:lnTo>
                  <a:pt x="98" y="73"/>
                </a:lnTo>
                <a:lnTo>
                  <a:pt x="82" y="76"/>
                </a:lnTo>
                <a:lnTo>
                  <a:pt x="65" y="78"/>
                </a:lnTo>
                <a:lnTo>
                  <a:pt x="49" y="80"/>
                </a:lnTo>
                <a:lnTo>
                  <a:pt x="33" y="82"/>
                </a:lnTo>
                <a:lnTo>
                  <a:pt x="16" y="83"/>
                </a:lnTo>
                <a:lnTo>
                  <a:pt x="0" y="83"/>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6324600"/>
            <a:ext cx="3743325" cy="209550"/>
          </a:xfrm>
          <a:custGeom>
            <a:avLst/>
            <a:gdLst/>
            <a:ahLst/>
            <a:cxnLst/>
            <a:rect l="l" t="t" r="r" b="b"/>
            <a:pathLst>
              <a:path w="393" h="22">
                <a:moveTo>
                  <a:pt x="0" y="15"/>
                </a:moveTo>
                <a:lnTo>
                  <a:pt x="16" y="15"/>
                </a:lnTo>
                <a:lnTo>
                  <a:pt x="33" y="15"/>
                </a:lnTo>
                <a:lnTo>
                  <a:pt x="49" y="14"/>
                </a:lnTo>
                <a:lnTo>
                  <a:pt x="65" y="14"/>
                </a:lnTo>
                <a:lnTo>
                  <a:pt x="82" y="13"/>
                </a:lnTo>
                <a:lnTo>
                  <a:pt x="98" y="13"/>
                </a:lnTo>
                <a:lnTo>
                  <a:pt x="114" y="12"/>
                </a:lnTo>
                <a:lnTo>
                  <a:pt x="131" y="11"/>
                </a:lnTo>
                <a:lnTo>
                  <a:pt x="147" y="10"/>
                </a:lnTo>
                <a:lnTo>
                  <a:pt x="164" y="9"/>
                </a:lnTo>
                <a:lnTo>
                  <a:pt x="180" y="8"/>
                </a:lnTo>
                <a:lnTo>
                  <a:pt x="196" y="8"/>
                </a:lnTo>
                <a:lnTo>
                  <a:pt x="213" y="7"/>
                </a:lnTo>
                <a:lnTo>
                  <a:pt x="229" y="6"/>
                </a:lnTo>
                <a:lnTo>
                  <a:pt x="246" y="5"/>
                </a:lnTo>
                <a:lnTo>
                  <a:pt x="262" y="4"/>
                </a:lnTo>
                <a:lnTo>
                  <a:pt x="278" y="3"/>
                </a:lnTo>
                <a:lnTo>
                  <a:pt x="295" y="2"/>
                </a:lnTo>
                <a:lnTo>
                  <a:pt x="311" y="2"/>
                </a:lnTo>
                <a:lnTo>
                  <a:pt x="327" y="1"/>
                </a:lnTo>
                <a:lnTo>
                  <a:pt x="344" y="1"/>
                </a:lnTo>
                <a:lnTo>
                  <a:pt x="360" y="0"/>
                </a:lnTo>
                <a:lnTo>
                  <a:pt x="377" y="0"/>
                </a:lnTo>
                <a:lnTo>
                  <a:pt x="393" y="0"/>
                </a:lnTo>
                <a:lnTo>
                  <a:pt x="393" y="7"/>
                </a:lnTo>
                <a:lnTo>
                  <a:pt x="377" y="7"/>
                </a:lnTo>
                <a:lnTo>
                  <a:pt x="360" y="7"/>
                </a:lnTo>
                <a:lnTo>
                  <a:pt x="344" y="8"/>
                </a:lnTo>
                <a:lnTo>
                  <a:pt x="327" y="8"/>
                </a:lnTo>
                <a:lnTo>
                  <a:pt x="311" y="9"/>
                </a:lnTo>
                <a:lnTo>
                  <a:pt x="295" y="9"/>
                </a:lnTo>
                <a:lnTo>
                  <a:pt x="278" y="10"/>
                </a:lnTo>
                <a:lnTo>
                  <a:pt x="262" y="11"/>
                </a:lnTo>
                <a:lnTo>
                  <a:pt x="246" y="12"/>
                </a:lnTo>
                <a:lnTo>
                  <a:pt x="229" y="13"/>
                </a:lnTo>
                <a:lnTo>
                  <a:pt x="213" y="14"/>
                </a:lnTo>
                <a:lnTo>
                  <a:pt x="196" y="15"/>
                </a:lnTo>
                <a:lnTo>
                  <a:pt x="180" y="15"/>
                </a:lnTo>
                <a:lnTo>
                  <a:pt x="164" y="16"/>
                </a:lnTo>
                <a:lnTo>
                  <a:pt x="147" y="17"/>
                </a:lnTo>
                <a:lnTo>
                  <a:pt x="131" y="18"/>
                </a:lnTo>
                <a:lnTo>
                  <a:pt x="114" y="19"/>
                </a:lnTo>
                <a:lnTo>
                  <a:pt x="98" y="20"/>
                </a:lnTo>
                <a:lnTo>
                  <a:pt x="82" y="20"/>
                </a:lnTo>
                <a:lnTo>
                  <a:pt x="65" y="21"/>
                </a:lnTo>
                <a:lnTo>
                  <a:pt x="49" y="21"/>
                </a:lnTo>
                <a:lnTo>
                  <a:pt x="33" y="22"/>
                </a:lnTo>
                <a:lnTo>
                  <a:pt x="16" y="22"/>
                </a:lnTo>
                <a:lnTo>
                  <a:pt x="0" y="2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4371975"/>
            <a:ext cx="114300" cy="259896"/>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41195" y="4689021"/>
            <a:ext cx="114300" cy="25989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5006068"/>
            <a:ext cx="114300" cy="25989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5323114"/>
            <a:ext cx="114300" cy="259896"/>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5640161"/>
            <a:ext cx="114300" cy="259896"/>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957207"/>
            <a:ext cx="114300" cy="25989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6274254"/>
            <a:ext cx="114300" cy="259896"/>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4514850"/>
            <a:ext cx="114300" cy="135621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5928214"/>
            <a:ext cx="114300" cy="46306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7175" y="443048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474753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5012191"/>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5329238"/>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569867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257175" y="5963331"/>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257175" y="633276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512151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6088307"/>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Rounded Rectangle 47"/>
          <p:cNvSpPr/>
          <p:nvPr/>
        </p:nvSpPr>
        <p:spPr>
          <a:xfrm>
            <a:off x="7581900" y="4048125"/>
            <a:ext cx="4457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15250" y="413385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0" name="Rectangle 49"/>
          <p:cNvSpPr/>
          <p:nvPr/>
        </p:nvSpPr>
        <p:spPr>
          <a:xfrm>
            <a:off x="7715250" y="43719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5250" y="4457700"/>
            <a:ext cx="41910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8616791" y="2451481"/>
            <a:ext cx="366712" cy="533400"/>
          </a:xfrm>
          <a:prstGeom prst="rect">
            <a:avLst/>
          </a:prstGeom>
        </p:spPr>
      </p:pic>
      <p:sp>
        <p:nvSpPr>
          <p:cNvPr id="54" name="TextBox 53"/>
          <p:cNvSpPr txBox="1"/>
          <p:nvPr/>
        </p:nvSpPr>
        <p:spPr>
          <a:xfrm>
            <a:off x="756112" y="4441573"/>
            <a:ext cx="1074181" cy="139750"/>
          </a:xfrm>
          <a:prstGeom prst="rect">
            <a:avLst/>
          </a:prstGeom>
          <a:noFill/>
        </p:spPr>
        <p:txBody>
          <a:bodyPr wrap="none" lIns="0" rIns="0" tIns="0" bIns="0">
            <a:spAutoFit/>
          </a:bodyPr>
          <a:lstStyle/>
          <a:p>
            <a:r>
              <a:rPr sz="791" b="1">
                <a:solidFill>
                  <a:srgbClr val="2E2E2E"/>
                </a:solidFill>
                <a:latin typeface="Calibri"/>
              </a:rPr>
              <a:t>Potted Flowering Plants</a:t>
            </a:r>
          </a:p>
        </p:txBody>
      </p:sp>
      <p:pic>
        <p:nvPicPr>
          <p:cNvPr id="55" name="Picture 54" descr="lock.png"/>
          <p:cNvPicPr>
            <a:picLocks noChangeAspect="1"/>
          </p:cNvPicPr>
          <p:nvPr/>
        </p:nvPicPr>
        <p:blipFill>
          <a:blip r:embed="rId4"/>
          <a:stretch>
            <a:fillRect/>
          </a:stretch>
        </p:blipFill>
        <p:spPr>
          <a:xfrm>
            <a:off x="1771555" y="4434532"/>
            <a:ext cx="92663" cy="134782"/>
          </a:xfrm>
          <a:prstGeom prst="rect">
            <a:avLst/>
          </a:prstGeom>
        </p:spPr>
      </p:pic>
      <p:sp>
        <p:nvSpPr>
          <p:cNvPr id="56" name="TextBox 55"/>
          <p:cNvSpPr txBox="1"/>
          <p:nvPr/>
        </p:nvSpPr>
        <p:spPr>
          <a:xfrm>
            <a:off x="871252" y="4758619"/>
            <a:ext cx="959041" cy="139750"/>
          </a:xfrm>
          <a:prstGeom prst="rect">
            <a:avLst/>
          </a:prstGeom>
          <a:noFill/>
        </p:spPr>
        <p:txBody>
          <a:bodyPr wrap="none" lIns="0" rIns="0" tIns="0" bIns="0">
            <a:spAutoFit/>
          </a:bodyPr>
          <a:lstStyle/>
          <a:p>
            <a:r>
              <a:rPr sz="791" b="1">
                <a:solidFill>
                  <a:srgbClr val="2E2E2E"/>
                </a:solidFill>
                <a:latin typeface="Calibri"/>
              </a:rPr>
              <a:t>Potted Foliage Plants</a:t>
            </a:r>
          </a:p>
        </p:txBody>
      </p:sp>
      <p:pic>
        <p:nvPicPr>
          <p:cNvPr id="57" name="Picture 56" descr="lock.png"/>
          <p:cNvPicPr>
            <a:picLocks noChangeAspect="1"/>
          </p:cNvPicPr>
          <p:nvPr/>
        </p:nvPicPr>
        <p:blipFill>
          <a:blip r:embed="rId4"/>
          <a:stretch>
            <a:fillRect/>
          </a:stretch>
        </p:blipFill>
        <p:spPr>
          <a:xfrm>
            <a:off x="1771555" y="4751578"/>
            <a:ext cx="92663" cy="134782"/>
          </a:xfrm>
          <a:prstGeom prst="rect">
            <a:avLst/>
          </a:prstGeom>
        </p:spPr>
      </p:pic>
      <p:sp>
        <p:nvSpPr>
          <p:cNvPr id="58" name="TextBox 57"/>
          <p:cNvSpPr txBox="1"/>
          <p:nvPr/>
        </p:nvSpPr>
        <p:spPr>
          <a:xfrm>
            <a:off x="382952" y="5015315"/>
            <a:ext cx="1482042" cy="139750"/>
          </a:xfrm>
          <a:prstGeom prst="rect">
            <a:avLst/>
          </a:prstGeom>
          <a:noFill/>
        </p:spPr>
        <p:txBody>
          <a:bodyPr wrap="none" lIns="0" rIns="0" tIns="0" bIns="0">
            <a:spAutoFit/>
          </a:bodyPr>
          <a:lstStyle/>
          <a:p>
            <a:r>
              <a:rPr sz="791" b="1">
                <a:solidFill>
                  <a:srgbClr val="2E2E2E"/>
                </a:solidFill>
                <a:latin typeface="Calibri"/>
              </a:rPr>
              <a:t>Bedding &amp; Garden Flowering Plants</a:t>
            </a:r>
          </a:p>
        </p:txBody>
      </p:sp>
      <p:pic>
        <p:nvPicPr>
          <p:cNvPr id="59" name="Picture 58" descr="lock.png"/>
          <p:cNvPicPr>
            <a:picLocks noChangeAspect="1"/>
          </p:cNvPicPr>
          <p:nvPr/>
        </p:nvPicPr>
        <p:blipFill>
          <a:blip r:embed="rId4"/>
          <a:stretch>
            <a:fillRect/>
          </a:stretch>
        </p:blipFill>
        <p:spPr>
          <a:xfrm>
            <a:off x="1771555" y="5128975"/>
            <a:ext cx="92663" cy="134782"/>
          </a:xfrm>
          <a:prstGeom prst="rect">
            <a:avLst/>
          </a:prstGeom>
        </p:spPr>
      </p:pic>
      <p:sp>
        <p:nvSpPr>
          <p:cNvPr id="60" name="TextBox 59"/>
          <p:cNvSpPr txBox="1"/>
          <p:nvPr/>
        </p:nvSpPr>
        <p:spPr>
          <a:xfrm>
            <a:off x="313015" y="5332362"/>
            <a:ext cx="1551979" cy="139750"/>
          </a:xfrm>
          <a:prstGeom prst="rect">
            <a:avLst/>
          </a:prstGeom>
          <a:noFill/>
        </p:spPr>
        <p:txBody>
          <a:bodyPr wrap="none" lIns="0" rIns="0" tIns="0" bIns="0">
            <a:spAutoFit/>
          </a:bodyPr>
          <a:lstStyle/>
          <a:p>
            <a:r>
              <a:rPr sz="791" b="1">
                <a:solidFill>
                  <a:srgbClr val="2E2E2E"/>
                </a:solidFill>
                <a:latin typeface="Calibri"/>
              </a:rPr>
              <a:t>Young Plants &amp; Propagation Material</a:t>
            </a:r>
          </a:p>
        </p:txBody>
      </p:sp>
      <p:pic>
        <p:nvPicPr>
          <p:cNvPr id="61" name="Picture 60" descr="lock.png"/>
          <p:cNvPicPr>
            <a:picLocks noChangeAspect="1"/>
          </p:cNvPicPr>
          <p:nvPr/>
        </p:nvPicPr>
        <p:blipFill>
          <a:blip r:embed="rId4"/>
          <a:stretch>
            <a:fillRect/>
          </a:stretch>
        </p:blipFill>
        <p:spPr>
          <a:xfrm>
            <a:off x="1771555" y="5446022"/>
            <a:ext cx="92663" cy="134782"/>
          </a:xfrm>
          <a:prstGeom prst="rect">
            <a:avLst/>
          </a:prstGeom>
        </p:spPr>
      </p:pic>
      <p:sp>
        <p:nvSpPr>
          <p:cNvPr id="62" name="TextBox 61"/>
          <p:cNvSpPr txBox="1"/>
          <p:nvPr/>
        </p:nvSpPr>
        <p:spPr>
          <a:xfrm>
            <a:off x="879503" y="5709759"/>
            <a:ext cx="950790" cy="139750"/>
          </a:xfrm>
          <a:prstGeom prst="rect">
            <a:avLst/>
          </a:prstGeom>
          <a:noFill/>
        </p:spPr>
        <p:txBody>
          <a:bodyPr wrap="none" lIns="0" rIns="0" tIns="0" bIns="0">
            <a:spAutoFit/>
          </a:bodyPr>
          <a:lstStyle/>
          <a:p>
            <a:r>
              <a:rPr sz="791" b="1">
                <a:solidFill>
                  <a:srgbClr val="2E2E2E"/>
                </a:solidFill>
                <a:latin typeface="Calibri"/>
              </a:rPr>
              <a:t>Cut Foliage &amp; Greens</a:t>
            </a:r>
          </a:p>
        </p:txBody>
      </p:sp>
      <p:pic>
        <p:nvPicPr>
          <p:cNvPr id="63" name="Picture 62" descr="lock.png"/>
          <p:cNvPicPr>
            <a:picLocks noChangeAspect="1"/>
          </p:cNvPicPr>
          <p:nvPr/>
        </p:nvPicPr>
        <p:blipFill>
          <a:blip r:embed="rId4"/>
          <a:stretch>
            <a:fillRect/>
          </a:stretch>
        </p:blipFill>
        <p:spPr>
          <a:xfrm>
            <a:off x="1771555" y="5702718"/>
            <a:ext cx="92663" cy="134782"/>
          </a:xfrm>
          <a:prstGeom prst="rect">
            <a:avLst/>
          </a:prstGeom>
        </p:spPr>
      </p:pic>
      <p:sp>
        <p:nvSpPr>
          <p:cNvPr id="64" name="TextBox 63"/>
          <p:cNvSpPr txBox="1"/>
          <p:nvPr/>
        </p:nvSpPr>
        <p:spPr>
          <a:xfrm>
            <a:off x="468213" y="5966455"/>
            <a:ext cx="1396781" cy="139750"/>
          </a:xfrm>
          <a:prstGeom prst="rect">
            <a:avLst/>
          </a:prstGeom>
          <a:noFill/>
        </p:spPr>
        <p:txBody>
          <a:bodyPr wrap="none" lIns="0" rIns="0" tIns="0" bIns="0">
            <a:spAutoFit/>
          </a:bodyPr>
          <a:lstStyle/>
          <a:p>
            <a:r>
              <a:rPr sz="791" b="1">
                <a:solidFill>
                  <a:srgbClr val="2E2E2E"/>
                </a:solidFill>
                <a:latin typeface="Calibri"/>
              </a:rPr>
              <a:t>Flower Bulbs, Corms, Rhizomes &amp;</a:t>
            </a:r>
          </a:p>
        </p:txBody>
      </p:sp>
      <p:sp>
        <p:nvSpPr>
          <p:cNvPr id="65" name="TextBox 64"/>
          <p:cNvSpPr txBox="1"/>
          <p:nvPr/>
        </p:nvSpPr>
        <p:spPr>
          <a:xfrm>
            <a:off x="1469630" y="6087156"/>
            <a:ext cx="360664" cy="139750"/>
          </a:xfrm>
          <a:prstGeom prst="rect">
            <a:avLst/>
          </a:prstGeom>
          <a:noFill/>
        </p:spPr>
        <p:txBody>
          <a:bodyPr wrap="none" lIns="0" rIns="0" tIns="0" bIns="0">
            <a:spAutoFit/>
          </a:bodyPr>
          <a:lstStyle/>
          <a:p>
            <a:r>
              <a:rPr sz="791" b="1">
                <a:solidFill>
                  <a:srgbClr val="2E2E2E"/>
                </a:solidFill>
                <a:latin typeface="Calibri"/>
              </a:rPr>
              <a:t>Tubers</a:t>
            </a:r>
          </a:p>
        </p:txBody>
      </p:sp>
      <p:pic>
        <p:nvPicPr>
          <p:cNvPr id="66" name="Picture 65" descr="lock.png"/>
          <p:cNvPicPr>
            <a:picLocks noChangeAspect="1"/>
          </p:cNvPicPr>
          <p:nvPr/>
        </p:nvPicPr>
        <p:blipFill>
          <a:blip r:embed="rId4"/>
          <a:stretch>
            <a:fillRect/>
          </a:stretch>
        </p:blipFill>
        <p:spPr>
          <a:xfrm>
            <a:off x="1771555" y="6080115"/>
            <a:ext cx="92663" cy="134782"/>
          </a:xfrm>
          <a:prstGeom prst="rect">
            <a:avLst/>
          </a:prstGeom>
        </p:spPr>
      </p:pic>
      <p:sp>
        <p:nvSpPr>
          <p:cNvPr id="67" name="TextBox 66"/>
          <p:cNvSpPr txBox="1"/>
          <p:nvPr/>
        </p:nvSpPr>
        <p:spPr>
          <a:xfrm>
            <a:off x="1262568" y="6343851"/>
            <a:ext cx="567725" cy="139750"/>
          </a:xfrm>
          <a:prstGeom prst="rect">
            <a:avLst/>
          </a:prstGeom>
          <a:noFill/>
        </p:spPr>
        <p:txBody>
          <a:bodyPr wrap="none" lIns="0" rIns="0" tIns="0" bIns="0">
            <a:spAutoFit/>
          </a:bodyPr>
          <a:lstStyle/>
          <a:p>
            <a:r>
              <a:rPr sz="791" b="1">
                <a:solidFill>
                  <a:srgbClr val="2E2E2E"/>
                </a:solidFill>
                <a:latin typeface="Calibri"/>
              </a:rPr>
              <a:t>Cut Flowers</a:t>
            </a:r>
          </a:p>
        </p:txBody>
      </p:sp>
      <p:pic>
        <p:nvPicPr>
          <p:cNvPr id="68" name="Picture 67" descr="lock.png"/>
          <p:cNvPicPr>
            <a:picLocks noChangeAspect="1"/>
          </p:cNvPicPr>
          <p:nvPr/>
        </p:nvPicPr>
        <p:blipFill>
          <a:blip r:embed="rId4"/>
          <a:stretch>
            <a:fillRect/>
          </a:stretch>
        </p:blipFill>
        <p:spPr>
          <a:xfrm>
            <a:off x="1771555" y="6336810"/>
            <a:ext cx="92663" cy="134782"/>
          </a:xfrm>
          <a:prstGeom prst="rect">
            <a:avLst/>
          </a:prstGeom>
        </p:spPr>
      </p:pic>
      <p:sp>
        <p:nvSpPr>
          <p:cNvPr id="69" name="TextBox 68"/>
          <p:cNvSpPr txBox="1"/>
          <p:nvPr/>
        </p:nvSpPr>
        <p:spPr>
          <a:xfrm>
            <a:off x="5972175" y="5132606"/>
            <a:ext cx="1013674" cy="139750"/>
          </a:xfrm>
          <a:prstGeom prst="rect">
            <a:avLst/>
          </a:prstGeom>
          <a:noFill/>
        </p:spPr>
        <p:txBody>
          <a:bodyPr wrap="none" lIns="0" rIns="0" tIns="0" bIns="0">
            <a:spAutoFit/>
          </a:bodyPr>
          <a:lstStyle/>
          <a:p>
            <a:r>
              <a:rPr sz="791" b="1">
                <a:solidFill>
                  <a:srgbClr val="2E2E2E"/>
                </a:solidFill>
                <a:latin typeface="Calibri"/>
              </a:rPr>
              <a:t>Open-Field Cultivation</a:t>
            </a:r>
          </a:p>
        </p:txBody>
      </p:sp>
      <p:pic>
        <p:nvPicPr>
          <p:cNvPr id="70" name="Picture 69" descr="lock.png"/>
          <p:cNvPicPr>
            <a:picLocks noChangeAspect="1"/>
          </p:cNvPicPr>
          <p:nvPr/>
        </p:nvPicPr>
        <p:blipFill>
          <a:blip r:embed="rId4"/>
          <a:stretch>
            <a:fillRect/>
          </a:stretch>
        </p:blipFill>
        <p:spPr>
          <a:xfrm>
            <a:off x="6927110" y="5125565"/>
            <a:ext cx="92663" cy="134782"/>
          </a:xfrm>
          <a:prstGeom prst="rect">
            <a:avLst/>
          </a:prstGeom>
        </p:spPr>
      </p:pic>
      <p:sp>
        <p:nvSpPr>
          <p:cNvPr id="71" name="TextBox 70"/>
          <p:cNvSpPr txBox="1"/>
          <p:nvPr/>
        </p:nvSpPr>
        <p:spPr>
          <a:xfrm>
            <a:off x="5972175" y="6099394"/>
            <a:ext cx="966525" cy="139750"/>
          </a:xfrm>
          <a:prstGeom prst="rect">
            <a:avLst/>
          </a:prstGeom>
          <a:noFill/>
        </p:spPr>
        <p:txBody>
          <a:bodyPr wrap="none" lIns="0" rIns="0" tIns="0" bIns="0">
            <a:spAutoFit/>
          </a:bodyPr>
          <a:lstStyle/>
          <a:p>
            <a:r>
              <a:rPr sz="791" b="1">
                <a:solidFill>
                  <a:srgbClr val="2E2E2E"/>
                </a:solidFill>
                <a:latin typeface="Calibri"/>
              </a:rPr>
              <a:t>Protected Cultivation</a:t>
            </a:r>
          </a:p>
        </p:txBody>
      </p:sp>
      <p:pic>
        <p:nvPicPr>
          <p:cNvPr id="72" name="Picture 71" descr="lock.png"/>
          <p:cNvPicPr>
            <a:picLocks noChangeAspect="1"/>
          </p:cNvPicPr>
          <p:nvPr/>
        </p:nvPicPr>
        <p:blipFill>
          <a:blip r:embed="rId4"/>
          <a:stretch>
            <a:fillRect/>
          </a:stretch>
        </p:blipFill>
        <p:spPr>
          <a:xfrm>
            <a:off x="6879961" y="6092353"/>
            <a:ext cx="92663" cy="134782"/>
          </a:xfrm>
          <a:prstGeom prst="rect">
            <a:avLst/>
          </a:prstGeom>
        </p:spPr>
      </p:pic>
      <p:sp>
        <p:nvSpPr>
          <p:cNvPr id="73" name="TextBox 72"/>
          <p:cNvSpPr txBox="1"/>
          <p:nvPr/>
        </p:nvSpPr>
        <p:spPr>
          <a:xfrm>
            <a:off x="7715250" y="4467225"/>
            <a:ext cx="3847827" cy="194310"/>
          </a:xfrm>
          <a:prstGeom prst="rect">
            <a:avLst/>
          </a:prstGeom>
          <a:noFill/>
        </p:spPr>
        <p:txBody>
          <a:bodyPr wrap="none" lIns="0" rIns="0" tIns="0" bIns="0">
            <a:spAutoFit/>
          </a:bodyPr>
          <a:lstStyle/>
          <a:p>
            <a:r>
              <a:rPr sz="1150" b="0">
                <a:solidFill>
                  <a:srgbClr val="2E2E2E"/>
                </a:solidFill>
                <a:latin typeface="Calibri"/>
              </a:rPr>
              <a:t>Potted flowering plants segment is projected to account for the</a:t>
            </a:r>
          </a:p>
        </p:txBody>
      </p:sp>
      <p:sp>
        <p:nvSpPr>
          <p:cNvPr id="74" name="TextBox 73"/>
          <p:cNvSpPr txBox="1"/>
          <p:nvPr/>
        </p:nvSpPr>
        <p:spPr>
          <a:xfrm>
            <a:off x="7715250" y="4642485"/>
            <a:ext cx="3712616" cy="194310"/>
          </a:xfrm>
          <a:prstGeom prst="rect">
            <a:avLst/>
          </a:prstGeom>
          <a:noFill/>
        </p:spPr>
        <p:txBody>
          <a:bodyPr wrap="none" lIns="0" rIns="0" tIns="0" bIns="0">
            <a:spAutoFit/>
          </a:bodyPr>
          <a:lstStyle/>
          <a:p>
            <a:r>
              <a:rPr sz="1150" b="0">
                <a:solidFill>
                  <a:srgbClr val="2E2E2E"/>
                </a:solidFill>
                <a:latin typeface="Calibri"/>
              </a:rPr>
              <a:t>largest share of the North America floriculture market, led by</a:t>
            </a:r>
          </a:p>
        </p:txBody>
      </p:sp>
      <p:sp>
        <p:nvSpPr>
          <p:cNvPr id="75" name="TextBox 74"/>
          <p:cNvSpPr txBox="1"/>
          <p:nvPr/>
        </p:nvSpPr>
        <p:spPr>
          <a:xfrm>
            <a:off x="7715250" y="4817745"/>
            <a:ext cx="1766044" cy="194310"/>
          </a:xfrm>
          <a:prstGeom prst="rect">
            <a:avLst/>
          </a:prstGeom>
          <a:noFill/>
        </p:spPr>
        <p:txBody>
          <a:bodyPr wrap="none" lIns="0" rIns="0" tIns="0" bIns="0">
            <a:spAutoFit/>
          </a:bodyPr>
          <a:lstStyle/>
          <a:p>
            <a:r>
              <a:rPr sz="1150" b="0">
                <a:solidFill>
                  <a:srgbClr val="2E2E2E"/>
                </a:solidFill>
                <a:latin typeface="Calibri"/>
              </a:rPr>
              <a:t>open-field cultivation at US$</a:t>
            </a:r>
          </a:p>
        </p:txBody>
      </p:sp>
      <p:pic>
        <p:nvPicPr>
          <p:cNvPr id="76" name="Picture 75" descr="lock.png"/>
          <p:cNvPicPr>
            <a:picLocks noChangeAspect="1"/>
          </p:cNvPicPr>
          <p:nvPr/>
        </p:nvPicPr>
        <p:blipFill>
          <a:blip r:embed="rId4"/>
          <a:stretch>
            <a:fillRect/>
          </a:stretch>
        </p:blipFill>
        <p:spPr>
          <a:xfrm>
            <a:off x="9430448" y="4807521"/>
            <a:ext cx="134549" cy="195707"/>
          </a:xfrm>
          <a:prstGeom prst="rect">
            <a:avLst/>
          </a:prstGeom>
        </p:spPr>
      </p:pic>
      <p:sp>
        <p:nvSpPr>
          <p:cNvPr id="77" name="TextBox 76"/>
          <p:cNvSpPr txBox="1"/>
          <p:nvPr/>
        </p:nvSpPr>
        <p:spPr>
          <a:xfrm>
            <a:off x="9605557" y="4817745"/>
            <a:ext cx="1658788" cy="194310"/>
          </a:xfrm>
          <a:prstGeom prst="rect">
            <a:avLst/>
          </a:prstGeom>
          <a:noFill/>
        </p:spPr>
        <p:txBody>
          <a:bodyPr wrap="none" lIns="0" rIns="0" tIns="0" bIns="0">
            <a:spAutoFit/>
          </a:bodyPr>
          <a:lstStyle/>
          <a:p>
            <a:r>
              <a:rPr sz="1150" b="0">
                <a:solidFill>
                  <a:srgbClr val="2E2E2E"/>
                </a:solidFill>
                <a:latin typeface="Calibri"/>
              </a:rPr>
              <a:t>Mn in 2036. 'Cut Flowers ×</a:t>
            </a:r>
          </a:p>
        </p:txBody>
      </p:sp>
      <p:sp>
        <p:nvSpPr>
          <p:cNvPr id="78" name="TextBox 77"/>
          <p:cNvSpPr txBox="1"/>
          <p:nvPr/>
        </p:nvSpPr>
        <p:spPr>
          <a:xfrm>
            <a:off x="7715250" y="4993004"/>
            <a:ext cx="3828715" cy="194310"/>
          </a:xfrm>
          <a:prstGeom prst="rect">
            <a:avLst/>
          </a:prstGeom>
          <a:noFill/>
        </p:spPr>
        <p:txBody>
          <a:bodyPr wrap="none" lIns="0" rIns="0" tIns="0" bIns="0">
            <a:spAutoFit/>
          </a:bodyPr>
          <a:lstStyle/>
          <a:p>
            <a:r>
              <a:rPr sz="1150" b="0">
                <a:solidFill>
                  <a:srgbClr val="2E2E2E"/>
                </a:solidFill>
                <a:latin typeface="Calibri"/>
              </a:rPr>
              <a:t>Open-Field Cultivation' is the single largest cross-sectional cell (</a:t>
            </a:r>
          </a:p>
        </p:txBody>
      </p:sp>
      <p:pic>
        <p:nvPicPr>
          <p:cNvPr id="79" name="Picture 78" descr="lock.png"/>
          <p:cNvPicPr>
            <a:picLocks noChangeAspect="1"/>
          </p:cNvPicPr>
          <p:nvPr/>
        </p:nvPicPr>
        <p:blipFill>
          <a:blip r:embed="rId4"/>
          <a:stretch>
            <a:fillRect/>
          </a:stretch>
        </p:blipFill>
        <p:spPr>
          <a:xfrm>
            <a:off x="11493119" y="4982781"/>
            <a:ext cx="134549" cy="195707"/>
          </a:xfrm>
          <a:prstGeom prst="rect">
            <a:avLst/>
          </a:prstGeom>
        </p:spPr>
      </p:pic>
      <p:sp>
        <p:nvSpPr>
          <p:cNvPr id="80" name="TextBox 79"/>
          <p:cNvSpPr txBox="1"/>
          <p:nvPr/>
        </p:nvSpPr>
        <p:spPr>
          <a:xfrm>
            <a:off x="7715250" y="5168264"/>
            <a:ext cx="3687799" cy="194310"/>
          </a:xfrm>
          <a:prstGeom prst="rect">
            <a:avLst/>
          </a:prstGeom>
          <a:noFill/>
        </p:spPr>
        <p:txBody>
          <a:bodyPr wrap="none" lIns="0" rIns="0" tIns="0" bIns="0">
            <a:spAutoFit/>
          </a:bodyPr>
          <a:lstStyle/>
          <a:p>
            <a:r>
              <a:rPr sz="1150" b="0">
                <a:solidFill>
                  <a:srgbClr val="2E2E2E"/>
                </a:solidFill>
                <a:latin typeface="Calibri"/>
              </a:rPr>
              <a:t>US$ Mn, 2026E), while 'Potted Flowering Plants × Open-Field</a:t>
            </a:r>
          </a:p>
        </p:txBody>
      </p:sp>
      <p:sp>
        <p:nvSpPr>
          <p:cNvPr id="81" name="TextBox 80"/>
          <p:cNvSpPr txBox="1"/>
          <p:nvPr/>
        </p:nvSpPr>
        <p:spPr>
          <a:xfrm>
            <a:off x="7715250" y="5343524"/>
            <a:ext cx="3132963" cy="194310"/>
          </a:xfrm>
          <a:prstGeom prst="rect">
            <a:avLst/>
          </a:prstGeom>
          <a:noFill/>
        </p:spPr>
        <p:txBody>
          <a:bodyPr wrap="none" lIns="0" rIns="0" tIns="0" bIns="0">
            <a:spAutoFit/>
          </a:bodyPr>
          <a:lstStyle/>
          <a:p>
            <a:r>
              <a:rPr sz="1150" b="0">
                <a:solidFill>
                  <a:srgbClr val="2E2E2E"/>
                </a:solidFill>
                <a:latin typeface="Calibri"/>
              </a:rPr>
              <a:t>Cultivation' records the fastest growth at a CAGR of</a:t>
            </a:r>
          </a:p>
        </p:txBody>
      </p:sp>
      <p:pic>
        <p:nvPicPr>
          <p:cNvPr id="82" name="Picture 81" descr="lock.png"/>
          <p:cNvPicPr>
            <a:picLocks noChangeAspect="1"/>
          </p:cNvPicPr>
          <p:nvPr/>
        </p:nvPicPr>
        <p:blipFill>
          <a:blip r:embed="rId4"/>
          <a:stretch>
            <a:fillRect/>
          </a:stretch>
        </p:blipFill>
        <p:spPr>
          <a:xfrm>
            <a:off x="10797366" y="5333301"/>
            <a:ext cx="134549" cy="195707"/>
          </a:xfrm>
          <a:prstGeom prst="rect">
            <a:avLst/>
          </a:prstGeom>
        </p:spPr>
      </p:pic>
      <p:sp>
        <p:nvSpPr>
          <p:cNvPr id="83" name="TextBox 82"/>
          <p:cNvSpPr txBox="1"/>
          <p:nvPr/>
        </p:nvSpPr>
        <p:spPr>
          <a:xfrm>
            <a:off x="10972476" y="5343524"/>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84" name="TextBox 83"/>
          <p:cNvSpPr txBox="1"/>
          <p:nvPr/>
        </p:nvSpPr>
        <p:spPr>
          <a:xfrm>
            <a:off x="7715250" y="5518784"/>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85" name="TextBox 84"/>
          <p:cNvSpPr txBox="1"/>
          <p:nvPr/>
        </p:nvSpPr>
        <p:spPr>
          <a:xfrm>
            <a:off x="7715250" y="5746622"/>
            <a:ext cx="3904307" cy="194310"/>
          </a:xfrm>
          <a:prstGeom prst="rect">
            <a:avLst/>
          </a:prstGeom>
          <a:noFill/>
        </p:spPr>
        <p:txBody>
          <a:bodyPr wrap="none" lIns="0" rIns="0" tIns="0" bIns="0">
            <a:spAutoFit/>
          </a:bodyPr>
          <a:lstStyle/>
          <a:p>
            <a:r>
              <a:rPr sz="1150" b="0">
                <a:solidFill>
                  <a:srgbClr val="2E2E2E"/>
                </a:solidFill>
                <a:latin typeface="Calibri"/>
              </a:rPr>
              <a:t>Combined, the top three product type × cultivation method cells</a:t>
            </a:r>
          </a:p>
        </p:txBody>
      </p:sp>
      <p:sp>
        <p:nvSpPr>
          <p:cNvPr id="86" name="TextBox 85"/>
          <p:cNvSpPr txBox="1"/>
          <p:nvPr/>
        </p:nvSpPr>
        <p:spPr>
          <a:xfrm>
            <a:off x="7715250" y="592188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87" name="Picture 86" descr="lock.png"/>
          <p:cNvPicPr>
            <a:picLocks noChangeAspect="1"/>
          </p:cNvPicPr>
          <p:nvPr/>
        </p:nvPicPr>
        <p:blipFill>
          <a:blip r:embed="rId4"/>
          <a:stretch>
            <a:fillRect/>
          </a:stretch>
        </p:blipFill>
        <p:spPr>
          <a:xfrm>
            <a:off x="10004949" y="5911659"/>
            <a:ext cx="134549" cy="195707"/>
          </a:xfrm>
          <a:prstGeom prst="rect">
            <a:avLst/>
          </a:prstGeom>
        </p:spPr>
      </p:pic>
      <p:sp>
        <p:nvSpPr>
          <p:cNvPr id="88" name="TextBox 87"/>
          <p:cNvSpPr txBox="1"/>
          <p:nvPr/>
        </p:nvSpPr>
        <p:spPr>
          <a:xfrm>
            <a:off x="10180058" y="592188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Type × Cultivation Method,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cultivation method sub-segments</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Product Type × Cultivation Method, 2026E (% of each row)</a:t>
            </a:r>
          </a:p>
        </p:txBody>
      </p:sp>
      <p:graphicFrame>
        <p:nvGraphicFramePr>
          <p:cNvPr id="12" name="Table 11"/>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4403396"/>
                <a:gridCol w="2494601"/>
                <a:gridCol w="2494601"/>
                <a:gridCol w="2494601"/>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Protected Cultivation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Open-Field Cultivation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7286625"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576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Cultivation Method Mix by Product Type, 2026E (% share)</a:t>
            </a:r>
          </a:p>
        </p:txBody>
      </p:sp>
      <p:graphicFrame>
        <p:nvGraphicFramePr>
          <p:cNvPr id="16" name="Chart 15"/>
          <p:cNvGraphicFramePr>
            <a:graphicFrameLocks noGrp="1"/>
          </p:cNvGraphicFramePr>
          <p:nvPr/>
        </p:nvGraphicFramePr>
        <p:xfrm>
          <a:off x="238125" y="4086225"/>
          <a:ext cx="7096125" cy="24860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800475"/>
            <a:ext cx="445770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862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1243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210050"/>
            <a:ext cx="419100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8111007" y="2204276"/>
            <a:ext cx="366712" cy="533399"/>
          </a:xfrm>
          <a:prstGeom prst="rect">
            <a:avLst/>
          </a:prstGeom>
        </p:spPr>
      </p:pic>
      <p:pic>
        <p:nvPicPr>
          <p:cNvPr id="23" name="Picture 22" descr="lock.png"/>
          <p:cNvPicPr>
            <a:picLocks noChangeAspect="1"/>
          </p:cNvPicPr>
          <p:nvPr/>
        </p:nvPicPr>
        <p:blipFill>
          <a:blip r:embed="rId5"/>
          <a:stretch>
            <a:fillRect/>
          </a:stretch>
        </p:blipFill>
        <p:spPr>
          <a:xfrm>
            <a:off x="3778538" y="4610957"/>
            <a:ext cx="305026" cy="443674"/>
          </a:xfrm>
          <a:prstGeom prst="rect">
            <a:avLst/>
          </a:prstGeom>
        </p:spPr>
      </p:pic>
      <p:sp>
        <p:nvSpPr>
          <p:cNvPr id="24" name="TextBox 23"/>
          <p:cNvSpPr txBox="1"/>
          <p:nvPr/>
        </p:nvSpPr>
        <p:spPr>
          <a:xfrm>
            <a:off x="7715250" y="4219575"/>
            <a:ext cx="4071466" cy="194310"/>
          </a:xfrm>
          <a:prstGeom prst="rect">
            <a:avLst/>
          </a:prstGeom>
          <a:noFill/>
        </p:spPr>
        <p:txBody>
          <a:bodyPr wrap="none" lIns="0" rIns="0" tIns="0" bIns="0">
            <a:spAutoFit/>
          </a:bodyPr>
          <a:lstStyle/>
          <a:p>
            <a:r>
              <a:rPr sz="1150" b="0">
                <a:solidFill>
                  <a:srgbClr val="2E2E2E"/>
                </a:solidFill>
                <a:latin typeface="Calibri"/>
              </a:rPr>
              <a:t>▪ 'Open-Field Cultivation' holds the highest share of 'Cut Flowers' at</a:t>
            </a:r>
          </a:p>
        </p:txBody>
      </p:sp>
      <p:pic>
        <p:nvPicPr>
          <p:cNvPr id="25" name="Picture 24" descr="lock.png"/>
          <p:cNvPicPr>
            <a:picLocks noChangeAspect="1"/>
          </p:cNvPicPr>
          <p:nvPr/>
        </p:nvPicPr>
        <p:blipFill>
          <a:blip r:embed="rId5"/>
          <a:stretch>
            <a:fillRect/>
          </a:stretch>
        </p:blipFill>
        <p:spPr>
          <a:xfrm>
            <a:off x="7701170" y="4384611"/>
            <a:ext cx="134549" cy="195707"/>
          </a:xfrm>
          <a:prstGeom prst="rect">
            <a:avLst/>
          </a:prstGeom>
        </p:spPr>
      </p:pic>
      <p:sp>
        <p:nvSpPr>
          <p:cNvPr id="26" name="TextBox 25"/>
          <p:cNvSpPr txBox="1"/>
          <p:nvPr/>
        </p:nvSpPr>
        <p:spPr>
          <a:xfrm>
            <a:off x="7876279" y="43948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4622672"/>
            <a:ext cx="4080879" cy="194310"/>
          </a:xfrm>
          <a:prstGeom prst="rect">
            <a:avLst/>
          </a:prstGeom>
          <a:noFill/>
        </p:spPr>
        <p:txBody>
          <a:bodyPr wrap="none" lIns="0" rIns="0" tIns="0" bIns="0">
            <a:spAutoFit/>
          </a:bodyPr>
          <a:lstStyle/>
          <a:p>
            <a:r>
              <a:rPr sz="1150" b="0">
                <a:solidFill>
                  <a:srgbClr val="2E2E2E"/>
                </a:solidFill>
                <a:latin typeface="Calibri"/>
              </a:rPr>
              <a:t>▪ 'Cut Flowers' is the most concentrated product type sub-segment,</a:t>
            </a:r>
          </a:p>
        </p:txBody>
      </p:sp>
      <p:sp>
        <p:nvSpPr>
          <p:cNvPr id="28" name="TextBox 27"/>
          <p:cNvSpPr txBox="1"/>
          <p:nvPr/>
        </p:nvSpPr>
        <p:spPr>
          <a:xfrm>
            <a:off x="7715250" y="4797932"/>
            <a:ext cx="340059" cy="194310"/>
          </a:xfrm>
          <a:prstGeom prst="rect">
            <a:avLst/>
          </a:prstGeom>
          <a:noFill/>
        </p:spPr>
        <p:txBody>
          <a:bodyPr wrap="none" lIns="0" rIns="0" tIns="0" bIns="0">
            <a:spAutoFit/>
          </a:bodyPr>
          <a:lstStyle/>
          <a:p>
            <a:r>
              <a:rPr sz="1150" b="0">
                <a:solidFill>
                  <a:srgbClr val="2E2E2E"/>
                </a:solidFill>
                <a:latin typeface="Calibri"/>
              </a:rPr>
              <a:t>with</a:t>
            </a:r>
          </a:p>
        </p:txBody>
      </p:sp>
      <p:pic>
        <p:nvPicPr>
          <p:cNvPr id="29" name="Picture 28" descr="lock.png"/>
          <p:cNvPicPr>
            <a:picLocks noChangeAspect="1"/>
          </p:cNvPicPr>
          <p:nvPr/>
        </p:nvPicPr>
        <p:blipFill>
          <a:blip r:embed="rId5"/>
          <a:stretch>
            <a:fillRect/>
          </a:stretch>
        </p:blipFill>
        <p:spPr>
          <a:xfrm>
            <a:off x="8004463" y="4787709"/>
            <a:ext cx="134549" cy="195707"/>
          </a:xfrm>
          <a:prstGeom prst="rect">
            <a:avLst/>
          </a:prstGeom>
        </p:spPr>
      </p:pic>
      <p:sp>
        <p:nvSpPr>
          <p:cNvPr id="30" name="TextBox 29"/>
          <p:cNvSpPr txBox="1"/>
          <p:nvPr/>
        </p:nvSpPr>
        <p:spPr>
          <a:xfrm>
            <a:off x="8179573" y="4797932"/>
            <a:ext cx="2387327" cy="194310"/>
          </a:xfrm>
          <a:prstGeom prst="rect">
            <a:avLst/>
          </a:prstGeom>
          <a:noFill/>
        </p:spPr>
        <p:txBody>
          <a:bodyPr wrap="none" lIns="0" rIns="0" tIns="0" bIns="0">
            <a:spAutoFit/>
          </a:bodyPr>
          <a:lstStyle/>
          <a:p>
            <a:r>
              <a:rPr sz="1150" b="0">
                <a:solidFill>
                  <a:srgbClr val="2E2E2E"/>
                </a:solidFill>
                <a:latin typeface="Calibri"/>
              </a:rPr>
              <a:t>of its value via 'Open-Field Cultivation'.</a:t>
            </a:r>
          </a:p>
        </p:txBody>
      </p:sp>
      <p:sp>
        <p:nvSpPr>
          <p:cNvPr id="31" name="TextBox 30"/>
          <p:cNvSpPr txBox="1"/>
          <p:nvPr/>
        </p:nvSpPr>
        <p:spPr>
          <a:xfrm>
            <a:off x="7715250" y="5025770"/>
            <a:ext cx="1998240" cy="194310"/>
          </a:xfrm>
          <a:prstGeom prst="rect">
            <a:avLst/>
          </a:prstGeom>
          <a:noFill/>
        </p:spPr>
        <p:txBody>
          <a:bodyPr wrap="none" lIns="0" rIns="0" tIns="0" bIns="0">
            <a:spAutoFit/>
          </a:bodyPr>
          <a:lstStyle/>
          <a:p>
            <a:r>
              <a:rPr sz="1150" b="0">
                <a:solidFill>
                  <a:srgbClr val="2E2E2E"/>
                </a:solidFill>
                <a:latin typeface="Calibri"/>
              </a:rPr>
              <a:t>▪ 'Open-Field Cultivation' gains +</a:t>
            </a:r>
          </a:p>
        </p:txBody>
      </p:sp>
      <p:pic>
        <p:nvPicPr>
          <p:cNvPr id="32" name="Picture 31" descr="lock.png"/>
          <p:cNvPicPr>
            <a:picLocks noChangeAspect="1"/>
          </p:cNvPicPr>
          <p:nvPr/>
        </p:nvPicPr>
        <p:blipFill>
          <a:blip r:embed="rId5"/>
          <a:stretch>
            <a:fillRect/>
          </a:stretch>
        </p:blipFill>
        <p:spPr>
          <a:xfrm>
            <a:off x="9662644" y="5015547"/>
            <a:ext cx="134549" cy="195707"/>
          </a:xfrm>
          <a:prstGeom prst="rect">
            <a:avLst/>
          </a:prstGeom>
        </p:spPr>
      </p:pic>
      <p:sp>
        <p:nvSpPr>
          <p:cNvPr id="33" name="TextBox 32"/>
          <p:cNvSpPr txBox="1"/>
          <p:nvPr/>
        </p:nvSpPr>
        <p:spPr>
          <a:xfrm>
            <a:off x="9837754" y="5025770"/>
            <a:ext cx="1581199" cy="194310"/>
          </a:xfrm>
          <a:prstGeom prst="rect">
            <a:avLst/>
          </a:prstGeom>
          <a:noFill/>
        </p:spPr>
        <p:txBody>
          <a:bodyPr wrap="none" lIns="0" rIns="0" tIns="0" bIns="0">
            <a:spAutoFit/>
          </a:bodyPr>
          <a:lstStyle/>
          <a:p>
            <a:r>
              <a:rPr sz="1150" b="0">
                <a:solidFill>
                  <a:srgbClr val="2E2E2E"/>
                </a:solidFill>
                <a:latin typeface="Calibri"/>
              </a:rPr>
              <a:t>BPS of share of the North</a:t>
            </a:r>
          </a:p>
        </p:txBody>
      </p:sp>
      <p:sp>
        <p:nvSpPr>
          <p:cNvPr id="34" name="TextBox 33"/>
          <p:cNvSpPr txBox="1"/>
          <p:nvPr/>
        </p:nvSpPr>
        <p:spPr>
          <a:xfrm>
            <a:off x="7715250" y="5201030"/>
            <a:ext cx="1986046" cy="194310"/>
          </a:xfrm>
          <a:prstGeom prst="rect">
            <a:avLst/>
          </a:prstGeom>
          <a:noFill/>
        </p:spPr>
        <p:txBody>
          <a:bodyPr wrap="none" lIns="0" rIns="0" tIns="0" bIns="0">
            <a:spAutoFit/>
          </a:bodyPr>
          <a:lstStyle/>
          <a:p>
            <a:r>
              <a:rPr sz="1150" b="0">
                <a:solidFill>
                  <a:srgbClr val="2E2E2E"/>
                </a:solidFill>
                <a:latin typeface="Calibri"/>
              </a:rPr>
              <a:t>America cross-section by 2036F.</a:t>
            </a:r>
          </a:p>
        </p:txBody>
      </p:sp>
      <p:sp>
        <p:nvSpPr>
          <p:cNvPr id="35" name="lockshield_16"/>
          <p:cNvSpPr/>
          <p:nvPr/>
        </p:nvSpPr>
        <p:spPr>
          <a:xfrm>
            <a:off x="238125" y="4086225"/>
            <a:ext cx="7096125" cy="24860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Cultivation Method,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Cultivation Method, 2026E–2036F</a:t>
            </a:r>
          </a:p>
        </p:txBody>
      </p:sp>
      <p:graphicFrame>
        <p:nvGraphicFramePr>
          <p:cNvPr id="12" name="Table 11"/>
          <p:cNvGraphicFramePr>
            <a:graphicFrameLocks noGrp="1"/>
          </p:cNvGraphicFramePr>
          <p:nvPr/>
        </p:nvGraphicFramePr>
        <p:xfrm>
          <a:off x="152400" y="1238250"/>
          <a:ext cx="11887200" cy="2466975"/>
        </p:xfrm>
        <a:graphic>
          <a:graphicData uri="http://schemas.openxmlformats.org/drawingml/2006/table">
            <a:tbl>
              <a:tblPr>
                <a:tableStyleId>{5C22544A-7EE6-4342-B048-85BDC9FD1C3A}</a:tableStyleId>
              </a:tblPr>
              <a:tblGrid>
                <a:gridCol w="5032422"/>
                <a:gridCol w="1142463"/>
                <a:gridCol w="1142463"/>
                <a:gridCol w="1142463"/>
                <a:gridCol w="1142463"/>
                <a:gridCol w="1142463"/>
                <a:gridCol w="1142463"/>
              </a:tblGrid>
              <a:tr h="246126">
                <a:tc rowSpan="2">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Protected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Open-Field Cultivation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5600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719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53340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'Potted Flowering Plants × Open-Field Cultivation' ranks highest (5/5); 'Cut Flowers × Protected Cultivation'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8425520" y="2451481"/>
            <a:ext cx="366712" cy="533400"/>
          </a:xfrm>
          <a:prstGeom prst="rect">
            <a:avLst/>
          </a:prstGeom>
        </p:spPr>
      </p:pic>
      <p:sp>
        <p:nvSpPr>
          <p:cNvPr id="32" name="TextBox 31"/>
          <p:cNvSpPr txBox="1"/>
          <p:nvPr/>
        </p:nvSpPr>
        <p:spPr>
          <a:xfrm>
            <a:off x="276225" y="4467225"/>
            <a:ext cx="3128670" cy="194310"/>
          </a:xfrm>
          <a:prstGeom prst="rect">
            <a:avLst/>
          </a:prstGeom>
          <a:noFill/>
        </p:spPr>
        <p:txBody>
          <a:bodyPr wrap="none" lIns="0" rIns="0" tIns="0" bIns="0">
            <a:spAutoFit/>
          </a:bodyPr>
          <a:lstStyle/>
          <a:p>
            <a:r>
              <a:rPr sz="1150" b="0">
                <a:solidFill>
                  <a:srgbClr val="2E2E2E"/>
                </a:solidFill>
                <a:latin typeface="Calibri"/>
              </a:rPr>
              <a:t>▪ 1. Potted Foliage Plants × Open-Field Cultivation –</a:t>
            </a:r>
          </a:p>
        </p:txBody>
      </p:sp>
      <p:pic>
        <p:nvPicPr>
          <p:cNvPr id="33" name="Picture 32" descr="lock.png"/>
          <p:cNvPicPr>
            <a:picLocks noChangeAspect="1"/>
          </p:cNvPicPr>
          <p:nvPr/>
        </p:nvPicPr>
        <p:blipFill>
          <a:blip r:embed="rId4"/>
          <a:stretch>
            <a:fillRect/>
          </a:stretch>
        </p:blipFill>
        <p:spPr>
          <a:xfrm>
            <a:off x="3354049" y="4457001"/>
            <a:ext cx="134549" cy="195707"/>
          </a:xfrm>
          <a:prstGeom prst="rect">
            <a:avLst/>
          </a:prstGeom>
        </p:spPr>
      </p:pic>
      <p:sp>
        <p:nvSpPr>
          <p:cNvPr id="34" name="TextBox 33"/>
          <p:cNvSpPr txBox="1"/>
          <p:nvPr/>
        </p:nvSpPr>
        <p:spPr>
          <a:xfrm>
            <a:off x="3529159" y="44672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591310" y="4457001"/>
            <a:ext cx="134549" cy="195707"/>
          </a:xfrm>
          <a:prstGeom prst="rect">
            <a:avLst/>
          </a:prstGeom>
        </p:spPr>
      </p:pic>
      <p:sp>
        <p:nvSpPr>
          <p:cNvPr id="36" name="TextBox 35"/>
          <p:cNvSpPr txBox="1"/>
          <p:nvPr/>
        </p:nvSpPr>
        <p:spPr>
          <a:xfrm>
            <a:off x="3766420" y="44672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695063"/>
            <a:ext cx="3291011" cy="194310"/>
          </a:xfrm>
          <a:prstGeom prst="rect">
            <a:avLst/>
          </a:prstGeom>
          <a:noFill/>
        </p:spPr>
        <p:txBody>
          <a:bodyPr wrap="none" lIns="0" rIns="0" tIns="0" bIns="0">
            <a:spAutoFit/>
          </a:bodyPr>
          <a:lstStyle/>
          <a:p>
            <a:r>
              <a:rPr sz="1150" b="0">
                <a:solidFill>
                  <a:srgbClr val="2E2E2E"/>
                </a:solidFill>
                <a:latin typeface="Calibri"/>
              </a:rPr>
              <a:t>▪ 2. Potted Flowering Plants × Open-Field Cultivation –</a:t>
            </a:r>
          </a:p>
        </p:txBody>
      </p:sp>
      <p:pic>
        <p:nvPicPr>
          <p:cNvPr id="38" name="Picture 37" descr="lock.png"/>
          <p:cNvPicPr>
            <a:picLocks noChangeAspect="1"/>
          </p:cNvPicPr>
          <p:nvPr/>
        </p:nvPicPr>
        <p:blipFill>
          <a:blip r:embed="rId4"/>
          <a:stretch>
            <a:fillRect/>
          </a:stretch>
        </p:blipFill>
        <p:spPr>
          <a:xfrm>
            <a:off x="3516390" y="4684839"/>
            <a:ext cx="134549" cy="195707"/>
          </a:xfrm>
          <a:prstGeom prst="rect">
            <a:avLst/>
          </a:prstGeom>
        </p:spPr>
      </p:pic>
      <p:sp>
        <p:nvSpPr>
          <p:cNvPr id="39" name="TextBox 38"/>
          <p:cNvSpPr txBox="1"/>
          <p:nvPr/>
        </p:nvSpPr>
        <p:spPr>
          <a:xfrm>
            <a:off x="3691499" y="46950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753651" y="4684839"/>
            <a:ext cx="134549" cy="195707"/>
          </a:xfrm>
          <a:prstGeom prst="rect">
            <a:avLst/>
          </a:prstGeom>
        </p:spPr>
      </p:pic>
      <p:sp>
        <p:nvSpPr>
          <p:cNvPr id="41" name="TextBox 40"/>
          <p:cNvSpPr txBox="1"/>
          <p:nvPr/>
        </p:nvSpPr>
        <p:spPr>
          <a:xfrm>
            <a:off x="3928760" y="46950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922900"/>
            <a:ext cx="4072321" cy="194310"/>
          </a:xfrm>
          <a:prstGeom prst="rect">
            <a:avLst/>
          </a:prstGeom>
          <a:noFill/>
        </p:spPr>
        <p:txBody>
          <a:bodyPr wrap="none" lIns="0" rIns="0" tIns="0" bIns="0">
            <a:spAutoFit/>
          </a:bodyPr>
          <a:lstStyle/>
          <a:p>
            <a:r>
              <a:rPr sz="1150" b="0">
                <a:solidFill>
                  <a:srgbClr val="2E2E2E"/>
                </a:solidFill>
                <a:latin typeface="Calibri"/>
              </a:rPr>
              <a:t>▪ 3. Young Plants &amp; Propagation Material × Open-Field Cultivation –</a:t>
            </a:r>
          </a:p>
        </p:txBody>
      </p:sp>
      <p:pic>
        <p:nvPicPr>
          <p:cNvPr id="43" name="Picture 42" descr="lock.png"/>
          <p:cNvPicPr>
            <a:picLocks noChangeAspect="1"/>
          </p:cNvPicPr>
          <p:nvPr/>
        </p:nvPicPr>
        <p:blipFill>
          <a:blip r:embed="rId4"/>
          <a:stretch>
            <a:fillRect/>
          </a:stretch>
        </p:blipFill>
        <p:spPr>
          <a:xfrm>
            <a:off x="4297700" y="4912677"/>
            <a:ext cx="134549" cy="195707"/>
          </a:xfrm>
          <a:prstGeom prst="rect">
            <a:avLst/>
          </a:prstGeom>
        </p:spPr>
      </p:pic>
      <p:sp>
        <p:nvSpPr>
          <p:cNvPr id="44" name="TextBox 43"/>
          <p:cNvSpPr txBox="1"/>
          <p:nvPr/>
        </p:nvSpPr>
        <p:spPr>
          <a:xfrm>
            <a:off x="4472810" y="49229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4534961" y="4912677"/>
            <a:ext cx="134549" cy="195707"/>
          </a:xfrm>
          <a:prstGeom prst="rect">
            <a:avLst/>
          </a:prstGeom>
        </p:spPr>
      </p:pic>
      <p:sp>
        <p:nvSpPr>
          <p:cNvPr id="46" name="TextBox 45"/>
          <p:cNvSpPr txBox="1"/>
          <p:nvPr/>
        </p:nvSpPr>
        <p:spPr>
          <a:xfrm>
            <a:off x="4710071" y="492290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5150738"/>
            <a:ext cx="4301380" cy="194310"/>
          </a:xfrm>
          <a:prstGeom prst="rect">
            <a:avLst/>
          </a:prstGeom>
          <a:noFill/>
        </p:spPr>
        <p:txBody>
          <a:bodyPr wrap="none" lIns="0" rIns="0" tIns="0" bIns="0">
            <a:spAutoFit/>
          </a:bodyPr>
          <a:lstStyle/>
          <a:p>
            <a:r>
              <a:rPr sz="1150" b="0">
                <a:solidFill>
                  <a:srgbClr val="2E2E2E"/>
                </a:solidFill>
                <a:latin typeface="Calibri"/>
              </a:rPr>
              <a:t>▪ 4. Flower Bulbs, Corms, Rhizomes &amp; Tubers × Open-Field Cultivation –</a:t>
            </a:r>
          </a:p>
        </p:txBody>
      </p:sp>
      <p:pic>
        <p:nvPicPr>
          <p:cNvPr id="48" name="Picture 47" descr="lock.png"/>
          <p:cNvPicPr>
            <a:picLocks noChangeAspect="1"/>
          </p:cNvPicPr>
          <p:nvPr/>
        </p:nvPicPr>
        <p:blipFill>
          <a:blip r:embed="rId4"/>
          <a:stretch>
            <a:fillRect/>
          </a:stretch>
        </p:blipFill>
        <p:spPr>
          <a:xfrm>
            <a:off x="4526759" y="5140515"/>
            <a:ext cx="134549" cy="195707"/>
          </a:xfrm>
          <a:prstGeom prst="rect">
            <a:avLst/>
          </a:prstGeom>
        </p:spPr>
      </p:pic>
      <p:sp>
        <p:nvSpPr>
          <p:cNvPr id="49" name="TextBox 48"/>
          <p:cNvSpPr txBox="1"/>
          <p:nvPr/>
        </p:nvSpPr>
        <p:spPr>
          <a:xfrm>
            <a:off x="4701869" y="515073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764020" y="5140515"/>
            <a:ext cx="134549" cy="195707"/>
          </a:xfrm>
          <a:prstGeom prst="rect">
            <a:avLst/>
          </a:prstGeom>
        </p:spPr>
      </p:pic>
      <p:sp>
        <p:nvSpPr>
          <p:cNvPr id="51" name="TextBox 50"/>
          <p:cNvSpPr txBox="1"/>
          <p:nvPr/>
        </p:nvSpPr>
        <p:spPr>
          <a:xfrm>
            <a:off x="4939130" y="515073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5378576"/>
            <a:ext cx="3125247" cy="194310"/>
          </a:xfrm>
          <a:prstGeom prst="rect">
            <a:avLst/>
          </a:prstGeom>
          <a:noFill/>
        </p:spPr>
        <p:txBody>
          <a:bodyPr wrap="none" lIns="0" rIns="0" tIns="0" bIns="0">
            <a:spAutoFit/>
          </a:bodyPr>
          <a:lstStyle/>
          <a:p>
            <a:r>
              <a:rPr sz="1150" b="0">
                <a:solidFill>
                  <a:srgbClr val="2E2E2E"/>
                </a:solidFill>
                <a:latin typeface="Calibri"/>
              </a:rPr>
              <a:t>▪ 5. Cut Foliage &amp; Greens × Open-Field Cultivation –</a:t>
            </a:r>
          </a:p>
        </p:txBody>
      </p:sp>
      <p:pic>
        <p:nvPicPr>
          <p:cNvPr id="53" name="Picture 52" descr="lock.png"/>
          <p:cNvPicPr>
            <a:picLocks noChangeAspect="1"/>
          </p:cNvPicPr>
          <p:nvPr/>
        </p:nvPicPr>
        <p:blipFill>
          <a:blip r:embed="rId4"/>
          <a:stretch>
            <a:fillRect/>
          </a:stretch>
        </p:blipFill>
        <p:spPr>
          <a:xfrm>
            <a:off x="3350626" y="5368353"/>
            <a:ext cx="134549" cy="195707"/>
          </a:xfrm>
          <a:prstGeom prst="rect">
            <a:avLst/>
          </a:prstGeom>
        </p:spPr>
      </p:pic>
      <p:sp>
        <p:nvSpPr>
          <p:cNvPr id="54" name="TextBox 53"/>
          <p:cNvSpPr txBox="1"/>
          <p:nvPr/>
        </p:nvSpPr>
        <p:spPr>
          <a:xfrm>
            <a:off x="3525736" y="537857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587887" y="5368353"/>
            <a:ext cx="134549" cy="195707"/>
          </a:xfrm>
          <a:prstGeom prst="rect">
            <a:avLst/>
          </a:prstGeom>
        </p:spPr>
      </p:pic>
      <p:sp>
        <p:nvSpPr>
          <p:cNvPr id="56" name="TextBox 55"/>
          <p:cNvSpPr txBox="1"/>
          <p:nvPr/>
        </p:nvSpPr>
        <p:spPr>
          <a:xfrm>
            <a:off x="3762996" y="537857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4467225"/>
            <a:ext cx="1657350" cy="194310"/>
          </a:xfrm>
          <a:prstGeom prst="rect">
            <a:avLst/>
          </a:prstGeom>
          <a:noFill/>
        </p:spPr>
        <p:txBody>
          <a:bodyPr wrap="none" lIns="0" rIns="0" tIns="0" bIns="0">
            <a:spAutoFit/>
          </a:bodyPr>
          <a:lstStyle/>
          <a:p>
            <a:r>
              <a:rPr sz="1150" b="0">
                <a:solidFill>
                  <a:srgbClr val="2E2E2E"/>
                </a:solidFill>
                <a:latin typeface="Calibri"/>
              </a:rPr>
              <a:t>▪ 'Potted Flowering Plants ×</a:t>
            </a:r>
          </a:p>
        </p:txBody>
      </p:sp>
      <p:sp>
        <p:nvSpPr>
          <p:cNvPr id="58" name="TextBox 57"/>
          <p:cNvSpPr txBox="1"/>
          <p:nvPr/>
        </p:nvSpPr>
        <p:spPr>
          <a:xfrm>
            <a:off x="6029325" y="4642485"/>
            <a:ext cx="1436290" cy="194310"/>
          </a:xfrm>
          <a:prstGeom prst="rect">
            <a:avLst/>
          </a:prstGeom>
          <a:noFill/>
        </p:spPr>
        <p:txBody>
          <a:bodyPr wrap="none" lIns="0" rIns="0" tIns="0" bIns="0">
            <a:spAutoFit/>
          </a:bodyPr>
          <a:lstStyle/>
          <a:p>
            <a:r>
              <a:rPr sz="1150" b="0">
                <a:solidFill>
                  <a:srgbClr val="2E2E2E"/>
                </a:solidFill>
                <a:latin typeface="Calibri"/>
              </a:rPr>
              <a:t>Open-Field Cultivation'</a:t>
            </a:r>
          </a:p>
        </p:txBody>
      </p:sp>
      <p:sp>
        <p:nvSpPr>
          <p:cNvPr id="59" name="TextBox 58"/>
          <p:cNvSpPr txBox="1"/>
          <p:nvPr/>
        </p:nvSpPr>
        <p:spPr>
          <a:xfrm>
            <a:off x="6029325" y="4817745"/>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0" name="Picture 59" descr="lock.png"/>
          <p:cNvPicPr>
            <a:picLocks noChangeAspect="1"/>
          </p:cNvPicPr>
          <p:nvPr/>
        </p:nvPicPr>
        <p:blipFill>
          <a:blip r:embed="rId4"/>
          <a:stretch>
            <a:fillRect/>
          </a:stretch>
        </p:blipFill>
        <p:spPr>
          <a:xfrm>
            <a:off x="6335083" y="4807521"/>
            <a:ext cx="134549" cy="195707"/>
          </a:xfrm>
          <a:prstGeom prst="rect">
            <a:avLst/>
          </a:prstGeom>
        </p:spPr>
      </p:pic>
      <p:sp>
        <p:nvSpPr>
          <p:cNvPr id="61" name="TextBox 60"/>
          <p:cNvSpPr txBox="1"/>
          <p:nvPr/>
        </p:nvSpPr>
        <p:spPr>
          <a:xfrm>
            <a:off x="6510192" y="4817745"/>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2" name="TextBox 61"/>
          <p:cNvSpPr txBox="1"/>
          <p:nvPr/>
        </p:nvSpPr>
        <p:spPr>
          <a:xfrm>
            <a:off x="6029325" y="499300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3" name="Picture 62" descr="lock.png"/>
          <p:cNvPicPr>
            <a:picLocks noChangeAspect="1"/>
          </p:cNvPicPr>
          <p:nvPr/>
        </p:nvPicPr>
        <p:blipFill>
          <a:blip r:embed="rId4"/>
          <a:stretch>
            <a:fillRect/>
          </a:stretch>
        </p:blipFill>
        <p:spPr>
          <a:xfrm>
            <a:off x="6127418" y="4982781"/>
            <a:ext cx="134549" cy="195707"/>
          </a:xfrm>
          <a:prstGeom prst="rect">
            <a:avLst/>
          </a:prstGeom>
        </p:spPr>
      </p:pic>
      <p:sp>
        <p:nvSpPr>
          <p:cNvPr id="64" name="TextBox 63"/>
          <p:cNvSpPr txBox="1"/>
          <p:nvPr/>
        </p:nvSpPr>
        <p:spPr>
          <a:xfrm>
            <a:off x="6302527" y="499300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5" name="TextBox 64"/>
          <p:cNvSpPr txBox="1"/>
          <p:nvPr/>
        </p:nvSpPr>
        <p:spPr>
          <a:xfrm>
            <a:off x="6029325" y="516826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6" name="TextBox 65"/>
          <p:cNvSpPr txBox="1"/>
          <p:nvPr/>
        </p:nvSpPr>
        <p:spPr>
          <a:xfrm>
            <a:off x="8124825" y="4467225"/>
            <a:ext cx="1657350" cy="194310"/>
          </a:xfrm>
          <a:prstGeom prst="rect">
            <a:avLst/>
          </a:prstGeom>
          <a:noFill/>
        </p:spPr>
        <p:txBody>
          <a:bodyPr wrap="none" lIns="0" rIns="0" tIns="0" bIns="0">
            <a:spAutoFit/>
          </a:bodyPr>
          <a:lstStyle/>
          <a:p>
            <a:r>
              <a:rPr sz="1150" b="0">
                <a:solidFill>
                  <a:srgbClr val="2E2E2E"/>
                </a:solidFill>
                <a:latin typeface="Calibri"/>
              </a:rPr>
              <a:t>▪ 'Potted Flowering Plants ×</a:t>
            </a:r>
          </a:p>
        </p:txBody>
      </p:sp>
      <p:sp>
        <p:nvSpPr>
          <p:cNvPr id="67" name="TextBox 66"/>
          <p:cNvSpPr txBox="1"/>
          <p:nvPr/>
        </p:nvSpPr>
        <p:spPr>
          <a:xfrm>
            <a:off x="8124825" y="4642485"/>
            <a:ext cx="1436290" cy="194310"/>
          </a:xfrm>
          <a:prstGeom prst="rect">
            <a:avLst/>
          </a:prstGeom>
          <a:noFill/>
        </p:spPr>
        <p:txBody>
          <a:bodyPr wrap="none" lIns="0" rIns="0" tIns="0" bIns="0">
            <a:spAutoFit/>
          </a:bodyPr>
          <a:lstStyle/>
          <a:p>
            <a:r>
              <a:rPr sz="1150" b="0">
                <a:solidFill>
                  <a:srgbClr val="2E2E2E"/>
                </a:solidFill>
                <a:latin typeface="Calibri"/>
              </a:rPr>
              <a:t>Open-Field Cultivation'</a:t>
            </a:r>
          </a:p>
        </p:txBody>
      </p:sp>
      <p:sp>
        <p:nvSpPr>
          <p:cNvPr id="68" name="TextBox 67"/>
          <p:cNvSpPr txBox="1"/>
          <p:nvPr/>
        </p:nvSpPr>
        <p:spPr>
          <a:xfrm>
            <a:off x="8124825" y="4817745"/>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9" name="Picture 68" descr="lock.png"/>
          <p:cNvPicPr>
            <a:picLocks noChangeAspect="1"/>
          </p:cNvPicPr>
          <p:nvPr/>
        </p:nvPicPr>
        <p:blipFill>
          <a:blip r:embed="rId4"/>
          <a:stretch>
            <a:fillRect/>
          </a:stretch>
        </p:blipFill>
        <p:spPr>
          <a:xfrm>
            <a:off x="8763474" y="4807521"/>
            <a:ext cx="134549" cy="195707"/>
          </a:xfrm>
          <a:prstGeom prst="rect">
            <a:avLst/>
          </a:prstGeom>
        </p:spPr>
      </p:pic>
      <p:sp>
        <p:nvSpPr>
          <p:cNvPr id="70" name="TextBox 69"/>
          <p:cNvSpPr txBox="1"/>
          <p:nvPr/>
        </p:nvSpPr>
        <p:spPr>
          <a:xfrm>
            <a:off x="8938584" y="481774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1" name="Picture 70" descr="lock.png"/>
          <p:cNvPicPr>
            <a:picLocks noChangeAspect="1"/>
          </p:cNvPicPr>
          <p:nvPr/>
        </p:nvPicPr>
        <p:blipFill>
          <a:blip r:embed="rId4"/>
          <a:stretch>
            <a:fillRect/>
          </a:stretch>
        </p:blipFill>
        <p:spPr>
          <a:xfrm>
            <a:off x="9334179" y="4807521"/>
            <a:ext cx="134549" cy="195707"/>
          </a:xfrm>
          <a:prstGeom prst="rect">
            <a:avLst/>
          </a:prstGeom>
        </p:spPr>
      </p:pic>
      <p:sp>
        <p:nvSpPr>
          <p:cNvPr id="72" name="TextBox 71"/>
          <p:cNvSpPr txBox="1"/>
          <p:nvPr/>
        </p:nvSpPr>
        <p:spPr>
          <a:xfrm>
            <a:off x="8124825" y="499300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3" name="TextBox 72"/>
          <p:cNvSpPr txBox="1"/>
          <p:nvPr/>
        </p:nvSpPr>
        <p:spPr>
          <a:xfrm>
            <a:off x="8124825" y="516826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 × Flower Species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Flower Species,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flower species sub-segments</a:t>
            </a:r>
          </a:p>
        </p:txBody>
      </p:sp>
      <p:sp>
        <p:nvSpPr>
          <p:cNvPr id="10" name="Rounded Rectangle 9"/>
          <p:cNvSpPr/>
          <p:nvPr/>
        </p:nvSpPr>
        <p:spPr>
          <a:xfrm>
            <a:off x="142875" y="981075"/>
            <a:ext cx="11906250" cy="5438775"/>
          </a:xfrm>
          <a:prstGeom prst="roundRect">
            <a:avLst>
              <a:gd name="adj" fmla="val 14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Type × Flower Species, 2026E and 2036F (US$ Mn)</a:t>
            </a:r>
          </a:p>
        </p:txBody>
      </p:sp>
      <p:graphicFrame>
        <p:nvGraphicFramePr>
          <p:cNvPr id="12" name="Table 11"/>
          <p:cNvGraphicFramePr>
            <a:graphicFrameLocks noGrp="1"/>
          </p:cNvGraphicFramePr>
          <p:nvPr/>
        </p:nvGraphicFramePr>
        <p:xfrm>
          <a:off x="152400" y="1238250"/>
          <a:ext cx="11949053" cy="4972050"/>
        </p:xfrm>
        <a:graphic>
          <a:graphicData uri="http://schemas.openxmlformats.org/drawingml/2006/table">
            <a:tbl>
              <a:tblPr>
                <a:tableStyleId>{5C22544A-7EE6-4342-B048-85BDC9FD1C3A}</a:tableStyleId>
              </a:tblPr>
              <a:tblGrid>
                <a:gridCol w="2476506"/>
                <a:gridCol w="361297"/>
                <a:gridCol w="357056"/>
                <a:gridCol w="361297"/>
                <a:gridCol w="357056"/>
                <a:gridCol w="361297"/>
                <a:gridCol w="357056"/>
                <a:gridCol w="361297"/>
                <a:gridCol w="357056"/>
                <a:gridCol w="361297"/>
                <a:gridCol w="357056"/>
                <a:gridCol w="361297"/>
                <a:gridCol w="357056"/>
                <a:gridCol w="361297"/>
                <a:gridCol w="357056"/>
                <a:gridCol w="361297"/>
                <a:gridCol w="357056"/>
                <a:gridCol w="361297"/>
                <a:gridCol w="357056"/>
                <a:gridCol w="361297"/>
                <a:gridCol w="357056"/>
                <a:gridCol w="361297"/>
                <a:gridCol w="357056"/>
                <a:gridCol w="361297"/>
                <a:gridCol w="357056"/>
                <a:gridCol w="395230"/>
                <a:gridCol w="457081"/>
              </a:tblGrid>
              <a:tr h="438912">
                <a:tc rowSpan="2">
                  <a:txBody>
                    <a:bodyPr wrap="none"/>
                    <a:lstStyle/>
                    <a:p>
                      <a:pPr algn="l"/>
                      <a:r>
                        <a:rPr sz="1100" b="1">
                          <a:solidFill>
                            <a:srgbClr val="0B2E4A"/>
                          </a:solidFill>
                          <a:latin typeface="Calibri"/>
                        </a:rPr>
                        <a:t>Product Type</a:t>
                      </a: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Roses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Carnations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Chrysanthe</a:t>
                      </a:r>
                      <a:endParaRPr sz="1100"/>
                    </a:p>
                    <a:p>
                      <a:pPr algn="ctr"/>
                      <a:r>
                        <a:rPr sz="1100" b="1">
                          <a:solidFill>
                            <a:srgbClr val="0B2E4A"/>
                          </a:solidFill>
                          <a:latin typeface="Calibri"/>
                        </a:rPr>
                        <a:t>mums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Lilies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Alstroemeria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Hydrangeas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Gerbera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Orchids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Tulips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Lisianthus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Peonies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Others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r>
              <a:tr h="246634">
                <a:tc vMerge="1">
                  <a:txBody>
                    <a:bodyPr wrap="none"/>
                    <a:lstStyle/>
                    <a:p>
                      <a:pPr algn="l"/>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r>
              <a:tr h="246634">
                <a:tc>
                  <a:txBody>
                    <a:bodyPr wrap="none"/>
                    <a:lstStyle/>
                    <a:p>
                      <a:pPr algn="l"/>
                      <a:r>
                        <a:rPr sz="1100" b="1">
                          <a:solidFill>
                            <a:srgbClr val="2E2E2E"/>
                          </a:solidFill>
                          <a:latin typeface="Calibri"/>
                        </a:rPr>
                        <a:t>Cut Flowers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206">
                <a:tc>
                  <a:txBody>
                    <a:bodyPr wrap="none"/>
                    <a:lstStyle/>
                    <a:p>
                      <a:pPr algn="l"/>
                      <a:r>
                        <a:rPr sz="1100" b="1">
                          <a:solidFill>
                            <a:srgbClr val="2E2E2E"/>
                          </a:solidFill>
                          <a:latin typeface="Calibri"/>
                        </a:rPr>
                        <a:t>Potted</a:t>
                      </a:r>
                      <a:endParaRPr sz="1100"/>
                    </a:p>
                    <a:p>
                      <a:pPr algn="l"/>
                      <a:r>
                        <a:rPr sz="1100" b="1">
                          <a:solidFill>
                            <a:srgbClr val="2E2E2E"/>
                          </a:solidFill>
                          <a:latin typeface="Calibri"/>
                        </a:rPr>
                        <a:t>Flowering</a:t>
                      </a:r>
                      <a:endParaRPr sz="1100"/>
                    </a:p>
                    <a:p>
                      <a:pPr algn="l"/>
                      <a:r>
                        <a:rPr sz="1100" b="1">
                          <a:solidFill>
                            <a:srgbClr val="2E2E2E"/>
                          </a:solidFill>
                          <a:latin typeface="Calibri"/>
                        </a:rPr>
                        <a:t>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420">
                <a:tc>
                  <a:txBody>
                    <a:bodyPr wrap="none"/>
                    <a:lstStyle/>
                    <a:p>
                      <a:pPr algn="l"/>
                      <a:r>
                        <a:rPr sz="1100" b="1">
                          <a:solidFill>
                            <a:srgbClr val="2E2E2E"/>
                          </a:solidFill>
                          <a:latin typeface="Calibri"/>
                        </a:rPr>
                        <a:t>Potted Foliage</a:t>
                      </a:r>
                      <a:endParaRPr sz="1100"/>
                    </a:p>
                    <a:p>
                      <a:pPr algn="l"/>
                      <a:r>
                        <a:rPr sz="1100" b="1">
                          <a:solidFill>
                            <a:srgbClr val="2E2E2E"/>
                          </a:solidFill>
                          <a:latin typeface="Calibri"/>
                        </a:rPr>
                        <a:t>Plants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824992">
                <a:tc>
                  <a:txBody>
                    <a:bodyPr wrap="none"/>
                    <a:lstStyle/>
                    <a:p>
                      <a:pPr algn="l"/>
                      <a:r>
                        <a:rPr sz="1100" b="1">
                          <a:solidFill>
                            <a:srgbClr val="2E2E2E"/>
                          </a:solidFill>
                          <a:latin typeface="Calibri"/>
                        </a:rPr>
                        <a:t>Bedding &amp;</a:t>
                      </a:r>
                      <a:endParaRPr sz="1100"/>
                    </a:p>
                    <a:p>
                      <a:pPr algn="l"/>
                      <a:r>
                        <a:rPr sz="1100" b="1">
                          <a:solidFill>
                            <a:srgbClr val="2E2E2E"/>
                          </a:solidFill>
                          <a:latin typeface="Calibri"/>
                        </a:rPr>
                        <a:t>Garden</a:t>
                      </a:r>
                      <a:endParaRPr sz="1100"/>
                    </a:p>
                    <a:p>
                      <a:pPr algn="l"/>
                      <a:r>
                        <a:rPr sz="1100" b="1">
                          <a:solidFill>
                            <a:srgbClr val="2E2E2E"/>
                          </a:solidFill>
                          <a:latin typeface="Calibri"/>
                        </a:rPr>
                        <a:t>Flowering</a:t>
                      </a:r>
                      <a:endParaRPr sz="1100"/>
                    </a:p>
                    <a:p>
                      <a:pPr algn="l"/>
                      <a:r>
                        <a:rPr sz="1100" b="1">
                          <a:solidFill>
                            <a:srgbClr val="2E2E2E"/>
                          </a:solidFill>
                          <a:latin typeface="Calibri"/>
                        </a:rPr>
                        <a:t>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420">
                <a:tc>
                  <a:txBody>
                    <a:bodyPr wrap="none"/>
                    <a:lstStyle/>
                    <a:p>
                      <a:pPr algn="l"/>
                      <a:r>
                        <a:rPr sz="1100" b="1">
                          <a:solidFill>
                            <a:srgbClr val="2E2E2E"/>
                          </a:solidFill>
                          <a:latin typeface="Calibri"/>
                        </a:rPr>
                        <a:t>Cut Foliage &amp;</a:t>
                      </a:r>
                      <a:endParaRPr sz="1100"/>
                    </a:p>
                    <a:p>
                      <a:pPr algn="l"/>
                      <a:r>
                        <a:rPr sz="1100" b="1">
                          <a:solidFill>
                            <a:srgbClr val="2E2E2E"/>
                          </a:solidFill>
                          <a:latin typeface="Calibri"/>
                        </a:rPr>
                        <a:t>Greens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206">
                <a:tc>
                  <a:txBody>
                    <a:bodyPr wrap="none"/>
                    <a:lstStyle/>
                    <a:p>
                      <a:pPr algn="l"/>
                      <a:r>
                        <a:rPr sz="1100" b="1">
                          <a:solidFill>
                            <a:srgbClr val="2E2E2E"/>
                          </a:solidFill>
                          <a:latin typeface="Calibri"/>
                        </a:rPr>
                        <a:t>Young Plants &amp;</a:t>
                      </a:r>
                      <a:endParaRPr sz="1100"/>
                    </a:p>
                    <a:p>
                      <a:pPr algn="l"/>
                      <a:r>
                        <a:rPr sz="1100" b="1">
                          <a:solidFill>
                            <a:srgbClr val="2E2E2E"/>
                          </a:solidFill>
                          <a:latin typeface="Calibri"/>
                        </a:rPr>
                        <a:t>Propagation</a:t>
                      </a:r>
                      <a:endParaRPr sz="1100"/>
                    </a:p>
                    <a:p>
                      <a:pPr algn="l"/>
                      <a:r>
                        <a:rPr sz="1100" b="1">
                          <a:solidFill>
                            <a:srgbClr val="2E2E2E"/>
                          </a:solidFill>
                          <a:latin typeface="Calibri"/>
                        </a:rPr>
                        <a:t>Material</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824992">
                <a:tc>
                  <a:txBody>
                    <a:bodyPr wrap="none"/>
                    <a:lstStyle/>
                    <a:p>
                      <a:pPr algn="l"/>
                      <a:r>
                        <a:rPr sz="1100" b="1">
                          <a:solidFill>
                            <a:srgbClr val="2E2E2E"/>
                          </a:solidFill>
                          <a:latin typeface="Calibri"/>
                        </a:rPr>
                        <a:t>Flower Bulbs,</a:t>
                      </a:r>
                      <a:endParaRPr sz="1100"/>
                    </a:p>
                    <a:p>
                      <a:pPr algn="l"/>
                      <a:r>
                        <a:rPr sz="1100" b="1">
                          <a:solidFill>
                            <a:srgbClr val="2E2E2E"/>
                          </a:solidFill>
                          <a:latin typeface="Calibri"/>
                        </a:rPr>
                        <a:t>Corms,</a:t>
                      </a:r>
                      <a:endParaRPr sz="1100"/>
                    </a:p>
                    <a:p>
                      <a:pPr algn="l"/>
                      <a:r>
                        <a:rPr sz="1100" b="1">
                          <a:solidFill>
                            <a:srgbClr val="2E2E2E"/>
                          </a:solidFill>
                          <a:latin typeface="Calibri"/>
                        </a:rPr>
                        <a:t>Rhizomes &amp;</a:t>
                      </a:r>
                      <a:endParaRPr sz="1100"/>
                    </a:p>
                    <a:p>
                      <a:pPr algn="l"/>
                      <a:r>
                        <a:rPr sz="1100" b="1">
                          <a:solidFill>
                            <a:srgbClr val="2E2E2E"/>
                          </a:solidFill>
                          <a:latin typeface="Calibri"/>
                        </a:rPr>
                        <a:t>Tubers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634">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6219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411208" y="3800348"/>
            <a:ext cx="366712" cy="533400"/>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Type × Flower Species,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type sub-segment across flower species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Product Type → Flower Species, 2036F (US$ Mn)</a:t>
            </a:r>
          </a:p>
        </p:txBody>
      </p:sp>
      <p:sp>
        <p:nvSpPr>
          <p:cNvPr id="12" name="Freeform 11"/>
          <p:cNvSpPr/>
          <p:nvPr/>
        </p:nvSpPr>
        <p:spPr>
          <a:xfrm>
            <a:off x="2057400" y="1304925"/>
            <a:ext cx="3743325" cy="266700"/>
          </a:xfrm>
          <a:custGeom>
            <a:avLst/>
            <a:gdLst/>
            <a:ahLst/>
            <a:cxnLst/>
            <a:rect l="l" t="t" r="r" b="b"/>
            <a:pathLst>
              <a:path w="393" h="28">
                <a:moveTo>
                  <a:pt x="0" y="15"/>
                </a:moveTo>
                <a:lnTo>
                  <a:pt x="16" y="15"/>
                </a:lnTo>
                <a:lnTo>
                  <a:pt x="33" y="15"/>
                </a:lnTo>
                <a:lnTo>
                  <a:pt x="49" y="14"/>
                </a:lnTo>
                <a:lnTo>
                  <a:pt x="65" y="14"/>
                </a:lnTo>
                <a:lnTo>
                  <a:pt x="82" y="13"/>
                </a:lnTo>
                <a:lnTo>
                  <a:pt x="98" y="13"/>
                </a:lnTo>
                <a:lnTo>
                  <a:pt x="114" y="12"/>
                </a:lnTo>
                <a:lnTo>
                  <a:pt x="131" y="11"/>
                </a:lnTo>
                <a:lnTo>
                  <a:pt x="147" y="10"/>
                </a:lnTo>
                <a:lnTo>
                  <a:pt x="164" y="9"/>
                </a:lnTo>
                <a:lnTo>
                  <a:pt x="180" y="8"/>
                </a:lnTo>
                <a:lnTo>
                  <a:pt x="196" y="7"/>
                </a:lnTo>
                <a:lnTo>
                  <a:pt x="213" y="7"/>
                </a:lnTo>
                <a:lnTo>
                  <a:pt x="229" y="6"/>
                </a:lnTo>
                <a:lnTo>
                  <a:pt x="246" y="5"/>
                </a:lnTo>
                <a:lnTo>
                  <a:pt x="262" y="4"/>
                </a:lnTo>
                <a:lnTo>
                  <a:pt x="278" y="3"/>
                </a:lnTo>
                <a:lnTo>
                  <a:pt x="295" y="2"/>
                </a:lnTo>
                <a:lnTo>
                  <a:pt x="311" y="2"/>
                </a:lnTo>
                <a:lnTo>
                  <a:pt x="327" y="1"/>
                </a:lnTo>
                <a:lnTo>
                  <a:pt x="344" y="1"/>
                </a:lnTo>
                <a:lnTo>
                  <a:pt x="360" y="0"/>
                </a:lnTo>
                <a:lnTo>
                  <a:pt x="377" y="0"/>
                </a:lnTo>
                <a:lnTo>
                  <a:pt x="393" y="0"/>
                </a:lnTo>
                <a:lnTo>
                  <a:pt x="393" y="13"/>
                </a:lnTo>
                <a:lnTo>
                  <a:pt x="377" y="13"/>
                </a:lnTo>
                <a:lnTo>
                  <a:pt x="360" y="14"/>
                </a:lnTo>
                <a:lnTo>
                  <a:pt x="344" y="14"/>
                </a:lnTo>
                <a:lnTo>
                  <a:pt x="327" y="14"/>
                </a:lnTo>
                <a:lnTo>
                  <a:pt x="311" y="15"/>
                </a:lnTo>
                <a:lnTo>
                  <a:pt x="295" y="16"/>
                </a:lnTo>
                <a:lnTo>
                  <a:pt x="278" y="16"/>
                </a:lnTo>
                <a:lnTo>
                  <a:pt x="262" y="17"/>
                </a:lnTo>
                <a:lnTo>
                  <a:pt x="246" y="18"/>
                </a:lnTo>
                <a:lnTo>
                  <a:pt x="229" y="19"/>
                </a:lnTo>
                <a:lnTo>
                  <a:pt x="213" y="20"/>
                </a:lnTo>
                <a:lnTo>
                  <a:pt x="196" y="21"/>
                </a:lnTo>
                <a:lnTo>
                  <a:pt x="180" y="22"/>
                </a:lnTo>
                <a:lnTo>
                  <a:pt x="164" y="23"/>
                </a:lnTo>
                <a:lnTo>
                  <a:pt x="147" y="24"/>
                </a:lnTo>
                <a:lnTo>
                  <a:pt x="131" y="24"/>
                </a:lnTo>
                <a:lnTo>
                  <a:pt x="114" y="25"/>
                </a:lnTo>
                <a:lnTo>
                  <a:pt x="98" y="26"/>
                </a:lnTo>
                <a:lnTo>
                  <a:pt x="82" y="27"/>
                </a:lnTo>
                <a:lnTo>
                  <a:pt x="65" y="27"/>
                </a:lnTo>
                <a:lnTo>
                  <a:pt x="49" y="28"/>
                </a:lnTo>
                <a:lnTo>
                  <a:pt x="33" y="28"/>
                </a:lnTo>
                <a:lnTo>
                  <a:pt x="16" y="28"/>
                </a:lnTo>
                <a:lnTo>
                  <a:pt x="0" y="2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71625"/>
            <a:ext cx="3743325" cy="790575"/>
          </a:xfrm>
          <a:custGeom>
            <a:avLst/>
            <a:gdLst/>
            <a:ahLst/>
            <a:cxnLst/>
            <a:rect l="l" t="t" r="r" b="b"/>
            <a:pathLst>
              <a:path w="393" h="83">
                <a:moveTo>
                  <a:pt x="0" y="0"/>
                </a:moveTo>
                <a:lnTo>
                  <a:pt x="16" y="1"/>
                </a:lnTo>
                <a:lnTo>
                  <a:pt x="33" y="2"/>
                </a:lnTo>
                <a:lnTo>
                  <a:pt x="49" y="3"/>
                </a:lnTo>
                <a:lnTo>
                  <a:pt x="65" y="6"/>
                </a:lnTo>
                <a:lnTo>
                  <a:pt x="82" y="8"/>
                </a:lnTo>
                <a:lnTo>
                  <a:pt x="98" y="11"/>
                </a:lnTo>
                <a:lnTo>
                  <a:pt x="114" y="15"/>
                </a:lnTo>
                <a:lnTo>
                  <a:pt x="131" y="19"/>
                </a:lnTo>
                <a:lnTo>
                  <a:pt x="147" y="23"/>
                </a:lnTo>
                <a:lnTo>
                  <a:pt x="164" y="27"/>
                </a:lnTo>
                <a:lnTo>
                  <a:pt x="180" y="31"/>
                </a:lnTo>
                <a:lnTo>
                  <a:pt x="196" y="36"/>
                </a:lnTo>
                <a:lnTo>
                  <a:pt x="213" y="40"/>
                </a:lnTo>
                <a:lnTo>
                  <a:pt x="229" y="44"/>
                </a:lnTo>
                <a:lnTo>
                  <a:pt x="246" y="49"/>
                </a:lnTo>
                <a:lnTo>
                  <a:pt x="262" y="53"/>
                </a:lnTo>
                <a:lnTo>
                  <a:pt x="278" y="56"/>
                </a:lnTo>
                <a:lnTo>
                  <a:pt x="295" y="60"/>
                </a:lnTo>
                <a:lnTo>
                  <a:pt x="311" y="63"/>
                </a:lnTo>
                <a:lnTo>
                  <a:pt x="327" y="66"/>
                </a:lnTo>
                <a:lnTo>
                  <a:pt x="344" y="68"/>
                </a:lnTo>
                <a:lnTo>
                  <a:pt x="360" y="70"/>
                </a:lnTo>
                <a:lnTo>
                  <a:pt x="377" y="71"/>
                </a:lnTo>
                <a:lnTo>
                  <a:pt x="393" y="71"/>
                </a:lnTo>
                <a:lnTo>
                  <a:pt x="393" y="83"/>
                </a:lnTo>
                <a:lnTo>
                  <a:pt x="377" y="83"/>
                </a:lnTo>
                <a:lnTo>
                  <a:pt x="360" y="82"/>
                </a:lnTo>
                <a:lnTo>
                  <a:pt x="344" y="80"/>
                </a:lnTo>
                <a:lnTo>
                  <a:pt x="327" y="78"/>
                </a:lnTo>
                <a:lnTo>
                  <a:pt x="311" y="75"/>
                </a:lnTo>
                <a:lnTo>
                  <a:pt x="295" y="72"/>
                </a:lnTo>
                <a:lnTo>
                  <a:pt x="278" y="69"/>
                </a:lnTo>
                <a:lnTo>
                  <a:pt x="262" y="65"/>
                </a:lnTo>
                <a:lnTo>
                  <a:pt x="246" y="61"/>
                </a:lnTo>
                <a:lnTo>
                  <a:pt x="229" y="57"/>
                </a:lnTo>
                <a:lnTo>
                  <a:pt x="213" y="52"/>
                </a:lnTo>
                <a:lnTo>
                  <a:pt x="196" y="48"/>
                </a:lnTo>
                <a:lnTo>
                  <a:pt x="180" y="43"/>
                </a:lnTo>
                <a:lnTo>
                  <a:pt x="164" y="39"/>
                </a:lnTo>
                <a:lnTo>
                  <a:pt x="147" y="35"/>
                </a:lnTo>
                <a:lnTo>
                  <a:pt x="131" y="31"/>
                </a:lnTo>
                <a:lnTo>
                  <a:pt x="114" y="27"/>
                </a:lnTo>
                <a:lnTo>
                  <a:pt x="98" y="23"/>
                </a:lnTo>
                <a:lnTo>
                  <a:pt x="82" y="20"/>
                </a:lnTo>
                <a:lnTo>
                  <a:pt x="65" y="18"/>
                </a:lnTo>
                <a:lnTo>
                  <a:pt x="49" y="15"/>
                </a:lnTo>
                <a:lnTo>
                  <a:pt x="33" y="14"/>
                </a:lnTo>
                <a:lnTo>
                  <a:pt x="16" y="13"/>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85925"/>
            <a:ext cx="3743325" cy="1495425"/>
          </a:xfrm>
          <a:custGeom>
            <a:avLst/>
            <a:gdLst/>
            <a:ahLst/>
            <a:cxnLst/>
            <a:rect l="l" t="t" r="r" b="b"/>
            <a:pathLst>
              <a:path w="393" h="157">
                <a:moveTo>
                  <a:pt x="0" y="0"/>
                </a:moveTo>
                <a:lnTo>
                  <a:pt x="16" y="1"/>
                </a:lnTo>
                <a:lnTo>
                  <a:pt x="33" y="3"/>
                </a:lnTo>
                <a:lnTo>
                  <a:pt x="49" y="7"/>
                </a:lnTo>
                <a:lnTo>
                  <a:pt x="65" y="12"/>
                </a:lnTo>
                <a:lnTo>
                  <a:pt x="82" y="17"/>
                </a:lnTo>
                <a:lnTo>
                  <a:pt x="98" y="24"/>
                </a:lnTo>
                <a:lnTo>
                  <a:pt x="114" y="31"/>
                </a:lnTo>
                <a:lnTo>
                  <a:pt x="131" y="39"/>
                </a:lnTo>
                <a:lnTo>
                  <a:pt x="147" y="48"/>
                </a:lnTo>
                <a:lnTo>
                  <a:pt x="164" y="57"/>
                </a:lnTo>
                <a:lnTo>
                  <a:pt x="180" y="66"/>
                </a:lnTo>
                <a:lnTo>
                  <a:pt x="196" y="75"/>
                </a:lnTo>
                <a:lnTo>
                  <a:pt x="213" y="85"/>
                </a:lnTo>
                <a:lnTo>
                  <a:pt x="229" y="94"/>
                </a:lnTo>
                <a:lnTo>
                  <a:pt x="246" y="103"/>
                </a:lnTo>
                <a:lnTo>
                  <a:pt x="262" y="111"/>
                </a:lnTo>
                <a:lnTo>
                  <a:pt x="278" y="119"/>
                </a:lnTo>
                <a:lnTo>
                  <a:pt x="295" y="127"/>
                </a:lnTo>
                <a:lnTo>
                  <a:pt x="311" y="133"/>
                </a:lnTo>
                <a:lnTo>
                  <a:pt x="327" y="139"/>
                </a:lnTo>
                <a:lnTo>
                  <a:pt x="344" y="144"/>
                </a:lnTo>
                <a:lnTo>
                  <a:pt x="360" y="147"/>
                </a:lnTo>
                <a:lnTo>
                  <a:pt x="377" y="149"/>
                </a:lnTo>
                <a:lnTo>
                  <a:pt x="393" y="150"/>
                </a:lnTo>
                <a:lnTo>
                  <a:pt x="393" y="157"/>
                </a:lnTo>
                <a:lnTo>
                  <a:pt x="377" y="157"/>
                </a:lnTo>
                <a:lnTo>
                  <a:pt x="360" y="155"/>
                </a:lnTo>
                <a:lnTo>
                  <a:pt x="344" y="151"/>
                </a:lnTo>
                <a:lnTo>
                  <a:pt x="327" y="146"/>
                </a:lnTo>
                <a:lnTo>
                  <a:pt x="311" y="141"/>
                </a:lnTo>
                <a:lnTo>
                  <a:pt x="295" y="134"/>
                </a:lnTo>
                <a:lnTo>
                  <a:pt x="278" y="127"/>
                </a:lnTo>
                <a:lnTo>
                  <a:pt x="262" y="119"/>
                </a:lnTo>
                <a:lnTo>
                  <a:pt x="246" y="110"/>
                </a:lnTo>
                <a:lnTo>
                  <a:pt x="229" y="101"/>
                </a:lnTo>
                <a:lnTo>
                  <a:pt x="213" y="92"/>
                </a:lnTo>
                <a:lnTo>
                  <a:pt x="196" y="83"/>
                </a:lnTo>
                <a:lnTo>
                  <a:pt x="180" y="73"/>
                </a:lnTo>
                <a:lnTo>
                  <a:pt x="164" y="64"/>
                </a:lnTo>
                <a:lnTo>
                  <a:pt x="147" y="55"/>
                </a:lnTo>
                <a:lnTo>
                  <a:pt x="131" y="47"/>
                </a:lnTo>
                <a:lnTo>
                  <a:pt x="114" y="39"/>
                </a:lnTo>
                <a:lnTo>
                  <a:pt x="98" y="31"/>
                </a:lnTo>
                <a:lnTo>
                  <a:pt x="82" y="25"/>
                </a:lnTo>
                <a:lnTo>
                  <a:pt x="65" y="19"/>
                </a:lnTo>
                <a:lnTo>
                  <a:pt x="49" y="14"/>
                </a:lnTo>
                <a:lnTo>
                  <a:pt x="33" y="11"/>
                </a:lnTo>
                <a:lnTo>
                  <a:pt x="16" y="9"/>
                </a:lnTo>
                <a:lnTo>
                  <a:pt x="0" y="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62125"/>
            <a:ext cx="3743325" cy="1971675"/>
          </a:xfrm>
          <a:custGeom>
            <a:avLst/>
            <a:gdLst/>
            <a:ahLst/>
            <a:cxnLst/>
            <a:rect l="l" t="t" r="r" b="b"/>
            <a:pathLst>
              <a:path w="393" h="207">
                <a:moveTo>
                  <a:pt x="0" y="0"/>
                </a:moveTo>
                <a:lnTo>
                  <a:pt x="16" y="1"/>
                </a:lnTo>
                <a:lnTo>
                  <a:pt x="33" y="4"/>
                </a:lnTo>
                <a:lnTo>
                  <a:pt x="49" y="9"/>
                </a:lnTo>
                <a:lnTo>
                  <a:pt x="65" y="15"/>
                </a:lnTo>
                <a:lnTo>
                  <a:pt x="82" y="22"/>
                </a:lnTo>
                <a:lnTo>
                  <a:pt x="98" y="31"/>
                </a:lnTo>
                <a:lnTo>
                  <a:pt x="114" y="41"/>
                </a:lnTo>
                <a:lnTo>
                  <a:pt x="131" y="52"/>
                </a:lnTo>
                <a:lnTo>
                  <a:pt x="147" y="63"/>
                </a:lnTo>
                <a:lnTo>
                  <a:pt x="164" y="75"/>
                </a:lnTo>
                <a:lnTo>
                  <a:pt x="180" y="88"/>
                </a:lnTo>
                <a:lnTo>
                  <a:pt x="196" y="100"/>
                </a:lnTo>
                <a:lnTo>
                  <a:pt x="213" y="113"/>
                </a:lnTo>
                <a:lnTo>
                  <a:pt x="229" y="125"/>
                </a:lnTo>
                <a:lnTo>
                  <a:pt x="246" y="137"/>
                </a:lnTo>
                <a:lnTo>
                  <a:pt x="262" y="149"/>
                </a:lnTo>
                <a:lnTo>
                  <a:pt x="278" y="159"/>
                </a:lnTo>
                <a:lnTo>
                  <a:pt x="295" y="169"/>
                </a:lnTo>
                <a:lnTo>
                  <a:pt x="311" y="178"/>
                </a:lnTo>
                <a:lnTo>
                  <a:pt x="327" y="186"/>
                </a:lnTo>
                <a:lnTo>
                  <a:pt x="344" y="192"/>
                </a:lnTo>
                <a:lnTo>
                  <a:pt x="360" y="197"/>
                </a:lnTo>
                <a:lnTo>
                  <a:pt x="377" y="200"/>
                </a:lnTo>
                <a:lnTo>
                  <a:pt x="393" y="201"/>
                </a:lnTo>
                <a:lnTo>
                  <a:pt x="393" y="207"/>
                </a:lnTo>
                <a:lnTo>
                  <a:pt x="377" y="206"/>
                </a:lnTo>
                <a:lnTo>
                  <a:pt x="360" y="203"/>
                </a:lnTo>
                <a:lnTo>
                  <a:pt x="344" y="199"/>
                </a:lnTo>
                <a:lnTo>
                  <a:pt x="327" y="193"/>
                </a:lnTo>
                <a:lnTo>
                  <a:pt x="311" y="185"/>
                </a:lnTo>
                <a:lnTo>
                  <a:pt x="295" y="176"/>
                </a:lnTo>
                <a:lnTo>
                  <a:pt x="278" y="166"/>
                </a:lnTo>
                <a:lnTo>
                  <a:pt x="262" y="155"/>
                </a:lnTo>
                <a:lnTo>
                  <a:pt x="246" y="144"/>
                </a:lnTo>
                <a:lnTo>
                  <a:pt x="229" y="132"/>
                </a:lnTo>
                <a:lnTo>
                  <a:pt x="213" y="120"/>
                </a:lnTo>
                <a:lnTo>
                  <a:pt x="196" y="107"/>
                </a:lnTo>
                <a:lnTo>
                  <a:pt x="180" y="95"/>
                </a:lnTo>
                <a:lnTo>
                  <a:pt x="164" y="82"/>
                </a:lnTo>
                <a:lnTo>
                  <a:pt x="147" y="70"/>
                </a:lnTo>
                <a:lnTo>
                  <a:pt x="131" y="59"/>
                </a:lnTo>
                <a:lnTo>
                  <a:pt x="114" y="48"/>
                </a:lnTo>
                <a:lnTo>
                  <a:pt x="98" y="38"/>
                </a:lnTo>
                <a:lnTo>
                  <a:pt x="82" y="29"/>
                </a:lnTo>
                <a:lnTo>
                  <a:pt x="65" y="22"/>
                </a:lnTo>
                <a:lnTo>
                  <a:pt x="49" y="15"/>
                </a:lnTo>
                <a:lnTo>
                  <a:pt x="33" y="11"/>
                </a:lnTo>
                <a:lnTo>
                  <a:pt x="16" y="8"/>
                </a:lnTo>
                <a:lnTo>
                  <a:pt x="0" y="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1828800"/>
            <a:ext cx="3743325" cy="2419350"/>
          </a:xfrm>
          <a:custGeom>
            <a:avLst/>
            <a:gdLst/>
            <a:ahLst/>
            <a:cxnLst/>
            <a:rect l="l" t="t" r="r" b="b"/>
            <a:pathLst>
              <a:path w="393" h="254">
                <a:moveTo>
                  <a:pt x="0" y="0"/>
                </a:moveTo>
                <a:lnTo>
                  <a:pt x="16" y="1"/>
                </a:lnTo>
                <a:lnTo>
                  <a:pt x="33" y="5"/>
                </a:lnTo>
                <a:lnTo>
                  <a:pt x="49" y="10"/>
                </a:lnTo>
                <a:lnTo>
                  <a:pt x="65" y="18"/>
                </a:lnTo>
                <a:lnTo>
                  <a:pt x="82" y="27"/>
                </a:lnTo>
                <a:lnTo>
                  <a:pt x="98" y="38"/>
                </a:lnTo>
                <a:lnTo>
                  <a:pt x="114" y="51"/>
                </a:lnTo>
                <a:lnTo>
                  <a:pt x="131" y="64"/>
                </a:lnTo>
                <a:lnTo>
                  <a:pt x="147" y="78"/>
                </a:lnTo>
                <a:lnTo>
                  <a:pt x="164" y="93"/>
                </a:lnTo>
                <a:lnTo>
                  <a:pt x="180" y="108"/>
                </a:lnTo>
                <a:lnTo>
                  <a:pt x="196" y="123"/>
                </a:lnTo>
                <a:lnTo>
                  <a:pt x="213" y="139"/>
                </a:lnTo>
                <a:lnTo>
                  <a:pt x="229" y="154"/>
                </a:lnTo>
                <a:lnTo>
                  <a:pt x="246" y="169"/>
                </a:lnTo>
                <a:lnTo>
                  <a:pt x="262" y="183"/>
                </a:lnTo>
                <a:lnTo>
                  <a:pt x="278" y="196"/>
                </a:lnTo>
                <a:lnTo>
                  <a:pt x="295" y="208"/>
                </a:lnTo>
                <a:lnTo>
                  <a:pt x="311" y="219"/>
                </a:lnTo>
                <a:lnTo>
                  <a:pt x="327" y="229"/>
                </a:lnTo>
                <a:lnTo>
                  <a:pt x="344" y="236"/>
                </a:lnTo>
                <a:lnTo>
                  <a:pt x="360" y="242"/>
                </a:lnTo>
                <a:lnTo>
                  <a:pt x="377" y="246"/>
                </a:lnTo>
                <a:lnTo>
                  <a:pt x="393" y="247"/>
                </a:lnTo>
                <a:lnTo>
                  <a:pt x="393" y="254"/>
                </a:lnTo>
                <a:lnTo>
                  <a:pt x="377" y="252"/>
                </a:lnTo>
                <a:lnTo>
                  <a:pt x="360" y="249"/>
                </a:lnTo>
                <a:lnTo>
                  <a:pt x="344" y="243"/>
                </a:lnTo>
                <a:lnTo>
                  <a:pt x="327" y="235"/>
                </a:lnTo>
                <a:lnTo>
                  <a:pt x="311" y="226"/>
                </a:lnTo>
                <a:lnTo>
                  <a:pt x="295" y="215"/>
                </a:lnTo>
                <a:lnTo>
                  <a:pt x="278" y="203"/>
                </a:lnTo>
                <a:lnTo>
                  <a:pt x="262" y="189"/>
                </a:lnTo>
                <a:lnTo>
                  <a:pt x="246" y="175"/>
                </a:lnTo>
                <a:lnTo>
                  <a:pt x="229" y="161"/>
                </a:lnTo>
                <a:lnTo>
                  <a:pt x="213" y="145"/>
                </a:lnTo>
                <a:lnTo>
                  <a:pt x="196" y="130"/>
                </a:lnTo>
                <a:lnTo>
                  <a:pt x="180" y="115"/>
                </a:lnTo>
                <a:lnTo>
                  <a:pt x="164" y="99"/>
                </a:lnTo>
                <a:lnTo>
                  <a:pt x="147" y="85"/>
                </a:lnTo>
                <a:lnTo>
                  <a:pt x="131" y="70"/>
                </a:lnTo>
                <a:lnTo>
                  <a:pt x="114" y="57"/>
                </a:lnTo>
                <a:lnTo>
                  <a:pt x="98" y="45"/>
                </a:lnTo>
                <a:lnTo>
                  <a:pt x="82" y="34"/>
                </a:lnTo>
                <a:lnTo>
                  <a:pt x="65" y="25"/>
                </a:lnTo>
                <a:lnTo>
                  <a:pt x="49" y="17"/>
                </a:lnTo>
                <a:lnTo>
                  <a:pt x="33" y="11"/>
                </a:lnTo>
                <a:lnTo>
                  <a:pt x="16" y="8"/>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1885950"/>
            <a:ext cx="3743325" cy="2847975"/>
          </a:xfrm>
          <a:custGeom>
            <a:avLst/>
            <a:gdLst/>
            <a:ahLst/>
            <a:cxnLst/>
            <a:rect l="l" t="t" r="r" b="b"/>
            <a:pathLst>
              <a:path w="393" h="299">
                <a:moveTo>
                  <a:pt x="0" y="0"/>
                </a:moveTo>
                <a:lnTo>
                  <a:pt x="16" y="2"/>
                </a:lnTo>
                <a:lnTo>
                  <a:pt x="33" y="6"/>
                </a:lnTo>
                <a:lnTo>
                  <a:pt x="49" y="13"/>
                </a:lnTo>
                <a:lnTo>
                  <a:pt x="65" y="22"/>
                </a:lnTo>
                <a:lnTo>
                  <a:pt x="82" y="33"/>
                </a:lnTo>
                <a:lnTo>
                  <a:pt x="98" y="46"/>
                </a:lnTo>
                <a:lnTo>
                  <a:pt x="114" y="61"/>
                </a:lnTo>
                <a:lnTo>
                  <a:pt x="131" y="76"/>
                </a:lnTo>
                <a:lnTo>
                  <a:pt x="147" y="93"/>
                </a:lnTo>
                <a:lnTo>
                  <a:pt x="164" y="111"/>
                </a:lnTo>
                <a:lnTo>
                  <a:pt x="180" y="129"/>
                </a:lnTo>
                <a:lnTo>
                  <a:pt x="196" y="147"/>
                </a:lnTo>
                <a:lnTo>
                  <a:pt x="213" y="165"/>
                </a:lnTo>
                <a:lnTo>
                  <a:pt x="229" y="183"/>
                </a:lnTo>
                <a:lnTo>
                  <a:pt x="246" y="201"/>
                </a:lnTo>
                <a:lnTo>
                  <a:pt x="262" y="218"/>
                </a:lnTo>
                <a:lnTo>
                  <a:pt x="278" y="233"/>
                </a:lnTo>
                <a:lnTo>
                  <a:pt x="295" y="248"/>
                </a:lnTo>
                <a:lnTo>
                  <a:pt x="311" y="261"/>
                </a:lnTo>
                <a:lnTo>
                  <a:pt x="327" y="272"/>
                </a:lnTo>
                <a:lnTo>
                  <a:pt x="344" y="281"/>
                </a:lnTo>
                <a:lnTo>
                  <a:pt x="360" y="288"/>
                </a:lnTo>
                <a:lnTo>
                  <a:pt x="377" y="292"/>
                </a:lnTo>
                <a:lnTo>
                  <a:pt x="393" y="294"/>
                </a:lnTo>
                <a:lnTo>
                  <a:pt x="393" y="299"/>
                </a:lnTo>
                <a:lnTo>
                  <a:pt x="377" y="298"/>
                </a:lnTo>
                <a:lnTo>
                  <a:pt x="360" y="294"/>
                </a:lnTo>
                <a:lnTo>
                  <a:pt x="344" y="287"/>
                </a:lnTo>
                <a:lnTo>
                  <a:pt x="327" y="278"/>
                </a:lnTo>
                <a:lnTo>
                  <a:pt x="311" y="266"/>
                </a:lnTo>
                <a:lnTo>
                  <a:pt x="295" y="254"/>
                </a:lnTo>
                <a:lnTo>
                  <a:pt x="278" y="239"/>
                </a:lnTo>
                <a:lnTo>
                  <a:pt x="262" y="223"/>
                </a:lnTo>
                <a:lnTo>
                  <a:pt x="246" y="207"/>
                </a:lnTo>
                <a:lnTo>
                  <a:pt x="229" y="189"/>
                </a:lnTo>
                <a:lnTo>
                  <a:pt x="213" y="171"/>
                </a:lnTo>
                <a:lnTo>
                  <a:pt x="196" y="153"/>
                </a:lnTo>
                <a:lnTo>
                  <a:pt x="180" y="134"/>
                </a:lnTo>
                <a:lnTo>
                  <a:pt x="164" y="116"/>
                </a:lnTo>
                <a:lnTo>
                  <a:pt x="147" y="99"/>
                </a:lnTo>
                <a:lnTo>
                  <a:pt x="131" y="82"/>
                </a:lnTo>
                <a:lnTo>
                  <a:pt x="114" y="66"/>
                </a:lnTo>
                <a:lnTo>
                  <a:pt x="98" y="52"/>
                </a:lnTo>
                <a:lnTo>
                  <a:pt x="82" y="39"/>
                </a:lnTo>
                <a:lnTo>
                  <a:pt x="65" y="28"/>
                </a:lnTo>
                <a:lnTo>
                  <a:pt x="49" y="19"/>
                </a:lnTo>
                <a:lnTo>
                  <a:pt x="33" y="12"/>
                </a:lnTo>
                <a:lnTo>
                  <a:pt x="16" y="8"/>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943100"/>
            <a:ext cx="3743325" cy="3228975"/>
          </a:xfrm>
          <a:custGeom>
            <a:avLst/>
            <a:gdLst/>
            <a:ahLst/>
            <a:cxnLst/>
            <a:rect l="l" t="t" r="r" b="b"/>
            <a:pathLst>
              <a:path w="393" h="339">
                <a:moveTo>
                  <a:pt x="0" y="0"/>
                </a:moveTo>
                <a:lnTo>
                  <a:pt x="16" y="2"/>
                </a:lnTo>
                <a:lnTo>
                  <a:pt x="33" y="7"/>
                </a:lnTo>
                <a:lnTo>
                  <a:pt x="49" y="15"/>
                </a:lnTo>
                <a:lnTo>
                  <a:pt x="65" y="25"/>
                </a:lnTo>
                <a:lnTo>
                  <a:pt x="82" y="38"/>
                </a:lnTo>
                <a:lnTo>
                  <a:pt x="98" y="52"/>
                </a:lnTo>
                <a:lnTo>
                  <a:pt x="114" y="69"/>
                </a:lnTo>
                <a:lnTo>
                  <a:pt x="131" y="87"/>
                </a:lnTo>
                <a:lnTo>
                  <a:pt x="147" y="106"/>
                </a:lnTo>
                <a:lnTo>
                  <a:pt x="164" y="126"/>
                </a:lnTo>
                <a:lnTo>
                  <a:pt x="180" y="146"/>
                </a:lnTo>
                <a:lnTo>
                  <a:pt x="196" y="167"/>
                </a:lnTo>
                <a:lnTo>
                  <a:pt x="213" y="188"/>
                </a:lnTo>
                <a:lnTo>
                  <a:pt x="229" y="208"/>
                </a:lnTo>
                <a:lnTo>
                  <a:pt x="246" y="228"/>
                </a:lnTo>
                <a:lnTo>
                  <a:pt x="262" y="248"/>
                </a:lnTo>
                <a:lnTo>
                  <a:pt x="278" y="265"/>
                </a:lnTo>
                <a:lnTo>
                  <a:pt x="295" y="282"/>
                </a:lnTo>
                <a:lnTo>
                  <a:pt x="311" y="297"/>
                </a:lnTo>
                <a:lnTo>
                  <a:pt x="327" y="309"/>
                </a:lnTo>
                <a:lnTo>
                  <a:pt x="344" y="320"/>
                </a:lnTo>
                <a:lnTo>
                  <a:pt x="360" y="328"/>
                </a:lnTo>
                <a:lnTo>
                  <a:pt x="377" y="332"/>
                </a:lnTo>
                <a:lnTo>
                  <a:pt x="393" y="334"/>
                </a:lnTo>
                <a:lnTo>
                  <a:pt x="393" y="339"/>
                </a:lnTo>
                <a:lnTo>
                  <a:pt x="377" y="338"/>
                </a:lnTo>
                <a:lnTo>
                  <a:pt x="360" y="333"/>
                </a:lnTo>
                <a:lnTo>
                  <a:pt x="344" y="325"/>
                </a:lnTo>
                <a:lnTo>
                  <a:pt x="327" y="315"/>
                </a:lnTo>
                <a:lnTo>
                  <a:pt x="311" y="302"/>
                </a:lnTo>
                <a:lnTo>
                  <a:pt x="295" y="287"/>
                </a:lnTo>
                <a:lnTo>
                  <a:pt x="278" y="271"/>
                </a:lnTo>
                <a:lnTo>
                  <a:pt x="262" y="253"/>
                </a:lnTo>
                <a:lnTo>
                  <a:pt x="246" y="234"/>
                </a:lnTo>
                <a:lnTo>
                  <a:pt x="229" y="214"/>
                </a:lnTo>
                <a:lnTo>
                  <a:pt x="213" y="193"/>
                </a:lnTo>
                <a:lnTo>
                  <a:pt x="196" y="172"/>
                </a:lnTo>
                <a:lnTo>
                  <a:pt x="180" y="152"/>
                </a:lnTo>
                <a:lnTo>
                  <a:pt x="164" y="131"/>
                </a:lnTo>
                <a:lnTo>
                  <a:pt x="147" y="111"/>
                </a:lnTo>
                <a:lnTo>
                  <a:pt x="131" y="92"/>
                </a:lnTo>
                <a:lnTo>
                  <a:pt x="114" y="74"/>
                </a:lnTo>
                <a:lnTo>
                  <a:pt x="98" y="58"/>
                </a:lnTo>
                <a:lnTo>
                  <a:pt x="82" y="43"/>
                </a:lnTo>
                <a:lnTo>
                  <a:pt x="65" y="30"/>
                </a:lnTo>
                <a:lnTo>
                  <a:pt x="49" y="20"/>
                </a:lnTo>
                <a:lnTo>
                  <a:pt x="33" y="12"/>
                </a:lnTo>
                <a:lnTo>
                  <a:pt x="16" y="7"/>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000250"/>
            <a:ext cx="3743325" cy="3571875"/>
          </a:xfrm>
          <a:custGeom>
            <a:avLst/>
            <a:gdLst/>
            <a:ahLst/>
            <a:cxnLst/>
            <a:rect l="l" t="t" r="r" b="b"/>
            <a:pathLst>
              <a:path w="393" h="375">
                <a:moveTo>
                  <a:pt x="0" y="0"/>
                </a:moveTo>
                <a:lnTo>
                  <a:pt x="16" y="1"/>
                </a:lnTo>
                <a:lnTo>
                  <a:pt x="33" y="7"/>
                </a:lnTo>
                <a:lnTo>
                  <a:pt x="49" y="16"/>
                </a:lnTo>
                <a:lnTo>
                  <a:pt x="65" y="27"/>
                </a:lnTo>
                <a:lnTo>
                  <a:pt x="82" y="41"/>
                </a:lnTo>
                <a:lnTo>
                  <a:pt x="98" y="58"/>
                </a:lnTo>
                <a:lnTo>
                  <a:pt x="114" y="76"/>
                </a:lnTo>
                <a:lnTo>
                  <a:pt x="131" y="96"/>
                </a:lnTo>
                <a:lnTo>
                  <a:pt x="147" y="117"/>
                </a:lnTo>
                <a:lnTo>
                  <a:pt x="164" y="139"/>
                </a:lnTo>
                <a:lnTo>
                  <a:pt x="180" y="162"/>
                </a:lnTo>
                <a:lnTo>
                  <a:pt x="196" y="186"/>
                </a:lnTo>
                <a:lnTo>
                  <a:pt x="213" y="209"/>
                </a:lnTo>
                <a:lnTo>
                  <a:pt x="229" y="232"/>
                </a:lnTo>
                <a:lnTo>
                  <a:pt x="246" y="254"/>
                </a:lnTo>
                <a:lnTo>
                  <a:pt x="262" y="275"/>
                </a:lnTo>
                <a:lnTo>
                  <a:pt x="278" y="295"/>
                </a:lnTo>
                <a:lnTo>
                  <a:pt x="295" y="313"/>
                </a:lnTo>
                <a:lnTo>
                  <a:pt x="311" y="330"/>
                </a:lnTo>
                <a:lnTo>
                  <a:pt x="327" y="344"/>
                </a:lnTo>
                <a:lnTo>
                  <a:pt x="344" y="356"/>
                </a:lnTo>
                <a:lnTo>
                  <a:pt x="360" y="364"/>
                </a:lnTo>
                <a:lnTo>
                  <a:pt x="377" y="370"/>
                </a:lnTo>
                <a:lnTo>
                  <a:pt x="393" y="372"/>
                </a:lnTo>
                <a:lnTo>
                  <a:pt x="393" y="375"/>
                </a:lnTo>
                <a:lnTo>
                  <a:pt x="377" y="373"/>
                </a:lnTo>
                <a:lnTo>
                  <a:pt x="360" y="368"/>
                </a:lnTo>
                <a:lnTo>
                  <a:pt x="344" y="359"/>
                </a:lnTo>
                <a:lnTo>
                  <a:pt x="327" y="347"/>
                </a:lnTo>
                <a:lnTo>
                  <a:pt x="311" y="333"/>
                </a:lnTo>
                <a:lnTo>
                  <a:pt x="295" y="317"/>
                </a:lnTo>
                <a:lnTo>
                  <a:pt x="278" y="298"/>
                </a:lnTo>
                <a:lnTo>
                  <a:pt x="262" y="279"/>
                </a:lnTo>
                <a:lnTo>
                  <a:pt x="246" y="257"/>
                </a:lnTo>
                <a:lnTo>
                  <a:pt x="229" y="235"/>
                </a:lnTo>
                <a:lnTo>
                  <a:pt x="213" y="212"/>
                </a:lnTo>
                <a:lnTo>
                  <a:pt x="196" y="189"/>
                </a:lnTo>
                <a:lnTo>
                  <a:pt x="180" y="166"/>
                </a:lnTo>
                <a:lnTo>
                  <a:pt x="164" y="143"/>
                </a:lnTo>
                <a:lnTo>
                  <a:pt x="147" y="121"/>
                </a:lnTo>
                <a:lnTo>
                  <a:pt x="131" y="99"/>
                </a:lnTo>
                <a:lnTo>
                  <a:pt x="114" y="79"/>
                </a:lnTo>
                <a:lnTo>
                  <a:pt x="98" y="61"/>
                </a:lnTo>
                <a:lnTo>
                  <a:pt x="82" y="45"/>
                </a:lnTo>
                <a:lnTo>
                  <a:pt x="65" y="30"/>
                </a:lnTo>
                <a:lnTo>
                  <a:pt x="49" y="19"/>
                </a:lnTo>
                <a:lnTo>
                  <a:pt x="33" y="10"/>
                </a:lnTo>
                <a:lnTo>
                  <a:pt x="16" y="5"/>
                </a:lnTo>
                <a:lnTo>
                  <a:pt x="0" y="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028825"/>
            <a:ext cx="3743325" cy="3819525"/>
          </a:xfrm>
          <a:custGeom>
            <a:avLst/>
            <a:gdLst/>
            <a:ahLst/>
            <a:cxnLst/>
            <a:rect l="l" t="t" r="r" b="b"/>
            <a:pathLst>
              <a:path w="393" h="401">
                <a:moveTo>
                  <a:pt x="0" y="0"/>
                </a:moveTo>
                <a:lnTo>
                  <a:pt x="16" y="2"/>
                </a:lnTo>
                <a:lnTo>
                  <a:pt x="33" y="8"/>
                </a:lnTo>
                <a:lnTo>
                  <a:pt x="49" y="17"/>
                </a:lnTo>
                <a:lnTo>
                  <a:pt x="65" y="29"/>
                </a:lnTo>
                <a:lnTo>
                  <a:pt x="82" y="45"/>
                </a:lnTo>
                <a:lnTo>
                  <a:pt x="98" y="62"/>
                </a:lnTo>
                <a:lnTo>
                  <a:pt x="114" y="82"/>
                </a:lnTo>
                <a:lnTo>
                  <a:pt x="131" y="103"/>
                </a:lnTo>
                <a:lnTo>
                  <a:pt x="147" y="126"/>
                </a:lnTo>
                <a:lnTo>
                  <a:pt x="164" y="150"/>
                </a:lnTo>
                <a:lnTo>
                  <a:pt x="180" y="174"/>
                </a:lnTo>
                <a:lnTo>
                  <a:pt x="196" y="199"/>
                </a:lnTo>
                <a:lnTo>
                  <a:pt x="213" y="224"/>
                </a:lnTo>
                <a:lnTo>
                  <a:pt x="229" y="248"/>
                </a:lnTo>
                <a:lnTo>
                  <a:pt x="246" y="272"/>
                </a:lnTo>
                <a:lnTo>
                  <a:pt x="262" y="295"/>
                </a:lnTo>
                <a:lnTo>
                  <a:pt x="278" y="316"/>
                </a:lnTo>
                <a:lnTo>
                  <a:pt x="295" y="336"/>
                </a:lnTo>
                <a:lnTo>
                  <a:pt x="311" y="354"/>
                </a:lnTo>
                <a:lnTo>
                  <a:pt x="327" y="369"/>
                </a:lnTo>
                <a:lnTo>
                  <a:pt x="344" y="381"/>
                </a:lnTo>
                <a:lnTo>
                  <a:pt x="360" y="390"/>
                </a:lnTo>
                <a:lnTo>
                  <a:pt x="377" y="396"/>
                </a:lnTo>
                <a:lnTo>
                  <a:pt x="393" y="398"/>
                </a:lnTo>
                <a:lnTo>
                  <a:pt x="393" y="401"/>
                </a:lnTo>
                <a:lnTo>
                  <a:pt x="377" y="399"/>
                </a:lnTo>
                <a:lnTo>
                  <a:pt x="360" y="393"/>
                </a:lnTo>
                <a:lnTo>
                  <a:pt x="344" y="384"/>
                </a:lnTo>
                <a:lnTo>
                  <a:pt x="327" y="371"/>
                </a:lnTo>
                <a:lnTo>
                  <a:pt x="311" y="356"/>
                </a:lnTo>
                <a:lnTo>
                  <a:pt x="295" y="339"/>
                </a:lnTo>
                <a:lnTo>
                  <a:pt x="278" y="319"/>
                </a:lnTo>
                <a:lnTo>
                  <a:pt x="262" y="298"/>
                </a:lnTo>
                <a:lnTo>
                  <a:pt x="246" y="275"/>
                </a:lnTo>
                <a:lnTo>
                  <a:pt x="229" y="251"/>
                </a:lnTo>
                <a:lnTo>
                  <a:pt x="213" y="227"/>
                </a:lnTo>
                <a:lnTo>
                  <a:pt x="196" y="202"/>
                </a:lnTo>
                <a:lnTo>
                  <a:pt x="180" y="177"/>
                </a:lnTo>
                <a:lnTo>
                  <a:pt x="164" y="152"/>
                </a:lnTo>
                <a:lnTo>
                  <a:pt x="147" y="129"/>
                </a:lnTo>
                <a:lnTo>
                  <a:pt x="131" y="106"/>
                </a:lnTo>
                <a:lnTo>
                  <a:pt x="114" y="84"/>
                </a:lnTo>
                <a:lnTo>
                  <a:pt x="98" y="65"/>
                </a:lnTo>
                <a:lnTo>
                  <a:pt x="82" y="47"/>
                </a:lnTo>
                <a:lnTo>
                  <a:pt x="65" y="32"/>
                </a:lnTo>
                <a:lnTo>
                  <a:pt x="49" y="20"/>
                </a:lnTo>
                <a:lnTo>
                  <a:pt x="33" y="10"/>
                </a:lnTo>
                <a:lnTo>
                  <a:pt x="16" y="5"/>
                </a:lnTo>
                <a:lnTo>
                  <a:pt x="0" y="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057400"/>
            <a:ext cx="3743325" cy="4019550"/>
          </a:xfrm>
          <a:custGeom>
            <a:avLst/>
            <a:gdLst/>
            <a:ahLst/>
            <a:cxnLst/>
            <a:rect l="l" t="t" r="r" b="b"/>
            <a:pathLst>
              <a:path w="393" h="422">
                <a:moveTo>
                  <a:pt x="0" y="0"/>
                </a:moveTo>
                <a:lnTo>
                  <a:pt x="16" y="2"/>
                </a:lnTo>
                <a:lnTo>
                  <a:pt x="33" y="8"/>
                </a:lnTo>
                <a:lnTo>
                  <a:pt x="49" y="18"/>
                </a:lnTo>
                <a:lnTo>
                  <a:pt x="65" y="31"/>
                </a:lnTo>
                <a:lnTo>
                  <a:pt x="82" y="47"/>
                </a:lnTo>
                <a:lnTo>
                  <a:pt x="98" y="65"/>
                </a:lnTo>
                <a:lnTo>
                  <a:pt x="114" y="86"/>
                </a:lnTo>
                <a:lnTo>
                  <a:pt x="131" y="109"/>
                </a:lnTo>
                <a:lnTo>
                  <a:pt x="147" y="133"/>
                </a:lnTo>
                <a:lnTo>
                  <a:pt x="164" y="158"/>
                </a:lnTo>
                <a:lnTo>
                  <a:pt x="180" y="184"/>
                </a:lnTo>
                <a:lnTo>
                  <a:pt x="196" y="210"/>
                </a:lnTo>
                <a:lnTo>
                  <a:pt x="213" y="236"/>
                </a:lnTo>
                <a:lnTo>
                  <a:pt x="229" y="262"/>
                </a:lnTo>
                <a:lnTo>
                  <a:pt x="246" y="287"/>
                </a:lnTo>
                <a:lnTo>
                  <a:pt x="262" y="311"/>
                </a:lnTo>
                <a:lnTo>
                  <a:pt x="278" y="334"/>
                </a:lnTo>
                <a:lnTo>
                  <a:pt x="295" y="355"/>
                </a:lnTo>
                <a:lnTo>
                  <a:pt x="311" y="373"/>
                </a:lnTo>
                <a:lnTo>
                  <a:pt x="327" y="389"/>
                </a:lnTo>
                <a:lnTo>
                  <a:pt x="344" y="402"/>
                </a:lnTo>
                <a:lnTo>
                  <a:pt x="360" y="412"/>
                </a:lnTo>
                <a:lnTo>
                  <a:pt x="377" y="418"/>
                </a:lnTo>
                <a:lnTo>
                  <a:pt x="393" y="420"/>
                </a:lnTo>
                <a:lnTo>
                  <a:pt x="393" y="422"/>
                </a:lnTo>
                <a:lnTo>
                  <a:pt x="377" y="420"/>
                </a:lnTo>
                <a:lnTo>
                  <a:pt x="360" y="414"/>
                </a:lnTo>
                <a:lnTo>
                  <a:pt x="344" y="404"/>
                </a:lnTo>
                <a:lnTo>
                  <a:pt x="327" y="391"/>
                </a:lnTo>
                <a:lnTo>
                  <a:pt x="311" y="375"/>
                </a:lnTo>
                <a:lnTo>
                  <a:pt x="295" y="357"/>
                </a:lnTo>
                <a:lnTo>
                  <a:pt x="278" y="336"/>
                </a:lnTo>
                <a:lnTo>
                  <a:pt x="262" y="313"/>
                </a:lnTo>
                <a:lnTo>
                  <a:pt x="246" y="289"/>
                </a:lnTo>
                <a:lnTo>
                  <a:pt x="229" y="264"/>
                </a:lnTo>
                <a:lnTo>
                  <a:pt x="213" y="238"/>
                </a:lnTo>
                <a:lnTo>
                  <a:pt x="196" y="212"/>
                </a:lnTo>
                <a:lnTo>
                  <a:pt x="180" y="186"/>
                </a:lnTo>
                <a:lnTo>
                  <a:pt x="164" y="160"/>
                </a:lnTo>
                <a:lnTo>
                  <a:pt x="147" y="135"/>
                </a:lnTo>
                <a:lnTo>
                  <a:pt x="131" y="111"/>
                </a:lnTo>
                <a:lnTo>
                  <a:pt x="114" y="88"/>
                </a:lnTo>
                <a:lnTo>
                  <a:pt x="98" y="68"/>
                </a:lnTo>
                <a:lnTo>
                  <a:pt x="82" y="49"/>
                </a:lnTo>
                <a:lnTo>
                  <a:pt x="65" y="33"/>
                </a:lnTo>
                <a:lnTo>
                  <a:pt x="49" y="20"/>
                </a:lnTo>
                <a:lnTo>
                  <a:pt x="33" y="10"/>
                </a:lnTo>
                <a:lnTo>
                  <a:pt x="16" y="4"/>
                </a:lnTo>
                <a:lnTo>
                  <a:pt x="0" y="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2076450"/>
            <a:ext cx="3743325" cy="4200525"/>
          </a:xfrm>
          <a:custGeom>
            <a:avLst/>
            <a:gdLst/>
            <a:ahLst/>
            <a:cxnLst/>
            <a:rect l="l" t="t" r="r" b="b"/>
            <a:pathLst>
              <a:path w="393" h="441">
                <a:moveTo>
                  <a:pt x="0" y="0"/>
                </a:moveTo>
                <a:lnTo>
                  <a:pt x="16" y="2"/>
                </a:lnTo>
                <a:lnTo>
                  <a:pt x="33" y="8"/>
                </a:lnTo>
                <a:lnTo>
                  <a:pt x="49" y="19"/>
                </a:lnTo>
                <a:lnTo>
                  <a:pt x="65" y="32"/>
                </a:lnTo>
                <a:lnTo>
                  <a:pt x="82" y="49"/>
                </a:lnTo>
                <a:lnTo>
                  <a:pt x="98" y="68"/>
                </a:lnTo>
                <a:lnTo>
                  <a:pt x="114" y="90"/>
                </a:lnTo>
                <a:lnTo>
                  <a:pt x="131" y="114"/>
                </a:lnTo>
                <a:lnTo>
                  <a:pt x="147" y="139"/>
                </a:lnTo>
                <a:lnTo>
                  <a:pt x="164" y="165"/>
                </a:lnTo>
                <a:lnTo>
                  <a:pt x="180" y="192"/>
                </a:lnTo>
                <a:lnTo>
                  <a:pt x="196" y="220"/>
                </a:lnTo>
                <a:lnTo>
                  <a:pt x="213" y="247"/>
                </a:lnTo>
                <a:lnTo>
                  <a:pt x="229" y="274"/>
                </a:lnTo>
                <a:lnTo>
                  <a:pt x="246" y="300"/>
                </a:lnTo>
                <a:lnTo>
                  <a:pt x="262" y="325"/>
                </a:lnTo>
                <a:lnTo>
                  <a:pt x="278" y="349"/>
                </a:lnTo>
                <a:lnTo>
                  <a:pt x="295" y="371"/>
                </a:lnTo>
                <a:lnTo>
                  <a:pt x="311" y="390"/>
                </a:lnTo>
                <a:lnTo>
                  <a:pt x="327" y="407"/>
                </a:lnTo>
                <a:lnTo>
                  <a:pt x="344" y="421"/>
                </a:lnTo>
                <a:lnTo>
                  <a:pt x="360" y="431"/>
                </a:lnTo>
                <a:lnTo>
                  <a:pt x="377" y="437"/>
                </a:lnTo>
                <a:lnTo>
                  <a:pt x="393" y="439"/>
                </a:lnTo>
                <a:lnTo>
                  <a:pt x="393" y="441"/>
                </a:lnTo>
                <a:lnTo>
                  <a:pt x="377" y="439"/>
                </a:lnTo>
                <a:lnTo>
                  <a:pt x="360" y="433"/>
                </a:lnTo>
                <a:lnTo>
                  <a:pt x="344" y="422"/>
                </a:lnTo>
                <a:lnTo>
                  <a:pt x="327" y="409"/>
                </a:lnTo>
                <a:lnTo>
                  <a:pt x="311" y="392"/>
                </a:lnTo>
                <a:lnTo>
                  <a:pt x="295" y="373"/>
                </a:lnTo>
                <a:lnTo>
                  <a:pt x="278" y="351"/>
                </a:lnTo>
                <a:lnTo>
                  <a:pt x="262" y="327"/>
                </a:lnTo>
                <a:lnTo>
                  <a:pt x="246" y="302"/>
                </a:lnTo>
                <a:lnTo>
                  <a:pt x="229" y="276"/>
                </a:lnTo>
                <a:lnTo>
                  <a:pt x="213" y="249"/>
                </a:lnTo>
                <a:lnTo>
                  <a:pt x="196" y="222"/>
                </a:lnTo>
                <a:lnTo>
                  <a:pt x="180" y="194"/>
                </a:lnTo>
                <a:lnTo>
                  <a:pt x="164" y="167"/>
                </a:lnTo>
                <a:lnTo>
                  <a:pt x="147" y="141"/>
                </a:lnTo>
                <a:lnTo>
                  <a:pt x="131" y="116"/>
                </a:lnTo>
                <a:lnTo>
                  <a:pt x="114" y="92"/>
                </a:lnTo>
                <a:lnTo>
                  <a:pt x="98" y="70"/>
                </a:lnTo>
                <a:lnTo>
                  <a:pt x="82" y="51"/>
                </a:lnTo>
                <a:lnTo>
                  <a:pt x="65" y="34"/>
                </a:lnTo>
                <a:lnTo>
                  <a:pt x="49" y="21"/>
                </a:lnTo>
                <a:lnTo>
                  <a:pt x="33" y="10"/>
                </a:lnTo>
                <a:lnTo>
                  <a:pt x="16" y="4"/>
                </a:lnTo>
                <a:lnTo>
                  <a:pt x="0" y="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2095500"/>
            <a:ext cx="3743325" cy="4362450"/>
          </a:xfrm>
          <a:custGeom>
            <a:avLst/>
            <a:gdLst/>
            <a:ahLst/>
            <a:cxnLst/>
            <a:rect l="l" t="t" r="r" b="b"/>
            <a:pathLst>
              <a:path w="393" h="458">
                <a:moveTo>
                  <a:pt x="0" y="0"/>
                </a:moveTo>
                <a:lnTo>
                  <a:pt x="16" y="2"/>
                </a:lnTo>
                <a:lnTo>
                  <a:pt x="33" y="9"/>
                </a:lnTo>
                <a:lnTo>
                  <a:pt x="49" y="19"/>
                </a:lnTo>
                <a:lnTo>
                  <a:pt x="65" y="34"/>
                </a:lnTo>
                <a:lnTo>
                  <a:pt x="82" y="51"/>
                </a:lnTo>
                <a:lnTo>
                  <a:pt x="98" y="71"/>
                </a:lnTo>
                <a:lnTo>
                  <a:pt x="114" y="94"/>
                </a:lnTo>
                <a:lnTo>
                  <a:pt x="131" y="118"/>
                </a:lnTo>
                <a:lnTo>
                  <a:pt x="147" y="144"/>
                </a:lnTo>
                <a:lnTo>
                  <a:pt x="164" y="172"/>
                </a:lnTo>
                <a:lnTo>
                  <a:pt x="180" y="200"/>
                </a:lnTo>
                <a:lnTo>
                  <a:pt x="196" y="228"/>
                </a:lnTo>
                <a:lnTo>
                  <a:pt x="213" y="257"/>
                </a:lnTo>
                <a:lnTo>
                  <a:pt x="229" y="285"/>
                </a:lnTo>
                <a:lnTo>
                  <a:pt x="246" y="312"/>
                </a:lnTo>
                <a:lnTo>
                  <a:pt x="262" y="338"/>
                </a:lnTo>
                <a:lnTo>
                  <a:pt x="278" y="363"/>
                </a:lnTo>
                <a:lnTo>
                  <a:pt x="295" y="385"/>
                </a:lnTo>
                <a:lnTo>
                  <a:pt x="311" y="405"/>
                </a:lnTo>
                <a:lnTo>
                  <a:pt x="327" y="423"/>
                </a:lnTo>
                <a:lnTo>
                  <a:pt x="344" y="437"/>
                </a:lnTo>
                <a:lnTo>
                  <a:pt x="360" y="448"/>
                </a:lnTo>
                <a:lnTo>
                  <a:pt x="377" y="454"/>
                </a:lnTo>
                <a:lnTo>
                  <a:pt x="393" y="457"/>
                </a:lnTo>
                <a:lnTo>
                  <a:pt x="393" y="458"/>
                </a:lnTo>
                <a:lnTo>
                  <a:pt x="377" y="456"/>
                </a:lnTo>
                <a:lnTo>
                  <a:pt x="360" y="449"/>
                </a:lnTo>
                <a:lnTo>
                  <a:pt x="344" y="438"/>
                </a:lnTo>
                <a:lnTo>
                  <a:pt x="327" y="424"/>
                </a:lnTo>
                <a:lnTo>
                  <a:pt x="311" y="407"/>
                </a:lnTo>
                <a:lnTo>
                  <a:pt x="295" y="387"/>
                </a:lnTo>
                <a:lnTo>
                  <a:pt x="278" y="364"/>
                </a:lnTo>
                <a:lnTo>
                  <a:pt x="262" y="339"/>
                </a:lnTo>
                <a:lnTo>
                  <a:pt x="246" y="313"/>
                </a:lnTo>
                <a:lnTo>
                  <a:pt x="229" y="286"/>
                </a:lnTo>
                <a:lnTo>
                  <a:pt x="213" y="258"/>
                </a:lnTo>
                <a:lnTo>
                  <a:pt x="196" y="229"/>
                </a:lnTo>
                <a:lnTo>
                  <a:pt x="180" y="201"/>
                </a:lnTo>
                <a:lnTo>
                  <a:pt x="164" y="173"/>
                </a:lnTo>
                <a:lnTo>
                  <a:pt x="147" y="146"/>
                </a:lnTo>
                <a:lnTo>
                  <a:pt x="131" y="119"/>
                </a:lnTo>
                <a:lnTo>
                  <a:pt x="114" y="95"/>
                </a:lnTo>
                <a:lnTo>
                  <a:pt x="98" y="72"/>
                </a:lnTo>
                <a:lnTo>
                  <a:pt x="82" y="52"/>
                </a:lnTo>
                <a:lnTo>
                  <a:pt x="65" y="35"/>
                </a:lnTo>
                <a:lnTo>
                  <a:pt x="49" y="21"/>
                </a:lnTo>
                <a:lnTo>
                  <a:pt x="33" y="10"/>
                </a:lnTo>
                <a:lnTo>
                  <a:pt x="16" y="3"/>
                </a:lnTo>
                <a:lnTo>
                  <a:pt x="0" y="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1428750"/>
            <a:ext cx="3743325" cy="857250"/>
          </a:xfrm>
          <a:custGeom>
            <a:avLst/>
            <a:gdLst/>
            <a:ahLst/>
            <a:cxnLst/>
            <a:rect l="l" t="t" r="r" b="b"/>
            <a:pathLst>
              <a:path w="393" h="90">
                <a:moveTo>
                  <a:pt x="0" y="77"/>
                </a:moveTo>
                <a:lnTo>
                  <a:pt x="16" y="77"/>
                </a:lnTo>
                <a:lnTo>
                  <a:pt x="33" y="75"/>
                </a:lnTo>
                <a:lnTo>
                  <a:pt x="49" y="74"/>
                </a:lnTo>
                <a:lnTo>
                  <a:pt x="65" y="71"/>
                </a:lnTo>
                <a:lnTo>
                  <a:pt x="82" y="68"/>
                </a:lnTo>
                <a:lnTo>
                  <a:pt x="98" y="65"/>
                </a:lnTo>
                <a:lnTo>
                  <a:pt x="114" y="61"/>
                </a:lnTo>
                <a:lnTo>
                  <a:pt x="131" y="57"/>
                </a:lnTo>
                <a:lnTo>
                  <a:pt x="147" y="53"/>
                </a:lnTo>
                <a:lnTo>
                  <a:pt x="164" y="48"/>
                </a:lnTo>
                <a:lnTo>
                  <a:pt x="180" y="43"/>
                </a:lnTo>
                <a:lnTo>
                  <a:pt x="196" y="39"/>
                </a:lnTo>
                <a:lnTo>
                  <a:pt x="213" y="34"/>
                </a:lnTo>
                <a:lnTo>
                  <a:pt x="229" y="29"/>
                </a:lnTo>
                <a:lnTo>
                  <a:pt x="246" y="25"/>
                </a:lnTo>
                <a:lnTo>
                  <a:pt x="262" y="20"/>
                </a:lnTo>
                <a:lnTo>
                  <a:pt x="278" y="16"/>
                </a:lnTo>
                <a:lnTo>
                  <a:pt x="295" y="12"/>
                </a:lnTo>
                <a:lnTo>
                  <a:pt x="311" y="9"/>
                </a:lnTo>
                <a:lnTo>
                  <a:pt x="327" y="6"/>
                </a:lnTo>
                <a:lnTo>
                  <a:pt x="344" y="4"/>
                </a:lnTo>
                <a:lnTo>
                  <a:pt x="360" y="2"/>
                </a:lnTo>
                <a:lnTo>
                  <a:pt x="377" y="1"/>
                </a:lnTo>
                <a:lnTo>
                  <a:pt x="393" y="0"/>
                </a:lnTo>
                <a:lnTo>
                  <a:pt x="393" y="14"/>
                </a:lnTo>
                <a:lnTo>
                  <a:pt x="377" y="14"/>
                </a:lnTo>
                <a:lnTo>
                  <a:pt x="360" y="15"/>
                </a:lnTo>
                <a:lnTo>
                  <a:pt x="344" y="17"/>
                </a:lnTo>
                <a:lnTo>
                  <a:pt x="327" y="19"/>
                </a:lnTo>
                <a:lnTo>
                  <a:pt x="311" y="22"/>
                </a:lnTo>
                <a:lnTo>
                  <a:pt x="295" y="26"/>
                </a:lnTo>
                <a:lnTo>
                  <a:pt x="278" y="29"/>
                </a:lnTo>
                <a:lnTo>
                  <a:pt x="262" y="33"/>
                </a:lnTo>
                <a:lnTo>
                  <a:pt x="246" y="38"/>
                </a:lnTo>
                <a:lnTo>
                  <a:pt x="229" y="42"/>
                </a:lnTo>
                <a:lnTo>
                  <a:pt x="213" y="47"/>
                </a:lnTo>
                <a:lnTo>
                  <a:pt x="196" y="52"/>
                </a:lnTo>
                <a:lnTo>
                  <a:pt x="180" y="57"/>
                </a:lnTo>
                <a:lnTo>
                  <a:pt x="164" y="61"/>
                </a:lnTo>
                <a:lnTo>
                  <a:pt x="147" y="66"/>
                </a:lnTo>
                <a:lnTo>
                  <a:pt x="131" y="70"/>
                </a:lnTo>
                <a:lnTo>
                  <a:pt x="114" y="75"/>
                </a:lnTo>
                <a:lnTo>
                  <a:pt x="98" y="78"/>
                </a:lnTo>
                <a:lnTo>
                  <a:pt x="82" y="82"/>
                </a:lnTo>
                <a:lnTo>
                  <a:pt x="65" y="85"/>
                </a:lnTo>
                <a:lnTo>
                  <a:pt x="49" y="87"/>
                </a:lnTo>
                <a:lnTo>
                  <a:pt x="33" y="89"/>
                </a:lnTo>
                <a:lnTo>
                  <a:pt x="16" y="90"/>
                </a:lnTo>
                <a:lnTo>
                  <a:pt x="0" y="9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2286000"/>
            <a:ext cx="3743325" cy="190500"/>
          </a:xfrm>
          <a:custGeom>
            <a:avLst/>
            <a:gdLst/>
            <a:ahLst/>
            <a:cxnLst/>
            <a:rect l="l" t="t" r="r" b="b"/>
            <a:pathLst>
              <a:path w="393" h="20">
                <a:moveTo>
                  <a:pt x="0" y="0"/>
                </a:moveTo>
                <a:lnTo>
                  <a:pt x="16" y="0"/>
                </a:lnTo>
                <a:lnTo>
                  <a:pt x="33" y="0"/>
                </a:lnTo>
                <a:lnTo>
                  <a:pt x="49" y="1"/>
                </a:lnTo>
                <a:lnTo>
                  <a:pt x="65" y="1"/>
                </a:lnTo>
                <a:lnTo>
                  <a:pt x="82" y="1"/>
                </a:lnTo>
                <a:lnTo>
                  <a:pt x="98" y="1"/>
                </a:lnTo>
                <a:lnTo>
                  <a:pt x="114" y="2"/>
                </a:lnTo>
                <a:lnTo>
                  <a:pt x="131" y="2"/>
                </a:lnTo>
                <a:lnTo>
                  <a:pt x="147" y="3"/>
                </a:lnTo>
                <a:lnTo>
                  <a:pt x="164" y="3"/>
                </a:lnTo>
                <a:lnTo>
                  <a:pt x="180" y="4"/>
                </a:lnTo>
                <a:lnTo>
                  <a:pt x="196" y="4"/>
                </a:lnTo>
                <a:lnTo>
                  <a:pt x="213" y="5"/>
                </a:lnTo>
                <a:lnTo>
                  <a:pt x="229" y="5"/>
                </a:lnTo>
                <a:lnTo>
                  <a:pt x="246" y="6"/>
                </a:lnTo>
                <a:lnTo>
                  <a:pt x="262" y="6"/>
                </a:lnTo>
                <a:lnTo>
                  <a:pt x="278" y="6"/>
                </a:lnTo>
                <a:lnTo>
                  <a:pt x="295" y="7"/>
                </a:lnTo>
                <a:lnTo>
                  <a:pt x="311" y="7"/>
                </a:lnTo>
                <a:lnTo>
                  <a:pt x="327" y="8"/>
                </a:lnTo>
                <a:lnTo>
                  <a:pt x="344" y="8"/>
                </a:lnTo>
                <a:lnTo>
                  <a:pt x="360" y="8"/>
                </a:lnTo>
                <a:lnTo>
                  <a:pt x="377" y="8"/>
                </a:lnTo>
                <a:lnTo>
                  <a:pt x="393" y="8"/>
                </a:lnTo>
                <a:lnTo>
                  <a:pt x="393" y="20"/>
                </a:lnTo>
                <a:lnTo>
                  <a:pt x="377" y="20"/>
                </a:lnTo>
                <a:lnTo>
                  <a:pt x="360" y="20"/>
                </a:lnTo>
                <a:lnTo>
                  <a:pt x="344" y="20"/>
                </a:lnTo>
                <a:lnTo>
                  <a:pt x="327" y="20"/>
                </a:lnTo>
                <a:lnTo>
                  <a:pt x="311" y="19"/>
                </a:lnTo>
                <a:lnTo>
                  <a:pt x="295" y="19"/>
                </a:lnTo>
                <a:lnTo>
                  <a:pt x="278" y="19"/>
                </a:lnTo>
                <a:lnTo>
                  <a:pt x="262" y="18"/>
                </a:lnTo>
                <a:lnTo>
                  <a:pt x="246" y="18"/>
                </a:lnTo>
                <a:lnTo>
                  <a:pt x="229" y="17"/>
                </a:lnTo>
                <a:lnTo>
                  <a:pt x="213" y="17"/>
                </a:lnTo>
                <a:lnTo>
                  <a:pt x="196" y="16"/>
                </a:lnTo>
                <a:lnTo>
                  <a:pt x="180" y="16"/>
                </a:lnTo>
                <a:lnTo>
                  <a:pt x="164" y="15"/>
                </a:lnTo>
                <a:lnTo>
                  <a:pt x="147" y="15"/>
                </a:lnTo>
                <a:lnTo>
                  <a:pt x="131" y="14"/>
                </a:lnTo>
                <a:lnTo>
                  <a:pt x="114" y="14"/>
                </a:lnTo>
                <a:lnTo>
                  <a:pt x="98" y="14"/>
                </a:lnTo>
                <a:lnTo>
                  <a:pt x="82" y="13"/>
                </a:lnTo>
                <a:lnTo>
                  <a:pt x="65" y="13"/>
                </a:lnTo>
                <a:lnTo>
                  <a:pt x="49" y="13"/>
                </a:lnTo>
                <a:lnTo>
                  <a:pt x="33" y="13"/>
                </a:lnTo>
                <a:lnTo>
                  <a:pt x="16" y="12"/>
                </a:lnTo>
                <a:lnTo>
                  <a:pt x="0" y="1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2400300"/>
            <a:ext cx="3743325" cy="857250"/>
          </a:xfrm>
          <a:custGeom>
            <a:avLst/>
            <a:gdLst/>
            <a:ahLst/>
            <a:cxnLst/>
            <a:rect l="l" t="t" r="r" b="b"/>
            <a:pathLst>
              <a:path w="393" h="90">
                <a:moveTo>
                  <a:pt x="0" y="0"/>
                </a:moveTo>
                <a:lnTo>
                  <a:pt x="16" y="1"/>
                </a:lnTo>
                <a:lnTo>
                  <a:pt x="33" y="2"/>
                </a:lnTo>
                <a:lnTo>
                  <a:pt x="49" y="4"/>
                </a:lnTo>
                <a:lnTo>
                  <a:pt x="65" y="7"/>
                </a:lnTo>
                <a:lnTo>
                  <a:pt x="82" y="10"/>
                </a:lnTo>
                <a:lnTo>
                  <a:pt x="98" y="13"/>
                </a:lnTo>
                <a:lnTo>
                  <a:pt x="114" y="17"/>
                </a:lnTo>
                <a:lnTo>
                  <a:pt x="131" y="22"/>
                </a:lnTo>
                <a:lnTo>
                  <a:pt x="147" y="26"/>
                </a:lnTo>
                <a:lnTo>
                  <a:pt x="164" y="31"/>
                </a:lnTo>
                <a:lnTo>
                  <a:pt x="180" y="36"/>
                </a:lnTo>
                <a:lnTo>
                  <a:pt x="196" y="41"/>
                </a:lnTo>
                <a:lnTo>
                  <a:pt x="213" y="47"/>
                </a:lnTo>
                <a:lnTo>
                  <a:pt x="229" y="52"/>
                </a:lnTo>
                <a:lnTo>
                  <a:pt x="246" y="57"/>
                </a:lnTo>
                <a:lnTo>
                  <a:pt x="262" y="61"/>
                </a:lnTo>
                <a:lnTo>
                  <a:pt x="278" y="66"/>
                </a:lnTo>
                <a:lnTo>
                  <a:pt x="295" y="70"/>
                </a:lnTo>
                <a:lnTo>
                  <a:pt x="311" y="73"/>
                </a:lnTo>
                <a:lnTo>
                  <a:pt x="327" y="76"/>
                </a:lnTo>
                <a:lnTo>
                  <a:pt x="344" y="79"/>
                </a:lnTo>
                <a:lnTo>
                  <a:pt x="360" y="81"/>
                </a:lnTo>
                <a:lnTo>
                  <a:pt x="377" y="82"/>
                </a:lnTo>
                <a:lnTo>
                  <a:pt x="393" y="82"/>
                </a:lnTo>
                <a:lnTo>
                  <a:pt x="393" y="90"/>
                </a:lnTo>
                <a:lnTo>
                  <a:pt x="377" y="90"/>
                </a:lnTo>
                <a:lnTo>
                  <a:pt x="360" y="88"/>
                </a:lnTo>
                <a:lnTo>
                  <a:pt x="344" y="87"/>
                </a:lnTo>
                <a:lnTo>
                  <a:pt x="327" y="84"/>
                </a:lnTo>
                <a:lnTo>
                  <a:pt x="311" y="81"/>
                </a:lnTo>
                <a:lnTo>
                  <a:pt x="295" y="77"/>
                </a:lnTo>
                <a:lnTo>
                  <a:pt x="278" y="73"/>
                </a:lnTo>
                <a:lnTo>
                  <a:pt x="262" y="69"/>
                </a:lnTo>
                <a:lnTo>
                  <a:pt x="246" y="64"/>
                </a:lnTo>
                <a:lnTo>
                  <a:pt x="229" y="59"/>
                </a:lnTo>
                <a:lnTo>
                  <a:pt x="213" y="54"/>
                </a:lnTo>
                <a:lnTo>
                  <a:pt x="196" y="49"/>
                </a:lnTo>
                <a:lnTo>
                  <a:pt x="180" y="44"/>
                </a:lnTo>
                <a:lnTo>
                  <a:pt x="164" y="39"/>
                </a:lnTo>
                <a:lnTo>
                  <a:pt x="147" y="34"/>
                </a:lnTo>
                <a:lnTo>
                  <a:pt x="131" y="29"/>
                </a:lnTo>
                <a:lnTo>
                  <a:pt x="114" y="25"/>
                </a:lnTo>
                <a:lnTo>
                  <a:pt x="98" y="21"/>
                </a:lnTo>
                <a:lnTo>
                  <a:pt x="82" y="17"/>
                </a:lnTo>
                <a:lnTo>
                  <a:pt x="65" y="14"/>
                </a:lnTo>
                <a:lnTo>
                  <a:pt x="49" y="11"/>
                </a:lnTo>
                <a:lnTo>
                  <a:pt x="33" y="10"/>
                </a:lnTo>
                <a:lnTo>
                  <a:pt x="16" y="8"/>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476500"/>
            <a:ext cx="3743325" cy="1323975"/>
          </a:xfrm>
          <a:custGeom>
            <a:avLst/>
            <a:gdLst/>
            <a:ahLst/>
            <a:cxnLst/>
            <a:rect l="l" t="t" r="r" b="b"/>
            <a:pathLst>
              <a:path w="393" h="139">
                <a:moveTo>
                  <a:pt x="0" y="0"/>
                </a:moveTo>
                <a:lnTo>
                  <a:pt x="16" y="1"/>
                </a:lnTo>
                <a:lnTo>
                  <a:pt x="33" y="3"/>
                </a:lnTo>
                <a:lnTo>
                  <a:pt x="49" y="6"/>
                </a:lnTo>
                <a:lnTo>
                  <a:pt x="65" y="10"/>
                </a:lnTo>
                <a:lnTo>
                  <a:pt x="82" y="15"/>
                </a:lnTo>
                <a:lnTo>
                  <a:pt x="98" y="21"/>
                </a:lnTo>
                <a:lnTo>
                  <a:pt x="114" y="27"/>
                </a:lnTo>
                <a:lnTo>
                  <a:pt x="131" y="34"/>
                </a:lnTo>
                <a:lnTo>
                  <a:pt x="147" y="42"/>
                </a:lnTo>
                <a:lnTo>
                  <a:pt x="164" y="50"/>
                </a:lnTo>
                <a:lnTo>
                  <a:pt x="180" y="58"/>
                </a:lnTo>
                <a:lnTo>
                  <a:pt x="196" y="66"/>
                </a:lnTo>
                <a:lnTo>
                  <a:pt x="213" y="74"/>
                </a:lnTo>
                <a:lnTo>
                  <a:pt x="229" y="83"/>
                </a:lnTo>
                <a:lnTo>
                  <a:pt x="246" y="91"/>
                </a:lnTo>
                <a:lnTo>
                  <a:pt x="262" y="98"/>
                </a:lnTo>
                <a:lnTo>
                  <a:pt x="278" y="105"/>
                </a:lnTo>
                <a:lnTo>
                  <a:pt x="295" y="112"/>
                </a:lnTo>
                <a:lnTo>
                  <a:pt x="311" y="118"/>
                </a:lnTo>
                <a:lnTo>
                  <a:pt x="327" y="123"/>
                </a:lnTo>
                <a:lnTo>
                  <a:pt x="344" y="127"/>
                </a:lnTo>
                <a:lnTo>
                  <a:pt x="360" y="130"/>
                </a:lnTo>
                <a:lnTo>
                  <a:pt x="377" y="132"/>
                </a:lnTo>
                <a:lnTo>
                  <a:pt x="393" y="132"/>
                </a:lnTo>
                <a:lnTo>
                  <a:pt x="393" y="139"/>
                </a:lnTo>
                <a:lnTo>
                  <a:pt x="377" y="138"/>
                </a:lnTo>
                <a:lnTo>
                  <a:pt x="360" y="137"/>
                </a:lnTo>
                <a:lnTo>
                  <a:pt x="344" y="133"/>
                </a:lnTo>
                <a:lnTo>
                  <a:pt x="327" y="129"/>
                </a:lnTo>
                <a:lnTo>
                  <a:pt x="311" y="124"/>
                </a:lnTo>
                <a:lnTo>
                  <a:pt x="295" y="118"/>
                </a:lnTo>
                <a:lnTo>
                  <a:pt x="278" y="112"/>
                </a:lnTo>
                <a:lnTo>
                  <a:pt x="262" y="105"/>
                </a:lnTo>
                <a:lnTo>
                  <a:pt x="246" y="97"/>
                </a:lnTo>
                <a:lnTo>
                  <a:pt x="229" y="89"/>
                </a:lnTo>
                <a:lnTo>
                  <a:pt x="213" y="81"/>
                </a:lnTo>
                <a:lnTo>
                  <a:pt x="196" y="73"/>
                </a:lnTo>
                <a:lnTo>
                  <a:pt x="180" y="65"/>
                </a:lnTo>
                <a:lnTo>
                  <a:pt x="164" y="57"/>
                </a:lnTo>
                <a:lnTo>
                  <a:pt x="147" y="49"/>
                </a:lnTo>
                <a:lnTo>
                  <a:pt x="131" y="41"/>
                </a:lnTo>
                <a:lnTo>
                  <a:pt x="114" y="34"/>
                </a:lnTo>
                <a:lnTo>
                  <a:pt x="98" y="27"/>
                </a:lnTo>
                <a:lnTo>
                  <a:pt x="82" y="22"/>
                </a:lnTo>
                <a:lnTo>
                  <a:pt x="65" y="17"/>
                </a:lnTo>
                <a:lnTo>
                  <a:pt x="49" y="12"/>
                </a:lnTo>
                <a:lnTo>
                  <a:pt x="33" y="9"/>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2543175"/>
            <a:ext cx="3743325" cy="1762125"/>
          </a:xfrm>
          <a:custGeom>
            <a:avLst/>
            <a:gdLst/>
            <a:ahLst/>
            <a:cxnLst/>
            <a:rect l="l" t="t" r="r" b="b"/>
            <a:pathLst>
              <a:path w="393" h="185">
                <a:moveTo>
                  <a:pt x="0" y="0"/>
                </a:moveTo>
                <a:lnTo>
                  <a:pt x="16" y="1"/>
                </a:lnTo>
                <a:lnTo>
                  <a:pt x="33" y="3"/>
                </a:lnTo>
                <a:lnTo>
                  <a:pt x="49" y="7"/>
                </a:lnTo>
                <a:lnTo>
                  <a:pt x="65" y="13"/>
                </a:lnTo>
                <a:lnTo>
                  <a:pt x="82" y="20"/>
                </a:lnTo>
                <a:lnTo>
                  <a:pt x="98" y="28"/>
                </a:lnTo>
                <a:lnTo>
                  <a:pt x="114" y="36"/>
                </a:lnTo>
                <a:lnTo>
                  <a:pt x="131" y="46"/>
                </a:lnTo>
                <a:lnTo>
                  <a:pt x="147" y="56"/>
                </a:lnTo>
                <a:lnTo>
                  <a:pt x="164" y="67"/>
                </a:lnTo>
                <a:lnTo>
                  <a:pt x="180" y="78"/>
                </a:lnTo>
                <a:lnTo>
                  <a:pt x="196" y="89"/>
                </a:lnTo>
                <a:lnTo>
                  <a:pt x="213" y="100"/>
                </a:lnTo>
                <a:lnTo>
                  <a:pt x="229" y="111"/>
                </a:lnTo>
                <a:lnTo>
                  <a:pt x="246" y="122"/>
                </a:lnTo>
                <a:lnTo>
                  <a:pt x="262" y="132"/>
                </a:lnTo>
                <a:lnTo>
                  <a:pt x="278" y="142"/>
                </a:lnTo>
                <a:lnTo>
                  <a:pt x="295" y="151"/>
                </a:lnTo>
                <a:lnTo>
                  <a:pt x="311" y="158"/>
                </a:lnTo>
                <a:lnTo>
                  <a:pt x="327" y="165"/>
                </a:lnTo>
                <a:lnTo>
                  <a:pt x="344" y="171"/>
                </a:lnTo>
                <a:lnTo>
                  <a:pt x="360" y="175"/>
                </a:lnTo>
                <a:lnTo>
                  <a:pt x="377" y="178"/>
                </a:lnTo>
                <a:lnTo>
                  <a:pt x="393" y="179"/>
                </a:lnTo>
                <a:lnTo>
                  <a:pt x="393" y="185"/>
                </a:lnTo>
                <a:lnTo>
                  <a:pt x="377" y="184"/>
                </a:lnTo>
                <a:lnTo>
                  <a:pt x="360" y="182"/>
                </a:lnTo>
                <a:lnTo>
                  <a:pt x="344" y="178"/>
                </a:lnTo>
                <a:lnTo>
                  <a:pt x="327" y="172"/>
                </a:lnTo>
                <a:lnTo>
                  <a:pt x="311" y="165"/>
                </a:lnTo>
                <a:lnTo>
                  <a:pt x="295" y="157"/>
                </a:lnTo>
                <a:lnTo>
                  <a:pt x="278" y="148"/>
                </a:lnTo>
                <a:lnTo>
                  <a:pt x="262" y="139"/>
                </a:lnTo>
                <a:lnTo>
                  <a:pt x="246" y="129"/>
                </a:lnTo>
                <a:lnTo>
                  <a:pt x="229" y="118"/>
                </a:lnTo>
                <a:lnTo>
                  <a:pt x="213" y="107"/>
                </a:lnTo>
                <a:lnTo>
                  <a:pt x="196" y="96"/>
                </a:lnTo>
                <a:lnTo>
                  <a:pt x="180" y="85"/>
                </a:lnTo>
                <a:lnTo>
                  <a:pt x="164" y="74"/>
                </a:lnTo>
                <a:lnTo>
                  <a:pt x="147" y="63"/>
                </a:lnTo>
                <a:lnTo>
                  <a:pt x="131" y="53"/>
                </a:lnTo>
                <a:lnTo>
                  <a:pt x="114" y="43"/>
                </a:lnTo>
                <a:lnTo>
                  <a:pt x="98" y="34"/>
                </a:lnTo>
                <a:lnTo>
                  <a:pt x="82" y="26"/>
                </a:lnTo>
                <a:lnTo>
                  <a:pt x="65" y="20"/>
                </a:lnTo>
                <a:lnTo>
                  <a:pt x="49" y="14"/>
                </a:lnTo>
                <a:lnTo>
                  <a:pt x="33" y="10"/>
                </a:lnTo>
                <a:lnTo>
                  <a:pt x="16" y="7"/>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2600325"/>
            <a:ext cx="3743325" cy="2190750"/>
          </a:xfrm>
          <a:custGeom>
            <a:avLst/>
            <a:gdLst/>
            <a:ahLst/>
            <a:cxnLst/>
            <a:rect l="l" t="t" r="r" b="b"/>
            <a:pathLst>
              <a:path w="393" h="230">
                <a:moveTo>
                  <a:pt x="0" y="0"/>
                </a:moveTo>
                <a:lnTo>
                  <a:pt x="16" y="1"/>
                </a:lnTo>
                <a:lnTo>
                  <a:pt x="33" y="5"/>
                </a:lnTo>
                <a:lnTo>
                  <a:pt x="49" y="10"/>
                </a:lnTo>
                <a:lnTo>
                  <a:pt x="65" y="17"/>
                </a:lnTo>
                <a:lnTo>
                  <a:pt x="82" y="25"/>
                </a:lnTo>
                <a:lnTo>
                  <a:pt x="98" y="35"/>
                </a:lnTo>
                <a:lnTo>
                  <a:pt x="114" y="46"/>
                </a:lnTo>
                <a:lnTo>
                  <a:pt x="131" y="58"/>
                </a:lnTo>
                <a:lnTo>
                  <a:pt x="147" y="71"/>
                </a:lnTo>
                <a:lnTo>
                  <a:pt x="164" y="85"/>
                </a:lnTo>
                <a:lnTo>
                  <a:pt x="180" y="98"/>
                </a:lnTo>
                <a:lnTo>
                  <a:pt x="196" y="112"/>
                </a:lnTo>
                <a:lnTo>
                  <a:pt x="213" y="126"/>
                </a:lnTo>
                <a:lnTo>
                  <a:pt x="229" y="140"/>
                </a:lnTo>
                <a:lnTo>
                  <a:pt x="246" y="153"/>
                </a:lnTo>
                <a:lnTo>
                  <a:pt x="262" y="166"/>
                </a:lnTo>
                <a:lnTo>
                  <a:pt x="278" y="178"/>
                </a:lnTo>
                <a:lnTo>
                  <a:pt x="295" y="189"/>
                </a:lnTo>
                <a:lnTo>
                  <a:pt x="311" y="199"/>
                </a:lnTo>
                <a:lnTo>
                  <a:pt x="327" y="208"/>
                </a:lnTo>
                <a:lnTo>
                  <a:pt x="344" y="215"/>
                </a:lnTo>
                <a:lnTo>
                  <a:pt x="360" y="220"/>
                </a:lnTo>
                <a:lnTo>
                  <a:pt x="377" y="223"/>
                </a:lnTo>
                <a:lnTo>
                  <a:pt x="393" y="224"/>
                </a:lnTo>
                <a:lnTo>
                  <a:pt x="393" y="230"/>
                </a:lnTo>
                <a:lnTo>
                  <a:pt x="377" y="229"/>
                </a:lnTo>
                <a:lnTo>
                  <a:pt x="360" y="226"/>
                </a:lnTo>
                <a:lnTo>
                  <a:pt x="344" y="221"/>
                </a:lnTo>
                <a:lnTo>
                  <a:pt x="327" y="214"/>
                </a:lnTo>
                <a:lnTo>
                  <a:pt x="311" y="205"/>
                </a:lnTo>
                <a:lnTo>
                  <a:pt x="295" y="195"/>
                </a:lnTo>
                <a:lnTo>
                  <a:pt x="278" y="184"/>
                </a:lnTo>
                <a:lnTo>
                  <a:pt x="262" y="172"/>
                </a:lnTo>
                <a:lnTo>
                  <a:pt x="246" y="159"/>
                </a:lnTo>
                <a:lnTo>
                  <a:pt x="229" y="146"/>
                </a:lnTo>
                <a:lnTo>
                  <a:pt x="213" y="132"/>
                </a:lnTo>
                <a:lnTo>
                  <a:pt x="196" y="118"/>
                </a:lnTo>
                <a:lnTo>
                  <a:pt x="180" y="104"/>
                </a:lnTo>
                <a:lnTo>
                  <a:pt x="164" y="90"/>
                </a:lnTo>
                <a:lnTo>
                  <a:pt x="147" y="77"/>
                </a:lnTo>
                <a:lnTo>
                  <a:pt x="131" y="64"/>
                </a:lnTo>
                <a:lnTo>
                  <a:pt x="114" y="52"/>
                </a:lnTo>
                <a:lnTo>
                  <a:pt x="98" y="41"/>
                </a:lnTo>
                <a:lnTo>
                  <a:pt x="82" y="31"/>
                </a:lnTo>
                <a:lnTo>
                  <a:pt x="65" y="23"/>
                </a:lnTo>
                <a:lnTo>
                  <a:pt x="49" y="16"/>
                </a:lnTo>
                <a:lnTo>
                  <a:pt x="33" y="11"/>
                </a:lnTo>
                <a:lnTo>
                  <a:pt x="16" y="7"/>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2657475"/>
            <a:ext cx="3743325" cy="2571750"/>
          </a:xfrm>
          <a:custGeom>
            <a:avLst/>
            <a:gdLst/>
            <a:ahLst/>
            <a:cxnLst/>
            <a:rect l="l" t="t" r="r" b="b"/>
            <a:pathLst>
              <a:path w="393" h="270">
                <a:moveTo>
                  <a:pt x="0" y="0"/>
                </a:moveTo>
                <a:lnTo>
                  <a:pt x="16" y="1"/>
                </a:lnTo>
                <a:lnTo>
                  <a:pt x="33" y="5"/>
                </a:lnTo>
                <a:lnTo>
                  <a:pt x="49" y="12"/>
                </a:lnTo>
                <a:lnTo>
                  <a:pt x="65" y="20"/>
                </a:lnTo>
                <a:lnTo>
                  <a:pt x="82" y="30"/>
                </a:lnTo>
                <a:lnTo>
                  <a:pt x="98" y="41"/>
                </a:lnTo>
                <a:lnTo>
                  <a:pt x="114" y="54"/>
                </a:lnTo>
                <a:lnTo>
                  <a:pt x="131" y="69"/>
                </a:lnTo>
                <a:lnTo>
                  <a:pt x="147" y="84"/>
                </a:lnTo>
                <a:lnTo>
                  <a:pt x="164" y="100"/>
                </a:lnTo>
                <a:lnTo>
                  <a:pt x="180" y="116"/>
                </a:lnTo>
                <a:lnTo>
                  <a:pt x="196" y="132"/>
                </a:lnTo>
                <a:lnTo>
                  <a:pt x="213" y="149"/>
                </a:lnTo>
                <a:lnTo>
                  <a:pt x="229" y="165"/>
                </a:lnTo>
                <a:lnTo>
                  <a:pt x="246" y="181"/>
                </a:lnTo>
                <a:lnTo>
                  <a:pt x="262" y="196"/>
                </a:lnTo>
                <a:lnTo>
                  <a:pt x="278" y="210"/>
                </a:lnTo>
                <a:lnTo>
                  <a:pt x="295" y="223"/>
                </a:lnTo>
                <a:lnTo>
                  <a:pt x="311" y="235"/>
                </a:lnTo>
                <a:lnTo>
                  <a:pt x="327" y="245"/>
                </a:lnTo>
                <a:lnTo>
                  <a:pt x="344" y="253"/>
                </a:lnTo>
                <a:lnTo>
                  <a:pt x="360" y="259"/>
                </a:lnTo>
                <a:lnTo>
                  <a:pt x="377" y="263"/>
                </a:lnTo>
                <a:lnTo>
                  <a:pt x="393" y="264"/>
                </a:lnTo>
                <a:lnTo>
                  <a:pt x="393" y="270"/>
                </a:lnTo>
                <a:lnTo>
                  <a:pt x="377" y="268"/>
                </a:lnTo>
                <a:lnTo>
                  <a:pt x="360" y="265"/>
                </a:lnTo>
                <a:lnTo>
                  <a:pt x="344" y="258"/>
                </a:lnTo>
                <a:lnTo>
                  <a:pt x="327" y="250"/>
                </a:lnTo>
                <a:lnTo>
                  <a:pt x="311" y="240"/>
                </a:lnTo>
                <a:lnTo>
                  <a:pt x="295" y="229"/>
                </a:lnTo>
                <a:lnTo>
                  <a:pt x="278" y="215"/>
                </a:lnTo>
                <a:lnTo>
                  <a:pt x="262" y="201"/>
                </a:lnTo>
                <a:lnTo>
                  <a:pt x="246" y="186"/>
                </a:lnTo>
                <a:lnTo>
                  <a:pt x="229" y="170"/>
                </a:lnTo>
                <a:lnTo>
                  <a:pt x="213" y="154"/>
                </a:lnTo>
                <a:lnTo>
                  <a:pt x="196" y="138"/>
                </a:lnTo>
                <a:lnTo>
                  <a:pt x="180" y="121"/>
                </a:lnTo>
                <a:lnTo>
                  <a:pt x="164" y="105"/>
                </a:lnTo>
                <a:lnTo>
                  <a:pt x="147" y="89"/>
                </a:lnTo>
                <a:lnTo>
                  <a:pt x="131" y="74"/>
                </a:lnTo>
                <a:lnTo>
                  <a:pt x="114" y="60"/>
                </a:lnTo>
                <a:lnTo>
                  <a:pt x="98" y="47"/>
                </a:lnTo>
                <a:lnTo>
                  <a:pt x="82" y="35"/>
                </a:lnTo>
                <a:lnTo>
                  <a:pt x="65" y="25"/>
                </a:lnTo>
                <a:lnTo>
                  <a:pt x="49" y="17"/>
                </a:lnTo>
                <a:lnTo>
                  <a:pt x="33" y="11"/>
                </a:lnTo>
                <a:lnTo>
                  <a:pt x="16" y="7"/>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2714625"/>
            <a:ext cx="3743325" cy="2886075"/>
          </a:xfrm>
          <a:custGeom>
            <a:avLst/>
            <a:gdLst/>
            <a:ahLst/>
            <a:cxnLst/>
            <a:rect l="l" t="t" r="r" b="b"/>
            <a:pathLst>
              <a:path w="393" h="303">
                <a:moveTo>
                  <a:pt x="0" y="0"/>
                </a:moveTo>
                <a:lnTo>
                  <a:pt x="16" y="1"/>
                </a:lnTo>
                <a:lnTo>
                  <a:pt x="33" y="5"/>
                </a:lnTo>
                <a:lnTo>
                  <a:pt x="49" y="12"/>
                </a:lnTo>
                <a:lnTo>
                  <a:pt x="65" y="22"/>
                </a:lnTo>
                <a:lnTo>
                  <a:pt x="82" y="33"/>
                </a:lnTo>
                <a:lnTo>
                  <a:pt x="98" y="46"/>
                </a:lnTo>
                <a:lnTo>
                  <a:pt x="114" y="61"/>
                </a:lnTo>
                <a:lnTo>
                  <a:pt x="131" y="77"/>
                </a:lnTo>
                <a:lnTo>
                  <a:pt x="147" y="95"/>
                </a:lnTo>
                <a:lnTo>
                  <a:pt x="164" y="113"/>
                </a:lnTo>
                <a:lnTo>
                  <a:pt x="180" y="131"/>
                </a:lnTo>
                <a:lnTo>
                  <a:pt x="196" y="150"/>
                </a:lnTo>
                <a:lnTo>
                  <a:pt x="213" y="168"/>
                </a:lnTo>
                <a:lnTo>
                  <a:pt x="229" y="187"/>
                </a:lnTo>
                <a:lnTo>
                  <a:pt x="246" y="205"/>
                </a:lnTo>
                <a:lnTo>
                  <a:pt x="262" y="222"/>
                </a:lnTo>
                <a:lnTo>
                  <a:pt x="278" y="238"/>
                </a:lnTo>
                <a:lnTo>
                  <a:pt x="295" y="253"/>
                </a:lnTo>
                <a:lnTo>
                  <a:pt x="311" y="266"/>
                </a:lnTo>
                <a:lnTo>
                  <a:pt x="327" y="278"/>
                </a:lnTo>
                <a:lnTo>
                  <a:pt x="344" y="287"/>
                </a:lnTo>
                <a:lnTo>
                  <a:pt x="360" y="294"/>
                </a:lnTo>
                <a:lnTo>
                  <a:pt x="377" y="298"/>
                </a:lnTo>
                <a:lnTo>
                  <a:pt x="393" y="300"/>
                </a:lnTo>
                <a:lnTo>
                  <a:pt x="393" y="303"/>
                </a:lnTo>
                <a:lnTo>
                  <a:pt x="377" y="302"/>
                </a:lnTo>
                <a:lnTo>
                  <a:pt x="360" y="297"/>
                </a:lnTo>
                <a:lnTo>
                  <a:pt x="344" y="290"/>
                </a:lnTo>
                <a:lnTo>
                  <a:pt x="327" y="281"/>
                </a:lnTo>
                <a:lnTo>
                  <a:pt x="311" y="270"/>
                </a:lnTo>
                <a:lnTo>
                  <a:pt x="295" y="256"/>
                </a:lnTo>
                <a:lnTo>
                  <a:pt x="278" y="242"/>
                </a:lnTo>
                <a:lnTo>
                  <a:pt x="262" y="225"/>
                </a:lnTo>
                <a:lnTo>
                  <a:pt x="246" y="208"/>
                </a:lnTo>
                <a:lnTo>
                  <a:pt x="229" y="190"/>
                </a:lnTo>
                <a:lnTo>
                  <a:pt x="213" y="172"/>
                </a:lnTo>
                <a:lnTo>
                  <a:pt x="196" y="153"/>
                </a:lnTo>
                <a:lnTo>
                  <a:pt x="180" y="134"/>
                </a:lnTo>
                <a:lnTo>
                  <a:pt x="164" y="116"/>
                </a:lnTo>
                <a:lnTo>
                  <a:pt x="147" y="98"/>
                </a:lnTo>
                <a:lnTo>
                  <a:pt x="131" y="81"/>
                </a:lnTo>
                <a:lnTo>
                  <a:pt x="114" y="65"/>
                </a:lnTo>
                <a:lnTo>
                  <a:pt x="98" y="50"/>
                </a:lnTo>
                <a:lnTo>
                  <a:pt x="82" y="37"/>
                </a:lnTo>
                <a:lnTo>
                  <a:pt x="65" y="25"/>
                </a:lnTo>
                <a:lnTo>
                  <a:pt x="49" y="16"/>
                </a:lnTo>
                <a:lnTo>
                  <a:pt x="33" y="9"/>
                </a:lnTo>
                <a:lnTo>
                  <a:pt x="16" y="4"/>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2743200"/>
            <a:ext cx="3743325" cy="3133725"/>
          </a:xfrm>
          <a:custGeom>
            <a:avLst/>
            <a:gdLst/>
            <a:ahLst/>
            <a:cxnLst/>
            <a:rect l="l" t="t" r="r" b="b"/>
            <a:pathLst>
              <a:path w="393" h="329">
                <a:moveTo>
                  <a:pt x="0" y="0"/>
                </a:moveTo>
                <a:lnTo>
                  <a:pt x="16" y="2"/>
                </a:lnTo>
                <a:lnTo>
                  <a:pt x="33" y="6"/>
                </a:lnTo>
                <a:lnTo>
                  <a:pt x="49" y="14"/>
                </a:lnTo>
                <a:lnTo>
                  <a:pt x="65" y="24"/>
                </a:lnTo>
                <a:lnTo>
                  <a:pt x="82" y="36"/>
                </a:lnTo>
                <a:lnTo>
                  <a:pt x="98" y="51"/>
                </a:lnTo>
                <a:lnTo>
                  <a:pt x="114" y="67"/>
                </a:lnTo>
                <a:lnTo>
                  <a:pt x="131" y="84"/>
                </a:lnTo>
                <a:lnTo>
                  <a:pt x="147" y="103"/>
                </a:lnTo>
                <a:lnTo>
                  <a:pt x="164" y="123"/>
                </a:lnTo>
                <a:lnTo>
                  <a:pt x="180" y="143"/>
                </a:lnTo>
                <a:lnTo>
                  <a:pt x="196" y="163"/>
                </a:lnTo>
                <a:lnTo>
                  <a:pt x="213" y="183"/>
                </a:lnTo>
                <a:lnTo>
                  <a:pt x="229" y="203"/>
                </a:lnTo>
                <a:lnTo>
                  <a:pt x="246" y="223"/>
                </a:lnTo>
                <a:lnTo>
                  <a:pt x="262" y="241"/>
                </a:lnTo>
                <a:lnTo>
                  <a:pt x="278" y="259"/>
                </a:lnTo>
                <a:lnTo>
                  <a:pt x="295" y="275"/>
                </a:lnTo>
                <a:lnTo>
                  <a:pt x="311" y="289"/>
                </a:lnTo>
                <a:lnTo>
                  <a:pt x="327" y="302"/>
                </a:lnTo>
                <a:lnTo>
                  <a:pt x="344" y="312"/>
                </a:lnTo>
                <a:lnTo>
                  <a:pt x="360" y="320"/>
                </a:lnTo>
                <a:lnTo>
                  <a:pt x="377" y="324"/>
                </a:lnTo>
                <a:lnTo>
                  <a:pt x="393" y="326"/>
                </a:lnTo>
                <a:lnTo>
                  <a:pt x="393" y="329"/>
                </a:lnTo>
                <a:lnTo>
                  <a:pt x="377" y="327"/>
                </a:lnTo>
                <a:lnTo>
                  <a:pt x="360" y="322"/>
                </a:lnTo>
                <a:lnTo>
                  <a:pt x="344" y="315"/>
                </a:lnTo>
                <a:lnTo>
                  <a:pt x="327" y="304"/>
                </a:lnTo>
                <a:lnTo>
                  <a:pt x="311" y="292"/>
                </a:lnTo>
                <a:lnTo>
                  <a:pt x="295" y="278"/>
                </a:lnTo>
                <a:lnTo>
                  <a:pt x="278" y="262"/>
                </a:lnTo>
                <a:lnTo>
                  <a:pt x="262" y="244"/>
                </a:lnTo>
                <a:lnTo>
                  <a:pt x="246" y="225"/>
                </a:lnTo>
                <a:lnTo>
                  <a:pt x="229" y="206"/>
                </a:lnTo>
                <a:lnTo>
                  <a:pt x="213" y="186"/>
                </a:lnTo>
                <a:lnTo>
                  <a:pt x="196" y="166"/>
                </a:lnTo>
                <a:lnTo>
                  <a:pt x="180" y="145"/>
                </a:lnTo>
                <a:lnTo>
                  <a:pt x="164" y="125"/>
                </a:lnTo>
                <a:lnTo>
                  <a:pt x="147" y="106"/>
                </a:lnTo>
                <a:lnTo>
                  <a:pt x="131" y="87"/>
                </a:lnTo>
                <a:lnTo>
                  <a:pt x="114" y="70"/>
                </a:lnTo>
                <a:lnTo>
                  <a:pt x="98" y="54"/>
                </a:lnTo>
                <a:lnTo>
                  <a:pt x="82" y="39"/>
                </a:lnTo>
                <a:lnTo>
                  <a:pt x="65" y="27"/>
                </a:lnTo>
                <a:lnTo>
                  <a:pt x="49" y="17"/>
                </a:lnTo>
                <a:lnTo>
                  <a:pt x="33" y="9"/>
                </a:lnTo>
                <a:lnTo>
                  <a:pt x="16" y="4"/>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2771775"/>
            <a:ext cx="3743325" cy="3333750"/>
          </a:xfrm>
          <a:custGeom>
            <a:avLst/>
            <a:gdLst/>
            <a:ahLst/>
            <a:cxnLst/>
            <a:rect l="l" t="t" r="r" b="b"/>
            <a:pathLst>
              <a:path w="393" h="350">
                <a:moveTo>
                  <a:pt x="0" y="0"/>
                </a:moveTo>
                <a:lnTo>
                  <a:pt x="16" y="1"/>
                </a:lnTo>
                <a:lnTo>
                  <a:pt x="33" y="6"/>
                </a:lnTo>
                <a:lnTo>
                  <a:pt x="49" y="15"/>
                </a:lnTo>
                <a:lnTo>
                  <a:pt x="65" y="25"/>
                </a:lnTo>
                <a:lnTo>
                  <a:pt x="82" y="39"/>
                </a:lnTo>
                <a:lnTo>
                  <a:pt x="98" y="54"/>
                </a:lnTo>
                <a:lnTo>
                  <a:pt x="114" y="71"/>
                </a:lnTo>
                <a:lnTo>
                  <a:pt x="131" y="90"/>
                </a:lnTo>
                <a:lnTo>
                  <a:pt x="147" y="110"/>
                </a:lnTo>
                <a:lnTo>
                  <a:pt x="164" y="130"/>
                </a:lnTo>
                <a:lnTo>
                  <a:pt x="180" y="152"/>
                </a:lnTo>
                <a:lnTo>
                  <a:pt x="196" y="174"/>
                </a:lnTo>
                <a:lnTo>
                  <a:pt x="213" y="195"/>
                </a:lnTo>
                <a:lnTo>
                  <a:pt x="229" y="217"/>
                </a:lnTo>
                <a:lnTo>
                  <a:pt x="246" y="237"/>
                </a:lnTo>
                <a:lnTo>
                  <a:pt x="262" y="257"/>
                </a:lnTo>
                <a:lnTo>
                  <a:pt x="278" y="276"/>
                </a:lnTo>
                <a:lnTo>
                  <a:pt x="295" y="293"/>
                </a:lnTo>
                <a:lnTo>
                  <a:pt x="311" y="308"/>
                </a:lnTo>
                <a:lnTo>
                  <a:pt x="327" y="322"/>
                </a:lnTo>
                <a:lnTo>
                  <a:pt x="344" y="333"/>
                </a:lnTo>
                <a:lnTo>
                  <a:pt x="360" y="341"/>
                </a:lnTo>
                <a:lnTo>
                  <a:pt x="377" y="346"/>
                </a:lnTo>
                <a:lnTo>
                  <a:pt x="393" y="347"/>
                </a:lnTo>
                <a:lnTo>
                  <a:pt x="393" y="350"/>
                </a:lnTo>
                <a:lnTo>
                  <a:pt x="377" y="348"/>
                </a:lnTo>
                <a:lnTo>
                  <a:pt x="360" y="343"/>
                </a:lnTo>
                <a:lnTo>
                  <a:pt x="344" y="335"/>
                </a:lnTo>
                <a:lnTo>
                  <a:pt x="327" y="324"/>
                </a:lnTo>
                <a:lnTo>
                  <a:pt x="311" y="311"/>
                </a:lnTo>
                <a:lnTo>
                  <a:pt x="295" y="295"/>
                </a:lnTo>
                <a:lnTo>
                  <a:pt x="278" y="278"/>
                </a:lnTo>
                <a:lnTo>
                  <a:pt x="262" y="259"/>
                </a:lnTo>
                <a:lnTo>
                  <a:pt x="246" y="240"/>
                </a:lnTo>
                <a:lnTo>
                  <a:pt x="229" y="219"/>
                </a:lnTo>
                <a:lnTo>
                  <a:pt x="213" y="197"/>
                </a:lnTo>
                <a:lnTo>
                  <a:pt x="196" y="176"/>
                </a:lnTo>
                <a:lnTo>
                  <a:pt x="180" y="154"/>
                </a:lnTo>
                <a:lnTo>
                  <a:pt x="164" y="133"/>
                </a:lnTo>
                <a:lnTo>
                  <a:pt x="147" y="112"/>
                </a:lnTo>
                <a:lnTo>
                  <a:pt x="131" y="92"/>
                </a:lnTo>
                <a:lnTo>
                  <a:pt x="114" y="73"/>
                </a:lnTo>
                <a:lnTo>
                  <a:pt x="98" y="56"/>
                </a:lnTo>
                <a:lnTo>
                  <a:pt x="82" y="41"/>
                </a:lnTo>
                <a:lnTo>
                  <a:pt x="65" y="28"/>
                </a:lnTo>
                <a:lnTo>
                  <a:pt x="49" y="17"/>
                </a:lnTo>
                <a:lnTo>
                  <a:pt x="33" y="9"/>
                </a:lnTo>
                <a:lnTo>
                  <a:pt x="16" y="4"/>
                </a:lnTo>
                <a:lnTo>
                  <a:pt x="0" y="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2790825"/>
            <a:ext cx="3743325" cy="3505200"/>
          </a:xfrm>
          <a:custGeom>
            <a:avLst/>
            <a:gdLst/>
            <a:ahLst/>
            <a:cxnLst/>
            <a:rect l="l" t="t" r="r" b="b"/>
            <a:pathLst>
              <a:path w="393" h="368">
                <a:moveTo>
                  <a:pt x="0" y="0"/>
                </a:moveTo>
                <a:lnTo>
                  <a:pt x="16" y="2"/>
                </a:lnTo>
                <a:lnTo>
                  <a:pt x="33" y="7"/>
                </a:lnTo>
                <a:lnTo>
                  <a:pt x="49" y="16"/>
                </a:lnTo>
                <a:lnTo>
                  <a:pt x="65" y="27"/>
                </a:lnTo>
                <a:lnTo>
                  <a:pt x="82" y="41"/>
                </a:lnTo>
                <a:lnTo>
                  <a:pt x="98" y="57"/>
                </a:lnTo>
                <a:lnTo>
                  <a:pt x="114" y="75"/>
                </a:lnTo>
                <a:lnTo>
                  <a:pt x="131" y="95"/>
                </a:lnTo>
                <a:lnTo>
                  <a:pt x="147" y="116"/>
                </a:lnTo>
                <a:lnTo>
                  <a:pt x="164" y="138"/>
                </a:lnTo>
                <a:lnTo>
                  <a:pt x="180" y="160"/>
                </a:lnTo>
                <a:lnTo>
                  <a:pt x="196" y="183"/>
                </a:lnTo>
                <a:lnTo>
                  <a:pt x="213" y="206"/>
                </a:lnTo>
                <a:lnTo>
                  <a:pt x="229" y="228"/>
                </a:lnTo>
                <a:lnTo>
                  <a:pt x="246" y="250"/>
                </a:lnTo>
                <a:lnTo>
                  <a:pt x="262" y="271"/>
                </a:lnTo>
                <a:lnTo>
                  <a:pt x="278" y="291"/>
                </a:lnTo>
                <a:lnTo>
                  <a:pt x="295" y="309"/>
                </a:lnTo>
                <a:lnTo>
                  <a:pt x="311" y="325"/>
                </a:lnTo>
                <a:lnTo>
                  <a:pt x="327" y="339"/>
                </a:lnTo>
                <a:lnTo>
                  <a:pt x="344" y="351"/>
                </a:lnTo>
                <a:lnTo>
                  <a:pt x="360" y="359"/>
                </a:lnTo>
                <a:lnTo>
                  <a:pt x="377" y="364"/>
                </a:lnTo>
                <a:lnTo>
                  <a:pt x="393" y="366"/>
                </a:lnTo>
                <a:lnTo>
                  <a:pt x="393" y="368"/>
                </a:lnTo>
                <a:lnTo>
                  <a:pt x="377" y="366"/>
                </a:lnTo>
                <a:lnTo>
                  <a:pt x="360" y="361"/>
                </a:lnTo>
                <a:lnTo>
                  <a:pt x="344" y="352"/>
                </a:lnTo>
                <a:lnTo>
                  <a:pt x="327" y="341"/>
                </a:lnTo>
                <a:lnTo>
                  <a:pt x="311" y="327"/>
                </a:lnTo>
                <a:lnTo>
                  <a:pt x="295" y="311"/>
                </a:lnTo>
                <a:lnTo>
                  <a:pt x="278" y="293"/>
                </a:lnTo>
                <a:lnTo>
                  <a:pt x="262" y="273"/>
                </a:lnTo>
                <a:lnTo>
                  <a:pt x="246" y="252"/>
                </a:lnTo>
                <a:lnTo>
                  <a:pt x="229" y="230"/>
                </a:lnTo>
                <a:lnTo>
                  <a:pt x="213" y="208"/>
                </a:lnTo>
                <a:lnTo>
                  <a:pt x="196" y="185"/>
                </a:lnTo>
                <a:lnTo>
                  <a:pt x="180" y="162"/>
                </a:lnTo>
                <a:lnTo>
                  <a:pt x="164" y="140"/>
                </a:lnTo>
                <a:lnTo>
                  <a:pt x="147" y="118"/>
                </a:lnTo>
                <a:lnTo>
                  <a:pt x="131" y="97"/>
                </a:lnTo>
                <a:lnTo>
                  <a:pt x="114" y="77"/>
                </a:lnTo>
                <a:lnTo>
                  <a:pt x="98" y="59"/>
                </a:lnTo>
                <a:lnTo>
                  <a:pt x="82" y="43"/>
                </a:lnTo>
                <a:lnTo>
                  <a:pt x="65" y="29"/>
                </a:lnTo>
                <a:lnTo>
                  <a:pt x="49" y="17"/>
                </a:lnTo>
                <a:lnTo>
                  <a:pt x="33" y="9"/>
                </a:lnTo>
                <a:lnTo>
                  <a:pt x="16" y="4"/>
                </a:lnTo>
                <a:lnTo>
                  <a:pt x="0" y="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2809875"/>
            <a:ext cx="3743325" cy="3657600"/>
          </a:xfrm>
          <a:custGeom>
            <a:avLst/>
            <a:gdLst/>
            <a:ahLst/>
            <a:cxnLst/>
            <a:rect l="l" t="t" r="r" b="b"/>
            <a:pathLst>
              <a:path w="393" h="384">
                <a:moveTo>
                  <a:pt x="0" y="0"/>
                </a:moveTo>
                <a:lnTo>
                  <a:pt x="16" y="2"/>
                </a:lnTo>
                <a:lnTo>
                  <a:pt x="33" y="7"/>
                </a:lnTo>
                <a:lnTo>
                  <a:pt x="49" y="16"/>
                </a:lnTo>
                <a:lnTo>
                  <a:pt x="65" y="28"/>
                </a:lnTo>
                <a:lnTo>
                  <a:pt x="82" y="43"/>
                </a:lnTo>
                <a:lnTo>
                  <a:pt x="98" y="60"/>
                </a:lnTo>
                <a:lnTo>
                  <a:pt x="114" y="78"/>
                </a:lnTo>
                <a:lnTo>
                  <a:pt x="131" y="99"/>
                </a:lnTo>
                <a:lnTo>
                  <a:pt x="147" y="121"/>
                </a:lnTo>
                <a:lnTo>
                  <a:pt x="164" y="144"/>
                </a:lnTo>
                <a:lnTo>
                  <a:pt x="180" y="167"/>
                </a:lnTo>
                <a:lnTo>
                  <a:pt x="196" y="191"/>
                </a:lnTo>
                <a:lnTo>
                  <a:pt x="213" y="215"/>
                </a:lnTo>
                <a:lnTo>
                  <a:pt x="229" y="239"/>
                </a:lnTo>
                <a:lnTo>
                  <a:pt x="246" y="262"/>
                </a:lnTo>
                <a:lnTo>
                  <a:pt x="262" y="284"/>
                </a:lnTo>
                <a:lnTo>
                  <a:pt x="278" y="304"/>
                </a:lnTo>
                <a:lnTo>
                  <a:pt x="295" y="323"/>
                </a:lnTo>
                <a:lnTo>
                  <a:pt x="311" y="340"/>
                </a:lnTo>
                <a:lnTo>
                  <a:pt x="327" y="355"/>
                </a:lnTo>
                <a:lnTo>
                  <a:pt x="344" y="366"/>
                </a:lnTo>
                <a:lnTo>
                  <a:pt x="360" y="375"/>
                </a:lnTo>
                <a:lnTo>
                  <a:pt x="377" y="381"/>
                </a:lnTo>
                <a:lnTo>
                  <a:pt x="393" y="383"/>
                </a:lnTo>
                <a:lnTo>
                  <a:pt x="393" y="384"/>
                </a:lnTo>
                <a:lnTo>
                  <a:pt x="377" y="382"/>
                </a:lnTo>
                <a:lnTo>
                  <a:pt x="360" y="377"/>
                </a:lnTo>
                <a:lnTo>
                  <a:pt x="344" y="368"/>
                </a:lnTo>
                <a:lnTo>
                  <a:pt x="327" y="356"/>
                </a:lnTo>
                <a:lnTo>
                  <a:pt x="311" y="341"/>
                </a:lnTo>
                <a:lnTo>
                  <a:pt x="295" y="324"/>
                </a:lnTo>
                <a:lnTo>
                  <a:pt x="278" y="306"/>
                </a:lnTo>
                <a:lnTo>
                  <a:pt x="262" y="285"/>
                </a:lnTo>
                <a:lnTo>
                  <a:pt x="246" y="263"/>
                </a:lnTo>
                <a:lnTo>
                  <a:pt x="229" y="240"/>
                </a:lnTo>
                <a:lnTo>
                  <a:pt x="213" y="217"/>
                </a:lnTo>
                <a:lnTo>
                  <a:pt x="196" y="193"/>
                </a:lnTo>
                <a:lnTo>
                  <a:pt x="180" y="169"/>
                </a:lnTo>
                <a:lnTo>
                  <a:pt x="164" y="145"/>
                </a:lnTo>
                <a:lnTo>
                  <a:pt x="147" y="122"/>
                </a:lnTo>
                <a:lnTo>
                  <a:pt x="131" y="100"/>
                </a:lnTo>
                <a:lnTo>
                  <a:pt x="114" y="80"/>
                </a:lnTo>
                <a:lnTo>
                  <a:pt x="98" y="61"/>
                </a:lnTo>
                <a:lnTo>
                  <a:pt x="82" y="44"/>
                </a:lnTo>
                <a:lnTo>
                  <a:pt x="65" y="29"/>
                </a:lnTo>
                <a:lnTo>
                  <a:pt x="49" y="17"/>
                </a:lnTo>
                <a:lnTo>
                  <a:pt x="33" y="9"/>
                </a:lnTo>
                <a:lnTo>
                  <a:pt x="16" y="3"/>
                </a:lnTo>
                <a:lnTo>
                  <a:pt x="0" y="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1562100"/>
            <a:ext cx="3743325" cy="1438275"/>
          </a:xfrm>
          <a:custGeom>
            <a:avLst/>
            <a:gdLst/>
            <a:ahLst/>
            <a:cxnLst/>
            <a:rect l="l" t="t" r="r" b="b"/>
            <a:pathLst>
              <a:path w="393" h="151">
                <a:moveTo>
                  <a:pt x="0" y="138"/>
                </a:moveTo>
                <a:lnTo>
                  <a:pt x="16" y="137"/>
                </a:lnTo>
                <a:lnTo>
                  <a:pt x="33" y="135"/>
                </a:lnTo>
                <a:lnTo>
                  <a:pt x="49" y="132"/>
                </a:lnTo>
                <a:lnTo>
                  <a:pt x="65" y="128"/>
                </a:lnTo>
                <a:lnTo>
                  <a:pt x="82" y="122"/>
                </a:lnTo>
                <a:lnTo>
                  <a:pt x="98" y="116"/>
                </a:lnTo>
                <a:lnTo>
                  <a:pt x="114" y="110"/>
                </a:lnTo>
                <a:lnTo>
                  <a:pt x="131" y="102"/>
                </a:lnTo>
                <a:lnTo>
                  <a:pt x="147" y="94"/>
                </a:lnTo>
                <a:lnTo>
                  <a:pt x="164" y="86"/>
                </a:lnTo>
                <a:lnTo>
                  <a:pt x="180" y="77"/>
                </a:lnTo>
                <a:lnTo>
                  <a:pt x="196" y="69"/>
                </a:lnTo>
                <a:lnTo>
                  <a:pt x="213" y="60"/>
                </a:lnTo>
                <a:lnTo>
                  <a:pt x="229" y="52"/>
                </a:lnTo>
                <a:lnTo>
                  <a:pt x="246" y="43"/>
                </a:lnTo>
                <a:lnTo>
                  <a:pt x="262" y="35"/>
                </a:lnTo>
                <a:lnTo>
                  <a:pt x="278" y="28"/>
                </a:lnTo>
                <a:lnTo>
                  <a:pt x="295" y="21"/>
                </a:lnTo>
                <a:lnTo>
                  <a:pt x="311" y="15"/>
                </a:lnTo>
                <a:lnTo>
                  <a:pt x="327" y="10"/>
                </a:lnTo>
                <a:lnTo>
                  <a:pt x="344" y="6"/>
                </a:lnTo>
                <a:lnTo>
                  <a:pt x="360" y="2"/>
                </a:lnTo>
                <a:lnTo>
                  <a:pt x="377" y="0"/>
                </a:lnTo>
                <a:lnTo>
                  <a:pt x="393" y="0"/>
                </a:lnTo>
                <a:lnTo>
                  <a:pt x="393" y="13"/>
                </a:lnTo>
                <a:lnTo>
                  <a:pt x="377" y="14"/>
                </a:lnTo>
                <a:lnTo>
                  <a:pt x="360" y="16"/>
                </a:lnTo>
                <a:lnTo>
                  <a:pt x="344" y="19"/>
                </a:lnTo>
                <a:lnTo>
                  <a:pt x="327" y="23"/>
                </a:lnTo>
                <a:lnTo>
                  <a:pt x="311" y="28"/>
                </a:lnTo>
                <a:lnTo>
                  <a:pt x="295" y="34"/>
                </a:lnTo>
                <a:lnTo>
                  <a:pt x="278" y="41"/>
                </a:lnTo>
                <a:lnTo>
                  <a:pt x="262" y="49"/>
                </a:lnTo>
                <a:lnTo>
                  <a:pt x="246" y="57"/>
                </a:lnTo>
                <a:lnTo>
                  <a:pt x="229" y="65"/>
                </a:lnTo>
                <a:lnTo>
                  <a:pt x="213" y="73"/>
                </a:lnTo>
                <a:lnTo>
                  <a:pt x="196" y="82"/>
                </a:lnTo>
                <a:lnTo>
                  <a:pt x="180" y="91"/>
                </a:lnTo>
                <a:lnTo>
                  <a:pt x="164" y="99"/>
                </a:lnTo>
                <a:lnTo>
                  <a:pt x="147" y="107"/>
                </a:lnTo>
                <a:lnTo>
                  <a:pt x="131" y="115"/>
                </a:lnTo>
                <a:lnTo>
                  <a:pt x="114" y="123"/>
                </a:lnTo>
                <a:lnTo>
                  <a:pt x="98" y="130"/>
                </a:lnTo>
                <a:lnTo>
                  <a:pt x="82" y="136"/>
                </a:lnTo>
                <a:lnTo>
                  <a:pt x="65" y="141"/>
                </a:lnTo>
                <a:lnTo>
                  <a:pt x="49" y="145"/>
                </a:lnTo>
                <a:lnTo>
                  <a:pt x="33" y="149"/>
                </a:lnTo>
                <a:lnTo>
                  <a:pt x="16" y="151"/>
                </a:lnTo>
                <a:lnTo>
                  <a:pt x="0" y="15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2476500"/>
            <a:ext cx="3743325" cy="638175"/>
          </a:xfrm>
          <a:custGeom>
            <a:avLst/>
            <a:gdLst/>
            <a:ahLst/>
            <a:cxnLst/>
            <a:rect l="l" t="t" r="r" b="b"/>
            <a:pathLst>
              <a:path w="393" h="67">
                <a:moveTo>
                  <a:pt x="0" y="55"/>
                </a:moveTo>
                <a:lnTo>
                  <a:pt x="16" y="55"/>
                </a:lnTo>
                <a:lnTo>
                  <a:pt x="33" y="54"/>
                </a:lnTo>
                <a:lnTo>
                  <a:pt x="49" y="53"/>
                </a:lnTo>
                <a:lnTo>
                  <a:pt x="65" y="51"/>
                </a:lnTo>
                <a:lnTo>
                  <a:pt x="82" y="49"/>
                </a:lnTo>
                <a:lnTo>
                  <a:pt x="98" y="47"/>
                </a:lnTo>
                <a:lnTo>
                  <a:pt x="114" y="44"/>
                </a:lnTo>
                <a:lnTo>
                  <a:pt x="131" y="41"/>
                </a:lnTo>
                <a:lnTo>
                  <a:pt x="147" y="38"/>
                </a:lnTo>
                <a:lnTo>
                  <a:pt x="164" y="35"/>
                </a:lnTo>
                <a:lnTo>
                  <a:pt x="180" y="31"/>
                </a:lnTo>
                <a:lnTo>
                  <a:pt x="196" y="28"/>
                </a:lnTo>
                <a:lnTo>
                  <a:pt x="213" y="24"/>
                </a:lnTo>
                <a:lnTo>
                  <a:pt x="229" y="21"/>
                </a:lnTo>
                <a:lnTo>
                  <a:pt x="246" y="18"/>
                </a:lnTo>
                <a:lnTo>
                  <a:pt x="262" y="14"/>
                </a:lnTo>
                <a:lnTo>
                  <a:pt x="278" y="12"/>
                </a:lnTo>
                <a:lnTo>
                  <a:pt x="295" y="9"/>
                </a:lnTo>
                <a:lnTo>
                  <a:pt x="311" y="6"/>
                </a:lnTo>
                <a:lnTo>
                  <a:pt x="327" y="4"/>
                </a:lnTo>
                <a:lnTo>
                  <a:pt x="344" y="3"/>
                </a:lnTo>
                <a:lnTo>
                  <a:pt x="360" y="1"/>
                </a:lnTo>
                <a:lnTo>
                  <a:pt x="377" y="1"/>
                </a:lnTo>
                <a:lnTo>
                  <a:pt x="393" y="0"/>
                </a:lnTo>
                <a:lnTo>
                  <a:pt x="393" y="12"/>
                </a:lnTo>
                <a:lnTo>
                  <a:pt x="377" y="13"/>
                </a:lnTo>
                <a:lnTo>
                  <a:pt x="360" y="13"/>
                </a:lnTo>
                <a:lnTo>
                  <a:pt x="344" y="15"/>
                </a:lnTo>
                <a:lnTo>
                  <a:pt x="327" y="16"/>
                </a:lnTo>
                <a:lnTo>
                  <a:pt x="311" y="19"/>
                </a:lnTo>
                <a:lnTo>
                  <a:pt x="295" y="21"/>
                </a:lnTo>
                <a:lnTo>
                  <a:pt x="278" y="24"/>
                </a:lnTo>
                <a:lnTo>
                  <a:pt x="262" y="27"/>
                </a:lnTo>
                <a:lnTo>
                  <a:pt x="246" y="30"/>
                </a:lnTo>
                <a:lnTo>
                  <a:pt x="229" y="33"/>
                </a:lnTo>
                <a:lnTo>
                  <a:pt x="213" y="36"/>
                </a:lnTo>
                <a:lnTo>
                  <a:pt x="196" y="40"/>
                </a:lnTo>
                <a:lnTo>
                  <a:pt x="180" y="43"/>
                </a:lnTo>
                <a:lnTo>
                  <a:pt x="164" y="47"/>
                </a:lnTo>
                <a:lnTo>
                  <a:pt x="147" y="50"/>
                </a:lnTo>
                <a:lnTo>
                  <a:pt x="131" y="53"/>
                </a:lnTo>
                <a:lnTo>
                  <a:pt x="114" y="56"/>
                </a:lnTo>
                <a:lnTo>
                  <a:pt x="98" y="59"/>
                </a:lnTo>
                <a:lnTo>
                  <a:pt x="82" y="61"/>
                </a:lnTo>
                <a:lnTo>
                  <a:pt x="65" y="63"/>
                </a:lnTo>
                <a:lnTo>
                  <a:pt x="49" y="65"/>
                </a:lnTo>
                <a:lnTo>
                  <a:pt x="33" y="66"/>
                </a:lnTo>
                <a:lnTo>
                  <a:pt x="16" y="67"/>
                </a:lnTo>
                <a:lnTo>
                  <a:pt x="0" y="6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3114675"/>
            <a:ext cx="3743325" cy="219075"/>
          </a:xfrm>
          <a:custGeom>
            <a:avLst/>
            <a:gdLst/>
            <a:ahLst/>
            <a:cxnLst/>
            <a:rect l="l" t="t" r="r" b="b"/>
            <a:pathLst>
              <a:path w="393" h="23">
                <a:moveTo>
                  <a:pt x="0" y="0"/>
                </a:moveTo>
                <a:lnTo>
                  <a:pt x="16" y="0"/>
                </a:lnTo>
                <a:lnTo>
                  <a:pt x="33" y="1"/>
                </a:lnTo>
                <a:lnTo>
                  <a:pt x="49" y="1"/>
                </a:lnTo>
                <a:lnTo>
                  <a:pt x="65" y="2"/>
                </a:lnTo>
                <a:lnTo>
                  <a:pt x="82" y="2"/>
                </a:lnTo>
                <a:lnTo>
                  <a:pt x="98" y="3"/>
                </a:lnTo>
                <a:lnTo>
                  <a:pt x="114" y="3"/>
                </a:lnTo>
                <a:lnTo>
                  <a:pt x="131" y="4"/>
                </a:lnTo>
                <a:lnTo>
                  <a:pt x="147" y="5"/>
                </a:lnTo>
                <a:lnTo>
                  <a:pt x="164" y="6"/>
                </a:lnTo>
                <a:lnTo>
                  <a:pt x="180" y="7"/>
                </a:lnTo>
                <a:lnTo>
                  <a:pt x="196" y="8"/>
                </a:lnTo>
                <a:lnTo>
                  <a:pt x="213" y="9"/>
                </a:lnTo>
                <a:lnTo>
                  <a:pt x="229" y="10"/>
                </a:lnTo>
                <a:lnTo>
                  <a:pt x="246" y="10"/>
                </a:lnTo>
                <a:lnTo>
                  <a:pt x="262" y="11"/>
                </a:lnTo>
                <a:lnTo>
                  <a:pt x="278" y="12"/>
                </a:lnTo>
                <a:lnTo>
                  <a:pt x="295" y="13"/>
                </a:lnTo>
                <a:lnTo>
                  <a:pt x="311" y="13"/>
                </a:lnTo>
                <a:lnTo>
                  <a:pt x="327" y="14"/>
                </a:lnTo>
                <a:lnTo>
                  <a:pt x="344" y="14"/>
                </a:lnTo>
                <a:lnTo>
                  <a:pt x="360" y="15"/>
                </a:lnTo>
                <a:lnTo>
                  <a:pt x="377" y="15"/>
                </a:lnTo>
                <a:lnTo>
                  <a:pt x="393" y="15"/>
                </a:lnTo>
                <a:lnTo>
                  <a:pt x="393" y="23"/>
                </a:lnTo>
                <a:lnTo>
                  <a:pt x="377" y="22"/>
                </a:lnTo>
                <a:lnTo>
                  <a:pt x="360" y="22"/>
                </a:lnTo>
                <a:lnTo>
                  <a:pt x="344" y="22"/>
                </a:lnTo>
                <a:lnTo>
                  <a:pt x="327" y="21"/>
                </a:lnTo>
                <a:lnTo>
                  <a:pt x="311" y="21"/>
                </a:lnTo>
                <a:lnTo>
                  <a:pt x="295" y="20"/>
                </a:lnTo>
                <a:lnTo>
                  <a:pt x="278" y="20"/>
                </a:lnTo>
                <a:lnTo>
                  <a:pt x="262" y="19"/>
                </a:lnTo>
                <a:lnTo>
                  <a:pt x="246" y="18"/>
                </a:lnTo>
                <a:lnTo>
                  <a:pt x="229" y="17"/>
                </a:lnTo>
                <a:lnTo>
                  <a:pt x="213" y="16"/>
                </a:lnTo>
                <a:lnTo>
                  <a:pt x="196" y="15"/>
                </a:lnTo>
                <a:lnTo>
                  <a:pt x="180" y="14"/>
                </a:lnTo>
                <a:lnTo>
                  <a:pt x="164" y="13"/>
                </a:lnTo>
                <a:lnTo>
                  <a:pt x="147" y="13"/>
                </a:lnTo>
                <a:lnTo>
                  <a:pt x="131" y="12"/>
                </a:lnTo>
                <a:lnTo>
                  <a:pt x="114" y="11"/>
                </a:lnTo>
                <a:lnTo>
                  <a:pt x="98" y="10"/>
                </a:lnTo>
                <a:lnTo>
                  <a:pt x="82" y="10"/>
                </a:lnTo>
                <a:lnTo>
                  <a:pt x="65" y="9"/>
                </a:lnTo>
                <a:lnTo>
                  <a:pt x="49" y="9"/>
                </a:lnTo>
                <a:lnTo>
                  <a:pt x="33" y="8"/>
                </a:lnTo>
                <a:lnTo>
                  <a:pt x="16" y="8"/>
                </a:lnTo>
                <a:lnTo>
                  <a:pt x="0" y="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190875"/>
            <a:ext cx="3743325" cy="676275"/>
          </a:xfrm>
          <a:custGeom>
            <a:avLst/>
            <a:gdLst/>
            <a:ahLst/>
            <a:cxnLst/>
            <a:rect l="l" t="t" r="r" b="b"/>
            <a:pathLst>
              <a:path w="393" h="71">
                <a:moveTo>
                  <a:pt x="0" y="0"/>
                </a:moveTo>
                <a:lnTo>
                  <a:pt x="16" y="0"/>
                </a:lnTo>
                <a:lnTo>
                  <a:pt x="33" y="1"/>
                </a:lnTo>
                <a:lnTo>
                  <a:pt x="49" y="3"/>
                </a:lnTo>
                <a:lnTo>
                  <a:pt x="65" y="5"/>
                </a:lnTo>
                <a:lnTo>
                  <a:pt x="82" y="7"/>
                </a:lnTo>
                <a:lnTo>
                  <a:pt x="98" y="10"/>
                </a:lnTo>
                <a:lnTo>
                  <a:pt x="114" y="13"/>
                </a:lnTo>
                <a:lnTo>
                  <a:pt x="131" y="17"/>
                </a:lnTo>
                <a:lnTo>
                  <a:pt x="147" y="20"/>
                </a:lnTo>
                <a:lnTo>
                  <a:pt x="164" y="24"/>
                </a:lnTo>
                <a:lnTo>
                  <a:pt x="180" y="28"/>
                </a:lnTo>
                <a:lnTo>
                  <a:pt x="196" y="32"/>
                </a:lnTo>
                <a:lnTo>
                  <a:pt x="213" y="36"/>
                </a:lnTo>
                <a:lnTo>
                  <a:pt x="229" y="40"/>
                </a:lnTo>
                <a:lnTo>
                  <a:pt x="246" y="44"/>
                </a:lnTo>
                <a:lnTo>
                  <a:pt x="262" y="48"/>
                </a:lnTo>
                <a:lnTo>
                  <a:pt x="278" y="51"/>
                </a:lnTo>
                <a:lnTo>
                  <a:pt x="295" y="54"/>
                </a:lnTo>
                <a:lnTo>
                  <a:pt x="311" y="57"/>
                </a:lnTo>
                <a:lnTo>
                  <a:pt x="327" y="59"/>
                </a:lnTo>
                <a:lnTo>
                  <a:pt x="344" y="61"/>
                </a:lnTo>
                <a:lnTo>
                  <a:pt x="360" y="63"/>
                </a:lnTo>
                <a:lnTo>
                  <a:pt x="377" y="64"/>
                </a:lnTo>
                <a:lnTo>
                  <a:pt x="393" y="64"/>
                </a:lnTo>
                <a:lnTo>
                  <a:pt x="393" y="71"/>
                </a:lnTo>
                <a:lnTo>
                  <a:pt x="377" y="71"/>
                </a:lnTo>
                <a:lnTo>
                  <a:pt x="360" y="70"/>
                </a:lnTo>
                <a:lnTo>
                  <a:pt x="344" y="68"/>
                </a:lnTo>
                <a:lnTo>
                  <a:pt x="327" y="66"/>
                </a:lnTo>
                <a:lnTo>
                  <a:pt x="311" y="64"/>
                </a:lnTo>
                <a:lnTo>
                  <a:pt x="295" y="61"/>
                </a:lnTo>
                <a:lnTo>
                  <a:pt x="278" y="58"/>
                </a:lnTo>
                <a:lnTo>
                  <a:pt x="262" y="54"/>
                </a:lnTo>
                <a:lnTo>
                  <a:pt x="246" y="51"/>
                </a:lnTo>
                <a:lnTo>
                  <a:pt x="229" y="47"/>
                </a:lnTo>
                <a:lnTo>
                  <a:pt x="213" y="43"/>
                </a:lnTo>
                <a:lnTo>
                  <a:pt x="196" y="39"/>
                </a:lnTo>
                <a:lnTo>
                  <a:pt x="180" y="35"/>
                </a:lnTo>
                <a:lnTo>
                  <a:pt x="164" y="31"/>
                </a:lnTo>
                <a:lnTo>
                  <a:pt x="147" y="27"/>
                </a:lnTo>
                <a:lnTo>
                  <a:pt x="131" y="23"/>
                </a:lnTo>
                <a:lnTo>
                  <a:pt x="114" y="20"/>
                </a:lnTo>
                <a:lnTo>
                  <a:pt x="98" y="17"/>
                </a:lnTo>
                <a:lnTo>
                  <a:pt x="82" y="14"/>
                </a:lnTo>
                <a:lnTo>
                  <a:pt x="65" y="11"/>
                </a:lnTo>
                <a:lnTo>
                  <a:pt x="49" y="9"/>
                </a:lnTo>
                <a:lnTo>
                  <a:pt x="33" y="8"/>
                </a:lnTo>
                <a:lnTo>
                  <a:pt x="16" y="7"/>
                </a:lnTo>
                <a:lnTo>
                  <a:pt x="0" y="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3257550"/>
            <a:ext cx="3743325" cy="1114425"/>
          </a:xfrm>
          <a:custGeom>
            <a:avLst/>
            <a:gdLst/>
            <a:ahLst/>
            <a:cxnLst/>
            <a:rect l="l" t="t" r="r" b="b"/>
            <a:pathLst>
              <a:path w="393" h="117">
                <a:moveTo>
                  <a:pt x="0" y="0"/>
                </a:moveTo>
                <a:lnTo>
                  <a:pt x="16" y="0"/>
                </a:lnTo>
                <a:lnTo>
                  <a:pt x="33" y="2"/>
                </a:lnTo>
                <a:lnTo>
                  <a:pt x="49" y="4"/>
                </a:lnTo>
                <a:lnTo>
                  <a:pt x="65" y="8"/>
                </a:lnTo>
                <a:lnTo>
                  <a:pt x="82" y="12"/>
                </a:lnTo>
                <a:lnTo>
                  <a:pt x="98" y="17"/>
                </a:lnTo>
                <a:lnTo>
                  <a:pt x="114" y="22"/>
                </a:lnTo>
                <a:lnTo>
                  <a:pt x="131" y="28"/>
                </a:lnTo>
                <a:lnTo>
                  <a:pt x="147" y="35"/>
                </a:lnTo>
                <a:lnTo>
                  <a:pt x="164" y="41"/>
                </a:lnTo>
                <a:lnTo>
                  <a:pt x="180" y="48"/>
                </a:lnTo>
                <a:lnTo>
                  <a:pt x="196" y="55"/>
                </a:lnTo>
                <a:lnTo>
                  <a:pt x="213" y="62"/>
                </a:lnTo>
                <a:lnTo>
                  <a:pt x="229" y="69"/>
                </a:lnTo>
                <a:lnTo>
                  <a:pt x="246" y="75"/>
                </a:lnTo>
                <a:lnTo>
                  <a:pt x="262" y="82"/>
                </a:lnTo>
                <a:lnTo>
                  <a:pt x="278" y="87"/>
                </a:lnTo>
                <a:lnTo>
                  <a:pt x="295" y="93"/>
                </a:lnTo>
                <a:lnTo>
                  <a:pt x="311" y="98"/>
                </a:lnTo>
                <a:lnTo>
                  <a:pt x="327" y="102"/>
                </a:lnTo>
                <a:lnTo>
                  <a:pt x="344" y="105"/>
                </a:lnTo>
                <a:lnTo>
                  <a:pt x="360" y="108"/>
                </a:lnTo>
                <a:lnTo>
                  <a:pt x="377" y="110"/>
                </a:lnTo>
                <a:lnTo>
                  <a:pt x="393" y="110"/>
                </a:lnTo>
                <a:lnTo>
                  <a:pt x="393" y="117"/>
                </a:lnTo>
                <a:lnTo>
                  <a:pt x="377" y="116"/>
                </a:lnTo>
                <a:lnTo>
                  <a:pt x="360" y="115"/>
                </a:lnTo>
                <a:lnTo>
                  <a:pt x="344" y="112"/>
                </a:lnTo>
                <a:lnTo>
                  <a:pt x="327" y="109"/>
                </a:lnTo>
                <a:lnTo>
                  <a:pt x="311" y="104"/>
                </a:lnTo>
                <a:lnTo>
                  <a:pt x="295" y="100"/>
                </a:lnTo>
                <a:lnTo>
                  <a:pt x="278" y="94"/>
                </a:lnTo>
                <a:lnTo>
                  <a:pt x="262" y="88"/>
                </a:lnTo>
                <a:lnTo>
                  <a:pt x="246" y="82"/>
                </a:lnTo>
                <a:lnTo>
                  <a:pt x="229" y="75"/>
                </a:lnTo>
                <a:lnTo>
                  <a:pt x="213" y="69"/>
                </a:lnTo>
                <a:lnTo>
                  <a:pt x="196" y="62"/>
                </a:lnTo>
                <a:lnTo>
                  <a:pt x="180" y="55"/>
                </a:lnTo>
                <a:lnTo>
                  <a:pt x="164" y="48"/>
                </a:lnTo>
                <a:lnTo>
                  <a:pt x="147" y="41"/>
                </a:lnTo>
                <a:lnTo>
                  <a:pt x="131" y="35"/>
                </a:lnTo>
                <a:lnTo>
                  <a:pt x="114" y="29"/>
                </a:lnTo>
                <a:lnTo>
                  <a:pt x="98" y="24"/>
                </a:lnTo>
                <a:lnTo>
                  <a:pt x="82" y="19"/>
                </a:lnTo>
                <a:lnTo>
                  <a:pt x="65" y="15"/>
                </a:lnTo>
                <a:lnTo>
                  <a:pt x="49" y="11"/>
                </a:lnTo>
                <a:lnTo>
                  <a:pt x="33" y="9"/>
                </a:lnTo>
                <a:lnTo>
                  <a:pt x="16" y="7"/>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3314700"/>
            <a:ext cx="3743325" cy="1533525"/>
          </a:xfrm>
          <a:custGeom>
            <a:avLst/>
            <a:gdLst/>
            <a:ahLst/>
            <a:cxnLst/>
            <a:rect l="l" t="t" r="r" b="b"/>
            <a:pathLst>
              <a:path w="393" h="161">
                <a:moveTo>
                  <a:pt x="0" y="0"/>
                </a:moveTo>
                <a:lnTo>
                  <a:pt x="16" y="1"/>
                </a:lnTo>
                <a:lnTo>
                  <a:pt x="33" y="3"/>
                </a:lnTo>
                <a:lnTo>
                  <a:pt x="49" y="7"/>
                </a:lnTo>
                <a:lnTo>
                  <a:pt x="65" y="12"/>
                </a:lnTo>
                <a:lnTo>
                  <a:pt x="82" y="18"/>
                </a:lnTo>
                <a:lnTo>
                  <a:pt x="98" y="25"/>
                </a:lnTo>
                <a:lnTo>
                  <a:pt x="114" y="32"/>
                </a:lnTo>
                <a:lnTo>
                  <a:pt x="131" y="40"/>
                </a:lnTo>
                <a:lnTo>
                  <a:pt x="147" y="49"/>
                </a:lnTo>
                <a:lnTo>
                  <a:pt x="164" y="59"/>
                </a:lnTo>
                <a:lnTo>
                  <a:pt x="180" y="68"/>
                </a:lnTo>
                <a:lnTo>
                  <a:pt x="196" y="78"/>
                </a:lnTo>
                <a:lnTo>
                  <a:pt x="213" y="87"/>
                </a:lnTo>
                <a:lnTo>
                  <a:pt x="229" y="97"/>
                </a:lnTo>
                <a:lnTo>
                  <a:pt x="246" y="106"/>
                </a:lnTo>
                <a:lnTo>
                  <a:pt x="262" y="115"/>
                </a:lnTo>
                <a:lnTo>
                  <a:pt x="278" y="123"/>
                </a:lnTo>
                <a:lnTo>
                  <a:pt x="295" y="131"/>
                </a:lnTo>
                <a:lnTo>
                  <a:pt x="311" y="138"/>
                </a:lnTo>
                <a:lnTo>
                  <a:pt x="327" y="144"/>
                </a:lnTo>
                <a:lnTo>
                  <a:pt x="344" y="148"/>
                </a:lnTo>
                <a:lnTo>
                  <a:pt x="360" y="152"/>
                </a:lnTo>
                <a:lnTo>
                  <a:pt x="377" y="154"/>
                </a:lnTo>
                <a:lnTo>
                  <a:pt x="393" y="155"/>
                </a:lnTo>
                <a:lnTo>
                  <a:pt x="393" y="161"/>
                </a:lnTo>
                <a:lnTo>
                  <a:pt x="377" y="160"/>
                </a:lnTo>
                <a:lnTo>
                  <a:pt x="360" y="158"/>
                </a:lnTo>
                <a:lnTo>
                  <a:pt x="344" y="154"/>
                </a:lnTo>
                <a:lnTo>
                  <a:pt x="327" y="149"/>
                </a:lnTo>
                <a:lnTo>
                  <a:pt x="311" y="144"/>
                </a:lnTo>
                <a:lnTo>
                  <a:pt x="295" y="137"/>
                </a:lnTo>
                <a:lnTo>
                  <a:pt x="278" y="129"/>
                </a:lnTo>
                <a:lnTo>
                  <a:pt x="262" y="121"/>
                </a:lnTo>
                <a:lnTo>
                  <a:pt x="246" y="112"/>
                </a:lnTo>
                <a:lnTo>
                  <a:pt x="229" y="103"/>
                </a:lnTo>
                <a:lnTo>
                  <a:pt x="213" y="93"/>
                </a:lnTo>
                <a:lnTo>
                  <a:pt x="196" y="84"/>
                </a:lnTo>
                <a:lnTo>
                  <a:pt x="180" y="74"/>
                </a:lnTo>
                <a:lnTo>
                  <a:pt x="164" y="64"/>
                </a:lnTo>
                <a:lnTo>
                  <a:pt x="147" y="55"/>
                </a:lnTo>
                <a:lnTo>
                  <a:pt x="131" y="46"/>
                </a:lnTo>
                <a:lnTo>
                  <a:pt x="114" y="38"/>
                </a:lnTo>
                <a:lnTo>
                  <a:pt x="98" y="30"/>
                </a:lnTo>
                <a:lnTo>
                  <a:pt x="82" y="24"/>
                </a:lnTo>
                <a:lnTo>
                  <a:pt x="65" y="18"/>
                </a:lnTo>
                <a:lnTo>
                  <a:pt x="49" y="13"/>
                </a:lnTo>
                <a:lnTo>
                  <a:pt x="33" y="9"/>
                </a:lnTo>
                <a:lnTo>
                  <a:pt x="16" y="7"/>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057400" y="3371850"/>
            <a:ext cx="3743325" cy="1905000"/>
          </a:xfrm>
          <a:custGeom>
            <a:avLst/>
            <a:gdLst/>
            <a:ahLst/>
            <a:cxnLst/>
            <a:rect l="l" t="t" r="r" b="b"/>
            <a:pathLst>
              <a:path w="393" h="200">
                <a:moveTo>
                  <a:pt x="0" y="0"/>
                </a:moveTo>
                <a:lnTo>
                  <a:pt x="16" y="1"/>
                </a:lnTo>
                <a:lnTo>
                  <a:pt x="33" y="4"/>
                </a:lnTo>
                <a:lnTo>
                  <a:pt x="49" y="9"/>
                </a:lnTo>
                <a:lnTo>
                  <a:pt x="65" y="15"/>
                </a:lnTo>
                <a:lnTo>
                  <a:pt x="82" y="22"/>
                </a:lnTo>
                <a:lnTo>
                  <a:pt x="98" y="31"/>
                </a:lnTo>
                <a:lnTo>
                  <a:pt x="114" y="40"/>
                </a:lnTo>
                <a:lnTo>
                  <a:pt x="131" y="51"/>
                </a:lnTo>
                <a:lnTo>
                  <a:pt x="147" y="62"/>
                </a:lnTo>
                <a:lnTo>
                  <a:pt x="164" y="73"/>
                </a:lnTo>
                <a:lnTo>
                  <a:pt x="180" y="85"/>
                </a:lnTo>
                <a:lnTo>
                  <a:pt x="196" y="97"/>
                </a:lnTo>
                <a:lnTo>
                  <a:pt x="213" y="110"/>
                </a:lnTo>
                <a:lnTo>
                  <a:pt x="229" y="122"/>
                </a:lnTo>
                <a:lnTo>
                  <a:pt x="246" y="133"/>
                </a:lnTo>
                <a:lnTo>
                  <a:pt x="262" y="144"/>
                </a:lnTo>
                <a:lnTo>
                  <a:pt x="278" y="155"/>
                </a:lnTo>
                <a:lnTo>
                  <a:pt x="295" y="164"/>
                </a:lnTo>
                <a:lnTo>
                  <a:pt x="311" y="173"/>
                </a:lnTo>
                <a:lnTo>
                  <a:pt x="327" y="180"/>
                </a:lnTo>
                <a:lnTo>
                  <a:pt x="344" y="186"/>
                </a:lnTo>
                <a:lnTo>
                  <a:pt x="360" y="191"/>
                </a:lnTo>
                <a:lnTo>
                  <a:pt x="377" y="194"/>
                </a:lnTo>
                <a:lnTo>
                  <a:pt x="393" y="195"/>
                </a:lnTo>
                <a:lnTo>
                  <a:pt x="393" y="200"/>
                </a:lnTo>
                <a:lnTo>
                  <a:pt x="377" y="199"/>
                </a:lnTo>
                <a:lnTo>
                  <a:pt x="360" y="196"/>
                </a:lnTo>
                <a:lnTo>
                  <a:pt x="344" y="192"/>
                </a:lnTo>
                <a:lnTo>
                  <a:pt x="327" y="186"/>
                </a:lnTo>
                <a:lnTo>
                  <a:pt x="311" y="178"/>
                </a:lnTo>
                <a:lnTo>
                  <a:pt x="295" y="170"/>
                </a:lnTo>
                <a:lnTo>
                  <a:pt x="278" y="160"/>
                </a:lnTo>
                <a:lnTo>
                  <a:pt x="262" y="150"/>
                </a:lnTo>
                <a:lnTo>
                  <a:pt x="246" y="139"/>
                </a:lnTo>
                <a:lnTo>
                  <a:pt x="229" y="127"/>
                </a:lnTo>
                <a:lnTo>
                  <a:pt x="213" y="115"/>
                </a:lnTo>
                <a:lnTo>
                  <a:pt x="196" y="103"/>
                </a:lnTo>
                <a:lnTo>
                  <a:pt x="180" y="91"/>
                </a:lnTo>
                <a:lnTo>
                  <a:pt x="164" y="79"/>
                </a:lnTo>
                <a:lnTo>
                  <a:pt x="147" y="67"/>
                </a:lnTo>
                <a:lnTo>
                  <a:pt x="131" y="56"/>
                </a:lnTo>
                <a:lnTo>
                  <a:pt x="114" y="46"/>
                </a:lnTo>
                <a:lnTo>
                  <a:pt x="98" y="36"/>
                </a:lnTo>
                <a:lnTo>
                  <a:pt x="82" y="27"/>
                </a:lnTo>
                <a:lnTo>
                  <a:pt x="65" y="20"/>
                </a:lnTo>
                <a:lnTo>
                  <a:pt x="49" y="14"/>
                </a:lnTo>
                <a:lnTo>
                  <a:pt x="33" y="9"/>
                </a:lnTo>
                <a:lnTo>
                  <a:pt x="16" y="7"/>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057400" y="3429000"/>
            <a:ext cx="3743325" cy="2209800"/>
          </a:xfrm>
          <a:custGeom>
            <a:avLst/>
            <a:gdLst/>
            <a:ahLst/>
            <a:cxnLst/>
            <a:rect l="l" t="t" r="r" b="b"/>
            <a:pathLst>
              <a:path w="393" h="232">
                <a:moveTo>
                  <a:pt x="0" y="0"/>
                </a:moveTo>
                <a:lnTo>
                  <a:pt x="16" y="1"/>
                </a:lnTo>
                <a:lnTo>
                  <a:pt x="33" y="4"/>
                </a:lnTo>
                <a:lnTo>
                  <a:pt x="49" y="9"/>
                </a:lnTo>
                <a:lnTo>
                  <a:pt x="65" y="16"/>
                </a:lnTo>
                <a:lnTo>
                  <a:pt x="82" y="25"/>
                </a:lnTo>
                <a:lnTo>
                  <a:pt x="98" y="35"/>
                </a:lnTo>
                <a:lnTo>
                  <a:pt x="114" y="47"/>
                </a:lnTo>
                <a:lnTo>
                  <a:pt x="131" y="59"/>
                </a:lnTo>
                <a:lnTo>
                  <a:pt x="147" y="72"/>
                </a:lnTo>
                <a:lnTo>
                  <a:pt x="164" y="86"/>
                </a:lnTo>
                <a:lnTo>
                  <a:pt x="180" y="100"/>
                </a:lnTo>
                <a:lnTo>
                  <a:pt x="196" y="114"/>
                </a:lnTo>
                <a:lnTo>
                  <a:pt x="213" y="128"/>
                </a:lnTo>
                <a:lnTo>
                  <a:pt x="229" y="142"/>
                </a:lnTo>
                <a:lnTo>
                  <a:pt x="246" y="156"/>
                </a:lnTo>
                <a:lnTo>
                  <a:pt x="262" y="169"/>
                </a:lnTo>
                <a:lnTo>
                  <a:pt x="278" y="181"/>
                </a:lnTo>
                <a:lnTo>
                  <a:pt x="295" y="193"/>
                </a:lnTo>
                <a:lnTo>
                  <a:pt x="311" y="203"/>
                </a:lnTo>
                <a:lnTo>
                  <a:pt x="327" y="211"/>
                </a:lnTo>
                <a:lnTo>
                  <a:pt x="344" y="219"/>
                </a:lnTo>
                <a:lnTo>
                  <a:pt x="360" y="224"/>
                </a:lnTo>
                <a:lnTo>
                  <a:pt x="377" y="227"/>
                </a:lnTo>
                <a:lnTo>
                  <a:pt x="393" y="228"/>
                </a:lnTo>
                <a:lnTo>
                  <a:pt x="393" y="232"/>
                </a:lnTo>
                <a:lnTo>
                  <a:pt x="377" y="231"/>
                </a:lnTo>
                <a:lnTo>
                  <a:pt x="360" y="227"/>
                </a:lnTo>
                <a:lnTo>
                  <a:pt x="344" y="222"/>
                </a:lnTo>
                <a:lnTo>
                  <a:pt x="327" y="215"/>
                </a:lnTo>
                <a:lnTo>
                  <a:pt x="311" y="206"/>
                </a:lnTo>
                <a:lnTo>
                  <a:pt x="295" y="196"/>
                </a:lnTo>
                <a:lnTo>
                  <a:pt x="278" y="185"/>
                </a:lnTo>
                <a:lnTo>
                  <a:pt x="262" y="172"/>
                </a:lnTo>
                <a:lnTo>
                  <a:pt x="246" y="159"/>
                </a:lnTo>
                <a:lnTo>
                  <a:pt x="229" y="146"/>
                </a:lnTo>
                <a:lnTo>
                  <a:pt x="213" y="132"/>
                </a:lnTo>
                <a:lnTo>
                  <a:pt x="196" y="117"/>
                </a:lnTo>
                <a:lnTo>
                  <a:pt x="180" y="103"/>
                </a:lnTo>
                <a:lnTo>
                  <a:pt x="164" y="89"/>
                </a:lnTo>
                <a:lnTo>
                  <a:pt x="147" y="75"/>
                </a:lnTo>
                <a:lnTo>
                  <a:pt x="131" y="62"/>
                </a:lnTo>
                <a:lnTo>
                  <a:pt x="114" y="50"/>
                </a:lnTo>
                <a:lnTo>
                  <a:pt x="98" y="39"/>
                </a:lnTo>
                <a:lnTo>
                  <a:pt x="82" y="29"/>
                </a:lnTo>
                <a:lnTo>
                  <a:pt x="65" y="20"/>
                </a:lnTo>
                <a:lnTo>
                  <a:pt x="49" y="13"/>
                </a:lnTo>
                <a:lnTo>
                  <a:pt x="33" y="7"/>
                </a:lnTo>
                <a:lnTo>
                  <a:pt x="16" y="4"/>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057400" y="3457575"/>
            <a:ext cx="3743325" cy="2438400"/>
          </a:xfrm>
          <a:custGeom>
            <a:avLst/>
            <a:gdLst/>
            <a:ahLst/>
            <a:cxnLst/>
            <a:rect l="l" t="t" r="r" b="b"/>
            <a:pathLst>
              <a:path w="393" h="256">
                <a:moveTo>
                  <a:pt x="0" y="0"/>
                </a:moveTo>
                <a:lnTo>
                  <a:pt x="16" y="1"/>
                </a:lnTo>
                <a:lnTo>
                  <a:pt x="33" y="5"/>
                </a:lnTo>
                <a:lnTo>
                  <a:pt x="49" y="11"/>
                </a:lnTo>
                <a:lnTo>
                  <a:pt x="65" y="19"/>
                </a:lnTo>
                <a:lnTo>
                  <a:pt x="82" y="28"/>
                </a:lnTo>
                <a:lnTo>
                  <a:pt x="98" y="40"/>
                </a:lnTo>
                <a:lnTo>
                  <a:pt x="114" y="52"/>
                </a:lnTo>
                <a:lnTo>
                  <a:pt x="131" y="66"/>
                </a:lnTo>
                <a:lnTo>
                  <a:pt x="147" y="80"/>
                </a:lnTo>
                <a:lnTo>
                  <a:pt x="164" y="95"/>
                </a:lnTo>
                <a:lnTo>
                  <a:pt x="180" y="111"/>
                </a:lnTo>
                <a:lnTo>
                  <a:pt x="196" y="127"/>
                </a:lnTo>
                <a:lnTo>
                  <a:pt x="213" y="143"/>
                </a:lnTo>
                <a:lnTo>
                  <a:pt x="229" y="158"/>
                </a:lnTo>
                <a:lnTo>
                  <a:pt x="246" y="173"/>
                </a:lnTo>
                <a:lnTo>
                  <a:pt x="262" y="188"/>
                </a:lnTo>
                <a:lnTo>
                  <a:pt x="278" y="201"/>
                </a:lnTo>
                <a:lnTo>
                  <a:pt x="295" y="214"/>
                </a:lnTo>
                <a:lnTo>
                  <a:pt x="311" y="225"/>
                </a:lnTo>
                <a:lnTo>
                  <a:pt x="327" y="235"/>
                </a:lnTo>
                <a:lnTo>
                  <a:pt x="344" y="243"/>
                </a:lnTo>
                <a:lnTo>
                  <a:pt x="360" y="249"/>
                </a:lnTo>
                <a:lnTo>
                  <a:pt x="377" y="252"/>
                </a:lnTo>
                <a:lnTo>
                  <a:pt x="393" y="254"/>
                </a:lnTo>
                <a:lnTo>
                  <a:pt x="393" y="256"/>
                </a:lnTo>
                <a:lnTo>
                  <a:pt x="377" y="255"/>
                </a:lnTo>
                <a:lnTo>
                  <a:pt x="360" y="251"/>
                </a:lnTo>
                <a:lnTo>
                  <a:pt x="344" y="245"/>
                </a:lnTo>
                <a:lnTo>
                  <a:pt x="327" y="238"/>
                </a:lnTo>
                <a:lnTo>
                  <a:pt x="311" y="228"/>
                </a:lnTo>
                <a:lnTo>
                  <a:pt x="295" y="217"/>
                </a:lnTo>
                <a:lnTo>
                  <a:pt x="278" y="204"/>
                </a:lnTo>
                <a:lnTo>
                  <a:pt x="262" y="191"/>
                </a:lnTo>
                <a:lnTo>
                  <a:pt x="246" y="176"/>
                </a:lnTo>
                <a:lnTo>
                  <a:pt x="229" y="161"/>
                </a:lnTo>
                <a:lnTo>
                  <a:pt x="213" y="145"/>
                </a:lnTo>
                <a:lnTo>
                  <a:pt x="196" y="129"/>
                </a:lnTo>
                <a:lnTo>
                  <a:pt x="180" y="114"/>
                </a:lnTo>
                <a:lnTo>
                  <a:pt x="164" y="98"/>
                </a:lnTo>
                <a:lnTo>
                  <a:pt x="147" y="83"/>
                </a:lnTo>
                <a:lnTo>
                  <a:pt x="131" y="68"/>
                </a:lnTo>
                <a:lnTo>
                  <a:pt x="114" y="55"/>
                </a:lnTo>
                <a:lnTo>
                  <a:pt x="98" y="42"/>
                </a:lnTo>
                <a:lnTo>
                  <a:pt x="82" y="31"/>
                </a:lnTo>
                <a:lnTo>
                  <a:pt x="65" y="21"/>
                </a:lnTo>
                <a:lnTo>
                  <a:pt x="49" y="14"/>
                </a:lnTo>
                <a:lnTo>
                  <a:pt x="33" y="8"/>
                </a:lnTo>
                <a:lnTo>
                  <a:pt x="16" y="4"/>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2057400" y="3486150"/>
            <a:ext cx="3743325" cy="2638425"/>
          </a:xfrm>
          <a:custGeom>
            <a:avLst/>
            <a:gdLst/>
            <a:ahLst/>
            <a:cxnLst/>
            <a:rect l="l" t="t" r="r" b="b"/>
            <a:pathLst>
              <a:path w="393" h="277">
                <a:moveTo>
                  <a:pt x="0" y="0"/>
                </a:moveTo>
                <a:lnTo>
                  <a:pt x="16" y="1"/>
                </a:lnTo>
                <a:lnTo>
                  <a:pt x="33" y="5"/>
                </a:lnTo>
                <a:lnTo>
                  <a:pt x="49" y="11"/>
                </a:lnTo>
                <a:lnTo>
                  <a:pt x="65" y="20"/>
                </a:lnTo>
                <a:lnTo>
                  <a:pt x="82" y="30"/>
                </a:lnTo>
                <a:lnTo>
                  <a:pt x="98" y="43"/>
                </a:lnTo>
                <a:lnTo>
                  <a:pt x="114" y="56"/>
                </a:lnTo>
                <a:lnTo>
                  <a:pt x="131" y="71"/>
                </a:lnTo>
                <a:lnTo>
                  <a:pt x="147" y="87"/>
                </a:lnTo>
                <a:lnTo>
                  <a:pt x="164" y="103"/>
                </a:lnTo>
                <a:lnTo>
                  <a:pt x="180" y="120"/>
                </a:lnTo>
                <a:lnTo>
                  <a:pt x="196" y="137"/>
                </a:lnTo>
                <a:lnTo>
                  <a:pt x="213" y="154"/>
                </a:lnTo>
                <a:lnTo>
                  <a:pt x="229" y="171"/>
                </a:lnTo>
                <a:lnTo>
                  <a:pt x="246" y="188"/>
                </a:lnTo>
                <a:lnTo>
                  <a:pt x="262" y="203"/>
                </a:lnTo>
                <a:lnTo>
                  <a:pt x="278" y="218"/>
                </a:lnTo>
                <a:lnTo>
                  <a:pt x="295" y="232"/>
                </a:lnTo>
                <a:lnTo>
                  <a:pt x="311" y="244"/>
                </a:lnTo>
                <a:lnTo>
                  <a:pt x="327" y="254"/>
                </a:lnTo>
                <a:lnTo>
                  <a:pt x="344" y="263"/>
                </a:lnTo>
                <a:lnTo>
                  <a:pt x="360" y="269"/>
                </a:lnTo>
                <a:lnTo>
                  <a:pt x="377" y="273"/>
                </a:lnTo>
                <a:lnTo>
                  <a:pt x="393" y="275"/>
                </a:lnTo>
                <a:lnTo>
                  <a:pt x="393" y="277"/>
                </a:lnTo>
                <a:lnTo>
                  <a:pt x="377" y="275"/>
                </a:lnTo>
                <a:lnTo>
                  <a:pt x="360" y="271"/>
                </a:lnTo>
                <a:lnTo>
                  <a:pt x="344" y="265"/>
                </a:lnTo>
                <a:lnTo>
                  <a:pt x="327" y="256"/>
                </a:lnTo>
                <a:lnTo>
                  <a:pt x="311" y="246"/>
                </a:lnTo>
                <a:lnTo>
                  <a:pt x="295" y="234"/>
                </a:lnTo>
                <a:lnTo>
                  <a:pt x="278" y="220"/>
                </a:lnTo>
                <a:lnTo>
                  <a:pt x="262" y="205"/>
                </a:lnTo>
                <a:lnTo>
                  <a:pt x="246" y="190"/>
                </a:lnTo>
                <a:lnTo>
                  <a:pt x="229" y="173"/>
                </a:lnTo>
                <a:lnTo>
                  <a:pt x="213" y="156"/>
                </a:lnTo>
                <a:lnTo>
                  <a:pt x="196" y="139"/>
                </a:lnTo>
                <a:lnTo>
                  <a:pt x="180" y="122"/>
                </a:lnTo>
                <a:lnTo>
                  <a:pt x="164" y="105"/>
                </a:lnTo>
                <a:lnTo>
                  <a:pt x="147" y="89"/>
                </a:lnTo>
                <a:lnTo>
                  <a:pt x="131" y="73"/>
                </a:lnTo>
                <a:lnTo>
                  <a:pt x="114" y="58"/>
                </a:lnTo>
                <a:lnTo>
                  <a:pt x="98" y="45"/>
                </a:lnTo>
                <a:lnTo>
                  <a:pt x="82" y="33"/>
                </a:lnTo>
                <a:lnTo>
                  <a:pt x="65" y="22"/>
                </a:lnTo>
                <a:lnTo>
                  <a:pt x="49" y="14"/>
                </a:lnTo>
                <a:lnTo>
                  <a:pt x="33" y="7"/>
                </a:lnTo>
                <a:lnTo>
                  <a:pt x="16" y="3"/>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2057400" y="3505200"/>
            <a:ext cx="3743325" cy="2809875"/>
          </a:xfrm>
          <a:custGeom>
            <a:avLst/>
            <a:gdLst/>
            <a:ahLst/>
            <a:cxnLst/>
            <a:rect l="l" t="t" r="r" b="b"/>
            <a:pathLst>
              <a:path w="393" h="295">
                <a:moveTo>
                  <a:pt x="0" y="0"/>
                </a:moveTo>
                <a:lnTo>
                  <a:pt x="16" y="1"/>
                </a:lnTo>
                <a:lnTo>
                  <a:pt x="33" y="6"/>
                </a:lnTo>
                <a:lnTo>
                  <a:pt x="49" y="12"/>
                </a:lnTo>
                <a:lnTo>
                  <a:pt x="65" y="22"/>
                </a:lnTo>
                <a:lnTo>
                  <a:pt x="82" y="33"/>
                </a:lnTo>
                <a:lnTo>
                  <a:pt x="98" y="46"/>
                </a:lnTo>
                <a:lnTo>
                  <a:pt x="114" y="60"/>
                </a:lnTo>
                <a:lnTo>
                  <a:pt x="131" y="76"/>
                </a:lnTo>
                <a:lnTo>
                  <a:pt x="147" y="93"/>
                </a:lnTo>
                <a:lnTo>
                  <a:pt x="164" y="110"/>
                </a:lnTo>
                <a:lnTo>
                  <a:pt x="180" y="128"/>
                </a:lnTo>
                <a:lnTo>
                  <a:pt x="196" y="147"/>
                </a:lnTo>
                <a:lnTo>
                  <a:pt x="213" y="165"/>
                </a:lnTo>
                <a:lnTo>
                  <a:pt x="229" y="183"/>
                </a:lnTo>
                <a:lnTo>
                  <a:pt x="246" y="200"/>
                </a:lnTo>
                <a:lnTo>
                  <a:pt x="262" y="217"/>
                </a:lnTo>
                <a:lnTo>
                  <a:pt x="278" y="233"/>
                </a:lnTo>
                <a:lnTo>
                  <a:pt x="295" y="247"/>
                </a:lnTo>
                <a:lnTo>
                  <a:pt x="311" y="260"/>
                </a:lnTo>
                <a:lnTo>
                  <a:pt x="327" y="271"/>
                </a:lnTo>
                <a:lnTo>
                  <a:pt x="344" y="281"/>
                </a:lnTo>
                <a:lnTo>
                  <a:pt x="360" y="287"/>
                </a:lnTo>
                <a:lnTo>
                  <a:pt x="377" y="292"/>
                </a:lnTo>
                <a:lnTo>
                  <a:pt x="393" y="293"/>
                </a:lnTo>
                <a:lnTo>
                  <a:pt x="393" y="295"/>
                </a:lnTo>
                <a:lnTo>
                  <a:pt x="377" y="294"/>
                </a:lnTo>
                <a:lnTo>
                  <a:pt x="360" y="289"/>
                </a:lnTo>
                <a:lnTo>
                  <a:pt x="344" y="282"/>
                </a:lnTo>
                <a:lnTo>
                  <a:pt x="327" y="273"/>
                </a:lnTo>
                <a:lnTo>
                  <a:pt x="311" y="262"/>
                </a:lnTo>
                <a:lnTo>
                  <a:pt x="295" y="249"/>
                </a:lnTo>
                <a:lnTo>
                  <a:pt x="278" y="235"/>
                </a:lnTo>
                <a:lnTo>
                  <a:pt x="262" y="219"/>
                </a:lnTo>
                <a:lnTo>
                  <a:pt x="246" y="202"/>
                </a:lnTo>
                <a:lnTo>
                  <a:pt x="229" y="185"/>
                </a:lnTo>
                <a:lnTo>
                  <a:pt x="213" y="167"/>
                </a:lnTo>
                <a:lnTo>
                  <a:pt x="196" y="148"/>
                </a:lnTo>
                <a:lnTo>
                  <a:pt x="180" y="130"/>
                </a:lnTo>
                <a:lnTo>
                  <a:pt x="164" y="112"/>
                </a:lnTo>
                <a:lnTo>
                  <a:pt x="147" y="95"/>
                </a:lnTo>
                <a:lnTo>
                  <a:pt x="131" y="78"/>
                </a:lnTo>
                <a:lnTo>
                  <a:pt x="114" y="62"/>
                </a:lnTo>
                <a:lnTo>
                  <a:pt x="98" y="48"/>
                </a:lnTo>
                <a:lnTo>
                  <a:pt x="82" y="35"/>
                </a:lnTo>
                <a:lnTo>
                  <a:pt x="65" y="23"/>
                </a:lnTo>
                <a:lnTo>
                  <a:pt x="49" y="14"/>
                </a:lnTo>
                <a:lnTo>
                  <a:pt x="33" y="7"/>
                </a:lnTo>
                <a:lnTo>
                  <a:pt x="16" y="3"/>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2057400" y="3524250"/>
            <a:ext cx="3743325" cy="2962275"/>
          </a:xfrm>
          <a:custGeom>
            <a:avLst/>
            <a:gdLst/>
            <a:ahLst/>
            <a:cxnLst/>
            <a:rect l="l" t="t" r="r" b="b"/>
            <a:pathLst>
              <a:path w="393" h="311">
                <a:moveTo>
                  <a:pt x="0" y="0"/>
                </a:moveTo>
                <a:lnTo>
                  <a:pt x="16" y="1"/>
                </a:lnTo>
                <a:lnTo>
                  <a:pt x="33" y="6"/>
                </a:lnTo>
                <a:lnTo>
                  <a:pt x="49" y="13"/>
                </a:lnTo>
                <a:lnTo>
                  <a:pt x="65" y="23"/>
                </a:lnTo>
                <a:lnTo>
                  <a:pt x="82" y="34"/>
                </a:lnTo>
                <a:lnTo>
                  <a:pt x="98" y="48"/>
                </a:lnTo>
                <a:lnTo>
                  <a:pt x="114" y="63"/>
                </a:lnTo>
                <a:lnTo>
                  <a:pt x="131" y="80"/>
                </a:lnTo>
                <a:lnTo>
                  <a:pt x="147" y="98"/>
                </a:lnTo>
                <a:lnTo>
                  <a:pt x="164" y="116"/>
                </a:lnTo>
                <a:lnTo>
                  <a:pt x="180" y="135"/>
                </a:lnTo>
                <a:lnTo>
                  <a:pt x="196" y="154"/>
                </a:lnTo>
                <a:lnTo>
                  <a:pt x="213" y="174"/>
                </a:lnTo>
                <a:lnTo>
                  <a:pt x="229" y="193"/>
                </a:lnTo>
                <a:lnTo>
                  <a:pt x="246" y="211"/>
                </a:lnTo>
                <a:lnTo>
                  <a:pt x="262" y="229"/>
                </a:lnTo>
                <a:lnTo>
                  <a:pt x="278" y="246"/>
                </a:lnTo>
                <a:lnTo>
                  <a:pt x="295" y="261"/>
                </a:lnTo>
                <a:lnTo>
                  <a:pt x="311" y="275"/>
                </a:lnTo>
                <a:lnTo>
                  <a:pt x="327" y="286"/>
                </a:lnTo>
                <a:lnTo>
                  <a:pt x="344" y="296"/>
                </a:lnTo>
                <a:lnTo>
                  <a:pt x="360" y="303"/>
                </a:lnTo>
                <a:lnTo>
                  <a:pt x="377" y="308"/>
                </a:lnTo>
                <a:lnTo>
                  <a:pt x="393" y="309"/>
                </a:lnTo>
                <a:lnTo>
                  <a:pt x="393" y="311"/>
                </a:lnTo>
                <a:lnTo>
                  <a:pt x="377" y="309"/>
                </a:lnTo>
                <a:lnTo>
                  <a:pt x="360" y="305"/>
                </a:lnTo>
                <a:lnTo>
                  <a:pt x="344" y="297"/>
                </a:lnTo>
                <a:lnTo>
                  <a:pt x="327" y="288"/>
                </a:lnTo>
                <a:lnTo>
                  <a:pt x="311" y="276"/>
                </a:lnTo>
                <a:lnTo>
                  <a:pt x="295" y="262"/>
                </a:lnTo>
                <a:lnTo>
                  <a:pt x="278" y="247"/>
                </a:lnTo>
                <a:lnTo>
                  <a:pt x="262" y="230"/>
                </a:lnTo>
                <a:lnTo>
                  <a:pt x="246" y="213"/>
                </a:lnTo>
                <a:lnTo>
                  <a:pt x="229" y="194"/>
                </a:lnTo>
                <a:lnTo>
                  <a:pt x="213" y="175"/>
                </a:lnTo>
                <a:lnTo>
                  <a:pt x="196" y="156"/>
                </a:lnTo>
                <a:lnTo>
                  <a:pt x="180" y="137"/>
                </a:lnTo>
                <a:lnTo>
                  <a:pt x="164" y="117"/>
                </a:lnTo>
                <a:lnTo>
                  <a:pt x="147" y="99"/>
                </a:lnTo>
                <a:lnTo>
                  <a:pt x="131" y="81"/>
                </a:lnTo>
                <a:lnTo>
                  <a:pt x="114" y="65"/>
                </a:lnTo>
                <a:lnTo>
                  <a:pt x="98" y="49"/>
                </a:lnTo>
                <a:lnTo>
                  <a:pt x="82" y="36"/>
                </a:lnTo>
                <a:lnTo>
                  <a:pt x="65" y="24"/>
                </a:lnTo>
                <a:lnTo>
                  <a:pt x="49" y="14"/>
                </a:lnTo>
                <a:lnTo>
                  <a:pt x="33" y="7"/>
                </a:lnTo>
                <a:lnTo>
                  <a:pt x="16" y="3"/>
                </a:lnTo>
                <a:lnTo>
                  <a:pt x="0" y="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2057400" y="1685925"/>
            <a:ext cx="3743325" cy="2028825"/>
          </a:xfrm>
          <a:custGeom>
            <a:avLst/>
            <a:gdLst/>
            <a:ahLst/>
            <a:cxnLst/>
            <a:rect l="l" t="t" r="r" b="b"/>
            <a:pathLst>
              <a:path w="393" h="213">
                <a:moveTo>
                  <a:pt x="0" y="200"/>
                </a:moveTo>
                <a:lnTo>
                  <a:pt x="16" y="199"/>
                </a:lnTo>
                <a:lnTo>
                  <a:pt x="33" y="196"/>
                </a:lnTo>
                <a:lnTo>
                  <a:pt x="49" y="191"/>
                </a:lnTo>
                <a:lnTo>
                  <a:pt x="65" y="185"/>
                </a:lnTo>
                <a:lnTo>
                  <a:pt x="82" y="178"/>
                </a:lnTo>
                <a:lnTo>
                  <a:pt x="98" y="169"/>
                </a:lnTo>
                <a:lnTo>
                  <a:pt x="114" y="159"/>
                </a:lnTo>
                <a:lnTo>
                  <a:pt x="131" y="148"/>
                </a:lnTo>
                <a:lnTo>
                  <a:pt x="147" y="137"/>
                </a:lnTo>
                <a:lnTo>
                  <a:pt x="164" y="125"/>
                </a:lnTo>
                <a:lnTo>
                  <a:pt x="180" y="112"/>
                </a:lnTo>
                <a:lnTo>
                  <a:pt x="196" y="100"/>
                </a:lnTo>
                <a:lnTo>
                  <a:pt x="213" y="87"/>
                </a:lnTo>
                <a:lnTo>
                  <a:pt x="229" y="75"/>
                </a:lnTo>
                <a:lnTo>
                  <a:pt x="246" y="63"/>
                </a:lnTo>
                <a:lnTo>
                  <a:pt x="262" y="52"/>
                </a:lnTo>
                <a:lnTo>
                  <a:pt x="278" y="41"/>
                </a:lnTo>
                <a:lnTo>
                  <a:pt x="295" y="31"/>
                </a:lnTo>
                <a:lnTo>
                  <a:pt x="311" y="22"/>
                </a:lnTo>
                <a:lnTo>
                  <a:pt x="327" y="15"/>
                </a:lnTo>
                <a:lnTo>
                  <a:pt x="344" y="8"/>
                </a:lnTo>
                <a:lnTo>
                  <a:pt x="360" y="4"/>
                </a:lnTo>
                <a:lnTo>
                  <a:pt x="377" y="1"/>
                </a:lnTo>
                <a:lnTo>
                  <a:pt x="393" y="0"/>
                </a:lnTo>
                <a:lnTo>
                  <a:pt x="393" y="13"/>
                </a:lnTo>
                <a:lnTo>
                  <a:pt x="377" y="14"/>
                </a:lnTo>
                <a:lnTo>
                  <a:pt x="360" y="17"/>
                </a:lnTo>
                <a:lnTo>
                  <a:pt x="344" y="22"/>
                </a:lnTo>
                <a:lnTo>
                  <a:pt x="327" y="28"/>
                </a:lnTo>
                <a:lnTo>
                  <a:pt x="311" y="36"/>
                </a:lnTo>
                <a:lnTo>
                  <a:pt x="295" y="44"/>
                </a:lnTo>
                <a:lnTo>
                  <a:pt x="278" y="54"/>
                </a:lnTo>
                <a:lnTo>
                  <a:pt x="262" y="65"/>
                </a:lnTo>
                <a:lnTo>
                  <a:pt x="246" y="76"/>
                </a:lnTo>
                <a:lnTo>
                  <a:pt x="229" y="88"/>
                </a:lnTo>
                <a:lnTo>
                  <a:pt x="213" y="101"/>
                </a:lnTo>
                <a:lnTo>
                  <a:pt x="196" y="113"/>
                </a:lnTo>
                <a:lnTo>
                  <a:pt x="180" y="126"/>
                </a:lnTo>
                <a:lnTo>
                  <a:pt x="164" y="138"/>
                </a:lnTo>
                <a:lnTo>
                  <a:pt x="147" y="150"/>
                </a:lnTo>
                <a:lnTo>
                  <a:pt x="131" y="161"/>
                </a:lnTo>
                <a:lnTo>
                  <a:pt x="114" y="172"/>
                </a:lnTo>
                <a:lnTo>
                  <a:pt x="98" y="182"/>
                </a:lnTo>
                <a:lnTo>
                  <a:pt x="82" y="191"/>
                </a:lnTo>
                <a:lnTo>
                  <a:pt x="65" y="198"/>
                </a:lnTo>
                <a:lnTo>
                  <a:pt x="49" y="205"/>
                </a:lnTo>
                <a:lnTo>
                  <a:pt x="33" y="209"/>
                </a:lnTo>
                <a:lnTo>
                  <a:pt x="16" y="212"/>
                </a:lnTo>
                <a:lnTo>
                  <a:pt x="0" y="21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057400" y="2590800"/>
            <a:ext cx="3743325" cy="1238250"/>
          </a:xfrm>
          <a:custGeom>
            <a:avLst/>
            <a:gdLst/>
            <a:ahLst/>
            <a:cxnLst/>
            <a:rect l="l" t="t" r="r" b="b"/>
            <a:pathLst>
              <a:path w="393" h="130">
                <a:moveTo>
                  <a:pt x="0" y="118"/>
                </a:moveTo>
                <a:lnTo>
                  <a:pt x="16" y="118"/>
                </a:lnTo>
                <a:lnTo>
                  <a:pt x="33" y="116"/>
                </a:lnTo>
                <a:lnTo>
                  <a:pt x="49" y="113"/>
                </a:lnTo>
                <a:lnTo>
                  <a:pt x="65" y="110"/>
                </a:lnTo>
                <a:lnTo>
                  <a:pt x="82" y="105"/>
                </a:lnTo>
                <a:lnTo>
                  <a:pt x="98" y="100"/>
                </a:lnTo>
                <a:lnTo>
                  <a:pt x="114" y="94"/>
                </a:lnTo>
                <a:lnTo>
                  <a:pt x="131" y="88"/>
                </a:lnTo>
                <a:lnTo>
                  <a:pt x="147" y="81"/>
                </a:lnTo>
                <a:lnTo>
                  <a:pt x="164" y="74"/>
                </a:lnTo>
                <a:lnTo>
                  <a:pt x="180" y="67"/>
                </a:lnTo>
                <a:lnTo>
                  <a:pt x="196" y="59"/>
                </a:lnTo>
                <a:lnTo>
                  <a:pt x="213" y="52"/>
                </a:lnTo>
                <a:lnTo>
                  <a:pt x="229" y="45"/>
                </a:lnTo>
                <a:lnTo>
                  <a:pt x="246" y="38"/>
                </a:lnTo>
                <a:lnTo>
                  <a:pt x="262" y="31"/>
                </a:lnTo>
                <a:lnTo>
                  <a:pt x="278" y="25"/>
                </a:lnTo>
                <a:lnTo>
                  <a:pt x="295" y="19"/>
                </a:lnTo>
                <a:lnTo>
                  <a:pt x="311" y="14"/>
                </a:lnTo>
                <a:lnTo>
                  <a:pt x="327" y="9"/>
                </a:lnTo>
                <a:lnTo>
                  <a:pt x="344" y="5"/>
                </a:lnTo>
                <a:lnTo>
                  <a:pt x="360" y="3"/>
                </a:lnTo>
                <a:lnTo>
                  <a:pt x="377" y="1"/>
                </a:lnTo>
                <a:lnTo>
                  <a:pt x="393" y="0"/>
                </a:lnTo>
                <a:lnTo>
                  <a:pt x="393" y="13"/>
                </a:lnTo>
                <a:lnTo>
                  <a:pt x="377" y="13"/>
                </a:lnTo>
                <a:lnTo>
                  <a:pt x="360" y="15"/>
                </a:lnTo>
                <a:lnTo>
                  <a:pt x="344" y="18"/>
                </a:lnTo>
                <a:lnTo>
                  <a:pt x="327" y="21"/>
                </a:lnTo>
                <a:lnTo>
                  <a:pt x="311" y="26"/>
                </a:lnTo>
                <a:lnTo>
                  <a:pt x="295" y="31"/>
                </a:lnTo>
                <a:lnTo>
                  <a:pt x="278" y="37"/>
                </a:lnTo>
                <a:lnTo>
                  <a:pt x="262" y="43"/>
                </a:lnTo>
                <a:lnTo>
                  <a:pt x="246" y="50"/>
                </a:lnTo>
                <a:lnTo>
                  <a:pt x="229" y="57"/>
                </a:lnTo>
                <a:lnTo>
                  <a:pt x="213" y="64"/>
                </a:lnTo>
                <a:lnTo>
                  <a:pt x="196" y="71"/>
                </a:lnTo>
                <a:lnTo>
                  <a:pt x="180" y="79"/>
                </a:lnTo>
                <a:lnTo>
                  <a:pt x="164" y="86"/>
                </a:lnTo>
                <a:lnTo>
                  <a:pt x="147" y="93"/>
                </a:lnTo>
                <a:lnTo>
                  <a:pt x="131" y="100"/>
                </a:lnTo>
                <a:lnTo>
                  <a:pt x="114" y="106"/>
                </a:lnTo>
                <a:lnTo>
                  <a:pt x="98" y="112"/>
                </a:lnTo>
                <a:lnTo>
                  <a:pt x="82" y="117"/>
                </a:lnTo>
                <a:lnTo>
                  <a:pt x="65" y="122"/>
                </a:lnTo>
                <a:lnTo>
                  <a:pt x="49" y="125"/>
                </a:lnTo>
                <a:lnTo>
                  <a:pt x="33" y="128"/>
                </a:lnTo>
                <a:lnTo>
                  <a:pt x="16" y="130"/>
                </a:lnTo>
                <a:lnTo>
                  <a:pt x="0" y="13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2057400" y="3333750"/>
            <a:ext cx="3743325" cy="571500"/>
          </a:xfrm>
          <a:custGeom>
            <a:avLst/>
            <a:gdLst/>
            <a:ahLst/>
            <a:cxnLst/>
            <a:rect l="l" t="t" r="r" b="b"/>
            <a:pathLst>
              <a:path w="393" h="60">
                <a:moveTo>
                  <a:pt x="0" y="52"/>
                </a:moveTo>
                <a:lnTo>
                  <a:pt x="16" y="52"/>
                </a:lnTo>
                <a:lnTo>
                  <a:pt x="33" y="51"/>
                </a:lnTo>
                <a:lnTo>
                  <a:pt x="49" y="50"/>
                </a:lnTo>
                <a:lnTo>
                  <a:pt x="65" y="49"/>
                </a:lnTo>
                <a:lnTo>
                  <a:pt x="82" y="46"/>
                </a:lnTo>
                <a:lnTo>
                  <a:pt x="98" y="44"/>
                </a:lnTo>
                <a:lnTo>
                  <a:pt x="114" y="42"/>
                </a:lnTo>
                <a:lnTo>
                  <a:pt x="131" y="39"/>
                </a:lnTo>
                <a:lnTo>
                  <a:pt x="147" y="36"/>
                </a:lnTo>
                <a:lnTo>
                  <a:pt x="164" y="33"/>
                </a:lnTo>
                <a:lnTo>
                  <a:pt x="180" y="29"/>
                </a:lnTo>
                <a:lnTo>
                  <a:pt x="196" y="26"/>
                </a:lnTo>
                <a:lnTo>
                  <a:pt x="213" y="23"/>
                </a:lnTo>
                <a:lnTo>
                  <a:pt x="229" y="19"/>
                </a:lnTo>
                <a:lnTo>
                  <a:pt x="246" y="16"/>
                </a:lnTo>
                <a:lnTo>
                  <a:pt x="262" y="13"/>
                </a:lnTo>
                <a:lnTo>
                  <a:pt x="278" y="10"/>
                </a:lnTo>
                <a:lnTo>
                  <a:pt x="295" y="8"/>
                </a:lnTo>
                <a:lnTo>
                  <a:pt x="311" y="5"/>
                </a:lnTo>
                <a:lnTo>
                  <a:pt x="327" y="3"/>
                </a:lnTo>
                <a:lnTo>
                  <a:pt x="344" y="2"/>
                </a:lnTo>
                <a:lnTo>
                  <a:pt x="360" y="1"/>
                </a:lnTo>
                <a:lnTo>
                  <a:pt x="377" y="0"/>
                </a:lnTo>
                <a:lnTo>
                  <a:pt x="393" y="0"/>
                </a:lnTo>
                <a:lnTo>
                  <a:pt x="393" y="7"/>
                </a:lnTo>
                <a:lnTo>
                  <a:pt x="377" y="7"/>
                </a:lnTo>
                <a:lnTo>
                  <a:pt x="360" y="8"/>
                </a:lnTo>
                <a:lnTo>
                  <a:pt x="344" y="9"/>
                </a:lnTo>
                <a:lnTo>
                  <a:pt x="327" y="11"/>
                </a:lnTo>
                <a:lnTo>
                  <a:pt x="311" y="13"/>
                </a:lnTo>
                <a:lnTo>
                  <a:pt x="295" y="15"/>
                </a:lnTo>
                <a:lnTo>
                  <a:pt x="278" y="18"/>
                </a:lnTo>
                <a:lnTo>
                  <a:pt x="262" y="21"/>
                </a:lnTo>
                <a:lnTo>
                  <a:pt x="246" y="24"/>
                </a:lnTo>
                <a:lnTo>
                  <a:pt x="229" y="27"/>
                </a:lnTo>
                <a:lnTo>
                  <a:pt x="213" y="30"/>
                </a:lnTo>
                <a:lnTo>
                  <a:pt x="196" y="34"/>
                </a:lnTo>
                <a:lnTo>
                  <a:pt x="180" y="37"/>
                </a:lnTo>
                <a:lnTo>
                  <a:pt x="164" y="40"/>
                </a:lnTo>
                <a:lnTo>
                  <a:pt x="147" y="43"/>
                </a:lnTo>
                <a:lnTo>
                  <a:pt x="131" y="46"/>
                </a:lnTo>
                <a:lnTo>
                  <a:pt x="114" y="49"/>
                </a:lnTo>
                <a:lnTo>
                  <a:pt x="98" y="52"/>
                </a:lnTo>
                <a:lnTo>
                  <a:pt x="82" y="54"/>
                </a:lnTo>
                <a:lnTo>
                  <a:pt x="65" y="56"/>
                </a:lnTo>
                <a:lnTo>
                  <a:pt x="49" y="58"/>
                </a:lnTo>
                <a:lnTo>
                  <a:pt x="33" y="59"/>
                </a:lnTo>
                <a:lnTo>
                  <a:pt x="16" y="60"/>
                </a:lnTo>
                <a:lnTo>
                  <a:pt x="0" y="6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057400" y="3867150"/>
            <a:ext cx="3743325" cy="104775"/>
          </a:xfrm>
          <a:custGeom>
            <a:avLst/>
            <a:gdLst/>
            <a:ahLst/>
            <a:cxnLst/>
            <a:rect l="l" t="t" r="r" b="b"/>
            <a:pathLst>
              <a:path w="393" h="11">
                <a:moveTo>
                  <a:pt x="0" y="4"/>
                </a:moveTo>
                <a:lnTo>
                  <a:pt x="16" y="4"/>
                </a:lnTo>
                <a:lnTo>
                  <a:pt x="33" y="4"/>
                </a:lnTo>
                <a:lnTo>
                  <a:pt x="49" y="4"/>
                </a:lnTo>
                <a:lnTo>
                  <a:pt x="65" y="4"/>
                </a:lnTo>
                <a:lnTo>
                  <a:pt x="82" y="4"/>
                </a:lnTo>
                <a:lnTo>
                  <a:pt x="98" y="3"/>
                </a:lnTo>
                <a:lnTo>
                  <a:pt x="114" y="3"/>
                </a:lnTo>
                <a:lnTo>
                  <a:pt x="131" y="3"/>
                </a:lnTo>
                <a:lnTo>
                  <a:pt x="147" y="3"/>
                </a:lnTo>
                <a:lnTo>
                  <a:pt x="164" y="2"/>
                </a:lnTo>
                <a:lnTo>
                  <a:pt x="180" y="2"/>
                </a:lnTo>
                <a:lnTo>
                  <a:pt x="196" y="2"/>
                </a:lnTo>
                <a:lnTo>
                  <a:pt x="213" y="2"/>
                </a:lnTo>
                <a:lnTo>
                  <a:pt x="229" y="1"/>
                </a:lnTo>
                <a:lnTo>
                  <a:pt x="246" y="1"/>
                </a:lnTo>
                <a:lnTo>
                  <a:pt x="262" y="1"/>
                </a:lnTo>
                <a:lnTo>
                  <a:pt x="278" y="1"/>
                </a:lnTo>
                <a:lnTo>
                  <a:pt x="295" y="1"/>
                </a:lnTo>
                <a:lnTo>
                  <a:pt x="311" y="0"/>
                </a:lnTo>
                <a:lnTo>
                  <a:pt x="327" y="0"/>
                </a:lnTo>
                <a:lnTo>
                  <a:pt x="344" y="0"/>
                </a:lnTo>
                <a:lnTo>
                  <a:pt x="360" y="0"/>
                </a:lnTo>
                <a:lnTo>
                  <a:pt x="377" y="0"/>
                </a:lnTo>
                <a:lnTo>
                  <a:pt x="393" y="0"/>
                </a:lnTo>
                <a:lnTo>
                  <a:pt x="393" y="7"/>
                </a:lnTo>
                <a:lnTo>
                  <a:pt x="377" y="7"/>
                </a:lnTo>
                <a:lnTo>
                  <a:pt x="360" y="7"/>
                </a:lnTo>
                <a:lnTo>
                  <a:pt x="344" y="7"/>
                </a:lnTo>
                <a:lnTo>
                  <a:pt x="327" y="7"/>
                </a:lnTo>
                <a:lnTo>
                  <a:pt x="311" y="7"/>
                </a:lnTo>
                <a:lnTo>
                  <a:pt x="295" y="7"/>
                </a:lnTo>
                <a:lnTo>
                  <a:pt x="278" y="7"/>
                </a:lnTo>
                <a:lnTo>
                  <a:pt x="262" y="8"/>
                </a:lnTo>
                <a:lnTo>
                  <a:pt x="246" y="8"/>
                </a:lnTo>
                <a:lnTo>
                  <a:pt x="229" y="8"/>
                </a:lnTo>
                <a:lnTo>
                  <a:pt x="213" y="8"/>
                </a:lnTo>
                <a:lnTo>
                  <a:pt x="196" y="9"/>
                </a:lnTo>
                <a:lnTo>
                  <a:pt x="180" y="9"/>
                </a:lnTo>
                <a:lnTo>
                  <a:pt x="164" y="9"/>
                </a:lnTo>
                <a:lnTo>
                  <a:pt x="147" y="9"/>
                </a:lnTo>
                <a:lnTo>
                  <a:pt x="131" y="10"/>
                </a:lnTo>
                <a:lnTo>
                  <a:pt x="114" y="10"/>
                </a:lnTo>
                <a:lnTo>
                  <a:pt x="98" y="10"/>
                </a:lnTo>
                <a:lnTo>
                  <a:pt x="82" y="10"/>
                </a:lnTo>
                <a:lnTo>
                  <a:pt x="65" y="10"/>
                </a:lnTo>
                <a:lnTo>
                  <a:pt x="49" y="11"/>
                </a:lnTo>
                <a:lnTo>
                  <a:pt x="33" y="11"/>
                </a:lnTo>
                <a:lnTo>
                  <a:pt x="16" y="11"/>
                </a:lnTo>
                <a:lnTo>
                  <a:pt x="0" y="1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2057400" y="3971925"/>
            <a:ext cx="3743325" cy="466725"/>
          </a:xfrm>
          <a:custGeom>
            <a:avLst/>
            <a:gdLst/>
            <a:ahLst/>
            <a:cxnLst/>
            <a:rect l="l" t="t" r="r" b="b"/>
            <a:pathLst>
              <a:path w="393" h="49">
                <a:moveTo>
                  <a:pt x="0" y="0"/>
                </a:moveTo>
                <a:lnTo>
                  <a:pt x="16" y="0"/>
                </a:lnTo>
                <a:lnTo>
                  <a:pt x="33" y="1"/>
                </a:lnTo>
                <a:lnTo>
                  <a:pt x="49" y="2"/>
                </a:lnTo>
                <a:lnTo>
                  <a:pt x="65" y="3"/>
                </a:lnTo>
                <a:lnTo>
                  <a:pt x="82" y="4"/>
                </a:lnTo>
                <a:lnTo>
                  <a:pt x="98" y="6"/>
                </a:lnTo>
                <a:lnTo>
                  <a:pt x="114" y="8"/>
                </a:lnTo>
                <a:lnTo>
                  <a:pt x="131" y="11"/>
                </a:lnTo>
                <a:lnTo>
                  <a:pt x="147" y="13"/>
                </a:lnTo>
                <a:lnTo>
                  <a:pt x="164" y="16"/>
                </a:lnTo>
                <a:lnTo>
                  <a:pt x="180" y="18"/>
                </a:lnTo>
                <a:lnTo>
                  <a:pt x="196" y="21"/>
                </a:lnTo>
                <a:lnTo>
                  <a:pt x="213" y="23"/>
                </a:lnTo>
                <a:lnTo>
                  <a:pt x="229" y="26"/>
                </a:lnTo>
                <a:lnTo>
                  <a:pt x="246" y="29"/>
                </a:lnTo>
                <a:lnTo>
                  <a:pt x="262" y="31"/>
                </a:lnTo>
                <a:lnTo>
                  <a:pt x="278" y="33"/>
                </a:lnTo>
                <a:lnTo>
                  <a:pt x="295" y="35"/>
                </a:lnTo>
                <a:lnTo>
                  <a:pt x="311" y="37"/>
                </a:lnTo>
                <a:lnTo>
                  <a:pt x="327" y="39"/>
                </a:lnTo>
                <a:lnTo>
                  <a:pt x="344" y="40"/>
                </a:lnTo>
                <a:lnTo>
                  <a:pt x="360" y="41"/>
                </a:lnTo>
                <a:lnTo>
                  <a:pt x="377" y="42"/>
                </a:lnTo>
                <a:lnTo>
                  <a:pt x="393" y="42"/>
                </a:lnTo>
                <a:lnTo>
                  <a:pt x="393" y="49"/>
                </a:lnTo>
                <a:lnTo>
                  <a:pt x="377" y="48"/>
                </a:lnTo>
                <a:lnTo>
                  <a:pt x="360" y="48"/>
                </a:lnTo>
                <a:lnTo>
                  <a:pt x="344" y="47"/>
                </a:lnTo>
                <a:lnTo>
                  <a:pt x="327" y="45"/>
                </a:lnTo>
                <a:lnTo>
                  <a:pt x="311" y="44"/>
                </a:lnTo>
                <a:lnTo>
                  <a:pt x="295" y="42"/>
                </a:lnTo>
                <a:lnTo>
                  <a:pt x="278" y="40"/>
                </a:lnTo>
                <a:lnTo>
                  <a:pt x="262" y="38"/>
                </a:lnTo>
                <a:lnTo>
                  <a:pt x="246" y="35"/>
                </a:lnTo>
                <a:lnTo>
                  <a:pt x="229" y="33"/>
                </a:lnTo>
                <a:lnTo>
                  <a:pt x="213" y="30"/>
                </a:lnTo>
                <a:lnTo>
                  <a:pt x="196" y="27"/>
                </a:lnTo>
                <a:lnTo>
                  <a:pt x="180" y="25"/>
                </a:lnTo>
                <a:lnTo>
                  <a:pt x="164" y="22"/>
                </a:lnTo>
                <a:lnTo>
                  <a:pt x="147" y="20"/>
                </a:lnTo>
                <a:lnTo>
                  <a:pt x="131" y="17"/>
                </a:lnTo>
                <a:lnTo>
                  <a:pt x="114" y="15"/>
                </a:lnTo>
                <a:lnTo>
                  <a:pt x="98" y="13"/>
                </a:lnTo>
                <a:lnTo>
                  <a:pt x="82" y="11"/>
                </a:lnTo>
                <a:lnTo>
                  <a:pt x="65" y="9"/>
                </a:lnTo>
                <a:lnTo>
                  <a:pt x="49" y="8"/>
                </a:lnTo>
                <a:lnTo>
                  <a:pt x="33" y="7"/>
                </a:lnTo>
                <a:lnTo>
                  <a:pt x="16" y="7"/>
                </a:lnTo>
                <a:lnTo>
                  <a:pt x="0" y="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2057400" y="4029075"/>
            <a:ext cx="3743325" cy="876300"/>
          </a:xfrm>
          <a:custGeom>
            <a:avLst/>
            <a:gdLst/>
            <a:ahLst/>
            <a:cxnLst/>
            <a:rect l="l" t="t" r="r" b="b"/>
            <a:pathLst>
              <a:path w="393" h="92">
                <a:moveTo>
                  <a:pt x="0" y="0"/>
                </a:moveTo>
                <a:lnTo>
                  <a:pt x="16" y="1"/>
                </a:lnTo>
                <a:lnTo>
                  <a:pt x="33" y="2"/>
                </a:lnTo>
                <a:lnTo>
                  <a:pt x="49" y="4"/>
                </a:lnTo>
                <a:lnTo>
                  <a:pt x="65" y="7"/>
                </a:lnTo>
                <a:lnTo>
                  <a:pt x="82" y="10"/>
                </a:lnTo>
                <a:lnTo>
                  <a:pt x="98" y="14"/>
                </a:lnTo>
                <a:lnTo>
                  <a:pt x="114" y="18"/>
                </a:lnTo>
                <a:lnTo>
                  <a:pt x="131" y="23"/>
                </a:lnTo>
                <a:lnTo>
                  <a:pt x="147" y="27"/>
                </a:lnTo>
                <a:lnTo>
                  <a:pt x="164" y="33"/>
                </a:lnTo>
                <a:lnTo>
                  <a:pt x="180" y="38"/>
                </a:lnTo>
                <a:lnTo>
                  <a:pt x="196" y="43"/>
                </a:lnTo>
                <a:lnTo>
                  <a:pt x="213" y="48"/>
                </a:lnTo>
                <a:lnTo>
                  <a:pt x="229" y="54"/>
                </a:lnTo>
                <a:lnTo>
                  <a:pt x="246" y="59"/>
                </a:lnTo>
                <a:lnTo>
                  <a:pt x="262" y="64"/>
                </a:lnTo>
                <a:lnTo>
                  <a:pt x="278" y="68"/>
                </a:lnTo>
                <a:lnTo>
                  <a:pt x="295" y="73"/>
                </a:lnTo>
                <a:lnTo>
                  <a:pt x="311" y="76"/>
                </a:lnTo>
                <a:lnTo>
                  <a:pt x="327" y="80"/>
                </a:lnTo>
                <a:lnTo>
                  <a:pt x="344" y="82"/>
                </a:lnTo>
                <a:lnTo>
                  <a:pt x="360" y="84"/>
                </a:lnTo>
                <a:lnTo>
                  <a:pt x="377" y="85"/>
                </a:lnTo>
                <a:lnTo>
                  <a:pt x="393" y="86"/>
                </a:lnTo>
                <a:lnTo>
                  <a:pt x="393" y="92"/>
                </a:lnTo>
                <a:lnTo>
                  <a:pt x="377" y="91"/>
                </a:lnTo>
                <a:lnTo>
                  <a:pt x="360" y="90"/>
                </a:lnTo>
                <a:lnTo>
                  <a:pt x="344" y="88"/>
                </a:lnTo>
                <a:lnTo>
                  <a:pt x="327" y="85"/>
                </a:lnTo>
                <a:lnTo>
                  <a:pt x="311" y="82"/>
                </a:lnTo>
                <a:lnTo>
                  <a:pt x="295" y="78"/>
                </a:lnTo>
                <a:lnTo>
                  <a:pt x="278" y="74"/>
                </a:lnTo>
                <a:lnTo>
                  <a:pt x="262" y="70"/>
                </a:lnTo>
                <a:lnTo>
                  <a:pt x="246" y="65"/>
                </a:lnTo>
                <a:lnTo>
                  <a:pt x="229" y="60"/>
                </a:lnTo>
                <a:lnTo>
                  <a:pt x="213" y="54"/>
                </a:lnTo>
                <a:lnTo>
                  <a:pt x="196" y="49"/>
                </a:lnTo>
                <a:lnTo>
                  <a:pt x="180" y="44"/>
                </a:lnTo>
                <a:lnTo>
                  <a:pt x="164" y="38"/>
                </a:lnTo>
                <a:lnTo>
                  <a:pt x="147" y="33"/>
                </a:lnTo>
                <a:lnTo>
                  <a:pt x="131" y="28"/>
                </a:lnTo>
                <a:lnTo>
                  <a:pt x="114" y="24"/>
                </a:lnTo>
                <a:lnTo>
                  <a:pt x="98" y="20"/>
                </a:lnTo>
                <a:lnTo>
                  <a:pt x="82" y="16"/>
                </a:lnTo>
                <a:lnTo>
                  <a:pt x="65" y="12"/>
                </a:lnTo>
                <a:lnTo>
                  <a:pt x="49" y="10"/>
                </a:lnTo>
                <a:lnTo>
                  <a:pt x="33" y="8"/>
                </a:lnTo>
                <a:lnTo>
                  <a:pt x="16" y="7"/>
                </a:lnTo>
                <a:lnTo>
                  <a:pt x="0" y="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2057400" y="4086225"/>
            <a:ext cx="3743325" cy="1247775"/>
          </a:xfrm>
          <a:custGeom>
            <a:avLst/>
            <a:gdLst/>
            <a:ahLst/>
            <a:cxnLst/>
            <a:rect l="l" t="t" r="r" b="b"/>
            <a:pathLst>
              <a:path w="393" h="131">
                <a:moveTo>
                  <a:pt x="0" y="0"/>
                </a:moveTo>
                <a:lnTo>
                  <a:pt x="16" y="1"/>
                </a:lnTo>
                <a:lnTo>
                  <a:pt x="33" y="3"/>
                </a:lnTo>
                <a:lnTo>
                  <a:pt x="49" y="6"/>
                </a:lnTo>
                <a:lnTo>
                  <a:pt x="65" y="9"/>
                </a:lnTo>
                <a:lnTo>
                  <a:pt x="82" y="14"/>
                </a:lnTo>
                <a:lnTo>
                  <a:pt x="98" y="20"/>
                </a:lnTo>
                <a:lnTo>
                  <a:pt x="114" y="26"/>
                </a:lnTo>
                <a:lnTo>
                  <a:pt x="131" y="33"/>
                </a:lnTo>
                <a:lnTo>
                  <a:pt x="147" y="40"/>
                </a:lnTo>
                <a:lnTo>
                  <a:pt x="164" y="47"/>
                </a:lnTo>
                <a:lnTo>
                  <a:pt x="180" y="55"/>
                </a:lnTo>
                <a:lnTo>
                  <a:pt x="196" y="63"/>
                </a:lnTo>
                <a:lnTo>
                  <a:pt x="213" y="70"/>
                </a:lnTo>
                <a:lnTo>
                  <a:pt x="229" y="78"/>
                </a:lnTo>
                <a:lnTo>
                  <a:pt x="246" y="86"/>
                </a:lnTo>
                <a:lnTo>
                  <a:pt x="262" y="93"/>
                </a:lnTo>
                <a:lnTo>
                  <a:pt x="278" y="99"/>
                </a:lnTo>
                <a:lnTo>
                  <a:pt x="295" y="106"/>
                </a:lnTo>
                <a:lnTo>
                  <a:pt x="311" y="111"/>
                </a:lnTo>
                <a:lnTo>
                  <a:pt x="327" y="116"/>
                </a:lnTo>
                <a:lnTo>
                  <a:pt x="344" y="120"/>
                </a:lnTo>
                <a:lnTo>
                  <a:pt x="360" y="123"/>
                </a:lnTo>
                <a:lnTo>
                  <a:pt x="377" y="125"/>
                </a:lnTo>
                <a:lnTo>
                  <a:pt x="393" y="125"/>
                </a:lnTo>
                <a:lnTo>
                  <a:pt x="393" y="131"/>
                </a:lnTo>
                <a:lnTo>
                  <a:pt x="377" y="130"/>
                </a:lnTo>
                <a:lnTo>
                  <a:pt x="360" y="128"/>
                </a:lnTo>
                <a:lnTo>
                  <a:pt x="344" y="125"/>
                </a:lnTo>
                <a:lnTo>
                  <a:pt x="327" y="121"/>
                </a:lnTo>
                <a:lnTo>
                  <a:pt x="311" y="117"/>
                </a:lnTo>
                <a:lnTo>
                  <a:pt x="295" y="111"/>
                </a:lnTo>
                <a:lnTo>
                  <a:pt x="278" y="105"/>
                </a:lnTo>
                <a:lnTo>
                  <a:pt x="262" y="98"/>
                </a:lnTo>
                <a:lnTo>
                  <a:pt x="246" y="91"/>
                </a:lnTo>
                <a:lnTo>
                  <a:pt x="229" y="84"/>
                </a:lnTo>
                <a:lnTo>
                  <a:pt x="213" y="76"/>
                </a:lnTo>
                <a:lnTo>
                  <a:pt x="196" y="68"/>
                </a:lnTo>
                <a:lnTo>
                  <a:pt x="180" y="60"/>
                </a:lnTo>
                <a:lnTo>
                  <a:pt x="164" y="53"/>
                </a:lnTo>
                <a:lnTo>
                  <a:pt x="147" y="45"/>
                </a:lnTo>
                <a:lnTo>
                  <a:pt x="131" y="38"/>
                </a:lnTo>
                <a:lnTo>
                  <a:pt x="114" y="31"/>
                </a:lnTo>
                <a:lnTo>
                  <a:pt x="98" y="25"/>
                </a:lnTo>
                <a:lnTo>
                  <a:pt x="82" y="20"/>
                </a:lnTo>
                <a:lnTo>
                  <a:pt x="65" y="15"/>
                </a:lnTo>
                <a:lnTo>
                  <a:pt x="49" y="11"/>
                </a:lnTo>
                <a:lnTo>
                  <a:pt x="33" y="8"/>
                </a:lnTo>
                <a:lnTo>
                  <a:pt x="16" y="6"/>
                </a:lnTo>
                <a:lnTo>
                  <a:pt x="0" y="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2057400" y="4143375"/>
            <a:ext cx="3743325" cy="1524000"/>
          </a:xfrm>
          <a:custGeom>
            <a:avLst/>
            <a:gdLst/>
            <a:ahLst/>
            <a:cxnLst/>
            <a:rect l="l" t="t" r="r" b="b"/>
            <a:pathLst>
              <a:path w="393" h="160">
                <a:moveTo>
                  <a:pt x="0" y="0"/>
                </a:moveTo>
                <a:lnTo>
                  <a:pt x="16" y="0"/>
                </a:lnTo>
                <a:lnTo>
                  <a:pt x="33" y="3"/>
                </a:lnTo>
                <a:lnTo>
                  <a:pt x="49" y="6"/>
                </a:lnTo>
                <a:lnTo>
                  <a:pt x="65" y="11"/>
                </a:lnTo>
                <a:lnTo>
                  <a:pt x="82" y="17"/>
                </a:lnTo>
                <a:lnTo>
                  <a:pt x="98" y="24"/>
                </a:lnTo>
                <a:lnTo>
                  <a:pt x="114" y="32"/>
                </a:lnTo>
                <a:lnTo>
                  <a:pt x="131" y="40"/>
                </a:lnTo>
                <a:lnTo>
                  <a:pt x="147" y="49"/>
                </a:lnTo>
                <a:lnTo>
                  <a:pt x="164" y="59"/>
                </a:lnTo>
                <a:lnTo>
                  <a:pt x="180" y="68"/>
                </a:lnTo>
                <a:lnTo>
                  <a:pt x="196" y="78"/>
                </a:lnTo>
                <a:lnTo>
                  <a:pt x="213" y="88"/>
                </a:lnTo>
                <a:lnTo>
                  <a:pt x="229" y="98"/>
                </a:lnTo>
                <a:lnTo>
                  <a:pt x="246" y="107"/>
                </a:lnTo>
                <a:lnTo>
                  <a:pt x="262" y="116"/>
                </a:lnTo>
                <a:lnTo>
                  <a:pt x="278" y="124"/>
                </a:lnTo>
                <a:lnTo>
                  <a:pt x="295" y="132"/>
                </a:lnTo>
                <a:lnTo>
                  <a:pt x="311" y="139"/>
                </a:lnTo>
                <a:lnTo>
                  <a:pt x="327" y="145"/>
                </a:lnTo>
                <a:lnTo>
                  <a:pt x="344" y="150"/>
                </a:lnTo>
                <a:lnTo>
                  <a:pt x="360" y="154"/>
                </a:lnTo>
                <a:lnTo>
                  <a:pt x="377" y="156"/>
                </a:lnTo>
                <a:lnTo>
                  <a:pt x="393" y="157"/>
                </a:lnTo>
                <a:lnTo>
                  <a:pt x="393" y="160"/>
                </a:lnTo>
                <a:lnTo>
                  <a:pt x="377" y="159"/>
                </a:lnTo>
                <a:lnTo>
                  <a:pt x="360" y="157"/>
                </a:lnTo>
                <a:lnTo>
                  <a:pt x="344" y="153"/>
                </a:lnTo>
                <a:lnTo>
                  <a:pt x="327" y="148"/>
                </a:lnTo>
                <a:lnTo>
                  <a:pt x="311" y="142"/>
                </a:lnTo>
                <a:lnTo>
                  <a:pt x="295" y="136"/>
                </a:lnTo>
                <a:lnTo>
                  <a:pt x="278" y="128"/>
                </a:lnTo>
                <a:lnTo>
                  <a:pt x="262" y="119"/>
                </a:lnTo>
                <a:lnTo>
                  <a:pt x="246" y="110"/>
                </a:lnTo>
                <a:lnTo>
                  <a:pt x="229" y="101"/>
                </a:lnTo>
                <a:lnTo>
                  <a:pt x="213" y="91"/>
                </a:lnTo>
                <a:lnTo>
                  <a:pt x="196" y="81"/>
                </a:lnTo>
                <a:lnTo>
                  <a:pt x="180" y="72"/>
                </a:lnTo>
                <a:lnTo>
                  <a:pt x="164" y="62"/>
                </a:lnTo>
                <a:lnTo>
                  <a:pt x="147" y="53"/>
                </a:lnTo>
                <a:lnTo>
                  <a:pt x="131" y="44"/>
                </a:lnTo>
                <a:lnTo>
                  <a:pt x="114" y="35"/>
                </a:lnTo>
                <a:lnTo>
                  <a:pt x="98" y="27"/>
                </a:lnTo>
                <a:lnTo>
                  <a:pt x="82" y="21"/>
                </a:lnTo>
                <a:lnTo>
                  <a:pt x="65" y="15"/>
                </a:lnTo>
                <a:lnTo>
                  <a:pt x="49" y="10"/>
                </a:lnTo>
                <a:lnTo>
                  <a:pt x="33" y="6"/>
                </a:lnTo>
                <a:lnTo>
                  <a:pt x="16" y="4"/>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2057400" y="4171950"/>
            <a:ext cx="3743325" cy="1752600"/>
          </a:xfrm>
          <a:custGeom>
            <a:avLst/>
            <a:gdLst/>
            <a:ahLst/>
            <a:cxnLst/>
            <a:rect l="l" t="t" r="r" b="b"/>
            <a:pathLst>
              <a:path w="393" h="184">
                <a:moveTo>
                  <a:pt x="0" y="0"/>
                </a:moveTo>
                <a:lnTo>
                  <a:pt x="16" y="1"/>
                </a:lnTo>
                <a:lnTo>
                  <a:pt x="33" y="3"/>
                </a:lnTo>
                <a:lnTo>
                  <a:pt x="49" y="8"/>
                </a:lnTo>
                <a:lnTo>
                  <a:pt x="65" y="13"/>
                </a:lnTo>
                <a:lnTo>
                  <a:pt x="82" y="20"/>
                </a:lnTo>
                <a:lnTo>
                  <a:pt x="98" y="28"/>
                </a:lnTo>
                <a:lnTo>
                  <a:pt x="114" y="37"/>
                </a:lnTo>
                <a:lnTo>
                  <a:pt x="131" y="47"/>
                </a:lnTo>
                <a:lnTo>
                  <a:pt x="147" y="57"/>
                </a:lnTo>
                <a:lnTo>
                  <a:pt x="164" y="68"/>
                </a:lnTo>
                <a:lnTo>
                  <a:pt x="180" y="79"/>
                </a:lnTo>
                <a:lnTo>
                  <a:pt x="196" y="91"/>
                </a:lnTo>
                <a:lnTo>
                  <a:pt x="213" y="102"/>
                </a:lnTo>
                <a:lnTo>
                  <a:pt x="229" y="113"/>
                </a:lnTo>
                <a:lnTo>
                  <a:pt x="246" y="124"/>
                </a:lnTo>
                <a:lnTo>
                  <a:pt x="262" y="134"/>
                </a:lnTo>
                <a:lnTo>
                  <a:pt x="278" y="144"/>
                </a:lnTo>
                <a:lnTo>
                  <a:pt x="295" y="153"/>
                </a:lnTo>
                <a:lnTo>
                  <a:pt x="311" y="161"/>
                </a:lnTo>
                <a:lnTo>
                  <a:pt x="327" y="168"/>
                </a:lnTo>
                <a:lnTo>
                  <a:pt x="344" y="174"/>
                </a:lnTo>
                <a:lnTo>
                  <a:pt x="360" y="178"/>
                </a:lnTo>
                <a:lnTo>
                  <a:pt x="377" y="180"/>
                </a:lnTo>
                <a:lnTo>
                  <a:pt x="393" y="181"/>
                </a:lnTo>
                <a:lnTo>
                  <a:pt x="393" y="184"/>
                </a:lnTo>
                <a:lnTo>
                  <a:pt x="377" y="183"/>
                </a:lnTo>
                <a:lnTo>
                  <a:pt x="360" y="181"/>
                </a:lnTo>
                <a:lnTo>
                  <a:pt x="344" y="176"/>
                </a:lnTo>
                <a:lnTo>
                  <a:pt x="327" y="171"/>
                </a:lnTo>
                <a:lnTo>
                  <a:pt x="311" y="164"/>
                </a:lnTo>
                <a:lnTo>
                  <a:pt x="295" y="156"/>
                </a:lnTo>
                <a:lnTo>
                  <a:pt x="278" y="147"/>
                </a:lnTo>
                <a:lnTo>
                  <a:pt x="262" y="137"/>
                </a:lnTo>
                <a:lnTo>
                  <a:pt x="246" y="127"/>
                </a:lnTo>
                <a:lnTo>
                  <a:pt x="229" y="116"/>
                </a:lnTo>
                <a:lnTo>
                  <a:pt x="213" y="105"/>
                </a:lnTo>
                <a:lnTo>
                  <a:pt x="196" y="93"/>
                </a:lnTo>
                <a:lnTo>
                  <a:pt x="180" y="82"/>
                </a:lnTo>
                <a:lnTo>
                  <a:pt x="164" y="71"/>
                </a:lnTo>
                <a:lnTo>
                  <a:pt x="147" y="60"/>
                </a:lnTo>
                <a:lnTo>
                  <a:pt x="131" y="50"/>
                </a:lnTo>
                <a:lnTo>
                  <a:pt x="114" y="40"/>
                </a:lnTo>
                <a:lnTo>
                  <a:pt x="98" y="31"/>
                </a:lnTo>
                <a:lnTo>
                  <a:pt x="82" y="23"/>
                </a:lnTo>
                <a:lnTo>
                  <a:pt x="65" y="16"/>
                </a:lnTo>
                <a:lnTo>
                  <a:pt x="49" y="10"/>
                </a:lnTo>
                <a:lnTo>
                  <a:pt x="33" y="6"/>
                </a:lnTo>
                <a:lnTo>
                  <a:pt x="16" y="4"/>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057400" y="4200525"/>
            <a:ext cx="3743325" cy="1943100"/>
          </a:xfrm>
          <a:custGeom>
            <a:avLst/>
            <a:gdLst/>
            <a:ahLst/>
            <a:cxnLst/>
            <a:rect l="l" t="t" r="r" b="b"/>
            <a:pathLst>
              <a:path w="393" h="204">
                <a:moveTo>
                  <a:pt x="0" y="0"/>
                </a:moveTo>
                <a:lnTo>
                  <a:pt x="16" y="1"/>
                </a:lnTo>
                <a:lnTo>
                  <a:pt x="33" y="4"/>
                </a:lnTo>
                <a:lnTo>
                  <a:pt x="49" y="8"/>
                </a:lnTo>
                <a:lnTo>
                  <a:pt x="65" y="15"/>
                </a:lnTo>
                <a:lnTo>
                  <a:pt x="82" y="22"/>
                </a:lnTo>
                <a:lnTo>
                  <a:pt x="98" y="31"/>
                </a:lnTo>
                <a:lnTo>
                  <a:pt x="114" y="41"/>
                </a:lnTo>
                <a:lnTo>
                  <a:pt x="131" y="52"/>
                </a:lnTo>
                <a:lnTo>
                  <a:pt x="147" y="64"/>
                </a:lnTo>
                <a:lnTo>
                  <a:pt x="164" y="76"/>
                </a:lnTo>
                <a:lnTo>
                  <a:pt x="180" y="88"/>
                </a:lnTo>
                <a:lnTo>
                  <a:pt x="196" y="101"/>
                </a:lnTo>
                <a:lnTo>
                  <a:pt x="213" y="113"/>
                </a:lnTo>
                <a:lnTo>
                  <a:pt x="229" y="126"/>
                </a:lnTo>
                <a:lnTo>
                  <a:pt x="246" y="138"/>
                </a:lnTo>
                <a:lnTo>
                  <a:pt x="262" y="149"/>
                </a:lnTo>
                <a:lnTo>
                  <a:pt x="278" y="160"/>
                </a:lnTo>
                <a:lnTo>
                  <a:pt x="295" y="170"/>
                </a:lnTo>
                <a:lnTo>
                  <a:pt x="311" y="179"/>
                </a:lnTo>
                <a:lnTo>
                  <a:pt x="327" y="187"/>
                </a:lnTo>
                <a:lnTo>
                  <a:pt x="344" y="193"/>
                </a:lnTo>
                <a:lnTo>
                  <a:pt x="360" y="198"/>
                </a:lnTo>
                <a:lnTo>
                  <a:pt x="377" y="201"/>
                </a:lnTo>
                <a:lnTo>
                  <a:pt x="393" y="202"/>
                </a:lnTo>
                <a:lnTo>
                  <a:pt x="393" y="204"/>
                </a:lnTo>
                <a:lnTo>
                  <a:pt x="377" y="203"/>
                </a:lnTo>
                <a:lnTo>
                  <a:pt x="360" y="200"/>
                </a:lnTo>
                <a:lnTo>
                  <a:pt x="344" y="195"/>
                </a:lnTo>
                <a:lnTo>
                  <a:pt x="327" y="189"/>
                </a:lnTo>
                <a:lnTo>
                  <a:pt x="311" y="181"/>
                </a:lnTo>
                <a:lnTo>
                  <a:pt x="295" y="172"/>
                </a:lnTo>
                <a:lnTo>
                  <a:pt x="278" y="162"/>
                </a:lnTo>
                <a:lnTo>
                  <a:pt x="262" y="152"/>
                </a:lnTo>
                <a:lnTo>
                  <a:pt x="246" y="140"/>
                </a:lnTo>
                <a:lnTo>
                  <a:pt x="229" y="128"/>
                </a:lnTo>
                <a:lnTo>
                  <a:pt x="213" y="115"/>
                </a:lnTo>
                <a:lnTo>
                  <a:pt x="196" y="103"/>
                </a:lnTo>
                <a:lnTo>
                  <a:pt x="180" y="90"/>
                </a:lnTo>
                <a:lnTo>
                  <a:pt x="164" y="78"/>
                </a:lnTo>
                <a:lnTo>
                  <a:pt x="147" y="66"/>
                </a:lnTo>
                <a:lnTo>
                  <a:pt x="131" y="54"/>
                </a:lnTo>
                <a:lnTo>
                  <a:pt x="114" y="43"/>
                </a:lnTo>
                <a:lnTo>
                  <a:pt x="98" y="33"/>
                </a:lnTo>
                <a:lnTo>
                  <a:pt x="82" y="24"/>
                </a:lnTo>
                <a:lnTo>
                  <a:pt x="65" y="17"/>
                </a:lnTo>
                <a:lnTo>
                  <a:pt x="49" y="10"/>
                </a:lnTo>
                <a:lnTo>
                  <a:pt x="33" y="6"/>
                </a:lnTo>
                <a:lnTo>
                  <a:pt x="16" y="3"/>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2057400" y="4219575"/>
            <a:ext cx="3743325" cy="2114550"/>
          </a:xfrm>
          <a:custGeom>
            <a:avLst/>
            <a:gdLst/>
            <a:ahLst/>
            <a:cxnLst/>
            <a:rect l="l" t="t" r="r" b="b"/>
            <a:pathLst>
              <a:path w="393" h="222">
                <a:moveTo>
                  <a:pt x="0" y="0"/>
                </a:moveTo>
                <a:lnTo>
                  <a:pt x="16" y="1"/>
                </a:lnTo>
                <a:lnTo>
                  <a:pt x="33" y="4"/>
                </a:lnTo>
                <a:lnTo>
                  <a:pt x="49" y="9"/>
                </a:lnTo>
                <a:lnTo>
                  <a:pt x="65" y="16"/>
                </a:lnTo>
                <a:lnTo>
                  <a:pt x="82" y="24"/>
                </a:lnTo>
                <a:lnTo>
                  <a:pt x="98" y="34"/>
                </a:lnTo>
                <a:lnTo>
                  <a:pt x="114" y="45"/>
                </a:lnTo>
                <a:lnTo>
                  <a:pt x="131" y="57"/>
                </a:lnTo>
                <a:lnTo>
                  <a:pt x="147" y="69"/>
                </a:lnTo>
                <a:lnTo>
                  <a:pt x="164" y="83"/>
                </a:lnTo>
                <a:lnTo>
                  <a:pt x="180" y="96"/>
                </a:lnTo>
                <a:lnTo>
                  <a:pt x="196" y="110"/>
                </a:lnTo>
                <a:lnTo>
                  <a:pt x="213" y="124"/>
                </a:lnTo>
                <a:lnTo>
                  <a:pt x="229" y="137"/>
                </a:lnTo>
                <a:lnTo>
                  <a:pt x="246" y="150"/>
                </a:lnTo>
                <a:lnTo>
                  <a:pt x="262" y="163"/>
                </a:lnTo>
                <a:lnTo>
                  <a:pt x="278" y="175"/>
                </a:lnTo>
                <a:lnTo>
                  <a:pt x="295" y="186"/>
                </a:lnTo>
                <a:lnTo>
                  <a:pt x="311" y="195"/>
                </a:lnTo>
                <a:lnTo>
                  <a:pt x="327" y="204"/>
                </a:lnTo>
                <a:lnTo>
                  <a:pt x="344" y="211"/>
                </a:lnTo>
                <a:lnTo>
                  <a:pt x="360" y="216"/>
                </a:lnTo>
                <a:lnTo>
                  <a:pt x="377" y="219"/>
                </a:lnTo>
                <a:lnTo>
                  <a:pt x="393" y="220"/>
                </a:lnTo>
                <a:lnTo>
                  <a:pt x="393" y="222"/>
                </a:lnTo>
                <a:lnTo>
                  <a:pt x="377" y="221"/>
                </a:lnTo>
                <a:lnTo>
                  <a:pt x="360" y="218"/>
                </a:lnTo>
                <a:lnTo>
                  <a:pt x="344" y="213"/>
                </a:lnTo>
                <a:lnTo>
                  <a:pt x="327" y="206"/>
                </a:lnTo>
                <a:lnTo>
                  <a:pt x="311" y="197"/>
                </a:lnTo>
                <a:lnTo>
                  <a:pt x="295" y="188"/>
                </a:lnTo>
                <a:lnTo>
                  <a:pt x="278" y="177"/>
                </a:lnTo>
                <a:lnTo>
                  <a:pt x="262" y="165"/>
                </a:lnTo>
                <a:lnTo>
                  <a:pt x="246" y="152"/>
                </a:lnTo>
                <a:lnTo>
                  <a:pt x="229" y="139"/>
                </a:lnTo>
                <a:lnTo>
                  <a:pt x="213" y="126"/>
                </a:lnTo>
                <a:lnTo>
                  <a:pt x="196" y="112"/>
                </a:lnTo>
                <a:lnTo>
                  <a:pt x="180" y="98"/>
                </a:lnTo>
                <a:lnTo>
                  <a:pt x="164" y="85"/>
                </a:lnTo>
                <a:lnTo>
                  <a:pt x="147" y="71"/>
                </a:lnTo>
                <a:lnTo>
                  <a:pt x="131" y="59"/>
                </a:lnTo>
                <a:lnTo>
                  <a:pt x="114" y="47"/>
                </a:lnTo>
                <a:lnTo>
                  <a:pt x="98" y="36"/>
                </a:lnTo>
                <a:lnTo>
                  <a:pt x="82" y="26"/>
                </a:lnTo>
                <a:lnTo>
                  <a:pt x="65" y="18"/>
                </a:lnTo>
                <a:lnTo>
                  <a:pt x="49" y="11"/>
                </a:lnTo>
                <a:lnTo>
                  <a:pt x="33" y="6"/>
                </a:lnTo>
                <a:lnTo>
                  <a:pt x="16" y="3"/>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2057400" y="4238625"/>
            <a:ext cx="3743325" cy="2257425"/>
          </a:xfrm>
          <a:custGeom>
            <a:avLst/>
            <a:gdLst/>
            <a:ahLst/>
            <a:cxnLst/>
            <a:rect l="l" t="t" r="r" b="b"/>
            <a:pathLst>
              <a:path w="393" h="237">
                <a:moveTo>
                  <a:pt x="0" y="0"/>
                </a:moveTo>
                <a:lnTo>
                  <a:pt x="16" y="1"/>
                </a:lnTo>
                <a:lnTo>
                  <a:pt x="33" y="4"/>
                </a:lnTo>
                <a:lnTo>
                  <a:pt x="49" y="10"/>
                </a:lnTo>
                <a:lnTo>
                  <a:pt x="65" y="17"/>
                </a:lnTo>
                <a:lnTo>
                  <a:pt x="82" y="26"/>
                </a:lnTo>
                <a:lnTo>
                  <a:pt x="98" y="37"/>
                </a:lnTo>
                <a:lnTo>
                  <a:pt x="114" y="48"/>
                </a:lnTo>
                <a:lnTo>
                  <a:pt x="131" y="61"/>
                </a:lnTo>
                <a:lnTo>
                  <a:pt x="147" y="74"/>
                </a:lnTo>
                <a:lnTo>
                  <a:pt x="164" y="88"/>
                </a:lnTo>
                <a:lnTo>
                  <a:pt x="180" y="103"/>
                </a:lnTo>
                <a:lnTo>
                  <a:pt x="196" y="118"/>
                </a:lnTo>
                <a:lnTo>
                  <a:pt x="213" y="132"/>
                </a:lnTo>
                <a:lnTo>
                  <a:pt x="229" y="147"/>
                </a:lnTo>
                <a:lnTo>
                  <a:pt x="246" y="161"/>
                </a:lnTo>
                <a:lnTo>
                  <a:pt x="262" y="174"/>
                </a:lnTo>
                <a:lnTo>
                  <a:pt x="278" y="187"/>
                </a:lnTo>
                <a:lnTo>
                  <a:pt x="295" y="199"/>
                </a:lnTo>
                <a:lnTo>
                  <a:pt x="311" y="209"/>
                </a:lnTo>
                <a:lnTo>
                  <a:pt x="327" y="218"/>
                </a:lnTo>
                <a:lnTo>
                  <a:pt x="344" y="226"/>
                </a:lnTo>
                <a:lnTo>
                  <a:pt x="360" y="231"/>
                </a:lnTo>
                <a:lnTo>
                  <a:pt x="377" y="234"/>
                </a:lnTo>
                <a:lnTo>
                  <a:pt x="393" y="236"/>
                </a:lnTo>
                <a:lnTo>
                  <a:pt x="393" y="237"/>
                </a:lnTo>
                <a:lnTo>
                  <a:pt x="377" y="236"/>
                </a:lnTo>
                <a:lnTo>
                  <a:pt x="360" y="232"/>
                </a:lnTo>
                <a:lnTo>
                  <a:pt x="344" y="227"/>
                </a:lnTo>
                <a:lnTo>
                  <a:pt x="327" y="220"/>
                </a:lnTo>
                <a:lnTo>
                  <a:pt x="311" y="211"/>
                </a:lnTo>
                <a:lnTo>
                  <a:pt x="295" y="200"/>
                </a:lnTo>
                <a:lnTo>
                  <a:pt x="278" y="188"/>
                </a:lnTo>
                <a:lnTo>
                  <a:pt x="262" y="176"/>
                </a:lnTo>
                <a:lnTo>
                  <a:pt x="246" y="162"/>
                </a:lnTo>
                <a:lnTo>
                  <a:pt x="229" y="148"/>
                </a:lnTo>
                <a:lnTo>
                  <a:pt x="213" y="134"/>
                </a:lnTo>
                <a:lnTo>
                  <a:pt x="196" y="119"/>
                </a:lnTo>
                <a:lnTo>
                  <a:pt x="180" y="104"/>
                </a:lnTo>
                <a:lnTo>
                  <a:pt x="164" y="90"/>
                </a:lnTo>
                <a:lnTo>
                  <a:pt x="147" y="76"/>
                </a:lnTo>
                <a:lnTo>
                  <a:pt x="131" y="62"/>
                </a:lnTo>
                <a:lnTo>
                  <a:pt x="114" y="50"/>
                </a:lnTo>
                <a:lnTo>
                  <a:pt x="98" y="38"/>
                </a:lnTo>
                <a:lnTo>
                  <a:pt x="82" y="27"/>
                </a:lnTo>
                <a:lnTo>
                  <a:pt x="65" y="18"/>
                </a:lnTo>
                <a:lnTo>
                  <a:pt x="49" y="11"/>
                </a:lnTo>
                <a:lnTo>
                  <a:pt x="33" y="6"/>
                </a:lnTo>
                <a:lnTo>
                  <a:pt x="16" y="2"/>
                </a:lnTo>
                <a:lnTo>
                  <a:pt x="0" y="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057400" y="1809750"/>
            <a:ext cx="3743325" cy="2619375"/>
          </a:xfrm>
          <a:custGeom>
            <a:avLst/>
            <a:gdLst/>
            <a:ahLst/>
            <a:cxnLst/>
            <a:rect l="l" t="t" r="r" b="b"/>
            <a:pathLst>
              <a:path w="393" h="275">
                <a:moveTo>
                  <a:pt x="0" y="262"/>
                </a:moveTo>
                <a:lnTo>
                  <a:pt x="16" y="261"/>
                </a:lnTo>
                <a:lnTo>
                  <a:pt x="33" y="257"/>
                </a:lnTo>
                <a:lnTo>
                  <a:pt x="49" y="251"/>
                </a:lnTo>
                <a:lnTo>
                  <a:pt x="65" y="243"/>
                </a:lnTo>
                <a:lnTo>
                  <a:pt x="82" y="233"/>
                </a:lnTo>
                <a:lnTo>
                  <a:pt x="98" y="221"/>
                </a:lnTo>
                <a:lnTo>
                  <a:pt x="114" y="208"/>
                </a:lnTo>
                <a:lnTo>
                  <a:pt x="131" y="194"/>
                </a:lnTo>
                <a:lnTo>
                  <a:pt x="147" y="179"/>
                </a:lnTo>
                <a:lnTo>
                  <a:pt x="164" y="163"/>
                </a:lnTo>
                <a:lnTo>
                  <a:pt x="180" y="147"/>
                </a:lnTo>
                <a:lnTo>
                  <a:pt x="196" y="131"/>
                </a:lnTo>
                <a:lnTo>
                  <a:pt x="213" y="115"/>
                </a:lnTo>
                <a:lnTo>
                  <a:pt x="229" y="99"/>
                </a:lnTo>
                <a:lnTo>
                  <a:pt x="246" y="83"/>
                </a:lnTo>
                <a:lnTo>
                  <a:pt x="262" y="68"/>
                </a:lnTo>
                <a:lnTo>
                  <a:pt x="278" y="54"/>
                </a:lnTo>
                <a:lnTo>
                  <a:pt x="295" y="41"/>
                </a:lnTo>
                <a:lnTo>
                  <a:pt x="311" y="29"/>
                </a:lnTo>
                <a:lnTo>
                  <a:pt x="327" y="20"/>
                </a:lnTo>
                <a:lnTo>
                  <a:pt x="344" y="11"/>
                </a:lnTo>
                <a:lnTo>
                  <a:pt x="360" y="5"/>
                </a:lnTo>
                <a:lnTo>
                  <a:pt x="377" y="1"/>
                </a:lnTo>
                <a:lnTo>
                  <a:pt x="393" y="0"/>
                </a:lnTo>
                <a:lnTo>
                  <a:pt x="393" y="13"/>
                </a:lnTo>
                <a:lnTo>
                  <a:pt x="377" y="15"/>
                </a:lnTo>
                <a:lnTo>
                  <a:pt x="360" y="19"/>
                </a:lnTo>
                <a:lnTo>
                  <a:pt x="344" y="25"/>
                </a:lnTo>
                <a:lnTo>
                  <a:pt x="327" y="33"/>
                </a:lnTo>
                <a:lnTo>
                  <a:pt x="311" y="43"/>
                </a:lnTo>
                <a:lnTo>
                  <a:pt x="295" y="54"/>
                </a:lnTo>
                <a:lnTo>
                  <a:pt x="278" y="67"/>
                </a:lnTo>
                <a:lnTo>
                  <a:pt x="262" y="81"/>
                </a:lnTo>
                <a:lnTo>
                  <a:pt x="246" y="96"/>
                </a:lnTo>
                <a:lnTo>
                  <a:pt x="229" y="112"/>
                </a:lnTo>
                <a:lnTo>
                  <a:pt x="213" y="128"/>
                </a:lnTo>
                <a:lnTo>
                  <a:pt x="196" y="144"/>
                </a:lnTo>
                <a:lnTo>
                  <a:pt x="180" y="161"/>
                </a:lnTo>
                <a:lnTo>
                  <a:pt x="164" y="177"/>
                </a:lnTo>
                <a:lnTo>
                  <a:pt x="147" y="192"/>
                </a:lnTo>
                <a:lnTo>
                  <a:pt x="131" y="207"/>
                </a:lnTo>
                <a:lnTo>
                  <a:pt x="114" y="221"/>
                </a:lnTo>
                <a:lnTo>
                  <a:pt x="98" y="234"/>
                </a:lnTo>
                <a:lnTo>
                  <a:pt x="82" y="246"/>
                </a:lnTo>
                <a:lnTo>
                  <a:pt x="65" y="256"/>
                </a:lnTo>
                <a:lnTo>
                  <a:pt x="49" y="264"/>
                </a:lnTo>
                <a:lnTo>
                  <a:pt x="33" y="270"/>
                </a:lnTo>
                <a:lnTo>
                  <a:pt x="16" y="274"/>
                </a:lnTo>
                <a:lnTo>
                  <a:pt x="0" y="27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2057400" y="2714625"/>
            <a:ext cx="3743325" cy="1828800"/>
          </a:xfrm>
          <a:custGeom>
            <a:avLst/>
            <a:gdLst/>
            <a:ahLst/>
            <a:cxnLst/>
            <a:rect l="l" t="t" r="r" b="b"/>
            <a:pathLst>
              <a:path w="393" h="192">
                <a:moveTo>
                  <a:pt x="0" y="180"/>
                </a:moveTo>
                <a:lnTo>
                  <a:pt x="16" y="179"/>
                </a:lnTo>
                <a:lnTo>
                  <a:pt x="33" y="177"/>
                </a:lnTo>
                <a:lnTo>
                  <a:pt x="49" y="173"/>
                </a:lnTo>
                <a:lnTo>
                  <a:pt x="65" y="167"/>
                </a:lnTo>
                <a:lnTo>
                  <a:pt x="82" y="160"/>
                </a:lnTo>
                <a:lnTo>
                  <a:pt x="98" y="152"/>
                </a:lnTo>
                <a:lnTo>
                  <a:pt x="114" y="143"/>
                </a:lnTo>
                <a:lnTo>
                  <a:pt x="131" y="133"/>
                </a:lnTo>
                <a:lnTo>
                  <a:pt x="147" y="123"/>
                </a:lnTo>
                <a:lnTo>
                  <a:pt x="164" y="112"/>
                </a:lnTo>
                <a:lnTo>
                  <a:pt x="180" y="101"/>
                </a:lnTo>
                <a:lnTo>
                  <a:pt x="196" y="90"/>
                </a:lnTo>
                <a:lnTo>
                  <a:pt x="213" y="79"/>
                </a:lnTo>
                <a:lnTo>
                  <a:pt x="229" y="68"/>
                </a:lnTo>
                <a:lnTo>
                  <a:pt x="246" y="57"/>
                </a:lnTo>
                <a:lnTo>
                  <a:pt x="262" y="46"/>
                </a:lnTo>
                <a:lnTo>
                  <a:pt x="278" y="37"/>
                </a:lnTo>
                <a:lnTo>
                  <a:pt x="295" y="28"/>
                </a:lnTo>
                <a:lnTo>
                  <a:pt x="311" y="20"/>
                </a:lnTo>
                <a:lnTo>
                  <a:pt x="327" y="13"/>
                </a:lnTo>
                <a:lnTo>
                  <a:pt x="344" y="7"/>
                </a:lnTo>
                <a:lnTo>
                  <a:pt x="360" y="3"/>
                </a:lnTo>
                <a:lnTo>
                  <a:pt x="377" y="0"/>
                </a:lnTo>
                <a:lnTo>
                  <a:pt x="393" y="0"/>
                </a:lnTo>
                <a:lnTo>
                  <a:pt x="393" y="12"/>
                </a:lnTo>
                <a:lnTo>
                  <a:pt x="377" y="13"/>
                </a:lnTo>
                <a:lnTo>
                  <a:pt x="360" y="15"/>
                </a:lnTo>
                <a:lnTo>
                  <a:pt x="344" y="19"/>
                </a:lnTo>
                <a:lnTo>
                  <a:pt x="327" y="25"/>
                </a:lnTo>
                <a:lnTo>
                  <a:pt x="311" y="32"/>
                </a:lnTo>
                <a:lnTo>
                  <a:pt x="295" y="40"/>
                </a:lnTo>
                <a:lnTo>
                  <a:pt x="278" y="49"/>
                </a:lnTo>
                <a:lnTo>
                  <a:pt x="262" y="59"/>
                </a:lnTo>
                <a:lnTo>
                  <a:pt x="246" y="69"/>
                </a:lnTo>
                <a:lnTo>
                  <a:pt x="229" y="80"/>
                </a:lnTo>
                <a:lnTo>
                  <a:pt x="213" y="91"/>
                </a:lnTo>
                <a:lnTo>
                  <a:pt x="196" y="102"/>
                </a:lnTo>
                <a:lnTo>
                  <a:pt x="180" y="113"/>
                </a:lnTo>
                <a:lnTo>
                  <a:pt x="164" y="124"/>
                </a:lnTo>
                <a:lnTo>
                  <a:pt x="147" y="135"/>
                </a:lnTo>
                <a:lnTo>
                  <a:pt x="131" y="146"/>
                </a:lnTo>
                <a:lnTo>
                  <a:pt x="114" y="155"/>
                </a:lnTo>
                <a:lnTo>
                  <a:pt x="98" y="164"/>
                </a:lnTo>
                <a:lnTo>
                  <a:pt x="82" y="172"/>
                </a:lnTo>
                <a:lnTo>
                  <a:pt x="65" y="179"/>
                </a:lnTo>
                <a:lnTo>
                  <a:pt x="49" y="185"/>
                </a:lnTo>
                <a:lnTo>
                  <a:pt x="33" y="189"/>
                </a:lnTo>
                <a:lnTo>
                  <a:pt x="16" y="192"/>
                </a:lnTo>
                <a:lnTo>
                  <a:pt x="0" y="19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2057400" y="3400425"/>
            <a:ext cx="3743325" cy="1219200"/>
          </a:xfrm>
          <a:custGeom>
            <a:avLst/>
            <a:gdLst/>
            <a:ahLst/>
            <a:cxnLst/>
            <a:rect l="l" t="t" r="r" b="b"/>
            <a:pathLst>
              <a:path w="393" h="128">
                <a:moveTo>
                  <a:pt x="0" y="120"/>
                </a:moveTo>
                <a:lnTo>
                  <a:pt x="16" y="120"/>
                </a:lnTo>
                <a:lnTo>
                  <a:pt x="33" y="118"/>
                </a:lnTo>
                <a:lnTo>
                  <a:pt x="49" y="115"/>
                </a:lnTo>
                <a:lnTo>
                  <a:pt x="65" y="112"/>
                </a:lnTo>
                <a:lnTo>
                  <a:pt x="82" y="107"/>
                </a:lnTo>
                <a:lnTo>
                  <a:pt x="98" y="102"/>
                </a:lnTo>
                <a:lnTo>
                  <a:pt x="114" y="96"/>
                </a:lnTo>
                <a:lnTo>
                  <a:pt x="131" y="89"/>
                </a:lnTo>
                <a:lnTo>
                  <a:pt x="147" y="82"/>
                </a:lnTo>
                <a:lnTo>
                  <a:pt x="164" y="75"/>
                </a:lnTo>
                <a:lnTo>
                  <a:pt x="180" y="68"/>
                </a:lnTo>
                <a:lnTo>
                  <a:pt x="196" y="60"/>
                </a:lnTo>
                <a:lnTo>
                  <a:pt x="213" y="53"/>
                </a:lnTo>
                <a:lnTo>
                  <a:pt x="229" y="45"/>
                </a:lnTo>
                <a:lnTo>
                  <a:pt x="246" y="38"/>
                </a:lnTo>
                <a:lnTo>
                  <a:pt x="262" y="31"/>
                </a:lnTo>
                <a:lnTo>
                  <a:pt x="278" y="25"/>
                </a:lnTo>
                <a:lnTo>
                  <a:pt x="295" y="19"/>
                </a:lnTo>
                <a:lnTo>
                  <a:pt x="311" y="14"/>
                </a:lnTo>
                <a:lnTo>
                  <a:pt x="327" y="9"/>
                </a:lnTo>
                <a:lnTo>
                  <a:pt x="344" y="5"/>
                </a:lnTo>
                <a:lnTo>
                  <a:pt x="360" y="2"/>
                </a:lnTo>
                <a:lnTo>
                  <a:pt x="377" y="1"/>
                </a:lnTo>
                <a:lnTo>
                  <a:pt x="393" y="0"/>
                </a:lnTo>
                <a:lnTo>
                  <a:pt x="393" y="8"/>
                </a:lnTo>
                <a:lnTo>
                  <a:pt x="377" y="8"/>
                </a:lnTo>
                <a:lnTo>
                  <a:pt x="360" y="10"/>
                </a:lnTo>
                <a:lnTo>
                  <a:pt x="344" y="13"/>
                </a:lnTo>
                <a:lnTo>
                  <a:pt x="327" y="17"/>
                </a:lnTo>
                <a:lnTo>
                  <a:pt x="311" y="21"/>
                </a:lnTo>
                <a:lnTo>
                  <a:pt x="295" y="26"/>
                </a:lnTo>
                <a:lnTo>
                  <a:pt x="278" y="32"/>
                </a:lnTo>
                <a:lnTo>
                  <a:pt x="262" y="39"/>
                </a:lnTo>
                <a:lnTo>
                  <a:pt x="246" y="46"/>
                </a:lnTo>
                <a:lnTo>
                  <a:pt x="229" y="53"/>
                </a:lnTo>
                <a:lnTo>
                  <a:pt x="213" y="60"/>
                </a:lnTo>
                <a:lnTo>
                  <a:pt x="196" y="68"/>
                </a:lnTo>
                <a:lnTo>
                  <a:pt x="180" y="75"/>
                </a:lnTo>
                <a:lnTo>
                  <a:pt x="164" y="83"/>
                </a:lnTo>
                <a:lnTo>
                  <a:pt x="147" y="90"/>
                </a:lnTo>
                <a:lnTo>
                  <a:pt x="131" y="97"/>
                </a:lnTo>
                <a:lnTo>
                  <a:pt x="114" y="103"/>
                </a:lnTo>
                <a:lnTo>
                  <a:pt x="98" y="109"/>
                </a:lnTo>
                <a:lnTo>
                  <a:pt x="82" y="114"/>
                </a:lnTo>
                <a:lnTo>
                  <a:pt x="65" y="119"/>
                </a:lnTo>
                <a:lnTo>
                  <a:pt x="49" y="123"/>
                </a:lnTo>
                <a:lnTo>
                  <a:pt x="33" y="126"/>
                </a:lnTo>
                <a:lnTo>
                  <a:pt x="16" y="127"/>
                </a:lnTo>
                <a:lnTo>
                  <a:pt x="0" y="12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057400" y="3933825"/>
            <a:ext cx="3743325" cy="752475"/>
          </a:xfrm>
          <a:custGeom>
            <a:avLst/>
            <a:gdLst/>
            <a:ahLst/>
            <a:cxnLst/>
            <a:rect l="l" t="t" r="r" b="b"/>
            <a:pathLst>
              <a:path w="393" h="79">
                <a:moveTo>
                  <a:pt x="0" y="72"/>
                </a:moveTo>
                <a:lnTo>
                  <a:pt x="16" y="72"/>
                </a:lnTo>
                <a:lnTo>
                  <a:pt x="33" y="71"/>
                </a:lnTo>
                <a:lnTo>
                  <a:pt x="49" y="69"/>
                </a:lnTo>
                <a:lnTo>
                  <a:pt x="65" y="67"/>
                </a:lnTo>
                <a:lnTo>
                  <a:pt x="82" y="64"/>
                </a:lnTo>
                <a:lnTo>
                  <a:pt x="98" y="61"/>
                </a:lnTo>
                <a:lnTo>
                  <a:pt x="114" y="57"/>
                </a:lnTo>
                <a:lnTo>
                  <a:pt x="131" y="53"/>
                </a:lnTo>
                <a:lnTo>
                  <a:pt x="147" y="49"/>
                </a:lnTo>
                <a:lnTo>
                  <a:pt x="164" y="45"/>
                </a:lnTo>
                <a:lnTo>
                  <a:pt x="180" y="40"/>
                </a:lnTo>
                <a:lnTo>
                  <a:pt x="196" y="36"/>
                </a:lnTo>
                <a:lnTo>
                  <a:pt x="213" y="31"/>
                </a:lnTo>
                <a:lnTo>
                  <a:pt x="229" y="27"/>
                </a:lnTo>
                <a:lnTo>
                  <a:pt x="246" y="23"/>
                </a:lnTo>
                <a:lnTo>
                  <a:pt x="262" y="18"/>
                </a:lnTo>
                <a:lnTo>
                  <a:pt x="278" y="15"/>
                </a:lnTo>
                <a:lnTo>
                  <a:pt x="295" y="11"/>
                </a:lnTo>
                <a:lnTo>
                  <a:pt x="311" y="8"/>
                </a:lnTo>
                <a:lnTo>
                  <a:pt x="327" y="5"/>
                </a:lnTo>
                <a:lnTo>
                  <a:pt x="344" y="3"/>
                </a:lnTo>
                <a:lnTo>
                  <a:pt x="360" y="1"/>
                </a:lnTo>
                <a:lnTo>
                  <a:pt x="377" y="0"/>
                </a:lnTo>
                <a:lnTo>
                  <a:pt x="393" y="0"/>
                </a:lnTo>
                <a:lnTo>
                  <a:pt x="393" y="6"/>
                </a:lnTo>
                <a:lnTo>
                  <a:pt x="377" y="7"/>
                </a:lnTo>
                <a:lnTo>
                  <a:pt x="360" y="8"/>
                </a:lnTo>
                <a:lnTo>
                  <a:pt x="344" y="9"/>
                </a:lnTo>
                <a:lnTo>
                  <a:pt x="327" y="12"/>
                </a:lnTo>
                <a:lnTo>
                  <a:pt x="311" y="14"/>
                </a:lnTo>
                <a:lnTo>
                  <a:pt x="295" y="18"/>
                </a:lnTo>
                <a:lnTo>
                  <a:pt x="278" y="21"/>
                </a:lnTo>
                <a:lnTo>
                  <a:pt x="262" y="25"/>
                </a:lnTo>
                <a:lnTo>
                  <a:pt x="246" y="29"/>
                </a:lnTo>
                <a:lnTo>
                  <a:pt x="229" y="34"/>
                </a:lnTo>
                <a:lnTo>
                  <a:pt x="213" y="38"/>
                </a:lnTo>
                <a:lnTo>
                  <a:pt x="196" y="43"/>
                </a:lnTo>
                <a:lnTo>
                  <a:pt x="180" y="47"/>
                </a:lnTo>
                <a:lnTo>
                  <a:pt x="164" y="51"/>
                </a:lnTo>
                <a:lnTo>
                  <a:pt x="147" y="56"/>
                </a:lnTo>
                <a:lnTo>
                  <a:pt x="131" y="60"/>
                </a:lnTo>
                <a:lnTo>
                  <a:pt x="114" y="64"/>
                </a:lnTo>
                <a:lnTo>
                  <a:pt x="98" y="67"/>
                </a:lnTo>
                <a:lnTo>
                  <a:pt x="82" y="71"/>
                </a:lnTo>
                <a:lnTo>
                  <a:pt x="65" y="73"/>
                </a:lnTo>
                <a:lnTo>
                  <a:pt x="49" y="76"/>
                </a:lnTo>
                <a:lnTo>
                  <a:pt x="33" y="77"/>
                </a:lnTo>
                <a:lnTo>
                  <a:pt x="16" y="78"/>
                </a:lnTo>
                <a:lnTo>
                  <a:pt x="0" y="7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2057400" y="4438650"/>
            <a:ext cx="3743325" cy="304800"/>
          </a:xfrm>
          <a:custGeom>
            <a:avLst/>
            <a:gdLst/>
            <a:ahLst/>
            <a:cxnLst/>
            <a:rect l="l" t="t" r="r" b="b"/>
            <a:pathLst>
              <a:path w="393" h="32">
                <a:moveTo>
                  <a:pt x="0" y="26"/>
                </a:moveTo>
                <a:lnTo>
                  <a:pt x="16" y="26"/>
                </a:lnTo>
                <a:lnTo>
                  <a:pt x="33" y="25"/>
                </a:lnTo>
                <a:lnTo>
                  <a:pt x="49" y="25"/>
                </a:lnTo>
                <a:lnTo>
                  <a:pt x="65" y="24"/>
                </a:lnTo>
                <a:lnTo>
                  <a:pt x="82" y="23"/>
                </a:lnTo>
                <a:lnTo>
                  <a:pt x="98" y="22"/>
                </a:lnTo>
                <a:lnTo>
                  <a:pt x="114" y="20"/>
                </a:lnTo>
                <a:lnTo>
                  <a:pt x="131" y="19"/>
                </a:lnTo>
                <a:lnTo>
                  <a:pt x="147" y="17"/>
                </a:lnTo>
                <a:lnTo>
                  <a:pt x="164" y="16"/>
                </a:lnTo>
                <a:lnTo>
                  <a:pt x="180" y="14"/>
                </a:lnTo>
                <a:lnTo>
                  <a:pt x="196" y="13"/>
                </a:lnTo>
                <a:lnTo>
                  <a:pt x="213" y="11"/>
                </a:lnTo>
                <a:lnTo>
                  <a:pt x="229" y="9"/>
                </a:lnTo>
                <a:lnTo>
                  <a:pt x="246" y="8"/>
                </a:lnTo>
                <a:lnTo>
                  <a:pt x="262" y="6"/>
                </a:lnTo>
                <a:lnTo>
                  <a:pt x="278" y="5"/>
                </a:lnTo>
                <a:lnTo>
                  <a:pt x="295" y="4"/>
                </a:lnTo>
                <a:lnTo>
                  <a:pt x="311" y="2"/>
                </a:lnTo>
                <a:lnTo>
                  <a:pt x="327" y="1"/>
                </a:lnTo>
                <a:lnTo>
                  <a:pt x="344" y="1"/>
                </a:lnTo>
                <a:lnTo>
                  <a:pt x="360" y="0"/>
                </a:lnTo>
                <a:lnTo>
                  <a:pt x="377" y="0"/>
                </a:lnTo>
                <a:lnTo>
                  <a:pt x="393" y="0"/>
                </a:lnTo>
                <a:lnTo>
                  <a:pt x="393" y="6"/>
                </a:lnTo>
                <a:lnTo>
                  <a:pt x="377" y="6"/>
                </a:lnTo>
                <a:lnTo>
                  <a:pt x="360" y="7"/>
                </a:lnTo>
                <a:lnTo>
                  <a:pt x="344" y="7"/>
                </a:lnTo>
                <a:lnTo>
                  <a:pt x="327" y="8"/>
                </a:lnTo>
                <a:lnTo>
                  <a:pt x="311" y="9"/>
                </a:lnTo>
                <a:lnTo>
                  <a:pt x="295" y="10"/>
                </a:lnTo>
                <a:lnTo>
                  <a:pt x="278" y="12"/>
                </a:lnTo>
                <a:lnTo>
                  <a:pt x="262" y="13"/>
                </a:lnTo>
                <a:lnTo>
                  <a:pt x="246" y="14"/>
                </a:lnTo>
                <a:lnTo>
                  <a:pt x="229" y="16"/>
                </a:lnTo>
                <a:lnTo>
                  <a:pt x="213" y="18"/>
                </a:lnTo>
                <a:lnTo>
                  <a:pt x="196" y="19"/>
                </a:lnTo>
                <a:lnTo>
                  <a:pt x="180" y="21"/>
                </a:lnTo>
                <a:lnTo>
                  <a:pt x="164" y="23"/>
                </a:lnTo>
                <a:lnTo>
                  <a:pt x="147" y="24"/>
                </a:lnTo>
                <a:lnTo>
                  <a:pt x="131" y="26"/>
                </a:lnTo>
                <a:lnTo>
                  <a:pt x="114" y="27"/>
                </a:lnTo>
                <a:lnTo>
                  <a:pt x="98" y="28"/>
                </a:lnTo>
                <a:lnTo>
                  <a:pt x="82" y="29"/>
                </a:lnTo>
                <a:lnTo>
                  <a:pt x="65" y="30"/>
                </a:lnTo>
                <a:lnTo>
                  <a:pt x="49" y="31"/>
                </a:lnTo>
                <a:lnTo>
                  <a:pt x="33" y="32"/>
                </a:lnTo>
                <a:lnTo>
                  <a:pt x="16" y="32"/>
                </a:lnTo>
                <a:lnTo>
                  <a:pt x="0" y="3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2057400" y="4743450"/>
            <a:ext cx="3743325" cy="219075"/>
          </a:xfrm>
          <a:custGeom>
            <a:avLst/>
            <a:gdLst/>
            <a:ahLst/>
            <a:cxnLst/>
            <a:rect l="l" t="t" r="r" b="b"/>
            <a:pathLst>
              <a:path w="393" h="23">
                <a:moveTo>
                  <a:pt x="0" y="0"/>
                </a:moveTo>
                <a:lnTo>
                  <a:pt x="16" y="0"/>
                </a:lnTo>
                <a:lnTo>
                  <a:pt x="33" y="1"/>
                </a:lnTo>
                <a:lnTo>
                  <a:pt x="49" y="1"/>
                </a:lnTo>
                <a:lnTo>
                  <a:pt x="65" y="2"/>
                </a:lnTo>
                <a:lnTo>
                  <a:pt x="82" y="2"/>
                </a:lnTo>
                <a:lnTo>
                  <a:pt x="98" y="3"/>
                </a:lnTo>
                <a:lnTo>
                  <a:pt x="114" y="4"/>
                </a:lnTo>
                <a:lnTo>
                  <a:pt x="131" y="5"/>
                </a:lnTo>
                <a:lnTo>
                  <a:pt x="147" y="6"/>
                </a:lnTo>
                <a:lnTo>
                  <a:pt x="164" y="7"/>
                </a:lnTo>
                <a:lnTo>
                  <a:pt x="180" y="8"/>
                </a:lnTo>
                <a:lnTo>
                  <a:pt x="196" y="9"/>
                </a:lnTo>
                <a:lnTo>
                  <a:pt x="213" y="10"/>
                </a:lnTo>
                <a:lnTo>
                  <a:pt x="229" y="11"/>
                </a:lnTo>
                <a:lnTo>
                  <a:pt x="246" y="12"/>
                </a:lnTo>
                <a:lnTo>
                  <a:pt x="262" y="12"/>
                </a:lnTo>
                <a:lnTo>
                  <a:pt x="278" y="13"/>
                </a:lnTo>
                <a:lnTo>
                  <a:pt x="295" y="14"/>
                </a:lnTo>
                <a:lnTo>
                  <a:pt x="311" y="15"/>
                </a:lnTo>
                <a:lnTo>
                  <a:pt x="327" y="16"/>
                </a:lnTo>
                <a:lnTo>
                  <a:pt x="344" y="16"/>
                </a:lnTo>
                <a:lnTo>
                  <a:pt x="360" y="16"/>
                </a:lnTo>
                <a:lnTo>
                  <a:pt x="377" y="17"/>
                </a:lnTo>
                <a:lnTo>
                  <a:pt x="393" y="17"/>
                </a:lnTo>
                <a:lnTo>
                  <a:pt x="393" y="23"/>
                </a:lnTo>
                <a:lnTo>
                  <a:pt x="377" y="22"/>
                </a:lnTo>
                <a:lnTo>
                  <a:pt x="360" y="22"/>
                </a:lnTo>
                <a:lnTo>
                  <a:pt x="344" y="22"/>
                </a:lnTo>
                <a:lnTo>
                  <a:pt x="327" y="21"/>
                </a:lnTo>
                <a:lnTo>
                  <a:pt x="311" y="21"/>
                </a:lnTo>
                <a:lnTo>
                  <a:pt x="295" y="20"/>
                </a:lnTo>
                <a:lnTo>
                  <a:pt x="278" y="19"/>
                </a:lnTo>
                <a:lnTo>
                  <a:pt x="262" y="18"/>
                </a:lnTo>
                <a:lnTo>
                  <a:pt x="246" y="17"/>
                </a:lnTo>
                <a:lnTo>
                  <a:pt x="229" y="16"/>
                </a:lnTo>
                <a:lnTo>
                  <a:pt x="213" y="15"/>
                </a:lnTo>
                <a:lnTo>
                  <a:pt x="196" y="14"/>
                </a:lnTo>
                <a:lnTo>
                  <a:pt x="180" y="13"/>
                </a:lnTo>
                <a:lnTo>
                  <a:pt x="164" y="12"/>
                </a:lnTo>
                <a:lnTo>
                  <a:pt x="147" y="11"/>
                </a:lnTo>
                <a:lnTo>
                  <a:pt x="131" y="10"/>
                </a:lnTo>
                <a:lnTo>
                  <a:pt x="114" y="10"/>
                </a:lnTo>
                <a:lnTo>
                  <a:pt x="98" y="9"/>
                </a:lnTo>
                <a:lnTo>
                  <a:pt x="82" y="8"/>
                </a:lnTo>
                <a:lnTo>
                  <a:pt x="65" y="7"/>
                </a:lnTo>
                <a:lnTo>
                  <a:pt x="49" y="7"/>
                </a:lnTo>
                <a:lnTo>
                  <a:pt x="33" y="6"/>
                </a:lnTo>
                <a:lnTo>
                  <a:pt x="16" y="6"/>
                </a:lnTo>
                <a:lnTo>
                  <a:pt x="0" y="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2057400" y="4800600"/>
            <a:ext cx="3743325" cy="581025"/>
          </a:xfrm>
          <a:custGeom>
            <a:avLst/>
            <a:gdLst/>
            <a:ahLst/>
            <a:cxnLst/>
            <a:rect l="l" t="t" r="r" b="b"/>
            <a:pathLst>
              <a:path w="393" h="61">
                <a:moveTo>
                  <a:pt x="0" y="0"/>
                </a:moveTo>
                <a:lnTo>
                  <a:pt x="16" y="0"/>
                </a:lnTo>
                <a:lnTo>
                  <a:pt x="33" y="1"/>
                </a:lnTo>
                <a:lnTo>
                  <a:pt x="49" y="3"/>
                </a:lnTo>
                <a:lnTo>
                  <a:pt x="65" y="4"/>
                </a:lnTo>
                <a:lnTo>
                  <a:pt x="82" y="6"/>
                </a:lnTo>
                <a:lnTo>
                  <a:pt x="98" y="9"/>
                </a:lnTo>
                <a:lnTo>
                  <a:pt x="114" y="12"/>
                </a:lnTo>
                <a:lnTo>
                  <a:pt x="131" y="15"/>
                </a:lnTo>
                <a:lnTo>
                  <a:pt x="147" y="18"/>
                </a:lnTo>
                <a:lnTo>
                  <a:pt x="164" y="21"/>
                </a:lnTo>
                <a:lnTo>
                  <a:pt x="180" y="24"/>
                </a:lnTo>
                <a:lnTo>
                  <a:pt x="196" y="28"/>
                </a:lnTo>
                <a:lnTo>
                  <a:pt x="213" y="31"/>
                </a:lnTo>
                <a:lnTo>
                  <a:pt x="229" y="35"/>
                </a:lnTo>
                <a:lnTo>
                  <a:pt x="246" y="38"/>
                </a:lnTo>
                <a:lnTo>
                  <a:pt x="262" y="41"/>
                </a:lnTo>
                <a:lnTo>
                  <a:pt x="278" y="44"/>
                </a:lnTo>
                <a:lnTo>
                  <a:pt x="295" y="47"/>
                </a:lnTo>
                <a:lnTo>
                  <a:pt x="311" y="49"/>
                </a:lnTo>
                <a:lnTo>
                  <a:pt x="327" y="51"/>
                </a:lnTo>
                <a:lnTo>
                  <a:pt x="344" y="53"/>
                </a:lnTo>
                <a:lnTo>
                  <a:pt x="360" y="54"/>
                </a:lnTo>
                <a:lnTo>
                  <a:pt x="377" y="55"/>
                </a:lnTo>
                <a:lnTo>
                  <a:pt x="393" y="56"/>
                </a:lnTo>
                <a:lnTo>
                  <a:pt x="393" y="61"/>
                </a:lnTo>
                <a:lnTo>
                  <a:pt x="377" y="61"/>
                </a:lnTo>
                <a:lnTo>
                  <a:pt x="360" y="60"/>
                </a:lnTo>
                <a:lnTo>
                  <a:pt x="344" y="59"/>
                </a:lnTo>
                <a:lnTo>
                  <a:pt x="327" y="57"/>
                </a:lnTo>
                <a:lnTo>
                  <a:pt x="311" y="55"/>
                </a:lnTo>
                <a:lnTo>
                  <a:pt x="295" y="52"/>
                </a:lnTo>
                <a:lnTo>
                  <a:pt x="278" y="50"/>
                </a:lnTo>
                <a:lnTo>
                  <a:pt x="262" y="47"/>
                </a:lnTo>
                <a:lnTo>
                  <a:pt x="246" y="43"/>
                </a:lnTo>
                <a:lnTo>
                  <a:pt x="229" y="40"/>
                </a:lnTo>
                <a:lnTo>
                  <a:pt x="213" y="37"/>
                </a:lnTo>
                <a:lnTo>
                  <a:pt x="196" y="33"/>
                </a:lnTo>
                <a:lnTo>
                  <a:pt x="180" y="30"/>
                </a:lnTo>
                <a:lnTo>
                  <a:pt x="164" y="26"/>
                </a:lnTo>
                <a:lnTo>
                  <a:pt x="147" y="23"/>
                </a:lnTo>
                <a:lnTo>
                  <a:pt x="131" y="20"/>
                </a:lnTo>
                <a:lnTo>
                  <a:pt x="114" y="17"/>
                </a:lnTo>
                <a:lnTo>
                  <a:pt x="98" y="14"/>
                </a:lnTo>
                <a:lnTo>
                  <a:pt x="82" y="12"/>
                </a:lnTo>
                <a:lnTo>
                  <a:pt x="65" y="10"/>
                </a:lnTo>
                <a:lnTo>
                  <a:pt x="49" y="8"/>
                </a:lnTo>
                <a:lnTo>
                  <a:pt x="33" y="7"/>
                </a:lnTo>
                <a:lnTo>
                  <a:pt x="16" y="6"/>
                </a:lnTo>
                <a:lnTo>
                  <a:pt x="0" y="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2057400" y="4857750"/>
            <a:ext cx="3743325" cy="838200"/>
          </a:xfrm>
          <a:custGeom>
            <a:avLst/>
            <a:gdLst/>
            <a:ahLst/>
            <a:cxnLst/>
            <a:rect l="l" t="t" r="r" b="b"/>
            <a:pathLst>
              <a:path w="393" h="88">
                <a:moveTo>
                  <a:pt x="0" y="0"/>
                </a:moveTo>
                <a:lnTo>
                  <a:pt x="16" y="0"/>
                </a:lnTo>
                <a:lnTo>
                  <a:pt x="33" y="1"/>
                </a:lnTo>
                <a:lnTo>
                  <a:pt x="49" y="3"/>
                </a:lnTo>
                <a:lnTo>
                  <a:pt x="65" y="6"/>
                </a:lnTo>
                <a:lnTo>
                  <a:pt x="82" y="9"/>
                </a:lnTo>
                <a:lnTo>
                  <a:pt x="98" y="13"/>
                </a:lnTo>
                <a:lnTo>
                  <a:pt x="114" y="17"/>
                </a:lnTo>
                <a:lnTo>
                  <a:pt x="131" y="22"/>
                </a:lnTo>
                <a:lnTo>
                  <a:pt x="147" y="27"/>
                </a:lnTo>
                <a:lnTo>
                  <a:pt x="164" y="32"/>
                </a:lnTo>
                <a:lnTo>
                  <a:pt x="180" y="37"/>
                </a:lnTo>
                <a:lnTo>
                  <a:pt x="196" y="42"/>
                </a:lnTo>
                <a:lnTo>
                  <a:pt x="213" y="48"/>
                </a:lnTo>
                <a:lnTo>
                  <a:pt x="229" y="53"/>
                </a:lnTo>
                <a:lnTo>
                  <a:pt x="246" y="58"/>
                </a:lnTo>
                <a:lnTo>
                  <a:pt x="262" y="63"/>
                </a:lnTo>
                <a:lnTo>
                  <a:pt x="278" y="67"/>
                </a:lnTo>
                <a:lnTo>
                  <a:pt x="295" y="72"/>
                </a:lnTo>
                <a:lnTo>
                  <a:pt x="311" y="75"/>
                </a:lnTo>
                <a:lnTo>
                  <a:pt x="327" y="79"/>
                </a:lnTo>
                <a:lnTo>
                  <a:pt x="344" y="81"/>
                </a:lnTo>
                <a:lnTo>
                  <a:pt x="360" y="83"/>
                </a:lnTo>
                <a:lnTo>
                  <a:pt x="377" y="85"/>
                </a:lnTo>
                <a:lnTo>
                  <a:pt x="393" y="85"/>
                </a:lnTo>
                <a:lnTo>
                  <a:pt x="393" y="88"/>
                </a:lnTo>
                <a:lnTo>
                  <a:pt x="377" y="88"/>
                </a:lnTo>
                <a:lnTo>
                  <a:pt x="360" y="87"/>
                </a:lnTo>
                <a:lnTo>
                  <a:pt x="344" y="85"/>
                </a:lnTo>
                <a:lnTo>
                  <a:pt x="327" y="82"/>
                </a:lnTo>
                <a:lnTo>
                  <a:pt x="311" y="79"/>
                </a:lnTo>
                <a:lnTo>
                  <a:pt x="295" y="75"/>
                </a:lnTo>
                <a:lnTo>
                  <a:pt x="278" y="71"/>
                </a:lnTo>
                <a:lnTo>
                  <a:pt x="262" y="66"/>
                </a:lnTo>
                <a:lnTo>
                  <a:pt x="246" y="61"/>
                </a:lnTo>
                <a:lnTo>
                  <a:pt x="229" y="56"/>
                </a:lnTo>
                <a:lnTo>
                  <a:pt x="213" y="51"/>
                </a:lnTo>
                <a:lnTo>
                  <a:pt x="196" y="46"/>
                </a:lnTo>
                <a:lnTo>
                  <a:pt x="180" y="40"/>
                </a:lnTo>
                <a:lnTo>
                  <a:pt x="164" y="35"/>
                </a:lnTo>
                <a:lnTo>
                  <a:pt x="147" y="30"/>
                </a:lnTo>
                <a:lnTo>
                  <a:pt x="131" y="25"/>
                </a:lnTo>
                <a:lnTo>
                  <a:pt x="114" y="20"/>
                </a:lnTo>
                <a:lnTo>
                  <a:pt x="98" y="16"/>
                </a:lnTo>
                <a:lnTo>
                  <a:pt x="82" y="12"/>
                </a:lnTo>
                <a:lnTo>
                  <a:pt x="65" y="9"/>
                </a:lnTo>
                <a:lnTo>
                  <a:pt x="49" y="7"/>
                </a:lnTo>
                <a:lnTo>
                  <a:pt x="33" y="5"/>
                </a:lnTo>
                <a:lnTo>
                  <a:pt x="16" y="3"/>
                </a:lnTo>
                <a:lnTo>
                  <a:pt x="0" y="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2057400" y="4886325"/>
            <a:ext cx="3743325" cy="1066800"/>
          </a:xfrm>
          <a:custGeom>
            <a:avLst/>
            <a:gdLst/>
            <a:ahLst/>
            <a:cxnLst/>
            <a:rect l="l" t="t" r="r" b="b"/>
            <a:pathLst>
              <a:path w="393" h="112">
                <a:moveTo>
                  <a:pt x="0" y="0"/>
                </a:moveTo>
                <a:lnTo>
                  <a:pt x="16" y="0"/>
                </a:lnTo>
                <a:lnTo>
                  <a:pt x="33" y="2"/>
                </a:lnTo>
                <a:lnTo>
                  <a:pt x="49" y="5"/>
                </a:lnTo>
                <a:lnTo>
                  <a:pt x="65" y="8"/>
                </a:lnTo>
                <a:lnTo>
                  <a:pt x="82" y="12"/>
                </a:lnTo>
                <a:lnTo>
                  <a:pt x="98" y="17"/>
                </a:lnTo>
                <a:lnTo>
                  <a:pt x="114" y="22"/>
                </a:lnTo>
                <a:lnTo>
                  <a:pt x="131" y="28"/>
                </a:lnTo>
                <a:lnTo>
                  <a:pt x="147" y="34"/>
                </a:lnTo>
                <a:lnTo>
                  <a:pt x="164" y="41"/>
                </a:lnTo>
                <a:lnTo>
                  <a:pt x="180" y="48"/>
                </a:lnTo>
                <a:lnTo>
                  <a:pt x="196" y="54"/>
                </a:lnTo>
                <a:lnTo>
                  <a:pt x="213" y="61"/>
                </a:lnTo>
                <a:lnTo>
                  <a:pt x="229" y="68"/>
                </a:lnTo>
                <a:lnTo>
                  <a:pt x="246" y="75"/>
                </a:lnTo>
                <a:lnTo>
                  <a:pt x="262" y="81"/>
                </a:lnTo>
                <a:lnTo>
                  <a:pt x="278" y="87"/>
                </a:lnTo>
                <a:lnTo>
                  <a:pt x="295" y="92"/>
                </a:lnTo>
                <a:lnTo>
                  <a:pt x="311" y="97"/>
                </a:lnTo>
                <a:lnTo>
                  <a:pt x="327" y="101"/>
                </a:lnTo>
                <a:lnTo>
                  <a:pt x="344" y="104"/>
                </a:lnTo>
                <a:lnTo>
                  <a:pt x="360" y="107"/>
                </a:lnTo>
                <a:lnTo>
                  <a:pt x="377" y="109"/>
                </a:lnTo>
                <a:lnTo>
                  <a:pt x="393" y="109"/>
                </a:lnTo>
                <a:lnTo>
                  <a:pt x="393" y="112"/>
                </a:lnTo>
                <a:lnTo>
                  <a:pt x="377" y="111"/>
                </a:lnTo>
                <a:lnTo>
                  <a:pt x="360" y="110"/>
                </a:lnTo>
                <a:lnTo>
                  <a:pt x="344" y="107"/>
                </a:lnTo>
                <a:lnTo>
                  <a:pt x="327" y="104"/>
                </a:lnTo>
                <a:lnTo>
                  <a:pt x="311" y="100"/>
                </a:lnTo>
                <a:lnTo>
                  <a:pt x="295" y="95"/>
                </a:lnTo>
                <a:lnTo>
                  <a:pt x="278" y="89"/>
                </a:lnTo>
                <a:lnTo>
                  <a:pt x="262" y="84"/>
                </a:lnTo>
                <a:lnTo>
                  <a:pt x="246" y="77"/>
                </a:lnTo>
                <a:lnTo>
                  <a:pt x="229" y="71"/>
                </a:lnTo>
                <a:lnTo>
                  <a:pt x="213" y="64"/>
                </a:lnTo>
                <a:lnTo>
                  <a:pt x="196" y="57"/>
                </a:lnTo>
                <a:lnTo>
                  <a:pt x="180" y="50"/>
                </a:lnTo>
                <a:lnTo>
                  <a:pt x="164" y="44"/>
                </a:lnTo>
                <a:lnTo>
                  <a:pt x="147" y="37"/>
                </a:lnTo>
                <a:lnTo>
                  <a:pt x="131" y="31"/>
                </a:lnTo>
                <a:lnTo>
                  <a:pt x="114" y="25"/>
                </a:lnTo>
                <a:lnTo>
                  <a:pt x="98" y="20"/>
                </a:lnTo>
                <a:lnTo>
                  <a:pt x="82" y="15"/>
                </a:lnTo>
                <a:lnTo>
                  <a:pt x="65" y="11"/>
                </a:lnTo>
                <a:lnTo>
                  <a:pt x="49" y="7"/>
                </a:lnTo>
                <a:lnTo>
                  <a:pt x="33" y="5"/>
                </a:lnTo>
                <a:lnTo>
                  <a:pt x="16" y="3"/>
                </a:lnTo>
                <a:lnTo>
                  <a:pt x="0" y="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2057400" y="4914900"/>
            <a:ext cx="3743325" cy="1247775"/>
          </a:xfrm>
          <a:custGeom>
            <a:avLst/>
            <a:gdLst/>
            <a:ahLst/>
            <a:cxnLst/>
            <a:rect l="l" t="t" r="r" b="b"/>
            <a:pathLst>
              <a:path w="393" h="131">
                <a:moveTo>
                  <a:pt x="0" y="0"/>
                </a:moveTo>
                <a:lnTo>
                  <a:pt x="16" y="0"/>
                </a:lnTo>
                <a:lnTo>
                  <a:pt x="33" y="2"/>
                </a:lnTo>
                <a:lnTo>
                  <a:pt x="49" y="5"/>
                </a:lnTo>
                <a:lnTo>
                  <a:pt x="65" y="9"/>
                </a:lnTo>
                <a:lnTo>
                  <a:pt x="82" y="14"/>
                </a:lnTo>
                <a:lnTo>
                  <a:pt x="98" y="20"/>
                </a:lnTo>
                <a:lnTo>
                  <a:pt x="114" y="26"/>
                </a:lnTo>
                <a:lnTo>
                  <a:pt x="131" y="33"/>
                </a:lnTo>
                <a:lnTo>
                  <a:pt x="147" y="41"/>
                </a:lnTo>
                <a:lnTo>
                  <a:pt x="164" y="48"/>
                </a:lnTo>
                <a:lnTo>
                  <a:pt x="180" y="56"/>
                </a:lnTo>
                <a:lnTo>
                  <a:pt x="196" y="64"/>
                </a:lnTo>
                <a:lnTo>
                  <a:pt x="213" y="72"/>
                </a:lnTo>
                <a:lnTo>
                  <a:pt x="229" y="80"/>
                </a:lnTo>
                <a:lnTo>
                  <a:pt x="246" y="88"/>
                </a:lnTo>
                <a:lnTo>
                  <a:pt x="262" y="95"/>
                </a:lnTo>
                <a:lnTo>
                  <a:pt x="278" y="102"/>
                </a:lnTo>
                <a:lnTo>
                  <a:pt x="295" y="109"/>
                </a:lnTo>
                <a:lnTo>
                  <a:pt x="311" y="114"/>
                </a:lnTo>
                <a:lnTo>
                  <a:pt x="327" y="119"/>
                </a:lnTo>
                <a:lnTo>
                  <a:pt x="344" y="123"/>
                </a:lnTo>
                <a:lnTo>
                  <a:pt x="360" y="126"/>
                </a:lnTo>
                <a:lnTo>
                  <a:pt x="377" y="128"/>
                </a:lnTo>
                <a:lnTo>
                  <a:pt x="393" y="129"/>
                </a:lnTo>
                <a:lnTo>
                  <a:pt x="393" y="131"/>
                </a:lnTo>
                <a:lnTo>
                  <a:pt x="377" y="130"/>
                </a:lnTo>
                <a:lnTo>
                  <a:pt x="360" y="129"/>
                </a:lnTo>
                <a:lnTo>
                  <a:pt x="344" y="126"/>
                </a:lnTo>
                <a:lnTo>
                  <a:pt x="327" y="122"/>
                </a:lnTo>
                <a:lnTo>
                  <a:pt x="311" y="117"/>
                </a:lnTo>
                <a:lnTo>
                  <a:pt x="295" y="111"/>
                </a:lnTo>
                <a:lnTo>
                  <a:pt x="278" y="105"/>
                </a:lnTo>
                <a:lnTo>
                  <a:pt x="262" y="98"/>
                </a:lnTo>
                <a:lnTo>
                  <a:pt x="246" y="90"/>
                </a:lnTo>
                <a:lnTo>
                  <a:pt x="229" y="82"/>
                </a:lnTo>
                <a:lnTo>
                  <a:pt x="213" y="75"/>
                </a:lnTo>
                <a:lnTo>
                  <a:pt x="196" y="66"/>
                </a:lnTo>
                <a:lnTo>
                  <a:pt x="180" y="58"/>
                </a:lnTo>
                <a:lnTo>
                  <a:pt x="164" y="50"/>
                </a:lnTo>
                <a:lnTo>
                  <a:pt x="147" y="43"/>
                </a:lnTo>
                <a:lnTo>
                  <a:pt x="131" y="35"/>
                </a:lnTo>
                <a:lnTo>
                  <a:pt x="114" y="28"/>
                </a:lnTo>
                <a:lnTo>
                  <a:pt x="98" y="22"/>
                </a:lnTo>
                <a:lnTo>
                  <a:pt x="82" y="16"/>
                </a:lnTo>
                <a:lnTo>
                  <a:pt x="65" y="11"/>
                </a:lnTo>
                <a:lnTo>
                  <a:pt x="49" y="7"/>
                </a:lnTo>
                <a:lnTo>
                  <a:pt x="33" y="4"/>
                </a:lnTo>
                <a:lnTo>
                  <a:pt x="16" y="2"/>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2057400" y="4933950"/>
            <a:ext cx="3743325" cy="1419225"/>
          </a:xfrm>
          <a:custGeom>
            <a:avLst/>
            <a:gdLst/>
            <a:ahLst/>
            <a:cxnLst/>
            <a:rect l="l" t="t" r="r" b="b"/>
            <a:pathLst>
              <a:path w="393" h="149">
                <a:moveTo>
                  <a:pt x="0" y="0"/>
                </a:moveTo>
                <a:lnTo>
                  <a:pt x="16" y="1"/>
                </a:lnTo>
                <a:lnTo>
                  <a:pt x="33" y="3"/>
                </a:lnTo>
                <a:lnTo>
                  <a:pt x="49" y="6"/>
                </a:lnTo>
                <a:lnTo>
                  <a:pt x="65" y="11"/>
                </a:lnTo>
                <a:lnTo>
                  <a:pt x="82" y="16"/>
                </a:lnTo>
                <a:lnTo>
                  <a:pt x="98" y="23"/>
                </a:lnTo>
                <a:lnTo>
                  <a:pt x="114" y="30"/>
                </a:lnTo>
                <a:lnTo>
                  <a:pt x="131" y="38"/>
                </a:lnTo>
                <a:lnTo>
                  <a:pt x="147" y="46"/>
                </a:lnTo>
                <a:lnTo>
                  <a:pt x="164" y="55"/>
                </a:lnTo>
                <a:lnTo>
                  <a:pt x="180" y="64"/>
                </a:lnTo>
                <a:lnTo>
                  <a:pt x="196" y="73"/>
                </a:lnTo>
                <a:lnTo>
                  <a:pt x="213" y="83"/>
                </a:lnTo>
                <a:lnTo>
                  <a:pt x="229" y="92"/>
                </a:lnTo>
                <a:lnTo>
                  <a:pt x="246" y="100"/>
                </a:lnTo>
                <a:lnTo>
                  <a:pt x="262" y="109"/>
                </a:lnTo>
                <a:lnTo>
                  <a:pt x="278" y="117"/>
                </a:lnTo>
                <a:lnTo>
                  <a:pt x="295" y="124"/>
                </a:lnTo>
                <a:lnTo>
                  <a:pt x="311" y="130"/>
                </a:lnTo>
                <a:lnTo>
                  <a:pt x="327" y="136"/>
                </a:lnTo>
                <a:lnTo>
                  <a:pt x="344" y="141"/>
                </a:lnTo>
                <a:lnTo>
                  <a:pt x="360" y="144"/>
                </a:lnTo>
                <a:lnTo>
                  <a:pt x="377" y="146"/>
                </a:lnTo>
                <a:lnTo>
                  <a:pt x="393" y="147"/>
                </a:lnTo>
                <a:lnTo>
                  <a:pt x="393" y="149"/>
                </a:lnTo>
                <a:lnTo>
                  <a:pt x="377" y="148"/>
                </a:lnTo>
                <a:lnTo>
                  <a:pt x="360" y="146"/>
                </a:lnTo>
                <a:lnTo>
                  <a:pt x="344" y="143"/>
                </a:lnTo>
                <a:lnTo>
                  <a:pt x="327" y="138"/>
                </a:lnTo>
                <a:lnTo>
                  <a:pt x="311" y="132"/>
                </a:lnTo>
                <a:lnTo>
                  <a:pt x="295" y="126"/>
                </a:lnTo>
                <a:lnTo>
                  <a:pt x="278" y="119"/>
                </a:lnTo>
                <a:lnTo>
                  <a:pt x="262" y="111"/>
                </a:lnTo>
                <a:lnTo>
                  <a:pt x="246" y="102"/>
                </a:lnTo>
                <a:lnTo>
                  <a:pt x="229" y="93"/>
                </a:lnTo>
                <a:lnTo>
                  <a:pt x="213" y="84"/>
                </a:lnTo>
                <a:lnTo>
                  <a:pt x="196" y="75"/>
                </a:lnTo>
                <a:lnTo>
                  <a:pt x="180" y="66"/>
                </a:lnTo>
                <a:lnTo>
                  <a:pt x="164" y="57"/>
                </a:lnTo>
                <a:lnTo>
                  <a:pt x="147" y="48"/>
                </a:lnTo>
                <a:lnTo>
                  <a:pt x="131" y="40"/>
                </a:lnTo>
                <a:lnTo>
                  <a:pt x="114" y="32"/>
                </a:lnTo>
                <a:lnTo>
                  <a:pt x="98" y="25"/>
                </a:lnTo>
                <a:lnTo>
                  <a:pt x="82" y="18"/>
                </a:lnTo>
                <a:lnTo>
                  <a:pt x="65" y="13"/>
                </a:lnTo>
                <a:lnTo>
                  <a:pt x="49" y="8"/>
                </a:lnTo>
                <a:lnTo>
                  <a:pt x="33" y="5"/>
                </a:lnTo>
                <a:lnTo>
                  <a:pt x="16" y="2"/>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057400" y="4953000"/>
            <a:ext cx="3743325" cy="1552575"/>
          </a:xfrm>
          <a:custGeom>
            <a:avLst/>
            <a:gdLst/>
            <a:ahLst/>
            <a:cxnLst/>
            <a:rect l="l" t="t" r="r" b="b"/>
            <a:pathLst>
              <a:path w="393" h="163">
                <a:moveTo>
                  <a:pt x="0" y="0"/>
                </a:moveTo>
                <a:lnTo>
                  <a:pt x="16" y="0"/>
                </a:lnTo>
                <a:lnTo>
                  <a:pt x="33" y="3"/>
                </a:lnTo>
                <a:lnTo>
                  <a:pt x="49" y="7"/>
                </a:lnTo>
                <a:lnTo>
                  <a:pt x="65" y="12"/>
                </a:lnTo>
                <a:lnTo>
                  <a:pt x="82" y="18"/>
                </a:lnTo>
                <a:lnTo>
                  <a:pt x="98" y="25"/>
                </a:lnTo>
                <a:lnTo>
                  <a:pt x="114" y="33"/>
                </a:lnTo>
                <a:lnTo>
                  <a:pt x="131" y="42"/>
                </a:lnTo>
                <a:lnTo>
                  <a:pt x="147" y="51"/>
                </a:lnTo>
                <a:lnTo>
                  <a:pt x="164" y="61"/>
                </a:lnTo>
                <a:lnTo>
                  <a:pt x="180" y="71"/>
                </a:lnTo>
                <a:lnTo>
                  <a:pt x="196" y="81"/>
                </a:lnTo>
                <a:lnTo>
                  <a:pt x="213" y="91"/>
                </a:lnTo>
                <a:lnTo>
                  <a:pt x="229" y="101"/>
                </a:lnTo>
                <a:lnTo>
                  <a:pt x="246" y="111"/>
                </a:lnTo>
                <a:lnTo>
                  <a:pt x="262" y="120"/>
                </a:lnTo>
                <a:lnTo>
                  <a:pt x="278" y="129"/>
                </a:lnTo>
                <a:lnTo>
                  <a:pt x="295" y="137"/>
                </a:lnTo>
                <a:lnTo>
                  <a:pt x="311" y="144"/>
                </a:lnTo>
                <a:lnTo>
                  <a:pt x="327" y="150"/>
                </a:lnTo>
                <a:lnTo>
                  <a:pt x="344" y="155"/>
                </a:lnTo>
                <a:lnTo>
                  <a:pt x="360" y="159"/>
                </a:lnTo>
                <a:lnTo>
                  <a:pt x="377" y="161"/>
                </a:lnTo>
                <a:lnTo>
                  <a:pt x="393" y="162"/>
                </a:lnTo>
                <a:lnTo>
                  <a:pt x="393" y="163"/>
                </a:lnTo>
                <a:lnTo>
                  <a:pt x="377" y="163"/>
                </a:lnTo>
                <a:lnTo>
                  <a:pt x="360" y="160"/>
                </a:lnTo>
                <a:lnTo>
                  <a:pt x="344" y="156"/>
                </a:lnTo>
                <a:lnTo>
                  <a:pt x="327" y="151"/>
                </a:lnTo>
                <a:lnTo>
                  <a:pt x="311" y="145"/>
                </a:lnTo>
                <a:lnTo>
                  <a:pt x="295" y="138"/>
                </a:lnTo>
                <a:lnTo>
                  <a:pt x="278" y="130"/>
                </a:lnTo>
                <a:lnTo>
                  <a:pt x="262" y="121"/>
                </a:lnTo>
                <a:lnTo>
                  <a:pt x="246" y="112"/>
                </a:lnTo>
                <a:lnTo>
                  <a:pt x="229" y="102"/>
                </a:lnTo>
                <a:lnTo>
                  <a:pt x="213" y="92"/>
                </a:lnTo>
                <a:lnTo>
                  <a:pt x="196" y="82"/>
                </a:lnTo>
                <a:lnTo>
                  <a:pt x="180" y="72"/>
                </a:lnTo>
                <a:lnTo>
                  <a:pt x="164" y="62"/>
                </a:lnTo>
                <a:lnTo>
                  <a:pt x="147" y="52"/>
                </a:lnTo>
                <a:lnTo>
                  <a:pt x="131" y="43"/>
                </a:lnTo>
                <a:lnTo>
                  <a:pt x="114" y="34"/>
                </a:lnTo>
                <a:lnTo>
                  <a:pt x="98" y="26"/>
                </a:lnTo>
                <a:lnTo>
                  <a:pt x="82" y="19"/>
                </a:lnTo>
                <a:lnTo>
                  <a:pt x="65" y="13"/>
                </a:lnTo>
                <a:lnTo>
                  <a:pt x="49" y="8"/>
                </a:lnTo>
                <a:lnTo>
                  <a:pt x="33" y="4"/>
                </a:lnTo>
                <a:lnTo>
                  <a:pt x="16" y="2"/>
                </a:lnTo>
                <a:lnTo>
                  <a:pt x="0" y="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2057400" y="1933575"/>
            <a:ext cx="3743325" cy="3209925"/>
          </a:xfrm>
          <a:custGeom>
            <a:avLst/>
            <a:gdLst/>
            <a:ahLst/>
            <a:cxnLst/>
            <a:rect l="l" t="t" r="r" b="b"/>
            <a:pathLst>
              <a:path w="393" h="337">
                <a:moveTo>
                  <a:pt x="0" y="324"/>
                </a:moveTo>
                <a:lnTo>
                  <a:pt x="16" y="322"/>
                </a:lnTo>
                <a:lnTo>
                  <a:pt x="33" y="318"/>
                </a:lnTo>
                <a:lnTo>
                  <a:pt x="49" y="310"/>
                </a:lnTo>
                <a:lnTo>
                  <a:pt x="65" y="300"/>
                </a:lnTo>
                <a:lnTo>
                  <a:pt x="82" y="288"/>
                </a:lnTo>
                <a:lnTo>
                  <a:pt x="98" y="273"/>
                </a:lnTo>
                <a:lnTo>
                  <a:pt x="114" y="257"/>
                </a:lnTo>
                <a:lnTo>
                  <a:pt x="131" y="240"/>
                </a:lnTo>
                <a:lnTo>
                  <a:pt x="147" y="222"/>
                </a:lnTo>
                <a:lnTo>
                  <a:pt x="164" y="202"/>
                </a:lnTo>
                <a:lnTo>
                  <a:pt x="180" y="182"/>
                </a:lnTo>
                <a:lnTo>
                  <a:pt x="196" y="162"/>
                </a:lnTo>
                <a:lnTo>
                  <a:pt x="213" y="142"/>
                </a:lnTo>
                <a:lnTo>
                  <a:pt x="229" y="122"/>
                </a:lnTo>
                <a:lnTo>
                  <a:pt x="246" y="103"/>
                </a:lnTo>
                <a:lnTo>
                  <a:pt x="262" y="84"/>
                </a:lnTo>
                <a:lnTo>
                  <a:pt x="278" y="67"/>
                </a:lnTo>
                <a:lnTo>
                  <a:pt x="295" y="51"/>
                </a:lnTo>
                <a:lnTo>
                  <a:pt x="311" y="37"/>
                </a:lnTo>
                <a:lnTo>
                  <a:pt x="327" y="24"/>
                </a:lnTo>
                <a:lnTo>
                  <a:pt x="344" y="14"/>
                </a:lnTo>
                <a:lnTo>
                  <a:pt x="360" y="7"/>
                </a:lnTo>
                <a:lnTo>
                  <a:pt x="377" y="2"/>
                </a:lnTo>
                <a:lnTo>
                  <a:pt x="393" y="0"/>
                </a:lnTo>
                <a:lnTo>
                  <a:pt x="393" y="14"/>
                </a:lnTo>
                <a:lnTo>
                  <a:pt x="377" y="15"/>
                </a:lnTo>
                <a:lnTo>
                  <a:pt x="360" y="20"/>
                </a:lnTo>
                <a:lnTo>
                  <a:pt x="344" y="28"/>
                </a:lnTo>
                <a:lnTo>
                  <a:pt x="327" y="38"/>
                </a:lnTo>
                <a:lnTo>
                  <a:pt x="311" y="50"/>
                </a:lnTo>
                <a:lnTo>
                  <a:pt x="295" y="64"/>
                </a:lnTo>
                <a:lnTo>
                  <a:pt x="278" y="80"/>
                </a:lnTo>
                <a:lnTo>
                  <a:pt x="262" y="98"/>
                </a:lnTo>
                <a:lnTo>
                  <a:pt x="246" y="116"/>
                </a:lnTo>
                <a:lnTo>
                  <a:pt x="229" y="135"/>
                </a:lnTo>
                <a:lnTo>
                  <a:pt x="213" y="155"/>
                </a:lnTo>
                <a:lnTo>
                  <a:pt x="196" y="175"/>
                </a:lnTo>
                <a:lnTo>
                  <a:pt x="180" y="196"/>
                </a:lnTo>
                <a:lnTo>
                  <a:pt x="164" y="216"/>
                </a:lnTo>
                <a:lnTo>
                  <a:pt x="147" y="235"/>
                </a:lnTo>
                <a:lnTo>
                  <a:pt x="131" y="253"/>
                </a:lnTo>
                <a:lnTo>
                  <a:pt x="114" y="271"/>
                </a:lnTo>
                <a:lnTo>
                  <a:pt x="98" y="287"/>
                </a:lnTo>
                <a:lnTo>
                  <a:pt x="82" y="301"/>
                </a:lnTo>
                <a:lnTo>
                  <a:pt x="65" y="313"/>
                </a:lnTo>
                <a:lnTo>
                  <a:pt x="49" y="323"/>
                </a:lnTo>
                <a:lnTo>
                  <a:pt x="33" y="331"/>
                </a:lnTo>
                <a:lnTo>
                  <a:pt x="16" y="336"/>
                </a:lnTo>
                <a:lnTo>
                  <a:pt x="0" y="33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2057400" y="2828925"/>
            <a:ext cx="3743325" cy="2428875"/>
          </a:xfrm>
          <a:custGeom>
            <a:avLst/>
            <a:gdLst/>
            <a:ahLst/>
            <a:cxnLst/>
            <a:rect l="l" t="t" r="r" b="b"/>
            <a:pathLst>
              <a:path w="393" h="255">
                <a:moveTo>
                  <a:pt x="0" y="243"/>
                </a:moveTo>
                <a:lnTo>
                  <a:pt x="16" y="242"/>
                </a:lnTo>
                <a:lnTo>
                  <a:pt x="33" y="238"/>
                </a:lnTo>
                <a:lnTo>
                  <a:pt x="49" y="233"/>
                </a:lnTo>
                <a:lnTo>
                  <a:pt x="65" y="225"/>
                </a:lnTo>
                <a:lnTo>
                  <a:pt x="82" y="216"/>
                </a:lnTo>
                <a:lnTo>
                  <a:pt x="98" y="205"/>
                </a:lnTo>
                <a:lnTo>
                  <a:pt x="114" y="193"/>
                </a:lnTo>
                <a:lnTo>
                  <a:pt x="131" y="180"/>
                </a:lnTo>
                <a:lnTo>
                  <a:pt x="147" y="166"/>
                </a:lnTo>
                <a:lnTo>
                  <a:pt x="164" y="152"/>
                </a:lnTo>
                <a:lnTo>
                  <a:pt x="180" y="137"/>
                </a:lnTo>
                <a:lnTo>
                  <a:pt x="196" y="121"/>
                </a:lnTo>
                <a:lnTo>
                  <a:pt x="213" y="106"/>
                </a:lnTo>
                <a:lnTo>
                  <a:pt x="229" y="91"/>
                </a:lnTo>
                <a:lnTo>
                  <a:pt x="246" y="77"/>
                </a:lnTo>
                <a:lnTo>
                  <a:pt x="262" y="63"/>
                </a:lnTo>
                <a:lnTo>
                  <a:pt x="278" y="50"/>
                </a:lnTo>
                <a:lnTo>
                  <a:pt x="295" y="38"/>
                </a:lnTo>
                <a:lnTo>
                  <a:pt x="311" y="27"/>
                </a:lnTo>
                <a:lnTo>
                  <a:pt x="327" y="18"/>
                </a:lnTo>
                <a:lnTo>
                  <a:pt x="344" y="10"/>
                </a:lnTo>
                <a:lnTo>
                  <a:pt x="360" y="4"/>
                </a:lnTo>
                <a:lnTo>
                  <a:pt x="377" y="1"/>
                </a:lnTo>
                <a:lnTo>
                  <a:pt x="393" y="0"/>
                </a:lnTo>
                <a:lnTo>
                  <a:pt x="393" y="12"/>
                </a:lnTo>
                <a:lnTo>
                  <a:pt x="377" y="13"/>
                </a:lnTo>
                <a:lnTo>
                  <a:pt x="360" y="17"/>
                </a:lnTo>
                <a:lnTo>
                  <a:pt x="344" y="22"/>
                </a:lnTo>
                <a:lnTo>
                  <a:pt x="327" y="30"/>
                </a:lnTo>
                <a:lnTo>
                  <a:pt x="311" y="39"/>
                </a:lnTo>
                <a:lnTo>
                  <a:pt x="295" y="50"/>
                </a:lnTo>
                <a:lnTo>
                  <a:pt x="278" y="62"/>
                </a:lnTo>
                <a:lnTo>
                  <a:pt x="262" y="75"/>
                </a:lnTo>
                <a:lnTo>
                  <a:pt x="246" y="89"/>
                </a:lnTo>
                <a:lnTo>
                  <a:pt x="229" y="103"/>
                </a:lnTo>
                <a:lnTo>
                  <a:pt x="213" y="118"/>
                </a:lnTo>
                <a:lnTo>
                  <a:pt x="196" y="134"/>
                </a:lnTo>
                <a:lnTo>
                  <a:pt x="180" y="149"/>
                </a:lnTo>
                <a:lnTo>
                  <a:pt x="164" y="164"/>
                </a:lnTo>
                <a:lnTo>
                  <a:pt x="147" y="178"/>
                </a:lnTo>
                <a:lnTo>
                  <a:pt x="131" y="192"/>
                </a:lnTo>
                <a:lnTo>
                  <a:pt x="114" y="205"/>
                </a:lnTo>
                <a:lnTo>
                  <a:pt x="98" y="217"/>
                </a:lnTo>
                <a:lnTo>
                  <a:pt x="82" y="228"/>
                </a:lnTo>
                <a:lnTo>
                  <a:pt x="65" y="237"/>
                </a:lnTo>
                <a:lnTo>
                  <a:pt x="49" y="245"/>
                </a:lnTo>
                <a:lnTo>
                  <a:pt x="33" y="251"/>
                </a:lnTo>
                <a:lnTo>
                  <a:pt x="16" y="254"/>
                </a:lnTo>
                <a:lnTo>
                  <a:pt x="0" y="25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057400" y="3476625"/>
            <a:ext cx="3743325" cy="1857375"/>
          </a:xfrm>
          <a:custGeom>
            <a:avLst/>
            <a:gdLst/>
            <a:ahLst/>
            <a:cxnLst/>
            <a:rect l="l" t="t" r="r" b="b"/>
            <a:pathLst>
              <a:path w="393" h="195">
                <a:moveTo>
                  <a:pt x="0" y="187"/>
                </a:moveTo>
                <a:lnTo>
                  <a:pt x="16" y="186"/>
                </a:lnTo>
                <a:lnTo>
                  <a:pt x="33" y="184"/>
                </a:lnTo>
                <a:lnTo>
                  <a:pt x="49" y="179"/>
                </a:lnTo>
                <a:lnTo>
                  <a:pt x="65" y="174"/>
                </a:lnTo>
                <a:lnTo>
                  <a:pt x="82" y="166"/>
                </a:lnTo>
                <a:lnTo>
                  <a:pt x="98" y="158"/>
                </a:lnTo>
                <a:lnTo>
                  <a:pt x="114" y="149"/>
                </a:lnTo>
                <a:lnTo>
                  <a:pt x="131" y="139"/>
                </a:lnTo>
                <a:lnTo>
                  <a:pt x="147" y="128"/>
                </a:lnTo>
                <a:lnTo>
                  <a:pt x="164" y="117"/>
                </a:lnTo>
                <a:lnTo>
                  <a:pt x="180" y="105"/>
                </a:lnTo>
                <a:lnTo>
                  <a:pt x="196" y="94"/>
                </a:lnTo>
                <a:lnTo>
                  <a:pt x="213" y="82"/>
                </a:lnTo>
                <a:lnTo>
                  <a:pt x="229" y="70"/>
                </a:lnTo>
                <a:lnTo>
                  <a:pt x="246" y="59"/>
                </a:lnTo>
                <a:lnTo>
                  <a:pt x="262" y="48"/>
                </a:lnTo>
                <a:lnTo>
                  <a:pt x="278" y="38"/>
                </a:lnTo>
                <a:lnTo>
                  <a:pt x="295" y="29"/>
                </a:lnTo>
                <a:lnTo>
                  <a:pt x="311" y="21"/>
                </a:lnTo>
                <a:lnTo>
                  <a:pt x="327" y="14"/>
                </a:lnTo>
                <a:lnTo>
                  <a:pt x="344" y="8"/>
                </a:lnTo>
                <a:lnTo>
                  <a:pt x="360" y="3"/>
                </a:lnTo>
                <a:lnTo>
                  <a:pt x="377" y="1"/>
                </a:lnTo>
                <a:lnTo>
                  <a:pt x="393" y="0"/>
                </a:lnTo>
                <a:lnTo>
                  <a:pt x="393" y="7"/>
                </a:lnTo>
                <a:lnTo>
                  <a:pt x="377" y="8"/>
                </a:lnTo>
                <a:lnTo>
                  <a:pt x="360" y="11"/>
                </a:lnTo>
                <a:lnTo>
                  <a:pt x="344" y="15"/>
                </a:lnTo>
                <a:lnTo>
                  <a:pt x="327" y="21"/>
                </a:lnTo>
                <a:lnTo>
                  <a:pt x="311" y="28"/>
                </a:lnTo>
                <a:lnTo>
                  <a:pt x="295" y="37"/>
                </a:lnTo>
                <a:lnTo>
                  <a:pt x="278" y="46"/>
                </a:lnTo>
                <a:lnTo>
                  <a:pt x="262" y="56"/>
                </a:lnTo>
                <a:lnTo>
                  <a:pt x="246" y="67"/>
                </a:lnTo>
                <a:lnTo>
                  <a:pt x="229" y="78"/>
                </a:lnTo>
                <a:lnTo>
                  <a:pt x="213" y="89"/>
                </a:lnTo>
                <a:lnTo>
                  <a:pt x="196" y="101"/>
                </a:lnTo>
                <a:lnTo>
                  <a:pt x="180" y="113"/>
                </a:lnTo>
                <a:lnTo>
                  <a:pt x="164" y="124"/>
                </a:lnTo>
                <a:lnTo>
                  <a:pt x="147" y="136"/>
                </a:lnTo>
                <a:lnTo>
                  <a:pt x="131" y="146"/>
                </a:lnTo>
                <a:lnTo>
                  <a:pt x="114" y="156"/>
                </a:lnTo>
                <a:lnTo>
                  <a:pt x="98" y="166"/>
                </a:lnTo>
                <a:lnTo>
                  <a:pt x="82" y="174"/>
                </a:lnTo>
                <a:lnTo>
                  <a:pt x="65" y="181"/>
                </a:lnTo>
                <a:lnTo>
                  <a:pt x="49" y="187"/>
                </a:lnTo>
                <a:lnTo>
                  <a:pt x="33" y="191"/>
                </a:lnTo>
                <a:lnTo>
                  <a:pt x="16" y="194"/>
                </a:lnTo>
                <a:lnTo>
                  <a:pt x="0" y="19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2057400" y="3990975"/>
            <a:ext cx="3743325" cy="1409700"/>
          </a:xfrm>
          <a:custGeom>
            <a:avLst/>
            <a:gdLst/>
            <a:ahLst/>
            <a:cxnLst/>
            <a:rect l="l" t="t" r="r" b="b"/>
            <a:pathLst>
              <a:path w="393" h="148">
                <a:moveTo>
                  <a:pt x="0" y="141"/>
                </a:moveTo>
                <a:lnTo>
                  <a:pt x="16" y="140"/>
                </a:lnTo>
                <a:lnTo>
                  <a:pt x="33" y="138"/>
                </a:lnTo>
                <a:lnTo>
                  <a:pt x="49" y="135"/>
                </a:lnTo>
                <a:lnTo>
                  <a:pt x="65" y="131"/>
                </a:lnTo>
                <a:lnTo>
                  <a:pt x="82" y="125"/>
                </a:lnTo>
                <a:lnTo>
                  <a:pt x="98" y="119"/>
                </a:lnTo>
                <a:lnTo>
                  <a:pt x="114" y="112"/>
                </a:lnTo>
                <a:lnTo>
                  <a:pt x="131" y="105"/>
                </a:lnTo>
                <a:lnTo>
                  <a:pt x="147" y="96"/>
                </a:lnTo>
                <a:lnTo>
                  <a:pt x="164" y="88"/>
                </a:lnTo>
                <a:lnTo>
                  <a:pt x="180" y="79"/>
                </a:lnTo>
                <a:lnTo>
                  <a:pt x="196" y="71"/>
                </a:lnTo>
                <a:lnTo>
                  <a:pt x="213" y="62"/>
                </a:lnTo>
                <a:lnTo>
                  <a:pt x="229" y="53"/>
                </a:lnTo>
                <a:lnTo>
                  <a:pt x="246" y="45"/>
                </a:lnTo>
                <a:lnTo>
                  <a:pt x="262" y="37"/>
                </a:lnTo>
                <a:lnTo>
                  <a:pt x="278" y="29"/>
                </a:lnTo>
                <a:lnTo>
                  <a:pt x="295" y="22"/>
                </a:lnTo>
                <a:lnTo>
                  <a:pt x="311" y="16"/>
                </a:lnTo>
                <a:lnTo>
                  <a:pt x="327" y="11"/>
                </a:lnTo>
                <a:lnTo>
                  <a:pt x="344" y="6"/>
                </a:lnTo>
                <a:lnTo>
                  <a:pt x="360" y="3"/>
                </a:lnTo>
                <a:lnTo>
                  <a:pt x="377" y="1"/>
                </a:lnTo>
                <a:lnTo>
                  <a:pt x="393" y="0"/>
                </a:lnTo>
                <a:lnTo>
                  <a:pt x="393" y="7"/>
                </a:lnTo>
                <a:lnTo>
                  <a:pt x="377" y="8"/>
                </a:lnTo>
                <a:lnTo>
                  <a:pt x="360" y="10"/>
                </a:lnTo>
                <a:lnTo>
                  <a:pt x="344" y="13"/>
                </a:lnTo>
                <a:lnTo>
                  <a:pt x="327" y="18"/>
                </a:lnTo>
                <a:lnTo>
                  <a:pt x="311" y="23"/>
                </a:lnTo>
                <a:lnTo>
                  <a:pt x="295" y="29"/>
                </a:lnTo>
                <a:lnTo>
                  <a:pt x="278" y="36"/>
                </a:lnTo>
                <a:lnTo>
                  <a:pt x="262" y="44"/>
                </a:lnTo>
                <a:lnTo>
                  <a:pt x="246" y="52"/>
                </a:lnTo>
                <a:lnTo>
                  <a:pt x="229" y="60"/>
                </a:lnTo>
                <a:lnTo>
                  <a:pt x="213" y="69"/>
                </a:lnTo>
                <a:lnTo>
                  <a:pt x="196" y="77"/>
                </a:lnTo>
                <a:lnTo>
                  <a:pt x="180" y="86"/>
                </a:lnTo>
                <a:lnTo>
                  <a:pt x="164" y="95"/>
                </a:lnTo>
                <a:lnTo>
                  <a:pt x="147" y="103"/>
                </a:lnTo>
                <a:lnTo>
                  <a:pt x="131" y="111"/>
                </a:lnTo>
                <a:lnTo>
                  <a:pt x="114" y="119"/>
                </a:lnTo>
                <a:lnTo>
                  <a:pt x="98" y="126"/>
                </a:lnTo>
                <a:lnTo>
                  <a:pt x="82" y="132"/>
                </a:lnTo>
                <a:lnTo>
                  <a:pt x="65" y="137"/>
                </a:lnTo>
                <a:lnTo>
                  <a:pt x="49" y="142"/>
                </a:lnTo>
                <a:lnTo>
                  <a:pt x="33" y="145"/>
                </a:lnTo>
                <a:lnTo>
                  <a:pt x="16" y="147"/>
                </a:lnTo>
                <a:lnTo>
                  <a:pt x="0" y="14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2057400" y="4495800"/>
            <a:ext cx="3743325" cy="962025"/>
          </a:xfrm>
          <a:custGeom>
            <a:avLst/>
            <a:gdLst/>
            <a:ahLst/>
            <a:cxnLst/>
            <a:rect l="l" t="t" r="r" b="b"/>
            <a:pathLst>
              <a:path w="393" h="101">
                <a:moveTo>
                  <a:pt x="0" y="95"/>
                </a:moveTo>
                <a:lnTo>
                  <a:pt x="16" y="94"/>
                </a:lnTo>
                <a:lnTo>
                  <a:pt x="33" y="93"/>
                </a:lnTo>
                <a:lnTo>
                  <a:pt x="49" y="91"/>
                </a:lnTo>
                <a:lnTo>
                  <a:pt x="65" y="88"/>
                </a:lnTo>
                <a:lnTo>
                  <a:pt x="82" y="84"/>
                </a:lnTo>
                <a:lnTo>
                  <a:pt x="98" y="80"/>
                </a:lnTo>
                <a:lnTo>
                  <a:pt x="114" y="75"/>
                </a:lnTo>
                <a:lnTo>
                  <a:pt x="131" y="70"/>
                </a:lnTo>
                <a:lnTo>
                  <a:pt x="147" y="65"/>
                </a:lnTo>
                <a:lnTo>
                  <a:pt x="164" y="59"/>
                </a:lnTo>
                <a:lnTo>
                  <a:pt x="180" y="53"/>
                </a:lnTo>
                <a:lnTo>
                  <a:pt x="196" y="47"/>
                </a:lnTo>
                <a:lnTo>
                  <a:pt x="213" y="42"/>
                </a:lnTo>
                <a:lnTo>
                  <a:pt x="229" y="36"/>
                </a:lnTo>
                <a:lnTo>
                  <a:pt x="246" y="30"/>
                </a:lnTo>
                <a:lnTo>
                  <a:pt x="262" y="25"/>
                </a:lnTo>
                <a:lnTo>
                  <a:pt x="278" y="20"/>
                </a:lnTo>
                <a:lnTo>
                  <a:pt x="295" y="15"/>
                </a:lnTo>
                <a:lnTo>
                  <a:pt x="311" y="11"/>
                </a:lnTo>
                <a:lnTo>
                  <a:pt x="327" y="7"/>
                </a:lnTo>
                <a:lnTo>
                  <a:pt x="344" y="4"/>
                </a:lnTo>
                <a:lnTo>
                  <a:pt x="360" y="2"/>
                </a:lnTo>
                <a:lnTo>
                  <a:pt x="377" y="1"/>
                </a:lnTo>
                <a:lnTo>
                  <a:pt x="393" y="0"/>
                </a:lnTo>
                <a:lnTo>
                  <a:pt x="393" y="7"/>
                </a:lnTo>
                <a:lnTo>
                  <a:pt x="377" y="7"/>
                </a:lnTo>
                <a:lnTo>
                  <a:pt x="360" y="9"/>
                </a:lnTo>
                <a:lnTo>
                  <a:pt x="344" y="11"/>
                </a:lnTo>
                <a:lnTo>
                  <a:pt x="327" y="14"/>
                </a:lnTo>
                <a:lnTo>
                  <a:pt x="311" y="17"/>
                </a:lnTo>
                <a:lnTo>
                  <a:pt x="295" y="22"/>
                </a:lnTo>
                <a:lnTo>
                  <a:pt x="278" y="26"/>
                </a:lnTo>
                <a:lnTo>
                  <a:pt x="262" y="31"/>
                </a:lnTo>
                <a:lnTo>
                  <a:pt x="246" y="37"/>
                </a:lnTo>
                <a:lnTo>
                  <a:pt x="229" y="42"/>
                </a:lnTo>
                <a:lnTo>
                  <a:pt x="213" y="48"/>
                </a:lnTo>
                <a:lnTo>
                  <a:pt x="196" y="54"/>
                </a:lnTo>
                <a:lnTo>
                  <a:pt x="180" y="60"/>
                </a:lnTo>
                <a:lnTo>
                  <a:pt x="164" y="66"/>
                </a:lnTo>
                <a:lnTo>
                  <a:pt x="147" y="71"/>
                </a:lnTo>
                <a:lnTo>
                  <a:pt x="131" y="77"/>
                </a:lnTo>
                <a:lnTo>
                  <a:pt x="114" y="82"/>
                </a:lnTo>
                <a:lnTo>
                  <a:pt x="98" y="87"/>
                </a:lnTo>
                <a:lnTo>
                  <a:pt x="82" y="91"/>
                </a:lnTo>
                <a:lnTo>
                  <a:pt x="65" y="94"/>
                </a:lnTo>
                <a:lnTo>
                  <a:pt x="49" y="97"/>
                </a:lnTo>
                <a:lnTo>
                  <a:pt x="33" y="100"/>
                </a:lnTo>
                <a:lnTo>
                  <a:pt x="16" y="101"/>
                </a:lnTo>
                <a:lnTo>
                  <a:pt x="0" y="10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2057400" y="4962525"/>
            <a:ext cx="3743325" cy="552450"/>
          </a:xfrm>
          <a:custGeom>
            <a:avLst/>
            <a:gdLst/>
            <a:ahLst/>
            <a:cxnLst/>
            <a:rect l="l" t="t" r="r" b="b"/>
            <a:pathLst>
              <a:path w="393" h="58">
                <a:moveTo>
                  <a:pt x="0" y="52"/>
                </a:moveTo>
                <a:lnTo>
                  <a:pt x="16" y="52"/>
                </a:lnTo>
                <a:lnTo>
                  <a:pt x="33" y="51"/>
                </a:lnTo>
                <a:lnTo>
                  <a:pt x="49" y="50"/>
                </a:lnTo>
                <a:lnTo>
                  <a:pt x="65" y="48"/>
                </a:lnTo>
                <a:lnTo>
                  <a:pt x="82" y="46"/>
                </a:lnTo>
                <a:lnTo>
                  <a:pt x="98" y="44"/>
                </a:lnTo>
                <a:lnTo>
                  <a:pt x="114" y="41"/>
                </a:lnTo>
                <a:lnTo>
                  <a:pt x="131" y="39"/>
                </a:lnTo>
                <a:lnTo>
                  <a:pt x="147" y="36"/>
                </a:lnTo>
                <a:lnTo>
                  <a:pt x="164" y="32"/>
                </a:lnTo>
                <a:lnTo>
                  <a:pt x="180" y="29"/>
                </a:lnTo>
                <a:lnTo>
                  <a:pt x="196" y="26"/>
                </a:lnTo>
                <a:lnTo>
                  <a:pt x="213" y="23"/>
                </a:lnTo>
                <a:lnTo>
                  <a:pt x="229" y="19"/>
                </a:lnTo>
                <a:lnTo>
                  <a:pt x="246" y="16"/>
                </a:lnTo>
                <a:lnTo>
                  <a:pt x="262" y="13"/>
                </a:lnTo>
                <a:lnTo>
                  <a:pt x="278" y="10"/>
                </a:lnTo>
                <a:lnTo>
                  <a:pt x="295" y="8"/>
                </a:lnTo>
                <a:lnTo>
                  <a:pt x="311" y="5"/>
                </a:lnTo>
                <a:lnTo>
                  <a:pt x="327" y="3"/>
                </a:lnTo>
                <a:lnTo>
                  <a:pt x="344" y="2"/>
                </a:lnTo>
                <a:lnTo>
                  <a:pt x="360" y="1"/>
                </a:lnTo>
                <a:lnTo>
                  <a:pt x="377" y="0"/>
                </a:lnTo>
                <a:lnTo>
                  <a:pt x="393" y="0"/>
                </a:lnTo>
                <a:lnTo>
                  <a:pt x="393" y="5"/>
                </a:lnTo>
                <a:lnTo>
                  <a:pt x="377" y="6"/>
                </a:lnTo>
                <a:lnTo>
                  <a:pt x="360" y="6"/>
                </a:lnTo>
                <a:lnTo>
                  <a:pt x="344" y="8"/>
                </a:lnTo>
                <a:lnTo>
                  <a:pt x="327" y="9"/>
                </a:lnTo>
                <a:lnTo>
                  <a:pt x="311" y="11"/>
                </a:lnTo>
                <a:lnTo>
                  <a:pt x="295" y="14"/>
                </a:lnTo>
                <a:lnTo>
                  <a:pt x="278" y="16"/>
                </a:lnTo>
                <a:lnTo>
                  <a:pt x="262" y="19"/>
                </a:lnTo>
                <a:lnTo>
                  <a:pt x="246" y="22"/>
                </a:lnTo>
                <a:lnTo>
                  <a:pt x="229" y="25"/>
                </a:lnTo>
                <a:lnTo>
                  <a:pt x="213" y="28"/>
                </a:lnTo>
                <a:lnTo>
                  <a:pt x="196" y="32"/>
                </a:lnTo>
                <a:lnTo>
                  <a:pt x="180" y="35"/>
                </a:lnTo>
                <a:lnTo>
                  <a:pt x="164" y="38"/>
                </a:lnTo>
                <a:lnTo>
                  <a:pt x="147" y="41"/>
                </a:lnTo>
                <a:lnTo>
                  <a:pt x="131" y="44"/>
                </a:lnTo>
                <a:lnTo>
                  <a:pt x="114" y="47"/>
                </a:lnTo>
                <a:lnTo>
                  <a:pt x="98" y="50"/>
                </a:lnTo>
                <a:lnTo>
                  <a:pt x="82" y="52"/>
                </a:lnTo>
                <a:lnTo>
                  <a:pt x="65" y="54"/>
                </a:lnTo>
                <a:lnTo>
                  <a:pt x="49" y="56"/>
                </a:lnTo>
                <a:lnTo>
                  <a:pt x="33" y="57"/>
                </a:lnTo>
                <a:lnTo>
                  <a:pt x="16" y="58"/>
                </a:lnTo>
                <a:lnTo>
                  <a:pt x="0" y="5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2057400" y="5381625"/>
            <a:ext cx="3743325" cy="190500"/>
          </a:xfrm>
          <a:custGeom>
            <a:avLst/>
            <a:gdLst/>
            <a:ahLst/>
            <a:cxnLst/>
            <a:rect l="l" t="t" r="r" b="b"/>
            <a:pathLst>
              <a:path w="393" h="20">
                <a:moveTo>
                  <a:pt x="0" y="14"/>
                </a:moveTo>
                <a:lnTo>
                  <a:pt x="16" y="14"/>
                </a:lnTo>
                <a:lnTo>
                  <a:pt x="33" y="14"/>
                </a:lnTo>
                <a:lnTo>
                  <a:pt x="49" y="14"/>
                </a:lnTo>
                <a:lnTo>
                  <a:pt x="65" y="13"/>
                </a:lnTo>
                <a:lnTo>
                  <a:pt x="82" y="13"/>
                </a:lnTo>
                <a:lnTo>
                  <a:pt x="98" y="12"/>
                </a:lnTo>
                <a:lnTo>
                  <a:pt x="114" y="11"/>
                </a:lnTo>
                <a:lnTo>
                  <a:pt x="131" y="10"/>
                </a:lnTo>
                <a:lnTo>
                  <a:pt x="147" y="10"/>
                </a:lnTo>
                <a:lnTo>
                  <a:pt x="164" y="9"/>
                </a:lnTo>
                <a:lnTo>
                  <a:pt x="180" y="8"/>
                </a:lnTo>
                <a:lnTo>
                  <a:pt x="196" y="7"/>
                </a:lnTo>
                <a:lnTo>
                  <a:pt x="213" y="6"/>
                </a:lnTo>
                <a:lnTo>
                  <a:pt x="229" y="5"/>
                </a:lnTo>
                <a:lnTo>
                  <a:pt x="246" y="4"/>
                </a:lnTo>
                <a:lnTo>
                  <a:pt x="262" y="4"/>
                </a:lnTo>
                <a:lnTo>
                  <a:pt x="278" y="3"/>
                </a:lnTo>
                <a:lnTo>
                  <a:pt x="295" y="2"/>
                </a:lnTo>
                <a:lnTo>
                  <a:pt x="311" y="1"/>
                </a:lnTo>
                <a:lnTo>
                  <a:pt x="327" y="1"/>
                </a:lnTo>
                <a:lnTo>
                  <a:pt x="344" y="1"/>
                </a:lnTo>
                <a:lnTo>
                  <a:pt x="360" y="0"/>
                </a:lnTo>
                <a:lnTo>
                  <a:pt x="377" y="0"/>
                </a:lnTo>
                <a:lnTo>
                  <a:pt x="393" y="0"/>
                </a:lnTo>
                <a:lnTo>
                  <a:pt x="393" y="5"/>
                </a:lnTo>
                <a:lnTo>
                  <a:pt x="377" y="5"/>
                </a:lnTo>
                <a:lnTo>
                  <a:pt x="360" y="6"/>
                </a:lnTo>
                <a:lnTo>
                  <a:pt x="344" y="6"/>
                </a:lnTo>
                <a:lnTo>
                  <a:pt x="327" y="6"/>
                </a:lnTo>
                <a:lnTo>
                  <a:pt x="311" y="7"/>
                </a:lnTo>
                <a:lnTo>
                  <a:pt x="295" y="7"/>
                </a:lnTo>
                <a:lnTo>
                  <a:pt x="278" y="8"/>
                </a:lnTo>
                <a:lnTo>
                  <a:pt x="262" y="9"/>
                </a:lnTo>
                <a:lnTo>
                  <a:pt x="246" y="10"/>
                </a:lnTo>
                <a:lnTo>
                  <a:pt x="229" y="11"/>
                </a:lnTo>
                <a:lnTo>
                  <a:pt x="213" y="11"/>
                </a:lnTo>
                <a:lnTo>
                  <a:pt x="196" y="12"/>
                </a:lnTo>
                <a:lnTo>
                  <a:pt x="180" y="13"/>
                </a:lnTo>
                <a:lnTo>
                  <a:pt x="164" y="14"/>
                </a:lnTo>
                <a:lnTo>
                  <a:pt x="147" y="15"/>
                </a:lnTo>
                <a:lnTo>
                  <a:pt x="131" y="16"/>
                </a:lnTo>
                <a:lnTo>
                  <a:pt x="114" y="17"/>
                </a:lnTo>
                <a:lnTo>
                  <a:pt x="98" y="17"/>
                </a:lnTo>
                <a:lnTo>
                  <a:pt x="82" y="18"/>
                </a:lnTo>
                <a:lnTo>
                  <a:pt x="65" y="18"/>
                </a:lnTo>
                <a:lnTo>
                  <a:pt x="49" y="19"/>
                </a:lnTo>
                <a:lnTo>
                  <a:pt x="33" y="19"/>
                </a:lnTo>
                <a:lnTo>
                  <a:pt x="16" y="19"/>
                </a:lnTo>
                <a:lnTo>
                  <a:pt x="0" y="2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2057400" y="5572125"/>
            <a:ext cx="3743325" cy="161925"/>
          </a:xfrm>
          <a:custGeom>
            <a:avLst/>
            <a:gdLst/>
            <a:ahLst/>
            <a:cxnLst/>
            <a:rect l="l" t="t" r="r" b="b"/>
            <a:pathLst>
              <a:path w="393" h="17">
                <a:moveTo>
                  <a:pt x="0" y="0"/>
                </a:moveTo>
                <a:lnTo>
                  <a:pt x="16" y="0"/>
                </a:lnTo>
                <a:lnTo>
                  <a:pt x="33" y="0"/>
                </a:lnTo>
                <a:lnTo>
                  <a:pt x="49" y="0"/>
                </a:lnTo>
                <a:lnTo>
                  <a:pt x="65" y="1"/>
                </a:lnTo>
                <a:lnTo>
                  <a:pt x="82" y="1"/>
                </a:lnTo>
                <a:lnTo>
                  <a:pt x="98" y="2"/>
                </a:lnTo>
                <a:lnTo>
                  <a:pt x="114" y="2"/>
                </a:lnTo>
                <a:lnTo>
                  <a:pt x="131" y="3"/>
                </a:lnTo>
                <a:lnTo>
                  <a:pt x="147" y="4"/>
                </a:lnTo>
                <a:lnTo>
                  <a:pt x="164" y="5"/>
                </a:lnTo>
                <a:lnTo>
                  <a:pt x="180" y="6"/>
                </a:lnTo>
                <a:lnTo>
                  <a:pt x="196" y="6"/>
                </a:lnTo>
                <a:lnTo>
                  <a:pt x="213" y="7"/>
                </a:lnTo>
                <a:lnTo>
                  <a:pt x="229" y="8"/>
                </a:lnTo>
                <a:lnTo>
                  <a:pt x="246" y="9"/>
                </a:lnTo>
                <a:lnTo>
                  <a:pt x="262" y="10"/>
                </a:lnTo>
                <a:lnTo>
                  <a:pt x="278" y="11"/>
                </a:lnTo>
                <a:lnTo>
                  <a:pt x="295" y="11"/>
                </a:lnTo>
                <a:lnTo>
                  <a:pt x="311" y="12"/>
                </a:lnTo>
                <a:lnTo>
                  <a:pt x="327" y="12"/>
                </a:lnTo>
                <a:lnTo>
                  <a:pt x="344" y="13"/>
                </a:lnTo>
                <a:lnTo>
                  <a:pt x="360" y="13"/>
                </a:lnTo>
                <a:lnTo>
                  <a:pt x="377" y="13"/>
                </a:lnTo>
                <a:lnTo>
                  <a:pt x="393" y="13"/>
                </a:lnTo>
                <a:lnTo>
                  <a:pt x="393" y="17"/>
                </a:lnTo>
                <a:lnTo>
                  <a:pt x="377" y="17"/>
                </a:lnTo>
                <a:lnTo>
                  <a:pt x="360" y="17"/>
                </a:lnTo>
                <a:lnTo>
                  <a:pt x="344" y="16"/>
                </a:lnTo>
                <a:lnTo>
                  <a:pt x="327" y="16"/>
                </a:lnTo>
                <a:lnTo>
                  <a:pt x="311" y="15"/>
                </a:lnTo>
                <a:lnTo>
                  <a:pt x="295" y="15"/>
                </a:lnTo>
                <a:lnTo>
                  <a:pt x="278" y="14"/>
                </a:lnTo>
                <a:lnTo>
                  <a:pt x="262" y="13"/>
                </a:lnTo>
                <a:lnTo>
                  <a:pt x="246" y="12"/>
                </a:lnTo>
                <a:lnTo>
                  <a:pt x="229" y="12"/>
                </a:lnTo>
                <a:lnTo>
                  <a:pt x="213" y="11"/>
                </a:lnTo>
                <a:lnTo>
                  <a:pt x="196" y="10"/>
                </a:lnTo>
                <a:lnTo>
                  <a:pt x="180" y="9"/>
                </a:lnTo>
                <a:lnTo>
                  <a:pt x="164" y="8"/>
                </a:lnTo>
                <a:lnTo>
                  <a:pt x="147" y="7"/>
                </a:lnTo>
                <a:lnTo>
                  <a:pt x="131" y="6"/>
                </a:lnTo>
                <a:lnTo>
                  <a:pt x="114" y="6"/>
                </a:lnTo>
                <a:lnTo>
                  <a:pt x="98" y="5"/>
                </a:lnTo>
                <a:lnTo>
                  <a:pt x="82" y="4"/>
                </a:lnTo>
                <a:lnTo>
                  <a:pt x="65" y="4"/>
                </a:lnTo>
                <a:lnTo>
                  <a:pt x="49" y="3"/>
                </a:lnTo>
                <a:lnTo>
                  <a:pt x="33" y="3"/>
                </a:lnTo>
                <a:lnTo>
                  <a:pt x="16" y="3"/>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2057400" y="5600700"/>
            <a:ext cx="3743325" cy="381000"/>
          </a:xfrm>
          <a:custGeom>
            <a:avLst/>
            <a:gdLst/>
            <a:ahLst/>
            <a:cxnLst/>
            <a:rect l="l" t="t" r="r" b="b"/>
            <a:pathLst>
              <a:path w="393" h="40">
                <a:moveTo>
                  <a:pt x="0" y="0"/>
                </a:moveTo>
                <a:lnTo>
                  <a:pt x="16" y="0"/>
                </a:lnTo>
                <a:lnTo>
                  <a:pt x="33" y="1"/>
                </a:lnTo>
                <a:lnTo>
                  <a:pt x="49" y="1"/>
                </a:lnTo>
                <a:lnTo>
                  <a:pt x="65" y="3"/>
                </a:lnTo>
                <a:lnTo>
                  <a:pt x="82" y="4"/>
                </a:lnTo>
                <a:lnTo>
                  <a:pt x="98" y="6"/>
                </a:lnTo>
                <a:lnTo>
                  <a:pt x="114" y="7"/>
                </a:lnTo>
                <a:lnTo>
                  <a:pt x="131" y="9"/>
                </a:lnTo>
                <a:lnTo>
                  <a:pt x="147" y="12"/>
                </a:lnTo>
                <a:lnTo>
                  <a:pt x="164" y="14"/>
                </a:lnTo>
                <a:lnTo>
                  <a:pt x="180" y="16"/>
                </a:lnTo>
                <a:lnTo>
                  <a:pt x="196" y="18"/>
                </a:lnTo>
                <a:lnTo>
                  <a:pt x="213" y="21"/>
                </a:lnTo>
                <a:lnTo>
                  <a:pt x="229" y="23"/>
                </a:lnTo>
                <a:lnTo>
                  <a:pt x="246" y="25"/>
                </a:lnTo>
                <a:lnTo>
                  <a:pt x="262" y="27"/>
                </a:lnTo>
                <a:lnTo>
                  <a:pt x="278" y="29"/>
                </a:lnTo>
                <a:lnTo>
                  <a:pt x="295" y="31"/>
                </a:lnTo>
                <a:lnTo>
                  <a:pt x="311" y="33"/>
                </a:lnTo>
                <a:lnTo>
                  <a:pt x="327" y="34"/>
                </a:lnTo>
                <a:lnTo>
                  <a:pt x="344" y="35"/>
                </a:lnTo>
                <a:lnTo>
                  <a:pt x="360" y="36"/>
                </a:lnTo>
                <a:lnTo>
                  <a:pt x="377" y="37"/>
                </a:lnTo>
                <a:lnTo>
                  <a:pt x="393" y="37"/>
                </a:lnTo>
                <a:lnTo>
                  <a:pt x="393" y="40"/>
                </a:lnTo>
                <a:lnTo>
                  <a:pt x="377" y="39"/>
                </a:lnTo>
                <a:lnTo>
                  <a:pt x="360" y="39"/>
                </a:lnTo>
                <a:lnTo>
                  <a:pt x="344" y="38"/>
                </a:lnTo>
                <a:lnTo>
                  <a:pt x="327" y="37"/>
                </a:lnTo>
                <a:lnTo>
                  <a:pt x="311" y="35"/>
                </a:lnTo>
                <a:lnTo>
                  <a:pt x="295" y="34"/>
                </a:lnTo>
                <a:lnTo>
                  <a:pt x="278" y="32"/>
                </a:lnTo>
                <a:lnTo>
                  <a:pt x="262" y="30"/>
                </a:lnTo>
                <a:lnTo>
                  <a:pt x="246" y="28"/>
                </a:lnTo>
                <a:lnTo>
                  <a:pt x="229" y="26"/>
                </a:lnTo>
                <a:lnTo>
                  <a:pt x="213" y="23"/>
                </a:lnTo>
                <a:lnTo>
                  <a:pt x="196" y="21"/>
                </a:lnTo>
                <a:lnTo>
                  <a:pt x="180" y="19"/>
                </a:lnTo>
                <a:lnTo>
                  <a:pt x="164" y="17"/>
                </a:lnTo>
                <a:lnTo>
                  <a:pt x="147" y="14"/>
                </a:lnTo>
                <a:lnTo>
                  <a:pt x="131" y="12"/>
                </a:lnTo>
                <a:lnTo>
                  <a:pt x="114" y="10"/>
                </a:lnTo>
                <a:lnTo>
                  <a:pt x="98" y="8"/>
                </a:lnTo>
                <a:lnTo>
                  <a:pt x="82" y="7"/>
                </a:lnTo>
                <a:lnTo>
                  <a:pt x="65" y="5"/>
                </a:lnTo>
                <a:lnTo>
                  <a:pt x="49" y="4"/>
                </a:lnTo>
                <a:lnTo>
                  <a:pt x="33" y="3"/>
                </a:lnTo>
                <a:lnTo>
                  <a:pt x="16" y="3"/>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2057400" y="5629275"/>
            <a:ext cx="3743325" cy="552450"/>
          </a:xfrm>
          <a:custGeom>
            <a:avLst/>
            <a:gdLst/>
            <a:ahLst/>
            <a:cxnLst/>
            <a:rect l="l" t="t" r="r" b="b"/>
            <a:pathLst>
              <a:path w="393" h="58">
                <a:moveTo>
                  <a:pt x="0" y="0"/>
                </a:moveTo>
                <a:lnTo>
                  <a:pt x="16" y="0"/>
                </a:lnTo>
                <a:lnTo>
                  <a:pt x="33" y="1"/>
                </a:lnTo>
                <a:lnTo>
                  <a:pt x="49" y="2"/>
                </a:lnTo>
                <a:lnTo>
                  <a:pt x="65" y="4"/>
                </a:lnTo>
                <a:lnTo>
                  <a:pt x="82" y="6"/>
                </a:lnTo>
                <a:lnTo>
                  <a:pt x="98" y="8"/>
                </a:lnTo>
                <a:lnTo>
                  <a:pt x="114" y="11"/>
                </a:lnTo>
                <a:lnTo>
                  <a:pt x="131" y="14"/>
                </a:lnTo>
                <a:lnTo>
                  <a:pt x="147" y="17"/>
                </a:lnTo>
                <a:lnTo>
                  <a:pt x="164" y="21"/>
                </a:lnTo>
                <a:lnTo>
                  <a:pt x="180" y="24"/>
                </a:lnTo>
                <a:lnTo>
                  <a:pt x="196" y="28"/>
                </a:lnTo>
                <a:lnTo>
                  <a:pt x="213" y="31"/>
                </a:lnTo>
                <a:lnTo>
                  <a:pt x="229" y="35"/>
                </a:lnTo>
                <a:lnTo>
                  <a:pt x="246" y="38"/>
                </a:lnTo>
                <a:lnTo>
                  <a:pt x="262" y="41"/>
                </a:lnTo>
                <a:lnTo>
                  <a:pt x="278" y="45"/>
                </a:lnTo>
                <a:lnTo>
                  <a:pt x="295" y="47"/>
                </a:lnTo>
                <a:lnTo>
                  <a:pt x="311" y="50"/>
                </a:lnTo>
                <a:lnTo>
                  <a:pt x="327" y="52"/>
                </a:lnTo>
                <a:lnTo>
                  <a:pt x="344" y="54"/>
                </a:lnTo>
                <a:lnTo>
                  <a:pt x="360" y="55"/>
                </a:lnTo>
                <a:lnTo>
                  <a:pt x="377" y="56"/>
                </a:lnTo>
                <a:lnTo>
                  <a:pt x="393" y="56"/>
                </a:lnTo>
                <a:lnTo>
                  <a:pt x="393" y="58"/>
                </a:lnTo>
                <a:lnTo>
                  <a:pt x="377" y="58"/>
                </a:lnTo>
                <a:lnTo>
                  <a:pt x="360" y="57"/>
                </a:lnTo>
                <a:lnTo>
                  <a:pt x="344" y="56"/>
                </a:lnTo>
                <a:lnTo>
                  <a:pt x="327" y="54"/>
                </a:lnTo>
                <a:lnTo>
                  <a:pt x="311" y="52"/>
                </a:lnTo>
                <a:lnTo>
                  <a:pt x="295" y="49"/>
                </a:lnTo>
                <a:lnTo>
                  <a:pt x="278" y="47"/>
                </a:lnTo>
                <a:lnTo>
                  <a:pt x="262" y="44"/>
                </a:lnTo>
                <a:lnTo>
                  <a:pt x="246" y="40"/>
                </a:lnTo>
                <a:lnTo>
                  <a:pt x="229" y="37"/>
                </a:lnTo>
                <a:lnTo>
                  <a:pt x="213" y="34"/>
                </a:lnTo>
                <a:lnTo>
                  <a:pt x="196" y="30"/>
                </a:lnTo>
                <a:lnTo>
                  <a:pt x="180" y="27"/>
                </a:lnTo>
                <a:lnTo>
                  <a:pt x="164" y="23"/>
                </a:lnTo>
                <a:lnTo>
                  <a:pt x="147" y="20"/>
                </a:lnTo>
                <a:lnTo>
                  <a:pt x="131" y="16"/>
                </a:lnTo>
                <a:lnTo>
                  <a:pt x="114" y="13"/>
                </a:lnTo>
                <a:lnTo>
                  <a:pt x="98" y="11"/>
                </a:lnTo>
                <a:lnTo>
                  <a:pt x="82" y="8"/>
                </a:lnTo>
                <a:lnTo>
                  <a:pt x="65" y="6"/>
                </a:lnTo>
                <a:lnTo>
                  <a:pt x="49" y="4"/>
                </a:lnTo>
                <a:lnTo>
                  <a:pt x="33" y="3"/>
                </a:lnTo>
                <a:lnTo>
                  <a:pt x="16" y="2"/>
                </a:lnTo>
                <a:lnTo>
                  <a:pt x="0" y="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057400" y="5648325"/>
            <a:ext cx="3743325" cy="723900"/>
          </a:xfrm>
          <a:custGeom>
            <a:avLst/>
            <a:gdLst/>
            <a:ahLst/>
            <a:cxnLst/>
            <a:rect l="l" t="t" r="r" b="b"/>
            <a:pathLst>
              <a:path w="393" h="76">
                <a:moveTo>
                  <a:pt x="0" y="0"/>
                </a:moveTo>
                <a:lnTo>
                  <a:pt x="16" y="0"/>
                </a:lnTo>
                <a:lnTo>
                  <a:pt x="33" y="1"/>
                </a:lnTo>
                <a:lnTo>
                  <a:pt x="49" y="3"/>
                </a:lnTo>
                <a:lnTo>
                  <a:pt x="65" y="5"/>
                </a:lnTo>
                <a:lnTo>
                  <a:pt x="82" y="8"/>
                </a:lnTo>
                <a:lnTo>
                  <a:pt x="98" y="11"/>
                </a:lnTo>
                <a:lnTo>
                  <a:pt x="114" y="15"/>
                </a:lnTo>
                <a:lnTo>
                  <a:pt x="131" y="19"/>
                </a:lnTo>
                <a:lnTo>
                  <a:pt x="147" y="23"/>
                </a:lnTo>
                <a:lnTo>
                  <a:pt x="164" y="28"/>
                </a:lnTo>
                <a:lnTo>
                  <a:pt x="180" y="32"/>
                </a:lnTo>
                <a:lnTo>
                  <a:pt x="196" y="37"/>
                </a:lnTo>
                <a:lnTo>
                  <a:pt x="213" y="41"/>
                </a:lnTo>
                <a:lnTo>
                  <a:pt x="229" y="46"/>
                </a:lnTo>
                <a:lnTo>
                  <a:pt x="246" y="50"/>
                </a:lnTo>
                <a:lnTo>
                  <a:pt x="262" y="55"/>
                </a:lnTo>
                <a:lnTo>
                  <a:pt x="278" y="59"/>
                </a:lnTo>
                <a:lnTo>
                  <a:pt x="295" y="62"/>
                </a:lnTo>
                <a:lnTo>
                  <a:pt x="311" y="66"/>
                </a:lnTo>
                <a:lnTo>
                  <a:pt x="327" y="68"/>
                </a:lnTo>
                <a:lnTo>
                  <a:pt x="344" y="71"/>
                </a:lnTo>
                <a:lnTo>
                  <a:pt x="360" y="72"/>
                </a:lnTo>
                <a:lnTo>
                  <a:pt x="377" y="73"/>
                </a:lnTo>
                <a:lnTo>
                  <a:pt x="393" y="74"/>
                </a:lnTo>
                <a:lnTo>
                  <a:pt x="393" y="76"/>
                </a:lnTo>
                <a:lnTo>
                  <a:pt x="377" y="75"/>
                </a:lnTo>
                <a:lnTo>
                  <a:pt x="360" y="74"/>
                </a:lnTo>
                <a:lnTo>
                  <a:pt x="344" y="73"/>
                </a:lnTo>
                <a:lnTo>
                  <a:pt x="327" y="70"/>
                </a:lnTo>
                <a:lnTo>
                  <a:pt x="311" y="67"/>
                </a:lnTo>
                <a:lnTo>
                  <a:pt x="295" y="64"/>
                </a:lnTo>
                <a:lnTo>
                  <a:pt x="278" y="61"/>
                </a:lnTo>
                <a:lnTo>
                  <a:pt x="262" y="57"/>
                </a:lnTo>
                <a:lnTo>
                  <a:pt x="246" y="52"/>
                </a:lnTo>
                <a:lnTo>
                  <a:pt x="229" y="48"/>
                </a:lnTo>
                <a:lnTo>
                  <a:pt x="213" y="43"/>
                </a:lnTo>
                <a:lnTo>
                  <a:pt x="196" y="39"/>
                </a:lnTo>
                <a:lnTo>
                  <a:pt x="180" y="34"/>
                </a:lnTo>
                <a:lnTo>
                  <a:pt x="164" y="30"/>
                </a:lnTo>
                <a:lnTo>
                  <a:pt x="147" y="25"/>
                </a:lnTo>
                <a:lnTo>
                  <a:pt x="131" y="21"/>
                </a:lnTo>
                <a:lnTo>
                  <a:pt x="114" y="17"/>
                </a:lnTo>
                <a:lnTo>
                  <a:pt x="98" y="13"/>
                </a:lnTo>
                <a:lnTo>
                  <a:pt x="82" y="10"/>
                </a:lnTo>
                <a:lnTo>
                  <a:pt x="65" y="7"/>
                </a:lnTo>
                <a:lnTo>
                  <a:pt x="49" y="5"/>
                </a:lnTo>
                <a:lnTo>
                  <a:pt x="33" y="3"/>
                </a:lnTo>
                <a:lnTo>
                  <a:pt x="16" y="2"/>
                </a:lnTo>
                <a:lnTo>
                  <a:pt x="0" y="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2057400" y="5667375"/>
            <a:ext cx="3743325" cy="857250"/>
          </a:xfrm>
          <a:custGeom>
            <a:avLst/>
            <a:gdLst/>
            <a:ahLst/>
            <a:cxnLst/>
            <a:rect l="l" t="t" r="r" b="b"/>
            <a:pathLst>
              <a:path w="393" h="90">
                <a:moveTo>
                  <a:pt x="0" y="0"/>
                </a:moveTo>
                <a:lnTo>
                  <a:pt x="16" y="0"/>
                </a:lnTo>
                <a:lnTo>
                  <a:pt x="33" y="1"/>
                </a:lnTo>
                <a:lnTo>
                  <a:pt x="49" y="3"/>
                </a:lnTo>
                <a:lnTo>
                  <a:pt x="65" y="6"/>
                </a:lnTo>
                <a:lnTo>
                  <a:pt x="82" y="10"/>
                </a:lnTo>
                <a:lnTo>
                  <a:pt x="98" y="14"/>
                </a:lnTo>
                <a:lnTo>
                  <a:pt x="114" y="18"/>
                </a:lnTo>
                <a:lnTo>
                  <a:pt x="131" y="23"/>
                </a:lnTo>
                <a:lnTo>
                  <a:pt x="147" y="28"/>
                </a:lnTo>
                <a:lnTo>
                  <a:pt x="164" y="33"/>
                </a:lnTo>
                <a:lnTo>
                  <a:pt x="180" y="38"/>
                </a:lnTo>
                <a:lnTo>
                  <a:pt x="196" y="44"/>
                </a:lnTo>
                <a:lnTo>
                  <a:pt x="213" y="50"/>
                </a:lnTo>
                <a:lnTo>
                  <a:pt x="229" y="55"/>
                </a:lnTo>
                <a:lnTo>
                  <a:pt x="246" y="60"/>
                </a:lnTo>
                <a:lnTo>
                  <a:pt x="262" y="65"/>
                </a:lnTo>
                <a:lnTo>
                  <a:pt x="278" y="70"/>
                </a:lnTo>
                <a:lnTo>
                  <a:pt x="295" y="74"/>
                </a:lnTo>
                <a:lnTo>
                  <a:pt x="311" y="78"/>
                </a:lnTo>
                <a:lnTo>
                  <a:pt x="327" y="82"/>
                </a:lnTo>
                <a:lnTo>
                  <a:pt x="344" y="85"/>
                </a:lnTo>
                <a:lnTo>
                  <a:pt x="360" y="87"/>
                </a:lnTo>
                <a:lnTo>
                  <a:pt x="377" y="88"/>
                </a:lnTo>
                <a:lnTo>
                  <a:pt x="393" y="88"/>
                </a:lnTo>
                <a:lnTo>
                  <a:pt x="393" y="90"/>
                </a:lnTo>
                <a:lnTo>
                  <a:pt x="377" y="89"/>
                </a:lnTo>
                <a:lnTo>
                  <a:pt x="360" y="88"/>
                </a:lnTo>
                <a:lnTo>
                  <a:pt x="344" y="86"/>
                </a:lnTo>
                <a:lnTo>
                  <a:pt x="327" y="83"/>
                </a:lnTo>
                <a:lnTo>
                  <a:pt x="311" y="80"/>
                </a:lnTo>
                <a:lnTo>
                  <a:pt x="295" y="76"/>
                </a:lnTo>
                <a:lnTo>
                  <a:pt x="278" y="71"/>
                </a:lnTo>
                <a:lnTo>
                  <a:pt x="262" y="67"/>
                </a:lnTo>
                <a:lnTo>
                  <a:pt x="246" y="62"/>
                </a:lnTo>
                <a:lnTo>
                  <a:pt x="229" y="56"/>
                </a:lnTo>
                <a:lnTo>
                  <a:pt x="213" y="51"/>
                </a:lnTo>
                <a:lnTo>
                  <a:pt x="196" y="45"/>
                </a:lnTo>
                <a:lnTo>
                  <a:pt x="180" y="40"/>
                </a:lnTo>
                <a:lnTo>
                  <a:pt x="164" y="34"/>
                </a:lnTo>
                <a:lnTo>
                  <a:pt x="147" y="29"/>
                </a:lnTo>
                <a:lnTo>
                  <a:pt x="131" y="24"/>
                </a:lnTo>
                <a:lnTo>
                  <a:pt x="114" y="19"/>
                </a:lnTo>
                <a:lnTo>
                  <a:pt x="98" y="15"/>
                </a:lnTo>
                <a:lnTo>
                  <a:pt x="82" y="11"/>
                </a:lnTo>
                <a:lnTo>
                  <a:pt x="65" y="8"/>
                </a:lnTo>
                <a:lnTo>
                  <a:pt x="49" y="5"/>
                </a:lnTo>
                <a:lnTo>
                  <a:pt x="33" y="3"/>
                </a:lnTo>
                <a:lnTo>
                  <a:pt x="16" y="1"/>
                </a:lnTo>
                <a:lnTo>
                  <a:pt x="0" y="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2057400" y="2066925"/>
            <a:ext cx="3743325" cy="3790950"/>
          </a:xfrm>
          <a:custGeom>
            <a:avLst/>
            <a:gdLst/>
            <a:ahLst/>
            <a:cxnLst/>
            <a:rect l="l" t="t" r="r" b="b"/>
            <a:pathLst>
              <a:path w="393" h="398">
                <a:moveTo>
                  <a:pt x="0" y="385"/>
                </a:moveTo>
                <a:lnTo>
                  <a:pt x="16" y="383"/>
                </a:lnTo>
                <a:lnTo>
                  <a:pt x="33" y="377"/>
                </a:lnTo>
                <a:lnTo>
                  <a:pt x="49" y="368"/>
                </a:lnTo>
                <a:lnTo>
                  <a:pt x="65" y="356"/>
                </a:lnTo>
                <a:lnTo>
                  <a:pt x="82" y="342"/>
                </a:lnTo>
                <a:lnTo>
                  <a:pt x="98" y="325"/>
                </a:lnTo>
                <a:lnTo>
                  <a:pt x="114" y="306"/>
                </a:lnTo>
                <a:lnTo>
                  <a:pt x="131" y="285"/>
                </a:lnTo>
                <a:lnTo>
                  <a:pt x="147" y="263"/>
                </a:lnTo>
                <a:lnTo>
                  <a:pt x="164" y="240"/>
                </a:lnTo>
                <a:lnTo>
                  <a:pt x="180" y="216"/>
                </a:lnTo>
                <a:lnTo>
                  <a:pt x="196" y="192"/>
                </a:lnTo>
                <a:lnTo>
                  <a:pt x="213" y="168"/>
                </a:lnTo>
                <a:lnTo>
                  <a:pt x="229" y="145"/>
                </a:lnTo>
                <a:lnTo>
                  <a:pt x="246" y="122"/>
                </a:lnTo>
                <a:lnTo>
                  <a:pt x="262" y="100"/>
                </a:lnTo>
                <a:lnTo>
                  <a:pt x="278" y="79"/>
                </a:lnTo>
                <a:lnTo>
                  <a:pt x="295" y="60"/>
                </a:lnTo>
                <a:lnTo>
                  <a:pt x="311" y="43"/>
                </a:lnTo>
                <a:lnTo>
                  <a:pt x="327" y="28"/>
                </a:lnTo>
                <a:lnTo>
                  <a:pt x="344" y="16"/>
                </a:lnTo>
                <a:lnTo>
                  <a:pt x="360" y="7"/>
                </a:lnTo>
                <a:lnTo>
                  <a:pt x="377" y="2"/>
                </a:lnTo>
                <a:lnTo>
                  <a:pt x="393" y="0"/>
                </a:lnTo>
                <a:lnTo>
                  <a:pt x="393" y="13"/>
                </a:lnTo>
                <a:lnTo>
                  <a:pt x="377" y="15"/>
                </a:lnTo>
                <a:lnTo>
                  <a:pt x="360" y="21"/>
                </a:lnTo>
                <a:lnTo>
                  <a:pt x="344" y="29"/>
                </a:lnTo>
                <a:lnTo>
                  <a:pt x="327" y="41"/>
                </a:lnTo>
                <a:lnTo>
                  <a:pt x="311" y="56"/>
                </a:lnTo>
                <a:lnTo>
                  <a:pt x="295" y="73"/>
                </a:lnTo>
                <a:lnTo>
                  <a:pt x="278" y="92"/>
                </a:lnTo>
                <a:lnTo>
                  <a:pt x="262" y="113"/>
                </a:lnTo>
                <a:lnTo>
                  <a:pt x="246" y="135"/>
                </a:lnTo>
                <a:lnTo>
                  <a:pt x="229" y="158"/>
                </a:lnTo>
                <a:lnTo>
                  <a:pt x="213" y="182"/>
                </a:lnTo>
                <a:lnTo>
                  <a:pt x="196" y="206"/>
                </a:lnTo>
                <a:lnTo>
                  <a:pt x="180" y="230"/>
                </a:lnTo>
                <a:lnTo>
                  <a:pt x="164" y="253"/>
                </a:lnTo>
                <a:lnTo>
                  <a:pt x="147" y="276"/>
                </a:lnTo>
                <a:lnTo>
                  <a:pt x="131" y="298"/>
                </a:lnTo>
                <a:lnTo>
                  <a:pt x="114" y="319"/>
                </a:lnTo>
                <a:lnTo>
                  <a:pt x="98" y="338"/>
                </a:lnTo>
                <a:lnTo>
                  <a:pt x="82" y="355"/>
                </a:lnTo>
                <a:lnTo>
                  <a:pt x="65" y="370"/>
                </a:lnTo>
                <a:lnTo>
                  <a:pt x="49" y="382"/>
                </a:lnTo>
                <a:lnTo>
                  <a:pt x="33" y="391"/>
                </a:lnTo>
                <a:lnTo>
                  <a:pt x="16" y="396"/>
                </a:lnTo>
                <a:lnTo>
                  <a:pt x="0" y="39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057400" y="2943225"/>
            <a:ext cx="3743325" cy="3028950"/>
          </a:xfrm>
          <a:custGeom>
            <a:avLst/>
            <a:gdLst/>
            <a:ahLst/>
            <a:cxnLst/>
            <a:rect l="l" t="t" r="r" b="b"/>
            <a:pathLst>
              <a:path w="393" h="318">
                <a:moveTo>
                  <a:pt x="0" y="306"/>
                </a:moveTo>
                <a:lnTo>
                  <a:pt x="16" y="305"/>
                </a:lnTo>
                <a:lnTo>
                  <a:pt x="33" y="300"/>
                </a:lnTo>
                <a:lnTo>
                  <a:pt x="49" y="293"/>
                </a:lnTo>
                <a:lnTo>
                  <a:pt x="65" y="284"/>
                </a:lnTo>
                <a:lnTo>
                  <a:pt x="82" y="272"/>
                </a:lnTo>
                <a:lnTo>
                  <a:pt x="98" y="258"/>
                </a:lnTo>
                <a:lnTo>
                  <a:pt x="114" y="243"/>
                </a:lnTo>
                <a:lnTo>
                  <a:pt x="131" y="227"/>
                </a:lnTo>
                <a:lnTo>
                  <a:pt x="147" y="209"/>
                </a:lnTo>
                <a:lnTo>
                  <a:pt x="164" y="191"/>
                </a:lnTo>
                <a:lnTo>
                  <a:pt x="180" y="172"/>
                </a:lnTo>
                <a:lnTo>
                  <a:pt x="196" y="153"/>
                </a:lnTo>
                <a:lnTo>
                  <a:pt x="213" y="134"/>
                </a:lnTo>
                <a:lnTo>
                  <a:pt x="229" y="115"/>
                </a:lnTo>
                <a:lnTo>
                  <a:pt x="246" y="97"/>
                </a:lnTo>
                <a:lnTo>
                  <a:pt x="262" y="79"/>
                </a:lnTo>
                <a:lnTo>
                  <a:pt x="278" y="63"/>
                </a:lnTo>
                <a:lnTo>
                  <a:pt x="295" y="48"/>
                </a:lnTo>
                <a:lnTo>
                  <a:pt x="311" y="34"/>
                </a:lnTo>
                <a:lnTo>
                  <a:pt x="327" y="23"/>
                </a:lnTo>
                <a:lnTo>
                  <a:pt x="344" y="13"/>
                </a:lnTo>
                <a:lnTo>
                  <a:pt x="360" y="6"/>
                </a:lnTo>
                <a:lnTo>
                  <a:pt x="377" y="1"/>
                </a:lnTo>
                <a:lnTo>
                  <a:pt x="393" y="0"/>
                </a:lnTo>
                <a:lnTo>
                  <a:pt x="393" y="12"/>
                </a:lnTo>
                <a:lnTo>
                  <a:pt x="377" y="14"/>
                </a:lnTo>
                <a:lnTo>
                  <a:pt x="360" y="18"/>
                </a:lnTo>
                <a:lnTo>
                  <a:pt x="344" y="25"/>
                </a:lnTo>
                <a:lnTo>
                  <a:pt x="327" y="35"/>
                </a:lnTo>
                <a:lnTo>
                  <a:pt x="311" y="46"/>
                </a:lnTo>
                <a:lnTo>
                  <a:pt x="295" y="60"/>
                </a:lnTo>
                <a:lnTo>
                  <a:pt x="278" y="75"/>
                </a:lnTo>
                <a:lnTo>
                  <a:pt x="262" y="91"/>
                </a:lnTo>
                <a:lnTo>
                  <a:pt x="246" y="109"/>
                </a:lnTo>
                <a:lnTo>
                  <a:pt x="229" y="127"/>
                </a:lnTo>
                <a:lnTo>
                  <a:pt x="213" y="146"/>
                </a:lnTo>
                <a:lnTo>
                  <a:pt x="196" y="165"/>
                </a:lnTo>
                <a:lnTo>
                  <a:pt x="180" y="184"/>
                </a:lnTo>
                <a:lnTo>
                  <a:pt x="164" y="203"/>
                </a:lnTo>
                <a:lnTo>
                  <a:pt x="147" y="221"/>
                </a:lnTo>
                <a:lnTo>
                  <a:pt x="131" y="239"/>
                </a:lnTo>
                <a:lnTo>
                  <a:pt x="114" y="255"/>
                </a:lnTo>
                <a:lnTo>
                  <a:pt x="98" y="271"/>
                </a:lnTo>
                <a:lnTo>
                  <a:pt x="82" y="284"/>
                </a:lnTo>
                <a:lnTo>
                  <a:pt x="65" y="296"/>
                </a:lnTo>
                <a:lnTo>
                  <a:pt x="49" y="305"/>
                </a:lnTo>
                <a:lnTo>
                  <a:pt x="33" y="312"/>
                </a:lnTo>
                <a:lnTo>
                  <a:pt x="16" y="317"/>
                </a:lnTo>
                <a:lnTo>
                  <a:pt x="0" y="31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2057400" y="3543300"/>
            <a:ext cx="3743325" cy="2505075"/>
          </a:xfrm>
          <a:custGeom>
            <a:avLst/>
            <a:gdLst/>
            <a:ahLst/>
            <a:cxnLst/>
            <a:rect l="l" t="t" r="r" b="b"/>
            <a:pathLst>
              <a:path w="393" h="263">
                <a:moveTo>
                  <a:pt x="0" y="255"/>
                </a:moveTo>
                <a:lnTo>
                  <a:pt x="16" y="254"/>
                </a:lnTo>
                <a:lnTo>
                  <a:pt x="33" y="250"/>
                </a:lnTo>
                <a:lnTo>
                  <a:pt x="49" y="244"/>
                </a:lnTo>
                <a:lnTo>
                  <a:pt x="65" y="237"/>
                </a:lnTo>
                <a:lnTo>
                  <a:pt x="82" y="227"/>
                </a:lnTo>
                <a:lnTo>
                  <a:pt x="98" y="216"/>
                </a:lnTo>
                <a:lnTo>
                  <a:pt x="114" y="203"/>
                </a:lnTo>
                <a:lnTo>
                  <a:pt x="131" y="189"/>
                </a:lnTo>
                <a:lnTo>
                  <a:pt x="147" y="175"/>
                </a:lnTo>
                <a:lnTo>
                  <a:pt x="164" y="159"/>
                </a:lnTo>
                <a:lnTo>
                  <a:pt x="180" y="144"/>
                </a:lnTo>
                <a:lnTo>
                  <a:pt x="196" y="128"/>
                </a:lnTo>
                <a:lnTo>
                  <a:pt x="213" y="112"/>
                </a:lnTo>
                <a:lnTo>
                  <a:pt x="229" y="96"/>
                </a:lnTo>
                <a:lnTo>
                  <a:pt x="246" y="81"/>
                </a:lnTo>
                <a:lnTo>
                  <a:pt x="262" y="66"/>
                </a:lnTo>
                <a:lnTo>
                  <a:pt x="278" y="53"/>
                </a:lnTo>
                <a:lnTo>
                  <a:pt x="295" y="40"/>
                </a:lnTo>
                <a:lnTo>
                  <a:pt x="311" y="29"/>
                </a:lnTo>
                <a:lnTo>
                  <a:pt x="327" y="19"/>
                </a:lnTo>
                <a:lnTo>
                  <a:pt x="344" y="11"/>
                </a:lnTo>
                <a:lnTo>
                  <a:pt x="360" y="5"/>
                </a:lnTo>
                <a:lnTo>
                  <a:pt x="377" y="1"/>
                </a:lnTo>
                <a:lnTo>
                  <a:pt x="393" y="0"/>
                </a:lnTo>
                <a:lnTo>
                  <a:pt x="393" y="8"/>
                </a:lnTo>
                <a:lnTo>
                  <a:pt x="377" y="9"/>
                </a:lnTo>
                <a:lnTo>
                  <a:pt x="360" y="13"/>
                </a:lnTo>
                <a:lnTo>
                  <a:pt x="344" y="19"/>
                </a:lnTo>
                <a:lnTo>
                  <a:pt x="327" y="27"/>
                </a:lnTo>
                <a:lnTo>
                  <a:pt x="311" y="36"/>
                </a:lnTo>
                <a:lnTo>
                  <a:pt x="295" y="48"/>
                </a:lnTo>
                <a:lnTo>
                  <a:pt x="278" y="60"/>
                </a:lnTo>
                <a:lnTo>
                  <a:pt x="262" y="74"/>
                </a:lnTo>
                <a:lnTo>
                  <a:pt x="246" y="88"/>
                </a:lnTo>
                <a:lnTo>
                  <a:pt x="229" y="104"/>
                </a:lnTo>
                <a:lnTo>
                  <a:pt x="213" y="119"/>
                </a:lnTo>
                <a:lnTo>
                  <a:pt x="196" y="135"/>
                </a:lnTo>
                <a:lnTo>
                  <a:pt x="180" y="151"/>
                </a:lnTo>
                <a:lnTo>
                  <a:pt x="164" y="167"/>
                </a:lnTo>
                <a:lnTo>
                  <a:pt x="147" y="182"/>
                </a:lnTo>
                <a:lnTo>
                  <a:pt x="131" y="197"/>
                </a:lnTo>
                <a:lnTo>
                  <a:pt x="114" y="210"/>
                </a:lnTo>
                <a:lnTo>
                  <a:pt x="98" y="223"/>
                </a:lnTo>
                <a:lnTo>
                  <a:pt x="82" y="234"/>
                </a:lnTo>
                <a:lnTo>
                  <a:pt x="65" y="244"/>
                </a:lnTo>
                <a:lnTo>
                  <a:pt x="49" y="252"/>
                </a:lnTo>
                <a:lnTo>
                  <a:pt x="33" y="258"/>
                </a:lnTo>
                <a:lnTo>
                  <a:pt x="16" y="262"/>
                </a:lnTo>
                <a:lnTo>
                  <a:pt x="0" y="263"/>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057400" y="4057650"/>
            <a:ext cx="3743325" cy="2057400"/>
          </a:xfrm>
          <a:custGeom>
            <a:avLst/>
            <a:gdLst/>
            <a:ahLst/>
            <a:cxnLst/>
            <a:rect l="l" t="t" r="r" b="b"/>
            <a:pathLst>
              <a:path w="393" h="216">
                <a:moveTo>
                  <a:pt x="0" y="209"/>
                </a:moveTo>
                <a:lnTo>
                  <a:pt x="16" y="208"/>
                </a:lnTo>
                <a:lnTo>
                  <a:pt x="33" y="205"/>
                </a:lnTo>
                <a:lnTo>
                  <a:pt x="49" y="200"/>
                </a:lnTo>
                <a:lnTo>
                  <a:pt x="65" y="193"/>
                </a:lnTo>
                <a:lnTo>
                  <a:pt x="82" y="186"/>
                </a:lnTo>
                <a:lnTo>
                  <a:pt x="98" y="176"/>
                </a:lnTo>
                <a:lnTo>
                  <a:pt x="114" y="166"/>
                </a:lnTo>
                <a:lnTo>
                  <a:pt x="131" y="155"/>
                </a:lnTo>
                <a:lnTo>
                  <a:pt x="147" y="143"/>
                </a:lnTo>
                <a:lnTo>
                  <a:pt x="164" y="130"/>
                </a:lnTo>
                <a:lnTo>
                  <a:pt x="180" y="118"/>
                </a:lnTo>
                <a:lnTo>
                  <a:pt x="196" y="105"/>
                </a:lnTo>
                <a:lnTo>
                  <a:pt x="213" y="92"/>
                </a:lnTo>
                <a:lnTo>
                  <a:pt x="229" y="79"/>
                </a:lnTo>
                <a:lnTo>
                  <a:pt x="246" y="66"/>
                </a:lnTo>
                <a:lnTo>
                  <a:pt x="262" y="54"/>
                </a:lnTo>
                <a:lnTo>
                  <a:pt x="278" y="43"/>
                </a:lnTo>
                <a:lnTo>
                  <a:pt x="295" y="33"/>
                </a:lnTo>
                <a:lnTo>
                  <a:pt x="311" y="24"/>
                </a:lnTo>
                <a:lnTo>
                  <a:pt x="327" y="16"/>
                </a:lnTo>
                <a:lnTo>
                  <a:pt x="344" y="9"/>
                </a:lnTo>
                <a:lnTo>
                  <a:pt x="360" y="4"/>
                </a:lnTo>
                <a:lnTo>
                  <a:pt x="377" y="1"/>
                </a:lnTo>
                <a:lnTo>
                  <a:pt x="393" y="0"/>
                </a:lnTo>
                <a:lnTo>
                  <a:pt x="393" y="7"/>
                </a:lnTo>
                <a:lnTo>
                  <a:pt x="377" y="8"/>
                </a:lnTo>
                <a:lnTo>
                  <a:pt x="360" y="11"/>
                </a:lnTo>
                <a:lnTo>
                  <a:pt x="344" y="16"/>
                </a:lnTo>
                <a:lnTo>
                  <a:pt x="327" y="22"/>
                </a:lnTo>
                <a:lnTo>
                  <a:pt x="311" y="30"/>
                </a:lnTo>
                <a:lnTo>
                  <a:pt x="295" y="39"/>
                </a:lnTo>
                <a:lnTo>
                  <a:pt x="278" y="50"/>
                </a:lnTo>
                <a:lnTo>
                  <a:pt x="262" y="61"/>
                </a:lnTo>
                <a:lnTo>
                  <a:pt x="246" y="73"/>
                </a:lnTo>
                <a:lnTo>
                  <a:pt x="229" y="85"/>
                </a:lnTo>
                <a:lnTo>
                  <a:pt x="213" y="98"/>
                </a:lnTo>
                <a:lnTo>
                  <a:pt x="196" y="111"/>
                </a:lnTo>
                <a:lnTo>
                  <a:pt x="180" y="124"/>
                </a:lnTo>
                <a:lnTo>
                  <a:pt x="164" y="137"/>
                </a:lnTo>
                <a:lnTo>
                  <a:pt x="147" y="150"/>
                </a:lnTo>
                <a:lnTo>
                  <a:pt x="131" y="162"/>
                </a:lnTo>
                <a:lnTo>
                  <a:pt x="114" y="173"/>
                </a:lnTo>
                <a:lnTo>
                  <a:pt x="98" y="183"/>
                </a:lnTo>
                <a:lnTo>
                  <a:pt x="82" y="192"/>
                </a:lnTo>
                <a:lnTo>
                  <a:pt x="65" y="200"/>
                </a:lnTo>
                <a:lnTo>
                  <a:pt x="49" y="207"/>
                </a:lnTo>
                <a:lnTo>
                  <a:pt x="33" y="212"/>
                </a:lnTo>
                <a:lnTo>
                  <a:pt x="16" y="215"/>
                </a:lnTo>
                <a:lnTo>
                  <a:pt x="0" y="216"/>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2057400" y="4562475"/>
            <a:ext cx="3743325" cy="1609725"/>
          </a:xfrm>
          <a:custGeom>
            <a:avLst/>
            <a:gdLst/>
            <a:ahLst/>
            <a:cxnLst/>
            <a:rect l="l" t="t" r="r" b="b"/>
            <a:pathLst>
              <a:path w="393" h="169">
                <a:moveTo>
                  <a:pt x="0" y="163"/>
                </a:moveTo>
                <a:lnTo>
                  <a:pt x="16" y="162"/>
                </a:lnTo>
                <a:lnTo>
                  <a:pt x="33" y="159"/>
                </a:lnTo>
                <a:lnTo>
                  <a:pt x="49" y="156"/>
                </a:lnTo>
                <a:lnTo>
                  <a:pt x="65" y="151"/>
                </a:lnTo>
                <a:lnTo>
                  <a:pt x="82" y="144"/>
                </a:lnTo>
                <a:lnTo>
                  <a:pt x="98" y="137"/>
                </a:lnTo>
                <a:lnTo>
                  <a:pt x="114" y="129"/>
                </a:lnTo>
                <a:lnTo>
                  <a:pt x="131" y="120"/>
                </a:lnTo>
                <a:lnTo>
                  <a:pt x="147" y="111"/>
                </a:lnTo>
                <a:lnTo>
                  <a:pt x="164" y="101"/>
                </a:lnTo>
                <a:lnTo>
                  <a:pt x="180" y="91"/>
                </a:lnTo>
                <a:lnTo>
                  <a:pt x="196" y="81"/>
                </a:lnTo>
                <a:lnTo>
                  <a:pt x="213" y="71"/>
                </a:lnTo>
                <a:lnTo>
                  <a:pt x="229" y="61"/>
                </a:lnTo>
                <a:lnTo>
                  <a:pt x="246" y="51"/>
                </a:lnTo>
                <a:lnTo>
                  <a:pt x="262" y="42"/>
                </a:lnTo>
                <a:lnTo>
                  <a:pt x="278" y="33"/>
                </a:lnTo>
                <a:lnTo>
                  <a:pt x="295" y="25"/>
                </a:lnTo>
                <a:lnTo>
                  <a:pt x="311" y="18"/>
                </a:lnTo>
                <a:lnTo>
                  <a:pt x="327" y="12"/>
                </a:lnTo>
                <a:lnTo>
                  <a:pt x="344" y="7"/>
                </a:lnTo>
                <a:lnTo>
                  <a:pt x="360" y="3"/>
                </a:lnTo>
                <a:lnTo>
                  <a:pt x="377" y="1"/>
                </a:lnTo>
                <a:lnTo>
                  <a:pt x="393" y="0"/>
                </a:lnTo>
                <a:lnTo>
                  <a:pt x="393" y="7"/>
                </a:lnTo>
                <a:lnTo>
                  <a:pt x="377" y="7"/>
                </a:lnTo>
                <a:lnTo>
                  <a:pt x="360" y="10"/>
                </a:lnTo>
                <a:lnTo>
                  <a:pt x="344" y="14"/>
                </a:lnTo>
                <a:lnTo>
                  <a:pt x="327" y="19"/>
                </a:lnTo>
                <a:lnTo>
                  <a:pt x="311" y="25"/>
                </a:lnTo>
                <a:lnTo>
                  <a:pt x="295" y="32"/>
                </a:lnTo>
                <a:lnTo>
                  <a:pt x="278" y="40"/>
                </a:lnTo>
                <a:lnTo>
                  <a:pt x="262" y="49"/>
                </a:lnTo>
                <a:lnTo>
                  <a:pt x="246" y="58"/>
                </a:lnTo>
                <a:lnTo>
                  <a:pt x="229" y="68"/>
                </a:lnTo>
                <a:lnTo>
                  <a:pt x="213" y="78"/>
                </a:lnTo>
                <a:lnTo>
                  <a:pt x="196" y="88"/>
                </a:lnTo>
                <a:lnTo>
                  <a:pt x="180" y="98"/>
                </a:lnTo>
                <a:lnTo>
                  <a:pt x="164" y="108"/>
                </a:lnTo>
                <a:lnTo>
                  <a:pt x="147" y="118"/>
                </a:lnTo>
                <a:lnTo>
                  <a:pt x="131" y="127"/>
                </a:lnTo>
                <a:lnTo>
                  <a:pt x="114" y="136"/>
                </a:lnTo>
                <a:lnTo>
                  <a:pt x="98" y="144"/>
                </a:lnTo>
                <a:lnTo>
                  <a:pt x="82" y="151"/>
                </a:lnTo>
                <a:lnTo>
                  <a:pt x="65" y="157"/>
                </a:lnTo>
                <a:lnTo>
                  <a:pt x="49" y="162"/>
                </a:lnTo>
                <a:lnTo>
                  <a:pt x="33" y="166"/>
                </a:lnTo>
                <a:lnTo>
                  <a:pt x="16" y="169"/>
                </a:lnTo>
                <a:lnTo>
                  <a:pt x="0" y="16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2057400" y="5010150"/>
            <a:ext cx="3743325" cy="1219200"/>
          </a:xfrm>
          <a:custGeom>
            <a:avLst/>
            <a:gdLst/>
            <a:ahLst/>
            <a:cxnLst/>
            <a:rect l="l" t="t" r="r" b="b"/>
            <a:pathLst>
              <a:path w="393" h="128">
                <a:moveTo>
                  <a:pt x="0" y="122"/>
                </a:moveTo>
                <a:lnTo>
                  <a:pt x="16" y="122"/>
                </a:lnTo>
                <a:lnTo>
                  <a:pt x="33" y="120"/>
                </a:lnTo>
                <a:lnTo>
                  <a:pt x="49" y="117"/>
                </a:lnTo>
                <a:lnTo>
                  <a:pt x="65" y="113"/>
                </a:lnTo>
                <a:lnTo>
                  <a:pt x="82" y="109"/>
                </a:lnTo>
                <a:lnTo>
                  <a:pt x="98" y="103"/>
                </a:lnTo>
                <a:lnTo>
                  <a:pt x="114" y="97"/>
                </a:lnTo>
                <a:lnTo>
                  <a:pt x="131" y="91"/>
                </a:lnTo>
                <a:lnTo>
                  <a:pt x="147" y="84"/>
                </a:lnTo>
                <a:lnTo>
                  <a:pt x="164" y="76"/>
                </a:lnTo>
                <a:lnTo>
                  <a:pt x="180" y="69"/>
                </a:lnTo>
                <a:lnTo>
                  <a:pt x="196" y="61"/>
                </a:lnTo>
                <a:lnTo>
                  <a:pt x="213" y="54"/>
                </a:lnTo>
                <a:lnTo>
                  <a:pt x="229" y="46"/>
                </a:lnTo>
                <a:lnTo>
                  <a:pt x="246" y="39"/>
                </a:lnTo>
                <a:lnTo>
                  <a:pt x="262" y="32"/>
                </a:lnTo>
                <a:lnTo>
                  <a:pt x="278" y="25"/>
                </a:lnTo>
                <a:lnTo>
                  <a:pt x="295" y="19"/>
                </a:lnTo>
                <a:lnTo>
                  <a:pt x="311" y="14"/>
                </a:lnTo>
                <a:lnTo>
                  <a:pt x="327" y="9"/>
                </a:lnTo>
                <a:lnTo>
                  <a:pt x="344" y="6"/>
                </a:lnTo>
                <a:lnTo>
                  <a:pt x="360" y="3"/>
                </a:lnTo>
                <a:lnTo>
                  <a:pt x="377" y="1"/>
                </a:lnTo>
                <a:lnTo>
                  <a:pt x="393" y="0"/>
                </a:lnTo>
                <a:lnTo>
                  <a:pt x="393" y="6"/>
                </a:lnTo>
                <a:lnTo>
                  <a:pt x="377" y="7"/>
                </a:lnTo>
                <a:lnTo>
                  <a:pt x="360" y="8"/>
                </a:lnTo>
                <a:lnTo>
                  <a:pt x="344" y="11"/>
                </a:lnTo>
                <a:lnTo>
                  <a:pt x="327" y="15"/>
                </a:lnTo>
                <a:lnTo>
                  <a:pt x="311" y="20"/>
                </a:lnTo>
                <a:lnTo>
                  <a:pt x="295" y="25"/>
                </a:lnTo>
                <a:lnTo>
                  <a:pt x="278" y="31"/>
                </a:lnTo>
                <a:lnTo>
                  <a:pt x="262" y="38"/>
                </a:lnTo>
                <a:lnTo>
                  <a:pt x="246" y="45"/>
                </a:lnTo>
                <a:lnTo>
                  <a:pt x="229" y="52"/>
                </a:lnTo>
                <a:lnTo>
                  <a:pt x="213" y="60"/>
                </a:lnTo>
                <a:lnTo>
                  <a:pt x="196" y="67"/>
                </a:lnTo>
                <a:lnTo>
                  <a:pt x="180" y="75"/>
                </a:lnTo>
                <a:lnTo>
                  <a:pt x="164" y="82"/>
                </a:lnTo>
                <a:lnTo>
                  <a:pt x="147" y="90"/>
                </a:lnTo>
                <a:lnTo>
                  <a:pt x="131" y="97"/>
                </a:lnTo>
                <a:lnTo>
                  <a:pt x="114" y="103"/>
                </a:lnTo>
                <a:lnTo>
                  <a:pt x="98" y="109"/>
                </a:lnTo>
                <a:lnTo>
                  <a:pt x="82" y="114"/>
                </a:lnTo>
                <a:lnTo>
                  <a:pt x="65" y="119"/>
                </a:lnTo>
                <a:lnTo>
                  <a:pt x="49" y="123"/>
                </a:lnTo>
                <a:lnTo>
                  <a:pt x="33" y="126"/>
                </a:lnTo>
                <a:lnTo>
                  <a:pt x="16" y="128"/>
                </a:lnTo>
                <a:lnTo>
                  <a:pt x="0" y="12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2057400" y="5429250"/>
            <a:ext cx="3743325" cy="857250"/>
          </a:xfrm>
          <a:custGeom>
            <a:avLst/>
            <a:gdLst/>
            <a:ahLst/>
            <a:cxnLst/>
            <a:rect l="l" t="t" r="r" b="b"/>
            <a:pathLst>
              <a:path w="393" h="90">
                <a:moveTo>
                  <a:pt x="0" y="84"/>
                </a:moveTo>
                <a:lnTo>
                  <a:pt x="16" y="84"/>
                </a:lnTo>
                <a:lnTo>
                  <a:pt x="33" y="83"/>
                </a:lnTo>
                <a:lnTo>
                  <a:pt x="49" y="81"/>
                </a:lnTo>
                <a:lnTo>
                  <a:pt x="65" y="78"/>
                </a:lnTo>
                <a:lnTo>
                  <a:pt x="82" y="75"/>
                </a:lnTo>
                <a:lnTo>
                  <a:pt x="98" y="71"/>
                </a:lnTo>
                <a:lnTo>
                  <a:pt x="114" y="67"/>
                </a:lnTo>
                <a:lnTo>
                  <a:pt x="131" y="62"/>
                </a:lnTo>
                <a:lnTo>
                  <a:pt x="147" y="58"/>
                </a:lnTo>
                <a:lnTo>
                  <a:pt x="164" y="53"/>
                </a:lnTo>
                <a:lnTo>
                  <a:pt x="180" y="47"/>
                </a:lnTo>
                <a:lnTo>
                  <a:pt x="196" y="42"/>
                </a:lnTo>
                <a:lnTo>
                  <a:pt x="213" y="37"/>
                </a:lnTo>
                <a:lnTo>
                  <a:pt x="229" y="32"/>
                </a:lnTo>
                <a:lnTo>
                  <a:pt x="246" y="27"/>
                </a:lnTo>
                <a:lnTo>
                  <a:pt x="262" y="22"/>
                </a:lnTo>
                <a:lnTo>
                  <a:pt x="278" y="18"/>
                </a:lnTo>
                <a:lnTo>
                  <a:pt x="295" y="13"/>
                </a:lnTo>
                <a:lnTo>
                  <a:pt x="311" y="10"/>
                </a:lnTo>
                <a:lnTo>
                  <a:pt x="327" y="6"/>
                </a:lnTo>
                <a:lnTo>
                  <a:pt x="344" y="4"/>
                </a:lnTo>
                <a:lnTo>
                  <a:pt x="360" y="2"/>
                </a:lnTo>
                <a:lnTo>
                  <a:pt x="377" y="1"/>
                </a:lnTo>
                <a:lnTo>
                  <a:pt x="393" y="0"/>
                </a:lnTo>
                <a:lnTo>
                  <a:pt x="393" y="6"/>
                </a:lnTo>
                <a:lnTo>
                  <a:pt x="377" y="6"/>
                </a:lnTo>
                <a:lnTo>
                  <a:pt x="360" y="7"/>
                </a:lnTo>
                <a:lnTo>
                  <a:pt x="344" y="9"/>
                </a:lnTo>
                <a:lnTo>
                  <a:pt x="327" y="12"/>
                </a:lnTo>
                <a:lnTo>
                  <a:pt x="311" y="15"/>
                </a:lnTo>
                <a:lnTo>
                  <a:pt x="295" y="19"/>
                </a:lnTo>
                <a:lnTo>
                  <a:pt x="278" y="23"/>
                </a:lnTo>
                <a:lnTo>
                  <a:pt x="262" y="27"/>
                </a:lnTo>
                <a:lnTo>
                  <a:pt x="246" y="32"/>
                </a:lnTo>
                <a:lnTo>
                  <a:pt x="229" y="37"/>
                </a:lnTo>
                <a:lnTo>
                  <a:pt x="213" y="42"/>
                </a:lnTo>
                <a:lnTo>
                  <a:pt x="196" y="48"/>
                </a:lnTo>
                <a:lnTo>
                  <a:pt x="180" y="53"/>
                </a:lnTo>
                <a:lnTo>
                  <a:pt x="164" y="58"/>
                </a:lnTo>
                <a:lnTo>
                  <a:pt x="147" y="63"/>
                </a:lnTo>
                <a:lnTo>
                  <a:pt x="131" y="68"/>
                </a:lnTo>
                <a:lnTo>
                  <a:pt x="114" y="72"/>
                </a:lnTo>
                <a:lnTo>
                  <a:pt x="98" y="76"/>
                </a:lnTo>
                <a:lnTo>
                  <a:pt x="82" y="80"/>
                </a:lnTo>
                <a:lnTo>
                  <a:pt x="65" y="83"/>
                </a:lnTo>
                <a:lnTo>
                  <a:pt x="49" y="86"/>
                </a:lnTo>
                <a:lnTo>
                  <a:pt x="33" y="88"/>
                </a:lnTo>
                <a:lnTo>
                  <a:pt x="16" y="89"/>
                </a:lnTo>
                <a:lnTo>
                  <a:pt x="0" y="9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2057400" y="5734050"/>
            <a:ext cx="3743325" cy="581025"/>
          </a:xfrm>
          <a:custGeom>
            <a:avLst/>
            <a:gdLst/>
            <a:ahLst/>
            <a:cxnLst/>
            <a:rect l="l" t="t" r="r" b="b"/>
            <a:pathLst>
              <a:path w="393" h="61">
                <a:moveTo>
                  <a:pt x="0" y="58"/>
                </a:moveTo>
                <a:lnTo>
                  <a:pt x="16" y="57"/>
                </a:lnTo>
                <a:lnTo>
                  <a:pt x="33" y="56"/>
                </a:lnTo>
                <a:lnTo>
                  <a:pt x="49" y="55"/>
                </a:lnTo>
                <a:lnTo>
                  <a:pt x="65" y="53"/>
                </a:lnTo>
                <a:lnTo>
                  <a:pt x="82" y="51"/>
                </a:lnTo>
                <a:lnTo>
                  <a:pt x="98" y="49"/>
                </a:lnTo>
                <a:lnTo>
                  <a:pt x="114" y="46"/>
                </a:lnTo>
                <a:lnTo>
                  <a:pt x="131" y="43"/>
                </a:lnTo>
                <a:lnTo>
                  <a:pt x="147" y="39"/>
                </a:lnTo>
                <a:lnTo>
                  <a:pt x="164" y="36"/>
                </a:lnTo>
                <a:lnTo>
                  <a:pt x="180" y="32"/>
                </a:lnTo>
                <a:lnTo>
                  <a:pt x="196" y="29"/>
                </a:lnTo>
                <a:lnTo>
                  <a:pt x="213" y="25"/>
                </a:lnTo>
                <a:lnTo>
                  <a:pt x="229" y="22"/>
                </a:lnTo>
                <a:lnTo>
                  <a:pt x="246" y="18"/>
                </a:lnTo>
                <a:lnTo>
                  <a:pt x="262" y="15"/>
                </a:lnTo>
                <a:lnTo>
                  <a:pt x="278" y="12"/>
                </a:lnTo>
                <a:lnTo>
                  <a:pt x="295" y="9"/>
                </a:lnTo>
                <a:lnTo>
                  <a:pt x="311" y="6"/>
                </a:lnTo>
                <a:lnTo>
                  <a:pt x="327" y="4"/>
                </a:lnTo>
                <a:lnTo>
                  <a:pt x="344" y="2"/>
                </a:lnTo>
                <a:lnTo>
                  <a:pt x="360" y="1"/>
                </a:lnTo>
                <a:lnTo>
                  <a:pt x="377" y="0"/>
                </a:lnTo>
                <a:lnTo>
                  <a:pt x="393" y="0"/>
                </a:lnTo>
                <a:lnTo>
                  <a:pt x="393" y="3"/>
                </a:lnTo>
                <a:lnTo>
                  <a:pt x="377" y="3"/>
                </a:lnTo>
                <a:lnTo>
                  <a:pt x="360" y="4"/>
                </a:lnTo>
                <a:lnTo>
                  <a:pt x="344" y="6"/>
                </a:lnTo>
                <a:lnTo>
                  <a:pt x="327" y="7"/>
                </a:lnTo>
                <a:lnTo>
                  <a:pt x="311" y="10"/>
                </a:lnTo>
                <a:lnTo>
                  <a:pt x="295" y="12"/>
                </a:lnTo>
                <a:lnTo>
                  <a:pt x="278" y="15"/>
                </a:lnTo>
                <a:lnTo>
                  <a:pt x="262" y="18"/>
                </a:lnTo>
                <a:lnTo>
                  <a:pt x="246" y="21"/>
                </a:lnTo>
                <a:lnTo>
                  <a:pt x="229" y="25"/>
                </a:lnTo>
                <a:lnTo>
                  <a:pt x="213" y="28"/>
                </a:lnTo>
                <a:lnTo>
                  <a:pt x="196" y="32"/>
                </a:lnTo>
                <a:lnTo>
                  <a:pt x="180" y="36"/>
                </a:lnTo>
                <a:lnTo>
                  <a:pt x="164" y="39"/>
                </a:lnTo>
                <a:lnTo>
                  <a:pt x="147" y="43"/>
                </a:lnTo>
                <a:lnTo>
                  <a:pt x="131" y="46"/>
                </a:lnTo>
                <a:lnTo>
                  <a:pt x="114" y="49"/>
                </a:lnTo>
                <a:lnTo>
                  <a:pt x="98" y="52"/>
                </a:lnTo>
                <a:lnTo>
                  <a:pt x="82" y="54"/>
                </a:lnTo>
                <a:lnTo>
                  <a:pt x="65" y="57"/>
                </a:lnTo>
                <a:lnTo>
                  <a:pt x="49" y="58"/>
                </a:lnTo>
                <a:lnTo>
                  <a:pt x="33" y="60"/>
                </a:lnTo>
                <a:lnTo>
                  <a:pt x="16" y="61"/>
                </a:lnTo>
                <a:lnTo>
                  <a:pt x="0" y="6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2057400" y="5981700"/>
            <a:ext cx="3743325" cy="361950"/>
          </a:xfrm>
          <a:custGeom>
            <a:avLst/>
            <a:gdLst/>
            <a:ahLst/>
            <a:cxnLst/>
            <a:rect l="l" t="t" r="r" b="b"/>
            <a:pathLst>
              <a:path w="393" h="38">
                <a:moveTo>
                  <a:pt x="0" y="35"/>
                </a:moveTo>
                <a:lnTo>
                  <a:pt x="16" y="35"/>
                </a:lnTo>
                <a:lnTo>
                  <a:pt x="33" y="34"/>
                </a:lnTo>
                <a:lnTo>
                  <a:pt x="49" y="33"/>
                </a:lnTo>
                <a:lnTo>
                  <a:pt x="65" y="32"/>
                </a:lnTo>
                <a:lnTo>
                  <a:pt x="82" y="31"/>
                </a:lnTo>
                <a:lnTo>
                  <a:pt x="98" y="29"/>
                </a:lnTo>
                <a:lnTo>
                  <a:pt x="114" y="28"/>
                </a:lnTo>
                <a:lnTo>
                  <a:pt x="131" y="26"/>
                </a:lnTo>
                <a:lnTo>
                  <a:pt x="147" y="24"/>
                </a:lnTo>
                <a:lnTo>
                  <a:pt x="164" y="22"/>
                </a:lnTo>
                <a:lnTo>
                  <a:pt x="180" y="19"/>
                </a:lnTo>
                <a:lnTo>
                  <a:pt x="196" y="17"/>
                </a:lnTo>
                <a:lnTo>
                  <a:pt x="213" y="15"/>
                </a:lnTo>
                <a:lnTo>
                  <a:pt x="229" y="13"/>
                </a:lnTo>
                <a:lnTo>
                  <a:pt x="246" y="11"/>
                </a:lnTo>
                <a:lnTo>
                  <a:pt x="262" y="9"/>
                </a:lnTo>
                <a:lnTo>
                  <a:pt x="278" y="7"/>
                </a:lnTo>
                <a:lnTo>
                  <a:pt x="295" y="5"/>
                </a:lnTo>
                <a:lnTo>
                  <a:pt x="311" y="4"/>
                </a:lnTo>
                <a:lnTo>
                  <a:pt x="327" y="2"/>
                </a:lnTo>
                <a:lnTo>
                  <a:pt x="344" y="1"/>
                </a:lnTo>
                <a:lnTo>
                  <a:pt x="360" y="0"/>
                </a:lnTo>
                <a:lnTo>
                  <a:pt x="377" y="0"/>
                </a:lnTo>
                <a:lnTo>
                  <a:pt x="393" y="0"/>
                </a:lnTo>
                <a:lnTo>
                  <a:pt x="393" y="2"/>
                </a:lnTo>
                <a:lnTo>
                  <a:pt x="377" y="2"/>
                </a:lnTo>
                <a:lnTo>
                  <a:pt x="360" y="3"/>
                </a:lnTo>
                <a:lnTo>
                  <a:pt x="344" y="4"/>
                </a:lnTo>
                <a:lnTo>
                  <a:pt x="327" y="5"/>
                </a:lnTo>
                <a:lnTo>
                  <a:pt x="311" y="6"/>
                </a:lnTo>
                <a:lnTo>
                  <a:pt x="295" y="8"/>
                </a:lnTo>
                <a:lnTo>
                  <a:pt x="278" y="10"/>
                </a:lnTo>
                <a:lnTo>
                  <a:pt x="262" y="11"/>
                </a:lnTo>
                <a:lnTo>
                  <a:pt x="246" y="13"/>
                </a:lnTo>
                <a:lnTo>
                  <a:pt x="229" y="16"/>
                </a:lnTo>
                <a:lnTo>
                  <a:pt x="213" y="18"/>
                </a:lnTo>
                <a:lnTo>
                  <a:pt x="196" y="20"/>
                </a:lnTo>
                <a:lnTo>
                  <a:pt x="180" y="22"/>
                </a:lnTo>
                <a:lnTo>
                  <a:pt x="164" y="24"/>
                </a:lnTo>
                <a:lnTo>
                  <a:pt x="147" y="26"/>
                </a:lnTo>
                <a:lnTo>
                  <a:pt x="131" y="28"/>
                </a:lnTo>
                <a:lnTo>
                  <a:pt x="114" y="30"/>
                </a:lnTo>
                <a:lnTo>
                  <a:pt x="98" y="32"/>
                </a:lnTo>
                <a:lnTo>
                  <a:pt x="82" y="34"/>
                </a:lnTo>
                <a:lnTo>
                  <a:pt x="65" y="35"/>
                </a:lnTo>
                <a:lnTo>
                  <a:pt x="49" y="36"/>
                </a:lnTo>
                <a:lnTo>
                  <a:pt x="33" y="37"/>
                </a:lnTo>
                <a:lnTo>
                  <a:pt x="16" y="37"/>
                </a:lnTo>
                <a:lnTo>
                  <a:pt x="0" y="3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2057400" y="6181725"/>
            <a:ext cx="3743325" cy="180975"/>
          </a:xfrm>
          <a:custGeom>
            <a:avLst/>
            <a:gdLst/>
            <a:ahLst/>
            <a:cxnLst/>
            <a:rect l="l" t="t" r="r" b="b"/>
            <a:pathLst>
              <a:path w="393" h="19">
                <a:moveTo>
                  <a:pt x="0" y="17"/>
                </a:moveTo>
                <a:lnTo>
                  <a:pt x="16" y="17"/>
                </a:lnTo>
                <a:lnTo>
                  <a:pt x="33" y="16"/>
                </a:lnTo>
                <a:lnTo>
                  <a:pt x="49" y="16"/>
                </a:lnTo>
                <a:lnTo>
                  <a:pt x="65" y="15"/>
                </a:lnTo>
                <a:lnTo>
                  <a:pt x="82" y="15"/>
                </a:lnTo>
                <a:lnTo>
                  <a:pt x="98" y="14"/>
                </a:lnTo>
                <a:lnTo>
                  <a:pt x="114" y="13"/>
                </a:lnTo>
                <a:lnTo>
                  <a:pt x="131" y="12"/>
                </a:lnTo>
                <a:lnTo>
                  <a:pt x="147" y="11"/>
                </a:lnTo>
                <a:lnTo>
                  <a:pt x="164" y="10"/>
                </a:lnTo>
                <a:lnTo>
                  <a:pt x="180" y="9"/>
                </a:lnTo>
                <a:lnTo>
                  <a:pt x="196" y="8"/>
                </a:lnTo>
                <a:lnTo>
                  <a:pt x="213" y="7"/>
                </a:lnTo>
                <a:lnTo>
                  <a:pt x="229" y="6"/>
                </a:lnTo>
                <a:lnTo>
                  <a:pt x="246" y="5"/>
                </a:lnTo>
                <a:lnTo>
                  <a:pt x="262" y="5"/>
                </a:lnTo>
                <a:lnTo>
                  <a:pt x="278" y="4"/>
                </a:lnTo>
                <a:lnTo>
                  <a:pt x="295" y="3"/>
                </a:lnTo>
                <a:lnTo>
                  <a:pt x="311" y="2"/>
                </a:lnTo>
                <a:lnTo>
                  <a:pt x="327" y="2"/>
                </a:lnTo>
                <a:lnTo>
                  <a:pt x="344" y="1"/>
                </a:lnTo>
                <a:lnTo>
                  <a:pt x="360" y="1"/>
                </a:lnTo>
                <a:lnTo>
                  <a:pt x="377" y="0"/>
                </a:lnTo>
                <a:lnTo>
                  <a:pt x="393" y="0"/>
                </a:lnTo>
                <a:lnTo>
                  <a:pt x="393" y="2"/>
                </a:lnTo>
                <a:lnTo>
                  <a:pt x="377" y="3"/>
                </a:lnTo>
                <a:lnTo>
                  <a:pt x="360" y="3"/>
                </a:lnTo>
                <a:lnTo>
                  <a:pt x="344" y="3"/>
                </a:lnTo>
                <a:lnTo>
                  <a:pt x="327" y="4"/>
                </a:lnTo>
                <a:lnTo>
                  <a:pt x="311" y="4"/>
                </a:lnTo>
                <a:lnTo>
                  <a:pt x="295" y="5"/>
                </a:lnTo>
                <a:lnTo>
                  <a:pt x="278" y="6"/>
                </a:lnTo>
                <a:lnTo>
                  <a:pt x="262" y="7"/>
                </a:lnTo>
                <a:lnTo>
                  <a:pt x="246" y="8"/>
                </a:lnTo>
                <a:lnTo>
                  <a:pt x="229" y="9"/>
                </a:lnTo>
                <a:lnTo>
                  <a:pt x="213" y="10"/>
                </a:lnTo>
                <a:lnTo>
                  <a:pt x="196" y="11"/>
                </a:lnTo>
                <a:lnTo>
                  <a:pt x="180" y="12"/>
                </a:lnTo>
                <a:lnTo>
                  <a:pt x="164" y="13"/>
                </a:lnTo>
                <a:lnTo>
                  <a:pt x="147" y="14"/>
                </a:lnTo>
                <a:lnTo>
                  <a:pt x="131" y="15"/>
                </a:lnTo>
                <a:lnTo>
                  <a:pt x="114" y="15"/>
                </a:lnTo>
                <a:lnTo>
                  <a:pt x="98" y="16"/>
                </a:lnTo>
                <a:lnTo>
                  <a:pt x="82" y="17"/>
                </a:lnTo>
                <a:lnTo>
                  <a:pt x="65" y="18"/>
                </a:lnTo>
                <a:lnTo>
                  <a:pt x="49" y="18"/>
                </a:lnTo>
                <a:lnTo>
                  <a:pt x="33" y="18"/>
                </a:lnTo>
                <a:lnTo>
                  <a:pt x="16" y="19"/>
                </a:lnTo>
                <a:lnTo>
                  <a:pt x="0" y="1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2057400" y="6362700"/>
            <a:ext cx="3743325" cy="28575"/>
          </a:xfrm>
          <a:custGeom>
            <a:avLst/>
            <a:gdLst/>
            <a:ahLst/>
            <a:cxnLst/>
            <a:rect l="l" t="t" r="r" b="b"/>
            <a:pathLst>
              <a:path w="393" h="3">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1"/>
                </a:lnTo>
                <a:lnTo>
                  <a:pt x="295" y="1"/>
                </a:lnTo>
                <a:lnTo>
                  <a:pt x="311" y="1"/>
                </a:lnTo>
                <a:lnTo>
                  <a:pt x="327" y="1"/>
                </a:lnTo>
                <a:lnTo>
                  <a:pt x="344" y="1"/>
                </a:lnTo>
                <a:lnTo>
                  <a:pt x="360" y="1"/>
                </a:lnTo>
                <a:lnTo>
                  <a:pt x="377" y="1"/>
                </a:lnTo>
                <a:lnTo>
                  <a:pt x="393" y="1"/>
                </a:lnTo>
                <a:lnTo>
                  <a:pt x="393" y="3"/>
                </a:lnTo>
                <a:lnTo>
                  <a:pt x="377" y="3"/>
                </a:lnTo>
                <a:lnTo>
                  <a:pt x="360" y="3"/>
                </a:lnTo>
                <a:lnTo>
                  <a:pt x="344" y="3"/>
                </a:lnTo>
                <a:lnTo>
                  <a:pt x="327" y="3"/>
                </a:lnTo>
                <a:lnTo>
                  <a:pt x="311" y="3"/>
                </a:lnTo>
                <a:lnTo>
                  <a:pt x="295" y="2"/>
                </a:lnTo>
                <a:lnTo>
                  <a:pt x="278" y="2"/>
                </a:lnTo>
                <a:lnTo>
                  <a:pt x="262" y="2"/>
                </a:lnTo>
                <a:lnTo>
                  <a:pt x="246" y="2"/>
                </a:lnTo>
                <a:lnTo>
                  <a:pt x="229" y="2"/>
                </a:lnTo>
                <a:lnTo>
                  <a:pt x="213" y="2"/>
                </a:lnTo>
                <a:lnTo>
                  <a:pt x="196" y="2"/>
                </a:lnTo>
                <a:lnTo>
                  <a:pt x="180" y="2"/>
                </a:lnTo>
                <a:lnTo>
                  <a:pt x="164" y="2"/>
                </a:lnTo>
                <a:lnTo>
                  <a:pt x="147" y="2"/>
                </a:lnTo>
                <a:lnTo>
                  <a:pt x="131" y="2"/>
                </a:lnTo>
                <a:lnTo>
                  <a:pt x="114" y="2"/>
                </a:lnTo>
                <a:lnTo>
                  <a:pt x="98" y="2"/>
                </a:lnTo>
                <a:lnTo>
                  <a:pt x="82" y="2"/>
                </a:lnTo>
                <a:lnTo>
                  <a:pt x="65" y="2"/>
                </a:lnTo>
                <a:lnTo>
                  <a:pt x="49" y="2"/>
                </a:lnTo>
                <a:lnTo>
                  <a:pt x="33" y="2"/>
                </a:lnTo>
                <a:lnTo>
                  <a:pt x="16" y="2"/>
                </a:lnTo>
                <a:lnTo>
                  <a:pt x="0" y="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2057400" y="6381750"/>
            <a:ext cx="3743325" cy="152400"/>
          </a:xfrm>
          <a:custGeom>
            <a:avLst/>
            <a:gdLst/>
            <a:ahLst/>
            <a:cxnLst/>
            <a:rect l="l" t="t" r="r" b="b"/>
            <a:pathLst>
              <a:path w="393" h="16">
                <a:moveTo>
                  <a:pt x="0" y="0"/>
                </a:moveTo>
                <a:lnTo>
                  <a:pt x="16" y="0"/>
                </a:lnTo>
                <a:lnTo>
                  <a:pt x="33" y="0"/>
                </a:lnTo>
                <a:lnTo>
                  <a:pt x="49" y="0"/>
                </a:lnTo>
                <a:lnTo>
                  <a:pt x="65" y="1"/>
                </a:lnTo>
                <a:lnTo>
                  <a:pt x="82" y="1"/>
                </a:lnTo>
                <a:lnTo>
                  <a:pt x="98" y="2"/>
                </a:lnTo>
                <a:lnTo>
                  <a:pt x="114" y="3"/>
                </a:lnTo>
                <a:lnTo>
                  <a:pt x="131" y="4"/>
                </a:lnTo>
                <a:lnTo>
                  <a:pt x="147" y="4"/>
                </a:lnTo>
                <a:lnTo>
                  <a:pt x="164" y="5"/>
                </a:lnTo>
                <a:lnTo>
                  <a:pt x="180" y="6"/>
                </a:lnTo>
                <a:lnTo>
                  <a:pt x="196" y="7"/>
                </a:lnTo>
                <a:lnTo>
                  <a:pt x="213" y="8"/>
                </a:lnTo>
                <a:lnTo>
                  <a:pt x="229" y="9"/>
                </a:lnTo>
                <a:lnTo>
                  <a:pt x="246" y="10"/>
                </a:lnTo>
                <a:lnTo>
                  <a:pt x="262" y="11"/>
                </a:lnTo>
                <a:lnTo>
                  <a:pt x="278" y="12"/>
                </a:lnTo>
                <a:lnTo>
                  <a:pt x="295" y="12"/>
                </a:lnTo>
                <a:lnTo>
                  <a:pt x="311" y="13"/>
                </a:lnTo>
                <a:lnTo>
                  <a:pt x="327" y="14"/>
                </a:lnTo>
                <a:lnTo>
                  <a:pt x="344" y="14"/>
                </a:lnTo>
                <a:lnTo>
                  <a:pt x="360" y="14"/>
                </a:lnTo>
                <a:lnTo>
                  <a:pt x="377" y="15"/>
                </a:lnTo>
                <a:lnTo>
                  <a:pt x="393" y="15"/>
                </a:lnTo>
                <a:lnTo>
                  <a:pt x="393" y="16"/>
                </a:lnTo>
                <a:lnTo>
                  <a:pt x="377" y="16"/>
                </a:lnTo>
                <a:lnTo>
                  <a:pt x="360" y="16"/>
                </a:lnTo>
                <a:lnTo>
                  <a:pt x="344" y="15"/>
                </a:lnTo>
                <a:lnTo>
                  <a:pt x="327" y="15"/>
                </a:lnTo>
                <a:lnTo>
                  <a:pt x="311" y="14"/>
                </a:lnTo>
                <a:lnTo>
                  <a:pt x="295" y="14"/>
                </a:lnTo>
                <a:lnTo>
                  <a:pt x="278" y="13"/>
                </a:lnTo>
                <a:lnTo>
                  <a:pt x="262" y="12"/>
                </a:lnTo>
                <a:lnTo>
                  <a:pt x="246" y="11"/>
                </a:lnTo>
                <a:lnTo>
                  <a:pt x="229" y="10"/>
                </a:lnTo>
                <a:lnTo>
                  <a:pt x="213" y="9"/>
                </a:lnTo>
                <a:lnTo>
                  <a:pt x="196" y="8"/>
                </a:lnTo>
                <a:lnTo>
                  <a:pt x="180" y="8"/>
                </a:lnTo>
                <a:lnTo>
                  <a:pt x="164" y="7"/>
                </a:lnTo>
                <a:lnTo>
                  <a:pt x="147" y="6"/>
                </a:lnTo>
                <a:lnTo>
                  <a:pt x="131" y="5"/>
                </a:lnTo>
                <a:lnTo>
                  <a:pt x="114" y="4"/>
                </a:lnTo>
                <a:lnTo>
                  <a:pt x="98" y="3"/>
                </a:lnTo>
                <a:lnTo>
                  <a:pt x="82" y="3"/>
                </a:lnTo>
                <a:lnTo>
                  <a:pt x="65" y="2"/>
                </a:lnTo>
                <a:lnTo>
                  <a:pt x="49" y="2"/>
                </a:lnTo>
                <a:lnTo>
                  <a:pt x="33" y="1"/>
                </a:lnTo>
                <a:lnTo>
                  <a:pt x="16" y="1"/>
                </a:lnTo>
                <a:lnTo>
                  <a:pt x="0" y="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941195" y="1447800"/>
            <a:ext cx="114300" cy="6572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941195" y="2162175"/>
            <a:ext cx="114300" cy="6572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941195" y="2876550"/>
            <a:ext cx="114300" cy="6572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941195" y="3590925"/>
            <a:ext cx="114300" cy="6572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941195" y="4305300"/>
            <a:ext cx="114300" cy="6572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41195" y="5019675"/>
            <a:ext cx="114300" cy="6572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941195" y="5734051"/>
            <a:ext cx="114300" cy="65722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800725" y="1304925"/>
            <a:ext cx="114300" cy="88517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800725" y="2247250"/>
            <a:ext cx="114300" cy="80994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5800725" y="3114348"/>
            <a:ext cx="114300" cy="50219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800725" y="3673696"/>
            <a:ext cx="114300" cy="4493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5800725" y="4180215"/>
            <a:ext cx="114300" cy="44468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800725" y="4682049"/>
            <a:ext cx="114300" cy="38603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800725" y="5125231"/>
            <a:ext cx="114300" cy="35751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800725" y="5539899"/>
            <a:ext cx="114300" cy="22453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5800725" y="5821586"/>
            <a:ext cx="114300" cy="18184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5800725" y="6060583"/>
            <a:ext cx="114300" cy="14464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800725" y="6262379"/>
            <a:ext cx="114300" cy="12534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800725" y="6444871"/>
            <a:ext cx="114300" cy="8927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57175" y="17049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6" name="TextBox 115"/>
          <p:cNvSpPr txBox="1"/>
          <p:nvPr/>
        </p:nvSpPr>
        <p:spPr>
          <a:xfrm>
            <a:off x="257175" y="24193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7" name="TextBox 116"/>
          <p:cNvSpPr txBox="1"/>
          <p:nvPr/>
        </p:nvSpPr>
        <p:spPr>
          <a:xfrm>
            <a:off x="257175" y="3081338"/>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8" name="TextBox 117"/>
          <p:cNvSpPr txBox="1"/>
          <p:nvPr/>
        </p:nvSpPr>
        <p:spPr>
          <a:xfrm>
            <a:off x="257175" y="379571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19" name="TextBox 118"/>
          <p:cNvSpPr txBox="1"/>
          <p:nvPr/>
        </p:nvSpPr>
        <p:spPr>
          <a:xfrm>
            <a:off x="257175" y="45624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20" name="TextBox 119"/>
          <p:cNvSpPr txBox="1"/>
          <p:nvPr/>
        </p:nvSpPr>
        <p:spPr>
          <a:xfrm>
            <a:off x="257175" y="522446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21" name="TextBox 120"/>
          <p:cNvSpPr txBox="1"/>
          <p:nvPr/>
        </p:nvSpPr>
        <p:spPr>
          <a:xfrm>
            <a:off x="257175" y="599122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122" name="TextBox 121"/>
          <p:cNvSpPr txBox="1"/>
          <p:nvPr/>
        </p:nvSpPr>
        <p:spPr>
          <a:xfrm>
            <a:off x="5972175" y="167607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3" name="TextBox 122"/>
          <p:cNvSpPr txBox="1"/>
          <p:nvPr/>
        </p:nvSpPr>
        <p:spPr>
          <a:xfrm>
            <a:off x="5972175" y="2580786"/>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4" name="TextBox 123"/>
          <p:cNvSpPr txBox="1"/>
          <p:nvPr/>
        </p:nvSpPr>
        <p:spPr>
          <a:xfrm>
            <a:off x="5972175" y="329400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5" name="TextBox 124"/>
          <p:cNvSpPr txBox="1"/>
          <p:nvPr/>
        </p:nvSpPr>
        <p:spPr>
          <a:xfrm>
            <a:off x="5972175" y="382694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6" name="TextBox 125"/>
          <p:cNvSpPr txBox="1"/>
          <p:nvPr/>
        </p:nvSpPr>
        <p:spPr>
          <a:xfrm>
            <a:off x="5972175" y="433112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7" name="TextBox 126"/>
          <p:cNvSpPr txBox="1"/>
          <p:nvPr/>
        </p:nvSpPr>
        <p:spPr>
          <a:xfrm>
            <a:off x="5972175" y="4803627"/>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8" name="TextBox 127"/>
          <p:cNvSpPr txBox="1"/>
          <p:nvPr/>
        </p:nvSpPr>
        <p:spPr>
          <a:xfrm>
            <a:off x="5972175" y="523255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29" name="TextBox 128"/>
          <p:cNvSpPr txBox="1"/>
          <p:nvPr/>
        </p:nvSpPr>
        <p:spPr>
          <a:xfrm>
            <a:off x="5972175" y="558073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0" name="TextBox 129"/>
          <p:cNvSpPr txBox="1"/>
          <p:nvPr/>
        </p:nvSpPr>
        <p:spPr>
          <a:xfrm>
            <a:off x="5972175" y="5841072"/>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1" name="TextBox 130"/>
          <p:cNvSpPr txBox="1"/>
          <p:nvPr/>
        </p:nvSpPr>
        <p:spPr>
          <a:xfrm>
            <a:off x="5972175" y="606146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2" name="TextBox 131"/>
          <p:cNvSpPr txBox="1"/>
          <p:nvPr/>
        </p:nvSpPr>
        <p:spPr>
          <a:xfrm>
            <a:off x="5972175" y="623887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3" name="TextBox 132"/>
          <p:cNvSpPr txBox="1"/>
          <p:nvPr/>
        </p:nvSpPr>
        <p:spPr>
          <a:xfrm>
            <a:off x="5972175" y="639127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134" name="Rounded Rectangle 133"/>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136" name="Rectangle 135"/>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38" name="TextBox 1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39" name="TextBox 138"/>
          <p:cNvSpPr txBox="1"/>
          <p:nvPr/>
        </p:nvSpPr>
        <p:spPr>
          <a:xfrm>
            <a:off x="756112" y="1716062"/>
            <a:ext cx="1074181" cy="139750"/>
          </a:xfrm>
          <a:prstGeom prst="rect">
            <a:avLst/>
          </a:prstGeom>
          <a:noFill/>
        </p:spPr>
        <p:txBody>
          <a:bodyPr wrap="none" lIns="0" rIns="0" tIns="0" bIns="0">
            <a:spAutoFit/>
          </a:bodyPr>
          <a:lstStyle/>
          <a:p>
            <a:r>
              <a:rPr sz="791" b="1">
                <a:solidFill>
                  <a:srgbClr val="2E2E2E"/>
                </a:solidFill>
                <a:latin typeface="Calibri"/>
              </a:rPr>
              <a:t>Potted Flowering Plants</a:t>
            </a:r>
          </a:p>
        </p:txBody>
      </p:sp>
      <p:pic>
        <p:nvPicPr>
          <p:cNvPr id="140" name="Picture 139" descr="lock.png"/>
          <p:cNvPicPr>
            <a:picLocks noChangeAspect="1"/>
          </p:cNvPicPr>
          <p:nvPr/>
        </p:nvPicPr>
        <p:blipFill>
          <a:blip r:embed="rId4"/>
          <a:stretch>
            <a:fillRect/>
          </a:stretch>
        </p:blipFill>
        <p:spPr>
          <a:xfrm>
            <a:off x="1771555" y="1709021"/>
            <a:ext cx="92663" cy="134782"/>
          </a:xfrm>
          <a:prstGeom prst="rect">
            <a:avLst/>
          </a:prstGeom>
        </p:spPr>
      </p:pic>
      <p:sp>
        <p:nvSpPr>
          <p:cNvPr id="141" name="TextBox 140"/>
          <p:cNvSpPr txBox="1"/>
          <p:nvPr/>
        </p:nvSpPr>
        <p:spPr>
          <a:xfrm>
            <a:off x="871252" y="2430437"/>
            <a:ext cx="959041" cy="139750"/>
          </a:xfrm>
          <a:prstGeom prst="rect">
            <a:avLst/>
          </a:prstGeom>
          <a:noFill/>
        </p:spPr>
        <p:txBody>
          <a:bodyPr wrap="none" lIns="0" rIns="0" tIns="0" bIns="0">
            <a:spAutoFit/>
          </a:bodyPr>
          <a:lstStyle/>
          <a:p>
            <a:r>
              <a:rPr sz="791" b="1">
                <a:solidFill>
                  <a:srgbClr val="2E2E2E"/>
                </a:solidFill>
                <a:latin typeface="Calibri"/>
              </a:rPr>
              <a:t>Potted Foliage Plants</a:t>
            </a:r>
          </a:p>
        </p:txBody>
      </p:sp>
      <p:pic>
        <p:nvPicPr>
          <p:cNvPr id="142" name="Picture 141" descr="lock.png"/>
          <p:cNvPicPr>
            <a:picLocks noChangeAspect="1"/>
          </p:cNvPicPr>
          <p:nvPr/>
        </p:nvPicPr>
        <p:blipFill>
          <a:blip r:embed="rId4"/>
          <a:stretch>
            <a:fillRect/>
          </a:stretch>
        </p:blipFill>
        <p:spPr>
          <a:xfrm>
            <a:off x="1771555" y="2423396"/>
            <a:ext cx="92663" cy="134782"/>
          </a:xfrm>
          <a:prstGeom prst="rect">
            <a:avLst/>
          </a:prstGeom>
        </p:spPr>
      </p:pic>
      <p:sp>
        <p:nvSpPr>
          <p:cNvPr id="143" name="TextBox 142"/>
          <p:cNvSpPr txBox="1"/>
          <p:nvPr/>
        </p:nvSpPr>
        <p:spPr>
          <a:xfrm>
            <a:off x="382952" y="3084462"/>
            <a:ext cx="1482042" cy="139750"/>
          </a:xfrm>
          <a:prstGeom prst="rect">
            <a:avLst/>
          </a:prstGeom>
          <a:noFill/>
        </p:spPr>
        <p:txBody>
          <a:bodyPr wrap="none" lIns="0" rIns="0" tIns="0" bIns="0">
            <a:spAutoFit/>
          </a:bodyPr>
          <a:lstStyle/>
          <a:p>
            <a:r>
              <a:rPr sz="791" b="1">
                <a:solidFill>
                  <a:srgbClr val="2E2E2E"/>
                </a:solidFill>
                <a:latin typeface="Calibri"/>
              </a:rPr>
              <a:t>Bedding &amp; Garden Flowering Plants</a:t>
            </a:r>
          </a:p>
        </p:txBody>
      </p:sp>
      <p:pic>
        <p:nvPicPr>
          <p:cNvPr id="144" name="Picture 143" descr="lock.png"/>
          <p:cNvPicPr>
            <a:picLocks noChangeAspect="1"/>
          </p:cNvPicPr>
          <p:nvPr/>
        </p:nvPicPr>
        <p:blipFill>
          <a:blip r:embed="rId4"/>
          <a:stretch>
            <a:fillRect/>
          </a:stretch>
        </p:blipFill>
        <p:spPr>
          <a:xfrm>
            <a:off x="1771555" y="3198122"/>
            <a:ext cx="92663" cy="134782"/>
          </a:xfrm>
          <a:prstGeom prst="rect">
            <a:avLst/>
          </a:prstGeom>
        </p:spPr>
      </p:pic>
      <p:sp>
        <p:nvSpPr>
          <p:cNvPr id="145" name="TextBox 144"/>
          <p:cNvSpPr txBox="1"/>
          <p:nvPr/>
        </p:nvSpPr>
        <p:spPr>
          <a:xfrm>
            <a:off x="313015" y="3798837"/>
            <a:ext cx="1551979" cy="139750"/>
          </a:xfrm>
          <a:prstGeom prst="rect">
            <a:avLst/>
          </a:prstGeom>
          <a:noFill/>
        </p:spPr>
        <p:txBody>
          <a:bodyPr wrap="none" lIns="0" rIns="0" tIns="0" bIns="0">
            <a:spAutoFit/>
          </a:bodyPr>
          <a:lstStyle/>
          <a:p>
            <a:r>
              <a:rPr sz="791" b="1">
                <a:solidFill>
                  <a:srgbClr val="2E2E2E"/>
                </a:solidFill>
                <a:latin typeface="Calibri"/>
              </a:rPr>
              <a:t>Young Plants &amp; Propagation Material</a:t>
            </a:r>
          </a:p>
        </p:txBody>
      </p:sp>
      <p:pic>
        <p:nvPicPr>
          <p:cNvPr id="146" name="Picture 145" descr="lock.png"/>
          <p:cNvPicPr>
            <a:picLocks noChangeAspect="1"/>
          </p:cNvPicPr>
          <p:nvPr/>
        </p:nvPicPr>
        <p:blipFill>
          <a:blip r:embed="rId4"/>
          <a:stretch>
            <a:fillRect/>
          </a:stretch>
        </p:blipFill>
        <p:spPr>
          <a:xfrm>
            <a:off x="1771555" y="3912497"/>
            <a:ext cx="92663" cy="134782"/>
          </a:xfrm>
          <a:prstGeom prst="rect">
            <a:avLst/>
          </a:prstGeom>
        </p:spPr>
      </p:pic>
      <p:sp>
        <p:nvSpPr>
          <p:cNvPr id="147" name="TextBox 146"/>
          <p:cNvSpPr txBox="1"/>
          <p:nvPr/>
        </p:nvSpPr>
        <p:spPr>
          <a:xfrm>
            <a:off x="879503" y="4573562"/>
            <a:ext cx="950790" cy="139750"/>
          </a:xfrm>
          <a:prstGeom prst="rect">
            <a:avLst/>
          </a:prstGeom>
          <a:noFill/>
        </p:spPr>
        <p:txBody>
          <a:bodyPr wrap="none" lIns="0" rIns="0" tIns="0" bIns="0">
            <a:spAutoFit/>
          </a:bodyPr>
          <a:lstStyle/>
          <a:p>
            <a:r>
              <a:rPr sz="791" b="1">
                <a:solidFill>
                  <a:srgbClr val="2E2E2E"/>
                </a:solidFill>
                <a:latin typeface="Calibri"/>
              </a:rPr>
              <a:t>Cut Foliage &amp; Greens</a:t>
            </a:r>
          </a:p>
        </p:txBody>
      </p:sp>
      <p:pic>
        <p:nvPicPr>
          <p:cNvPr id="148" name="Picture 147" descr="lock.png"/>
          <p:cNvPicPr>
            <a:picLocks noChangeAspect="1"/>
          </p:cNvPicPr>
          <p:nvPr/>
        </p:nvPicPr>
        <p:blipFill>
          <a:blip r:embed="rId4"/>
          <a:stretch>
            <a:fillRect/>
          </a:stretch>
        </p:blipFill>
        <p:spPr>
          <a:xfrm>
            <a:off x="1771555" y="4566521"/>
            <a:ext cx="92663" cy="134782"/>
          </a:xfrm>
          <a:prstGeom prst="rect">
            <a:avLst/>
          </a:prstGeom>
        </p:spPr>
      </p:pic>
      <p:sp>
        <p:nvSpPr>
          <p:cNvPr id="149" name="TextBox 148"/>
          <p:cNvSpPr txBox="1"/>
          <p:nvPr/>
        </p:nvSpPr>
        <p:spPr>
          <a:xfrm>
            <a:off x="468213" y="5227587"/>
            <a:ext cx="1396781" cy="139750"/>
          </a:xfrm>
          <a:prstGeom prst="rect">
            <a:avLst/>
          </a:prstGeom>
          <a:noFill/>
        </p:spPr>
        <p:txBody>
          <a:bodyPr wrap="none" lIns="0" rIns="0" tIns="0" bIns="0">
            <a:spAutoFit/>
          </a:bodyPr>
          <a:lstStyle/>
          <a:p>
            <a:r>
              <a:rPr sz="791" b="1">
                <a:solidFill>
                  <a:srgbClr val="2E2E2E"/>
                </a:solidFill>
                <a:latin typeface="Calibri"/>
              </a:rPr>
              <a:t>Flower Bulbs, Corms, Rhizomes &amp;</a:t>
            </a:r>
          </a:p>
        </p:txBody>
      </p:sp>
      <p:sp>
        <p:nvSpPr>
          <p:cNvPr id="150" name="TextBox 149"/>
          <p:cNvSpPr txBox="1"/>
          <p:nvPr/>
        </p:nvSpPr>
        <p:spPr>
          <a:xfrm>
            <a:off x="1469630" y="5348288"/>
            <a:ext cx="360664" cy="139750"/>
          </a:xfrm>
          <a:prstGeom prst="rect">
            <a:avLst/>
          </a:prstGeom>
          <a:noFill/>
        </p:spPr>
        <p:txBody>
          <a:bodyPr wrap="none" lIns="0" rIns="0" tIns="0" bIns="0">
            <a:spAutoFit/>
          </a:bodyPr>
          <a:lstStyle/>
          <a:p>
            <a:r>
              <a:rPr sz="791" b="1">
                <a:solidFill>
                  <a:srgbClr val="2E2E2E"/>
                </a:solidFill>
                <a:latin typeface="Calibri"/>
              </a:rPr>
              <a:t>Tubers</a:t>
            </a:r>
          </a:p>
        </p:txBody>
      </p:sp>
      <p:pic>
        <p:nvPicPr>
          <p:cNvPr id="151" name="Picture 150" descr="lock.png"/>
          <p:cNvPicPr>
            <a:picLocks noChangeAspect="1"/>
          </p:cNvPicPr>
          <p:nvPr/>
        </p:nvPicPr>
        <p:blipFill>
          <a:blip r:embed="rId4"/>
          <a:stretch>
            <a:fillRect/>
          </a:stretch>
        </p:blipFill>
        <p:spPr>
          <a:xfrm>
            <a:off x="1771555" y="5341247"/>
            <a:ext cx="92663" cy="134782"/>
          </a:xfrm>
          <a:prstGeom prst="rect">
            <a:avLst/>
          </a:prstGeom>
        </p:spPr>
      </p:pic>
      <p:sp>
        <p:nvSpPr>
          <p:cNvPr id="152" name="TextBox 151"/>
          <p:cNvSpPr txBox="1"/>
          <p:nvPr/>
        </p:nvSpPr>
        <p:spPr>
          <a:xfrm>
            <a:off x="1262568" y="6002312"/>
            <a:ext cx="567725" cy="139750"/>
          </a:xfrm>
          <a:prstGeom prst="rect">
            <a:avLst/>
          </a:prstGeom>
          <a:noFill/>
        </p:spPr>
        <p:txBody>
          <a:bodyPr wrap="none" lIns="0" rIns="0" tIns="0" bIns="0">
            <a:spAutoFit/>
          </a:bodyPr>
          <a:lstStyle/>
          <a:p>
            <a:r>
              <a:rPr sz="791" b="1">
                <a:solidFill>
                  <a:srgbClr val="2E2E2E"/>
                </a:solidFill>
                <a:latin typeface="Calibri"/>
              </a:rPr>
              <a:t>Cut Flowers</a:t>
            </a:r>
          </a:p>
        </p:txBody>
      </p:sp>
      <p:pic>
        <p:nvPicPr>
          <p:cNvPr id="153" name="Picture 152" descr="lock.png"/>
          <p:cNvPicPr>
            <a:picLocks noChangeAspect="1"/>
          </p:cNvPicPr>
          <p:nvPr/>
        </p:nvPicPr>
        <p:blipFill>
          <a:blip r:embed="rId4"/>
          <a:stretch>
            <a:fillRect/>
          </a:stretch>
        </p:blipFill>
        <p:spPr>
          <a:xfrm>
            <a:off x="1771555" y="5995271"/>
            <a:ext cx="92663" cy="134782"/>
          </a:xfrm>
          <a:prstGeom prst="rect">
            <a:avLst/>
          </a:prstGeom>
        </p:spPr>
      </p:pic>
      <p:sp>
        <p:nvSpPr>
          <p:cNvPr id="154" name="TextBox 153"/>
          <p:cNvSpPr txBox="1"/>
          <p:nvPr/>
        </p:nvSpPr>
        <p:spPr>
          <a:xfrm>
            <a:off x="5972175" y="1687162"/>
            <a:ext cx="526470" cy="139750"/>
          </a:xfrm>
          <a:prstGeom prst="rect">
            <a:avLst/>
          </a:prstGeom>
          <a:noFill/>
        </p:spPr>
        <p:txBody>
          <a:bodyPr wrap="none" lIns="0" rIns="0" tIns="0" bIns="0">
            <a:spAutoFit/>
          </a:bodyPr>
          <a:lstStyle/>
          <a:p>
            <a:r>
              <a:rPr sz="791" b="1">
                <a:solidFill>
                  <a:srgbClr val="2E2E2E"/>
                </a:solidFill>
                <a:latin typeface="Calibri"/>
              </a:rPr>
              <a:t>Carnations</a:t>
            </a:r>
          </a:p>
        </p:txBody>
      </p:sp>
      <p:pic>
        <p:nvPicPr>
          <p:cNvPr id="155" name="Picture 154" descr="lock.png"/>
          <p:cNvPicPr>
            <a:picLocks noChangeAspect="1"/>
          </p:cNvPicPr>
          <p:nvPr/>
        </p:nvPicPr>
        <p:blipFill>
          <a:blip r:embed="rId4"/>
          <a:stretch>
            <a:fillRect/>
          </a:stretch>
        </p:blipFill>
        <p:spPr>
          <a:xfrm>
            <a:off x="6439906" y="1680121"/>
            <a:ext cx="92663" cy="134782"/>
          </a:xfrm>
          <a:prstGeom prst="rect">
            <a:avLst/>
          </a:prstGeom>
        </p:spPr>
      </p:pic>
      <p:sp>
        <p:nvSpPr>
          <p:cNvPr id="156" name="TextBox 155"/>
          <p:cNvSpPr txBox="1"/>
          <p:nvPr/>
        </p:nvSpPr>
        <p:spPr>
          <a:xfrm>
            <a:off x="5972175" y="2591873"/>
            <a:ext cx="416849" cy="139750"/>
          </a:xfrm>
          <a:prstGeom prst="rect">
            <a:avLst/>
          </a:prstGeom>
          <a:noFill/>
        </p:spPr>
        <p:txBody>
          <a:bodyPr wrap="none" lIns="0" rIns="0" tIns="0" bIns="0">
            <a:spAutoFit/>
          </a:bodyPr>
          <a:lstStyle/>
          <a:p>
            <a:r>
              <a:rPr sz="791" b="1">
                <a:solidFill>
                  <a:srgbClr val="2E2E2E"/>
                </a:solidFill>
                <a:latin typeface="Calibri"/>
              </a:rPr>
              <a:t>Gerbera</a:t>
            </a:r>
          </a:p>
        </p:txBody>
      </p:sp>
      <p:pic>
        <p:nvPicPr>
          <p:cNvPr id="157" name="Picture 156" descr="lock.png"/>
          <p:cNvPicPr>
            <a:picLocks noChangeAspect="1"/>
          </p:cNvPicPr>
          <p:nvPr/>
        </p:nvPicPr>
        <p:blipFill>
          <a:blip r:embed="rId4"/>
          <a:stretch>
            <a:fillRect/>
          </a:stretch>
        </p:blipFill>
        <p:spPr>
          <a:xfrm>
            <a:off x="6330285" y="2584832"/>
            <a:ext cx="92663" cy="134782"/>
          </a:xfrm>
          <a:prstGeom prst="rect">
            <a:avLst/>
          </a:prstGeom>
        </p:spPr>
      </p:pic>
      <p:sp>
        <p:nvSpPr>
          <p:cNvPr id="158" name="TextBox 157"/>
          <p:cNvSpPr txBox="1"/>
          <p:nvPr/>
        </p:nvSpPr>
        <p:spPr>
          <a:xfrm>
            <a:off x="5972175" y="3305096"/>
            <a:ext cx="316658" cy="139750"/>
          </a:xfrm>
          <a:prstGeom prst="rect">
            <a:avLst/>
          </a:prstGeom>
          <a:noFill/>
        </p:spPr>
        <p:txBody>
          <a:bodyPr wrap="none" lIns="0" rIns="0" tIns="0" bIns="0">
            <a:spAutoFit/>
          </a:bodyPr>
          <a:lstStyle/>
          <a:p>
            <a:r>
              <a:rPr sz="791" b="0">
                <a:solidFill>
                  <a:srgbClr val="6C7A89"/>
                </a:solidFill>
                <a:latin typeface="Calibri"/>
              </a:rPr>
              <a:t>Tulips</a:t>
            </a:r>
          </a:p>
        </p:txBody>
      </p:sp>
      <p:pic>
        <p:nvPicPr>
          <p:cNvPr id="159" name="Picture 158" descr="lock.png"/>
          <p:cNvPicPr>
            <a:picLocks noChangeAspect="1"/>
          </p:cNvPicPr>
          <p:nvPr/>
        </p:nvPicPr>
        <p:blipFill>
          <a:blip r:embed="rId4"/>
          <a:stretch>
            <a:fillRect/>
          </a:stretch>
        </p:blipFill>
        <p:spPr>
          <a:xfrm>
            <a:off x="6230094" y="3298055"/>
            <a:ext cx="92663" cy="134782"/>
          </a:xfrm>
          <a:prstGeom prst="rect">
            <a:avLst/>
          </a:prstGeom>
        </p:spPr>
      </p:pic>
      <p:sp>
        <p:nvSpPr>
          <p:cNvPr id="160" name="TextBox 159"/>
          <p:cNvSpPr txBox="1"/>
          <p:nvPr/>
        </p:nvSpPr>
        <p:spPr>
          <a:xfrm>
            <a:off x="5972175" y="3838030"/>
            <a:ext cx="394846" cy="139750"/>
          </a:xfrm>
          <a:prstGeom prst="rect">
            <a:avLst/>
          </a:prstGeom>
          <a:noFill/>
        </p:spPr>
        <p:txBody>
          <a:bodyPr wrap="none" lIns="0" rIns="0" tIns="0" bIns="0">
            <a:spAutoFit/>
          </a:bodyPr>
          <a:lstStyle/>
          <a:p>
            <a:r>
              <a:rPr sz="791" b="1">
                <a:solidFill>
                  <a:srgbClr val="2E2E2E"/>
                </a:solidFill>
                <a:latin typeface="Calibri"/>
              </a:rPr>
              <a:t>Orchids</a:t>
            </a:r>
          </a:p>
        </p:txBody>
      </p:sp>
      <p:pic>
        <p:nvPicPr>
          <p:cNvPr id="161" name="Picture 160" descr="lock.png"/>
          <p:cNvPicPr>
            <a:picLocks noChangeAspect="1"/>
          </p:cNvPicPr>
          <p:nvPr/>
        </p:nvPicPr>
        <p:blipFill>
          <a:blip r:embed="rId4"/>
          <a:stretch>
            <a:fillRect/>
          </a:stretch>
        </p:blipFill>
        <p:spPr>
          <a:xfrm>
            <a:off x="6308283" y="3830989"/>
            <a:ext cx="92663" cy="134782"/>
          </a:xfrm>
          <a:prstGeom prst="rect">
            <a:avLst/>
          </a:prstGeom>
        </p:spPr>
      </p:pic>
      <p:sp>
        <p:nvSpPr>
          <p:cNvPr id="162" name="TextBox 161"/>
          <p:cNvSpPr txBox="1"/>
          <p:nvPr/>
        </p:nvSpPr>
        <p:spPr>
          <a:xfrm>
            <a:off x="5972175" y="4342207"/>
            <a:ext cx="277367" cy="139750"/>
          </a:xfrm>
          <a:prstGeom prst="rect">
            <a:avLst/>
          </a:prstGeom>
          <a:noFill/>
        </p:spPr>
        <p:txBody>
          <a:bodyPr wrap="none" lIns="0" rIns="0" tIns="0" bIns="0">
            <a:spAutoFit/>
          </a:bodyPr>
          <a:lstStyle/>
          <a:p>
            <a:r>
              <a:rPr sz="791" b="0">
                <a:solidFill>
                  <a:srgbClr val="6C7A89"/>
                </a:solidFill>
                <a:latin typeface="Calibri"/>
              </a:rPr>
              <a:t>Lilies</a:t>
            </a:r>
          </a:p>
        </p:txBody>
      </p:sp>
      <p:pic>
        <p:nvPicPr>
          <p:cNvPr id="163" name="Picture 162" descr="lock.png"/>
          <p:cNvPicPr>
            <a:picLocks noChangeAspect="1"/>
          </p:cNvPicPr>
          <p:nvPr/>
        </p:nvPicPr>
        <p:blipFill>
          <a:blip r:embed="rId4"/>
          <a:stretch>
            <a:fillRect/>
          </a:stretch>
        </p:blipFill>
        <p:spPr>
          <a:xfrm>
            <a:off x="6190804" y="4335166"/>
            <a:ext cx="92663" cy="134782"/>
          </a:xfrm>
          <a:prstGeom prst="rect">
            <a:avLst/>
          </a:prstGeom>
        </p:spPr>
      </p:pic>
      <p:sp>
        <p:nvSpPr>
          <p:cNvPr id="164" name="TextBox 163"/>
          <p:cNvSpPr txBox="1"/>
          <p:nvPr/>
        </p:nvSpPr>
        <p:spPr>
          <a:xfrm>
            <a:off x="5972175" y="4814714"/>
            <a:ext cx="404080" cy="139750"/>
          </a:xfrm>
          <a:prstGeom prst="rect">
            <a:avLst/>
          </a:prstGeom>
          <a:noFill/>
        </p:spPr>
        <p:txBody>
          <a:bodyPr wrap="none" lIns="0" rIns="0" tIns="0" bIns="0">
            <a:spAutoFit/>
          </a:bodyPr>
          <a:lstStyle/>
          <a:p>
            <a:r>
              <a:rPr sz="791" b="1">
                <a:solidFill>
                  <a:srgbClr val="2E2E2E"/>
                </a:solidFill>
                <a:latin typeface="Calibri"/>
              </a:rPr>
              <a:t>Peonies</a:t>
            </a:r>
          </a:p>
        </p:txBody>
      </p:sp>
      <p:pic>
        <p:nvPicPr>
          <p:cNvPr id="165" name="Picture 164" descr="lock.png"/>
          <p:cNvPicPr>
            <a:picLocks noChangeAspect="1"/>
          </p:cNvPicPr>
          <p:nvPr/>
        </p:nvPicPr>
        <p:blipFill>
          <a:blip r:embed="rId4"/>
          <a:stretch>
            <a:fillRect/>
          </a:stretch>
        </p:blipFill>
        <p:spPr>
          <a:xfrm>
            <a:off x="6317516" y="4807673"/>
            <a:ext cx="92663" cy="134782"/>
          </a:xfrm>
          <a:prstGeom prst="rect">
            <a:avLst/>
          </a:prstGeom>
        </p:spPr>
      </p:pic>
      <p:sp>
        <p:nvSpPr>
          <p:cNvPr id="166" name="TextBox 165"/>
          <p:cNvSpPr txBox="1"/>
          <p:nvPr/>
        </p:nvSpPr>
        <p:spPr>
          <a:xfrm>
            <a:off x="5972175" y="5243640"/>
            <a:ext cx="312533" cy="139750"/>
          </a:xfrm>
          <a:prstGeom prst="rect">
            <a:avLst/>
          </a:prstGeom>
          <a:noFill/>
        </p:spPr>
        <p:txBody>
          <a:bodyPr wrap="none" lIns="0" rIns="0" tIns="0" bIns="0">
            <a:spAutoFit/>
          </a:bodyPr>
          <a:lstStyle/>
          <a:p>
            <a:r>
              <a:rPr sz="791" b="0">
                <a:solidFill>
                  <a:srgbClr val="6C7A89"/>
                </a:solidFill>
                <a:latin typeface="Calibri"/>
              </a:rPr>
              <a:t>Roses</a:t>
            </a:r>
          </a:p>
        </p:txBody>
      </p:sp>
      <p:pic>
        <p:nvPicPr>
          <p:cNvPr id="167" name="Picture 166" descr="lock.png"/>
          <p:cNvPicPr>
            <a:picLocks noChangeAspect="1"/>
          </p:cNvPicPr>
          <p:nvPr/>
        </p:nvPicPr>
        <p:blipFill>
          <a:blip r:embed="rId4"/>
          <a:stretch>
            <a:fillRect/>
          </a:stretch>
        </p:blipFill>
        <p:spPr>
          <a:xfrm>
            <a:off x="6225969" y="5236599"/>
            <a:ext cx="92663" cy="134782"/>
          </a:xfrm>
          <a:prstGeom prst="rect">
            <a:avLst/>
          </a:prstGeom>
        </p:spPr>
      </p:pic>
      <p:sp>
        <p:nvSpPr>
          <p:cNvPr id="168" name="TextBox 167"/>
          <p:cNvSpPr txBox="1"/>
          <p:nvPr/>
        </p:nvSpPr>
        <p:spPr>
          <a:xfrm>
            <a:off x="5972175" y="5591817"/>
            <a:ext cx="495234" cy="139750"/>
          </a:xfrm>
          <a:prstGeom prst="rect">
            <a:avLst/>
          </a:prstGeom>
          <a:noFill/>
        </p:spPr>
        <p:txBody>
          <a:bodyPr wrap="none" lIns="0" rIns="0" tIns="0" bIns="0">
            <a:spAutoFit/>
          </a:bodyPr>
          <a:lstStyle/>
          <a:p>
            <a:r>
              <a:rPr sz="791" b="1">
                <a:solidFill>
                  <a:srgbClr val="2E2E2E"/>
                </a:solidFill>
                <a:latin typeface="Calibri"/>
              </a:rPr>
              <a:t>Lisianthus</a:t>
            </a:r>
          </a:p>
        </p:txBody>
      </p:sp>
      <p:pic>
        <p:nvPicPr>
          <p:cNvPr id="169" name="Picture 168" descr="lock.png"/>
          <p:cNvPicPr>
            <a:picLocks noChangeAspect="1"/>
          </p:cNvPicPr>
          <p:nvPr/>
        </p:nvPicPr>
        <p:blipFill>
          <a:blip r:embed="rId4"/>
          <a:stretch>
            <a:fillRect/>
          </a:stretch>
        </p:blipFill>
        <p:spPr>
          <a:xfrm>
            <a:off x="6408670" y="5584776"/>
            <a:ext cx="92663" cy="134782"/>
          </a:xfrm>
          <a:prstGeom prst="rect">
            <a:avLst/>
          </a:prstGeom>
        </p:spPr>
      </p:pic>
      <p:sp>
        <p:nvSpPr>
          <p:cNvPr id="170" name="TextBox 169"/>
          <p:cNvSpPr txBox="1"/>
          <p:nvPr/>
        </p:nvSpPr>
        <p:spPr>
          <a:xfrm>
            <a:off x="5972175" y="5852159"/>
            <a:ext cx="620178" cy="139750"/>
          </a:xfrm>
          <a:prstGeom prst="rect">
            <a:avLst/>
          </a:prstGeom>
          <a:noFill/>
        </p:spPr>
        <p:txBody>
          <a:bodyPr wrap="none" lIns="0" rIns="0" tIns="0" bIns="0">
            <a:spAutoFit/>
          </a:bodyPr>
          <a:lstStyle/>
          <a:p>
            <a:r>
              <a:rPr sz="791" b="1">
                <a:solidFill>
                  <a:srgbClr val="2E2E2E"/>
                </a:solidFill>
                <a:latin typeface="Calibri"/>
              </a:rPr>
              <a:t>Alstroemeria</a:t>
            </a:r>
          </a:p>
        </p:txBody>
      </p:sp>
      <p:pic>
        <p:nvPicPr>
          <p:cNvPr id="171" name="Picture 170" descr="lock.png"/>
          <p:cNvPicPr>
            <a:picLocks noChangeAspect="1"/>
          </p:cNvPicPr>
          <p:nvPr/>
        </p:nvPicPr>
        <p:blipFill>
          <a:blip r:embed="rId4"/>
          <a:stretch>
            <a:fillRect/>
          </a:stretch>
        </p:blipFill>
        <p:spPr>
          <a:xfrm>
            <a:off x="6533614" y="5845118"/>
            <a:ext cx="92663" cy="134782"/>
          </a:xfrm>
          <a:prstGeom prst="rect">
            <a:avLst/>
          </a:prstGeom>
        </p:spPr>
      </p:pic>
      <p:sp>
        <p:nvSpPr>
          <p:cNvPr id="172" name="TextBox 171"/>
          <p:cNvSpPr txBox="1"/>
          <p:nvPr/>
        </p:nvSpPr>
        <p:spPr>
          <a:xfrm>
            <a:off x="5972175" y="6072556"/>
            <a:ext cx="569100" cy="139750"/>
          </a:xfrm>
          <a:prstGeom prst="rect">
            <a:avLst/>
          </a:prstGeom>
          <a:noFill/>
        </p:spPr>
        <p:txBody>
          <a:bodyPr wrap="none" lIns="0" rIns="0" tIns="0" bIns="0">
            <a:spAutoFit/>
          </a:bodyPr>
          <a:lstStyle/>
          <a:p>
            <a:r>
              <a:rPr sz="791" b="1">
                <a:solidFill>
                  <a:srgbClr val="2E2E2E"/>
                </a:solidFill>
                <a:latin typeface="Calibri"/>
              </a:rPr>
              <a:t>Hydrangeas</a:t>
            </a:r>
          </a:p>
        </p:txBody>
      </p:sp>
      <p:pic>
        <p:nvPicPr>
          <p:cNvPr id="173" name="Picture 172" descr="lock.png"/>
          <p:cNvPicPr>
            <a:picLocks noChangeAspect="1"/>
          </p:cNvPicPr>
          <p:nvPr/>
        </p:nvPicPr>
        <p:blipFill>
          <a:blip r:embed="rId4"/>
          <a:stretch>
            <a:fillRect/>
          </a:stretch>
        </p:blipFill>
        <p:spPr>
          <a:xfrm>
            <a:off x="6482537" y="6065515"/>
            <a:ext cx="92663" cy="134782"/>
          </a:xfrm>
          <a:prstGeom prst="rect">
            <a:avLst/>
          </a:prstGeom>
        </p:spPr>
      </p:pic>
      <p:sp>
        <p:nvSpPr>
          <p:cNvPr id="174" name="TextBox 173"/>
          <p:cNvSpPr txBox="1"/>
          <p:nvPr/>
        </p:nvSpPr>
        <p:spPr>
          <a:xfrm>
            <a:off x="5972175" y="6249962"/>
            <a:ext cx="353984" cy="139750"/>
          </a:xfrm>
          <a:prstGeom prst="rect">
            <a:avLst/>
          </a:prstGeom>
          <a:noFill/>
        </p:spPr>
        <p:txBody>
          <a:bodyPr wrap="none" lIns="0" rIns="0" tIns="0" bIns="0">
            <a:spAutoFit/>
          </a:bodyPr>
          <a:lstStyle/>
          <a:p>
            <a:r>
              <a:rPr sz="791" b="0">
                <a:solidFill>
                  <a:srgbClr val="6C7A89"/>
                </a:solidFill>
                <a:latin typeface="Calibri"/>
              </a:rPr>
              <a:t>Others</a:t>
            </a:r>
          </a:p>
        </p:txBody>
      </p:sp>
      <p:pic>
        <p:nvPicPr>
          <p:cNvPr id="175" name="Picture 174" descr="lock.png"/>
          <p:cNvPicPr>
            <a:picLocks noChangeAspect="1"/>
          </p:cNvPicPr>
          <p:nvPr/>
        </p:nvPicPr>
        <p:blipFill>
          <a:blip r:embed="rId4"/>
          <a:stretch>
            <a:fillRect/>
          </a:stretch>
        </p:blipFill>
        <p:spPr>
          <a:xfrm>
            <a:off x="6267420" y="6242921"/>
            <a:ext cx="92663" cy="134782"/>
          </a:xfrm>
          <a:prstGeom prst="rect">
            <a:avLst/>
          </a:prstGeom>
        </p:spPr>
      </p:pic>
      <p:sp>
        <p:nvSpPr>
          <p:cNvPr id="176" name="TextBox 175"/>
          <p:cNvSpPr txBox="1"/>
          <p:nvPr/>
        </p:nvSpPr>
        <p:spPr>
          <a:xfrm>
            <a:off x="5972175" y="6402362"/>
            <a:ext cx="808380" cy="139750"/>
          </a:xfrm>
          <a:prstGeom prst="rect">
            <a:avLst/>
          </a:prstGeom>
          <a:noFill/>
        </p:spPr>
        <p:txBody>
          <a:bodyPr wrap="none" lIns="0" rIns="0" tIns="0" bIns="0">
            <a:spAutoFit/>
          </a:bodyPr>
          <a:lstStyle/>
          <a:p>
            <a:r>
              <a:rPr sz="791" b="1">
                <a:solidFill>
                  <a:srgbClr val="2E2E2E"/>
                </a:solidFill>
                <a:latin typeface="Calibri"/>
              </a:rPr>
              <a:t>Chrysanthemums</a:t>
            </a:r>
          </a:p>
        </p:txBody>
      </p:sp>
      <p:pic>
        <p:nvPicPr>
          <p:cNvPr id="177" name="Picture 176" descr="lock.png"/>
          <p:cNvPicPr>
            <a:picLocks noChangeAspect="1"/>
          </p:cNvPicPr>
          <p:nvPr/>
        </p:nvPicPr>
        <p:blipFill>
          <a:blip r:embed="rId4"/>
          <a:stretch>
            <a:fillRect/>
          </a:stretch>
        </p:blipFill>
        <p:spPr>
          <a:xfrm>
            <a:off x="6721816" y="6395321"/>
            <a:ext cx="92663" cy="134782"/>
          </a:xfrm>
          <a:prstGeom prst="rect">
            <a:avLst/>
          </a:prstGeom>
        </p:spPr>
      </p:pic>
      <p:sp>
        <p:nvSpPr>
          <p:cNvPr id="178" name="TextBox 177"/>
          <p:cNvSpPr txBox="1"/>
          <p:nvPr/>
        </p:nvSpPr>
        <p:spPr>
          <a:xfrm>
            <a:off x="7715250" y="1400175"/>
            <a:ext cx="3847827" cy="194310"/>
          </a:xfrm>
          <a:prstGeom prst="rect">
            <a:avLst/>
          </a:prstGeom>
          <a:noFill/>
        </p:spPr>
        <p:txBody>
          <a:bodyPr wrap="none" lIns="0" rIns="0" tIns="0" bIns="0">
            <a:spAutoFit/>
          </a:bodyPr>
          <a:lstStyle/>
          <a:p>
            <a:r>
              <a:rPr sz="1150" b="0">
                <a:solidFill>
                  <a:srgbClr val="2E2E2E"/>
                </a:solidFill>
                <a:latin typeface="Calibri"/>
              </a:rPr>
              <a:t>Potted flowering plants segment is projected to account for the</a:t>
            </a:r>
          </a:p>
        </p:txBody>
      </p:sp>
      <p:sp>
        <p:nvSpPr>
          <p:cNvPr id="179" name="TextBox 178"/>
          <p:cNvSpPr txBox="1"/>
          <p:nvPr/>
        </p:nvSpPr>
        <p:spPr>
          <a:xfrm>
            <a:off x="7715250" y="1575435"/>
            <a:ext cx="3712616" cy="194310"/>
          </a:xfrm>
          <a:prstGeom prst="rect">
            <a:avLst/>
          </a:prstGeom>
          <a:noFill/>
        </p:spPr>
        <p:txBody>
          <a:bodyPr wrap="none" lIns="0" rIns="0" tIns="0" bIns="0">
            <a:spAutoFit/>
          </a:bodyPr>
          <a:lstStyle/>
          <a:p>
            <a:r>
              <a:rPr sz="1150" b="0">
                <a:solidFill>
                  <a:srgbClr val="2E2E2E"/>
                </a:solidFill>
                <a:latin typeface="Calibri"/>
              </a:rPr>
              <a:t>largest share of the North America floriculture market, led by</a:t>
            </a:r>
          </a:p>
        </p:txBody>
      </p:sp>
      <p:sp>
        <p:nvSpPr>
          <p:cNvPr id="180" name="TextBox 179"/>
          <p:cNvSpPr txBox="1"/>
          <p:nvPr/>
        </p:nvSpPr>
        <p:spPr>
          <a:xfrm>
            <a:off x="7715250" y="1750695"/>
            <a:ext cx="1119373" cy="194310"/>
          </a:xfrm>
          <a:prstGeom prst="rect">
            <a:avLst/>
          </a:prstGeom>
          <a:noFill/>
        </p:spPr>
        <p:txBody>
          <a:bodyPr wrap="none" lIns="0" rIns="0" tIns="0" bIns="0">
            <a:spAutoFit/>
          </a:bodyPr>
          <a:lstStyle/>
          <a:p>
            <a:r>
              <a:rPr sz="1150" b="0">
                <a:solidFill>
                  <a:srgbClr val="2E2E2E"/>
                </a:solidFill>
                <a:latin typeface="Calibri"/>
              </a:rPr>
              <a:t>carnations at US$</a:t>
            </a:r>
          </a:p>
        </p:txBody>
      </p:sp>
      <p:pic>
        <p:nvPicPr>
          <p:cNvPr id="181" name="Picture 180" descr="lock.png"/>
          <p:cNvPicPr>
            <a:picLocks noChangeAspect="1"/>
          </p:cNvPicPr>
          <p:nvPr/>
        </p:nvPicPr>
        <p:blipFill>
          <a:blip r:embed="rId4"/>
          <a:stretch>
            <a:fillRect/>
          </a:stretch>
        </p:blipFill>
        <p:spPr>
          <a:xfrm>
            <a:off x="8783777" y="1740471"/>
            <a:ext cx="134549" cy="195707"/>
          </a:xfrm>
          <a:prstGeom prst="rect">
            <a:avLst/>
          </a:prstGeom>
        </p:spPr>
      </p:pic>
      <p:sp>
        <p:nvSpPr>
          <p:cNvPr id="182" name="TextBox 181"/>
          <p:cNvSpPr txBox="1"/>
          <p:nvPr/>
        </p:nvSpPr>
        <p:spPr>
          <a:xfrm>
            <a:off x="8958886" y="1750695"/>
            <a:ext cx="2718506" cy="194310"/>
          </a:xfrm>
          <a:prstGeom prst="rect">
            <a:avLst/>
          </a:prstGeom>
          <a:noFill/>
        </p:spPr>
        <p:txBody>
          <a:bodyPr wrap="none" lIns="0" rIns="0" tIns="0" bIns="0">
            <a:spAutoFit/>
          </a:bodyPr>
          <a:lstStyle/>
          <a:p>
            <a:r>
              <a:rPr sz="1150" b="0">
                <a:solidFill>
                  <a:srgbClr val="2E2E2E"/>
                </a:solidFill>
                <a:latin typeface="Calibri"/>
              </a:rPr>
              <a:t>Mn in 2036. 'Cut Flowers × Carnations' is the</a:t>
            </a:r>
          </a:p>
        </p:txBody>
      </p:sp>
      <p:sp>
        <p:nvSpPr>
          <p:cNvPr id="183" name="TextBox 182"/>
          <p:cNvSpPr txBox="1"/>
          <p:nvPr/>
        </p:nvSpPr>
        <p:spPr>
          <a:xfrm>
            <a:off x="7715250" y="1925955"/>
            <a:ext cx="2080108" cy="194310"/>
          </a:xfrm>
          <a:prstGeom prst="rect">
            <a:avLst/>
          </a:prstGeom>
          <a:noFill/>
        </p:spPr>
        <p:txBody>
          <a:bodyPr wrap="none" lIns="0" rIns="0" tIns="0" bIns="0">
            <a:spAutoFit/>
          </a:bodyPr>
          <a:lstStyle/>
          <a:p>
            <a:r>
              <a:rPr sz="1150" b="0">
                <a:solidFill>
                  <a:srgbClr val="2E2E2E"/>
                </a:solidFill>
                <a:latin typeface="Calibri"/>
              </a:rPr>
              <a:t>single largest cross-sectional cell (</a:t>
            </a:r>
          </a:p>
        </p:txBody>
      </p:sp>
      <p:pic>
        <p:nvPicPr>
          <p:cNvPr id="184" name="Picture 183" descr="lock.png"/>
          <p:cNvPicPr>
            <a:picLocks noChangeAspect="1"/>
          </p:cNvPicPr>
          <p:nvPr/>
        </p:nvPicPr>
        <p:blipFill>
          <a:blip r:embed="rId4"/>
          <a:stretch>
            <a:fillRect/>
          </a:stretch>
        </p:blipFill>
        <p:spPr>
          <a:xfrm>
            <a:off x="9744512" y="1915731"/>
            <a:ext cx="134549" cy="195707"/>
          </a:xfrm>
          <a:prstGeom prst="rect">
            <a:avLst/>
          </a:prstGeom>
        </p:spPr>
      </p:pic>
      <p:sp>
        <p:nvSpPr>
          <p:cNvPr id="185" name="TextBox 184"/>
          <p:cNvSpPr txBox="1"/>
          <p:nvPr/>
        </p:nvSpPr>
        <p:spPr>
          <a:xfrm>
            <a:off x="9919621" y="1925955"/>
            <a:ext cx="1687599" cy="194310"/>
          </a:xfrm>
          <a:prstGeom prst="rect">
            <a:avLst/>
          </a:prstGeom>
          <a:noFill/>
        </p:spPr>
        <p:txBody>
          <a:bodyPr wrap="none" lIns="0" rIns="0" tIns="0" bIns="0">
            <a:spAutoFit/>
          </a:bodyPr>
          <a:lstStyle/>
          <a:p>
            <a:r>
              <a:rPr sz="1150" b="0">
                <a:solidFill>
                  <a:srgbClr val="2E2E2E"/>
                </a:solidFill>
                <a:latin typeface="Calibri"/>
              </a:rPr>
              <a:t>US$ Mn, 2026E), while 'Cut</a:t>
            </a:r>
          </a:p>
        </p:txBody>
      </p:sp>
      <p:sp>
        <p:nvSpPr>
          <p:cNvPr id="186" name="TextBox 185"/>
          <p:cNvSpPr txBox="1"/>
          <p:nvPr/>
        </p:nvSpPr>
        <p:spPr>
          <a:xfrm>
            <a:off x="7715250" y="2101215"/>
            <a:ext cx="3440751" cy="194310"/>
          </a:xfrm>
          <a:prstGeom prst="rect">
            <a:avLst/>
          </a:prstGeom>
          <a:noFill/>
        </p:spPr>
        <p:txBody>
          <a:bodyPr wrap="none" lIns="0" rIns="0" tIns="0" bIns="0">
            <a:spAutoFit/>
          </a:bodyPr>
          <a:lstStyle/>
          <a:p>
            <a:r>
              <a:rPr sz="1150" b="0">
                <a:solidFill>
                  <a:srgbClr val="2E2E2E"/>
                </a:solidFill>
                <a:latin typeface="Calibri"/>
              </a:rPr>
              <a:t>Flowers × Tulips' records the fastest growth at a CAGR of</a:t>
            </a:r>
          </a:p>
        </p:txBody>
      </p:sp>
      <p:pic>
        <p:nvPicPr>
          <p:cNvPr id="187" name="Picture 186" descr="lock.png"/>
          <p:cNvPicPr>
            <a:picLocks noChangeAspect="1"/>
          </p:cNvPicPr>
          <p:nvPr/>
        </p:nvPicPr>
        <p:blipFill>
          <a:blip r:embed="rId4"/>
          <a:stretch>
            <a:fillRect/>
          </a:stretch>
        </p:blipFill>
        <p:spPr>
          <a:xfrm>
            <a:off x="11105155" y="2090991"/>
            <a:ext cx="134549" cy="195707"/>
          </a:xfrm>
          <a:prstGeom prst="rect">
            <a:avLst/>
          </a:prstGeom>
        </p:spPr>
      </p:pic>
      <p:sp>
        <p:nvSpPr>
          <p:cNvPr id="188" name="TextBox 187"/>
          <p:cNvSpPr txBox="1"/>
          <p:nvPr/>
        </p:nvSpPr>
        <p:spPr>
          <a:xfrm>
            <a:off x="11280265" y="210121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189" name="TextBox 188"/>
          <p:cNvSpPr txBox="1"/>
          <p:nvPr/>
        </p:nvSpPr>
        <p:spPr>
          <a:xfrm>
            <a:off x="7715250" y="2276475"/>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190" name="TextBox 189"/>
          <p:cNvSpPr txBox="1"/>
          <p:nvPr/>
        </p:nvSpPr>
        <p:spPr>
          <a:xfrm>
            <a:off x="7715250" y="2504313"/>
            <a:ext cx="4171950" cy="194310"/>
          </a:xfrm>
          <a:prstGeom prst="rect">
            <a:avLst/>
          </a:prstGeom>
          <a:noFill/>
        </p:spPr>
        <p:txBody>
          <a:bodyPr wrap="none" lIns="0" rIns="0" tIns="0" bIns="0">
            <a:spAutoFit/>
          </a:bodyPr>
          <a:lstStyle/>
          <a:p>
            <a:r>
              <a:rPr sz="1150" b="0">
                <a:solidFill>
                  <a:srgbClr val="2E2E2E"/>
                </a:solidFill>
                <a:latin typeface="Calibri"/>
              </a:rPr>
              <a:t>Combined, the top three product type × flower species cells generate</a:t>
            </a:r>
          </a:p>
        </p:txBody>
      </p:sp>
      <p:sp>
        <p:nvSpPr>
          <p:cNvPr id="191" name="TextBox 190"/>
          <p:cNvSpPr txBox="1"/>
          <p:nvPr/>
        </p:nvSpPr>
        <p:spPr>
          <a:xfrm>
            <a:off x="7715250" y="2679573"/>
            <a:ext cx="1773745" cy="194310"/>
          </a:xfrm>
          <a:prstGeom prst="rect">
            <a:avLst/>
          </a:prstGeom>
          <a:noFill/>
        </p:spPr>
        <p:txBody>
          <a:bodyPr wrap="none" lIns="0" rIns="0" tIns="0" bIns="0">
            <a:spAutoFit/>
          </a:bodyPr>
          <a:lstStyle/>
          <a:p>
            <a:r>
              <a:rPr sz="1150" b="0">
                <a:solidFill>
                  <a:srgbClr val="2E2E2E"/>
                </a:solidFill>
                <a:latin typeface="Calibri"/>
              </a:rPr>
              <a:t>an absolute $ opportunity of</a:t>
            </a:r>
          </a:p>
        </p:txBody>
      </p:sp>
      <p:pic>
        <p:nvPicPr>
          <p:cNvPr id="192" name="Picture 191" descr="lock.png"/>
          <p:cNvPicPr>
            <a:picLocks noChangeAspect="1"/>
          </p:cNvPicPr>
          <p:nvPr/>
        </p:nvPicPr>
        <p:blipFill>
          <a:blip r:embed="rId4"/>
          <a:stretch>
            <a:fillRect/>
          </a:stretch>
        </p:blipFill>
        <p:spPr>
          <a:xfrm>
            <a:off x="9438149" y="2669349"/>
            <a:ext cx="134549" cy="195707"/>
          </a:xfrm>
          <a:prstGeom prst="rect">
            <a:avLst/>
          </a:prstGeom>
        </p:spPr>
      </p:pic>
      <p:sp>
        <p:nvSpPr>
          <p:cNvPr id="193" name="TextBox 192"/>
          <p:cNvSpPr txBox="1"/>
          <p:nvPr/>
        </p:nvSpPr>
        <p:spPr>
          <a:xfrm>
            <a:off x="9613259" y="2679573"/>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Type × Flower Species,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flower species sub-segments</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Product Type × Flower Species, 2026E (% of each row)</a:t>
            </a:r>
          </a:p>
        </p:txBody>
      </p:sp>
      <p:graphicFrame>
        <p:nvGraphicFramePr>
          <p:cNvPr id="12" name="Table 11"/>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2746475"/>
                <a:gridCol w="489174"/>
                <a:gridCol w="807883"/>
                <a:gridCol w="1247754"/>
                <a:gridCol w="504978"/>
                <a:gridCol w="952751"/>
                <a:gridCol w="876366"/>
                <a:gridCol w="641944"/>
                <a:gridCol w="607702"/>
                <a:gridCol w="494442"/>
                <a:gridCol w="760472"/>
                <a:gridCol w="620872"/>
                <a:gridCol w="552389"/>
                <a:gridCol w="583997"/>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Roses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Carnations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Chrysanthemums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Lilies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Alstroemeria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Hydrangeas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Gerbera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Orchids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Tulips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Lisianthus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Peonies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Others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7286625"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576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Flower Species Mix by Product Type, 2026E (% share)</a:t>
            </a:r>
          </a:p>
        </p:txBody>
      </p:sp>
      <p:graphicFrame>
        <p:nvGraphicFramePr>
          <p:cNvPr id="16" name="Chart 15"/>
          <p:cNvGraphicFramePr>
            <a:graphicFrameLocks noGrp="1"/>
          </p:cNvGraphicFramePr>
          <p:nvPr/>
        </p:nvGraphicFramePr>
        <p:xfrm>
          <a:off x="238125" y="4086225"/>
          <a:ext cx="7096125" cy="248602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800475"/>
            <a:ext cx="445770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862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1243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210050"/>
            <a:ext cx="419100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282547" y="2204276"/>
            <a:ext cx="366712" cy="533400"/>
          </a:xfrm>
          <a:prstGeom prst="rect">
            <a:avLst/>
          </a:prstGeom>
        </p:spPr>
      </p:pic>
      <p:pic>
        <p:nvPicPr>
          <p:cNvPr id="23" name="Picture 22" descr="lock.png"/>
          <p:cNvPicPr>
            <a:picLocks noChangeAspect="1"/>
          </p:cNvPicPr>
          <p:nvPr/>
        </p:nvPicPr>
        <p:blipFill>
          <a:blip r:embed="rId5"/>
          <a:stretch>
            <a:fillRect/>
          </a:stretch>
        </p:blipFill>
        <p:spPr>
          <a:xfrm>
            <a:off x="3778538" y="4610957"/>
            <a:ext cx="305026" cy="443674"/>
          </a:xfrm>
          <a:prstGeom prst="rect">
            <a:avLst/>
          </a:prstGeom>
        </p:spPr>
      </p:pic>
      <p:sp>
        <p:nvSpPr>
          <p:cNvPr id="24" name="TextBox 23"/>
          <p:cNvSpPr txBox="1"/>
          <p:nvPr/>
        </p:nvSpPr>
        <p:spPr>
          <a:xfrm>
            <a:off x="7715250" y="4219575"/>
            <a:ext cx="3382578" cy="194310"/>
          </a:xfrm>
          <a:prstGeom prst="rect">
            <a:avLst/>
          </a:prstGeom>
          <a:noFill/>
        </p:spPr>
        <p:txBody>
          <a:bodyPr wrap="none" lIns="0" rIns="0" tIns="0" bIns="0">
            <a:spAutoFit/>
          </a:bodyPr>
          <a:lstStyle/>
          <a:p>
            <a:r>
              <a:rPr sz="1150" b="0">
                <a:solidFill>
                  <a:srgbClr val="2E2E2E"/>
                </a:solidFill>
                <a:latin typeface="Calibri"/>
              </a:rPr>
              <a:t>▪ 'Carnations' holds the highest share of 'Cut Flowers' at</a:t>
            </a:r>
          </a:p>
        </p:txBody>
      </p:sp>
      <p:pic>
        <p:nvPicPr>
          <p:cNvPr id="25" name="Picture 24" descr="lock.png"/>
          <p:cNvPicPr>
            <a:picLocks noChangeAspect="1"/>
          </p:cNvPicPr>
          <p:nvPr/>
        </p:nvPicPr>
        <p:blipFill>
          <a:blip r:embed="rId5"/>
          <a:stretch>
            <a:fillRect/>
          </a:stretch>
        </p:blipFill>
        <p:spPr>
          <a:xfrm>
            <a:off x="11046981" y="4209351"/>
            <a:ext cx="134549" cy="195707"/>
          </a:xfrm>
          <a:prstGeom prst="rect">
            <a:avLst/>
          </a:prstGeom>
        </p:spPr>
      </p:pic>
      <p:sp>
        <p:nvSpPr>
          <p:cNvPr id="26" name="TextBox 25"/>
          <p:cNvSpPr txBox="1"/>
          <p:nvPr/>
        </p:nvSpPr>
        <p:spPr>
          <a:xfrm>
            <a:off x="11222091" y="421957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7" name="TextBox 26"/>
          <p:cNvSpPr txBox="1"/>
          <p:nvPr/>
        </p:nvSpPr>
        <p:spPr>
          <a:xfrm>
            <a:off x="7715250" y="4447413"/>
            <a:ext cx="4080879" cy="194310"/>
          </a:xfrm>
          <a:prstGeom prst="rect">
            <a:avLst/>
          </a:prstGeom>
          <a:noFill/>
        </p:spPr>
        <p:txBody>
          <a:bodyPr wrap="none" lIns="0" rIns="0" tIns="0" bIns="0">
            <a:spAutoFit/>
          </a:bodyPr>
          <a:lstStyle/>
          <a:p>
            <a:r>
              <a:rPr sz="1150" b="0">
                <a:solidFill>
                  <a:srgbClr val="2E2E2E"/>
                </a:solidFill>
                <a:latin typeface="Calibri"/>
              </a:rPr>
              <a:t>▪ 'Cut Flowers' is the most concentrated product type sub-segment,</a:t>
            </a:r>
          </a:p>
        </p:txBody>
      </p:sp>
      <p:sp>
        <p:nvSpPr>
          <p:cNvPr id="28" name="TextBox 27"/>
          <p:cNvSpPr txBox="1"/>
          <p:nvPr/>
        </p:nvSpPr>
        <p:spPr>
          <a:xfrm>
            <a:off x="7715250" y="4622672"/>
            <a:ext cx="340059" cy="194310"/>
          </a:xfrm>
          <a:prstGeom prst="rect">
            <a:avLst/>
          </a:prstGeom>
          <a:noFill/>
        </p:spPr>
        <p:txBody>
          <a:bodyPr wrap="none" lIns="0" rIns="0" tIns="0" bIns="0">
            <a:spAutoFit/>
          </a:bodyPr>
          <a:lstStyle/>
          <a:p>
            <a:r>
              <a:rPr sz="1150" b="0">
                <a:solidFill>
                  <a:srgbClr val="2E2E2E"/>
                </a:solidFill>
                <a:latin typeface="Calibri"/>
              </a:rPr>
              <a:t>with</a:t>
            </a:r>
          </a:p>
        </p:txBody>
      </p:sp>
      <p:pic>
        <p:nvPicPr>
          <p:cNvPr id="29" name="Picture 28" descr="lock.png"/>
          <p:cNvPicPr>
            <a:picLocks noChangeAspect="1"/>
          </p:cNvPicPr>
          <p:nvPr/>
        </p:nvPicPr>
        <p:blipFill>
          <a:blip r:embed="rId5"/>
          <a:stretch>
            <a:fillRect/>
          </a:stretch>
        </p:blipFill>
        <p:spPr>
          <a:xfrm>
            <a:off x="8004463" y="4612449"/>
            <a:ext cx="134549" cy="195707"/>
          </a:xfrm>
          <a:prstGeom prst="rect">
            <a:avLst/>
          </a:prstGeom>
        </p:spPr>
      </p:pic>
      <p:sp>
        <p:nvSpPr>
          <p:cNvPr id="30" name="TextBox 29"/>
          <p:cNvSpPr txBox="1"/>
          <p:nvPr/>
        </p:nvSpPr>
        <p:spPr>
          <a:xfrm>
            <a:off x="8179573" y="4622672"/>
            <a:ext cx="1698438" cy="194310"/>
          </a:xfrm>
          <a:prstGeom prst="rect">
            <a:avLst/>
          </a:prstGeom>
          <a:noFill/>
        </p:spPr>
        <p:txBody>
          <a:bodyPr wrap="none" lIns="0" rIns="0" tIns="0" bIns="0">
            <a:spAutoFit/>
          </a:bodyPr>
          <a:lstStyle/>
          <a:p>
            <a:r>
              <a:rPr sz="1150" b="0">
                <a:solidFill>
                  <a:srgbClr val="2E2E2E"/>
                </a:solidFill>
                <a:latin typeface="Calibri"/>
              </a:rPr>
              <a:t>of its value via 'Carnations'.</a:t>
            </a:r>
          </a:p>
        </p:txBody>
      </p:sp>
      <p:sp>
        <p:nvSpPr>
          <p:cNvPr id="31" name="TextBox 30"/>
          <p:cNvSpPr txBox="1"/>
          <p:nvPr/>
        </p:nvSpPr>
        <p:spPr>
          <a:xfrm>
            <a:off x="7715250" y="4850510"/>
            <a:ext cx="1156741" cy="194310"/>
          </a:xfrm>
          <a:prstGeom prst="rect">
            <a:avLst/>
          </a:prstGeom>
          <a:noFill/>
        </p:spPr>
        <p:txBody>
          <a:bodyPr wrap="none" lIns="0" rIns="0" tIns="0" bIns="0">
            <a:spAutoFit/>
          </a:bodyPr>
          <a:lstStyle/>
          <a:p>
            <a:r>
              <a:rPr sz="1150" b="0">
                <a:solidFill>
                  <a:srgbClr val="2E2E2E"/>
                </a:solidFill>
                <a:latin typeface="Calibri"/>
              </a:rPr>
              <a:t>▪ 'Gerbera' gains +</a:t>
            </a:r>
          </a:p>
        </p:txBody>
      </p:sp>
      <p:pic>
        <p:nvPicPr>
          <p:cNvPr id="32" name="Picture 31" descr="lock.png"/>
          <p:cNvPicPr>
            <a:picLocks noChangeAspect="1"/>
          </p:cNvPicPr>
          <p:nvPr/>
        </p:nvPicPr>
        <p:blipFill>
          <a:blip r:embed="rId5"/>
          <a:stretch>
            <a:fillRect/>
          </a:stretch>
        </p:blipFill>
        <p:spPr>
          <a:xfrm>
            <a:off x="8821145" y="4840287"/>
            <a:ext cx="134549" cy="195707"/>
          </a:xfrm>
          <a:prstGeom prst="rect">
            <a:avLst/>
          </a:prstGeom>
        </p:spPr>
      </p:pic>
      <p:sp>
        <p:nvSpPr>
          <p:cNvPr id="33" name="TextBox 32"/>
          <p:cNvSpPr txBox="1"/>
          <p:nvPr/>
        </p:nvSpPr>
        <p:spPr>
          <a:xfrm>
            <a:off x="8996255" y="4850510"/>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34" name="TextBox 33"/>
          <p:cNvSpPr txBox="1"/>
          <p:nvPr/>
        </p:nvSpPr>
        <p:spPr>
          <a:xfrm>
            <a:off x="7715250" y="502577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6"/>
          <p:cNvSpPr/>
          <p:nvPr/>
        </p:nvSpPr>
        <p:spPr>
          <a:xfrm>
            <a:off x="238125" y="4086225"/>
            <a:ext cx="7096125" cy="24860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Type × Flower Species,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3895725"/>
          </a:xfrm>
          <a:prstGeom prst="roundRect">
            <a:avLst>
              <a:gd name="adj" fmla="val 19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Type × Flower Species, 2026E–2036F</a:t>
            </a:r>
          </a:p>
        </p:txBody>
      </p:sp>
      <p:graphicFrame>
        <p:nvGraphicFramePr>
          <p:cNvPr id="12" name="Table 11"/>
          <p:cNvGraphicFramePr>
            <a:graphicFrameLocks noGrp="1"/>
          </p:cNvGraphicFramePr>
          <p:nvPr/>
        </p:nvGraphicFramePr>
        <p:xfrm>
          <a:off x="152400" y="1238250"/>
          <a:ext cx="11910677" cy="3428997"/>
        </p:xfrm>
        <a:graphic>
          <a:graphicData uri="http://schemas.openxmlformats.org/drawingml/2006/table">
            <a:tbl>
              <a:tblPr>
                <a:tableStyleId>{5C22544A-7EE6-4342-B048-85BDC9FD1C3A}</a:tableStyleId>
              </a:tblPr>
              <a:tblGrid>
                <a:gridCol w="2476497"/>
                <a:gridCol w="362766"/>
                <a:gridCol w="367341"/>
                <a:gridCol w="360460"/>
                <a:gridCol w="367341"/>
                <a:gridCol w="362766"/>
                <a:gridCol w="367341"/>
                <a:gridCol w="362766"/>
                <a:gridCol w="367341"/>
                <a:gridCol w="362766"/>
                <a:gridCol w="367341"/>
                <a:gridCol w="362766"/>
                <a:gridCol w="367341"/>
                <a:gridCol w="360460"/>
                <a:gridCol w="367341"/>
                <a:gridCol w="360460"/>
                <a:gridCol w="367341"/>
                <a:gridCol w="360460"/>
                <a:gridCol w="367341"/>
                <a:gridCol w="362766"/>
                <a:gridCol w="367341"/>
                <a:gridCol w="293606"/>
                <a:gridCol w="367341"/>
                <a:gridCol w="362766"/>
                <a:gridCol w="367341"/>
                <a:gridCol w="360460"/>
                <a:gridCol w="390820"/>
              </a:tblGrid>
              <a:tr h="438912">
                <a:tc rowSpan="2">
                  <a:txBody>
                    <a:bodyPr wrap="none"/>
                    <a:lstStyle/>
                    <a:p>
                      <a:pPr algn="l"/>
                      <a:r>
                        <a:rPr sz="1100" b="1">
                          <a:solidFill>
                            <a:srgbClr val="0B2E4A"/>
                          </a:solidFill>
                          <a:latin typeface="Calibri"/>
                        </a:rPr>
                        <a:t>Product Type</a:t>
                      </a: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Roses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Carnations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Chrysanthe</a:t>
                      </a:r>
                      <a:endParaRPr sz="1100"/>
                    </a:p>
                    <a:p>
                      <a:pPr algn="ctr"/>
                      <a:r>
                        <a:rPr sz="1100" b="1">
                          <a:solidFill>
                            <a:srgbClr val="0B2E4A"/>
                          </a:solidFill>
                          <a:latin typeface="Calibri"/>
                        </a:rPr>
                        <a:t>mums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Lilies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Alstroemeri</a:t>
                      </a:r>
                      <a:endParaRPr sz="1100"/>
                    </a:p>
                    <a:p>
                      <a:pPr algn="ctr"/>
                      <a:r>
                        <a:rPr sz="1100" b="1">
                          <a:solidFill>
                            <a:srgbClr val="0B2E4A"/>
                          </a:solidFill>
                          <a:latin typeface="Calibri"/>
                        </a:rPr>
                        <a:t>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Hydrangeas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Gerbera</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Orchids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Tulips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Lisianthus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Peonies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Others</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19050" marR="14288" marT="19050" marB="19050" anchor="ctr">
                    <a:solidFill>
                      <a:srgbClr val="E0E8EF"/>
                    </a:solidFill>
                  </a:tcPr>
                </a:tc>
                <a:tc hMerge="1">
                  <a:txBody>
                    <a:bodyPr wrap="none"/>
                    <a:lstStyle/>
                    <a:p>
                      <a:pPr algn="ctr"/>
                      <a:endParaRPr sz="1100"/>
                    </a:p>
                  </a:txBody>
                  <a:tcPr marL="19050" marR="14288" marT="19050" marB="19050" anchor="ctr">
                    <a:solidFill>
                      <a:srgbClr val="E0E8EF"/>
                    </a:solidFill>
                  </a:tcPr>
                </a:tc>
              </a:tr>
              <a:tr h="439335">
                <a:tc vMerge="1">
                  <a:txBody>
                    <a:bodyPr wrap="none"/>
                    <a:lstStyle/>
                    <a:p>
                      <a:pPr algn="l"/>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US$ Mn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CAGR</a:t>
                      </a:r>
                      <a:endParaRPr sz="1100"/>
                    </a:p>
                  </a:txBody>
                  <a:tcPr marL="19050" marR="14288" marT="19050" marB="19050" anchor="ctr">
                    <a:solidFill>
                      <a:srgbClr val="E0E8EF"/>
                    </a:solidFill>
                  </a:tcPr>
                </a:tc>
              </a:tr>
              <a:tr h="246549">
                <a:tc>
                  <a:txBody>
                    <a:bodyPr wrap="none"/>
                    <a:lstStyle/>
                    <a:p>
                      <a:pPr algn="l"/>
                      <a:r>
                        <a:rPr sz="1100" b="1">
                          <a:solidFill>
                            <a:srgbClr val="2E2E2E"/>
                          </a:solidFill>
                          <a:latin typeface="Calibri"/>
                        </a:rPr>
                        <a:t>Cut Flowers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549">
                <a:tc>
                  <a:txBody>
                    <a:bodyPr wrap="none"/>
                    <a:lstStyle/>
                    <a:p>
                      <a:pPr algn="l"/>
                      <a:r>
                        <a:rPr sz="1100" b="1">
                          <a:solidFill>
                            <a:srgbClr val="2E2E2E"/>
                          </a:solidFill>
                          <a:latin typeface="Calibri"/>
                        </a:rPr>
                        <a:t>Potted Flowering 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549">
                <a:tc>
                  <a:txBody>
                    <a:bodyPr wrap="none"/>
                    <a:lstStyle/>
                    <a:p>
                      <a:pPr algn="l"/>
                      <a:r>
                        <a:rPr sz="1100" b="1">
                          <a:solidFill>
                            <a:srgbClr val="2E2E2E"/>
                          </a:solidFill>
                          <a:latin typeface="Calibri"/>
                        </a:rPr>
                        <a:t>Potted Foliage Plants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335">
                <a:tc>
                  <a:txBody>
                    <a:bodyPr wrap="none"/>
                    <a:lstStyle/>
                    <a:p>
                      <a:pPr algn="l"/>
                      <a:r>
                        <a:rPr sz="1100" b="1">
                          <a:solidFill>
                            <a:srgbClr val="2E2E2E"/>
                          </a:solidFill>
                          <a:latin typeface="Calibri"/>
                        </a:rPr>
                        <a:t>Bedding &amp; Garden Flowering</a:t>
                      </a:r>
                      <a:endParaRPr sz="1100"/>
                    </a:p>
                    <a:p>
                      <a:pPr algn="l"/>
                      <a:r>
                        <a:rPr sz="1100" b="1">
                          <a:solidFill>
                            <a:srgbClr val="2E2E2E"/>
                          </a:solidFill>
                          <a:latin typeface="Calibri"/>
                        </a:rPr>
                        <a:t>Plants</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549">
                <a:tc>
                  <a:txBody>
                    <a:bodyPr wrap="none"/>
                    <a:lstStyle/>
                    <a:p>
                      <a:pPr algn="l"/>
                      <a:r>
                        <a:rPr sz="1100" b="1">
                          <a:solidFill>
                            <a:srgbClr val="2E2E2E"/>
                          </a:solidFill>
                          <a:latin typeface="Calibri"/>
                        </a:rPr>
                        <a:t>Cut Foliage &amp; Greens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335">
                <a:tc>
                  <a:txBody>
                    <a:bodyPr wrap="none"/>
                    <a:lstStyle/>
                    <a:p>
                      <a:pPr algn="l"/>
                      <a:r>
                        <a:rPr sz="1100" b="1">
                          <a:solidFill>
                            <a:srgbClr val="2E2E2E"/>
                          </a:solidFill>
                          <a:latin typeface="Calibri"/>
                        </a:rPr>
                        <a:t>Young Plants &amp; Propagation</a:t>
                      </a:r>
                      <a:endParaRPr sz="1100"/>
                    </a:p>
                    <a:p>
                      <a:pPr algn="l"/>
                      <a:r>
                        <a:rPr sz="1100" b="1">
                          <a:solidFill>
                            <a:srgbClr val="2E2E2E"/>
                          </a:solidFill>
                          <a:latin typeface="Calibri"/>
                        </a:rPr>
                        <a:t>Material</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335">
                <a:tc>
                  <a:txBody>
                    <a:bodyPr wrap="none"/>
                    <a:lstStyle/>
                    <a:p>
                      <a:pPr algn="l"/>
                      <a:r>
                        <a:rPr sz="1100" b="1">
                          <a:solidFill>
                            <a:srgbClr val="2E2E2E"/>
                          </a:solidFill>
                          <a:latin typeface="Calibri"/>
                        </a:rPr>
                        <a:t>Flower Bulbs, Corms,</a:t>
                      </a:r>
                      <a:endParaRPr sz="1100"/>
                    </a:p>
                    <a:p>
                      <a:pPr algn="l"/>
                      <a:r>
                        <a:rPr sz="1100" b="1">
                          <a:solidFill>
                            <a:srgbClr val="2E2E2E"/>
                          </a:solidFill>
                          <a:latin typeface="Calibri"/>
                        </a:rPr>
                        <a:t>Rhizomes &amp; Tubers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549">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4676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010150"/>
            <a:ext cx="56007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958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53340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19725"/>
            <a:ext cx="5334000" cy="11334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5010150"/>
            <a:ext cx="19431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50958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53340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5419725"/>
            <a:ext cx="1676400" cy="1133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5010150"/>
            <a:ext cx="19431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50958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53340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5419725"/>
            <a:ext cx="1676400" cy="1133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5010150"/>
            <a:ext cx="1943100" cy="1619250"/>
          </a:xfrm>
          <a:prstGeom prst="roundRect">
            <a:avLst>
              <a:gd name="adj" fmla="val 47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50958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53340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5419725"/>
            <a:ext cx="1676400" cy="11334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'Cut Flowers × Carnations' ranks highest (5/5); 'Cut Flowers × Peonies'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6846805" y="3125172"/>
            <a:ext cx="366712" cy="533400"/>
          </a:xfrm>
          <a:prstGeom prst="rect">
            <a:avLst/>
          </a:prstGeom>
        </p:spPr>
      </p:pic>
      <p:sp>
        <p:nvSpPr>
          <p:cNvPr id="32" name="TextBox 31"/>
          <p:cNvSpPr txBox="1"/>
          <p:nvPr/>
        </p:nvSpPr>
        <p:spPr>
          <a:xfrm>
            <a:off x="276225" y="5429250"/>
            <a:ext cx="2492300" cy="186689"/>
          </a:xfrm>
          <a:prstGeom prst="rect">
            <a:avLst/>
          </a:prstGeom>
          <a:noFill/>
        </p:spPr>
        <p:txBody>
          <a:bodyPr wrap="none" lIns="0" rIns="0" tIns="0" bIns="0">
            <a:spAutoFit/>
          </a:bodyPr>
          <a:lstStyle/>
          <a:p>
            <a:r>
              <a:rPr sz="1100" b="0">
                <a:solidFill>
                  <a:srgbClr val="2E2E2E"/>
                </a:solidFill>
                <a:latin typeface="Calibri"/>
              </a:rPr>
              <a:t>▪ 1. Potted Flowering Plants × Carnations –</a:t>
            </a:r>
          </a:p>
        </p:txBody>
      </p:sp>
      <p:pic>
        <p:nvPicPr>
          <p:cNvPr id="33" name="Picture 32" descr="lock.png"/>
          <p:cNvPicPr>
            <a:picLocks noChangeAspect="1"/>
          </p:cNvPicPr>
          <p:nvPr/>
        </p:nvPicPr>
        <p:blipFill>
          <a:blip r:embed="rId4"/>
          <a:stretch>
            <a:fillRect/>
          </a:stretch>
        </p:blipFill>
        <p:spPr>
          <a:xfrm>
            <a:off x="2716577" y="5419470"/>
            <a:ext cx="128699" cy="187198"/>
          </a:xfrm>
          <a:prstGeom prst="rect">
            <a:avLst/>
          </a:prstGeom>
        </p:spPr>
      </p:pic>
      <p:sp>
        <p:nvSpPr>
          <p:cNvPr id="34" name="TextBox 33"/>
          <p:cNvSpPr txBox="1"/>
          <p:nvPr/>
        </p:nvSpPr>
        <p:spPr>
          <a:xfrm>
            <a:off x="2884073" y="542925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2943522" y="5419470"/>
            <a:ext cx="128699" cy="187198"/>
          </a:xfrm>
          <a:prstGeom prst="rect">
            <a:avLst/>
          </a:prstGeom>
        </p:spPr>
      </p:pic>
      <p:sp>
        <p:nvSpPr>
          <p:cNvPr id="36" name="TextBox 35"/>
          <p:cNvSpPr txBox="1"/>
          <p:nvPr/>
        </p:nvSpPr>
        <p:spPr>
          <a:xfrm>
            <a:off x="3111018" y="542925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7" name="TextBox 36"/>
          <p:cNvSpPr txBox="1"/>
          <p:nvPr/>
        </p:nvSpPr>
        <p:spPr>
          <a:xfrm>
            <a:off x="276225" y="5647182"/>
            <a:ext cx="2333743" cy="186689"/>
          </a:xfrm>
          <a:prstGeom prst="rect">
            <a:avLst/>
          </a:prstGeom>
          <a:noFill/>
        </p:spPr>
        <p:txBody>
          <a:bodyPr wrap="none" lIns="0" rIns="0" tIns="0" bIns="0">
            <a:spAutoFit/>
          </a:bodyPr>
          <a:lstStyle/>
          <a:p>
            <a:r>
              <a:rPr sz="1100" b="0">
                <a:solidFill>
                  <a:srgbClr val="2E2E2E"/>
                </a:solidFill>
                <a:latin typeface="Calibri"/>
              </a:rPr>
              <a:t>▪ 2. Cut Foliage &amp; Greens × Carnations –</a:t>
            </a:r>
          </a:p>
        </p:txBody>
      </p:sp>
      <p:pic>
        <p:nvPicPr>
          <p:cNvPr id="38" name="Picture 37" descr="lock.png"/>
          <p:cNvPicPr>
            <a:picLocks noChangeAspect="1"/>
          </p:cNvPicPr>
          <p:nvPr/>
        </p:nvPicPr>
        <p:blipFill>
          <a:blip r:embed="rId4"/>
          <a:stretch>
            <a:fillRect/>
          </a:stretch>
        </p:blipFill>
        <p:spPr>
          <a:xfrm>
            <a:off x="2558020" y="5637402"/>
            <a:ext cx="128699" cy="187198"/>
          </a:xfrm>
          <a:prstGeom prst="rect">
            <a:avLst/>
          </a:prstGeom>
        </p:spPr>
      </p:pic>
      <p:sp>
        <p:nvSpPr>
          <p:cNvPr id="39" name="TextBox 38"/>
          <p:cNvSpPr txBox="1"/>
          <p:nvPr/>
        </p:nvSpPr>
        <p:spPr>
          <a:xfrm>
            <a:off x="2725516" y="564718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784965" y="5637402"/>
            <a:ext cx="128699" cy="187198"/>
          </a:xfrm>
          <a:prstGeom prst="rect">
            <a:avLst/>
          </a:prstGeom>
        </p:spPr>
      </p:pic>
      <p:sp>
        <p:nvSpPr>
          <p:cNvPr id="41" name="TextBox 40"/>
          <p:cNvSpPr txBox="1"/>
          <p:nvPr/>
        </p:nvSpPr>
        <p:spPr>
          <a:xfrm>
            <a:off x="2952461" y="5647182"/>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2" name="TextBox 41"/>
          <p:cNvSpPr txBox="1"/>
          <p:nvPr/>
        </p:nvSpPr>
        <p:spPr>
          <a:xfrm>
            <a:off x="276225" y="5865114"/>
            <a:ext cx="3152055" cy="186689"/>
          </a:xfrm>
          <a:prstGeom prst="rect">
            <a:avLst/>
          </a:prstGeom>
          <a:noFill/>
        </p:spPr>
        <p:txBody>
          <a:bodyPr wrap="none" lIns="0" rIns="0" tIns="0" bIns="0">
            <a:spAutoFit/>
          </a:bodyPr>
          <a:lstStyle/>
          <a:p>
            <a:r>
              <a:rPr sz="1100" b="0">
                <a:solidFill>
                  <a:srgbClr val="2E2E2E"/>
                </a:solidFill>
                <a:latin typeface="Calibri"/>
              </a:rPr>
              <a:t>▪ 3. Bedding &amp; Garden Flowering Plants × Carnations –</a:t>
            </a:r>
          </a:p>
        </p:txBody>
      </p:sp>
      <p:pic>
        <p:nvPicPr>
          <p:cNvPr id="43" name="Picture 42" descr="lock.png"/>
          <p:cNvPicPr>
            <a:picLocks noChangeAspect="1"/>
          </p:cNvPicPr>
          <p:nvPr/>
        </p:nvPicPr>
        <p:blipFill>
          <a:blip r:embed="rId4"/>
          <a:stretch>
            <a:fillRect/>
          </a:stretch>
        </p:blipFill>
        <p:spPr>
          <a:xfrm>
            <a:off x="3376332" y="5855334"/>
            <a:ext cx="128699" cy="187198"/>
          </a:xfrm>
          <a:prstGeom prst="rect">
            <a:avLst/>
          </a:prstGeom>
        </p:spPr>
      </p:pic>
      <p:sp>
        <p:nvSpPr>
          <p:cNvPr id="44" name="TextBox 43"/>
          <p:cNvSpPr txBox="1"/>
          <p:nvPr/>
        </p:nvSpPr>
        <p:spPr>
          <a:xfrm>
            <a:off x="3543828" y="586511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603277" y="5855334"/>
            <a:ext cx="128699" cy="187198"/>
          </a:xfrm>
          <a:prstGeom prst="rect">
            <a:avLst/>
          </a:prstGeom>
        </p:spPr>
      </p:pic>
      <p:sp>
        <p:nvSpPr>
          <p:cNvPr id="46" name="TextBox 45"/>
          <p:cNvSpPr txBox="1"/>
          <p:nvPr/>
        </p:nvSpPr>
        <p:spPr>
          <a:xfrm>
            <a:off x="3770773" y="5865114"/>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7" name="TextBox 46"/>
          <p:cNvSpPr txBox="1"/>
          <p:nvPr/>
        </p:nvSpPr>
        <p:spPr>
          <a:xfrm>
            <a:off x="276225" y="6083046"/>
            <a:ext cx="2337018" cy="186689"/>
          </a:xfrm>
          <a:prstGeom prst="rect">
            <a:avLst/>
          </a:prstGeom>
          <a:noFill/>
        </p:spPr>
        <p:txBody>
          <a:bodyPr wrap="none" lIns="0" rIns="0" tIns="0" bIns="0">
            <a:spAutoFit/>
          </a:bodyPr>
          <a:lstStyle/>
          <a:p>
            <a:r>
              <a:rPr sz="1100" b="0">
                <a:solidFill>
                  <a:srgbClr val="2E2E2E"/>
                </a:solidFill>
                <a:latin typeface="Calibri"/>
              </a:rPr>
              <a:t>▪ 4. Potted Foliage Plants × Carnations –</a:t>
            </a:r>
          </a:p>
        </p:txBody>
      </p:sp>
      <p:pic>
        <p:nvPicPr>
          <p:cNvPr id="48" name="Picture 47" descr="lock.png"/>
          <p:cNvPicPr>
            <a:picLocks noChangeAspect="1"/>
          </p:cNvPicPr>
          <p:nvPr/>
        </p:nvPicPr>
        <p:blipFill>
          <a:blip r:embed="rId4"/>
          <a:stretch>
            <a:fillRect/>
          </a:stretch>
        </p:blipFill>
        <p:spPr>
          <a:xfrm>
            <a:off x="2561294" y="6073266"/>
            <a:ext cx="128699" cy="187198"/>
          </a:xfrm>
          <a:prstGeom prst="rect">
            <a:avLst/>
          </a:prstGeom>
        </p:spPr>
      </p:pic>
      <p:sp>
        <p:nvSpPr>
          <p:cNvPr id="49" name="TextBox 48"/>
          <p:cNvSpPr txBox="1"/>
          <p:nvPr/>
        </p:nvSpPr>
        <p:spPr>
          <a:xfrm>
            <a:off x="2728790" y="608304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2788240" y="6073266"/>
            <a:ext cx="128699" cy="187198"/>
          </a:xfrm>
          <a:prstGeom prst="rect">
            <a:avLst/>
          </a:prstGeom>
        </p:spPr>
      </p:pic>
      <p:sp>
        <p:nvSpPr>
          <p:cNvPr id="51" name="TextBox 50"/>
          <p:cNvSpPr txBox="1"/>
          <p:nvPr/>
        </p:nvSpPr>
        <p:spPr>
          <a:xfrm>
            <a:off x="2955735" y="6083046"/>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2" name="TextBox 51"/>
          <p:cNvSpPr txBox="1"/>
          <p:nvPr/>
        </p:nvSpPr>
        <p:spPr>
          <a:xfrm>
            <a:off x="276225" y="6300978"/>
            <a:ext cx="3239641" cy="186689"/>
          </a:xfrm>
          <a:prstGeom prst="rect">
            <a:avLst/>
          </a:prstGeom>
          <a:noFill/>
        </p:spPr>
        <p:txBody>
          <a:bodyPr wrap="none" lIns="0" rIns="0" tIns="0" bIns="0">
            <a:spAutoFit/>
          </a:bodyPr>
          <a:lstStyle/>
          <a:p>
            <a:r>
              <a:rPr sz="1100" b="0">
                <a:solidFill>
                  <a:srgbClr val="2E2E2E"/>
                </a:solidFill>
                <a:latin typeface="Calibri"/>
              </a:rPr>
              <a:t>▪ 5. Young Plants &amp; Propagation Material × Carnations –</a:t>
            </a:r>
          </a:p>
        </p:txBody>
      </p:sp>
      <p:pic>
        <p:nvPicPr>
          <p:cNvPr id="53" name="Picture 52" descr="lock.png"/>
          <p:cNvPicPr>
            <a:picLocks noChangeAspect="1"/>
          </p:cNvPicPr>
          <p:nvPr/>
        </p:nvPicPr>
        <p:blipFill>
          <a:blip r:embed="rId4"/>
          <a:stretch>
            <a:fillRect/>
          </a:stretch>
        </p:blipFill>
        <p:spPr>
          <a:xfrm>
            <a:off x="3463917" y="6291198"/>
            <a:ext cx="128699" cy="187198"/>
          </a:xfrm>
          <a:prstGeom prst="rect">
            <a:avLst/>
          </a:prstGeom>
        </p:spPr>
      </p:pic>
      <p:sp>
        <p:nvSpPr>
          <p:cNvPr id="54" name="TextBox 53"/>
          <p:cNvSpPr txBox="1"/>
          <p:nvPr/>
        </p:nvSpPr>
        <p:spPr>
          <a:xfrm>
            <a:off x="3631413" y="630097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690862" y="6291198"/>
            <a:ext cx="128699" cy="187198"/>
          </a:xfrm>
          <a:prstGeom prst="rect">
            <a:avLst/>
          </a:prstGeom>
        </p:spPr>
      </p:pic>
      <p:sp>
        <p:nvSpPr>
          <p:cNvPr id="56" name="TextBox 55"/>
          <p:cNvSpPr txBox="1"/>
          <p:nvPr/>
        </p:nvSpPr>
        <p:spPr>
          <a:xfrm>
            <a:off x="3858358" y="6300978"/>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7" name="TextBox 56"/>
          <p:cNvSpPr txBox="1"/>
          <p:nvPr/>
        </p:nvSpPr>
        <p:spPr>
          <a:xfrm>
            <a:off x="6029325" y="5429250"/>
            <a:ext cx="1657350" cy="194310"/>
          </a:xfrm>
          <a:prstGeom prst="rect">
            <a:avLst/>
          </a:prstGeom>
          <a:noFill/>
        </p:spPr>
        <p:txBody>
          <a:bodyPr wrap="none" lIns="0" rIns="0" tIns="0" bIns="0">
            <a:spAutoFit/>
          </a:bodyPr>
          <a:lstStyle/>
          <a:p>
            <a:r>
              <a:rPr sz="1150" b="0">
                <a:solidFill>
                  <a:srgbClr val="2E2E2E"/>
                </a:solidFill>
                <a:latin typeface="Calibri"/>
              </a:rPr>
              <a:t>▪ 'Potted Flowering Plants ×</a:t>
            </a:r>
          </a:p>
        </p:txBody>
      </p:sp>
      <p:sp>
        <p:nvSpPr>
          <p:cNvPr id="58" name="TextBox 57"/>
          <p:cNvSpPr txBox="1"/>
          <p:nvPr/>
        </p:nvSpPr>
        <p:spPr>
          <a:xfrm>
            <a:off x="6029325" y="5604510"/>
            <a:ext cx="1060896" cy="194310"/>
          </a:xfrm>
          <a:prstGeom prst="rect">
            <a:avLst/>
          </a:prstGeom>
          <a:noFill/>
        </p:spPr>
        <p:txBody>
          <a:bodyPr wrap="none" lIns="0" rIns="0" tIns="0" bIns="0">
            <a:spAutoFit/>
          </a:bodyPr>
          <a:lstStyle/>
          <a:p>
            <a:r>
              <a:rPr sz="1150" b="0">
                <a:solidFill>
                  <a:srgbClr val="2E2E2E"/>
                </a:solidFill>
                <a:latin typeface="Calibri"/>
              </a:rPr>
              <a:t>Carnations' adds</a:t>
            </a:r>
          </a:p>
        </p:txBody>
      </p:sp>
      <p:pic>
        <p:nvPicPr>
          <p:cNvPr id="59" name="Picture 58" descr="lock.png"/>
          <p:cNvPicPr>
            <a:picLocks noChangeAspect="1"/>
          </p:cNvPicPr>
          <p:nvPr/>
        </p:nvPicPr>
        <p:blipFill>
          <a:blip r:embed="rId4"/>
          <a:stretch>
            <a:fillRect/>
          </a:stretch>
        </p:blipFill>
        <p:spPr>
          <a:xfrm>
            <a:off x="7039375" y="5594286"/>
            <a:ext cx="134549" cy="195707"/>
          </a:xfrm>
          <a:prstGeom prst="rect">
            <a:avLst/>
          </a:prstGeom>
        </p:spPr>
      </p:pic>
      <p:sp>
        <p:nvSpPr>
          <p:cNvPr id="60" name="TextBox 59"/>
          <p:cNvSpPr txBox="1"/>
          <p:nvPr/>
        </p:nvSpPr>
        <p:spPr>
          <a:xfrm>
            <a:off x="7214484" y="5604510"/>
            <a:ext cx="311249" cy="194310"/>
          </a:xfrm>
          <a:prstGeom prst="rect">
            <a:avLst/>
          </a:prstGeom>
          <a:noFill/>
        </p:spPr>
        <p:txBody>
          <a:bodyPr wrap="none" lIns="0" rIns="0" tIns="0" bIns="0">
            <a:spAutoFit/>
          </a:bodyPr>
          <a:lstStyle/>
          <a:p>
            <a:r>
              <a:rPr sz="1150" b="0">
                <a:solidFill>
                  <a:srgbClr val="2E2E2E"/>
                </a:solidFill>
                <a:latin typeface="Calibri"/>
              </a:rPr>
              <a:t>US$</a:t>
            </a:r>
          </a:p>
        </p:txBody>
      </p:sp>
      <p:sp>
        <p:nvSpPr>
          <p:cNvPr id="61" name="TextBox 60"/>
          <p:cNvSpPr txBox="1"/>
          <p:nvPr/>
        </p:nvSpPr>
        <p:spPr>
          <a:xfrm>
            <a:off x="6029325" y="5779770"/>
            <a:ext cx="956493" cy="194310"/>
          </a:xfrm>
          <a:prstGeom prst="rect">
            <a:avLst/>
          </a:prstGeom>
          <a:noFill/>
        </p:spPr>
        <p:txBody>
          <a:bodyPr wrap="none" lIns="0" rIns="0" tIns="0" bIns="0">
            <a:spAutoFit/>
          </a:bodyPr>
          <a:lstStyle/>
          <a:p>
            <a:r>
              <a:rPr sz="1150" b="0">
                <a:solidFill>
                  <a:srgbClr val="2E2E2E"/>
                </a:solidFill>
                <a:latin typeface="Calibri"/>
              </a:rPr>
              <a:t>Mn by 2036F –</a:t>
            </a:r>
          </a:p>
        </p:txBody>
      </p:sp>
      <p:pic>
        <p:nvPicPr>
          <p:cNvPr id="62" name="Picture 61" descr="lock.png"/>
          <p:cNvPicPr>
            <a:picLocks noChangeAspect="1"/>
          </p:cNvPicPr>
          <p:nvPr/>
        </p:nvPicPr>
        <p:blipFill>
          <a:blip r:embed="rId4"/>
          <a:stretch>
            <a:fillRect/>
          </a:stretch>
        </p:blipFill>
        <p:spPr>
          <a:xfrm>
            <a:off x="6934972" y="5769546"/>
            <a:ext cx="134549" cy="195707"/>
          </a:xfrm>
          <a:prstGeom prst="rect">
            <a:avLst/>
          </a:prstGeom>
        </p:spPr>
      </p:pic>
      <p:sp>
        <p:nvSpPr>
          <p:cNvPr id="63" name="TextBox 62"/>
          <p:cNvSpPr txBox="1"/>
          <p:nvPr/>
        </p:nvSpPr>
        <p:spPr>
          <a:xfrm>
            <a:off x="7110081" y="5779770"/>
            <a:ext cx="429344" cy="194310"/>
          </a:xfrm>
          <a:prstGeom prst="rect">
            <a:avLst/>
          </a:prstGeom>
          <a:noFill/>
        </p:spPr>
        <p:txBody>
          <a:bodyPr wrap="none" lIns="0" rIns="0" tIns="0" bIns="0">
            <a:spAutoFit/>
          </a:bodyPr>
          <a:lstStyle/>
          <a:p>
            <a:r>
              <a:rPr sz="1150" b="0">
                <a:solidFill>
                  <a:srgbClr val="2E2E2E"/>
                </a:solidFill>
                <a:latin typeface="Calibri"/>
              </a:rPr>
              <a:t>of the</a:t>
            </a:r>
          </a:p>
        </p:txBody>
      </p:sp>
      <p:sp>
        <p:nvSpPr>
          <p:cNvPr id="64" name="TextBox 63"/>
          <p:cNvSpPr txBox="1"/>
          <p:nvPr/>
        </p:nvSpPr>
        <p:spPr>
          <a:xfrm>
            <a:off x="6029325" y="5955029"/>
            <a:ext cx="1134777" cy="194310"/>
          </a:xfrm>
          <a:prstGeom prst="rect">
            <a:avLst/>
          </a:prstGeom>
          <a:noFill/>
        </p:spPr>
        <p:txBody>
          <a:bodyPr wrap="none" lIns="0" rIns="0" tIns="0" bIns="0">
            <a:spAutoFit/>
          </a:bodyPr>
          <a:lstStyle/>
          <a:p>
            <a:r>
              <a:rPr sz="1150" b="0">
                <a:solidFill>
                  <a:srgbClr val="2E2E2E"/>
                </a:solidFill>
                <a:latin typeface="Calibri"/>
              </a:rPr>
              <a:t>total opportunity.</a:t>
            </a:r>
          </a:p>
        </p:txBody>
      </p:sp>
      <p:sp>
        <p:nvSpPr>
          <p:cNvPr id="65" name="TextBox 64"/>
          <p:cNvSpPr txBox="1"/>
          <p:nvPr/>
        </p:nvSpPr>
        <p:spPr>
          <a:xfrm>
            <a:off x="8124825" y="5429250"/>
            <a:ext cx="1413185" cy="194310"/>
          </a:xfrm>
          <a:prstGeom prst="rect">
            <a:avLst/>
          </a:prstGeom>
          <a:noFill/>
        </p:spPr>
        <p:txBody>
          <a:bodyPr wrap="none" lIns="0" rIns="0" tIns="0" bIns="0">
            <a:spAutoFit/>
          </a:bodyPr>
          <a:lstStyle/>
          <a:p>
            <a:r>
              <a:rPr sz="1150" b="0">
                <a:solidFill>
                  <a:srgbClr val="2E2E2E"/>
                </a:solidFill>
                <a:latin typeface="Calibri"/>
              </a:rPr>
              <a:t>▪ 'Cut Flowers × Tulips'</a:t>
            </a:r>
          </a:p>
        </p:txBody>
      </p:sp>
      <p:sp>
        <p:nvSpPr>
          <p:cNvPr id="66" name="TextBox 65"/>
          <p:cNvSpPr txBox="1"/>
          <p:nvPr/>
        </p:nvSpPr>
        <p:spPr>
          <a:xfrm>
            <a:off x="8124825" y="5604510"/>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7" name="Picture 66" descr="lock.png"/>
          <p:cNvPicPr>
            <a:picLocks noChangeAspect="1"/>
          </p:cNvPicPr>
          <p:nvPr/>
        </p:nvPicPr>
        <p:blipFill>
          <a:blip r:embed="rId4"/>
          <a:stretch>
            <a:fillRect/>
          </a:stretch>
        </p:blipFill>
        <p:spPr>
          <a:xfrm>
            <a:off x="8763474" y="5594286"/>
            <a:ext cx="134549" cy="195707"/>
          </a:xfrm>
          <a:prstGeom prst="rect">
            <a:avLst/>
          </a:prstGeom>
        </p:spPr>
      </p:pic>
      <p:sp>
        <p:nvSpPr>
          <p:cNvPr id="68" name="TextBox 67"/>
          <p:cNvSpPr txBox="1"/>
          <p:nvPr/>
        </p:nvSpPr>
        <p:spPr>
          <a:xfrm>
            <a:off x="8938584" y="5604510"/>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9334179" y="5594286"/>
            <a:ext cx="134549" cy="195707"/>
          </a:xfrm>
          <a:prstGeom prst="rect">
            <a:avLst/>
          </a:prstGeom>
        </p:spPr>
      </p:pic>
      <p:sp>
        <p:nvSpPr>
          <p:cNvPr id="70" name="TextBox 69"/>
          <p:cNvSpPr txBox="1"/>
          <p:nvPr/>
        </p:nvSpPr>
        <p:spPr>
          <a:xfrm>
            <a:off x="8124825" y="5779770"/>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1" name="TextBox 70"/>
          <p:cNvSpPr txBox="1"/>
          <p:nvPr/>
        </p:nvSpPr>
        <p:spPr>
          <a:xfrm>
            <a:off x="8124825" y="595502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508250"/>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2813050"/>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517900"/>
            <a:ext cx="7124700" cy="22606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Flower Species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Cultivation Method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Distribution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 Use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Volume Overview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(MN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(Mn Units),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(Mn Units)</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138412" cy="186689"/>
          </a:xfrm>
          <a:prstGeom prst="rect">
            <a:avLst/>
          </a:prstGeom>
          <a:noFill/>
        </p:spPr>
        <p:txBody>
          <a:bodyPr wrap="none" lIns="0" rIns="0" tIns="0" bIns="0">
            <a:spAutoFit/>
          </a:bodyPr>
          <a:lstStyle/>
          <a:p>
            <a:r>
              <a:rPr sz="1100" b="0">
                <a:solidFill>
                  <a:srgbClr val="2E2E2E"/>
                </a:solidFill>
                <a:latin typeface="Calibri"/>
              </a:rPr>
              <a:t>U.S.'s floriculture market expands at</a:t>
            </a:r>
          </a:p>
        </p:txBody>
      </p:sp>
      <p:pic>
        <p:nvPicPr>
          <p:cNvPr id="41" name="Picture 40" descr="lock.png"/>
          <p:cNvPicPr>
            <a:picLocks noChangeAspect="1"/>
          </p:cNvPicPr>
          <p:nvPr/>
        </p:nvPicPr>
        <p:blipFill>
          <a:blip r:embed="rId8"/>
          <a:stretch>
            <a:fillRect/>
          </a:stretch>
        </p:blipFill>
        <p:spPr>
          <a:xfrm>
            <a:off x="10157948" y="2866771"/>
            <a:ext cx="128699" cy="187198"/>
          </a:xfrm>
          <a:prstGeom prst="rect">
            <a:avLst/>
          </a:prstGeom>
        </p:spPr>
      </p:pic>
      <p:sp>
        <p:nvSpPr>
          <p:cNvPr id="42" name="TextBox 41"/>
          <p:cNvSpPr txBox="1"/>
          <p:nvPr/>
        </p:nvSpPr>
        <p:spPr>
          <a:xfrm>
            <a:off x="10325444" y="2876550"/>
            <a:ext cx="1232800" cy="186689"/>
          </a:xfrm>
          <a:prstGeom prst="rect">
            <a:avLst/>
          </a:prstGeom>
          <a:noFill/>
        </p:spPr>
        <p:txBody>
          <a:bodyPr wrap="none" lIns="0" rIns="0" tIns="0" bIns="0">
            <a:spAutoFit/>
          </a:bodyPr>
          <a:lstStyle/>
          <a:p>
            <a:r>
              <a:rPr sz="1100" b="0">
                <a:solidFill>
                  <a:srgbClr val="2E2E2E"/>
                </a:solidFill>
                <a:latin typeface="Calibri"/>
              </a:rPr>
              <a:t>CAGR through 2036,</a:t>
            </a:r>
          </a:p>
        </p:txBody>
      </p:sp>
      <p:sp>
        <p:nvSpPr>
          <p:cNvPr id="43" name="TextBox 42"/>
          <p:cNvSpPr txBox="1"/>
          <p:nvPr/>
        </p:nvSpPr>
        <p:spPr>
          <a:xfrm>
            <a:off x="8071485" y="3044190"/>
            <a:ext cx="2380977" cy="186689"/>
          </a:xfrm>
          <a:prstGeom prst="rect">
            <a:avLst/>
          </a:prstGeom>
          <a:noFill/>
        </p:spPr>
        <p:txBody>
          <a:bodyPr wrap="none" lIns="0" rIns="0" tIns="0" bIns="0">
            <a:spAutoFit/>
          </a:bodyPr>
          <a:lstStyle/>
          <a:p>
            <a:r>
              <a:rPr sz="1100" b="0">
                <a:solidFill>
                  <a:srgbClr val="2E2E2E"/>
                </a:solidFill>
                <a:latin typeface="Calibri"/>
              </a:rPr>
              <a:t>trailing the North America benchmark of</a:t>
            </a:r>
          </a:p>
        </p:txBody>
      </p:sp>
      <p:pic>
        <p:nvPicPr>
          <p:cNvPr id="44" name="Picture 43" descr="lock.png"/>
          <p:cNvPicPr>
            <a:picLocks noChangeAspect="1"/>
          </p:cNvPicPr>
          <p:nvPr/>
        </p:nvPicPr>
        <p:blipFill>
          <a:blip r:embed="rId8"/>
          <a:stretch>
            <a:fillRect/>
          </a:stretch>
        </p:blipFill>
        <p:spPr>
          <a:xfrm>
            <a:off x="10400513" y="3034411"/>
            <a:ext cx="128699" cy="187198"/>
          </a:xfrm>
          <a:prstGeom prst="rect">
            <a:avLst/>
          </a:prstGeom>
        </p:spPr>
      </p:pic>
      <p:sp>
        <p:nvSpPr>
          <p:cNvPr id="45" name="TextBox 44"/>
          <p:cNvSpPr txBox="1"/>
          <p:nvPr/>
        </p:nvSpPr>
        <p:spPr>
          <a:xfrm>
            <a:off x="10568009"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0728959" y="3034411"/>
            <a:ext cx="128699" cy="187198"/>
          </a:xfrm>
          <a:prstGeom prst="rect">
            <a:avLst/>
          </a:prstGeom>
        </p:spPr>
      </p:pic>
      <p:sp>
        <p:nvSpPr>
          <p:cNvPr id="47" name="TextBox 46"/>
          <p:cNvSpPr txBox="1"/>
          <p:nvPr/>
        </p:nvSpPr>
        <p:spPr>
          <a:xfrm>
            <a:off x="10896455"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356967" cy="186689"/>
          </a:xfrm>
          <a:prstGeom prst="rect">
            <a:avLst/>
          </a:prstGeom>
          <a:noFill/>
        </p:spPr>
        <p:txBody>
          <a:bodyPr wrap="none" lIns="0" rIns="0" tIns="0" bIns="0">
            <a:spAutoFit/>
          </a:bodyPr>
          <a:lstStyle/>
          <a:p>
            <a:r>
              <a:rPr sz="1100" b="0">
                <a:solidFill>
                  <a:srgbClr val="2E2E2E"/>
                </a:solidFill>
                <a:latin typeface="Calibri"/>
              </a:rPr>
              <a:t>of the North America floriculture market in 2026; by 2036</a:t>
            </a:r>
          </a:p>
        </p:txBody>
      </p:sp>
      <p:sp>
        <p:nvSpPr>
          <p:cNvPr id="53" name="TextBox 52"/>
          <p:cNvSpPr txBox="1"/>
          <p:nvPr/>
        </p:nvSpPr>
        <p:spPr>
          <a:xfrm>
            <a:off x="257175" y="6134100"/>
            <a:ext cx="1295573" cy="186689"/>
          </a:xfrm>
          <a:prstGeom prst="rect">
            <a:avLst/>
          </a:prstGeom>
          <a:noFill/>
        </p:spPr>
        <p:txBody>
          <a:bodyPr wrap="none" lIns="0" rIns="0" tIns="0" bIns="0">
            <a:spAutoFit/>
          </a:bodyPr>
          <a:lstStyle/>
          <a:p>
            <a:r>
              <a:rPr sz="1100" b="0">
                <a:solidFill>
                  <a:srgbClr val="2E2E2E"/>
                </a:solidFill>
                <a:latin typeface="Calibri"/>
              </a:rPr>
              <a:t>those shares move to</a:t>
            </a:r>
          </a:p>
        </p:txBody>
      </p:sp>
      <p:pic>
        <p:nvPicPr>
          <p:cNvPr id="54" name="Picture 53" descr="lock.png"/>
          <p:cNvPicPr>
            <a:picLocks noChangeAspect="1"/>
          </p:cNvPicPr>
          <p:nvPr/>
        </p:nvPicPr>
        <p:blipFill>
          <a:blip r:embed="rId8"/>
          <a:stretch>
            <a:fillRect/>
          </a:stretch>
        </p:blipFill>
        <p:spPr>
          <a:xfrm>
            <a:off x="1500800" y="6124320"/>
            <a:ext cx="128699" cy="187198"/>
          </a:xfrm>
          <a:prstGeom prst="rect">
            <a:avLst/>
          </a:prstGeom>
        </p:spPr>
      </p:pic>
      <p:sp>
        <p:nvSpPr>
          <p:cNvPr id="55" name="TextBox 54"/>
          <p:cNvSpPr txBox="1"/>
          <p:nvPr/>
        </p:nvSpPr>
        <p:spPr>
          <a:xfrm>
            <a:off x="1668296"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1906190" y="6124320"/>
            <a:ext cx="128699" cy="187198"/>
          </a:xfrm>
          <a:prstGeom prst="rect">
            <a:avLst/>
          </a:prstGeom>
        </p:spPr>
      </p:pic>
      <p:sp>
        <p:nvSpPr>
          <p:cNvPr id="57" name="TextBox 56"/>
          <p:cNvSpPr txBox="1"/>
          <p:nvPr/>
        </p:nvSpPr>
        <p:spPr>
          <a:xfrm>
            <a:off x="2073686"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9" name="Picture 58" descr="lock.png"/>
          <p:cNvPicPr>
            <a:picLocks noChangeAspect="1"/>
          </p:cNvPicPr>
          <p:nvPr/>
        </p:nvPicPr>
        <p:blipFill>
          <a:blip r:embed="rId8"/>
          <a:stretch>
            <a:fillRect/>
          </a:stretch>
        </p:blipFill>
        <p:spPr>
          <a:xfrm>
            <a:off x="7821530" y="5956680"/>
            <a:ext cx="128699" cy="187198"/>
          </a:xfrm>
          <a:prstGeom prst="rect">
            <a:avLst/>
          </a:prstGeom>
        </p:spPr>
      </p:pic>
      <p:sp>
        <p:nvSpPr>
          <p:cNvPr id="60" name="TextBox 59"/>
          <p:cNvSpPr txBox="1"/>
          <p:nvPr/>
        </p:nvSpPr>
        <p:spPr>
          <a:xfrm>
            <a:off x="7989026" y="5966460"/>
            <a:ext cx="3450828" cy="186689"/>
          </a:xfrm>
          <a:prstGeom prst="rect">
            <a:avLst/>
          </a:prstGeom>
          <a:noFill/>
        </p:spPr>
        <p:txBody>
          <a:bodyPr wrap="none" lIns="0" rIns="0" tIns="0" bIns="0">
            <a:spAutoFit/>
          </a:bodyPr>
          <a:lstStyle/>
          <a:p>
            <a:r>
              <a:rPr sz="1100" b="0">
                <a:solidFill>
                  <a:srgbClr val="2E2E2E"/>
                </a:solidFill>
                <a:latin typeface="Calibri"/>
              </a:rPr>
              <a:t>Mn Units between 2026 and 2036 the U.S. market grows to</a:t>
            </a:r>
          </a:p>
        </p:txBody>
      </p:sp>
      <p:pic>
        <p:nvPicPr>
          <p:cNvPr id="61" name="Picture 60" descr="lock.png"/>
          <p:cNvPicPr>
            <a:picLocks noChangeAspect="1"/>
          </p:cNvPicPr>
          <p:nvPr/>
        </p:nvPicPr>
        <p:blipFill>
          <a:blip r:embed="rId8"/>
          <a:stretch>
            <a:fillRect/>
          </a:stretch>
        </p:blipFill>
        <p:spPr>
          <a:xfrm>
            <a:off x="11387906" y="5956680"/>
            <a:ext cx="128699" cy="187198"/>
          </a:xfrm>
          <a:prstGeom prst="rect">
            <a:avLst/>
          </a:prstGeom>
        </p:spPr>
      </p:pic>
      <p:sp>
        <p:nvSpPr>
          <p:cNvPr id="62" name="TextBox 61"/>
          <p:cNvSpPr txBox="1"/>
          <p:nvPr/>
        </p:nvSpPr>
        <p:spPr>
          <a:xfrm>
            <a:off x="11555402" y="5966460"/>
            <a:ext cx="14577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3" name="TextBox 62"/>
          <p:cNvSpPr txBox="1"/>
          <p:nvPr/>
        </p:nvSpPr>
        <p:spPr>
          <a:xfrm>
            <a:off x="6286500" y="6134100"/>
            <a:ext cx="1755601" cy="186689"/>
          </a:xfrm>
          <a:prstGeom prst="rect">
            <a:avLst/>
          </a:prstGeom>
          <a:noFill/>
        </p:spPr>
        <p:txBody>
          <a:bodyPr wrap="none" lIns="0" rIns="0" tIns="0" bIns="0">
            <a:spAutoFit/>
          </a:bodyPr>
          <a:lstStyle/>
          <a:p>
            <a:r>
              <a:rPr sz="1100" b="0">
                <a:solidFill>
                  <a:srgbClr val="2E2E2E"/>
                </a:solidFill>
                <a:latin typeface="Calibri"/>
              </a:rPr>
              <a:t>its 2026 size over the decade.</a:t>
            </a:r>
          </a:p>
        </p:txBody>
      </p:sp>
      <p:sp>
        <p:nvSpPr>
          <p:cNvPr id="64"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138412" cy="186689"/>
          </a:xfrm>
          <a:prstGeom prst="rect">
            <a:avLst/>
          </a:prstGeom>
          <a:noFill/>
        </p:spPr>
        <p:txBody>
          <a:bodyPr wrap="none" lIns="0" rIns="0" tIns="0" bIns="0">
            <a:spAutoFit/>
          </a:bodyPr>
          <a:lstStyle/>
          <a:p>
            <a:r>
              <a:rPr sz="1100" b="0">
                <a:solidFill>
                  <a:srgbClr val="2E2E2E"/>
                </a:solidFill>
                <a:latin typeface="Calibri"/>
              </a:rPr>
              <a:t>U.S.'s floriculture market expands at</a:t>
            </a:r>
          </a:p>
        </p:txBody>
      </p:sp>
      <p:pic>
        <p:nvPicPr>
          <p:cNvPr id="41" name="Picture 40" descr="lock.png"/>
          <p:cNvPicPr>
            <a:picLocks noChangeAspect="1"/>
          </p:cNvPicPr>
          <p:nvPr/>
        </p:nvPicPr>
        <p:blipFill>
          <a:blip r:embed="rId8"/>
          <a:stretch>
            <a:fillRect/>
          </a:stretch>
        </p:blipFill>
        <p:spPr>
          <a:xfrm>
            <a:off x="10157948" y="2866771"/>
            <a:ext cx="128699" cy="187198"/>
          </a:xfrm>
          <a:prstGeom prst="rect">
            <a:avLst/>
          </a:prstGeom>
        </p:spPr>
      </p:pic>
      <p:sp>
        <p:nvSpPr>
          <p:cNvPr id="42" name="TextBox 41"/>
          <p:cNvSpPr txBox="1"/>
          <p:nvPr/>
        </p:nvSpPr>
        <p:spPr>
          <a:xfrm>
            <a:off x="10325444" y="2876550"/>
            <a:ext cx="1232800" cy="186689"/>
          </a:xfrm>
          <a:prstGeom prst="rect">
            <a:avLst/>
          </a:prstGeom>
          <a:noFill/>
        </p:spPr>
        <p:txBody>
          <a:bodyPr wrap="none" lIns="0" rIns="0" tIns="0" bIns="0">
            <a:spAutoFit/>
          </a:bodyPr>
          <a:lstStyle/>
          <a:p>
            <a:r>
              <a:rPr sz="1100" b="0">
                <a:solidFill>
                  <a:srgbClr val="2E2E2E"/>
                </a:solidFill>
                <a:latin typeface="Calibri"/>
              </a:rPr>
              <a:t>CAGR through 2036,</a:t>
            </a:r>
          </a:p>
        </p:txBody>
      </p:sp>
      <p:sp>
        <p:nvSpPr>
          <p:cNvPr id="43" name="TextBox 42"/>
          <p:cNvSpPr txBox="1"/>
          <p:nvPr/>
        </p:nvSpPr>
        <p:spPr>
          <a:xfrm>
            <a:off x="8071485" y="3044190"/>
            <a:ext cx="2380977" cy="186689"/>
          </a:xfrm>
          <a:prstGeom prst="rect">
            <a:avLst/>
          </a:prstGeom>
          <a:noFill/>
        </p:spPr>
        <p:txBody>
          <a:bodyPr wrap="none" lIns="0" rIns="0" tIns="0" bIns="0">
            <a:spAutoFit/>
          </a:bodyPr>
          <a:lstStyle/>
          <a:p>
            <a:r>
              <a:rPr sz="1100" b="0">
                <a:solidFill>
                  <a:srgbClr val="2E2E2E"/>
                </a:solidFill>
                <a:latin typeface="Calibri"/>
              </a:rPr>
              <a:t>trailing the North America benchmark of</a:t>
            </a:r>
          </a:p>
        </p:txBody>
      </p:sp>
      <p:pic>
        <p:nvPicPr>
          <p:cNvPr id="44" name="Picture 43" descr="lock.png"/>
          <p:cNvPicPr>
            <a:picLocks noChangeAspect="1"/>
          </p:cNvPicPr>
          <p:nvPr/>
        </p:nvPicPr>
        <p:blipFill>
          <a:blip r:embed="rId8"/>
          <a:stretch>
            <a:fillRect/>
          </a:stretch>
        </p:blipFill>
        <p:spPr>
          <a:xfrm>
            <a:off x="10400513" y="3034411"/>
            <a:ext cx="128699" cy="187198"/>
          </a:xfrm>
          <a:prstGeom prst="rect">
            <a:avLst/>
          </a:prstGeom>
        </p:spPr>
      </p:pic>
      <p:sp>
        <p:nvSpPr>
          <p:cNvPr id="45" name="TextBox 44"/>
          <p:cNvSpPr txBox="1"/>
          <p:nvPr/>
        </p:nvSpPr>
        <p:spPr>
          <a:xfrm>
            <a:off x="10568009"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10728959" y="3034411"/>
            <a:ext cx="128699" cy="187198"/>
          </a:xfrm>
          <a:prstGeom prst="rect">
            <a:avLst/>
          </a:prstGeom>
        </p:spPr>
      </p:pic>
      <p:sp>
        <p:nvSpPr>
          <p:cNvPr id="47" name="TextBox 46"/>
          <p:cNvSpPr txBox="1"/>
          <p:nvPr/>
        </p:nvSpPr>
        <p:spPr>
          <a:xfrm>
            <a:off x="10896455"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356967" cy="186689"/>
          </a:xfrm>
          <a:prstGeom prst="rect">
            <a:avLst/>
          </a:prstGeom>
          <a:noFill/>
        </p:spPr>
        <p:txBody>
          <a:bodyPr wrap="none" lIns="0" rIns="0" tIns="0" bIns="0">
            <a:spAutoFit/>
          </a:bodyPr>
          <a:lstStyle/>
          <a:p>
            <a:r>
              <a:rPr sz="1100" b="0">
                <a:solidFill>
                  <a:srgbClr val="2E2E2E"/>
                </a:solidFill>
                <a:latin typeface="Calibri"/>
              </a:rPr>
              <a:t>of the North America floriculture market in 2026; by 2036</a:t>
            </a:r>
          </a:p>
        </p:txBody>
      </p:sp>
      <p:sp>
        <p:nvSpPr>
          <p:cNvPr id="53" name="TextBox 52"/>
          <p:cNvSpPr txBox="1"/>
          <p:nvPr/>
        </p:nvSpPr>
        <p:spPr>
          <a:xfrm>
            <a:off x="257175" y="6134100"/>
            <a:ext cx="1295573" cy="186689"/>
          </a:xfrm>
          <a:prstGeom prst="rect">
            <a:avLst/>
          </a:prstGeom>
          <a:noFill/>
        </p:spPr>
        <p:txBody>
          <a:bodyPr wrap="none" lIns="0" rIns="0" tIns="0" bIns="0">
            <a:spAutoFit/>
          </a:bodyPr>
          <a:lstStyle/>
          <a:p>
            <a:r>
              <a:rPr sz="1100" b="0">
                <a:solidFill>
                  <a:srgbClr val="2E2E2E"/>
                </a:solidFill>
                <a:latin typeface="Calibri"/>
              </a:rPr>
              <a:t>those shares move to</a:t>
            </a:r>
          </a:p>
        </p:txBody>
      </p:sp>
      <p:pic>
        <p:nvPicPr>
          <p:cNvPr id="54" name="Picture 53" descr="lock.png"/>
          <p:cNvPicPr>
            <a:picLocks noChangeAspect="1"/>
          </p:cNvPicPr>
          <p:nvPr/>
        </p:nvPicPr>
        <p:blipFill>
          <a:blip r:embed="rId8"/>
          <a:stretch>
            <a:fillRect/>
          </a:stretch>
        </p:blipFill>
        <p:spPr>
          <a:xfrm>
            <a:off x="1500800" y="6124320"/>
            <a:ext cx="128699" cy="187198"/>
          </a:xfrm>
          <a:prstGeom prst="rect">
            <a:avLst/>
          </a:prstGeom>
        </p:spPr>
      </p:pic>
      <p:sp>
        <p:nvSpPr>
          <p:cNvPr id="55" name="TextBox 54"/>
          <p:cNvSpPr txBox="1"/>
          <p:nvPr/>
        </p:nvSpPr>
        <p:spPr>
          <a:xfrm>
            <a:off x="1668296"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1906190" y="6124320"/>
            <a:ext cx="128699" cy="187198"/>
          </a:xfrm>
          <a:prstGeom prst="rect">
            <a:avLst/>
          </a:prstGeom>
        </p:spPr>
      </p:pic>
      <p:sp>
        <p:nvSpPr>
          <p:cNvPr id="57" name="TextBox 56"/>
          <p:cNvSpPr txBox="1"/>
          <p:nvPr/>
        </p:nvSpPr>
        <p:spPr>
          <a:xfrm>
            <a:off x="2073686"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9" name="Picture 58" descr="lock.png"/>
          <p:cNvPicPr>
            <a:picLocks noChangeAspect="1"/>
          </p:cNvPicPr>
          <p:nvPr/>
        </p:nvPicPr>
        <p:blipFill>
          <a:blip r:embed="rId8"/>
          <a:stretch>
            <a:fillRect/>
          </a:stretch>
        </p:blipFill>
        <p:spPr>
          <a:xfrm>
            <a:off x="9337766" y="5872860"/>
            <a:ext cx="128699" cy="187198"/>
          </a:xfrm>
          <a:prstGeom prst="rect">
            <a:avLst/>
          </a:prstGeom>
        </p:spPr>
      </p:pic>
      <p:sp>
        <p:nvSpPr>
          <p:cNvPr id="60" name="TextBox 59"/>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1" name="Picture 60" descr="lock.png"/>
          <p:cNvPicPr>
            <a:picLocks noChangeAspect="1"/>
          </p:cNvPicPr>
          <p:nvPr/>
        </p:nvPicPr>
        <p:blipFill>
          <a:blip r:embed="rId8"/>
          <a:stretch>
            <a:fillRect/>
          </a:stretch>
        </p:blipFill>
        <p:spPr>
          <a:xfrm>
            <a:off x="10948871" y="5872860"/>
            <a:ext cx="128699" cy="187198"/>
          </a:xfrm>
          <a:prstGeom prst="rect">
            <a:avLst/>
          </a:prstGeom>
        </p:spPr>
      </p:pic>
      <p:sp>
        <p:nvSpPr>
          <p:cNvPr id="62" name="TextBox 61"/>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3" name="TextBox 62"/>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4" name="Picture 63" descr="lock.png"/>
          <p:cNvPicPr>
            <a:picLocks noChangeAspect="1"/>
          </p:cNvPicPr>
          <p:nvPr/>
        </p:nvPicPr>
        <p:blipFill>
          <a:blip r:embed="rId8"/>
          <a:stretch>
            <a:fillRect/>
          </a:stretch>
        </p:blipFill>
        <p:spPr>
          <a:xfrm>
            <a:off x="10929309" y="6040501"/>
            <a:ext cx="128699" cy="187198"/>
          </a:xfrm>
          <a:prstGeom prst="rect">
            <a:avLst/>
          </a:prstGeom>
        </p:spPr>
      </p:pic>
      <p:sp>
        <p:nvSpPr>
          <p:cNvPr id="65" name="TextBox 64"/>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6" name="TextBox 65"/>
          <p:cNvSpPr txBox="1"/>
          <p:nvPr/>
        </p:nvSpPr>
        <p:spPr>
          <a:xfrm>
            <a:off x="6286500" y="6217920"/>
            <a:ext cx="2692846" cy="186689"/>
          </a:xfrm>
          <a:prstGeom prst="rect">
            <a:avLst/>
          </a:prstGeom>
          <a:noFill/>
        </p:spPr>
        <p:txBody>
          <a:bodyPr wrap="none" lIns="0" rIns="0" tIns="0" bIns="0">
            <a:spAutoFit/>
          </a:bodyPr>
          <a:lstStyle/>
          <a:p>
            <a:r>
              <a:rPr sz="1100" b="0">
                <a:solidFill>
                  <a:srgbClr val="2E2E2E"/>
                </a:solidFill>
                <a:latin typeface="Calibri"/>
              </a:rPr>
              <a:t>overall floriculture market from 2025 to 2036.</a:t>
            </a:r>
          </a:p>
        </p:txBody>
      </p:sp>
      <p:sp>
        <p:nvSpPr>
          <p:cNvPr id="67"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(US$ Mn)</a:t>
            </a:r>
          </a:p>
        </p:txBody>
      </p:sp>
      <p:graphicFrame>
        <p:nvGraphicFramePr>
          <p:cNvPr id="12" name="Chart 11"/>
          <p:cNvGraphicFramePr>
            <a:graphicFrameLocks noGrp="1"/>
          </p:cNvGraphicFramePr>
          <p:nvPr/>
        </p:nvGraphicFramePr>
        <p:xfrm>
          <a:off x="238125" y="1266825"/>
          <a:ext cx="2667000" cy="142875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Flower Species  (US$ Mn)</a:t>
            </a:r>
          </a:p>
        </p:txBody>
      </p:sp>
      <p:graphicFrame>
        <p:nvGraphicFramePr>
          <p:cNvPr id="15" name="Chart 14"/>
          <p:cNvGraphicFramePr>
            <a:graphicFrameLocks noGrp="1"/>
          </p:cNvGraphicFramePr>
          <p:nvPr/>
        </p:nvGraphicFramePr>
        <p:xfrm>
          <a:off x="3248025" y="1266825"/>
          <a:ext cx="2667000" cy="14287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Cultivation Method  (US$ Mn)</a:t>
            </a:r>
          </a:p>
        </p:txBody>
      </p:sp>
      <p:graphicFrame>
        <p:nvGraphicFramePr>
          <p:cNvPr id="18" name="Chart 17"/>
          <p:cNvGraphicFramePr>
            <a:graphicFrameLocks noGrp="1"/>
          </p:cNvGraphicFramePr>
          <p:nvPr/>
        </p:nvGraphicFramePr>
        <p:xfrm>
          <a:off x="6257925" y="1266825"/>
          <a:ext cx="2667000" cy="14287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(US$ Mn)</a:t>
            </a:r>
          </a:p>
        </p:txBody>
      </p:sp>
      <p:graphicFrame>
        <p:nvGraphicFramePr>
          <p:cNvPr id="21" name="Chart 20"/>
          <p:cNvGraphicFramePr>
            <a:graphicFrameLocks noGrp="1"/>
          </p:cNvGraphicFramePr>
          <p:nvPr/>
        </p:nvGraphicFramePr>
        <p:xfrm>
          <a:off x="9267825" y="1266825"/>
          <a:ext cx="2667000" cy="14287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2886075"/>
            <a:ext cx="29718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2943225"/>
            <a:ext cx="2781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  (US$ Mn)</a:t>
            </a:r>
          </a:p>
        </p:txBody>
      </p:sp>
      <p:graphicFrame>
        <p:nvGraphicFramePr>
          <p:cNvPr id="24" name="Chart 23"/>
          <p:cNvGraphicFramePr>
            <a:graphicFrameLocks noGrp="1"/>
          </p:cNvGraphicFramePr>
          <p:nvPr/>
        </p:nvGraphicFramePr>
        <p:xfrm>
          <a:off x="238125" y="3171825"/>
          <a:ext cx="2781300" cy="1428750"/>
        </p:xfrm>
        <a:graphic>
          <a:graphicData uri="http://schemas.openxmlformats.org/drawingml/2006/chart">
            <c:chart xmlns:c="http://schemas.openxmlformats.org/drawingml/2006/chart" r:id="rId7"/>
          </a:graphicData>
        </a:graphic>
      </p:graphicFrame>
      <p:sp>
        <p:nvSpPr>
          <p:cNvPr id="25" name="Rounded Rectangle 24"/>
          <p:cNvSpPr/>
          <p:nvPr/>
        </p:nvSpPr>
        <p:spPr>
          <a:xfrm>
            <a:off x="142875" y="4791075"/>
            <a:ext cx="11906250"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68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27" name="Rectangle 26"/>
          <p:cNvSpPr/>
          <p:nvPr/>
        </p:nvSpPr>
        <p:spPr>
          <a:xfrm>
            <a:off x="276225" y="511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200650"/>
            <a:ext cx="11639550" cy="13430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9"/>
          <a:stretch>
            <a:fillRect/>
          </a:stretch>
        </p:blipFill>
        <p:spPr>
          <a:xfrm>
            <a:off x="1811655" y="1762125"/>
            <a:ext cx="183356" cy="266700"/>
          </a:xfrm>
          <a:prstGeom prst="rect">
            <a:avLst/>
          </a:prstGeom>
        </p:spPr>
      </p:pic>
      <p:pic>
        <p:nvPicPr>
          <p:cNvPr id="31" name="Picture 30" descr="lock.png"/>
          <p:cNvPicPr>
            <a:picLocks noChangeAspect="1"/>
          </p:cNvPicPr>
          <p:nvPr/>
        </p:nvPicPr>
        <p:blipFill>
          <a:blip r:embed="rId9"/>
          <a:stretch>
            <a:fillRect/>
          </a:stretch>
        </p:blipFill>
        <p:spPr>
          <a:xfrm>
            <a:off x="4821555" y="1762125"/>
            <a:ext cx="183356" cy="266700"/>
          </a:xfrm>
          <a:prstGeom prst="rect">
            <a:avLst/>
          </a:prstGeom>
        </p:spPr>
      </p:pic>
      <p:pic>
        <p:nvPicPr>
          <p:cNvPr id="32" name="Picture 31" descr="lock.png"/>
          <p:cNvPicPr>
            <a:picLocks noChangeAspect="1"/>
          </p:cNvPicPr>
          <p:nvPr/>
        </p:nvPicPr>
        <p:blipFill>
          <a:blip r:embed="rId9"/>
          <a:stretch>
            <a:fillRect/>
          </a:stretch>
        </p:blipFill>
        <p:spPr>
          <a:xfrm>
            <a:off x="7831455" y="1762125"/>
            <a:ext cx="183356" cy="266700"/>
          </a:xfrm>
          <a:prstGeom prst="rect">
            <a:avLst/>
          </a:prstGeom>
        </p:spPr>
      </p:pic>
      <p:pic>
        <p:nvPicPr>
          <p:cNvPr id="33" name="Picture 32" descr="lock.png"/>
          <p:cNvPicPr>
            <a:picLocks noChangeAspect="1"/>
          </p:cNvPicPr>
          <p:nvPr/>
        </p:nvPicPr>
        <p:blipFill>
          <a:blip r:embed="rId9"/>
          <a:stretch>
            <a:fillRect/>
          </a:stretch>
        </p:blipFill>
        <p:spPr>
          <a:xfrm>
            <a:off x="10841355" y="1762125"/>
            <a:ext cx="183356" cy="266700"/>
          </a:xfrm>
          <a:prstGeom prst="rect">
            <a:avLst/>
          </a:prstGeom>
        </p:spPr>
      </p:pic>
      <p:pic>
        <p:nvPicPr>
          <p:cNvPr id="34" name="Picture 33" descr="lock.png"/>
          <p:cNvPicPr>
            <a:picLocks noChangeAspect="1"/>
          </p:cNvPicPr>
          <p:nvPr/>
        </p:nvPicPr>
        <p:blipFill>
          <a:blip r:embed="rId9"/>
          <a:stretch>
            <a:fillRect/>
          </a:stretch>
        </p:blipFill>
        <p:spPr>
          <a:xfrm>
            <a:off x="1868805" y="3667125"/>
            <a:ext cx="183356" cy="266700"/>
          </a:xfrm>
          <a:prstGeom prst="rect">
            <a:avLst/>
          </a:prstGeom>
        </p:spPr>
      </p:pic>
      <p:sp>
        <p:nvSpPr>
          <p:cNvPr id="35" name="TextBox 34"/>
          <p:cNvSpPr txBox="1"/>
          <p:nvPr/>
        </p:nvSpPr>
        <p:spPr>
          <a:xfrm>
            <a:off x="276225" y="48863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36" name="Picture 35" descr="lock.png"/>
          <p:cNvPicPr>
            <a:picLocks noChangeAspect="1"/>
          </p:cNvPicPr>
          <p:nvPr/>
        </p:nvPicPr>
        <p:blipFill>
          <a:blip r:embed="rId9"/>
          <a:stretch>
            <a:fillRect/>
          </a:stretch>
        </p:blipFill>
        <p:spPr>
          <a:xfrm>
            <a:off x="1688698" y="4878003"/>
            <a:ext cx="109510" cy="159288"/>
          </a:xfrm>
          <a:prstGeom prst="rect">
            <a:avLst/>
          </a:prstGeom>
        </p:spPr>
      </p:pic>
      <p:sp>
        <p:nvSpPr>
          <p:cNvPr id="37" name="TextBox 36"/>
          <p:cNvSpPr txBox="1"/>
          <p:nvPr/>
        </p:nvSpPr>
        <p:spPr>
          <a:xfrm>
            <a:off x="1831222" y="48863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38" name="TextBox 37"/>
          <p:cNvSpPr txBox="1"/>
          <p:nvPr/>
        </p:nvSpPr>
        <p:spPr>
          <a:xfrm>
            <a:off x="276225" y="5210175"/>
            <a:ext cx="2353397" cy="186689"/>
          </a:xfrm>
          <a:prstGeom prst="rect">
            <a:avLst/>
          </a:prstGeom>
          <a:noFill/>
        </p:spPr>
        <p:txBody>
          <a:bodyPr wrap="none" lIns="0" rIns="0" tIns="0" bIns="0">
            <a:spAutoFit/>
          </a:bodyPr>
          <a:lstStyle/>
          <a:p>
            <a:r>
              <a:rPr sz="1100" b="0">
                <a:solidFill>
                  <a:srgbClr val="2E2E2E"/>
                </a:solidFill>
                <a:latin typeface="Calibri"/>
              </a:rPr>
              <a:t>▪ By Product Type, 'Cut Flowers' leads at</a:t>
            </a:r>
          </a:p>
        </p:txBody>
      </p:sp>
      <p:pic>
        <p:nvPicPr>
          <p:cNvPr id="39" name="Picture 38" descr="lock.png"/>
          <p:cNvPicPr>
            <a:picLocks noChangeAspect="1"/>
          </p:cNvPicPr>
          <p:nvPr/>
        </p:nvPicPr>
        <p:blipFill>
          <a:blip r:embed="rId9"/>
          <a:stretch>
            <a:fillRect/>
          </a:stretch>
        </p:blipFill>
        <p:spPr>
          <a:xfrm>
            <a:off x="2577674" y="5200395"/>
            <a:ext cx="128699" cy="187198"/>
          </a:xfrm>
          <a:prstGeom prst="rect">
            <a:avLst/>
          </a:prstGeom>
        </p:spPr>
      </p:pic>
      <p:sp>
        <p:nvSpPr>
          <p:cNvPr id="40" name="TextBox 39"/>
          <p:cNvSpPr txBox="1"/>
          <p:nvPr/>
        </p:nvSpPr>
        <p:spPr>
          <a:xfrm>
            <a:off x="2745170" y="52101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1" name="Picture 40" descr="lock.png"/>
          <p:cNvPicPr>
            <a:picLocks noChangeAspect="1"/>
          </p:cNvPicPr>
          <p:nvPr/>
        </p:nvPicPr>
        <p:blipFill>
          <a:blip r:embed="rId9"/>
          <a:stretch>
            <a:fillRect/>
          </a:stretch>
        </p:blipFill>
        <p:spPr>
          <a:xfrm>
            <a:off x="3292751" y="5200395"/>
            <a:ext cx="128699" cy="187198"/>
          </a:xfrm>
          <a:prstGeom prst="rect">
            <a:avLst/>
          </a:prstGeom>
        </p:spPr>
      </p:pic>
      <p:sp>
        <p:nvSpPr>
          <p:cNvPr id="42" name="TextBox 41"/>
          <p:cNvSpPr txBox="1"/>
          <p:nvPr/>
        </p:nvSpPr>
        <p:spPr>
          <a:xfrm>
            <a:off x="3460246" y="5210175"/>
            <a:ext cx="2356936" cy="186689"/>
          </a:xfrm>
          <a:prstGeom prst="rect">
            <a:avLst/>
          </a:prstGeom>
          <a:noFill/>
        </p:spPr>
        <p:txBody>
          <a:bodyPr wrap="none" lIns="0" rIns="0" tIns="0" bIns="0">
            <a:spAutoFit/>
          </a:bodyPr>
          <a:lstStyle/>
          <a:p>
            <a:r>
              <a:rPr sz="1100" b="0">
                <a:solidFill>
                  <a:srgbClr val="2E2E2E"/>
                </a:solidFill>
                <a:latin typeface="Calibri"/>
              </a:rPr>
              <a:t>share), ahead of 'Cut Foliage &amp; Greens' (</a:t>
            </a:r>
          </a:p>
        </p:txBody>
      </p:sp>
      <p:pic>
        <p:nvPicPr>
          <p:cNvPr id="43" name="Picture 42" descr="lock.png"/>
          <p:cNvPicPr>
            <a:picLocks noChangeAspect="1"/>
          </p:cNvPicPr>
          <p:nvPr/>
        </p:nvPicPr>
        <p:blipFill>
          <a:blip r:embed="rId9"/>
          <a:stretch>
            <a:fillRect/>
          </a:stretch>
        </p:blipFill>
        <p:spPr>
          <a:xfrm>
            <a:off x="5765234" y="5200395"/>
            <a:ext cx="128699" cy="187198"/>
          </a:xfrm>
          <a:prstGeom prst="rect">
            <a:avLst/>
          </a:prstGeom>
        </p:spPr>
      </p:pic>
      <p:sp>
        <p:nvSpPr>
          <p:cNvPr id="44" name="TextBox 43"/>
          <p:cNvSpPr txBox="1"/>
          <p:nvPr/>
        </p:nvSpPr>
        <p:spPr>
          <a:xfrm>
            <a:off x="5932730" y="52101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5" name="TextBox 44"/>
          <p:cNvSpPr txBox="1"/>
          <p:nvPr/>
        </p:nvSpPr>
        <p:spPr>
          <a:xfrm>
            <a:off x="276225" y="5428107"/>
            <a:ext cx="2383957" cy="186689"/>
          </a:xfrm>
          <a:prstGeom prst="rect">
            <a:avLst/>
          </a:prstGeom>
          <a:noFill/>
        </p:spPr>
        <p:txBody>
          <a:bodyPr wrap="none" lIns="0" rIns="0" tIns="0" bIns="0">
            <a:spAutoFit/>
          </a:bodyPr>
          <a:lstStyle/>
          <a:p>
            <a:r>
              <a:rPr sz="1100" b="0">
                <a:solidFill>
                  <a:srgbClr val="2E2E2E"/>
                </a:solidFill>
                <a:latin typeface="Calibri"/>
              </a:rPr>
              <a:t>▪ By Flower Species, 'Carnations' leads at</a:t>
            </a:r>
          </a:p>
        </p:txBody>
      </p:sp>
      <p:pic>
        <p:nvPicPr>
          <p:cNvPr id="46" name="Picture 45" descr="lock.png"/>
          <p:cNvPicPr>
            <a:picLocks noChangeAspect="1"/>
          </p:cNvPicPr>
          <p:nvPr/>
        </p:nvPicPr>
        <p:blipFill>
          <a:blip r:embed="rId9"/>
          <a:stretch>
            <a:fillRect/>
          </a:stretch>
        </p:blipFill>
        <p:spPr>
          <a:xfrm>
            <a:off x="2608233" y="5418327"/>
            <a:ext cx="128699" cy="187198"/>
          </a:xfrm>
          <a:prstGeom prst="rect">
            <a:avLst/>
          </a:prstGeom>
        </p:spPr>
      </p:pic>
      <p:sp>
        <p:nvSpPr>
          <p:cNvPr id="47" name="TextBox 46"/>
          <p:cNvSpPr txBox="1"/>
          <p:nvPr/>
        </p:nvSpPr>
        <p:spPr>
          <a:xfrm>
            <a:off x="2775729" y="54281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8" name="Picture 47" descr="lock.png"/>
          <p:cNvPicPr>
            <a:picLocks noChangeAspect="1"/>
          </p:cNvPicPr>
          <p:nvPr/>
        </p:nvPicPr>
        <p:blipFill>
          <a:blip r:embed="rId9"/>
          <a:stretch>
            <a:fillRect/>
          </a:stretch>
        </p:blipFill>
        <p:spPr>
          <a:xfrm>
            <a:off x="3323310" y="5418327"/>
            <a:ext cx="128699" cy="187198"/>
          </a:xfrm>
          <a:prstGeom prst="rect">
            <a:avLst/>
          </a:prstGeom>
        </p:spPr>
      </p:pic>
      <p:sp>
        <p:nvSpPr>
          <p:cNvPr id="49" name="TextBox 48"/>
          <p:cNvSpPr txBox="1"/>
          <p:nvPr/>
        </p:nvSpPr>
        <p:spPr>
          <a:xfrm>
            <a:off x="3490806" y="5428107"/>
            <a:ext cx="1628725" cy="186689"/>
          </a:xfrm>
          <a:prstGeom prst="rect">
            <a:avLst/>
          </a:prstGeom>
          <a:noFill/>
        </p:spPr>
        <p:txBody>
          <a:bodyPr wrap="none" lIns="0" rIns="0" tIns="0" bIns="0">
            <a:spAutoFit/>
          </a:bodyPr>
          <a:lstStyle/>
          <a:p>
            <a:r>
              <a:rPr sz="1100" b="0">
                <a:solidFill>
                  <a:srgbClr val="2E2E2E"/>
                </a:solidFill>
                <a:latin typeface="Calibri"/>
              </a:rPr>
              <a:t>share), ahead of 'Gerbera' (</a:t>
            </a:r>
          </a:p>
        </p:txBody>
      </p:sp>
      <p:pic>
        <p:nvPicPr>
          <p:cNvPr id="50" name="Picture 49" descr="lock.png"/>
          <p:cNvPicPr>
            <a:picLocks noChangeAspect="1"/>
          </p:cNvPicPr>
          <p:nvPr/>
        </p:nvPicPr>
        <p:blipFill>
          <a:blip r:embed="rId9"/>
          <a:stretch>
            <a:fillRect/>
          </a:stretch>
        </p:blipFill>
        <p:spPr>
          <a:xfrm>
            <a:off x="5067583" y="5418327"/>
            <a:ext cx="128699" cy="187198"/>
          </a:xfrm>
          <a:prstGeom prst="rect">
            <a:avLst/>
          </a:prstGeom>
        </p:spPr>
      </p:pic>
      <p:sp>
        <p:nvSpPr>
          <p:cNvPr id="51" name="TextBox 50"/>
          <p:cNvSpPr txBox="1"/>
          <p:nvPr/>
        </p:nvSpPr>
        <p:spPr>
          <a:xfrm>
            <a:off x="5235079" y="54281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2" name="TextBox 51"/>
          <p:cNvSpPr txBox="1"/>
          <p:nvPr/>
        </p:nvSpPr>
        <p:spPr>
          <a:xfrm>
            <a:off x="276225" y="5646039"/>
            <a:ext cx="3303739" cy="186689"/>
          </a:xfrm>
          <a:prstGeom prst="rect">
            <a:avLst/>
          </a:prstGeom>
          <a:noFill/>
        </p:spPr>
        <p:txBody>
          <a:bodyPr wrap="none" lIns="0" rIns="0" tIns="0" bIns="0">
            <a:spAutoFit/>
          </a:bodyPr>
          <a:lstStyle/>
          <a:p>
            <a:r>
              <a:rPr sz="1100" b="0">
                <a:solidFill>
                  <a:srgbClr val="2E2E2E"/>
                </a:solidFill>
                <a:latin typeface="Calibri"/>
              </a:rPr>
              <a:t>▪ By Cultivation Method, 'Open-Field Cultivation' leads at</a:t>
            </a:r>
          </a:p>
        </p:txBody>
      </p:sp>
      <p:pic>
        <p:nvPicPr>
          <p:cNvPr id="53" name="Picture 52" descr="lock.png"/>
          <p:cNvPicPr>
            <a:picLocks noChangeAspect="1"/>
          </p:cNvPicPr>
          <p:nvPr/>
        </p:nvPicPr>
        <p:blipFill>
          <a:blip r:embed="rId9"/>
          <a:stretch>
            <a:fillRect/>
          </a:stretch>
        </p:blipFill>
        <p:spPr>
          <a:xfrm>
            <a:off x="3528016" y="5636259"/>
            <a:ext cx="128699" cy="187198"/>
          </a:xfrm>
          <a:prstGeom prst="rect">
            <a:avLst/>
          </a:prstGeom>
        </p:spPr>
      </p:pic>
      <p:sp>
        <p:nvSpPr>
          <p:cNvPr id="54" name="TextBox 53"/>
          <p:cNvSpPr txBox="1"/>
          <p:nvPr/>
        </p:nvSpPr>
        <p:spPr>
          <a:xfrm>
            <a:off x="3695512" y="56460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5" name="Picture 54" descr="lock.png"/>
          <p:cNvPicPr>
            <a:picLocks noChangeAspect="1"/>
          </p:cNvPicPr>
          <p:nvPr/>
        </p:nvPicPr>
        <p:blipFill>
          <a:blip r:embed="rId9"/>
          <a:stretch>
            <a:fillRect/>
          </a:stretch>
        </p:blipFill>
        <p:spPr>
          <a:xfrm>
            <a:off x="4243093" y="5636259"/>
            <a:ext cx="128699" cy="187198"/>
          </a:xfrm>
          <a:prstGeom prst="rect">
            <a:avLst/>
          </a:prstGeom>
        </p:spPr>
      </p:pic>
      <p:sp>
        <p:nvSpPr>
          <p:cNvPr id="56" name="TextBox 55"/>
          <p:cNvSpPr txBox="1"/>
          <p:nvPr/>
        </p:nvSpPr>
        <p:spPr>
          <a:xfrm>
            <a:off x="4410588" y="5646039"/>
            <a:ext cx="2370881" cy="186689"/>
          </a:xfrm>
          <a:prstGeom prst="rect">
            <a:avLst/>
          </a:prstGeom>
          <a:noFill/>
        </p:spPr>
        <p:txBody>
          <a:bodyPr wrap="none" lIns="0" rIns="0" tIns="0" bIns="0">
            <a:spAutoFit/>
          </a:bodyPr>
          <a:lstStyle/>
          <a:p>
            <a:r>
              <a:rPr sz="1100" b="0">
                <a:solidFill>
                  <a:srgbClr val="2E2E2E"/>
                </a:solidFill>
                <a:latin typeface="Calibri"/>
              </a:rPr>
              <a:t>share), ahead of 'Protected Cultivation' (</a:t>
            </a:r>
          </a:p>
        </p:txBody>
      </p:sp>
      <p:pic>
        <p:nvPicPr>
          <p:cNvPr id="57" name="Picture 56" descr="lock.png"/>
          <p:cNvPicPr>
            <a:picLocks noChangeAspect="1"/>
          </p:cNvPicPr>
          <p:nvPr/>
        </p:nvPicPr>
        <p:blipFill>
          <a:blip r:embed="rId9"/>
          <a:stretch>
            <a:fillRect/>
          </a:stretch>
        </p:blipFill>
        <p:spPr>
          <a:xfrm>
            <a:off x="6729522" y="5636259"/>
            <a:ext cx="128699" cy="187198"/>
          </a:xfrm>
          <a:prstGeom prst="rect">
            <a:avLst/>
          </a:prstGeom>
        </p:spPr>
      </p:pic>
      <p:sp>
        <p:nvSpPr>
          <p:cNvPr id="58" name="TextBox 57"/>
          <p:cNvSpPr txBox="1"/>
          <p:nvPr/>
        </p:nvSpPr>
        <p:spPr>
          <a:xfrm>
            <a:off x="6897018" y="56460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9" name="TextBox 58"/>
          <p:cNvSpPr txBox="1"/>
          <p:nvPr/>
        </p:nvSpPr>
        <p:spPr>
          <a:xfrm>
            <a:off x="276225" y="5863971"/>
            <a:ext cx="3852717" cy="186689"/>
          </a:xfrm>
          <a:prstGeom prst="rect">
            <a:avLst/>
          </a:prstGeom>
          <a:noFill/>
        </p:spPr>
        <p:txBody>
          <a:bodyPr wrap="none" lIns="0" rIns="0" tIns="0" bIns="0">
            <a:spAutoFit/>
          </a:bodyPr>
          <a:lstStyle/>
          <a:p>
            <a:r>
              <a:rPr sz="1100" b="0">
                <a:solidFill>
                  <a:srgbClr val="2E2E2E"/>
                </a:solidFill>
                <a:latin typeface="Calibri"/>
              </a:rPr>
              <a:t>▪ By Distribution Channel, 'Supermarkets &amp; Hypermarkets' leads at</a:t>
            </a:r>
          </a:p>
        </p:txBody>
      </p:sp>
      <p:pic>
        <p:nvPicPr>
          <p:cNvPr id="60" name="Picture 59" descr="lock.png"/>
          <p:cNvPicPr>
            <a:picLocks noChangeAspect="1"/>
          </p:cNvPicPr>
          <p:nvPr/>
        </p:nvPicPr>
        <p:blipFill>
          <a:blip r:embed="rId9"/>
          <a:stretch>
            <a:fillRect/>
          </a:stretch>
        </p:blipFill>
        <p:spPr>
          <a:xfrm>
            <a:off x="4076993" y="5854191"/>
            <a:ext cx="128699" cy="187198"/>
          </a:xfrm>
          <a:prstGeom prst="rect">
            <a:avLst/>
          </a:prstGeom>
        </p:spPr>
      </p:pic>
      <p:sp>
        <p:nvSpPr>
          <p:cNvPr id="61" name="TextBox 60"/>
          <p:cNvSpPr txBox="1"/>
          <p:nvPr/>
        </p:nvSpPr>
        <p:spPr>
          <a:xfrm>
            <a:off x="4244489" y="5863971"/>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2" name="Picture 61" descr="lock.png"/>
          <p:cNvPicPr>
            <a:picLocks noChangeAspect="1"/>
          </p:cNvPicPr>
          <p:nvPr/>
        </p:nvPicPr>
        <p:blipFill>
          <a:blip r:embed="rId9"/>
          <a:stretch>
            <a:fillRect/>
          </a:stretch>
        </p:blipFill>
        <p:spPr>
          <a:xfrm>
            <a:off x="4792070" y="5854191"/>
            <a:ext cx="128699" cy="187198"/>
          </a:xfrm>
          <a:prstGeom prst="rect">
            <a:avLst/>
          </a:prstGeom>
        </p:spPr>
      </p:pic>
      <p:sp>
        <p:nvSpPr>
          <p:cNvPr id="63" name="TextBox 62"/>
          <p:cNvSpPr txBox="1"/>
          <p:nvPr/>
        </p:nvSpPr>
        <p:spPr>
          <a:xfrm>
            <a:off x="4959566" y="5863971"/>
            <a:ext cx="3953147" cy="186689"/>
          </a:xfrm>
          <a:prstGeom prst="rect">
            <a:avLst/>
          </a:prstGeom>
          <a:noFill/>
        </p:spPr>
        <p:txBody>
          <a:bodyPr wrap="none" lIns="0" rIns="0" tIns="0" bIns="0">
            <a:spAutoFit/>
          </a:bodyPr>
          <a:lstStyle/>
          <a:p>
            <a:r>
              <a:rPr sz="1100" b="0">
                <a:solidFill>
                  <a:srgbClr val="2E2E2E"/>
                </a:solidFill>
                <a:latin typeface="Calibri"/>
              </a:rPr>
              <a:t>share), ahead of 'Direct Sales to Commercial &amp; Institutional Buyers' (</a:t>
            </a:r>
          </a:p>
        </p:txBody>
      </p:sp>
      <p:pic>
        <p:nvPicPr>
          <p:cNvPr id="64" name="Picture 63" descr="lock.png"/>
          <p:cNvPicPr>
            <a:picLocks noChangeAspect="1"/>
          </p:cNvPicPr>
          <p:nvPr/>
        </p:nvPicPr>
        <p:blipFill>
          <a:blip r:embed="rId9"/>
          <a:stretch>
            <a:fillRect/>
          </a:stretch>
        </p:blipFill>
        <p:spPr>
          <a:xfrm>
            <a:off x="8860765" y="5854191"/>
            <a:ext cx="128699" cy="187198"/>
          </a:xfrm>
          <a:prstGeom prst="rect">
            <a:avLst/>
          </a:prstGeom>
        </p:spPr>
      </p:pic>
      <p:sp>
        <p:nvSpPr>
          <p:cNvPr id="65" name="TextBox 64"/>
          <p:cNvSpPr txBox="1"/>
          <p:nvPr/>
        </p:nvSpPr>
        <p:spPr>
          <a:xfrm>
            <a:off x="9028261" y="5863971"/>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6" name="TextBox 65"/>
          <p:cNvSpPr txBox="1"/>
          <p:nvPr/>
        </p:nvSpPr>
        <p:spPr>
          <a:xfrm>
            <a:off x="276225" y="6081903"/>
            <a:ext cx="3169223" cy="186689"/>
          </a:xfrm>
          <a:prstGeom prst="rect">
            <a:avLst/>
          </a:prstGeom>
          <a:noFill/>
        </p:spPr>
        <p:txBody>
          <a:bodyPr wrap="none" lIns="0" rIns="0" tIns="0" bIns="0">
            <a:spAutoFit/>
          </a:bodyPr>
          <a:lstStyle/>
          <a:p>
            <a:r>
              <a:rPr sz="1100" b="0">
                <a:solidFill>
                  <a:srgbClr val="2E2E2E"/>
                </a:solidFill>
                <a:latin typeface="Calibri"/>
              </a:rPr>
              <a:t>▪ By End Use, 'Personal Gifting &amp; Celebrations' leads at</a:t>
            </a:r>
          </a:p>
        </p:txBody>
      </p:sp>
      <p:pic>
        <p:nvPicPr>
          <p:cNvPr id="67" name="Picture 66" descr="lock.png"/>
          <p:cNvPicPr>
            <a:picLocks noChangeAspect="1"/>
          </p:cNvPicPr>
          <p:nvPr/>
        </p:nvPicPr>
        <p:blipFill>
          <a:blip r:embed="rId9"/>
          <a:stretch>
            <a:fillRect/>
          </a:stretch>
        </p:blipFill>
        <p:spPr>
          <a:xfrm>
            <a:off x="3393500" y="6072123"/>
            <a:ext cx="128699" cy="187198"/>
          </a:xfrm>
          <a:prstGeom prst="rect">
            <a:avLst/>
          </a:prstGeom>
        </p:spPr>
      </p:pic>
      <p:sp>
        <p:nvSpPr>
          <p:cNvPr id="68" name="TextBox 67"/>
          <p:cNvSpPr txBox="1"/>
          <p:nvPr/>
        </p:nvSpPr>
        <p:spPr>
          <a:xfrm>
            <a:off x="3560996" y="6081903"/>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9" name="Picture 68" descr="lock.png"/>
          <p:cNvPicPr>
            <a:picLocks noChangeAspect="1"/>
          </p:cNvPicPr>
          <p:nvPr/>
        </p:nvPicPr>
        <p:blipFill>
          <a:blip r:embed="rId9"/>
          <a:stretch>
            <a:fillRect/>
          </a:stretch>
        </p:blipFill>
        <p:spPr>
          <a:xfrm>
            <a:off x="4108577" y="6072123"/>
            <a:ext cx="128699" cy="187198"/>
          </a:xfrm>
          <a:prstGeom prst="rect">
            <a:avLst/>
          </a:prstGeom>
        </p:spPr>
      </p:pic>
      <p:sp>
        <p:nvSpPr>
          <p:cNvPr id="70" name="TextBox 69"/>
          <p:cNvSpPr txBox="1"/>
          <p:nvPr/>
        </p:nvSpPr>
        <p:spPr>
          <a:xfrm>
            <a:off x="4276073" y="6081903"/>
            <a:ext cx="2693613" cy="186689"/>
          </a:xfrm>
          <a:prstGeom prst="rect">
            <a:avLst/>
          </a:prstGeom>
          <a:noFill/>
        </p:spPr>
        <p:txBody>
          <a:bodyPr wrap="none" lIns="0" rIns="0" tIns="0" bIns="0">
            <a:spAutoFit/>
          </a:bodyPr>
          <a:lstStyle/>
          <a:p>
            <a:r>
              <a:rPr sz="1100" b="0">
                <a:solidFill>
                  <a:srgbClr val="2E2E2E"/>
                </a:solidFill>
                <a:latin typeface="Calibri"/>
              </a:rPr>
              <a:t>share), ahead of 'Weddings &amp; Special Events' (</a:t>
            </a:r>
          </a:p>
        </p:txBody>
      </p:sp>
      <p:pic>
        <p:nvPicPr>
          <p:cNvPr id="71" name="Picture 70" descr="lock.png"/>
          <p:cNvPicPr>
            <a:picLocks noChangeAspect="1"/>
          </p:cNvPicPr>
          <p:nvPr/>
        </p:nvPicPr>
        <p:blipFill>
          <a:blip r:embed="rId9"/>
          <a:stretch>
            <a:fillRect/>
          </a:stretch>
        </p:blipFill>
        <p:spPr>
          <a:xfrm>
            <a:off x="6917738" y="6072123"/>
            <a:ext cx="128699" cy="187198"/>
          </a:xfrm>
          <a:prstGeom prst="rect">
            <a:avLst/>
          </a:prstGeom>
        </p:spPr>
      </p:pic>
      <p:sp>
        <p:nvSpPr>
          <p:cNvPr id="72" name="TextBox 71"/>
          <p:cNvSpPr txBox="1"/>
          <p:nvPr/>
        </p:nvSpPr>
        <p:spPr>
          <a:xfrm>
            <a:off x="7085234" y="6081903"/>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73" name="TextBox 72"/>
          <p:cNvSpPr txBox="1"/>
          <p:nvPr/>
        </p:nvSpPr>
        <p:spPr>
          <a:xfrm>
            <a:off x="276225" y="6299835"/>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74" name="lockshield_12"/>
          <p:cNvSpPr/>
          <p:nvPr/>
        </p:nvSpPr>
        <p:spPr>
          <a:xfrm>
            <a:off x="2381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ockshield_15"/>
          <p:cNvSpPr/>
          <p:nvPr/>
        </p:nvSpPr>
        <p:spPr>
          <a:xfrm>
            <a:off x="32480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ockshield_18"/>
          <p:cNvSpPr/>
          <p:nvPr/>
        </p:nvSpPr>
        <p:spPr>
          <a:xfrm>
            <a:off x="62579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ockshield_21"/>
          <p:cNvSpPr/>
          <p:nvPr/>
        </p:nvSpPr>
        <p:spPr>
          <a:xfrm>
            <a:off x="92678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lockshield_24"/>
          <p:cNvSpPr/>
          <p:nvPr/>
        </p:nvSpPr>
        <p:spPr>
          <a:xfrm>
            <a:off x="238125" y="3171825"/>
            <a:ext cx="27813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Flower Species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Cultivation Method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Distribution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 Use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Segmental Analysis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a:t>
            </a:r>
          </a:p>
        </p:txBody>
      </p:sp>
      <p:graphicFrame>
        <p:nvGraphicFramePr>
          <p:cNvPr id="15" name="Table 14"/>
          <p:cNvGraphicFramePr>
            <a:graphicFrameLocks noGrp="1"/>
          </p:cNvGraphicFramePr>
          <p:nvPr/>
        </p:nvGraphicFramePr>
        <p:xfrm>
          <a:off x="6181725" y="1238250"/>
          <a:ext cx="5857875" cy="2286003"/>
        </p:xfrm>
        <a:graphic>
          <a:graphicData uri="http://schemas.openxmlformats.org/drawingml/2006/table">
            <a:tbl>
              <a:tblPr>
                <a:tableStyleId>{5C22544A-7EE6-4342-B048-85BDC9FD1C3A}</a:tableStyleId>
              </a:tblPr>
              <a:tblGrid>
                <a:gridCol w="2657346"/>
                <a:gridCol w="804602"/>
                <a:gridCol w="804602"/>
                <a:gridCol w="1016126"/>
                <a:gridCol w="575199"/>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91411">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54216" y="2239858"/>
            <a:ext cx="363626" cy="528911"/>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Tables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Type, 2021–2036</a:t>
            </a:r>
          </a:p>
        </p:txBody>
      </p:sp>
      <p:sp>
        <p:nvSpPr>
          <p:cNvPr id="14" name="Rounded Rectangle 13"/>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Type (US$ Mn)</a:t>
            </a:r>
          </a:p>
        </p:txBody>
      </p:sp>
      <p:graphicFrame>
        <p:nvGraphicFramePr>
          <p:cNvPr id="16" name="Table 15"/>
          <p:cNvGraphicFramePr>
            <a:graphicFrameLocks noGrp="1"/>
          </p:cNvGraphicFramePr>
          <p:nvPr/>
        </p:nvGraphicFramePr>
        <p:xfrm>
          <a:off x="152400" y="1238250"/>
          <a:ext cx="11887207" cy="2219326"/>
        </p:xfrm>
        <a:graphic>
          <a:graphicData uri="http://schemas.openxmlformats.org/drawingml/2006/table">
            <a:tbl>
              <a:tblPr>
                <a:tableStyleId>{5C22544A-7EE6-4342-B048-85BDC9FD1C3A}</a:tableStyleId>
              </a:tblPr>
              <a:tblGrid>
                <a:gridCol w="2699309"/>
                <a:gridCol w="537726"/>
                <a:gridCol w="537726"/>
                <a:gridCol w="537726"/>
                <a:gridCol w="537726"/>
                <a:gridCol w="537726"/>
                <a:gridCol w="537726"/>
                <a:gridCol w="537726"/>
                <a:gridCol w="537726"/>
                <a:gridCol w="537726"/>
                <a:gridCol w="537726"/>
                <a:gridCol w="537726"/>
                <a:gridCol w="537726"/>
                <a:gridCol w="537726"/>
                <a:gridCol w="537726"/>
                <a:gridCol w="537726"/>
                <a:gridCol w="537726"/>
                <a:gridCol w="584282"/>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Young Plants &amp; Propagation Material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Flower Bulbs, Corms, Rhizomes &amp; Tubers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258968" y="2204276"/>
            <a:ext cx="366712" cy="533399"/>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Flower Species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Segmental Analysis Flower Species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Flower Species: growth contribution, share variance and absolute $ opportunity</a:t>
            </a:r>
          </a:p>
        </p:txBody>
      </p:sp>
      <p:sp>
        <p:nvSpPr>
          <p:cNvPr id="10" name="Rounded Rectangle 9"/>
          <p:cNvSpPr/>
          <p:nvPr/>
        </p:nvSpPr>
        <p:spPr>
          <a:xfrm>
            <a:off x="142875" y="981075"/>
            <a:ext cx="5876925"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Flower Species (US$ Mn)</a:t>
            </a:r>
          </a:p>
        </p:txBody>
      </p:sp>
      <p:graphicFrame>
        <p:nvGraphicFramePr>
          <p:cNvPr id="12" name="Chart 11"/>
          <p:cNvGraphicFramePr>
            <a:graphicFrameLocks noGrp="1"/>
          </p:cNvGraphicFramePr>
          <p:nvPr/>
        </p:nvGraphicFramePr>
        <p:xfrm>
          <a:off x="238125" y="1266825"/>
          <a:ext cx="5686425" cy="33242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Flower Species</a:t>
            </a:r>
          </a:p>
        </p:txBody>
      </p:sp>
      <p:graphicFrame>
        <p:nvGraphicFramePr>
          <p:cNvPr id="15" name="Table 14"/>
          <p:cNvGraphicFramePr>
            <a:graphicFrameLocks noGrp="1"/>
          </p:cNvGraphicFramePr>
          <p:nvPr/>
        </p:nvGraphicFramePr>
        <p:xfrm>
          <a:off x="6181725" y="1238250"/>
          <a:ext cx="5857876" cy="3200406"/>
        </p:xfrm>
        <a:graphic>
          <a:graphicData uri="http://schemas.openxmlformats.org/drawingml/2006/table">
            <a:tbl>
              <a:tblPr>
                <a:tableStyleId>{5C22544A-7EE6-4342-B048-85BDC9FD1C3A}</a:tableStyleId>
              </a:tblPr>
              <a:tblGrid>
                <a:gridCol w="1341484"/>
                <a:gridCol w="1129098"/>
                <a:gridCol w="1129098"/>
                <a:gridCol w="1129098"/>
                <a:gridCol w="1129098"/>
              </a:tblGrid>
              <a:tr h="246126">
                <a:tc>
                  <a:txBody>
                    <a:bodyPr wrap="none"/>
                    <a:lstStyle/>
                    <a:p>
                      <a:pPr algn="l"/>
                      <a:r>
                        <a:rPr sz="1100" b="1">
                          <a:solidFill>
                            <a:srgbClr val="0B2E4A"/>
                          </a:solidFill>
                          <a:latin typeface="Calibri"/>
                        </a:rPr>
                        <a:t>Flower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Roses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Carnations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Chrysanthemums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Lilies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Alstroemeria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Hydrangeas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Gerbera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Orchids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Tulips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Lisianthus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Peonies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Others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44481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69059" y="2657624"/>
            <a:ext cx="314119" cy="456901"/>
          </a:xfrm>
          <a:prstGeom prst="rect">
            <a:avLst/>
          </a:prstGeom>
        </p:spPr>
      </p:pic>
      <p:pic>
        <p:nvPicPr>
          <p:cNvPr id="19" name="Picture 18" descr="lock.png"/>
          <p:cNvPicPr>
            <a:picLocks noChangeAspect="1"/>
          </p:cNvPicPr>
          <p:nvPr/>
        </p:nvPicPr>
        <p:blipFill>
          <a:blip r:embed="rId5"/>
          <a:stretch>
            <a:fillRect/>
          </a:stretch>
        </p:blipFill>
        <p:spPr>
          <a:xfrm>
            <a:off x="9594715" y="2694815"/>
            <a:ext cx="366712" cy="533400"/>
          </a:xfrm>
          <a:prstGeom prst="rect">
            <a:avLst/>
          </a:prstGeom>
        </p:spPr>
      </p:pic>
      <p:sp>
        <p:nvSpPr>
          <p:cNvPr id="20" name="lockshield_12"/>
          <p:cNvSpPr/>
          <p:nvPr/>
        </p:nvSpPr>
        <p:spPr>
          <a:xfrm>
            <a:off x="238125" y="1266825"/>
            <a:ext cx="5686425" cy="3324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Segmental Analysis Flower Species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Flower Species: growth contribution, share variance and absolute $ opportunity</a:t>
            </a:r>
          </a:p>
        </p:txBody>
      </p:sp>
      <p:sp>
        <p:nvSpPr>
          <p:cNvPr id="10" name="Rounded Rectangle 9"/>
          <p:cNvSpPr/>
          <p:nvPr/>
        </p:nvSpPr>
        <p:spPr>
          <a:xfrm>
            <a:off x="142875" y="981075"/>
            <a:ext cx="5876925"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Flower Species (US$ Mn), between 2026–2036</a:t>
            </a:r>
          </a:p>
        </p:txBody>
      </p:sp>
      <p:graphicFrame>
        <p:nvGraphicFramePr>
          <p:cNvPr id="12" name="Chart 11"/>
          <p:cNvGraphicFramePr>
            <a:graphicFrameLocks noGrp="1"/>
          </p:cNvGraphicFramePr>
          <p:nvPr/>
        </p:nvGraphicFramePr>
        <p:xfrm>
          <a:off x="238125" y="1266825"/>
          <a:ext cx="5686425" cy="33242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Flower Species</a:t>
            </a:r>
          </a:p>
        </p:txBody>
      </p:sp>
      <p:graphicFrame>
        <p:nvGraphicFramePr>
          <p:cNvPr id="15" name="Table 14"/>
          <p:cNvGraphicFramePr>
            <a:graphicFrameLocks noGrp="1"/>
          </p:cNvGraphicFramePr>
          <p:nvPr/>
        </p:nvGraphicFramePr>
        <p:xfrm>
          <a:off x="6181725" y="1238250"/>
          <a:ext cx="5857876" cy="3200406"/>
        </p:xfrm>
        <a:graphic>
          <a:graphicData uri="http://schemas.openxmlformats.org/drawingml/2006/table">
            <a:tbl>
              <a:tblPr>
                <a:tableStyleId>{5C22544A-7EE6-4342-B048-85BDC9FD1C3A}</a:tableStyleId>
              </a:tblPr>
              <a:tblGrid>
                <a:gridCol w="1341484"/>
                <a:gridCol w="1129098"/>
                <a:gridCol w="1129098"/>
                <a:gridCol w="1129098"/>
                <a:gridCol w="1129098"/>
              </a:tblGrid>
              <a:tr h="246126">
                <a:tc>
                  <a:txBody>
                    <a:bodyPr wrap="none"/>
                    <a:lstStyle/>
                    <a:p>
                      <a:pPr algn="l"/>
                      <a:r>
                        <a:rPr sz="1100" b="1">
                          <a:solidFill>
                            <a:srgbClr val="0B2E4A"/>
                          </a:solidFill>
                          <a:latin typeface="Calibri"/>
                        </a:rPr>
                        <a:t>Flower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Roses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Carnations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Chrysanthemums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Lilies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Alstroemeria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Hydrangeas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Gerbera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Orchids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Tulips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Lisianthus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Peonies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Others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44481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69059" y="2657624"/>
            <a:ext cx="314119" cy="456901"/>
          </a:xfrm>
          <a:prstGeom prst="rect">
            <a:avLst/>
          </a:prstGeom>
        </p:spPr>
      </p:pic>
      <p:pic>
        <p:nvPicPr>
          <p:cNvPr id="19" name="Picture 18" descr="lock.png"/>
          <p:cNvPicPr>
            <a:picLocks noChangeAspect="1"/>
          </p:cNvPicPr>
          <p:nvPr/>
        </p:nvPicPr>
        <p:blipFill>
          <a:blip r:embed="rId5"/>
          <a:stretch>
            <a:fillRect/>
          </a:stretch>
        </p:blipFill>
        <p:spPr>
          <a:xfrm>
            <a:off x="9594715" y="2694815"/>
            <a:ext cx="366712" cy="533400"/>
          </a:xfrm>
          <a:prstGeom prst="rect">
            <a:avLst/>
          </a:prstGeom>
        </p:spPr>
      </p:pic>
      <p:sp>
        <p:nvSpPr>
          <p:cNvPr id="20" name="lockshield_12"/>
          <p:cNvSpPr/>
          <p:nvPr/>
        </p:nvSpPr>
        <p:spPr>
          <a:xfrm>
            <a:off x="238125" y="1266825"/>
            <a:ext cx="5686425" cy="3324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Tables Flower Species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Flower Species, 2021–2036</a:t>
            </a:r>
          </a:p>
        </p:txBody>
      </p:sp>
      <p:sp>
        <p:nvSpPr>
          <p:cNvPr id="10" name="Rounded Rectangle 9"/>
          <p:cNvSpPr/>
          <p:nvPr/>
        </p:nvSpPr>
        <p:spPr>
          <a:xfrm>
            <a:off x="142875" y="981075"/>
            <a:ext cx="11906250" cy="3914775"/>
          </a:xfrm>
          <a:prstGeom prst="roundRect">
            <a:avLst>
              <a:gd name="adj" fmla="val 19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Flower Species (US$ Mn)</a:t>
            </a:r>
          </a:p>
        </p:txBody>
      </p:sp>
      <p:graphicFrame>
        <p:nvGraphicFramePr>
          <p:cNvPr id="12" name="Table 11"/>
          <p:cNvGraphicFramePr>
            <a:graphicFrameLocks noGrp="1"/>
          </p:cNvGraphicFramePr>
          <p:nvPr/>
        </p:nvGraphicFramePr>
        <p:xfrm>
          <a:off x="152400" y="1238250"/>
          <a:ext cx="11887206" cy="3448052"/>
        </p:xfrm>
        <a:graphic>
          <a:graphicData uri="http://schemas.openxmlformats.org/drawingml/2006/table">
            <a:tbl>
              <a:tblPr>
                <a:tableStyleId>{5C22544A-7EE6-4342-B048-85BDC9FD1C3A}</a:tableStyleId>
              </a:tblPr>
              <a:tblGrid>
                <a:gridCol w="1306338"/>
                <a:gridCol w="622404"/>
                <a:gridCol w="622404"/>
                <a:gridCol w="622404"/>
                <a:gridCol w="622404"/>
                <a:gridCol w="622404"/>
                <a:gridCol w="622404"/>
                <a:gridCol w="622404"/>
                <a:gridCol w="622404"/>
                <a:gridCol w="622404"/>
                <a:gridCol w="622404"/>
                <a:gridCol w="622404"/>
                <a:gridCol w="622404"/>
                <a:gridCol w="622404"/>
                <a:gridCol w="622404"/>
                <a:gridCol w="622404"/>
                <a:gridCol w="622404"/>
                <a:gridCol w="622404"/>
              </a:tblGrid>
              <a:tr h="246126">
                <a:tc>
                  <a:txBody>
                    <a:bodyPr wrap="none"/>
                    <a:lstStyle/>
                    <a:p>
                      <a:pPr algn="l"/>
                      <a:r>
                        <a:rPr sz="1100" b="1">
                          <a:solidFill>
                            <a:srgbClr val="0B2E4A"/>
                          </a:solidFill>
                          <a:latin typeface="Calibri"/>
                        </a:rPr>
                        <a:t>Flower Species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02">
                <a:tc>
                  <a:txBody>
                    <a:bodyPr wrap="none"/>
                    <a:lstStyle/>
                    <a:p>
                      <a:pPr algn="l"/>
                      <a:r>
                        <a:rPr sz="1100" b="1">
                          <a:solidFill>
                            <a:srgbClr val="2E2E2E"/>
                          </a:solidFill>
                          <a:latin typeface="Calibri"/>
                        </a:rPr>
                        <a:t>Roses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Carnations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Chrysanthemums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Lilies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Alstroemeria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Hydrangeas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Gerbera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Orchids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Tulips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Lisianthus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Peonies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02">
                <a:tc>
                  <a:txBody>
                    <a:bodyPr wrap="none"/>
                    <a:lstStyle/>
                    <a:p>
                      <a:pPr algn="l"/>
                      <a:r>
                        <a:rPr sz="1100" b="1">
                          <a:solidFill>
                            <a:srgbClr val="2E2E2E"/>
                          </a:solidFill>
                          <a:latin typeface="Calibri"/>
                        </a:rPr>
                        <a:t>Others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0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695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562482" y="2818639"/>
            <a:ext cx="366712" cy="533400"/>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Cultivation Method</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Segmental Analysis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Cultivation Method: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Cultivation Method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Cultivation Method</a:t>
            </a:r>
          </a:p>
        </p:txBody>
      </p:sp>
      <p:graphicFrame>
        <p:nvGraphicFramePr>
          <p:cNvPr id="15" name="Table 14"/>
          <p:cNvGraphicFramePr>
            <a:graphicFrameLocks noGrp="1"/>
          </p:cNvGraphicFramePr>
          <p:nvPr/>
        </p:nvGraphicFramePr>
        <p:xfrm>
          <a:off x="6181725" y="1238250"/>
          <a:ext cx="5857873" cy="2286000"/>
        </p:xfrm>
        <a:graphic>
          <a:graphicData uri="http://schemas.openxmlformats.org/drawingml/2006/table">
            <a:tbl>
              <a:tblPr>
                <a:tableStyleId>{5C22544A-7EE6-4342-B048-85BDC9FD1C3A}</a:tableStyleId>
              </a:tblPr>
              <a:tblGrid>
                <a:gridCol w="1583257"/>
                <a:gridCol w="1068654"/>
                <a:gridCol w="1068654"/>
                <a:gridCol w="1068654"/>
                <a:gridCol w="1068654"/>
              </a:tblGrid>
              <a:tr h="246126">
                <a:tc>
                  <a:txBody>
                    <a:bodyPr wrap="none"/>
                    <a:lstStyle/>
                    <a:p>
                      <a:pPr algn="l"/>
                      <a:r>
                        <a:rPr sz="1100" b="1">
                          <a:solidFill>
                            <a:srgbClr val="0B2E4A"/>
                          </a:solidFill>
                          <a:latin typeface="Calibri"/>
                        </a:rPr>
                        <a:t>Cultivation Method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Protected Cultivation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Open-Field Cultivation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Cultivation Method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71559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Tables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Cultivation Method, 2021–2036</a:t>
            </a:r>
          </a:p>
        </p:txBody>
      </p:sp>
      <p:sp>
        <p:nvSpPr>
          <p:cNvPr id="14" name="Rounded Rectangle 13"/>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Cultivation Method (US$ Mn)</a:t>
            </a:r>
          </a:p>
        </p:txBody>
      </p:sp>
      <p:graphicFrame>
        <p:nvGraphicFramePr>
          <p:cNvPr id="16" name="Table 15"/>
          <p:cNvGraphicFramePr>
            <a:graphicFrameLocks noGrp="1"/>
          </p:cNvGraphicFramePr>
          <p:nvPr/>
        </p:nvGraphicFramePr>
        <p:xfrm>
          <a:off x="152400" y="1238250"/>
          <a:ext cx="11887203" cy="990600"/>
        </p:xfrm>
        <a:graphic>
          <a:graphicData uri="http://schemas.openxmlformats.org/drawingml/2006/table">
            <a:tbl>
              <a:tblPr>
                <a:tableStyleId>{5C22544A-7EE6-4342-B048-85BDC9FD1C3A}</a:tableStyleId>
              </a:tblPr>
              <a:tblGrid>
                <a:gridCol w="1585934"/>
                <a:gridCol w="605957"/>
                <a:gridCol w="605957"/>
                <a:gridCol w="605957"/>
                <a:gridCol w="605957"/>
                <a:gridCol w="605957"/>
                <a:gridCol w="605957"/>
                <a:gridCol w="605957"/>
                <a:gridCol w="605957"/>
                <a:gridCol w="605957"/>
                <a:gridCol w="605957"/>
                <a:gridCol w="605957"/>
                <a:gridCol w="605957"/>
                <a:gridCol w="605957"/>
                <a:gridCol w="605957"/>
                <a:gridCol w="605957"/>
                <a:gridCol w="605957"/>
                <a:gridCol w="605957"/>
              </a:tblGrid>
              <a:tr h="246126">
                <a:tc>
                  <a:txBody>
                    <a:bodyPr wrap="none"/>
                    <a:lstStyle/>
                    <a:p>
                      <a:pPr algn="l"/>
                      <a:r>
                        <a:rPr sz="1100" b="1">
                          <a:solidFill>
                            <a:srgbClr val="0B2E4A"/>
                          </a:solidFill>
                          <a:latin typeface="Calibri"/>
                        </a:rPr>
                        <a:t>Cultivation Method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Protected Cultivation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Open-Field Cultivation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02278" y="1589912"/>
            <a:ext cx="366712" cy="533400"/>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Segmental Analysis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Distribution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Distribution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Distribution Channel</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3055358"/>
                <a:gridCol w="694469"/>
                <a:gridCol w="694469"/>
                <a:gridCol w="888532"/>
                <a:gridCol w="525047"/>
              </a:tblGrid>
              <a:tr h="438912">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F-CAGR</a:t>
                      </a:r>
                      <a:endParaRPr sz="1100"/>
                    </a:p>
                  </a:txBody>
                  <a:tcPr marL="47625" marR="38100" marT="19050" marB="19050" anchor="ctr">
                    <a:solidFill>
                      <a:srgbClr val="E0E8EF"/>
                    </a:solidFill>
                  </a:tcPr>
                </a:tc>
              </a:tr>
              <a:tr h="307848">
                <a:tc>
                  <a:txBody>
                    <a:bodyPr wrap="none"/>
                    <a:lstStyle/>
                    <a:p>
                      <a:pPr algn="l"/>
                      <a:r>
                        <a:rPr sz="1100" b="1">
                          <a:solidFill>
                            <a:srgbClr val="2E2E2E"/>
                          </a:solidFill>
                          <a:latin typeface="Calibri"/>
                        </a:rPr>
                        <a:t>Direct Sales to Commercial &amp; Institutional Buyers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E2E2E"/>
                          </a:solidFill>
                          <a:latin typeface="Calibri"/>
                        </a:rPr>
                        <a:t>Florists &amp; Specialty Flower Shops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7848">
                <a:tc>
                  <a:txBody>
                    <a:bodyPr wrap="none"/>
                    <a:lstStyle/>
                    <a:p>
                      <a:pPr algn="l"/>
                      <a:r>
                        <a:rPr sz="1100" b="1">
                          <a:solidFill>
                            <a:srgbClr val="2E2E2E"/>
                          </a:solidFill>
                          <a:latin typeface="Calibri"/>
                        </a:rPr>
                        <a:t>Supermarkets &amp; Hypermarkets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E2E2E"/>
                          </a:solidFill>
                          <a:latin typeface="Calibri"/>
                        </a:rPr>
                        <a:t>Garden Centers &amp; Plant Nurseries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7848">
                <a:tc>
                  <a:txBody>
                    <a:bodyPr wrap="none"/>
                    <a:lstStyle/>
                    <a:p>
                      <a:pPr algn="l"/>
                      <a:r>
                        <a:rPr sz="1100" b="1">
                          <a:solidFill>
                            <a:srgbClr val="2E2E2E"/>
                          </a:solidFill>
                          <a:latin typeface="Calibri"/>
                        </a:rPr>
                        <a:t>Online /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E2E2E"/>
                          </a:solidFill>
                          <a:latin typeface="Calibri"/>
                        </a:rPr>
                        <a:t>Other Retail Channels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Distribution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470320" y="2360676"/>
            <a:ext cx="330041" cy="48006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Tables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Distribution Channel,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Distribution Channel (US$ Mn)</a:t>
            </a:r>
          </a:p>
        </p:txBody>
      </p:sp>
      <p:graphicFrame>
        <p:nvGraphicFramePr>
          <p:cNvPr id="16" name="Table 15"/>
          <p:cNvGraphicFramePr>
            <a:graphicFrameLocks noGrp="1"/>
          </p:cNvGraphicFramePr>
          <p:nvPr/>
        </p:nvGraphicFramePr>
        <p:xfrm>
          <a:off x="152400" y="1238250"/>
          <a:ext cx="11887198" cy="1971675"/>
        </p:xfrm>
        <a:graphic>
          <a:graphicData uri="http://schemas.openxmlformats.org/drawingml/2006/table">
            <a:tbl>
              <a:tblPr>
                <a:tableStyleId>{5C22544A-7EE6-4342-B048-85BDC9FD1C3A}</a:tableStyleId>
              </a:tblPr>
              <a:tblGrid>
                <a:gridCol w="3088292"/>
                <a:gridCol w="514960"/>
                <a:gridCol w="514960"/>
                <a:gridCol w="514960"/>
                <a:gridCol w="514960"/>
                <a:gridCol w="514960"/>
                <a:gridCol w="514960"/>
                <a:gridCol w="514960"/>
                <a:gridCol w="514960"/>
                <a:gridCol w="514960"/>
                <a:gridCol w="514960"/>
                <a:gridCol w="514960"/>
                <a:gridCol w="514960"/>
                <a:gridCol w="514960"/>
                <a:gridCol w="514960"/>
                <a:gridCol w="514960"/>
                <a:gridCol w="514960"/>
                <a:gridCol w="559546"/>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Direct Sales to Commercial &amp; Institutional Buyers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Florists &amp; Specialty Flower Shops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Supermarkets &amp; Hypermarkets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Garden Centers &amp; Plant Nurseries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Online /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Retail Channels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453454" y="2080450"/>
            <a:ext cx="366712" cy="533400"/>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End Use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Segmental Analysis End Use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 Use: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 Use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 Use</a:t>
            </a:r>
          </a:p>
        </p:txBody>
      </p:sp>
      <p:graphicFrame>
        <p:nvGraphicFramePr>
          <p:cNvPr id="15" name="Table 14"/>
          <p:cNvGraphicFramePr>
            <a:graphicFrameLocks noGrp="1"/>
          </p:cNvGraphicFramePr>
          <p:nvPr/>
        </p:nvGraphicFramePr>
        <p:xfrm>
          <a:off x="6181725" y="1238250"/>
          <a:ext cx="5857875" cy="2286003"/>
        </p:xfrm>
        <a:graphic>
          <a:graphicData uri="http://schemas.openxmlformats.org/drawingml/2006/table">
            <a:tbl>
              <a:tblPr>
                <a:tableStyleId>{5C22544A-7EE6-4342-B048-85BDC9FD1C3A}</a:tableStyleId>
              </a:tblPr>
              <a:tblGrid>
                <a:gridCol w="2525415"/>
                <a:gridCol w="837769"/>
                <a:gridCol w="837769"/>
                <a:gridCol w="1058012"/>
                <a:gridCol w="598910"/>
              </a:tblGrid>
              <a:tr h="246126">
                <a:tc>
                  <a:txBody>
                    <a:bodyPr wrap="none"/>
                    <a:lstStyle/>
                    <a:p>
                      <a:pPr algn="l"/>
                      <a:r>
                        <a:rPr sz="1100" b="1">
                          <a:solidFill>
                            <a:srgbClr val="0B2E4A"/>
                          </a:solidFill>
                          <a:latin typeface="Calibri"/>
                        </a:rPr>
                        <a:t>End Use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91411">
                <a:tc>
                  <a:txBody>
                    <a:bodyPr wrap="none"/>
                    <a:lstStyle/>
                    <a:p>
                      <a:pPr algn="l"/>
                      <a:r>
                        <a:rPr sz="1100" b="1">
                          <a:solidFill>
                            <a:srgbClr val="2E2E2E"/>
                          </a:solidFill>
                          <a:latin typeface="Calibri"/>
                        </a:rPr>
                        <a:t>Personal Gifting &amp; Celebrations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Residential &amp; Home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Weddings &amp; Special Events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Hospitality &amp; Commercial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Funeral &amp; Memorial Services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Landscaping &amp; Gardening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Other Institutional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 Use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186680" y="2237614"/>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Floriculture Market Tables End Use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 Use, 2021–2036</a:t>
            </a:r>
          </a:p>
        </p:txBody>
      </p:sp>
      <p:sp>
        <p:nvSpPr>
          <p:cNvPr id="14" name="Rounded Rectangle 13"/>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 Use (US$ Mn)</a:t>
            </a:r>
          </a:p>
        </p:txBody>
      </p:sp>
      <p:graphicFrame>
        <p:nvGraphicFramePr>
          <p:cNvPr id="16" name="Table 15"/>
          <p:cNvGraphicFramePr>
            <a:graphicFrameLocks noGrp="1"/>
          </p:cNvGraphicFramePr>
          <p:nvPr/>
        </p:nvGraphicFramePr>
        <p:xfrm>
          <a:off x="152400" y="1238250"/>
          <a:ext cx="11887201" cy="2219326"/>
        </p:xfrm>
        <a:graphic>
          <a:graphicData uri="http://schemas.openxmlformats.org/drawingml/2006/table">
            <a:tbl>
              <a:tblPr>
                <a:tableStyleId>{5C22544A-7EE6-4342-B048-85BDC9FD1C3A}</a:tableStyleId>
              </a:tblPr>
              <a:tblGrid>
                <a:gridCol w="2362509"/>
                <a:gridCol w="560276"/>
                <a:gridCol w="560276"/>
                <a:gridCol w="560276"/>
                <a:gridCol w="560276"/>
                <a:gridCol w="560276"/>
                <a:gridCol w="560276"/>
                <a:gridCol w="560276"/>
                <a:gridCol w="560276"/>
                <a:gridCol w="560276"/>
                <a:gridCol w="560276"/>
                <a:gridCol w="560276"/>
                <a:gridCol w="560276"/>
                <a:gridCol w="560276"/>
                <a:gridCol w="560276"/>
                <a:gridCol w="560276"/>
                <a:gridCol w="560276"/>
                <a:gridCol w="560276"/>
              </a:tblGrid>
              <a:tr h="246126">
                <a:tc>
                  <a:txBody>
                    <a:bodyPr wrap="none"/>
                    <a:lstStyle/>
                    <a:p>
                      <a:pPr algn="l"/>
                      <a:r>
                        <a:rPr sz="1100" b="1">
                          <a:solidFill>
                            <a:srgbClr val="0B2E4A"/>
                          </a:solidFill>
                          <a:latin typeface="Calibri"/>
                        </a:rPr>
                        <a:t>End Use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Personal Gifting &amp; Celebrations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Residential &amp; Home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Weddings &amp; Special Events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Hospitality &amp; Commercial Decoration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Funeral &amp; Memorial Services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Landscaping &amp; Gardening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Other Institutional Applications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090564" y="2204276"/>
            <a:ext cx="366712" cy="53340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71051"/>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sp>
        <p:nvSpPr>
          <p:cNvPr id="14" name="TextBox 13"/>
          <p:cNvSpPr txBox="1"/>
          <p:nvPr/>
        </p:nvSpPr>
        <p:spPr>
          <a:xfrm>
            <a:off x="219075" y="2561000"/>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sp>
        <p:nvSpPr>
          <p:cNvPr id="15" name="TextBox 14"/>
          <p:cNvSpPr txBox="1"/>
          <p:nvPr/>
        </p:nvSpPr>
        <p:spPr>
          <a:xfrm>
            <a:off x="219075" y="1650949"/>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cxnSp>
        <p:nvCxnSpPr>
          <p:cNvPr id="16" name="Connector 15"/>
          <p:cNvCxnSpPr/>
          <p:nvPr/>
        </p:nvCxnSpPr>
        <p:spPr>
          <a:xfrm>
            <a:off x="1157968" y="2153007"/>
            <a:ext cx="0" cy="20540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38893" y="2153007"/>
            <a:ext cx="438150" cy="20540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000607"/>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Flowers</a:t>
            </a:r>
          </a:p>
        </p:txBody>
      </p:sp>
      <p:cxnSp>
        <p:nvCxnSpPr>
          <p:cNvPr id="20" name="Connector 19"/>
          <p:cNvCxnSpPr/>
          <p:nvPr/>
        </p:nvCxnSpPr>
        <p:spPr>
          <a:xfrm>
            <a:off x="2159454" y="2338326"/>
            <a:ext cx="0" cy="20121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940379" y="2338326"/>
            <a:ext cx="438150" cy="20121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8711" y="218592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1658711"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Potted Flowering Plan…</a:t>
            </a:r>
          </a:p>
        </p:txBody>
      </p:sp>
      <p:cxnSp>
        <p:nvCxnSpPr>
          <p:cNvPr id="24" name="Connector 23"/>
          <p:cNvCxnSpPr/>
          <p:nvPr/>
        </p:nvCxnSpPr>
        <p:spPr>
          <a:xfrm>
            <a:off x="3160939" y="3190966"/>
            <a:ext cx="0" cy="13674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941864" y="3190966"/>
            <a:ext cx="438150" cy="13674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0196" y="303856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2660196"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Potted Foliage Plants</a:t>
            </a:r>
          </a:p>
        </p:txBody>
      </p:sp>
      <p:cxnSp>
        <p:nvCxnSpPr>
          <p:cNvPr id="28" name="Connector 27"/>
          <p:cNvCxnSpPr/>
          <p:nvPr/>
        </p:nvCxnSpPr>
        <p:spPr>
          <a:xfrm>
            <a:off x="4162425" y="2048121"/>
            <a:ext cx="0" cy="20571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43350" y="2048121"/>
            <a:ext cx="438150" cy="20571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61682" y="189572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3661682"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Bedding &amp; Garden Flow…</a:t>
            </a:r>
          </a:p>
        </p:txBody>
      </p:sp>
      <p:cxnSp>
        <p:nvCxnSpPr>
          <p:cNvPr id="32" name="Connector 31"/>
          <p:cNvCxnSpPr/>
          <p:nvPr/>
        </p:nvCxnSpPr>
        <p:spPr>
          <a:xfrm>
            <a:off x="5163911" y="1927636"/>
            <a:ext cx="0" cy="21798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944836" y="1927636"/>
            <a:ext cx="438150" cy="21798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168" y="1775236"/>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5" name="TextBox 34"/>
          <p:cNvSpPr txBox="1"/>
          <p:nvPr/>
        </p:nvSpPr>
        <p:spPr>
          <a:xfrm>
            <a:off x="4663168"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Foliage &amp; Greens</a:t>
            </a:r>
          </a:p>
        </p:txBody>
      </p:sp>
      <p:cxnSp>
        <p:nvCxnSpPr>
          <p:cNvPr id="36" name="Connector 35"/>
          <p:cNvCxnSpPr/>
          <p:nvPr/>
        </p:nvCxnSpPr>
        <p:spPr>
          <a:xfrm>
            <a:off x="6165396" y="2946233"/>
            <a:ext cx="0" cy="14625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946321" y="2946233"/>
            <a:ext cx="438150" cy="14625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4654" y="2793833"/>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9" name="TextBox 38"/>
          <p:cNvSpPr txBox="1"/>
          <p:nvPr/>
        </p:nvSpPr>
        <p:spPr>
          <a:xfrm>
            <a:off x="5664654"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Young Plants &amp; Propag…</a:t>
            </a:r>
          </a:p>
        </p:txBody>
      </p:sp>
      <p:cxnSp>
        <p:nvCxnSpPr>
          <p:cNvPr id="40" name="Connector 39"/>
          <p:cNvCxnSpPr/>
          <p:nvPr/>
        </p:nvCxnSpPr>
        <p:spPr>
          <a:xfrm>
            <a:off x="7166882" y="2692031"/>
            <a:ext cx="0" cy="17115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947807" y="2692031"/>
            <a:ext cx="438150" cy="17115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66139" y="2539631"/>
            <a:ext cx="1001486"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3" name="TextBox 42"/>
          <p:cNvSpPr txBox="1"/>
          <p:nvPr/>
        </p:nvSpPr>
        <p:spPr>
          <a:xfrm>
            <a:off x="6666139" y="3566301"/>
            <a:ext cx="1001486" cy="285750"/>
          </a:xfrm>
          <a:prstGeom prst="rect">
            <a:avLst/>
          </a:prstGeom>
          <a:noFill/>
        </p:spPr>
        <p:txBody>
          <a:bodyPr wrap="square" lIns="28575" rIns="28575" tIns="9525" bIns="9525">
            <a:spAutoFit/>
          </a:bodyPr>
          <a:lstStyle/>
          <a:p>
            <a:pPr algn="ctr"/>
            <a:r>
              <a:rPr sz="1100" b="0">
                <a:solidFill>
                  <a:srgbClr val="2E2E2E"/>
                </a:solidFill>
                <a:latin typeface="Calibri"/>
              </a:rPr>
              <a:t>Flower Bulbs, Corms,…</a:t>
            </a:r>
          </a:p>
        </p:txBody>
      </p:sp>
      <p:sp>
        <p:nvSpPr>
          <p:cNvPr id="44" name="Rounded Rectangle 43"/>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46" name="Connector 45"/>
          <p:cNvCxnSpPr/>
          <p:nvPr/>
        </p:nvCxnSpPr>
        <p:spPr>
          <a:xfrm>
            <a:off x="619125" y="452165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88547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19125" y="561311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9125" y="597694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521656"/>
            <a:ext cx="0" cy="145528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452165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550" y="488547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0550" y="561311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5976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7" name="FMI Scale tick"/>
          <p:cNvSpPr txBox="1"/>
          <p:nvPr/>
        </p:nvSpPr>
        <p:spPr>
          <a:xfrm>
            <a:off x="219075" y="4454981"/>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58" name="FMI Scale tick"/>
          <p:cNvSpPr txBox="1"/>
          <p:nvPr/>
        </p:nvSpPr>
        <p:spPr>
          <a:xfrm>
            <a:off x="219075" y="4818802"/>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9"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60" name="FMI Scale tick"/>
          <p:cNvSpPr txBox="1"/>
          <p:nvPr/>
        </p:nvSpPr>
        <p:spPr>
          <a:xfrm>
            <a:off x="219075" y="5546444"/>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61" name="FMI Scale tick"/>
          <p:cNvSpPr txBox="1"/>
          <p:nvPr/>
        </p:nvSpPr>
        <p:spPr>
          <a:xfrm>
            <a:off x="219075" y="5910265"/>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62" name="Connector 61"/>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2152650" y="5203739"/>
            <a:ext cx="457200" cy="4555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1793875" y="506086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Rectangle 66"/>
          <p:cNvSpPr/>
          <p:nvPr/>
        </p:nvSpPr>
        <p:spPr>
          <a:xfrm>
            <a:off x="3327400" y="4769989"/>
            <a:ext cx="457200" cy="47930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2968625" y="462711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4502150" y="5249298"/>
            <a:ext cx="457200" cy="38137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4143375" y="564020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Rectangle 70"/>
          <p:cNvSpPr/>
          <p:nvPr/>
        </p:nvSpPr>
        <p:spPr>
          <a:xfrm>
            <a:off x="5676900" y="5249298"/>
            <a:ext cx="457200" cy="38622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MI Data Label"/>
          <p:cNvSpPr txBox="1"/>
          <p:nvPr/>
        </p:nvSpPr>
        <p:spPr>
          <a:xfrm>
            <a:off x="5318125" y="564504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3" name="Rectangle 72"/>
          <p:cNvSpPr/>
          <p:nvPr/>
        </p:nvSpPr>
        <p:spPr>
          <a:xfrm>
            <a:off x="6851650" y="5249298"/>
            <a:ext cx="457200" cy="7579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6492875" y="533461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TextBox 74"/>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6" name="TextBox 75"/>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7" name="TextBox 76"/>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78" name="TextBox 77"/>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9" name="TextBox 78"/>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0" name="TextBox 79"/>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and Africa</a:t>
            </a:r>
          </a:p>
        </p:txBody>
      </p:sp>
      <p:sp>
        <p:nvSpPr>
          <p:cNvPr id="81" name="Rounded Rectangle 80"/>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3" name="Rectangle 82"/>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85" name="TextBox 8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6" name="Picture 85" descr="lock.png"/>
          <p:cNvPicPr>
            <a:picLocks noChangeAspect="1"/>
          </p:cNvPicPr>
          <p:nvPr/>
        </p:nvPicPr>
        <p:blipFill>
          <a:blip r:embed="rId4"/>
          <a:stretch>
            <a:fillRect/>
          </a:stretch>
        </p:blipFill>
        <p:spPr>
          <a:xfrm>
            <a:off x="345225" y="3444127"/>
            <a:ext cx="128699" cy="187198"/>
          </a:xfrm>
          <a:prstGeom prst="rect">
            <a:avLst/>
          </a:prstGeom>
        </p:spPr>
      </p:pic>
      <p:pic>
        <p:nvPicPr>
          <p:cNvPr id="87" name="Picture 86" descr="lock.png"/>
          <p:cNvPicPr>
            <a:picLocks noChangeAspect="1"/>
          </p:cNvPicPr>
          <p:nvPr/>
        </p:nvPicPr>
        <p:blipFill>
          <a:blip r:embed="rId4"/>
          <a:stretch>
            <a:fillRect/>
          </a:stretch>
        </p:blipFill>
        <p:spPr>
          <a:xfrm>
            <a:off x="345225" y="2534076"/>
            <a:ext cx="128699" cy="187198"/>
          </a:xfrm>
          <a:prstGeom prst="rect">
            <a:avLst/>
          </a:prstGeom>
        </p:spPr>
      </p:pic>
      <p:pic>
        <p:nvPicPr>
          <p:cNvPr id="88" name="Picture 87" descr="lock.png"/>
          <p:cNvPicPr>
            <a:picLocks noChangeAspect="1"/>
          </p:cNvPicPr>
          <p:nvPr/>
        </p:nvPicPr>
        <p:blipFill>
          <a:blip r:embed="rId4"/>
          <a:stretch>
            <a:fillRect/>
          </a:stretch>
        </p:blipFill>
        <p:spPr>
          <a:xfrm>
            <a:off x="345225" y="1624025"/>
            <a:ext cx="128699" cy="187198"/>
          </a:xfrm>
          <a:prstGeom prst="rect">
            <a:avLst/>
          </a:prstGeom>
        </p:spPr>
      </p:pic>
      <p:pic>
        <p:nvPicPr>
          <p:cNvPr id="89" name="Picture 88" descr="lock.png"/>
          <p:cNvPicPr>
            <a:picLocks noChangeAspect="1"/>
          </p:cNvPicPr>
          <p:nvPr/>
        </p:nvPicPr>
        <p:blipFill>
          <a:blip r:embed="rId4"/>
          <a:stretch>
            <a:fillRect/>
          </a:stretch>
        </p:blipFill>
        <p:spPr>
          <a:xfrm>
            <a:off x="1093618" y="1973683"/>
            <a:ext cx="128699" cy="187198"/>
          </a:xfrm>
          <a:prstGeom prst="rect">
            <a:avLst/>
          </a:prstGeom>
        </p:spPr>
      </p:pic>
      <p:pic>
        <p:nvPicPr>
          <p:cNvPr id="90" name="Picture 89" descr="lock.png"/>
          <p:cNvPicPr>
            <a:picLocks noChangeAspect="1"/>
          </p:cNvPicPr>
          <p:nvPr/>
        </p:nvPicPr>
        <p:blipFill>
          <a:blip r:embed="rId4"/>
          <a:stretch>
            <a:fillRect/>
          </a:stretch>
        </p:blipFill>
        <p:spPr>
          <a:xfrm>
            <a:off x="2095104" y="2159002"/>
            <a:ext cx="128699" cy="187198"/>
          </a:xfrm>
          <a:prstGeom prst="rect">
            <a:avLst/>
          </a:prstGeom>
        </p:spPr>
      </p:pic>
      <p:pic>
        <p:nvPicPr>
          <p:cNvPr id="91" name="Picture 90" descr="lock.png"/>
          <p:cNvPicPr>
            <a:picLocks noChangeAspect="1"/>
          </p:cNvPicPr>
          <p:nvPr/>
        </p:nvPicPr>
        <p:blipFill>
          <a:blip r:embed="rId4"/>
          <a:stretch>
            <a:fillRect/>
          </a:stretch>
        </p:blipFill>
        <p:spPr>
          <a:xfrm>
            <a:off x="3096589" y="3011642"/>
            <a:ext cx="128699" cy="187198"/>
          </a:xfrm>
          <a:prstGeom prst="rect">
            <a:avLst/>
          </a:prstGeom>
        </p:spPr>
      </p:pic>
      <p:pic>
        <p:nvPicPr>
          <p:cNvPr id="92" name="Picture 91" descr="lock.png"/>
          <p:cNvPicPr>
            <a:picLocks noChangeAspect="1"/>
          </p:cNvPicPr>
          <p:nvPr/>
        </p:nvPicPr>
        <p:blipFill>
          <a:blip r:embed="rId4"/>
          <a:stretch>
            <a:fillRect/>
          </a:stretch>
        </p:blipFill>
        <p:spPr>
          <a:xfrm>
            <a:off x="4098075" y="1868797"/>
            <a:ext cx="128699" cy="187198"/>
          </a:xfrm>
          <a:prstGeom prst="rect">
            <a:avLst/>
          </a:prstGeom>
        </p:spPr>
      </p:pic>
      <p:pic>
        <p:nvPicPr>
          <p:cNvPr id="93" name="Picture 92" descr="lock.png"/>
          <p:cNvPicPr>
            <a:picLocks noChangeAspect="1"/>
          </p:cNvPicPr>
          <p:nvPr/>
        </p:nvPicPr>
        <p:blipFill>
          <a:blip r:embed="rId4"/>
          <a:stretch>
            <a:fillRect/>
          </a:stretch>
        </p:blipFill>
        <p:spPr>
          <a:xfrm>
            <a:off x="5099561" y="1748312"/>
            <a:ext cx="128699" cy="187198"/>
          </a:xfrm>
          <a:prstGeom prst="rect">
            <a:avLst/>
          </a:prstGeom>
        </p:spPr>
      </p:pic>
      <p:pic>
        <p:nvPicPr>
          <p:cNvPr id="94" name="Picture 93" descr="lock.png"/>
          <p:cNvPicPr>
            <a:picLocks noChangeAspect="1"/>
          </p:cNvPicPr>
          <p:nvPr/>
        </p:nvPicPr>
        <p:blipFill>
          <a:blip r:embed="rId4"/>
          <a:stretch>
            <a:fillRect/>
          </a:stretch>
        </p:blipFill>
        <p:spPr>
          <a:xfrm>
            <a:off x="6101047" y="2766909"/>
            <a:ext cx="128699" cy="187198"/>
          </a:xfrm>
          <a:prstGeom prst="rect">
            <a:avLst/>
          </a:prstGeom>
        </p:spPr>
      </p:pic>
      <p:pic>
        <p:nvPicPr>
          <p:cNvPr id="95" name="Picture 94" descr="lock.png"/>
          <p:cNvPicPr>
            <a:picLocks noChangeAspect="1"/>
          </p:cNvPicPr>
          <p:nvPr/>
        </p:nvPicPr>
        <p:blipFill>
          <a:blip r:embed="rId4"/>
          <a:stretch>
            <a:fillRect/>
          </a:stretch>
        </p:blipFill>
        <p:spPr>
          <a:xfrm>
            <a:off x="7102532" y="2512707"/>
            <a:ext cx="128699" cy="187198"/>
          </a:xfrm>
          <a:prstGeom prst="rect">
            <a:avLst/>
          </a:prstGeom>
        </p:spPr>
      </p:pic>
      <p:pic>
        <p:nvPicPr>
          <p:cNvPr id="96" name="Picture 95" descr="lock.png"/>
          <p:cNvPicPr>
            <a:picLocks noChangeAspect="1"/>
          </p:cNvPicPr>
          <p:nvPr/>
        </p:nvPicPr>
        <p:blipFill>
          <a:blip r:embed="rId4"/>
          <a:stretch>
            <a:fillRect/>
          </a:stretch>
        </p:blipFill>
        <p:spPr>
          <a:xfrm>
            <a:off x="1142150" y="4444308"/>
            <a:ext cx="128699" cy="187198"/>
          </a:xfrm>
          <a:prstGeom prst="rect">
            <a:avLst/>
          </a:prstGeom>
        </p:spPr>
      </p:pic>
      <p:pic>
        <p:nvPicPr>
          <p:cNvPr id="97" name="Picture 96" descr="lock.png"/>
          <p:cNvPicPr>
            <a:picLocks noChangeAspect="1"/>
          </p:cNvPicPr>
          <p:nvPr/>
        </p:nvPicPr>
        <p:blipFill>
          <a:blip r:embed="rId4"/>
          <a:stretch>
            <a:fillRect/>
          </a:stretch>
        </p:blipFill>
        <p:spPr>
          <a:xfrm>
            <a:off x="2316900" y="5033939"/>
            <a:ext cx="128699" cy="187198"/>
          </a:xfrm>
          <a:prstGeom prst="rect">
            <a:avLst/>
          </a:prstGeom>
        </p:spPr>
      </p:pic>
      <p:pic>
        <p:nvPicPr>
          <p:cNvPr id="98" name="Picture 97" descr="lock.png"/>
          <p:cNvPicPr>
            <a:picLocks noChangeAspect="1"/>
          </p:cNvPicPr>
          <p:nvPr/>
        </p:nvPicPr>
        <p:blipFill>
          <a:blip r:embed="rId4"/>
          <a:stretch>
            <a:fillRect/>
          </a:stretch>
        </p:blipFill>
        <p:spPr>
          <a:xfrm>
            <a:off x="3491650" y="4600190"/>
            <a:ext cx="128699" cy="187198"/>
          </a:xfrm>
          <a:prstGeom prst="rect">
            <a:avLst/>
          </a:prstGeom>
        </p:spPr>
      </p:pic>
      <p:pic>
        <p:nvPicPr>
          <p:cNvPr id="99" name="Picture 98" descr="lock.png"/>
          <p:cNvPicPr>
            <a:picLocks noChangeAspect="1"/>
          </p:cNvPicPr>
          <p:nvPr/>
        </p:nvPicPr>
        <p:blipFill>
          <a:blip r:embed="rId4"/>
          <a:stretch>
            <a:fillRect/>
          </a:stretch>
        </p:blipFill>
        <p:spPr>
          <a:xfrm>
            <a:off x="4666400" y="5613275"/>
            <a:ext cx="128699" cy="187198"/>
          </a:xfrm>
          <a:prstGeom prst="rect">
            <a:avLst/>
          </a:prstGeom>
        </p:spPr>
      </p:pic>
      <p:pic>
        <p:nvPicPr>
          <p:cNvPr id="100" name="Picture 99" descr="lock.png"/>
          <p:cNvPicPr>
            <a:picLocks noChangeAspect="1"/>
          </p:cNvPicPr>
          <p:nvPr/>
        </p:nvPicPr>
        <p:blipFill>
          <a:blip r:embed="rId4"/>
          <a:stretch>
            <a:fillRect/>
          </a:stretch>
        </p:blipFill>
        <p:spPr>
          <a:xfrm>
            <a:off x="5841150" y="5618119"/>
            <a:ext cx="128699" cy="187198"/>
          </a:xfrm>
          <a:prstGeom prst="rect">
            <a:avLst/>
          </a:prstGeom>
        </p:spPr>
      </p:pic>
      <p:pic>
        <p:nvPicPr>
          <p:cNvPr id="101" name="Picture 100" descr="lock.png"/>
          <p:cNvPicPr>
            <a:picLocks noChangeAspect="1"/>
          </p:cNvPicPr>
          <p:nvPr/>
        </p:nvPicPr>
        <p:blipFill>
          <a:blip r:embed="rId4"/>
          <a:stretch>
            <a:fillRect/>
          </a:stretch>
        </p:blipFill>
        <p:spPr>
          <a:xfrm>
            <a:off x="7015900" y="5307693"/>
            <a:ext cx="128699" cy="187198"/>
          </a:xfrm>
          <a:prstGeom prst="rect">
            <a:avLst/>
          </a:prstGeom>
        </p:spPr>
      </p:pic>
      <p:sp>
        <p:nvSpPr>
          <p:cNvPr id="102" name="TextBox 101"/>
          <p:cNvSpPr txBox="1"/>
          <p:nvPr/>
        </p:nvSpPr>
        <p:spPr>
          <a:xfrm>
            <a:off x="8048625" y="1736673"/>
            <a:ext cx="3654424"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product type</a:t>
            </a:r>
          </a:p>
        </p:txBody>
      </p:sp>
      <p:sp>
        <p:nvSpPr>
          <p:cNvPr id="103" name="TextBox 102"/>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104" name="TextBox 103"/>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105" name="TextBox 104"/>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106" name="TextBox 105"/>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107" name="TextBox 106"/>
          <p:cNvSpPr txBox="1"/>
          <p:nvPr/>
        </p:nvSpPr>
        <p:spPr>
          <a:xfrm>
            <a:off x="8048625" y="2665551"/>
            <a:ext cx="3740255" cy="194310"/>
          </a:xfrm>
          <a:prstGeom prst="rect">
            <a:avLst/>
          </a:prstGeom>
          <a:noFill/>
        </p:spPr>
        <p:txBody>
          <a:bodyPr wrap="none" lIns="0" rIns="0" tIns="0" bIns="0">
            <a:spAutoFit/>
          </a:bodyPr>
          <a:lstStyle/>
          <a:p>
            <a:r>
              <a:rPr sz="1150" b="0">
                <a:solidFill>
                  <a:srgbClr val="2E2E2E"/>
                </a:solidFill>
                <a:latin typeface="Calibri"/>
              </a:rPr>
              <a:t>price levels 'Potted Foliage Plants' shows the most movement</a:t>
            </a:r>
          </a:p>
        </p:txBody>
      </p:sp>
      <p:sp>
        <p:nvSpPr>
          <p:cNvPr id="108" name="TextBox 107"/>
          <p:cNvSpPr txBox="1"/>
          <p:nvPr/>
        </p:nvSpPr>
        <p:spPr>
          <a:xfrm>
            <a:off x="8048625" y="284081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109" name="Picture 108" descr="lock.png"/>
          <p:cNvPicPr>
            <a:picLocks noChangeAspect="1"/>
          </p:cNvPicPr>
          <p:nvPr/>
        </p:nvPicPr>
        <p:blipFill>
          <a:blip r:embed="rId4"/>
          <a:stretch>
            <a:fillRect/>
          </a:stretch>
        </p:blipFill>
        <p:spPr>
          <a:xfrm>
            <a:off x="8190933" y="2830588"/>
            <a:ext cx="134549" cy="195707"/>
          </a:xfrm>
          <a:prstGeom prst="rect">
            <a:avLst/>
          </a:prstGeom>
        </p:spPr>
      </p:pic>
      <p:sp>
        <p:nvSpPr>
          <p:cNvPr id="110" name="TextBox 109"/>
          <p:cNvSpPr txBox="1"/>
          <p:nvPr/>
        </p:nvSpPr>
        <p:spPr>
          <a:xfrm>
            <a:off x="8366042" y="2840811"/>
            <a:ext cx="3124708" cy="194310"/>
          </a:xfrm>
          <a:prstGeom prst="rect">
            <a:avLst/>
          </a:prstGeom>
          <a:noFill/>
        </p:spPr>
        <p:txBody>
          <a:bodyPr wrap="none" lIns="0" rIns="0" tIns="0" bIns="0">
            <a:spAutoFit/>
          </a:bodyPr>
          <a:lstStyle/>
          <a:p>
            <a:r>
              <a:rPr sz="1150" b="0">
                <a:solidFill>
                  <a:srgbClr val="2E2E2E"/>
                </a:solidFill>
                <a:latin typeface="Calibri"/>
              </a:rPr>
              <a:t>) and 'Bedding &amp; Garden Flowering Plants' the least</a:t>
            </a:r>
          </a:p>
        </p:txBody>
      </p:sp>
      <p:sp>
        <p:nvSpPr>
          <p:cNvPr id="111" name="TextBox 110"/>
          <p:cNvSpPr txBox="1"/>
          <p:nvPr/>
        </p:nvSpPr>
        <p:spPr>
          <a:xfrm>
            <a:off x="8048625" y="301607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112" name="Picture 111" descr="lock.png"/>
          <p:cNvPicPr>
            <a:picLocks noChangeAspect="1"/>
          </p:cNvPicPr>
          <p:nvPr/>
        </p:nvPicPr>
        <p:blipFill>
          <a:blip r:embed="rId4"/>
          <a:stretch>
            <a:fillRect/>
          </a:stretch>
        </p:blipFill>
        <p:spPr>
          <a:xfrm>
            <a:off x="8190933" y="3005848"/>
            <a:ext cx="134549" cy="195707"/>
          </a:xfrm>
          <a:prstGeom prst="rect">
            <a:avLst/>
          </a:prstGeom>
        </p:spPr>
      </p:pic>
      <p:sp>
        <p:nvSpPr>
          <p:cNvPr id="113" name="TextBox 112"/>
          <p:cNvSpPr txBox="1"/>
          <p:nvPr/>
        </p:nvSpPr>
        <p:spPr>
          <a:xfrm>
            <a:off x="8366042" y="3016071"/>
            <a:ext cx="3385145"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 planning</a:t>
            </a:r>
          </a:p>
        </p:txBody>
      </p:sp>
      <p:sp>
        <p:nvSpPr>
          <p:cNvPr id="114" name="TextBox 113"/>
          <p:cNvSpPr txBox="1"/>
          <p:nvPr/>
        </p:nvSpPr>
        <p:spPr>
          <a:xfrm>
            <a:off x="8048625" y="3191331"/>
            <a:ext cx="1492200" cy="194310"/>
          </a:xfrm>
          <a:prstGeom prst="rect">
            <a:avLst/>
          </a:prstGeom>
          <a:noFill/>
        </p:spPr>
        <p:txBody>
          <a:bodyPr wrap="none" lIns="0" rIns="0" tIns="0" bIns="0">
            <a:spAutoFit/>
          </a:bodyPr>
          <a:lstStyle/>
          <a:p>
            <a:r>
              <a:rPr sz="1150" b="0">
                <a:solidFill>
                  <a:srgbClr val="2E2E2E"/>
                </a:solidFill>
                <a:latin typeface="Calibri"/>
              </a:rPr>
              <a:t>procurement or pricing.</a:t>
            </a:r>
          </a:p>
        </p:txBody>
      </p:sp>
      <p:sp>
        <p:nvSpPr>
          <p:cNvPr id="115" name="TextBox 114"/>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16" name="TextBox 115"/>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17" name="TextBox 116"/>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18" name="TextBox 117"/>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19" name="TextBox 118"/>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20" name="Picture 119" descr="lock.png"/>
          <p:cNvPicPr>
            <a:picLocks noChangeAspect="1"/>
          </p:cNvPicPr>
          <p:nvPr/>
        </p:nvPicPr>
        <p:blipFill>
          <a:blip r:embed="rId4"/>
          <a:stretch>
            <a:fillRect/>
          </a:stretch>
        </p:blipFill>
        <p:spPr>
          <a:xfrm>
            <a:off x="10338039" y="4162564"/>
            <a:ext cx="134549" cy="195707"/>
          </a:xfrm>
          <a:prstGeom prst="rect">
            <a:avLst/>
          </a:prstGeom>
        </p:spPr>
      </p:pic>
      <p:sp>
        <p:nvSpPr>
          <p:cNvPr id="121" name="TextBox 120"/>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22" name="TextBox 121"/>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23" name="TextBox 122"/>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24" name="TextBox 123"/>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Pricing Assessment: By Product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product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Type,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05232">
                <a:tc>
                  <a:txBody>
                    <a:bodyPr wrap="square"/>
                    <a:lstStyle/>
                    <a:p>
                      <a:pPr algn="l"/>
                      <a:r>
                        <a:rPr sz="850" b="1">
                          <a:solidFill>
                            <a:srgbClr val="FFFFFF"/>
                          </a:solidFill>
                          <a:latin typeface="Calibri"/>
                        </a:rPr>
                        <a:t>Product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05232">
                <a:tc>
                  <a:txBody>
                    <a:bodyPr wrap="square"/>
                    <a:lstStyle/>
                    <a:p>
                      <a:pPr algn="l"/>
                      <a:r>
                        <a:rPr sz="850" b="1">
                          <a:solidFill>
                            <a:srgbClr val="1F1F1F"/>
                          </a:solidFill>
                          <a:latin typeface="Calibri"/>
                        </a:rPr>
                        <a:t>Cut Foliage &amp; Greens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Bedding &amp; Garden Flowering Plants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Cut Flowers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Potted Flowering Plants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05232">
                <a:tc>
                  <a:txBody>
                    <a:bodyPr wrap="square"/>
                    <a:lstStyle/>
                    <a:p>
                      <a:pPr algn="l"/>
                      <a:r>
                        <a:rPr sz="850" b="1">
                          <a:solidFill>
                            <a:srgbClr val="1F1F1F"/>
                          </a:solidFill>
                          <a:latin typeface="Calibri"/>
                        </a:rPr>
                        <a:t>Flower Bulbs, Corms, Rhizomes &amp; Tubers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05232">
                <a:tc>
                  <a:txBody>
                    <a:bodyPr wrap="square"/>
                    <a:lstStyle/>
                    <a:p>
                      <a:pPr algn="l"/>
                      <a:r>
                        <a:rPr sz="850" b="1">
                          <a:solidFill>
                            <a:srgbClr val="1F1F1F"/>
                          </a:solidFill>
                          <a:latin typeface="Calibri"/>
                        </a:rPr>
                        <a:t>Young Plants &amp; Propagation Material</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05232">
                <a:tc>
                  <a:txBody>
                    <a:bodyPr wrap="square"/>
                    <a:lstStyle/>
                    <a:p>
                      <a:pPr algn="l"/>
                      <a:r>
                        <a:rPr sz="850" b="1">
                          <a:solidFill>
                            <a:srgbClr val="1F1F1F"/>
                          </a:solidFill>
                          <a:latin typeface="Calibri"/>
                        </a:rPr>
                        <a:t>Potted Foliage Plants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05232">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3989197"/>
            <a:ext cx="330041" cy="480060"/>
          </a:xfrm>
          <a:prstGeom prst="rect">
            <a:avLst/>
          </a:prstGeom>
        </p:spPr>
      </p:pic>
      <p:sp>
        <p:nvSpPr>
          <p:cNvPr id="34" name="TextBox 33"/>
          <p:cNvSpPr txBox="1"/>
          <p:nvPr/>
        </p:nvSpPr>
        <p:spPr>
          <a:xfrm>
            <a:off x="411480" y="1110615"/>
            <a:ext cx="5390648" cy="217169"/>
          </a:xfrm>
          <a:prstGeom prst="rect">
            <a:avLst/>
          </a:prstGeom>
          <a:noFill/>
        </p:spPr>
        <p:txBody>
          <a:bodyPr wrap="none" lIns="0" rIns="0" tIns="0" bIns="0">
            <a:spAutoFit/>
          </a:bodyPr>
          <a:lstStyle/>
          <a:p>
            <a:r>
              <a:rPr sz="1300" b="1">
                <a:solidFill>
                  <a:srgbClr val="FFFFFF"/>
                </a:solidFill>
                <a:latin typeface="Calibri"/>
              </a:rPr>
              <a:t>Cut Foliage &amp; Greens command the highest 2026 price point at US$ 1/Units, a</a:t>
            </a:r>
          </a:p>
        </p:txBody>
      </p:sp>
      <p:pic>
        <p:nvPicPr>
          <p:cNvPr id="35" name="Picture 34" descr="lock.png"/>
          <p:cNvPicPr>
            <a:picLocks noChangeAspect="1"/>
          </p:cNvPicPr>
          <p:nvPr/>
        </p:nvPicPr>
        <p:blipFill>
          <a:blip r:embed="rId6"/>
          <a:stretch>
            <a:fillRect/>
          </a:stretch>
        </p:blipFill>
        <p:spPr>
          <a:xfrm>
            <a:off x="5754589" y="1099058"/>
            <a:ext cx="152098" cy="221234"/>
          </a:xfrm>
          <a:prstGeom prst="rect">
            <a:avLst/>
          </a:prstGeom>
        </p:spPr>
      </p:pic>
      <p:sp>
        <p:nvSpPr>
          <p:cNvPr id="36" name="TextBox 35"/>
          <p:cNvSpPr txBox="1"/>
          <p:nvPr/>
        </p:nvSpPr>
        <p:spPr>
          <a:xfrm>
            <a:off x="5952539" y="1110615"/>
            <a:ext cx="2581691" cy="217169"/>
          </a:xfrm>
          <a:prstGeom prst="rect">
            <a:avLst/>
          </a:prstGeom>
          <a:noFill/>
        </p:spPr>
        <p:txBody>
          <a:bodyPr wrap="none" lIns="0" rIns="0" tIns="0" bIns="0">
            <a:spAutoFit/>
          </a:bodyPr>
          <a:lstStyle/>
          <a:p>
            <a:r>
              <a:rPr sz="1300" b="1">
                <a:solidFill>
                  <a:srgbClr val="FFFFFF"/>
                </a:solidFill>
                <a:latin typeface="Calibri"/>
              </a:rPr>
              <a:t>premium over Potted Foliage Plants.</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2893190" cy="179069"/>
          </a:xfrm>
          <a:prstGeom prst="rect">
            <a:avLst/>
          </a:prstGeom>
          <a:noFill/>
        </p:spPr>
        <p:txBody>
          <a:bodyPr wrap="none" lIns="0" rIns="0" tIns="0" bIns="0">
            <a:spAutoFit/>
          </a:bodyPr>
          <a:lstStyle/>
          <a:p>
            <a:r>
              <a:rPr sz="1050" b="0">
                <a:solidFill>
                  <a:srgbClr val="1F1F1F"/>
                </a:solidFill>
                <a:latin typeface="Calibri"/>
              </a:rPr>
              <a:t>Cut Foliage &amp; Greens sit at the top of the 2026 price</a:t>
            </a:r>
          </a:p>
        </p:txBody>
      </p:sp>
      <p:sp>
        <p:nvSpPr>
          <p:cNvPr id="41" name="TextBox 40"/>
          <p:cNvSpPr txBox="1"/>
          <p:nvPr/>
        </p:nvSpPr>
        <p:spPr>
          <a:xfrm>
            <a:off x="806576" y="5690996"/>
            <a:ext cx="1193266" cy="179069"/>
          </a:xfrm>
          <a:prstGeom prst="rect">
            <a:avLst/>
          </a:prstGeom>
          <a:noFill/>
        </p:spPr>
        <p:txBody>
          <a:bodyPr wrap="none" lIns="0" rIns="0" tIns="0" bIns="0">
            <a:spAutoFit/>
          </a:bodyPr>
          <a:lstStyle/>
          <a:p>
            <a:r>
              <a:rPr sz="1050" b="0">
                <a:solidFill>
                  <a:srgbClr val="1F1F1F"/>
                </a:solidFill>
                <a:latin typeface="Calibri"/>
              </a:rPr>
              <a:t>ladder at an index of</a:t>
            </a:r>
          </a:p>
        </p:txBody>
      </p:sp>
      <p:pic>
        <p:nvPicPr>
          <p:cNvPr id="42" name="Picture 41" descr="lock.png"/>
          <p:cNvPicPr>
            <a:picLocks noChangeAspect="1"/>
          </p:cNvPicPr>
          <p:nvPr/>
        </p:nvPicPr>
        <p:blipFill>
          <a:blip r:embed="rId6"/>
          <a:stretch>
            <a:fillRect/>
          </a:stretch>
        </p:blipFill>
        <p:spPr>
          <a:xfrm>
            <a:off x="1946792" y="5681662"/>
            <a:ext cx="122849" cy="178689"/>
          </a:xfrm>
          <a:prstGeom prst="rect">
            <a:avLst/>
          </a:prstGeom>
        </p:spPr>
      </p:pic>
      <p:sp>
        <p:nvSpPr>
          <p:cNvPr id="43" name="TextBox 42"/>
          <p:cNvSpPr txBox="1"/>
          <p:nvPr/>
        </p:nvSpPr>
        <p:spPr>
          <a:xfrm>
            <a:off x="2106675" y="5690996"/>
            <a:ext cx="1605529" cy="179069"/>
          </a:xfrm>
          <a:prstGeom prst="rect">
            <a:avLst/>
          </a:prstGeom>
          <a:noFill/>
        </p:spPr>
        <p:txBody>
          <a:bodyPr wrap="none" lIns="0" rIns="0" tIns="0" bIns="0">
            <a:spAutoFit/>
          </a:bodyPr>
          <a:lstStyle/>
          <a:p>
            <a:r>
              <a:rPr sz="1050" b="0">
                <a:solidFill>
                  <a:srgbClr val="1F1F1F"/>
                </a:solidFill>
                <a:latin typeface="Calibri"/>
              </a:rPr>
              <a:t>, while Potted Foliage Plants</a:t>
            </a:r>
          </a:p>
        </p:txBody>
      </p:sp>
      <p:sp>
        <p:nvSpPr>
          <p:cNvPr id="44" name="TextBox 43"/>
          <p:cNvSpPr txBox="1"/>
          <p:nvPr/>
        </p:nvSpPr>
        <p:spPr>
          <a:xfrm>
            <a:off x="806576" y="5851016"/>
            <a:ext cx="506722" cy="179069"/>
          </a:xfrm>
          <a:prstGeom prst="rect">
            <a:avLst/>
          </a:prstGeom>
          <a:noFill/>
        </p:spPr>
        <p:txBody>
          <a:bodyPr wrap="none" lIns="0" rIns="0" tIns="0" bIns="0">
            <a:spAutoFit/>
          </a:bodyPr>
          <a:lstStyle/>
          <a:p>
            <a:r>
              <a:rPr sz="1050" b="0">
                <a:solidFill>
                  <a:srgbClr val="1F1F1F"/>
                </a:solidFill>
                <a:latin typeface="Calibri"/>
              </a:rPr>
              <a:t>trade at</a:t>
            </a:r>
          </a:p>
        </p:txBody>
      </p:sp>
      <p:pic>
        <p:nvPicPr>
          <p:cNvPr id="45" name="Picture 44" descr="lock.png"/>
          <p:cNvPicPr>
            <a:picLocks noChangeAspect="1"/>
          </p:cNvPicPr>
          <p:nvPr/>
        </p:nvPicPr>
        <p:blipFill>
          <a:blip r:embed="rId6"/>
          <a:stretch>
            <a:fillRect/>
          </a:stretch>
        </p:blipFill>
        <p:spPr>
          <a:xfrm>
            <a:off x="1260248" y="5841682"/>
            <a:ext cx="122849" cy="178689"/>
          </a:xfrm>
          <a:prstGeom prst="rect">
            <a:avLst/>
          </a:prstGeom>
        </p:spPr>
      </p:pic>
      <p:sp>
        <p:nvSpPr>
          <p:cNvPr id="46" name="TextBox 45"/>
          <p:cNvSpPr txBox="1"/>
          <p:nvPr/>
        </p:nvSpPr>
        <p:spPr>
          <a:xfrm>
            <a:off x="1420131" y="5851016"/>
            <a:ext cx="2352005" cy="179069"/>
          </a:xfrm>
          <a:prstGeom prst="rect">
            <a:avLst/>
          </a:prstGeom>
          <a:noFill/>
        </p:spPr>
        <p:txBody>
          <a:bodyPr wrap="none" lIns="0" rIns="0" tIns="0" bIns="0">
            <a:spAutoFit/>
          </a:bodyPr>
          <a:lstStyle/>
          <a:p>
            <a:r>
              <a:rPr sz="1050" b="0">
                <a:solidFill>
                  <a:srgbClr val="1F1F1F"/>
                </a:solidFill>
                <a:latin typeface="Calibri"/>
              </a:rPr>
              <a:t>, which keeps the full product type spread</a:t>
            </a:r>
          </a:p>
        </p:txBody>
      </p:sp>
      <p:sp>
        <p:nvSpPr>
          <p:cNvPr id="47" name="TextBox 46"/>
          <p:cNvSpPr txBox="1"/>
          <p:nvPr/>
        </p:nvSpPr>
        <p:spPr>
          <a:xfrm>
            <a:off x="806576" y="6011036"/>
            <a:ext cx="417909" cy="179069"/>
          </a:xfrm>
          <a:prstGeom prst="rect">
            <a:avLst/>
          </a:prstGeom>
          <a:noFill/>
        </p:spPr>
        <p:txBody>
          <a:bodyPr wrap="none" lIns="0" rIns="0" tIns="0" bIns="0">
            <a:spAutoFit/>
          </a:bodyPr>
          <a:lstStyle/>
          <a:p>
            <a:r>
              <a:rPr sz="1050" b="0">
                <a:solidFill>
                  <a:srgbClr val="1F1F1F"/>
                </a:solidFill>
                <a:latin typeface="Calibri"/>
              </a:rPr>
              <a:t>within</a:t>
            </a:r>
          </a:p>
        </p:txBody>
      </p:sp>
      <p:pic>
        <p:nvPicPr>
          <p:cNvPr id="48" name="Picture 47" descr="lock.png"/>
          <p:cNvPicPr>
            <a:picLocks noChangeAspect="1"/>
          </p:cNvPicPr>
          <p:nvPr/>
        </p:nvPicPr>
        <p:blipFill>
          <a:blip r:embed="rId6"/>
          <a:stretch>
            <a:fillRect/>
          </a:stretch>
        </p:blipFill>
        <p:spPr>
          <a:xfrm>
            <a:off x="1171435" y="6001702"/>
            <a:ext cx="122849" cy="178689"/>
          </a:xfrm>
          <a:prstGeom prst="rect">
            <a:avLst/>
          </a:prstGeom>
        </p:spPr>
      </p:pic>
      <p:sp>
        <p:nvSpPr>
          <p:cNvPr id="49" name="TextBox 48"/>
          <p:cNvSpPr txBox="1"/>
          <p:nvPr/>
        </p:nvSpPr>
        <p:spPr>
          <a:xfrm>
            <a:off x="1331317"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3045813" cy="179069"/>
          </a:xfrm>
          <a:prstGeom prst="rect">
            <a:avLst/>
          </a:prstGeom>
          <a:noFill/>
        </p:spPr>
        <p:txBody>
          <a:bodyPr wrap="none" lIns="0" rIns="0" tIns="0" bIns="0">
            <a:spAutoFit/>
          </a:bodyPr>
          <a:lstStyle/>
          <a:p>
            <a:r>
              <a:rPr sz="1050" b="0">
                <a:solidFill>
                  <a:srgbClr val="1F1F1F"/>
                </a:solidFill>
                <a:latin typeface="Calibri"/>
              </a:rPr>
              <a:t>Potted Foliage Plants post the fastest price growth at a</a:t>
            </a:r>
          </a:p>
        </p:txBody>
      </p:sp>
      <p:pic>
        <p:nvPicPr>
          <p:cNvPr id="51" name="Picture 50" descr="lock.png"/>
          <p:cNvPicPr>
            <a:picLocks noChangeAspect="1"/>
          </p:cNvPicPr>
          <p:nvPr/>
        </p:nvPicPr>
        <p:blipFill>
          <a:blip r:embed="rId6"/>
          <a:stretch>
            <a:fillRect/>
          </a:stretch>
        </p:blipFill>
        <p:spPr>
          <a:xfrm>
            <a:off x="4719545" y="5681662"/>
            <a:ext cx="122849" cy="178689"/>
          </a:xfrm>
          <a:prstGeom prst="rect">
            <a:avLst/>
          </a:prstGeom>
        </p:spPr>
      </p:pic>
      <p:sp>
        <p:nvSpPr>
          <p:cNvPr id="52" name="TextBox 51"/>
          <p:cNvSpPr txBox="1"/>
          <p:nvPr/>
        </p:nvSpPr>
        <p:spPr>
          <a:xfrm>
            <a:off x="4879428"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3" name="Picture 52" descr="lock.png"/>
          <p:cNvPicPr>
            <a:picLocks noChangeAspect="1"/>
          </p:cNvPicPr>
          <p:nvPr/>
        </p:nvPicPr>
        <p:blipFill>
          <a:blip r:embed="rId6"/>
          <a:stretch>
            <a:fillRect/>
          </a:stretch>
        </p:blipFill>
        <p:spPr>
          <a:xfrm>
            <a:off x="7438294" y="5681662"/>
            <a:ext cx="122849" cy="178689"/>
          </a:xfrm>
          <a:prstGeom prst="rect">
            <a:avLst/>
          </a:prstGeom>
        </p:spPr>
      </p:pic>
      <p:sp>
        <p:nvSpPr>
          <p:cNvPr id="54" name="TextBox 53"/>
          <p:cNvSpPr txBox="1"/>
          <p:nvPr/>
        </p:nvSpPr>
        <p:spPr>
          <a:xfrm>
            <a:off x="4732401" y="5851016"/>
            <a:ext cx="2217873" cy="179069"/>
          </a:xfrm>
          <a:prstGeom prst="rect">
            <a:avLst/>
          </a:prstGeom>
          <a:noFill/>
        </p:spPr>
        <p:txBody>
          <a:bodyPr wrap="none" lIns="0" rIns="0" tIns="0" bIns="0">
            <a:spAutoFit/>
          </a:bodyPr>
          <a:lstStyle/>
          <a:p>
            <a:r>
              <a:rPr sz="1050" b="0">
                <a:solidFill>
                  <a:srgbClr val="1F1F1F"/>
                </a:solidFill>
                <a:latin typeface="Calibri"/>
              </a:rPr>
              <a:t>for Bedding &amp; Garden Flowering Plants.</a:t>
            </a:r>
          </a:p>
        </p:txBody>
      </p:sp>
      <p:sp>
        <p:nvSpPr>
          <p:cNvPr id="55" name="TextBox 54"/>
          <p:cNvSpPr txBox="1"/>
          <p:nvPr/>
        </p:nvSpPr>
        <p:spPr>
          <a:xfrm>
            <a:off x="8658225" y="5530976"/>
            <a:ext cx="3100796" cy="179069"/>
          </a:xfrm>
          <a:prstGeom prst="rect">
            <a:avLst/>
          </a:prstGeom>
          <a:noFill/>
        </p:spPr>
        <p:txBody>
          <a:bodyPr wrap="none" lIns="0" rIns="0" tIns="0" bIns="0">
            <a:spAutoFit/>
          </a:bodyPr>
          <a:lstStyle/>
          <a:p>
            <a:r>
              <a:rPr sz="1050" b="0">
                <a:solidFill>
                  <a:srgbClr val="1F1F1F"/>
                </a:solidFill>
                <a:latin typeface="Calibri"/>
              </a:rPr>
              <a:t>The Global average price rises from US$ 1/Units in 2026</a:t>
            </a:r>
          </a:p>
        </p:txBody>
      </p:sp>
      <p:sp>
        <p:nvSpPr>
          <p:cNvPr id="56" name="TextBox 55"/>
          <p:cNvSpPr txBox="1"/>
          <p:nvPr/>
        </p:nvSpPr>
        <p:spPr>
          <a:xfrm>
            <a:off x="8658225" y="5690996"/>
            <a:ext cx="3143250" cy="179069"/>
          </a:xfrm>
          <a:prstGeom prst="rect">
            <a:avLst/>
          </a:prstGeom>
          <a:noFill/>
        </p:spPr>
        <p:txBody>
          <a:bodyPr wrap="none" lIns="0" rIns="0" tIns="0" bIns="0">
            <a:spAutoFit/>
          </a:bodyPr>
          <a:lstStyle/>
          <a:p>
            <a:r>
              <a:rPr sz="1050" b="0">
                <a:solidFill>
                  <a:srgbClr val="1F1F1F"/>
                </a:solidFill>
                <a:latin typeface="Calibri"/>
              </a:rPr>
              <a:t>to US$ 1/Units in 2036, and the gap between the highest</a:t>
            </a:r>
          </a:p>
        </p:txBody>
      </p:sp>
      <p:sp>
        <p:nvSpPr>
          <p:cNvPr id="57" name="TextBox 56"/>
          <p:cNvSpPr txBox="1"/>
          <p:nvPr/>
        </p:nvSpPr>
        <p:spPr>
          <a:xfrm>
            <a:off x="8658225" y="5851016"/>
            <a:ext cx="2451236" cy="179069"/>
          </a:xfrm>
          <a:prstGeom prst="rect">
            <a:avLst/>
          </a:prstGeom>
          <a:noFill/>
        </p:spPr>
        <p:txBody>
          <a:bodyPr wrap="none" lIns="0" rIns="0" tIns="0" bIns="0">
            <a:spAutoFit/>
          </a:bodyPr>
          <a:lstStyle/>
          <a:p>
            <a:r>
              <a:rPr sz="1050" b="0">
                <a:solidFill>
                  <a:srgbClr val="1F1F1F"/>
                </a:solidFill>
                <a:latin typeface="Calibri"/>
              </a:rPr>
              <a:t>and lowest priced product type moves from</a:t>
            </a:r>
          </a:p>
        </p:txBody>
      </p:sp>
      <p:pic>
        <p:nvPicPr>
          <p:cNvPr id="58" name="Picture 57" descr="lock.png"/>
          <p:cNvPicPr>
            <a:picLocks noChangeAspect="1"/>
          </p:cNvPicPr>
          <p:nvPr/>
        </p:nvPicPr>
        <p:blipFill>
          <a:blip r:embed="rId6"/>
          <a:stretch>
            <a:fillRect/>
          </a:stretch>
        </p:blipFill>
        <p:spPr>
          <a:xfrm>
            <a:off x="11056410" y="5841682"/>
            <a:ext cx="122849" cy="178689"/>
          </a:xfrm>
          <a:prstGeom prst="rect">
            <a:avLst/>
          </a:prstGeom>
        </p:spPr>
      </p:pic>
      <p:sp>
        <p:nvSpPr>
          <p:cNvPr id="59" name="TextBox 58"/>
          <p:cNvSpPr txBox="1"/>
          <p:nvPr/>
        </p:nvSpPr>
        <p:spPr>
          <a:xfrm>
            <a:off x="11216293" y="5851016"/>
            <a:ext cx="478073" cy="179069"/>
          </a:xfrm>
          <a:prstGeom prst="rect">
            <a:avLst/>
          </a:prstGeom>
          <a:noFill/>
        </p:spPr>
        <p:txBody>
          <a:bodyPr wrap="none" lIns="0" rIns="0" tIns="0" bIns="0">
            <a:spAutoFit/>
          </a:bodyPr>
          <a:lstStyle/>
          <a:p>
            <a:r>
              <a:rPr sz="1050" b="0">
                <a:solidFill>
                  <a:srgbClr val="1F1F1F"/>
                </a:solidFill>
                <a:latin typeface="Calibri"/>
              </a:rPr>
              <a:t>in 2021</a:t>
            </a:r>
          </a:p>
        </p:txBody>
      </p:sp>
      <p:sp>
        <p:nvSpPr>
          <p:cNvPr id="60" name="TextBox 59"/>
          <p:cNvSpPr txBox="1"/>
          <p:nvPr/>
        </p:nvSpPr>
        <p:spPr>
          <a:xfrm>
            <a:off x="8658225" y="6011036"/>
            <a:ext cx="191318" cy="179069"/>
          </a:xfrm>
          <a:prstGeom prst="rect">
            <a:avLst/>
          </a:prstGeom>
          <a:noFill/>
        </p:spPr>
        <p:txBody>
          <a:bodyPr wrap="none" lIns="0" rIns="0" tIns="0" bIns="0">
            <a:spAutoFit/>
          </a:bodyPr>
          <a:lstStyle/>
          <a:p>
            <a:r>
              <a:rPr sz="1050" b="0">
                <a:solidFill>
                  <a:srgbClr val="1F1F1F"/>
                </a:solidFill>
                <a:latin typeface="Calibri"/>
              </a:rPr>
              <a:t>to</a:t>
            </a:r>
          </a:p>
        </p:txBody>
      </p:sp>
      <p:pic>
        <p:nvPicPr>
          <p:cNvPr id="61" name="Picture 60" descr="lock.png"/>
          <p:cNvPicPr>
            <a:picLocks noChangeAspect="1"/>
          </p:cNvPicPr>
          <p:nvPr/>
        </p:nvPicPr>
        <p:blipFill>
          <a:blip r:embed="rId6"/>
          <a:stretch>
            <a:fillRect/>
          </a:stretch>
        </p:blipFill>
        <p:spPr>
          <a:xfrm>
            <a:off x="8796492" y="6001702"/>
            <a:ext cx="122849" cy="178689"/>
          </a:xfrm>
          <a:prstGeom prst="rect">
            <a:avLst/>
          </a:prstGeom>
        </p:spPr>
      </p:pic>
      <p:sp>
        <p:nvSpPr>
          <p:cNvPr id="62" name="TextBox 61"/>
          <p:cNvSpPr txBox="1"/>
          <p:nvPr/>
        </p:nvSpPr>
        <p:spPr>
          <a:xfrm>
            <a:off x="8956375"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3" name="Picture 62" descr="lock.png"/>
          <p:cNvPicPr>
            <a:picLocks noChangeAspect="1"/>
          </p:cNvPicPr>
          <p:nvPr/>
        </p:nvPicPr>
        <p:blipFill>
          <a:blip r:embed="rId6"/>
          <a:stretch>
            <a:fillRect/>
          </a:stretch>
        </p:blipFill>
        <p:spPr>
          <a:xfrm>
            <a:off x="3418190" y="3048804"/>
            <a:ext cx="454926" cy="661711"/>
          </a:xfrm>
          <a:prstGeom prst="rect">
            <a:avLst/>
          </a:prstGeom>
        </p:spPr>
      </p:pic>
      <p:pic>
        <p:nvPicPr>
          <p:cNvPr id="64" name="Picture 63" descr="lock.png"/>
          <p:cNvPicPr>
            <a:picLocks noChangeAspect="1"/>
          </p:cNvPicPr>
          <p:nvPr/>
        </p:nvPicPr>
        <p:blipFill>
          <a:blip r:embed="rId6"/>
          <a:stretch>
            <a:fillRect/>
          </a:stretch>
        </p:blipFill>
        <p:spPr>
          <a:xfrm>
            <a:off x="9403270" y="2219134"/>
            <a:ext cx="256698" cy="373379"/>
          </a:xfrm>
          <a:prstGeom prst="rect">
            <a:avLst/>
          </a:prstGeom>
        </p:spPr>
      </p:pic>
      <p:sp>
        <p:nvSpPr>
          <p:cNvPr id="65"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Price Matrix: Product Type × Cultivation Method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for every product type and cultivation method combination, 2026</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(US$/Units), Shaded by Index vs Global Average</a:t>
            </a:r>
          </a:p>
        </p:txBody>
      </p:sp>
      <p:graphicFrame>
        <p:nvGraphicFramePr>
          <p:cNvPr id="13" name="Table 12"/>
          <p:cNvGraphicFramePr>
            <a:graphicFrameLocks noGrp="1"/>
          </p:cNvGraphicFramePr>
          <p:nvPr/>
        </p:nvGraphicFramePr>
        <p:xfrm>
          <a:off x="365760" y="1868043"/>
          <a:ext cx="7420829" cy="2834640"/>
        </p:xfrm>
        <a:graphic>
          <a:graphicData uri="http://schemas.openxmlformats.org/drawingml/2006/table">
            <a:tbl>
              <a:tblPr firstRow="1" bandRow="1">
                <a:tableStyleId>{5C22544A-7EE6-4342-B048-85BDC9FD1C3A}</a:tableStyleId>
              </a:tblPr>
              <a:tblGrid>
                <a:gridCol w="2130879"/>
                <a:gridCol w="2343223"/>
                <a:gridCol w="2343223"/>
                <a:gridCol w="603504"/>
              </a:tblGrid>
              <a:tr h="314960">
                <a:tc>
                  <a:txBody>
                    <a:bodyPr wrap="square"/>
                    <a:lstStyle/>
                    <a:p>
                      <a:pPr algn="l"/>
                      <a:r>
                        <a:rPr sz="800" b="1">
                          <a:solidFill>
                            <a:srgbClr val="FFFFFF"/>
                          </a:solidFill>
                          <a:latin typeface="Calibri"/>
                        </a:rPr>
                        <a:t>Product Type</a:t>
                      </a:r>
                    </a:p>
                  </a:txBody>
                  <a:tcPr marL="36576" marR="36576" marT="9144" marB="9144" anchor="ctr">
                    <a:solidFill>
                      <a:srgbClr val="0B2E4A"/>
                    </a:solidFill>
                  </a:tcPr>
                </a:tc>
                <a:tc>
                  <a:txBody>
                    <a:bodyPr wrap="square"/>
                    <a:lstStyle/>
                    <a:p>
                      <a:pPr algn="ctr"/>
                      <a:r>
                        <a:rPr sz="800" b="1">
                          <a:solidFill>
                            <a:srgbClr val="FFFFFF"/>
                          </a:solidFill>
                          <a:latin typeface="Calibri"/>
                        </a:rPr>
                        <a:t>Protected Cultivation</a:t>
                      </a:r>
                    </a:p>
                  </a:txBody>
                  <a:tcPr marL="36576" marR="36576" marT="9144" marB="9144" anchor="ctr">
                    <a:solidFill>
                      <a:srgbClr val="0B2E4A"/>
                    </a:solidFill>
                  </a:tcPr>
                </a:tc>
                <a:tc>
                  <a:txBody>
                    <a:bodyPr wrap="square"/>
                    <a:lstStyle/>
                    <a:p>
                      <a:pPr algn="ctr"/>
                      <a:r>
                        <a:rPr sz="800" b="1">
                          <a:solidFill>
                            <a:srgbClr val="FFFFFF"/>
                          </a:solidFill>
                          <a:latin typeface="Calibri"/>
                        </a:rPr>
                        <a:t>Open-Field Cultivation</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314960">
                <a:tc>
                  <a:txBody>
                    <a:bodyPr wrap="square"/>
                    <a:lstStyle/>
                    <a:p>
                      <a:pPr algn="l"/>
                      <a:r>
                        <a:rPr sz="900" b="1">
                          <a:solidFill>
                            <a:srgbClr val="1F1F1F"/>
                          </a:solidFill>
                          <a:latin typeface="Calibri"/>
                        </a:rPr>
                        <a:t>Potted Flowering Plants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Potted Foliage Plants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Bedding &amp; Garden Flowering Plants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Young Plants &amp; Propagation Material</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Cut Foliage &amp; Greens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Flower Bulbs, Corms, Rhizomes &amp; Tubers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Cut Flowers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4" name="Rectangle 13"/>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5" name="FMI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6" name="Rectangle 15"/>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7" name="FMI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8" name="Rectangle 17"/>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9" name="FMI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20" name="Rectangle 19"/>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21" name="FMI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22" name="Rectangle 21"/>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3" name="FMI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4" name="Rectangle 23"/>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5" name="TextBox 24"/>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Cultivation Method Sub-Types, 2026</a:t>
            </a:r>
          </a:p>
        </p:txBody>
      </p:sp>
      <p:sp>
        <p:nvSpPr>
          <p:cNvPr id="26" name="TextBox 25"/>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(US$/Units) at the finest data level.</a:t>
            </a:r>
          </a:p>
        </p:txBody>
      </p:sp>
      <p:graphicFrame>
        <p:nvGraphicFramePr>
          <p:cNvPr id="27" name="FMI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8" name="Rectangle 2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9" name="Oval 2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30" name="TextBox 2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31" name="TextBox 3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2" name="Rectangle 3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3" name="Oval 3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4" name="TextBox 3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5" name="TextBox 3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6" name="Rectangle 3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7" name="Oval 3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8" name="TextBox 3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9" name="TextBox 3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40" name="TextBox 3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Cell price = combined value (US$) / combined volume (Units); shading shows the index vs the Global average of US$ 1/Units.</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4636769" y="3176143"/>
            <a:ext cx="366712" cy="533400"/>
          </a:xfrm>
          <a:prstGeom prst="rect">
            <a:avLst/>
          </a:prstGeom>
        </p:spPr>
      </p:pic>
      <p:sp>
        <p:nvSpPr>
          <p:cNvPr id="43" name="TextBox 42"/>
          <p:cNvSpPr txBox="1"/>
          <p:nvPr/>
        </p:nvSpPr>
        <p:spPr>
          <a:xfrm>
            <a:off x="411480" y="1110615"/>
            <a:ext cx="7586315" cy="217169"/>
          </a:xfrm>
          <a:prstGeom prst="rect">
            <a:avLst/>
          </a:prstGeom>
          <a:noFill/>
        </p:spPr>
        <p:txBody>
          <a:bodyPr wrap="none" lIns="0" rIns="0" tIns="0" bIns="0">
            <a:spAutoFit/>
          </a:bodyPr>
          <a:lstStyle/>
          <a:p>
            <a:r>
              <a:rPr sz="1300" b="1">
                <a:solidFill>
                  <a:srgbClr val="FFFFFF"/>
                </a:solidFill>
                <a:latin typeface="Calibri"/>
              </a:rPr>
              <a:t>Potted Flowering Plants for Open-Field Cultivation is the highest priced combination in 2026 at US$ 1/Units, +</a:t>
            </a:r>
          </a:p>
        </p:txBody>
      </p:sp>
      <p:pic>
        <p:nvPicPr>
          <p:cNvPr id="44" name="Picture 43" descr="lock.png"/>
          <p:cNvPicPr>
            <a:picLocks noChangeAspect="1"/>
          </p:cNvPicPr>
          <p:nvPr/>
        </p:nvPicPr>
        <p:blipFill>
          <a:blip r:embed="rId5"/>
          <a:stretch>
            <a:fillRect/>
          </a:stretch>
        </p:blipFill>
        <p:spPr>
          <a:xfrm>
            <a:off x="7950256" y="1099058"/>
            <a:ext cx="152098" cy="221234"/>
          </a:xfrm>
          <a:prstGeom prst="rect">
            <a:avLst/>
          </a:prstGeom>
        </p:spPr>
      </p:pic>
      <p:sp>
        <p:nvSpPr>
          <p:cNvPr id="45" name="TextBox 44"/>
          <p:cNvSpPr txBox="1"/>
          <p:nvPr/>
        </p:nvSpPr>
        <p:spPr>
          <a:xfrm>
            <a:off x="8148205"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6" name="TextBox 45"/>
          <p:cNvSpPr txBox="1"/>
          <p:nvPr/>
        </p:nvSpPr>
        <p:spPr>
          <a:xfrm>
            <a:off x="806576" y="5530976"/>
            <a:ext cx="2768203" cy="179069"/>
          </a:xfrm>
          <a:prstGeom prst="rect">
            <a:avLst/>
          </a:prstGeom>
          <a:noFill/>
        </p:spPr>
        <p:txBody>
          <a:bodyPr wrap="none" lIns="0" rIns="0" tIns="0" bIns="0">
            <a:spAutoFit/>
          </a:bodyPr>
          <a:lstStyle/>
          <a:p>
            <a:r>
              <a:rPr sz="1050" b="0">
                <a:solidFill>
                  <a:srgbClr val="1F1F1F"/>
                </a:solidFill>
                <a:latin typeface="Calibri"/>
              </a:rPr>
              <a:t>Potted Flowering Plants positioned on Open-Field</a:t>
            </a:r>
          </a:p>
        </p:txBody>
      </p:sp>
      <p:sp>
        <p:nvSpPr>
          <p:cNvPr id="47" name="TextBox 46"/>
          <p:cNvSpPr txBox="1"/>
          <p:nvPr/>
        </p:nvSpPr>
        <p:spPr>
          <a:xfrm>
            <a:off x="806576" y="5690996"/>
            <a:ext cx="3015890" cy="179069"/>
          </a:xfrm>
          <a:prstGeom prst="rect">
            <a:avLst/>
          </a:prstGeom>
          <a:noFill/>
        </p:spPr>
        <p:txBody>
          <a:bodyPr wrap="none" lIns="0" rIns="0" tIns="0" bIns="0">
            <a:spAutoFit/>
          </a:bodyPr>
          <a:lstStyle/>
          <a:p>
            <a:r>
              <a:rPr sz="1050" b="0">
                <a:solidFill>
                  <a:srgbClr val="1F1F1F"/>
                </a:solidFill>
                <a:latin typeface="Calibri"/>
              </a:rPr>
              <a:t>Cultivation carry the strongest premium at an index of</a:t>
            </a:r>
          </a:p>
        </p:txBody>
      </p:sp>
      <p:pic>
        <p:nvPicPr>
          <p:cNvPr id="48" name="Picture 47" descr="lock.png"/>
          <p:cNvPicPr>
            <a:picLocks noChangeAspect="1"/>
          </p:cNvPicPr>
          <p:nvPr/>
        </p:nvPicPr>
        <p:blipFill>
          <a:blip r:embed="rId5"/>
          <a:stretch>
            <a:fillRect/>
          </a:stretch>
        </p:blipFill>
        <p:spPr>
          <a:xfrm>
            <a:off x="793721" y="5841682"/>
            <a:ext cx="122849" cy="178689"/>
          </a:xfrm>
          <a:prstGeom prst="rect">
            <a:avLst/>
          </a:prstGeom>
        </p:spPr>
      </p:pic>
      <p:sp>
        <p:nvSpPr>
          <p:cNvPr id="49" name="TextBox 48"/>
          <p:cNvSpPr txBox="1"/>
          <p:nvPr/>
        </p:nvSpPr>
        <p:spPr>
          <a:xfrm>
            <a:off x="953604" y="5851016"/>
            <a:ext cx="2798936" cy="179069"/>
          </a:xfrm>
          <a:prstGeom prst="rect">
            <a:avLst/>
          </a:prstGeom>
          <a:noFill/>
        </p:spPr>
        <p:txBody>
          <a:bodyPr wrap="none" lIns="0" rIns="0" tIns="0" bIns="0">
            <a:spAutoFit/>
          </a:bodyPr>
          <a:lstStyle/>
          <a:p>
            <a:r>
              <a:rPr sz="1050" b="0">
                <a:solidFill>
                  <a:srgbClr val="1F1F1F"/>
                </a:solidFill>
                <a:latin typeface="Calibri"/>
              </a:rPr>
              <a:t>, which signals room for value-added claims in this</a:t>
            </a:r>
          </a:p>
        </p:txBody>
      </p:sp>
      <p:sp>
        <p:nvSpPr>
          <p:cNvPr id="50" name="TextBox 49"/>
          <p:cNvSpPr txBox="1"/>
          <p:nvPr/>
        </p:nvSpPr>
        <p:spPr>
          <a:xfrm>
            <a:off x="806576" y="6011036"/>
            <a:ext cx="793737" cy="179069"/>
          </a:xfrm>
          <a:prstGeom prst="rect">
            <a:avLst/>
          </a:prstGeom>
          <a:noFill/>
        </p:spPr>
        <p:txBody>
          <a:bodyPr wrap="none" lIns="0" rIns="0" tIns="0" bIns="0">
            <a:spAutoFit/>
          </a:bodyPr>
          <a:lstStyle/>
          <a:p>
            <a:r>
              <a:rPr sz="1050" b="0">
                <a:solidFill>
                  <a:srgbClr val="1F1F1F"/>
                </a:solidFill>
                <a:latin typeface="Calibri"/>
              </a:rPr>
              <a:t>combination.</a:t>
            </a:r>
          </a:p>
        </p:txBody>
      </p:sp>
      <p:sp>
        <p:nvSpPr>
          <p:cNvPr id="51" name="TextBox 50"/>
          <p:cNvSpPr txBox="1"/>
          <p:nvPr/>
        </p:nvSpPr>
        <p:spPr>
          <a:xfrm>
            <a:off x="4732401" y="5530976"/>
            <a:ext cx="3061729" cy="179069"/>
          </a:xfrm>
          <a:prstGeom prst="rect">
            <a:avLst/>
          </a:prstGeom>
          <a:noFill/>
        </p:spPr>
        <p:txBody>
          <a:bodyPr wrap="none" lIns="0" rIns="0" tIns="0" bIns="0">
            <a:spAutoFit/>
          </a:bodyPr>
          <a:lstStyle/>
          <a:p>
            <a:r>
              <a:rPr sz="1050" b="0">
                <a:solidFill>
                  <a:srgbClr val="1F1F1F"/>
                </a:solidFill>
                <a:latin typeface="Calibri"/>
              </a:rPr>
              <a:t>Potted Flowering Plants for Protected Cultivation is the</a:t>
            </a:r>
          </a:p>
        </p:txBody>
      </p:sp>
      <p:sp>
        <p:nvSpPr>
          <p:cNvPr id="52" name="TextBox 51"/>
          <p:cNvSpPr txBox="1"/>
          <p:nvPr/>
        </p:nvSpPr>
        <p:spPr>
          <a:xfrm>
            <a:off x="4732401" y="5690996"/>
            <a:ext cx="2290018" cy="179069"/>
          </a:xfrm>
          <a:prstGeom prst="rect">
            <a:avLst/>
          </a:prstGeom>
          <a:noFill/>
        </p:spPr>
        <p:txBody>
          <a:bodyPr wrap="none" lIns="0" rIns="0" tIns="0" bIns="0">
            <a:spAutoFit/>
          </a:bodyPr>
          <a:lstStyle/>
          <a:p>
            <a:r>
              <a:rPr sz="1050" b="0">
                <a:solidFill>
                  <a:srgbClr val="1F1F1F"/>
                </a:solidFill>
                <a:latin typeface="Calibri"/>
              </a:rPr>
              <a:t>lowest priced combination at an index of</a:t>
            </a:r>
          </a:p>
        </p:txBody>
      </p:sp>
      <p:pic>
        <p:nvPicPr>
          <p:cNvPr id="53" name="Picture 52" descr="lock.png"/>
          <p:cNvPicPr>
            <a:picLocks noChangeAspect="1"/>
          </p:cNvPicPr>
          <p:nvPr/>
        </p:nvPicPr>
        <p:blipFill>
          <a:blip r:embed="rId5"/>
          <a:stretch>
            <a:fillRect/>
          </a:stretch>
        </p:blipFill>
        <p:spPr>
          <a:xfrm>
            <a:off x="6969368" y="5681662"/>
            <a:ext cx="122849" cy="178689"/>
          </a:xfrm>
          <a:prstGeom prst="rect">
            <a:avLst/>
          </a:prstGeom>
        </p:spPr>
      </p:pic>
      <p:sp>
        <p:nvSpPr>
          <p:cNvPr id="54" name="TextBox 53"/>
          <p:cNvSpPr txBox="1"/>
          <p:nvPr/>
        </p:nvSpPr>
        <p:spPr>
          <a:xfrm>
            <a:off x="7129250" y="569099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5" name="Picture 54" descr="lock.png"/>
          <p:cNvPicPr>
            <a:picLocks noChangeAspect="1"/>
          </p:cNvPicPr>
          <p:nvPr/>
        </p:nvPicPr>
        <p:blipFill>
          <a:blip r:embed="rId5"/>
          <a:stretch>
            <a:fillRect/>
          </a:stretch>
        </p:blipFill>
        <p:spPr>
          <a:xfrm>
            <a:off x="7551929" y="5681662"/>
            <a:ext cx="122849" cy="178689"/>
          </a:xfrm>
          <a:prstGeom prst="rect">
            <a:avLst/>
          </a:prstGeom>
        </p:spPr>
      </p:pic>
      <p:sp>
        <p:nvSpPr>
          <p:cNvPr id="56" name="TextBox 55"/>
          <p:cNvSpPr txBox="1"/>
          <p:nvPr/>
        </p:nvSpPr>
        <p:spPr>
          <a:xfrm>
            <a:off x="4732401" y="5851016"/>
            <a:ext cx="2313198" cy="179069"/>
          </a:xfrm>
          <a:prstGeom prst="rect">
            <a:avLst/>
          </a:prstGeom>
          <a:noFill/>
        </p:spPr>
        <p:txBody>
          <a:bodyPr wrap="none" lIns="0" rIns="0" tIns="0" bIns="0">
            <a:spAutoFit/>
          </a:bodyPr>
          <a:lstStyle/>
          <a:p>
            <a:r>
              <a:rPr sz="1050" b="0">
                <a:solidFill>
                  <a:srgbClr val="1F1F1F"/>
                </a:solidFill>
                <a:latin typeface="Calibri"/>
              </a:rPr>
              <a:t>below the Global average of US$ 1/Units.</a:t>
            </a:r>
          </a:p>
        </p:txBody>
      </p:sp>
      <p:sp>
        <p:nvSpPr>
          <p:cNvPr id="57" name="TextBox 56"/>
          <p:cNvSpPr txBox="1"/>
          <p:nvPr/>
        </p:nvSpPr>
        <p:spPr>
          <a:xfrm>
            <a:off x="8658225" y="5530976"/>
            <a:ext cx="3039851" cy="179069"/>
          </a:xfrm>
          <a:prstGeom prst="rect">
            <a:avLst/>
          </a:prstGeom>
          <a:noFill/>
        </p:spPr>
        <p:txBody>
          <a:bodyPr wrap="none" lIns="0" rIns="0" tIns="0" bIns="0">
            <a:spAutoFit/>
          </a:bodyPr>
          <a:lstStyle/>
          <a:p>
            <a:r>
              <a:rPr sz="1050" b="0">
                <a:solidFill>
                  <a:srgbClr val="1F1F1F"/>
                </a:solidFill>
                <a:latin typeface="Calibri"/>
              </a:rPr>
              <a:t>Potted Flowering Plants show the widest internal price</a:t>
            </a:r>
          </a:p>
        </p:txBody>
      </p:sp>
      <p:sp>
        <p:nvSpPr>
          <p:cNvPr id="58" name="TextBox 57"/>
          <p:cNvSpPr txBox="1"/>
          <p:nvPr/>
        </p:nvSpPr>
        <p:spPr>
          <a:xfrm>
            <a:off x="8658225" y="5690996"/>
            <a:ext cx="584075" cy="179069"/>
          </a:xfrm>
          <a:prstGeom prst="rect">
            <a:avLst/>
          </a:prstGeom>
          <a:noFill/>
        </p:spPr>
        <p:txBody>
          <a:bodyPr wrap="none" lIns="0" rIns="0" tIns="0" bIns="0">
            <a:spAutoFit/>
          </a:bodyPr>
          <a:lstStyle/>
          <a:p>
            <a:r>
              <a:rPr sz="1050" b="0">
                <a:solidFill>
                  <a:srgbClr val="1F1F1F"/>
                </a:solidFill>
                <a:latin typeface="Calibri"/>
              </a:rPr>
              <a:t>spread at</a:t>
            </a:r>
          </a:p>
        </p:txBody>
      </p:sp>
      <p:pic>
        <p:nvPicPr>
          <p:cNvPr id="59" name="Picture 58" descr="lock.png"/>
          <p:cNvPicPr>
            <a:picLocks noChangeAspect="1"/>
          </p:cNvPicPr>
          <p:nvPr/>
        </p:nvPicPr>
        <p:blipFill>
          <a:blip r:embed="rId5"/>
          <a:stretch>
            <a:fillRect/>
          </a:stretch>
        </p:blipFill>
        <p:spPr>
          <a:xfrm>
            <a:off x="9189250" y="5681662"/>
            <a:ext cx="122849" cy="178689"/>
          </a:xfrm>
          <a:prstGeom prst="rect">
            <a:avLst/>
          </a:prstGeom>
        </p:spPr>
      </p:pic>
      <p:sp>
        <p:nvSpPr>
          <p:cNvPr id="60" name="TextBox 59"/>
          <p:cNvSpPr txBox="1"/>
          <p:nvPr/>
        </p:nvSpPr>
        <p:spPr>
          <a:xfrm>
            <a:off x="9349132" y="5690996"/>
            <a:ext cx="2341587" cy="179069"/>
          </a:xfrm>
          <a:prstGeom prst="rect">
            <a:avLst/>
          </a:prstGeom>
          <a:noFill/>
        </p:spPr>
        <p:txBody>
          <a:bodyPr wrap="none" lIns="0" rIns="0" tIns="0" bIns="0">
            <a:spAutoFit/>
          </a:bodyPr>
          <a:lstStyle/>
          <a:p>
            <a:r>
              <a:rPr sz="1050" b="0">
                <a:solidFill>
                  <a:srgbClr val="1F1F1F"/>
                </a:solidFill>
                <a:latin typeface="Calibri"/>
              </a:rPr>
              <a:t>, ranging from US$ 1/Units to US$ 1/Units</a:t>
            </a:r>
          </a:p>
        </p:txBody>
      </p:sp>
      <p:sp>
        <p:nvSpPr>
          <p:cNvPr id="61" name="TextBox 60"/>
          <p:cNvSpPr txBox="1"/>
          <p:nvPr/>
        </p:nvSpPr>
        <p:spPr>
          <a:xfrm>
            <a:off x="8658225" y="5851016"/>
            <a:ext cx="1008347" cy="179069"/>
          </a:xfrm>
          <a:prstGeom prst="rect">
            <a:avLst/>
          </a:prstGeom>
          <a:noFill/>
        </p:spPr>
        <p:txBody>
          <a:bodyPr wrap="none" lIns="0" rIns="0" tIns="0" bIns="0">
            <a:spAutoFit/>
          </a:bodyPr>
          <a:lstStyle/>
          <a:p>
            <a:r>
              <a:rPr sz="1050" b="0">
                <a:solidFill>
                  <a:srgbClr val="1F1F1F"/>
                </a:solidFill>
                <a:latin typeface="Calibri"/>
              </a:rPr>
              <a:t>across sub-types.</a:t>
            </a:r>
          </a:p>
        </p:txBody>
      </p:sp>
      <p:pic>
        <p:nvPicPr>
          <p:cNvPr id="62" name="Picture 61" descr="lock.png"/>
          <p:cNvPicPr>
            <a:picLocks noChangeAspect="1"/>
          </p:cNvPicPr>
          <p:nvPr/>
        </p:nvPicPr>
        <p:blipFill>
          <a:blip r:embed="rId5"/>
          <a:stretch>
            <a:fillRect/>
          </a:stretch>
        </p:blipFill>
        <p:spPr>
          <a:xfrm>
            <a:off x="9913437" y="3234020"/>
            <a:ext cx="332271" cy="483303"/>
          </a:xfrm>
          <a:prstGeom prst="rect">
            <a:avLst/>
          </a:prstGeom>
        </p:spPr>
      </p:pic>
      <p:sp>
        <p:nvSpPr>
          <p:cNvPr id="63" name="lockshield_27"/>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types,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Types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and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type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5239444"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US$ 2/Units in 2026, +</a:t>
            </a:r>
          </a:p>
        </p:txBody>
      </p:sp>
      <p:pic>
        <p:nvPicPr>
          <p:cNvPr id="34" name="Picture 33" descr="lock.png"/>
          <p:cNvPicPr>
            <a:picLocks noChangeAspect="1"/>
          </p:cNvPicPr>
          <p:nvPr/>
        </p:nvPicPr>
        <p:blipFill>
          <a:blip r:embed="rId5"/>
          <a:stretch>
            <a:fillRect/>
          </a:stretch>
        </p:blipFill>
        <p:spPr>
          <a:xfrm>
            <a:off x="5603385" y="1099058"/>
            <a:ext cx="152098" cy="221234"/>
          </a:xfrm>
          <a:prstGeom prst="rect">
            <a:avLst/>
          </a:prstGeom>
        </p:spPr>
      </p:pic>
      <p:sp>
        <p:nvSpPr>
          <p:cNvPr id="35" name="TextBox 34"/>
          <p:cNvSpPr txBox="1"/>
          <p:nvPr/>
        </p:nvSpPr>
        <p:spPr>
          <a:xfrm>
            <a:off x="5801335"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975274" cy="148589"/>
          </a:xfrm>
          <a:prstGeom prst="rect">
            <a:avLst/>
          </a:prstGeom>
          <a:noFill/>
        </p:spPr>
        <p:txBody>
          <a:bodyPr wrap="none" lIns="0" rIns="0" tIns="0" bIns="0">
            <a:spAutoFit/>
          </a:bodyPr>
          <a:lstStyle/>
          <a:p>
            <a:r>
              <a:rPr sz="850" b="0">
                <a:solidFill>
                  <a:srgbClr val="59636E"/>
                </a:solidFill>
                <a:latin typeface="Calibri"/>
              </a:rPr>
              <a:t>Bar spans the lowest to highest product type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329294" y="1823910"/>
            <a:ext cx="99449" cy="144653"/>
          </a:xfrm>
          <a:prstGeom prst="rect">
            <a:avLst/>
          </a:prstGeom>
        </p:spPr>
      </p:pic>
      <p:sp>
        <p:nvSpPr>
          <p:cNvPr id="38" name="TextBox 37"/>
          <p:cNvSpPr txBox="1"/>
          <p:nvPr/>
        </p:nvSpPr>
        <p:spPr>
          <a:xfrm>
            <a:off x="5458723"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2973437" cy="179069"/>
          </a:xfrm>
          <a:prstGeom prst="rect">
            <a:avLst/>
          </a:prstGeom>
          <a:noFill/>
        </p:spPr>
        <p:txBody>
          <a:bodyPr wrap="none" lIns="0" rIns="0" tIns="0" bIns="0">
            <a:spAutoFit/>
          </a:bodyPr>
          <a:lstStyle/>
          <a:p>
            <a:r>
              <a:rPr sz="1050" b="0">
                <a:solidFill>
                  <a:srgbClr val="1F1F1F"/>
                </a:solidFill>
                <a:latin typeface="Calibri"/>
              </a:rPr>
              <a:t>2026, from US$ 1/Units in South Asia &amp; Pacific to US$</a:t>
            </a:r>
          </a:p>
        </p:txBody>
      </p:sp>
      <p:sp>
        <p:nvSpPr>
          <p:cNvPr id="43" name="TextBox 42"/>
          <p:cNvSpPr txBox="1"/>
          <p:nvPr/>
        </p:nvSpPr>
        <p:spPr>
          <a:xfrm>
            <a:off x="806576" y="5851016"/>
            <a:ext cx="1469603" cy="179069"/>
          </a:xfrm>
          <a:prstGeom prst="rect">
            <a:avLst/>
          </a:prstGeom>
          <a:noFill/>
        </p:spPr>
        <p:txBody>
          <a:bodyPr wrap="none" lIns="0" rIns="0" tIns="0" bIns="0">
            <a:spAutoFit/>
          </a:bodyPr>
          <a:lstStyle/>
          <a:p>
            <a:r>
              <a:rPr sz="1050" b="0">
                <a:solidFill>
                  <a:srgbClr val="1F1F1F"/>
                </a:solidFill>
                <a:latin typeface="Calibri"/>
              </a:rPr>
              <a:t>2/Units in North America.</a:t>
            </a:r>
          </a:p>
        </p:txBody>
      </p:sp>
      <p:sp>
        <p:nvSpPr>
          <p:cNvPr id="44" name="TextBox 43"/>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5" name="TextBox 44"/>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6" name="Picture 45" descr="lock.png"/>
          <p:cNvPicPr>
            <a:picLocks noChangeAspect="1"/>
          </p:cNvPicPr>
          <p:nvPr/>
        </p:nvPicPr>
        <p:blipFill>
          <a:blip r:embed="rId5"/>
          <a:stretch>
            <a:fillRect/>
          </a:stretch>
        </p:blipFill>
        <p:spPr>
          <a:xfrm>
            <a:off x="4958179" y="5681662"/>
            <a:ext cx="122849" cy="178689"/>
          </a:xfrm>
          <a:prstGeom prst="rect">
            <a:avLst/>
          </a:prstGeom>
        </p:spPr>
      </p:pic>
      <p:sp>
        <p:nvSpPr>
          <p:cNvPr id="47" name="TextBox 46"/>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48" name="Picture 47" descr="lock.png"/>
          <p:cNvPicPr>
            <a:picLocks noChangeAspect="1"/>
          </p:cNvPicPr>
          <p:nvPr/>
        </p:nvPicPr>
        <p:blipFill>
          <a:blip r:embed="rId5"/>
          <a:stretch>
            <a:fillRect/>
          </a:stretch>
        </p:blipFill>
        <p:spPr>
          <a:xfrm>
            <a:off x="7243541" y="5681662"/>
            <a:ext cx="122849" cy="178689"/>
          </a:xfrm>
          <a:prstGeom prst="rect">
            <a:avLst/>
          </a:prstGeom>
        </p:spPr>
      </p:pic>
      <p:sp>
        <p:nvSpPr>
          <p:cNvPr id="49" name="TextBox 48"/>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0" name="TextBox 49"/>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1" name="TextBox 50"/>
          <p:cNvSpPr txBox="1"/>
          <p:nvPr/>
        </p:nvSpPr>
        <p:spPr>
          <a:xfrm>
            <a:off x="8658225" y="5530976"/>
            <a:ext cx="2737730" cy="179069"/>
          </a:xfrm>
          <a:prstGeom prst="rect">
            <a:avLst/>
          </a:prstGeom>
          <a:noFill/>
        </p:spPr>
        <p:txBody>
          <a:bodyPr wrap="none" lIns="0" rIns="0" tIns="0" bIns="0">
            <a:spAutoFit/>
          </a:bodyPr>
          <a:lstStyle/>
          <a:p>
            <a:r>
              <a:rPr sz="1050" b="0">
                <a:solidFill>
                  <a:srgbClr val="1F1F1F"/>
                </a:solidFill>
                <a:latin typeface="Calibri"/>
              </a:rPr>
              <a:t>North America shows the widest gap between its</a:t>
            </a:r>
          </a:p>
        </p:txBody>
      </p:sp>
      <p:sp>
        <p:nvSpPr>
          <p:cNvPr id="52" name="TextBox 51"/>
          <p:cNvSpPr txBox="1"/>
          <p:nvPr/>
        </p:nvSpPr>
        <p:spPr>
          <a:xfrm>
            <a:off x="8658225" y="5690996"/>
            <a:ext cx="2544216" cy="179069"/>
          </a:xfrm>
          <a:prstGeom prst="rect">
            <a:avLst/>
          </a:prstGeom>
          <a:noFill/>
        </p:spPr>
        <p:txBody>
          <a:bodyPr wrap="none" lIns="0" rIns="0" tIns="0" bIns="0">
            <a:spAutoFit/>
          </a:bodyPr>
          <a:lstStyle/>
          <a:p>
            <a:r>
              <a:rPr sz="1050" b="0">
                <a:solidFill>
                  <a:srgbClr val="1F1F1F"/>
                </a:solidFill>
                <a:latin typeface="Calibri"/>
              </a:rPr>
              <a:t>cheapest and most expensive product type at</a:t>
            </a:r>
          </a:p>
        </p:txBody>
      </p:sp>
      <p:pic>
        <p:nvPicPr>
          <p:cNvPr id="53" name="Picture 52" descr="lock.png"/>
          <p:cNvPicPr>
            <a:picLocks noChangeAspect="1"/>
          </p:cNvPicPr>
          <p:nvPr/>
        </p:nvPicPr>
        <p:blipFill>
          <a:blip r:embed="rId5"/>
          <a:stretch>
            <a:fillRect/>
          </a:stretch>
        </p:blipFill>
        <p:spPr>
          <a:xfrm>
            <a:off x="11149391" y="5681662"/>
            <a:ext cx="122849" cy="178689"/>
          </a:xfrm>
          <a:prstGeom prst="rect">
            <a:avLst/>
          </a:prstGeom>
        </p:spPr>
      </p:pic>
      <p:sp>
        <p:nvSpPr>
          <p:cNvPr id="54" name="TextBox 53"/>
          <p:cNvSpPr txBox="1"/>
          <p:nvPr/>
        </p:nvSpPr>
        <p:spPr>
          <a:xfrm>
            <a:off x="11309273" y="5690996"/>
            <a:ext cx="262160" cy="179069"/>
          </a:xfrm>
          <a:prstGeom prst="rect">
            <a:avLst/>
          </a:prstGeom>
          <a:noFill/>
        </p:spPr>
        <p:txBody>
          <a:bodyPr wrap="none" lIns="0" rIns="0" tIns="0" bIns="0">
            <a:spAutoFit/>
          </a:bodyPr>
          <a:lstStyle/>
          <a:p>
            <a:r>
              <a:rPr sz="1050" b="0">
                <a:solidFill>
                  <a:srgbClr val="1F1F1F"/>
                </a:solidFill>
                <a:latin typeface="Calibri"/>
              </a:rPr>
              <a:t>, so</a:t>
            </a:r>
          </a:p>
        </p:txBody>
      </p:sp>
      <p:sp>
        <p:nvSpPr>
          <p:cNvPr id="55" name="TextBox 54"/>
          <p:cNvSpPr txBox="1"/>
          <p:nvPr/>
        </p:nvSpPr>
        <p:spPr>
          <a:xfrm>
            <a:off x="8658225" y="5851016"/>
            <a:ext cx="2851807" cy="179069"/>
          </a:xfrm>
          <a:prstGeom prst="rect">
            <a:avLst/>
          </a:prstGeom>
          <a:noFill/>
        </p:spPr>
        <p:txBody>
          <a:bodyPr wrap="none" lIns="0" rIns="0" tIns="0" bIns="0">
            <a:spAutoFit/>
          </a:bodyPr>
          <a:lstStyle/>
          <a:p>
            <a:r>
              <a:rPr sz="1050" b="0">
                <a:solidFill>
                  <a:srgbClr val="1F1F1F"/>
                </a:solidFill>
                <a:latin typeface="Calibri"/>
              </a:rPr>
              <a:t>product mix shifts move its average price the most.</a:t>
            </a:r>
          </a:p>
        </p:txBody>
      </p:sp>
      <p:pic>
        <p:nvPicPr>
          <p:cNvPr id="56" name="Picture 55" descr="lock.png"/>
          <p:cNvPicPr>
            <a:picLocks noChangeAspect="1"/>
          </p:cNvPicPr>
          <p:nvPr/>
        </p:nvPicPr>
        <p:blipFill>
          <a:blip r:embed="rId5"/>
          <a:stretch>
            <a:fillRect/>
          </a:stretch>
        </p:blipFill>
        <p:spPr>
          <a:xfrm>
            <a:off x="3952821" y="3129375"/>
            <a:ext cx="482444" cy="701737"/>
          </a:xfrm>
          <a:prstGeom prst="rect">
            <a:avLst/>
          </a:prstGeom>
        </p:spPr>
      </p:pic>
      <p:sp>
        <p:nvSpPr>
          <p:cNvPr id="57"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4073856" y="2100912"/>
            <a:ext cx="285320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97989"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2977203" y="2824823"/>
            <a:ext cx="196096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002183"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3650521" y="3548733"/>
            <a:ext cx="2509651"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84057"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297896" y="4272643"/>
            <a:ext cx="143810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28830"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126255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685401"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and Africa</a:t>
            </a:r>
          </a:p>
        </p:txBody>
      </p:sp>
      <p:sp>
        <p:nvSpPr>
          <p:cNvPr id="41" name="Rectangle 40"/>
          <p:cNvSpPr/>
          <p:nvPr/>
        </p:nvSpPr>
        <p:spPr>
          <a:xfrm>
            <a:off x="2851887" y="5720463"/>
            <a:ext cx="1892425"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844670"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1297725" y="6253235"/>
            <a:ext cx="128699" cy="187198"/>
          </a:xfrm>
          <a:prstGeom prst="rect">
            <a:avLst/>
          </a:prstGeom>
        </p:spPr>
      </p:pic>
      <p:pic>
        <p:nvPicPr>
          <p:cNvPr id="54" name="Picture 53" descr="lock.png"/>
          <p:cNvPicPr>
            <a:picLocks noChangeAspect="1"/>
          </p:cNvPicPr>
          <p:nvPr/>
        </p:nvPicPr>
        <p:blipFill>
          <a:blip r:embed="rId4"/>
          <a:stretch>
            <a:fillRect/>
          </a:stretch>
        </p:blipFill>
        <p:spPr>
          <a:xfrm>
            <a:off x="2547405" y="6253235"/>
            <a:ext cx="128699" cy="187198"/>
          </a:xfrm>
          <a:prstGeom prst="rect">
            <a:avLst/>
          </a:prstGeom>
        </p:spPr>
      </p:pic>
      <p:pic>
        <p:nvPicPr>
          <p:cNvPr id="55" name="Picture 54" descr="lock.png"/>
          <p:cNvPicPr>
            <a:picLocks noChangeAspect="1"/>
          </p:cNvPicPr>
          <p:nvPr/>
        </p:nvPicPr>
        <p:blipFill>
          <a:blip r:embed="rId4"/>
          <a:stretch>
            <a:fillRect/>
          </a:stretch>
        </p:blipFill>
        <p:spPr>
          <a:xfrm>
            <a:off x="3797085" y="6253235"/>
            <a:ext cx="128699" cy="187198"/>
          </a:xfrm>
          <a:prstGeom prst="rect">
            <a:avLst/>
          </a:prstGeom>
        </p:spPr>
      </p:pic>
      <p:pic>
        <p:nvPicPr>
          <p:cNvPr id="56" name="Picture 55" descr="lock.png"/>
          <p:cNvPicPr>
            <a:picLocks noChangeAspect="1"/>
          </p:cNvPicPr>
          <p:nvPr/>
        </p:nvPicPr>
        <p:blipFill>
          <a:blip r:embed="rId4"/>
          <a:stretch>
            <a:fillRect/>
          </a:stretch>
        </p:blipFill>
        <p:spPr>
          <a:xfrm>
            <a:off x="5046765" y="6253235"/>
            <a:ext cx="128699" cy="187198"/>
          </a:xfrm>
          <a:prstGeom prst="rect">
            <a:avLst/>
          </a:prstGeom>
        </p:spPr>
      </p:pic>
      <p:pic>
        <p:nvPicPr>
          <p:cNvPr id="57" name="Picture 56" descr="lock.png"/>
          <p:cNvPicPr>
            <a:picLocks noChangeAspect="1"/>
          </p:cNvPicPr>
          <p:nvPr/>
        </p:nvPicPr>
        <p:blipFill>
          <a:blip r:embed="rId4"/>
          <a:stretch>
            <a:fillRect/>
          </a:stretch>
        </p:blipFill>
        <p:spPr>
          <a:xfrm>
            <a:off x="6296445" y="6253235"/>
            <a:ext cx="128699" cy="187198"/>
          </a:xfrm>
          <a:prstGeom prst="rect">
            <a:avLst/>
          </a:prstGeom>
        </p:spPr>
      </p:pic>
      <p:pic>
        <p:nvPicPr>
          <p:cNvPr id="58" name="Picture 57" descr="lock.png"/>
          <p:cNvPicPr>
            <a:picLocks noChangeAspect="1"/>
          </p:cNvPicPr>
          <p:nvPr/>
        </p:nvPicPr>
        <p:blipFill>
          <a:blip r:embed="rId4"/>
          <a:stretch>
            <a:fillRect/>
          </a:stretch>
        </p:blipFill>
        <p:spPr>
          <a:xfrm>
            <a:off x="7546125" y="6253235"/>
            <a:ext cx="128699" cy="187198"/>
          </a:xfrm>
          <a:prstGeom prst="rect">
            <a:avLst/>
          </a:prstGeom>
        </p:spPr>
      </p:pic>
      <p:sp>
        <p:nvSpPr>
          <p:cNvPr id="59" name="TextBox 58"/>
          <p:cNvSpPr txBox="1"/>
          <p:nvPr/>
        </p:nvSpPr>
        <p:spPr>
          <a:xfrm>
            <a:off x="8048625" y="1736673"/>
            <a:ext cx="3547169" cy="194310"/>
          </a:xfrm>
          <a:prstGeom prst="rect">
            <a:avLst/>
          </a:prstGeom>
          <a:noFill/>
        </p:spPr>
        <p:txBody>
          <a:bodyPr wrap="none" lIns="0" rIns="0" tIns="0" bIns="0">
            <a:spAutoFit/>
          </a:bodyPr>
          <a:lstStyle/>
          <a:p>
            <a:r>
              <a:rPr sz="1150" b="0">
                <a:solidFill>
                  <a:srgbClr val="2E2E2E"/>
                </a:solidFill>
                <a:latin typeface="Calibri"/>
              </a:rPr>
              <a:t>Cut foliage &amp; greens segment is expected to command the</a:t>
            </a:r>
          </a:p>
        </p:txBody>
      </p:sp>
      <p:sp>
        <p:nvSpPr>
          <p:cNvPr id="60" name="TextBox 59"/>
          <p:cNvSpPr txBox="1"/>
          <p:nvPr/>
        </p:nvSpPr>
        <p:spPr>
          <a:xfrm>
            <a:off x="8048625" y="1911934"/>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61" name="Picture 60" descr="lock.png"/>
          <p:cNvPicPr>
            <a:picLocks noChangeAspect="1"/>
          </p:cNvPicPr>
          <p:nvPr/>
        </p:nvPicPr>
        <p:blipFill>
          <a:blip r:embed="rId4"/>
          <a:stretch>
            <a:fillRect/>
          </a:stretch>
        </p:blipFill>
        <p:spPr>
          <a:xfrm>
            <a:off x="9764678" y="1901710"/>
            <a:ext cx="134549" cy="195707"/>
          </a:xfrm>
          <a:prstGeom prst="rect">
            <a:avLst/>
          </a:prstGeom>
        </p:spPr>
      </p:pic>
      <p:sp>
        <p:nvSpPr>
          <p:cNvPr id="62" name="TextBox 61"/>
          <p:cNvSpPr txBox="1"/>
          <p:nvPr/>
        </p:nvSpPr>
        <p:spPr>
          <a:xfrm>
            <a:off x="9939788" y="1911934"/>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63" name="TextBox 62"/>
          <p:cNvSpPr txBox="1"/>
          <p:nvPr/>
        </p:nvSpPr>
        <p:spPr>
          <a:xfrm>
            <a:off x="8048625" y="2087194"/>
            <a:ext cx="2805794" cy="194310"/>
          </a:xfrm>
          <a:prstGeom prst="rect">
            <a:avLst/>
          </a:prstGeom>
          <a:noFill/>
        </p:spPr>
        <p:txBody>
          <a:bodyPr wrap="none" lIns="0" rIns="0" tIns="0" bIns="0">
            <a:spAutoFit/>
          </a:bodyPr>
          <a:lstStyle/>
          <a:p>
            <a:r>
              <a:rPr sz="1150" b="0">
                <a:solidFill>
                  <a:srgbClr val="2E2E2E"/>
                </a:solidFill>
                <a:latin typeface="Calibri"/>
              </a:rPr>
              <a:t>selling price of floriculture is estimated at US$</a:t>
            </a:r>
          </a:p>
        </p:txBody>
      </p:sp>
      <p:pic>
        <p:nvPicPr>
          <p:cNvPr id="64" name="Picture 63" descr="lock.png"/>
          <p:cNvPicPr>
            <a:picLocks noChangeAspect="1"/>
          </p:cNvPicPr>
          <p:nvPr/>
        </p:nvPicPr>
        <p:blipFill>
          <a:blip r:embed="rId4"/>
          <a:stretch>
            <a:fillRect/>
          </a:stretch>
        </p:blipFill>
        <p:spPr>
          <a:xfrm>
            <a:off x="10803573" y="2076970"/>
            <a:ext cx="134549" cy="195707"/>
          </a:xfrm>
          <a:prstGeom prst="rect">
            <a:avLst/>
          </a:prstGeom>
        </p:spPr>
      </p:pic>
      <p:sp>
        <p:nvSpPr>
          <p:cNvPr id="65" name="TextBox 64"/>
          <p:cNvSpPr txBox="1"/>
          <p:nvPr/>
        </p:nvSpPr>
        <p:spPr>
          <a:xfrm>
            <a:off x="10978682" y="2087194"/>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66" name="TextBox 65"/>
          <p:cNvSpPr txBox="1"/>
          <p:nvPr/>
        </p:nvSpPr>
        <p:spPr>
          <a:xfrm>
            <a:off x="8048625" y="2262454"/>
            <a:ext cx="2474614" cy="194310"/>
          </a:xfrm>
          <a:prstGeom prst="rect">
            <a:avLst/>
          </a:prstGeom>
          <a:noFill/>
        </p:spPr>
        <p:txBody>
          <a:bodyPr wrap="none" lIns="0" rIns="0" tIns="0" bIns="0">
            <a:spAutoFit/>
          </a:bodyPr>
          <a:lstStyle/>
          <a:p>
            <a:r>
              <a:rPr sz="1150" b="0">
                <a:solidFill>
                  <a:srgbClr val="2E2E2E"/>
                </a:solidFill>
                <a:latin typeface="Calibri"/>
              </a:rPr>
              <a:t>2025 and is projected to increase to US$</a:t>
            </a:r>
          </a:p>
        </p:txBody>
      </p:sp>
      <p:pic>
        <p:nvPicPr>
          <p:cNvPr id="67" name="Picture 66" descr="lock.png"/>
          <p:cNvPicPr>
            <a:picLocks noChangeAspect="1"/>
          </p:cNvPicPr>
          <p:nvPr/>
        </p:nvPicPr>
        <p:blipFill>
          <a:blip r:embed="rId4"/>
          <a:stretch>
            <a:fillRect/>
          </a:stretch>
        </p:blipFill>
        <p:spPr>
          <a:xfrm>
            <a:off x="10472393" y="2252230"/>
            <a:ext cx="134549" cy="195707"/>
          </a:xfrm>
          <a:prstGeom prst="rect">
            <a:avLst/>
          </a:prstGeom>
        </p:spPr>
      </p:pic>
      <p:sp>
        <p:nvSpPr>
          <p:cNvPr id="68" name="TextBox 67"/>
          <p:cNvSpPr txBox="1"/>
          <p:nvPr/>
        </p:nvSpPr>
        <p:spPr>
          <a:xfrm>
            <a:off x="10647503" y="2262454"/>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69" name="TextBox 68"/>
          <p:cNvSpPr txBox="1"/>
          <p:nvPr/>
        </p:nvSpPr>
        <p:spPr>
          <a:xfrm>
            <a:off x="8048625" y="2490292"/>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70" name="TextBox 69"/>
          <p:cNvSpPr txBox="1"/>
          <p:nvPr/>
        </p:nvSpPr>
        <p:spPr>
          <a:xfrm>
            <a:off x="8048625" y="266555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71" name="TextBox 70"/>
          <p:cNvSpPr txBox="1"/>
          <p:nvPr/>
        </p:nvSpPr>
        <p:spPr>
          <a:xfrm>
            <a:off x="8048625" y="284081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72" name="TextBox 71"/>
          <p:cNvSpPr txBox="1"/>
          <p:nvPr/>
        </p:nvSpPr>
        <p:spPr>
          <a:xfrm>
            <a:off x="8048625" y="301607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73" name="TextBox 72"/>
          <p:cNvSpPr txBox="1"/>
          <p:nvPr/>
        </p:nvSpPr>
        <p:spPr>
          <a:xfrm>
            <a:off x="8048625" y="324390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74" name="TextBox 73"/>
          <p:cNvSpPr txBox="1"/>
          <p:nvPr/>
        </p:nvSpPr>
        <p:spPr>
          <a:xfrm>
            <a:off x="8048625" y="341916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5" name="TextBox 74"/>
          <p:cNvSpPr txBox="1"/>
          <p:nvPr/>
        </p:nvSpPr>
        <p:spPr>
          <a:xfrm>
            <a:off x="8048625" y="359442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Floriculture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72199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0294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39090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03847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67652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31457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96215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75285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75285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5285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5285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5285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5285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64406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95879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95879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4406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59080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1951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9566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88564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6505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6198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1951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05424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3278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5337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2055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8142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78142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78142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78142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78142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309562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32758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508897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508897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32758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309562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86366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10227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10227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86366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439025" y="1354081"/>
            <a:ext cx="46101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72375" y="1439806"/>
            <a:ext cx="43434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572375" y="1677931"/>
            <a:ext cx="4343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72375" y="1763656"/>
            <a:ext cx="43434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Floriculture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Floriculture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439025" y="4943046"/>
            <a:ext cx="46101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72375" y="5028771"/>
            <a:ext cx="43434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572375" y="5266896"/>
            <a:ext cx="4343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72375" y="5352621"/>
            <a:ext cx="43434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38402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991902" y="1889132"/>
            <a:ext cx="128699" cy="187198"/>
          </a:xfrm>
          <a:prstGeom prst="rect">
            <a:avLst/>
          </a:prstGeom>
        </p:spPr>
      </p:pic>
      <p:sp>
        <p:nvSpPr>
          <p:cNvPr id="65" name="TextBox 64"/>
          <p:cNvSpPr txBox="1"/>
          <p:nvPr/>
        </p:nvSpPr>
        <p:spPr>
          <a:xfrm>
            <a:off x="440993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466238" y="2315626"/>
            <a:ext cx="92663" cy="134782"/>
          </a:xfrm>
          <a:prstGeom prst="rect">
            <a:avLst/>
          </a:prstGeom>
        </p:spPr>
      </p:pic>
      <p:sp>
        <p:nvSpPr>
          <p:cNvPr id="67" name="TextBox 66"/>
          <p:cNvSpPr txBox="1"/>
          <p:nvPr/>
        </p:nvSpPr>
        <p:spPr>
          <a:xfrm>
            <a:off x="517859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220361" y="3363591"/>
            <a:ext cx="92663" cy="134782"/>
          </a:xfrm>
          <a:prstGeom prst="rect">
            <a:avLst/>
          </a:prstGeom>
        </p:spPr>
      </p:pic>
      <p:sp>
        <p:nvSpPr>
          <p:cNvPr id="69" name="TextBox 68"/>
          <p:cNvSpPr txBox="1"/>
          <p:nvPr/>
        </p:nvSpPr>
        <p:spPr>
          <a:xfrm>
            <a:off x="516779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225966" y="4655202"/>
            <a:ext cx="97811" cy="142270"/>
          </a:xfrm>
          <a:prstGeom prst="rect">
            <a:avLst/>
          </a:prstGeom>
        </p:spPr>
      </p:pic>
      <p:sp>
        <p:nvSpPr>
          <p:cNvPr id="71" name="TextBox 70"/>
          <p:cNvSpPr txBox="1"/>
          <p:nvPr/>
        </p:nvSpPr>
        <p:spPr>
          <a:xfrm>
            <a:off x="437491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933238" y="5767261"/>
            <a:ext cx="92663" cy="134782"/>
          </a:xfrm>
          <a:prstGeom prst="rect">
            <a:avLst/>
          </a:prstGeom>
        </p:spPr>
      </p:pic>
      <p:sp>
        <p:nvSpPr>
          <p:cNvPr id="73" name="TextBox 72"/>
          <p:cNvSpPr txBox="1"/>
          <p:nvPr/>
        </p:nvSpPr>
        <p:spPr>
          <a:xfrm>
            <a:off x="319228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214786" y="6103453"/>
            <a:ext cx="97811" cy="142270"/>
          </a:xfrm>
          <a:prstGeom prst="rect">
            <a:avLst/>
          </a:prstGeom>
        </p:spPr>
      </p:pic>
      <p:sp>
        <p:nvSpPr>
          <p:cNvPr id="75" name="TextBox 74"/>
          <p:cNvSpPr txBox="1"/>
          <p:nvPr/>
        </p:nvSpPr>
        <p:spPr>
          <a:xfrm>
            <a:off x="200196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35592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592427" y="5767261"/>
            <a:ext cx="92663" cy="134782"/>
          </a:xfrm>
          <a:prstGeom prst="rect">
            <a:avLst/>
          </a:prstGeom>
        </p:spPr>
      </p:pic>
      <p:sp>
        <p:nvSpPr>
          <p:cNvPr id="78" name="TextBox 77"/>
          <p:cNvSpPr txBox="1"/>
          <p:nvPr/>
        </p:nvSpPr>
        <p:spPr>
          <a:xfrm>
            <a:off x="119244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707935" y="4719297"/>
            <a:ext cx="92663" cy="134782"/>
          </a:xfrm>
          <a:prstGeom prst="rect">
            <a:avLst/>
          </a:prstGeom>
        </p:spPr>
      </p:pic>
      <p:sp>
        <p:nvSpPr>
          <p:cNvPr id="80" name="TextBox 79"/>
          <p:cNvSpPr txBox="1"/>
          <p:nvPr/>
        </p:nvSpPr>
        <p:spPr>
          <a:xfrm>
            <a:off x="117510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250463" y="3363591"/>
            <a:ext cx="92663" cy="134782"/>
          </a:xfrm>
          <a:prstGeom prst="rect">
            <a:avLst/>
          </a:prstGeom>
        </p:spPr>
      </p:pic>
      <p:sp>
        <p:nvSpPr>
          <p:cNvPr id="82" name="TextBox 81"/>
          <p:cNvSpPr txBox="1"/>
          <p:nvPr/>
        </p:nvSpPr>
        <p:spPr>
          <a:xfrm>
            <a:off x="194597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469326" y="2375977"/>
            <a:ext cx="92663" cy="134782"/>
          </a:xfrm>
          <a:prstGeom prst="rect">
            <a:avLst/>
          </a:prstGeom>
        </p:spPr>
      </p:pic>
      <p:sp>
        <p:nvSpPr>
          <p:cNvPr id="84" name="TextBox 83"/>
          <p:cNvSpPr txBox="1"/>
          <p:nvPr/>
        </p:nvSpPr>
        <p:spPr>
          <a:xfrm>
            <a:off x="75723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8261293" y="5352366"/>
            <a:ext cx="128699" cy="187198"/>
          </a:xfrm>
          <a:prstGeom prst="rect">
            <a:avLst/>
          </a:prstGeom>
        </p:spPr>
      </p:pic>
      <p:sp>
        <p:nvSpPr>
          <p:cNvPr id="86" name="TextBox 85"/>
          <p:cNvSpPr txBox="1"/>
          <p:nvPr/>
        </p:nvSpPr>
        <p:spPr>
          <a:xfrm>
            <a:off x="84287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5723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371798" y="5570298"/>
            <a:ext cx="128699" cy="187198"/>
          </a:xfrm>
          <a:prstGeom prst="rect">
            <a:avLst/>
          </a:prstGeom>
        </p:spPr>
      </p:pic>
      <p:sp>
        <p:nvSpPr>
          <p:cNvPr id="89" name="TextBox 88"/>
          <p:cNvSpPr txBox="1"/>
          <p:nvPr/>
        </p:nvSpPr>
        <p:spPr>
          <a:xfrm>
            <a:off x="95392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5723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998810" y="5788230"/>
            <a:ext cx="128699" cy="187198"/>
          </a:xfrm>
          <a:prstGeom prst="rect">
            <a:avLst/>
          </a:prstGeom>
        </p:spPr>
      </p:pic>
      <p:sp>
        <p:nvSpPr>
          <p:cNvPr id="92" name="TextBox 91"/>
          <p:cNvSpPr txBox="1"/>
          <p:nvPr/>
        </p:nvSpPr>
        <p:spPr>
          <a:xfrm>
            <a:off x="91663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5723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9045741" y="6006162"/>
            <a:ext cx="128699" cy="187198"/>
          </a:xfrm>
          <a:prstGeom prst="rect">
            <a:avLst/>
          </a:prstGeom>
        </p:spPr>
      </p:pic>
      <p:sp>
        <p:nvSpPr>
          <p:cNvPr id="95" name="TextBox 94"/>
          <p:cNvSpPr txBox="1"/>
          <p:nvPr/>
        </p:nvSpPr>
        <p:spPr>
          <a:xfrm>
            <a:off x="92132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5723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9120502" y="6224094"/>
            <a:ext cx="128699" cy="187198"/>
          </a:xfrm>
          <a:prstGeom prst="rect">
            <a:avLst/>
          </a:prstGeom>
        </p:spPr>
      </p:pic>
      <p:sp>
        <p:nvSpPr>
          <p:cNvPr id="98" name="TextBox 97"/>
          <p:cNvSpPr txBox="1"/>
          <p:nvPr/>
        </p:nvSpPr>
        <p:spPr>
          <a:xfrm>
            <a:off x="92879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9252" cy="2271330"/>
        </p:xfrm>
        <a:graphic>
          <a:graphicData uri="http://schemas.openxmlformats.org/drawingml/2006/table">
            <a:tbl>
              <a:tblPr>
                <a:tableStyleId>{5C22544A-7EE6-4342-B048-85BDC9FD1C3A}</a:tableStyleId>
              </a:tblPr>
              <a:tblGrid>
                <a:gridCol w="1478643"/>
                <a:gridCol w="1101952"/>
                <a:gridCol w="1101952"/>
                <a:gridCol w="1101952"/>
                <a:gridCol w="1104753"/>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301" cy="2271330"/>
        </p:xfrm>
        <a:graphic>
          <a:graphicData uri="http://schemas.openxmlformats.org/drawingml/2006/table">
            <a:tbl>
              <a:tblPr>
                <a:tableStyleId>{5C22544A-7EE6-4342-B048-85BDC9FD1C3A}</a:tableStyleId>
              </a:tblPr>
              <a:tblGrid>
                <a:gridCol w="2546093"/>
                <a:gridCol w="820802"/>
                <a:gridCol w="820802"/>
                <a:gridCol w="820802"/>
                <a:gridCol w="820802"/>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642655" y="2566777"/>
            <a:ext cx="366712" cy="533400"/>
          </a:xfrm>
          <a:prstGeom prst="rect">
            <a:avLst/>
          </a:prstGeom>
        </p:spPr>
      </p:pic>
      <p:pic>
        <p:nvPicPr>
          <p:cNvPr id="25" name="Picture 24" descr="lock.png"/>
          <p:cNvPicPr>
            <a:picLocks noChangeAspect="1"/>
          </p:cNvPicPr>
          <p:nvPr/>
        </p:nvPicPr>
        <p:blipFill>
          <a:blip r:embed="rId4"/>
          <a:stretch>
            <a:fillRect/>
          </a:stretch>
        </p:blipFill>
        <p:spPr>
          <a:xfrm>
            <a:off x="10211307" y="2566777"/>
            <a:ext cx="366712" cy="533400"/>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type type and region (US$/Units).</a:t>
            </a:r>
          </a:p>
        </p:txBody>
      </p:sp>
      <p:sp>
        <p:nvSpPr>
          <p:cNvPr id="11" name="Rounded Rectangle 10"/>
          <p:cNvSpPr/>
          <p:nvPr/>
        </p:nvSpPr>
        <p:spPr>
          <a:xfrm>
            <a:off x="142875" y="1314450"/>
            <a:ext cx="11906250" cy="3067050"/>
          </a:xfrm>
          <a:prstGeom prst="roundRect">
            <a:avLst>
              <a:gd name="adj" fmla="val 248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(US$/Units)</a:t>
            </a:r>
          </a:p>
        </p:txBody>
      </p:sp>
      <p:graphicFrame>
        <p:nvGraphicFramePr>
          <p:cNvPr id="13" name="Table 12"/>
          <p:cNvGraphicFramePr>
            <a:graphicFrameLocks noGrp="1"/>
          </p:cNvGraphicFramePr>
          <p:nvPr/>
        </p:nvGraphicFramePr>
        <p:xfrm>
          <a:off x="152400" y="1571625"/>
          <a:ext cx="11888841" cy="2600321"/>
        </p:xfrm>
        <a:graphic>
          <a:graphicData uri="http://schemas.openxmlformats.org/drawingml/2006/table">
            <a:tbl>
              <a:tblPr>
                <a:tableStyleId>{5C22544A-7EE6-4342-B048-85BDC9FD1C3A}</a:tableStyleId>
              </a:tblPr>
              <a:tblGrid>
                <a:gridCol w="1478643"/>
                <a:gridCol w="765815"/>
                <a:gridCol w="1227097"/>
                <a:gridCol w="1118682"/>
                <a:gridCol w="1671709"/>
                <a:gridCol w="1115572"/>
                <a:gridCol w="1784155"/>
                <a:gridCol w="1872680"/>
                <a:gridCol w="854488"/>
              </a:tblGrid>
              <a:tr h="631697">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Cut Flowers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Potted Flowering Plants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Potted Foliage Plants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Bedding &amp; Garden Flowering Plants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Cut Foliage &amp; Greens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Young Plants &amp; Propagation Material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Flower Bulbs, Corms, Rhizomes &amp; Tubers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2810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810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2810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810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2810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810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533900"/>
            <a:ext cx="11906250" cy="2009775"/>
          </a:xfrm>
          <a:prstGeom prst="roundRect">
            <a:avLst>
              <a:gd name="adj" fmla="val 379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61962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8577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943475"/>
            <a:ext cx="11639550" cy="1524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38620" y="2920938"/>
            <a:ext cx="366712" cy="533399"/>
          </a:xfrm>
          <a:prstGeom prst="rect">
            <a:avLst/>
          </a:prstGeom>
        </p:spPr>
      </p:pic>
      <p:sp>
        <p:nvSpPr>
          <p:cNvPr id="21" name="TextBox 20"/>
          <p:cNvSpPr txBox="1"/>
          <p:nvPr/>
        </p:nvSpPr>
        <p:spPr>
          <a:xfrm>
            <a:off x="276225" y="495300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942776"/>
            <a:ext cx="134549" cy="195707"/>
          </a:xfrm>
          <a:prstGeom prst="rect">
            <a:avLst/>
          </a:prstGeom>
        </p:spPr>
      </p:pic>
      <p:sp>
        <p:nvSpPr>
          <p:cNvPr id="23" name="TextBox 22"/>
          <p:cNvSpPr txBox="1"/>
          <p:nvPr/>
        </p:nvSpPr>
        <p:spPr>
          <a:xfrm>
            <a:off x="5042176" y="4953000"/>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4942776"/>
            <a:ext cx="134549" cy="195707"/>
          </a:xfrm>
          <a:prstGeom prst="rect">
            <a:avLst/>
          </a:prstGeom>
        </p:spPr>
      </p:pic>
      <p:sp>
        <p:nvSpPr>
          <p:cNvPr id="25" name="TextBox 24"/>
          <p:cNvSpPr txBox="1"/>
          <p:nvPr/>
        </p:nvSpPr>
        <p:spPr>
          <a:xfrm>
            <a:off x="8871069" y="4953000"/>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5180838"/>
            <a:ext cx="5929610" cy="194310"/>
          </a:xfrm>
          <a:prstGeom prst="rect">
            <a:avLst/>
          </a:prstGeom>
          <a:noFill/>
        </p:spPr>
        <p:txBody>
          <a:bodyPr wrap="none" lIns="0" rIns="0" tIns="0" bIns="0">
            <a:spAutoFit/>
          </a:bodyPr>
          <a:lstStyle/>
          <a:p>
            <a:r>
              <a:rPr sz="1150" b="0">
                <a:solidFill>
                  <a:srgbClr val="2E2E2E"/>
                </a:solidFill>
                <a:latin typeface="Calibri"/>
              </a:rPr>
              <a:t>▪ Price ranges are benchmarked per product type type at 2026, derived as Value ÷ Volume with a ±</a:t>
            </a:r>
          </a:p>
        </p:txBody>
      </p:sp>
      <p:pic>
        <p:nvPicPr>
          <p:cNvPr id="27" name="Picture 26" descr="lock.png"/>
          <p:cNvPicPr>
            <a:picLocks noChangeAspect="1"/>
          </p:cNvPicPr>
          <p:nvPr/>
        </p:nvPicPr>
        <p:blipFill>
          <a:blip r:embed="rId4"/>
          <a:stretch>
            <a:fillRect/>
          </a:stretch>
        </p:blipFill>
        <p:spPr>
          <a:xfrm>
            <a:off x="6154989" y="5170614"/>
            <a:ext cx="134549" cy="195707"/>
          </a:xfrm>
          <a:prstGeom prst="rect">
            <a:avLst/>
          </a:prstGeom>
        </p:spPr>
      </p:pic>
      <p:sp>
        <p:nvSpPr>
          <p:cNvPr id="28" name="TextBox 27"/>
          <p:cNvSpPr txBox="1"/>
          <p:nvPr/>
        </p:nvSpPr>
        <p:spPr>
          <a:xfrm>
            <a:off x="6330098" y="5180838"/>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40867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398452"/>
            <a:ext cx="134549" cy="195707"/>
          </a:xfrm>
          <a:prstGeom prst="rect">
            <a:avLst/>
          </a:prstGeom>
        </p:spPr>
      </p:pic>
      <p:sp>
        <p:nvSpPr>
          <p:cNvPr id="31" name="TextBox 30"/>
          <p:cNvSpPr txBox="1"/>
          <p:nvPr/>
        </p:nvSpPr>
        <p:spPr>
          <a:xfrm>
            <a:off x="2541355" y="540867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63651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Price Forecast &amp; Dynamics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type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(US$/Units)</a:t>
            </a:r>
          </a:p>
        </p:txBody>
      </p:sp>
      <p:graphicFrame>
        <p:nvGraphicFramePr>
          <p:cNvPr id="13" name="Table 12"/>
          <p:cNvGraphicFramePr>
            <a:graphicFrameLocks noGrp="1"/>
          </p:cNvGraphicFramePr>
          <p:nvPr/>
        </p:nvGraphicFramePr>
        <p:xfrm>
          <a:off x="152400" y="1574749"/>
          <a:ext cx="11887199" cy="1504674"/>
        </p:xfrm>
        <a:graphic>
          <a:graphicData uri="http://schemas.openxmlformats.org/drawingml/2006/table">
            <a:tbl>
              <a:tblPr>
                <a:tableStyleId>{5C22544A-7EE6-4342-B048-85BDC9FD1C3A}</a:tableStyleId>
              </a:tblPr>
              <a:tblGrid>
                <a:gridCol w="4188017"/>
                <a:gridCol w="1283197"/>
                <a:gridCol w="1283197"/>
                <a:gridCol w="1283197"/>
                <a:gridCol w="1283197"/>
                <a:gridCol w="1283197"/>
                <a:gridCol w="1283197"/>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629274">
                <a:tc>
                  <a:txBody>
                    <a:bodyPr wrap="none"/>
                    <a:lstStyle/>
                    <a:p>
                      <a:pPr algn="l"/>
                      <a:r>
                        <a:rPr sz="1100" b="1">
                          <a:solidFill>
                            <a:srgbClr val="2E2E2E"/>
                          </a:solidFill>
                          <a:latin typeface="Calibri"/>
                        </a:rPr>
                        <a:t>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9274">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8003318" y="2183449"/>
            <a:ext cx="366712" cy="533400"/>
          </a:xfrm>
          <a:prstGeom prst="rect">
            <a:avLst/>
          </a:prstGeom>
        </p:spPr>
      </p:pic>
      <p:sp>
        <p:nvSpPr>
          <p:cNvPr id="25" name="TextBox 24"/>
          <p:cNvSpPr txBox="1"/>
          <p:nvPr/>
        </p:nvSpPr>
        <p:spPr>
          <a:xfrm>
            <a:off x="6334125" y="3817595"/>
            <a:ext cx="3340605" cy="194310"/>
          </a:xfrm>
          <a:prstGeom prst="rect">
            <a:avLst/>
          </a:prstGeom>
          <a:noFill/>
        </p:spPr>
        <p:txBody>
          <a:bodyPr wrap="none" lIns="0" rIns="0" tIns="0" bIns="0">
            <a:spAutoFit/>
          </a:bodyPr>
          <a:lstStyle/>
          <a:p>
            <a:r>
              <a:rPr sz="1150" b="0">
                <a:solidFill>
                  <a:srgbClr val="2E2E2E"/>
                </a:solidFill>
                <a:latin typeface="Calibri"/>
              </a:rPr>
              <a:t>▪ Average product type price is projected to rise from ~</a:t>
            </a:r>
          </a:p>
        </p:txBody>
      </p:sp>
      <p:pic>
        <p:nvPicPr>
          <p:cNvPr id="26" name="Picture 25" descr="lock.png"/>
          <p:cNvPicPr>
            <a:picLocks noChangeAspect="1"/>
          </p:cNvPicPr>
          <p:nvPr/>
        </p:nvPicPr>
        <p:blipFill>
          <a:blip r:embed="rId4"/>
          <a:stretch>
            <a:fillRect/>
          </a:stretch>
        </p:blipFill>
        <p:spPr>
          <a:xfrm>
            <a:off x="9623884" y="3807371"/>
            <a:ext cx="134549" cy="195707"/>
          </a:xfrm>
          <a:prstGeom prst="rect">
            <a:avLst/>
          </a:prstGeom>
        </p:spPr>
      </p:pic>
      <p:sp>
        <p:nvSpPr>
          <p:cNvPr id="27" name="TextBox 26"/>
          <p:cNvSpPr txBox="1"/>
          <p:nvPr/>
        </p:nvSpPr>
        <p:spPr>
          <a:xfrm>
            <a:off x="9798993"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056259" y="3807371"/>
            <a:ext cx="134549" cy="195707"/>
          </a:xfrm>
          <a:prstGeom prst="rect">
            <a:avLst/>
          </a:prstGeom>
        </p:spPr>
      </p:pic>
      <p:sp>
        <p:nvSpPr>
          <p:cNvPr id="29" name="TextBox 28"/>
          <p:cNvSpPr txBox="1"/>
          <p:nvPr/>
        </p:nvSpPr>
        <p:spPr>
          <a:xfrm>
            <a:off x="10231368" y="3817595"/>
            <a:ext cx="1286817" cy="194310"/>
          </a:xfrm>
          <a:prstGeom prst="rect">
            <a:avLst/>
          </a:prstGeom>
          <a:noFill/>
        </p:spPr>
        <p:txBody>
          <a:bodyPr wrap="none" lIns="0" rIns="0" tIns="0" bIns="0">
            <a:spAutoFit/>
          </a:bodyPr>
          <a:lstStyle/>
          <a:p>
            <a:r>
              <a:rPr sz="1150" b="0">
                <a:solidFill>
                  <a:srgbClr val="2E2E2E"/>
                </a:solidFill>
                <a:latin typeface="Calibri"/>
              </a:rPr>
              <a:t>US$/Units by 2036 a</a:t>
            </a:r>
          </a:p>
        </p:txBody>
      </p:sp>
      <p:sp>
        <p:nvSpPr>
          <p:cNvPr id="30" name="TextBox 29"/>
          <p:cNvSpPr txBox="1"/>
          <p:nvPr/>
        </p:nvSpPr>
        <p:spPr>
          <a:xfrm>
            <a:off x="6334125" y="3992855"/>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1" name="Picture 30" descr="lock.png"/>
          <p:cNvPicPr>
            <a:picLocks noChangeAspect="1"/>
          </p:cNvPicPr>
          <p:nvPr/>
        </p:nvPicPr>
        <p:blipFill>
          <a:blip r:embed="rId4"/>
          <a:stretch>
            <a:fillRect/>
          </a:stretch>
        </p:blipFill>
        <p:spPr>
          <a:xfrm>
            <a:off x="6432218" y="3982631"/>
            <a:ext cx="134549" cy="195707"/>
          </a:xfrm>
          <a:prstGeom prst="rect">
            <a:avLst/>
          </a:prstGeom>
        </p:spPr>
      </p:pic>
      <p:sp>
        <p:nvSpPr>
          <p:cNvPr id="32" name="TextBox 31"/>
          <p:cNvSpPr txBox="1"/>
          <p:nvPr/>
        </p:nvSpPr>
        <p:spPr>
          <a:xfrm>
            <a:off x="6607327"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482771" cy="194310"/>
          </a:xfrm>
          <a:prstGeom prst="rect">
            <a:avLst/>
          </a:prstGeom>
          <a:noFill/>
        </p:spPr>
        <p:txBody>
          <a:bodyPr wrap="none" lIns="0" rIns="0" tIns="0" bIns="0">
            <a:spAutoFit/>
          </a:bodyPr>
          <a:lstStyle/>
          <a:p>
            <a:r>
              <a:rPr sz="1150" b="0">
                <a:solidFill>
                  <a:srgbClr val="2E2E2E"/>
                </a:solidFill>
                <a:latin typeface="Calibri"/>
              </a:rPr>
              <a:t>▪ 'Potted Foliage Plants' shows the strongest forecast price appreciation (+</a:t>
            </a:r>
          </a:p>
        </p:txBody>
      </p:sp>
      <p:pic>
        <p:nvPicPr>
          <p:cNvPr id="34" name="Picture 33" descr="lock.png"/>
          <p:cNvPicPr>
            <a:picLocks noChangeAspect="1"/>
          </p:cNvPicPr>
          <p:nvPr/>
        </p:nvPicPr>
        <p:blipFill>
          <a:blip r:embed="rId4"/>
          <a:stretch>
            <a:fillRect/>
          </a:stretch>
        </p:blipFill>
        <p:spPr>
          <a:xfrm>
            <a:off x="10766050" y="4210469"/>
            <a:ext cx="134549" cy="195707"/>
          </a:xfrm>
          <a:prstGeom prst="rect">
            <a:avLst/>
          </a:prstGeom>
        </p:spPr>
      </p:pic>
      <p:sp>
        <p:nvSpPr>
          <p:cNvPr id="35" name="TextBox 34"/>
          <p:cNvSpPr txBox="1"/>
          <p:nvPr/>
        </p:nvSpPr>
        <p:spPr>
          <a:xfrm>
            <a:off x="10941159" y="4220692"/>
            <a:ext cx="651842" cy="194310"/>
          </a:xfrm>
          <a:prstGeom prst="rect">
            <a:avLst/>
          </a:prstGeom>
          <a:noFill/>
        </p:spPr>
        <p:txBody>
          <a:bodyPr wrap="none" lIns="0" rIns="0" tIns="0" bIns="0">
            <a:spAutoFit/>
          </a:bodyPr>
          <a:lstStyle/>
          <a:p>
            <a:r>
              <a:rPr sz="1150" b="0">
                <a:solidFill>
                  <a:srgbClr val="2E2E2E"/>
                </a:solidFill>
                <a:latin typeface="Calibri"/>
              </a:rPr>
              <a:t>) over the</a:t>
            </a:r>
          </a:p>
        </p:txBody>
      </p:sp>
      <p:sp>
        <p:nvSpPr>
          <p:cNvPr id="36" name="TextBox 35"/>
          <p:cNvSpPr txBox="1"/>
          <p:nvPr/>
        </p:nvSpPr>
        <p:spPr>
          <a:xfrm>
            <a:off x="6334125" y="4395952"/>
            <a:ext cx="562843" cy="194310"/>
          </a:xfrm>
          <a:prstGeom prst="rect">
            <a:avLst/>
          </a:prstGeom>
          <a:noFill/>
        </p:spPr>
        <p:txBody>
          <a:bodyPr wrap="none" lIns="0" rIns="0" tIns="0" bIns="0">
            <a:spAutoFit/>
          </a:bodyPr>
          <a:lstStyle/>
          <a:p>
            <a:r>
              <a:rPr sz="1150" b="0">
                <a:solidFill>
                  <a:srgbClr val="2E2E2E"/>
                </a:solidFill>
                <a:latin typeface="Calibri"/>
              </a:rPr>
              <a:t>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Price Forecast &amp; Dynamics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(US$/Units)</a:t>
            </a:r>
          </a:p>
        </p:txBody>
      </p:sp>
      <p:graphicFrame>
        <p:nvGraphicFramePr>
          <p:cNvPr id="12" name="Table 11"/>
          <p:cNvGraphicFramePr>
            <a:graphicFrameLocks noGrp="1"/>
          </p:cNvGraphicFramePr>
          <p:nvPr/>
        </p:nvGraphicFramePr>
        <p:xfrm>
          <a:off x="152400" y="1238250"/>
          <a:ext cx="11887201" cy="1485896"/>
        </p:xfrm>
        <a:graphic>
          <a:graphicData uri="http://schemas.openxmlformats.org/drawingml/2006/table">
            <a:tbl>
              <a:tblPr>
                <a:tableStyleId>{5C22544A-7EE6-4342-B048-85BDC9FD1C3A}</a:tableStyleId>
              </a:tblPr>
              <a:tblGrid>
                <a:gridCol w="5101207"/>
                <a:gridCol w="1130999"/>
                <a:gridCol w="1130999"/>
                <a:gridCol w="1130999"/>
                <a:gridCol w="1130999"/>
                <a:gridCol w="1130999"/>
                <a:gridCol w="1130999"/>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Potted Foliage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Bedding &amp; Garden Flowering Pl…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Foliage &amp; Greens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Young Plants &amp; Propagation Ma…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Flower Bulbs, Corms, Rhizomes…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8459913" y="1837563"/>
            <a:ext cx="366712" cy="533400"/>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2183180"/>
                <a:gridCol w="556027"/>
                <a:gridCol w="1168932"/>
                <a:gridCol w="1094263"/>
                <a:gridCol w="2674748"/>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Dümmen Orange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Syngenta Flowers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Ball Horticultural Company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Selecta One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Florensis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439649" y="3086680"/>
            <a:ext cx="330041" cy="480060"/>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150312" cy="153161"/>
          </a:xfrm>
          <a:prstGeom prst="rect">
            <a:avLst/>
          </a:prstGeom>
          <a:noFill/>
        </p:spPr>
        <p:txBody>
          <a:bodyPr wrap="none" lIns="0" rIns="0" tIns="0" bIns="0">
            <a:spAutoFit/>
          </a:bodyPr>
          <a:lstStyle/>
          <a:p>
            <a:r>
              <a:rPr sz="879" b="0">
                <a:solidFill>
                  <a:srgbClr val="2E2E2E"/>
                </a:solidFill>
                <a:latin typeface="Calibri"/>
              </a:rPr>
              <a:t>▪ The Floriculture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Floriculture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Floriculture Market Buyers / End-User Assessment</a:t>
            </a:r>
          </a:p>
        </p:txBody>
      </p:sp>
      <p:graphicFrame>
        <p:nvGraphicFramePr>
          <p:cNvPr id="12" name="Table 11"/>
          <p:cNvGraphicFramePr>
            <a:graphicFrameLocks noGrp="1"/>
          </p:cNvGraphicFramePr>
          <p:nvPr/>
        </p:nvGraphicFramePr>
        <p:xfrm>
          <a:off x="152400" y="1238250"/>
          <a:ext cx="11887201" cy="2219326"/>
        </p:xfrm>
        <a:graphic>
          <a:graphicData uri="http://schemas.openxmlformats.org/drawingml/2006/table">
            <a:tbl>
              <a:tblPr>
                <a:tableStyleId>{5C22544A-7EE6-4342-B048-85BDC9FD1C3A}</a:tableStyleId>
              </a:tblPr>
              <a:tblGrid>
                <a:gridCol w="1751507"/>
                <a:gridCol w="1374608"/>
                <a:gridCol w="985228"/>
                <a:gridCol w="1045132"/>
                <a:gridCol w="1484433"/>
                <a:gridCol w="1184910"/>
                <a:gridCol w="1419497"/>
                <a:gridCol w="1249806"/>
                <a:gridCol w="1392080"/>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Dümmen Orange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Company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Syngenta Flowers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Ball Horticultural Company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Selecta One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Florensis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HilverdaFlorist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Royal Van Zanten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533724" y="2204276"/>
            <a:ext cx="366712" cy="533400"/>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221132"/>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22113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3" name="TextBox 22"/>
          <p:cNvSpPr txBox="1"/>
          <p:nvPr/>
        </p:nvSpPr>
        <p:spPr>
          <a:xfrm>
            <a:off x="1724025" y="224851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24851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8391525" y="224851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732236"/>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732236"/>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8" name="TextBox 27"/>
          <p:cNvSpPr txBox="1"/>
          <p:nvPr/>
        </p:nvSpPr>
        <p:spPr>
          <a:xfrm>
            <a:off x="1724025" y="275961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75961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Growth moderating vs history.</a:t>
            </a:r>
          </a:p>
        </p:txBody>
      </p:sp>
      <p:sp>
        <p:nvSpPr>
          <p:cNvPr id="30" name="TextBox 29"/>
          <p:cNvSpPr txBox="1"/>
          <p:nvPr/>
        </p:nvSpPr>
        <p:spPr>
          <a:xfrm>
            <a:off x="8391525" y="275961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243339"/>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24333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3" name="TextBox 32"/>
          <p:cNvSpPr txBox="1"/>
          <p:nvPr/>
        </p:nvSpPr>
        <p:spPr>
          <a:xfrm>
            <a:off x="1724025" y="3270720"/>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270720"/>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270720"/>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3754443"/>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3754443"/>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8" name="TextBox 37"/>
          <p:cNvSpPr txBox="1"/>
          <p:nvPr/>
        </p:nvSpPr>
        <p:spPr>
          <a:xfrm>
            <a:off x="1724025" y="378182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378182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378182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265546"/>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265546"/>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and Africa</a:t>
            </a:r>
          </a:p>
        </p:txBody>
      </p:sp>
      <p:sp>
        <p:nvSpPr>
          <p:cNvPr id="43" name="TextBox 42"/>
          <p:cNvSpPr txBox="1"/>
          <p:nvPr/>
        </p:nvSpPr>
        <p:spPr>
          <a:xfrm>
            <a:off x="1724025" y="4292927"/>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292927"/>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292927"/>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6" name="Connector 45"/>
          <p:cNvCxnSpPr/>
          <p:nvPr/>
        </p:nvCxnSpPr>
        <p:spPr>
          <a:xfrm>
            <a:off x="142875" y="4776650"/>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025" y="4794903"/>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8" name="Rounded Rectangle 47"/>
          <p:cNvSpPr/>
          <p:nvPr/>
        </p:nvSpPr>
        <p:spPr>
          <a:xfrm>
            <a:off x="142875" y="5050455"/>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5086963"/>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0" name="Connector 49"/>
          <p:cNvCxnSpPr/>
          <p:nvPr/>
        </p:nvCxnSpPr>
        <p:spPr>
          <a:xfrm>
            <a:off x="276225" y="5324261"/>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76225" y="5379022"/>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1752600" y="170210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4" name="Picture 53" descr="lock.png"/>
          <p:cNvPicPr>
            <a:picLocks noChangeAspect="1"/>
          </p:cNvPicPr>
          <p:nvPr/>
        </p:nvPicPr>
        <p:blipFill>
          <a:blip r:embed="rId4"/>
          <a:stretch>
            <a:fillRect/>
          </a:stretch>
        </p:blipFill>
        <p:spPr>
          <a:xfrm>
            <a:off x="2438789" y="1692329"/>
            <a:ext cx="128699" cy="187198"/>
          </a:xfrm>
          <a:prstGeom prst="rect">
            <a:avLst/>
          </a:prstGeom>
        </p:spPr>
      </p:pic>
      <p:sp>
        <p:nvSpPr>
          <p:cNvPr id="55" name="TextBox 54"/>
          <p:cNvSpPr txBox="1"/>
          <p:nvPr/>
        </p:nvSpPr>
        <p:spPr>
          <a:xfrm>
            <a:off x="2606285" y="170210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6" name="Picture 55" descr="lock.png"/>
          <p:cNvPicPr>
            <a:picLocks noChangeAspect="1"/>
          </p:cNvPicPr>
          <p:nvPr/>
        </p:nvPicPr>
        <p:blipFill>
          <a:blip r:embed="rId4"/>
          <a:stretch>
            <a:fillRect/>
          </a:stretch>
        </p:blipFill>
        <p:spPr>
          <a:xfrm>
            <a:off x="4110756" y="1692329"/>
            <a:ext cx="128699" cy="187198"/>
          </a:xfrm>
          <a:prstGeom prst="rect">
            <a:avLst/>
          </a:prstGeom>
        </p:spPr>
      </p:pic>
      <p:sp>
        <p:nvSpPr>
          <p:cNvPr id="57" name="TextBox 56"/>
          <p:cNvSpPr txBox="1"/>
          <p:nvPr/>
        </p:nvSpPr>
        <p:spPr>
          <a:xfrm>
            <a:off x="4278252" y="1702107"/>
            <a:ext cx="699103" cy="186689"/>
          </a:xfrm>
          <a:prstGeom prst="rect">
            <a:avLst/>
          </a:prstGeom>
          <a:noFill/>
        </p:spPr>
        <p:txBody>
          <a:bodyPr wrap="none" lIns="0" rIns="0" tIns="0" bIns="0">
            <a:spAutoFit/>
          </a:bodyPr>
          <a:lstStyle/>
          <a:p>
            <a:r>
              <a:rPr sz="1100" b="0">
                <a:solidFill>
                  <a:srgbClr val="2E2E2E"/>
                </a:solidFill>
                <a:latin typeface="Calibri"/>
              </a:rPr>
              <a:t>CAGR), Cut</a:t>
            </a:r>
          </a:p>
        </p:txBody>
      </p:sp>
      <p:sp>
        <p:nvSpPr>
          <p:cNvPr id="58" name="TextBox 57"/>
          <p:cNvSpPr txBox="1"/>
          <p:nvPr/>
        </p:nvSpPr>
        <p:spPr>
          <a:xfrm>
            <a:off x="1752600" y="1869747"/>
            <a:ext cx="1054100" cy="186689"/>
          </a:xfrm>
          <a:prstGeom prst="rect">
            <a:avLst/>
          </a:prstGeom>
          <a:noFill/>
        </p:spPr>
        <p:txBody>
          <a:bodyPr wrap="none" lIns="0" rIns="0" tIns="0" bIns="0">
            <a:spAutoFit/>
          </a:bodyPr>
          <a:lstStyle/>
          <a:p>
            <a:r>
              <a:rPr sz="1100" b="0">
                <a:solidFill>
                  <a:srgbClr val="2E2E2E"/>
                </a:solidFill>
                <a:latin typeface="Calibri"/>
              </a:rPr>
              <a:t>Flowers demand.</a:t>
            </a:r>
          </a:p>
        </p:txBody>
      </p:sp>
      <p:sp>
        <p:nvSpPr>
          <p:cNvPr id="59" name="TextBox 58"/>
          <p:cNvSpPr txBox="1"/>
          <p:nvPr/>
        </p:nvSpPr>
        <p:spPr>
          <a:xfrm>
            <a:off x="5562600" y="161828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608509"/>
            <a:ext cx="128699" cy="187198"/>
          </a:xfrm>
          <a:prstGeom prst="rect">
            <a:avLst/>
          </a:prstGeom>
        </p:spPr>
      </p:pic>
      <p:sp>
        <p:nvSpPr>
          <p:cNvPr id="61" name="TextBox 60"/>
          <p:cNvSpPr txBox="1"/>
          <p:nvPr/>
        </p:nvSpPr>
        <p:spPr>
          <a:xfrm>
            <a:off x="6965262" y="1618288"/>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785927"/>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776149"/>
            <a:ext cx="128699" cy="187198"/>
          </a:xfrm>
          <a:prstGeom prst="rect">
            <a:avLst/>
          </a:prstGeom>
        </p:spPr>
      </p:pic>
      <p:sp>
        <p:nvSpPr>
          <p:cNvPr id="64" name="TextBox 63"/>
          <p:cNvSpPr txBox="1"/>
          <p:nvPr/>
        </p:nvSpPr>
        <p:spPr>
          <a:xfrm>
            <a:off x="6425562" y="1785927"/>
            <a:ext cx="1459011"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65" name="TextBox 64"/>
          <p:cNvSpPr txBox="1"/>
          <p:nvPr/>
        </p:nvSpPr>
        <p:spPr>
          <a:xfrm>
            <a:off x="5562600" y="1953567"/>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66" name="TextBox 65"/>
          <p:cNvSpPr txBox="1"/>
          <p:nvPr/>
        </p:nvSpPr>
        <p:spPr>
          <a:xfrm>
            <a:off x="8420100" y="1785927"/>
            <a:ext cx="1143049" cy="186689"/>
          </a:xfrm>
          <a:prstGeom prst="rect">
            <a:avLst/>
          </a:prstGeom>
          <a:noFill/>
        </p:spPr>
        <p:txBody>
          <a:bodyPr wrap="none" lIns="0" rIns="0" tIns="0" bIns="0">
            <a:spAutoFit/>
          </a:bodyPr>
          <a:lstStyle/>
          <a:p>
            <a:r>
              <a:rPr sz="1100" b="0">
                <a:solidFill>
                  <a:srgbClr val="2E2E2E"/>
                </a:solidFill>
                <a:latin typeface="Calibri"/>
              </a:rPr>
              <a:t>Scale Cut Flowers (</a:t>
            </a:r>
          </a:p>
        </p:txBody>
      </p:sp>
      <p:pic>
        <p:nvPicPr>
          <p:cNvPr id="67" name="Picture 66" descr="lock.png"/>
          <p:cNvPicPr>
            <a:picLocks noChangeAspect="1"/>
          </p:cNvPicPr>
          <p:nvPr/>
        </p:nvPicPr>
        <p:blipFill>
          <a:blip r:embed="rId4"/>
          <a:stretch>
            <a:fillRect/>
          </a:stretch>
        </p:blipFill>
        <p:spPr>
          <a:xfrm>
            <a:off x="9511201" y="1776149"/>
            <a:ext cx="128699" cy="187198"/>
          </a:xfrm>
          <a:prstGeom prst="rect">
            <a:avLst/>
          </a:prstGeom>
        </p:spPr>
      </p:pic>
      <p:sp>
        <p:nvSpPr>
          <p:cNvPr id="68" name="TextBox 67"/>
          <p:cNvSpPr txBox="1"/>
          <p:nvPr/>
        </p:nvSpPr>
        <p:spPr>
          <a:xfrm>
            <a:off x="9678697" y="178592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9" name="Picture 68" descr="lock.png"/>
          <p:cNvPicPr>
            <a:picLocks noChangeAspect="1"/>
          </p:cNvPicPr>
          <p:nvPr/>
        </p:nvPicPr>
        <p:blipFill>
          <a:blip r:embed="rId4"/>
          <a:stretch>
            <a:fillRect/>
          </a:stretch>
        </p:blipFill>
        <p:spPr>
          <a:xfrm>
            <a:off x="9780165" y="1776149"/>
            <a:ext cx="128699" cy="187198"/>
          </a:xfrm>
          <a:prstGeom prst="rect">
            <a:avLst/>
          </a:prstGeom>
        </p:spPr>
      </p:pic>
      <p:sp>
        <p:nvSpPr>
          <p:cNvPr id="70" name="TextBox 69"/>
          <p:cNvSpPr txBox="1"/>
          <p:nvPr/>
        </p:nvSpPr>
        <p:spPr>
          <a:xfrm>
            <a:off x="9947661" y="178592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1" name="TextBox 70"/>
          <p:cNvSpPr txBox="1"/>
          <p:nvPr/>
        </p:nvSpPr>
        <p:spPr>
          <a:xfrm>
            <a:off x="1752600" y="2309044"/>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2" name="Picture 71" descr="lock.png"/>
          <p:cNvPicPr>
            <a:picLocks noChangeAspect="1"/>
          </p:cNvPicPr>
          <p:nvPr/>
        </p:nvPicPr>
        <p:blipFill>
          <a:blip r:embed="rId4"/>
          <a:stretch>
            <a:fillRect/>
          </a:stretch>
        </p:blipFill>
        <p:spPr>
          <a:xfrm>
            <a:off x="2438789" y="2299265"/>
            <a:ext cx="128699" cy="187198"/>
          </a:xfrm>
          <a:prstGeom prst="rect">
            <a:avLst/>
          </a:prstGeom>
        </p:spPr>
      </p:pic>
      <p:sp>
        <p:nvSpPr>
          <p:cNvPr id="73" name="TextBox 72"/>
          <p:cNvSpPr txBox="1"/>
          <p:nvPr/>
        </p:nvSpPr>
        <p:spPr>
          <a:xfrm>
            <a:off x="2606285" y="2309044"/>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4" name="Picture 73" descr="lock.png"/>
          <p:cNvPicPr>
            <a:picLocks noChangeAspect="1"/>
          </p:cNvPicPr>
          <p:nvPr/>
        </p:nvPicPr>
        <p:blipFill>
          <a:blip r:embed="rId4"/>
          <a:stretch>
            <a:fillRect/>
          </a:stretch>
        </p:blipFill>
        <p:spPr>
          <a:xfrm>
            <a:off x="4237905" y="2299265"/>
            <a:ext cx="128699" cy="187198"/>
          </a:xfrm>
          <a:prstGeom prst="rect">
            <a:avLst/>
          </a:prstGeom>
        </p:spPr>
      </p:pic>
      <p:sp>
        <p:nvSpPr>
          <p:cNvPr id="75" name="TextBox 74"/>
          <p:cNvSpPr txBox="1"/>
          <p:nvPr/>
        </p:nvSpPr>
        <p:spPr>
          <a:xfrm>
            <a:off x="4405401" y="2309044"/>
            <a:ext cx="815870" cy="186689"/>
          </a:xfrm>
          <a:prstGeom prst="rect">
            <a:avLst/>
          </a:prstGeom>
          <a:noFill/>
        </p:spPr>
        <p:txBody>
          <a:bodyPr wrap="none" lIns="0" rIns="0" tIns="0" bIns="0">
            <a:spAutoFit/>
          </a:bodyPr>
          <a:lstStyle/>
          <a:p>
            <a:r>
              <a:rPr sz="1100" b="0">
                <a:solidFill>
                  <a:srgbClr val="2E2E2E"/>
                </a:solidFill>
                <a:latin typeface="Calibri"/>
              </a:rPr>
              <a:t>), Cut Foliage</a:t>
            </a:r>
          </a:p>
        </p:txBody>
      </p:sp>
      <p:sp>
        <p:nvSpPr>
          <p:cNvPr id="76" name="TextBox 75"/>
          <p:cNvSpPr txBox="1"/>
          <p:nvPr/>
        </p:nvSpPr>
        <p:spPr>
          <a:xfrm>
            <a:off x="1752600" y="2476684"/>
            <a:ext cx="2487116" cy="186689"/>
          </a:xfrm>
          <a:prstGeom prst="rect">
            <a:avLst/>
          </a:prstGeom>
          <a:noFill/>
        </p:spPr>
        <p:txBody>
          <a:bodyPr wrap="none" lIns="0" rIns="0" tIns="0" bIns="0">
            <a:spAutoFit/>
          </a:bodyPr>
          <a:lstStyle/>
          <a:p>
            <a:r>
              <a:rPr sz="1100" b="0">
                <a:solidFill>
                  <a:srgbClr val="2E2E2E"/>
                </a:solidFill>
                <a:latin typeface="Calibri"/>
              </a:rPr>
              <a:t>&amp; Greens demand, Accelerating vs history.</a:t>
            </a:r>
          </a:p>
        </p:txBody>
      </p:sp>
      <p:sp>
        <p:nvSpPr>
          <p:cNvPr id="77" name="TextBox 76"/>
          <p:cNvSpPr txBox="1"/>
          <p:nvPr/>
        </p:nvSpPr>
        <p:spPr>
          <a:xfrm>
            <a:off x="5562600" y="2392864"/>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8" name="Picture 77" descr="lock.png"/>
          <p:cNvPicPr>
            <a:picLocks noChangeAspect="1"/>
          </p:cNvPicPr>
          <p:nvPr/>
        </p:nvPicPr>
        <p:blipFill>
          <a:blip r:embed="rId4"/>
          <a:stretch>
            <a:fillRect/>
          </a:stretch>
        </p:blipFill>
        <p:spPr>
          <a:xfrm>
            <a:off x="6623687" y="2383085"/>
            <a:ext cx="128699" cy="187198"/>
          </a:xfrm>
          <a:prstGeom prst="rect">
            <a:avLst/>
          </a:prstGeom>
        </p:spPr>
      </p:pic>
      <p:sp>
        <p:nvSpPr>
          <p:cNvPr id="79" name="TextBox 78"/>
          <p:cNvSpPr txBox="1"/>
          <p:nvPr/>
        </p:nvSpPr>
        <p:spPr>
          <a:xfrm>
            <a:off x="6791183" y="2392864"/>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80" name="TextBox 79"/>
          <p:cNvSpPr txBox="1"/>
          <p:nvPr/>
        </p:nvSpPr>
        <p:spPr>
          <a:xfrm>
            <a:off x="8420100" y="2392864"/>
            <a:ext cx="1143049" cy="186689"/>
          </a:xfrm>
          <a:prstGeom prst="rect">
            <a:avLst/>
          </a:prstGeom>
          <a:noFill/>
        </p:spPr>
        <p:txBody>
          <a:bodyPr wrap="none" lIns="0" rIns="0" tIns="0" bIns="0">
            <a:spAutoFit/>
          </a:bodyPr>
          <a:lstStyle/>
          <a:p>
            <a:r>
              <a:rPr sz="1100" b="0">
                <a:solidFill>
                  <a:srgbClr val="2E2E2E"/>
                </a:solidFill>
                <a:latin typeface="Calibri"/>
              </a:rPr>
              <a:t>Scale Cut Flowers (</a:t>
            </a:r>
          </a:p>
        </p:txBody>
      </p:sp>
      <p:pic>
        <p:nvPicPr>
          <p:cNvPr id="81" name="Picture 80" descr="lock.png"/>
          <p:cNvPicPr>
            <a:picLocks noChangeAspect="1"/>
          </p:cNvPicPr>
          <p:nvPr/>
        </p:nvPicPr>
        <p:blipFill>
          <a:blip r:embed="rId4"/>
          <a:stretch>
            <a:fillRect/>
          </a:stretch>
        </p:blipFill>
        <p:spPr>
          <a:xfrm>
            <a:off x="9511201" y="2383085"/>
            <a:ext cx="128699" cy="187198"/>
          </a:xfrm>
          <a:prstGeom prst="rect">
            <a:avLst/>
          </a:prstGeom>
        </p:spPr>
      </p:pic>
      <p:sp>
        <p:nvSpPr>
          <p:cNvPr id="82" name="TextBox 81"/>
          <p:cNvSpPr txBox="1"/>
          <p:nvPr/>
        </p:nvSpPr>
        <p:spPr>
          <a:xfrm>
            <a:off x="9678697" y="2392864"/>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3" name="Picture 82" descr="lock.png"/>
          <p:cNvPicPr>
            <a:picLocks noChangeAspect="1"/>
          </p:cNvPicPr>
          <p:nvPr/>
        </p:nvPicPr>
        <p:blipFill>
          <a:blip r:embed="rId4"/>
          <a:stretch>
            <a:fillRect/>
          </a:stretch>
        </p:blipFill>
        <p:spPr>
          <a:xfrm>
            <a:off x="9780165" y="2383085"/>
            <a:ext cx="128699" cy="187198"/>
          </a:xfrm>
          <a:prstGeom prst="rect">
            <a:avLst/>
          </a:prstGeom>
        </p:spPr>
      </p:pic>
      <p:sp>
        <p:nvSpPr>
          <p:cNvPr id="84" name="TextBox 83"/>
          <p:cNvSpPr txBox="1"/>
          <p:nvPr/>
        </p:nvSpPr>
        <p:spPr>
          <a:xfrm>
            <a:off x="9947661" y="239286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5" name="TextBox 84"/>
          <p:cNvSpPr txBox="1"/>
          <p:nvPr/>
        </p:nvSpPr>
        <p:spPr>
          <a:xfrm>
            <a:off x="1752600" y="282014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6" name="Picture 85" descr="lock.png"/>
          <p:cNvPicPr>
            <a:picLocks noChangeAspect="1"/>
          </p:cNvPicPr>
          <p:nvPr/>
        </p:nvPicPr>
        <p:blipFill>
          <a:blip r:embed="rId4"/>
          <a:stretch>
            <a:fillRect/>
          </a:stretch>
        </p:blipFill>
        <p:spPr>
          <a:xfrm>
            <a:off x="2438789" y="2810368"/>
            <a:ext cx="128699" cy="187198"/>
          </a:xfrm>
          <a:prstGeom prst="rect">
            <a:avLst/>
          </a:prstGeom>
        </p:spPr>
      </p:pic>
      <p:sp>
        <p:nvSpPr>
          <p:cNvPr id="87" name="TextBox 86"/>
          <p:cNvSpPr txBox="1"/>
          <p:nvPr/>
        </p:nvSpPr>
        <p:spPr>
          <a:xfrm>
            <a:off x="2606285" y="2820147"/>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8" name="Picture 87" descr="lock.png"/>
          <p:cNvPicPr>
            <a:picLocks noChangeAspect="1"/>
          </p:cNvPicPr>
          <p:nvPr/>
        </p:nvPicPr>
        <p:blipFill>
          <a:blip r:embed="rId4"/>
          <a:stretch>
            <a:fillRect/>
          </a:stretch>
        </p:blipFill>
        <p:spPr>
          <a:xfrm>
            <a:off x="4237905" y="2810368"/>
            <a:ext cx="128699" cy="187198"/>
          </a:xfrm>
          <a:prstGeom prst="rect">
            <a:avLst/>
          </a:prstGeom>
        </p:spPr>
      </p:pic>
      <p:sp>
        <p:nvSpPr>
          <p:cNvPr id="89" name="TextBox 88"/>
          <p:cNvSpPr txBox="1"/>
          <p:nvPr/>
        </p:nvSpPr>
        <p:spPr>
          <a:xfrm>
            <a:off x="4405401" y="2820147"/>
            <a:ext cx="854372" cy="186689"/>
          </a:xfrm>
          <a:prstGeom prst="rect">
            <a:avLst/>
          </a:prstGeom>
          <a:noFill/>
        </p:spPr>
        <p:txBody>
          <a:bodyPr wrap="none" lIns="0" rIns="0" tIns="0" bIns="0">
            <a:spAutoFit/>
          </a:bodyPr>
          <a:lstStyle/>
          <a:p>
            <a:r>
              <a:rPr sz="1100" b="0">
                <a:solidFill>
                  <a:srgbClr val="2E2E2E"/>
                </a:solidFill>
                <a:latin typeface="Calibri"/>
              </a:rPr>
              <a:t>), Cut Flowers</a:t>
            </a:r>
          </a:p>
        </p:txBody>
      </p:sp>
      <p:sp>
        <p:nvSpPr>
          <p:cNvPr id="90" name="TextBox 89"/>
          <p:cNvSpPr txBox="1"/>
          <p:nvPr/>
        </p:nvSpPr>
        <p:spPr>
          <a:xfrm>
            <a:off x="1752600" y="2987787"/>
            <a:ext cx="579611" cy="186689"/>
          </a:xfrm>
          <a:prstGeom prst="rect">
            <a:avLst/>
          </a:prstGeom>
          <a:noFill/>
        </p:spPr>
        <p:txBody>
          <a:bodyPr wrap="none" lIns="0" rIns="0" tIns="0" bIns="0">
            <a:spAutoFit/>
          </a:bodyPr>
          <a:lstStyle/>
          <a:p>
            <a:r>
              <a:rPr sz="1100" b="0">
                <a:solidFill>
                  <a:srgbClr val="2E2E2E"/>
                </a:solidFill>
                <a:latin typeface="Calibri"/>
              </a:rPr>
              <a:t>demand.</a:t>
            </a:r>
          </a:p>
        </p:txBody>
      </p:sp>
      <p:sp>
        <p:nvSpPr>
          <p:cNvPr id="91" name="TextBox 90"/>
          <p:cNvSpPr txBox="1"/>
          <p:nvPr/>
        </p:nvSpPr>
        <p:spPr>
          <a:xfrm>
            <a:off x="8420100" y="2903967"/>
            <a:ext cx="1143049" cy="186689"/>
          </a:xfrm>
          <a:prstGeom prst="rect">
            <a:avLst/>
          </a:prstGeom>
          <a:noFill/>
        </p:spPr>
        <p:txBody>
          <a:bodyPr wrap="none" lIns="0" rIns="0" tIns="0" bIns="0">
            <a:spAutoFit/>
          </a:bodyPr>
          <a:lstStyle/>
          <a:p>
            <a:r>
              <a:rPr sz="1100" b="0">
                <a:solidFill>
                  <a:srgbClr val="2E2E2E"/>
                </a:solidFill>
                <a:latin typeface="Calibri"/>
              </a:rPr>
              <a:t>Scale Cut Flowers (</a:t>
            </a:r>
          </a:p>
        </p:txBody>
      </p:sp>
      <p:pic>
        <p:nvPicPr>
          <p:cNvPr id="92" name="Picture 91" descr="lock.png"/>
          <p:cNvPicPr>
            <a:picLocks noChangeAspect="1"/>
          </p:cNvPicPr>
          <p:nvPr/>
        </p:nvPicPr>
        <p:blipFill>
          <a:blip r:embed="rId4"/>
          <a:stretch>
            <a:fillRect/>
          </a:stretch>
        </p:blipFill>
        <p:spPr>
          <a:xfrm>
            <a:off x="9511201" y="2894188"/>
            <a:ext cx="128699" cy="187198"/>
          </a:xfrm>
          <a:prstGeom prst="rect">
            <a:avLst/>
          </a:prstGeom>
        </p:spPr>
      </p:pic>
      <p:sp>
        <p:nvSpPr>
          <p:cNvPr id="93" name="TextBox 92"/>
          <p:cNvSpPr txBox="1"/>
          <p:nvPr/>
        </p:nvSpPr>
        <p:spPr>
          <a:xfrm>
            <a:off x="9678697" y="290396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4" name="Picture 93" descr="lock.png"/>
          <p:cNvPicPr>
            <a:picLocks noChangeAspect="1"/>
          </p:cNvPicPr>
          <p:nvPr/>
        </p:nvPicPr>
        <p:blipFill>
          <a:blip r:embed="rId4"/>
          <a:stretch>
            <a:fillRect/>
          </a:stretch>
        </p:blipFill>
        <p:spPr>
          <a:xfrm>
            <a:off x="9780165" y="2894188"/>
            <a:ext cx="128699" cy="187198"/>
          </a:xfrm>
          <a:prstGeom prst="rect">
            <a:avLst/>
          </a:prstGeom>
        </p:spPr>
      </p:pic>
      <p:sp>
        <p:nvSpPr>
          <p:cNvPr id="95" name="TextBox 94"/>
          <p:cNvSpPr txBox="1"/>
          <p:nvPr/>
        </p:nvSpPr>
        <p:spPr>
          <a:xfrm>
            <a:off x="9947661" y="290396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96" name="TextBox 95"/>
          <p:cNvSpPr txBox="1"/>
          <p:nvPr/>
        </p:nvSpPr>
        <p:spPr>
          <a:xfrm>
            <a:off x="1752600" y="3415071"/>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7" name="Picture 96" descr="lock.png"/>
          <p:cNvPicPr>
            <a:picLocks noChangeAspect="1"/>
          </p:cNvPicPr>
          <p:nvPr/>
        </p:nvPicPr>
        <p:blipFill>
          <a:blip r:embed="rId4"/>
          <a:stretch>
            <a:fillRect/>
          </a:stretch>
        </p:blipFill>
        <p:spPr>
          <a:xfrm>
            <a:off x="2834969" y="3405292"/>
            <a:ext cx="128699" cy="187198"/>
          </a:xfrm>
          <a:prstGeom prst="rect">
            <a:avLst/>
          </a:prstGeom>
        </p:spPr>
      </p:pic>
      <p:sp>
        <p:nvSpPr>
          <p:cNvPr id="98" name="TextBox 97"/>
          <p:cNvSpPr txBox="1"/>
          <p:nvPr/>
        </p:nvSpPr>
        <p:spPr>
          <a:xfrm>
            <a:off x="3002465" y="3415071"/>
            <a:ext cx="2232771" cy="186689"/>
          </a:xfrm>
          <a:prstGeom prst="rect">
            <a:avLst/>
          </a:prstGeom>
          <a:noFill/>
        </p:spPr>
        <p:txBody>
          <a:bodyPr wrap="none" lIns="0" rIns="0" tIns="0" bIns="0">
            <a:spAutoFit/>
          </a:bodyPr>
          <a:lstStyle/>
          <a:p>
            <a:r>
              <a:rPr sz="1100" b="0">
                <a:solidFill>
                  <a:srgbClr val="2E2E2E"/>
                </a:solidFill>
                <a:latin typeface="Calibri"/>
              </a:rPr>
              <a:t>CAGR), Cut Foliage &amp; Greens demand.</a:t>
            </a:r>
          </a:p>
        </p:txBody>
      </p:sp>
      <p:sp>
        <p:nvSpPr>
          <p:cNvPr id="99" name="TextBox 98"/>
          <p:cNvSpPr txBox="1"/>
          <p:nvPr/>
        </p:nvSpPr>
        <p:spPr>
          <a:xfrm>
            <a:off x="5562600" y="3331251"/>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0" name="Picture 99" descr="lock.png"/>
          <p:cNvPicPr>
            <a:picLocks noChangeAspect="1"/>
          </p:cNvPicPr>
          <p:nvPr/>
        </p:nvPicPr>
        <p:blipFill>
          <a:blip r:embed="rId4"/>
          <a:stretch>
            <a:fillRect/>
          </a:stretch>
        </p:blipFill>
        <p:spPr>
          <a:xfrm>
            <a:off x="6797766" y="3321472"/>
            <a:ext cx="128699" cy="187198"/>
          </a:xfrm>
          <a:prstGeom prst="rect">
            <a:avLst/>
          </a:prstGeom>
        </p:spPr>
      </p:pic>
      <p:sp>
        <p:nvSpPr>
          <p:cNvPr id="101" name="TextBox 100"/>
          <p:cNvSpPr txBox="1"/>
          <p:nvPr/>
        </p:nvSpPr>
        <p:spPr>
          <a:xfrm>
            <a:off x="6965262" y="3331251"/>
            <a:ext cx="786159" cy="186689"/>
          </a:xfrm>
          <a:prstGeom prst="rect">
            <a:avLst/>
          </a:prstGeom>
          <a:noFill/>
        </p:spPr>
        <p:txBody>
          <a:bodyPr wrap="none" lIns="0" rIns="0" tIns="0" bIns="0">
            <a:spAutoFit/>
          </a:bodyPr>
          <a:lstStyle/>
          <a:p>
            <a:r>
              <a:rPr sz="1100" b="0">
                <a:solidFill>
                  <a:srgbClr val="2E2E2E"/>
                </a:solidFill>
                <a:latin typeface="Calibri"/>
              </a:rPr>
              <a:t>BPS, Growth</a:t>
            </a:r>
          </a:p>
        </p:txBody>
      </p:sp>
      <p:sp>
        <p:nvSpPr>
          <p:cNvPr id="102" name="TextBox 101"/>
          <p:cNvSpPr txBox="1"/>
          <p:nvPr/>
        </p:nvSpPr>
        <p:spPr>
          <a:xfrm>
            <a:off x="5562600" y="3498891"/>
            <a:ext cx="1347415" cy="186689"/>
          </a:xfrm>
          <a:prstGeom prst="rect">
            <a:avLst/>
          </a:prstGeom>
          <a:noFill/>
        </p:spPr>
        <p:txBody>
          <a:bodyPr wrap="none" lIns="0" rIns="0" tIns="0" bIns="0">
            <a:spAutoFit/>
          </a:bodyPr>
          <a:lstStyle/>
          <a:p>
            <a:r>
              <a:rPr sz="1100" b="0">
                <a:solidFill>
                  <a:srgbClr val="2E2E2E"/>
                </a:solidFill>
                <a:latin typeface="Calibri"/>
              </a:rPr>
              <a:t>moderating vs history.</a:t>
            </a:r>
          </a:p>
        </p:txBody>
      </p:sp>
      <p:sp>
        <p:nvSpPr>
          <p:cNvPr id="103" name="TextBox 102"/>
          <p:cNvSpPr txBox="1"/>
          <p:nvPr/>
        </p:nvSpPr>
        <p:spPr>
          <a:xfrm>
            <a:off x="8420100" y="3331251"/>
            <a:ext cx="2792164" cy="186689"/>
          </a:xfrm>
          <a:prstGeom prst="rect">
            <a:avLst/>
          </a:prstGeom>
          <a:noFill/>
        </p:spPr>
        <p:txBody>
          <a:bodyPr wrap="none" lIns="0" rIns="0" tIns="0" bIns="0">
            <a:spAutoFit/>
          </a:bodyPr>
          <a:lstStyle/>
          <a:p>
            <a:r>
              <a:rPr sz="1100" b="0">
                <a:solidFill>
                  <a:srgbClr val="2E2E2E"/>
                </a:solidFill>
                <a:latin typeface="Calibri"/>
              </a:rPr>
              <a:t>Scale Flower Bulbs, Corms, Rhizomes &amp; Tubers (</a:t>
            </a:r>
          </a:p>
        </p:txBody>
      </p:sp>
      <p:pic>
        <p:nvPicPr>
          <p:cNvPr id="104" name="Picture 103" descr="lock.png"/>
          <p:cNvPicPr>
            <a:picLocks noChangeAspect="1"/>
          </p:cNvPicPr>
          <p:nvPr/>
        </p:nvPicPr>
        <p:blipFill>
          <a:blip r:embed="rId4"/>
          <a:stretch>
            <a:fillRect/>
          </a:stretch>
        </p:blipFill>
        <p:spPr>
          <a:xfrm>
            <a:off x="11160316" y="3321472"/>
            <a:ext cx="128699" cy="187198"/>
          </a:xfrm>
          <a:prstGeom prst="rect">
            <a:avLst/>
          </a:prstGeom>
        </p:spPr>
      </p:pic>
      <p:sp>
        <p:nvSpPr>
          <p:cNvPr id="105" name="TextBox 104"/>
          <p:cNvSpPr txBox="1"/>
          <p:nvPr/>
        </p:nvSpPr>
        <p:spPr>
          <a:xfrm>
            <a:off x="11327811" y="3331251"/>
            <a:ext cx="397346" cy="186689"/>
          </a:xfrm>
          <a:prstGeom prst="rect">
            <a:avLst/>
          </a:prstGeom>
          <a:noFill/>
        </p:spPr>
        <p:txBody>
          <a:bodyPr wrap="none" lIns="0" rIns="0" tIns="0" bIns="0">
            <a:spAutoFit/>
          </a:bodyPr>
          <a:lstStyle/>
          <a:p>
            <a:r>
              <a:rPr sz="1100" b="0">
                <a:solidFill>
                  <a:srgbClr val="2E2E2E"/>
                </a:solidFill>
                <a:latin typeface="Calibri"/>
              </a:rPr>
              <a:t>), Mix</a:t>
            </a:r>
          </a:p>
        </p:txBody>
      </p:sp>
      <p:sp>
        <p:nvSpPr>
          <p:cNvPr id="106" name="TextBox 105"/>
          <p:cNvSpPr txBox="1"/>
          <p:nvPr/>
        </p:nvSpPr>
        <p:spPr>
          <a:xfrm>
            <a:off x="8420100" y="3498891"/>
            <a:ext cx="1213991" cy="186689"/>
          </a:xfrm>
          <a:prstGeom prst="rect">
            <a:avLst/>
          </a:prstGeom>
          <a:noFill/>
        </p:spPr>
        <p:txBody>
          <a:bodyPr wrap="none" lIns="0" rIns="0" tIns="0" bIns="0">
            <a:spAutoFit/>
          </a:bodyPr>
          <a:lstStyle/>
          <a:p>
            <a:r>
              <a:rPr sz="1100" b="0">
                <a:solidFill>
                  <a:srgbClr val="2E2E2E"/>
                </a:solidFill>
                <a:latin typeface="Calibri"/>
              </a:rPr>
              <a:t>shift to Cut Flowers,</a:t>
            </a:r>
          </a:p>
        </p:txBody>
      </p:sp>
      <p:pic>
        <p:nvPicPr>
          <p:cNvPr id="107" name="Picture 106" descr="lock.png"/>
          <p:cNvPicPr>
            <a:picLocks noChangeAspect="1"/>
          </p:cNvPicPr>
          <p:nvPr/>
        </p:nvPicPr>
        <p:blipFill>
          <a:blip r:embed="rId4"/>
          <a:stretch>
            <a:fillRect/>
          </a:stretch>
        </p:blipFill>
        <p:spPr>
          <a:xfrm>
            <a:off x="9582142" y="3489112"/>
            <a:ext cx="128699" cy="187198"/>
          </a:xfrm>
          <a:prstGeom prst="rect">
            <a:avLst/>
          </a:prstGeom>
        </p:spPr>
      </p:pic>
      <p:sp>
        <p:nvSpPr>
          <p:cNvPr id="108" name="TextBox 107"/>
          <p:cNvSpPr txBox="1"/>
          <p:nvPr/>
        </p:nvSpPr>
        <p:spPr>
          <a:xfrm>
            <a:off x="9749638" y="3498891"/>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09" name="TextBox 108"/>
          <p:cNvSpPr txBox="1"/>
          <p:nvPr/>
        </p:nvSpPr>
        <p:spPr>
          <a:xfrm>
            <a:off x="1752600" y="3926174"/>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0" name="Picture 109" descr="lock.png"/>
          <p:cNvPicPr>
            <a:picLocks noChangeAspect="1"/>
          </p:cNvPicPr>
          <p:nvPr/>
        </p:nvPicPr>
        <p:blipFill>
          <a:blip r:embed="rId4"/>
          <a:stretch>
            <a:fillRect/>
          </a:stretch>
        </p:blipFill>
        <p:spPr>
          <a:xfrm>
            <a:off x="2962118" y="3916395"/>
            <a:ext cx="128699" cy="187198"/>
          </a:xfrm>
          <a:prstGeom prst="rect">
            <a:avLst/>
          </a:prstGeom>
        </p:spPr>
      </p:pic>
      <p:sp>
        <p:nvSpPr>
          <p:cNvPr id="111" name="TextBox 110"/>
          <p:cNvSpPr txBox="1"/>
          <p:nvPr/>
        </p:nvSpPr>
        <p:spPr>
          <a:xfrm>
            <a:off x="3129614" y="3926174"/>
            <a:ext cx="1913552" cy="186689"/>
          </a:xfrm>
          <a:prstGeom prst="rect">
            <a:avLst/>
          </a:prstGeom>
          <a:noFill/>
        </p:spPr>
        <p:txBody>
          <a:bodyPr wrap="none" lIns="0" rIns="0" tIns="0" bIns="0">
            <a:spAutoFit/>
          </a:bodyPr>
          <a:lstStyle/>
          <a:p>
            <a:r>
              <a:rPr sz="1100" b="0">
                <a:solidFill>
                  <a:srgbClr val="2E2E2E"/>
                </a:solidFill>
                <a:latin typeface="Calibri"/>
              </a:rPr>
              <a:t>), Cut Foliage &amp; Greens demand.</a:t>
            </a:r>
          </a:p>
        </p:txBody>
      </p:sp>
      <p:sp>
        <p:nvSpPr>
          <p:cNvPr id="112" name="TextBox 111"/>
          <p:cNvSpPr txBox="1"/>
          <p:nvPr/>
        </p:nvSpPr>
        <p:spPr>
          <a:xfrm>
            <a:off x="5562600" y="3842354"/>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3" name="Picture 112" descr="lock.png"/>
          <p:cNvPicPr>
            <a:picLocks noChangeAspect="1"/>
          </p:cNvPicPr>
          <p:nvPr/>
        </p:nvPicPr>
        <p:blipFill>
          <a:blip r:embed="rId4"/>
          <a:stretch>
            <a:fillRect/>
          </a:stretch>
        </p:blipFill>
        <p:spPr>
          <a:xfrm>
            <a:off x="6623687" y="3832575"/>
            <a:ext cx="128699" cy="187198"/>
          </a:xfrm>
          <a:prstGeom prst="rect">
            <a:avLst/>
          </a:prstGeom>
        </p:spPr>
      </p:pic>
      <p:sp>
        <p:nvSpPr>
          <p:cNvPr id="114" name="TextBox 113"/>
          <p:cNvSpPr txBox="1"/>
          <p:nvPr/>
        </p:nvSpPr>
        <p:spPr>
          <a:xfrm>
            <a:off x="6791183" y="3842354"/>
            <a:ext cx="1438416" cy="186689"/>
          </a:xfrm>
          <a:prstGeom prst="rect">
            <a:avLst/>
          </a:prstGeom>
          <a:noFill/>
        </p:spPr>
        <p:txBody>
          <a:bodyPr wrap="none" lIns="0" rIns="0" tIns="0" bIns="0">
            <a:spAutoFit/>
          </a:bodyPr>
          <a:lstStyle/>
          <a:p>
            <a:r>
              <a:rPr sz="1100" b="0">
                <a:solidFill>
                  <a:srgbClr val="2E2E2E"/>
                </a:solidFill>
                <a:latin typeface="Calibri"/>
              </a:rPr>
              <a:t>), Growth moderating vs</a:t>
            </a:r>
          </a:p>
        </p:txBody>
      </p:sp>
      <p:sp>
        <p:nvSpPr>
          <p:cNvPr id="115" name="TextBox 114"/>
          <p:cNvSpPr txBox="1"/>
          <p:nvPr/>
        </p:nvSpPr>
        <p:spPr>
          <a:xfrm>
            <a:off x="5562600" y="4009994"/>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116" name="TextBox 115"/>
          <p:cNvSpPr txBox="1"/>
          <p:nvPr/>
        </p:nvSpPr>
        <p:spPr>
          <a:xfrm>
            <a:off x="8420100" y="3842354"/>
            <a:ext cx="2792164" cy="186689"/>
          </a:xfrm>
          <a:prstGeom prst="rect">
            <a:avLst/>
          </a:prstGeom>
          <a:noFill/>
        </p:spPr>
        <p:txBody>
          <a:bodyPr wrap="none" lIns="0" rIns="0" tIns="0" bIns="0">
            <a:spAutoFit/>
          </a:bodyPr>
          <a:lstStyle/>
          <a:p>
            <a:r>
              <a:rPr sz="1100" b="0">
                <a:solidFill>
                  <a:srgbClr val="2E2E2E"/>
                </a:solidFill>
                <a:latin typeface="Calibri"/>
              </a:rPr>
              <a:t>Scale Flower Bulbs, Corms, Rhizomes &amp; Tubers (</a:t>
            </a:r>
          </a:p>
        </p:txBody>
      </p:sp>
      <p:pic>
        <p:nvPicPr>
          <p:cNvPr id="117" name="Picture 116" descr="lock.png"/>
          <p:cNvPicPr>
            <a:picLocks noChangeAspect="1"/>
          </p:cNvPicPr>
          <p:nvPr/>
        </p:nvPicPr>
        <p:blipFill>
          <a:blip r:embed="rId4"/>
          <a:stretch>
            <a:fillRect/>
          </a:stretch>
        </p:blipFill>
        <p:spPr>
          <a:xfrm>
            <a:off x="11160316" y="3832575"/>
            <a:ext cx="128699" cy="187198"/>
          </a:xfrm>
          <a:prstGeom prst="rect">
            <a:avLst/>
          </a:prstGeom>
        </p:spPr>
      </p:pic>
      <p:sp>
        <p:nvSpPr>
          <p:cNvPr id="118" name="TextBox 117"/>
          <p:cNvSpPr txBox="1"/>
          <p:nvPr/>
        </p:nvSpPr>
        <p:spPr>
          <a:xfrm>
            <a:off x="11327811" y="3842354"/>
            <a:ext cx="397346" cy="186689"/>
          </a:xfrm>
          <a:prstGeom prst="rect">
            <a:avLst/>
          </a:prstGeom>
          <a:noFill/>
        </p:spPr>
        <p:txBody>
          <a:bodyPr wrap="none" lIns="0" rIns="0" tIns="0" bIns="0">
            <a:spAutoFit/>
          </a:bodyPr>
          <a:lstStyle/>
          <a:p>
            <a:r>
              <a:rPr sz="1100" b="0">
                <a:solidFill>
                  <a:srgbClr val="2E2E2E"/>
                </a:solidFill>
                <a:latin typeface="Calibri"/>
              </a:rPr>
              <a:t>), Mix</a:t>
            </a:r>
          </a:p>
        </p:txBody>
      </p:sp>
      <p:sp>
        <p:nvSpPr>
          <p:cNvPr id="119" name="TextBox 118"/>
          <p:cNvSpPr txBox="1"/>
          <p:nvPr/>
        </p:nvSpPr>
        <p:spPr>
          <a:xfrm>
            <a:off x="8420100" y="4009994"/>
            <a:ext cx="1213991" cy="186689"/>
          </a:xfrm>
          <a:prstGeom prst="rect">
            <a:avLst/>
          </a:prstGeom>
          <a:noFill/>
        </p:spPr>
        <p:txBody>
          <a:bodyPr wrap="none" lIns="0" rIns="0" tIns="0" bIns="0">
            <a:spAutoFit/>
          </a:bodyPr>
          <a:lstStyle/>
          <a:p>
            <a:r>
              <a:rPr sz="1100" b="0">
                <a:solidFill>
                  <a:srgbClr val="2E2E2E"/>
                </a:solidFill>
                <a:latin typeface="Calibri"/>
              </a:rPr>
              <a:t>shift to Cut Flowers,</a:t>
            </a:r>
          </a:p>
        </p:txBody>
      </p:sp>
      <p:pic>
        <p:nvPicPr>
          <p:cNvPr id="120" name="Picture 119" descr="lock.png"/>
          <p:cNvPicPr>
            <a:picLocks noChangeAspect="1"/>
          </p:cNvPicPr>
          <p:nvPr/>
        </p:nvPicPr>
        <p:blipFill>
          <a:blip r:embed="rId4"/>
          <a:stretch>
            <a:fillRect/>
          </a:stretch>
        </p:blipFill>
        <p:spPr>
          <a:xfrm>
            <a:off x="9582142" y="4000215"/>
            <a:ext cx="128699" cy="187198"/>
          </a:xfrm>
          <a:prstGeom prst="rect">
            <a:avLst/>
          </a:prstGeom>
        </p:spPr>
      </p:pic>
      <p:sp>
        <p:nvSpPr>
          <p:cNvPr id="121" name="TextBox 120"/>
          <p:cNvSpPr txBox="1"/>
          <p:nvPr/>
        </p:nvSpPr>
        <p:spPr>
          <a:xfrm>
            <a:off x="9749638" y="400999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22" name="TextBox 121"/>
          <p:cNvSpPr txBox="1"/>
          <p:nvPr/>
        </p:nvSpPr>
        <p:spPr>
          <a:xfrm>
            <a:off x="1752600" y="4437278"/>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3" name="Picture 122" descr="lock.png"/>
          <p:cNvPicPr>
            <a:picLocks noChangeAspect="1"/>
          </p:cNvPicPr>
          <p:nvPr/>
        </p:nvPicPr>
        <p:blipFill>
          <a:blip r:embed="rId4"/>
          <a:stretch>
            <a:fillRect/>
          </a:stretch>
        </p:blipFill>
        <p:spPr>
          <a:xfrm>
            <a:off x="2834969" y="4427499"/>
            <a:ext cx="128699" cy="187198"/>
          </a:xfrm>
          <a:prstGeom prst="rect">
            <a:avLst/>
          </a:prstGeom>
        </p:spPr>
      </p:pic>
      <p:sp>
        <p:nvSpPr>
          <p:cNvPr id="124" name="TextBox 123"/>
          <p:cNvSpPr txBox="1"/>
          <p:nvPr/>
        </p:nvSpPr>
        <p:spPr>
          <a:xfrm>
            <a:off x="3002465" y="4437278"/>
            <a:ext cx="2232771" cy="186689"/>
          </a:xfrm>
          <a:prstGeom prst="rect">
            <a:avLst/>
          </a:prstGeom>
          <a:noFill/>
        </p:spPr>
        <p:txBody>
          <a:bodyPr wrap="none" lIns="0" rIns="0" tIns="0" bIns="0">
            <a:spAutoFit/>
          </a:bodyPr>
          <a:lstStyle/>
          <a:p>
            <a:r>
              <a:rPr sz="1100" b="0">
                <a:solidFill>
                  <a:srgbClr val="2E2E2E"/>
                </a:solidFill>
                <a:latin typeface="Calibri"/>
              </a:rPr>
              <a:t>CAGR), Cut Foliage &amp; Greens demand.</a:t>
            </a:r>
          </a:p>
        </p:txBody>
      </p:sp>
      <p:sp>
        <p:nvSpPr>
          <p:cNvPr id="125" name="TextBox 124"/>
          <p:cNvSpPr txBox="1"/>
          <p:nvPr/>
        </p:nvSpPr>
        <p:spPr>
          <a:xfrm>
            <a:off x="5562600" y="435345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6" name="Picture 125" descr="lock.png"/>
          <p:cNvPicPr>
            <a:picLocks noChangeAspect="1"/>
          </p:cNvPicPr>
          <p:nvPr/>
        </p:nvPicPr>
        <p:blipFill>
          <a:blip r:embed="rId4"/>
          <a:stretch>
            <a:fillRect/>
          </a:stretch>
        </p:blipFill>
        <p:spPr>
          <a:xfrm>
            <a:off x="6797766" y="4343679"/>
            <a:ext cx="128699" cy="187198"/>
          </a:xfrm>
          <a:prstGeom prst="rect">
            <a:avLst/>
          </a:prstGeom>
        </p:spPr>
      </p:pic>
      <p:sp>
        <p:nvSpPr>
          <p:cNvPr id="127" name="TextBox 126"/>
          <p:cNvSpPr txBox="1"/>
          <p:nvPr/>
        </p:nvSpPr>
        <p:spPr>
          <a:xfrm>
            <a:off x="6965262" y="4353458"/>
            <a:ext cx="786159" cy="186689"/>
          </a:xfrm>
          <a:prstGeom prst="rect">
            <a:avLst/>
          </a:prstGeom>
          <a:noFill/>
        </p:spPr>
        <p:txBody>
          <a:bodyPr wrap="none" lIns="0" rIns="0" tIns="0" bIns="0">
            <a:spAutoFit/>
          </a:bodyPr>
          <a:lstStyle/>
          <a:p>
            <a:r>
              <a:rPr sz="1100" b="0">
                <a:solidFill>
                  <a:srgbClr val="2E2E2E"/>
                </a:solidFill>
                <a:latin typeface="Calibri"/>
              </a:rPr>
              <a:t>BPS, Growth</a:t>
            </a:r>
          </a:p>
        </p:txBody>
      </p:sp>
      <p:sp>
        <p:nvSpPr>
          <p:cNvPr id="128" name="TextBox 127"/>
          <p:cNvSpPr txBox="1"/>
          <p:nvPr/>
        </p:nvSpPr>
        <p:spPr>
          <a:xfrm>
            <a:off x="5562600" y="4521098"/>
            <a:ext cx="1347415" cy="186689"/>
          </a:xfrm>
          <a:prstGeom prst="rect">
            <a:avLst/>
          </a:prstGeom>
          <a:noFill/>
        </p:spPr>
        <p:txBody>
          <a:bodyPr wrap="none" lIns="0" rIns="0" tIns="0" bIns="0">
            <a:spAutoFit/>
          </a:bodyPr>
          <a:lstStyle/>
          <a:p>
            <a:r>
              <a:rPr sz="1100" b="0">
                <a:solidFill>
                  <a:srgbClr val="2E2E2E"/>
                </a:solidFill>
                <a:latin typeface="Calibri"/>
              </a:rPr>
              <a:t>moderating vs history.</a:t>
            </a:r>
          </a:p>
        </p:txBody>
      </p:sp>
      <p:sp>
        <p:nvSpPr>
          <p:cNvPr id="129" name="TextBox 128"/>
          <p:cNvSpPr txBox="1"/>
          <p:nvPr/>
        </p:nvSpPr>
        <p:spPr>
          <a:xfrm>
            <a:off x="8420100" y="4353458"/>
            <a:ext cx="2792164" cy="186689"/>
          </a:xfrm>
          <a:prstGeom prst="rect">
            <a:avLst/>
          </a:prstGeom>
          <a:noFill/>
        </p:spPr>
        <p:txBody>
          <a:bodyPr wrap="none" lIns="0" rIns="0" tIns="0" bIns="0">
            <a:spAutoFit/>
          </a:bodyPr>
          <a:lstStyle/>
          <a:p>
            <a:r>
              <a:rPr sz="1100" b="0">
                <a:solidFill>
                  <a:srgbClr val="2E2E2E"/>
                </a:solidFill>
                <a:latin typeface="Calibri"/>
              </a:rPr>
              <a:t>Scale Flower Bulbs, Corms, Rhizomes &amp; Tubers (</a:t>
            </a:r>
          </a:p>
        </p:txBody>
      </p:sp>
      <p:pic>
        <p:nvPicPr>
          <p:cNvPr id="130" name="Picture 129" descr="lock.png"/>
          <p:cNvPicPr>
            <a:picLocks noChangeAspect="1"/>
          </p:cNvPicPr>
          <p:nvPr/>
        </p:nvPicPr>
        <p:blipFill>
          <a:blip r:embed="rId4"/>
          <a:stretch>
            <a:fillRect/>
          </a:stretch>
        </p:blipFill>
        <p:spPr>
          <a:xfrm>
            <a:off x="11160316" y="4343679"/>
            <a:ext cx="128699" cy="187198"/>
          </a:xfrm>
          <a:prstGeom prst="rect">
            <a:avLst/>
          </a:prstGeom>
        </p:spPr>
      </p:pic>
      <p:sp>
        <p:nvSpPr>
          <p:cNvPr id="131" name="TextBox 130"/>
          <p:cNvSpPr txBox="1"/>
          <p:nvPr/>
        </p:nvSpPr>
        <p:spPr>
          <a:xfrm>
            <a:off x="11327811" y="4353458"/>
            <a:ext cx="397346" cy="186689"/>
          </a:xfrm>
          <a:prstGeom prst="rect">
            <a:avLst/>
          </a:prstGeom>
          <a:noFill/>
        </p:spPr>
        <p:txBody>
          <a:bodyPr wrap="none" lIns="0" rIns="0" tIns="0" bIns="0">
            <a:spAutoFit/>
          </a:bodyPr>
          <a:lstStyle/>
          <a:p>
            <a:r>
              <a:rPr sz="1100" b="0">
                <a:solidFill>
                  <a:srgbClr val="2E2E2E"/>
                </a:solidFill>
                <a:latin typeface="Calibri"/>
              </a:rPr>
              <a:t>), Mix</a:t>
            </a:r>
          </a:p>
        </p:txBody>
      </p:sp>
      <p:sp>
        <p:nvSpPr>
          <p:cNvPr id="132" name="TextBox 131"/>
          <p:cNvSpPr txBox="1"/>
          <p:nvPr/>
        </p:nvSpPr>
        <p:spPr>
          <a:xfrm>
            <a:off x="8420100" y="4521098"/>
            <a:ext cx="1213991" cy="186689"/>
          </a:xfrm>
          <a:prstGeom prst="rect">
            <a:avLst/>
          </a:prstGeom>
          <a:noFill/>
        </p:spPr>
        <p:txBody>
          <a:bodyPr wrap="none" lIns="0" rIns="0" tIns="0" bIns="0">
            <a:spAutoFit/>
          </a:bodyPr>
          <a:lstStyle/>
          <a:p>
            <a:r>
              <a:rPr sz="1100" b="0">
                <a:solidFill>
                  <a:srgbClr val="2E2E2E"/>
                </a:solidFill>
                <a:latin typeface="Calibri"/>
              </a:rPr>
              <a:t>shift to Cut Flowers,</a:t>
            </a:r>
          </a:p>
        </p:txBody>
      </p:sp>
      <p:pic>
        <p:nvPicPr>
          <p:cNvPr id="133" name="Picture 132" descr="lock.png"/>
          <p:cNvPicPr>
            <a:picLocks noChangeAspect="1"/>
          </p:cNvPicPr>
          <p:nvPr/>
        </p:nvPicPr>
        <p:blipFill>
          <a:blip r:embed="rId4"/>
          <a:stretch>
            <a:fillRect/>
          </a:stretch>
        </p:blipFill>
        <p:spPr>
          <a:xfrm>
            <a:off x="9582142" y="4511319"/>
            <a:ext cx="128699" cy="187198"/>
          </a:xfrm>
          <a:prstGeom prst="rect">
            <a:avLst/>
          </a:prstGeom>
        </p:spPr>
      </p:pic>
      <p:sp>
        <p:nvSpPr>
          <p:cNvPr id="134" name="TextBox 133"/>
          <p:cNvSpPr txBox="1"/>
          <p:nvPr/>
        </p:nvSpPr>
        <p:spPr>
          <a:xfrm>
            <a:off x="9749638" y="4521098"/>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5" name="TextBox 134"/>
          <p:cNvSpPr txBox="1"/>
          <p:nvPr/>
        </p:nvSpPr>
        <p:spPr>
          <a:xfrm>
            <a:off x="304800" y="5424184"/>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6" name="Picture 135" descr="lock.png"/>
          <p:cNvPicPr>
            <a:picLocks noChangeAspect="1"/>
          </p:cNvPicPr>
          <p:nvPr/>
        </p:nvPicPr>
        <p:blipFill>
          <a:blip r:embed="rId4"/>
          <a:stretch>
            <a:fillRect/>
          </a:stretch>
        </p:blipFill>
        <p:spPr>
          <a:xfrm>
            <a:off x="4626463" y="5414405"/>
            <a:ext cx="128699" cy="187198"/>
          </a:xfrm>
          <a:prstGeom prst="rect">
            <a:avLst/>
          </a:prstGeom>
        </p:spPr>
      </p:pic>
      <p:sp>
        <p:nvSpPr>
          <p:cNvPr id="137" name="TextBox 136"/>
          <p:cNvSpPr txBox="1"/>
          <p:nvPr/>
        </p:nvSpPr>
        <p:spPr>
          <a:xfrm>
            <a:off x="4793959" y="5424184"/>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38" name="Picture 137" descr="lock.png"/>
          <p:cNvPicPr>
            <a:picLocks noChangeAspect="1"/>
          </p:cNvPicPr>
          <p:nvPr/>
        </p:nvPicPr>
        <p:blipFill>
          <a:blip r:embed="rId4"/>
          <a:stretch>
            <a:fillRect/>
          </a:stretch>
        </p:blipFill>
        <p:spPr>
          <a:xfrm>
            <a:off x="9365009" y="5414405"/>
            <a:ext cx="128699" cy="187198"/>
          </a:xfrm>
          <a:prstGeom prst="rect">
            <a:avLst/>
          </a:prstGeom>
        </p:spPr>
      </p:pic>
      <p:sp>
        <p:nvSpPr>
          <p:cNvPr id="139" name="TextBox 138"/>
          <p:cNvSpPr txBox="1"/>
          <p:nvPr/>
        </p:nvSpPr>
        <p:spPr>
          <a:xfrm>
            <a:off x="9532505" y="5424184"/>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40" name="Picture 139" descr="lock.png"/>
          <p:cNvPicPr>
            <a:picLocks noChangeAspect="1"/>
          </p:cNvPicPr>
          <p:nvPr/>
        </p:nvPicPr>
        <p:blipFill>
          <a:blip r:embed="rId4"/>
          <a:stretch>
            <a:fillRect/>
          </a:stretch>
        </p:blipFill>
        <p:spPr>
          <a:xfrm>
            <a:off x="291332" y="5582045"/>
            <a:ext cx="128699" cy="187198"/>
          </a:xfrm>
          <a:prstGeom prst="rect">
            <a:avLst/>
          </a:prstGeom>
        </p:spPr>
      </p:pic>
      <p:sp>
        <p:nvSpPr>
          <p:cNvPr id="141" name="TextBox 140"/>
          <p:cNvSpPr txBox="1"/>
          <p:nvPr/>
        </p:nvSpPr>
        <p:spPr>
          <a:xfrm>
            <a:off x="458828" y="5591824"/>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42" name="TextBox 141"/>
          <p:cNvSpPr txBox="1"/>
          <p:nvPr/>
        </p:nvSpPr>
        <p:spPr>
          <a:xfrm>
            <a:off x="304800" y="5759464"/>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631840"/>
            <a:ext cx="2324100" cy="2573771"/>
          </a:xfrm>
          <a:custGeom>
            <a:avLst/>
            <a:gdLst/>
            <a:ahLst/>
            <a:cxnLst/>
            <a:rect l="l" t="t" r="r" b="b"/>
            <a:pathLst>
              <a:path w="244" h="282">
                <a:moveTo>
                  <a:pt x="244" y="0"/>
                </a:moveTo>
                <a:lnTo>
                  <a:pt x="180" y="4"/>
                </a:lnTo>
                <a:lnTo>
                  <a:pt x="112" y="33"/>
                </a:lnTo>
                <a:lnTo>
                  <a:pt x="96" y="104"/>
                </a:lnTo>
                <a:lnTo>
                  <a:pt x="0" y="194"/>
                </a:lnTo>
                <a:lnTo>
                  <a:pt x="63" y="282"/>
                </a:lnTo>
                <a:lnTo>
                  <a:pt x="176" y="279"/>
                </a:lnTo>
                <a:lnTo>
                  <a:pt x="244" y="237"/>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7 product type lines and 6 distribution channel routes, giving producers wide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6" name="Picture 85" descr="lock.png"/>
          <p:cNvPicPr>
            <a:picLocks noChangeAspect="1"/>
          </p:cNvPicPr>
          <p:nvPr/>
        </p:nvPicPr>
        <p:blipFill>
          <a:blip r:embed="rId4"/>
          <a:stretch>
            <a:fillRect/>
          </a:stretch>
        </p:blipFill>
        <p:spPr>
          <a:xfrm>
            <a:off x="9712399" y="1486975"/>
            <a:ext cx="128699" cy="187198"/>
          </a:xfrm>
          <a:prstGeom prst="rect">
            <a:avLst/>
          </a:prstGeom>
        </p:spPr>
      </p:pic>
      <p:sp>
        <p:nvSpPr>
          <p:cNvPr id="87" name="TextBox 86"/>
          <p:cNvSpPr txBox="1"/>
          <p:nvPr/>
        </p:nvSpPr>
        <p:spPr>
          <a:xfrm>
            <a:off x="9879895" y="1496754"/>
            <a:ext cx="1197347" cy="186689"/>
          </a:xfrm>
          <a:prstGeom prst="rect">
            <a:avLst/>
          </a:prstGeom>
          <a:noFill/>
        </p:spPr>
        <p:txBody>
          <a:bodyPr wrap="none" lIns="0" rIns="0" tIns="0" bIns="0">
            <a:spAutoFit/>
          </a:bodyPr>
          <a:lstStyle/>
          <a:p>
            <a:r>
              <a:rPr sz="1100" b="0">
                <a:solidFill>
                  <a:srgbClr val="2E2E2E"/>
                </a:solidFill>
                <a:latin typeface="Calibri"/>
              </a:rPr>
              <a:t>/10), Capacity Add (</a:t>
            </a:r>
          </a:p>
        </p:txBody>
      </p:sp>
      <p:pic>
        <p:nvPicPr>
          <p:cNvPr id="88" name="Picture 87" descr="lock.png"/>
          <p:cNvPicPr>
            <a:picLocks noChangeAspect="1"/>
          </p:cNvPicPr>
          <p:nvPr/>
        </p:nvPicPr>
        <p:blipFill>
          <a:blip r:embed="rId4"/>
          <a:stretch>
            <a:fillRect/>
          </a:stretch>
        </p:blipFill>
        <p:spPr>
          <a:xfrm>
            <a:off x="11025293" y="1486975"/>
            <a:ext cx="128699" cy="187198"/>
          </a:xfrm>
          <a:prstGeom prst="rect">
            <a:avLst/>
          </a:prstGeom>
        </p:spPr>
      </p:pic>
      <p:sp>
        <p:nvSpPr>
          <p:cNvPr id="89" name="TextBox 88"/>
          <p:cNvSpPr txBox="1"/>
          <p:nvPr/>
        </p:nvSpPr>
        <p:spPr>
          <a:xfrm>
            <a:off x="11192789"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8" name="Picture 97" descr="lock.png"/>
          <p:cNvPicPr>
            <a:picLocks noChangeAspect="1"/>
          </p:cNvPicPr>
          <p:nvPr/>
        </p:nvPicPr>
        <p:blipFill>
          <a:blip r:embed="rId4"/>
          <a:stretch>
            <a:fillRect/>
          </a:stretch>
        </p:blipFill>
        <p:spPr>
          <a:xfrm>
            <a:off x="7488726" y="2392211"/>
            <a:ext cx="128699" cy="187198"/>
          </a:xfrm>
          <a:prstGeom prst="rect">
            <a:avLst/>
          </a:prstGeom>
        </p:spPr>
      </p:pic>
      <p:sp>
        <p:nvSpPr>
          <p:cNvPr id="99" name="TextBox 98"/>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659221"/>
            <a:ext cx="1181100" cy="3267412"/>
          </a:xfrm>
          <a:custGeom>
            <a:avLst/>
            <a:gdLst/>
            <a:ahLst/>
            <a:cxnLst/>
            <a:rect l="l" t="t" r="r" b="b"/>
            <a:pathLst>
              <a:path w="124" h="358">
                <a:moveTo>
                  <a:pt x="0" y="10"/>
                </a:moveTo>
                <a:lnTo>
                  <a:pt x="65" y="0"/>
                </a:lnTo>
                <a:lnTo>
                  <a:pt x="122" y="38"/>
                </a:lnTo>
                <a:lnTo>
                  <a:pt x="98" y="113"/>
                </a:lnTo>
                <a:lnTo>
                  <a:pt x="124" y="163"/>
                </a:lnTo>
                <a:lnTo>
                  <a:pt x="122" y="232"/>
                </a:lnTo>
                <a:lnTo>
                  <a:pt x="30" y="197"/>
                </a:lnTo>
                <a:lnTo>
                  <a:pt x="0" y="358"/>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3188617" cy="186689"/>
          </a:xfrm>
          <a:prstGeom prst="rect">
            <a:avLst/>
          </a:prstGeom>
          <a:noFill/>
        </p:spPr>
        <p:txBody>
          <a:bodyPr wrap="none" lIns="0" rIns="0" tIns="0" bIns="0">
            <a:spAutoFit/>
          </a:bodyPr>
          <a:lstStyle/>
          <a:p>
            <a:r>
              <a:rPr sz="1100" b="0">
                <a:solidFill>
                  <a:srgbClr val="2E2E2E"/>
                </a:solidFill>
                <a:latin typeface="Calibri"/>
              </a:rPr>
              <a:t>▪ Demand-side conditions are led by Consumer Reach (</a:t>
            </a:r>
          </a:p>
        </p:txBody>
      </p:sp>
      <p:pic>
        <p:nvPicPr>
          <p:cNvPr id="84" name="Picture 83" descr="lock.png"/>
          <p:cNvPicPr>
            <a:picLocks noChangeAspect="1"/>
          </p:cNvPicPr>
          <p:nvPr/>
        </p:nvPicPr>
        <p:blipFill>
          <a:blip r:embed="rId4"/>
          <a:stretch>
            <a:fillRect/>
          </a:stretch>
        </p:blipFill>
        <p:spPr>
          <a:xfrm>
            <a:off x="3346219" y="1486975"/>
            <a:ext cx="128699" cy="187198"/>
          </a:xfrm>
          <a:prstGeom prst="rect">
            <a:avLst/>
          </a:prstGeom>
        </p:spPr>
      </p:pic>
      <p:sp>
        <p:nvSpPr>
          <p:cNvPr id="85" name="TextBox 84"/>
          <p:cNvSpPr txBox="1"/>
          <p:nvPr/>
        </p:nvSpPr>
        <p:spPr>
          <a:xfrm>
            <a:off x="3513715" y="1496754"/>
            <a:ext cx="1204441" cy="186689"/>
          </a:xfrm>
          <a:prstGeom prst="rect">
            <a:avLst/>
          </a:prstGeom>
          <a:noFill/>
        </p:spPr>
        <p:txBody>
          <a:bodyPr wrap="none" lIns="0" rIns="0" tIns="0" bIns="0">
            <a:spAutoFit/>
          </a:bodyPr>
          <a:lstStyle/>
          <a:p>
            <a:r>
              <a:rPr sz="1100" b="0">
                <a:solidFill>
                  <a:srgbClr val="2E2E2E"/>
                </a:solidFill>
                <a:latin typeface="Calibri"/>
              </a:rPr>
              <a:t>/10), App. Breadth (</a:t>
            </a:r>
          </a:p>
        </p:txBody>
      </p:sp>
      <p:pic>
        <p:nvPicPr>
          <p:cNvPr id="86" name="Picture 85" descr="lock.png"/>
          <p:cNvPicPr>
            <a:picLocks noChangeAspect="1"/>
          </p:cNvPicPr>
          <p:nvPr/>
        </p:nvPicPr>
        <p:blipFill>
          <a:blip r:embed="rId4"/>
          <a:stretch>
            <a:fillRect/>
          </a:stretch>
        </p:blipFill>
        <p:spPr>
          <a:xfrm>
            <a:off x="4666207" y="1486975"/>
            <a:ext cx="128699" cy="187198"/>
          </a:xfrm>
          <a:prstGeom prst="rect">
            <a:avLst/>
          </a:prstGeom>
        </p:spPr>
      </p:pic>
      <p:sp>
        <p:nvSpPr>
          <p:cNvPr id="87" name="TextBox 86"/>
          <p:cNvSpPr txBox="1"/>
          <p:nvPr/>
        </p:nvSpPr>
        <p:spPr>
          <a:xfrm>
            <a:off x="4833703" y="1496754"/>
            <a:ext cx="1493936" cy="186689"/>
          </a:xfrm>
          <a:prstGeom prst="rect">
            <a:avLst/>
          </a:prstGeom>
          <a:noFill/>
        </p:spPr>
        <p:txBody>
          <a:bodyPr wrap="none" lIns="0" rIns="0" tIns="0" bIns="0">
            <a:spAutoFit/>
          </a:bodyPr>
          <a:lstStyle/>
          <a:p>
            <a:r>
              <a:rPr sz="1100" b="0">
                <a:solidFill>
                  <a:srgbClr val="2E2E2E"/>
                </a:solidFill>
                <a:latin typeface="Calibri"/>
              </a:rPr>
              <a:t>/10), Category Maturity (</a:t>
            </a:r>
          </a:p>
        </p:txBody>
      </p:sp>
      <p:pic>
        <p:nvPicPr>
          <p:cNvPr id="88" name="Picture 87" descr="lock.png"/>
          <p:cNvPicPr>
            <a:picLocks noChangeAspect="1"/>
          </p:cNvPicPr>
          <p:nvPr/>
        </p:nvPicPr>
        <p:blipFill>
          <a:blip r:embed="rId4"/>
          <a:stretch>
            <a:fillRect/>
          </a:stretch>
        </p:blipFill>
        <p:spPr>
          <a:xfrm>
            <a:off x="6275692" y="1486975"/>
            <a:ext cx="128699" cy="187198"/>
          </a:xfrm>
          <a:prstGeom prst="rect">
            <a:avLst/>
          </a:prstGeom>
        </p:spPr>
      </p:pic>
      <p:sp>
        <p:nvSpPr>
          <p:cNvPr id="89" name="TextBox 88"/>
          <p:cNvSpPr txBox="1"/>
          <p:nvPr/>
        </p:nvSpPr>
        <p:spPr>
          <a:xfrm>
            <a:off x="6443187"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209550"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226902"/>
            <a:ext cx="1299939" cy="186689"/>
          </a:xfrm>
          <a:prstGeom prst="rect">
            <a:avLst/>
          </a:prstGeom>
          <a:noFill/>
        </p:spPr>
        <p:txBody>
          <a:bodyPr wrap="none" lIns="0" rIns="0" tIns="0" bIns="0">
            <a:spAutoFit/>
          </a:bodyPr>
          <a:lstStyle/>
          <a:p>
            <a:r>
              <a:rPr sz="1100" b="0">
                <a:solidFill>
                  <a:srgbClr val="2E2E2E"/>
                </a:solidFill>
                <a:latin typeface="Calibri"/>
              </a:rPr>
              <a:t>▪ 'Cut Flowers' carries</a:t>
            </a:r>
          </a:p>
        </p:txBody>
      </p:sp>
      <p:pic>
        <p:nvPicPr>
          <p:cNvPr id="97" name="Picture 96" descr="lock.png"/>
          <p:cNvPicPr>
            <a:picLocks noChangeAspect="1"/>
          </p:cNvPicPr>
          <p:nvPr/>
        </p:nvPicPr>
        <p:blipFill>
          <a:blip r:embed="rId4"/>
          <a:stretch>
            <a:fillRect/>
          </a:stretch>
        </p:blipFill>
        <p:spPr>
          <a:xfrm>
            <a:off x="1457540" y="2217123"/>
            <a:ext cx="128699" cy="187198"/>
          </a:xfrm>
          <a:prstGeom prst="rect">
            <a:avLst/>
          </a:prstGeom>
        </p:spPr>
      </p:pic>
      <p:sp>
        <p:nvSpPr>
          <p:cNvPr id="98" name="TextBox 97"/>
          <p:cNvSpPr txBox="1"/>
          <p:nvPr/>
        </p:nvSpPr>
        <p:spPr>
          <a:xfrm>
            <a:off x="1625036" y="2226902"/>
            <a:ext cx="5465291" cy="186689"/>
          </a:xfrm>
          <a:prstGeom prst="rect">
            <a:avLst/>
          </a:prstGeom>
          <a:noFill/>
        </p:spPr>
        <p:txBody>
          <a:bodyPr wrap="none" lIns="0" rIns="0" tIns="0" bIns="0">
            <a:spAutoFit/>
          </a:bodyPr>
          <a:lstStyle/>
          <a:p>
            <a:r>
              <a:rPr sz="1100" b="0">
                <a:solidFill>
                  <a:srgbClr val="2E2E2E"/>
                </a:solidFill>
                <a:latin typeface="Calibri"/>
              </a:rPr>
              <a:t>of product type demand while 'Flower Bulbs, Corms, Rhizomes &amp; Tubers' compounds fastest at</a:t>
            </a:r>
          </a:p>
        </p:txBody>
      </p:sp>
      <p:pic>
        <p:nvPicPr>
          <p:cNvPr id="99" name="Picture 98" descr="lock.png"/>
          <p:cNvPicPr>
            <a:picLocks noChangeAspect="1"/>
          </p:cNvPicPr>
          <p:nvPr/>
        </p:nvPicPr>
        <p:blipFill>
          <a:blip r:embed="rId4"/>
          <a:stretch>
            <a:fillRect/>
          </a:stretch>
        </p:blipFill>
        <p:spPr>
          <a:xfrm>
            <a:off x="196082" y="2384763"/>
            <a:ext cx="128699" cy="187198"/>
          </a:xfrm>
          <a:prstGeom prst="rect">
            <a:avLst/>
          </a:prstGeom>
        </p:spPr>
      </p:pic>
      <p:sp>
        <p:nvSpPr>
          <p:cNvPr id="100" name="TextBox 99"/>
          <p:cNvSpPr txBox="1"/>
          <p:nvPr/>
        </p:nvSpPr>
        <p:spPr>
          <a:xfrm>
            <a:off x="363578"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1" name="TextBox 100"/>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2" name="Picture 101" descr="lock.png"/>
          <p:cNvPicPr>
            <a:picLocks noChangeAspect="1"/>
          </p:cNvPicPr>
          <p:nvPr/>
        </p:nvPicPr>
        <p:blipFill>
          <a:blip r:embed="rId4"/>
          <a:stretch>
            <a:fillRect/>
          </a:stretch>
        </p:blipFill>
        <p:spPr>
          <a:xfrm>
            <a:off x="2634349" y="2757285"/>
            <a:ext cx="128699" cy="187198"/>
          </a:xfrm>
          <a:prstGeom prst="rect">
            <a:avLst/>
          </a:prstGeom>
        </p:spPr>
      </p:pic>
      <p:sp>
        <p:nvSpPr>
          <p:cNvPr id="103" name="TextBox 102"/>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4" name="Picture 103" descr="lock.png"/>
          <p:cNvPicPr>
            <a:picLocks noChangeAspect="1"/>
          </p:cNvPicPr>
          <p:nvPr/>
        </p:nvPicPr>
        <p:blipFill>
          <a:blip r:embed="rId4"/>
          <a:stretch>
            <a:fillRect/>
          </a:stretch>
        </p:blipFill>
        <p:spPr>
          <a:xfrm>
            <a:off x="3281469" y="2757285"/>
            <a:ext cx="128699" cy="187198"/>
          </a:xfrm>
          <a:prstGeom prst="rect">
            <a:avLst/>
          </a:prstGeom>
        </p:spPr>
      </p:pic>
      <p:sp>
        <p:nvSpPr>
          <p:cNvPr id="105" name="TextBox 104"/>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6" name="TextBox 105"/>
          <p:cNvSpPr txBox="1"/>
          <p:nvPr/>
        </p:nvSpPr>
        <p:spPr>
          <a:xfrm>
            <a:off x="209550" y="3139587"/>
            <a:ext cx="5347419" cy="186689"/>
          </a:xfrm>
          <a:prstGeom prst="rect">
            <a:avLst/>
          </a:prstGeom>
          <a:noFill/>
        </p:spPr>
        <p:txBody>
          <a:bodyPr wrap="none" lIns="0" rIns="0" tIns="0" bIns="0">
            <a:spAutoFit/>
          </a:bodyPr>
          <a:lstStyle/>
          <a:p>
            <a:r>
              <a:rPr sz="1100" b="0">
                <a:solidFill>
                  <a:srgbClr val="2E2E2E"/>
                </a:solidFill>
                <a:latin typeface="Calibri"/>
              </a:rPr>
              <a:t>▪ Reach runs through 6 distribution channel routes, led by 'Supermarkets &amp; Hypermarkets' at</a:t>
            </a:r>
          </a:p>
        </p:txBody>
      </p:sp>
      <p:pic>
        <p:nvPicPr>
          <p:cNvPr id="107" name="Picture 106" descr="lock.png"/>
          <p:cNvPicPr>
            <a:picLocks noChangeAspect="1"/>
          </p:cNvPicPr>
          <p:nvPr/>
        </p:nvPicPr>
        <p:blipFill>
          <a:blip r:embed="rId4"/>
          <a:stretch>
            <a:fillRect/>
          </a:stretch>
        </p:blipFill>
        <p:spPr>
          <a:xfrm>
            <a:off x="5505020" y="3129808"/>
            <a:ext cx="128699" cy="187198"/>
          </a:xfrm>
          <a:prstGeom prst="rect">
            <a:avLst/>
          </a:prstGeom>
        </p:spPr>
      </p:pic>
      <p:sp>
        <p:nvSpPr>
          <p:cNvPr id="108" name="TextBox 107"/>
          <p:cNvSpPr txBox="1"/>
          <p:nvPr/>
        </p:nvSpPr>
        <p:spPr>
          <a:xfrm>
            <a:off x="5672516" y="3139587"/>
            <a:ext cx="1095300" cy="186689"/>
          </a:xfrm>
          <a:prstGeom prst="rect">
            <a:avLst/>
          </a:prstGeom>
          <a:noFill/>
        </p:spPr>
        <p:txBody>
          <a:bodyPr wrap="none" lIns="0" rIns="0" tIns="0" bIns="0">
            <a:spAutoFit/>
          </a:bodyPr>
          <a:lstStyle/>
          <a:p>
            <a:r>
              <a:rPr sz="1100" b="0">
                <a:solidFill>
                  <a:srgbClr val="2E2E2E"/>
                </a:solidFill>
                <a:latin typeface="Calibri"/>
              </a:rPr>
              <a:t>and with 'Online /</a:t>
            </a:r>
          </a:p>
        </p:txBody>
      </p:sp>
      <p:sp>
        <p:nvSpPr>
          <p:cNvPr id="109" name="TextBox 108"/>
          <p:cNvSpPr txBox="1"/>
          <p:nvPr/>
        </p:nvSpPr>
        <p:spPr>
          <a:xfrm>
            <a:off x="209550" y="3307227"/>
            <a:ext cx="1871533" cy="186689"/>
          </a:xfrm>
          <a:prstGeom prst="rect">
            <a:avLst/>
          </a:prstGeom>
          <a:noFill/>
        </p:spPr>
        <p:txBody>
          <a:bodyPr wrap="none" lIns="0" rIns="0" tIns="0" bIns="0">
            <a:spAutoFit/>
          </a:bodyPr>
          <a:lstStyle/>
          <a:p>
            <a:r>
              <a:rPr sz="1100" b="0">
                <a:solidFill>
                  <a:srgbClr val="2E2E2E"/>
                </a:solidFill>
                <a:latin typeface="Calibri"/>
              </a:rPr>
              <a:t>E-commerce' growing fastest at</a:t>
            </a:r>
          </a:p>
        </p:txBody>
      </p:sp>
      <p:pic>
        <p:nvPicPr>
          <p:cNvPr id="110" name="Picture 109" descr="lock.png"/>
          <p:cNvPicPr>
            <a:picLocks noChangeAspect="1"/>
          </p:cNvPicPr>
          <p:nvPr/>
        </p:nvPicPr>
        <p:blipFill>
          <a:blip r:embed="rId4"/>
          <a:stretch>
            <a:fillRect/>
          </a:stretch>
        </p:blipFill>
        <p:spPr>
          <a:xfrm>
            <a:off x="2029135" y="3297448"/>
            <a:ext cx="128699" cy="187198"/>
          </a:xfrm>
          <a:prstGeom prst="rect">
            <a:avLst/>
          </a:prstGeom>
        </p:spPr>
      </p:pic>
      <p:sp>
        <p:nvSpPr>
          <p:cNvPr id="111" name="TextBox 110"/>
          <p:cNvSpPr txBox="1"/>
          <p:nvPr/>
        </p:nvSpPr>
        <p:spPr>
          <a:xfrm>
            <a:off x="2196630"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Bedding &amp; Garden Flowering Plants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53513"/>
            <a:ext cx="2943597" cy="186689"/>
          </a:xfrm>
          <a:prstGeom prst="rect">
            <a:avLst/>
          </a:prstGeom>
          <a:noFill/>
        </p:spPr>
        <p:txBody>
          <a:bodyPr wrap="none" lIns="0" rIns="0" tIns="0" bIns="0">
            <a:spAutoFit/>
          </a:bodyPr>
          <a:lstStyle/>
          <a:p>
            <a:r>
              <a:rPr sz="1100" b="0">
                <a:solidFill>
                  <a:srgbClr val="2E2E2E"/>
                </a:solidFill>
                <a:latin typeface="Calibri"/>
              </a:rPr>
              <a:t>'Bedding &amp; Garden Flowering Plants' grows at only</a:t>
            </a:r>
          </a:p>
        </p:txBody>
      </p:sp>
      <p:pic>
        <p:nvPicPr>
          <p:cNvPr id="64" name="Picture 63" descr="lock.png"/>
          <p:cNvPicPr>
            <a:picLocks noChangeAspect="1"/>
          </p:cNvPicPr>
          <p:nvPr/>
        </p:nvPicPr>
        <p:blipFill>
          <a:blip r:embed="rId4"/>
          <a:stretch>
            <a:fillRect/>
          </a:stretch>
        </p:blipFill>
        <p:spPr>
          <a:xfrm>
            <a:off x="3082148" y="1743734"/>
            <a:ext cx="128699" cy="187198"/>
          </a:xfrm>
          <a:prstGeom prst="rect">
            <a:avLst/>
          </a:prstGeom>
        </p:spPr>
      </p:pic>
      <p:sp>
        <p:nvSpPr>
          <p:cNvPr id="65" name="TextBox 64"/>
          <p:cNvSpPr txBox="1"/>
          <p:nvPr/>
        </p:nvSpPr>
        <p:spPr>
          <a:xfrm>
            <a:off x="3249644" y="1753513"/>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4777291" y="1743734"/>
            <a:ext cx="128699" cy="187198"/>
          </a:xfrm>
          <a:prstGeom prst="rect">
            <a:avLst/>
          </a:prstGeom>
        </p:spPr>
      </p:pic>
      <p:sp>
        <p:nvSpPr>
          <p:cNvPr id="67" name="TextBox 66"/>
          <p:cNvSpPr txBox="1"/>
          <p:nvPr/>
        </p:nvSpPr>
        <p:spPr>
          <a:xfrm>
            <a:off x="4944786" y="1753513"/>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5176951" y="1743734"/>
            <a:ext cx="128699" cy="187198"/>
          </a:xfrm>
          <a:prstGeom prst="rect">
            <a:avLst/>
          </a:prstGeom>
        </p:spPr>
      </p:pic>
      <p:sp>
        <p:nvSpPr>
          <p:cNvPr id="69" name="TextBox 68"/>
          <p:cNvSpPr txBox="1"/>
          <p:nvPr/>
        </p:nvSpPr>
        <p:spPr>
          <a:xfrm>
            <a:off x="5344447" y="1753513"/>
            <a:ext cx="3558331" cy="186689"/>
          </a:xfrm>
          <a:prstGeom prst="rect">
            <a:avLst/>
          </a:prstGeom>
          <a:noFill/>
        </p:spPr>
        <p:txBody>
          <a:bodyPr wrap="none" lIns="0" rIns="0" tIns="0" bIns="0">
            <a:spAutoFit/>
          </a:bodyPr>
          <a:lstStyle/>
          <a:p>
            <a:r>
              <a:rPr sz="1100" b="0">
                <a:solidFill>
                  <a:srgbClr val="2E2E2E"/>
                </a:solidFill>
                <a:latin typeface="Calibri"/>
              </a:rPr>
              <a:t>BPS gap, and 'Bedding &amp; Garden Flowering Plants' surrenders</a:t>
            </a:r>
          </a:p>
        </p:txBody>
      </p:sp>
      <p:pic>
        <p:nvPicPr>
          <p:cNvPr id="70" name="Picture 69" descr="lock.png"/>
          <p:cNvPicPr>
            <a:picLocks noChangeAspect="1"/>
          </p:cNvPicPr>
          <p:nvPr/>
        </p:nvPicPr>
        <p:blipFill>
          <a:blip r:embed="rId4"/>
          <a:stretch>
            <a:fillRect/>
          </a:stretch>
        </p:blipFill>
        <p:spPr>
          <a:xfrm>
            <a:off x="8850830" y="1743734"/>
            <a:ext cx="128699" cy="187198"/>
          </a:xfrm>
          <a:prstGeom prst="rect">
            <a:avLst/>
          </a:prstGeom>
        </p:spPr>
      </p:pic>
      <p:sp>
        <p:nvSpPr>
          <p:cNvPr id="71" name="TextBox 70"/>
          <p:cNvSpPr txBox="1"/>
          <p:nvPr/>
        </p:nvSpPr>
        <p:spPr>
          <a:xfrm>
            <a:off x="190500" y="1921153"/>
            <a:ext cx="9305404" cy="186689"/>
          </a:xfrm>
          <a:prstGeom prst="rect">
            <a:avLst/>
          </a:prstGeom>
          <a:noFill/>
        </p:spPr>
        <p:txBody>
          <a:bodyPr wrap="none" lIns="0" rIns="0" tIns="0" bIns="0">
            <a:spAutoFit/>
          </a:bodyPr>
          <a:lstStyle/>
          <a:p>
            <a:r>
              <a:rPr sz="1100" b="0">
                <a:solidFill>
                  <a:srgbClr val="2E2E2E"/>
                </a:solidFill>
                <a:latin typeface="Calibri"/>
              </a:rPr>
              <a:t>BPS of product type share between 2026 and 2036. Because these lines still carry meaningful volume, the drag is absorbed by the whole category: blended growth</a:t>
            </a:r>
          </a:p>
        </p:txBody>
      </p:sp>
      <p:sp>
        <p:nvSpPr>
          <p:cNvPr id="72" name="TextBox 71"/>
          <p:cNvSpPr txBox="1"/>
          <p:nvPr/>
        </p:nvSpPr>
        <p:spPr>
          <a:xfrm>
            <a:off x="190500" y="2088793"/>
            <a:ext cx="9382125" cy="186689"/>
          </a:xfrm>
          <a:prstGeom prst="rect">
            <a:avLst/>
          </a:prstGeom>
          <a:noFill/>
        </p:spPr>
        <p:txBody>
          <a:bodyPr wrap="none" lIns="0" rIns="0" tIns="0" bIns="0">
            <a:spAutoFit/>
          </a:bodyPr>
          <a:lstStyle/>
          <a:p>
            <a:r>
              <a:rPr sz="1100" b="0">
                <a:solidFill>
                  <a:srgbClr val="2E2E2E"/>
                </a:solidFill>
                <a:latin typeface="Calibri"/>
              </a:rPr>
              <a:t>sits below what the leading lines achieve on their own. Rationalising or repositioning the lagging end of a 7-line portfolio is therefore a precondition for realising the</a:t>
            </a:r>
          </a:p>
        </p:txBody>
      </p:sp>
      <p:sp>
        <p:nvSpPr>
          <p:cNvPr id="73" name="TextBox 72"/>
          <p:cNvSpPr txBox="1"/>
          <p:nvPr/>
        </p:nvSpPr>
        <p:spPr>
          <a:xfrm>
            <a:off x="190500" y="2256433"/>
            <a:ext cx="1095846" cy="186689"/>
          </a:xfrm>
          <a:prstGeom prst="rect">
            <a:avLst/>
          </a:prstGeom>
          <a:noFill/>
        </p:spPr>
        <p:txBody>
          <a:bodyPr wrap="none" lIns="0" rIns="0" tIns="0" bIns="0">
            <a:spAutoFit/>
          </a:bodyPr>
          <a:lstStyle/>
          <a:p>
            <a:r>
              <a:rPr sz="1100" b="0">
                <a:solidFill>
                  <a:srgbClr val="2E2E2E"/>
                </a:solidFill>
                <a:latin typeface="Calibri"/>
              </a:rPr>
              <a:t>headline forecast.</a:t>
            </a:r>
          </a:p>
        </p:txBody>
      </p:sp>
      <p:sp>
        <p:nvSpPr>
          <p:cNvPr id="74" name="TextBox 73"/>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5" name="Picture 74" descr="lock.png"/>
          <p:cNvPicPr>
            <a:picLocks noChangeAspect="1"/>
          </p:cNvPicPr>
          <p:nvPr/>
        </p:nvPicPr>
        <p:blipFill>
          <a:blip r:embed="rId4"/>
          <a:stretch>
            <a:fillRect/>
          </a:stretch>
        </p:blipFill>
        <p:spPr>
          <a:xfrm>
            <a:off x="1870142" y="3488640"/>
            <a:ext cx="128699" cy="187198"/>
          </a:xfrm>
          <a:prstGeom prst="rect">
            <a:avLst/>
          </a:prstGeom>
        </p:spPr>
      </p:pic>
      <p:sp>
        <p:nvSpPr>
          <p:cNvPr id="76" name="TextBox 75"/>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7" name="Picture 76" descr="lock.png"/>
          <p:cNvPicPr>
            <a:picLocks noChangeAspect="1"/>
          </p:cNvPicPr>
          <p:nvPr/>
        </p:nvPicPr>
        <p:blipFill>
          <a:blip r:embed="rId4"/>
          <a:stretch>
            <a:fillRect/>
          </a:stretch>
        </p:blipFill>
        <p:spPr>
          <a:xfrm>
            <a:off x="2455597" y="3488640"/>
            <a:ext cx="128699" cy="187198"/>
          </a:xfrm>
          <a:prstGeom prst="rect">
            <a:avLst/>
          </a:prstGeom>
        </p:spPr>
      </p:pic>
      <p:sp>
        <p:nvSpPr>
          <p:cNvPr id="78" name="TextBox 77"/>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9" name="TextBox 78"/>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0" name="Picture 79" descr="lock.png"/>
          <p:cNvPicPr>
            <a:picLocks noChangeAspect="1"/>
          </p:cNvPicPr>
          <p:nvPr/>
        </p:nvPicPr>
        <p:blipFill>
          <a:blip r:embed="rId4"/>
          <a:stretch>
            <a:fillRect/>
          </a:stretch>
        </p:blipFill>
        <p:spPr>
          <a:xfrm>
            <a:off x="8756642" y="3656280"/>
            <a:ext cx="128699" cy="187198"/>
          </a:xfrm>
          <a:prstGeom prst="rect">
            <a:avLst/>
          </a:prstGeom>
        </p:spPr>
      </p:pic>
      <p:sp>
        <p:nvSpPr>
          <p:cNvPr id="81" name="TextBox 80"/>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2" name="TextBox 81"/>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3" name="TextBox 82"/>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4" name="Picture 83" descr="lock.png"/>
          <p:cNvPicPr>
            <a:picLocks noChangeAspect="1"/>
          </p:cNvPicPr>
          <p:nvPr/>
        </p:nvPicPr>
        <p:blipFill>
          <a:blip r:embed="rId4"/>
          <a:stretch>
            <a:fillRect/>
          </a:stretch>
        </p:blipFill>
        <p:spPr>
          <a:xfrm>
            <a:off x="3476146" y="5240995"/>
            <a:ext cx="128699" cy="187198"/>
          </a:xfrm>
          <a:prstGeom prst="rect">
            <a:avLst/>
          </a:prstGeom>
        </p:spPr>
      </p:pic>
      <p:sp>
        <p:nvSpPr>
          <p:cNvPr id="85" name="TextBox 84"/>
          <p:cNvSpPr txBox="1"/>
          <p:nvPr/>
        </p:nvSpPr>
        <p:spPr>
          <a:xfrm>
            <a:off x="3643642" y="5250774"/>
            <a:ext cx="2957512" cy="186689"/>
          </a:xfrm>
          <a:prstGeom prst="rect">
            <a:avLst/>
          </a:prstGeom>
          <a:noFill/>
        </p:spPr>
        <p:txBody>
          <a:bodyPr wrap="none" lIns="0" rIns="0" tIns="0" bIns="0">
            <a:spAutoFit/>
          </a:bodyPr>
          <a:lstStyle/>
          <a:p>
            <a:r>
              <a:rPr sz="1100" b="0">
                <a:solidFill>
                  <a:srgbClr val="2E2E2E"/>
                </a:solidFill>
                <a:latin typeface="Calibri"/>
              </a:rPr>
              <a:t>of 2036 value and the leading product type line for</a:t>
            </a:r>
          </a:p>
        </p:txBody>
      </p:sp>
      <p:pic>
        <p:nvPicPr>
          <p:cNvPr id="86" name="Picture 85" descr="lock.png"/>
          <p:cNvPicPr>
            <a:picLocks noChangeAspect="1"/>
          </p:cNvPicPr>
          <p:nvPr/>
        </p:nvPicPr>
        <p:blipFill>
          <a:blip r:embed="rId4"/>
          <a:stretch>
            <a:fillRect/>
          </a:stretch>
        </p:blipFill>
        <p:spPr>
          <a:xfrm>
            <a:off x="6549206" y="5240995"/>
            <a:ext cx="128699" cy="187198"/>
          </a:xfrm>
          <a:prstGeom prst="rect">
            <a:avLst/>
          </a:prstGeom>
        </p:spPr>
      </p:pic>
      <p:sp>
        <p:nvSpPr>
          <p:cNvPr id="87" name="TextBox 86"/>
          <p:cNvSpPr txBox="1"/>
          <p:nvPr/>
        </p:nvSpPr>
        <p:spPr>
          <a:xfrm>
            <a:off x="6716702"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8" name="Picture 87" descr="lock.png"/>
          <p:cNvPicPr>
            <a:picLocks noChangeAspect="1"/>
          </p:cNvPicPr>
          <p:nvPr/>
        </p:nvPicPr>
        <p:blipFill>
          <a:blip r:embed="rId4"/>
          <a:stretch>
            <a:fillRect/>
          </a:stretch>
        </p:blipFill>
        <p:spPr>
          <a:xfrm>
            <a:off x="177032" y="5408635"/>
            <a:ext cx="128699" cy="187198"/>
          </a:xfrm>
          <a:prstGeom prst="rect">
            <a:avLst/>
          </a:prstGeom>
        </p:spPr>
      </p:pic>
      <p:sp>
        <p:nvSpPr>
          <p:cNvPr id="89" name="TextBox 88"/>
          <p:cNvSpPr txBox="1"/>
          <p:nvPr/>
        </p:nvSpPr>
        <p:spPr>
          <a:xfrm>
            <a:off x="344528" y="5418414"/>
            <a:ext cx="9124776"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6 regions. The practical constraint is the same in either case commercial terms set for the market</a:t>
            </a:r>
          </a:p>
        </p:txBody>
      </p:sp>
      <p:sp>
        <p:nvSpPr>
          <p:cNvPr id="90" name="TextBox 89"/>
          <p:cNvSpPr txBox="1"/>
          <p:nvPr/>
        </p:nvSpPr>
        <p:spPr>
          <a:xfrm>
            <a:off x="190500" y="5586054"/>
            <a:ext cx="6191894" cy="186689"/>
          </a:xfrm>
          <a:prstGeom prst="rect">
            <a:avLst/>
          </a:prstGeom>
          <a:noFill/>
        </p:spPr>
        <p:txBody>
          <a:bodyPr wrap="none" lIns="0" rIns="0" tIns="0" bIns="0">
            <a:spAutoFit/>
          </a:bodyPr>
          <a:lstStyle/>
          <a:p>
            <a:r>
              <a:rPr sz="1100" b="0">
                <a:solidFill>
                  <a:srgbClr val="2E2E2E"/>
                </a:solidFill>
                <a:latin typeface="Calibri"/>
              </a:rPr>
              <a:t>as a whole underserve part of it, and margin is lost in the mismatch rather than in the headline growth rate.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Saudi Arabia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Online / E-commerce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691754" cy="186689"/>
          </a:xfrm>
          <a:prstGeom prst="rect">
            <a:avLst/>
          </a:prstGeom>
          <a:noFill/>
        </p:spPr>
        <p:txBody>
          <a:bodyPr wrap="none" lIns="0" rIns="0" tIns="0" bIns="0">
            <a:spAutoFit/>
          </a:bodyPr>
          <a:lstStyle/>
          <a:p>
            <a:r>
              <a:rPr sz="1100" b="0">
                <a:solidFill>
                  <a:srgbClr val="2E2E2E"/>
                </a:solidFill>
                <a:latin typeface="Calibri"/>
              </a:rPr>
              <a:t>'Saudi Arabia' compounds at</a:t>
            </a:r>
          </a:p>
        </p:txBody>
      </p:sp>
      <p:pic>
        <p:nvPicPr>
          <p:cNvPr id="73" name="Picture 72" descr="lock.png"/>
          <p:cNvPicPr>
            <a:picLocks noChangeAspect="1"/>
          </p:cNvPicPr>
          <p:nvPr/>
        </p:nvPicPr>
        <p:blipFill>
          <a:blip r:embed="rId4"/>
          <a:stretch>
            <a:fillRect/>
          </a:stretch>
        </p:blipFill>
        <p:spPr>
          <a:xfrm>
            <a:off x="1830305" y="3488640"/>
            <a:ext cx="128699" cy="187198"/>
          </a:xfrm>
          <a:prstGeom prst="rect">
            <a:avLst/>
          </a:prstGeom>
        </p:spPr>
      </p:pic>
      <p:sp>
        <p:nvSpPr>
          <p:cNvPr id="74" name="TextBox 73"/>
          <p:cNvSpPr txBox="1"/>
          <p:nvPr/>
        </p:nvSpPr>
        <p:spPr>
          <a:xfrm>
            <a:off x="199780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8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1862529" cy="186689"/>
          </a:xfrm>
          <a:prstGeom prst="rect">
            <a:avLst/>
          </a:prstGeom>
          <a:noFill/>
        </p:spPr>
        <p:txBody>
          <a:bodyPr wrap="none" lIns="0" rIns="0" tIns="0" bIns="0">
            <a:spAutoFit/>
          </a:bodyPr>
          <a:lstStyle/>
          <a:p>
            <a:r>
              <a:rPr sz="1100" b="0">
                <a:solidFill>
                  <a:srgbClr val="2E2E2E"/>
                </a:solidFill>
                <a:latin typeface="Calibri"/>
              </a:rPr>
              <a:t>'Online / E-commerce' grows at</a:t>
            </a:r>
          </a:p>
        </p:txBody>
      </p:sp>
      <p:pic>
        <p:nvPicPr>
          <p:cNvPr id="82" name="Picture 81" descr="lock.png"/>
          <p:cNvPicPr>
            <a:picLocks noChangeAspect="1"/>
          </p:cNvPicPr>
          <p:nvPr/>
        </p:nvPicPr>
        <p:blipFill>
          <a:blip r:embed="rId4"/>
          <a:stretch>
            <a:fillRect/>
          </a:stretch>
        </p:blipFill>
        <p:spPr>
          <a:xfrm>
            <a:off x="2001080" y="5240995"/>
            <a:ext cx="128699" cy="187198"/>
          </a:xfrm>
          <a:prstGeom prst="rect">
            <a:avLst/>
          </a:prstGeom>
        </p:spPr>
      </p:pic>
      <p:sp>
        <p:nvSpPr>
          <p:cNvPr id="83" name="TextBox 82"/>
          <p:cNvSpPr txBox="1"/>
          <p:nvPr/>
        </p:nvSpPr>
        <p:spPr>
          <a:xfrm>
            <a:off x="2168576" y="5250774"/>
            <a:ext cx="3467182" cy="186689"/>
          </a:xfrm>
          <a:prstGeom prst="rect">
            <a:avLst/>
          </a:prstGeom>
          <a:noFill/>
        </p:spPr>
        <p:txBody>
          <a:bodyPr wrap="none" lIns="0" rIns="0" tIns="0" bIns="0">
            <a:spAutoFit/>
          </a:bodyPr>
          <a:lstStyle/>
          <a:p>
            <a:r>
              <a:rPr sz="1100" b="0">
                <a:solidFill>
                  <a:srgbClr val="2E2E2E"/>
                </a:solidFill>
                <a:latin typeface="Calibri"/>
              </a:rPr>
              <a:t>CAGR, the fastest of 6 distribution channel routes, and adds</a:t>
            </a:r>
          </a:p>
        </p:txBody>
      </p:sp>
      <p:pic>
        <p:nvPicPr>
          <p:cNvPr id="84" name="Picture 83" descr="lock.png"/>
          <p:cNvPicPr>
            <a:picLocks noChangeAspect="1"/>
          </p:cNvPicPr>
          <p:nvPr/>
        </p:nvPicPr>
        <p:blipFill>
          <a:blip r:embed="rId4"/>
          <a:stretch>
            <a:fillRect/>
          </a:stretch>
        </p:blipFill>
        <p:spPr>
          <a:xfrm>
            <a:off x="5583810" y="5240995"/>
            <a:ext cx="128699" cy="187198"/>
          </a:xfrm>
          <a:prstGeom prst="rect">
            <a:avLst/>
          </a:prstGeom>
        </p:spPr>
      </p:pic>
      <p:sp>
        <p:nvSpPr>
          <p:cNvPr id="85" name="TextBox 84"/>
          <p:cNvSpPr txBox="1"/>
          <p:nvPr/>
        </p:nvSpPr>
        <p:spPr>
          <a:xfrm>
            <a:off x="5751306" y="5250774"/>
            <a:ext cx="3250009" cy="186689"/>
          </a:xfrm>
          <a:prstGeom prst="rect">
            <a:avLst/>
          </a:prstGeom>
          <a:noFill/>
        </p:spPr>
        <p:txBody>
          <a:bodyPr wrap="none" lIns="0" rIns="0" tIns="0" bIns="0">
            <a:spAutoFit/>
          </a:bodyPr>
          <a:lstStyle/>
          <a:p>
            <a:r>
              <a:rPr sz="1100" b="0">
                <a:solidFill>
                  <a:srgbClr val="2E2E2E"/>
                </a:solidFill>
                <a:latin typeface="Calibri"/>
              </a:rPr>
              <a:t>US$ Mn over the forecast period while 'Supermarkets &amp;</a:t>
            </a:r>
          </a:p>
        </p:txBody>
      </p:sp>
      <p:sp>
        <p:nvSpPr>
          <p:cNvPr id="86" name="TextBox 85"/>
          <p:cNvSpPr txBox="1"/>
          <p:nvPr/>
        </p:nvSpPr>
        <p:spPr>
          <a:xfrm>
            <a:off x="190500" y="5418414"/>
            <a:ext cx="1552599" cy="186689"/>
          </a:xfrm>
          <a:prstGeom prst="rect">
            <a:avLst/>
          </a:prstGeom>
          <a:noFill/>
        </p:spPr>
        <p:txBody>
          <a:bodyPr wrap="none" lIns="0" rIns="0" tIns="0" bIns="0">
            <a:spAutoFit/>
          </a:bodyPr>
          <a:lstStyle/>
          <a:p>
            <a:r>
              <a:rPr sz="1100" b="0">
                <a:solidFill>
                  <a:srgbClr val="2E2E2E"/>
                </a:solidFill>
                <a:latin typeface="Calibri"/>
              </a:rPr>
              <a:t>Hypermarkets' still carries</a:t>
            </a:r>
          </a:p>
        </p:txBody>
      </p:sp>
      <p:pic>
        <p:nvPicPr>
          <p:cNvPr id="87" name="Picture 86" descr="lock.png"/>
          <p:cNvPicPr>
            <a:picLocks noChangeAspect="1"/>
          </p:cNvPicPr>
          <p:nvPr/>
        </p:nvPicPr>
        <p:blipFill>
          <a:blip r:embed="rId4"/>
          <a:stretch>
            <a:fillRect/>
          </a:stretch>
        </p:blipFill>
        <p:spPr>
          <a:xfrm>
            <a:off x="1691151" y="5408635"/>
            <a:ext cx="128699" cy="187198"/>
          </a:xfrm>
          <a:prstGeom prst="rect">
            <a:avLst/>
          </a:prstGeom>
        </p:spPr>
      </p:pic>
      <p:sp>
        <p:nvSpPr>
          <p:cNvPr id="88" name="TextBox 87"/>
          <p:cNvSpPr txBox="1"/>
          <p:nvPr/>
        </p:nvSpPr>
        <p:spPr>
          <a:xfrm>
            <a:off x="1858647" y="5418414"/>
            <a:ext cx="7499945"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'Flower Bulbs, Corms,</a:t>
            </a:r>
          </a:p>
        </p:txBody>
      </p:sp>
      <p:sp>
        <p:nvSpPr>
          <p:cNvPr id="89" name="TextBox 88"/>
          <p:cNvSpPr txBox="1"/>
          <p:nvPr/>
        </p:nvSpPr>
        <p:spPr>
          <a:xfrm>
            <a:off x="190500" y="5586054"/>
            <a:ext cx="1344959" cy="186689"/>
          </a:xfrm>
          <a:prstGeom prst="rect">
            <a:avLst/>
          </a:prstGeom>
          <a:noFill/>
        </p:spPr>
        <p:txBody>
          <a:bodyPr wrap="none" lIns="0" rIns="0" tIns="0" bIns="0">
            <a:spAutoFit/>
          </a:bodyPr>
          <a:lstStyle/>
          <a:p>
            <a:r>
              <a:rPr sz="1100" b="0">
                <a:solidFill>
                  <a:srgbClr val="2E2E2E"/>
                </a:solidFill>
                <a:latin typeface="Calibri"/>
              </a:rPr>
              <a:t>Rhizomes &amp; Tubers' at</a:t>
            </a:r>
          </a:p>
        </p:txBody>
      </p:sp>
      <p:pic>
        <p:nvPicPr>
          <p:cNvPr id="90" name="Picture 89" descr="lock.png"/>
          <p:cNvPicPr>
            <a:picLocks noChangeAspect="1"/>
          </p:cNvPicPr>
          <p:nvPr/>
        </p:nvPicPr>
        <p:blipFill>
          <a:blip r:embed="rId4"/>
          <a:stretch>
            <a:fillRect/>
          </a:stretch>
        </p:blipFill>
        <p:spPr>
          <a:xfrm>
            <a:off x="1483511" y="5576275"/>
            <a:ext cx="128699" cy="187198"/>
          </a:xfrm>
          <a:prstGeom prst="rect">
            <a:avLst/>
          </a:prstGeom>
        </p:spPr>
      </p:pic>
      <p:sp>
        <p:nvSpPr>
          <p:cNvPr id="91" name="TextBox 90"/>
          <p:cNvSpPr txBox="1"/>
          <p:nvPr/>
        </p:nvSpPr>
        <p:spPr>
          <a:xfrm>
            <a:off x="1651007" y="5586054"/>
            <a:ext cx="3137594" cy="186689"/>
          </a:xfrm>
          <a:prstGeom prst="rect">
            <a:avLst/>
          </a:prstGeom>
          <a:noFill/>
        </p:spPr>
        <p:txBody>
          <a:bodyPr wrap="none" lIns="0" rIns="0" tIns="0" bIns="0">
            <a:spAutoFit/>
          </a:bodyPr>
          <a:lstStyle/>
          <a:p>
            <a:r>
              <a:rPr sz="1100" b="0">
                <a:solidFill>
                  <a:srgbClr val="2E2E2E"/>
                </a:solidFill>
                <a:latin typeface="Calibri"/>
              </a:rPr>
              <a:t>is the highest-yield combination the dataset supports.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Floriculture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2023</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5247009"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'Cut Flowers'</a:t>
            </a:r>
          </a:p>
        </p:txBody>
      </p:sp>
      <p:pic>
        <p:nvPicPr>
          <p:cNvPr id="39" name="Picture 38" descr="lock.png"/>
          <p:cNvPicPr>
            <a:picLocks noChangeAspect="1"/>
          </p:cNvPicPr>
          <p:nvPr/>
        </p:nvPicPr>
        <p:blipFill>
          <a:blip r:embed="rId4"/>
          <a:stretch>
            <a:fillRect/>
          </a:stretch>
        </p:blipFill>
        <p:spPr>
          <a:xfrm>
            <a:off x="1729607" y="1955800"/>
            <a:ext cx="128699" cy="187198"/>
          </a:xfrm>
          <a:prstGeom prst="rect">
            <a:avLst/>
          </a:prstGeom>
        </p:spPr>
      </p:pic>
      <p:sp>
        <p:nvSpPr>
          <p:cNvPr id="40" name="TextBox 39"/>
          <p:cNvSpPr txBox="1"/>
          <p:nvPr/>
        </p:nvSpPr>
        <p:spPr>
          <a:xfrm>
            <a:off x="1897103" y="1965579"/>
            <a:ext cx="7504310" cy="186689"/>
          </a:xfrm>
          <a:prstGeom prst="rect">
            <a:avLst/>
          </a:prstGeom>
          <a:noFill/>
        </p:spPr>
        <p:txBody>
          <a:bodyPr wrap="none" lIns="0" rIns="0" tIns="0" bIns="0">
            <a:spAutoFit/>
          </a:bodyPr>
          <a:lstStyle/>
          <a:p>
            <a:r>
              <a:rPr sz="1100" b="0">
                <a:solidFill>
                  <a:srgbClr val="2E2E2E"/>
                </a:solidFill>
                <a:latin typeface="Calibri"/>
              </a:rPr>
              <a:t>of product type value by 2036 set the pace, and the 6 distribution channel routes tracked here all carried volume through the year.</a:t>
            </a:r>
          </a:p>
        </p:txBody>
      </p:sp>
      <p:sp>
        <p:nvSpPr>
          <p:cNvPr id="41" name="TextBox 40"/>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2" name="Picture 41" descr="lock.png"/>
          <p:cNvPicPr>
            <a:picLocks noChangeAspect="1"/>
          </p:cNvPicPr>
          <p:nvPr/>
        </p:nvPicPr>
        <p:blipFill>
          <a:blip r:embed="rId4"/>
          <a:stretch>
            <a:fillRect/>
          </a:stretch>
        </p:blipFill>
        <p:spPr>
          <a:xfrm>
            <a:off x="5030621" y="2936114"/>
            <a:ext cx="123551" cy="179710"/>
          </a:xfrm>
          <a:prstGeom prst="rect">
            <a:avLst/>
          </a:prstGeom>
        </p:spPr>
      </p:pic>
      <p:sp>
        <p:nvSpPr>
          <p:cNvPr id="43" name="TextBox 42"/>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4" name="Picture 43" descr="lock.png"/>
          <p:cNvPicPr>
            <a:picLocks noChangeAspect="1"/>
          </p:cNvPicPr>
          <p:nvPr/>
        </p:nvPicPr>
        <p:blipFill>
          <a:blip r:embed="rId4"/>
          <a:stretch>
            <a:fillRect/>
          </a:stretch>
        </p:blipFill>
        <p:spPr>
          <a:xfrm>
            <a:off x="6964179" y="2936114"/>
            <a:ext cx="123551" cy="179710"/>
          </a:xfrm>
          <a:prstGeom prst="rect">
            <a:avLst/>
          </a:prstGeom>
        </p:spPr>
      </p:pic>
      <p:sp>
        <p:nvSpPr>
          <p:cNvPr id="45" name="TextBox 44"/>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6" name="Picture 45" descr="lock.png"/>
          <p:cNvPicPr>
            <a:picLocks noChangeAspect="1"/>
          </p:cNvPicPr>
          <p:nvPr/>
        </p:nvPicPr>
        <p:blipFill>
          <a:blip r:embed="rId4"/>
          <a:stretch>
            <a:fillRect/>
          </a:stretch>
        </p:blipFill>
        <p:spPr>
          <a:xfrm>
            <a:off x="9382846" y="2936114"/>
            <a:ext cx="123551" cy="179710"/>
          </a:xfrm>
          <a:prstGeom prst="rect">
            <a:avLst/>
          </a:prstGeom>
        </p:spPr>
      </p:pic>
      <p:sp>
        <p:nvSpPr>
          <p:cNvPr id="47" name="TextBox 46"/>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8" name="TextBox 47"/>
          <p:cNvSpPr txBox="1"/>
          <p:nvPr/>
        </p:nvSpPr>
        <p:spPr>
          <a:xfrm>
            <a:off x="1743075" y="3106436"/>
            <a:ext cx="4153519" cy="179984"/>
          </a:xfrm>
          <a:prstGeom prst="rect">
            <a:avLst/>
          </a:prstGeom>
          <a:noFill/>
        </p:spPr>
        <p:txBody>
          <a:bodyPr wrap="none" lIns="0" rIns="0" tIns="0" bIns="0">
            <a:spAutoFit/>
          </a:bodyPr>
          <a:lstStyle/>
          <a:p>
            <a:r>
              <a:rPr sz="1055" b="0">
                <a:solidFill>
                  <a:srgbClr val="2E2E2E"/>
                </a:solidFill>
                <a:latin typeface="Calibri"/>
              </a:rPr>
              <a:t>forecast is built from 7 segment breakdowns covering 7 product type lines.</a:t>
            </a:r>
          </a:p>
        </p:txBody>
      </p:sp>
      <p:sp>
        <p:nvSpPr>
          <p:cNvPr id="49" name="TextBox 48"/>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50" name="Picture 49" descr="lock.png"/>
          <p:cNvPicPr>
            <a:picLocks noChangeAspect="1"/>
          </p:cNvPicPr>
          <p:nvPr/>
        </p:nvPicPr>
        <p:blipFill>
          <a:blip r:embed="rId4"/>
          <a:stretch>
            <a:fillRect/>
          </a:stretch>
        </p:blipFill>
        <p:spPr>
          <a:xfrm>
            <a:off x="2779530" y="3921813"/>
            <a:ext cx="123551" cy="179710"/>
          </a:xfrm>
          <a:prstGeom prst="rect">
            <a:avLst/>
          </a:prstGeom>
        </p:spPr>
      </p:pic>
      <p:sp>
        <p:nvSpPr>
          <p:cNvPr id="51" name="TextBox 50"/>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2" name="Picture 51" descr="lock.png"/>
          <p:cNvPicPr>
            <a:picLocks noChangeAspect="1"/>
          </p:cNvPicPr>
          <p:nvPr/>
        </p:nvPicPr>
        <p:blipFill>
          <a:blip r:embed="rId4"/>
          <a:stretch>
            <a:fillRect/>
          </a:stretch>
        </p:blipFill>
        <p:spPr>
          <a:xfrm>
            <a:off x="5832609" y="3921813"/>
            <a:ext cx="123551" cy="179710"/>
          </a:xfrm>
          <a:prstGeom prst="rect">
            <a:avLst/>
          </a:prstGeom>
        </p:spPr>
      </p:pic>
      <p:sp>
        <p:nvSpPr>
          <p:cNvPr id="53" name="TextBox 52"/>
          <p:cNvSpPr txBox="1"/>
          <p:nvPr/>
        </p:nvSpPr>
        <p:spPr>
          <a:xfrm>
            <a:off x="5993405" y="3931201"/>
            <a:ext cx="4622911" cy="179984"/>
          </a:xfrm>
          <a:prstGeom prst="rect">
            <a:avLst/>
          </a:prstGeom>
          <a:noFill/>
        </p:spPr>
        <p:txBody>
          <a:bodyPr wrap="none" lIns="0" rIns="0" tIns="0" bIns="0">
            <a:spAutoFit/>
          </a:bodyPr>
          <a:lstStyle/>
          <a:p>
            <a:r>
              <a:rPr sz="1055" b="0">
                <a:solidFill>
                  <a:srgbClr val="2E2E2E"/>
                </a:solidFill>
                <a:latin typeface="Calibri"/>
              </a:rPr>
              <a:t>US$ Mn. Growth by this point is led by 'Flower Bulbs, Corms, Rhizomes &amp; Tubers' at</a:t>
            </a:r>
          </a:p>
        </p:txBody>
      </p:sp>
      <p:pic>
        <p:nvPicPr>
          <p:cNvPr id="54" name="Picture 53" descr="lock.png"/>
          <p:cNvPicPr>
            <a:picLocks noChangeAspect="1"/>
          </p:cNvPicPr>
          <p:nvPr/>
        </p:nvPicPr>
        <p:blipFill>
          <a:blip r:embed="rId4"/>
          <a:stretch>
            <a:fillRect/>
          </a:stretch>
        </p:blipFill>
        <p:spPr>
          <a:xfrm>
            <a:off x="10563398" y="3921813"/>
            <a:ext cx="123551" cy="179710"/>
          </a:xfrm>
          <a:prstGeom prst="rect">
            <a:avLst/>
          </a:prstGeom>
        </p:spPr>
      </p:pic>
      <p:sp>
        <p:nvSpPr>
          <p:cNvPr id="55" name="TextBox 54"/>
          <p:cNvSpPr txBox="1"/>
          <p:nvPr/>
        </p:nvSpPr>
        <p:spPr>
          <a:xfrm>
            <a:off x="10724194" y="3931201"/>
            <a:ext cx="779747" cy="179984"/>
          </a:xfrm>
          <a:prstGeom prst="rect">
            <a:avLst/>
          </a:prstGeom>
          <a:noFill/>
        </p:spPr>
        <p:txBody>
          <a:bodyPr wrap="none" lIns="0" rIns="0" tIns="0" bIns="0">
            <a:spAutoFit/>
          </a:bodyPr>
          <a:lstStyle/>
          <a:p>
            <a:r>
              <a:rPr sz="1055" b="0">
                <a:solidFill>
                  <a:srgbClr val="2E2E2E"/>
                </a:solidFill>
                <a:latin typeface="Calibri"/>
              </a:rPr>
              <a:t>CAGR and by</a:t>
            </a:r>
          </a:p>
        </p:txBody>
      </p:sp>
      <p:sp>
        <p:nvSpPr>
          <p:cNvPr id="56" name="TextBox 55"/>
          <p:cNvSpPr txBox="1"/>
          <p:nvPr/>
        </p:nvSpPr>
        <p:spPr>
          <a:xfrm>
            <a:off x="1743075" y="4092135"/>
            <a:ext cx="2188463" cy="179984"/>
          </a:xfrm>
          <a:prstGeom prst="rect">
            <a:avLst/>
          </a:prstGeom>
          <a:noFill/>
        </p:spPr>
        <p:txBody>
          <a:bodyPr wrap="none" lIns="0" rIns="0" tIns="0" bIns="0">
            <a:spAutoFit/>
          </a:bodyPr>
          <a:lstStyle/>
          <a:p>
            <a:r>
              <a:rPr sz="1055" b="0">
                <a:solidFill>
                  <a:srgbClr val="2E2E2E"/>
                </a:solidFill>
                <a:latin typeface="Calibri"/>
              </a:rPr>
              <a:t>'South Asia &amp; Pacific' among regions at</a:t>
            </a:r>
          </a:p>
        </p:txBody>
      </p:sp>
      <p:pic>
        <p:nvPicPr>
          <p:cNvPr id="57" name="Picture 56" descr="lock.png"/>
          <p:cNvPicPr>
            <a:picLocks noChangeAspect="1"/>
          </p:cNvPicPr>
          <p:nvPr/>
        </p:nvPicPr>
        <p:blipFill>
          <a:blip r:embed="rId4"/>
          <a:stretch>
            <a:fillRect/>
          </a:stretch>
        </p:blipFill>
        <p:spPr>
          <a:xfrm>
            <a:off x="3878620" y="4082747"/>
            <a:ext cx="123551" cy="179710"/>
          </a:xfrm>
          <a:prstGeom prst="rect">
            <a:avLst/>
          </a:prstGeom>
        </p:spPr>
      </p:pic>
      <p:sp>
        <p:nvSpPr>
          <p:cNvPr id="58" name="TextBox 57"/>
          <p:cNvSpPr txBox="1"/>
          <p:nvPr/>
        </p:nvSpPr>
        <p:spPr>
          <a:xfrm>
            <a:off x="4039416"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59" name="TextBox 58"/>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60" name="Picture 59" descr="lock.png"/>
          <p:cNvPicPr>
            <a:picLocks noChangeAspect="1"/>
          </p:cNvPicPr>
          <p:nvPr/>
        </p:nvPicPr>
        <p:blipFill>
          <a:blip r:embed="rId4"/>
          <a:stretch>
            <a:fillRect/>
          </a:stretch>
        </p:blipFill>
        <p:spPr>
          <a:xfrm>
            <a:off x="3880454" y="4907513"/>
            <a:ext cx="123551" cy="179710"/>
          </a:xfrm>
          <a:prstGeom prst="rect">
            <a:avLst/>
          </a:prstGeom>
        </p:spPr>
      </p:pic>
      <p:sp>
        <p:nvSpPr>
          <p:cNvPr id="61" name="TextBox 60"/>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2" name="Picture 61" descr="lock.png"/>
          <p:cNvPicPr>
            <a:picLocks noChangeAspect="1"/>
          </p:cNvPicPr>
          <p:nvPr/>
        </p:nvPicPr>
        <p:blipFill>
          <a:blip r:embed="rId4"/>
          <a:stretch>
            <a:fillRect/>
          </a:stretch>
        </p:blipFill>
        <p:spPr>
          <a:xfrm>
            <a:off x="4529470" y="4907513"/>
            <a:ext cx="123551" cy="179710"/>
          </a:xfrm>
          <a:prstGeom prst="rect">
            <a:avLst/>
          </a:prstGeom>
        </p:spPr>
      </p:pic>
      <p:sp>
        <p:nvSpPr>
          <p:cNvPr id="63" name="TextBox 62"/>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4" name="Picture 63" descr="lock.png"/>
          <p:cNvPicPr>
            <a:picLocks noChangeAspect="1"/>
          </p:cNvPicPr>
          <p:nvPr/>
        </p:nvPicPr>
        <p:blipFill>
          <a:blip r:embed="rId4"/>
          <a:stretch>
            <a:fillRect/>
          </a:stretch>
        </p:blipFill>
        <p:spPr>
          <a:xfrm>
            <a:off x="7218681" y="4907513"/>
            <a:ext cx="123551" cy="179710"/>
          </a:xfrm>
          <a:prstGeom prst="rect">
            <a:avLst/>
          </a:prstGeom>
        </p:spPr>
      </p:pic>
      <p:sp>
        <p:nvSpPr>
          <p:cNvPr id="65" name="TextBox 64"/>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6" name="Picture 65" descr="lock.png"/>
          <p:cNvPicPr>
            <a:picLocks noChangeAspect="1"/>
          </p:cNvPicPr>
          <p:nvPr/>
        </p:nvPicPr>
        <p:blipFill>
          <a:blip r:embed="rId4"/>
          <a:stretch>
            <a:fillRect/>
          </a:stretch>
        </p:blipFill>
        <p:spPr>
          <a:xfrm>
            <a:off x="9171623" y="4907513"/>
            <a:ext cx="123551" cy="179710"/>
          </a:xfrm>
          <a:prstGeom prst="rect">
            <a:avLst/>
          </a:prstGeom>
        </p:spPr>
      </p:pic>
      <p:sp>
        <p:nvSpPr>
          <p:cNvPr id="67" name="TextBox 66"/>
          <p:cNvSpPr txBox="1"/>
          <p:nvPr/>
        </p:nvSpPr>
        <p:spPr>
          <a:xfrm>
            <a:off x="9332419" y="4916901"/>
            <a:ext cx="2266521" cy="179984"/>
          </a:xfrm>
          <a:prstGeom prst="rect">
            <a:avLst/>
          </a:prstGeom>
          <a:noFill/>
        </p:spPr>
        <p:txBody>
          <a:bodyPr wrap="none" lIns="0" rIns="0" tIns="0" bIns="0">
            <a:spAutoFit/>
          </a:bodyPr>
          <a:lstStyle/>
          <a:p>
            <a:r>
              <a:rPr sz="1055" b="0">
                <a:solidFill>
                  <a:srgbClr val="2E2E2E"/>
                </a:solidFill>
                <a:latin typeface="Calibri"/>
              </a:rPr>
              <a:t>BPS toward 'Cut Flowers' while 'Bedding</a:t>
            </a:r>
          </a:p>
        </p:txBody>
      </p:sp>
      <p:sp>
        <p:nvSpPr>
          <p:cNvPr id="68" name="TextBox 67"/>
          <p:cNvSpPr txBox="1"/>
          <p:nvPr/>
        </p:nvSpPr>
        <p:spPr>
          <a:xfrm>
            <a:off x="1743075" y="5077835"/>
            <a:ext cx="2036802" cy="179984"/>
          </a:xfrm>
          <a:prstGeom prst="rect">
            <a:avLst/>
          </a:prstGeom>
          <a:noFill/>
        </p:spPr>
        <p:txBody>
          <a:bodyPr wrap="none" lIns="0" rIns="0" tIns="0" bIns="0">
            <a:spAutoFit/>
          </a:bodyPr>
          <a:lstStyle/>
          <a:p>
            <a:r>
              <a:rPr sz="1055" b="0">
                <a:solidFill>
                  <a:srgbClr val="2E2E2E"/>
                </a:solidFill>
                <a:latin typeface="Calibri"/>
              </a:rPr>
              <a:t>&amp; Garden Flowering Plants' gives up</a:t>
            </a:r>
          </a:p>
        </p:txBody>
      </p:sp>
      <p:pic>
        <p:nvPicPr>
          <p:cNvPr id="69" name="Picture 68" descr="lock.png"/>
          <p:cNvPicPr>
            <a:picLocks noChangeAspect="1"/>
          </p:cNvPicPr>
          <p:nvPr/>
        </p:nvPicPr>
        <p:blipFill>
          <a:blip r:embed="rId4"/>
          <a:stretch>
            <a:fillRect/>
          </a:stretch>
        </p:blipFill>
        <p:spPr>
          <a:xfrm>
            <a:off x="3726958" y="5068447"/>
            <a:ext cx="123551" cy="179710"/>
          </a:xfrm>
          <a:prstGeom prst="rect">
            <a:avLst/>
          </a:prstGeom>
        </p:spPr>
      </p:pic>
      <p:sp>
        <p:nvSpPr>
          <p:cNvPr id="70" name="TextBox 69"/>
          <p:cNvSpPr txBox="1"/>
          <p:nvPr/>
        </p:nvSpPr>
        <p:spPr>
          <a:xfrm>
            <a:off x="3887754"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1" name="TextBox 70"/>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2" name="Picture 71" descr="lock.png"/>
          <p:cNvPicPr>
            <a:picLocks noChangeAspect="1"/>
          </p:cNvPicPr>
          <p:nvPr/>
        </p:nvPicPr>
        <p:blipFill>
          <a:blip r:embed="rId4"/>
          <a:stretch>
            <a:fillRect/>
          </a:stretch>
        </p:blipFill>
        <p:spPr>
          <a:xfrm>
            <a:off x="4234303" y="5893213"/>
            <a:ext cx="123551" cy="179710"/>
          </a:xfrm>
          <a:prstGeom prst="rect">
            <a:avLst/>
          </a:prstGeom>
        </p:spPr>
      </p:pic>
      <p:sp>
        <p:nvSpPr>
          <p:cNvPr id="73" name="TextBox 72"/>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4" name="Picture 73" descr="lock.png"/>
          <p:cNvPicPr>
            <a:picLocks noChangeAspect="1"/>
          </p:cNvPicPr>
          <p:nvPr/>
        </p:nvPicPr>
        <p:blipFill>
          <a:blip r:embed="rId4"/>
          <a:stretch>
            <a:fillRect/>
          </a:stretch>
        </p:blipFill>
        <p:spPr>
          <a:xfrm>
            <a:off x="4977879" y="5893213"/>
            <a:ext cx="123551" cy="179710"/>
          </a:xfrm>
          <a:prstGeom prst="rect">
            <a:avLst/>
          </a:prstGeom>
        </p:spPr>
      </p:pic>
      <p:sp>
        <p:nvSpPr>
          <p:cNvPr id="75" name="TextBox 74"/>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6" name="Picture 75" descr="lock.png"/>
          <p:cNvPicPr>
            <a:picLocks noChangeAspect="1"/>
          </p:cNvPicPr>
          <p:nvPr/>
        </p:nvPicPr>
        <p:blipFill>
          <a:blip r:embed="rId4"/>
          <a:stretch>
            <a:fillRect/>
          </a:stretch>
        </p:blipFill>
        <p:spPr>
          <a:xfrm>
            <a:off x="6523507" y="5893213"/>
            <a:ext cx="123551" cy="179710"/>
          </a:xfrm>
          <a:prstGeom prst="rect">
            <a:avLst/>
          </a:prstGeom>
        </p:spPr>
      </p:pic>
      <p:sp>
        <p:nvSpPr>
          <p:cNvPr id="77" name="TextBox 76"/>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8" name="Picture 77" descr="lock.png"/>
          <p:cNvPicPr>
            <a:picLocks noChangeAspect="1"/>
          </p:cNvPicPr>
          <p:nvPr/>
        </p:nvPicPr>
        <p:blipFill>
          <a:blip r:embed="rId4"/>
          <a:stretch>
            <a:fillRect/>
          </a:stretch>
        </p:blipFill>
        <p:spPr>
          <a:xfrm>
            <a:off x="8430610" y="5893213"/>
            <a:ext cx="123551" cy="179710"/>
          </a:xfrm>
          <a:prstGeom prst="rect">
            <a:avLst/>
          </a:prstGeom>
        </p:spPr>
      </p:pic>
      <p:sp>
        <p:nvSpPr>
          <p:cNvPr id="79" name="TextBox 78"/>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80" name="Picture 79" descr="lock.png"/>
          <p:cNvPicPr>
            <a:picLocks noChangeAspect="1"/>
          </p:cNvPicPr>
          <p:nvPr/>
        </p:nvPicPr>
        <p:blipFill>
          <a:blip r:embed="rId4"/>
          <a:stretch>
            <a:fillRect/>
          </a:stretch>
        </p:blipFill>
        <p:spPr>
          <a:xfrm>
            <a:off x="10217204" y="5893213"/>
            <a:ext cx="123551" cy="179710"/>
          </a:xfrm>
          <a:prstGeom prst="rect">
            <a:avLst/>
          </a:prstGeom>
        </p:spPr>
      </p:pic>
      <p:sp>
        <p:nvSpPr>
          <p:cNvPr id="81" name="TextBox 80"/>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2" name="TextBox 81"/>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3" name="Picture 82" descr="lock.png"/>
          <p:cNvPicPr>
            <a:picLocks noChangeAspect="1"/>
          </p:cNvPicPr>
          <p:nvPr/>
        </p:nvPicPr>
        <p:blipFill>
          <a:blip r:embed="rId4"/>
          <a:stretch>
            <a:fillRect/>
          </a:stretch>
        </p:blipFill>
        <p:spPr>
          <a:xfrm>
            <a:off x="3255209" y="6054147"/>
            <a:ext cx="123551" cy="179710"/>
          </a:xfrm>
          <a:prstGeom prst="rect">
            <a:avLst/>
          </a:prstGeom>
        </p:spPr>
      </p:pic>
      <p:sp>
        <p:nvSpPr>
          <p:cNvPr id="84" name="TextBox 83"/>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Floriculture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7 product type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403737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721889"/>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7 comparable product type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480637"/>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171450" y="1069470"/>
            <a:ext cx="10389716"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7 product type lines, 6 distribution channel routes and 6 regions at</a:t>
            </a:r>
          </a:p>
        </p:txBody>
      </p:sp>
      <p:pic>
        <p:nvPicPr>
          <p:cNvPr id="58" name="Picture 57" descr="lock.png"/>
          <p:cNvPicPr>
            <a:picLocks noChangeAspect="1"/>
          </p:cNvPicPr>
          <p:nvPr/>
        </p:nvPicPr>
        <p:blipFill>
          <a:blip r:embed="rId4"/>
          <a:stretch>
            <a:fillRect/>
          </a:stretch>
        </p:blipFill>
        <p:spPr>
          <a:xfrm>
            <a:off x="10509217" y="1059691"/>
            <a:ext cx="128699" cy="187198"/>
          </a:xfrm>
          <a:prstGeom prst="rect">
            <a:avLst/>
          </a:prstGeom>
        </p:spPr>
      </p:pic>
      <p:sp>
        <p:nvSpPr>
          <p:cNvPr id="59" name="TextBox 58"/>
          <p:cNvSpPr txBox="1"/>
          <p:nvPr/>
        </p:nvSpPr>
        <p:spPr>
          <a:xfrm>
            <a:off x="10676713"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60" name="TextBox 59"/>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61" name="TextBox 60"/>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2" name="Picture 61" descr="lock.png"/>
          <p:cNvPicPr>
            <a:picLocks noChangeAspect="1"/>
          </p:cNvPicPr>
          <p:nvPr/>
        </p:nvPicPr>
        <p:blipFill>
          <a:blip r:embed="rId4"/>
          <a:stretch>
            <a:fillRect/>
          </a:stretch>
        </p:blipFill>
        <p:spPr>
          <a:xfrm>
            <a:off x="1295293" y="3006595"/>
            <a:ext cx="128699" cy="187198"/>
          </a:xfrm>
          <a:prstGeom prst="rect">
            <a:avLst/>
          </a:prstGeom>
        </p:spPr>
      </p:pic>
      <p:sp>
        <p:nvSpPr>
          <p:cNvPr id="63" name="TextBox 62"/>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4" name="TextBox 63"/>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5" name="TextBox 64"/>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6" name="TextBox 65"/>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7" name="Picture 66" descr="lock.png"/>
          <p:cNvPicPr>
            <a:picLocks noChangeAspect="1"/>
          </p:cNvPicPr>
          <p:nvPr/>
        </p:nvPicPr>
        <p:blipFill>
          <a:blip r:embed="rId4"/>
          <a:stretch>
            <a:fillRect/>
          </a:stretch>
        </p:blipFill>
        <p:spPr>
          <a:xfrm>
            <a:off x="1900439" y="3789826"/>
            <a:ext cx="128699" cy="187198"/>
          </a:xfrm>
          <a:prstGeom prst="rect">
            <a:avLst/>
          </a:prstGeom>
        </p:spPr>
      </p:pic>
      <p:sp>
        <p:nvSpPr>
          <p:cNvPr id="68" name="TextBox 67"/>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9" name="TextBox 68"/>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70" name="TextBox 69"/>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71" name="TextBox 70"/>
          <p:cNvSpPr txBox="1"/>
          <p:nvPr/>
        </p:nvSpPr>
        <p:spPr>
          <a:xfrm>
            <a:off x="2657475" y="2952014"/>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72" name="TextBox 71"/>
          <p:cNvSpPr txBox="1"/>
          <p:nvPr/>
        </p:nvSpPr>
        <p:spPr>
          <a:xfrm>
            <a:off x="2657475" y="3119654"/>
            <a:ext cx="1545232" cy="186689"/>
          </a:xfrm>
          <a:prstGeom prst="rect">
            <a:avLst/>
          </a:prstGeom>
          <a:noFill/>
        </p:spPr>
        <p:txBody>
          <a:bodyPr wrap="none" lIns="0" rIns="0" tIns="0" bIns="0">
            <a:spAutoFit/>
          </a:bodyPr>
          <a:lstStyle/>
          <a:p>
            <a:r>
              <a:rPr sz="1100" b="0">
                <a:solidFill>
                  <a:srgbClr val="2E2E2E"/>
                </a:solidFill>
                <a:latin typeface="Calibri"/>
              </a:rPr>
              <a:t>Demand routes through 6</a:t>
            </a:r>
          </a:p>
        </p:txBody>
      </p:sp>
      <p:sp>
        <p:nvSpPr>
          <p:cNvPr id="73" name="TextBox 72"/>
          <p:cNvSpPr txBox="1"/>
          <p:nvPr/>
        </p:nvSpPr>
        <p:spPr>
          <a:xfrm>
            <a:off x="2657475" y="3287294"/>
            <a:ext cx="2114550" cy="186689"/>
          </a:xfrm>
          <a:prstGeom prst="rect">
            <a:avLst/>
          </a:prstGeom>
          <a:noFill/>
        </p:spPr>
        <p:txBody>
          <a:bodyPr wrap="none" lIns="0" rIns="0" tIns="0" bIns="0">
            <a:spAutoFit/>
          </a:bodyPr>
          <a:lstStyle/>
          <a:p>
            <a:r>
              <a:rPr sz="1100" b="0">
                <a:solidFill>
                  <a:srgbClr val="2E2E2E"/>
                </a:solidFill>
                <a:latin typeface="Calibri"/>
              </a:rPr>
              <a:t>distribution channel channels led by</a:t>
            </a:r>
          </a:p>
        </p:txBody>
      </p:sp>
      <p:sp>
        <p:nvSpPr>
          <p:cNvPr id="74" name="TextBox 73"/>
          <p:cNvSpPr txBox="1"/>
          <p:nvPr/>
        </p:nvSpPr>
        <p:spPr>
          <a:xfrm>
            <a:off x="2657475" y="3454934"/>
            <a:ext cx="2037184" cy="186689"/>
          </a:xfrm>
          <a:prstGeom prst="rect">
            <a:avLst/>
          </a:prstGeom>
          <a:noFill/>
        </p:spPr>
        <p:txBody>
          <a:bodyPr wrap="none" lIns="0" rIns="0" tIns="0" bIns="0">
            <a:spAutoFit/>
          </a:bodyPr>
          <a:lstStyle/>
          <a:p>
            <a:r>
              <a:rPr sz="1100" b="0">
                <a:solidFill>
                  <a:srgbClr val="2E2E2E"/>
                </a:solidFill>
                <a:latin typeface="Calibri"/>
              </a:rPr>
              <a:t>'Supermarkets &amp; Hypermarkets' at</a:t>
            </a:r>
          </a:p>
        </p:txBody>
      </p:sp>
      <p:pic>
        <p:nvPicPr>
          <p:cNvPr id="75" name="Picture 74" descr="lock.png"/>
          <p:cNvPicPr>
            <a:picLocks noChangeAspect="1"/>
          </p:cNvPicPr>
          <p:nvPr/>
        </p:nvPicPr>
        <p:blipFill>
          <a:blip r:embed="rId4"/>
          <a:stretch>
            <a:fillRect/>
          </a:stretch>
        </p:blipFill>
        <p:spPr>
          <a:xfrm>
            <a:off x="2644007" y="3612795"/>
            <a:ext cx="128699" cy="187198"/>
          </a:xfrm>
          <a:prstGeom prst="rect">
            <a:avLst/>
          </a:prstGeom>
        </p:spPr>
      </p:pic>
      <p:sp>
        <p:nvSpPr>
          <p:cNvPr id="76" name="TextBox 75"/>
          <p:cNvSpPr txBox="1"/>
          <p:nvPr/>
        </p:nvSpPr>
        <p:spPr>
          <a:xfrm>
            <a:off x="2811503" y="3622574"/>
            <a:ext cx="1553964" cy="186689"/>
          </a:xfrm>
          <a:prstGeom prst="rect">
            <a:avLst/>
          </a:prstGeom>
          <a:noFill/>
        </p:spPr>
        <p:txBody>
          <a:bodyPr wrap="none" lIns="0" rIns="0" tIns="0" bIns="0">
            <a:spAutoFit/>
          </a:bodyPr>
          <a:lstStyle/>
          <a:p>
            <a:r>
              <a:rPr sz="1100" b="0">
                <a:solidFill>
                  <a:srgbClr val="2E2E2E"/>
                </a:solidFill>
                <a:latin typeface="Calibri"/>
              </a:rPr>
              <a:t>, giving large buyers scale.</a:t>
            </a:r>
          </a:p>
        </p:txBody>
      </p:sp>
      <p:sp>
        <p:nvSpPr>
          <p:cNvPr id="77" name="TextBox 76"/>
          <p:cNvSpPr txBox="1"/>
          <p:nvPr/>
        </p:nvSpPr>
        <p:spPr>
          <a:xfrm>
            <a:off x="2657475" y="4082537"/>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8" name="TextBox 77"/>
          <p:cNvSpPr txBox="1"/>
          <p:nvPr/>
        </p:nvSpPr>
        <p:spPr>
          <a:xfrm>
            <a:off x="2657475" y="4250177"/>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9" name="Picture 78" descr="lock.png"/>
          <p:cNvPicPr>
            <a:picLocks noChangeAspect="1"/>
          </p:cNvPicPr>
          <p:nvPr/>
        </p:nvPicPr>
        <p:blipFill>
          <a:blip r:embed="rId4"/>
          <a:stretch>
            <a:fillRect/>
          </a:stretch>
        </p:blipFill>
        <p:spPr>
          <a:xfrm>
            <a:off x="3101372" y="4240398"/>
            <a:ext cx="128699" cy="187198"/>
          </a:xfrm>
          <a:prstGeom prst="rect">
            <a:avLst/>
          </a:prstGeom>
        </p:spPr>
      </p:pic>
      <p:sp>
        <p:nvSpPr>
          <p:cNvPr id="80" name="TextBox 79"/>
          <p:cNvSpPr txBox="1"/>
          <p:nvPr/>
        </p:nvSpPr>
        <p:spPr>
          <a:xfrm>
            <a:off x="3268868" y="4250177"/>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1" name="TextBox 80"/>
          <p:cNvSpPr txBox="1"/>
          <p:nvPr/>
        </p:nvSpPr>
        <p:spPr>
          <a:xfrm>
            <a:off x="2657475" y="4417817"/>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2" name="Picture 81" descr="lock.png"/>
          <p:cNvPicPr>
            <a:picLocks noChangeAspect="1"/>
          </p:cNvPicPr>
          <p:nvPr/>
        </p:nvPicPr>
        <p:blipFill>
          <a:blip r:embed="rId4"/>
          <a:stretch>
            <a:fillRect/>
          </a:stretch>
        </p:blipFill>
        <p:spPr>
          <a:xfrm>
            <a:off x="3238070" y="4408038"/>
            <a:ext cx="128699" cy="187198"/>
          </a:xfrm>
          <a:prstGeom prst="rect">
            <a:avLst/>
          </a:prstGeom>
        </p:spPr>
      </p:pic>
      <p:sp>
        <p:nvSpPr>
          <p:cNvPr id="83" name="TextBox 82"/>
          <p:cNvSpPr txBox="1"/>
          <p:nvPr/>
        </p:nvSpPr>
        <p:spPr>
          <a:xfrm>
            <a:off x="3405566" y="441781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4" name="TextBox 83"/>
          <p:cNvSpPr txBox="1"/>
          <p:nvPr/>
        </p:nvSpPr>
        <p:spPr>
          <a:xfrm>
            <a:off x="5038725" y="2841285"/>
            <a:ext cx="2114550" cy="186689"/>
          </a:xfrm>
          <a:prstGeom prst="rect">
            <a:avLst/>
          </a:prstGeom>
          <a:noFill/>
        </p:spPr>
        <p:txBody>
          <a:bodyPr wrap="none" lIns="0" rIns="0" tIns="0" bIns="0">
            <a:spAutoFit/>
          </a:bodyPr>
          <a:lstStyle/>
          <a:p>
            <a:r>
              <a:rPr sz="1100" b="0">
                <a:solidFill>
                  <a:srgbClr val="2E2E2E"/>
                </a:solidFill>
                <a:latin typeface="Calibri"/>
              </a:rPr>
              <a:t>▸ Assessed high. 7 product type lines</a:t>
            </a:r>
          </a:p>
        </p:txBody>
      </p:sp>
      <p:sp>
        <p:nvSpPr>
          <p:cNvPr id="85" name="TextBox 84"/>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6" name="TextBox 85"/>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7" name="Picture 86" descr="lock.png"/>
          <p:cNvPicPr>
            <a:picLocks noChangeAspect="1"/>
          </p:cNvPicPr>
          <p:nvPr/>
        </p:nvPicPr>
        <p:blipFill>
          <a:blip r:embed="rId4"/>
          <a:stretch>
            <a:fillRect/>
          </a:stretch>
        </p:blipFill>
        <p:spPr>
          <a:xfrm>
            <a:off x="5762295" y="3166786"/>
            <a:ext cx="128699" cy="187198"/>
          </a:xfrm>
          <a:prstGeom prst="rect">
            <a:avLst/>
          </a:prstGeom>
        </p:spPr>
      </p:pic>
      <p:sp>
        <p:nvSpPr>
          <p:cNvPr id="88" name="TextBox 87"/>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9" name="TextBox 88"/>
          <p:cNvSpPr txBox="1"/>
          <p:nvPr/>
        </p:nvSpPr>
        <p:spPr>
          <a:xfrm>
            <a:off x="5038725" y="3629080"/>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90" name="TextBox 89"/>
          <p:cNvSpPr txBox="1"/>
          <p:nvPr/>
        </p:nvSpPr>
        <p:spPr>
          <a:xfrm>
            <a:off x="5038725" y="3796720"/>
            <a:ext cx="2005806" cy="186689"/>
          </a:xfrm>
          <a:prstGeom prst="rect">
            <a:avLst/>
          </a:prstGeom>
          <a:noFill/>
        </p:spPr>
        <p:txBody>
          <a:bodyPr wrap="none" lIns="0" rIns="0" tIns="0" bIns="0">
            <a:spAutoFit/>
          </a:bodyPr>
          <a:lstStyle/>
          <a:p>
            <a:r>
              <a:rPr sz="1100" b="0">
                <a:solidFill>
                  <a:srgbClr val="2E2E2E"/>
                </a:solidFill>
                <a:latin typeface="Calibri"/>
              </a:rPr>
              <a:t>'Flower Bulbs, Corms, Rhizomes &amp;</a:t>
            </a:r>
          </a:p>
        </p:txBody>
      </p:sp>
      <p:sp>
        <p:nvSpPr>
          <p:cNvPr id="91" name="TextBox 90"/>
          <p:cNvSpPr txBox="1"/>
          <p:nvPr/>
        </p:nvSpPr>
        <p:spPr>
          <a:xfrm>
            <a:off x="5038725" y="3964360"/>
            <a:ext cx="640457" cy="186689"/>
          </a:xfrm>
          <a:prstGeom prst="rect">
            <a:avLst/>
          </a:prstGeom>
          <a:noFill/>
        </p:spPr>
        <p:txBody>
          <a:bodyPr wrap="none" lIns="0" rIns="0" tIns="0" bIns="0">
            <a:spAutoFit/>
          </a:bodyPr>
          <a:lstStyle/>
          <a:p>
            <a:r>
              <a:rPr sz="1100" b="0">
                <a:solidFill>
                  <a:srgbClr val="2E2E2E"/>
                </a:solidFill>
                <a:latin typeface="Calibri"/>
              </a:rPr>
              <a:t>Tubers' at</a:t>
            </a:r>
          </a:p>
        </p:txBody>
      </p:sp>
      <p:pic>
        <p:nvPicPr>
          <p:cNvPr id="92" name="Picture 91" descr="lock.png"/>
          <p:cNvPicPr>
            <a:picLocks noChangeAspect="1"/>
          </p:cNvPicPr>
          <p:nvPr/>
        </p:nvPicPr>
        <p:blipFill>
          <a:blip r:embed="rId4"/>
          <a:stretch>
            <a:fillRect/>
          </a:stretch>
        </p:blipFill>
        <p:spPr>
          <a:xfrm>
            <a:off x="5627233" y="3954581"/>
            <a:ext cx="128699" cy="187198"/>
          </a:xfrm>
          <a:prstGeom prst="rect">
            <a:avLst/>
          </a:prstGeom>
        </p:spPr>
      </p:pic>
      <p:sp>
        <p:nvSpPr>
          <p:cNvPr id="93" name="TextBox 92"/>
          <p:cNvSpPr txBox="1"/>
          <p:nvPr/>
        </p:nvSpPr>
        <p:spPr>
          <a:xfrm>
            <a:off x="5794729" y="3964360"/>
            <a:ext cx="1135955" cy="186689"/>
          </a:xfrm>
          <a:prstGeom prst="rect">
            <a:avLst/>
          </a:prstGeom>
          <a:noFill/>
        </p:spPr>
        <p:txBody>
          <a:bodyPr wrap="none" lIns="0" rIns="0" tIns="0" bIns="0">
            <a:spAutoFit/>
          </a:bodyPr>
          <a:lstStyle/>
          <a:p>
            <a:r>
              <a:rPr sz="1100" b="0">
                <a:solidFill>
                  <a:srgbClr val="2E2E2E"/>
                </a:solidFill>
                <a:latin typeface="Calibri"/>
              </a:rPr>
              <a:t>against 'Bedding &amp;</a:t>
            </a:r>
          </a:p>
        </p:txBody>
      </p:sp>
      <p:sp>
        <p:nvSpPr>
          <p:cNvPr id="94" name="TextBox 93"/>
          <p:cNvSpPr txBox="1"/>
          <p:nvPr/>
        </p:nvSpPr>
        <p:spPr>
          <a:xfrm>
            <a:off x="5038725" y="4132000"/>
            <a:ext cx="1641822" cy="186689"/>
          </a:xfrm>
          <a:prstGeom prst="rect">
            <a:avLst/>
          </a:prstGeom>
          <a:noFill/>
        </p:spPr>
        <p:txBody>
          <a:bodyPr wrap="none" lIns="0" rIns="0" tIns="0" bIns="0">
            <a:spAutoFit/>
          </a:bodyPr>
          <a:lstStyle/>
          <a:p>
            <a:r>
              <a:rPr sz="1100" b="0">
                <a:solidFill>
                  <a:srgbClr val="2E2E2E"/>
                </a:solidFill>
                <a:latin typeface="Calibri"/>
              </a:rPr>
              <a:t>Garden Flowering Plants' at</a:t>
            </a:r>
          </a:p>
        </p:txBody>
      </p:sp>
      <p:pic>
        <p:nvPicPr>
          <p:cNvPr id="95" name="Picture 94" descr="lock.png"/>
          <p:cNvPicPr>
            <a:picLocks noChangeAspect="1"/>
          </p:cNvPicPr>
          <p:nvPr/>
        </p:nvPicPr>
        <p:blipFill>
          <a:blip r:embed="rId4"/>
          <a:stretch>
            <a:fillRect/>
          </a:stretch>
        </p:blipFill>
        <p:spPr>
          <a:xfrm>
            <a:off x="6628598" y="4122221"/>
            <a:ext cx="128699" cy="187198"/>
          </a:xfrm>
          <a:prstGeom prst="rect">
            <a:avLst/>
          </a:prstGeom>
        </p:spPr>
      </p:pic>
      <p:sp>
        <p:nvSpPr>
          <p:cNvPr id="96" name="TextBox 95"/>
          <p:cNvSpPr txBox="1"/>
          <p:nvPr/>
        </p:nvSpPr>
        <p:spPr>
          <a:xfrm>
            <a:off x="6796094" y="413200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7" name="TextBox 96"/>
          <p:cNvSpPr txBox="1"/>
          <p:nvPr/>
        </p:nvSpPr>
        <p:spPr>
          <a:xfrm>
            <a:off x="5038725" y="4584514"/>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8" name="Picture 97" descr="lock.png"/>
          <p:cNvPicPr>
            <a:picLocks noChangeAspect="1"/>
          </p:cNvPicPr>
          <p:nvPr/>
        </p:nvPicPr>
        <p:blipFill>
          <a:blip r:embed="rId4"/>
          <a:stretch>
            <a:fillRect/>
          </a:stretch>
        </p:blipFill>
        <p:spPr>
          <a:xfrm>
            <a:off x="5025257" y="4742375"/>
            <a:ext cx="128699" cy="187198"/>
          </a:xfrm>
          <a:prstGeom prst="rect">
            <a:avLst/>
          </a:prstGeom>
        </p:spPr>
      </p:pic>
      <p:sp>
        <p:nvSpPr>
          <p:cNvPr id="99" name="TextBox 98"/>
          <p:cNvSpPr txBox="1"/>
          <p:nvPr/>
        </p:nvSpPr>
        <p:spPr>
          <a:xfrm>
            <a:off x="5192753" y="4752154"/>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100" name="TextBox 99"/>
          <p:cNvSpPr txBox="1"/>
          <p:nvPr/>
        </p:nvSpPr>
        <p:spPr>
          <a:xfrm>
            <a:off x="5038725" y="4919794"/>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101" name="TextBox 100"/>
          <p:cNvSpPr txBox="1"/>
          <p:nvPr/>
        </p:nvSpPr>
        <p:spPr>
          <a:xfrm>
            <a:off x="7419975" y="2860746"/>
            <a:ext cx="2107034" cy="186689"/>
          </a:xfrm>
          <a:prstGeom prst="rect">
            <a:avLst/>
          </a:prstGeom>
          <a:noFill/>
        </p:spPr>
        <p:txBody>
          <a:bodyPr wrap="none" lIns="0" rIns="0" tIns="0" bIns="0">
            <a:spAutoFit/>
          </a:bodyPr>
          <a:lstStyle/>
          <a:p>
            <a:r>
              <a:rPr sz="1100" b="0">
                <a:solidFill>
                  <a:srgbClr val="2E2E2E"/>
                </a:solidFill>
                <a:latin typeface="Calibri"/>
              </a:rPr>
              <a:t>▸ Assessed high. 'Bedding &amp; Garden</a:t>
            </a:r>
          </a:p>
        </p:txBody>
      </p:sp>
      <p:sp>
        <p:nvSpPr>
          <p:cNvPr id="102" name="TextBox 101"/>
          <p:cNvSpPr txBox="1"/>
          <p:nvPr/>
        </p:nvSpPr>
        <p:spPr>
          <a:xfrm>
            <a:off x="7419975" y="3028386"/>
            <a:ext cx="1360785" cy="186689"/>
          </a:xfrm>
          <a:prstGeom prst="rect">
            <a:avLst/>
          </a:prstGeom>
          <a:noFill/>
        </p:spPr>
        <p:txBody>
          <a:bodyPr wrap="none" lIns="0" rIns="0" tIns="0" bIns="0">
            <a:spAutoFit/>
          </a:bodyPr>
          <a:lstStyle/>
          <a:p>
            <a:r>
              <a:rPr sz="1100" b="0">
                <a:solidFill>
                  <a:srgbClr val="2E2E2E"/>
                </a:solidFill>
                <a:latin typeface="Calibri"/>
              </a:rPr>
              <a:t>Flowering Plants' loses</a:t>
            </a:r>
          </a:p>
        </p:txBody>
      </p:sp>
      <p:pic>
        <p:nvPicPr>
          <p:cNvPr id="103" name="Picture 102" descr="lock.png"/>
          <p:cNvPicPr>
            <a:picLocks noChangeAspect="1"/>
          </p:cNvPicPr>
          <p:nvPr/>
        </p:nvPicPr>
        <p:blipFill>
          <a:blip r:embed="rId4"/>
          <a:stretch>
            <a:fillRect/>
          </a:stretch>
        </p:blipFill>
        <p:spPr>
          <a:xfrm>
            <a:off x="8728811" y="3018607"/>
            <a:ext cx="128699" cy="187198"/>
          </a:xfrm>
          <a:prstGeom prst="rect">
            <a:avLst/>
          </a:prstGeom>
        </p:spPr>
      </p:pic>
      <p:sp>
        <p:nvSpPr>
          <p:cNvPr id="104" name="TextBox 103"/>
          <p:cNvSpPr txBox="1"/>
          <p:nvPr/>
        </p:nvSpPr>
        <p:spPr>
          <a:xfrm>
            <a:off x="8896307" y="3028386"/>
            <a:ext cx="436636" cy="186689"/>
          </a:xfrm>
          <a:prstGeom prst="rect">
            <a:avLst/>
          </a:prstGeom>
          <a:noFill/>
        </p:spPr>
        <p:txBody>
          <a:bodyPr wrap="none" lIns="0" rIns="0" tIns="0" bIns="0">
            <a:spAutoFit/>
          </a:bodyPr>
          <a:lstStyle/>
          <a:p>
            <a:r>
              <a:rPr sz="1100" b="0">
                <a:solidFill>
                  <a:srgbClr val="2E2E2E"/>
                </a:solidFill>
                <a:latin typeface="Calibri"/>
              </a:rPr>
              <a:t>BPS of</a:t>
            </a:r>
          </a:p>
        </p:txBody>
      </p:sp>
      <p:sp>
        <p:nvSpPr>
          <p:cNvPr id="105" name="TextBox 104"/>
          <p:cNvSpPr txBox="1"/>
          <p:nvPr/>
        </p:nvSpPr>
        <p:spPr>
          <a:xfrm>
            <a:off x="7419975" y="3196026"/>
            <a:ext cx="1447824" cy="186689"/>
          </a:xfrm>
          <a:prstGeom prst="rect">
            <a:avLst/>
          </a:prstGeom>
          <a:noFill/>
        </p:spPr>
        <p:txBody>
          <a:bodyPr wrap="none" lIns="0" rIns="0" tIns="0" bIns="0">
            <a:spAutoFit/>
          </a:bodyPr>
          <a:lstStyle/>
          <a:p>
            <a:r>
              <a:rPr sz="1100" b="0">
                <a:solidFill>
                  <a:srgbClr val="2E2E2E"/>
                </a:solidFill>
                <a:latin typeface="Calibri"/>
              </a:rPr>
              <a:t>share to 'Cut Flowers' (+</a:t>
            </a:r>
          </a:p>
        </p:txBody>
      </p:sp>
      <p:pic>
        <p:nvPicPr>
          <p:cNvPr id="106" name="Picture 105" descr="lock.png"/>
          <p:cNvPicPr>
            <a:picLocks noChangeAspect="1"/>
          </p:cNvPicPr>
          <p:nvPr/>
        </p:nvPicPr>
        <p:blipFill>
          <a:blip r:embed="rId4"/>
          <a:stretch>
            <a:fillRect/>
          </a:stretch>
        </p:blipFill>
        <p:spPr>
          <a:xfrm>
            <a:off x="8815851" y="3186247"/>
            <a:ext cx="128699" cy="187198"/>
          </a:xfrm>
          <a:prstGeom prst="rect">
            <a:avLst/>
          </a:prstGeom>
        </p:spPr>
      </p:pic>
      <p:sp>
        <p:nvSpPr>
          <p:cNvPr id="107" name="TextBox 106"/>
          <p:cNvSpPr txBox="1"/>
          <p:nvPr/>
        </p:nvSpPr>
        <p:spPr>
          <a:xfrm>
            <a:off x="8983347" y="3196026"/>
            <a:ext cx="499392" cy="186689"/>
          </a:xfrm>
          <a:prstGeom prst="rect">
            <a:avLst/>
          </a:prstGeom>
          <a:noFill/>
        </p:spPr>
        <p:txBody>
          <a:bodyPr wrap="none" lIns="0" rIns="0" tIns="0" bIns="0">
            <a:spAutoFit/>
          </a:bodyPr>
          <a:lstStyle/>
          <a:p>
            <a:r>
              <a:rPr sz="1100" b="0">
                <a:solidFill>
                  <a:srgbClr val="2E2E2E"/>
                </a:solidFill>
                <a:latin typeface="Calibri"/>
              </a:rPr>
              <a:t>BPS) by</a:t>
            </a:r>
          </a:p>
        </p:txBody>
      </p:sp>
      <p:sp>
        <p:nvSpPr>
          <p:cNvPr id="108" name="TextBox 107"/>
          <p:cNvSpPr txBox="1"/>
          <p:nvPr/>
        </p:nvSpPr>
        <p:spPr>
          <a:xfrm>
            <a:off x="7419975" y="3363666"/>
            <a:ext cx="2114550" cy="186689"/>
          </a:xfrm>
          <a:prstGeom prst="rect">
            <a:avLst/>
          </a:prstGeom>
          <a:noFill/>
        </p:spPr>
        <p:txBody>
          <a:bodyPr wrap="none" lIns="0" rIns="0" tIns="0" bIns="0">
            <a:spAutoFit/>
          </a:bodyPr>
          <a:lstStyle/>
          <a:p>
            <a:r>
              <a:rPr sz="1100" b="0">
                <a:solidFill>
                  <a:srgbClr val="2E2E2E"/>
                </a:solidFill>
                <a:latin typeface="Calibri"/>
              </a:rPr>
              <a:t>2036 substitution is visible inside the</a:t>
            </a:r>
          </a:p>
        </p:txBody>
      </p:sp>
      <p:sp>
        <p:nvSpPr>
          <p:cNvPr id="109" name="TextBox 108"/>
          <p:cNvSpPr txBox="1"/>
          <p:nvPr/>
        </p:nvSpPr>
        <p:spPr>
          <a:xfrm>
            <a:off x="7419975" y="3531306"/>
            <a:ext cx="315763" cy="186689"/>
          </a:xfrm>
          <a:prstGeom prst="rect">
            <a:avLst/>
          </a:prstGeom>
          <a:noFill/>
        </p:spPr>
        <p:txBody>
          <a:bodyPr wrap="none" lIns="0" rIns="0" tIns="0" bIns="0">
            <a:spAutoFit/>
          </a:bodyPr>
          <a:lstStyle/>
          <a:p>
            <a:r>
              <a:rPr sz="1100" b="0">
                <a:solidFill>
                  <a:srgbClr val="2E2E2E"/>
                </a:solidFill>
                <a:latin typeface="Calibri"/>
              </a:rPr>
              <a:t>mix.</a:t>
            </a:r>
          </a:p>
        </p:txBody>
      </p:sp>
      <p:sp>
        <p:nvSpPr>
          <p:cNvPr id="110" name="TextBox 109"/>
          <p:cNvSpPr txBox="1"/>
          <p:nvPr/>
        </p:nvSpPr>
        <p:spPr>
          <a:xfrm>
            <a:off x="7419975" y="3894694"/>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11" name="Picture 110" descr="lock.png"/>
          <p:cNvPicPr>
            <a:picLocks noChangeAspect="1"/>
          </p:cNvPicPr>
          <p:nvPr/>
        </p:nvPicPr>
        <p:blipFill>
          <a:blip r:embed="rId4"/>
          <a:stretch>
            <a:fillRect/>
          </a:stretch>
        </p:blipFill>
        <p:spPr>
          <a:xfrm>
            <a:off x="8917440" y="3885306"/>
            <a:ext cx="123551" cy="179710"/>
          </a:xfrm>
          <a:prstGeom prst="rect">
            <a:avLst/>
          </a:prstGeom>
        </p:spPr>
      </p:pic>
      <p:sp>
        <p:nvSpPr>
          <p:cNvPr id="112" name="TextBox 111"/>
          <p:cNvSpPr txBox="1"/>
          <p:nvPr/>
        </p:nvSpPr>
        <p:spPr>
          <a:xfrm>
            <a:off x="9078236" y="3894694"/>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3" name="Picture 112" descr="lock.png"/>
          <p:cNvPicPr>
            <a:picLocks noChangeAspect="1"/>
          </p:cNvPicPr>
          <p:nvPr/>
        </p:nvPicPr>
        <p:blipFill>
          <a:blip r:embed="rId4"/>
          <a:stretch>
            <a:fillRect/>
          </a:stretch>
        </p:blipFill>
        <p:spPr>
          <a:xfrm>
            <a:off x="9206555" y="3885306"/>
            <a:ext cx="123551" cy="179710"/>
          </a:xfrm>
          <a:prstGeom prst="rect">
            <a:avLst/>
          </a:prstGeom>
        </p:spPr>
      </p:pic>
      <p:sp>
        <p:nvSpPr>
          <p:cNvPr id="114" name="TextBox 113"/>
          <p:cNvSpPr txBox="1"/>
          <p:nvPr/>
        </p:nvSpPr>
        <p:spPr>
          <a:xfrm>
            <a:off x="7419975" y="4055628"/>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5" name="TextBox 114"/>
          <p:cNvSpPr txBox="1"/>
          <p:nvPr/>
        </p:nvSpPr>
        <p:spPr>
          <a:xfrm>
            <a:off x="7419975" y="4392850"/>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6" name="Picture 115" descr="lock.png"/>
          <p:cNvPicPr>
            <a:picLocks noChangeAspect="1"/>
          </p:cNvPicPr>
          <p:nvPr/>
        </p:nvPicPr>
        <p:blipFill>
          <a:blip r:embed="rId4"/>
          <a:stretch>
            <a:fillRect/>
          </a:stretch>
        </p:blipFill>
        <p:spPr>
          <a:xfrm>
            <a:off x="8622399" y="4383071"/>
            <a:ext cx="128699" cy="187198"/>
          </a:xfrm>
          <a:prstGeom prst="rect">
            <a:avLst/>
          </a:prstGeom>
        </p:spPr>
      </p:pic>
      <p:sp>
        <p:nvSpPr>
          <p:cNvPr id="117" name="TextBox 116"/>
          <p:cNvSpPr txBox="1"/>
          <p:nvPr/>
        </p:nvSpPr>
        <p:spPr>
          <a:xfrm>
            <a:off x="8789895" y="4392850"/>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8" name="TextBox 117"/>
          <p:cNvSpPr txBox="1"/>
          <p:nvPr/>
        </p:nvSpPr>
        <p:spPr>
          <a:xfrm>
            <a:off x="7419975" y="4560490"/>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9" name="TextBox 118"/>
          <p:cNvSpPr txBox="1"/>
          <p:nvPr/>
        </p:nvSpPr>
        <p:spPr>
          <a:xfrm>
            <a:off x="7419975" y="4728130"/>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20" name="TextBox 119"/>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21" name="TextBox 120"/>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22" name="Picture 121" descr="lock.png"/>
          <p:cNvPicPr>
            <a:picLocks noChangeAspect="1"/>
          </p:cNvPicPr>
          <p:nvPr/>
        </p:nvPicPr>
        <p:blipFill>
          <a:blip r:embed="rId4"/>
          <a:stretch>
            <a:fillRect/>
          </a:stretch>
        </p:blipFill>
        <p:spPr>
          <a:xfrm>
            <a:off x="10752626" y="3006595"/>
            <a:ext cx="128699" cy="187198"/>
          </a:xfrm>
          <a:prstGeom prst="rect">
            <a:avLst/>
          </a:prstGeom>
        </p:spPr>
      </p:pic>
      <p:sp>
        <p:nvSpPr>
          <p:cNvPr id="123" name="TextBox 122"/>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4" name="Picture 123" descr="lock.png"/>
          <p:cNvPicPr>
            <a:picLocks noChangeAspect="1"/>
          </p:cNvPicPr>
          <p:nvPr/>
        </p:nvPicPr>
        <p:blipFill>
          <a:blip r:embed="rId4"/>
          <a:stretch>
            <a:fillRect/>
          </a:stretch>
        </p:blipFill>
        <p:spPr>
          <a:xfrm>
            <a:off x="9787757" y="3174235"/>
            <a:ext cx="128699" cy="187198"/>
          </a:xfrm>
          <a:prstGeom prst="rect">
            <a:avLst/>
          </a:prstGeom>
        </p:spPr>
      </p:pic>
      <p:sp>
        <p:nvSpPr>
          <p:cNvPr id="125" name="TextBox 124"/>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6" name="TextBox 125"/>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7" name="TextBox 126"/>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8" name="TextBox 127"/>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9" name="Picture 128" descr="lock.png"/>
          <p:cNvPicPr>
            <a:picLocks noChangeAspect="1"/>
          </p:cNvPicPr>
          <p:nvPr/>
        </p:nvPicPr>
        <p:blipFill>
          <a:blip r:embed="rId4"/>
          <a:stretch>
            <a:fillRect/>
          </a:stretch>
        </p:blipFill>
        <p:spPr>
          <a:xfrm>
            <a:off x="11242394" y="3866197"/>
            <a:ext cx="128699" cy="187198"/>
          </a:xfrm>
          <a:prstGeom prst="rect">
            <a:avLst/>
          </a:prstGeom>
        </p:spPr>
      </p:pic>
      <p:sp>
        <p:nvSpPr>
          <p:cNvPr id="130" name="TextBox 129"/>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31" name="TextBox 130"/>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2" name="TextBox 131"/>
          <p:cNvSpPr txBox="1"/>
          <p:nvPr/>
        </p:nvSpPr>
        <p:spPr>
          <a:xfrm>
            <a:off x="9801225" y="4484119"/>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3" name="TextBox 132"/>
          <p:cNvSpPr txBox="1"/>
          <p:nvPr/>
        </p:nvSpPr>
        <p:spPr>
          <a:xfrm>
            <a:off x="9801225" y="4651759"/>
            <a:ext cx="1126405" cy="186689"/>
          </a:xfrm>
          <a:prstGeom prst="rect">
            <a:avLst/>
          </a:prstGeom>
          <a:noFill/>
        </p:spPr>
        <p:txBody>
          <a:bodyPr wrap="none" lIns="0" rIns="0" tIns="0" bIns="0">
            <a:spAutoFit/>
          </a:bodyPr>
          <a:lstStyle/>
          <a:p>
            <a:r>
              <a:rPr sz="1100" b="0">
                <a:solidFill>
                  <a:srgbClr val="2E2E2E"/>
                </a:solidFill>
                <a:latin typeface="Calibri"/>
              </a:rPr>
              <a:t>and 'Cut Flowers' (</a:t>
            </a:r>
          </a:p>
        </p:txBody>
      </p:sp>
      <p:pic>
        <p:nvPicPr>
          <p:cNvPr id="134" name="Picture 133" descr="lock.png"/>
          <p:cNvPicPr>
            <a:picLocks noChangeAspect="1"/>
          </p:cNvPicPr>
          <p:nvPr/>
        </p:nvPicPr>
        <p:blipFill>
          <a:blip r:embed="rId4"/>
          <a:stretch>
            <a:fillRect/>
          </a:stretch>
        </p:blipFill>
        <p:spPr>
          <a:xfrm>
            <a:off x="10875682" y="4641980"/>
            <a:ext cx="128699" cy="187198"/>
          </a:xfrm>
          <a:prstGeom prst="rect">
            <a:avLst/>
          </a:prstGeom>
        </p:spPr>
      </p:pic>
      <p:sp>
        <p:nvSpPr>
          <p:cNvPr id="135" name="TextBox 134"/>
          <p:cNvSpPr txBox="1"/>
          <p:nvPr/>
        </p:nvSpPr>
        <p:spPr>
          <a:xfrm>
            <a:off x="11043178" y="4651759"/>
            <a:ext cx="757783" cy="186689"/>
          </a:xfrm>
          <a:prstGeom prst="rect">
            <a:avLst/>
          </a:prstGeom>
          <a:noFill/>
        </p:spPr>
        <p:txBody>
          <a:bodyPr wrap="none" lIns="0" rIns="0" tIns="0" bIns="0">
            <a:spAutoFit/>
          </a:bodyPr>
          <a:lstStyle/>
          <a:p>
            <a:r>
              <a:rPr sz="1100" b="0">
                <a:solidFill>
                  <a:srgbClr val="2E2E2E"/>
                </a:solidFill>
                <a:latin typeface="Calibri"/>
              </a:rPr>
              <a:t>of segment)</a:t>
            </a:r>
          </a:p>
        </p:txBody>
      </p:sp>
      <p:sp>
        <p:nvSpPr>
          <p:cNvPr id="136" name="TextBox 135"/>
          <p:cNvSpPr txBox="1"/>
          <p:nvPr/>
        </p:nvSpPr>
        <p:spPr>
          <a:xfrm>
            <a:off x="9801225" y="4819399"/>
            <a:ext cx="1733500" cy="186689"/>
          </a:xfrm>
          <a:prstGeom prst="rect">
            <a:avLst/>
          </a:prstGeom>
          <a:noFill/>
        </p:spPr>
        <p:txBody>
          <a:bodyPr wrap="none" lIns="0" rIns="0" tIns="0" bIns="0">
            <a:spAutoFit/>
          </a:bodyPr>
          <a:lstStyle/>
          <a:p>
            <a:r>
              <a:rPr sz="1100" b="0">
                <a:solidFill>
                  <a:srgbClr val="2E2E2E"/>
                </a:solidFill>
                <a:latin typeface="Calibri"/>
              </a:rPr>
              <a:t>remains the principal barrier.</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Floriculture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Floriculture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424140"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'Cut Flowers') to lift blended ASP and</a:t>
            </a:r>
          </a:p>
        </p:txBody>
      </p:sp>
      <p:sp>
        <p:nvSpPr>
          <p:cNvPr id="33" name="TextBox 32"/>
          <p:cNvSpPr txBox="1"/>
          <p:nvPr/>
        </p:nvSpPr>
        <p:spPr>
          <a:xfrm>
            <a:off x="276225" y="2351539"/>
            <a:ext cx="2189646" cy="194310"/>
          </a:xfrm>
          <a:prstGeom prst="rect">
            <a:avLst/>
          </a:prstGeom>
          <a:noFill/>
        </p:spPr>
        <p:txBody>
          <a:bodyPr wrap="none" lIns="0" rIns="0" tIns="0" bIns="0">
            <a:spAutoFit/>
          </a:bodyPr>
          <a:lstStyle/>
          <a:p>
            <a:r>
              <a:rPr sz="1150" b="0">
                <a:solidFill>
                  <a:srgbClr val="2E2E2E"/>
                </a:solidFill>
                <a:latin typeface="Calibri"/>
              </a:rPr>
              <a:t>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3266194" cy="194310"/>
          </a:xfrm>
          <a:prstGeom prst="rect">
            <a:avLst/>
          </a:prstGeom>
          <a:noFill/>
        </p:spPr>
        <p:txBody>
          <a:bodyPr wrap="none" lIns="0" rIns="0" tIns="0" bIns="0">
            <a:spAutoFit/>
          </a:bodyPr>
          <a:lstStyle/>
          <a:p>
            <a:r>
              <a:rPr sz="1150" b="0">
                <a:solidFill>
                  <a:srgbClr val="2E2E2E"/>
                </a:solidFill>
                <a:latin typeface="Calibri"/>
              </a:rPr>
              <a:t>▪ Benchmark relentlessly against 'Dümmen Orange' (~</a:t>
            </a:r>
          </a:p>
        </p:txBody>
      </p:sp>
      <p:pic>
        <p:nvPicPr>
          <p:cNvPr id="43" name="Picture 42" descr="lock.png"/>
          <p:cNvPicPr>
            <a:picLocks noChangeAspect="1"/>
          </p:cNvPicPr>
          <p:nvPr/>
        </p:nvPicPr>
        <p:blipFill>
          <a:blip r:embed="rId4"/>
          <a:stretch>
            <a:fillRect/>
          </a:stretch>
        </p:blipFill>
        <p:spPr>
          <a:xfrm>
            <a:off x="9539948" y="4455378"/>
            <a:ext cx="134549" cy="195707"/>
          </a:xfrm>
          <a:prstGeom prst="rect">
            <a:avLst/>
          </a:prstGeom>
        </p:spPr>
      </p:pic>
      <p:sp>
        <p:nvSpPr>
          <p:cNvPr id="44" name="TextBox 43"/>
          <p:cNvSpPr txBox="1"/>
          <p:nvPr/>
        </p:nvSpPr>
        <p:spPr>
          <a:xfrm>
            <a:off x="9715057" y="4465602"/>
            <a:ext cx="2032756" cy="194310"/>
          </a:xfrm>
          <a:prstGeom prst="rect">
            <a:avLst/>
          </a:prstGeom>
          <a:noFill/>
        </p:spPr>
        <p:txBody>
          <a:bodyPr wrap="none" lIns="0" rIns="0" tIns="0" bIns="0">
            <a:spAutoFit/>
          </a:bodyPr>
          <a:lstStyle/>
          <a:p>
            <a:r>
              <a:rPr sz="1150" b="0">
                <a:solidFill>
                  <a:srgbClr val="2E2E2E"/>
                </a:solidFill>
                <a:latin typeface="Calibri"/>
              </a:rPr>
              <a:t>share) match on service and lead</a:t>
            </a:r>
          </a:p>
        </p:txBody>
      </p:sp>
      <p:sp>
        <p:nvSpPr>
          <p:cNvPr id="45" name="TextBox 44"/>
          <p:cNvSpPr txBox="1"/>
          <p:nvPr/>
        </p:nvSpPr>
        <p:spPr>
          <a:xfrm>
            <a:off x="6324600" y="4640861"/>
            <a:ext cx="1747217" cy="194310"/>
          </a:xfrm>
          <a:prstGeom prst="rect">
            <a:avLst/>
          </a:prstGeom>
          <a:noFill/>
        </p:spPr>
        <p:txBody>
          <a:bodyPr wrap="none" lIns="0" rIns="0" tIns="0" bIns="0">
            <a:spAutoFit/>
          </a:bodyPr>
          <a:lstStyle/>
          <a:p>
            <a:r>
              <a:rPr sz="1150" b="0">
                <a:solidFill>
                  <a:srgbClr val="2E2E2E"/>
                </a:solidFill>
                <a:latin typeface="Calibri"/>
              </a:rPr>
              <a:t>on 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4" name="TextBox 23"/>
          <p:cNvSpPr txBox="1"/>
          <p:nvPr/>
        </p:nvSpPr>
        <p:spPr>
          <a:xfrm>
            <a:off x="7934325" y="1773181"/>
            <a:ext cx="3762536" cy="194310"/>
          </a:xfrm>
          <a:prstGeom prst="rect">
            <a:avLst/>
          </a:prstGeom>
          <a:noFill/>
        </p:spPr>
        <p:txBody>
          <a:bodyPr wrap="none" lIns="0" rIns="0" tIns="0" bIns="0">
            <a:spAutoFit/>
          </a:bodyPr>
          <a:lstStyle/>
          <a:p>
            <a:r>
              <a:rPr sz="1150" b="0">
                <a:solidFill>
                  <a:srgbClr val="2E2E2E"/>
                </a:solidFill>
                <a:latin typeface="Calibri"/>
              </a:rPr>
              <a:t>Dümmen Orange accounted for the largest share of the global</a:t>
            </a:r>
          </a:p>
        </p:txBody>
      </p:sp>
      <p:sp>
        <p:nvSpPr>
          <p:cNvPr id="25" name="TextBox 24"/>
          <p:cNvSpPr txBox="1"/>
          <p:nvPr/>
        </p:nvSpPr>
        <p:spPr>
          <a:xfrm>
            <a:off x="7934325" y="1948441"/>
            <a:ext cx="3631319" cy="194310"/>
          </a:xfrm>
          <a:prstGeom prst="rect">
            <a:avLst/>
          </a:prstGeom>
          <a:noFill/>
        </p:spPr>
        <p:txBody>
          <a:bodyPr wrap="none" lIns="0" rIns="0" tIns="0" bIns="0">
            <a:spAutoFit/>
          </a:bodyPr>
          <a:lstStyle/>
          <a:p>
            <a:r>
              <a:rPr sz="1150" b="0">
                <a:solidFill>
                  <a:srgbClr val="2E2E2E"/>
                </a:solidFill>
                <a:latin typeface="Calibri"/>
              </a:rPr>
              <a:t>floriculture market in 2026. The global floriculture market is</a:t>
            </a:r>
          </a:p>
        </p:txBody>
      </p:sp>
      <p:sp>
        <p:nvSpPr>
          <p:cNvPr id="26" name="TextBox 25"/>
          <p:cNvSpPr txBox="1"/>
          <p:nvPr/>
        </p:nvSpPr>
        <p:spPr>
          <a:xfrm>
            <a:off x="7934325" y="2123701"/>
            <a:ext cx="3859522" cy="194310"/>
          </a:xfrm>
          <a:prstGeom prst="rect">
            <a:avLst/>
          </a:prstGeom>
          <a:noFill/>
        </p:spPr>
        <p:txBody>
          <a:bodyPr wrap="none" lIns="0" rIns="0" tIns="0" bIns="0">
            <a:spAutoFit/>
          </a:bodyPr>
          <a:lstStyle/>
          <a:p>
            <a:r>
              <a:rPr sz="1150" b="0">
                <a:solidFill>
                  <a:srgbClr val="2E2E2E"/>
                </a:solidFill>
                <a:latin typeface="Calibri"/>
              </a:rPr>
              <a:t>moderately consolidated, with the top three players accounting</a:t>
            </a:r>
          </a:p>
        </p:txBody>
      </p:sp>
      <p:sp>
        <p:nvSpPr>
          <p:cNvPr id="27" name="TextBox 26"/>
          <p:cNvSpPr txBox="1"/>
          <p:nvPr/>
        </p:nvSpPr>
        <p:spPr>
          <a:xfrm>
            <a:off x="7934325" y="2298961"/>
            <a:ext cx="1059184" cy="194310"/>
          </a:xfrm>
          <a:prstGeom prst="rect">
            <a:avLst/>
          </a:prstGeom>
          <a:noFill/>
        </p:spPr>
        <p:txBody>
          <a:bodyPr wrap="none" lIns="0" rIns="0" tIns="0" bIns="0">
            <a:spAutoFit/>
          </a:bodyPr>
          <a:lstStyle/>
          <a:p>
            <a:r>
              <a:rPr sz="1150" b="0">
                <a:solidFill>
                  <a:srgbClr val="2E2E2E"/>
                </a:solidFill>
                <a:latin typeface="Calibri"/>
              </a:rPr>
              <a:t>for an estimated</a:t>
            </a:r>
          </a:p>
        </p:txBody>
      </p:sp>
      <p:pic>
        <p:nvPicPr>
          <p:cNvPr id="28" name="Picture 27" descr="lock.png"/>
          <p:cNvPicPr>
            <a:picLocks noChangeAspect="1"/>
          </p:cNvPicPr>
          <p:nvPr/>
        </p:nvPicPr>
        <p:blipFill>
          <a:blip r:embed="rId5"/>
          <a:stretch>
            <a:fillRect/>
          </a:stretch>
        </p:blipFill>
        <p:spPr>
          <a:xfrm>
            <a:off x="8942663" y="2288737"/>
            <a:ext cx="134549" cy="195707"/>
          </a:xfrm>
          <a:prstGeom prst="rect">
            <a:avLst/>
          </a:prstGeom>
        </p:spPr>
      </p:pic>
      <p:sp>
        <p:nvSpPr>
          <p:cNvPr id="29" name="TextBox 28"/>
          <p:cNvSpPr txBox="1"/>
          <p:nvPr/>
        </p:nvSpPr>
        <p:spPr>
          <a:xfrm>
            <a:off x="9117773"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30" name="TextBox 29"/>
          <p:cNvSpPr txBox="1"/>
          <p:nvPr/>
        </p:nvSpPr>
        <p:spPr>
          <a:xfrm>
            <a:off x="7934325" y="2526799"/>
            <a:ext cx="2766429" cy="194310"/>
          </a:xfrm>
          <a:prstGeom prst="rect">
            <a:avLst/>
          </a:prstGeom>
          <a:noFill/>
        </p:spPr>
        <p:txBody>
          <a:bodyPr wrap="none" lIns="0" rIns="0" tIns="0" bIns="0">
            <a:spAutoFit/>
          </a:bodyPr>
          <a:lstStyle/>
          <a:p>
            <a:r>
              <a:rPr sz="1150" b="0">
                <a:solidFill>
                  <a:srgbClr val="2E2E2E"/>
                </a:solidFill>
                <a:latin typeface="Calibri"/>
              </a:rPr>
              <a:t>Dümmen Orange accounted for an estimated</a:t>
            </a:r>
          </a:p>
        </p:txBody>
      </p:sp>
      <p:pic>
        <p:nvPicPr>
          <p:cNvPr id="31" name="Picture 30" descr="lock.png"/>
          <p:cNvPicPr>
            <a:picLocks noChangeAspect="1"/>
          </p:cNvPicPr>
          <p:nvPr/>
        </p:nvPicPr>
        <p:blipFill>
          <a:blip r:embed="rId5"/>
          <a:stretch>
            <a:fillRect/>
          </a:stretch>
        </p:blipFill>
        <p:spPr>
          <a:xfrm>
            <a:off x="10649908" y="2516575"/>
            <a:ext cx="134549" cy="195707"/>
          </a:xfrm>
          <a:prstGeom prst="rect">
            <a:avLst/>
          </a:prstGeom>
        </p:spPr>
      </p:pic>
      <p:sp>
        <p:nvSpPr>
          <p:cNvPr id="32" name="TextBox 31"/>
          <p:cNvSpPr txBox="1"/>
          <p:nvPr/>
        </p:nvSpPr>
        <p:spPr>
          <a:xfrm>
            <a:off x="10825017" y="2526799"/>
            <a:ext cx="789905" cy="194310"/>
          </a:xfrm>
          <a:prstGeom prst="rect">
            <a:avLst/>
          </a:prstGeom>
          <a:noFill/>
        </p:spPr>
        <p:txBody>
          <a:bodyPr wrap="none" lIns="0" rIns="0" tIns="0" bIns="0">
            <a:spAutoFit/>
          </a:bodyPr>
          <a:lstStyle/>
          <a:p>
            <a:r>
              <a:rPr sz="1150" b="0">
                <a:solidFill>
                  <a:srgbClr val="2E2E2E"/>
                </a:solidFill>
                <a:latin typeface="Calibri"/>
              </a:rPr>
              <a:t>share of the</a:t>
            </a:r>
          </a:p>
        </p:txBody>
      </p:sp>
      <p:sp>
        <p:nvSpPr>
          <p:cNvPr id="33" name="TextBox 32"/>
          <p:cNvSpPr txBox="1"/>
          <p:nvPr/>
        </p:nvSpPr>
        <p:spPr>
          <a:xfrm>
            <a:off x="7934325" y="2702058"/>
            <a:ext cx="2158553" cy="194310"/>
          </a:xfrm>
          <a:prstGeom prst="rect">
            <a:avLst/>
          </a:prstGeom>
          <a:noFill/>
        </p:spPr>
        <p:txBody>
          <a:bodyPr wrap="none" lIns="0" rIns="0" tIns="0" bIns="0">
            <a:spAutoFit/>
          </a:bodyPr>
          <a:lstStyle/>
          <a:p>
            <a:r>
              <a:rPr sz="1150" b="0">
                <a:solidFill>
                  <a:srgbClr val="2E2E2E"/>
                </a:solidFill>
                <a:latin typeface="Calibri"/>
              </a:rPr>
              <a:t>market, followed by Company with</a:t>
            </a:r>
          </a:p>
        </p:txBody>
      </p:sp>
      <p:pic>
        <p:nvPicPr>
          <p:cNvPr id="34" name="Picture 33" descr="lock.png"/>
          <p:cNvPicPr>
            <a:picLocks noChangeAspect="1"/>
          </p:cNvPicPr>
          <p:nvPr/>
        </p:nvPicPr>
        <p:blipFill>
          <a:blip r:embed="rId5"/>
          <a:stretch>
            <a:fillRect/>
          </a:stretch>
        </p:blipFill>
        <p:spPr>
          <a:xfrm>
            <a:off x="10042032" y="2691835"/>
            <a:ext cx="134549" cy="195707"/>
          </a:xfrm>
          <a:prstGeom prst="rect">
            <a:avLst/>
          </a:prstGeom>
        </p:spPr>
      </p:pic>
      <p:sp>
        <p:nvSpPr>
          <p:cNvPr id="35" name="TextBox 34"/>
          <p:cNvSpPr txBox="1"/>
          <p:nvPr/>
        </p:nvSpPr>
        <p:spPr>
          <a:xfrm>
            <a:off x="10217141" y="2702058"/>
            <a:ext cx="1577451" cy="194310"/>
          </a:xfrm>
          <a:prstGeom prst="rect">
            <a:avLst/>
          </a:prstGeom>
          <a:noFill/>
        </p:spPr>
        <p:txBody>
          <a:bodyPr wrap="none" lIns="0" rIns="0" tIns="0" bIns="0">
            <a:spAutoFit/>
          </a:bodyPr>
          <a:lstStyle/>
          <a:p>
            <a:r>
              <a:rPr sz="1150" b="0">
                <a:solidFill>
                  <a:srgbClr val="2E2E2E"/>
                </a:solidFill>
                <a:latin typeface="Calibri"/>
              </a:rPr>
              <a:t>. Key players are focusing</a:t>
            </a:r>
          </a:p>
        </p:txBody>
      </p:sp>
      <p:sp>
        <p:nvSpPr>
          <p:cNvPr id="36" name="TextBox 35"/>
          <p:cNvSpPr txBox="1"/>
          <p:nvPr/>
        </p:nvSpPr>
        <p:spPr>
          <a:xfrm>
            <a:off x="7934325" y="2877318"/>
            <a:ext cx="3568278" cy="194310"/>
          </a:xfrm>
          <a:prstGeom prst="rect">
            <a:avLst/>
          </a:prstGeom>
          <a:noFill/>
        </p:spPr>
        <p:txBody>
          <a:bodyPr wrap="none" lIns="0" rIns="0" tIns="0" bIns="0">
            <a:spAutoFit/>
          </a:bodyPr>
          <a:lstStyle/>
          <a:p>
            <a:r>
              <a:rPr sz="1150" b="0">
                <a:solidFill>
                  <a:srgbClr val="2E2E2E"/>
                </a:solidFill>
                <a:latin typeface="Calibri"/>
              </a:rPr>
              <a:t>on product innovation, geographic expansion and strategic</a:t>
            </a:r>
          </a:p>
        </p:txBody>
      </p:sp>
      <p:sp>
        <p:nvSpPr>
          <p:cNvPr id="37" name="TextBox 36"/>
          <p:cNvSpPr txBox="1"/>
          <p:nvPr/>
        </p:nvSpPr>
        <p:spPr>
          <a:xfrm>
            <a:off x="7934325" y="3052578"/>
            <a:ext cx="2993776" cy="194310"/>
          </a:xfrm>
          <a:prstGeom prst="rect">
            <a:avLst/>
          </a:prstGeom>
          <a:noFill/>
        </p:spPr>
        <p:txBody>
          <a:bodyPr wrap="none" lIns="0" rIns="0" tIns="0" bIns="0">
            <a:spAutoFit/>
          </a:bodyPr>
          <a:lstStyle/>
          <a:p>
            <a:r>
              <a:rPr sz="1150" b="0">
                <a:solidFill>
                  <a:srgbClr val="2E2E2E"/>
                </a:solidFill>
                <a:latin typeface="Calibri"/>
              </a:rPr>
              <a:t>partnerships to strengthen their market position.</a:t>
            </a:r>
          </a:p>
        </p:txBody>
      </p:sp>
      <p:sp>
        <p:nvSpPr>
          <p:cNvPr id="38" name="TextBox 37"/>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9" name="TextBox 38"/>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0"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product type,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Cut Flowers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Cut Foliage &amp; Greens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Bedding &amp; Garden Flowering Plants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616671" cy="194310"/>
          </a:xfrm>
          <a:prstGeom prst="rect">
            <a:avLst/>
          </a:prstGeom>
          <a:noFill/>
        </p:spPr>
        <p:txBody>
          <a:bodyPr wrap="none" lIns="0" rIns="0" tIns="0" bIns="0">
            <a:spAutoFit/>
          </a:bodyPr>
          <a:lstStyle/>
          <a:p>
            <a:r>
              <a:rPr sz="1150" b="0">
                <a:solidFill>
                  <a:srgbClr val="2E2E2E"/>
                </a:solidFill>
                <a:latin typeface="Calibri"/>
              </a:rPr>
              <a:t>▪ Cut Flowers: 'Dümmen Orange' leads at ~</a:t>
            </a:r>
          </a:p>
        </p:txBody>
      </p:sp>
      <p:pic>
        <p:nvPicPr>
          <p:cNvPr id="29" name="Picture 28" descr="lock.png"/>
          <p:cNvPicPr>
            <a:picLocks noChangeAspect="1"/>
          </p:cNvPicPr>
          <p:nvPr/>
        </p:nvPicPr>
        <p:blipFill>
          <a:blip r:embed="rId7"/>
          <a:stretch>
            <a:fillRect/>
          </a:stretch>
        </p:blipFill>
        <p:spPr>
          <a:xfrm>
            <a:off x="2842050" y="5012116"/>
            <a:ext cx="134549" cy="195707"/>
          </a:xfrm>
          <a:prstGeom prst="rect">
            <a:avLst/>
          </a:prstGeom>
        </p:spPr>
      </p:pic>
      <p:sp>
        <p:nvSpPr>
          <p:cNvPr id="30" name="TextBox 29"/>
          <p:cNvSpPr txBox="1"/>
          <p:nvPr/>
        </p:nvSpPr>
        <p:spPr>
          <a:xfrm>
            <a:off x="3017159" y="5022340"/>
            <a:ext cx="2512553" cy="194310"/>
          </a:xfrm>
          <a:prstGeom prst="rect">
            <a:avLst/>
          </a:prstGeom>
          <a:noFill/>
        </p:spPr>
        <p:txBody>
          <a:bodyPr wrap="none" lIns="0" rIns="0" tIns="0" bIns="0">
            <a:spAutoFit/>
          </a:bodyPr>
          <a:lstStyle/>
          <a:p>
            <a:r>
              <a:rPr sz="1150" b="0">
                <a:solidFill>
                  <a:srgbClr val="2E2E2E"/>
                </a:solidFill>
                <a:latin typeface="Calibri"/>
              </a:rPr>
              <a:t>, ahead of 'Ball Horticultural Company' (~</a:t>
            </a:r>
          </a:p>
        </p:txBody>
      </p:sp>
      <p:pic>
        <p:nvPicPr>
          <p:cNvPr id="31" name="Picture 30" descr="lock.png"/>
          <p:cNvPicPr>
            <a:picLocks noChangeAspect="1"/>
          </p:cNvPicPr>
          <p:nvPr/>
        </p:nvPicPr>
        <p:blipFill>
          <a:blip r:embed="rId7"/>
          <a:stretch>
            <a:fillRect/>
          </a:stretch>
        </p:blipFill>
        <p:spPr>
          <a:xfrm>
            <a:off x="5478867" y="5012116"/>
            <a:ext cx="134549" cy="195707"/>
          </a:xfrm>
          <a:prstGeom prst="rect">
            <a:avLst/>
          </a:prstGeom>
        </p:spPr>
      </p:pic>
      <p:sp>
        <p:nvSpPr>
          <p:cNvPr id="32" name="TextBox 31"/>
          <p:cNvSpPr txBox="1"/>
          <p:nvPr/>
        </p:nvSpPr>
        <p:spPr>
          <a:xfrm>
            <a:off x="5653976"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988645" y="5012116"/>
            <a:ext cx="134549" cy="195707"/>
          </a:xfrm>
          <a:prstGeom prst="rect">
            <a:avLst/>
          </a:prstGeom>
        </p:spPr>
      </p:pic>
      <p:sp>
        <p:nvSpPr>
          <p:cNvPr id="34" name="TextBox 33"/>
          <p:cNvSpPr txBox="1"/>
          <p:nvPr/>
        </p:nvSpPr>
        <p:spPr>
          <a:xfrm>
            <a:off x="7163754"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719210" y="5012116"/>
            <a:ext cx="134549" cy="195707"/>
          </a:xfrm>
          <a:prstGeom prst="rect">
            <a:avLst/>
          </a:prstGeom>
        </p:spPr>
      </p:pic>
      <p:sp>
        <p:nvSpPr>
          <p:cNvPr id="36" name="TextBox 35"/>
          <p:cNvSpPr txBox="1"/>
          <p:nvPr/>
        </p:nvSpPr>
        <p:spPr>
          <a:xfrm>
            <a:off x="8894320"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3189429" cy="194310"/>
          </a:xfrm>
          <a:prstGeom prst="rect">
            <a:avLst/>
          </a:prstGeom>
          <a:noFill/>
        </p:spPr>
        <p:txBody>
          <a:bodyPr wrap="none" lIns="0" rIns="0" tIns="0" bIns="0">
            <a:spAutoFit/>
          </a:bodyPr>
          <a:lstStyle/>
          <a:p>
            <a:r>
              <a:rPr sz="1150" b="0">
                <a:solidFill>
                  <a:srgbClr val="2E2E2E"/>
                </a:solidFill>
                <a:latin typeface="Calibri"/>
              </a:rPr>
              <a:t>▪ Cut Foliage &amp; Greens: 'Syngenta Flowers' leads at ~</a:t>
            </a:r>
          </a:p>
        </p:txBody>
      </p:sp>
      <p:pic>
        <p:nvPicPr>
          <p:cNvPr id="38" name="Picture 37" descr="lock.png"/>
          <p:cNvPicPr>
            <a:picLocks noChangeAspect="1"/>
          </p:cNvPicPr>
          <p:nvPr/>
        </p:nvPicPr>
        <p:blipFill>
          <a:blip r:embed="rId7"/>
          <a:stretch>
            <a:fillRect/>
          </a:stretch>
        </p:blipFill>
        <p:spPr>
          <a:xfrm>
            <a:off x="3414808" y="5239954"/>
            <a:ext cx="134549" cy="195707"/>
          </a:xfrm>
          <a:prstGeom prst="rect">
            <a:avLst/>
          </a:prstGeom>
        </p:spPr>
      </p:pic>
      <p:sp>
        <p:nvSpPr>
          <p:cNvPr id="39" name="TextBox 38"/>
          <p:cNvSpPr txBox="1"/>
          <p:nvPr/>
        </p:nvSpPr>
        <p:spPr>
          <a:xfrm>
            <a:off x="3589918" y="5250177"/>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40" name="Picture 39" descr="lock.png"/>
          <p:cNvPicPr>
            <a:picLocks noChangeAspect="1"/>
          </p:cNvPicPr>
          <p:nvPr/>
        </p:nvPicPr>
        <p:blipFill>
          <a:blip r:embed="rId7"/>
          <a:stretch>
            <a:fillRect/>
          </a:stretch>
        </p:blipFill>
        <p:spPr>
          <a:xfrm>
            <a:off x="5014157" y="5239954"/>
            <a:ext cx="134549" cy="195707"/>
          </a:xfrm>
          <a:prstGeom prst="rect">
            <a:avLst/>
          </a:prstGeom>
        </p:spPr>
      </p:pic>
      <p:sp>
        <p:nvSpPr>
          <p:cNvPr id="41" name="TextBox 40"/>
          <p:cNvSpPr txBox="1"/>
          <p:nvPr/>
        </p:nvSpPr>
        <p:spPr>
          <a:xfrm>
            <a:off x="5189266"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523935" y="5239954"/>
            <a:ext cx="134549" cy="195707"/>
          </a:xfrm>
          <a:prstGeom prst="rect">
            <a:avLst/>
          </a:prstGeom>
        </p:spPr>
      </p:pic>
      <p:sp>
        <p:nvSpPr>
          <p:cNvPr id="43" name="TextBox 42"/>
          <p:cNvSpPr txBox="1"/>
          <p:nvPr/>
        </p:nvSpPr>
        <p:spPr>
          <a:xfrm>
            <a:off x="6699045"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254501" y="5239954"/>
            <a:ext cx="134549" cy="195707"/>
          </a:xfrm>
          <a:prstGeom prst="rect">
            <a:avLst/>
          </a:prstGeom>
        </p:spPr>
      </p:pic>
      <p:sp>
        <p:nvSpPr>
          <p:cNvPr id="45" name="TextBox 44"/>
          <p:cNvSpPr txBox="1"/>
          <p:nvPr/>
        </p:nvSpPr>
        <p:spPr>
          <a:xfrm>
            <a:off x="8429610"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4020120" cy="194310"/>
          </a:xfrm>
          <a:prstGeom prst="rect">
            <a:avLst/>
          </a:prstGeom>
          <a:noFill/>
        </p:spPr>
        <p:txBody>
          <a:bodyPr wrap="none" lIns="0" rIns="0" tIns="0" bIns="0">
            <a:spAutoFit/>
          </a:bodyPr>
          <a:lstStyle/>
          <a:p>
            <a:r>
              <a:rPr sz="1150" b="0">
                <a:solidFill>
                  <a:srgbClr val="2E2E2E"/>
                </a:solidFill>
                <a:latin typeface="Calibri"/>
              </a:rPr>
              <a:t>▪ Bedding &amp; Garden Flowering Plants: 'Dümmen Orange' leads at ~</a:t>
            </a:r>
          </a:p>
        </p:txBody>
      </p:sp>
      <p:pic>
        <p:nvPicPr>
          <p:cNvPr id="47" name="Picture 46" descr="lock.png"/>
          <p:cNvPicPr>
            <a:picLocks noChangeAspect="1"/>
          </p:cNvPicPr>
          <p:nvPr/>
        </p:nvPicPr>
        <p:blipFill>
          <a:blip r:embed="rId7"/>
          <a:stretch>
            <a:fillRect/>
          </a:stretch>
        </p:blipFill>
        <p:spPr>
          <a:xfrm>
            <a:off x="4245499" y="5467792"/>
            <a:ext cx="134549" cy="195707"/>
          </a:xfrm>
          <a:prstGeom prst="rect">
            <a:avLst/>
          </a:prstGeom>
        </p:spPr>
      </p:pic>
      <p:sp>
        <p:nvSpPr>
          <p:cNvPr id="48" name="TextBox 47"/>
          <p:cNvSpPr txBox="1"/>
          <p:nvPr/>
        </p:nvSpPr>
        <p:spPr>
          <a:xfrm>
            <a:off x="4420608" y="5478015"/>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49" name="Picture 48" descr="lock.png"/>
          <p:cNvPicPr>
            <a:picLocks noChangeAspect="1"/>
          </p:cNvPicPr>
          <p:nvPr/>
        </p:nvPicPr>
        <p:blipFill>
          <a:blip r:embed="rId7"/>
          <a:stretch>
            <a:fillRect/>
          </a:stretch>
        </p:blipFill>
        <p:spPr>
          <a:xfrm>
            <a:off x="5844847" y="5467792"/>
            <a:ext cx="134549" cy="195707"/>
          </a:xfrm>
          <a:prstGeom prst="rect">
            <a:avLst/>
          </a:prstGeom>
        </p:spPr>
      </p:pic>
      <p:sp>
        <p:nvSpPr>
          <p:cNvPr id="50" name="TextBox 49"/>
          <p:cNvSpPr txBox="1"/>
          <p:nvPr/>
        </p:nvSpPr>
        <p:spPr>
          <a:xfrm>
            <a:off x="6019957"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7354626" y="5467792"/>
            <a:ext cx="134549" cy="195707"/>
          </a:xfrm>
          <a:prstGeom prst="rect">
            <a:avLst/>
          </a:prstGeom>
        </p:spPr>
      </p:pic>
      <p:sp>
        <p:nvSpPr>
          <p:cNvPr id="52" name="TextBox 51"/>
          <p:cNvSpPr txBox="1"/>
          <p:nvPr/>
        </p:nvSpPr>
        <p:spPr>
          <a:xfrm>
            <a:off x="7529735"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9085191" y="5467792"/>
            <a:ext cx="134549" cy="195707"/>
          </a:xfrm>
          <a:prstGeom prst="rect">
            <a:avLst/>
          </a:prstGeom>
        </p:spPr>
      </p:pic>
      <p:sp>
        <p:nvSpPr>
          <p:cNvPr id="54" name="TextBox 53"/>
          <p:cNvSpPr txBox="1"/>
          <p:nvPr/>
        </p:nvSpPr>
        <p:spPr>
          <a:xfrm>
            <a:off x="9260300"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788679" cy="194310"/>
          </a:xfrm>
          <a:prstGeom prst="rect">
            <a:avLst/>
          </a:prstGeom>
          <a:noFill/>
        </p:spPr>
        <p:txBody>
          <a:bodyPr wrap="none" lIns="0" rIns="0" tIns="0" bIns="0">
            <a:spAutoFit/>
          </a:bodyPr>
          <a:lstStyle/>
          <a:p>
            <a:r>
              <a:rPr sz="1150" b="0">
                <a:solidFill>
                  <a:srgbClr val="2E2E2E"/>
                </a:solidFill>
                <a:latin typeface="Calibri"/>
              </a:rPr>
              <a:t>▪ North America: 'Dümmen Orange' leads at ~</a:t>
            </a:r>
          </a:p>
        </p:txBody>
      </p:sp>
      <p:pic>
        <p:nvPicPr>
          <p:cNvPr id="29" name="Picture 28" descr="lock.png"/>
          <p:cNvPicPr>
            <a:picLocks noChangeAspect="1"/>
          </p:cNvPicPr>
          <p:nvPr/>
        </p:nvPicPr>
        <p:blipFill>
          <a:blip r:embed="rId7"/>
          <a:stretch>
            <a:fillRect/>
          </a:stretch>
        </p:blipFill>
        <p:spPr>
          <a:xfrm>
            <a:off x="3014058" y="5012116"/>
            <a:ext cx="134549" cy="195707"/>
          </a:xfrm>
          <a:prstGeom prst="rect">
            <a:avLst/>
          </a:prstGeom>
        </p:spPr>
      </p:pic>
      <p:sp>
        <p:nvSpPr>
          <p:cNvPr id="30" name="TextBox 29"/>
          <p:cNvSpPr txBox="1"/>
          <p:nvPr/>
        </p:nvSpPr>
        <p:spPr>
          <a:xfrm>
            <a:off x="3189167" y="5022340"/>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31" name="Picture 30" descr="lock.png"/>
          <p:cNvPicPr>
            <a:picLocks noChangeAspect="1"/>
          </p:cNvPicPr>
          <p:nvPr/>
        </p:nvPicPr>
        <p:blipFill>
          <a:blip r:embed="rId7"/>
          <a:stretch>
            <a:fillRect/>
          </a:stretch>
        </p:blipFill>
        <p:spPr>
          <a:xfrm>
            <a:off x="4613406" y="5012116"/>
            <a:ext cx="134549" cy="195707"/>
          </a:xfrm>
          <a:prstGeom prst="rect">
            <a:avLst/>
          </a:prstGeom>
        </p:spPr>
      </p:pic>
      <p:sp>
        <p:nvSpPr>
          <p:cNvPr id="32" name="TextBox 31"/>
          <p:cNvSpPr txBox="1"/>
          <p:nvPr/>
        </p:nvSpPr>
        <p:spPr>
          <a:xfrm>
            <a:off x="4788515"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123185" y="5012116"/>
            <a:ext cx="134549" cy="195707"/>
          </a:xfrm>
          <a:prstGeom prst="rect">
            <a:avLst/>
          </a:prstGeom>
        </p:spPr>
      </p:pic>
      <p:sp>
        <p:nvSpPr>
          <p:cNvPr id="34" name="TextBox 33"/>
          <p:cNvSpPr txBox="1"/>
          <p:nvPr/>
        </p:nvSpPr>
        <p:spPr>
          <a:xfrm>
            <a:off x="6298294"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7853750" y="5012116"/>
            <a:ext cx="134549" cy="195707"/>
          </a:xfrm>
          <a:prstGeom prst="rect">
            <a:avLst/>
          </a:prstGeom>
        </p:spPr>
      </p:pic>
      <p:sp>
        <p:nvSpPr>
          <p:cNvPr id="36" name="TextBox 35"/>
          <p:cNvSpPr txBox="1"/>
          <p:nvPr/>
        </p:nvSpPr>
        <p:spPr>
          <a:xfrm>
            <a:off x="8028859"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342542" cy="194310"/>
          </a:xfrm>
          <a:prstGeom prst="rect">
            <a:avLst/>
          </a:prstGeom>
          <a:noFill/>
        </p:spPr>
        <p:txBody>
          <a:bodyPr wrap="none" lIns="0" rIns="0" tIns="0" bIns="0">
            <a:spAutoFit/>
          </a:bodyPr>
          <a:lstStyle/>
          <a:p>
            <a:r>
              <a:rPr sz="1150" b="0">
                <a:solidFill>
                  <a:srgbClr val="2E2E2E"/>
                </a:solidFill>
                <a:latin typeface="Calibri"/>
              </a:rPr>
              <a:t>▪ Europe: 'Dümmen Orange' leads at ~</a:t>
            </a:r>
          </a:p>
        </p:txBody>
      </p:sp>
      <p:pic>
        <p:nvPicPr>
          <p:cNvPr id="38" name="Picture 37" descr="lock.png"/>
          <p:cNvPicPr>
            <a:picLocks noChangeAspect="1"/>
          </p:cNvPicPr>
          <p:nvPr/>
        </p:nvPicPr>
        <p:blipFill>
          <a:blip r:embed="rId7"/>
          <a:stretch>
            <a:fillRect/>
          </a:stretch>
        </p:blipFill>
        <p:spPr>
          <a:xfrm>
            <a:off x="2567921" y="5239954"/>
            <a:ext cx="134549" cy="195707"/>
          </a:xfrm>
          <a:prstGeom prst="rect">
            <a:avLst/>
          </a:prstGeom>
        </p:spPr>
      </p:pic>
      <p:sp>
        <p:nvSpPr>
          <p:cNvPr id="39" name="TextBox 38"/>
          <p:cNvSpPr txBox="1"/>
          <p:nvPr/>
        </p:nvSpPr>
        <p:spPr>
          <a:xfrm>
            <a:off x="2743030" y="5250177"/>
            <a:ext cx="2512553" cy="194310"/>
          </a:xfrm>
          <a:prstGeom prst="rect">
            <a:avLst/>
          </a:prstGeom>
          <a:noFill/>
        </p:spPr>
        <p:txBody>
          <a:bodyPr wrap="none" lIns="0" rIns="0" tIns="0" bIns="0">
            <a:spAutoFit/>
          </a:bodyPr>
          <a:lstStyle/>
          <a:p>
            <a:r>
              <a:rPr sz="1150" b="0">
                <a:solidFill>
                  <a:srgbClr val="2E2E2E"/>
                </a:solidFill>
                <a:latin typeface="Calibri"/>
              </a:rPr>
              <a:t>, ahead of 'Ball Horticultural Company' (~</a:t>
            </a:r>
          </a:p>
        </p:txBody>
      </p:sp>
      <p:pic>
        <p:nvPicPr>
          <p:cNvPr id="40" name="Picture 39" descr="lock.png"/>
          <p:cNvPicPr>
            <a:picLocks noChangeAspect="1"/>
          </p:cNvPicPr>
          <p:nvPr/>
        </p:nvPicPr>
        <p:blipFill>
          <a:blip r:embed="rId7"/>
          <a:stretch>
            <a:fillRect/>
          </a:stretch>
        </p:blipFill>
        <p:spPr>
          <a:xfrm>
            <a:off x="5204738" y="5239954"/>
            <a:ext cx="134549" cy="195707"/>
          </a:xfrm>
          <a:prstGeom prst="rect">
            <a:avLst/>
          </a:prstGeom>
        </p:spPr>
      </p:pic>
      <p:sp>
        <p:nvSpPr>
          <p:cNvPr id="41" name="TextBox 40"/>
          <p:cNvSpPr txBox="1"/>
          <p:nvPr/>
        </p:nvSpPr>
        <p:spPr>
          <a:xfrm>
            <a:off x="5379847"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714516" y="5239954"/>
            <a:ext cx="134549" cy="195707"/>
          </a:xfrm>
          <a:prstGeom prst="rect">
            <a:avLst/>
          </a:prstGeom>
        </p:spPr>
      </p:pic>
      <p:sp>
        <p:nvSpPr>
          <p:cNvPr id="43" name="TextBox 42"/>
          <p:cNvSpPr txBox="1"/>
          <p:nvPr/>
        </p:nvSpPr>
        <p:spPr>
          <a:xfrm>
            <a:off x="6889625"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445081" y="5239954"/>
            <a:ext cx="134549" cy="195707"/>
          </a:xfrm>
          <a:prstGeom prst="rect">
            <a:avLst/>
          </a:prstGeom>
        </p:spPr>
      </p:pic>
      <p:sp>
        <p:nvSpPr>
          <p:cNvPr id="45" name="TextBox 44"/>
          <p:cNvSpPr txBox="1"/>
          <p:nvPr/>
        </p:nvSpPr>
        <p:spPr>
          <a:xfrm>
            <a:off x="8620191"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3113298" cy="194310"/>
          </a:xfrm>
          <a:prstGeom prst="rect">
            <a:avLst/>
          </a:prstGeom>
          <a:noFill/>
        </p:spPr>
        <p:txBody>
          <a:bodyPr wrap="none" lIns="0" rIns="0" tIns="0" bIns="0">
            <a:spAutoFit/>
          </a:bodyPr>
          <a:lstStyle/>
          <a:p>
            <a:r>
              <a:rPr sz="1150" b="0">
                <a:solidFill>
                  <a:srgbClr val="2E2E2E"/>
                </a:solidFill>
                <a:latin typeface="Calibri"/>
              </a:rPr>
              <a:t>▪ South Asia &amp; Pacific: 'Syngenta Flowers' leads at ~</a:t>
            </a:r>
          </a:p>
        </p:txBody>
      </p:sp>
      <p:pic>
        <p:nvPicPr>
          <p:cNvPr id="47" name="Picture 46" descr="lock.png"/>
          <p:cNvPicPr>
            <a:picLocks noChangeAspect="1"/>
          </p:cNvPicPr>
          <p:nvPr/>
        </p:nvPicPr>
        <p:blipFill>
          <a:blip r:embed="rId7"/>
          <a:stretch>
            <a:fillRect/>
          </a:stretch>
        </p:blipFill>
        <p:spPr>
          <a:xfrm>
            <a:off x="3338677" y="5467792"/>
            <a:ext cx="134549" cy="195707"/>
          </a:xfrm>
          <a:prstGeom prst="rect">
            <a:avLst/>
          </a:prstGeom>
        </p:spPr>
      </p:pic>
      <p:sp>
        <p:nvSpPr>
          <p:cNvPr id="48" name="TextBox 47"/>
          <p:cNvSpPr txBox="1"/>
          <p:nvPr/>
        </p:nvSpPr>
        <p:spPr>
          <a:xfrm>
            <a:off x="3513786" y="5478015"/>
            <a:ext cx="1475085" cy="194310"/>
          </a:xfrm>
          <a:prstGeom prst="rect">
            <a:avLst/>
          </a:prstGeom>
          <a:noFill/>
        </p:spPr>
        <p:txBody>
          <a:bodyPr wrap="none" lIns="0" rIns="0" tIns="0" bIns="0">
            <a:spAutoFit/>
          </a:bodyPr>
          <a:lstStyle/>
          <a:p>
            <a:r>
              <a:rPr sz="1150" b="0">
                <a:solidFill>
                  <a:srgbClr val="2E2E2E"/>
                </a:solidFill>
                <a:latin typeface="Calibri"/>
              </a:rPr>
              <a:t>, ahead of 'Company' (~</a:t>
            </a:r>
          </a:p>
        </p:txBody>
      </p:sp>
      <p:pic>
        <p:nvPicPr>
          <p:cNvPr id="49" name="Picture 48" descr="lock.png"/>
          <p:cNvPicPr>
            <a:picLocks noChangeAspect="1"/>
          </p:cNvPicPr>
          <p:nvPr/>
        </p:nvPicPr>
        <p:blipFill>
          <a:blip r:embed="rId7"/>
          <a:stretch>
            <a:fillRect/>
          </a:stretch>
        </p:blipFill>
        <p:spPr>
          <a:xfrm>
            <a:off x="4938025" y="5467792"/>
            <a:ext cx="134549" cy="195707"/>
          </a:xfrm>
          <a:prstGeom prst="rect">
            <a:avLst/>
          </a:prstGeom>
        </p:spPr>
      </p:pic>
      <p:sp>
        <p:nvSpPr>
          <p:cNvPr id="50" name="TextBox 49"/>
          <p:cNvSpPr txBox="1"/>
          <p:nvPr/>
        </p:nvSpPr>
        <p:spPr>
          <a:xfrm>
            <a:off x="5113134"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447804" y="5467792"/>
            <a:ext cx="134549" cy="195707"/>
          </a:xfrm>
          <a:prstGeom prst="rect">
            <a:avLst/>
          </a:prstGeom>
        </p:spPr>
      </p:pic>
      <p:sp>
        <p:nvSpPr>
          <p:cNvPr id="52" name="TextBox 51"/>
          <p:cNvSpPr txBox="1"/>
          <p:nvPr/>
        </p:nvSpPr>
        <p:spPr>
          <a:xfrm>
            <a:off x="6622913"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178369" y="5467792"/>
            <a:ext cx="134549" cy="195707"/>
          </a:xfrm>
          <a:prstGeom prst="rect">
            <a:avLst/>
          </a:prstGeom>
        </p:spPr>
      </p:pic>
      <p:sp>
        <p:nvSpPr>
          <p:cNvPr id="54" name="TextBox 53"/>
          <p:cNvSpPr txBox="1"/>
          <p:nvPr/>
        </p:nvSpPr>
        <p:spPr>
          <a:xfrm>
            <a:off x="8353478"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Floriculture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Dümmen Orange</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Syngenta Flowers</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Ball Horticultural Company</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Selecta One</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Dümmen Orange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Dümmen Orange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Dümmen Orange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Dümmen Orange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Dümmen Orange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Dümmen Orange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Dümmen Orange: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210462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6086073" y="3299104"/>
            <a:ext cx="197242" cy="286897"/>
          </a:xfrm>
          <a:prstGeom prst="rect">
            <a:avLst/>
          </a:prstGeom>
        </p:spPr>
      </p:pic>
      <p:pic>
        <p:nvPicPr>
          <p:cNvPr id="36" name="Picture 35" descr="lock.png"/>
          <p:cNvPicPr>
            <a:picLocks noChangeAspect="1"/>
          </p:cNvPicPr>
          <p:nvPr/>
        </p:nvPicPr>
        <p:blipFill>
          <a:blip r:embed="rId7"/>
          <a:stretch>
            <a:fillRect/>
          </a:stretch>
        </p:blipFill>
        <p:spPr>
          <a:xfrm>
            <a:off x="9278088" y="3145920"/>
            <a:ext cx="444576" cy="646656"/>
          </a:xfrm>
          <a:prstGeom prst="rect">
            <a:avLst/>
          </a:prstGeom>
        </p:spPr>
      </p:pic>
      <p:sp>
        <p:nvSpPr>
          <p:cNvPr id="37" name="TextBox 36"/>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8" name="Picture 37" descr="lock.png"/>
          <p:cNvPicPr>
            <a:picLocks noChangeAspect="1"/>
          </p:cNvPicPr>
          <p:nvPr/>
        </p:nvPicPr>
        <p:blipFill>
          <a:blip r:embed="rId7"/>
          <a:stretch>
            <a:fillRect/>
          </a:stretch>
        </p:blipFill>
        <p:spPr>
          <a:xfrm>
            <a:off x="6017010" y="1533061"/>
            <a:ext cx="133378" cy="194005"/>
          </a:xfrm>
          <a:prstGeom prst="rect">
            <a:avLst/>
          </a:prstGeom>
        </p:spPr>
      </p:pic>
      <p:pic>
        <p:nvPicPr>
          <p:cNvPr id="39" name="Picture 38" descr="lock.png"/>
          <p:cNvPicPr>
            <a:picLocks noChangeAspect="1"/>
          </p:cNvPicPr>
          <p:nvPr/>
        </p:nvPicPr>
        <p:blipFill>
          <a:blip r:embed="rId7"/>
          <a:stretch>
            <a:fillRect/>
          </a:stretch>
        </p:blipFill>
        <p:spPr>
          <a:xfrm>
            <a:off x="5865805" y="1761621"/>
            <a:ext cx="97811" cy="142270"/>
          </a:xfrm>
          <a:prstGeom prst="rect">
            <a:avLst/>
          </a:prstGeom>
        </p:spPr>
      </p:pic>
      <p:sp>
        <p:nvSpPr>
          <p:cNvPr id="40" name="TextBox 39"/>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1" name="TextBox 40"/>
          <p:cNvSpPr txBox="1"/>
          <p:nvPr/>
        </p:nvSpPr>
        <p:spPr>
          <a:xfrm>
            <a:off x="276225" y="5204877"/>
            <a:ext cx="2852576" cy="194310"/>
          </a:xfrm>
          <a:prstGeom prst="rect">
            <a:avLst/>
          </a:prstGeom>
          <a:noFill/>
        </p:spPr>
        <p:txBody>
          <a:bodyPr wrap="none" lIns="0" rIns="0" tIns="0" bIns="0">
            <a:spAutoFit/>
          </a:bodyPr>
          <a:lstStyle/>
          <a:p>
            <a:r>
              <a:rPr sz="1150" b="0">
                <a:solidFill>
                  <a:srgbClr val="2E2E2E"/>
                </a:solidFill>
                <a:latin typeface="Calibri"/>
              </a:rPr>
              <a:t>▪ Market Position: Dümmen Orange captures ~</a:t>
            </a:r>
          </a:p>
        </p:txBody>
      </p:sp>
      <p:pic>
        <p:nvPicPr>
          <p:cNvPr id="42" name="Picture 41" descr="lock.png"/>
          <p:cNvPicPr>
            <a:picLocks noChangeAspect="1"/>
          </p:cNvPicPr>
          <p:nvPr/>
        </p:nvPicPr>
        <p:blipFill>
          <a:blip r:embed="rId7"/>
          <a:stretch>
            <a:fillRect/>
          </a:stretch>
        </p:blipFill>
        <p:spPr>
          <a:xfrm>
            <a:off x="3077955" y="5194653"/>
            <a:ext cx="134549" cy="195707"/>
          </a:xfrm>
          <a:prstGeom prst="rect">
            <a:avLst/>
          </a:prstGeom>
        </p:spPr>
      </p:pic>
      <p:sp>
        <p:nvSpPr>
          <p:cNvPr id="43" name="TextBox 42"/>
          <p:cNvSpPr txBox="1"/>
          <p:nvPr/>
        </p:nvSpPr>
        <p:spPr>
          <a:xfrm>
            <a:off x="3253064" y="5204877"/>
            <a:ext cx="5218757"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'Garden Centers &amp; Plant Nurseries'.</a:t>
            </a:r>
          </a:p>
        </p:txBody>
      </p:sp>
      <p:sp>
        <p:nvSpPr>
          <p:cNvPr id="44" name="TextBox 43"/>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5" name="Picture 44" descr="lock.png"/>
          <p:cNvPicPr>
            <a:picLocks noChangeAspect="1"/>
          </p:cNvPicPr>
          <p:nvPr/>
        </p:nvPicPr>
        <p:blipFill>
          <a:blip r:embed="rId7"/>
          <a:stretch>
            <a:fillRect/>
          </a:stretch>
        </p:blipFill>
        <p:spPr>
          <a:xfrm>
            <a:off x="7583825" y="5422491"/>
            <a:ext cx="134549" cy="195707"/>
          </a:xfrm>
          <a:prstGeom prst="rect">
            <a:avLst/>
          </a:prstGeom>
        </p:spPr>
      </p:pic>
      <p:sp>
        <p:nvSpPr>
          <p:cNvPr id="46" name="TextBox 45"/>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7" name="TextBox 46"/>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8" name="Picture 47" descr="lock.png"/>
          <p:cNvPicPr>
            <a:picLocks noChangeAspect="1"/>
          </p:cNvPicPr>
          <p:nvPr/>
        </p:nvPicPr>
        <p:blipFill>
          <a:blip r:embed="rId7"/>
          <a:stretch>
            <a:fillRect/>
          </a:stretch>
        </p:blipFill>
        <p:spPr>
          <a:xfrm>
            <a:off x="1617169" y="5650329"/>
            <a:ext cx="134549" cy="195707"/>
          </a:xfrm>
          <a:prstGeom prst="rect">
            <a:avLst/>
          </a:prstGeom>
        </p:spPr>
      </p:pic>
      <p:sp>
        <p:nvSpPr>
          <p:cNvPr id="49" name="TextBox 48"/>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50" name="Picture 49" descr="lock.png"/>
          <p:cNvPicPr>
            <a:picLocks noChangeAspect="1"/>
          </p:cNvPicPr>
          <p:nvPr/>
        </p:nvPicPr>
        <p:blipFill>
          <a:blip r:embed="rId7"/>
          <a:stretch>
            <a:fillRect/>
          </a:stretch>
        </p:blipFill>
        <p:spPr>
          <a:xfrm>
            <a:off x="2870505" y="5650329"/>
            <a:ext cx="134549" cy="195707"/>
          </a:xfrm>
          <a:prstGeom prst="rect">
            <a:avLst/>
          </a:prstGeom>
        </p:spPr>
      </p:pic>
      <p:sp>
        <p:nvSpPr>
          <p:cNvPr id="51" name="TextBox 50"/>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2" name="TextBox 51"/>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3" name="Picture 52" descr="lock.png"/>
          <p:cNvPicPr>
            <a:picLocks noChangeAspect="1"/>
          </p:cNvPicPr>
          <p:nvPr/>
        </p:nvPicPr>
        <p:blipFill>
          <a:blip r:embed="rId7"/>
          <a:stretch>
            <a:fillRect/>
          </a:stretch>
        </p:blipFill>
        <p:spPr>
          <a:xfrm>
            <a:off x="1578914" y="5878167"/>
            <a:ext cx="134549" cy="195707"/>
          </a:xfrm>
          <a:prstGeom prst="rect">
            <a:avLst/>
          </a:prstGeom>
        </p:spPr>
      </p:pic>
      <p:sp>
        <p:nvSpPr>
          <p:cNvPr id="54" name="TextBox 53"/>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5" name="Picture 54" descr="lock.png"/>
          <p:cNvPicPr>
            <a:picLocks noChangeAspect="1"/>
          </p:cNvPicPr>
          <p:nvPr/>
        </p:nvPicPr>
        <p:blipFill>
          <a:blip r:embed="rId7"/>
          <a:stretch>
            <a:fillRect/>
          </a:stretch>
        </p:blipFill>
        <p:spPr>
          <a:xfrm>
            <a:off x="2775769" y="5878167"/>
            <a:ext cx="134549" cy="195707"/>
          </a:xfrm>
          <a:prstGeom prst="rect">
            <a:avLst/>
          </a:prstGeom>
        </p:spPr>
      </p:pic>
      <p:sp>
        <p:nvSpPr>
          <p:cNvPr id="56" name="TextBox 55"/>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7" name="Picture 56" descr="lock.png"/>
          <p:cNvPicPr>
            <a:picLocks noChangeAspect="1"/>
          </p:cNvPicPr>
          <p:nvPr/>
        </p:nvPicPr>
        <p:blipFill>
          <a:blip r:embed="rId7"/>
          <a:stretch>
            <a:fillRect/>
          </a:stretch>
        </p:blipFill>
        <p:spPr>
          <a:xfrm>
            <a:off x="4037092" y="5878167"/>
            <a:ext cx="134549" cy="195707"/>
          </a:xfrm>
          <a:prstGeom prst="rect">
            <a:avLst/>
          </a:prstGeom>
        </p:spPr>
      </p:pic>
      <p:sp>
        <p:nvSpPr>
          <p:cNvPr id="58" name="TextBox 57"/>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9"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Dümmen Orange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Dümmen Orange: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Dümmen Orange</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Dümmen Orange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Dümmen Orange: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Dümmen Orange: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'Cut Flowers'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Dümmen Orange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Dümmen Orange's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Dümmen Orange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Dümmen Orange Financial Performance</a:t>
            </a:r>
          </a:p>
        </p:txBody>
      </p:sp>
      <p:graphicFrame>
        <p:nvGraphicFramePr>
          <p:cNvPr id="13" name="Table 12"/>
          <p:cNvGraphicFramePr>
            <a:graphicFrameLocks noGrp="1"/>
          </p:cNvGraphicFramePr>
          <p:nvPr/>
        </p:nvGraphicFramePr>
        <p:xfrm>
          <a:off x="152400" y="1611256"/>
          <a:ext cx="5886451" cy="1449914"/>
        </p:xfrm>
        <a:graphic>
          <a:graphicData uri="http://schemas.openxmlformats.org/drawingml/2006/table">
            <a:tbl>
              <a:tblPr>
                <a:tableStyleId>{5C22544A-7EE6-4342-B048-85BDC9FD1C3A}</a:tableStyleId>
              </a:tblPr>
              <a:tblGrid>
                <a:gridCol w="2383566"/>
                <a:gridCol w="700577"/>
                <a:gridCol w="700577"/>
                <a:gridCol w="700577"/>
                <a:gridCol w="700577"/>
                <a:gridCol w="700577"/>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Dümmen Orange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Dümmen Orange Pricing Analysis (US$/Units)</a:t>
            </a:r>
          </a:p>
        </p:txBody>
      </p:sp>
      <p:graphicFrame>
        <p:nvGraphicFramePr>
          <p:cNvPr id="21" name="Table 20"/>
          <p:cNvGraphicFramePr>
            <a:graphicFrameLocks noGrp="1"/>
          </p:cNvGraphicFramePr>
          <p:nvPr/>
        </p:nvGraphicFramePr>
        <p:xfrm>
          <a:off x="6210300" y="1611256"/>
          <a:ext cx="5829299" cy="4772086"/>
        </p:xfrm>
        <a:graphic>
          <a:graphicData uri="http://schemas.openxmlformats.org/drawingml/2006/table">
            <a:tbl>
              <a:tblPr>
                <a:tableStyleId>{5C22544A-7EE6-4342-B048-85BDC9FD1C3A}</a:tableStyleId>
              </a:tblPr>
              <a:tblGrid>
                <a:gridCol w="4059625"/>
                <a:gridCol w="884837"/>
                <a:gridCol w="884837"/>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Cut Flowers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Cut Foliage &amp; Greens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Bedding &amp; Garden Flowering Plants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Potted Flowering Plants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1938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968072" y="3853662"/>
            <a:ext cx="366712" cy="533400"/>
          </a:xfrm>
          <a:prstGeom prst="rect">
            <a:avLst/>
          </a:prstGeom>
        </p:spPr>
      </p:pic>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Dümmen Orange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Dümmen Orange's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Dümmen Orange: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330862" cy="194310"/>
          </a:xfrm>
          <a:prstGeom prst="rect">
            <a:avLst/>
          </a:prstGeom>
          <a:noFill/>
        </p:spPr>
        <p:txBody>
          <a:bodyPr wrap="none" lIns="0" rIns="0" tIns="0" bIns="0">
            <a:spAutoFit/>
          </a:bodyPr>
          <a:lstStyle/>
          <a:p>
            <a:r>
              <a:rPr sz="1150" b="0">
                <a:solidFill>
                  <a:srgbClr val="2E2E2E"/>
                </a:solidFill>
                <a:latin typeface="Calibri"/>
              </a:rPr>
              <a:t>▪ Defend and extend leadership in 'Garden Centers &amp; Plant Nurseries' Dümmen Orange's</a:t>
            </a:r>
          </a:p>
        </p:txBody>
      </p:sp>
      <p:sp>
        <p:nvSpPr>
          <p:cNvPr id="31" name="TextBox 30"/>
          <p:cNvSpPr txBox="1"/>
          <p:nvPr/>
        </p:nvSpPr>
        <p:spPr>
          <a:xfrm>
            <a:off x="276225" y="2678589"/>
            <a:ext cx="3766529" cy="194310"/>
          </a:xfrm>
          <a:prstGeom prst="rect">
            <a:avLst/>
          </a:prstGeom>
          <a:noFill/>
        </p:spPr>
        <p:txBody>
          <a:bodyPr wrap="none" lIns="0" rIns="0" tIns="0" bIns="0">
            <a:spAutoFit/>
          </a:bodyPr>
          <a:lstStyle/>
          <a:p>
            <a:r>
              <a:rPr sz="1150" b="0">
                <a:solidFill>
                  <a:srgbClr val="2E2E2E"/>
                </a:solidFill>
                <a:latin typeface="Calibri"/>
              </a:rPr>
              <a:t>strongest end-market while 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543946" cy="194310"/>
          </a:xfrm>
          <a:prstGeom prst="rect">
            <a:avLst/>
          </a:prstGeom>
          <a:noFill/>
        </p:spPr>
        <p:txBody>
          <a:bodyPr wrap="none" lIns="0" rIns="0" tIns="0" bIns="0">
            <a:spAutoFit/>
          </a:bodyPr>
          <a:lstStyle/>
          <a:p>
            <a:r>
              <a:rPr sz="1150" b="0">
                <a:solidFill>
                  <a:srgbClr val="2E2E2E"/>
                </a:solidFill>
                <a:latin typeface="Calibri"/>
              </a:rPr>
              <a:t>▪ Premiumise the portfolio around 'Cut Flowers' and adjacent high-value lines to lift blended</a:t>
            </a:r>
          </a:p>
        </p:txBody>
      </p:sp>
      <p:sp>
        <p:nvSpPr>
          <p:cNvPr id="46" name="TextBox 45"/>
          <p:cNvSpPr txBox="1"/>
          <p:nvPr/>
        </p:nvSpPr>
        <p:spPr>
          <a:xfrm>
            <a:off x="6334125" y="2678589"/>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Floriculture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8</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40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Dümmen Orange</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2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4 of 8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Company, Dümmen Orange, Syngenta Flowers.</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979098" cy="179984"/>
          </a:xfrm>
          <a:prstGeom prst="rect">
            <a:avLst/>
          </a:prstGeom>
          <a:noFill/>
        </p:spPr>
        <p:txBody>
          <a:bodyPr wrap="none" lIns="0" rIns="0" tIns="0" bIns="0">
            <a:spAutoFit/>
          </a:bodyPr>
          <a:lstStyle/>
          <a:p>
            <a:r>
              <a:rPr sz="1055" b="1">
                <a:solidFill>
                  <a:srgbClr val="0F2D52"/>
                </a:solidFill>
                <a:latin typeface="Calibri"/>
              </a:rPr>
              <a:t>Supermarkets &amp;</a:t>
            </a:r>
          </a:p>
        </p:txBody>
      </p:sp>
      <p:sp>
        <p:nvSpPr>
          <p:cNvPr id="68" name="TextBox 67"/>
          <p:cNvSpPr txBox="1"/>
          <p:nvPr/>
        </p:nvSpPr>
        <p:spPr>
          <a:xfrm>
            <a:off x="4705350" y="1465859"/>
            <a:ext cx="901565" cy="179984"/>
          </a:xfrm>
          <a:prstGeom prst="rect">
            <a:avLst/>
          </a:prstGeom>
          <a:noFill/>
        </p:spPr>
        <p:txBody>
          <a:bodyPr wrap="none" lIns="0" rIns="0" tIns="0" bIns="0">
            <a:spAutoFit/>
          </a:bodyPr>
          <a:lstStyle/>
          <a:p>
            <a:r>
              <a:rPr sz="1055" b="1">
                <a:solidFill>
                  <a:srgbClr val="0F2D52"/>
                </a:solidFill>
                <a:latin typeface="Calibri"/>
              </a:rPr>
              <a:t>Hypermarkets,</a:t>
            </a:r>
          </a:p>
        </p:txBody>
      </p:sp>
      <p:pic>
        <p:nvPicPr>
          <p:cNvPr id="69" name="Picture 68" descr="lock.png"/>
          <p:cNvPicPr>
            <a:picLocks noChangeAspect="1"/>
          </p:cNvPicPr>
          <p:nvPr/>
        </p:nvPicPr>
        <p:blipFill>
          <a:blip r:embed="rId4"/>
          <a:stretch>
            <a:fillRect/>
          </a:stretch>
        </p:blipFill>
        <p:spPr>
          <a:xfrm>
            <a:off x="5553996" y="1456471"/>
            <a:ext cx="123551" cy="179710"/>
          </a:xfrm>
          <a:prstGeom prst="rect">
            <a:avLst/>
          </a:prstGeom>
        </p:spPr>
      </p:pic>
      <p:sp>
        <p:nvSpPr>
          <p:cNvPr id="70" name="TextBox 69"/>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1" name="Picture 70" descr="lock.png"/>
          <p:cNvPicPr>
            <a:picLocks noChangeAspect="1"/>
          </p:cNvPicPr>
          <p:nvPr/>
        </p:nvPicPr>
        <p:blipFill>
          <a:blip r:embed="rId4"/>
          <a:stretch>
            <a:fillRect/>
          </a:stretch>
        </p:blipFill>
        <p:spPr>
          <a:xfrm>
            <a:off x="1609246" y="2114296"/>
            <a:ext cx="128699" cy="187198"/>
          </a:xfrm>
          <a:prstGeom prst="rect">
            <a:avLst/>
          </a:prstGeom>
        </p:spPr>
      </p:pic>
      <p:sp>
        <p:nvSpPr>
          <p:cNvPr id="72" name="TextBox 71"/>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3" name="TextBox 72"/>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4" name="TextBox 73"/>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5" name="Picture 74" descr="lock.png"/>
          <p:cNvPicPr>
            <a:picLocks noChangeAspect="1"/>
          </p:cNvPicPr>
          <p:nvPr/>
        </p:nvPicPr>
        <p:blipFill>
          <a:blip r:embed="rId4"/>
          <a:stretch>
            <a:fillRect/>
          </a:stretch>
        </p:blipFill>
        <p:spPr>
          <a:xfrm>
            <a:off x="1835985" y="3219196"/>
            <a:ext cx="128699" cy="187198"/>
          </a:xfrm>
          <a:prstGeom prst="rect">
            <a:avLst/>
          </a:prstGeom>
        </p:spPr>
      </p:pic>
      <p:sp>
        <p:nvSpPr>
          <p:cNvPr id="76" name="TextBox 75"/>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7" name="Picture 76" descr="lock.png"/>
          <p:cNvPicPr>
            <a:picLocks noChangeAspect="1"/>
          </p:cNvPicPr>
          <p:nvPr/>
        </p:nvPicPr>
        <p:blipFill>
          <a:blip r:embed="rId4"/>
          <a:stretch>
            <a:fillRect/>
          </a:stretch>
        </p:blipFill>
        <p:spPr>
          <a:xfrm>
            <a:off x="3827189" y="3219196"/>
            <a:ext cx="128699" cy="187198"/>
          </a:xfrm>
          <a:prstGeom prst="rect">
            <a:avLst/>
          </a:prstGeom>
        </p:spPr>
      </p:pic>
      <p:sp>
        <p:nvSpPr>
          <p:cNvPr id="78" name="TextBox 77"/>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9" name="TextBox 78"/>
          <p:cNvSpPr txBox="1"/>
          <p:nvPr/>
        </p:nvSpPr>
        <p:spPr>
          <a:xfrm>
            <a:off x="523875" y="4333875"/>
            <a:ext cx="4775765" cy="186689"/>
          </a:xfrm>
          <a:prstGeom prst="rect">
            <a:avLst/>
          </a:prstGeom>
          <a:noFill/>
        </p:spPr>
        <p:txBody>
          <a:bodyPr wrap="none" lIns="0" rIns="0" tIns="0" bIns="0">
            <a:spAutoFit/>
          </a:bodyPr>
          <a:lstStyle/>
          <a:p>
            <a:r>
              <a:rPr sz="1100" b="0">
                <a:solidFill>
                  <a:srgbClr val="1F2933"/>
                </a:solidFill>
                <a:latin typeface="Calibri"/>
              </a:rPr>
              <a:t>'Cut Foliage &amp; Greens' is the largest line; 'Flower Bulbs, Corms, Rhizomes &amp; Tubers'</a:t>
            </a:r>
          </a:p>
        </p:txBody>
      </p:sp>
      <p:sp>
        <p:nvSpPr>
          <p:cNvPr id="80" name="TextBox 79"/>
          <p:cNvSpPr txBox="1"/>
          <p:nvPr/>
        </p:nvSpPr>
        <p:spPr>
          <a:xfrm>
            <a:off x="523875" y="4501515"/>
            <a:ext cx="1301576" cy="186689"/>
          </a:xfrm>
          <a:prstGeom prst="rect">
            <a:avLst/>
          </a:prstGeom>
          <a:noFill/>
        </p:spPr>
        <p:txBody>
          <a:bodyPr wrap="none" lIns="0" rIns="0" tIns="0" bIns="0">
            <a:spAutoFit/>
          </a:bodyPr>
          <a:lstStyle/>
          <a:p>
            <a:r>
              <a:rPr sz="1100" b="0">
                <a:solidFill>
                  <a:srgbClr val="1F2933"/>
                </a:solidFill>
                <a:latin typeface="Calibri"/>
              </a:rPr>
              <a:t>compounds fastest at</a:t>
            </a:r>
          </a:p>
        </p:txBody>
      </p:sp>
      <p:pic>
        <p:nvPicPr>
          <p:cNvPr id="81" name="Picture 80" descr="lock.png"/>
          <p:cNvPicPr>
            <a:picLocks noChangeAspect="1"/>
          </p:cNvPicPr>
          <p:nvPr/>
        </p:nvPicPr>
        <p:blipFill>
          <a:blip r:embed="rId4"/>
          <a:stretch>
            <a:fillRect/>
          </a:stretch>
        </p:blipFill>
        <p:spPr>
          <a:xfrm>
            <a:off x="1773502" y="4491736"/>
            <a:ext cx="128699" cy="187198"/>
          </a:xfrm>
          <a:prstGeom prst="rect">
            <a:avLst/>
          </a:prstGeom>
        </p:spPr>
      </p:pic>
      <p:sp>
        <p:nvSpPr>
          <p:cNvPr id="82" name="TextBox 81"/>
          <p:cNvSpPr txBox="1"/>
          <p:nvPr/>
        </p:nvSpPr>
        <p:spPr>
          <a:xfrm>
            <a:off x="1940998"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804315"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728115"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994815" y="1257300"/>
            <a:ext cx="1636451"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51965" y="1257300"/>
            <a:ext cx="1560251"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631266" y="1257300"/>
            <a:ext cx="184769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8416" y="1257300"/>
            <a:ext cx="177149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Dümmen Orange, Company, Syngenta Flowers</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Ball Horticultural Company, Selecta One</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Florensis, HilverdaFlorist, Royal Van Zanten</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212479"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Cut Foliage &amp; Greens</a:t>
            </a:r>
          </a:p>
        </p:txBody>
      </p:sp>
      <p:sp>
        <p:nvSpPr>
          <p:cNvPr id="30" name="TextBox 29"/>
          <p:cNvSpPr txBox="1"/>
          <p:nvPr/>
        </p:nvSpPr>
        <p:spPr>
          <a:xfrm>
            <a:off x="3438488"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Bedding &amp; Garden Flowering Plants</a:t>
            </a:r>
          </a:p>
        </p:txBody>
      </p:sp>
      <p:sp>
        <p:nvSpPr>
          <p:cNvPr id="31" name="TextBox 30"/>
          <p:cNvSpPr txBox="1"/>
          <p:nvPr/>
        </p:nvSpPr>
        <p:spPr>
          <a:xfrm>
            <a:off x="4664497"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Cut Flowers</a:t>
            </a:r>
          </a:p>
        </p:txBody>
      </p:sp>
      <p:sp>
        <p:nvSpPr>
          <p:cNvPr id="32" name="TextBox 31"/>
          <p:cNvSpPr txBox="1"/>
          <p:nvPr/>
        </p:nvSpPr>
        <p:spPr>
          <a:xfrm>
            <a:off x="5890506"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Potted Flowering Plants</a:t>
            </a:r>
          </a:p>
        </p:txBody>
      </p:sp>
      <p:sp>
        <p:nvSpPr>
          <p:cNvPr id="33" name="TextBox 32"/>
          <p:cNvSpPr txBox="1"/>
          <p:nvPr/>
        </p:nvSpPr>
        <p:spPr>
          <a:xfrm>
            <a:off x="7116515"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Supermarkets &amp; Hypermarkets</a:t>
            </a:r>
          </a:p>
        </p:txBody>
      </p:sp>
      <p:sp>
        <p:nvSpPr>
          <p:cNvPr id="34" name="TextBox 33"/>
          <p:cNvSpPr txBox="1"/>
          <p:nvPr/>
        </p:nvSpPr>
        <p:spPr>
          <a:xfrm>
            <a:off x="8342524"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Florists &amp; Specialty Flower Shops</a:t>
            </a:r>
          </a:p>
        </p:txBody>
      </p:sp>
      <p:sp>
        <p:nvSpPr>
          <p:cNvPr id="35" name="TextBox 34"/>
          <p:cNvSpPr txBox="1"/>
          <p:nvPr/>
        </p:nvSpPr>
        <p:spPr>
          <a:xfrm>
            <a:off x="9568532"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Direct Sales to Commercial &amp; Institutional Buyers</a:t>
            </a:r>
          </a:p>
        </p:txBody>
      </p:sp>
      <p:sp>
        <p:nvSpPr>
          <p:cNvPr id="36" name="TextBox 35"/>
          <p:cNvSpPr txBox="1"/>
          <p:nvPr/>
        </p:nvSpPr>
        <p:spPr>
          <a:xfrm>
            <a:off x="10794541" y="2114550"/>
            <a:ext cx="1187909"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Online / E-commerce</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6289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Dümmen Orange</a:t>
            </a:r>
          </a:p>
        </p:txBody>
      </p:sp>
      <p:sp>
        <p:nvSpPr>
          <p:cNvPr id="40" name="TextBox 39"/>
          <p:cNvSpPr txBox="1"/>
          <p:nvPr/>
        </p:nvSpPr>
        <p:spPr>
          <a:xfrm>
            <a:off x="285750" y="27908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Oval 40"/>
          <p:cNvSpPr/>
          <p:nvPr/>
        </p:nvSpPr>
        <p:spPr>
          <a:xfrm>
            <a:off x="2730234"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09875" y="2705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956243"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18225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08260"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634269"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705725" y="2705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860278"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93445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08628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1229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718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55" name="TextBox 54"/>
          <p:cNvSpPr txBox="1"/>
          <p:nvPr/>
        </p:nvSpPr>
        <p:spPr>
          <a:xfrm>
            <a:off x="285750" y="31337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Oval 55"/>
          <p:cNvSpPr/>
          <p:nvPr/>
        </p:nvSpPr>
        <p:spPr>
          <a:xfrm>
            <a:off x="273023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80987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956243"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18225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52578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40826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64865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63426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705725"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860278"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08628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1631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31229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139190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3147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Syngenta Flowers</a:t>
            </a:r>
          </a:p>
        </p:txBody>
      </p:sp>
      <p:sp>
        <p:nvSpPr>
          <p:cNvPr id="73" name="TextBox 72"/>
          <p:cNvSpPr txBox="1"/>
          <p:nvPr/>
        </p:nvSpPr>
        <p:spPr>
          <a:xfrm>
            <a:off x="285750" y="34766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4" name="Oval 73"/>
          <p:cNvSpPr/>
          <p:nvPr/>
        </p:nvSpPr>
        <p:spPr>
          <a:xfrm>
            <a:off x="2730234"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956243"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029075"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518225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525780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408260"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634269"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860278"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893445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08628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101631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131229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139190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85750" y="36576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Ball Horticultural Company</a:t>
            </a:r>
          </a:p>
        </p:txBody>
      </p:sp>
      <p:sp>
        <p:nvSpPr>
          <p:cNvPr id="90" name="TextBox 89"/>
          <p:cNvSpPr txBox="1"/>
          <p:nvPr/>
        </p:nvSpPr>
        <p:spPr>
          <a:xfrm>
            <a:off x="285750" y="38195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91" name="Oval 90"/>
          <p:cNvSpPr/>
          <p:nvPr/>
        </p:nvSpPr>
        <p:spPr>
          <a:xfrm>
            <a:off x="273023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280987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956243"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4029075"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518225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640826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reeform 96"/>
          <p:cNvSpPr/>
          <p:nvPr/>
        </p:nvSpPr>
        <p:spPr>
          <a:xfrm>
            <a:off x="64865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63426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7705725"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860278"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89344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008628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31229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4" name="Connector 103"/>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85750" y="40005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Selecta One</a:t>
            </a:r>
          </a:p>
        </p:txBody>
      </p:sp>
      <p:sp>
        <p:nvSpPr>
          <p:cNvPr id="107" name="TextBox 106"/>
          <p:cNvSpPr txBox="1"/>
          <p:nvPr/>
        </p:nvSpPr>
        <p:spPr>
          <a:xfrm>
            <a:off x="285750" y="41624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8" name="Oval 107"/>
          <p:cNvSpPr/>
          <p:nvPr/>
        </p:nvSpPr>
        <p:spPr>
          <a:xfrm>
            <a:off x="273023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28098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956243"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4029075"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518225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525780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40826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763426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7705725"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8860278"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008628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101631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131229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85750" y="43434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Florensis</a:t>
            </a:r>
          </a:p>
        </p:txBody>
      </p:sp>
      <p:sp>
        <p:nvSpPr>
          <p:cNvPr id="124" name="TextBox 123"/>
          <p:cNvSpPr txBox="1"/>
          <p:nvPr/>
        </p:nvSpPr>
        <p:spPr>
          <a:xfrm>
            <a:off x="285750" y="45053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5" name="Oval 124"/>
          <p:cNvSpPr/>
          <p:nvPr/>
        </p:nvSpPr>
        <p:spPr>
          <a:xfrm>
            <a:off x="273023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280987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956243"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518225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525780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640826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763426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8860278"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893445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08628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101631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131229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46863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HilverdaFlorist</a:t>
            </a:r>
          </a:p>
        </p:txBody>
      </p:sp>
      <p:sp>
        <p:nvSpPr>
          <p:cNvPr id="140" name="TextBox 139"/>
          <p:cNvSpPr txBox="1"/>
          <p:nvPr/>
        </p:nvSpPr>
        <p:spPr>
          <a:xfrm>
            <a:off x="285750" y="48482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1" name="Oval 140"/>
          <p:cNvSpPr/>
          <p:nvPr/>
        </p:nvSpPr>
        <p:spPr>
          <a:xfrm>
            <a:off x="273023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956243"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029075"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18225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5257800"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640826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763426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7705725"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8860278"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89344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008628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1131229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3" name="Connector 152"/>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4" name="Rectangle 153"/>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85750" y="50292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Royal Van Zanten</a:t>
            </a:r>
          </a:p>
        </p:txBody>
      </p:sp>
      <p:sp>
        <p:nvSpPr>
          <p:cNvPr id="156" name="TextBox 155"/>
          <p:cNvSpPr txBox="1"/>
          <p:nvPr/>
        </p:nvSpPr>
        <p:spPr>
          <a:xfrm>
            <a:off x="285750" y="51911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7" name="Oval 156"/>
          <p:cNvSpPr/>
          <p:nvPr/>
        </p:nvSpPr>
        <p:spPr>
          <a:xfrm>
            <a:off x="273023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280987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3956243"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4029075"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518225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640826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763426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Freeform 163"/>
          <p:cNvSpPr/>
          <p:nvPr/>
        </p:nvSpPr>
        <p:spPr>
          <a:xfrm>
            <a:off x="7705725"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8860278"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1008628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101631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1131229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9" name="Connector 168"/>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0" name="Rectangle 169"/>
          <p:cNvSpPr/>
          <p:nvPr/>
        </p:nvSpPr>
        <p:spPr>
          <a:xfrm>
            <a:off x="190500" y="54387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314325" y="53911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72" name="Rectangle 171"/>
          <p:cNvSpPr/>
          <p:nvPr/>
        </p:nvSpPr>
        <p:spPr>
          <a:xfrm>
            <a:off x="847725" y="54387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71550" y="53911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74" name="Rectangle 173"/>
          <p:cNvSpPr/>
          <p:nvPr/>
        </p:nvSpPr>
        <p:spPr>
          <a:xfrm>
            <a:off x="1504950" y="54387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628775" y="53911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76" name="TextBox 175"/>
          <p:cNvSpPr txBox="1"/>
          <p:nvPr/>
        </p:nvSpPr>
        <p:spPr>
          <a:xfrm>
            <a:off x="190500" y="56007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77" name="TextBox 176"/>
          <p:cNvSpPr txBox="1"/>
          <p:nvPr/>
        </p:nvSpPr>
        <p:spPr>
          <a:xfrm>
            <a:off x="190500" y="57531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'Cut Foliage &amp; Greens' is the most contested column (7 players active); 'Potted Flowering Plants' is the most open (3).</a:t>
            </a:r>
          </a:p>
        </p:txBody>
      </p:sp>
      <p:sp>
        <p:nvSpPr>
          <p:cNvPr id="178" name="TextBox 1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79" name="TextBox 178"/>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80" name="Picture 179" descr="lock.png"/>
          <p:cNvPicPr>
            <a:picLocks noChangeAspect="1"/>
          </p:cNvPicPr>
          <p:nvPr/>
        </p:nvPicPr>
        <p:blipFill>
          <a:blip r:embed="rId4"/>
          <a:stretch>
            <a:fillRect/>
          </a:stretch>
        </p:blipFill>
        <p:spPr>
          <a:xfrm>
            <a:off x="622441" y="1297051"/>
            <a:ext cx="128699" cy="187198"/>
          </a:xfrm>
          <a:prstGeom prst="rect">
            <a:avLst/>
          </a:prstGeom>
        </p:spPr>
      </p:pic>
      <p:sp>
        <p:nvSpPr>
          <p:cNvPr id="181" name="TextBox 180"/>
          <p:cNvSpPr txBox="1"/>
          <p:nvPr/>
        </p:nvSpPr>
        <p:spPr>
          <a:xfrm>
            <a:off x="5080540"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82" name="Picture 181" descr="lock.png"/>
          <p:cNvPicPr>
            <a:picLocks noChangeAspect="1"/>
          </p:cNvPicPr>
          <p:nvPr/>
        </p:nvPicPr>
        <p:blipFill>
          <a:blip r:embed="rId4"/>
          <a:stretch>
            <a:fillRect/>
          </a:stretch>
        </p:blipFill>
        <p:spPr>
          <a:xfrm>
            <a:off x="5841763" y="1297051"/>
            <a:ext cx="128699" cy="187198"/>
          </a:xfrm>
          <a:prstGeom prst="rect">
            <a:avLst/>
          </a:prstGeom>
        </p:spPr>
      </p:pic>
      <p:sp>
        <p:nvSpPr>
          <p:cNvPr id="183" name="TextBox 182"/>
          <p:cNvSpPr txBox="1"/>
          <p:nvPr/>
        </p:nvSpPr>
        <p:spPr>
          <a:xfrm>
            <a:off x="671699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184" name="Picture 183" descr="lock.png"/>
          <p:cNvPicPr>
            <a:picLocks noChangeAspect="1"/>
          </p:cNvPicPr>
          <p:nvPr/>
        </p:nvPicPr>
        <p:blipFill>
          <a:blip r:embed="rId4"/>
          <a:stretch>
            <a:fillRect/>
          </a:stretch>
        </p:blipFill>
        <p:spPr>
          <a:xfrm>
            <a:off x="7285308" y="1297051"/>
            <a:ext cx="128699" cy="187198"/>
          </a:xfrm>
          <a:prstGeom prst="rect">
            <a:avLst/>
          </a:prstGeom>
        </p:spPr>
      </p:pic>
      <p:sp>
        <p:nvSpPr>
          <p:cNvPr id="185" name="TextBox 184"/>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186" name="Picture 185"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Cut Foliage &amp; Greens,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Bedding &amp; Garden Flowering Plants,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Cut Flowers,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Cut Foliage &amp; Greens</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19%</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Syngenta Flowers</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Dümmen Orange</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Ball Horticultural Company</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Selecta One</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Bedding &amp; Garden Flowering Plants</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19%</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Dümmen Orange</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Syngenta Flowers</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Ball Horticultural Company</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Selecta One</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HilverdaFlorist</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Cut Flowers</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18%</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Dümmen Orange</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Syngenta Flowers</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Selecta One</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Florensis</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Distribution Channel</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Florists &amp; Specialty Flower Shops</a:t>
            </a:r>
          </a:p>
        </p:txBody>
      </p:sp>
      <p:sp>
        <p:nvSpPr>
          <p:cNvPr id="95" name="Rectangle 94"/>
          <p:cNvSpPr/>
          <p:nvPr/>
        </p:nvSpPr>
        <p:spPr>
          <a:xfrm>
            <a:off x="10682288" y="2847975"/>
            <a:ext cx="54127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61663"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 to Commercial &amp; Institutional Buyers</a:t>
            </a:r>
          </a:p>
        </p:txBody>
      </p:sp>
      <p:sp>
        <p:nvSpPr>
          <p:cNvPr id="98" name="Rectangle 97"/>
          <p:cNvSpPr/>
          <p:nvPr/>
        </p:nvSpPr>
        <p:spPr>
          <a:xfrm>
            <a:off x="10682288" y="3171825"/>
            <a:ext cx="46764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188029"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Online / E-commerce</a:t>
            </a:r>
          </a:p>
        </p:txBody>
      </p:sp>
      <p:sp>
        <p:nvSpPr>
          <p:cNvPr id="101" name="Rectangle 100"/>
          <p:cNvSpPr/>
          <p:nvPr/>
        </p:nvSpPr>
        <p:spPr>
          <a:xfrm>
            <a:off x="10682288" y="3495675"/>
            <a:ext cx="32528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045675"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3" name="TextBox 102"/>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Other Retail Channels</a:t>
            </a:r>
          </a:p>
        </p:txBody>
      </p:sp>
      <p:sp>
        <p:nvSpPr>
          <p:cNvPr id="104" name="Rectangle 103"/>
          <p:cNvSpPr/>
          <p:nvPr/>
        </p:nvSpPr>
        <p:spPr>
          <a:xfrm>
            <a:off x="10682288" y="3819525"/>
            <a:ext cx="26281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983203"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6" name="TextBox 105"/>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Garden Centers &amp; Plant Nurseries</a:t>
            </a:r>
          </a:p>
        </p:txBody>
      </p:sp>
      <p:sp>
        <p:nvSpPr>
          <p:cNvPr id="107" name="Rectangle 106"/>
          <p:cNvSpPr/>
          <p:nvPr/>
        </p:nvSpPr>
        <p:spPr>
          <a:xfrm>
            <a:off x="10682288" y="4143375"/>
            <a:ext cx="24700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967394"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9" name="Connector 108"/>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11" name="TextBox 110"/>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12" name="Rectangle 111"/>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5" name="TextBox 114"/>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Flower Bulbs, Corms, Rhizomes &amp; Tubers Compounds Fastest Across the Product Type Mix  |  South Asia &amp; Pacific Emerges as the Growth Engine Among Regions  |  Premiumisation Lifts Average Realisation</a:t>
            </a:r>
          </a:p>
        </p:txBody>
      </p:sp>
      <p:sp>
        <p:nvSpPr>
          <p:cNvPr id="116" name="Rectangle 115"/>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9" name="TextBox 118"/>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Bedding &amp; Garden Flowering Plants Lags the Category and Dilutes Blended Growth  |  Uneven Region Performance Caps the Blended Rate  |  Concentration Risk Limits Pricing and Sourcing Flexibility</a:t>
            </a:r>
          </a:p>
        </p:txBody>
      </p:sp>
      <p:sp>
        <p:nvSpPr>
          <p:cNvPr id="120" name="TextBox 1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1" name="Picture 120" descr="lock.png"/>
          <p:cNvPicPr>
            <a:picLocks noChangeAspect="1"/>
          </p:cNvPicPr>
          <p:nvPr/>
        </p:nvPicPr>
        <p:blipFill>
          <a:blip r:embed="rId4"/>
          <a:stretch>
            <a:fillRect/>
          </a:stretch>
        </p:blipFill>
        <p:spPr>
          <a:xfrm>
            <a:off x="13167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36789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6041175" y="1258951"/>
            <a:ext cx="128699" cy="187198"/>
          </a:xfrm>
          <a:prstGeom prst="rect">
            <a:avLst/>
          </a:prstGeom>
        </p:spPr>
      </p:pic>
      <p:pic>
        <p:nvPicPr>
          <p:cNvPr id="124" name="Picture 123" descr="lock.png"/>
          <p:cNvPicPr>
            <a:picLocks noChangeAspect="1"/>
          </p:cNvPicPr>
          <p:nvPr/>
        </p:nvPicPr>
        <p:blipFill>
          <a:blip r:embed="rId4"/>
          <a:stretch>
            <a:fillRect/>
          </a:stretch>
        </p:blipFill>
        <p:spPr>
          <a:xfrm>
            <a:off x="8403375" y="1258951"/>
            <a:ext cx="128699" cy="187198"/>
          </a:xfrm>
          <a:prstGeom prst="rect">
            <a:avLst/>
          </a:prstGeom>
        </p:spPr>
      </p:pic>
      <p:pic>
        <p:nvPicPr>
          <p:cNvPr id="125" name="Picture 124" descr="lock.png"/>
          <p:cNvPicPr>
            <a:picLocks noChangeAspect="1"/>
          </p:cNvPicPr>
          <p:nvPr/>
        </p:nvPicPr>
        <p:blipFill>
          <a:blip r:embed="rId4"/>
          <a:stretch>
            <a:fillRect/>
          </a:stretch>
        </p:blipFill>
        <p:spPr>
          <a:xfrm>
            <a:off x="10765575" y="1258951"/>
            <a:ext cx="128699" cy="187198"/>
          </a:xfrm>
          <a:prstGeom prst="rect">
            <a:avLst/>
          </a:prstGeom>
        </p:spPr>
      </p:pic>
      <p:pic>
        <p:nvPicPr>
          <p:cNvPr id="126" name="Picture 125" descr="lock.png"/>
          <p:cNvPicPr>
            <a:picLocks noChangeAspect="1"/>
          </p:cNvPicPr>
          <p:nvPr/>
        </p:nvPicPr>
        <p:blipFill>
          <a:blip r:embed="rId4"/>
          <a:stretch>
            <a:fillRect/>
          </a:stretch>
        </p:blipFill>
        <p:spPr>
          <a:xfrm>
            <a:off x="554775" y="2135251"/>
            <a:ext cx="128699" cy="187198"/>
          </a:xfrm>
          <a:prstGeom prst="rect">
            <a:avLst/>
          </a:prstGeom>
        </p:spPr>
      </p:pic>
      <p:pic>
        <p:nvPicPr>
          <p:cNvPr id="127" name="Picture 126" descr="lock.png"/>
          <p:cNvPicPr>
            <a:picLocks noChangeAspect="1"/>
          </p:cNvPicPr>
          <p:nvPr/>
        </p:nvPicPr>
        <p:blipFill>
          <a:blip r:embed="rId4"/>
          <a:stretch>
            <a:fillRect/>
          </a:stretch>
        </p:blipFill>
        <p:spPr>
          <a:xfrm>
            <a:off x="3569437" y="2135251"/>
            <a:ext cx="128699" cy="187198"/>
          </a:xfrm>
          <a:prstGeom prst="rect">
            <a:avLst/>
          </a:prstGeom>
        </p:spPr>
      </p:pic>
      <p:pic>
        <p:nvPicPr>
          <p:cNvPr id="128" name="Picture 127" descr="lock.png"/>
          <p:cNvPicPr>
            <a:picLocks noChangeAspect="1"/>
          </p:cNvPicPr>
          <p:nvPr/>
        </p:nvPicPr>
        <p:blipFill>
          <a:blip r:embed="rId4"/>
          <a:stretch>
            <a:fillRect/>
          </a:stretch>
        </p:blipFill>
        <p:spPr>
          <a:xfrm>
            <a:off x="6584100" y="2135251"/>
            <a:ext cx="128699" cy="187198"/>
          </a:xfrm>
          <a:prstGeom prst="rect">
            <a:avLst/>
          </a:prstGeom>
        </p:spPr>
      </p:pic>
      <p:pic>
        <p:nvPicPr>
          <p:cNvPr id="129" name="Picture 128" descr="lock.png"/>
          <p:cNvPicPr>
            <a:picLocks noChangeAspect="1"/>
          </p:cNvPicPr>
          <p:nvPr/>
        </p:nvPicPr>
        <p:blipFill>
          <a:blip r:embed="rId4"/>
          <a:stretch>
            <a:fillRect/>
          </a:stretch>
        </p:blipFill>
        <p:spPr>
          <a:xfrm>
            <a:off x="11660925" y="2487676"/>
            <a:ext cx="128699" cy="187198"/>
          </a:xfrm>
          <a:prstGeom prst="rect">
            <a:avLst/>
          </a:prstGeom>
        </p:spPr>
      </p:pic>
      <p:pic>
        <p:nvPicPr>
          <p:cNvPr id="130" name="Picture 129" descr="lock.png"/>
          <p:cNvPicPr>
            <a:picLocks noChangeAspect="1"/>
          </p:cNvPicPr>
          <p:nvPr/>
        </p:nvPicPr>
        <p:blipFill>
          <a:blip r:embed="rId4"/>
          <a:stretch>
            <a:fillRect/>
          </a:stretch>
        </p:blipFill>
        <p:spPr>
          <a:xfrm>
            <a:off x="11435438" y="281152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361804" y="313537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219450" y="3459226"/>
            <a:ext cx="128699" cy="187198"/>
          </a:xfrm>
          <a:prstGeom prst="rect">
            <a:avLst/>
          </a:prstGeom>
        </p:spPr>
      </p:pic>
      <p:pic>
        <p:nvPicPr>
          <p:cNvPr id="133" name="Picture 132" descr="lock.png"/>
          <p:cNvPicPr>
            <a:picLocks noChangeAspect="1"/>
          </p:cNvPicPr>
          <p:nvPr/>
        </p:nvPicPr>
        <p:blipFill>
          <a:blip r:embed="rId4"/>
          <a:stretch>
            <a:fillRect/>
          </a:stretch>
        </p:blipFill>
        <p:spPr>
          <a:xfrm>
            <a:off x="11156978" y="3783076"/>
            <a:ext cx="128699" cy="187198"/>
          </a:xfrm>
          <a:prstGeom prst="rect">
            <a:avLst/>
          </a:prstGeom>
        </p:spPr>
      </p:pic>
      <p:pic>
        <p:nvPicPr>
          <p:cNvPr id="134" name="Picture 133" descr="lock.png"/>
          <p:cNvPicPr>
            <a:picLocks noChangeAspect="1"/>
          </p:cNvPicPr>
          <p:nvPr/>
        </p:nvPicPr>
        <p:blipFill>
          <a:blip r:embed="rId4"/>
          <a:stretch>
            <a:fillRect/>
          </a:stretch>
        </p:blipFill>
        <p:spPr>
          <a:xfrm>
            <a:off x="11141169" y="4106926"/>
            <a:ext cx="128699" cy="187198"/>
          </a:xfrm>
          <a:prstGeom prst="rect">
            <a:avLst/>
          </a:prstGeom>
        </p:spPr>
      </p:pic>
      <p:sp>
        <p:nvSpPr>
          <p:cNvPr id="135" name="TextBox 134"/>
          <p:cNvSpPr txBox="1"/>
          <p:nvPr/>
        </p:nvSpPr>
        <p:spPr>
          <a:xfrm>
            <a:off x="314325"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'Cut Foliage</a:t>
            </a:r>
          </a:p>
        </p:txBody>
      </p:sp>
      <p:sp>
        <p:nvSpPr>
          <p:cNvPr id="136" name="TextBox 135"/>
          <p:cNvSpPr txBox="1"/>
          <p:nvPr/>
        </p:nvSpPr>
        <p:spPr>
          <a:xfrm>
            <a:off x="314325" y="4844415"/>
            <a:ext cx="937865" cy="186689"/>
          </a:xfrm>
          <a:prstGeom prst="rect">
            <a:avLst/>
          </a:prstGeom>
          <a:noFill/>
        </p:spPr>
        <p:txBody>
          <a:bodyPr wrap="none" lIns="0" rIns="0" tIns="0" bIns="0">
            <a:spAutoFit/>
          </a:bodyPr>
          <a:lstStyle/>
          <a:p>
            <a:r>
              <a:rPr sz="1100" b="0">
                <a:solidFill>
                  <a:srgbClr val="1F2933"/>
                </a:solidFill>
                <a:latin typeface="Calibri"/>
              </a:rPr>
              <a:t>&amp; Greens' adds</a:t>
            </a:r>
          </a:p>
        </p:txBody>
      </p:sp>
      <p:pic>
        <p:nvPicPr>
          <p:cNvPr id="137" name="Picture 136" descr="lock.png"/>
          <p:cNvPicPr>
            <a:picLocks noChangeAspect="1"/>
          </p:cNvPicPr>
          <p:nvPr/>
        </p:nvPicPr>
        <p:blipFill>
          <a:blip r:embed="rId4"/>
          <a:stretch>
            <a:fillRect/>
          </a:stretch>
        </p:blipFill>
        <p:spPr>
          <a:xfrm>
            <a:off x="1200241" y="4834636"/>
            <a:ext cx="128699" cy="187198"/>
          </a:xfrm>
          <a:prstGeom prst="rect">
            <a:avLst/>
          </a:prstGeom>
        </p:spPr>
      </p:pic>
      <p:sp>
        <p:nvSpPr>
          <p:cNvPr id="138" name="TextBox 137"/>
          <p:cNvSpPr txBox="1"/>
          <p:nvPr/>
        </p:nvSpPr>
        <p:spPr>
          <a:xfrm>
            <a:off x="1367737"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9" name="TextBox 138"/>
          <p:cNvSpPr txBox="1"/>
          <p:nvPr/>
        </p:nvSpPr>
        <p:spPr>
          <a:xfrm>
            <a:off x="3328987"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'Bedding &amp;</a:t>
            </a:r>
          </a:p>
        </p:txBody>
      </p:sp>
      <p:sp>
        <p:nvSpPr>
          <p:cNvPr id="140" name="TextBox 139"/>
          <p:cNvSpPr txBox="1"/>
          <p:nvPr/>
        </p:nvSpPr>
        <p:spPr>
          <a:xfrm>
            <a:off x="3328987" y="4844415"/>
            <a:ext cx="1796256" cy="186689"/>
          </a:xfrm>
          <a:prstGeom prst="rect">
            <a:avLst/>
          </a:prstGeom>
          <a:noFill/>
        </p:spPr>
        <p:txBody>
          <a:bodyPr wrap="none" lIns="0" rIns="0" tIns="0" bIns="0">
            <a:spAutoFit/>
          </a:bodyPr>
          <a:lstStyle/>
          <a:p>
            <a:r>
              <a:rPr sz="1100" b="0">
                <a:solidFill>
                  <a:srgbClr val="1F2933"/>
                </a:solidFill>
                <a:latin typeface="Calibri"/>
              </a:rPr>
              <a:t>Garden Flowering Plants' adds</a:t>
            </a:r>
          </a:p>
        </p:txBody>
      </p:sp>
      <p:pic>
        <p:nvPicPr>
          <p:cNvPr id="141" name="Picture 140" descr="lock.png"/>
          <p:cNvPicPr>
            <a:picLocks noChangeAspect="1"/>
          </p:cNvPicPr>
          <p:nvPr/>
        </p:nvPicPr>
        <p:blipFill>
          <a:blip r:embed="rId4"/>
          <a:stretch>
            <a:fillRect/>
          </a:stretch>
        </p:blipFill>
        <p:spPr>
          <a:xfrm>
            <a:off x="5073294" y="4834636"/>
            <a:ext cx="128699" cy="187198"/>
          </a:xfrm>
          <a:prstGeom prst="rect">
            <a:avLst/>
          </a:prstGeom>
        </p:spPr>
      </p:pic>
      <p:sp>
        <p:nvSpPr>
          <p:cNvPr id="142" name="TextBox 141"/>
          <p:cNvSpPr txBox="1"/>
          <p:nvPr/>
        </p:nvSpPr>
        <p:spPr>
          <a:xfrm>
            <a:off x="5240790" y="4844415"/>
            <a:ext cx="525586" cy="186689"/>
          </a:xfrm>
          <a:prstGeom prst="rect">
            <a:avLst/>
          </a:prstGeom>
          <a:noFill/>
        </p:spPr>
        <p:txBody>
          <a:bodyPr wrap="none" lIns="0" rIns="0" tIns="0" bIns="0">
            <a:spAutoFit/>
          </a:bodyPr>
          <a:lstStyle/>
          <a:p>
            <a:r>
              <a:rPr sz="1100" b="0">
                <a:solidFill>
                  <a:srgbClr val="1F2933"/>
                </a:solidFill>
                <a:latin typeface="Calibri"/>
              </a:rPr>
              <a:t>US$ Mn</a:t>
            </a:r>
          </a:p>
        </p:txBody>
      </p:sp>
      <p:sp>
        <p:nvSpPr>
          <p:cNvPr id="143" name="TextBox 142"/>
          <p:cNvSpPr txBox="1"/>
          <p:nvPr/>
        </p:nvSpPr>
        <p:spPr>
          <a:xfrm>
            <a:off x="3328987" y="5012055"/>
            <a:ext cx="563512" cy="186689"/>
          </a:xfrm>
          <a:prstGeom prst="rect">
            <a:avLst/>
          </a:prstGeom>
          <a:noFill/>
        </p:spPr>
        <p:txBody>
          <a:bodyPr wrap="none" lIns="0" rIns="0" tIns="0" bIns="0">
            <a:spAutoFit/>
          </a:bodyPr>
          <a:lstStyle/>
          <a:p>
            <a:r>
              <a:rPr sz="1100" b="0">
                <a:solidFill>
                  <a:srgbClr val="1F2933"/>
                </a:solidFill>
                <a:latin typeface="Calibri"/>
              </a:rPr>
              <a:t>by 2036.</a:t>
            </a:r>
          </a:p>
        </p:txBody>
      </p:sp>
      <p:sp>
        <p:nvSpPr>
          <p:cNvPr id="144" name="TextBox 143"/>
          <p:cNvSpPr txBox="1"/>
          <p:nvPr/>
        </p:nvSpPr>
        <p:spPr>
          <a:xfrm>
            <a:off x="6343650" y="4676775"/>
            <a:ext cx="2137320" cy="186689"/>
          </a:xfrm>
          <a:prstGeom prst="rect">
            <a:avLst/>
          </a:prstGeom>
          <a:noFill/>
        </p:spPr>
        <p:txBody>
          <a:bodyPr wrap="none" lIns="0" rIns="0" tIns="0" bIns="0">
            <a:spAutoFit/>
          </a:bodyPr>
          <a:lstStyle/>
          <a:p>
            <a:r>
              <a:rPr sz="1100" b="0">
                <a:solidFill>
                  <a:srgbClr val="1F2933"/>
                </a:solidFill>
                <a:latin typeface="Calibri"/>
              </a:rPr>
              <a:t>5 named players compete here; 'Cut</a:t>
            </a:r>
          </a:p>
        </p:txBody>
      </p:sp>
      <p:sp>
        <p:nvSpPr>
          <p:cNvPr id="145" name="TextBox 144"/>
          <p:cNvSpPr txBox="1"/>
          <p:nvPr/>
        </p:nvSpPr>
        <p:spPr>
          <a:xfrm>
            <a:off x="6343650" y="4844415"/>
            <a:ext cx="849734" cy="186689"/>
          </a:xfrm>
          <a:prstGeom prst="rect">
            <a:avLst/>
          </a:prstGeom>
          <a:noFill/>
        </p:spPr>
        <p:txBody>
          <a:bodyPr wrap="none" lIns="0" rIns="0" tIns="0" bIns="0">
            <a:spAutoFit/>
          </a:bodyPr>
          <a:lstStyle/>
          <a:p>
            <a:r>
              <a:rPr sz="1100" b="0">
                <a:solidFill>
                  <a:srgbClr val="1F2933"/>
                </a:solidFill>
                <a:latin typeface="Calibri"/>
              </a:rPr>
              <a:t>Flowers' adds</a:t>
            </a:r>
          </a:p>
        </p:txBody>
      </p:sp>
      <p:pic>
        <p:nvPicPr>
          <p:cNvPr id="146" name="Picture 145" descr="lock.png"/>
          <p:cNvPicPr>
            <a:picLocks noChangeAspect="1"/>
          </p:cNvPicPr>
          <p:nvPr/>
        </p:nvPicPr>
        <p:blipFill>
          <a:blip r:embed="rId4"/>
          <a:stretch>
            <a:fillRect/>
          </a:stretch>
        </p:blipFill>
        <p:spPr>
          <a:xfrm>
            <a:off x="7141435" y="4834636"/>
            <a:ext cx="128699" cy="187198"/>
          </a:xfrm>
          <a:prstGeom prst="rect">
            <a:avLst/>
          </a:prstGeom>
        </p:spPr>
      </p:pic>
      <p:sp>
        <p:nvSpPr>
          <p:cNvPr id="147" name="TextBox 146"/>
          <p:cNvSpPr txBox="1"/>
          <p:nvPr/>
        </p:nvSpPr>
        <p:spPr>
          <a:xfrm>
            <a:off x="7308931"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8" name="TextBox 147"/>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9" name="Picture 148" descr="lock.png"/>
          <p:cNvPicPr>
            <a:picLocks noChangeAspect="1"/>
          </p:cNvPicPr>
          <p:nvPr/>
        </p:nvPicPr>
        <p:blipFill>
          <a:blip r:embed="rId4"/>
          <a:stretch>
            <a:fillRect/>
          </a:stretch>
        </p:blipFill>
        <p:spPr>
          <a:xfrm>
            <a:off x="11035226" y="4666996"/>
            <a:ext cx="128699" cy="187198"/>
          </a:xfrm>
          <a:prstGeom prst="rect">
            <a:avLst/>
          </a:prstGeom>
        </p:spPr>
      </p:pic>
      <p:sp>
        <p:nvSpPr>
          <p:cNvPr id="150" name="TextBox 149"/>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1" name="TextBox 150"/>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2" name="TextBox 151"/>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(2)</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Dümmen Orange</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Syngenta Flowers</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Ball Horticultural Company</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Selecta One</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Florensis</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(2)</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HilverdaFlorist</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Royal Van Zanten</a:t>
            </a:r>
          </a:p>
        </p:txBody>
      </p:sp>
      <p:sp>
        <p:nvSpPr>
          <p:cNvPr id="57" name="Rectangle 56"/>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59" name="TextBox 58"/>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0" name="TextBox 59"/>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1" name="Rectangle 60"/>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3" name="TextBox 62"/>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4" name="TextBox 63"/>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5" name="Rectangle 64"/>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67" name="TextBox 66"/>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8" name="TextBox 67"/>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9" name="TextBox 68"/>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2      BY REACH   Global 4   |   Regional 2   |   Local or niche 2</a:t>
            </a:r>
          </a:p>
        </p:txBody>
      </p:sp>
      <p:sp>
        <p:nvSpPr>
          <p:cNvPr id="70" name="Rectangle 69"/>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2" name="TextBox 71"/>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3" name="TextBox 72"/>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74" name="TextBox 73"/>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75" name="TextBox 74"/>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76" name="Rectangle 75"/>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78" name="TextBox 77"/>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0" name="TextBox 79"/>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84" name="TextBox 83"/>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86" name="TextBox 85"/>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TextBox 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9" name="Picture 88" descr="lock.png"/>
          <p:cNvPicPr>
            <a:picLocks noChangeAspect="1"/>
          </p:cNvPicPr>
          <p:nvPr/>
        </p:nvPicPr>
        <p:blipFill>
          <a:blip r:embed="rId4"/>
          <a:stretch>
            <a:fillRect/>
          </a:stretch>
        </p:blipFill>
        <p:spPr>
          <a:xfrm>
            <a:off x="1059600" y="4487926"/>
            <a:ext cx="128699" cy="187198"/>
          </a:xfrm>
          <a:prstGeom prst="rect">
            <a:avLst/>
          </a:prstGeom>
        </p:spPr>
      </p:pic>
      <p:pic>
        <p:nvPicPr>
          <p:cNvPr id="90" name="Picture 89" descr="lock.png"/>
          <p:cNvPicPr>
            <a:picLocks noChangeAspect="1"/>
          </p:cNvPicPr>
          <p:nvPr/>
        </p:nvPicPr>
        <p:blipFill>
          <a:blip r:embed="rId4"/>
          <a:stretch>
            <a:fillRect/>
          </a:stretch>
        </p:blipFill>
        <p:spPr>
          <a:xfrm>
            <a:off x="3821850" y="4487926"/>
            <a:ext cx="128699" cy="187198"/>
          </a:xfrm>
          <a:prstGeom prst="rect">
            <a:avLst/>
          </a:prstGeom>
        </p:spPr>
      </p:pic>
      <p:pic>
        <p:nvPicPr>
          <p:cNvPr id="91" name="Picture 90" descr="lock.png"/>
          <p:cNvPicPr>
            <a:picLocks noChangeAspect="1"/>
          </p:cNvPicPr>
          <p:nvPr/>
        </p:nvPicPr>
        <p:blipFill>
          <a:blip r:embed="rId4"/>
          <a:stretch>
            <a:fillRect/>
          </a:stretch>
        </p:blipFill>
        <p:spPr>
          <a:xfrm>
            <a:off x="6584100" y="4487926"/>
            <a:ext cx="128699" cy="187198"/>
          </a:xfrm>
          <a:prstGeom prst="rect">
            <a:avLst/>
          </a:prstGeom>
        </p:spPr>
      </p:pic>
      <p:sp>
        <p:nvSpPr>
          <p:cNvPr id="92" name="TextBox 91"/>
          <p:cNvSpPr txBox="1"/>
          <p:nvPr/>
        </p:nvSpPr>
        <p:spPr>
          <a:xfrm>
            <a:off x="21907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3" name="Picture 92" descr="lock.png"/>
          <p:cNvPicPr>
            <a:picLocks noChangeAspect="1"/>
          </p:cNvPicPr>
          <p:nvPr/>
        </p:nvPicPr>
        <p:blipFill>
          <a:blip r:embed="rId4"/>
          <a:stretch>
            <a:fillRect/>
          </a:stretch>
        </p:blipFill>
        <p:spPr>
          <a:xfrm>
            <a:off x="959834" y="5867145"/>
            <a:ext cx="128699" cy="187198"/>
          </a:xfrm>
          <a:prstGeom prst="rect">
            <a:avLst/>
          </a:prstGeom>
        </p:spPr>
      </p:pic>
      <p:sp>
        <p:nvSpPr>
          <p:cNvPr id="94" name="TextBox 93"/>
          <p:cNvSpPr txBox="1"/>
          <p:nvPr/>
        </p:nvSpPr>
        <p:spPr>
          <a:xfrm>
            <a:off x="112733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5" name="TextBox 94"/>
          <p:cNvSpPr txBox="1"/>
          <p:nvPr/>
        </p:nvSpPr>
        <p:spPr>
          <a:xfrm>
            <a:off x="3219450"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6" name="Picture 95" descr="lock.png"/>
          <p:cNvPicPr>
            <a:picLocks noChangeAspect="1"/>
          </p:cNvPicPr>
          <p:nvPr/>
        </p:nvPicPr>
        <p:blipFill>
          <a:blip r:embed="rId4"/>
          <a:stretch>
            <a:fillRect/>
          </a:stretch>
        </p:blipFill>
        <p:spPr>
          <a:xfrm>
            <a:off x="3960209" y="5867145"/>
            <a:ext cx="128699" cy="187198"/>
          </a:xfrm>
          <a:prstGeom prst="rect">
            <a:avLst/>
          </a:prstGeom>
        </p:spPr>
      </p:pic>
      <p:sp>
        <p:nvSpPr>
          <p:cNvPr id="97" name="TextBox 96"/>
          <p:cNvSpPr txBox="1"/>
          <p:nvPr/>
        </p:nvSpPr>
        <p:spPr>
          <a:xfrm>
            <a:off x="4127705"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8" name="TextBox 97"/>
          <p:cNvSpPr txBox="1"/>
          <p:nvPr/>
        </p:nvSpPr>
        <p:spPr>
          <a:xfrm>
            <a:off x="621982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9" name="Picture 98" descr="lock.png"/>
          <p:cNvPicPr>
            <a:picLocks noChangeAspect="1"/>
          </p:cNvPicPr>
          <p:nvPr/>
        </p:nvPicPr>
        <p:blipFill>
          <a:blip r:embed="rId4"/>
          <a:stretch>
            <a:fillRect/>
          </a:stretch>
        </p:blipFill>
        <p:spPr>
          <a:xfrm>
            <a:off x="6960584" y="5867145"/>
            <a:ext cx="128699" cy="187198"/>
          </a:xfrm>
          <a:prstGeom prst="rect">
            <a:avLst/>
          </a:prstGeom>
        </p:spPr>
      </p:pic>
      <p:sp>
        <p:nvSpPr>
          <p:cNvPr id="100" name="TextBox 99"/>
          <p:cNvSpPr txBox="1"/>
          <p:nvPr/>
        </p:nvSpPr>
        <p:spPr>
          <a:xfrm>
            <a:off x="712808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231529" y="1295400"/>
            <a:ext cx="225905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231529" y="1657350"/>
            <a:ext cx="225905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566784" y="1295400"/>
            <a:ext cx="116926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566784" y="1657350"/>
            <a:ext cx="116926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5812254" y="1295400"/>
            <a:ext cx="9616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5812254" y="1657350"/>
            <a:ext cx="9616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6850145" y="1295400"/>
            <a:ext cx="9616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6850145" y="1657350"/>
            <a:ext cx="9616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7888036" y="1295400"/>
            <a:ext cx="9616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7888036" y="1657350"/>
            <a:ext cx="9616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8925927" y="1295400"/>
            <a:ext cx="9616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8925927" y="1657350"/>
            <a:ext cx="9616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9963818" y="1295400"/>
            <a:ext cx="9616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9963818" y="1657350"/>
            <a:ext cx="9616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01709" y="1295400"/>
            <a:ext cx="9616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01709" y="1657350"/>
            <a:ext cx="9616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Dümmen Orange</a:t>
            </a:r>
          </a:p>
        </p:txBody>
      </p:sp>
      <p:sp>
        <p:nvSpPr>
          <p:cNvPr id="31" name="TextBox 30"/>
          <p:cNvSpPr txBox="1"/>
          <p:nvPr/>
        </p:nvSpPr>
        <p:spPr>
          <a:xfrm>
            <a:off x="285750" y="24098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193429" y="22288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566784" y="22288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21689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25479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9268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330572"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25718" y="22288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0963609" y="22288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43" name="TextBox 42"/>
          <p:cNvSpPr txBox="1"/>
          <p:nvPr/>
        </p:nvSpPr>
        <p:spPr>
          <a:xfrm>
            <a:off x="285750" y="27527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193429" y="25717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566784" y="25717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21689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25479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29268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330572"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25718" y="25717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1" name="TextBox 50"/>
          <p:cNvSpPr txBox="1"/>
          <p:nvPr/>
        </p:nvSpPr>
        <p:spPr>
          <a:xfrm>
            <a:off x="10963609" y="25717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Syngenta Flowers</a:t>
            </a:r>
          </a:p>
        </p:txBody>
      </p:sp>
      <p:sp>
        <p:nvSpPr>
          <p:cNvPr id="55" name="TextBox 54"/>
          <p:cNvSpPr txBox="1"/>
          <p:nvPr/>
        </p:nvSpPr>
        <p:spPr>
          <a:xfrm>
            <a:off x="285750" y="30956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TextBox 55"/>
          <p:cNvSpPr txBox="1"/>
          <p:nvPr/>
        </p:nvSpPr>
        <p:spPr>
          <a:xfrm>
            <a:off x="2193429" y="29146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4566784" y="29146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21689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25479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292681"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330572"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41070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925718" y="29146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4" name="TextBox 63"/>
          <p:cNvSpPr txBox="1"/>
          <p:nvPr/>
        </p:nvSpPr>
        <p:spPr>
          <a:xfrm>
            <a:off x="10963609" y="29146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Ball Horticultural Company</a:t>
            </a:r>
          </a:p>
        </p:txBody>
      </p:sp>
      <p:sp>
        <p:nvSpPr>
          <p:cNvPr id="68" name="TextBox 67"/>
          <p:cNvSpPr txBox="1"/>
          <p:nvPr/>
        </p:nvSpPr>
        <p:spPr>
          <a:xfrm>
            <a:off x="285750" y="34385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9" name="TextBox 68"/>
          <p:cNvSpPr txBox="1"/>
          <p:nvPr/>
        </p:nvSpPr>
        <p:spPr>
          <a:xfrm>
            <a:off x="2193429" y="32575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TextBox 69"/>
          <p:cNvSpPr txBox="1"/>
          <p:nvPr/>
        </p:nvSpPr>
        <p:spPr>
          <a:xfrm>
            <a:off x="4566784" y="32575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216899"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296025"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25479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292681"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330572"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410700"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925718" y="32575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TextBox 77"/>
          <p:cNvSpPr txBox="1"/>
          <p:nvPr/>
        </p:nvSpPr>
        <p:spPr>
          <a:xfrm>
            <a:off x="10963609" y="32575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Selecta One</a:t>
            </a:r>
          </a:p>
        </p:txBody>
      </p:sp>
      <p:sp>
        <p:nvSpPr>
          <p:cNvPr id="82" name="TextBox 81"/>
          <p:cNvSpPr txBox="1"/>
          <p:nvPr/>
        </p:nvSpPr>
        <p:spPr>
          <a:xfrm>
            <a:off x="285750" y="37814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3" name="TextBox 82"/>
          <p:cNvSpPr txBox="1"/>
          <p:nvPr/>
        </p:nvSpPr>
        <p:spPr>
          <a:xfrm>
            <a:off x="2193429" y="36004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TextBox 83"/>
          <p:cNvSpPr txBox="1"/>
          <p:nvPr/>
        </p:nvSpPr>
        <p:spPr>
          <a:xfrm>
            <a:off x="4566784" y="36004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21689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29602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25479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3342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29268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37247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33057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41070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925718" y="36004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10963609" y="36004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Florensis</a:t>
            </a:r>
          </a:p>
        </p:txBody>
      </p:sp>
      <p:sp>
        <p:nvSpPr>
          <p:cNvPr id="98" name="TextBox 97"/>
          <p:cNvSpPr txBox="1"/>
          <p:nvPr/>
        </p:nvSpPr>
        <p:spPr>
          <a:xfrm>
            <a:off x="285750" y="41243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9" name="TextBox 98"/>
          <p:cNvSpPr txBox="1"/>
          <p:nvPr/>
        </p:nvSpPr>
        <p:spPr>
          <a:xfrm>
            <a:off x="2193429" y="39433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TextBox 99"/>
          <p:cNvSpPr txBox="1"/>
          <p:nvPr/>
        </p:nvSpPr>
        <p:spPr>
          <a:xfrm>
            <a:off x="4566784" y="39433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21689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29602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25479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334250"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29268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37247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33057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410700"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925718" y="39433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963609" y="39433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HilverdaFlorist</a:t>
            </a:r>
          </a:p>
        </p:txBody>
      </p:sp>
      <p:sp>
        <p:nvSpPr>
          <p:cNvPr id="114" name="TextBox 113"/>
          <p:cNvSpPr txBox="1"/>
          <p:nvPr/>
        </p:nvSpPr>
        <p:spPr>
          <a:xfrm>
            <a:off x="285750" y="44672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TextBox 114"/>
          <p:cNvSpPr txBox="1"/>
          <p:nvPr/>
        </p:nvSpPr>
        <p:spPr>
          <a:xfrm>
            <a:off x="2193429" y="42862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4566784" y="42862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21689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9602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25479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334250" y="43815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29268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372475" y="43815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33057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41070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925718" y="42862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6" name="TextBox 125"/>
          <p:cNvSpPr txBox="1"/>
          <p:nvPr/>
        </p:nvSpPr>
        <p:spPr>
          <a:xfrm>
            <a:off x="10963609" y="42862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Royal Van Zanten</a:t>
            </a:r>
          </a:p>
        </p:txBody>
      </p:sp>
      <p:sp>
        <p:nvSpPr>
          <p:cNvPr id="130" name="TextBox 129"/>
          <p:cNvSpPr txBox="1"/>
          <p:nvPr/>
        </p:nvSpPr>
        <p:spPr>
          <a:xfrm>
            <a:off x="285750" y="48101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TextBox 130"/>
          <p:cNvSpPr txBox="1"/>
          <p:nvPr/>
        </p:nvSpPr>
        <p:spPr>
          <a:xfrm>
            <a:off x="2193429" y="4629150"/>
            <a:ext cx="2335255"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4566784" y="4629150"/>
            <a:ext cx="116926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21689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296025" y="4724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25479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334250"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29268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372475"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33057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410700"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925718" y="46291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2" name="TextBox 141"/>
          <p:cNvSpPr txBox="1"/>
          <p:nvPr/>
        </p:nvSpPr>
        <p:spPr>
          <a:xfrm>
            <a:off x="10963609" y="4629150"/>
            <a:ext cx="103789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200025" y="50482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38100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46" name="Oval 145"/>
          <p:cNvSpPr/>
          <p:nvPr/>
        </p:nvSpPr>
        <p:spPr>
          <a:xfrm>
            <a:off x="2065020"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2133600" y="50482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245995"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9" name="Oval 148"/>
          <p:cNvSpPr/>
          <p:nvPr/>
        </p:nvSpPr>
        <p:spPr>
          <a:xfrm>
            <a:off x="367855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3743325" y="50482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385953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52" name="Oval 151"/>
          <p:cNvSpPr/>
          <p:nvPr/>
        </p:nvSpPr>
        <p:spPr>
          <a:xfrm>
            <a:off x="510349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8447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54" name="TextBox 153"/>
          <p:cNvSpPr txBox="1"/>
          <p:nvPr/>
        </p:nvSpPr>
        <p:spPr>
          <a:xfrm>
            <a:off x="190500" y="52578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55" name="TextBox 154"/>
          <p:cNvSpPr txBox="1"/>
          <p:nvPr/>
        </p:nvSpPr>
        <p:spPr>
          <a:xfrm>
            <a:off x="190500" y="54102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8 named players compete globally; scale and share follow the tier structure.</a:t>
            </a:r>
          </a:p>
        </p:txBody>
      </p:sp>
      <p:sp>
        <p:nvSpPr>
          <p:cNvPr id="156" name="TextBox 1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57" name="TextBox 156"/>
          <p:cNvSpPr txBox="1"/>
          <p:nvPr/>
        </p:nvSpPr>
        <p:spPr>
          <a:xfrm>
            <a:off x="8954502" y="1666875"/>
            <a:ext cx="398983" cy="186689"/>
          </a:xfrm>
          <a:prstGeom prst="rect">
            <a:avLst/>
          </a:prstGeom>
          <a:noFill/>
        </p:spPr>
        <p:txBody>
          <a:bodyPr wrap="none" lIns="0" rIns="0" tIns="0" bIns="0">
            <a:spAutoFit/>
          </a:bodyPr>
          <a:lstStyle/>
          <a:p>
            <a:r>
              <a:rPr sz="1100" b="0">
                <a:solidFill>
                  <a:srgbClr val="5F6B7A"/>
                </a:solidFill>
                <a:latin typeface="Calibri"/>
              </a:rPr>
              <a:t>Share</a:t>
            </a:r>
          </a:p>
        </p:txBody>
      </p:sp>
      <p:pic>
        <p:nvPicPr>
          <p:cNvPr id="158" name="Picture 157" descr="lock.png"/>
          <p:cNvPicPr>
            <a:picLocks noChangeAspect="1"/>
          </p:cNvPicPr>
          <p:nvPr/>
        </p:nvPicPr>
        <p:blipFill>
          <a:blip r:embed="rId4"/>
          <a:stretch>
            <a:fillRect/>
          </a:stretch>
        </p:blipFill>
        <p:spPr>
          <a:xfrm>
            <a:off x="9301536" y="1657096"/>
            <a:ext cx="128699" cy="187198"/>
          </a:xfrm>
          <a:prstGeom prst="rect">
            <a:avLst/>
          </a:prstGeom>
        </p:spPr>
      </p:pic>
      <p:sp>
        <p:nvSpPr>
          <p:cNvPr id="159" name="TextBox 158"/>
          <p:cNvSpPr txBox="1"/>
          <p:nvPr/>
        </p:nvSpPr>
        <p:spPr>
          <a:xfrm>
            <a:off x="9469032" y="1666875"/>
            <a:ext cx="384522" cy="186689"/>
          </a:xfrm>
          <a:prstGeom prst="rect">
            <a:avLst/>
          </a:prstGeom>
          <a:noFill/>
        </p:spPr>
        <p:txBody>
          <a:bodyPr wrap="none" lIns="0" rIns="0" tIns="0" bIns="0">
            <a:spAutoFit/>
          </a:bodyPr>
          <a:lstStyle/>
          <a:p>
            <a:r>
              <a:rPr sz="1100" b="0">
                <a:solidFill>
                  <a:srgbClr val="5F6B7A"/>
                </a:solidFill>
                <a:latin typeface="Calibri"/>
              </a:rPr>
              <a:t>+ = 3,</a:t>
            </a:r>
          </a:p>
        </p:txBody>
      </p:sp>
      <p:pic>
        <p:nvPicPr>
          <p:cNvPr id="160" name="Picture 159" descr="lock.png"/>
          <p:cNvPicPr>
            <a:picLocks noChangeAspect="1"/>
          </p:cNvPicPr>
          <p:nvPr/>
        </p:nvPicPr>
        <p:blipFill>
          <a:blip r:embed="rId4"/>
          <a:stretch>
            <a:fillRect/>
          </a:stretch>
        </p:blipFill>
        <p:spPr>
          <a:xfrm>
            <a:off x="8941034" y="1824736"/>
            <a:ext cx="128699" cy="187198"/>
          </a:xfrm>
          <a:prstGeom prst="rect">
            <a:avLst/>
          </a:prstGeom>
        </p:spPr>
      </p:pic>
      <p:sp>
        <p:nvSpPr>
          <p:cNvPr id="161" name="TextBox 160"/>
          <p:cNvSpPr txBox="1"/>
          <p:nvPr/>
        </p:nvSpPr>
        <p:spPr>
          <a:xfrm>
            <a:off x="9108530" y="1834515"/>
            <a:ext cx="643458" cy="186689"/>
          </a:xfrm>
          <a:prstGeom prst="rect">
            <a:avLst/>
          </a:prstGeom>
          <a:noFill/>
        </p:spPr>
        <p:txBody>
          <a:bodyPr wrap="none" lIns="0" rIns="0" tIns="0" bIns="0">
            <a:spAutoFit/>
          </a:bodyPr>
          <a:lstStyle/>
          <a:p>
            <a:r>
              <a:rPr sz="1100" b="0">
                <a:solidFill>
                  <a:srgbClr val="5F6B7A"/>
                </a:solidFill>
                <a:latin typeface="Calibri"/>
              </a:rPr>
              <a:t>= 2, else 1</a:t>
            </a:r>
          </a:p>
        </p:txBody>
      </p:sp>
      <p:pic>
        <p:nvPicPr>
          <p:cNvPr id="162" name="Picture 161" descr="lock.png"/>
          <p:cNvPicPr>
            <a:picLocks noChangeAspect="1"/>
          </p:cNvPicPr>
          <p:nvPr/>
        </p:nvPicPr>
        <p:blipFill>
          <a:blip r:embed="rId4"/>
          <a:stretch>
            <a:fillRect/>
          </a:stretch>
        </p:blipFill>
        <p:spPr>
          <a:xfrm>
            <a:off x="3296707" y="23067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0380314" y="2306701"/>
            <a:ext cx="128699" cy="187198"/>
          </a:xfrm>
          <a:prstGeom prst="rect">
            <a:avLst/>
          </a:prstGeom>
        </p:spPr>
      </p:pic>
      <p:pic>
        <p:nvPicPr>
          <p:cNvPr id="164" name="Picture 163" descr="lock.png"/>
          <p:cNvPicPr>
            <a:picLocks noChangeAspect="1"/>
          </p:cNvPicPr>
          <p:nvPr/>
        </p:nvPicPr>
        <p:blipFill>
          <a:blip r:embed="rId4"/>
          <a:stretch>
            <a:fillRect/>
          </a:stretch>
        </p:blipFill>
        <p:spPr>
          <a:xfrm>
            <a:off x="11418205" y="2306701"/>
            <a:ext cx="128699" cy="187198"/>
          </a:xfrm>
          <a:prstGeom prst="rect">
            <a:avLst/>
          </a:prstGeom>
        </p:spPr>
      </p:pic>
      <p:pic>
        <p:nvPicPr>
          <p:cNvPr id="165" name="Picture 164" descr="lock.png"/>
          <p:cNvPicPr>
            <a:picLocks noChangeAspect="1"/>
          </p:cNvPicPr>
          <p:nvPr/>
        </p:nvPicPr>
        <p:blipFill>
          <a:blip r:embed="rId4"/>
          <a:stretch>
            <a:fillRect/>
          </a:stretch>
        </p:blipFill>
        <p:spPr>
          <a:xfrm>
            <a:off x="3296707" y="2649601"/>
            <a:ext cx="128699" cy="187198"/>
          </a:xfrm>
          <a:prstGeom prst="rect">
            <a:avLst/>
          </a:prstGeom>
        </p:spPr>
      </p:pic>
      <p:pic>
        <p:nvPicPr>
          <p:cNvPr id="166" name="Picture 165" descr="lock.png"/>
          <p:cNvPicPr>
            <a:picLocks noChangeAspect="1"/>
          </p:cNvPicPr>
          <p:nvPr/>
        </p:nvPicPr>
        <p:blipFill>
          <a:blip r:embed="rId4"/>
          <a:stretch>
            <a:fillRect/>
          </a:stretch>
        </p:blipFill>
        <p:spPr>
          <a:xfrm>
            <a:off x="10380314" y="26496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418205" y="2649601"/>
            <a:ext cx="128699" cy="187198"/>
          </a:xfrm>
          <a:prstGeom prst="rect">
            <a:avLst/>
          </a:prstGeom>
        </p:spPr>
      </p:pic>
      <p:pic>
        <p:nvPicPr>
          <p:cNvPr id="168" name="Picture 167" descr="lock.png"/>
          <p:cNvPicPr>
            <a:picLocks noChangeAspect="1"/>
          </p:cNvPicPr>
          <p:nvPr/>
        </p:nvPicPr>
        <p:blipFill>
          <a:blip r:embed="rId4"/>
          <a:stretch>
            <a:fillRect/>
          </a:stretch>
        </p:blipFill>
        <p:spPr>
          <a:xfrm>
            <a:off x="3296707" y="29925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0380314" y="2992501"/>
            <a:ext cx="128699" cy="187198"/>
          </a:xfrm>
          <a:prstGeom prst="rect">
            <a:avLst/>
          </a:prstGeom>
        </p:spPr>
      </p:pic>
      <p:pic>
        <p:nvPicPr>
          <p:cNvPr id="170" name="Picture 169" descr="lock.png"/>
          <p:cNvPicPr>
            <a:picLocks noChangeAspect="1"/>
          </p:cNvPicPr>
          <p:nvPr/>
        </p:nvPicPr>
        <p:blipFill>
          <a:blip r:embed="rId4"/>
          <a:stretch>
            <a:fillRect/>
          </a:stretch>
        </p:blipFill>
        <p:spPr>
          <a:xfrm>
            <a:off x="11418205" y="2992501"/>
            <a:ext cx="128699" cy="187198"/>
          </a:xfrm>
          <a:prstGeom prst="rect">
            <a:avLst/>
          </a:prstGeom>
        </p:spPr>
      </p:pic>
      <p:pic>
        <p:nvPicPr>
          <p:cNvPr id="171" name="Picture 170" descr="lock.png"/>
          <p:cNvPicPr>
            <a:picLocks noChangeAspect="1"/>
          </p:cNvPicPr>
          <p:nvPr/>
        </p:nvPicPr>
        <p:blipFill>
          <a:blip r:embed="rId4"/>
          <a:stretch>
            <a:fillRect/>
          </a:stretch>
        </p:blipFill>
        <p:spPr>
          <a:xfrm>
            <a:off x="3296707" y="3335401"/>
            <a:ext cx="128699" cy="187198"/>
          </a:xfrm>
          <a:prstGeom prst="rect">
            <a:avLst/>
          </a:prstGeom>
        </p:spPr>
      </p:pic>
      <p:pic>
        <p:nvPicPr>
          <p:cNvPr id="172" name="Picture 171" descr="lock.png"/>
          <p:cNvPicPr>
            <a:picLocks noChangeAspect="1"/>
          </p:cNvPicPr>
          <p:nvPr/>
        </p:nvPicPr>
        <p:blipFill>
          <a:blip r:embed="rId4"/>
          <a:stretch>
            <a:fillRect/>
          </a:stretch>
        </p:blipFill>
        <p:spPr>
          <a:xfrm>
            <a:off x="10380314" y="3335401"/>
            <a:ext cx="128699" cy="187198"/>
          </a:xfrm>
          <a:prstGeom prst="rect">
            <a:avLst/>
          </a:prstGeom>
        </p:spPr>
      </p:pic>
      <p:pic>
        <p:nvPicPr>
          <p:cNvPr id="173" name="Picture 172" descr="lock.png"/>
          <p:cNvPicPr>
            <a:picLocks noChangeAspect="1"/>
          </p:cNvPicPr>
          <p:nvPr/>
        </p:nvPicPr>
        <p:blipFill>
          <a:blip r:embed="rId4"/>
          <a:stretch>
            <a:fillRect/>
          </a:stretch>
        </p:blipFill>
        <p:spPr>
          <a:xfrm>
            <a:off x="11418205" y="3335401"/>
            <a:ext cx="128699" cy="187198"/>
          </a:xfrm>
          <a:prstGeom prst="rect">
            <a:avLst/>
          </a:prstGeom>
        </p:spPr>
      </p:pic>
      <p:pic>
        <p:nvPicPr>
          <p:cNvPr id="174" name="Picture 173" descr="lock.png"/>
          <p:cNvPicPr>
            <a:picLocks noChangeAspect="1"/>
          </p:cNvPicPr>
          <p:nvPr/>
        </p:nvPicPr>
        <p:blipFill>
          <a:blip r:embed="rId4"/>
          <a:stretch>
            <a:fillRect/>
          </a:stretch>
        </p:blipFill>
        <p:spPr>
          <a:xfrm>
            <a:off x="3296707" y="3678301"/>
            <a:ext cx="128699" cy="187198"/>
          </a:xfrm>
          <a:prstGeom prst="rect">
            <a:avLst/>
          </a:prstGeom>
        </p:spPr>
      </p:pic>
      <p:pic>
        <p:nvPicPr>
          <p:cNvPr id="175" name="Picture 174" descr="lock.png"/>
          <p:cNvPicPr>
            <a:picLocks noChangeAspect="1"/>
          </p:cNvPicPr>
          <p:nvPr/>
        </p:nvPicPr>
        <p:blipFill>
          <a:blip r:embed="rId4"/>
          <a:stretch>
            <a:fillRect/>
          </a:stretch>
        </p:blipFill>
        <p:spPr>
          <a:xfrm>
            <a:off x="10380314" y="3678301"/>
            <a:ext cx="128699" cy="187198"/>
          </a:xfrm>
          <a:prstGeom prst="rect">
            <a:avLst/>
          </a:prstGeom>
        </p:spPr>
      </p:pic>
      <p:pic>
        <p:nvPicPr>
          <p:cNvPr id="176" name="Picture 175" descr="lock.png"/>
          <p:cNvPicPr>
            <a:picLocks noChangeAspect="1"/>
          </p:cNvPicPr>
          <p:nvPr/>
        </p:nvPicPr>
        <p:blipFill>
          <a:blip r:embed="rId4"/>
          <a:stretch>
            <a:fillRect/>
          </a:stretch>
        </p:blipFill>
        <p:spPr>
          <a:xfrm>
            <a:off x="11418205" y="3678301"/>
            <a:ext cx="128699" cy="187198"/>
          </a:xfrm>
          <a:prstGeom prst="rect">
            <a:avLst/>
          </a:prstGeom>
        </p:spPr>
      </p:pic>
      <p:pic>
        <p:nvPicPr>
          <p:cNvPr id="177" name="Picture 176" descr="lock.png"/>
          <p:cNvPicPr>
            <a:picLocks noChangeAspect="1"/>
          </p:cNvPicPr>
          <p:nvPr/>
        </p:nvPicPr>
        <p:blipFill>
          <a:blip r:embed="rId4"/>
          <a:stretch>
            <a:fillRect/>
          </a:stretch>
        </p:blipFill>
        <p:spPr>
          <a:xfrm>
            <a:off x="3296707" y="4021201"/>
            <a:ext cx="128699" cy="187198"/>
          </a:xfrm>
          <a:prstGeom prst="rect">
            <a:avLst/>
          </a:prstGeom>
        </p:spPr>
      </p:pic>
      <p:pic>
        <p:nvPicPr>
          <p:cNvPr id="178" name="Picture 177" descr="lock.png"/>
          <p:cNvPicPr>
            <a:picLocks noChangeAspect="1"/>
          </p:cNvPicPr>
          <p:nvPr/>
        </p:nvPicPr>
        <p:blipFill>
          <a:blip r:embed="rId4"/>
          <a:stretch>
            <a:fillRect/>
          </a:stretch>
        </p:blipFill>
        <p:spPr>
          <a:xfrm>
            <a:off x="10380314" y="402120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418205" y="4021201"/>
            <a:ext cx="128699" cy="187198"/>
          </a:xfrm>
          <a:prstGeom prst="rect">
            <a:avLst/>
          </a:prstGeom>
        </p:spPr>
      </p:pic>
      <p:pic>
        <p:nvPicPr>
          <p:cNvPr id="180" name="Picture 179" descr="lock.png"/>
          <p:cNvPicPr>
            <a:picLocks noChangeAspect="1"/>
          </p:cNvPicPr>
          <p:nvPr/>
        </p:nvPicPr>
        <p:blipFill>
          <a:blip r:embed="rId4"/>
          <a:stretch>
            <a:fillRect/>
          </a:stretch>
        </p:blipFill>
        <p:spPr>
          <a:xfrm>
            <a:off x="3296707" y="4364101"/>
            <a:ext cx="128699" cy="187198"/>
          </a:xfrm>
          <a:prstGeom prst="rect">
            <a:avLst/>
          </a:prstGeom>
        </p:spPr>
      </p:pic>
      <p:pic>
        <p:nvPicPr>
          <p:cNvPr id="181" name="Picture 180" descr="lock.png"/>
          <p:cNvPicPr>
            <a:picLocks noChangeAspect="1"/>
          </p:cNvPicPr>
          <p:nvPr/>
        </p:nvPicPr>
        <p:blipFill>
          <a:blip r:embed="rId4"/>
          <a:stretch>
            <a:fillRect/>
          </a:stretch>
        </p:blipFill>
        <p:spPr>
          <a:xfrm>
            <a:off x="10380314" y="436410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18205" y="4364101"/>
            <a:ext cx="128699" cy="187198"/>
          </a:xfrm>
          <a:prstGeom prst="rect">
            <a:avLst/>
          </a:prstGeom>
        </p:spPr>
      </p:pic>
      <p:pic>
        <p:nvPicPr>
          <p:cNvPr id="183" name="Picture 182" descr="lock.png"/>
          <p:cNvPicPr>
            <a:picLocks noChangeAspect="1"/>
          </p:cNvPicPr>
          <p:nvPr/>
        </p:nvPicPr>
        <p:blipFill>
          <a:blip r:embed="rId4"/>
          <a:stretch>
            <a:fillRect/>
          </a:stretch>
        </p:blipFill>
        <p:spPr>
          <a:xfrm>
            <a:off x="3296707" y="4707001"/>
            <a:ext cx="128699" cy="187198"/>
          </a:xfrm>
          <a:prstGeom prst="rect">
            <a:avLst/>
          </a:prstGeom>
        </p:spPr>
      </p:pic>
      <p:pic>
        <p:nvPicPr>
          <p:cNvPr id="184" name="Picture 183" descr="lock.png"/>
          <p:cNvPicPr>
            <a:picLocks noChangeAspect="1"/>
          </p:cNvPicPr>
          <p:nvPr/>
        </p:nvPicPr>
        <p:blipFill>
          <a:blip r:embed="rId4"/>
          <a:stretch>
            <a:fillRect/>
          </a:stretch>
        </p:blipFill>
        <p:spPr>
          <a:xfrm>
            <a:off x="10380314" y="470700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418205" y="4707001"/>
            <a:ext cx="128699" cy="187198"/>
          </a:xfrm>
          <a:prstGeom prst="rect">
            <a:avLst/>
          </a:prstGeom>
        </p:spPr>
      </p:pic>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231529" y="1295400"/>
            <a:ext cx="136616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231529" y="1657350"/>
            <a:ext cx="136616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673893" y="1295400"/>
            <a:ext cx="136616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673893" y="1657350"/>
            <a:ext cx="136616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116256"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116256"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6847092"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6847092"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577928"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577928"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308764"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308764"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Dümmen Orange</a:t>
            </a:r>
          </a:p>
        </p:txBody>
      </p:sp>
      <p:sp>
        <p:nvSpPr>
          <p:cNvPr id="27" name="TextBox 26"/>
          <p:cNvSpPr txBox="1"/>
          <p:nvPr/>
        </p:nvSpPr>
        <p:spPr>
          <a:xfrm>
            <a:off x="285750" y="24098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283841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80774"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352925" y="2324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16256" y="22288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6847092" y="22288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 Florists &amp; Specialty Flower Shops</a:t>
            </a:r>
          </a:p>
        </p:txBody>
      </p:sp>
      <p:sp>
        <p:nvSpPr>
          <p:cNvPr id="33" name="TextBox 32"/>
          <p:cNvSpPr txBox="1"/>
          <p:nvPr/>
        </p:nvSpPr>
        <p:spPr>
          <a:xfrm>
            <a:off x="8539828" y="22288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270664" y="22288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38" name="TextBox 37"/>
          <p:cNvSpPr txBox="1"/>
          <p:nvPr/>
        </p:nvSpPr>
        <p:spPr>
          <a:xfrm>
            <a:off x="285750" y="27527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2838411"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914650"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28077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16256" y="25717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6847092" y="25717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 Direct Sales to Commercial &amp; Institutional Buyers</a:t>
            </a:r>
          </a:p>
        </p:txBody>
      </p:sp>
      <p:sp>
        <p:nvSpPr>
          <p:cNvPr id="44" name="TextBox 43"/>
          <p:cNvSpPr txBox="1"/>
          <p:nvPr/>
        </p:nvSpPr>
        <p:spPr>
          <a:xfrm>
            <a:off x="8539828" y="25717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270664" y="25717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Syngenta Flowers</a:t>
            </a:r>
          </a:p>
        </p:txBody>
      </p:sp>
      <p:sp>
        <p:nvSpPr>
          <p:cNvPr id="49" name="TextBox 48"/>
          <p:cNvSpPr txBox="1"/>
          <p:nvPr/>
        </p:nvSpPr>
        <p:spPr>
          <a:xfrm>
            <a:off x="285750" y="30956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2838411"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91465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280774"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352925" y="3009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16256" y="29146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6847092" y="29146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Florists &amp; Specialty Flower Shops, Direct Sales to Commercial &amp; Institutional Buyers</a:t>
            </a:r>
          </a:p>
        </p:txBody>
      </p:sp>
      <p:sp>
        <p:nvSpPr>
          <p:cNvPr id="56" name="TextBox 55"/>
          <p:cNvSpPr txBox="1"/>
          <p:nvPr/>
        </p:nvSpPr>
        <p:spPr>
          <a:xfrm>
            <a:off x="8539828" y="29146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270664" y="29146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Ball Horticultural Company</a:t>
            </a:r>
          </a:p>
        </p:txBody>
      </p:sp>
      <p:sp>
        <p:nvSpPr>
          <p:cNvPr id="61" name="TextBox 60"/>
          <p:cNvSpPr txBox="1"/>
          <p:nvPr/>
        </p:nvSpPr>
        <p:spPr>
          <a:xfrm>
            <a:off x="285750" y="34385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2838411"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14650"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28077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116256" y="32575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6847092" y="32575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 Florists &amp; Specialty Flower Shops</a:t>
            </a:r>
          </a:p>
        </p:txBody>
      </p:sp>
      <p:sp>
        <p:nvSpPr>
          <p:cNvPr id="67" name="TextBox 66"/>
          <p:cNvSpPr txBox="1"/>
          <p:nvPr/>
        </p:nvSpPr>
        <p:spPr>
          <a:xfrm>
            <a:off x="8539828" y="32575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270664" y="32575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Selecta One</a:t>
            </a:r>
          </a:p>
        </p:txBody>
      </p:sp>
      <p:sp>
        <p:nvSpPr>
          <p:cNvPr id="72" name="TextBox 71"/>
          <p:cNvSpPr txBox="1"/>
          <p:nvPr/>
        </p:nvSpPr>
        <p:spPr>
          <a:xfrm>
            <a:off x="285750" y="37814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2838411"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28077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352925"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16256" y="36004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6847092" y="36004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 Direct Sales to Commercial &amp; Institutional Buyers</a:t>
            </a:r>
          </a:p>
        </p:txBody>
      </p:sp>
      <p:sp>
        <p:nvSpPr>
          <p:cNvPr id="78" name="TextBox 77"/>
          <p:cNvSpPr txBox="1"/>
          <p:nvPr/>
        </p:nvSpPr>
        <p:spPr>
          <a:xfrm>
            <a:off x="8539828" y="36004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270664" y="36004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Florensis</a:t>
            </a:r>
          </a:p>
        </p:txBody>
      </p:sp>
      <p:sp>
        <p:nvSpPr>
          <p:cNvPr id="83" name="TextBox 82"/>
          <p:cNvSpPr txBox="1"/>
          <p:nvPr/>
        </p:nvSpPr>
        <p:spPr>
          <a:xfrm>
            <a:off x="285750" y="41243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283841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9146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280774"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116256" y="39433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6847092" y="39433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Florists &amp; Specialty Flower Shops, Direct Sales to Commercial &amp; Institutional Buyers</a:t>
            </a:r>
          </a:p>
        </p:txBody>
      </p:sp>
      <p:sp>
        <p:nvSpPr>
          <p:cNvPr id="89" name="TextBox 88"/>
          <p:cNvSpPr txBox="1"/>
          <p:nvPr/>
        </p:nvSpPr>
        <p:spPr>
          <a:xfrm>
            <a:off x="8539828" y="39433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270664" y="39433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HilverdaFlorist</a:t>
            </a:r>
          </a:p>
        </p:txBody>
      </p:sp>
      <p:sp>
        <p:nvSpPr>
          <p:cNvPr id="94" name="TextBox 93"/>
          <p:cNvSpPr txBox="1"/>
          <p:nvPr/>
        </p:nvSpPr>
        <p:spPr>
          <a:xfrm>
            <a:off x="285750" y="44672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283841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291465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28077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352925"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116256" y="42862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6847092" y="42862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 Florists &amp; Specialty Flower Shops</a:t>
            </a:r>
          </a:p>
        </p:txBody>
      </p:sp>
      <p:sp>
        <p:nvSpPr>
          <p:cNvPr id="101" name="TextBox 100"/>
          <p:cNvSpPr txBox="1"/>
          <p:nvPr/>
        </p:nvSpPr>
        <p:spPr>
          <a:xfrm>
            <a:off x="8539828" y="42862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270664" y="42862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Royal Van Zanten</a:t>
            </a:r>
          </a:p>
        </p:txBody>
      </p:sp>
      <p:sp>
        <p:nvSpPr>
          <p:cNvPr id="106" name="TextBox 105"/>
          <p:cNvSpPr txBox="1"/>
          <p:nvPr/>
        </p:nvSpPr>
        <p:spPr>
          <a:xfrm>
            <a:off x="285750" y="48101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283841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914650"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80774"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116256" y="46291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6847092" y="46291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Supermarkets &amp; Hypermarkets, Direct Sales to Commercial &amp; Institutional Buyers</a:t>
            </a:r>
          </a:p>
        </p:txBody>
      </p:sp>
      <p:sp>
        <p:nvSpPr>
          <p:cNvPr id="112" name="TextBox 111"/>
          <p:cNvSpPr txBox="1"/>
          <p:nvPr/>
        </p:nvSpPr>
        <p:spPr>
          <a:xfrm>
            <a:off x="8539828" y="46291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270664" y="46291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Oval 114"/>
          <p:cNvSpPr/>
          <p:nvPr/>
        </p:nvSpPr>
        <p:spPr>
          <a:xfrm>
            <a:off x="200025" y="50482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8100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17" name="Oval 116"/>
          <p:cNvSpPr/>
          <p:nvPr/>
        </p:nvSpPr>
        <p:spPr>
          <a:xfrm>
            <a:off x="2065020"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2133600" y="50482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245995"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20" name="Oval 119"/>
          <p:cNvSpPr/>
          <p:nvPr/>
        </p:nvSpPr>
        <p:spPr>
          <a:xfrm>
            <a:off x="367855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3743325" y="50482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85953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23" name="Oval 122"/>
          <p:cNvSpPr/>
          <p:nvPr/>
        </p:nvSpPr>
        <p:spPr>
          <a:xfrm>
            <a:off x="510349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28447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25" name="TextBox 124"/>
          <p:cNvSpPr txBox="1"/>
          <p:nvPr/>
        </p:nvSpPr>
        <p:spPr>
          <a:xfrm>
            <a:off x="190500" y="52578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26" name="TextBox 125"/>
          <p:cNvSpPr txBox="1"/>
          <p:nvPr/>
        </p:nvSpPr>
        <p:spPr>
          <a:xfrm>
            <a:off x="190500" y="54102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27" name="TextBox 1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8" name="Picture 127" descr="lock.png"/>
          <p:cNvPicPr>
            <a:picLocks noChangeAspect="1"/>
          </p:cNvPicPr>
          <p:nvPr/>
        </p:nvPicPr>
        <p:blipFill>
          <a:blip r:embed="rId4"/>
          <a:stretch>
            <a:fillRect/>
          </a:stretch>
        </p:blipFill>
        <p:spPr>
          <a:xfrm>
            <a:off x="9340896" y="2306701"/>
            <a:ext cx="128699" cy="187198"/>
          </a:xfrm>
          <a:prstGeom prst="rect">
            <a:avLst/>
          </a:prstGeom>
        </p:spPr>
      </p:pic>
      <p:pic>
        <p:nvPicPr>
          <p:cNvPr id="129" name="Picture 128" descr="lock.png"/>
          <p:cNvPicPr>
            <a:picLocks noChangeAspect="1"/>
          </p:cNvPicPr>
          <p:nvPr/>
        </p:nvPicPr>
        <p:blipFill>
          <a:blip r:embed="rId4"/>
          <a:stretch>
            <a:fillRect/>
          </a:stretch>
        </p:blipFill>
        <p:spPr>
          <a:xfrm>
            <a:off x="11071732" y="2306701"/>
            <a:ext cx="128699" cy="187198"/>
          </a:xfrm>
          <a:prstGeom prst="rect">
            <a:avLst/>
          </a:prstGeom>
        </p:spPr>
      </p:pic>
      <p:pic>
        <p:nvPicPr>
          <p:cNvPr id="130" name="Picture 129" descr="lock.png"/>
          <p:cNvPicPr>
            <a:picLocks noChangeAspect="1"/>
          </p:cNvPicPr>
          <p:nvPr/>
        </p:nvPicPr>
        <p:blipFill>
          <a:blip r:embed="rId4"/>
          <a:stretch>
            <a:fillRect/>
          </a:stretch>
        </p:blipFill>
        <p:spPr>
          <a:xfrm>
            <a:off x="9340896" y="2649601"/>
            <a:ext cx="128699" cy="187198"/>
          </a:xfrm>
          <a:prstGeom prst="rect">
            <a:avLst/>
          </a:prstGeom>
        </p:spPr>
      </p:pic>
      <p:pic>
        <p:nvPicPr>
          <p:cNvPr id="131" name="Picture 130" descr="lock.png"/>
          <p:cNvPicPr>
            <a:picLocks noChangeAspect="1"/>
          </p:cNvPicPr>
          <p:nvPr/>
        </p:nvPicPr>
        <p:blipFill>
          <a:blip r:embed="rId4"/>
          <a:stretch>
            <a:fillRect/>
          </a:stretch>
        </p:blipFill>
        <p:spPr>
          <a:xfrm>
            <a:off x="11071732" y="2649601"/>
            <a:ext cx="128699" cy="187198"/>
          </a:xfrm>
          <a:prstGeom prst="rect">
            <a:avLst/>
          </a:prstGeom>
        </p:spPr>
      </p:pic>
      <p:pic>
        <p:nvPicPr>
          <p:cNvPr id="132" name="Picture 131" descr="lock.png"/>
          <p:cNvPicPr>
            <a:picLocks noChangeAspect="1"/>
          </p:cNvPicPr>
          <p:nvPr/>
        </p:nvPicPr>
        <p:blipFill>
          <a:blip r:embed="rId4"/>
          <a:stretch>
            <a:fillRect/>
          </a:stretch>
        </p:blipFill>
        <p:spPr>
          <a:xfrm>
            <a:off x="9340896" y="2992501"/>
            <a:ext cx="128699" cy="187198"/>
          </a:xfrm>
          <a:prstGeom prst="rect">
            <a:avLst/>
          </a:prstGeom>
        </p:spPr>
      </p:pic>
      <p:pic>
        <p:nvPicPr>
          <p:cNvPr id="133" name="Picture 132" descr="lock.png"/>
          <p:cNvPicPr>
            <a:picLocks noChangeAspect="1"/>
          </p:cNvPicPr>
          <p:nvPr/>
        </p:nvPicPr>
        <p:blipFill>
          <a:blip r:embed="rId4"/>
          <a:stretch>
            <a:fillRect/>
          </a:stretch>
        </p:blipFill>
        <p:spPr>
          <a:xfrm>
            <a:off x="11071732" y="2992501"/>
            <a:ext cx="128699" cy="187198"/>
          </a:xfrm>
          <a:prstGeom prst="rect">
            <a:avLst/>
          </a:prstGeom>
        </p:spPr>
      </p:pic>
      <p:pic>
        <p:nvPicPr>
          <p:cNvPr id="134" name="Picture 133" descr="lock.png"/>
          <p:cNvPicPr>
            <a:picLocks noChangeAspect="1"/>
          </p:cNvPicPr>
          <p:nvPr/>
        </p:nvPicPr>
        <p:blipFill>
          <a:blip r:embed="rId4"/>
          <a:stretch>
            <a:fillRect/>
          </a:stretch>
        </p:blipFill>
        <p:spPr>
          <a:xfrm>
            <a:off x="9340896" y="3335401"/>
            <a:ext cx="128699" cy="187198"/>
          </a:xfrm>
          <a:prstGeom prst="rect">
            <a:avLst/>
          </a:prstGeom>
        </p:spPr>
      </p:pic>
      <p:pic>
        <p:nvPicPr>
          <p:cNvPr id="135" name="Picture 134" descr="lock.png"/>
          <p:cNvPicPr>
            <a:picLocks noChangeAspect="1"/>
          </p:cNvPicPr>
          <p:nvPr/>
        </p:nvPicPr>
        <p:blipFill>
          <a:blip r:embed="rId4"/>
          <a:stretch>
            <a:fillRect/>
          </a:stretch>
        </p:blipFill>
        <p:spPr>
          <a:xfrm>
            <a:off x="11071732" y="3335401"/>
            <a:ext cx="128699" cy="187198"/>
          </a:xfrm>
          <a:prstGeom prst="rect">
            <a:avLst/>
          </a:prstGeom>
        </p:spPr>
      </p:pic>
      <p:pic>
        <p:nvPicPr>
          <p:cNvPr id="136" name="Picture 135" descr="lock.png"/>
          <p:cNvPicPr>
            <a:picLocks noChangeAspect="1"/>
          </p:cNvPicPr>
          <p:nvPr/>
        </p:nvPicPr>
        <p:blipFill>
          <a:blip r:embed="rId4"/>
          <a:stretch>
            <a:fillRect/>
          </a:stretch>
        </p:blipFill>
        <p:spPr>
          <a:xfrm>
            <a:off x="9340896" y="3678301"/>
            <a:ext cx="128699" cy="187198"/>
          </a:xfrm>
          <a:prstGeom prst="rect">
            <a:avLst/>
          </a:prstGeom>
        </p:spPr>
      </p:pic>
      <p:pic>
        <p:nvPicPr>
          <p:cNvPr id="137" name="Picture 136" descr="lock.png"/>
          <p:cNvPicPr>
            <a:picLocks noChangeAspect="1"/>
          </p:cNvPicPr>
          <p:nvPr/>
        </p:nvPicPr>
        <p:blipFill>
          <a:blip r:embed="rId4"/>
          <a:stretch>
            <a:fillRect/>
          </a:stretch>
        </p:blipFill>
        <p:spPr>
          <a:xfrm>
            <a:off x="11071732" y="3678301"/>
            <a:ext cx="128699" cy="187198"/>
          </a:xfrm>
          <a:prstGeom prst="rect">
            <a:avLst/>
          </a:prstGeom>
        </p:spPr>
      </p:pic>
      <p:pic>
        <p:nvPicPr>
          <p:cNvPr id="138" name="Picture 137" descr="lock.png"/>
          <p:cNvPicPr>
            <a:picLocks noChangeAspect="1"/>
          </p:cNvPicPr>
          <p:nvPr/>
        </p:nvPicPr>
        <p:blipFill>
          <a:blip r:embed="rId4"/>
          <a:stretch>
            <a:fillRect/>
          </a:stretch>
        </p:blipFill>
        <p:spPr>
          <a:xfrm>
            <a:off x="9340896" y="4021201"/>
            <a:ext cx="128699" cy="187198"/>
          </a:xfrm>
          <a:prstGeom prst="rect">
            <a:avLst/>
          </a:prstGeom>
        </p:spPr>
      </p:pic>
      <p:pic>
        <p:nvPicPr>
          <p:cNvPr id="139" name="Picture 138" descr="lock.png"/>
          <p:cNvPicPr>
            <a:picLocks noChangeAspect="1"/>
          </p:cNvPicPr>
          <p:nvPr/>
        </p:nvPicPr>
        <p:blipFill>
          <a:blip r:embed="rId4"/>
          <a:stretch>
            <a:fillRect/>
          </a:stretch>
        </p:blipFill>
        <p:spPr>
          <a:xfrm>
            <a:off x="11071732" y="4021201"/>
            <a:ext cx="128699" cy="187198"/>
          </a:xfrm>
          <a:prstGeom prst="rect">
            <a:avLst/>
          </a:prstGeom>
        </p:spPr>
      </p:pic>
      <p:pic>
        <p:nvPicPr>
          <p:cNvPr id="140" name="Picture 139" descr="lock.png"/>
          <p:cNvPicPr>
            <a:picLocks noChangeAspect="1"/>
          </p:cNvPicPr>
          <p:nvPr/>
        </p:nvPicPr>
        <p:blipFill>
          <a:blip r:embed="rId4"/>
          <a:stretch>
            <a:fillRect/>
          </a:stretch>
        </p:blipFill>
        <p:spPr>
          <a:xfrm>
            <a:off x="9340896" y="4364101"/>
            <a:ext cx="128699" cy="187198"/>
          </a:xfrm>
          <a:prstGeom prst="rect">
            <a:avLst/>
          </a:prstGeom>
        </p:spPr>
      </p:pic>
      <p:pic>
        <p:nvPicPr>
          <p:cNvPr id="141" name="Picture 140" descr="lock.png"/>
          <p:cNvPicPr>
            <a:picLocks noChangeAspect="1"/>
          </p:cNvPicPr>
          <p:nvPr/>
        </p:nvPicPr>
        <p:blipFill>
          <a:blip r:embed="rId4"/>
          <a:stretch>
            <a:fillRect/>
          </a:stretch>
        </p:blipFill>
        <p:spPr>
          <a:xfrm>
            <a:off x="11071732" y="4364101"/>
            <a:ext cx="128699" cy="187198"/>
          </a:xfrm>
          <a:prstGeom prst="rect">
            <a:avLst/>
          </a:prstGeom>
        </p:spPr>
      </p:pic>
      <p:pic>
        <p:nvPicPr>
          <p:cNvPr id="142" name="Picture 141" descr="lock.png"/>
          <p:cNvPicPr>
            <a:picLocks noChangeAspect="1"/>
          </p:cNvPicPr>
          <p:nvPr/>
        </p:nvPicPr>
        <p:blipFill>
          <a:blip r:embed="rId4"/>
          <a:stretch>
            <a:fillRect/>
          </a:stretch>
        </p:blipFill>
        <p:spPr>
          <a:xfrm>
            <a:off x="9340896" y="4707001"/>
            <a:ext cx="128699" cy="187198"/>
          </a:xfrm>
          <a:prstGeom prst="rect">
            <a:avLst/>
          </a:prstGeom>
        </p:spPr>
      </p:pic>
      <p:pic>
        <p:nvPicPr>
          <p:cNvPr id="143" name="Picture 142" descr="lock.png"/>
          <p:cNvPicPr>
            <a:picLocks noChangeAspect="1"/>
          </p:cNvPicPr>
          <p:nvPr/>
        </p:nvPicPr>
        <p:blipFill>
          <a:blip r:embed="rId4"/>
          <a:stretch>
            <a:fillRect/>
          </a:stretch>
        </p:blipFill>
        <p:spPr>
          <a:xfrm>
            <a:off x="11071732" y="4707001"/>
            <a:ext cx="128699" cy="187198"/>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231529"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231529"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3962365"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3962365"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693201" y="1295400"/>
            <a:ext cx="136616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693201" y="1657350"/>
            <a:ext cx="136616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135565"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135565"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866401" y="1295400"/>
            <a:ext cx="165463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866401" y="1657350"/>
            <a:ext cx="165463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597237" y="1295400"/>
            <a:ext cx="136616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597237" y="1657350"/>
            <a:ext cx="136616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Dümmen Orange</a:t>
            </a:r>
          </a:p>
        </p:txBody>
      </p:sp>
      <p:sp>
        <p:nvSpPr>
          <p:cNvPr id="27" name="TextBox 26"/>
          <p:cNvSpPr txBox="1"/>
          <p:nvPr/>
        </p:nvSpPr>
        <p:spPr>
          <a:xfrm>
            <a:off x="285750" y="24098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231529" y="22288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3924265" y="22288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30008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97465" y="22288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828301" y="22288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0411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37" name="TextBox 36"/>
          <p:cNvSpPr txBox="1"/>
          <p:nvPr/>
        </p:nvSpPr>
        <p:spPr>
          <a:xfrm>
            <a:off x="285750" y="27527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231529" y="25717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3924265" y="25717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30008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5565" y="25717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828301" y="25717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0411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Syngenta Flowers</a:t>
            </a:r>
          </a:p>
        </p:txBody>
      </p:sp>
      <p:sp>
        <p:nvSpPr>
          <p:cNvPr id="47" name="TextBox 46"/>
          <p:cNvSpPr txBox="1"/>
          <p:nvPr/>
        </p:nvSpPr>
        <p:spPr>
          <a:xfrm>
            <a:off x="285750" y="30956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231529" y="29146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3924265" y="29146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30008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97465" y="29146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828301" y="29146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0411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Ball Horticultural Company</a:t>
            </a:r>
          </a:p>
        </p:txBody>
      </p:sp>
      <p:sp>
        <p:nvSpPr>
          <p:cNvPr id="57" name="TextBox 56"/>
          <p:cNvSpPr txBox="1"/>
          <p:nvPr/>
        </p:nvSpPr>
        <p:spPr>
          <a:xfrm>
            <a:off x="285750" y="34385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231529" y="32575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3924265" y="32575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30008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35565" y="32575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828301" y="32575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0411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Selecta One</a:t>
            </a:r>
          </a:p>
        </p:txBody>
      </p:sp>
      <p:sp>
        <p:nvSpPr>
          <p:cNvPr id="67" name="TextBox 66"/>
          <p:cNvSpPr txBox="1"/>
          <p:nvPr/>
        </p:nvSpPr>
        <p:spPr>
          <a:xfrm>
            <a:off x="285750" y="37814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231529" y="36004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3924265" y="36004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300083"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97465" y="36004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828301" y="36004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0411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27760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Florensis</a:t>
            </a:r>
          </a:p>
        </p:txBody>
      </p:sp>
      <p:sp>
        <p:nvSpPr>
          <p:cNvPr id="78" name="TextBox 77"/>
          <p:cNvSpPr txBox="1"/>
          <p:nvPr/>
        </p:nvSpPr>
        <p:spPr>
          <a:xfrm>
            <a:off x="285750" y="41243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231529" y="39433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3924265" y="39433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300083"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35565" y="39433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828301" y="39433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0411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27760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HilverdaFlorist</a:t>
            </a:r>
          </a:p>
        </p:txBody>
      </p:sp>
      <p:sp>
        <p:nvSpPr>
          <p:cNvPr id="89" name="TextBox 88"/>
          <p:cNvSpPr txBox="1"/>
          <p:nvPr/>
        </p:nvSpPr>
        <p:spPr>
          <a:xfrm>
            <a:off x="285750" y="44672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231529" y="42862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3924265" y="42862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300083"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97465" y="42862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828301" y="42862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0411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27760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1888629" cy="171450"/>
          </a:xfrm>
          <a:prstGeom prst="rect">
            <a:avLst/>
          </a:prstGeom>
          <a:noFill/>
        </p:spPr>
        <p:txBody>
          <a:bodyPr wrap="square" lIns="28575" rIns="28575" tIns="9525" bIns="9525" anchor="t">
            <a:spAutoFit/>
          </a:bodyPr>
          <a:lstStyle/>
          <a:p>
            <a:pPr algn="l"/>
            <a:r>
              <a:rPr sz="1100" b="1">
                <a:solidFill>
                  <a:srgbClr val="1F2933"/>
                </a:solidFill>
                <a:latin typeface="Calibri"/>
              </a:rPr>
              <a:t>Royal Van Zanten</a:t>
            </a:r>
          </a:p>
        </p:txBody>
      </p:sp>
      <p:sp>
        <p:nvSpPr>
          <p:cNvPr id="100" name="TextBox 99"/>
          <p:cNvSpPr txBox="1"/>
          <p:nvPr/>
        </p:nvSpPr>
        <p:spPr>
          <a:xfrm>
            <a:off x="285750" y="4810125"/>
            <a:ext cx="1888629"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231529" y="46291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3924265" y="46291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300083"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135565" y="4629150"/>
            <a:ext cx="165463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828301" y="4629150"/>
            <a:ext cx="173083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0411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277600"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200025" y="50482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8100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11" name="Oval 110"/>
          <p:cNvSpPr/>
          <p:nvPr/>
        </p:nvSpPr>
        <p:spPr>
          <a:xfrm>
            <a:off x="2065020"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2133600" y="50482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45995"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14" name="Oval 113"/>
          <p:cNvSpPr/>
          <p:nvPr/>
        </p:nvSpPr>
        <p:spPr>
          <a:xfrm>
            <a:off x="367855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3743325" y="50482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85953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17" name="Oval 116"/>
          <p:cNvSpPr/>
          <p:nvPr/>
        </p:nvSpPr>
        <p:spPr>
          <a:xfrm>
            <a:off x="510349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28447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19" name="TextBox 118"/>
          <p:cNvSpPr txBox="1"/>
          <p:nvPr/>
        </p:nvSpPr>
        <p:spPr>
          <a:xfrm>
            <a:off x="190500" y="52578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20" name="TextBox 119"/>
          <p:cNvSpPr txBox="1"/>
          <p:nvPr/>
        </p:nvSpPr>
        <p:spPr>
          <a:xfrm>
            <a:off x="190500" y="54102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21" name="TextBox 1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2" name="Picture 121" descr="lock.png"/>
          <p:cNvPicPr>
            <a:picLocks noChangeAspect="1"/>
          </p:cNvPicPr>
          <p:nvPr/>
        </p:nvPicPr>
        <p:blipFill>
          <a:blip r:embed="rId4"/>
          <a:stretch>
            <a:fillRect/>
          </a:stretch>
        </p:blipFill>
        <p:spPr>
          <a:xfrm>
            <a:off x="4725333" y="2306701"/>
            <a:ext cx="128699" cy="187198"/>
          </a:xfrm>
          <a:prstGeom prst="rect">
            <a:avLst/>
          </a:prstGeom>
        </p:spPr>
      </p:pic>
      <p:pic>
        <p:nvPicPr>
          <p:cNvPr id="123" name="Picture 122" descr="lock.png"/>
          <p:cNvPicPr>
            <a:picLocks noChangeAspect="1"/>
          </p:cNvPicPr>
          <p:nvPr/>
        </p:nvPicPr>
        <p:blipFill>
          <a:blip r:embed="rId4"/>
          <a:stretch>
            <a:fillRect/>
          </a:stretch>
        </p:blipFill>
        <p:spPr>
          <a:xfrm>
            <a:off x="7898533" y="2306701"/>
            <a:ext cx="128699" cy="187198"/>
          </a:xfrm>
          <a:prstGeom prst="rect">
            <a:avLst/>
          </a:prstGeom>
        </p:spPr>
      </p:pic>
      <p:pic>
        <p:nvPicPr>
          <p:cNvPr id="124" name="Picture 123" descr="lock.png"/>
          <p:cNvPicPr>
            <a:picLocks noChangeAspect="1"/>
          </p:cNvPicPr>
          <p:nvPr/>
        </p:nvPicPr>
        <p:blipFill>
          <a:blip r:embed="rId4"/>
          <a:stretch>
            <a:fillRect/>
          </a:stretch>
        </p:blipFill>
        <p:spPr>
          <a:xfrm>
            <a:off x="9629369" y="2306701"/>
            <a:ext cx="128699" cy="187198"/>
          </a:xfrm>
          <a:prstGeom prst="rect">
            <a:avLst/>
          </a:prstGeom>
        </p:spPr>
      </p:pic>
      <p:pic>
        <p:nvPicPr>
          <p:cNvPr id="125" name="Picture 124" descr="lock.png"/>
          <p:cNvPicPr>
            <a:picLocks noChangeAspect="1"/>
          </p:cNvPicPr>
          <p:nvPr/>
        </p:nvPicPr>
        <p:blipFill>
          <a:blip r:embed="rId4"/>
          <a:stretch>
            <a:fillRect/>
          </a:stretch>
        </p:blipFill>
        <p:spPr>
          <a:xfrm>
            <a:off x="4725333" y="2649601"/>
            <a:ext cx="128699" cy="187198"/>
          </a:xfrm>
          <a:prstGeom prst="rect">
            <a:avLst/>
          </a:prstGeom>
        </p:spPr>
      </p:pic>
      <p:pic>
        <p:nvPicPr>
          <p:cNvPr id="126" name="Picture 125" descr="lock.png"/>
          <p:cNvPicPr>
            <a:picLocks noChangeAspect="1"/>
          </p:cNvPicPr>
          <p:nvPr/>
        </p:nvPicPr>
        <p:blipFill>
          <a:blip r:embed="rId4"/>
          <a:stretch>
            <a:fillRect/>
          </a:stretch>
        </p:blipFill>
        <p:spPr>
          <a:xfrm>
            <a:off x="9629369" y="2649601"/>
            <a:ext cx="128699" cy="187198"/>
          </a:xfrm>
          <a:prstGeom prst="rect">
            <a:avLst/>
          </a:prstGeom>
        </p:spPr>
      </p:pic>
      <p:pic>
        <p:nvPicPr>
          <p:cNvPr id="127" name="Picture 126" descr="lock.png"/>
          <p:cNvPicPr>
            <a:picLocks noChangeAspect="1"/>
          </p:cNvPicPr>
          <p:nvPr/>
        </p:nvPicPr>
        <p:blipFill>
          <a:blip r:embed="rId4"/>
          <a:stretch>
            <a:fillRect/>
          </a:stretch>
        </p:blipFill>
        <p:spPr>
          <a:xfrm>
            <a:off x="4725333" y="2992501"/>
            <a:ext cx="128699" cy="187198"/>
          </a:xfrm>
          <a:prstGeom prst="rect">
            <a:avLst/>
          </a:prstGeom>
        </p:spPr>
      </p:pic>
      <p:pic>
        <p:nvPicPr>
          <p:cNvPr id="128" name="Picture 127" descr="lock.png"/>
          <p:cNvPicPr>
            <a:picLocks noChangeAspect="1"/>
          </p:cNvPicPr>
          <p:nvPr/>
        </p:nvPicPr>
        <p:blipFill>
          <a:blip r:embed="rId4"/>
          <a:stretch>
            <a:fillRect/>
          </a:stretch>
        </p:blipFill>
        <p:spPr>
          <a:xfrm>
            <a:off x="7898533" y="2992501"/>
            <a:ext cx="128699" cy="187198"/>
          </a:xfrm>
          <a:prstGeom prst="rect">
            <a:avLst/>
          </a:prstGeom>
        </p:spPr>
      </p:pic>
      <p:pic>
        <p:nvPicPr>
          <p:cNvPr id="129" name="Picture 128" descr="lock.png"/>
          <p:cNvPicPr>
            <a:picLocks noChangeAspect="1"/>
          </p:cNvPicPr>
          <p:nvPr/>
        </p:nvPicPr>
        <p:blipFill>
          <a:blip r:embed="rId4"/>
          <a:stretch>
            <a:fillRect/>
          </a:stretch>
        </p:blipFill>
        <p:spPr>
          <a:xfrm>
            <a:off x="9629369" y="2992501"/>
            <a:ext cx="128699" cy="187198"/>
          </a:xfrm>
          <a:prstGeom prst="rect">
            <a:avLst/>
          </a:prstGeom>
        </p:spPr>
      </p:pic>
      <p:pic>
        <p:nvPicPr>
          <p:cNvPr id="130" name="Picture 129" descr="lock.png"/>
          <p:cNvPicPr>
            <a:picLocks noChangeAspect="1"/>
          </p:cNvPicPr>
          <p:nvPr/>
        </p:nvPicPr>
        <p:blipFill>
          <a:blip r:embed="rId4"/>
          <a:stretch>
            <a:fillRect/>
          </a:stretch>
        </p:blipFill>
        <p:spPr>
          <a:xfrm>
            <a:off x="4725333" y="3335401"/>
            <a:ext cx="128699" cy="187198"/>
          </a:xfrm>
          <a:prstGeom prst="rect">
            <a:avLst/>
          </a:prstGeom>
        </p:spPr>
      </p:pic>
      <p:pic>
        <p:nvPicPr>
          <p:cNvPr id="131" name="Picture 130" descr="lock.png"/>
          <p:cNvPicPr>
            <a:picLocks noChangeAspect="1"/>
          </p:cNvPicPr>
          <p:nvPr/>
        </p:nvPicPr>
        <p:blipFill>
          <a:blip r:embed="rId4"/>
          <a:stretch>
            <a:fillRect/>
          </a:stretch>
        </p:blipFill>
        <p:spPr>
          <a:xfrm>
            <a:off x="9629369" y="3335401"/>
            <a:ext cx="128699" cy="187198"/>
          </a:xfrm>
          <a:prstGeom prst="rect">
            <a:avLst/>
          </a:prstGeom>
        </p:spPr>
      </p:pic>
      <p:pic>
        <p:nvPicPr>
          <p:cNvPr id="132" name="Picture 131" descr="lock.png"/>
          <p:cNvPicPr>
            <a:picLocks noChangeAspect="1"/>
          </p:cNvPicPr>
          <p:nvPr/>
        </p:nvPicPr>
        <p:blipFill>
          <a:blip r:embed="rId4"/>
          <a:stretch>
            <a:fillRect/>
          </a:stretch>
        </p:blipFill>
        <p:spPr>
          <a:xfrm>
            <a:off x="4725333" y="3678301"/>
            <a:ext cx="128699" cy="187198"/>
          </a:xfrm>
          <a:prstGeom prst="rect">
            <a:avLst/>
          </a:prstGeom>
        </p:spPr>
      </p:pic>
      <p:pic>
        <p:nvPicPr>
          <p:cNvPr id="133" name="Picture 132" descr="lock.png"/>
          <p:cNvPicPr>
            <a:picLocks noChangeAspect="1"/>
          </p:cNvPicPr>
          <p:nvPr/>
        </p:nvPicPr>
        <p:blipFill>
          <a:blip r:embed="rId4"/>
          <a:stretch>
            <a:fillRect/>
          </a:stretch>
        </p:blipFill>
        <p:spPr>
          <a:xfrm>
            <a:off x="7898533" y="3678301"/>
            <a:ext cx="128699" cy="187198"/>
          </a:xfrm>
          <a:prstGeom prst="rect">
            <a:avLst/>
          </a:prstGeom>
        </p:spPr>
      </p:pic>
      <p:pic>
        <p:nvPicPr>
          <p:cNvPr id="134" name="Picture 133" descr="lock.png"/>
          <p:cNvPicPr>
            <a:picLocks noChangeAspect="1"/>
          </p:cNvPicPr>
          <p:nvPr/>
        </p:nvPicPr>
        <p:blipFill>
          <a:blip r:embed="rId4"/>
          <a:stretch>
            <a:fillRect/>
          </a:stretch>
        </p:blipFill>
        <p:spPr>
          <a:xfrm>
            <a:off x="9629369" y="3678301"/>
            <a:ext cx="128699" cy="187198"/>
          </a:xfrm>
          <a:prstGeom prst="rect">
            <a:avLst/>
          </a:prstGeom>
        </p:spPr>
      </p:pic>
      <p:pic>
        <p:nvPicPr>
          <p:cNvPr id="135" name="Picture 134" descr="lock.png"/>
          <p:cNvPicPr>
            <a:picLocks noChangeAspect="1"/>
          </p:cNvPicPr>
          <p:nvPr/>
        </p:nvPicPr>
        <p:blipFill>
          <a:blip r:embed="rId4"/>
          <a:stretch>
            <a:fillRect/>
          </a:stretch>
        </p:blipFill>
        <p:spPr>
          <a:xfrm>
            <a:off x="4725333" y="4021201"/>
            <a:ext cx="128699" cy="187198"/>
          </a:xfrm>
          <a:prstGeom prst="rect">
            <a:avLst/>
          </a:prstGeom>
        </p:spPr>
      </p:pic>
      <p:pic>
        <p:nvPicPr>
          <p:cNvPr id="136" name="Picture 135" descr="lock.png"/>
          <p:cNvPicPr>
            <a:picLocks noChangeAspect="1"/>
          </p:cNvPicPr>
          <p:nvPr/>
        </p:nvPicPr>
        <p:blipFill>
          <a:blip r:embed="rId4"/>
          <a:stretch>
            <a:fillRect/>
          </a:stretch>
        </p:blipFill>
        <p:spPr>
          <a:xfrm>
            <a:off x="9629369" y="4021201"/>
            <a:ext cx="128699" cy="187198"/>
          </a:xfrm>
          <a:prstGeom prst="rect">
            <a:avLst/>
          </a:prstGeom>
        </p:spPr>
      </p:pic>
      <p:pic>
        <p:nvPicPr>
          <p:cNvPr id="137" name="Picture 136" descr="lock.png"/>
          <p:cNvPicPr>
            <a:picLocks noChangeAspect="1"/>
          </p:cNvPicPr>
          <p:nvPr/>
        </p:nvPicPr>
        <p:blipFill>
          <a:blip r:embed="rId4"/>
          <a:stretch>
            <a:fillRect/>
          </a:stretch>
        </p:blipFill>
        <p:spPr>
          <a:xfrm>
            <a:off x="4725333" y="4364101"/>
            <a:ext cx="128699" cy="187198"/>
          </a:xfrm>
          <a:prstGeom prst="rect">
            <a:avLst/>
          </a:prstGeom>
        </p:spPr>
      </p:pic>
      <p:pic>
        <p:nvPicPr>
          <p:cNvPr id="138" name="Picture 137" descr="lock.png"/>
          <p:cNvPicPr>
            <a:picLocks noChangeAspect="1"/>
          </p:cNvPicPr>
          <p:nvPr/>
        </p:nvPicPr>
        <p:blipFill>
          <a:blip r:embed="rId4"/>
          <a:stretch>
            <a:fillRect/>
          </a:stretch>
        </p:blipFill>
        <p:spPr>
          <a:xfrm>
            <a:off x="7898533" y="4364101"/>
            <a:ext cx="128699" cy="187198"/>
          </a:xfrm>
          <a:prstGeom prst="rect">
            <a:avLst/>
          </a:prstGeom>
        </p:spPr>
      </p:pic>
      <p:pic>
        <p:nvPicPr>
          <p:cNvPr id="139" name="Picture 138" descr="lock.png"/>
          <p:cNvPicPr>
            <a:picLocks noChangeAspect="1"/>
          </p:cNvPicPr>
          <p:nvPr/>
        </p:nvPicPr>
        <p:blipFill>
          <a:blip r:embed="rId4"/>
          <a:stretch>
            <a:fillRect/>
          </a:stretch>
        </p:blipFill>
        <p:spPr>
          <a:xfrm>
            <a:off x="9629369" y="4364101"/>
            <a:ext cx="128699" cy="187198"/>
          </a:xfrm>
          <a:prstGeom prst="rect">
            <a:avLst/>
          </a:prstGeom>
        </p:spPr>
      </p:pic>
      <p:pic>
        <p:nvPicPr>
          <p:cNvPr id="140" name="Picture 139" descr="lock.png"/>
          <p:cNvPicPr>
            <a:picLocks noChangeAspect="1"/>
          </p:cNvPicPr>
          <p:nvPr/>
        </p:nvPicPr>
        <p:blipFill>
          <a:blip r:embed="rId4"/>
          <a:stretch>
            <a:fillRect/>
          </a:stretch>
        </p:blipFill>
        <p:spPr>
          <a:xfrm>
            <a:off x="4725333" y="4707001"/>
            <a:ext cx="128699" cy="187198"/>
          </a:xfrm>
          <a:prstGeom prst="rect">
            <a:avLst/>
          </a:prstGeom>
        </p:spPr>
      </p:pic>
      <p:pic>
        <p:nvPicPr>
          <p:cNvPr id="141" name="Picture 140" descr="lock.png"/>
          <p:cNvPicPr>
            <a:picLocks noChangeAspect="1"/>
          </p:cNvPicPr>
          <p:nvPr/>
        </p:nvPicPr>
        <p:blipFill>
          <a:blip r:embed="rId4"/>
          <a:stretch>
            <a:fillRect/>
          </a:stretch>
        </p:blipFill>
        <p:spPr>
          <a:xfrm>
            <a:off x="9629369" y="4707001"/>
            <a:ext cx="128699" cy="187198"/>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Dümmen Orange</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Syngenta Flowers</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Ball Horticultural Company</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Florensis</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Selecta One</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Royal Van Zanten</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HilverdaFlorist</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89622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420350" y="40290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112520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4" name="Connector 123"/>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Oval 124"/>
          <p:cNvSpPr/>
          <p:nvPr/>
        </p:nvSpPr>
        <p:spPr>
          <a:xfrm>
            <a:off x="200025" y="43243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1000"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27" name="Oval 126"/>
          <p:cNvSpPr/>
          <p:nvPr/>
        </p:nvSpPr>
        <p:spPr>
          <a:xfrm>
            <a:off x="2065020" y="43243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2133600" y="43243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245995"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0" name="Oval 129"/>
          <p:cNvSpPr/>
          <p:nvPr/>
        </p:nvSpPr>
        <p:spPr>
          <a:xfrm>
            <a:off x="3678555" y="43243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3743325" y="43243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59530"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3" name="Oval 132"/>
          <p:cNvSpPr/>
          <p:nvPr/>
        </p:nvSpPr>
        <p:spPr>
          <a:xfrm>
            <a:off x="5103495" y="43243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284470"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35" name="TextBox 134"/>
          <p:cNvSpPr txBox="1"/>
          <p:nvPr/>
        </p:nvSpPr>
        <p:spPr>
          <a:xfrm>
            <a:off x="190500" y="45339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36" name="Rectangle 135"/>
          <p:cNvSpPr/>
          <p:nvPr/>
        </p:nvSpPr>
        <p:spPr>
          <a:xfrm>
            <a:off x="190500" y="47244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90500" y="47815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38" name="TextBox 137"/>
          <p:cNvSpPr txBox="1"/>
          <p:nvPr/>
        </p:nvSpPr>
        <p:spPr>
          <a:xfrm>
            <a:off x="190500" y="49530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Company, Dümmen Orange, Syngenta Flowers, Ball Horticultural Company</a:t>
            </a:r>
          </a:p>
        </p:txBody>
      </p:sp>
      <p:sp>
        <p:nvSpPr>
          <p:cNvPr id="139" name="TextBox 138"/>
          <p:cNvSpPr txBox="1"/>
          <p:nvPr/>
        </p:nvSpPr>
        <p:spPr>
          <a:xfrm>
            <a:off x="190500" y="53149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40" name="Rectangle 139"/>
          <p:cNvSpPr/>
          <p:nvPr/>
        </p:nvSpPr>
        <p:spPr>
          <a:xfrm>
            <a:off x="4191000" y="47244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191000" y="47815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42" name="TextBox 141"/>
          <p:cNvSpPr txBox="1"/>
          <p:nvPr/>
        </p:nvSpPr>
        <p:spPr>
          <a:xfrm>
            <a:off x="4191000" y="49530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Florensis, Selecta One</a:t>
            </a:r>
          </a:p>
        </p:txBody>
      </p:sp>
      <p:sp>
        <p:nvSpPr>
          <p:cNvPr id="143" name="TextBox 142"/>
          <p:cNvSpPr txBox="1"/>
          <p:nvPr/>
        </p:nvSpPr>
        <p:spPr>
          <a:xfrm>
            <a:off x="4191000" y="53149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44" name="Rectangle 143"/>
          <p:cNvSpPr/>
          <p:nvPr/>
        </p:nvSpPr>
        <p:spPr>
          <a:xfrm>
            <a:off x="8191500" y="47244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8191500" y="47815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46" name="TextBox 145"/>
          <p:cNvSpPr txBox="1"/>
          <p:nvPr/>
        </p:nvSpPr>
        <p:spPr>
          <a:xfrm>
            <a:off x="8191500" y="49530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Royal Van Zanten, HilverdaFlorist</a:t>
            </a:r>
          </a:p>
        </p:txBody>
      </p:sp>
      <p:sp>
        <p:nvSpPr>
          <p:cNvPr id="147" name="TextBox 146"/>
          <p:cNvSpPr txBox="1"/>
          <p:nvPr/>
        </p:nvSpPr>
        <p:spPr>
          <a:xfrm>
            <a:off x="8191500" y="53149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11746650" y="1868551"/>
            <a:ext cx="128699" cy="187198"/>
          </a:xfrm>
          <a:prstGeom prst="rect">
            <a:avLst/>
          </a:prstGeom>
        </p:spPr>
      </p:pic>
      <p:pic>
        <p:nvPicPr>
          <p:cNvPr id="150" name="Picture 149" descr="lock.png"/>
          <p:cNvPicPr>
            <a:picLocks noChangeAspect="1"/>
          </p:cNvPicPr>
          <p:nvPr/>
        </p:nvPicPr>
        <p:blipFill>
          <a:blip r:embed="rId4"/>
          <a:stretch>
            <a:fillRect/>
          </a:stretch>
        </p:blipFill>
        <p:spPr>
          <a:xfrm>
            <a:off x="11689500" y="217335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689500" y="2478151"/>
            <a:ext cx="128699" cy="187198"/>
          </a:xfrm>
          <a:prstGeom prst="rect">
            <a:avLst/>
          </a:prstGeom>
        </p:spPr>
      </p:pic>
      <p:pic>
        <p:nvPicPr>
          <p:cNvPr id="152" name="Picture 151" descr="lock.png"/>
          <p:cNvPicPr>
            <a:picLocks noChangeAspect="1"/>
          </p:cNvPicPr>
          <p:nvPr/>
        </p:nvPicPr>
        <p:blipFill>
          <a:blip r:embed="rId4"/>
          <a:stretch>
            <a:fillRect/>
          </a:stretch>
        </p:blipFill>
        <p:spPr>
          <a:xfrm>
            <a:off x="11632350" y="278295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479950" y="3087751"/>
            <a:ext cx="128699" cy="187198"/>
          </a:xfrm>
          <a:prstGeom prst="rect">
            <a:avLst/>
          </a:prstGeom>
        </p:spPr>
      </p:pic>
      <p:pic>
        <p:nvPicPr>
          <p:cNvPr id="154" name="Picture 153" descr="lock.png"/>
          <p:cNvPicPr>
            <a:picLocks noChangeAspect="1"/>
          </p:cNvPicPr>
          <p:nvPr/>
        </p:nvPicPr>
        <p:blipFill>
          <a:blip r:embed="rId4"/>
          <a:stretch>
            <a:fillRect/>
          </a:stretch>
        </p:blipFill>
        <p:spPr>
          <a:xfrm>
            <a:off x="11422800" y="339255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327550" y="3697351"/>
            <a:ext cx="128699" cy="187198"/>
          </a:xfrm>
          <a:prstGeom prst="rect">
            <a:avLst/>
          </a:prstGeom>
        </p:spPr>
      </p:pic>
      <p:pic>
        <p:nvPicPr>
          <p:cNvPr id="156" name="Picture 155" descr="lock.png"/>
          <p:cNvPicPr>
            <a:picLocks noChangeAspect="1"/>
          </p:cNvPicPr>
          <p:nvPr/>
        </p:nvPicPr>
        <p:blipFill>
          <a:blip r:embed="rId4"/>
          <a:stretch>
            <a:fillRect/>
          </a:stretch>
        </p:blipFill>
        <p:spPr>
          <a:xfrm>
            <a:off x="11270400" y="4002151"/>
            <a:ext cx="128699" cy="187198"/>
          </a:xfrm>
          <a:prstGeom prst="rect">
            <a:avLst/>
          </a:prstGeom>
        </p:spPr>
      </p:pic>
      <p:sp>
        <p:nvSpPr>
          <p:cNvPr id="157" name="TextBox 156"/>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58" name="Picture 157" descr="lock.png"/>
          <p:cNvPicPr>
            <a:picLocks noChangeAspect="1"/>
          </p:cNvPicPr>
          <p:nvPr/>
        </p:nvPicPr>
        <p:blipFill>
          <a:blip r:embed="rId4"/>
          <a:stretch>
            <a:fillRect/>
          </a:stretch>
        </p:blipFill>
        <p:spPr>
          <a:xfrm>
            <a:off x="2482959" y="1212159"/>
            <a:ext cx="92663" cy="134782"/>
          </a:xfrm>
          <a:prstGeom prst="rect">
            <a:avLst/>
          </a:prstGeom>
        </p:spPr>
      </p:pic>
      <p:sp>
        <p:nvSpPr>
          <p:cNvPr id="159" name="TextBox 158"/>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0" name="Picture 159" descr="lock.png"/>
          <p:cNvPicPr>
            <a:picLocks noChangeAspect="1"/>
          </p:cNvPicPr>
          <p:nvPr/>
        </p:nvPicPr>
        <p:blipFill>
          <a:blip r:embed="rId4"/>
          <a:stretch>
            <a:fillRect/>
          </a:stretch>
        </p:blipFill>
        <p:spPr>
          <a:xfrm>
            <a:off x="4140309" y="1212159"/>
            <a:ext cx="92663" cy="134782"/>
          </a:xfrm>
          <a:prstGeom prst="rect">
            <a:avLst/>
          </a:prstGeom>
        </p:spPr>
      </p:pic>
      <p:sp>
        <p:nvSpPr>
          <p:cNvPr id="161" name="TextBox 160"/>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2" name="Picture 161" descr="lock.png"/>
          <p:cNvPicPr>
            <a:picLocks noChangeAspect="1"/>
          </p:cNvPicPr>
          <p:nvPr/>
        </p:nvPicPr>
        <p:blipFill>
          <a:blip r:embed="rId4"/>
          <a:stretch>
            <a:fillRect/>
          </a:stretch>
        </p:blipFill>
        <p:spPr>
          <a:xfrm>
            <a:off x="5797659" y="1212159"/>
            <a:ext cx="92663" cy="134782"/>
          </a:xfrm>
          <a:prstGeom prst="rect">
            <a:avLst/>
          </a:prstGeom>
        </p:spPr>
      </p:pic>
      <p:sp>
        <p:nvSpPr>
          <p:cNvPr id="163" name="TextBox 162"/>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4" name="Picture 163" descr="lock.png"/>
          <p:cNvPicPr>
            <a:picLocks noChangeAspect="1"/>
          </p:cNvPicPr>
          <p:nvPr/>
        </p:nvPicPr>
        <p:blipFill>
          <a:blip r:embed="rId4"/>
          <a:stretch>
            <a:fillRect/>
          </a:stretch>
        </p:blipFill>
        <p:spPr>
          <a:xfrm>
            <a:off x="7455009" y="1212159"/>
            <a:ext cx="92663" cy="134782"/>
          </a:xfrm>
          <a:prstGeom prst="rect">
            <a:avLst/>
          </a:prstGeom>
        </p:spPr>
      </p:pic>
      <p:sp>
        <p:nvSpPr>
          <p:cNvPr id="165" name="TextBox 164"/>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6" name="Picture 165"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Dümmen Orange</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Cut Flowers</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Syngenta Flowers</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Ball Horticultural Company</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Cut Foliage &amp; Greens</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Selecta One</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Florensis</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Cut Flowers</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HilverdaFlorist</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Royal Van Zanten</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Cut Foliage &amp; Greens</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863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90500"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09" name="TextBox 108"/>
          <p:cNvSpPr txBox="1"/>
          <p:nvPr/>
        </p:nvSpPr>
        <p:spPr>
          <a:xfrm>
            <a:off x="514350"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10" name="Rectangle 109"/>
          <p:cNvSpPr/>
          <p:nvPr/>
        </p:nvSpPr>
        <p:spPr>
          <a:xfrm>
            <a:off x="923925" y="52863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23925"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12" name="TextBox 111"/>
          <p:cNvSpPr txBox="1"/>
          <p:nvPr/>
        </p:nvSpPr>
        <p:spPr>
          <a:xfrm>
            <a:off x="1247775"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13" name="Rectangle 112"/>
          <p:cNvSpPr/>
          <p:nvPr/>
        </p:nvSpPr>
        <p:spPr>
          <a:xfrm>
            <a:off x="2724150" y="52863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724150"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15" name="TextBox 114"/>
          <p:cNvSpPr txBox="1"/>
          <p:nvPr/>
        </p:nvSpPr>
        <p:spPr>
          <a:xfrm>
            <a:off x="3048000"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16" name="Rectangle 115"/>
          <p:cNvSpPr/>
          <p:nvPr/>
        </p:nvSpPr>
        <p:spPr>
          <a:xfrm>
            <a:off x="3857625" y="52863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857625"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18" name="TextBox 117"/>
          <p:cNvSpPr txBox="1"/>
          <p:nvPr/>
        </p:nvSpPr>
        <p:spPr>
          <a:xfrm>
            <a:off x="4181475"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19" name="Rectangle 118"/>
          <p:cNvSpPr/>
          <p:nvPr/>
        </p:nvSpPr>
        <p:spPr>
          <a:xfrm>
            <a:off x="5457825" y="52863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457825"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21" name="TextBox 120"/>
          <p:cNvSpPr txBox="1"/>
          <p:nvPr/>
        </p:nvSpPr>
        <p:spPr>
          <a:xfrm>
            <a:off x="5781675"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22" name="Rectangle 121"/>
          <p:cNvSpPr/>
          <p:nvPr/>
        </p:nvSpPr>
        <p:spPr>
          <a:xfrm>
            <a:off x="7524750" y="52863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524750"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24" name="TextBox 123"/>
          <p:cNvSpPr txBox="1"/>
          <p:nvPr/>
        </p:nvSpPr>
        <p:spPr>
          <a:xfrm>
            <a:off x="7848600"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25" name="TextBox 124"/>
          <p:cNvSpPr txBox="1"/>
          <p:nvPr/>
        </p:nvSpPr>
        <p:spPr>
          <a:xfrm>
            <a:off x="190500" y="55054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26" name="TextBox 1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7" name="Picture 126" descr="lock.png"/>
          <p:cNvPicPr>
            <a:picLocks noChangeAspect="1"/>
          </p:cNvPicPr>
          <p:nvPr/>
        </p:nvPicPr>
        <p:blipFill>
          <a:blip r:embed="rId4"/>
          <a:stretch>
            <a:fillRect/>
          </a:stretch>
        </p:blipFill>
        <p:spPr>
          <a:xfrm>
            <a:off x="4126650" y="1278001"/>
            <a:ext cx="128699" cy="187198"/>
          </a:xfrm>
          <a:prstGeom prst="rect">
            <a:avLst/>
          </a:prstGeom>
        </p:spPr>
      </p:pic>
      <p:pic>
        <p:nvPicPr>
          <p:cNvPr id="128" name="Picture 127" descr="lock.png"/>
          <p:cNvPicPr>
            <a:picLocks noChangeAspect="1"/>
          </p:cNvPicPr>
          <p:nvPr/>
        </p:nvPicPr>
        <p:blipFill>
          <a:blip r:embed="rId4"/>
          <a:stretch>
            <a:fillRect/>
          </a:stretch>
        </p:blipFill>
        <p:spPr>
          <a:xfrm>
            <a:off x="4126650" y="1773301"/>
            <a:ext cx="128699" cy="187198"/>
          </a:xfrm>
          <a:prstGeom prst="rect">
            <a:avLst/>
          </a:prstGeom>
        </p:spPr>
      </p:pic>
      <p:pic>
        <p:nvPicPr>
          <p:cNvPr id="129" name="Picture 128" descr="lock.png"/>
          <p:cNvPicPr>
            <a:picLocks noChangeAspect="1"/>
          </p:cNvPicPr>
          <p:nvPr/>
        </p:nvPicPr>
        <p:blipFill>
          <a:blip r:embed="rId4"/>
          <a:stretch>
            <a:fillRect/>
          </a:stretch>
        </p:blipFill>
        <p:spPr>
          <a:xfrm>
            <a:off x="4126650" y="2268601"/>
            <a:ext cx="128699" cy="187198"/>
          </a:xfrm>
          <a:prstGeom prst="rect">
            <a:avLst/>
          </a:prstGeom>
        </p:spPr>
      </p:pic>
      <p:pic>
        <p:nvPicPr>
          <p:cNvPr id="130" name="Picture 129" descr="lock.png"/>
          <p:cNvPicPr>
            <a:picLocks noChangeAspect="1"/>
          </p:cNvPicPr>
          <p:nvPr/>
        </p:nvPicPr>
        <p:blipFill>
          <a:blip r:embed="rId4"/>
          <a:stretch>
            <a:fillRect/>
          </a:stretch>
        </p:blipFill>
        <p:spPr>
          <a:xfrm>
            <a:off x="4126650" y="2763901"/>
            <a:ext cx="128699" cy="187198"/>
          </a:xfrm>
          <a:prstGeom prst="rect">
            <a:avLst/>
          </a:prstGeom>
        </p:spPr>
      </p:pic>
      <p:pic>
        <p:nvPicPr>
          <p:cNvPr id="131" name="Picture 130" descr="lock.png"/>
          <p:cNvPicPr>
            <a:picLocks noChangeAspect="1"/>
          </p:cNvPicPr>
          <p:nvPr/>
        </p:nvPicPr>
        <p:blipFill>
          <a:blip r:embed="rId4"/>
          <a:stretch>
            <a:fillRect/>
          </a:stretch>
        </p:blipFill>
        <p:spPr>
          <a:xfrm>
            <a:off x="4126650" y="3259201"/>
            <a:ext cx="128699" cy="187198"/>
          </a:xfrm>
          <a:prstGeom prst="rect">
            <a:avLst/>
          </a:prstGeom>
        </p:spPr>
      </p:pic>
      <p:pic>
        <p:nvPicPr>
          <p:cNvPr id="132" name="Picture 131" descr="lock.png"/>
          <p:cNvPicPr>
            <a:picLocks noChangeAspect="1"/>
          </p:cNvPicPr>
          <p:nvPr/>
        </p:nvPicPr>
        <p:blipFill>
          <a:blip r:embed="rId4"/>
          <a:stretch>
            <a:fillRect/>
          </a:stretch>
        </p:blipFill>
        <p:spPr>
          <a:xfrm>
            <a:off x="4126650" y="3754501"/>
            <a:ext cx="128699" cy="187198"/>
          </a:xfrm>
          <a:prstGeom prst="rect">
            <a:avLst/>
          </a:prstGeom>
        </p:spPr>
      </p:pic>
      <p:pic>
        <p:nvPicPr>
          <p:cNvPr id="133" name="Picture 132" descr="lock.png"/>
          <p:cNvPicPr>
            <a:picLocks noChangeAspect="1"/>
          </p:cNvPicPr>
          <p:nvPr/>
        </p:nvPicPr>
        <p:blipFill>
          <a:blip r:embed="rId4"/>
          <a:stretch>
            <a:fillRect/>
          </a:stretch>
        </p:blipFill>
        <p:spPr>
          <a:xfrm>
            <a:off x="4126650" y="4249801"/>
            <a:ext cx="128699" cy="187198"/>
          </a:xfrm>
          <a:prstGeom prst="rect">
            <a:avLst/>
          </a:prstGeom>
        </p:spPr>
      </p:pic>
      <p:pic>
        <p:nvPicPr>
          <p:cNvPr id="134" name="Picture 133" descr="lock.png"/>
          <p:cNvPicPr>
            <a:picLocks noChangeAspect="1"/>
          </p:cNvPicPr>
          <p:nvPr/>
        </p:nvPicPr>
        <p:blipFill>
          <a:blip r:embed="rId4"/>
          <a:stretch>
            <a:fillRect/>
          </a:stretch>
        </p:blipFill>
        <p:spPr>
          <a:xfrm>
            <a:off x="4126650" y="4745101"/>
            <a:ext cx="128699" cy="187198"/>
          </a:xfrm>
          <a:prstGeom prst="rect">
            <a:avLst/>
          </a:prstGeom>
        </p:spPr>
      </p:pic>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Dümmen Orange</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Syngenta Flowers</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Ball Horticultural Company</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Selecta One</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Florensis</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HilverdaFlorist</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Royal Van Zanten</a:t>
            </a:r>
          </a:p>
        </p:txBody>
      </p:sp>
      <p:sp>
        <p:nvSpPr>
          <p:cNvPr id="26" name="TextBox 25"/>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27" name="TextBox 26"/>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28" name="TextBox 27"/>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29" name="TextBox 28"/>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0" name="TextBox 29"/>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1" name="TextBox 30"/>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2" name="TextBox 31"/>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3" name="Rectangle 32"/>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5" name="Rectangle 34"/>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8" name="Rectangle 37"/>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0" name="Rectangle 39"/>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47" name="Rectangle 46"/>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9" name="Rectangle 48"/>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1" name="Rectangle 50"/>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4" name="Rectangle 53"/>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6" name="Rectangle 55"/>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9" name="Rectangle 58"/>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1" name="Rectangle 60"/>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68" name="Rectangle 67"/>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0" name="Rectangle 69"/>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2" name="Rectangle 71"/>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5" name="Rectangle 74"/>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7" name="Rectangle 76"/>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0" name="Rectangle 79"/>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2" name="Rectangle 81"/>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89" name="Rectangle 88"/>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1" name="Rectangle 90"/>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3" name="Rectangle 92"/>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6" name="Rectangle 95"/>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8" name="Rectangle 97"/>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1" name="Rectangle 100"/>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3" name="Rectangle 102"/>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0" name="Rectangle 109"/>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2" name="Rectangle 111"/>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4" name="Rectangle 113"/>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7" name="TextBox 116"/>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18" name="TextBox 117"/>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19" name="TextBox 118"/>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20" name="TextBox 119"/>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21" name="TextBox 120"/>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22" name="Rectangle 121"/>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24" name="Rectangle 123"/>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26" name="Rectangle 125"/>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28" name="Rectangle 127"/>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30" name="Rectangle 129"/>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32" name="Rectangle 131"/>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35" name="Rectangle 134"/>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38" name="Rectangle 137"/>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0" name="Rectangle 139"/>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2" name="Rectangle 141"/>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4" name="Rectangle 143"/>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46" name="Rectangle 145"/>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2" name="Rectangle 151"/>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4" name="Rectangle 153"/>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6" name="Rectangle 155"/>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8" name="Rectangle 157"/>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60" name="Rectangle 159"/>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6" name="Rectangle 165"/>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8" name="Rectangle 167"/>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0" name="Rectangle 169"/>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2" name="Rectangle 171"/>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4" name="Rectangle 173"/>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179" name="TextBox 178"/>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180" name="TextBox 179"/>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181" name="TextBox 180"/>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182" name="TextBox 181"/>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183" name="TextBox 182"/>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184" name="TextBox 183"/>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185" name="Rectangle 184"/>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87" name="Rectangle 186"/>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89" name="Rectangle 188"/>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91" name="Rectangle 190"/>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97" name="Rectangle 196"/>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99" name="Rectangle 198"/>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01" name="Rectangle 200"/>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07" name="Rectangle 206"/>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09" name="Rectangle 208"/>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11" name="Rectangle 210"/>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17" name="Rectangle 216"/>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19" name="Rectangle 218"/>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1" name="Rectangle 220"/>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3" name="Rectangle 222"/>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8" name="Rectangle 227"/>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2" name="Rectangle 231"/>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4" name="Rectangle 233"/>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9" name="Rectangle 238"/>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1" name="Rectangle 240"/>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3" name="Rectangle 242"/>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5" name="Rectangle 244"/>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1" name="Rectangle 250"/>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3" name="Rectangle 252"/>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5" name="Rectangle 254"/>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90500" y="36766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38150" y="36385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259" name="Rectangle 258"/>
          <p:cNvSpPr/>
          <p:nvPr/>
        </p:nvSpPr>
        <p:spPr>
          <a:xfrm>
            <a:off x="1238250" y="36766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485900" y="36385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261" name="Rectangle 260"/>
          <p:cNvSpPr/>
          <p:nvPr/>
        </p:nvSpPr>
        <p:spPr>
          <a:xfrm>
            <a:off x="2286000" y="36766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2533650" y="36385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263" name="TextBox 262"/>
          <p:cNvSpPr txBox="1"/>
          <p:nvPr/>
        </p:nvSpPr>
        <p:spPr>
          <a:xfrm>
            <a:off x="3524250" y="36385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264" name="Connector 263"/>
          <p:cNvCxnSpPr/>
          <p:nvPr/>
        </p:nvCxnSpPr>
        <p:spPr>
          <a:xfrm>
            <a:off x="190500" y="3905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90500" y="39624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266" name="Rectangle 265"/>
          <p:cNvSpPr/>
          <p:nvPr/>
        </p:nvSpPr>
        <p:spPr>
          <a:xfrm>
            <a:off x="19050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6670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268" name="TextBox 267"/>
          <p:cNvSpPr txBox="1"/>
          <p:nvPr/>
        </p:nvSpPr>
        <p:spPr>
          <a:xfrm>
            <a:off x="19050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8 expansion moves target new regions and volume tiers: defend key accounts where rivals expand.</a:t>
            </a:r>
          </a:p>
        </p:txBody>
      </p:sp>
      <p:sp>
        <p:nvSpPr>
          <p:cNvPr id="269" name="Rectangle 268"/>
          <p:cNvSpPr/>
          <p:nvPr/>
        </p:nvSpPr>
        <p:spPr>
          <a:xfrm>
            <a:off x="217805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225425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271" name="TextBox 270"/>
          <p:cNvSpPr txBox="1"/>
          <p:nvPr/>
        </p:nvSpPr>
        <p:spPr>
          <a:xfrm>
            <a:off x="217805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272" name="Rectangle 271"/>
          <p:cNvSpPr/>
          <p:nvPr/>
        </p:nvSpPr>
        <p:spPr>
          <a:xfrm>
            <a:off x="416560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24180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274" name="TextBox 273"/>
          <p:cNvSpPr txBox="1"/>
          <p:nvPr/>
        </p:nvSpPr>
        <p:spPr>
          <a:xfrm>
            <a:off x="416560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16 product and R&amp;D moves: benchmark launches and the technology roadmap.</a:t>
            </a:r>
          </a:p>
        </p:txBody>
      </p:sp>
      <p:sp>
        <p:nvSpPr>
          <p:cNvPr id="275" name="Rectangle 274"/>
          <p:cNvSpPr/>
          <p:nvPr/>
        </p:nvSpPr>
        <p:spPr>
          <a:xfrm>
            <a:off x="615315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622935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277" name="TextBox 276"/>
          <p:cNvSpPr txBox="1"/>
          <p:nvPr/>
        </p:nvSpPr>
        <p:spPr>
          <a:xfrm>
            <a:off x="615315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are acquiring; the independent target list is shrinking.</a:t>
            </a:r>
          </a:p>
        </p:txBody>
      </p:sp>
      <p:sp>
        <p:nvSpPr>
          <p:cNvPr id="278" name="Rectangle 277"/>
          <p:cNvSpPr/>
          <p:nvPr/>
        </p:nvSpPr>
        <p:spPr>
          <a:xfrm>
            <a:off x="814070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21690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280" name="TextBox 279"/>
          <p:cNvSpPr txBox="1"/>
          <p:nvPr/>
        </p:nvSpPr>
        <p:spPr>
          <a:xfrm>
            <a:off x="814070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281" name="Rectangle 280"/>
          <p:cNvSpPr/>
          <p:nvPr/>
        </p:nvSpPr>
        <p:spPr>
          <a:xfrm>
            <a:off x="1012825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1020445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283" name="TextBox 282"/>
          <p:cNvSpPr txBox="1"/>
          <p:nvPr/>
        </p:nvSpPr>
        <p:spPr>
          <a:xfrm>
            <a:off x="1012825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lean on certification; audit your own compliance position.</a:t>
            </a:r>
          </a:p>
        </p:txBody>
      </p:sp>
      <p:sp>
        <p:nvSpPr>
          <p:cNvPr id="284" name="TextBox 28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Floriculture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Dümmen Orange · Company · Syngenta Flowers · Ball Horticultural Company</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Selecta One · Florensis</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HilverdaFlorist · Royal Van Zanten</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818906"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390410"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832124"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Floriculture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technology substitution (4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Floriculture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40806"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86212"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31619"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022431"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7838"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713244"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4" name="TextBox 33"/>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5" name="TextBox 34"/>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6" name="TextBox 35"/>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7" name="TextBox 36"/>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38" name="TextBox 37"/>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39" name="TextBox 38"/>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0" name="TextBox 39"/>
          <p:cNvSpPr txBox="1"/>
          <p:nvPr/>
        </p:nvSpPr>
        <p:spPr>
          <a:xfrm>
            <a:off x="1323975"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Dümmen Orange</a:t>
            </a:r>
          </a:p>
        </p:txBody>
      </p:sp>
      <p:cxnSp>
        <p:nvCxnSpPr>
          <p:cNvPr id="41" name="Connector 40"/>
          <p:cNvCxnSpPr/>
          <p:nvPr/>
        </p:nvCxnSpPr>
        <p:spPr>
          <a:xfrm>
            <a:off x="1739503"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23975"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3" name="TextBox 42"/>
          <p:cNvSpPr txBox="1"/>
          <p:nvPr/>
        </p:nvSpPr>
        <p:spPr>
          <a:xfrm>
            <a:off x="1314450"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4" name="TextBox 43"/>
          <p:cNvSpPr txBox="1"/>
          <p:nvPr/>
        </p:nvSpPr>
        <p:spPr>
          <a:xfrm>
            <a:off x="1314450"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5" name="Rectangle 44"/>
          <p:cNvSpPr/>
          <p:nvPr/>
        </p:nvSpPr>
        <p:spPr>
          <a:xfrm>
            <a:off x="1739503"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10953"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82403"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3975"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9" name="TextBox 48"/>
          <p:cNvSpPr txBox="1"/>
          <p:nvPr/>
        </p:nvSpPr>
        <p:spPr>
          <a:xfrm>
            <a:off x="1323975"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0" name="Oval 49"/>
          <p:cNvSpPr/>
          <p:nvPr/>
        </p:nvSpPr>
        <p:spPr>
          <a:xfrm>
            <a:off x="1720453"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971675" y="3416749"/>
            <a:ext cx="209550" cy="237298"/>
          </a:xfrm>
          <a:custGeom>
            <a:avLst/>
            <a:gdLst/>
            <a:ahLst/>
            <a:cxnLst/>
            <a:rect l="l" t="t" r="r" b="b"/>
            <a:pathLst>
              <a:path w="22" h="26">
                <a:moveTo>
                  <a:pt x="0" y="26"/>
                </a:moveTo>
                <a:lnTo>
                  <a:pt x="0" y="0"/>
                </a:lnTo>
                <a:lnTo>
                  <a:pt x="3" y="0"/>
                </a:lnTo>
                <a:lnTo>
                  <a:pt x="7" y="1"/>
                </a:lnTo>
                <a:lnTo>
                  <a:pt x="11" y="2"/>
                </a:lnTo>
                <a:lnTo>
                  <a:pt x="14" y="4"/>
                </a:lnTo>
                <a:lnTo>
                  <a:pt x="17" y="7"/>
                </a:lnTo>
                <a:lnTo>
                  <a:pt x="20" y="10"/>
                </a:lnTo>
                <a:lnTo>
                  <a:pt x="22" y="13"/>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2941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720453"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4" name="TextBox 53"/>
          <p:cNvSpPr txBox="1"/>
          <p:nvPr/>
        </p:nvSpPr>
        <p:spPr>
          <a:xfrm>
            <a:off x="1343025"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5" name="Oval 54"/>
          <p:cNvSpPr/>
          <p:nvPr/>
        </p:nvSpPr>
        <p:spPr>
          <a:xfrm>
            <a:off x="1563291"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6329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7" name="Oval 56"/>
          <p:cNvSpPr/>
          <p:nvPr/>
        </p:nvSpPr>
        <p:spPr>
          <a:xfrm>
            <a:off x="1772841"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7284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59" name="Oval 58"/>
          <p:cNvSpPr/>
          <p:nvPr/>
        </p:nvSpPr>
        <p:spPr>
          <a:xfrm>
            <a:off x="1982391"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98239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1" name="Oval 60"/>
          <p:cNvSpPr/>
          <p:nvPr/>
        </p:nvSpPr>
        <p:spPr>
          <a:xfrm>
            <a:off x="2191941"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19194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3" name="Oval 62"/>
          <p:cNvSpPr/>
          <p:nvPr/>
        </p:nvSpPr>
        <p:spPr>
          <a:xfrm>
            <a:off x="1668066"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68066"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5" name="Oval 64"/>
          <p:cNvSpPr/>
          <p:nvPr/>
        </p:nvSpPr>
        <p:spPr>
          <a:xfrm>
            <a:off x="1877616"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877616"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7" name="Oval 66"/>
          <p:cNvSpPr/>
          <p:nvPr/>
        </p:nvSpPr>
        <p:spPr>
          <a:xfrm>
            <a:off x="2087166"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87166"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69" name="TextBox 68"/>
          <p:cNvSpPr txBox="1"/>
          <p:nvPr/>
        </p:nvSpPr>
        <p:spPr>
          <a:xfrm>
            <a:off x="2669381"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a:t>
            </a:r>
          </a:p>
        </p:txBody>
      </p:sp>
      <p:cxnSp>
        <p:nvCxnSpPr>
          <p:cNvPr id="70" name="Connector 69"/>
          <p:cNvCxnSpPr/>
          <p:nvPr/>
        </p:nvCxnSpPr>
        <p:spPr>
          <a:xfrm>
            <a:off x="3084909"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669381"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2" name="TextBox 71"/>
          <p:cNvSpPr txBox="1"/>
          <p:nvPr/>
        </p:nvSpPr>
        <p:spPr>
          <a:xfrm>
            <a:off x="2659856"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3" name="TextBox 72"/>
          <p:cNvSpPr txBox="1"/>
          <p:nvPr/>
        </p:nvSpPr>
        <p:spPr>
          <a:xfrm>
            <a:off x="2659856"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4" name="Rectangle 73"/>
          <p:cNvSpPr/>
          <p:nvPr/>
        </p:nvSpPr>
        <p:spPr>
          <a:xfrm>
            <a:off x="3084909"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256359"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427809"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669381"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8" name="TextBox 77"/>
          <p:cNvSpPr txBox="1"/>
          <p:nvPr/>
        </p:nvSpPr>
        <p:spPr>
          <a:xfrm>
            <a:off x="2669381"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9" name="Oval 78"/>
          <p:cNvSpPr/>
          <p:nvPr/>
        </p:nvSpPr>
        <p:spPr>
          <a:xfrm>
            <a:off x="3065859"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3314700" y="3416749"/>
            <a:ext cx="190500" cy="237298"/>
          </a:xfrm>
          <a:custGeom>
            <a:avLst/>
            <a:gdLst/>
            <a:ahLst/>
            <a:cxnLst/>
            <a:rect l="l" t="t" r="r" b="b"/>
            <a:pathLst>
              <a:path w="20" h="26">
                <a:moveTo>
                  <a:pt x="0" y="26"/>
                </a:moveTo>
                <a:lnTo>
                  <a:pt x="0" y="0"/>
                </a:lnTo>
                <a:lnTo>
                  <a:pt x="4" y="0"/>
                </a:lnTo>
                <a:lnTo>
                  <a:pt x="8" y="1"/>
                </a:lnTo>
                <a:lnTo>
                  <a:pt x="11" y="3"/>
                </a:lnTo>
                <a:lnTo>
                  <a:pt x="15" y="5"/>
                </a:lnTo>
                <a:lnTo>
                  <a:pt x="18" y="7"/>
                </a:lnTo>
                <a:lnTo>
                  <a:pt x="20" y="1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174825"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65859"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3" name="TextBox 82"/>
          <p:cNvSpPr txBox="1"/>
          <p:nvPr/>
        </p:nvSpPr>
        <p:spPr>
          <a:xfrm>
            <a:off x="2688431"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4" name="Oval 83"/>
          <p:cNvSpPr/>
          <p:nvPr/>
        </p:nvSpPr>
        <p:spPr>
          <a:xfrm>
            <a:off x="290869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90869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6" name="Oval 85"/>
          <p:cNvSpPr/>
          <p:nvPr/>
        </p:nvSpPr>
        <p:spPr>
          <a:xfrm>
            <a:off x="311824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11824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88" name="Oval 87"/>
          <p:cNvSpPr/>
          <p:nvPr/>
        </p:nvSpPr>
        <p:spPr>
          <a:xfrm>
            <a:off x="332779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2779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0" name="Oval 89"/>
          <p:cNvSpPr/>
          <p:nvPr/>
        </p:nvSpPr>
        <p:spPr>
          <a:xfrm>
            <a:off x="353734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53734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2" name="Oval 91"/>
          <p:cNvSpPr/>
          <p:nvPr/>
        </p:nvSpPr>
        <p:spPr>
          <a:xfrm>
            <a:off x="3013472"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013472"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4" name="Oval 93"/>
          <p:cNvSpPr/>
          <p:nvPr/>
        </p:nvSpPr>
        <p:spPr>
          <a:xfrm>
            <a:off x="3223022"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223022"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6" name="Oval 95"/>
          <p:cNvSpPr/>
          <p:nvPr/>
        </p:nvSpPr>
        <p:spPr>
          <a:xfrm>
            <a:off x="3432572"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432572"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98" name="TextBox 97"/>
          <p:cNvSpPr txBox="1"/>
          <p:nvPr/>
        </p:nvSpPr>
        <p:spPr>
          <a:xfrm>
            <a:off x="4014788"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Syngenta Flowers</a:t>
            </a:r>
          </a:p>
        </p:txBody>
      </p:sp>
      <p:cxnSp>
        <p:nvCxnSpPr>
          <p:cNvPr id="99" name="Connector 98"/>
          <p:cNvCxnSpPr/>
          <p:nvPr/>
        </p:nvCxnSpPr>
        <p:spPr>
          <a:xfrm>
            <a:off x="4430316"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4014788"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1" name="TextBox 100"/>
          <p:cNvSpPr txBox="1"/>
          <p:nvPr/>
        </p:nvSpPr>
        <p:spPr>
          <a:xfrm>
            <a:off x="4005262"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2" name="TextBox 101"/>
          <p:cNvSpPr txBox="1"/>
          <p:nvPr/>
        </p:nvSpPr>
        <p:spPr>
          <a:xfrm>
            <a:off x="4005262" y="2047722"/>
            <a:ext cx="1307306"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3" name="Rectangle 102"/>
          <p:cNvSpPr/>
          <p:nvPr/>
        </p:nvSpPr>
        <p:spPr>
          <a:xfrm>
            <a:off x="4430316"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601766"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773216"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14788"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7" name="TextBox 106"/>
          <p:cNvSpPr txBox="1"/>
          <p:nvPr/>
        </p:nvSpPr>
        <p:spPr>
          <a:xfrm>
            <a:off x="4014788"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8" name="Oval 107"/>
          <p:cNvSpPr/>
          <p:nvPr/>
        </p:nvSpPr>
        <p:spPr>
          <a:xfrm>
            <a:off x="4411266"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4657725" y="3416749"/>
            <a:ext cx="142875" cy="237298"/>
          </a:xfrm>
          <a:custGeom>
            <a:avLst/>
            <a:gdLst/>
            <a:ahLst/>
            <a:cxnLst/>
            <a:rect l="l" t="t" r="r" b="b"/>
            <a:pathLst>
              <a:path w="15" h="26">
                <a:moveTo>
                  <a:pt x="0" y="26"/>
                </a:moveTo>
                <a:lnTo>
                  <a:pt x="0" y="0"/>
                </a:lnTo>
                <a:lnTo>
                  <a:pt x="4" y="0"/>
                </a:lnTo>
                <a:lnTo>
                  <a:pt x="8" y="1"/>
                </a:lnTo>
                <a:lnTo>
                  <a:pt x="12" y="3"/>
                </a:lnTo>
                <a:lnTo>
                  <a:pt x="15" y="5"/>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520232"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411266"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2" name="TextBox 111"/>
          <p:cNvSpPr txBox="1"/>
          <p:nvPr/>
        </p:nvSpPr>
        <p:spPr>
          <a:xfrm>
            <a:off x="4033838"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3" name="Oval 112"/>
          <p:cNvSpPr/>
          <p:nvPr/>
        </p:nvSpPr>
        <p:spPr>
          <a:xfrm>
            <a:off x="4254103"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25410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5" name="Oval 114"/>
          <p:cNvSpPr/>
          <p:nvPr/>
        </p:nvSpPr>
        <p:spPr>
          <a:xfrm>
            <a:off x="4463653"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46365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7" name="Oval 116"/>
          <p:cNvSpPr/>
          <p:nvPr/>
        </p:nvSpPr>
        <p:spPr>
          <a:xfrm>
            <a:off x="4673203"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67320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19" name="Oval 118"/>
          <p:cNvSpPr/>
          <p:nvPr/>
        </p:nvSpPr>
        <p:spPr>
          <a:xfrm>
            <a:off x="4882753"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88275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1" name="Oval 120"/>
          <p:cNvSpPr/>
          <p:nvPr/>
        </p:nvSpPr>
        <p:spPr>
          <a:xfrm>
            <a:off x="4358878"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358878"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3" name="Oval 122"/>
          <p:cNvSpPr/>
          <p:nvPr/>
        </p:nvSpPr>
        <p:spPr>
          <a:xfrm>
            <a:off x="4568428"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568428"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5" name="Oval 124"/>
          <p:cNvSpPr/>
          <p:nvPr/>
        </p:nvSpPr>
        <p:spPr>
          <a:xfrm>
            <a:off x="4777978"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777978"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7" name="TextBox 126"/>
          <p:cNvSpPr txBox="1"/>
          <p:nvPr/>
        </p:nvSpPr>
        <p:spPr>
          <a:xfrm>
            <a:off x="5360194"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Ball Horticultural Company</a:t>
            </a:r>
          </a:p>
        </p:txBody>
      </p:sp>
      <p:cxnSp>
        <p:nvCxnSpPr>
          <p:cNvPr id="128" name="Connector 127"/>
          <p:cNvCxnSpPr/>
          <p:nvPr/>
        </p:nvCxnSpPr>
        <p:spPr>
          <a:xfrm>
            <a:off x="577572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5360194"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0" name="TextBox 129"/>
          <p:cNvSpPr txBox="1"/>
          <p:nvPr/>
        </p:nvSpPr>
        <p:spPr>
          <a:xfrm>
            <a:off x="5350669"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1" name="TextBox 130"/>
          <p:cNvSpPr txBox="1"/>
          <p:nvPr/>
        </p:nvSpPr>
        <p:spPr>
          <a:xfrm>
            <a:off x="5350669"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2" name="Rectangle 131"/>
          <p:cNvSpPr/>
          <p:nvPr/>
        </p:nvSpPr>
        <p:spPr>
          <a:xfrm>
            <a:off x="5775722"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94717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11862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360194"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6" name="TextBox 135"/>
          <p:cNvSpPr txBox="1"/>
          <p:nvPr/>
        </p:nvSpPr>
        <p:spPr>
          <a:xfrm>
            <a:off x="5360194"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7" name="Oval 136"/>
          <p:cNvSpPr/>
          <p:nvPr/>
        </p:nvSpPr>
        <p:spPr>
          <a:xfrm>
            <a:off x="575667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6000750" y="3416749"/>
            <a:ext cx="104775" cy="237298"/>
          </a:xfrm>
          <a:custGeom>
            <a:avLst/>
            <a:gdLst/>
            <a:ahLst/>
            <a:cxnLst/>
            <a:rect l="l" t="t" r="r" b="b"/>
            <a:pathLst>
              <a:path w="11" h="26">
                <a:moveTo>
                  <a:pt x="0" y="26"/>
                </a:moveTo>
                <a:lnTo>
                  <a:pt x="0" y="0"/>
                </a:lnTo>
                <a:lnTo>
                  <a:pt x="4" y="0"/>
                </a:lnTo>
                <a:lnTo>
                  <a:pt x="8"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586563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75667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1" name="TextBox 140"/>
          <p:cNvSpPr txBox="1"/>
          <p:nvPr/>
        </p:nvSpPr>
        <p:spPr>
          <a:xfrm>
            <a:off x="5379244"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9AA3A8"/>
                </a:solidFill>
                <a:latin typeface="Calibri"/>
              </a:rPr>
              <a:t>▲</a:t>
            </a:r>
          </a:p>
        </p:txBody>
      </p:sp>
      <p:sp>
        <p:nvSpPr>
          <p:cNvPr id="142" name="Oval 141"/>
          <p:cNvSpPr/>
          <p:nvPr/>
        </p:nvSpPr>
        <p:spPr>
          <a:xfrm>
            <a:off x="559950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59950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4" name="Oval 143"/>
          <p:cNvSpPr/>
          <p:nvPr/>
        </p:nvSpPr>
        <p:spPr>
          <a:xfrm>
            <a:off x="580905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80905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6" name="Oval 145"/>
          <p:cNvSpPr/>
          <p:nvPr/>
        </p:nvSpPr>
        <p:spPr>
          <a:xfrm>
            <a:off x="601860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1860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48" name="Oval 147"/>
          <p:cNvSpPr/>
          <p:nvPr/>
        </p:nvSpPr>
        <p:spPr>
          <a:xfrm>
            <a:off x="622815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2815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0" name="Oval 149"/>
          <p:cNvSpPr/>
          <p:nvPr/>
        </p:nvSpPr>
        <p:spPr>
          <a:xfrm>
            <a:off x="5704284"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704284"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2" name="Oval 151"/>
          <p:cNvSpPr/>
          <p:nvPr/>
        </p:nvSpPr>
        <p:spPr>
          <a:xfrm>
            <a:off x="5913834"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913834"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4" name="Oval 153"/>
          <p:cNvSpPr/>
          <p:nvPr/>
        </p:nvSpPr>
        <p:spPr>
          <a:xfrm>
            <a:off x="6123384"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123384"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6" name="TextBox 155"/>
          <p:cNvSpPr txBox="1"/>
          <p:nvPr/>
        </p:nvSpPr>
        <p:spPr>
          <a:xfrm>
            <a:off x="6705600"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Selecta One</a:t>
            </a:r>
          </a:p>
        </p:txBody>
      </p:sp>
      <p:cxnSp>
        <p:nvCxnSpPr>
          <p:cNvPr id="157" name="Connector 156"/>
          <p:cNvCxnSpPr/>
          <p:nvPr/>
        </p:nvCxnSpPr>
        <p:spPr>
          <a:xfrm>
            <a:off x="712112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705600"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59" name="TextBox 158"/>
          <p:cNvSpPr txBox="1"/>
          <p:nvPr/>
        </p:nvSpPr>
        <p:spPr>
          <a:xfrm>
            <a:off x="6696075"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0" name="TextBox 159"/>
          <p:cNvSpPr txBox="1"/>
          <p:nvPr/>
        </p:nvSpPr>
        <p:spPr>
          <a:xfrm>
            <a:off x="6696075"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1" name="Rectangle 160"/>
          <p:cNvSpPr/>
          <p:nvPr/>
        </p:nvSpPr>
        <p:spPr>
          <a:xfrm>
            <a:off x="712112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729257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746402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705600"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5" name="TextBox 164"/>
          <p:cNvSpPr txBox="1"/>
          <p:nvPr/>
        </p:nvSpPr>
        <p:spPr>
          <a:xfrm>
            <a:off x="6705600"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6" name="Oval 165"/>
          <p:cNvSpPr/>
          <p:nvPr/>
        </p:nvSpPr>
        <p:spPr>
          <a:xfrm>
            <a:off x="710207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7353300" y="3416749"/>
            <a:ext cx="104775" cy="237298"/>
          </a:xfrm>
          <a:custGeom>
            <a:avLst/>
            <a:gdLst/>
            <a:ahLst/>
            <a:cxnLst/>
            <a:rect l="l" t="t" r="r" b="b"/>
            <a:pathLst>
              <a:path w="11" h="26">
                <a:moveTo>
                  <a:pt x="0" y="26"/>
                </a:moveTo>
                <a:lnTo>
                  <a:pt x="0" y="0"/>
                </a:lnTo>
                <a:lnTo>
                  <a:pt x="3"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721104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710207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0" name="TextBox 169"/>
          <p:cNvSpPr txBox="1"/>
          <p:nvPr/>
        </p:nvSpPr>
        <p:spPr>
          <a:xfrm>
            <a:off x="6724650"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1" name="Oval 170"/>
          <p:cNvSpPr/>
          <p:nvPr/>
        </p:nvSpPr>
        <p:spPr>
          <a:xfrm>
            <a:off x="6944916"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94491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3" name="Oval 172"/>
          <p:cNvSpPr/>
          <p:nvPr/>
        </p:nvSpPr>
        <p:spPr>
          <a:xfrm>
            <a:off x="7154466"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15446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5" name="Oval 174"/>
          <p:cNvSpPr/>
          <p:nvPr/>
        </p:nvSpPr>
        <p:spPr>
          <a:xfrm>
            <a:off x="7364016"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36401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7" name="Oval 176"/>
          <p:cNvSpPr/>
          <p:nvPr/>
        </p:nvSpPr>
        <p:spPr>
          <a:xfrm>
            <a:off x="7573566"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57356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79" name="Oval 178"/>
          <p:cNvSpPr/>
          <p:nvPr/>
        </p:nvSpPr>
        <p:spPr>
          <a:xfrm>
            <a:off x="7049691"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049691"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1" name="Oval 180"/>
          <p:cNvSpPr/>
          <p:nvPr/>
        </p:nvSpPr>
        <p:spPr>
          <a:xfrm>
            <a:off x="7259241"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259241"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3" name="Oval 182"/>
          <p:cNvSpPr/>
          <p:nvPr/>
        </p:nvSpPr>
        <p:spPr>
          <a:xfrm>
            <a:off x="7468791"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7468791"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5" name="TextBox 184"/>
          <p:cNvSpPr txBox="1"/>
          <p:nvPr/>
        </p:nvSpPr>
        <p:spPr>
          <a:xfrm>
            <a:off x="8051006"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Florensis</a:t>
            </a:r>
          </a:p>
        </p:txBody>
      </p:sp>
      <p:cxnSp>
        <p:nvCxnSpPr>
          <p:cNvPr id="186" name="Connector 185"/>
          <p:cNvCxnSpPr/>
          <p:nvPr/>
        </p:nvCxnSpPr>
        <p:spPr>
          <a:xfrm>
            <a:off x="8466534"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8051006"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88" name="TextBox 187"/>
          <p:cNvSpPr txBox="1"/>
          <p:nvPr/>
        </p:nvSpPr>
        <p:spPr>
          <a:xfrm>
            <a:off x="8041481"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9" name="TextBox 188"/>
          <p:cNvSpPr txBox="1"/>
          <p:nvPr/>
        </p:nvSpPr>
        <p:spPr>
          <a:xfrm>
            <a:off x="8041481" y="2047722"/>
            <a:ext cx="1307306"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0" name="Rectangle 189"/>
          <p:cNvSpPr/>
          <p:nvPr/>
        </p:nvSpPr>
        <p:spPr>
          <a:xfrm>
            <a:off x="8466534"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8637984"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8809434"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051006"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4" name="TextBox 193"/>
          <p:cNvSpPr txBox="1"/>
          <p:nvPr/>
        </p:nvSpPr>
        <p:spPr>
          <a:xfrm>
            <a:off x="8051006"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5" name="Oval 194"/>
          <p:cNvSpPr/>
          <p:nvPr/>
        </p:nvSpPr>
        <p:spPr>
          <a:xfrm>
            <a:off x="8447484"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8696325"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556450"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8447484"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99" name="TextBox 198"/>
          <p:cNvSpPr txBox="1"/>
          <p:nvPr/>
        </p:nvSpPr>
        <p:spPr>
          <a:xfrm>
            <a:off x="8070056"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and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0" name="Oval 199"/>
          <p:cNvSpPr/>
          <p:nvPr/>
        </p:nvSpPr>
        <p:spPr>
          <a:xfrm>
            <a:off x="829032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829032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2" name="Oval 201"/>
          <p:cNvSpPr/>
          <p:nvPr/>
        </p:nvSpPr>
        <p:spPr>
          <a:xfrm>
            <a:off x="849987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849987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4" name="Oval 203"/>
          <p:cNvSpPr/>
          <p:nvPr/>
        </p:nvSpPr>
        <p:spPr>
          <a:xfrm>
            <a:off x="870942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70942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6" name="Oval 205"/>
          <p:cNvSpPr/>
          <p:nvPr/>
        </p:nvSpPr>
        <p:spPr>
          <a:xfrm>
            <a:off x="891897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891897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08" name="Oval 207"/>
          <p:cNvSpPr/>
          <p:nvPr/>
        </p:nvSpPr>
        <p:spPr>
          <a:xfrm>
            <a:off x="8395097"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8395097"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0" name="Oval 209"/>
          <p:cNvSpPr/>
          <p:nvPr/>
        </p:nvSpPr>
        <p:spPr>
          <a:xfrm>
            <a:off x="8604647"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8604647"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2" name="Oval 211"/>
          <p:cNvSpPr/>
          <p:nvPr/>
        </p:nvSpPr>
        <p:spPr>
          <a:xfrm>
            <a:off x="8814197"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8814197"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4" name="TextBox 213"/>
          <p:cNvSpPr txBox="1"/>
          <p:nvPr/>
        </p:nvSpPr>
        <p:spPr>
          <a:xfrm>
            <a:off x="9396412"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HilverdaFlorist</a:t>
            </a:r>
          </a:p>
        </p:txBody>
      </p:sp>
      <p:cxnSp>
        <p:nvCxnSpPr>
          <p:cNvPr id="215" name="Connector 214"/>
          <p:cNvCxnSpPr/>
          <p:nvPr/>
        </p:nvCxnSpPr>
        <p:spPr>
          <a:xfrm>
            <a:off x="9811941"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9396412"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7" name="TextBox 216"/>
          <p:cNvSpPr txBox="1"/>
          <p:nvPr/>
        </p:nvSpPr>
        <p:spPr>
          <a:xfrm>
            <a:off x="9386888"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8" name="TextBox 217"/>
          <p:cNvSpPr txBox="1"/>
          <p:nvPr/>
        </p:nvSpPr>
        <p:spPr>
          <a:xfrm>
            <a:off x="9386888"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19" name="Rectangle 218"/>
          <p:cNvSpPr/>
          <p:nvPr/>
        </p:nvSpPr>
        <p:spPr>
          <a:xfrm>
            <a:off x="9811941"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9983391"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0154841"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396412"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3" name="TextBox 222"/>
          <p:cNvSpPr txBox="1"/>
          <p:nvPr/>
        </p:nvSpPr>
        <p:spPr>
          <a:xfrm>
            <a:off x="9396412"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4" name="Oval 223"/>
          <p:cNvSpPr/>
          <p:nvPr/>
        </p:nvSpPr>
        <p:spPr>
          <a:xfrm>
            <a:off x="9792891"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Freeform 224"/>
          <p:cNvSpPr/>
          <p:nvPr/>
        </p:nvSpPr>
        <p:spPr>
          <a:xfrm>
            <a:off x="10039350" y="3416749"/>
            <a:ext cx="85725" cy="237298"/>
          </a:xfrm>
          <a:custGeom>
            <a:avLst/>
            <a:gdLst/>
            <a:ahLst/>
            <a:cxnLst/>
            <a:rect l="l" t="t" r="r" b="b"/>
            <a:pathLst>
              <a:path w="9" h="26">
                <a:moveTo>
                  <a:pt x="0" y="26"/>
                </a:moveTo>
                <a:lnTo>
                  <a:pt x="0" y="0"/>
                </a:lnTo>
                <a:lnTo>
                  <a:pt x="5" y="0"/>
                </a:lnTo>
                <a:lnTo>
                  <a:pt x="9"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9901857"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792891"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28" name="TextBox 227"/>
          <p:cNvSpPr txBox="1"/>
          <p:nvPr/>
        </p:nvSpPr>
        <p:spPr>
          <a:xfrm>
            <a:off x="9415462"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29" name="Oval 228"/>
          <p:cNvSpPr/>
          <p:nvPr/>
        </p:nvSpPr>
        <p:spPr>
          <a:xfrm>
            <a:off x="9635728"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963572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1" name="Oval 230"/>
          <p:cNvSpPr/>
          <p:nvPr/>
        </p:nvSpPr>
        <p:spPr>
          <a:xfrm>
            <a:off x="9845278"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84527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3" name="Oval 232"/>
          <p:cNvSpPr/>
          <p:nvPr/>
        </p:nvSpPr>
        <p:spPr>
          <a:xfrm>
            <a:off x="10054828"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1005482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5" name="Oval 234"/>
          <p:cNvSpPr/>
          <p:nvPr/>
        </p:nvSpPr>
        <p:spPr>
          <a:xfrm>
            <a:off x="10264378"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26437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7" name="Oval 236"/>
          <p:cNvSpPr/>
          <p:nvPr/>
        </p:nvSpPr>
        <p:spPr>
          <a:xfrm>
            <a:off x="9740503"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9740503"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39" name="Oval 238"/>
          <p:cNvSpPr/>
          <p:nvPr/>
        </p:nvSpPr>
        <p:spPr>
          <a:xfrm>
            <a:off x="9950053"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9950053"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1" name="Oval 240"/>
          <p:cNvSpPr/>
          <p:nvPr/>
        </p:nvSpPr>
        <p:spPr>
          <a:xfrm>
            <a:off x="10159603"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10159603"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3" name="TextBox 242"/>
          <p:cNvSpPr txBox="1"/>
          <p:nvPr/>
        </p:nvSpPr>
        <p:spPr>
          <a:xfrm>
            <a:off x="10741819"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Royal Van Zanten</a:t>
            </a:r>
          </a:p>
        </p:txBody>
      </p:sp>
      <p:cxnSp>
        <p:nvCxnSpPr>
          <p:cNvPr id="244" name="Connector 243"/>
          <p:cNvCxnSpPr/>
          <p:nvPr/>
        </p:nvCxnSpPr>
        <p:spPr>
          <a:xfrm>
            <a:off x="11157347"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10741819"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6" name="TextBox 245"/>
          <p:cNvSpPr txBox="1"/>
          <p:nvPr/>
        </p:nvSpPr>
        <p:spPr>
          <a:xfrm>
            <a:off x="10732294"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7" name="TextBox 246"/>
          <p:cNvSpPr txBox="1"/>
          <p:nvPr/>
        </p:nvSpPr>
        <p:spPr>
          <a:xfrm>
            <a:off x="10732294"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48" name="Rectangle 247"/>
          <p:cNvSpPr/>
          <p:nvPr/>
        </p:nvSpPr>
        <p:spPr>
          <a:xfrm>
            <a:off x="11157347"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1328797"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1500247"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0741819"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2" name="TextBox 251"/>
          <p:cNvSpPr txBox="1"/>
          <p:nvPr/>
        </p:nvSpPr>
        <p:spPr>
          <a:xfrm>
            <a:off x="10741819"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3" name="Oval 252"/>
          <p:cNvSpPr/>
          <p:nvPr/>
        </p:nvSpPr>
        <p:spPr>
          <a:xfrm>
            <a:off x="11138297"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Freeform 253"/>
          <p:cNvSpPr/>
          <p:nvPr/>
        </p:nvSpPr>
        <p:spPr>
          <a:xfrm>
            <a:off x="11382375" y="3416749"/>
            <a:ext cx="57150" cy="237298"/>
          </a:xfrm>
          <a:custGeom>
            <a:avLst/>
            <a:gdLst/>
            <a:ahLst/>
            <a:cxnLst/>
            <a:rect l="l" t="t" r="r" b="b"/>
            <a:pathLst>
              <a:path w="6" h="26">
                <a:moveTo>
                  <a:pt x="0" y="26"/>
                </a:moveTo>
                <a:lnTo>
                  <a:pt x="0" y="0"/>
                </a:lnTo>
                <a:lnTo>
                  <a:pt x="3" y="0"/>
                </a:lnTo>
                <a:lnTo>
                  <a:pt x="6"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11247263"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138297"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7" name="TextBox 256"/>
          <p:cNvSpPr txBox="1"/>
          <p:nvPr/>
        </p:nvSpPr>
        <p:spPr>
          <a:xfrm>
            <a:off x="10760869"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58" name="Oval 257"/>
          <p:cNvSpPr/>
          <p:nvPr/>
        </p:nvSpPr>
        <p:spPr>
          <a:xfrm>
            <a:off x="1098113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098113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0" name="Oval 259"/>
          <p:cNvSpPr/>
          <p:nvPr/>
        </p:nvSpPr>
        <p:spPr>
          <a:xfrm>
            <a:off x="1119068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119068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2" name="Oval 261"/>
          <p:cNvSpPr/>
          <p:nvPr/>
        </p:nvSpPr>
        <p:spPr>
          <a:xfrm>
            <a:off x="1140023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140023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4" name="Oval 263"/>
          <p:cNvSpPr/>
          <p:nvPr/>
        </p:nvSpPr>
        <p:spPr>
          <a:xfrm>
            <a:off x="1160978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60978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6" name="Oval 265"/>
          <p:cNvSpPr/>
          <p:nvPr/>
        </p:nvSpPr>
        <p:spPr>
          <a:xfrm>
            <a:off x="11085909"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1085909"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68" name="Oval 267"/>
          <p:cNvSpPr/>
          <p:nvPr/>
        </p:nvSpPr>
        <p:spPr>
          <a:xfrm>
            <a:off x="11295459"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1295459"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0" name="Oval 269"/>
          <p:cNvSpPr/>
          <p:nvPr/>
        </p:nvSpPr>
        <p:spPr>
          <a:xfrm>
            <a:off x="11505009"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1505009"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2" name="TextBox 27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273" name="Rectangle 27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535906" y="5716715"/>
            <a:ext cx="747712" cy="164283"/>
          </a:xfrm>
          <a:prstGeom prst="rect">
            <a:avLst/>
          </a:prstGeom>
          <a:noFill/>
        </p:spPr>
        <p:txBody>
          <a:bodyPr wrap="square" lIns="0" rIns="0" tIns="0" bIns="0" anchor="ctr">
            <a:spAutoFit/>
          </a:bodyPr>
          <a:lstStyle/>
          <a:p>
            <a:pPr algn="l"/>
            <a:r>
              <a:rPr sz="1100" b="0">
                <a:solidFill>
                  <a:srgbClr val="2E2E2E"/>
                </a:solidFill>
                <a:latin typeface="Calibri"/>
              </a:rPr>
              <a:t>Cut Flowers</a:t>
            </a:r>
          </a:p>
        </p:txBody>
      </p:sp>
      <p:sp>
        <p:nvSpPr>
          <p:cNvPr id="275" name="Rectangle 274"/>
          <p:cNvSpPr/>
          <p:nvPr/>
        </p:nvSpPr>
        <p:spPr>
          <a:xfrm>
            <a:off x="2340769"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2493169" y="5716715"/>
            <a:ext cx="1271550" cy="164283"/>
          </a:xfrm>
          <a:prstGeom prst="rect">
            <a:avLst/>
          </a:prstGeom>
          <a:noFill/>
        </p:spPr>
        <p:txBody>
          <a:bodyPr wrap="square" lIns="0" rIns="0" tIns="0" bIns="0" anchor="ctr">
            <a:spAutoFit/>
          </a:bodyPr>
          <a:lstStyle/>
          <a:p>
            <a:pPr algn="l"/>
            <a:r>
              <a:rPr sz="1100" b="0">
                <a:solidFill>
                  <a:srgbClr val="2E2E2E"/>
                </a:solidFill>
                <a:latin typeface="Calibri"/>
              </a:rPr>
              <a:t>Cut Foliage &amp; Greens</a:t>
            </a:r>
          </a:p>
        </p:txBody>
      </p:sp>
      <p:sp>
        <p:nvSpPr>
          <p:cNvPr id="277" name="Rectangle 276"/>
          <p:cNvSpPr/>
          <p:nvPr/>
        </p:nvSpPr>
        <p:spPr>
          <a:xfrm>
            <a:off x="3821869"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3974269" y="5716715"/>
            <a:ext cx="2095500" cy="164283"/>
          </a:xfrm>
          <a:prstGeom prst="rect">
            <a:avLst/>
          </a:prstGeom>
          <a:noFill/>
        </p:spPr>
        <p:txBody>
          <a:bodyPr wrap="square" lIns="0" rIns="0" tIns="0" bIns="0" anchor="ctr">
            <a:spAutoFit/>
          </a:bodyPr>
          <a:lstStyle/>
          <a:p>
            <a:pPr algn="l"/>
            <a:r>
              <a:rPr sz="1100" b="0">
                <a:solidFill>
                  <a:srgbClr val="2E2E2E"/>
                </a:solidFill>
                <a:latin typeface="Calibri"/>
              </a:rPr>
              <a:t>Bedding &amp; Garden Flowering Plants</a:t>
            </a:r>
          </a:p>
        </p:txBody>
      </p:sp>
      <p:sp>
        <p:nvSpPr>
          <p:cNvPr id="279" name="Rectangle 278"/>
          <p:cNvSpPr/>
          <p:nvPr/>
        </p:nvSpPr>
        <p:spPr>
          <a:xfrm>
            <a:off x="6126919"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6279319"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281" name="TextBox 28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282" name="TextBox 28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283" name="TextBox 28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284" name="TextBox 28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285" name="TextBox 28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286" name="TextBox 28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287" name="TextBox 28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288" name="TextBox 28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289" name="TextBox 28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290" name="TextBox 28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291" name="TextBox 29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292" name="Oval 29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4" name="TextBox 29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295" name="Oval 29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7" name="TextBox 29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298" name="Oval 29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00" name="TextBox 29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01" name="Oval 30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03" name="TextBox 30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04" name="Oval 30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06" name="TextBox 30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07" name="Oval 30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9" name="TextBox 30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10" name="Oval 30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12" name="TextBox 31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13" name="TextBox 31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14" name="TextBox 31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15" name="TextBox 3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6" name="Picture 315" descr="lock.png"/>
          <p:cNvPicPr>
            <a:picLocks noChangeAspect="1"/>
          </p:cNvPicPr>
          <p:nvPr/>
        </p:nvPicPr>
        <p:blipFill>
          <a:blip r:embed="rId4"/>
          <a:stretch>
            <a:fillRect/>
          </a:stretch>
        </p:blipFill>
        <p:spPr>
          <a:xfrm>
            <a:off x="1903753" y="2702524"/>
            <a:ext cx="128699" cy="187198"/>
          </a:xfrm>
          <a:prstGeom prst="rect">
            <a:avLst/>
          </a:prstGeom>
        </p:spPr>
      </p:pic>
      <p:pic>
        <p:nvPicPr>
          <p:cNvPr id="317" name="Picture 316" descr="lock.png"/>
          <p:cNvPicPr>
            <a:picLocks noChangeAspect="1"/>
          </p:cNvPicPr>
          <p:nvPr/>
        </p:nvPicPr>
        <p:blipFill>
          <a:blip r:embed="rId4"/>
          <a:stretch>
            <a:fillRect/>
          </a:stretch>
        </p:blipFill>
        <p:spPr>
          <a:xfrm>
            <a:off x="1903753" y="3031091"/>
            <a:ext cx="128699" cy="187198"/>
          </a:xfrm>
          <a:prstGeom prst="rect">
            <a:avLst/>
          </a:prstGeom>
        </p:spPr>
      </p:pic>
      <p:pic>
        <p:nvPicPr>
          <p:cNvPr id="318" name="Picture 317" descr="lock.png"/>
          <p:cNvPicPr>
            <a:picLocks noChangeAspect="1"/>
          </p:cNvPicPr>
          <p:nvPr/>
        </p:nvPicPr>
        <p:blipFill>
          <a:blip r:embed="rId4"/>
          <a:stretch>
            <a:fillRect/>
          </a:stretch>
        </p:blipFill>
        <p:spPr>
          <a:xfrm>
            <a:off x="1903753" y="3560448"/>
            <a:ext cx="128699" cy="187198"/>
          </a:xfrm>
          <a:prstGeom prst="rect">
            <a:avLst/>
          </a:prstGeom>
        </p:spPr>
      </p:pic>
      <p:pic>
        <p:nvPicPr>
          <p:cNvPr id="319" name="Picture 318" descr="lock.png"/>
          <p:cNvPicPr>
            <a:picLocks noChangeAspect="1"/>
          </p:cNvPicPr>
          <p:nvPr/>
        </p:nvPicPr>
        <p:blipFill>
          <a:blip r:embed="rId4"/>
          <a:stretch>
            <a:fillRect/>
          </a:stretch>
        </p:blipFill>
        <p:spPr>
          <a:xfrm>
            <a:off x="3249159" y="2702524"/>
            <a:ext cx="128699" cy="187198"/>
          </a:xfrm>
          <a:prstGeom prst="rect">
            <a:avLst/>
          </a:prstGeom>
        </p:spPr>
      </p:pic>
      <p:pic>
        <p:nvPicPr>
          <p:cNvPr id="320" name="Picture 319" descr="lock.png"/>
          <p:cNvPicPr>
            <a:picLocks noChangeAspect="1"/>
          </p:cNvPicPr>
          <p:nvPr/>
        </p:nvPicPr>
        <p:blipFill>
          <a:blip r:embed="rId4"/>
          <a:stretch>
            <a:fillRect/>
          </a:stretch>
        </p:blipFill>
        <p:spPr>
          <a:xfrm>
            <a:off x="3249159" y="3031091"/>
            <a:ext cx="128699" cy="187198"/>
          </a:xfrm>
          <a:prstGeom prst="rect">
            <a:avLst/>
          </a:prstGeom>
        </p:spPr>
      </p:pic>
      <p:pic>
        <p:nvPicPr>
          <p:cNvPr id="321" name="Picture 320" descr="lock.png"/>
          <p:cNvPicPr>
            <a:picLocks noChangeAspect="1"/>
          </p:cNvPicPr>
          <p:nvPr/>
        </p:nvPicPr>
        <p:blipFill>
          <a:blip r:embed="rId4"/>
          <a:stretch>
            <a:fillRect/>
          </a:stretch>
        </p:blipFill>
        <p:spPr>
          <a:xfrm>
            <a:off x="3249159" y="3560448"/>
            <a:ext cx="128699" cy="187198"/>
          </a:xfrm>
          <a:prstGeom prst="rect">
            <a:avLst/>
          </a:prstGeom>
        </p:spPr>
      </p:pic>
      <p:pic>
        <p:nvPicPr>
          <p:cNvPr id="322" name="Picture 321" descr="lock.png"/>
          <p:cNvPicPr>
            <a:picLocks noChangeAspect="1"/>
          </p:cNvPicPr>
          <p:nvPr/>
        </p:nvPicPr>
        <p:blipFill>
          <a:blip r:embed="rId4"/>
          <a:stretch>
            <a:fillRect/>
          </a:stretch>
        </p:blipFill>
        <p:spPr>
          <a:xfrm>
            <a:off x="4594566" y="2702524"/>
            <a:ext cx="128699" cy="187198"/>
          </a:xfrm>
          <a:prstGeom prst="rect">
            <a:avLst/>
          </a:prstGeom>
        </p:spPr>
      </p:pic>
      <p:pic>
        <p:nvPicPr>
          <p:cNvPr id="323" name="Picture 322" descr="lock.png"/>
          <p:cNvPicPr>
            <a:picLocks noChangeAspect="1"/>
          </p:cNvPicPr>
          <p:nvPr/>
        </p:nvPicPr>
        <p:blipFill>
          <a:blip r:embed="rId4"/>
          <a:stretch>
            <a:fillRect/>
          </a:stretch>
        </p:blipFill>
        <p:spPr>
          <a:xfrm>
            <a:off x="4594566" y="3031091"/>
            <a:ext cx="128699" cy="187198"/>
          </a:xfrm>
          <a:prstGeom prst="rect">
            <a:avLst/>
          </a:prstGeom>
        </p:spPr>
      </p:pic>
      <p:pic>
        <p:nvPicPr>
          <p:cNvPr id="324" name="Picture 323" descr="lock.png"/>
          <p:cNvPicPr>
            <a:picLocks noChangeAspect="1"/>
          </p:cNvPicPr>
          <p:nvPr/>
        </p:nvPicPr>
        <p:blipFill>
          <a:blip r:embed="rId4"/>
          <a:stretch>
            <a:fillRect/>
          </a:stretch>
        </p:blipFill>
        <p:spPr>
          <a:xfrm>
            <a:off x="4594566" y="3560448"/>
            <a:ext cx="128699" cy="187198"/>
          </a:xfrm>
          <a:prstGeom prst="rect">
            <a:avLst/>
          </a:prstGeom>
        </p:spPr>
      </p:pic>
      <p:pic>
        <p:nvPicPr>
          <p:cNvPr id="325" name="Picture 324" descr="lock.png"/>
          <p:cNvPicPr>
            <a:picLocks noChangeAspect="1"/>
          </p:cNvPicPr>
          <p:nvPr/>
        </p:nvPicPr>
        <p:blipFill>
          <a:blip r:embed="rId4"/>
          <a:stretch>
            <a:fillRect/>
          </a:stretch>
        </p:blipFill>
        <p:spPr>
          <a:xfrm>
            <a:off x="5939972" y="2702524"/>
            <a:ext cx="128699" cy="187198"/>
          </a:xfrm>
          <a:prstGeom prst="rect">
            <a:avLst/>
          </a:prstGeom>
        </p:spPr>
      </p:pic>
      <p:pic>
        <p:nvPicPr>
          <p:cNvPr id="326" name="Picture 325" descr="lock.png"/>
          <p:cNvPicPr>
            <a:picLocks noChangeAspect="1"/>
          </p:cNvPicPr>
          <p:nvPr/>
        </p:nvPicPr>
        <p:blipFill>
          <a:blip r:embed="rId4"/>
          <a:stretch>
            <a:fillRect/>
          </a:stretch>
        </p:blipFill>
        <p:spPr>
          <a:xfrm>
            <a:off x="5939972" y="3031091"/>
            <a:ext cx="128699" cy="187198"/>
          </a:xfrm>
          <a:prstGeom prst="rect">
            <a:avLst/>
          </a:prstGeom>
        </p:spPr>
      </p:pic>
      <p:pic>
        <p:nvPicPr>
          <p:cNvPr id="327" name="Picture 326" descr="lock.png"/>
          <p:cNvPicPr>
            <a:picLocks noChangeAspect="1"/>
          </p:cNvPicPr>
          <p:nvPr/>
        </p:nvPicPr>
        <p:blipFill>
          <a:blip r:embed="rId4"/>
          <a:stretch>
            <a:fillRect/>
          </a:stretch>
        </p:blipFill>
        <p:spPr>
          <a:xfrm>
            <a:off x="5939972" y="3560448"/>
            <a:ext cx="128699" cy="187198"/>
          </a:xfrm>
          <a:prstGeom prst="rect">
            <a:avLst/>
          </a:prstGeom>
        </p:spPr>
      </p:pic>
      <p:pic>
        <p:nvPicPr>
          <p:cNvPr id="328" name="Picture 327" descr="lock.png"/>
          <p:cNvPicPr>
            <a:picLocks noChangeAspect="1"/>
          </p:cNvPicPr>
          <p:nvPr/>
        </p:nvPicPr>
        <p:blipFill>
          <a:blip r:embed="rId4"/>
          <a:stretch>
            <a:fillRect/>
          </a:stretch>
        </p:blipFill>
        <p:spPr>
          <a:xfrm>
            <a:off x="7285378" y="2702524"/>
            <a:ext cx="128699" cy="187198"/>
          </a:xfrm>
          <a:prstGeom prst="rect">
            <a:avLst/>
          </a:prstGeom>
        </p:spPr>
      </p:pic>
      <p:pic>
        <p:nvPicPr>
          <p:cNvPr id="329" name="Picture 328" descr="lock.png"/>
          <p:cNvPicPr>
            <a:picLocks noChangeAspect="1"/>
          </p:cNvPicPr>
          <p:nvPr/>
        </p:nvPicPr>
        <p:blipFill>
          <a:blip r:embed="rId4"/>
          <a:stretch>
            <a:fillRect/>
          </a:stretch>
        </p:blipFill>
        <p:spPr>
          <a:xfrm>
            <a:off x="7285378" y="3031091"/>
            <a:ext cx="128699" cy="187198"/>
          </a:xfrm>
          <a:prstGeom prst="rect">
            <a:avLst/>
          </a:prstGeom>
        </p:spPr>
      </p:pic>
      <p:pic>
        <p:nvPicPr>
          <p:cNvPr id="330" name="Picture 329" descr="lock.png"/>
          <p:cNvPicPr>
            <a:picLocks noChangeAspect="1"/>
          </p:cNvPicPr>
          <p:nvPr/>
        </p:nvPicPr>
        <p:blipFill>
          <a:blip r:embed="rId4"/>
          <a:stretch>
            <a:fillRect/>
          </a:stretch>
        </p:blipFill>
        <p:spPr>
          <a:xfrm>
            <a:off x="7285378" y="3560448"/>
            <a:ext cx="128699" cy="187198"/>
          </a:xfrm>
          <a:prstGeom prst="rect">
            <a:avLst/>
          </a:prstGeom>
        </p:spPr>
      </p:pic>
      <p:pic>
        <p:nvPicPr>
          <p:cNvPr id="331" name="Picture 330" descr="lock.png"/>
          <p:cNvPicPr>
            <a:picLocks noChangeAspect="1"/>
          </p:cNvPicPr>
          <p:nvPr/>
        </p:nvPicPr>
        <p:blipFill>
          <a:blip r:embed="rId4"/>
          <a:stretch>
            <a:fillRect/>
          </a:stretch>
        </p:blipFill>
        <p:spPr>
          <a:xfrm>
            <a:off x="8630784" y="2702524"/>
            <a:ext cx="128699" cy="187198"/>
          </a:xfrm>
          <a:prstGeom prst="rect">
            <a:avLst/>
          </a:prstGeom>
        </p:spPr>
      </p:pic>
      <p:pic>
        <p:nvPicPr>
          <p:cNvPr id="332" name="Picture 331" descr="lock.png"/>
          <p:cNvPicPr>
            <a:picLocks noChangeAspect="1"/>
          </p:cNvPicPr>
          <p:nvPr/>
        </p:nvPicPr>
        <p:blipFill>
          <a:blip r:embed="rId4"/>
          <a:stretch>
            <a:fillRect/>
          </a:stretch>
        </p:blipFill>
        <p:spPr>
          <a:xfrm>
            <a:off x="8630784" y="3031091"/>
            <a:ext cx="128699" cy="187198"/>
          </a:xfrm>
          <a:prstGeom prst="rect">
            <a:avLst/>
          </a:prstGeom>
        </p:spPr>
      </p:pic>
      <p:pic>
        <p:nvPicPr>
          <p:cNvPr id="333" name="Picture 332" descr="lock.png"/>
          <p:cNvPicPr>
            <a:picLocks noChangeAspect="1"/>
          </p:cNvPicPr>
          <p:nvPr/>
        </p:nvPicPr>
        <p:blipFill>
          <a:blip r:embed="rId4"/>
          <a:stretch>
            <a:fillRect/>
          </a:stretch>
        </p:blipFill>
        <p:spPr>
          <a:xfrm>
            <a:off x="8630784" y="3560448"/>
            <a:ext cx="128699" cy="187198"/>
          </a:xfrm>
          <a:prstGeom prst="rect">
            <a:avLst/>
          </a:prstGeom>
        </p:spPr>
      </p:pic>
      <p:pic>
        <p:nvPicPr>
          <p:cNvPr id="334" name="Picture 333" descr="lock.png"/>
          <p:cNvPicPr>
            <a:picLocks noChangeAspect="1"/>
          </p:cNvPicPr>
          <p:nvPr/>
        </p:nvPicPr>
        <p:blipFill>
          <a:blip r:embed="rId4"/>
          <a:stretch>
            <a:fillRect/>
          </a:stretch>
        </p:blipFill>
        <p:spPr>
          <a:xfrm>
            <a:off x="9976190" y="2702524"/>
            <a:ext cx="128699" cy="187198"/>
          </a:xfrm>
          <a:prstGeom prst="rect">
            <a:avLst/>
          </a:prstGeom>
        </p:spPr>
      </p:pic>
      <p:pic>
        <p:nvPicPr>
          <p:cNvPr id="335" name="Picture 334" descr="lock.png"/>
          <p:cNvPicPr>
            <a:picLocks noChangeAspect="1"/>
          </p:cNvPicPr>
          <p:nvPr/>
        </p:nvPicPr>
        <p:blipFill>
          <a:blip r:embed="rId4"/>
          <a:stretch>
            <a:fillRect/>
          </a:stretch>
        </p:blipFill>
        <p:spPr>
          <a:xfrm>
            <a:off x="9976190" y="3031091"/>
            <a:ext cx="128699" cy="187198"/>
          </a:xfrm>
          <a:prstGeom prst="rect">
            <a:avLst/>
          </a:prstGeom>
        </p:spPr>
      </p:pic>
      <p:pic>
        <p:nvPicPr>
          <p:cNvPr id="336" name="Picture 335" descr="lock.png"/>
          <p:cNvPicPr>
            <a:picLocks noChangeAspect="1"/>
          </p:cNvPicPr>
          <p:nvPr/>
        </p:nvPicPr>
        <p:blipFill>
          <a:blip r:embed="rId4"/>
          <a:stretch>
            <a:fillRect/>
          </a:stretch>
        </p:blipFill>
        <p:spPr>
          <a:xfrm>
            <a:off x="9976191" y="3560448"/>
            <a:ext cx="128699" cy="187198"/>
          </a:xfrm>
          <a:prstGeom prst="rect">
            <a:avLst/>
          </a:prstGeom>
        </p:spPr>
      </p:pic>
      <p:pic>
        <p:nvPicPr>
          <p:cNvPr id="337" name="Picture 336" descr="lock.png"/>
          <p:cNvPicPr>
            <a:picLocks noChangeAspect="1"/>
          </p:cNvPicPr>
          <p:nvPr/>
        </p:nvPicPr>
        <p:blipFill>
          <a:blip r:embed="rId4"/>
          <a:stretch>
            <a:fillRect/>
          </a:stretch>
        </p:blipFill>
        <p:spPr>
          <a:xfrm>
            <a:off x="11321597" y="2702524"/>
            <a:ext cx="128699" cy="187198"/>
          </a:xfrm>
          <a:prstGeom prst="rect">
            <a:avLst/>
          </a:prstGeom>
        </p:spPr>
      </p:pic>
      <p:pic>
        <p:nvPicPr>
          <p:cNvPr id="338" name="Picture 337" descr="lock.png"/>
          <p:cNvPicPr>
            <a:picLocks noChangeAspect="1"/>
          </p:cNvPicPr>
          <p:nvPr/>
        </p:nvPicPr>
        <p:blipFill>
          <a:blip r:embed="rId4"/>
          <a:stretch>
            <a:fillRect/>
          </a:stretch>
        </p:blipFill>
        <p:spPr>
          <a:xfrm>
            <a:off x="11321597" y="3031091"/>
            <a:ext cx="128699" cy="187198"/>
          </a:xfrm>
          <a:prstGeom prst="rect">
            <a:avLst/>
          </a:prstGeom>
        </p:spPr>
      </p:pic>
      <p:pic>
        <p:nvPicPr>
          <p:cNvPr id="339" name="Picture 338" descr="lock.png"/>
          <p:cNvPicPr>
            <a:picLocks noChangeAspect="1"/>
          </p:cNvPicPr>
          <p:nvPr/>
        </p:nvPicPr>
        <p:blipFill>
          <a:blip r:embed="rId4"/>
          <a:stretch>
            <a:fillRect/>
          </a:stretch>
        </p:blipFill>
        <p:spPr>
          <a:xfrm>
            <a:off x="11321597" y="3560448"/>
            <a:ext cx="128699" cy="187198"/>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